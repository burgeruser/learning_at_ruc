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notesSlides/notesSlide4.xml" ContentType="application/vnd.openxmlformats-officedocument.presentationml.notesSlide+xml"/>
  <Override PartName="/ppt/theme/themeOverride3.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4.xml" ContentType="application/vnd.openxmlformats-officedocument.themeOverride+xml"/>
  <Override PartName="/ppt/theme/themeOverride5.xml" ContentType="application/vnd.openxmlformats-officedocument.themeOverride+xml"/>
  <Override PartName="/ppt/notesSlides/notesSlide12.xml" ContentType="application/vnd.openxmlformats-officedocument.presentationml.notesSl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0" r:id="rId2"/>
  </p:sldMasterIdLst>
  <p:notesMasterIdLst>
    <p:notesMasterId r:id="rId253"/>
  </p:notesMasterIdLst>
  <p:sldIdLst>
    <p:sldId id="256" r:id="rId3"/>
    <p:sldId id="986" r:id="rId4"/>
    <p:sldId id="988" r:id="rId5"/>
    <p:sldId id="961" r:id="rId6"/>
    <p:sldId id="385" r:id="rId7"/>
    <p:sldId id="459" r:id="rId8"/>
    <p:sldId id="944" r:id="rId9"/>
    <p:sldId id="392" r:id="rId10"/>
    <p:sldId id="272" r:id="rId11"/>
    <p:sldId id="262" r:id="rId12"/>
    <p:sldId id="1001" r:id="rId13"/>
    <p:sldId id="1002" r:id="rId14"/>
    <p:sldId id="1003" r:id="rId15"/>
    <p:sldId id="1004" r:id="rId16"/>
    <p:sldId id="1005" r:id="rId17"/>
    <p:sldId id="1006" r:id="rId18"/>
    <p:sldId id="1007" r:id="rId19"/>
    <p:sldId id="1008" r:id="rId20"/>
    <p:sldId id="1009" r:id="rId21"/>
    <p:sldId id="266" r:id="rId22"/>
    <p:sldId id="267" r:id="rId23"/>
    <p:sldId id="268" r:id="rId24"/>
    <p:sldId id="393" r:id="rId25"/>
    <p:sldId id="394" r:id="rId26"/>
    <p:sldId id="963" r:id="rId27"/>
    <p:sldId id="395" r:id="rId28"/>
    <p:sldId id="396" r:id="rId29"/>
    <p:sldId id="989" r:id="rId30"/>
    <p:sldId id="273" r:id="rId31"/>
    <p:sldId id="1010" r:id="rId32"/>
    <p:sldId id="1011" r:id="rId33"/>
    <p:sldId id="1012" r:id="rId34"/>
    <p:sldId id="1013" r:id="rId35"/>
    <p:sldId id="1014" r:id="rId36"/>
    <p:sldId id="1015" r:id="rId37"/>
    <p:sldId id="1016" r:id="rId38"/>
    <p:sldId id="1017" r:id="rId39"/>
    <p:sldId id="1018" r:id="rId40"/>
    <p:sldId id="1019" r:id="rId41"/>
    <p:sldId id="1020" r:id="rId42"/>
    <p:sldId id="1021" r:id="rId43"/>
    <p:sldId id="1022" r:id="rId44"/>
    <p:sldId id="1023" r:id="rId45"/>
    <p:sldId id="964" r:id="rId46"/>
    <p:sldId id="264" r:id="rId47"/>
    <p:sldId id="987" r:id="rId48"/>
    <p:sldId id="959" r:id="rId49"/>
    <p:sldId id="387" r:id="rId50"/>
    <p:sldId id="257" r:id="rId51"/>
    <p:sldId id="388" r:id="rId52"/>
    <p:sldId id="258" r:id="rId53"/>
    <p:sldId id="990" r:id="rId54"/>
    <p:sldId id="965" r:id="rId55"/>
    <p:sldId id="389" r:id="rId56"/>
    <p:sldId id="966" r:id="rId57"/>
    <p:sldId id="967" r:id="rId58"/>
    <p:sldId id="448" r:id="rId59"/>
    <p:sldId id="270" r:id="rId60"/>
    <p:sldId id="271" r:id="rId61"/>
    <p:sldId id="991" r:id="rId62"/>
    <p:sldId id="376" r:id="rId63"/>
    <p:sldId id="397" r:id="rId64"/>
    <p:sldId id="399" r:id="rId65"/>
    <p:sldId id="378" r:id="rId66"/>
    <p:sldId id="379" r:id="rId67"/>
    <p:sldId id="380" r:id="rId68"/>
    <p:sldId id="274" r:id="rId69"/>
    <p:sldId id="292" r:id="rId70"/>
    <p:sldId id="293" r:id="rId71"/>
    <p:sldId id="294" r:id="rId72"/>
    <p:sldId id="295" r:id="rId73"/>
    <p:sldId id="1042" r:id="rId74"/>
    <p:sldId id="1043" r:id="rId75"/>
    <p:sldId id="1044" r:id="rId76"/>
    <p:sldId id="1045" r:id="rId77"/>
    <p:sldId id="1046" r:id="rId78"/>
    <p:sldId id="1047" r:id="rId79"/>
    <p:sldId id="1048" r:id="rId80"/>
    <p:sldId id="1049" r:id="rId81"/>
    <p:sldId id="1050" r:id="rId82"/>
    <p:sldId id="298" r:id="rId83"/>
    <p:sldId id="287" r:id="rId84"/>
    <p:sldId id="296" r:id="rId85"/>
    <p:sldId id="297" r:id="rId86"/>
    <p:sldId id="299" r:id="rId87"/>
    <p:sldId id="300" r:id="rId88"/>
    <p:sldId id="301" r:id="rId89"/>
    <p:sldId id="302" r:id="rId90"/>
    <p:sldId id="422" r:id="rId91"/>
    <p:sldId id="423" r:id="rId92"/>
    <p:sldId id="424" r:id="rId93"/>
    <p:sldId id="426" r:id="rId94"/>
    <p:sldId id="427" r:id="rId95"/>
    <p:sldId id="428" r:id="rId96"/>
    <p:sldId id="304" r:id="rId97"/>
    <p:sldId id="317" r:id="rId98"/>
    <p:sldId id="1027" r:id="rId99"/>
    <p:sldId id="1028" r:id="rId100"/>
    <p:sldId id="1029" r:id="rId101"/>
    <p:sldId id="318" r:id="rId102"/>
    <p:sldId id="321" r:id="rId103"/>
    <p:sldId id="319" r:id="rId104"/>
    <p:sldId id="1024" r:id="rId105"/>
    <p:sldId id="1025" r:id="rId106"/>
    <p:sldId id="1026" r:id="rId107"/>
    <p:sldId id="323" r:id="rId108"/>
    <p:sldId id="465" r:id="rId109"/>
    <p:sldId id="1033" r:id="rId110"/>
    <p:sldId id="344" r:id="rId111"/>
    <p:sldId id="346" r:id="rId112"/>
    <p:sldId id="970" r:id="rId113"/>
    <p:sldId id="1034" r:id="rId114"/>
    <p:sldId id="443" r:id="rId115"/>
    <p:sldId id="326" r:id="rId116"/>
    <p:sldId id="372" r:id="rId117"/>
    <p:sldId id="373" r:id="rId118"/>
    <p:sldId id="993" r:id="rId119"/>
    <p:sldId id="957" r:id="rId120"/>
    <p:sldId id="444" r:id="rId121"/>
    <p:sldId id="445" r:id="rId122"/>
    <p:sldId id="446" r:id="rId123"/>
    <p:sldId id="992" r:id="rId124"/>
    <p:sldId id="433" r:id="rId125"/>
    <p:sldId id="434" r:id="rId126"/>
    <p:sldId id="1030" r:id="rId127"/>
    <p:sldId id="436" r:id="rId128"/>
    <p:sldId id="437" r:id="rId129"/>
    <p:sldId id="435" r:id="rId130"/>
    <p:sldId id="438" r:id="rId131"/>
    <p:sldId id="439" r:id="rId132"/>
    <p:sldId id="994" r:id="rId133"/>
    <p:sldId id="995" r:id="rId134"/>
    <p:sldId id="327" r:id="rId135"/>
    <p:sldId id="998" r:id="rId136"/>
    <p:sldId id="996" r:id="rId137"/>
    <p:sldId id="997" r:id="rId138"/>
    <p:sldId id="328" r:id="rId139"/>
    <p:sldId id="329" r:id="rId140"/>
    <p:sldId id="331" r:id="rId141"/>
    <p:sldId id="330" r:id="rId142"/>
    <p:sldId id="954" r:id="rId143"/>
    <p:sldId id="953" r:id="rId144"/>
    <p:sldId id="335" r:id="rId145"/>
    <p:sldId id="1035" r:id="rId146"/>
    <p:sldId id="1036" r:id="rId147"/>
    <p:sldId id="1037" r:id="rId148"/>
    <p:sldId id="340" r:id="rId149"/>
    <p:sldId id="343" r:id="rId150"/>
    <p:sldId id="1038" r:id="rId151"/>
    <p:sldId id="337" r:id="rId152"/>
    <p:sldId id="421" r:id="rId153"/>
    <p:sldId id="338" r:id="rId154"/>
    <p:sldId id="969" r:id="rId155"/>
    <p:sldId id="999" r:id="rId156"/>
    <p:sldId id="1000" r:id="rId157"/>
    <p:sldId id="1039" r:id="rId158"/>
    <p:sldId id="1040" r:id="rId159"/>
    <p:sldId id="1041" r:id="rId160"/>
    <p:sldId id="359" r:id="rId161"/>
    <p:sldId id="466" r:id="rId162"/>
    <p:sldId id="361" r:id="rId163"/>
    <p:sldId id="362" r:id="rId164"/>
    <p:sldId id="1031" r:id="rId165"/>
    <p:sldId id="332" r:id="rId166"/>
    <p:sldId id="259" r:id="rId167"/>
    <p:sldId id="356" r:id="rId168"/>
    <p:sldId id="357" r:id="rId169"/>
    <p:sldId id="358" r:id="rId170"/>
    <p:sldId id="280" r:id="rId171"/>
    <p:sldId id="281" r:id="rId172"/>
    <p:sldId id="282" r:id="rId173"/>
    <p:sldId id="467" r:id="rId174"/>
    <p:sldId id="260" r:id="rId175"/>
    <p:sldId id="261" r:id="rId176"/>
    <p:sldId id="269" r:id="rId177"/>
    <p:sldId id="363" r:id="rId178"/>
    <p:sldId id="364" r:id="rId179"/>
    <p:sldId id="365" r:id="rId180"/>
    <p:sldId id="366" r:id="rId181"/>
    <p:sldId id="367" r:id="rId182"/>
    <p:sldId id="368" r:id="rId183"/>
    <p:sldId id="468" r:id="rId184"/>
    <p:sldId id="469" r:id="rId185"/>
    <p:sldId id="1032" r:id="rId186"/>
    <p:sldId id="277" r:id="rId187"/>
    <p:sldId id="278" r:id="rId188"/>
    <p:sldId id="279" r:id="rId189"/>
    <p:sldId id="470" r:id="rId190"/>
    <p:sldId id="962" r:id="rId191"/>
    <p:sldId id="958" r:id="rId192"/>
    <p:sldId id="354" r:id="rId193"/>
    <p:sldId id="971" r:id="rId194"/>
    <p:sldId id="308" r:id="rId195"/>
    <p:sldId id="310" r:id="rId196"/>
    <p:sldId id="316" r:id="rId197"/>
    <p:sldId id="972" r:id="rId198"/>
    <p:sldId id="973" r:id="rId199"/>
    <p:sldId id="312" r:id="rId200"/>
    <p:sldId id="974" r:id="rId201"/>
    <p:sldId id="975" r:id="rId202"/>
    <p:sldId id="976" r:id="rId203"/>
    <p:sldId id="977" r:id="rId204"/>
    <p:sldId id="978" r:id="rId205"/>
    <p:sldId id="322" r:id="rId206"/>
    <p:sldId id="979" r:id="rId207"/>
    <p:sldId id="324" r:id="rId208"/>
    <p:sldId id="325" r:id="rId209"/>
    <p:sldId id="369" r:id="rId210"/>
    <p:sldId id="980" r:id="rId211"/>
    <p:sldId id="370" r:id="rId212"/>
    <p:sldId id="371" r:id="rId213"/>
    <p:sldId id="981" r:id="rId214"/>
    <p:sldId id="982" r:id="rId215"/>
    <p:sldId id="983" r:id="rId216"/>
    <p:sldId id="305" r:id="rId217"/>
    <p:sldId id="309" r:id="rId218"/>
    <p:sldId id="955" r:id="rId219"/>
    <p:sldId id="956" r:id="rId220"/>
    <p:sldId id="471" r:id="rId221"/>
    <p:sldId id="472" r:id="rId222"/>
    <p:sldId id="473" r:id="rId223"/>
    <p:sldId id="474" r:id="rId224"/>
    <p:sldId id="475" r:id="rId225"/>
    <p:sldId id="345" r:id="rId226"/>
    <p:sldId id="476" r:id="rId227"/>
    <p:sldId id="477" r:id="rId228"/>
    <p:sldId id="334" r:id="rId229"/>
    <p:sldId id="478" r:id="rId230"/>
    <p:sldId id="336" r:id="rId231"/>
    <p:sldId id="479" r:id="rId232"/>
    <p:sldId id="480" r:id="rId233"/>
    <p:sldId id="339" r:id="rId234"/>
    <p:sldId id="481" r:id="rId235"/>
    <p:sldId id="341" r:id="rId236"/>
    <p:sldId id="482" r:id="rId237"/>
    <p:sldId id="483" r:id="rId238"/>
    <p:sldId id="342" r:id="rId239"/>
    <p:sldId id="484" r:id="rId240"/>
    <p:sldId id="431" r:id="rId241"/>
    <p:sldId id="263" r:id="rId242"/>
    <p:sldId id="265" r:id="rId243"/>
    <p:sldId id="984" r:id="rId244"/>
    <p:sldId id="985" r:id="rId245"/>
    <p:sldId id="450" r:id="rId246"/>
    <p:sldId id="432" r:id="rId247"/>
    <p:sldId id="453" r:id="rId248"/>
    <p:sldId id="454" r:id="rId249"/>
    <p:sldId id="456" r:id="rId250"/>
    <p:sldId id="457" r:id="rId251"/>
    <p:sldId id="458" r:id="rId2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6A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83953"/>
  </p:normalViewPr>
  <p:slideViewPr>
    <p:cSldViewPr snapToGrid="0" snapToObjects="1">
      <p:cViewPr varScale="1">
        <p:scale>
          <a:sx n="104" d="100"/>
          <a:sy n="104" d="100"/>
        </p:scale>
        <p:origin x="864" y="114"/>
      </p:cViewPr>
      <p:guideLst/>
    </p:cSldViewPr>
  </p:slideViewPr>
  <p:notesTextViewPr>
    <p:cViewPr>
      <p:scale>
        <a:sx n="1" d="1"/>
        <a:sy n="1" d="1"/>
      </p:scale>
      <p:origin x="0" y="0"/>
    </p:cViewPr>
  </p:notesTextViewPr>
  <p:sorterViewPr>
    <p:cViewPr>
      <p:scale>
        <a:sx n="100" d="100"/>
        <a:sy n="100" d="100"/>
      </p:scale>
      <p:origin x="0" y="-17808"/>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slide" Target="slides/slide224.xml"/><Relationship Id="rId247" Type="http://schemas.openxmlformats.org/officeDocument/2006/relationships/slide" Target="slides/slide245.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slide" Target="slides/slide235.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248" Type="http://schemas.openxmlformats.org/officeDocument/2006/relationships/slide" Target="slides/slide246.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slide" Target="slides/slide236.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228" Type="http://schemas.openxmlformats.org/officeDocument/2006/relationships/slide" Target="slides/slide226.xml"/><Relationship Id="rId249" Type="http://schemas.openxmlformats.org/officeDocument/2006/relationships/slide" Target="slides/slide247.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slide" Target="slides/slide216.xml"/><Relationship Id="rId239" Type="http://schemas.openxmlformats.org/officeDocument/2006/relationships/slide" Target="slides/slide237.xml"/><Relationship Id="rId250" Type="http://schemas.openxmlformats.org/officeDocument/2006/relationships/slide" Target="slides/slide248.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229" Type="http://schemas.openxmlformats.org/officeDocument/2006/relationships/slide" Target="slides/slide227.xml"/><Relationship Id="rId240" Type="http://schemas.openxmlformats.org/officeDocument/2006/relationships/slide" Target="slides/slide238.xml"/><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8" Type="http://schemas.openxmlformats.org/officeDocument/2006/relationships/slide" Target="slides/slide6.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219" Type="http://schemas.openxmlformats.org/officeDocument/2006/relationships/slide" Target="slides/slide217.xml"/><Relationship Id="rId230" Type="http://schemas.openxmlformats.org/officeDocument/2006/relationships/slide" Target="slides/slide228.xml"/><Relationship Id="rId251" Type="http://schemas.openxmlformats.org/officeDocument/2006/relationships/slide" Target="slides/slide249.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95" Type="http://schemas.openxmlformats.org/officeDocument/2006/relationships/slide" Target="slides/slide193.xml"/><Relationship Id="rId209" Type="http://schemas.openxmlformats.org/officeDocument/2006/relationships/slide" Target="slides/slide207.xml"/><Relationship Id="rId220" Type="http://schemas.openxmlformats.org/officeDocument/2006/relationships/slide" Target="slides/slide218.xml"/><Relationship Id="rId241" Type="http://schemas.openxmlformats.org/officeDocument/2006/relationships/slide" Target="slides/slide23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78" Type="http://schemas.openxmlformats.org/officeDocument/2006/relationships/slide" Target="slides/slide76.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64" Type="http://schemas.openxmlformats.org/officeDocument/2006/relationships/slide" Target="slides/slide162.xml"/><Relationship Id="rId185" Type="http://schemas.openxmlformats.org/officeDocument/2006/relationships/slide" Target="slides/slide183.xml"/><Relationship Id="rId9" Type="http://schemas.openxmlformats.org/officeDocument/2006/relationships/slide" Target="slides/slide7.xml"/><Relationship Id="rId210" Type="http://schemas.openxmlformats.org/officeDocument/2006/relationships/slide" Target="slides/slide208.xml"/><Relationship Id="rId26" Type="http://schemas.openxmlformats.org/officeDocument/2006/relationships/slide" Target="slides/slide24.xml"/><Relationship Id="rId231" Type="http://schemas.openxmlformats.org/officeDocument/2006/relationships/slide" Target="slides/slide229.xml"/><Relationship Id="rId252" Type="http://schemas.openxmlformats.org/officeDocument/2006/relationships/slide" Target="slides/slide250.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slide" Target="slides/slide240.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53" Type="http://schemas.openxmlformats.org/officeDocument/2006/relationships/notesMaster" Target="notesMasters/notesMaster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slide" Target="slides/slide24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54" Type="http://schemas.openxmlformats.org/officeDocument/2006/relationships/presProps" Target="presProps.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223" Type="http://schemas.openxmlformats.org/officeDocument/2006/relationships/slide" Target="slides/slide221.xml"/><Relationship Id="rId244" Type="http://schemas.openxmlformats.org/officeDocument/2006/relationships/slide" Target="slides/slide242.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34" Type="http://schemas.openxmlformats.org/officeDocument/2006/relationships/slide" Target="slides/slide232.xml"/><Relationship Id="rId2" Type="http://schemas.openxmlformats.org/officeDocument/2006/relationships/slideMaster" Target="slideMasters/slideMaster2.xml"/><Relationship Id="rId29" Type="http://schemas.openxmlformats.org/officeDocument/2006/relationships/slide" Target="slides/slide27.xml"/><Relationship Id="rId255" Type="http://schemas.openxmlformats.org/officeDocument/2006/relationships/viewProps" Target="viewProps.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slide" Target="slides/slide222.xml"/><Relationship Id="rId245" Type="http://schemas.openxmlformats.org/officeDocument/2006/relationships/slide" Target="slides/slide243.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slide" Target="slides/slide212.xml"/><Relationship Id="rId235" Type="http://schemas.openxmlformats.org/officeDocument/2006/relationships/slide" Target="slides/slide233.xml"/><Relationship Id="rId256" Type="http://schemas.openxmlformats.org/officeDocument/2006/relationships/theme" Target="theme/theme1.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179" Type="http://schemas.openxmlformats.org/officeDocument/2006/relationships/slide" Target="slides/slide177.xml"/><Relationship Id="rId190" Type="http://schemas.openxmlformats.org/officeDocument/2006/relationships/slide" Target="slides/slide188.xml"/><Relationship Id="rId204" Type="http://schemas.openxmlformats.org/officeDocument/2006/relationships/slide" Target="slides/slide202.xml"/><Relationship Id="rId225" Type="http://schemas.openxmlformats.org/officeDocument/2006/relationships/slide" Target="slides/slide223.xml"/><Relationship Id="rId246" Type="http://schemas.openxmlformats.org/officeDocument/2006/relationships/slide" Target="slides/slide244.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94" Type="http://schemas.openxmlformats.org/officeDocument/2006/relationships/slide" Target="slides/slide92.xml"/><Relationship Id="rId148" Type="http://schemas.openxmlformats.org/officeDocument/2006/relationships/slide" Target="slides/slide146.xml"/><Relationship Id="rId169" Type="http://schemas.openxmlformats.org/officeDocument/2006/relationships/slide" Target="slides/slide167.xml"/><Relationship Id="rId4" Type="http://schemas.openxmlformats.org/officeDocument/2006/relationships/slide" Target="slides/slide2.xml"/><Relationship Id="rId180" Type="http://schemas.openxmlformats.org/officeDocument/2006/relationships/slide" Target="slides/slide178.xml"/><Relationship Id="rId215" Type="http://schemas.openxmlformats.org/officeDocument/2006/relationships/slide" Target="slides/slide213.xml"/><Relationship Id="rId236" Type="http://schemas.openxmlformats.org/officeDocument/2006/relationships/slide" Target="slides/slide234.xml"/><Relationship Id="rId25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B7F078-A1F1-914A-88BC-144345A94635}" type="datetimeFigureOut">
              <a:rPr kumimoji="1" lang="zh-CN" altLang="en-US" smtClean="0"/>
              <a:t>2026/10/11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33F936-156A-D544-A2C1-1338480524FF}" type="slidenum">
              <a:rPr kumimoji="1" lang="zh-CN" altLang="en-US" smtClean="0"/>
              <a:t>‹#›</a:t>
            </a:fld>
            <a:endParaRPr kumimoji="1" lang="zh-CN" altLang="en-US"/>
          </a:p>
        </p:txBody>
      </p:sp>
    </p:spTree>
    <p:extLst>
      <p:ext uri="{BB962C8B-B14F-4D97-AF65-F5344CB8AC3E}">
        <p14:creationId xmlns:p14="http://schemas.microsoft.com/office/powerpoint/2010/main" val="3701798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zh-CN" altLang="en-US">
                <a:latin typeface="Calibri" charset="0"/>
                <a:ea typeface="宋体" charset="0"/>
              </a:rPr>
              <a:t>大家觉得，</a:t>
            </a:r>
            <a:r>
              <a:rPr lang="en-US" altLang="zh-CN">
                <a:latin typeface="Calibri" charset="0"/>
                <a:ea typeface="宋体" charset="0"/>
              </a:rPr>
              <a:t>borders</a:t>
            </a:r>
            <a:r>
              <a:rPr lang="zh-CN" altLang="en-US">
                <a:latin typeface="Calibri" charset="0"/>
                <a:ea typeface="宋体" charset="0"/>
              </a:rPr>
              <a:t>败在哪里？没有适应外部环境的变化？组织需要对外部环境的变化做出响应。</a:t>
            </a:r>
            <a:endParaRPr lang="en-US" altLang="zh-CN">
              <a:latin typeface="Calibri" charset="0"/>
              <a:ea typeface="宋体" charset="0"/>
            </a:endParaRPr>
          </a:p>
          <a:p>
            <a:pPr eaLnBrk="1" hangingPunct="1"/>
            <a:r>
              <a:rPr lang="zh-CN" altLang="en-US">
                <a:latin typeface="Calibri" charset="0"/>
                <a:ea typeface="宋体" charset="0"/>
              </a:rPr>
              <a:t>企业是一个系统，是一个开放系统，从外部环境，</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fld id="{B577B635-B617-5A44-BEDE-150E6FD537D1}" type="slidenum">
              <a:rPr lang="zh-CN" altLang="en-US"/>
              <a:pPr eaLnBrk="1" hangingPunct="1"/>
              <a:t>3</a:t>
            </a:fld>
            <a:endParaRPr lang="en-US" altLang="zh-CN"/>
          </a:p>
        </p:txBody>
      </p:sp>
    </p:spTree>
    <p:extLst>
      <p:ext uri="{BB962C8B-B14F-4D97-AF65-F5344CB8AC3E}">
        <p14:creationId xmlns:p14="http://schemas.microsoft.com/office/powerpoint/2010/main" val="1899612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E633F936-156A-D544-A2C1-1338480524FF}" type="slidenum">
              <a:rPr kumimoji="1" lang="zh-CN" altLang="en-US" smtClean="0"/>
              <a:t>4</a:t>
            </a:fld>
            <a:endParaRPr kumimoji="1" lang="zh-CN" altLang="en-US"/>
          </a:p>
        </p:txBody>
      </p:sp>
    </p:spTree>
    <p:extLst>
      <p:ext uri="{BB962C8B-B14F-4D97-AF65-F5344CB8AC3E}">
        <p14:creationId xmlns:p14="http://schemas.microsoft.com/office/powerpoint/2010/main" val="2174135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行业老大衰亡记</a:t>
            </a:r>
            <a:endParaRPr kumimoji="1" lang="en-US" altLang="zh-CN" dirty="0"/>
          </a:p>
          <a:p>
            <a:r>
              <a:rPr kumimoji="1" lang="zh-CN" altLang="en-US" dirty="0"/>
              <a:t>为什么来上学？为了考</a:t>
            </a:r>
            <a:r>
              <a:rPr kumimoji="1" lang="en-US" altLang="zh-CN" dirty="0"/>
              <a:t>90</a:t>
            </a:r>
            <a:r>
              <a:rPr kumimoji="1" lang="zh-CN" altLang="en-US" dirty="0"/>
              <a:t>分，高等教育的目的，人大的目的：教书育人科学研究，服务社会，不忘初心的初心，牢记使命的使命。目标：人民满意世界一流。企业存在的目的为了盈利，一般不这样表述，向社会提供了产品和服务，效用与价值；目的在面临重大选择时发挥作用。做什么不做什么，进入哪个领域退出哪个领域，以及道德选择。。</a:t>
            </a:r>
          </a:p>
        </p:txBody>
      </p:sp>
      <p:sp>
        <p:nvSpPr>
          <p:cNvPr id="4" name="灯片编号占位符 3"/>
          <p:cNvSpPr>
            <a:spLocks noGrp="1"/>
          </p:cNvSpPr>
          <p:nvPr>
            <p:ph type="sldNum" sz="quarter" idx="5"/>
          </p:nvPr>
        </p:nvSpPr>
        <p:spPr/>
        <p:txBody>
          <a:bodyPr/>
          <a:lstStyle/>
          <a:p>
            <a:fld id="{E633F936-156A-D544-A2C1-1338480524FF}" type="slidenum">
              <a:rPr kumimoji="1" lang="zh-CN" altLang="en-US" smtClean="0"/>
              <a:t>5</a:t>
            </a:fld>
            <a:endParaRPr kumimoji="1" lang="zh-CN" altLang="en-US"/>
          </a:p>
        </p:txBody>
      </p:sp>
    </p:spTree>
    <p:extLst>
      <p:ext uri="{BB962C8B-B14F-4D97-AF65-F5344CB8AC3E}">
        <p14:creationId xmlns:p14="http://schemas.microsoft.com/office/powerpoint/2010/main" val="61938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演进：腾讯微信和阿里的战略</a:t>
            </a:r>
          </a:p>
        </p:txBody>
      </p:sp>
      <p:sp>
        <p:nvSpPr>
          <p:cNvPr id="4" name="灯片编号占位符 3"/>
          <p:cNvSpPr>
            <a:spLocks noGrp="1"/>
          </p:cNvSpPr>
          <p:nvPr>
            <p:ph type="sldNum" sz="quarter" idx="5"/>
          </p:nvPr>
        </p:nvSpPr>
        <p:spPr/>
        <p:txBody>
          <a:bodyPr/>
          <a:lstStyle/>
          <a:p>
            <a:fld id="{E633F936-156A-D544-A2C1-1338480524FF}" type="slidenum">
              <a:rPr kumimoji="1" lang="zh-CN" altLang="en-US" smtClean="0"/>
              <a:t>9</a:t>
            </a:fld>
            <a:endParaRPr kumimoji="1" lang="zh-CN" altLang="en-US"/>
          </a:p>
        </p:txBody>
      </p:sp>
    </p:spTree>
    <p:extLst>
      <p:ext uri="{BB962C8B-B14F-4D97-AF65-F5344CB8AC3E}">
        <p14:creationId xmlns:p14="http://schemas.microsoft.com/office/powerpoint/2010/main" val="3743618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a:defRPr/>
            </a:pPr>
            <a:fld id="{696C0217-0445-4F53-9C61-91A7F4A55FA5}" type="slidenum">
              <a:rPr lang="zh-CN" altLang="en-US" smtClean="0"/>
              <a:pPr>
                <a:defRPr/>
              </a:pPr>
              <a:t>27</a:t>
            </a:fld>
            <a:endParaRPr lang="zh-CN" altLang="en-US"/>
          </a:p>
        </p:txBody>
      </p:sp>
    </p:spTree>
    <p:extLst>
      <p:ext uri="{BB962C8B-B14F-4D97-AF65-F5344CB8AC3E}">
        <p14:creationId xmlns:p14="http://schemas.microsoft.com/office/powerpoint/2010/main" val="17532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https://</a:t>
            </a:r>
            <a:r>
              <a:rPr kumimoji="1" lang="en-US" altLang="zh-CN" dirty="0" err="1"/>
              <a:t>www.bilibili.com</a:t>
            </a:r>
            <a:r>
              <a:rPr kumimoji="1" lang="en-US" altLang="zh-CN" dirty="0"/>
              <a:t>/video/BV1Fx411t77H/?</a:t>
            </a:r>
            <a:r>
              <a:rPr kumimoji="1" lang="en-US" altLang="zh-CN" dirty="0" err="1"/>
              <a:t>spm_id_from</a:t>
            </a:r>
            <a:r>
              <a:rPr kumimoji="1" lang="en-US" altLang="zh-CN" dirty="0"/>
              <a:t>=</a:t>
            </a:r>
            <a:r>
              <a:rPr kumimoji="1" lang="en-US" altLang="zh-CN" dirty="0" err="1"/>
              <a:t>autoNext</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E633F936-156A-D544-A2C1-1338480524FF}" type="slidenum">
              <a:rPr kumimoji="1" lang="zh-CN" altLang="en-US" smtClean="0"/>
              <a:t>44</a:t>
            </a:fld>
            <a:endParaRPr kumimoji="1" lang="zh-CN" altLang="en-US"/>
          </a:p>
        </p:txBody>
      </p:sp>
    </p:spTree>
    <p:extLst>
      <p:ext uri="{BB962C8B-B14F-4D97-AF65-F5344CB8AC3E}">
        <p14:creationId xmlns:p14="http://schemas.microsoft.com/office/powerpoint/2010/main" val="2515503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a:defRPr/>
            </a:pPr>
            <a:fld id="{696C0217-0445-4F53-9C61-91A7F4A55FA5}" type="slidenum">
              <a:rPr lang="zh-CN" altLang="en-US" smtClean="0"/>
              <a:pPr>
                <a:defRPr/>
              </a:pPr>
              <a:t>48</a:t>
            </a:fld>
            <a:endParaRPr lang="zh-CN" altLang="en-US"/>
          </a:p>
        </p:txBody>
      </p:sp>
    </p:spTree>
    <p:extLst>
      <p:ext uri="{BB962C8B-B14F-4D97-AF65-F5344CB8AC3E}">
        <p14:creationId xmlns:p14="http://schemas.microsoft.com/office/powerpoint/2010/main" val="4175364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a:defRPr/>
            </a:pPr>
            <a:fld id="{696C0217-0445-4F53-9C61-91A7F4A55FA5}" type="slidenum">
              <a:rPr lang="zh-CN" altLang="en-US" smtClean="0"/>
              <a:pPr>
                <a:defRPr/>
              </a:pPr>
              <a:t>49</a:t>
            </a:fld>
            <a:endParaRPr lang="zh-CN" altLang="en-US"/>
          </a:p>
        </p:txBody>
      </p:sp>
    </p:spTree>
    <p:extLst>
      <p:ext uri="{BB962C8B-B14F-4D97-AF65-F5344CB8AC3E}">
        <p14:creationId xmlns:p14="http://schemas.microsoft.com/office/powerpoint/2010/main" val="1295238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a:defRPr/>
            </a:pPr>
            <a:fld id="{696C0217-0445-4F53-9C61-91A7F4A55FA5}" type="slidenum">
              <a:rPr lang="zh-CN" altLang="en-US" smtClean="0"/>
              <a:pPr>
                <a:defRPr/>
              </a:pPr>
              <a:t>50</a:t>
            </a:fld>
            <a:endParaRPr lang="zh-CN" altLang="en-US"/>
          </a:p>
        </p:txBody>
      </p:sp>
    </p:spTree>
    <p:extLst>
      <p:ext uri="{BB962C8B-B14F-4D97-AF65-F5344CB8AC3E}">
        <p14:creationId xmlns:p14="http://schemas.microsoft.com/office/powerpoint/2010/main" val="2227827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E633F936-156A-D544-A2C1-1338480524FF}" type="slidenum">
              <a:rPr kumimoji="1" lang="zh-CN" altLang="en-US" smtClean="0"/>
              <a:t>52</a:t>
            </a:fld>
            <a:endParaRPr kumimoji="1" lang="zh-CN" altLang="en-US"/>
          </a:p>
        </p:txBody>
      </p:sp>
    </p:spTree>
    <p:extLst>
      <p:ext uri="{BB962C8B-B14F-4D97-AF65-F5344CB8AC3E}">
        <p14:creationId xmlns:p14="http://schemas.microsoft.com/office/powerpoint/2010/main" val="729602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696C0217-0445-4F53-9C61-91A7F4A55FA5}" type="slidenum">
              <a:rPr lang="zh-CN" altLang="en-US" smtClean="0"/>
              <a:pPr>
                <a:defRPr/>
              </a:pPr>
              <a:t>54</a:t>
            </a:fld>
            <a:endParaRPr lang="zh-CN" altLang="en-US"/>
          </a:p>
        </p:txBody>
      </p:sp>
    </p:spTree>
    <p:extLst>
      <p:ext uri="{BB962C8B-B14F-4D97-AF65-F5344CB8AC3E}">
        <p14:creationId xmlns:p14="http://schemas.microsoft.com/office/powerpoint/2010/main" val="1647451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E633F936-156A-D544-A2C1-1338480524FF}" type="slidenum">
              <a:rPr kumimoji="1" lang="zh-CN" altLang="en-US" smtClean="0"/>
              <a:t>73</a:t>
            </a:fld>
            <a:endParaRPr kumimoji="1" lang="zh-CN" altLang="en-US"/>
          </a:p>
        </p:txBody>
      </p:sp>
    </p:spTree>
    <p:extLst>
      <p:ext uri="{BB962C8B-B14F-4D97-AF65-F5344CB8AC3E}">
        <p14:creationId xmlns:p14="http://schemas.microsoft.com/office/powerpoint/2010/main" val="38548197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4035" name="备注占位符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zh-CN" altLang="en-US">
              <a:latin typeface="Calibri" charset="0"/>
              <a:ea typeface="宋体" charset="0"/>
            </a:endParaRPr>
          </a:p>
        </p:txBody>
      </p:sp>
      <p:sp>
        <p:nvSpPr>
          <p:cNvPr id="44036" name="灯片编号占位符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cs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fld id="{6EF003E3-52D7-6349-B058-5582903BE963}" type="slidenum">
              <a:rPr lang="zh-CN" altLang="en-US"/>
              <a:pPr eaLnBrk="1" hangingPunct="1"/>
              <a:t>151</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3854293E-C730-48AD-82AF-4609929D3F34}" type="slidenum">
              <a:rPr lang="en-US" altLang="zh-CN"/>
              <a:pPr/>
              <a:t>164</a:t>
            </a:fld>
            <a:endParaRPr lang="en-US" altLang="zh-CN"/>
          </a:p>
        </p:txBody>
      </p:sp>
      <p:sp>
        <p:nvSpPr>
          <p:cNvPr id="79875"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79876"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BCF4CE8D-AAA1-4D40-A7C0-72456360CAB1}" type="slidenum">
              <a:rPr lang="en-US" altLang="zh-CN"/>
              <a:pPr/>
              <a:t>166</a:t>
            </a:fld>
            <a:endParaRPr lang="en-US" altLang="zh-CN"/>
          </a:p>
        </p:txBody>
      </p:sp>
      <p:sp>
        <p:nvSpPr>
          <p:cNvPr id="81923"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81924"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40B151AF-3957-4822-8BF9-AE4EEDFEF78E}" type="slidenum">
              <a:rPr lang="en-US" altLang="zh-CN"/>
              <a:pPr/>
              <a:t>167</a:t>
            </a:fld>
            <a:endParaRPr lang="en-US" altLang="zh-CN"/>
          </a:p>
        </p:txBody>
      </p:sp>
      <p:sp>
        <p:nvSpPr>
          <p:cNvPr id="82947"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82948"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C0729745-AA6F-4CC1-8435-F795FE66424B}" type="slidenum">
              <a:rPr lang="en-US" altLang="zh-CN"/>
              <a:pPr/>
              <a:t>168</a:t>
            </a:fld>
            <a:endParaRPr lang="en-US" altLang="zh-CN"/>
          </a:p>
        </p:txBody>
      </p:sp>
      <p:sp>
        <p:nvSpPr>
          <p:cNvPr id="83971"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83972"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EF2F2685-0637-47A8-8984-0FF9471E987F}" type="slidenum">
              <a:rPr lang="en-US" altLang="zh-CN"/>
              <a:pPr/>
              <a:t>170</a:t>
            </a:fld>
            <a:endParaRPr lang="en-US" altLang="zh-CN"/>
          </a:p>
        </p:txBody>
      </p:sp>
      <p:sp>
        <p:nvSpPr>
          <p:cNvPr id="86019"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86020"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8B58D2A6-607B-43D1-9621-6D3B85E2E568}" type="slidenum">
              <a:rPr lang="en-US" altLang="zh-CN"/>
              <a:pPr/>
              <a:t>171</a:t>
            </a:fld>
            <a:endParaRPr lang="en-US" altLang="zh-CN"/>
          </a:p>
        </p:txBody>
      </p:sp>
      <p:sp>
        <p:nvSpPr>
          <p:cNvPr id="87043"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87044"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CF867F78-C18B-4E0F-A088-7A62FC510627}" type="slidenum">
              <a:rPr lang="en-US" altLang="zh-CN"/>
              <a:pPr/>
              <a:t>172</a:t>
            </a:fld>
            <a:endParaRPr lang="en-US" altLang="zh-CN"/>
          </a:p>
        </p:txBody>
      </p:sp>
      <p:sp>
        <p:nvSpPr>
          <p:cNvPr id="88067"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88068"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E3333EAC-4AF7-4E16-AEF8-CA9EA836A305}" type="slidenum">
              <a:rPr lang="en-US" altLang="zh-CN"/>
              <a:pPr/>
              <a:t>182</a:t>
            </a:fld>
            <a:endParaRPr lang="en-US" altLang="zh-CN"/>
          </a:p>
        </p:txBody>
      </p:sp>
      <p:sp>
        <p:nvSpPr>
          <p:cNvPr id="93187"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93188"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BB8C862D-D92A-4F70-8E34-24F98B96C860}" type="slidenum">
              <a:rPr lang="en-US" altLang="zh-CN"/>
              <a:pPr/>
              <a:t>185</a:t>
            </a:fld>
            <a:endParaRPr lang="en-US" altLang="zh-CN"/>
          </a:p>
        </p:txBody>
      </p:sp>
      <p:sp>
        <p:nvSpPr>
          <p:cNvPr id="99331"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99332"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C1128024-C908-4FC6-AED1-605A62E0C9C0}" type="slidenum">
              <a:rPr lang="en-US" altLang="zh-CN"/>
              <a:pPr/>
              <a:t>186</a:t>
            </a:fld>
            <a:endParaRPr lang="en-US" altLang="zh-CN"/>
          </a:p>
        </p:txBody>
      </p:sp>
      <p:sp>
        <p:nvSpPr>
          <p:cNvPr id="100355"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100356"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5F836FEC-795E-4D9E-870E-BA9805A547D8}" type="slidenum">
              <a:rPr lang="en-US" altLang="zh-CN"/>
              <a:pPr/>
              <a:t>192</a:t>
            </a:fld>
            <a:endParaRPr lang="en-US" altLang="zh-CN"/>
          </a:p>
        </p:txBody>
      </p:sp>
      <p:sp>
        <p:nvSpPr>
          <p:cNvPr id="106499"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106500"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043DD7B9-6FBE-432F-9EB1-1E6899970137}" type="slidenum">
              <a:rPr lang="en-US" altLang="zh-CN"/>
              <a:pPr/>
              <a:t>193</a:t>
            </a:fld>
            <a:endParaRPr lang="en-US" altLang="zh-CN"/>
          </a:p>
        </p:txBody>
      </p:sp>
      <p:sp>
        <p:nvSpPr>
          <p:cNvPr id="122883"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122884"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50261ACE-6FD1-45C3-BE6D-370EB710A933}" type="slidenum">
              <a:rPr lang="en-US" altLang="zh-CN"/>
              <a:pPr/>
              <a:t>198</a:t>
            </a:fld>
            <a:endParaRPr lang="en-US" altLang="zh-CN"/>
          </a:p>
        </p:txBody>
      </p:sp>
      <p:sp>
        <p:nvSpPr>
          <p:cNvPr id="119811"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119812"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E9E72279-75DD-417F-B639-C81251DFAC41}" type="slidenum">
              <a:rPr lang="en-US" altLang="zh-CN"/>
              <a:pPr/>
              <a:t>200</a:t>
            </a:fld>
            <a:endParaRPr lang="en-US" altLang="zh-CN"/>
          </a:p>
        </p:txBody>
      </p:sp>
      <p:sp>
        <p:nvSpPr>
          <p:cNvPr id="107523" name="Rectangle 2"/>
          <p:cNvSpPr>
            <a:spLocks noChangeArrowheads="1"/>
          </p:cNvSpPr>
          <p:nvPr/>
        </p:nvSpPr>
        <p:spPr bwMode="auto">
          <a:xfrm>
            <a:off x="3886200" y="0"/>
            <a:ext cx="2971800" cy="457200"/>
          </a:xfrm>
          <a:prstGeom prst="rect">
            <a:avLst/>
          </a:prstGeom>
          <a:noFill/>
          <a:ln w="12700">
            <a:noFill/>
            <a:miter lim="800000"/>
            <a:headEnd/>
            <a:tailEnd/>
          </a:ln>
        </p:spPr>
        <p:txBody>
          <a:bodyPr wrap="none" anchor="ctr"/>
          <a:lstStyle/>
          <a:p>
            <a:endParaRPr lang="zh-CN" altLang="en-US"/>
          </a:p>
        </p:txBody>
      </p:sp>
      <p:sp>
        <p:nvSpPr>
          <p:cNvPr id="107524" name="Rectangle 3"/>
          <p:cNvSpPr>
            <a:spLocks noChangeArrowheads="1"/>
          </p:cNvSpPr>
          <p:nvPr/>
        </p:nvSpPr>
        <p:spPr bwMode="auto">
          <a:xfrm>
            <a:off x="3886200" y="8686800"/>
            <a:ext cx="2971800" cy="457200"/>
          </a:xfrm>
          <a:prstGeom prst="rect">
            <a:avLst/>
          </a:prstGeom>
          <a:noFill/>
          <a:ln w="12700">
            <a:noFill/>
            <a:miter lim="800000"/>
            <a:headEnd/>
            <a:tailEnd/>
          </a:ln>
        </p:spPr>
        <p:txBody>
          <a:bodyPr lIns="19050" tIns="0" rIns="19050" bIns="0" anchor="b"/>
          <a:lstStyle/>
          <a:p>
            <a:pPr algn="r" eaLnBrk="0" hangingPunct="0"/>
            <a:r>
              <a:rPr kumimoji="0" lang="en-NZ" altLang="zh-CN" sz="1000" i="1">
                <a:solidFill>
                  <a:schemeClr val="tx1"/>
                </a:solidFill>
                <a:ea typeface="宋体" pitchFamily="2" charset="-122"/>
              </a:rPr>
              <a:t>3</a:t>
            </a:r>
          </a:p>
        </p:txBody>
      </p:sp>
      <p:sp>
        <p:nvSpPr>
          <p:cNvPr id="107525" name="Rectangle 4"/>
          <p:cNvSpPr>
            <a:spLocks noChangeArrowheads="1"/>
          </p:cNvSpPr>
          <p:nvPr/>
        </p:nvSpPr>
        <p:spPr bwMode="auto">
          <a:xfrm>
            <a:off x="0" y="8686800"/>
            <a:ext cx="2971800" cy="457200"/>
          </a:xfrm>
          <a:prstGeom prst="rect">
            <a:avLst/>
          </a:prstGeom>
          <a:noFill/>
          <a:ln w="12700">
            <a:noFill/>
            <a:miter lim="800000"/>
            <a:headEnd/>
            <a:tailEnd/>
          </a:ln>
        </p:spPr>
        <p:txBody>
          <a:bodyPr wrap="none" anchor="ctr"/>
          <a:lstStyle/>
          <a:p>
            <a:endParaRPr lang="zh-CN" altLang="en-US"/>
          </a:p>
        </p:txBody>
      </p:sp>
      <p:sp>
        <p:nvSpPr>
          <p:cNvPr id="107526" name="Rectangle 5"/>
          <p:cNvSpPr>
            <a:spLocks noChangeArrowheads="1"/>
          </p:cNvSpPr>
          <p:nvPr/>
        </p:nvSpPr>
        <p:spPr bwMode="auto">
          <a:xfrm>
            <a:off x="0" y="0"/>
            <a:ext cx="2971800" cy="457200"/>
          </a:xfrm>
          <a:prstGeom prst="rect">
            <a:avLst/>
          </a:prstGeom>
          <a:noFill/>
          <a:ln w="12700">
            <a:noFill/>
            <a:miter lim="800000"/>
            <a:headEnd/>
            <a:tailEnd/>
          </a:ln>
        </p:spPr>
        <p:txBody>
          <a:bodyPr wrap="none" anchor="ctr"/>
          <a:lstStyle/>
          <a:p>
            <a:endParaRPr lang="zh-CN" altLang="en-US"/>
          </a:p>
        </p:txBody>
      </p:sp>
      <p:sp>
        <p:nvSpPr>
          <p:cNvPr id="107527" name="Rectangle 6"/>
          <p:cNvSpPr>
            <a:spLocks noGrp="1" noRot="1" noChangeAspect="1" noChangeArrowheads="1" noTextEdit="1"/>
          </p:cNvSpPr>
          <p:nvPr>
            <p:ph type="sldImg"/>
          </p:nvPr>
        </p:nvSpPr>
        <p:spPr>
          <a:xfrm>
            <a:off x="393700" y="692150"/>
            <a:ext cx="6070600" cy="3416300"/>
          </a:xfrm>
          <a:ln w="12700" cap="flat">
            <a:solidFill>
              <a:schemeClr val="tx1"/>
            </a:solidFill>
          </a:ln>
        </p:spPr>
      </p:sp>
      <p:sp>
        <p:nvSpPr>
          <p:cNvPr id="107528" name="Rectangle 7"/>
          <p:cNvSpPr>
            <a:spLocks noGrp="1" noChangeArrowheads="1"/>
          </p:cNvSpPr>
          <p:nvPr>
            <p:ph type="body" idx="1"/>
          </p:nvPr>
        </p:nvSpPr>
        <p:spPr>
          <a:noFill/>
          <a:ln/>
        </p:spPr>
        <p:txBody>
          <a:bodyPr lIns="90488" tIns="44450" rIns="90488" bIns="44450"/>
          <a:lstStyle/>
          <a:p>
            <a:pPr eaLnBrk="1" hangingPunct="1"/>
            <a:endParaRPr lang="en-NZ"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52916096-8420-4514-B655-2C2FB37F7B44}" type="slidenum">
              <a:rPr lang="en-US" altLang="zh-CN"/>
              <a:pPr/>
              <a:t>201</a:t>
            </a:fld>
            <a:endParaRPr lang="en-US" altLang="zh-CN"/>
          </a:p>
        </p:txBody>
      </p:sp>
      <p:sp>
        <p:nvSpPr>
          <p:cNvPr id="110595"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110596"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C8DF0326-CF79-4979-8683-5F67DC1D7468}" type="slidenum">
              <a:rPr lang="en-US" altLang="zh-CN"/>
              <a:pPr/>
              <a:t>202</a:t>
            </a:fld>
            <a:endParaRPr lang="en-US" altLang="zh-CN"/>
          </a:p>
        </p:txBody>
      </p:sp>
      <p:sp>
        <p:nvSpPr>
          <p:cNvPr id="111619" name="Rectangle 2"/>
          <p:cNvSpPr>
            <a:spLocks noGrp="1" noRot="1" noChangeAspect="1" noChangeArrowheads="1" noTextEdit="1"/>
          </p:cNvSpPr>
          <p:nvPr>
            <p:ph type="sldImg"/>
          </p:nvPr>
        </p:nvSpPr>
        <p:spPr>
          <a:xfrm>
            <a:off x="385763" y="687388"/>
            <a:ext cx="6088062" cy="3425825"/>
          </a:xfrm>
          <a:solidFill>
            <a:srgbClr val="FFFFFF"/>
          </a:solidFill>
          <a:ln w="12700" cap="flat"/>
        </p:spPr>
      </p:sp>
      <p:sp>
        <p:nvSpPr>
          <p:cNvPr id="111620"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noFill/>
          <a:ln/>
        </p:spPr>
        <p:txBody>
          <a:bodyPr/>
          <a:lstStyle/>
          <a:p>
            <a:endParaRPr lang="zh-CN" altLang="en-US"/>
          </a:p>
        </p:txBody>
      </p:sp>
      <p:sp>
        <p:nvSpPr>
          <p:cNvPr id="82948" name="灯片编号占位符 3"/>
          <p:cNvSpPr>
            <a:spLocks noGrp="1"/>
          </p:cNvSpPr>
          <p:nvPr>
            <p:ph type="sldNum" sz="quarter" idx="5"/>
          </p:nvPr>
        </p:nvSpPr>
        <p:spPr>
          <a:noFill/>
        </p:spPr>
        <p:txBody>
          <a:bodyPr/>
          <a:lstStyle/>
          <a:p>
            <a:fld id="{A9AB4DF4-CB49-495E-8E24-52498EF9E062}" type="slidenum">
              <a:rPr lang="en-US" altLang="en-US" smtClean="0"/>
              <a:pPr/>
              <a:t>238</a:t>
            </a:fld>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CB9F41A6-0D97-BC43-8C16-5C95E3731111}"/>
              </a:ext>
            </a:extLst>
          </p:cNvPr>
          <p:cNvSpPr>
            <a:spLocks noGrp="1" noRot="1" noChangeAspect="1" noTextEdit="1"/>
          </p:cNvSpPr>
          <p:nvPr>
            <p:ph type="sldImg"/>
          </p:nvPr>
        </p:nvSpPr>
        <p:spPr>
          <a:ln/>
        </p:spPr>
      </p:sp>
      <p:sp>
        <p:nvSpPr>
          <p:cNvPr id="14339" name="备注占位符 2">
            <a:extLst>
              <a:ext uri="{FF2B5EF4-FFF2-40B4-BE49-F238E27FC236}">
                <a16:creationId xmlns:a16="http://schemas.microsoft.com/office/drawing/2014/main" id="{7A38C44D-B92E-0944-8787-4CD0DD776C4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457200" eaLnBrk="1" hangingPunct="1">
              <a:spcBef>
                <a:spcPct val="0"/>
              </a:spcBef>
            </a:pPr>
            <a:endParaRPr lang="zh-CN" altLang="en-US"/>
          </a:p>
        </p:txBody>
      </p:sp>
      <p:sp>
        <p:nvSpPr>
          <p:cNvPr id="14340" name="幻灯片编号占位符 3">
            <a:extLst>
              <a:ext uri="{FF2B5EF4-FFF2-40B4-BE49-F238E27FC236}">
                <a16:creationId xmlns:a16="http://schemas.microsoft.com/office/drawing/2014/main" id="{330B31F5-B3A7-E244-9CA0-75E6F22DC169}"/>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buFontTx/>
              <a:buNone/>
            </a:pPr>
            <a:fld id="{CFC9F7BA-539C-6848-B7D4-23004D161A4E}" type="slidenum">
              <a:rPr kumimoji="1" lang="zh-CN" altLang="en-US" sz="1200"/>
              <a:pPr algn="r" eaLnBrk="1" hangingPunct="1">
                <a:buFontTx/>
                <a:buNone/>
              </a:pPr>
              <a:t>243</a:t>
            </a:fld>
            <a:endParaRPr kumimoji="1"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2CF9EF-1B9F-C44C-97D4-6F04F05E672F}"/>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0C8CF3E6-66FC-8D4E-8CC2-6E0F369B7B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BF7190A0-52CE-D246-9595-8DE783BE2C6C}"/>
              </a:ext>
            </a:extLst>
          </p:cNvPr>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5" name="页脚占位符 4">
            <a:extLst>
              <a:ext uri="{FF2B5EF4-FFF2-40B4-BE49-F238E27FC236}">
                <a16:creationId xmlns:a16="http://schemas.microsoft.com/office/drawing/2014/main" id="{F30E238F-1ED9-0540-AF0F-C0020701444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5A55CFF-169A-0348-B779-C585C3448B09}"/>
              </a:ext>
            </a:extLst>
          </p:cNvPr>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397984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8F164E-6D3C-844F-A8FE-E3ADB29C960F}"/>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9B3B0E5-DBCA-8649-9348-9BA70FFD7162}"/>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67AC371-BD5A-EF42-A3EE-6F73404FAD13}"/>
              </a:ext>
            </a:extLst>
          </p:cNvPr>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5" name="页脚占位符 4">
            <a:extLst>
              <a:ext uri="{FF2B5EF4-FFF2-40B4-BE49-F238E27FC236}">
                <a16:creationId xmlns:a16="http://schemas.microsoft.com/office/drawing/2014/main" id="{3D072C81-FBFD-1944-B502-D29311145F5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B32F918-E0A0-D84B-841E-CFEED96C6A99}"/>
              </a:ext>
            </a:extLst>
          </p:cNvPr>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636402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358558-23A3-D44C-B496-BAD082D3B8B5}"/>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EC75A747-BA2F-814F-BFDE-27EC556767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E6D033FC-FA37-3A46-99AF-BEFF7B5B4C3A}"/>
              </a:ext>
            </a:extLst>
          </p:cNvPr>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5" name="页脚占位符 4">
            <a:extLst>
              <a:ext uri="{FF2B5EF4-FFF2-40B4-BE49-F238E27FC236}">
                <a16:creationId xmlns:a16="http://schemas.microsoft.com/office/drawing/2014/main" id="{94449EC7-F808-7A4A-87A7-00EE0A38441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E24137B-3B3F-F849-AFC9-F409BBAB94BF}"/>
              </a:ext>
            </a:extLst>
          </p:cNvPr>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440012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BA885-0808-284B-9E49-007B9E13E1E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FE7E74C5-05B7-7545-998F-D3F8E04B1DDE}"/>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BB0EFD02-BDB1-A143-9806-A2FD01FA623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2A7BD2C8-5040-8F4B-BAAD-522522A854A2}"/>
              </a:ext>
            </a:extLst>
          </p:cNvPr>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6" name="页脚占位符 5">
            <a:extLst>
              <a:ext uri="{FF2B5EF4-FFF2-40B4-BE49-F238E27FC236}">
                <a16:creationId xmlns:a16="http://schemas.microsoft.com/office/drawing/2014/main" id="{F1861C3E-34F6-204B-8E1B-FAF8C2DAC77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3AA4CCF-AFE7-6C49-926D-DBA9AF2C9114}"/>
              </a:ext>
            </a:extLst>
          </p:cNvPr>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2515127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F5755E-9AAB-0644-BCE5-35737282A812}"/>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DE203A8C-4045-364F-9AC5-98545447A5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D37D0385-C41A-BB4E-8129-9673250F9F45}"/>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0878D87-8A28-1146-857F-3969B5D7D3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5A4BAC09-D31C-AB4C-868D-B29588A318A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6C8F4715-D22C-4C46-83FF-34A5C94BDF7D}"/>
              </a:ext>
            </a:extLst>
          </p:cNvPr>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8" name="页脚占位符 7">
            <a:extLst>
              <a:ext uri="{FF2B5EF4-FFF2-40B4-BE49-F238E27FC236}">
                <a16:creationId xmlns:a16="http://schemas.microsoft.com/office/drawing/2014/main" id="{892F3C8C-041C-8D40-9375-BEE4026C90B6}"/>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F83075F7-0DA5-D74A-A040-C3CDE4385A58}"/>
              </a:ext>
            </a:extLst>
          </p:cNvPr>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2866671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DD3F97-C928-1540-9745-22E32CCEDCE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F85DD63B-A439-E14C-A088-3C6779B719CD}"/>
              </a:ext>
            </a:extLst>
          </p:cNvPr>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4" name="页脚占位符 3">
            <a:extLst>
              <a:ext uri="{FF2B5EF4-FFF2-40B4-BE49-F238E27FC236}">
                <a16:creationId xmlns:a16="http://schemas.microsoft.com/office/drawing/2014/main" id="{D7109F8D-47E3-1941-B870-48B178E410D9}"/>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2CC9295C-24D6-894E-9EE8-B377DA511B57}"/>
              </a:ext>
            </a:extLst>
          </p:cNvPr>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3299580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72216DF-03F2-6943-B239-4C83EF099A9F}"/>
              </a:ext>
            </a:extLst>
          </p:cNvPr>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3" name="页脚占位符 2">
            <a:extLst>
              <a:ext uri="{FF2B5EF4-FFF2-40B4-BE49-F238E27FC236}">
                <a16:creationId xmlns:a16="http://schemas.microsoft.com/office/drawing/2014/main" id="{170FC4FD-E7BA-6A49-BE4D-89BE6E95AD1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207B4C0B-50D4-DB4E-BEEC-4A97293412AC}"/>
              </a:ext>
            </a:extLst>
          </p:cNvPr>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2655184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EF95A0-8CB7-E240-A475-B58A62C95051}"/>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AB1A3733-7085-2E4C-AAA5-234D7DF236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89168336-4AFB-CC4E-A562-9570453C1C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3FC0F7B4-8047-8E46-A845-63175B8F4E2C}"/>
              </a:ext>
            </a:extLst>
          </p:cNvPr>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6" name="页脚占位符 5">
            <a:extLst>
              <a:ext uri="{FF2B5EF4-FFF2-40B4-BE49-F238E27FC236}">
                <a16:creationId xmlns:a16="http://schemas.microsoft.com/office/drawing/2014/main" id="{619B0D2C-8CD1-3248-9510-AD4B1038864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0E4213A-08E5-BF42-9494-4C5395160542}"/>
              </a:ext>
            </a:extLst>
          </p:cNvPr>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2192955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0EB084-6113-6B4C-9F56-FF0755548660}"/>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03FCD496-42CE-BD49-A55C-3A3138C056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8BCFA35A-FE0E-5C44-8DAB-D92454A129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58F994A9-7AAA-C74C-8B57-C4253DA379FE}"/>
              </a:ext>
            </a:extLst>
          </p:cNvPr>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6" name="页脚占位符 5">
            <a:extLst>
              <a:ext uri="{FF2B5EF4-FFF2-40B4-BE49-F238E27FC236}">
                <a16:creationId xmlns:a16="http://schemas.microsoft.com/office/drawing/2014/main" id="{CF95E9A3-65F8-A14B-8BCF-770BBEDE269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E33AC4A-5319-114A-B8C5-7C3A0A8991A1}"/>
              </a:ext>
            </a:extLst>
          </p:cNvPr>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176673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3F4BA7-56F7-C644-BF2F-F575A1C2D070}"/>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9F8A41C-69A9-F14A-90B1-2F6AC0AA7A9A}"/>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E33C76F-8DF0-3942-85AB-12258FECFF40}"/>
              </a:ext>
            </a:extLst>
          </p:cNvPr>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5" name="页脚占位符 4">
            <a:extLst>
              <a:ext uri="{FF2B5EF4-FFF2-40B4-BE49-F238E27FC236}">
                <a16:creationId xmlns:a16="http://schemas.microsoft.com/office/drawing/2014/main" id="{239BC752-3F6D-FD41-88AA-BF355CF8C29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F3B0862-64FB-4C4B-BBEF-60E37E54ECC5}"/>
              </a:ext>
            </a:extLst>
          </p:cNvPr>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4198169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2291ECB-4AF1-9B47-8748-DD4AD4423222}"/>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21D1261-0C38-6E41-8CBD-C9436A2E67FD}"/>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2CF515E-090C-6343-8BCF-80C05E0AA6E4}"/>
              </a:ext>
            </a:extLst>
          </p:cNvPr>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5" name="页脚占位符 4">
            <a:extLst>
              <a:ext uri="{FF2B5EF4-FFF2-40B4-BE49-F238E27FC236}">
                <a16:creationId xmlns:a16="http://schemas.microsoft.com/office/drawing/2014/main" id="{BF5B1CA8-C312-F44A-80BE-5025CE167D5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9B4F27F-CC6F-8B4C-9A4B-9E762F1E2627}"/>
              </a:ext>
            </a:extLst>
          </p:cNvPr>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9477105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11200" y="1"/>
            <a:ext cx="11480800" cy="62023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18203770"/>
      </p:ext>
    </p:extLst>
  </p:cSld>
  <p:clrMapOvr>
    <a:masterClrMapping/>
  </p:clrMapOvr>
  <p:transition spd="med">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2844800" y="1"/>
            <a:ext cx="9347200" cy="1484313"/>
          </a:xfrm>
        </p:spPr>
        <p:txBody>
          <a:bodyPr/>
          <a:lstStyle/>
          <a:p>
            <a:r>
              <a:rPr lang="zh-CN" altLang="en-US"/>
              <a:t>单击此处编辑母版标题样式</a:t>
            </a:r>
          </a:p>
        </p:txBody>
      </p:sp>
      <p:sp>
        <p:nvSpPr>
          <p:cNvPr id="3" name="图表占位符 2"/>
          <p:cNvSpPr>
            <a:spLocks noGrp="1"/>
          </p:cNvSpPr>
          <p:nvPr>
            <p:ph type="chart" idx="1"/>
          </p:nvPr>
        </p:nvSpPr>
        <p:spPr>
          <a:xfrm>
            <a:off x="711200" y="1676401"/>
            <a:ext cx="10972800" cy="4525963"/>
          </a:xfrm>
        </p:spPr>
        <p:txBody>
          <a:bodyPr>
            <a:normAutofit/>
          </a:bodyPr>
          <a:lstStyle/>
          <a:p>
            <a:pPr lvl="0"/>
            <a:endParaRPr lang="zh-CN" altLang="en-US" noProof="0"/>
          </a:p>
        </p:txBody>
      </p:sp>
    </p:spTree>
    <p:extLst>
      <p:ext uri="{BB962C8B-B14F-4D97-AF65-F5344CB8AC3E}">
        <p14:creationId xmlns:p14="http://schemas.microsoft.com/office/powerpoint/2010/main" val="542637677"/>
      </p:ext>
    </p:extLst>
  </p:cSld>
  <p:clrMapOvr>
    <a:masterClrMapping/>
  </p:clrMapOvr>
  <p:transition spd="med">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rIns="45720"/>
          <a:lstStyle/>
          <a:p>
            <a:fld id="{9C9E5AB3-E8B5-A047-8D7E-53F54181C9E4}" type="slidenum">
              <a:rPr kumimoji="1" lang="zh-CN" altLang="en-US" smtClean="0"/>
              <a:t>‹#›</a:t>
            </a:fld>
            <a:endParaRPr kumimoji="1" lang="zh-CN" alt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308663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l">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nchor="ctr"/>
          <a:lstStyle>
            <a:lvl1pPr>
              <a:defRPr sz="2400" baseline="0"/>
            </a:lvl1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0411239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zh-CN" altLang="en-US"/>
              <a:t>单击此处编辑母版标题样式</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1846873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4360554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609285" y="2851331"/>
            <a:ext cx="3893623" cy="307143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666635" y="2851331"/>
            <a:ext cx="3899798" cy="307143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11541895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940327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34116564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3563313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15508595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8322374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086BF14-34AB-F846-937C-696D0DA2F009}" type="datetimeFigureOut">
              <a:rPr kumimoji="1" lang="zh-CN" altLang="en-US" smtClean="0"/>
              <a:t>2026/10/11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16498098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11200" y="1"/>
            <a:ext cx="11480800" cy="62023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34529907"/>
      </p:ext>
    </p:extLst>
  </p:cSld>
  <p:clrMapOvr>
    <a:masterClrMapping/>
  </p:clrMapOvr>
  <p:transition spd="med">
    <p:randomBar dir="vert"/>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2844800" y="1"/>
            <a:ext cx="9347200" cy="1484313"/>
          </a:xfrm>
        </p:spPr>
        <p:txBody>
          <a:bodyPr/>
          <a:lstStyle/>
          <a:p>
            <a:r>
              <a:rPr lang="zh-CN" altLang="en-US"/>
              <a:t>单击此处编辑母版标题样式</a:t>
            </a:r>
          </a:p>
        </p:txBody>
      </p:sp>
      <p:sp>
        <p:nvSpPr>
          <p:cNvPr id="3" name="图表占位符 2"/>
          <p:cNvSpPr>
            <a:spLocks noGrp="1"/>
          </p:cNvSpPr>
          <p:nvPr>
            <p:ph type="chart" idx="1"/>
          </p:nvPr>
        </p:nvSpPr>
        <p:spPr>
          <a:xfrm>
            <a:off x="711200" y="1676401"/>
            <a:ext cx="10972800" cy="4525963"/>
          </a:xfrm>
        </p:spPr>
        <p:txBody>
          <a:bodyPr>
            <a:normAutofit/>
          </a:bodyPr>
          <a:lstStyle/>
          <a:p>
            <a:pPr lvl="0"/>
            <a:endParaRPr lang="zh-CN" altLang="en-US" noProof="0"/>
          </a:p>
        </p:txBody>
      </p:sp>
    </p:spTree>
    <p:extLst>
      <p:ext uri="{BB962C8B-B14F-4D97-AF65-F5344CB8AC3E}">
        <p14:creationId xmlns:p14="http://schemas.microsoft.com/office/powerpoint/2010/main" val="2590910419"/>
      </p:ext>
    </p:extLst>
  </p:cSld>
  <p:clrMapOvr>
    <a:masterClrMapping/>
  </p:clrMapOvr>
  <p:transition spd="med">
    <p:randomBar dir="vert"/>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3407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3.png"/><Relationship Id="rId2" Type="http://schemas.openxmlformats.org/officeDocument/2006/relationships/slideLayout" Target="../slideLayouts/slideLayout15.xml"/><Relationship Id="rId16" Type="http://schemas.openxmlformats.org/officeDocument/2006/relationships/image" Target="../media/image2.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0C12503-B908-9B4F-9E96-2658D6E70A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2CC1DCC-E942-6844-BF4B-A641C1BBBD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8CCCF9A-1EAF-044E-90F0-2FA799E05F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86BF14-34AB-F846-937C-696D0DA2F009}" type="datetimeFigureOut">
              <a:rPr kumimoji="1" lang="zh-CN" altLang="en-US" smtClean="0"/>
              <a:t>2026/10/11</a:t>
            </a:fld>
            <a:endParaRPr kumimoji="1" lang="zh-CN" altLang="en-US"/>
          </a:p>
        </p:txBody>
      </p:sp>
      <p:sp>
        <p:nvSpPr>
          <p:cNvPr id="5" name="页脚占位符 4">
            <a:extLst>
              <a:ext uri="{FF2B5EF4-FFF2-40B4-BE49-F238E27FC236}">
                <a16:creationId xmlns:a16="http://schemas.microsoft.com/office/drawing/2014/main" id="{5BF8F190-200F-A44E-B682-4D4605D4A3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B733076-4600-DF4A-A4CA-5E84F3BD1A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9E5AB3-E8B5-A047-8D7E-53F54181C9E4}" type="slidenum">
              <a:rPr kumimoji="1" lang="zh-CN" altLang="en-US" smtClean="0"/>
              <a:t>‹#›</a:t>
            </a:fld>
            <a:endParaRPr kumimoji="1" lang="zh-CN" altLang="en-US"/>
          </a:p>
        </p:txBody>
      </p:sp>
    </p:spTree>
    <p:extLst>
      <p:ext uri="{BB962C8B-B14F-4D97-AF65-F5344CB8AC3E}">
        <p14:creationId xmlns:p14="http://schemas.microsoft.com/office/powerpoint/2010/main" val="2267511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C086BF14-34AB-F846-937C-696D0DA2F009}" type="datetimeFigureOut">
              <a:rPr kumimoji="1" lang="zh-CN" altLang="en-US" smtClean="0"/>
              <a:t>2026/10/11</a:t>
            </a:fld>
            <a:endParaRPr kumimoji="1" lang="zh-CN" alt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9C9E5AB3-E8B5-A047-8D7E-53F54181C9E4}" type="slidenum">
              <a:rPr kumimoji="1" lang="zh-CN" altLang="en-US" smtClean="0"/>
              <a:t>‹#›</a:t>
            </a:fld>
            <a:endParaRPr kumimoji="1" lang="zh-CN" alt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21271154"/>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5.xml"/><Relationship Id="rId1" Type="http://schemas.openxmlformats.org/officeDocument/2006/relationships/themeOverride" Target="../theme/themeOverride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hemeOverride" Target="../theme/themeOverr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2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27.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7.svg"/><Relationship Id="rId2" Type="http://schemas.openxmlformats.org/officeDocument/2006/relationships/image" Target="../media/image24.png"/><Relationship Id="rId1" Type="http://schemas.openxmlformats.org/officeDocument/2006/relationships/slideLayout" Target="../slideLayouts/slideLayout27.xml"/><Relationship Id="rId6" Type="http://schemas.openxmlformats.org/officeDocument/2006/relationships/image" Target="../media/image26.png"/><Relationship Id="rId5" Type="http://schemas.openxmlformats.org/officeDocument/2006/relationships/image" Target="../media/image7.sv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7.xml"/><Relationship Id="rId5" Type="http://schemas.openxmlformats.org/officeDocument/2006/relationships/image" Target="../media/image33.sv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7.xml"/><Relationship Id="rId5" Type="http://schemas.openxmlformats.org/officeDocument/2006/relationships/image" Target="../media/image37.sv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9.svg"/><Relationship Id="rId7" Type="http://schemas.openxmlformats.org/officeDocument/2006/relationships/image" Target="../media/image33.svg"/><Relationship Id="rId2" Type="http://schemas.openxmlformats.org/officeDocument/2006/relationships/image" Target="../media/image38.png"/><Relationship Id="rId1" Type="http://schemas.openxmlformats.org/officeDocument/2006/relationships/slideLayout" Target="../slideLayouts/slideLayout27.xml"/><Relationship Id="rId6" Type="http://schemas.openxmlformats.org/officeDocument/2006/relationships/image" Target="../media/image32.png"/><Relationship Id="rId5" Type="http://schemas.openxmlformats.org/officeDocument/2006/relationships/image" Target="../media/image41.sv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hyperlink" Target="https://www.bilibili.com/video/BV1gi4y137NR?p=11&amp;vd_source=7f8117026af9f2068c49053eea7e57eb" TargetMode="External"/><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svg"/><Relationship Id="rId7" Type="http://schemas.openxmlformats.org/officeDocument/2006/relationships/image" Target="../media/image55.svg"/><Relationship Id="rId2" Type="http://schemas.openxmlformats.org/officeDocument/2006/relationships/image" Target="../media/image50.png"/><Relationship Id="rId1" Type="http://schemas.openxmlformats.org/officeDocument/2006/relationships/slideLayout" Target="../slideLayouts/slideLayout27.xml"/><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 Id="rId9" Type="http://schemas.openxmlformats.org/officeDocument/2006/relationships/image" Target="../media/image57.svg"/></Relationships>
</file>

<file path=ppt/slides/_rels/slide42.xml.rels><?xml version="1.0" encoding="UTF-8" standalone="yes"?>
<Relationships xmlns="http://schemas.openxmlformats.org/package/2006/relationships"><Relationship Id="rId3" Type="http://schemas.openxmlformats.org/officeDocument/2006/relationships/image" Target="../media/image59.svg"/><Relationship Id="rId7" Type="http://schemas.openxmlformats.org/officeDocument/2006/relationships/image" Target="../media/image63.svg"/><Relationship Id="rId2" Type="http://schemas.openxmlformats.org/officeDocument/2006/relationships/image" Target="../media/image58.png"/><Relationship Id="rId1" Type="http://schemas.openxmlformats.org/officeDocument/2006/relationships/slideLayout" Target="../slideLayouts/slideLayout27.xml"/><Relationship Id="rId6" Type="http://schemas.openxmlformats.org/officeDocument/2006/relationships/image" Target="../media/image62.png"/><Relationship Id="rId5" Type="http://schemas.openxmlformats.org/officeDocument/2006/relationships/image" Target="../media/image61.svg"/><Relationship Id="rId4" Type="http://schemas.openxmlformats.org/officeDocument/2006/relationships/image" Target="../media/image60.png"/></Relationships>
</file>

<file path=ppt/slides/_rels/slide43.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png"/><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slide" Target="slide95.xml"/><Relationship Id="rId2" Type="http://schemas.openxmlformats.org/officeDocument/2006/relationships/slide" Target="slide87.xml"/><Relationship Id="rId1" Type="http://schemas.openxmlformats.org/officeDocument/2006/relationships/slideLayout" Target="../slideLayouts/slideLayout26.xml"/><Relationship Id="rId4" Type="http://schemas.openxmlformats.org/officeDocument/2006/relationships/slide" Target="slide17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hemeOverride" Target="../theme/themeOverride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hemeOverride" Target="../theme/themeOverride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Layout" Target="../slideLayouts/slideLayout15.xml"/><Relationship Id="rId5" Type="http://schemas.openxmlformats.org/officeDocument/2006/relationships/image" Target="../media/image71.jpeg"/><Relationship Id="rId4" Type="http://schemas.openxmlformats.org/officeDocument/2006/relationships/image" Target="../media/image70.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png"/><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hemeOverride" Target="../theme/themeOverride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hemeOverride" Target="../theme/themeOverride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hemeOverride" Target="../theme/themeOverride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hyperlink" Target="http://tupian.hudong.com/s/%E6%B4%9B%E4%BC%A6%E8%8C%A8%E6%9B%B2%E7%BA%BF/xgtupian/1/1" TargetMode="External"/><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7.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1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hyperlink" Target="http://wiki.mbalib.com/wiki/%E5%A4%96%E9%83%A8%E5%9B%A0%E7%B4%A0%E8%AF%84%E4%BB%B7%E7%9F%A9%E9%98%B5" TargetMode="External"/><Relationship Id="rId2" Type="http://schemas.openxmlformats.org/officeDocument/2006/relationships/hyperlink" Target="http://wiki.mbalib.com/wiki/%E7%AB%9E%E4%BA%89%E5%AF%B9%E6%89%8B" TargetMode="External"/><Relationship Id="rId1" Type="http://schemas.openxmlformats.org/officeDocument/2006/relationships/slideLayout" Target="../slideLayouts/slideLayout15.xml"/><Relationship Id="rId4" Type="http://schemas.openxmlformats.org/officeDocument/2006/relationships/hyperlink" Target="http://wiki.mbalib.com/wiki/%E6%9D%83%E9%87%8D" TargetMode="External"/></Relationships>
</file>

<file path=ppt/slides/_rels/slide110.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15.xml"/></Relationships>
</file>

<file path=ppt/slides/_rels/slide111.xml.rels><?xml version="1.0" encoding="UTF-8" standalone="yes"?>
<Relationships xmlns="http://schemas.openxmlformats.org/package/2006/relationships"><Relationship Id="rId2" Type="http://schemas.openxmlformats.org/officeDocument/2006/relationships/image" Target="../media/image79.jpg"/><Relationship Id="rId1" Type="http://schemas.openxmlformats.org/officeDocument/2006/relationships/slideLayout" Target="../slideLayouts/slideLayout1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1.xml.rels><?xml version="1.0" encoding="UTF-8" standalone="yes"?>
<Relationships xmlns="http://schemas.openxmlformats.org/package/2006/relationships"><Relationship Id="rId3" Type="http://schemas.openxmlformats.org/officeDocument/2006/relationships/hyperlink" Target="https://baike.baidu.com/item/%E5%BF%83%E7%90%86%E5%AD%A6%E5%AE%B6/9063970?fromModule=lemma_inlink" TargetMode="External"/><Relationship Id="rId2" Type="http://schemas.openxmlformats.org/officeDocument/2006/relationships/hyperlink" Target="https://baike.baidu.com/item/%E7%BE%8E%E5%9B%BD/125486?fromModule=lemma_inlink" TargetMode="External"/><Relationship Id="rId1" Type="http://schemas.openxmlformats.org/officeDocument/2006/relationships/slideLayout" Target="../slideLayouts/slideLayout15.xml"/><Relationship Id="rId5" Type="http://schemas.openxmlformats.org/officeDocument/2006/relationships/image" Target="../media/image81.jpeg"/><Relationship Id="rId4" Type="http://schemas.openxmlformats.org/officeDocument/2006/relationships/hyperlink" Target="https://baike.baidu.com/item/%E5%9F%BA%E6%9C%AC%E6%8A%80%E8%83%BD/22604254?fromModule=lemma_inlink" TargetMode="Externa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8.xml.rels><?xml version="1.0" encoding="UTF-8" standalone="yes"?>
<Relationships xmlns="http://schemas.openxmlformats.org/package/2006/relationships"><Relationship Id="rId3" Type="http://schemas.openxmlformats.org/officeDocument/2006/relationships/hyperlink" Target="http://wiki.mbalib.com/wiki/%E8%B4%A2%E5%8A%A1%E6%AF%94%E7%8E%87" TargetMode="External"/><Relationship Id="rId2" Type="http://schemas.openxmlformats.org/officeDocument/2006/relationships/hyperlink" Target="http://wiki.mbalib.com/wiki/%E9%95%BF%E6%9C%9F%E8%AE%A1%E5%88%92" TargetMode="External"/><Relationship Id="rId1" Type="http://schemas.openxmlformats.org/officeDocument/2006/relationships/slideLayout" Target="../slideLayouts/slideLayout1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1.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3.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1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5.xml"/><Relationship Id="rId1" Type="http://schemas.openxmlformats.org/officeDocument/2006/relationships/vmlDrawing" Target="../drawings/vmlDrawing1.vml"/><Relationship Id="rId5" Type="http://schemas.openxmlformats.org/officeDocument/2006/relationships/image" Target="../media/image85.png"/><Relationship Id="rId4" Type="http://schemas.openxmlformats.org/officeDocument/2006/relationships/image" Target="../media/image84.emf"/></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7.xml.rels><?xml version="1.0" encoding="UTF-8" standalone="yes"?>
<Relationships xmlns="http://schemas.openxmlformats.org/package/2006/relationships"><Relationship Id="rId2" Type="http://schemas.openxmlformats.org/officeDocument/2006/relationships/image" Target="../media/image86.emf"/><Relationship Id="rId1" Type="http://schemas.openxmlformats.org/officeDocument/2006/relationships/slideLayout" Target="../slideLayouts/slideLayout15.xml"/></Relationships>
</file>

<file path=ppt/slides/_rels/slide19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5.xml"/><Relationship Id="rId1" Type="http://schemas.openxmlformats.org/officeDocument/2006/relationships/vmlDrawing" Target="../drawings/vmlDrawing2.vml"/><Relationship Id="rId5" Type="http://schemas.openxmlformats.org/officeDocument/2006/relationships/image" Target="../media/image87.wmf"/><Relationship Id="rId4" Type="http://schemas.openxmlformats.org/officeDocument/2006/relationships/oleObject" Target="../embeddings/oleObject2.bin"/></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0.xml"/></Relationships>
</file>

<file path=ppt/slides/_rels/slide209.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0.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7.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15.xml"/></Relationships>
</file>

<file path=ppt/slides/_rels/slide218.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15.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5.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1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72C5F9-B8F6-A248-833E-69A4D8EC16A1}"/>
              </a:ext>
            </a:extLst>
          </p:cNvPr>
          <p:cNvSpPr>
            <a:spLocks noGrp="1"/>
          </p:cNvSpPr>
          <p:nvPr>
            <p:ph type="ctrTitle"/>
          </p:nvPr>
        </p:nvSpPr>
        <p:spPr/>
        <p:txBody>
          <a:bodyPr/>
          <a:lstStyle/>
          <a:p>
            <a:r>
              <a:rPr kumimoji="1" lang="zh-CN" altLang="en-US" dirty="0">
                <a:solidFill>
                  <a:schemeClr val="bg1"/>
                </a:solidFill>
              </a:rPr>
              <a:t>战略管理</a:t>
            </a:r>
          </a:p>
        </p:txBody>
      </p:sp>
      <p:sp>
        <p:nvSpPr>
          <p:cNvPr id="3" name="副标题 2">
            <a:extLst>
              <a:ext uri="{FF2B5EF4-FFF2-40B4-BE49-F238E27FC236}">
                <a16:creationId xmlns:a16="http://schemas.microsoft.com/office/drawing/2014/main" id="{2C17931F-0F9D-E44E-B2D0-C3C560825C24}"/>
              </a:ext>
            </a:extLst>
          </p:cNvPr>
          <p:cNvSpPr>
            <a:spLocks noGrp="1"/>
          </p:cNvSpPr>
          <p:nvPr>
            <p:ph type="subTitle" idx="1"/>
          </p:nvPr>
        </p:nvSpPr>
        <p:spPr/>
        <p:txBody>
          <a:bodyPr/>
          <a:lstStyle/>
          <a:p>
            <a:endParaRPr kumimoji="1" lang="en-US" altLang="zh-CN" dirty="0">
              <a:solidFill>
                <a:schemeClr val="bg1"/>
              </a:solidFill>
            </a:endParaRPr>
          </a:p>
          <a:p>
            <a:r>
              <a:rPr kumimoji="1" lang="zh-CN" altLang="en-US" sz="3600" dirty="0">
                <a:solidFill>
                  <a:schemeClr val="bg1"/>
                </a:solidFill>
              </a:rPr>
              <a:t>钟佳桂</a:t>
            </a:r>
          </a:p>
        </p:txBody>
      </p:sp>
    </p:spTree>
    <p:extLst>
      <p:ext uri="{BB962C8B-B14F-4D97-AF65-F5344CB8AC3E}">
        <p14:creationId xmlns:p14="http://schemas.microsoft.com/office/powerpoint/2010/main" val="3767071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KaiTi" panose="02010609060101010101" pitchFamily="49" charset="-122"/>
                <a:ea typeface="KaiTi" panose="02010609060101010101" pitchFamily="49" charset="-122"/>
              </a:rPr>
              <a:t>战略管理概述</a:t>
            </a:r>
            <a:r>
              <a:rPr lang="en-US" altLang="zh-CN" dirty="0">
                <a:latin typeface="KaiTi" panose="02010609060101010101" pitchFamily="49" charset="-122"/>
                <a:ea typeface="KaiTi" panose="02010609060101010101" pitchFamily="49" charset="-122"/>
              </a:rPr>
              <a:t>-why</a:t>
            </a:r>
            <a:endParaRPr lang="zh-CN" altLang="en-US" dirty="0">
              <a:latin typeface="KaiTi" panose="02010609060101010101" pitchFamily="49" charset="-122"/>
              <a:ea typeface="KaiTi" panose="02010609060101010101" pitchFamily="49" charset="-122"/>
            </a:endParaRPr>
          </a:p>
        </p:txBody>
      </p:sp>
      <p:sp>
        <p:nvSpPr>
          <p:cNvPr id="3" name="内容占位符 2"/>
          <p:cNvSpPr>
            <a:spLocks noGrp="1"/>
          </p:cNvSpPr>
          <p:nvPr>
            <p:ph idx="1"/>
          </p:nvPr>
        </p:nvSpPr>
        <p:spPr>
          <a:xfrm>
            <a:off x="2773599" y="2052116"/>
            <a:ext cx="8335388" cy="3997828"/>
          </a:xfrm>
        </p:spPr>
        <p:txBody>
          <a:bodyPr>
            <a:normAutofit lnSpcReduction="10000"/>
          </a:bodyPr>
          <a:lstStyle/>
          <a:p>
            <a:pPr marL="0" indent="0">
              <a:buNone/>
            </a:pPr>
            <a:endParaRPr lang="en-US" altLang="zh-CN" dirty="0">
              <a:latin typeface="KaiTi" panose="02010609060101010101" pitchFamily="49" charset="-122"/>
              <a:ea typeface="KaiTi" panose="02010609060101010101" pitchFamily="49" charset="-122"/>
            </a:endParaRPr>
          </a:p>
          <a:p>
            <a:r>
              <a:rPr lang="zh-CN" altLang="en-US" dirty="0">
                <a:latin typeface="KaiTi" panose="02010609060101010101" pitchFamily="49" charset="-122"/>
                <a:ea typeface="KaiTi" panose="02010609060101010101" pitchFamily="49" charset="-122"/>
              </a:rPr>
              <a:t>世间万物的自然之道</a:t>
            </a:r>
            <a:endParaRPr lang="en-US" altLang="zh-CN" dirty="0">
              <a:latin typeface="KaiTi" panose="02010609060101010101" pitchFamily="49" charset="-122"/>
              <a:ea typeface="KaiTi" panose="02010609060101010101" pitchFamily="49" charset="-122"/>
            </a:endParaRPr>
          </a:p>
          <a:p>
            <a:r>
              <a:rPr lang="zh-CN" altLang="en-US" dirty="0">
                <a:latin typeface="KaiTi" panose="02010609060101010101" pitchFamily="49" charset="-122"/>
                <a:ea typeface="KaiTi" panose="02010609060101010101" pitchFamily="49" charset="-122"/>
              </a:rPr>
              <a:t>人</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企业的根本问题</a:t>
            </a:r>
          </a:p>
          <a:p>
            <a:pPr lvl="1"/>
            <a:r>
              <a:rPr lang="zh-CN" altLang="en-US" dirty="0">
                <a:solidFill>
                  <a:srgbClr val="FF0000"/>
                </a:solidFill>
                <a:latin typeface="KaiTi" panose="02010609060101010101" pitchFamily="49" charset="-122"/>
                <a:ea typeface="KaiTi" panose="02010609060101010101" pitchFamily="49" charset="-122"/>
              </a:rPr>
              <a:t>生存</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活下来，活得长，活的好，不必</a:t>
            </a:r>
            <a:r>
              <a:rPr lang="en-US" altLang="zh-CN" dirty="0">
                <a:latin typeface="KaiTi" panose="02010609060101010101" pitchFamily="49" charset="-122"/>
                <a:ea typeface="KaiTi" panose="02010609060101010101" pitchFamily="49" charset="-122"/>
              </a:rPr>
              <a:t>996</a:t>
            </a:r>
            <a:r>
              <a:rPr lang="zh-CN" altLang="en-US" dirty="0">
                <a:latin typeface="KaiTi" panose="02010609060101010101" pitchFamily="49" charset="-122"/>
                <a:ea typeface="KaiTi" panose="02010609060101010101" pitchFamily="49" charset="-122"/>
              </a:rPr>
              <a:t>，站着就能把钱挣了，基业长青</a:t>
            </a:r>
          </a:p>
          <a:p>
            <a:pPr lvl="1"/>
            <a:r>
              <a:rPr lang="zh-CN" altLang="en-US" dirty="0">
                <a:solidFill>
                  <a:srgbClr val="FF0000"/>
                </a:solidFill>
                <a:latin typeface="KaiTi" panose="02010609060101010101" pitchFamily="49" charset="-122"/>
                <a:ea typeface="KaiTi" panose="02010609060101010101" pitchFamily="49" charset="-122"/>
              </a:rPr>
              <a:t>发展</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自然长大，小白</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大鳄，小企业</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大企业，资源的拥有和掌控，能力的提升与取得，更多贡献</a:t>
            </a:r>
            <a:endParaRPr lang="en-US" altLang="zh-CN" dirty="0">
              <a:latin typeface="KaiTi" panose="02010609060101010101" pitchFamily="49" charset="-122"/>
              <a:ea typeface="KaiTi" panose="02010609060101010101" pitchFamily="49" charset="-122"/>
            </a:endParaRPr>
          </a:p>
          <a:p>
            <a:pPr lvl="1"/>
            <a:endParaRPr lang="en-US" altLang="zh-CN" dirty="0">
              <a:latin typeface="KaiTi" panose="02010609060101010101" pitchFamily="49" charset="-122"/>
              <a:ea typeface="KaiTi" panose="02010609060101010101" pitchFamily="49" charset="-122"/>
            </a:endParaRPr>
          </a:p>
          <a:p>
            <a:pPr lvl="1"/>
            <a:r>
              <a:rPr lang="en-US" altLang="zh-CN" dirty="0">
                <a:latin typeface="KaiTi" panose="02010609060101010101" pitchFamily="49" charset="-122"/>
                <a:ea typeface="KaiTi" panose="02010609060101010101" pitchFamily="49" charset="-122"/>
              </a:rPr>
              <a:t>1985</a:t>
            </a:r>
            <a:r>
              <a:rPr lang="zh-CN" altLang="en-US" dirty="0">
                <a:latin typeface="KaiTi" panose="02010609060101010101" pitchFamily="49" charset="-122"/>
                <a:ea typeface="KaiTi" panose="02010609060101010101" pitchFamily="49" charset="-122"/>
              </a:rPr>
              <a:t>年，邓和平与发展是当今世界的两大主题</a:t>
            </a:r>
          </a:p>
          <a:p>
            <a:pPr marL="457200" lvl="1" indent="0">
              <a:buNone/>
            </a:pPr>
            <a:endParaRPr lang="zh-CN" altLang="en-US" dirty="0">
              <a:latin typeface="KaiTi" panose="02010609060101010101" pitchFamily="49" charset="-122"/>
              <a:ea typeface="KaiTi" panose="02010609060101010101" pitchFamily="49" charset="-122"/>
            </a:endParaRPr>
          </a:p>
          <a:p>
            <a:pPr lvl="0"/>
            <a:endParaRPr lang="zh-CN" altLang="en-US" dirty="0"/>
          </a:p>
        </p:txBody>
      </p:sp>
    </p:spTree>
    <p:extLst>
      <p:ext uri="{BB962C8B-B14F-4D97-AF65-F5344CB8AC3E}">
        <p14:creationId xmlns:p14="http://schemas.microsoft.com/office/powerpoint/2010/main" val="1441051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r>
              <a:rPr lang="zh-CN" altLang="en-US" dirty="0">
                <a:latin typeface="+mj-ea"/>
              </a:rPr>
              <a:t>战略管理概述</a:t>
            </a:r>
            <a:r>
              <a:rPr lang="en-US" altLang="zh-CN" dirty="0">
                <a:latin typeface="+mj-ea"/>
              </a:rPr>
              <a:t>-</a:t>
            </a:r>
            <a:r>
              <a:rPr lang="zh-CN" altLang="en-US" dirty="0">
                <a:latin typeface="+mj-ea"/>
              </a:rPr>
              <a:t>环境变化</a:t>
            </a:r>
          </a:p>
        </p:txBody>
      </p:sp>
      <p:sp>
        <p:nvSpPr>
          <p:cNvPr id="4099" name="内容占位符 2"/>
          <p:cNvSpPr>
            <a:spLocks noGrp="1"/>
          </p:cNvSpPr>
          <p:nvPr>
            <p:ph idx="1"/>
          </p:nvPr>
        </p:nvSpPr>
        <p:spPr>
          <a:xfrm>
            <a:off x="2951018" y="1885284"/>
            <a:ext cx="7537470" cy="3621405"/>
          </a:xfrm>
        </p:spPr>
        <p:txBody>
          <a:bodyPr>
            <a:noAutofit/>
          </a:bodyPr>
          <a:lstStyle/>
          <a:p>
            <a:pPr>
              <a:lnSpc>
                <a:spcPct val="100000"/>
              </a:lnSpc>
              <a:spcBef>
                <a:spcPts val="0"/>
              </a:spcBef>
              <a:spcAft>
                <a:spcPts val="0"/>
              </a:spcAft>
            </a:pPr>
            <a:r>
              <a:rPr lang="en-US" altLang="zh-CN" sz="2000" dirty="0">
                <a:latin typeface="+mn-ea"/>
              </a:rPr>
              <a:t>Borders</a:t>
            </a:r>
            <a:r>
              <a:rPr lang="zh-CN" altLang="en-US" sz="2000" dirty="0">
                <a:latin typeface="+mn-ea"/>
              </a:rPr>
              <a:t>连锁书店</a:t>
            </a:r>
            <a:endParaRPr lang="en-US" altLang="zh-CN" sz="2000" dirty="0">
              <a:latin typeface="+mn-ea"/>
            </a:endParaRPr>
          </a:p>
          <a:p>
            <a:pPr>
              <a:lnSpc>
                <a:spcPct val="100000"/>
              </a:lnSpc>
              <a:spcBef>
                <a:spcPts val="0"/>
              </a:spcBef>
              <a:spcAft>
                <a:spcPts val="0"/>
              </a:spcAft>
            </a:pPr>
            <a:r>
              <a:rPr lang="zh-CN" altLang="en-US" sz="2000" dirty="0">
                <a:latin typeface="+mn-ea"/>
              </a:rPr>
              <a:t>柯达</a:t>
            </a:r>
            <a:endParaRPr lang="en-US" altLang="zh-CN" sz="2000" dirty="0">
              <a:latin typeface="+mn-ea"/>
            </a:endParaRPr>
          </a:p>
          <a:p>
            <a:pPr>
              <a:lnSpc>
                <a:spcPct val="100000"/>
              </a:lnSpc>
              <a:spcBef>
                <a:spcPts val="0"/>
              </a:spcBef>
              <a:spcAft>
                <a:spcPts val="0"/>
              </a:spcAft>
            </a:pPr>
            <a:r>
              <a:rPr lang="en-US" altLang="zh-CN" sz="2000" dirty="0">
                <a:latin typeface="+mn-ea"/>
              </a:rPr>
              <a:t>Nokia</a:t>
            </a:r>
          </a:p>
          <a:p>
            <a:pPr>
              <a:lnSpc>
                <a:spcPct val="100000"/>
              </a:lnSpc>
              <a:spcBef>
                <a:spcPts val="0"/>
              </a:spcBef>
              <a:spcAft>
                <a:spcPts val="0"/>
              </a:spcAft>
            </a:pPr>
            <a:endParaRPr lang="en-US" altLang="zh-CN" sz="2000" dirty="0">
              <a:latin typeface="+mn-ea"/>
            </a:endParaRPr>
          </a:p>
          <a:p>
            <a:pPr>
              <a:lnSpc>
                <a:spcPct val="100000"/>
              </a:lnSpc>
              <a:spcBef>
                <a:spcPts val="0"/>
              </a:spcBef>
              <a:spcAft>
                <a:spcPts val="0"/>
              </a:spcAft>
            </a:pPr>
            <a:r>
              <a:rPr lang="zh-CN" altLang="en-US" sz="2000" dirty="0">
                <a:latin typeface="+mn-ea"/>
              </a:rPr>
              <a:t>佳能</a:t>
            </a:r>
            <a:endParaRPr lang="en-US" altLang="zh-CN" sz="2000" dirty="0">
              <a:latin typeface="+mn-ea"/>
            </a:endParaRPr>
          </a:p>
          <a:p>
            <a:pPr>
              <a:lnSpc>
                <a:spcPct val="100000"/>
              </a:lnSpc>
              <a:spcBef>
                <a:spcPts val="0"/>
              </a:spcBef>
              <a:spcAft>
                <a:spcPts val="0"/>
              </a:spcAft>
            </a:pPr>
            <a:r>
              <a:rPr lang="zh-CN" altLang="en-US" sz="2000" dirty="0">
                <a:latin typeface="+mn-ea"/>
              </a:rPr>
              <a:t>苹果</a:t>
            </a:r>
            <a:endParaRPr lang="en-US" altLang="zh-CN" sz="2000" dirty="0">
              <a:latin typeface="+mn-ea"/>
            </a:endParaRPr>
          </a:p>
          <a:p>
            <a:pPr>
              <a:lnSpc>
                <a:spcPct val="100000"/>
              </a:lnSpc>
              <a:spcBef>
                <a:spcPts val="0"/>
              </a:spcBef>
              <a:spcAft>
                <a:spcPts val="0"/>
              </a:spcAft>
            </a:pPr>
            <a:r>
              <a:rPr lang="en-US" altLang="zh-CN" sz="2000" dirty="0">
                <a:latin typeface="+mn-ea"/>
              </a:rPr>
              <a:t>Amazon</a:t>
            </a:r>
          </a:p>
          <a:p>
            <a:pPr>
              <a:lnSpc>
                <a:spcPct val="100000"/>
              </a:lnSpc>
              <a:spcBef>
                <a:spcPts val="0"/>
              </a:spcBef>
              <a:spcAft>
                <a:spcPts val="0"/>
              </a:spcAft>
            </a:pPr>
            <a:endParaRPr lang="en-US" altLang="zh-CN" sz="2000" dirty="0">
              <a:latin typeface="+mn-ea"/>
            </a:endParaRPr>
          </a:p>
          <a:p>
            <a:pPr>
              <a:lnSpc>
                <a:spcPct val="100000"/>
              </a:lnSpc>
              <a:spcBef>
                <a:spcPts val="0"/>
              </a:spcBef>
              <a:spcAft>
                <a:spcPts val="0"/>
              </a:spcAft>
            </a:pPr>
            <a:r>
              <a:rPr lang="zh-CN" altLang="en-US" sz="2000" dirty="0">
                <a:latin typeface="+mn-ea"/>
              </a:rPr>
              <a:t>唯一不变的是变化，技术进步、全球化、竞争、疫情、战争、人口和国民收入变化等等</a:t>
            </a:r>
            <a:endParaRPr lang="en-US" altLang="zh-CN" sz="2000" dirty="0">
              <a:latin typeface="+mn-ea"/>
            </a:endParaRPr>
          </a:p>
          <a:p>
            <a:pPr>
              <a:lnSpc>
                <a:spcPct val="100000"/>
              </a:lnSpc>
              <a:spcBef>
                <a:spcPts val="0"/>
              </a:spcBef>
              <a:spcAft>
                <a:spcPts val="0"/>
              </a:spcAft>
            </a:pPr>
            <a:r>
              <a:rPr lang="zh-CN" altLang="en-US" sz="2000" dirty="0">
                <a:latin typeface="KaiTi" panose="02010609060101010101" pitchFamily="49" charset="-122"/>
                <a:ea typeface="KaiTi" panose="02010609060101010101" pitchFamily="49" charset="-122"/>
              </a:rPr>
              <a:t>高层应对和促进变化；高层考虑战略问题（君和丞）</a:t>
            </a:r>
            <a:endParaRPr lang="en-US" altLang="zh-CN" sz="2000" dirty="0">
              <a:latin typeface="+mn-ea"/>
            </a:endParaRPr>
          </a:p>
          <a:p>
            <a:pPr>
              <a:lnSpc>
                <a:spcPct val="100000"/>
              </a:lnSpc>
              <a:spcBef>
                <a:spcPts val="0"/>
              </a:spcBef>
              <a:spcAft>
                <a:spcPts val="0"/>
              </a:spcAft>
            </a:pPr>
            <a:endParaRPr lang="zh-CN" altLang="en-US" sz="2000" dirty="0">
              <a:latin typeface="+mn-ea"/>
            </a:endParaRPr>
          </a:p>
        </p:txBody>
      </p:sp>
    </p:spTree>
    <p:extLst>
      <p:ext uri="{BB962C8B-B14F-4D97-AF65-F5344CB8AC3E}">
        <p14:creationId xmlns:p14="http://schemas.microsoft.com/office/powerpoint/2010/main" val="1734221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E2F486-185C-184D-8820-085395BD9DAC}"/>
              </a:ext>
            </a:extLst>
          </p:cNvPr>
          <p:cNvSpPr>
            <a:spLocks noGrp="1"/>
          </p:cNvSpPr>
          <p:nvPr>
            <p:ph type="title"/>
          </p:nvPr>
        </p:nvSpPr>
        <p:spPr/>
        <p:txBody>
          <a:bodyPr/>
          <a:lstStyle/>
          <a:p>
            <a:r>
              <a:rPr kumimoji="1" lang="en-US" altLang="zh-CN" dirty="0"/>
              <a:t>Netflix</a:t>
            </a:r>
            <a:endParaRPr kumimoji="1" lang="zh-CN" altLang="en-US" dirty="0"/>
          </a:p>
        </p:txBody>
      </p:sp>
      <p:sp>
        <p:nvSpPr>
          <p:cNvPr id="3" name="内容占位符 2">
            <a:extLst>
              <a:ext uri="{FF2B5EF4-FFF2-40B4-BE49-F238E27FC236}">
                <a16:creationId xmlns:a16="http://schemas.microsoft.com/office/drawing/2014/main" id="{412E44C5-230E-C24C-9D04-1AF6471092EA}"/>
              </a:ext>
            </a:extLst>
          </p:cNvPr>
          <p:cNvSpPr>
            <a:spLocks noGrp="1"/>
          </p:cNvSpPr>
          <p:nvPr>
            <p:ph idx="1"/>
          </p:nvPr>
        </p:nvSpPr>
        <p:spPr>
          <a:xfrm>
            <a:off x="2773598" y="2173356"/>
            <a:ext cx="7958331" cy="4108174"/>
          </a:xfrm>
        </p:spPr>
        <p:txBody>
          <a:bodyPr>
            <a:normAutofit fontScale="62500" lnSpcReduction="20000"/>
          </a:bodyPr>
          <a:lstStyle/>
          <a:p>
            <a:r>
              <a:rPr kumimoji="1" lang="zh-CN" altLang="en-US" dirty="0"/>
              <a:t>中国的爱奇艺、优酷、腾讯视频</a:t>
            </a:r>
            <a:endParaRPr kumimoji="1" lang="en-US" altLang="zh-CN" dirty="0"/>
          </a:p>
          <a:p>
            <a:r>
              <a:rPr kumimoji="1" lang="en-US" altLang="zh-CN" dirty="0"/>
              <a:t>Netflix</a:t>
            </a:r>
            <a:r>
              <a:rPr kumimoji="1" lang="zh-CN" altLang="en-US" dirty="0"/>
              <a:t>，</a:t>
            </a:r>
            <a:r>
              <a:rPr kumimoji="1" lang="en-US" altLang="zh-CN" dirty="0"/>
              <a:t>1977</a:t>
            </a:r>
            <a:r>
              <a:rPr kumimoji="1" lang="zh-CN" altLang="en-US" dirty="0"/>
              <a:t>年成立，录像带租赁，录像带租赁行业收入大于电影院票房</a:t>
            </a:r>
            <a:endParaRPr kumimoji="1" lang="en-US" altLang="zh-CN" dirty="0"/>
          </a:p>
          <a:p>
            <a:r>
              <a:rPr kumimoji="1" lang="zh-CN" altLang="en-US" dirty="0"/>
              <a:t>营收不好，</a:t>
            </a:r>
            <a:r>
              <a:rPr kumimoji="1" lang="en-US" altLang="zh-CN" dirty="0"/>
              <a:t>2005</a:t>
            </a:r>
            <a:r>
              <a:rPr kumimoji="1" lang="zh-CN" altLang="en-US" dirty="0"/>
              <a:t>年希望</a:t>
            </a:r>
            <a:r>
              <a:rPr kumimoji="1" lang="en-US" altLang="zh-CN" dirty="0"/>
              <a:t>5000</a:t>
            </a:r>
            <a:r>
              <a:rPr kumimoji="1" lang="zh-CN" altLang="en-US" dirty="0"/>
              <a:t>万卖给百视达（</a:t>
            </a:r>
            <a:r>
              <a:rPr kumimoji="1" lang="en-US" altLang="zh-CN" dirty="0"/>
              <a:t>Blockbuster</a:t>
            </a:r>
            <a:r>
              <a:rPr kumimoji="1" lang="zh-CN" altLang="en-US" dirty="0"/>
              <a:t>），被拒，后市值</a:t>
            </a:r>
            <a:r>
              <a:rPr kumimoji="1" lang="en-US" altLang="zh-CN" dirty="0"/>
              <a:t>1000</a:t>
            </a:r>
            <a:r>
              <a:rPr kumimoji="1" lang="zh-CN" altLang="en-US" dirty="0"/>
              <a:t>亿美元</a:t>
            </a:r>
            <a:endParaRPr kumimoji="1" lang="en-US" altLang="zh-CN" dirty="0"/>
          </a:p>
          <a:p>
            <a:r>
              <a:rPr kumimoji="1" lang="zh-CN" altLang="en-US" dirty="0"/>
              <a:t>用户</a:t>
            </a:r>
            <a:r>
              <a:rPr kumimoji="1" lang="en-US" altLang="zh-CN" dirty="0"/>
              <a:t>e-mail</a:t>
            </a:r>
            <a:r>
              <a:rPr kumimoji="1" lang="zh-CN" altLang="en-US" dirty="0"/>
              <a:t>选片下单，片源浩瀚，长尾，包月，</a:t>
            </a:r>
            <a:r>
              <a:rPr kumimoji="1" lang="en-US" altLang="zh-CN" dirty="0"/>
              <a:t>2006</a:t>
            </a:r>
            <a:r>
              <a:rPr kumimoji="1" lang="zh-CN" altLang="en-US" dirty="0"/>
              <a:t>年视频推荐算法大赛取得突破，成为持续至今的竞争优势</a:t>
            </a:r>
            <a:endParaRPr kumimoji="1" lang="en-US" altLang="zh-CN" dirty="0"/>
          </a:p>
          <a:p>
            <a:r>
              <a:rPr kumimoji="1" lang="en-US" altLang="zh-CN" dirty="0"/>
              <a:t>DVD</a:t>
            </a:r>
            <a:r>
              <a:rPr kumimoji="1" lang="zh-CN" altLang="en-US" dirty="0"/>
              <a:t>出现，转向</a:t>
            </a:r>
            <a:r>
              <a:rPr kumimoji="1" lang="en-US" altLang="zh-CN" dirty="0"/>
              <a:t>DVD</a:t>
            </a:r>
            <a:r>
              <a:rPr kumimoji="1" lang="zh-CN" altLang="en-US" dirty="0"/>
              <a:t>，百视达不想放弃录像带。</a:t>
            </a:r>
            <a:endParaRPr kumimoji="1" lang="en-US" altLang="zh-CN" dirty="0"/>
          </a:p>
          <a:p>
            <a:r>
              <a:rPr kumimoji="1" lang="zh-CN" altLang="en-US" dirty="0"/>
              <a:t>流媒体。。创始人说，我最大的恐惧是我能否从</a:t>
            </a:r>
            <a:r>
              <a:rPr kumimoji="1" lang="en-US" altLang="zh-CN" dirty="0"/>
              <a:t>DVD</a:t>
            </a:r>
            <a:r>
              <a:rPr kumimoji="1" lang="zh-CN" altLang="en-US" dirty="0"/>
              <a:t>的成功跳出。</a:t>
            </a:r>
            <a:endParaRPr kumimoji="1" lang="en-US" altLang="zh-CN" dirty="0"/>
          </a:p>
          <a:p>
            <a:r>
              <a:rPr kumimoji="1" lang="zh-CN" altLang="en-US" dirty="0"/>
              <a:t>后涉足影视制作，后向一体化</a:t>
            </a:r>
            <a:endParaRPr kumimoji="1" lang="en-US" altLang="zh-CN" dirty="0"/>
          </a:p>
          <a:p>
            <a:r>
              <a:rPr kumimoji="1" lang="zh-CN" altLang="en-US" dirty="0"/>
              <a:t>从</a:t>
            </a:r>
            <a:r>
              <a:rPr kumimoji="1" lang="en-US" altLang="zh-CN" dirty="0"/>
              <a:t>DVD</a:t>
            </a:r>
            <a:r>
              <a:rPr kumimoji="1" lang="zh-CN" altLang="en-US" dirty="0"/>
              <a:t>转到流媒体，从流媒体转向后向一体化，都是风险和跳跃非常大的决策。决策基于</a:t>
            </a:r>
            <a:r>
              <a:rPr kumimoji="1" lang="en-US" altLang="zh-CN" dirty="0"/>
              <a:t>perspective</a:t>
            </a:r>
            <a:r>
              <a:rPr kumimoji="1" lang="zh-CN" altLang="en-US" dirty="0"/>
              <a:t>。</a:t>
            </a:r>
            <a:endParaRPr kumimoji="1" lang="en-US" altLang="zh-CN" dirty="0"/>
          </a:p>
          <a:p>
            <a:endParaRPr kumimoji="1" lang="en-US" altLang="zh-CN" dirty="0"/>
          </a:p>
          <a:p>
            <a:endParaRPr kumimoji="1" lang="en-US" altLang="zh-CN" dirty="0"/>
          </a:p>
          <a:p>
            <a:endParaRPr kumimoji="1" lang="en-US" altLang="zh-CN" dirty="0"/>
          </a:p>
        </p:txBody>
      </p:sp>
    </p:spTree>
    <p:extLst>
      <p:ext uri="{BB962C8B-B14F-4D97-AF65-F5344CB8AC3E}">
        <p14:creationId xmlns:p14="http://schemas.microsoft.com/office/powerpoint/2010/main" val="3214540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战略管理概述</a:t>
            </a:r>
            <a:r>
              <a:rPr kumimoji="1" lang="en-US" altLang="zh-CN" dirty="0"/>
              <a:t>-what</a:t>
            </a:r>
            <a:endParaRPr kumimoji="1" lang="zh-CN" altLang="en-US" dirty="0"/>
          </a:p>
        </p:txBody>
      </p:sp>
      <p:sp>
        <p:nvSpPr>
          <p:cNvPr id="3" name="内容占位符 2"/>
          <p:cNvSpPr>
            <a:spLocks noGrp="1"/>
          </p:cNvSpPr>
          <p:nvPr>
            <p:ph idx="1"/>
          </p:nvPr>
        </p:nvSpPr>
        <p:spPr>
          <a:xfrm>
            <a:off x="2611808" y="1731523"/>
            <a:ext cx="7958331" cy="4318421"/>
          </a:xfrm>
        </p:spPr>
        <p:txBody>
          <a:bodyPr>
            <a:normAutofit fontScale="92500" lnSpcReduction="20000"/>
          </a:bodyPr>
          <a:lstStyle/>
          <a:p>
            <a:r>
              <a:rPr kumimoji="1" lang="zh-CN" altLang="en-US" dirty="0"/>
              <a:t>从管理说起。。</a:t>
            </a:r>
            <a:endParaRPr kumimoji="1" lang="en-US" altLang="zh-CN" dirty="0"/>
          </a:p>
          <a:p>
            <a:pPr lvl="1"/>
            <a:r>
              <a:rPr kumimoji="1" lang="zh-CN" altLang="en-US" dirty="0"/>
              <a:t>两个词</a:t>
            </a:r>
            <a:endParaRPr kumimoji="1" lang="en-US" altLang="zh-CN" dirty="0"/>
          </a:p>
          <a:p>
            <a:pPr lvl="2"/>
            <a:r>
              <a:rPr kumimoji="1" lang="zh-CN" altLang="en-US" dirty="0"/>
              <a:t>效果</a:t>
            </a:r>
            <a:r>
              <a:rPr kumimoji="1" lang="en-US" altLang="zh-CN" dirty="0"/>
              <a:t>effectiveness</a:t>
            </a:r>
            <a:r>
              <a:rPr kumimoji="1" lang="zh-CN" altLang="en-US" dirty="0"/>
              <a:t>，做正确的事</a:t>
            </a:r>
            <a:r>
              <a:rPr kumimoji="1" lang="en-US" altLang="zh-CN" dirty="0"/>
              <a:t>,</a:t>
            </a:r>
            <a:r>
              <a:rPr kumimoji="1" lang="zh-CN" altLang="en-US" dirty="0"/>
              <a:t>目的、使命</a:t>
            </a:r>
            <a:r>
              <a:rPr kumimoji="1" lang="en-US" altLang="zh-CN" dirty="0"/>
              <a:t>,  </a:t>
            </a:r>
            <a:r>
              <a:rPr kumimoji="1" lang="zh-CN" altLang="en-US" dirty="0"/>
              <a:t>选择；</a:t>
            </a:r>
            <a:endParaRPr kumimoji="1" lang="en-US" altLang="zh-CN" dirty="0"/>
          </a:p>
          <a:p>
            <a:pPr lvl="3"/>
            <a:r>
              <a:rPr kumimoji="1" lang="en-US" altLang="zh-CN" dirty="0"/>
              <a:t>Nokia,  </a:t>
            </a:r>
            <a:r>
              <a:rPr kumimoji="1" lang="zh-CN" altLang="en-US" dirty="0"/>
              <a:t>柯达，谷歌三星，佳能</a:t>
            </a:r>
            <a:endParaRPr kumimoji="1" lang="en-US" altLang="zh-CN" dirty="0"/>
          </a:p>
          <a:p>
            <a:pPr lvl="3"/>
            <a:r>
              <a:rPr kumimoji="1" lang="en-US" altLang="zh-CN" dirty="0"/>
              <a:t>CHATGPT </a:t>
            </a:r>
            <a:r>
              <a:rPr kumimoji="1" lang="zh-CN" altLang="en-US" dirty="0"/>
              <a:t>和</a:t>
            </a:r>
            <a:r>
              <a:rPr kumimoji="1" lang="en-US" altLang="zh-CN" dirty="0"/>
              <a:t>Google</a:t>
            </a:r>
            <a:r>
              <a:rPr kumimoji="1" lang="zh-CN" altLang="en-US" dirty="0"/>
              <a:t>搜索</a:t>
            </a:r>
            <a:endParaRPr kumimoji="1" lang="en-US" altLang="zh-CN" dirty="0"/>
          </a:p>
          <a:p>
            <a:pPr lvl="3"/>
            <a:r>
              <a:rPr kumimoji="1" lang="zh-CN" altLang="en-US" dirty="0"/>
              <a:t>目的和目标的区别，</a:t>
            </a:r>
            <a:r>
              <a:rPr kumimoji="1" lang="en-US" altLang="zh-CN" dirty="0"/>
              <a:t>why what how</a:t>
            </a:r>
          </a:p>
          <a:p>
            <a:pPr lvl="3"/>
            <a:r>
              <a:rPr kumimoji="1" lang="zh-CN" altLang="en-US" dirty="0"/>
              <a:t>目的是比目标更早的决策的逻辑起点</a:t>
            </a:r>
            <a:endParaRPr kumimoji="1" lang="en-US" altLang="zh-CN" dirty="0"/>
          </a:p>
          <a:p>
            <a:pPr lvl="2"/>
            <a:r>
              <a:rPr kumimoji="1" lang="zh-CN" altLang="en-US" dirty="0"/>
              <a:t>效率</a:t>
            </a:r>
            <a:r>
              <a:rPr kumimoji="1" lang="en-US" altLang="zh-CN" dirty="0"/>
              <a:t>efficiency</a:t>
            </a:r>
            <a:r>
              <a:rPr kumimoji="1" lang="zh-CN" altLang="en-US" dirty="0"/>
              <a:t>，正确的做事，投入产出</a:t>
            </a:r>
            <a:endParaRPr kumimoji="1" lang="en-US" altLang="zh-CN" dirty="0"/>
          </a:p>
          <a:p>
            <a:pPr lvl="1"/>
            <a:r>
              <a:rPr kumimoji="1" lang="zh-CN" altLang="en-US" dirty="0"/>
              <a:t>四个词</a:t>
            </a:r>
            <a:endParaRPr kumimoji="1" lang="en-US" altLang="zh-CN" dirty="0"/>
          </a:p>
          <a:p>
            <a:pPr lvl="2"/>
            <a:r>
              <a:rPr kumimoji="1" lang="zh-CN" altLang="en-US" dirty="0"/>
              <a:t>计划组织领导控制</a:t>
            </a:r>
            <a:endParaRPr kumimoji="1" lang="en-US" altLang="zh-CN" dirty="0"/>
          </a:p>
          <a:p>
            <a:pPr lvl="2"/>
            <a:r>
              <a:rPr kumimoji="1" lang="zh-CN" altLang="en-US" dirty="0"/>
              <a:t>首先的属性是计划，理性学派，稳定环境</a:t>
            </a:r>
            <a:endParaRPr kumimoji="1" lang="en-US" altLang="zh-CN" dirty="0"/>
          </a:p>
          <a:p>
            <a:pPr lvl="1"/>
            <a:endParaRPr kumimoji="1" lang="zh-CN" altLang="en-US" dirty="0"/>
          </a:p>
        </p:txBody>
      </p:sp>
    </p:spTree>
    <p:extLst>
      <p:ext uri="{BB962C8B-B14F-4D97-AF65-F5344CB8AC3E}">
        <p14:creationId xmlns:p14="http://schemas.microsoft.com/office/powerpoint/2010/main" val="187253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blinds(horizontal)">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blinds(horizontal)">
                                      <p:cBhvr>
                                        <p:cTn id="2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580A9E-3A11-124C-9172-AAF771C5F122}"/>
              </a:ext>
            </a:extLst>
          </p:cNvPr>
          <p:cNvSpPr>
            <a:spLocks noGrp="1"/>
          </p:cNvSpPr>
          <p:nvPr>
            <p:ph type="title"/>
          </p:nvPr>
        </p:nvSpPr>
        <p:spPr/>
        <p:txBody>
          <a:bodyPr/>
          <a:lstStyle/>
          <a:p>
            <a:endParaRPr kumimoji="1" lang="zh-CN" altLang="en-US" dirty="0"/>
          </a:p>
        </p:txBody>
      </p:sp>
      <p:sp>
        <p:nvSpPr>
          <p:cNvPr id="3" name="内容占位符 2">
            <a:extLst>
              <a:ext uri="{FF2B5EF4-FFF2-40B4-BE49-F238E27FC236}">
                <a16:creationId xmlns:a16="http://schemas.microsoft.com/office/drawing/2014/main" id="{F1370882-EE1C-6B49-A3D2-93C0565EF0EE}"/>
              </a:ext>
            </a:extLst>
          </p:cNvPr>
          <p:cNvSpPr>
            <a:spLocks noGrp="1"/>
          </p:cNvSpPr>
          <p:nvPr>
            <p:ph idx="1"/>
          </p:nvPr>
        </p:nvSpPr>
        <p:spPr/>
        <p:txBody>
          <a:bodyPr/>
          <a:lstStyle/>
          <a:p>
            <a:r>
              <a:rPr kumimoji="1" lang="zh-CN" altLang="en-US" dirty="0"/>
              <a:t>战略管理被分割为战略制定</a:t>
            </a:r>
            <a:r>
              <a:rPr kumimoji="1" lang="zh-CN" altLang="zh-CN" dirty="0"/>
              <a:t>、</a:t>
            </a:r>
            <a:r>
              <a:rPr kumimoji="1" lang="zh-CN" altLang="en-US" dirty="0"/>
              <a:t>战略实施</a:t>
            </a:r>
            <a:endParaRPr kumimoji="1" lang="en-US" altLang="zh-CN" dirty="0"/>
          </a:p>
          <a:p>
            <a:pPr lvl="1"/>
            <a:r>
              <a:rPr kumimoji="1" lang="zh-CN" altLang="en-US" dirty="0"/>
              <a:t>战略制定－做正确的事－战略洞察力</a:t>
            </a:r>
            <a:endParaRPr kumimoji="1" lang="en-US" altLang="zh-CN" dirty="0"/>
          </a:p>
          <a:p>
            <a:pPr lvl="1"/>
            <a:r>
              <a:rPr kumimoji="1" lang="zh-CN" altLang="en-US" dirty="0"/>
              <a:t>战略实施－正确的做事－战略执行力</a:t>
            </a:r>
            <a:endParaRPr kumimoji="1" lang="en-US" altLang="zh-CN" dirty="0"/>
          </a:p>
          <a:p>
            <a:pPr lvl="1"/>
            <a:endParaRPr kumimoji="1" lang="en-US" altLang="zh-CN" dirty="0"/>
          </a:p>
          <a:p>
            <a:pPr lvl="1"/>
            <a:endParaRPr kumimoji="1" lang="en-US" altLang="zh-CN" dirty="0"/>
          </a:p>
          <a:p>
            <a:pPr lvl="1"/>
            <a:endParaRPr kumimoji="1" lang="en-US" altLang="zh-CN" dirty="0"/>
          </a:p>
          <a:p>
            <a:endParaRPr kumimoji="1" lang="zh-CN" altLang="en-US" dirty="0"/>
          </a:p>
        </p:txBody>
      </p:sp>
    </p:spTree>
    <p:extLst>
      <p:ext uri="{BB962C8B-B14F-4D97-AF65-F5344CB8AC3E}">
        <p14:creationId xmlns:p14="http://schemas.microsoft.com/office/powerpoint/2010/main" val="818489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36C62FB-D6DE-7F42-96AC-DF1004886406}"/>
              </a:ext>
            </a:extLst>
          </p:cNvPr>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10000"/>
          </a:bodyPr>
          <a:lstStyle/>
          <a:p>
            <a:pPr eaLnBrk="1" hangingPunct="1">
              <a:defRPr/>
            </a:pPr>
            <a:r>
              <a:rPr lang="zh-CN" altLang="en-US" sz="2400" dirty="0">
                <a:latin typeface="KaiTi" panose="02010609060101010101" pitchFamily="49" charset="-122"/>
                <a:ea typeface="KaiTi" panose="02010609060101010101" pitchFamily="49" charset="-122"/>
              </a:rPr>
              <a:t>战略计划：确定目的、目标以及实现目标的方法</a:t>
            </a:r>
            <a:endParaRPr lang="en-US" altLang="zh-CN" sz="2400" dirty="0">
              <a:latin typeface="KaiTi" panose="02010609060101010101" pitchFamily="49" charset="-122"/>
              <a:ea typeface="KaiTi" panose="02010609060101010101" pitchFamily="49" charset="-122"/>
            </a:endParaRPr>
          </a:p>
          <a:p>
            <a:pPr lvl="1" eaLnBrk="1" hangingPunct="1">
              <a:defRPr/>
            </a:pPr>
            <a:r>
              <a:rPr lang="zh-CN" altLang="en-US" sz="2000" dirty="0">
                <a:latin typeface="KaiTi" panose="02010609060101010101" pitchFamily="49" charset="-122"/>
                <a:ea typeface="KaiTi" panose="02010609060101010101" pitchFamily="49" charset="-122"/>
              </a:rPr>
              <a:t>基于使命的</a:t>
            </a:r>
            <a:r>
              <a:rPr lang="en-US" altLang="zh-C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长期的</a:t>
            </a:r>
            <a:r>
              <a:rPr lang="en-US" altLang="zh-C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全局的</a:t>
            </a:r>
            <a:r>
              <a:rPr lang="en-US" altLang="zh-C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投入大量资源的</a:t>
            </a:r>
            <a:r>
              <a:rPr lang="en-US" altLang="zh-C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高风险的</a:t>
            </a:r>
            <a:endParaRPr lang="en-US" altLang="zh-CN" sz="2000" dirty="0">
              <a:latin typeface="KaiTi" panose="02010609060101010101" pitchFamily="49" charset="-122"/>
              <a:ea typeface="KaiTi" panose="02010609060101010101" pitchFamily="49" charset="-122"/>
            </a:endParaRPr>
          </a:p>
          <a:p>
            <a:pPr lvl="1" eaLnBrk="1" hangingPunct="1">
              <a:defRPr/>
            </a:pPr>
            <a:r>
              <a:rPr lang="zh-CN" altLang="en-US" sz="2000" dirty="0">
                <a:latin typeface="KaiTi" panose="02010609060101010101" pitchFamily="49" charset="-122"/>
                <a:ea typeface="KaiTi" panose="02010609060101010101" pitchFamily="49" charset="-122"/>
              </a:rPr>
              <a:t>目标设定基于未来，发展趋势和竞争，而不是自身的资源和能力</a:t>
            </a:r>
            <a:endParaRPr lang="en-US" altLang="zh-CN" sz="2000" dirty="0">
              <a:latin typeface="KaiTi" panose="02010609060101010101" pitchFamily="49" charset="-122"/>
              <a:ea typeface="KaiTi" panose="02010609060101010101" pitchFamily="49" charset="-122"/>
            </a:endParaRPr>
          </a:p>
          <a:p>
            <a:pPr lvl="1" eaLnBrk="1" hangingPunct="1">
              <a:defRPr/>
            </a:pPr>
            <a:r>
              <a:rPr lang="zh-CN" altLang="en-US" sz="2000" dirty="0">
                <a:latin typeface="KaiTi" panose="02010609060101010101" pitchFamily="49" charset="-122"/>
                <a:ea typeface="KaiTi" panose="02010609060101010101" pitchFamily="49" charset="-122"/>
              </a:rPr>
              <a:t>目标设定首先探讨必要性而非可行性</a:t>
            </a:r>
            <a:endParaRPr lang="en-US" altLang="zh-CN" sz="2000" dirty="0">
              <a:latin typeface="KaiTi" panose="02010609060101010101" pitchFamily="49" charset="-122"/>
              <a:ea typeface="KaiTi" panose="02010609060101010101" pitchFamily="49" charset="-122"/>
            </a:endParaRPr>
          </a:p>
          <a:p>
            <a:pPr lvl="1">
              <a:defRPr/>
            </a:pPr>
            <a:r>
              <a:rPr lang="zh-CN" altLang="en-US" sz="2000" dirty="0">
                <a:latin typeface="KaiTi" panose="02010609060101010101" pitchFamily="49" charset="-122"/>
                <a:ea typeface="KaiTi" panose="02010609060101010101" pitchFamily="49" charset="-122"/>
              </a:rPr>
              <a:t>高层考虑战略问题（君和丞）</a:t>
            </a:r>
            <a:endParaRPr lang="en-US" altLang="zh-CN" sz="2000" dirty="0">
              <a:latin typeface="KaiTi" panose="02010609060101010101" pitchFamily="49" charset="-122"/>
              <a:ea typeface="KaiTi" panose="02010609060101010101" pitchFamily="49" charset="-122"/>
            </a:endParaRPr>
          </a:p>
          <a:p>
            <a:pPr lvl="1" eaLnBrk="1" hangingPunct="1">
              <a:defRPr/>
            </a:pPr>
            <a:r>
              <a:rPr lang="zh-CN" altLang="en-US" sz="2000" dirty="0">
                <a:latin typeface="KaiTi" panose="02010609060101010101" pitchFamily="49" charset="-122"/>
                <a:ea typeface="KaiTi" panose="02010609060101010101" pitchFamily="49" charset="-122"/>
              </a:rPr>
              <a:t>中层基层：效率，成本，稳定</a:t>
            </a:r>
            <a:endParaRPr lang="en-US" altLang="zh-CN" sz="2000" dirty="0">
              <a:latin typeface="KaiTi" panose="02010609060101010101" pitchFamily="49" charset="-122"/>
              <a:ea typeface="KaiTi" panose="02010609060101010101" pitchFamily="49" charset="-122"/>
            </a:endParaRPr>
          </a:p>
          <a:p>
            <a:pPr lvl="1">
              <a:defRPr/>
            </a:pPr>
            <a:r>
              <a:rPr lang="zh-CN" altLang="en-US" sz="1800" dirty="0">
                <a:latin typeface="KaiTi" panose="02010609060101010101" pitchFamily="49" charset="-122"/>
                <a:ea typeface="KaiTi" panose="02010609060101010101" pitchFamily="49" charset="-122"/>
              </a:rPr>
              <a:t>计划是为了实现目标而进行的资源配置，寻找资源以实现目标，管理者：承担目标，寻找资源</a:t>
            </a:r>
            <a:endParaRPr lang="en-US" altLang="zh-CN" sz="1800" dirty="0">
              <a:latin typeface="KaiTi" panose="02010609060101010101" pitchFamily="49" charset="-122"/>
              <a:ea typeface="KaiTi" panose="02010609060101010101" pitchFamily="49" charset="-122"/>
            </a:endParaRPr>
          </a:p>
          <a:p>
            <a:pPr lvl="1">
              <a:defRPr/>
            </a:pPr>
            <a:r>
              <a:rPr lang="zh-CN" altLang="en-US" dirty="0">
                <a:latin typeface="KaiTi" panose="02010609060101010101" pitchFamily="49" charset="-122"/>
                <a:ea typeface="KaiTi" panose="02010609060101010101" pitchFamily="49" charset="-122"/>
              </a:rPr>
              <a:t>计划要包括具体的实现目标的方案</a:t>
            </a:r>
            <a:endParaRPr lang="en-US" altLang="zh-CN" sz="1800" dirty="0">
              <a:latin typeface="KaiTi" panose="02010609060101010101" pitchFamily="49" charset="-122"/>
              <a:ea typeface="KaiTi" panose="02010609060101010101" pitchFamily="49" charset="-122"/>
            </a:endParaRPr>
          </a:p>
          <a:p>
            <a:pPr lvl="1" eaLnBrk="1" hangingPunct="1">
              <a:defRPr/>
            </a:pPr>
            <a:endParaRPr lang="en-US" altLang="zh-CN" sz="2000" dirty="0"/>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6625" name="内容占位符 1"/>
          <p:cNvSpPr>
            <a:spLocks noGrp="1"/>
          </p:cNvSpPr>
          <p:nvPr>
            <p:ph/>
          </p:nvPr>
        </p:nvSpPr>
        <p:spPr>
          <a:xfrm>
            <a:off x="2057400" y="1052513"/>
            <a:ext cx="8610600" cy="5149850"/>
          </a:xfrm>
        </p:spPr>
        <p:txBody>
          <a:bodyPr/>
          <a:lstStyle/>
          <a:p>
            <a:r>
              <a:rPr lang="zh-CN" altLang="en-US" dirty="0">
                <a:solidFill>
                  <a:schemeClr val="bg1"/>
                </a:solidFill>
              </a:rPr>
              <a:t>企业战略是企业面对激烈变化、严峻挑战的环境，为求得长期生存和不断发展而进行的总体性谋划</a:t>
            </a:r>
            <a:endParaRPr lang="en-US" altLang="zh-CN" dirty="0">
              <a:solidFill>
                <a:schemeClr val="bg1"/>
              </a:solidFill>
            </a:endParaRPr>
          </a:p>
          <a:p>
            <a:r>
              <a:rPr lang="zh-CN" altLang="en-US" dirty="0">
                <a:solidFill>
                  <a:schemeClr val="bg1"/>
                </a:solidFill>
              </a:rPr>
              <a:t>生存与发展</a:t>
            </a:r>
            <a:endParaRPr lang="en-US" altLang="zh-CN" dirty="0">
              <a:solidFill>
                <a:schemeClr val="bg1"/>
              </a:solidFill>
            </a:endParaRPr>
          </a:p>
          <a:p>
            <a:r>
              <a:rPr lang="zh-CN" altLang="en-US" dirty="0">
                <a:solidFill>
                  <a:schemeClr val="bg1"/>
                </a:solidFill>
              </a:rPr>
              <a:t>谋划</a:t>
            </a:r>
            <a:endParaRPr lang="en-US" altLang="zh-CN" dirty="0">
              <a:solidFill>
                <a:schemeClr val="bg1"/>
              </a:solidFill>
            </a:endParaRPr>
          </a:p>
          <a:p>
            <a:r>
              <a:rPr lang="zh-CN" altLang="en-US" dirty="0">
                <a:solidFill>
                  <a:schemeClr val="bg1"/>
                </a:solidFill>
              </a:rPr>
              <a:t>外部动因</a:t>
            </a:r>
          </a:p>
        </p:txBody>
      </p:sp>
    </p:spTree>
    <p:extLst>
      <p:ext uri="{BB962C8B-B14F-4D97-AF65-F5344CB8AC3E}">
        <p14:creationId xmlns:p14="http://schemas.microsoft.com/office/powerpoint/2010/main" val="77288980"/>
      </p:ext>
    </p:extLst>
  </p:cSld>
  <p:clrMapOvr>
    <a:overrideClrMapping bg1="dk1" tx1="lt1" bg2="dk2" tx2="lt2" accent1="accent1" accent2="accent2" accent3="accent3" accent4="accent4" accent5="accent5" accent6="accent6" hlink="hlink" folHlink="folHlink"/>
  </p:clrMapOvr>
  <p:transition spd="med">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6625" name="内容占位符 1"/>
          <p:cNvSpPr>
            <a:spLocks noGrp="1"/>
          </p:cNvSpPr>
          <p:nvPr>
            <p:ph/>
          </p:nvPr>
        </p:nvSpPr>
        <p:spPr>
          <a:xfrm>
            <a:off x="1775519" y="1052513"/>
            <a:ext cx="9460327" cy="5149850"/>
          </a:xfrm>
        </p:spPr>
        <p:txBody>
          <a:bodyPr>
            <a:normAutofit/>
          </a:bodyPr>
          <a:lstStyle/>
          <a:p>
            <a:r>
              <a:rPr lang="zh-CN" altLang="en-US" dirty="0">
                <a:solidFill>
                  <a:schemeClr val="bg1"/>
                </a:solidFill>
              </a:rPr>
              <a:t>企业战略是企业面对激烈变化、严峻挑战的环境，为求得长期生存和不断发展而进行的总体性谋划</a:t>
            </a:r>
            <a:endParaRPr lang="en-US" altLang="zh-CN" dirty="0">
              <a:solidFill>
                <a:schemeClr val="bg1"/>
              </a:solidFill>
            </a:endParaRPr>
          </a:p>
          <a:p>
            <a:r>
              <a:rPr lang="zh-CN" altLang="en-US" dirty="0">
                <a:solidFill>
                  <a:schemeClr val="bg1"/>
                </a:solidFill>
              </a:rPr>
              <a:t>在相对静态条件下，理性主义流派认为战略是一种事前、主动和理性的计划或者目标</a:t>
            </a:r>
            <a:endParaRPr lang="en-US" altLang="zh-CN" dirty="0">
              <a:solidFill>
                <a:schemeClr val="bg1"/>
              </a:solidFill>
            </a:endParaRPr>
          </a:p>
          <a:p>
            <a:r>
              <a:rPr lang="zh-CN" altLang="en-US" dirty="0">
                <a:solidFill>
                  <a:schemeClr val="bg1"/>
                </a:solidFill>
              </a:rPr>
              <a:t>在相对动态条件下，战略不仅是。。。还包含事中、反应性和非理性的决策</a:t>
            </a:r>
            <a:endParaRPr lang="en-US" altLang="zh-CN" dirty="0">
              <a:solidFill>
                <a:schemeClr val="bg1"/>
              </a:solidFill>
            </a:endParaRPr>
          </a:p>
          <a:p>
            <a:r>
              <a:rPr lang="zh-CN" altLang="en-US" dirty="0">
                <a:solidFill>
                  <a:schemeClr val="bg1"/>
                </a:solidFill>
              </a:rPr>
              <a:t>明茨伯格</a:t>
            </a:r>
            <a:r>
              <a:rPr lang="en-US" altLang="zh-CN" dirty="0">
                <a:solidFill>
                  <a:schemeClr val="bg1"/>
                </a:solidFill>
              </a:rPr>
              <a:t>1978《</a:t>
            </a:r>
            <a:r>
              <a:rPr lang="zh-CN" altLang="en-US" dirty="0">
                <a:solidFill>
                  <a:schemeClr val="bg1"/>
                </a:solidFill>
              </a:rPr>
              <a:t>战略自生与演进</a:t>
            </a:r>
            <a:r>
              <a:rPr lang="en-US" altLang="zh-CN" dirty="0">
                <a:solidFill>
                  <a:schemeClr val="bg1"/>
                </a:solidFill>
              </a:rPr>
              <a:t>》</a:t>
            </a:r>
            <a:r>
              <a:rPr lang="zh-CN" altLang="en-US" dirty="0">
                <a:solidFill>
                  <a:schemeClr val="bg1"/>
                </a:solidFill>
              </a:rPr>
              <a:t>战略不仅可以被制定，也可以自发的形成，自下而上，上下互动</a:t>
            </a:r>
            <a:endParaRPr lang="en-US" altLang="zh-CN" dirty="0">
              <a:solidFill>
                <a:schemeClr val="bg1"/>
              </a:solidFill>
            </a:endParaRPr>
          </a:p>
          <a:p>
            <a:pPr lvl="1"/>
            <a:r>
              <a:rPr lang="zh-CN" altLang="en-US" dirty="0">
                <a:solidFill>
                  <a:schemeClr val="bg1"/>
                </a:solidFill>
              </a:rPr>
              <a:t>阿里</a:t>
            </a:r>
            <a:r>
              <a:rPr lang="en-US" altLang="zh-CN" dirty="0">
                <a:solidFill>
                  <a:schemeClr val="bg1"/>
                </a:solidFill>
              </a:rPr>
              <a:t>B2B,C2C,B2C,</a:t>
            </a:r>
            <a:r>
              <a:rPr lang="zh-CN" altLang="en-US" dirty="0">
                <a:solidFill>
                  <a:schemeClr val="bg1"/>
                </a:solidFill>
              </a:rPr>
              <a:t>支付金融</a:t>
            </a:r>
            <a:r>
              <a:rPr lang="en-US" altLang="zh-CN" dirty="0">
                <a:solidFill>
                  <a:schemeClr val="bg1"/>
                </a:solidFill>
              </a:rPr>
              <a:t>,</a:t>
            </a:r>
            <a:r>
              <a:rPr lang="zh-CN" altLang="en-US" dirty="0">
                <a:solidFill>
                  <a:schemeClr val="bg1"/>
                </a:solidFill>
              </a:rPr>
              <a:t>物流</a:t>
            </a:r>
            <a:r>
              <a:rPr lang="en-US" altLang="zh-CN" dirty="0">
                <a:solidFill>
                  <a:schemeClr val="bg1"/>
                </a:solidFill>
              </a:rPr>
              <a:t>,</a:t>
            </a:r>
            <a:r>
              <a:rPr lang="zh-CN" altLang="en-US" dirty="0">
                <a:solidFill>
                  <a:schemeClr val="bg1"/>
                </a:solidFill>
              </a:rPr>
              <a:t>云计算</a:t>
            </a:r>
            <a:r>
              <a:rPr lang="en-US" altLang="zh-CN" dirty="0">
                <a:solidFill>
                  <a:schemeClr val="bg1"/>
                </a:solidFill>
              </a:rPr>
              <a:t>,</a:t>
            </a:r>
            <a:r>
              <a:rPr lang="zh-CN" altLang="en-US" dirty="0">
                <a:solidFill>
                  <a:schemeClr val="bg1"/>
                </a:solidFill>
              </a:rPr>
              <a:t>大数据</a:t>
            </a:r>
            <a:r>
              <a:rPr lang="en-US" altLang="zh-CN" dirty="0">
                <a:solidFill>
                  <a:schemeClr val="bg1"/>
                </a:solidFill>
              </a:rPr>
              <a:t>,AI…..</a:t>
            </a:r>
          </a:p>
          <a:p>
            <a:pPr lvl="1"/>
            <a:r>
              <a:rPr lang="zh-CN" altLang="en-US" dirty="0">
                <a:solidFill>
                  <a:schemeClr val="bg1"/>
                </a:solidFill>
              </a:rPr>
              <a:t>腾讯社交起步</a:t>
            </a:r>
            <a:r>
              <a:rPr lang="en-US" altLang="zh-CN" dirty="0">
                <a:solidFill>
                  <a:schemeClr val="bg1"/>
                </a:solidFill>
              </a:rPr>
              <a:t>-</a:t>
            </a:r>
            <a:r>
              <a:rPr lang="zh-CN" altLang="en-US" dirty="0">
                <a:solidFill>
                  <a:schemeClr val="bg1"/>
                </a:solidFill>
              </a:rPr>
              <a:t>多元化</a:t>
            </a:r>
            <a:r>
              <a:rPr lang="en-US" altLang="zh-CN" dirty="0">
                <a:solidFill>
                  <a:schemeClr val="bg1"/>
                </a:solidFill>
              </a:rPr>
              <a:t>(</a:t>
            </a:r>
            <a:r>
              <a:rPr lang="zh-CN" altLang="en-US" dirty="0">
                <a:solidFill>
                  <a:schemeClr val="bg1"/>
                </a:solidFill>
              </a:rPr>
              <a:t>游戏</a:t>
            </a:r>
            <a:r>
              <a:rPr lang="en-US" altLang="zh-CN" dirty="0">
                <a:solidFill>
                  <a:schemeClr val="bg1"/>
                </a:solidFill>
              </a:rPr>
              <a:t>\</a:t>
            </a:r>
            <a:r>
              <a:rPr lang="zh-CN" altLang="en-US" dirty="0">
                <a:solidFill>
                  <a:schemeClr val="bg1"/>
                </a:solidFill>
              </a:rPr>
              <a:t>音乐</a:t>
            </a:r>
            <a:r>
              <a:rPr lang="en-US" altLang="zh-CN" dirty="0">
                <a:solidFill>
                  <a:schemeClr val="bg1"/>
                </a:solidFill>
              </a:rPr>
              <a:t>\</a:t>
            </a:r>
            <a:r>
              <a:rPr lang="zh-CN" altLang="en-US" dirty="0">
                <a:solidFill>
                  <a:schemeClr val="bg1"/>
                </a:solidFill>
              </a:rPr>
              <a:t>影视</a:t>
            </a:r>
            <a:r>
              <a:rPr lang="en-US" altLang="zh-CN" dirty="0">
                <a:solidFill>
                  <a:schemeClr val="bg1"/>
                </a:solidFill>
              </a:rPr>
              <a:t>…)-</a:t>
            </a:r>
            <a:r>
              <a:rPr lang="zh-CN" altLang="en-US" dirty="0">
                <a:solidFill>
                  <a:schemeClr val="bg1"/>
                </a:solidFill>
              </a:rPr>
              <a:t>移动互联网</a:t>
            </a:r>
            <a:r>
              <a:rPr lang="en-US" altLang="zh-CN" dirty="0">
                <a:solidFill>
                  <a:schemeClr val="bg1"/>
                </a:solidFill>
              </a:rPr>
              <a:t>(</a:t>
            </a:r>
            <a:r>
              <a:rPr lang="zh-CN" altLang="en-US" dirty="0">
                <a:solidFill>
                  <a:schemeClr val="bg1"/>
                </a:solidFill>
              </a:rPr>
              <a:t>微信</a:t>
            </a:r>
            <a:r>
              <a:rPr lang="en-US" altLang="zh-CN" dirty="0">
                <a:solidFill>
                  <a:schemeClr val="bg1"/>
                </a:solidFill>
              </a:rPr>
              <a:t>)-</a:t>
            </a:r>
            <a:r>
              <a:rPr lang="zh-CN" altLang="en-US" dirty="0">
                <a:solidFill>
                  <a:schemeClr val="bg1"/>
                </a:solidFill>
              </a:rPr>
              <a:t>微信作为平台</a:t>
            </a:r>
            <a:r>
              <a:rPr lang="en-US" altLang="zh-CN" dirty="0">
                <a:solidFill>
                  <a:schemeClr val="bg1"/>
                </a:solidFill>
              </a:rPr>
              <a:t>(</a:t>
            </a:r>
            <a:r>
              <a:rPr lang="zh-CN" altLang="en-US" dirty="0">
                <a:solidFill>
                  <a:schemeClr val="bg1"/>
                </a:solidFill>
              </a:rPr>
              <a:t>综合服务</a:t>
            </a:r>
            <a:r>
              <a:rPr lang="en-US" altLang="zh-CN" dirty="0">
                <a:solidFill>
                  <a:schemeClr val="bg1"/>
                </a:solidFill>
              </a:rPr>
              <a:t>,</a:t>
            </a:r>
            <a:r>
              <a:rPr lang="zh-CN" altLang="en-US" dirty="0">
                <a:solidFill>
                  <a:schemeClr val="bg1"/>
                </a:solidFill>
              </a:rPr>
              <a:t>支付电商短视频</a:t>
            </a:r>
            <a:r>
              <a:rPr lang="en-US" altLang="zh-CN" dirty="0">
                <a:solidFill>
                  <a:schemeClr val="bg1"/>
                </a:solidFill>
              </a:rPr>
              <a:t>)-</a:t>
            </a:r>
            <a:r>
              <a:rPr lang="zh-CN" altLang="en-US" dirty="0">
                <a:solidFill>
                  <a:schemeClr val="bg1"/>
                </a:solidFill>
              </a:rPr>
              <a:t>产业互联网</a:t>
            </a:r>
            <a:endParaRPr lang="en-US" altLang="zh-CN" dirty="0">
              <a:solidFill>
                <a:schemeClr val="bg1"/>
              </a:solidFill>
            </a:endParaRPr>
          </a:p>
        </p:txBody>
      </p:sp>
    </p:spTree>
  </p:cSld>
  <p:clrMapOvr>
    <a:overrideClrMapping bg1="dk1" tx1="lt1" bg2="dk2" tx2="lt2" accent1="accent1" accent2="accent2" accent3="accent3" accent4="accent4" accent5="accent5" accent6="accent6" hlink="hlink" folHlink="folHlink"/>
  </p:clrMapOvr>
  <p:transition spd="med">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3010" name="Rectangle 2050"/>
          <p:cNvSpPr>
            <a:spLocks noGrp="1" noChangeArrowheads="1"/>
          </p:cNvSpPr>
          <p:nvPr>
            <p:ph type="title"/>
          </p:nvPr>
        </p:nvSpPr>
        <p:spPr>
          <a:xfrm>
            <a:off x="1793876" y="549275"/>
            <a:ext cx="8874125" cy="700088"/>
          </a:xfrm>
        </p:spPr>
        <p:txBody>
          <a:bodyPr>
            <a:normAutofit/>
          </a:bodyPr>
          <a:lstStyle/>
          <a:p>
            <a:pPr marL="54864">
              <a:defRPr/>
            </a:pPr>
            <a:r>
              <a:rPr lang="zh-CN" altLang="en-US" sz="4000" dirty="0">
                <a:solidFill>
                  <a:schemeClr val="tx2">
                    <a:tint val="100000"/>
                    <a:shade val="90000"/>
                    <a:satMod val="250000"/>
                    <a:alpha val="100000"/>
                  </a:schemeClr>
                </a:solidFill>
                <a:ea typeface="黑体" pitchFamily="2" charset="-122"/>
              </a:rPr>
              <a:t>明茨伯格（</a:t>
            </a:r>
            <a:r>
              <a:rPr lang="en-US" altLang="zh-CN" sz="4000" dirty="0" err="1">
                <a:solidFill>
                  <a:schemeClr val="tx2">
                    <a:tint val="100000"/>
                    <a:shade val="90000"/>
                    <a:satMod val="250000"/>
                    <a:alpha val="100000"/>
                  </a:schemeClr>
                </a:solidFill>
                <a:ea typeface="黑体" pitchFamily="2" charset="-122"/>
              </a:rPr>
              <a:t>H.Mintzberg</a:t>
            </a:r>
            <a:r>
              <a:rPr lang="zh-CN" altLang="en-US" sz="4000" dirty="0">
                <a:solidFill>
                  <a:schemeClr val="tx2">
                    <a:tint val="100000"/>
                    <a:shade val="90000"/>
                    <a:satMod val="250000"/>
                    <a:alpha val="100000"/>
                  </a:schemeClr>
                </a:solidFill>
                <a:ea typeface="黑体" pitchFamily="2" charset="-122"/>
              </a:rPr>
              <a:t>）的战略</a:t>
            </a:r>
            <a:r>
              <a:rPr lang="en-US" altLang="zh-CN" sz="4000" dirty="0">
                <a:solidFill>
                  <a:schemeClr val="tx2">
                    <a:tint val="100000"/>
                    <a:shade val="90000"/>
                    <a:satMod val="250000"/>
                    <a:alpha val="100000"/>
                  </a:schemeClr>
                </a:solidFill>
                <a:ea typeface="黑体" pitchFamily="2" charset="-122"/>
              </a:rPr>
              <a:t>5Ps</a:t>
            </a:r>
          </a:p>
        </p:txBody>
      </p:sp>
      <p:sp>
        <p:nvSpPr>
          <p:cNvPr id="24578" name="Rectangle 2051"/>
          <p:cNvSpPr>
            <a:spLocks noGrp="1" noChangeArrowheads="1"/>
          </p:cNvSpPr>
          <p:nvPr>
            <p:ph idx="1"/>
          </p:nvPr>
        </p:nvSpPr>
        <p:spPr>
          <a:xfrm>
            <a:off x="2286000" y="1752600"/>
            <a:ext cx="7772400" cy="4114800"/>
          </a:xfrm>
        </p:spPr>
        <p:txBody>
          <a:bodyPr/>
          <a:lstStyle/>
          <a:p>
            <a:pPr>
              <a:lnSpc>
                <a:spcPct val="80000"/>
              </a:lnSpc>
              <a:buFont typeface="Wingdings" pitchFamily="2" charset="2"/>
              <a:buNone/>
            </a:pPr>
            <a:endParaRPr lang="en-US" altLang="zh-CN" sz="4400" b="1">
              <a:solidFill>
                <a:schemeClr val="accent2"/>
              </a:solidFill>
            </a:endParaRPr>
          </a:p>
          <a:p>
            <a:pPr>
              <a:lnSpc>
                <a:spcPct val="80000"/>
              </a:lnSpc>
            </a:pPr>
            <a:r>
              <a:rPr lang="zh-CN" altLang="en-US" sz="3600" b="1"/>
              <a:t>战略是计划（</a:t>
            </a:r>
            <a:r>
              <a:rPr lang="en-US" altLang="zh-CN" sz="3600" b="1"/>
              <a:t>plan</a:t>
            </a:r>
            <a:r>
              <a:rPr lang="zh-CN" altLang="en-US" sz="3600" b="1"/>
              <a:t>）</a:t>
            </a:r>
          </a:p>
          <a:p>
            <a:pPr>
              <a:lnSpc>
                <a:spcPct val="80000"/>
              </a:lnSpc>
            </a:pPr>
            <a:r>
              <a:rPr lang="zh-CN" altLang="en-US" sz="3600" b="1"/>
              <a:t>战略是模式（</a:t>
            </a:r>
            <a:r>
              <a:rPr lang="en-US" altLang="zh-CN" sz="3600" b="1"/>
              <a:t>pattern</a:t>
            </a:r>
            <a:r>
              <a:rPr lang="zh-CN" altLang="en-US" sz="3600" b="1"/>
              <a:t>）</a:t>
            </a:r>
          </a:p>
          <a:p>
            <a:pPr>
              <a:lnSpc>
                <a:spcPct val="80000"/>
              </a:lnSpc>
            </a:pPr>
            <a:r>
              <a:rPr lang="zh-CN" altLang="en-US" sz="3600" b="1"/>
              <a:t>战略是定位（</a:t>
            </a:r>
            <a:r>
              <a:rPr lang="en-US" altLang="zh-CN" sz="3600" b="1"/>
              <a:t>position</a:t>
            </a:r>
            <a:r>
              <a:rPr lang="zh-CN" altLang="en-US" sz="3600" b="1"/>
              <a:t>）</a:t>
            </a:r>
          </a:p>
          <a:p>
            <a:pPr>
              <a:lnSpc>
                <a:spcPct val="80000"/>
              </a:lnSpc>
            </a:pPr>
            <a:r>
              <a:rPr lang="zh-CN" altLang="en-US" sz="3600" b="1"/>
              <a:t>战略是观念（</a:t>
            </a:r>
            <a:r>
              <a:rPr lang="en-US" altLang="zh-CN" sz="3600" b="1"/>
              <a:t>perspective</a:t>
            </a:r>
            <a:r>
              <a:rPr lang="zh-CN" altLang="en-US" sz="3600" b="1"/>
              <a:t>）</a:t>
            </a:r>
          </a:p>
          <a:p>
            <a:pPr>
              <a:lnSpc>
                <a:spcPct val="80000"/>
              </a:lnSpc>
            </a:pPr>
            <a:r>
              <a:rPr lang="zh-CN" altLang="en-US" sz="3600" b="1"/>
              <a:t>战略是计谋（</a:t>
            </a:r>
            <a:r>
              <a:rPr lang="en-US" altLang="zh-CN" sz="3600" b="1"/>
              <a:t>ploy</a:t>
            </a:r>
            <a:r>
              <a:rPr lang="zh-CN" altLang="en-US" sz="3600" b="1"/>
              <a:t>）</a:t>
            </a:r>
          </a:p>
          <a:p>
            <a:endParaRPr lang="en-US" altLang="zh-CN"/>
          </a:p>
        </p:txBody>
      </p:sp>
    </p:spTree>
  </p:cSld>
  <p:clrMapOvr>
    <a:overrideClrMapping bg1="dk1" tx1="lt1" bg2="dk2" tx2="lt2" accent1="accent1" accent2="accent2" accent3="accent3" accent4="accent4" accent5="accent5" accent6="accent6" hlink="hlink" folHlink="folHlink"/>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position: 'relative', padding: 0 }}&gt;&#10;    &lt;Box style={{ position: 'absolute', top: 0, left: 0, width: 400, height: 720, background: '#0E3F8C' }} /&gt;&#10;    &lt;Box style={{ position: 'absolute', top: 0, left: 400, width: 8, height: 720, background: '#1E4FA8' }} /&gt;&#10;    &lt;Box style={{ position: 'absolute', bottom: -90, left: -60, width: 260, height: 260, borderRadius: 130, background: '#1E4FA8', opacity: 0.4 }} /&gt;&#10;    &lt;Box style={{ position: 'absolute', top: 96, left: 72, zIndex: 1, flexDirection: 'column' }}&gt;&#10;        &lt;Text style={{ fontSize: 20, color: '#8FB3E8', letterSpacing: 8, marginBottom: 16 }}&gt;CONTENTS&lt;/Text&gt;&#10;        &lt;Text style={{ fontSize: 56, fontWeight: 'bold', color: '#FFFFFF', marginBottom: 24 }}&gt;本讲目录&lt;/Text&gt;&#10;        &lt;Box style={{ width: 56, height: 4, background: '#FFC107' }} /&gt;&#10;        &lt;Text style={{ fontSize: 16, color: '#B9CCEC', marginTop: 28, lineHeight: 1.8 }}&gt;&#10;            围绕明茨伯格 1987 年&#10;            &lt;br /&gt;&#10;            经典论文展开，从理论&#10;            &lt;br /&gt;&#10;            源起讲到课堂应用&#10;        &lt;/Text&gt;&#10;    &lt;/Box&gt;&#10;    &lt;Box style={{ position: 'absolute', top: 0, left: 440, width: 800, height: 720, zIndex: 1, flexDirection: 'column', justifyContent: 'center', gap: 44, paddingRight: 40 }}&gt;&#10;        &lt;Box style={{ flexDirection: 'row', gap: 28, alignItems: 'flex-start' }}&gt;&#10;            &lt;Box style={{ width: 76, height: 76, background: '#1E4FA8', justifyContent: 'center', alignItems: 'center' }}&gt;&#10;                &lt;Text style={{ fontSize: 30, fontWeight: 'bold', color: '#FFFFFF' }}&gt;01&lt;/Text&gt;&#10;            &lt;/Box&gt;&#10;            &lt;Box style={{ flexDirection: 'column', paddingTop: 4 }}&gt;&#10;                &lt;Text style={{ fontSize: 28, fontWeight: 'bold', color: '#0E3F8C', marginBottom: 8 }}&gt;走近明茨伯格&lt;/Text&gt;&#10;                &lt;Text style={{ fontSize: 17, color: '#4A5568', lineHeight: 1.6 }}&gt;人物与学术地位 · 1987 年经典文献 · 他为什么要重新定义战略&lt;/Text&gt;&#10;            &lt;/Box&gt;&#10;        &lt;/Box&gt;&#10;        &lt;Box style={{ height: 1, background: '#D6DCE5' }} /&gt;&#10;        &lt;Box style={{ flexDirection: 'row', gap: 28, alignItems: 'flex-start' }}&gt;&#10;            &lt;Box style={{ width: 76, height: 76, background: '#1E4FA8', justifyContent: 'center', alignItems: 'center' }}&gt;&#10;                &lt;Text style={{ fontSize: 30, fontWeight: 'bold', color: '#FFFFFF' }}&gt;02&lt;/Text&gt;&#10;            &lt;/Box&gt;&#10;            &lt;Box style={{ flexDirection: 'column', paddingTop: 4 }}&gt;&#10;                &lt;Text style={{ fontSize: 28, fontWeight: 'bold', color: '#0E3F8C', marginBottom: 8 }}&gt;五个维度详解&lt;/Text&gt;&#10;                &lt;Text style={{ fontSize: 17, color: '#4A5568', lineHeight: 1.6 }}&gt;计划 Plan · 计谋 Ploy · 模式 Pattern · 定位 Position · 视角 Perspective，逐一定义并配企业案例&lt;/Text&gt;&#10;            &lt;/Box&gt;&#10;        &lt;/Box&gt;&#10;        &lt;Box style={{ height: 1, background: '#D6DCE5' }} /&gt;&#10;        &lt;Box style={{ flexDirection: 'row', gap: 28, alignItems: 'flex-start' }}&gt;&#10;            &lt;Box style={{ width: 76, height: 76, background: '#1E4FA8', justifyContent: 'center', alignItems: 'center' }}&gt;&#10;                &lt;Text style={{ fontSize: 30, fontWeight: 'bold', color: '#FFFFFF' }}&gt;03&lt;/Text&gt;&#10;            &lt;/Box&gt;&#10;            &lt;Box style={{ flexDirection: 'column', paddingTop: 4 }}&gt;&#10;                &lt;Text style={{ fontSize: 28, fontWeight: 'bold', color: '#0E3F8C', marginBottom: 8 }}&gt;整合与课堂应用&lt;/Text&gt;&#10;                &lt;Text style={{ fontSize: 17, color: '#4A5568', lineHeight: 1.6 }}&gt;五个 P 的内在关系 · 西南航空综合案例 · 课堂讨论题&lt;/Text&gt;&#10;            &lt;/Box&gt;&#10;        &lt;/Box&gt;&#10;    &lt;/Box&gt;&#10;&lt;/Slide&gt;"/>
        <p:cNvGrpSpPr/>
        <p:nvPr/>
      </p:nvGrpSpPr>
      <p:grpSpPr>
        <a:xfrm>
          <a:off x="0" y="0"/>
          <a:ext cx="0" cy="0"/>
          <a:chOff x="0" y="0"/>
          <a:chExt cx="0" cy="0"/>
        </a:xfrm>
      </p:grpSpPr>
      <p:sp>
        <p:nvSpPr>
          <p:cNvPr id="204" name="矩形 203"/>
          <p:cNvSpPr/>
          <p:nvPr/>
        </p:nvSpPr>
        <p:spPr>
          <a:xfrm>
            <a:off x="0" y="0"/>
            <a:ext cx="12192000" cy="6858000"/>
          </a:xfrm>
          <a:prstGeom prst="rect">
            <a:avLst/>
          </a:prstGeom>
          <a:solidFill>
            <a:srgbClr val="FFFFFF"/>
          </a:solidFill>
          <a:ln/>
        </p:spPr>
        <p:txBody>
          <a:bodyPr/>
          <a:lstStyle/>
          <a:p>
            <a:endParaRPr/>
          </a:p>
        </p:txBody>
      </p:sp>
      <p:sp>
        <p:nvSpPr>
          <p:cNvPr id="205" name="矩形 204"/>
          <p:cNvSpPr/>
          <p:nvPr/>
        </p:nvSpPr>
        <p:spPr>
          <a:xfrm>
            <a:off x="0" y="0"/>
            <a:ext cx="3810000" cy="6858000"/>
          </a:xfrm>
          <a:prstGeom prst="rect">
            <a:avLst/>
          </a:prstGeom>
          <a:solidFill>
            <a:srgbClr val="0E3F8C"/>
          </a:solidFill>
          <a:ln/>
        </p:spPr>
        <p:txBody>
          <a:bodyPr/>
          <a:lstStyle/>
          <a:p>
            <a:endParaRPr/>
          </a:p>
        </p:txBody>
      </p:sp>
      <p:sp>
        <p:nvSpPr>
          <p:cNvPr id="206" name="矩形 205"/>
          <p:cNvSpPr/>
          <p:nvPr/>
        </p:nvSpPr>
        <p:spPr>
          <a:xfrm>
            <a:off x="3810000" y="0"/>
            <a:ext cx="76200" cy="6858000"/>
          </a:xfrm>
          <a:prstGeom prst="rect">
            <a:avLst/>
          </a:prstGeom>
          <a:solidFill>
            <a:srgbClr val="1E4FA8"/>
          </a:solidFill>
          <a:ln/>
        </p:spPr>
        <p:txBody>
          <a:bodyPr/>
          <a:lstStyle/>
          <a:p>
            <a:endParaRPr/>
          </a:p>
        </p:txBody>
      </p:sp>
      <p:sp>
        <p:nvSpPr>
          <p:cNvPr id="207" name="矩形: 圆角 206"/>
          <p:cNvSpPr/>
          <p:nvPr/>
        </p:nvSpPr>
        <p:spPr>
          <a:xfrm>
            <a:off x="-571500" y="5238750"/>
            <a:ext cx="2476500" cy="2476500"/>
          </a:xfrm>
          <a:prstGeom prst="roundRect">
            <a:avLst>
              <a:gd name="adj" fmla="val 50000"/>
            </a:avLst>
          </a:prstGeom>
          <a:solidFill>
            <a:srgbClr val="1E4FA8">
              <a:alpha val="40000"/>
            </a:srgbClr>
          </a:solidFill>
          <a:ln/>
        </p:spPr>
        <p:txBody>
          <a:bodyPr/>
          <a:lstStyle/>
          <a:p>
            <a:endParaRPr/>
          </a:p>
        </p:txBody>
      </p:sp>
      <p:sp>
        <p:nvSpPr>
          <p:cNvPr id="208" name="文本框 207" descr="{&quot;isTemplate&quot;:true,&quot;type&quot;:&quot;text&quot;}"/>
          <p:cNvSpPr txBox="1"/>
          <p:nvPr/>
        </p:nvSpPr>
        <p:spPr>
          <a:xfrm>
            <a:off x="685800" y="914400"/>
            <a:ext cx="2133600" cy="228600"/>
          </a:xfrm>
          <a:prstGeom prst="rect">
            <a:avLst/>
          </a:prstGeom>
        </p:spPr>
        <p:txBody>
          <a:bodyPr wrap="none" lIns="0" tIns="0" rIns="0" bIns="0"/>
          <a:lstStyle/>
          <a:p>
            <a:pPr>
              <a:lnSpc>
                <a:spcPct val="100000"/>
              </a:lnSpc>
            </a:pPr>
            <a:r>
              <a:rPr lang="en-US" sz="1500" spc="600">
                <a:solidFill>
                  <a:srgbClr val="8FB3E8"/>
                </a:solidFill>
                <a:latin typeface="Microsoft YaHei"/>
                <a:ea typeface="Microsoft YaHei"/>
              </a:rPr>
              <a:t>CONTENTS</a:t>
            </a:r>
            <a:endParaRPr/>
          </a:p>
        </p:txBody>
      </p:sp>
      <p:sp>
        <p:nvSpPr>
          <p:cNvPr id="209" name="文本框 208" descr="{&quot;isTemplate&quot;:true,&quot;type&quot;:&quot;text&quot;}"/>
          <p:cNvSpPr txBox="1"/>
          <p:nvPr/>
        </p:nvSpPr>
        <p:spPr>
          <a:xfrm>
            <a:off x="685800" y="1295400"/>
            <a:ext cx="2133600" cy="647700"/>
          </a:xfrm>
          <a:prstGeom prst="rect">
            <a:avLst/>
          </a:prstGeom>
        </p:spPr>
        <p:txBody>
          <a:bodyPr wrap="none" lIns="0" tIns="0" rIns="0" bIns="0"/>
          <a:lstStyle/>
          <a:p>
            <a:pPr>
              <a:lnSpc>
                <a:spcPct val="100000"/>
              </a:lnSpc>
            </a:pPr>
            <a:r>
              <a:rPr lang="zh-CN" sz="4200" b="1" dirty="0">
                <a:solidFill>
                  <a:srgbClr val="FFFFFF"/>
                </a:solidFill>
                <a:latin typeface="Microsoft YaHei"/>
                <a:ea typeface="Microsoft YaHei"/>
              </a:rPr>
              <a:t>目录</a:t>
            </a:r>
            <a:endParaRPr dirty="0"/>
          </a:p>
        </p:txBody>
      </p:sp>
      <p:sp>
        <p:nvSpPr>
          <p:cNvPr id="210" name="矩形 209"/>
          <p:cNvSpPr/>
          <p:nvPr/>
        </p:nvSpPr>
        <p:spPr>
          <a:xfrm>
            <a:off x="685800" y="2171700"/>
            <a:ext cx="533400" cy="38100"/>
          </a:xfrm>
          <a:prstGeom prst="rect">
            <a:avLst/>
          </a:prstGeom>
          <a:solidFill>
            <a:srgbClr val="FFC107"/>
          </a:solidFill>
          <a:ln/>
        </p:spPr>
        <p:txBody>
          <a:bodyPr/>
          <a:lstStyle/>
          <a:p>
            <a:endParaRPr/>
          </a:p>
        </p:txBody>
      </p:sp>
      <p:sp>
        <p:nvSpPr>
          <p:cNvPr id="211" name="文本框 210" descr="{&quot;isTemplate&quot;:true,&quot;type&quot;:&quot;text&quot;}"/>
          <p:cNvSpPr txBox="1"/>
          <p:nvPr/>
        </p:nvSpPr>
        <p:spPr>
          <a:xfrm>
            <a:off x="685800" y="2476500"/>
            <a:ext cx="2133600" cy="990600"/>
          </a:xfrm>
          <a:prstGeom prst="rect">
            <a:avLst/>
          </a:prstGeom>
        </p:spPr>
        <p:txBody>
          <a:bodyPr wrap="none" lIns="0" tIns="0" rIns="0" bIns="0"/>
          <a:lstStyle/>
          <a:p>
            <a:pPr>
              <a:lnSpc>
                <a:spcPct val="180000"/>
              </a:lnSpc>
            </a:pPr>
            <a:r>
              <a:rPr lang="zh-CN" sz="1200">
                <a:solidFill>
                  <a:srgbClr val="B9CCEC"/>
                </a:solidFill>
                <a:latin typeface="Microsoft YaHei"/>
                <a:ea typeface="Microsoft YaHei"/>
              </a:rPr>
              <a:t>围绕明茨伯格</a:t>
            </a:r>
            <a:r>
              <a:rPr lang="en-US" sz="1200">
                <a:solidFill>
                  <a:srgbClr val="B9CCEC"/>
                </a:solidFill>
                <a:latin typeface="Microsoft YaHei"/>
                <a:ea typeface="Microsoft YaHei"/>
              </a:rPr>
              <a:t> 1987 </a:t>
            </a:r>
            <a:r>
              <a:rPr lang="zh-CN" sz="1200">
                <a:solidFill>
                  <a:srgbClr val="B9CCEC"/>
                </a:solidFill>
                <a:latin typeface="Microsoft YaHei"/>
                <a:ea typeface="Microsoft YaHei"/>
              </a:rPr>
              <a:t>年</a:t>
            </a:r>
            <a:endParaRPr/>
          </a:p>
          <a:p>
            <a:pPr>
              <a:lnSpc>
                <a:spcPct val="180000"/>
              </a:lnSpc>
            </a:pPr>
            <a:r>
              <a:rPr lang="zh-CN" sz="1200">
                <a:solidFill>
                  <a:srgbClr val="B9CCEC"/>
                </a:solidFill>
                <a:latin typeface="Microsoft YaHei"/>
                <a:ea typeface="Microsoft YaHei"/>
              </a:rPr>
              <a:t>经典论文展开，从理论</a:t>
            </a:r>
            <a:endParaRPr/>
          </a:p>
          <a:p>
            <a:pPr>
              <a:lnSpc>
                <a:spcPct val="180000"/>
              </a:lnSpc>
            </a:pPr>
            <a:r>
              <a:rPr lang="zh-CN" sz="1200">
                <a:solidFill>
                  <a:srgbClr val="B9CCEC"/>
                </a:solidFill>
                <a:latin typeface="Microsoft YaHei"/>
                <a:ea typeface="Microsoft YaHei"/>
              </a:rPr>
              <a:t>源起讲到课堂应用</a:t>
            </a:r>
            <a:endParaRPr/>
          </a:p>
        </p:txBody>
      </p:sp>
      <p:sp>
        <p:nvSpPr>
          <p:cNvPr id="212" name="矩形 211"/>
          <p:cNvSpPr/>
          <p:nvPr/>
        </p:nvSpPr>
        <p:spPr>
          <a:xfrm>
            <a:off x="4191000" y="1457325"/>
            <a:ext cx="723900" cy="723900"/>
          </a:xfrm>
          <a:prstGeom prst="rect">
            <a:avLst/>
          </a:prstGeom>
          <a:solidFill>
            <a:srgbClr val="1E4FA8"/>
          </a:solidFill>
          <a:ln/>
        </p:spPr>
        <p:txBody>
          <a:bodyPr/>
          <a:lstStyle/>
          <a:p>
            <a:endParaRPr/>
          </a:p>
        </p:txBody>
      </p:sp>
      <p:sp>
        <p:nvSpPr>
          <p:cNvPr id="213" name="文本框 212" descr="{&quot;isTemplate&quot;:true,&quot;type&quot;:&quot;text&quot;}"/>
          <p:cNvSpPr txBox="1"/>
          <p:nvPr/>
        </p:nvSpPr>
        <p:spPr>
          <a:xfrm>
            <a:off x="4371975" y="1647825"/>
            <a:ext cx="361950" cy="342900"/>
          </a:xfrm>
          <a:prstGeom prst="rect">
            <a:avLst/>
          </a:prstGeom>
        </p:spPr>
        <p:txBody>
          <a:bodyPr wrap="none" lIns="0" tIns="0" rIns="0" bIns="0"/>
          <a:lstStyle/>
          <a:p>
            <a:pPr>
              <a:lnSpc>
                <a:spcPct val="100000"/>
              </a:lnSpc>
            </a:pPr>
            <a:r>
              <a:rPr lang="en-US" sz="2250" b="1">
                <a:solidFill>
                  <a:srgbClr val="FFFFFF"/>
                </a:solidFill>
                <a:latin typeface="Microsoft YaHei"/>
                <a:ea typeface="Microsoft YaHei"/>
              </a:rPr>
              <a:t>01</a:t>
            </a:r>
            <a:endParaRPr/>
          </a:p>
        </p:txBody>
      </p:sp>
      <p:sp>
        <p:nvSpPr>
          <p:cNvPr id="214" name="文本框 213" descr="{&quot;isTemplate&quot;:true,&quot;type&quot;:&quot;text&quot;}"/>
          <p:cNvSpPr txBox="1"/>
          <p:nvPr/>
        </p:nvSpPr>
        <p:spPr>
          <a:xfrm>
            <a:off x="5181600" y="1495425"/>
            <a:ext cx="4429125" cy="323850"/>
          </a:xfrm>
          <a:prstGeom prst="rect">
            <a:avLst/>
          </a:prstGeom>
        </p:spPr>
        <p:txBody>
          <a:bodyPr wrap="none" lIns="0" tIns="0" rIns="0" bIns="0"/>
          <a:lstStyle/>
          <a:p>
            <a:pPr>
              <a:lnSpc>
                <a:spcPct val="100000"/>
              </a:lnSpc>
            </a:pPr>
            <a:r>
              <a:rPr lang="zh-CN" sz="2100" b="1">
                <a:solidFill>
                  <a:srgbClr val="0E3F8C"/>
                </a:solidFill>
                <a:latin typeface="Microsoft YaHei"/>
                <a:ea typeface="Microsoft YaHei"/>
              </a:rPr>
              <a:t>走近明茨伯格</a:t>
            </a:r>
            <a:endParaRPr/>
          </a:p>
        </p:txBody>
      </p:sp>
      <p:sp>
        <p:nvSpPr>
          <p:cNvPr id="215" name="文本框 214" descr="{&quot;isTemplate&quot;:true,&quot;type&quot;:&quot;text&quot;}"/>
          <p:cNvSpPr txBox="1"/>
          <p:nvPr/>
        </p:nvSpPr>
        <p:spPr>
          <a:xfrm>
            <a:off x="5181600" y="1895475"/>
            <a:ext cx="4429125" cy="314325"/>
          </a:xfrm>
          <a:prstGeom prst="rect">
            <a:avLst/>
          </a:prstGeom>
        </p:spPr>
        <p:txBody>
          <a:bodyPr wrap="none" lIns="0" tIns="0" rIns="0" bIns="0"/>
          <a:lstStyle/>
          <a:p>
            <a:pPr>
              <a:lnSpc>
                <a:spcPct val="160000"/>
              </a:lnSpc>
            </a:pPr>
            <a:r>
              <a:rPr lang="zh-CN" sz="1275">
                <a:solidFill>
                  <a:srgbClr val="4A5568"/>
                </a:solidFill>
                <a:latin typeface="Microsoft YaHei"/>
                <a:ea typeface="Microsoft YaHei"/>
              </a:rPr>
              <a:t>人物与学术地位</a:t>
            </a:r>
            <a:r>
              <a:rPr lang="en-US" sz="1275">
                <a:solidFill>
                  <a:srgbClr val="4A5568"/>
                </a:solidFill>
                <a:latin typeface="Microsoft YaHei"/>
                <a:ea typeface="Microsoft YaHei"/>
              </a:rPr>
              <a:t> · 1987 </a:t>
            </a:r>
            <a:r>
              <a:rPr lang="zh-CN" sz="1275">
                <a:solidFill>
                  <a:srgbClr val="4A5568"/>
                </a:solidFill>
                <a:latin typeface="Microsoft YaHei"/>
                <a:ea typeface="Microsoft YaHei"/>
              </a:rPr>
              <a:t>年经典文献</a:t>
            </a:r>
            <a:r>
              <a:rPr lang="en-US" sz="1275">
                <a:solidFill>
                  <a:srgbClr val="4A5568"/>
                </a:solidFill>
                <a:latin typeface="Microsoft YaHei"/>
                <a:ea typeface="Microsoft YaHei"/>
              </a:rPr>
              <a:t> · </a:t>
            </a:r>
            <a:r>
              <a:rPr lang="zh-CN" sz="1275">
                <a:solidFill>
                  <a:srgbClr val="4A5568"/>
                </a:solidFill>
                <a:latin typeface="Microsoft YaHei"/>
                <a:ea typeface="Microsoft YaHei"/>
              </a:rPr>
              <a:t>他为什么要重新定义战略</a:t>
            </a:r>
            <a:endParaRPr/>
          </a:p>
        </p:txBody>
      </p:sp>
      <p:sp>
        <p:nvSpPr>
          <p:cNvPr id="216" name="矩形 215"/>
          <p:cNvSpPr/>
          <p:nvPr/>
        </p:nvSpPr>
        <p:spPr>
          <a:xfrm>
            <a:off x="4191000" y="2628900"/>
            <a:ext cx="7239000" cy="9525"/>
          </a:xfrm>
          <a:prstGeom prst="rect">
            <a:avLst/>
          </a:prstGeom>
          <a:solidFill>
            <a:srgbClr val="D6DCE5"/>
          </a:solidFill>
          <a:ln/>
        </p:spPr>
        <p:txBody>
          <a:bodyPr/>
          <a:lstStyle/>
          <a:p>
            <a:endParaRPr/>
          </a:p>
        </p:txBody>
      </p:sp>
      <p:sp>
        <p:nvSpPr>
          <p:cNvPr id="217" name="矩形 216"/>
          <p:cNvSpPr/>
          <p:nvPr/>
        </p:nvSpPr>
        <p:spPr>
          <a:xfrm>
            <a:off x="4191000" y="3057525"/>
            <a:ext cx="723900" cy="723900"/>
          </a:xfrm>
          <a:prstGeom prst="rect">
            <a:avLst/>
          </a:prstGeom>
          <a:solidFill>
            <a:srgbClr val="1E4FA8"/>
          </a:solidFill>
          <a:ln/>
        </p:spPr>
        <p:txBody>
          <a:bodyPr/>
          <a:lstStyle/>
          <a:p>
            <a:endParaRPr/>
          </a:p>
        </p:txBody>
      </p:sp>
      <p:sp>
        <p:nvSpPr>
          <p:cNvPr id="218" name="文本框 217" descr="{&quot;isTemplate&quot;:true,&quot;type&quot;:&quot;text&quot;}"/>
          <p:cNvSpPr txBox="1"/>
          <p:nvPr/>
        </p:nvSpPr>
        <p:spPr>
          <a:xfrm>
            <a:off x="4371975" y="3248025"/>
            <a:ext cx="361950" cy="342900"/>
          </a:xfrm>
          <a:prstGeom prst="rect">
            <a:avLst/>
          </a:prstGeom>
        </p:spPr>
        <p:txBody>
          <a:bodyPr wrap="none" lIns="0" tIns="0" rIns="0" bIns="0"/>
          <a:lstStyle/>
          <a:p>
            <a:pPr>
              <a:lnSpc>
                <a:spcPct val="100000"/>
              </a:lnSpc>
            </a:pPr>
            <a:r>
              <a:rPr lang="en-US" sz="2250" b="1">
                <a:solidFill>
                  <a:srgbClr val="FFFFFF"/>
                </a:solidFill>
                <a:latin typeface="Microsoft YaHei"/>
                <a:ea typeface="Microsoft YaHei"/>
              </a:rPr>
              <a:t>02</a:t>
            </a:r>
            <a:endParaRPr/>
          </a:p>
        </p:txBody>
      </p:sp>
      <p:sp>
        <p:nvSpPr>
          <p:cNvPr id="219" name="文本框 218" descr="{&quot;isTemplate&quot;:true,&quot;type&quot;:&quot;text&quot;}"/>
          <p:cNvSpPr txBox="1"/>
          <p:nvPr/>
        </p:nvSpPr>
        <p:spPr>
          <a:xfrm>
            <a:off x="5124450" y="3095625"/>
            <a:ext cx="6305550" cy="323850"/>
          </a:xfrm>
          <a:prstGeom prst="rect">
            <a:avLst/>
          </a:prstGeom>
        </p:spPr>
        <p:txBody>
          <a:bodyPr wrap="none" lIns="0" tIns="0" rIns="0" bIns="0"/>
          <a:lstStyle/>
          <a:p>
            <a:pPr>
              <a:lnSpc>
                <a:spcPct val="100000"/>
              </a:lnSpc>
            </a:pPr>
            <a:r>
              <a:rPr lang="zh-CN" sz="2100" b="1">
                <a:solidFill>
                  <a:srgbClr val="0E3F8C"/>
                </a:solidFill>
                <a:latin typeface="Microsoft YaHei"/>
                <a:ea typeface="Microsoft YaHei"/>
              </a:rPr>
              <a:t>五个维度详解</a:t>
            </a:r>
            <a:endParaRPr/>
          </a:p>
        </p:txBody>
      </p:sp>
      <p:sp>
        <p:nvSpPr>
          <p:cNvPr id="220" name="文本框 219" descr="{&quot;isTemplate&quot;:true,&quot;type&quot;:&quot;text&quot;}"/>
          <p:cNvSpPr txBox="1"/>
          <p:nvPr/>
        </p:nvSpPr>
        <p:spPr>
          <a:xfrm>
            <a:off x="5124450" y="3495675"/>
            <a:ext cx="6305550" cy="628650"/>
          </a:xfrm>
          <a:prstGeom prst="rect">
            <a:avLst/>
          </a:prstGeom>
        </p:spPr>
        <p:txBody>
          <a:bodyPr wrap="square" lIns="0" tIns="0" rIns="0" bIns="0">
            <a:normAutofit/>
          </a:bodyPr>
          <a:lstStyle/>
          <a:p>
            <a:pPr>
              <a:lnSpc>
                <a:spcPct val="160000"/>
              </a:lnSpc>
            </a:pPr>
            <a:r>
              <a:rPr lang="zh-CN" sz="1275">
                <a:solidFill>
                  <a:srgbClr val="4A5568"/>
                </a:solidFill>
                <a:latin typeface="Microsoft YaHei"/>
                <a:ea typeface="Microsoft YaHei"/>
              </a:rPr>
              <a:t>计划</a:t>
            </a:r>
            <a:r>
              <a:rPr lang="en-US" sz="1275">
                <a:solidFill>
                  <a:srgbClr val="4A5568"/>
                </a:solidFill>
                <a:latin typeface="Microsoft YaHei"/>
                <a:ea typeface="Microsoft YaHei"/>
              </a:rPr>
              <a:t> Plan · </a:t>
            </a:r>
            <a:r>
              <a:rPr lang="zh-CN" sz="1275">
                <a:solidFill>
                  <a:srgbClr val="4A5568"/>
                </a:solidFill>
                <a:latin typeface="Microsoft YaHei"/>
                <a:ea typeface="Microsoft YaHei"/>
              </a:rPr>
              <a:t>计谋</a:t>
            </a:r>
            <a:r>
              <a:rPr lang="en-US" sz="1275">
                <a:solidFill>
                  <a:srgbClr val="4A5568"/>
                </a:solidFill>
                <a:latin typeface="Microsoft YaHei"/>
                <a:ea typeface="Microsoft YaHei"/>
              </a:rPr>
              <a:t> Ploy · </a:t>
            </a:r>
            <a:r>
              <a:rPr lang="zh-CN" sz="1275">
                <a:solidFill>
                  <a:srgbClr val="4A5568"/>
                </a:solidFill>
                <a:latin typeface="Microsoft YaHei"/>
                <a:ea typeface="Microsoft YaHei"/>
              </a:rPr>
              <a:t>模式</a:t>
            </a:r>
            <a:r>
              <a:rPr lang="en-US" sz="1275">
                <a:solidFill>
                  <a:srgbClr val="4A5568"/>
                </a:solidFill>
                <a:latin typeface="Microsoft YaHei"/>
                <a:ea typeface="Microsoft YaHei"/>
              </a:rPr>
              <a:t> Pattern · </a:t>
            </a:r>
            <a:r>
              <a:rPr lang="zh-CN" sz="1275">
                <a:solidFill>
                  <a:srgbClr val="4A5568"/>
                </a:solidFill>
                <a:latin typeface="Microsoft YaHei"/>
                <a:ea typeface="Microsoft YaHei"/>
              </a:rPr>
              <a:t>定位</a:t>
            </a:r>
            <a:r>
              <a:rPr lang="en-US" sz="1275">
                <a:solidFill>
                  <a:srgbClr val="4A5568"/>
                </a:solidFill>
                <a:latin typeface="Microsoft YaHei"/>
                <a:ea typeface="Microsoft YaHei"/>
              </a:rPr>
              <a:t> Position · </a:t>
            </a:r>
            <a:r>
              <a:rPr lang="zh-CN" sz="1275">
                <a:solidFill>
                  <a:srgbClr val="4A5568"/>
                </a:solidFill>
                <a:latin typeface="Microsoft YaHei"/>
                <a:ea typeface="Microsoft YaHei"/>
              </a:rPr>
              <a:t>视角</a:t>
            </a:r>
            <a:r>
              <a:rPr lang="en-US" sz="1275">
                <a:solidFill>
                  <a:srgbClr val="4A5568"/>
                </a:solidFill>
                <a:latin typeface="Microsoft YaHei"/>
                <a:ea typeface="Microsoft YaHei"/>
              </a:rPr>
              <a:t> Perspective</a:t>
            </a:r>
            <a:r>
              <a:rPr lang="zh-CN" sz="1275">
                <a:solidFill>
                  <a:srgbClr val="4A5568"/>
                </a:solidFill>
                <a:latin typeface="Microsoft YaHei"/>
                <a:ea typeface="Microsoft YaHei"/>
              </a:rPr>
              <a:t>，逐一定义并配企业案例</a:t>
            </a:r>
            <a:endParaRPr/>
          </a:p>
        </p:txBody>
      </p:sp>
      <p:sp>
        <p:nvSpPr>
          <p:cNvPr id="221" name="矩形 220"/>
          <p:cNvSpPr/>
          <p:nvPr/>
        </p:nvSpPr>
        <p:spPr>
          <a:xfrm>
            <a:off x="4191000" y="4229100"/>
            <a:ext cx="7239000" cy="9525"/>
          </a:xfrm>
          <a:prstGeom prst="rect">
            <a:avLst/>
          </a:prstGeom>
          <a:solidFill>
            <a:srgbClr val="D6DCE5"/>
          </a:solidFill>
          <a:ln/>
        </p:spPr>
        <p:txBody>
          <a:bodyPr/>
          <a:lstStyle/>
          <a:p>
            <a:endParaRPr/>
          </a:p>
        </p:txBody>
      </p:sp>
      <p:sp>
        <p:nvSpPr>
          <p:cNvPr id="223" name="文本框 222" descr="{&quot;isTemplate&quot;:true,&quot;type&quot;:&quot;text&quot;}"/>
          <p:cNvSpPr txBox="1"/>
          <p:nvPr/>
        </p:nvSpPr>
        <p:spPr>
          <a:xfrm>
            <a:off x="4371975" y="4848225"/>
            <a:ext cx="361950" cy="342900"/>
          </a:xfrm>
          <a:prstGeom prst="rect">
            <a:avLst/>
          </a:prstGeom>
        </p:spPr>
        <p:txBody>
          <a:bodyPr wrap="none" lIns="0" tIns="0" rIns="0" bIns="0"/>
          <a:lstStyle/>
          <a:p>
            <a:pPr>
              <a:lnSpc>
                <a:spcPct val="100000"/>
              </a:lnSpc>
            </a:pPr>
            <a:r>
              <a:rPr lang="en-US" sz="2250" b="1" dirty="0">
                <a:solidFill>
                  <a:srgbClr val="FFFFFF"/>
                </a:solidFill>
                <a:latin typeface="Microsoft YaHei"/>
                <a:ea typeface="Microsoft YaHei"/>
              </a:rPr>
              <a:t>03</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position: 'relative', padding: 0 }}&gt;&#10;    &lt;Box style={{ position: 'absolute', top: 0, left: 0, width: 1280, height: 720, background: '#F7F9FC' }} /&gt;&#10;    &lt;Box style={{ position: 'absolute', top: 0, left: 0, width: 560, height: 720, background: '#0E3F8C' }} /&gt;&#10;    &lt;Box style={{ position: 'absolute', top: -100, left: 420, width: 300, height: 300, borderRadius: 150, background: '#1E4FA8', opacity: 0.18 }} /&gt;&#10;    &lt;Box style={{ position: 'absolute', top: 120, left: 72, zIndex: 1, flexDirection: 'column', width: 430 }}&gt;&#10;        &lt;Text style={{ fontSize: 200, fontWeight: 'bold', color: 'rgba(232,239,248,0.28)', lineHeight: 1 }}&gt;01&lt;/Text&gt;&#10;        &lt;Box style={{ width: 64, height: 5, background: '#FFC107', marginBottom: 30 }} /&gt;&#10;        &lt;Text style={{ fontSize: 48, fontWeight: 'bold', color: '#FFFFFF', marginBottom: 20 }}&gt;走近明茨伯格&lt;/Text&gt;&#10;        &lt;Text style={{ fontSize: 18, color: '#B9CCEC', lineHeight: 1.7 }}&gt;&#10;            在拆解 5P 之前，先回答两个问题：&#10;            这套定义出自谁之手？它针对的是&#10;            怎样的时代与理论背景？&#10;        &lt;/Text&gt;&#10;    &lt;/Box&gt;&#10;    &lt;Box style={{ position: 'absolute', top: 200, left: 640, zIndex: 1, flexDirection: 'column', gap: 30, width: 560 }}&gt;&#10;        &lt;Box style={{ flexDirection: 'row', gap: 20, alignItems: 'center', background: '#FFFFFF', border: '1px solid #D6DCE5', borderRadius: 8, padding: '22px 26px' }}&gt;&#10;            &lt;FAIcon name='user' style={{ fill: '#1E4FA8', width: 34, height: 34 }} /&gt;&#10;            &lt;Text style={{ fontSize: 20, color: '#1A2230' }}&gt;&#10;                &lt;span style={{ fontWeight: 'bold', color: '#0E3F8C' }}&gt;人物&lt;/span&gt;：亨利·明茨伯格——当代最具影响力的管理思想家之一&#10;            &lt;/Text&gt;&#10;        &lt;/Box&gt;&#10;        &lt;Box style={{ flexDirection: 'row', gap: 20, alignItems: 'center', background: '#FFFFFF', border: '1px solid #D6DCE5', borderRadius: 8, padding: '22px 26px' }}&gt;&#10;            &lt;FAIcon name='file-text' style={{ fill: '#1E4FA8', width: 34, height: 34 }} /&gt;&#10;            &lt;Text style={{ fontSize: 20, color: '#1A2230' }}&gt;&#10;                &lt;span style={{ fontWeight: 'bold', color: '#0E3F8C' }}&gt;文献&lt;/span&gt;：1987 年《加州管理评论》Five Ps for Strategy&#10;            &lt;/Text&gt;&#10;        &lt;/Box&gt;&#10;        &lt;Box style={{ flexDirection: 'row', gap: 20, alignItems: 'center', background: '#FFFFFF', border: '1px solid #D6DCE5', borderRadius: 8, padding: '22px 26px' }}&gt;&#10;            &lt;FAIcon name='question-circle' style={{ fill: '#1E4FA8', width: 34, height: 34 }} /&gt;&#10;            &lt;Text style={{ fontSize: 20, color: '#1A2230' }}&gt;&#10;                &lt;span style={{ fontWeight: 'bold', color: '#0E3F8C' }}&gt;动因&lt;/span&gt;：单一的“计划”定义无法解释真实的战略世界&#10;            &lt;/Text&gt;&#10;        &lt;/Box&gt;&#10;    &lt;/Box&gt;&#10;&lt;/Slide&gt;"/>
        <p:cNvGrpSpPr/>
        <p:nvPr/>
      </p:nvGrpSpPr>
      <p:grpSpPr>
        <a:xfrm>
          <a:off x="0" y="0"/>
          <a:ext cx="0" cy="0"/>
          <a:chOff x="0" y="0"/>
          <a:chExt cx="0" cy="0"/>
        </a:xfrm>
      </p:grpSpPr>
      <p:sp>
        <p:nvSpPr>
          <p:cNvPr id="227" name="矩形 226"/>
          <p:cNvSpPr/>
          <p:nvPr/>
        </p:nvSpPr>
        <p:spPr>
          <a:xfrm>
            <a:off x="0" y="0"/>
            <a:ext cx="12192000" cy="6858000"/>
          </a:xfrm>
          <a:prstGeom prst="rect">
            <a:avLst/>
          </a:prstGeom>
          <a:solidFill>
            <a:srgbClr val="FFFFFF"/>
          </a:solidFill>
          <a:ln/>
        </p:spPr>
        <p:txBody>
          <a:bodyPr/>
          <a:lstStyle/>
          <a:p>
            <a:endParaRPr/>
          </a:p>
        </p:txBody>
      </p:sp>
      <p:sp>
        <p:nvSpPr>
          <p:cNvPr id="228" name="矩形 227"/>
          <p:cNvSpPr/>
          <p:nvPr/>
        </p:nvSpPr>
        <p:spPr>
          <a:xfrm>
            <a:off x="0" y="0"/>
            <a:ext cx="12192000" cy="6858000"/>
          </a:xfrm>
          <a:prstGeom prst="rect">
            <a:avLst/>
          </a:prstGeom>
          <a:solidFill>
            <a:srgbClr val="F7F9FC"/>
          </a:solidFill>
          <a:ln/>
        </p:spPr>
        <p:txBody>
          <a:bodyPr/>
          <a:lstStyle/>
          <a:p>
            <a:endParaRPr/>
          </a:p>
        </p:txBody>
      </p:sp>
      <p:sp>
        <p:nvSpPr>
          <p:cNvPr id="229" name="矩形 228"/>
          <p:cNvSpPr/>
          <p:nvPr/>
        </p:nvSpPr>
        <p:spPr>
          <a:xfrm>
            <a:off x="0" y="0"/>
            <a:ext cx="5334000" cy="6858000"/>
          </a:xfrm>
          <a:prstGeom prst="rect">
            <a:avLst/>
          </a:prstGeom>
          <a:solidFill>
            <a:srgbClr val="0E3F8C"/>
          </a:solidFill>
          <a:ln/>
        </p:spPr>
        <p:txBody>
          <a:bodyPr/>
          <a:lstStyle/>
          <a:p>
            <a:endParaRPr/>
          </a:p>
        </p:txBody>
      </p:sp>
      <p:sp>
        <p:nvSpPr>
          <p:cNvPr id="230" name="矩形: 圆角 229"/>
          <p:cNvSpPr/>
          <p:nvPr/>
        </p:nvSpPr>
        <p:spPr>
          <a:xfrm>
            <a:off x="4000500" y="-952500"/>
            <a:ext cx="2857500" cy="2857500"/>
          </a:xfrm>
          <a:prstGeom prst="roundRect">
            <a:avLst>
              <a:gd name="adj" fmla="val 50000"/>
            </a:avLst>
          </a:prstGeom>
          <a:solidFill>
            <a:srgbClr val="1E4FA8">
              <a:alpha val="18000"/>
            </a:srgbClr>
          </a:solidFill>
          <a:ln/>
        </p:spPr>
        <p:txBody>
          <a:bodyPr/>
          <a:lstStyle/>
          <a:p>
            <a:endParaRPr/>
          </a:p>
        </p:txBody>
      </p:sp>
      <p:sp>
        <p:nvSpPr>
          <p:cNvPr id="231" name="文本框 230" descr="{&quot;isTemplate&quot;:true,&quot;type&quot;:&quot;text&quot;}"/>
          <p:cNvSpPr txBox="1"/>
          <p:nvPr/>
        </p:nvSpPr>
        <p:spPr>
          <a:xfrm>
            <a:off x="685800" y="1143000"/>
            <a:ext cx="4095750" cy="2286000"/>
          </a:xfrm>
          <a:prstGeom prst="rect">
            <a:avLst/>
          </a:prstGeom>
        </p:spPr>
        <p:txBody>
          <a:bodyPr wrap="none" lIns="0" tIns="0" rIns="0" bIns="0"/>
          <a:lstStyle/>
          <a:p>
            <a:pPr>
              <a:lnSpc>
                <a:spcPct val="100000"/>
              </a:lnSpc>
            </a:pPr>
            <a:r>
              <a:rPr lang="en-US" sz="15000" b="1">
                <a:solidFill>
                  <a:srgbClr val="E8EFF8">
                    <a:alpha val="28000"/>
                  </a:srgbClr>
                </a:solidFill>
                <a:latin typeface="Microsoft YaHei"/>
                <a:ea typeface="Microsoft YaHei"/>
              </a:rPr>
              <a:t>01</a:t>
            </a:r>
            <a:endParaRPr/>
          </a:p>
        </p:txBody>
      </p:sp>
      <p:sp>
        <p:nvSpPr>
          <p:cNvPr id="232" name="矩形 231"/>
          <p:cNvSpPr/>
          <p:nvPr/>
        </p:nvSpPr>
        <p:spPr>
          <a:xfrm>
            <a:off x="685800" y="3429000"/>
            <a:ext cx="609600" cy="47625"/>
          </a:xfrm>
          <a:prstGeom prst="rect">
            <a:avLst/>
          </a:prstGeom>
          <a:solidFill>
            <a:srgbClr val="FFC107"/>
          </a:solidFill>
          <a:ln/>
        </p:spPr>
        <p:txBody>
          <a:bodyPr/>
          <a:lstStyle/>
          <a:p>
            <a:endParaRPr/>
          </a:p>
        </p:txBody>
      </p:sp>
      <p:sp>
        <p:nvSpPr>
          <p:cNvPr id="233" name="文本框 232" descr="{&quot;isTemplate&quot;:true,&quot;type&quot;:&quot;text&quot;}"/>
          <p:cNvSpPr txBox="1"/>
          <p:nvPr/>
        </p:nvSpPr>
        <p:spPr>
          <a:xfrm>
            <a:off x="685800" y="3762375"/>
            <a:ext cx="4095750" cy="552450"/>
          </a:xfrm>
          <a:prstGeom prst="rect">
            <a:avLst/>
          </a:prstGeom>
        </p:spPr>
        <p:txBody>
          <a:bodyPr wrap="none" lIns="0" tIns="0" rIns="0" bIns="0"/>
          <a:lstStyle/>
          <a:p>
            <a:pPr>
              <a:lnSpc>
                <a:spcPct val="100000"/>
              </a:lnSpc>
            </a:pPr>
            <a:r>
              <a:rPr lang="zh-CN" sz="3600" b="1">
                <a:solidFill>
                  <a:srgbClr val="FFFFFF"/>
                </a:solidFill>
                <a:latin typeface="Microsoft YaHei"/>
                <a:ea typeface="Microsoft YaHei"/>
              </a:rPr>
              <a:t>走近明茨伯格</a:t>
            </a:r>
            <a:endParaRPr/>
          </a:p>
        </p:txBody>
      </p:sp>
      <p:sp>
        <p:nvSpPr>
          <p:cNvPr id="234" name="文本框 233" descr="{&quot;isTemplate&quot;:true,&quot;type&quot;:&quot;text&quot;}"/>
          <p:cNvSpPr txBox="1"/>
          <p:nvPr/>
        </p:nvSpPr>
        <p:spPr>
          <a:xfrm>
            <a:off x="685800" y="4505325"/>
            <a:ext cx="4095750" cy="704850"/>
          </a:xfrm>
          <a:prstGeom prst="rect">
            <a:avLst/>
          </a:prstGeom>
        </p:spPr>
        <p:txBody>
          <a:bodyPr wrap="square" lIns="0" tIns="0" rIns="0" bIns="0">
            <a:normAutofit/>
          </a:bodyPr>
          <a:lstStyle/>
          <a:p>
            <a:pPr>
              <a:lnSpc>
                <a:spcPct val="170000"/>
              </a:lnSpc>
            </a:pPr>
            <a:r>
              <a:rPr lang="zh-CN" sz="1350">
                <a:solidFill>
                  <a:srgbClr val="B9CCEC"/>
                </a:solidFill>
                <a:latin typeface="Microsoft YaHei"/>
                <a:ea typeface="Microsoft YaHei"/>
              </a:rPr>
              <a:t>在拆解</a:t>
            </a:r>
            <a:r>
              <a:rPr lang="en-US" sz="1350">
                <a:solidFill>
                  <a:srgbClr val="B9CCEC"/>
                </a:solidFill>
                <a:latin typeface="Microsoft YaHei"/>
                <a:ea typeface="Microsoft YaHei"/>
              </a:rPr>
              <a:t> 5P </a:t>
            </a:r>
            <a:r>
              <a:rPr lang="zh-CN" sz="1350">
                <a:solidFill>
                  <a:srgbClr val="B9CCEC"/>
                </a:solidFill>
                <a:latin typeface="Microsoft YaHei"/>
                <a:ea typeface="Microsoft YaHei"/>
              </a:rPr>
              <a:t>之前，先回答两个问题：</a:t>
            </a:r>
            <a:r>
              <a:rPr lang="en-US" sz="1350">
                <a:solidFill>
                  <a:srgbClr val="B9CCEC"/>
                </a:solidFill>
                <a:latin typeface="Microsoft YaHei"/>
                <a:ea typeface="Microsoft YaHei"/>
              </a:rPr>
              <a:t> </a:t>
            </a:r>
            <a:r>
              <a:rPr lang="zh-CN" sz="1350">
                <a:solidFill>
                  <a:srgbClr val="B9CCEC"/>
                </a:solidFill>
                <a:latin typeface="Microsoft YaHei"/>
                <a:ea typeface="Microsoft YaHei"/>
              </a:rPr>
              <a:t>这套定义出自谁之手？它针对的是</a:t>
            </a:r>
            <a:r>
              <a:rPr lang="en-US" sz="1350">
                <a:solidFill>
                  <a:srgbClr val="B9CCEC"/>
                </a:solidFill>
                <a:latin typeface="Microsoft YaHei"/>
                <a:ea typeface="Microsoft YaHei"/>
              </a:rPr>
              <a:t> </a:t>
            </a:r>
            <a:r>
              <a:rPr lang="zh-CN" sz="1350">
                <a:solidFill>
                  <a:srgbClr val="B9CCEC"/>
                </a:solidFill>
                <a:latin typeface="Microsoft YaHei"/>
                <a:ea typeface="Microsoft YaHei"/>
              </a:rPr>
              <a:t>怎样的时代与理论背景？</a:t>
            </a:r>
            <a:endParaRPr/>
          </a:p>
        </p:txBody>
      </p:sp>
      <p:sp>
        <p:nvSpPr>
          <p:cNvPr id="235" name="矩形: 圆角 234"/>
          <p:cNvSpPr/>
          <p:nvPr/>
        </p:nvSpPr>
        <p:spPr>
          <a:xfrm>
            <a:off x="6096000" y="1905000"/>
            <a:ext cx="5334000" cy="876300"/>
          </a:xfrm>
          <a:prstGeom prst="roundRect">
            <a:avLst>
              <a:gd name="adj" fmla="val 8696"/>
            </a:avLst>
          </a:prstGeom>
          <a:solidFill>
            <a:srgbClr val="FFFFFF"/>
          </a:solidFill>
          <a:ln w="12700">
            <a:solidFill>
              <a:srgbClr val="D6DCE5"/>
            </a:solidFill>
            <a:prstDash val="solid"/>
          </a:ln>
        </p:spPr>
        <p:txBody>
          <a:bodyPr/>
          <a:lstStyle/>
          <a:p>
            <a:endParaRPr/>
          </a:p>
        </p:txBody>
      </p:sp>
      <p:pic>
        <p:nvPicPr>
          <p:cNvPr id="236" name="图形 23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43650" y="2181225"/>
            <a:ext cx="323850" cy="323850"/>
          </a:xfrm>
          <a:prstGeom prst="rect">
            <a:avLst/>
          </a:prstGeom>
          <a:ln/>
        </p:spPr>
      </p:pic>
      <p:sp>
        <p:nvSpPr>
          <p:cNvPr id="237" name="文本框 236" descr="{&quot;isTemplate&quot;:true,&quot;type&quot;:&quot;text&quot;}"/>
          <p:cNvSpPr txBox="1"/>
          <p:nvPr/>
        </p:nvSpPr>
        <p:spPr>
          <a:xfrm>
            <a:off x="6829425" y="2114550"/>
            <a:ext cx="4352925" cy="457200"/>
          </a:xfrm>
          <a:prstGeom prst="rect">
            <a:avLst/>
          </a:prstGeom>
        </p:spPr>
        <p:txBody>
          <a:bodyPr wrap="square" lIns="0" tIns="0" rIns="0" bIns="0">
            <a:normAutofit/>
          </a:bodyPr>
          <a:lstStyle/>
          <a:p>
            <a:pPr>
              <a:lnSpc>
                <a:spcPct val="100000"/>
              </a:lnSpc>
            </a:pPr>
            <a:r>
              <a:rPr lang="zh-CN" sz="1500" b="1">
                <a:solidFill>
                  <a:srgbClr val="0E3F8C"/>
                </a:solidFill>
                <a:latin typeface="Microsoft YaHei"/>
                <a:ea typeface="Microsoft YaHei"/>
              </a:rPr>
              <a:t>人物</a:t>
            </a:r>
            <a:r>
              <a:rPr lang="zh-CN" sz="1500">
                <a:solidFill>
                  <a:srgbClr val="1A2230"/>
                </a:solidFill>
                <a:latin typeface="Microsoft YaHei"/>
                <a:ea typeface="Microsoft YaHei"/>
              </a:rPr>
              <a:t>：亨利·明茨伯格——当代最具影响力的管理思想家之一</a:t>
            </a:r>
            <a:endParaRPr/>
          </a:p>
        </p:txBody>
      </p:sp>
      <p:sp>
        <p:nvSpPr>
          <p:cNvPr id="238" name="矩形: 圆角 237"/>
          <p:cNvSpPr/>
          <p:nvPr/>
        </p:nvSpPr>
        <p:spPr>
          <a:xfrm>
            <a:off x="6096000" y="3067050"/>
            <a:ext cx="5334000" cy="742950"/>
          </a:xfrm>
          <a:prstGeom prst="roundRect">
            <a:avLst>
              <a:gd name="adj" fmla="val 10256"/>
            </a:avLst>
          </a:prstGeom>
          <a:solidFill>
            <a:srgbClr val="FFFFFF"/>
          </a:solidFill>
          <a:ln w="12700">
            <a:solidFill>
              <a:srgbClr val="D6DCE5"/>
            </a:solidFill>
            <a:prstDash val="solid"/>
          </a:ln>
        </p:spPr>
        <p:txBody>
          <a:bodyPr/>
          <a:lstStyle/>
          <a:p>
            <a:endParaRPr/>
          </a:p>
        </p:txBody>
      </p:sp>
      <p:pic>
        <p:nvPicPr>
          <p:cNvPr id="239" name="图形 23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43650" y="3276600"/>
            <a:ext cx="323850" cy="323850"/>
          </a:xfrm>
          <a:prstGeom prst="rect">
            <a:avLst/>
          </a:prstGeom>
          <a:ln/>
        </p:spPr>
      </p:pic>
      <p:sp>
        <p:nvSpPr>
          <p:cNvPr id="240" name="文本框 239" descr="{&quot;isTemplate&quot;:true,&quot;type&quot;:&quot;text&quot;}"/>
          <p:cNvSpPr txBox="1"/>
          <p:nvPr/>
        </p:nvSpPr>
        <p:spPr>
          <a:xfrm>
            <a:off x="6838950" y="3324225"/>
            <a:ext cx="4343400" cy="228600"/>
          </a:xfrm>
          <a:prstGeom prst="rect">
            <a:avLst/>
          </a:prstGeom>
        </p:spPr>
        <p:txBody>
          <a:bodyPr wrap="none" lIns="0" tIns="0" rIns="0" bIns="0"/>
          <a:lstStyle/>
          <a:p>
            <a:pPr>
              <a:lnSpc>
                <a:spcPct val="100000"/>
              </a:lnSpc>
            </a:pPr>
            <a:r>
              <a:rPr lang="zh-CN" sz="1500" b="1">
                <a:solidFill>
                  <a:srgbClr val="0E3F8C"/>
                </a:solidFill>
                <a:latin typeface="Microsoft YaHei"/>
                <a:ea typeface="Microsoft YaHei"/>
              </a:rPr>
              <a:t>文献</a:t>
            </a:r>
            <a:r>
              <a:rPr lang="zh-CN" sz="1500">
                <a:solidFill>
                  <a:srgbClr val="1A2230"/>
                </a:solidFill>
                <a:latin typeface="Microsoft YaHei"/>
                <a:ea typeface="Microsoft YaHei"/>
              </a:rPr>
              <a:t>：</a:t>
            </a:r>
            <a:r>
              <a:rPr lang="en-US" sz="1500">
                <a:solidFill>
                  <a:srgbClr val="1A2230"/>
                </a:solidFill>
                <a:latin typeface="Microsoft YaHei"/>
                <a:ea typeface="Microsoft YaHei"/>
              </a:rPr>
              <a:t>1987 </a:t>
            </a:r>
            <a:r>
              <a:rPr lang="zh-CN" sz="1500">
                <a:solidFill>
                  <a:srgbClr val="1A2230"/>
                </a:solidFill>
                <a:latin typeface="Microsoft YaHei"/>
                <a:ea typeface="Microsoft YaHei"/>
              </a:rPr>
              <a:t>年《加州管理评论》</a:t>
            </a:r>
            <a:r>
              <a:rPr lang="en-US" sz="1500">
                <a:solidFill>
                  <a:srgbClr val="1A2230"/>
                </a:solidFill>
                <a:latin typeface="Microsoft YaHei"/>
                <a:ea typeface="Microsoft YaHei"/>
              </a:rPr>
              <a:t>Five Ps for Strategy</a:t>
            </a:r>
            <a:endParaRPr/>
          </a:p>
        </p:txBody>
      </p:sp>
      <p:sp>
        <p:nvSpPr>
          <p:cNvPr id="241" name="矩形: 圆角 240"/>
          <p:cNvSpPr/>
          <p:nvPr/>
        </p:nvSpPr>
        <p:spPr>
          <a:xfrm>
            <a:off x="6096000" y="4095750"/>
            <a:ext cx="5334000" cy="742950"/>
          </a:xfrm>
          <a:prstGeom prst="roundRect">
            <a:avLst>
              <a:gd name="adj" fmla="val 10256"/>
            </a:avLst>
          </a:prstGeom>
          <a:solidFill>
            <a:srgbClr val="FFFFFF"/>
          </a:solidFill>
          <a:ln w="12700">
            <a:solidFill>
              <a:srgbClr val="D6DCE5"/>
            </a:solidFill>
            <a:prstDash val="solid"/>
          </a:ln>
        </p:spPr>
        <p:txBody>
          <a:bodyPr/>
          <a:lstStyle/>
          <a:p>
            <a:endParaRPr/>
          </a:p>
        </p:txBody>
      </p:sp>
      <p:pic>
        <p:nvPicPr>
          <p:cNvPr id="242" name="图形 24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43650" y="4305300"/>
            <a:ext cx="323850" cy="323850"/>
          </a:xfrm>
          <a:prstGeom prst="rect">
            <a:avLst/>
          </a:prstGeom>
          <a:ln/>
        </p:spPr>
      </p:pic>
      <p:sp>
        <p:nvSpPr>
          <p:cNvPr id="243" name="文本框 242" descr="{&quot;isTemplate&quot;:true,&quot;type&quot;:&quot;text&quot;}"/>
          <p:cNvSpPr txBox="1"/>
          <p:nvPr/>
        </p:nvSpPr>
        <p:spPr>
          <a:xfrm>
            <a:off x="6858000" y="4352925"/>
            <a:ext cx="4324350" cy="228600"/>
          </a:xfrm>
          <a:prstGeom prst="rect">
            <a:avLst/>
          </a:prstGeom>
        </p:spPr>
        <p:txBody>
          <a:bodyPr wrap="none" lIns="0" tIns="0" rIns="0" bIns="0"/>
          <a:lstStyle/>
          <a:p>
            <a:pPr>
              <a:lnSpc>
                <a:spcPct val="100000"/>
              </a:lnSpc>
            </a:pPr>
            <a:r>
              <a:rPr lang="zh-CN" sz="1500" b="1">
                <a:solidFill>
                  <a:srgbClr val="0E3F8C"/>
                </a:solidFill>
                <a:latin typeface="Microsoft YaHei"/>
                <a:ea typeface="Microsoft YaHei"/>
              </a:rPr>
              <a:t>动因</a:t>
            </a:r>
            <a:r>
              <a:rPr lang="zh-CN" sz="1500">
                <a:solidFill>
                  <a:srgbClr val="1A2230"/>
                </a:solidFill>
                <a:latin typeface="Microsoft YaHei"/>
                <a:ea typeface="Microsoft YaHei"/>
              </a:rPr>
              <a:t>：单一的“计划”定义无法解释真实的战略世界</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7F9FC', position: 'relative', padding: 0 }}&gt;&#10;    &lt;Box style={{ position: 'absolute', top: 0, left: 0, width: 1280, height: 72, background: '#1E4FA8', flexDirection: 'row', alignItems: 'center', justifyContent: 'space-between', paddingLeft: 40, paddingRight: 40 }}&gt;&#10;        &lt;Text style={{ fontSize: 15, color: '#FFFFFF', letterSpacing: 3 }}&gt;战略管理 · STRATEGIC MANAGEMENT&lt;/Text&gt;&#10;        &lt;Text style={{ fontSize: 15, color: '#E8EFF8' }}&gt;01 走近明茨伯格&lt;/Text&gt;&#10;    &lt;/Box&gt;&#10;    &lt;Box style={{ position: 'absolute', bottom: 0, left: 0, width: 1280, height: 44, background: '#FFFFFF', flexDirection: 'row', alignItems: 'center', justifyContent: 'space-between', paddingLeft: 40, paddingRight: 40, borderTop: '1px solid #E5E7EB' }}&gt;&#10;        &lt;Text style={{ fontSize: 14, color: '#8B97A8' }}&gt;《战略管理》教学课件 · 明茨伯格 5P 理论&lt;/Text&gt;&#10;        &lt;Text style={{ fontSize: 15, color: '#0E3F8C', fontWeight: 'bold' }}&gt;04 / 16&lt;/Text&gt;&#10;    &lt;/Box&gt;&#10;    &lt;Box style={{ position: 'absolute', top: 72, left: 0, width: 1280, height: 604, flexDirection: 'row', padding: '36px 40px 20px 40px', gap: 32 }}&gt;&#10;        &lt;Box style={{ width: 340, background: '#0E3F8C', borderRadius: 10, flexDirection: 'column', padding: 32, justifyContent: 'space-between' }}&gt;&#10;            &lt;Box style={{ flexDirection: 'column' }}&gt;&#10;                &lt;Text style={{ fontSize: 16, color: '#8FB3E8', letterSpacing: 4, marginBottom: 14 }}&gt;WHO &amp;amp; WHERE&lt;/Text&gt;&#10;                &lt;Text style={{ fontSize: 34, fontWeight: 'bold', color: '#FFFFFF', lineHeight: 1.4, marginBottom: 20 }}&gt;亨利·明茨伯格&lt;br /&gt;与那篇论文&lt;/Text&gt;&#10;                &lt;Box style={{ width: 44, height: 4, background: '#FFC107', marginBottom: 24 }} /&gt;&#10;                &lt;Text style={{ fontSize: 17, color: '#E8EFF8', lineHeight: 1.7 }}&gt;&#10;                    管理角色理论、战略涌现思想的奠基人，长期任教于加拿大麦吉尔大学（McGill University）管理学院。&#10;                &lt;/Text&gt;&#10;            &lt;/Box&gt;&#10;            &lt;Box style={{ flexDirection: 'column', background: 'rgba(232,239,248,0.12)', borderRadius: 8, padding: 18 }}&gt;&#10;                &lt;Text style={{ fontSize: 15, color: '#FFC107', marginBottom: 6 }}&gt;课堂提醒&lt;/Text&gt;&#10;                &lt;Text style={{ fontSize: 15, color: '#E8EFF8', lineHeight: 1.6 }}&gt;引用 5P 理论时，请回到 1987 年原始论文，而不是二手转述。&lt;/Text&gt;&#10;            &lt;/Box&gt;&#10;        &lt;/Box&gt;&#10;        &lt;Box style={{ flex: 1, flexDirection: 'column', gap: 20 }}&gt;&#10;            &lt;Box style={{ background: '#FFFFFF', border: '1px solid #D6DCE5', borderRadius: 10, padding: '24px 28px', flexDirection: 'column' }}&gt;&#10;                &lt;Box style={{ flexDirection: 'row', alignItems: 'center', gap: 14, marginBottom: 10 }}&gt;&#10;                    &lt;Box style={{ width: 44, height: 44, borderRadius: 22, background: '#E8EFF8', justifyContent: 'center', alignItems: 'center' }}&gt;&#10;                        &lt;FAIcon name='university' style={{ fill: '#1E4FA8', width: 24, height: 24 }} /&gt;&#10;                    &lt;/Box&gt;&#10;                    &lt;Text style={{ fontSize: 24, fontWeight: 'bold', color: '#0E3F8C' }}&gt;学术坐标&lt;/Text&gt;&#10;                &lt;/Box&gt;&#10;                &lt;Text style={{ fontSize: 18, color: '#4A5568', lineHeight: 1.7 }}&gt;&#10;                    明茨伯格是&lt;span style={{ fontWeight: 'bold', color: '#1A2230' }}&gt;管理过程学派&lt;/span&gt;的批判性继承者：他既观察管理者实际怎么做（管理角色理论），也质疑“战略靠正式规划产生”的流行观念，主张从&lt;span style={{ color: '#1E4FA8', fontWeight: 'bold' }}&gt;现实组织行为&lt;/span&gt;出发重新定义战略。&#10;                &lt;/Text&gt;&#10;            &lt;/Box&gt;&#10;            &lt;Box style={{ background: '#FFFFFF', border: '1px solid #D6DCE5', borderRadius: 10, padding: '24px 28px', flexDirection: 'column' }}&gt;&#10;                &lt;Box style={{ flexDirection: 'row', alignItems: 'center', gap: 14, marginBottom: 10 }}&gt;&#10;                    &lt;Box style={{ width: 44, height: 44, borderRadius: 22, background: '#E8EFF8', justifyContent: 'center', alignItems: 'center' }}&gt;&#10;                        &lt;FAIcon name='book' style={{ fill: '#1E4FA8', width: 24, height: 24 }} /&gt;&#10;                    &lt;/Box&gt;&#10;                    &lt;Text style={{ fontSize: 24, fontWeight: 'bold', color: '#0E3F8C' }}&gt;原始文献&lt;/Text&gt;&#10;                &lt;/Box&gt;&#10;                &lt;Text style={{ fontSize: 18, color: '#4A5568', lineHeight: 1.7 }}&gt;&#10;                    Mintzberg, H. (1987). The Strategy Concept I: Five Ps for Strategy.&#10;                    &lt;span style={{ fontStyle: 'italic' }}&gt; California Management Review&lt;/span&gt;, 30(1), 11–24.&#10;                &lt;/Text&gt;&#10;            &lt;/Box&gt;&#10;            &lt;Box style={{ background: '#E8EFF8', borderRadius: 10, padding: '22px 28px', flexDirection: 'column' }}&gt;&#10;                &lt;Box style={{ flexDirection: 'row', alignItems: 'center', gap: 14, marginBottom: 8 }}&gt;&#10;                    &lt;FAIcon name='lightbulb' style={{ fill: '#1E4FA8', width: 26, height: 26 }} /&gt;&#10;                    &lt;Text style={{ fontSize: 22, fontWeight: 'bold', color: '#0E3F8C' }}&gt;一个词的五种含义，一次对“单一定义”的纠偏&lt;/Text&gt;&#10;                &lt;/Box&gt;&#10;                &lt;Text style={{ fontSize: 18, color: '#4A5568', lineHeight: 1.7 }}&gt;&#10;                    论文核心主张：战略（Strategy）一词在日常与学术语言中至少承担五种用法——把五种用法都看清，才算真正理解战略。&#10;                &lt;/Text&gt;&#10;            &lt;/Box&gt;&#10;        &lt;/Box&gt;&#10;    &lt;/Box&gt;&#10;&lt;/Slide&gt;"/>
        <p:cNvGrpSpPr/>
        <p:nvPr/>
      </p:nvGrpSpPr>
      <p:grpSpPr>
        <a:xfrm>
          <a:off x="0" y="0"/>
          <a:ext cx="0" cy="0"/>
          <a:chOff x="0" y="0"/>
          <a:chExt cx="0" cy="0"/>
        </a:xfrm>
      </p:grpSpPr>
      <p:sp>
        <p:nvSpPr>
          <p:cNvPr id="245" name="矩形 244"/>
          <p:cNvSpPr/>
          <p:nvPr/>
        </p:nvSpPr>
        <p:spPr>
          <a:xfrm>
            <a:off x="0" y="0"/>
            <a:ext cx="12192000" cy="6858000"/>
          </a:xfrm>
          <a:prstGeom prst="rect">
            <a:avLst/>
          </a:prstGeom>
          <a:solidFill>
            <a:srgbClr val="F7F9FC"/>
          </a:solidFill>
          <a:ln/>
        </p:spPr>
        <p:txBody>
          <a:bodyPr/>
          <a:lstStyle/>
          <a:p>
            <a:endParaRPr/>
          </a:p>
        </p:txBody>
      </p:sp>
      <p:sp>
        <p:nvSpPr>
          <p:cNvPr id="246" name="矩形 245"/>
          <p:cNvSpPr/>
          <p:nvPr/>
        </p:nvSpPr>
        <p:spPr>
          <a:xfrm>
            <a:off x="0" y="0"/>
            <a:ext cx="12192000" cy="685800"/>
          </a:xfrm>
          <a:prstGeom prst="rect">
            <a:avLst/>
          </a:prstGeom>
          <a:solidFill>
            <a:srgbClr val="1E4FA8"/>
          </a:solidFill>
          <a:ln/>
        </p:spPr>
        <p:txBody>
          <a:bodyPr/>
          <a:lstStyle/>
          <a:p>
            <a:endParaRPr/>
          </a:p>
        </p:txBody>
      </p:sp>
      <p:sp>
        <p:nvSpPr>
          <p:cNvPr id="247" name="文本框 246"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FFFFFF"/>
                </a:solidFill>
                <a:latin typeface="Microsoft YaHei"/>
                <a:ea typeface="Microsoft YaHei"/>
              </a:rPr>
              <a:t>战略管理</a:t>
            </a:r>
            <a:r>
              <a:rPr lang="en-US" sz="1125" spc="225">
                <a:solidFill>
                  <a:srgbClr val="FFFFFF"/>
                </a:solidFill>
                <a:latin typeface="Microsoft YaHei"/>
                <a:ea typeface="Microsoft YaHei"/>
              </a:rPr>
              <a:t> · STRATEGIC MANAGEMENT</a:t>
            </a:r>
            <a:endParaRPr/>
          </a:p>
        </p:txBody>
      </p:sp>
      <p:sp>
        <p:nvSpPr>
          <p:cNvPr id="248" name="文本框 247" descr="{&quot;isTemplate&quot;:true,&quot;type&quot;:&quot;text&quot;}"/>
          <p:cNvSpPr txBox="1"/>
          <p:nvPr/>
        </p:nvSpPr>
        <p:spPr>
          <a:xfrm>
            <a:off x="10734675" y="257175"/>
            <a:ext cx="1076325" cy="171450"/>
          </a:xfrm>
          <a:prstGeom prst="rect">
            <a:avLst/>
          </a:prstGeom>
        </p:spPr>
        <p:txBody>
          <a:bodyPr wrap="none" lIns="0" tIns="0" rIns="0" bIns="0"/>
          <a:lstStyle/>
          <a:p>
            <a:pPr>
              <a:lnSpc>
                <a:spcPct val="100000"/>
              </a:lnSpc>
            </a:pPr>
            <a:r>
              <a:rPr lang="en-US" sz="1125">
                <a:solidFill>
                  <a:srgbClr val="E8EFF8"/>
                </a:solidFill>
                <a:latin typeface="Microsoft YaHei"/>
                <a:ea typeface="Microsoft YaHei"/>
              </a:rPr>
              <a:t>01 </a:t>
            </a:r>
            <a:r>
              <a:rPr lang="zh-CN" sz="1125">
                <a:solidFill>
                  <a:srgbClr val="E8EFF8"/>
                </a:solidFill>
                <a:latin typeface="Microsoft YaHei"/>
                <a:ea typeface="Microsoft YaHei"/>
              </a:rPr>
              <a:t>走近明茨伯格</a:t>
            </a:r>
            <a:endParaRPr/>
          </a:p>
        </p:txBody>
      </p:sp>
      <p:sp>
        <p:nvSpPr>
          <p:cNvPr id="249" name="矩形 248"/>
          <p:cNvSpPr/>
          <p:nvPr/>
        </p:nvSpPr>
        <p:spPr>
          <a:xfrm>
            <a:off x="0" y="6448425"/>
            <a:ext cx="12192000" cy="409575"/>
          </a:xfrm>
          <a:prstGeom prst="rect">
            <a:avLst/>
          </a:prstGeom>
          <a:solidFill>
            <a:srgbClr val="FFFFFF"/>
          </a:solidFill>
          <a:ln/>
        </p:spPr>
        <p:txBody>
          <a:bodyPr/>
          <a:lstStyle/>
          <a:p>
            <a:endParaRPr/>
          </a:p>
        </p:txBody>
      </p:sp>
      <p:sp>
        <p:nvSpPr>
          <p:cNvPr id="250" name="任意多边形: 形状 249"/>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E5E7EB"/>
          </a:solidFill>
          <a:ln/>
        </p:spPr>
        <p:txBody>
          <a:bodyPr/>
          <a:lstStyle/>
          <a:p>
            <a:endParaRPr/>
          </a:p>
        </p:txBody>
      </p:sp>
      <p:sp>
        <p:nvSpPr>
          <p:cNvPr id="251" name="文本框 250" descr="{&quot;isTemplate&quot;:true,&quot;type&quot;:&quot;text&quot;}"/>
          <p:cNvSpPr txBox="1"/>
          <p:nvPr/>
        </p:nvSpPr>
        <p:spPr>
          <a:xfrm>
            <a:off x="381000" y="6572250"/>
            <a:ext cx="2486025"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《战略管理》教学课件</a:t>
            </a:r>
            <a:r>
              <a:rPr lang="en-US" sz="1050">
                <a:solidFill>
                  <a:srgbClr val="8B97A8"/>
                </a:solidFill>
                <a:latin typeface="Microsoft YaHei"/>
                <a:ea typeface="Microsoft YaHei"/>
              </a:rPr>
              <a:t> · </a:t>
            </a:r>
            <a:r>
              <a:rPr lang="zh-CN" sz="1050">
                <a:solidFill>
                  <a:srgbClr val="8B97A8"/>
                </a:solidFill>
                <a:latin typeface="Microsoft YaHei"/>
                <a:ea typeface="Microsoft YaHei"/>
              </a:rPr>
              <a:t>明茨伯格</a:t>
            </a:r>
            <a:r>
              <a:rPr lang="en-US" sz="1050">
                <a:solidFill>
                  <a:srgbClr val="8B97A8"/>
                </a:solidFill>
                <a:latin typeface="Microsoft YaHei"/>
                <a:ea typeface="Microsoft YaHei"/>
              </a:rPr>
              <a:t> 5P </a:t>
            </a:r>
            <a:r>
              <a:rPr lang="zh-CN" sz="1050">
                <a:solidFill>
                  <a:srgbClr val="8B97A8"/>
                </a:solidFill>
                <a:latin typeface="Microsoft YaHei"/>
                <a:ea typeface="Microsoft YaHei"/>
              </a:rPr>
              <a:t>理论</a:t>
            </a:r>
            <a:endParaRPr/>
          </a:p>
        </p:txBody>
      </p:sp>
      <p:sp>
        <p:nvSpPr>
          <p:cNvPr id="252" name="文本框 251" descr="{&quot;isTemplate&quot;:true,&quot;type&quot;:&quot;text&quot;}"/>
          <p:cNvSpPr txBox="1"/>
          <p:nvPr/>
        </p:nvSpPr>
        <p:spPr>
          <a:xfrm>
            <a:off x="11296650" y="6572250"/>
            <a:ext cx="514350" cy="171450"/>
          </a:xfrm>
          <a:prstGeom prst="rect">
            <a:avLst/>
          </a:prstGeom>
        </p:spPr>
        <p:txBody>
          <a:bodyPr wrap="none" lIns="0" tIns="0" rIns="0" bIns="0"/>
          <a:lstStyle/>
          <a:p>
            <a:pPr>
              <a:lnSpc>
                <a:spcPct val="100000"/>
              </a:lnSpc>
            </a:pPr>
            <a:r>
              <a:rPr lang="en-US" sz="1125" b="1">
                <a:solidFill>
                  <a:srgbClr val="0E3F8C"/>
                </a:solidFill>
                <a:latin typeface="Microsoft YaHei"/>
                <a:ea typeface="Microsoft YaHei"/>
              </a:rPr>
              <a:t>04 / 16</a:t>
            </a:r>
            <a:endParaRPr/>
          </a:p>
        </p:txBody>
      </p:sp>
      <p:sp>
        <p:nvSpPr>
          <p:cNvPr id="253" name="矩形: 圆角 252"/>
          <p:cNvSpPr/>
          <p:nvPr/>
        </p:nvSpPr>
        <p:spPr>
          <a:xfrm>
            <a:off x="381000" y="1028700"/>
            <a:ext cx="3238500" cy="5219700"/>
          </a:xfrm>
          <a:prstGeom prst="roundRect">
            <a:avLst>
              <a:gd name="adj" fmla="val 2941"/>
            </a:avLst>
          </a:prstGeom>
          <a:solidFill>
            <a:srgbClr val="0E3F8C"/>
          </a:solidFill>
          <a:ln/>
        </p:spPr>
        <p:txBody>
          <a:bodyPr/>
          <a:lstStyle/>
          <a:p>
            <a:endParaRPr/>
          </a:p>
        </p:txBody>
      </p:sp>
      <p:sp>
        <p:nvSpPr>
          <p:cNvPr id="254" name="文本框 253" descr="{&quot;isTemplate&quot;:true,&quot;type&quot;:&quot;text&quot;}"/>
          <p:cNvSpPr txBox="1"/>
          <p:nvPr/>
        </p:nvSpPr>
        <p:spPr>
          <a:xfrm>
            <a:off x="685800" y="1333500"/>
            <a:ext cx="2628900" cy="190500"/>
          </a:xfrm>
          <a:prstGeom prst="rect">
            <a:avLst/>
          </a:prstGeom>
        </p:spPr>
        <p:txBody>
          <a:bodyPr wrap="none" lIns="0" tIns="0" rIns="0" bIns="0"/>
          <a:lstStyle/>
          <a:p>
            <a:pPr>
              <a:lnSpc>
                <a:spcPct val="100000"/>
              </a:lnSpc>
            </a:pPr>
            <a:r>
              <a:rPr lang="en-US" sz="1200" spc="300">
                <a:solidFill>
                  <a:srgbClr val="8FB3E8"/>
                </a:solidFill>
                <a:latin typeface="Microsoft YaHei"/>
                <a:ea typeface="Microsoft YaHei"/>
              </a:rPr>
              <a:t>WHO &amp; WHERE</a:t>
            </a:r>
            <a:endParaRPr/>
          </a:p>
        </p:txBody>
      </p:sp>
      <p:sp>
        <p:nvSpPr>
          <p:cNvPr id="255" name="文本框 254" descr="{&quot;isTemplate&quot;:true,&quot;type&quot;:&quot;text&quot;}"/>
          <p:cNvSpPr txBox="1"/>
          <p:nvPr/>
        </p:nvSpPr>
        <p:spPr>
          <a:xfrm>
            <a:off x="685800" y="1657350"/>
            <a:ext cx="2628900" cy="1095375"/>
          </a:xfrm>
          <a:prstGeom prst="rect">
            <a:avLst/>
          </a:prstGeom>
        </p:spPr>
        <p:txBody>
          <a:bodyPr wrap="none" lIns="0" tIns="0" rIns="0" bIns="0"/>
          <a:lstStyle/>
          <a:p>
            <a:pPr>
              <a:lnSpc>
                <a:spcPct val="140000"/>
              </a:lnSpc>
            </a:pPr>
            <a:r>
              <a:rPr lang="zh-CN" sz="2550" b="1">
                <a:solidFill>
                  <a:srgbClr val="FFFFFF"/>
                </a:solidFill>
                <a:latin typeface="Microsoft YaHei"/>
                <a:ea typeface="Microsoft YaHei"/>
              </a:rPr>
              <a:t>亨利·明茨伯格</a:t>
            </a:r>
            <a:endParaRPr/>
          </a:p>
          <a:p>
            <a:pPr>
              <a:lnSpc>
                <a:spcPct val="140000"/>
              </a:lnSpc>
            </a:pPr>
            <a:r>
              <a:rPr lang="zh-CN" sz="2550" b="1">
                <a:solidFill>
                  <a:srgbClr val="FFFFFF"/>
                </a:solidFill>
                <a:latin typeface="Microsoft YaHei"/>
                <a:ea typeface="Microsoft YaHei"/>
              </a:rPr>
              <a:t>与那篇论文</a:t>
            </a:r>
            <a:endParaRPr/>
          </a:p>
        </p:txBody>
      </p:sp>
      <p:sp>
        <p:nvSpPr>
          <p:cNvPr id="256" name="矩形 255"/>
          <p:cNvSpPr/>
          <p:nvPr/>
        </p:nvSpPr>
        <p:spPr>
          <a:xfrm>
            <a:off x="685800" y="2943225"/>
            <a:ext cx="419100" cy="38100"/>
          </a:xfrm>
          <a:prstGeom prst="rect">
            <a:avLst/>
          </a:prstGeom>
          <a:solidFill>
            <a:srgbClr val="FFC107"/>
          </a:solidFill>
          <a:ln/>
        </p:spPr>
        <p:txBody>
          <a:bodyPr/>
          <a:lstStyle/>
          <a:p>
            <a:endParaRPr/>
          </a:p>
        </p:txBody>
      </p:sp>
      <p:sp>
        <p:nvSpPr>
          <p:cNvPr id="257" name="文本框 256" descr="{&quot;isTemplate&quot;:true,&quot;type&quot;:&quot;text&quot;}"/>
          <p:cNvSpPr txBox="1"/>
          <p:nvPr/>
        </p:nvSpPr>
        <p:spPr>
          <a:xfrm>
            <a:off x="685800" y="3209925"/>
            <a:ext cx="2628900" cy="1000125"/>
          </a:xfrm>
          <a:prstGeom prst="rect">
            <a:avLst/>
          </a:prstGeom>
        </p:spPr>
        <p:txBody>
          <a:bodyPr wrap="square" lIns="0" tIns="0" rIns="0" bIns="0">
            <a:normAutofit/>
          </a:bodyPr>
          <a:lstStyle/>
          <a:p>
            <a:pPr>
              <a:lnSpc>
                <a:spcPct val="170000"/>
              </a:lnSpc>
            </a:pPr>
            <a:r>
              <a:rPr lang="zh-CN" sz="1275">
                <a:solidFill>
                  <a:srgbClr val="E8EFF8"/>
                </a:solidFill>
                <a:latin typeface="Microsoft YaHei"/>
                <a:ea typeface="Microsoft YaHei"/>
              </a:rPr>
              <a:t>管理角色理论、战略涌现思想的奠基人，长期任教于加拿大麦吉尔大学（</a:t>
            </a:r>
            <a:r>
              <a:rPr lang="en-US" sz="1275">
                <a:solidFill>
                  <a:srgbClr val="E8EFF8"/>
                </a:solidFill>
                <a:latin typeface="Microsoft YaHei"/>
                <a:ea typeface="Microsoft YaHei"/>
              </a:rPr>
              <a:t>McGill University</a:t>
            </a:r>
            <a:r>
              <a:rPr lang="zh-CN" sz="1275">
                <a:solidFill>
                  <a:srgbClr val="E8EFF8"/>
                </a:solidFill>
                <a:latin typeface="Microsoft YaHei"/>
                <a:ea typeface="Microsoft YaHei"/>
              </a:rPr>
              <a:t>）管理学院。</a:t>
            </a:r>
            <a:endParaRPr/>
          </a:p>
        </p:txBody>
      </p:sp>
      <p:sp>
        <p:nvSpPr>
          <p:cNvPr id="261" name="矩形: 圆角 260"/>
          <p:cNvSpPr/>
          <p:nvPr/>
        </p:nvSpPr>
        <p:spPr>
          <a:xfrm>
            <a:off x="3924300" y="1028700"/>
            <a:ext cx="7886700" cy="1676400"/>
          </a:xfrm>
          <a:prstGeom prst="roundRect">
            <a:avLst>
              <a:gd name="adj" fmla="val 5682"/>
            </a:avLst>
          </a:prstGeom>
          <a:solidFill>
            <a:srgbClr val="FFFFFF"/>
          </a:solidFill>
          <a:ln w="12700">
            <a:solidFill>
              <a:srgbClr val="D6DCE5"/>
            </a:solidFill>
            <a:prstDash val="solid"/>
          </a:ln>
        </p:spPr>
        <p:txBody>
          <a:bodyPr/>
          <a:lstStyle/>
          <a:p>
            <a:endParaRPr/>
          </a:p>
        </p:txBody>
      </p:sp>
      <p:sp>
        <p:nvSpPr>
          <p:cNvPr id="262" name="矩形: 圆角 261"/>
          <p:cNvSpPr/>
          <p:nvPr/>
        </p:nvSpPr>
        <p:spPr>
          <a:xfrm>
            <a:off x="4191000" y="1257300"/>
            <a:ext cx="419100" cy="419100"/>
          </a:xfrm>
          <a:prstGeom prst="roundRect">
            <a:avLst>
              <a:gd name="adj" fmla="val 50000"/>
            </a:avLst>
          </a:prstGeom>
          <a:solidFill>
            <a:srgbClr val="E8EFF8"/>
          </a:solidFill>
          <a:ln/>
        </p:spPr>
        <p:txBody>
          <a:bodyPr/>
          <a:lstStyle/>
          <a:p>
            <a:endParaRPr/>
          </a:p>
        </p:txBody>
      </p:sp>
      <p:pic>
        <p:nvPicPr>
          <p:cNvPr id="263" name="图形 26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86250" y="1352550"/>
            <a:ext cx="228600" cy="228600"/>
          </a:xfrm>
          <a:prstGeom prst="rect">
            <a:avLst/>
          </a:prstGeom>
          <a:ln/>
        </p:spPr>
      </p:pic>
      <p:sp>
        <p:nvSpPr>
          <p:cNvPr id="264" name="文本框 263" descr="{&quot;isTemplate&quot;:true,&quot;type&quot;:&quot;text&quot;}"/>
          <p:cNvSpPr txBox="1"/>
          <p:nvPr/>
        </p:nvSpPr>
        <p:spPr>
          <a:xfrm>
            <a:off x="4743450" y="1333500"/>
            <a:ext cx="91440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学术坐标</a:t>
            </a:r>
            <a:endParaRPr/>
          </a:p>
        </p:txBody>
      </p:sp>
      <p:sp>
        <p:nvSpPr>
          <p:cNvPr id="265" name="文本框 264" descr="{&quot;isTemplate&quot;:true,&quot;type&quot;:&quot;text&quot;}"/>
          <p:cNvSpPr txBox="1"/>
          <p:nvPr/>
        </p:nvSpPr>
        <p:spPr>
          <a:xfrm>
            <a:off x="4191000" y="1771650"/>
            <a:ext cx="7353300" cy="704850"/>
          </a:xfrm>
          <a:prstGeom prst="rect">
            <a:avLst/>
          </a:prstGeom>
        </p:spPr>
        <p:txBody>
          <a:bodyPr wrap="square" lIns="0" tIns="0" rIns="0" bIns="0">
            <a:normAutofit/>
          </a:bodyPr>
          <a:lstStyle/>
          <a:p>
            <a:pPr>
              <a:lnSpc>
                <a:spcPct val="170000"/>
              </a:lnSpc>
            </a:pPr>
            <a:r>
              <a:rPr lang="zh-CN" sz="1350">
                <a:solidFill>
                  <a:srgbClr val="4A5568"/>
                </a:solidFill>
                <a:latin typeface="Microsoft YaHei"/>
                <a:ea typeface="Microsoft YaHei"/>
              </a:rPr>
              <a:t>明茨伯格是</a:t>
            </a:r>
            <a:r>
              <a:rPr lang="zh-CN" sz="1350" b="1">
                <a:solidFill>
                  <a:srgbClr val="1A2230"/>
                </a:solidFill>
                <a:latin typeface="Microsoft YaHei"/>
                <a:ea typeface="Microsoft YaHei"/>
              </a:rPr>
              <a:t>管理过程学派</a:t>
            </a:r>
            <a:r>
              <a:rPr lang="zh-CN" sz="1350">
                <a:solidFill>
                  <a:srgbClr val="4A5568"/>
                </a:solidFill>
                <a:latin typeface="Microsoft YaHei"/>
                <a:ea typeface="Microsoft YaHei"/>
              </a:rPr>
              <a:t>的批判性继承者：他既观察管理者实际怎么做（管理角色理论），也质疑“战略靠正式规划产生”的流行观念，主张从</a:t>
            </a:r>
            <a:r>
              <a:rPr lang="zh-CN" sz="1350" b="1">
                <a:solidFill>
                  <a:srgbClr val="1E4FA8"/>
                </a:solidFill>
                <a:latin typeface="Microsoft YaHei"/>
                <a:ea typeface="Microsoft YaHei"/>
              </a:rPr>
              <a:t>现实组织行为</a:t>
            </a:r>
            <a:r>
              <a:rPr lang="zh-CN" sz="1350">
                <a:solidFill>
                  <a:srgbClr val="4A5568"/>
                </a:solidFill>
                <a:latin typeface="Microsoft YaHei"/>
                <a:ea typeface="Microsoft YaHei"/>
              </a:rPr>
              <a:t>出发重新定义战略。</a:t>
            </a:r>
            <a:endParaRPr/>
          </a:p>
        </p:txBody>
      </p:sp>
      <p:sp>
        <p:nvSpPr>
          <p:cNvPr id="266" name="矩形: 圆角 265"/>
          <p:cNvSpPr/>
          <p:nvPr/>
        </p:nvSpPr>
        <p:spPr>
          <a:xfrm>
            <a:off x="3924300" y="2895600"/>
            <a:ext cx="7886700" cy="1676400"/>
          </a:xfrm>
          <a:prstGeom prst="roundRect">
            <a:avLst>
              <a:gd name="adj" fmla="val 5682"/>
            </a:avLst>
          </a:prstGeom>
          <a:solidFill>
            <a:srgbClr val="FFFFFF"/>
          </a:solidFill>
          <a:ln w="12700">
            <a:solidFill>
              <a:srgbClr val="D6DCE5"/>
            </a:solidFill>
            <a:prstDash val="solid"/>
          </a:ln>
        </p:spPr>
        <p:txBody>
          <a:bodyPr/>
          <a:lstStyle/>
          <a:p>
            <a:endParaRPr/>
          </a:p>
        </p:txBody>
      </p:sp>
      <p:sp>
        <p:nvSpPr>
          <p:cNvPr id="267" name="矩形: 圆角 266"/>
          <p:cNvSpPr/>
          <p:nvPr/>
        </p:nvSpPr>
        <p:spPr>
          <a:xfrm>
            <a:off x="4191000" y="3124200"/>
            <a:ext cx="419100" cy="419100"/>
          </a:xfrm>
          <a:prstGeom prst="roundRect">
            <a:avLst>
              <a:gd name="adj" fmla="val 50000"/>
            </a:avLst>
          </a:prstGeom>
          <a:solidFill>
            <a:srgbClr val="E8EFF8"/>
          </a:solidFill>
          <a:ln/>
        </p:spPr>
        <p:txBody>
          <a:bodyPr/>
          <a:lstStyle/>
          <a:p>
            <a:endParaRPr/>
          </a:p>
        </p:txBody>
      </p:sp>
      <p:pic>
        <p:nvPicPr>
          <p:cNvPr id="268" name="图形 267"/>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86250" y="3219450"/>
            <a:ext cx="228600" cy="228600"/>
          </a:xfrm>
          <a:prstGeom prst="rect">
            <a:avLst/>
          </a:prstGeom>
          <a:ln/>
        </p:spPr>
      </p:pic>
      <p:sp>
        <p:nvSpPr>
          <p:cNvPr id="269" name="文本框 268" descr="{&quot;isTemplate&quot;:true,&quot;type&quot;:&quot;text&quot;}"/>
          <p:cNvSpPr txBox="1"/>
          <p:nvPr/>
        </p:nvSpPr>
        <p:spPr>
          <a:xfrm>
            <a:off x="4743450" y="3200400"/>
            <a:ext cx="91440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原始文献</a:t>
            </a:r>
            <a:endParaRPr/>
          </a:p>
        </p:txBody>
      </p:sp>
      <p:sp>
        <p:nvSpPr>
          <p:cNvPr id="270" name="文本框 269" descr="{&quot;isTemplate&quot;:true,&quot;type&quot;:&quot;text&quot;}"/>
          <p:cNvSpPr txBox="1"/>
          <p:nvPr/>
        </p:nvSpPr>
        <p:spPr>
          <a:xfrm>
            <a:off x="4191000" y="3638550"/>
            <a:ext cx="7353300" cy="704850"/>
          </a:xfrm>
          <a:prstGeom prst="rect">
            <a:avLst/>
          </a:prstGeom>
        </p:spPr>
        <p:txBody>
          <a:bodyPr wrap="square" lIns="0" tIns="0" rIns="0" bIns="0">
            <a:normAutofit/>
          </a:bodyPr>
          <a:lstStyle/>
          <a:p>
            <a:pPr>
              <a:lnSpc>
                <a:spcPct val="170000"/>
              </a:lnSpc>
            </a:pPr>
            <a:r>
              <a:rPr lang="en-US" sz="1350">
                <a:solidFill>
                  <a:srgbClr val="4A5568"/>
                </a:solidFill>
                <a:latin typeface="Microsoft YaHei"/>
                <a:ea typeface="Microsoft YaHei"/>
              </a:rPr>
              <a:t>Mintzberg, H. (1987). The Strategy Concept I: Five Ps for Strategy.</a:t>
            </a:r>
            <a:r>
              <a:rPr lang="en-US" sz="1350" i="1">
                <a:solidFill>
                  <a:srgbClr val="4A5568"/>
                </a:solidFill>
                <a:latin typeface="Microsoft YaHei"/>
                <a:ea typeface="Microsoft YaHei"/>
              </a:rPr>
              <a:t> California Management Review</a:t>
            </a:r>
            <a:r>
              <a:rPr lang="en-US" sz="1350">
                <a:solidFill>
                  <a:srgbClr val="4A5568"/>
                </a:solidFill>
                <a:latin typeface="Microsoft YaHei"/>
                <a:ea typeface="Microsoft YaHei"/>
              </a:rPr>
              <a:t>, 30(1), 11–24.</a:t>
            </a:r>
            <a:endParaRPr/>
          </a:p>
        </p:txBody>
      </p:sp>
      <p:sp>
        <p:nvSpPr>
          <p:cNvPr id="271" name="矩形: 圆角 270"/>
          <p:cNvSpPr/>
          <p:nvPr/>
        </p:nvSpPr>
        <p:spPr>
          <a:xfrm>
            <a:off x="3924300" y="4762500"/>
            <a:ext cx="7886700" cy="1457325"/>
          </a:xfrm>
          <a:prstGeom prst="roundRect">
            <a:avLst>
              <a:gd name="adj" fmla="val 6536"/>
            </a:avLst>
          </a:prstGeom>
          <a:solidFill>
            <a:srgbClr val="E8EFF8"/>
          </a:solidFill>
          <a:ln/>
        </p:spPr>
        <p:txBody>
          <a:bodyPr/>
          <a:lstStyle/>
          <a:p>
            <a:endParaRPr/>
          </a:p>
        </p:txBody>
      </p:sp>
      <p:pic>
        <p:nvPicPr>
          <p:cNvPr id="272" name="图形 27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91000" y="4981575"/>
            <a:ext cx="247650" cy="247650"/>
          </a:xfrm>
          <a:prstGeom prst="rect">
            <a:avLst/>
          </a:prstGeom>
          <a:ln/>
        </p:spPr>
      </p:pic>
      <p:sp>
        <p:nvSpPr>
          <p:cNvPr id="273" name="文本框 272" descr="{&quot;isTemplate&quot;:true,&quot;type&quot;:&quot;text&quot;}"/>
          <p:cNvSpPr txBox="1"/>
          <p:nvPr/>
        </p:nvSpPr>
        <p:spPr>
          <a:xfrm>
            <a:off x="4572000" y="4972050"/>
            <a:ext cx="4400550" cy="257175"/>
          </a:xfrm>
          <a:prstGeom prst="rect">
            <a:avLst/>
          </a:prstGeom>
        </p:spPr>
        <p:txBody>
          <a:bodyPr wrap="none" lIns="0" tIns="0" rIns="0" bIns="0"/>
          <a:lstStyle/>
          <a:p>
            <a:pPr>
              <a:lnSpc>
                <a:spcPct val="100000"/>
              </a:lnSpc>
            </a:pPr>
            <a:r>
              <a:rPr lang="zh-CN" sz="1650" b="1">
                <a:solidFill>
                  <a:srgbClr val="0E3F8C"/>
                </a:solidFill>
                <a:latin typeface="Microsoft YaHei"/>
                <a:ea typeface="Microsoft YaHei"/>
              </a:rPr>
              <a:t>一个词的五种含义，一次对“单一定义”的纠偏</a:t>
            </a:r>
            <a:endParaRPr/>
          </a:p>
        </p:txBody>
      </p:sp>
      <p:sp>
        <p:nvSpPr>
          <p:cNvPr id="274" name="文本框 273" descr="{&quot;isTemplate&quot;:true,&quot;type&quot;:&quot;text&quot;}"/>
          <p:cNvSpPr txBox="1"/>
          <p:nvPr/>
        </p:nvSpPr>
        <p:spPr>
          <a:xfrm>
            <a:off x="4191000" y="5305425"/>
            <a:ext cx="7353300" cy="704850"/>
          </a:xfrm>
          <a:prstGeom prst="rect">
            <a:avLst/>
          </a:prstGeom>
        </p:spPr>
        <p:txBody>
          <a:bodyPr wrap="square" lIns="0" tIns="0" rIns="0" bIns="0">
            <a:normAutofit/>
          </a:bodyPr>
          <a:lstStyle/>
          <a:p>
            <a:pPr>
              <a:lnSpc>
                <a:spcPct val="170000"/>
              </a:lnSpc>
            </a:pPr>
            <a:r>
              <a:rPr lang="zh-CN" sz="1350">
                <a:solidFill>
                  <a:srgbClr val="4A5568"/>
                </a:solidFill>
                <a:latin typeface="Microsoft YaHei"/>
                <a:ea typeface="Microsoft YaHei"/>
              </a:rPr>
              <a:t>论文核心主张：战略（</a:t>
            </a:r>
            <a:r>
              <a:rPr lang="en-US" sz="1350">
                <a:solidFill>
                  <a:srgbClr val="4A5568"/>
                </a:solidFill>
                <a:latin typeface="Microsoft YaHei"/>
                <a:ea typeface="Microsoft YaHei"/>
              </a:rPr>
              <a:t>Strategy</a:t>
            </a:r>
            <a:r>
              <a:rPr lang="zh-CN" sz="1350">
                <a:solidFill>
                  <a:srgbClr val="4A5568"/>
                </a:solidFill>
                <a:latin typeface="Microsoft YaHei"/>
                <a:ea typeface="Microsoft YaHei"/>
              </a:rPr>
              <a:t>）一词在日常与学术语言中至少承担五种用法——把五种用法都看清，才算真正理解战略。</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7F9FC', position: 'relative', padding: 0 }}&gt;&#10;    &lt;Box style={{ position: 'absolute', top: 0, left: 0, width: 1280, height: 72, background: '#1E4FA8', flexDirection: 'row', alignItems: 'center', justifyContent: 'space-between', paddingLeft: 40, paddingRight: 40 }}&gt;&#10;        &lt;Text style={{ fontSize: 15, color: '#FFFFFF', letterSpacing: 3 }}&gt;战略管理 · STRATEGIC MANAGEMENT&lt;/Text&gt;&#10;        &lt;Text style={{ fontSize: 15, color: '#E8EFF8' }}&gt;01 走近明茨伯格&lt;/Text&gt;&#10;    &lt;/Box&gt;&#10;    &lt;Box style={{ position: 'absolute', bottom: 0, left: 0, width: 1280, height: 44, background: '#FFFFFF', flexDirection: 'row', alignItems: 'center', justifyContent: 'space-between', paddingLeft: 40, paddingRight: 40, borderTop: '1px solid #E5E7EB' }}&gt;&#10;        &lt;Text style={{ fontSize: 14, color: '#8B97A8' }}&gt;《战略管理》教学课件 · 明茨伯格 5P 理论&lt;/Text&gt;&#10;        &lt;Text style={{ fontSize: 15, color: '#0E3F8C', fontWeight: 'bold' }}&gt;05 / 16&lt;/Text&gt;&#10;    &lt;/Box&gt;&#10;    &lt;Box style={{ position: 'absolute', top: 72, left: 0, width: 1280, height: 604, flexDirection: 'column', padding: '30px 40px 20px 40px' }}&gt;&#10;        &lt;Text style={{ fontSize: 32, fontWeight: 'bold', color: '#0E3F8C', marginBottom: 24 }}&gt;为什么要重新定义战略？&lt;/Text&gt;&#10;        &lt;Box style={{ flexDirection: 'row', gap: 26, flex: 1 }}&gt;&#10;            &lt;Box style={{ width: '58%', background: '#FFFFFF', border: '1px solid #D6DCE5', borderRadius: 10, flexDirection: 'column', padding: 28 }}&gt;&#10;                &lt;Box style={{ flexDirection: 'row', alignItems: 'center', gap: 12, marginBottom: 14 }}&gt;&#10;                    &lt;Box style={{ background: '#8B97A8', borderRadius: 4, padding: '4px 12px' }}&gt;&#10;                        &lt;Text style={{ fontSize: 15, color: '#FFFFFF', fontWeight: 'bold' }}&gt;传统观念&lt;/Text&gt;&#10;                    &lt;/Box&gt;&#10;                    &lt;Text style={{ fontSize: 23, fontWeight: 'bold', color: '#1A2230' }}&gt;战略 = 事先制定的行动纲领&lt;/Text&gt;&#10;                &lt;/Box&gt;&#10;                &lt;Text style={{ fontSize: 18, color: '#4A5568', lineHeight: 1.8, marginBottom: 18 }}&gt;&#10;                    在明茨伯格之前，设计学派与计划学派主导教科书：战略是高层在行动之前、经过深思熟虑形成的正式计划。&#10;                &lt;/Text&gt;&#10;                &lt;Box style={{ flexDirection: 'column', gap: 10 }}&gt;&#10;                    &lt;Box style={{ flexDirection: 'row', alignItems: 'center', gap: 10 }}&gt;&#10;                        &lt;FAIcon name='times-circle' style={{ fill: '#D9534F', width: 20, height: 20 }} /&gt;&#10;                        &lt;Text style={{ fontSize: 17, color: '#4A5568' }}&gt;默认战略只能“先想后做”，无法解释先做后总结的成功&lt;/Text&gt;&#10;                    &lt;/Box&gt;&#10;                    &lt;Box style={{ flexDirection: 'row', alignItems: 'center', gap: 10 }}&gt;&#10;                        &lt;FAIcon name='times-circle' style={{ fill: '#D9534F', width: 20, height: 20 }} /&gt;&#10;                        &lt;Text style={{ fontSize: 17, color: '#4A5568' }}&gt;把战略等同于计划文本，忽视竞争互动中的机变&lt;/Text&gt;&#10;                    &lt;/Box&gt;&#10;                    &lt;Box style={{ flexDirection: 'row', alignItems: 'center', gap: 10 }}&gt;&#10;                        &lt;FAIcon name='times-circle' style={{ fill: '#D9534F', width: 20, height: 20 }} /&gt;&#10;                        &lt;Text style={{ fontSize: 17, color: '#4A5568' }}&gt;看不到长期行为沉淀出的“模式”同样是战略&lt;/Text&gt;&#10;                    &lt;/Box&gt;&#10;                &lt;/Box&gt;&#10;            &lt;/Box&gt;&#10;            &lt;Box style={{ width: '42%', flexDirection: 'column', gap: 20 }}&gt;&#10;                &lt;Box style={{ flex: 1, background: '#0E3F8C', borderRadius: 10, flexDirection: 'column', padding: 26, justifyContent: 'center' }}&gt;&#10;                    &lt;FAIcon name='question-circle' style={{ fill: '#FFC107', width: 36, height: 36, marginBottom: 14 }} /&gt;&#10;                    &lt;Text style={{ fontSize: 24, fontWeight: 'bold', color: '#FFFFFF', lineHeight: 1.5, marginBottom: 12 }}&gt;&#10;                        明茨伯格之问：&#10;                        &lt;br /&gt;&#10;                        现实中的战略，都长得像“计划”吗？&#10;                    &lt;/Text&gt;&#10;                    &lt;Text style={{ fontSize: 17, color: '#E8EFF8', lineHeight: 1.7 }}&gt;&#10;                        他发现人们把计划、计谋、模式、定位、观念都称作“战略”——与其争论谁对谁错，不如承认这是&lt;span style={{ color: '#FFC107', fontWeight: 'bold' }}&gt;一个概念的五种互补用法&lt;/span&gt;。&#10;                    &lt;/Text&gt;&#10;                &lt;/Box&gt;&#10;                &lt;Box style={{ background: '#E8EFF8', borderRadius: 10, padding: '16px 22px', flexDirection: 'row', alignItems: 'center', gap: 12 }}&gt;&#10;                    &lt;FAIcon name='arrow-right' style={{ fill: '#1E4FA8', width: 24, height: 24 }} /&gt;&#10;                    &lt;Text style={{ fontSize: 17, color: '#0E3F8C', lineHeight: 1.6 }}&gt;于是有了下一章的主角：五个 P&lt;/Text&gt;&#10;                &lt;/Box&gt;&#10;            &lt;/Box&gt;&#10;        &lt;/Box&gt;&#10;    &lt;/Box&gt;&#10;&lt;/Slide&gt;"/>
        <p:cNvGrpSpPr/>
        <p:nvPr/>
      </p:nvGrpSpPr>
      <p:grpSpPr>
        <a:xfrm>
          <a:off x="0" y="0"/>
          <a:ext cx="0" cy="0"/>
          <a:chOff x="0" y="0"/>
          <a:chExt cx="0" cy="0"/>
        </a:xfrm>
      </p:grpSpPr>
      <p:sp>
        <p:nvSpPr>
          <p:cNvPr id="276" name="矩形 275"/>
          <p:cNvSpPr/>
          <p:nvPr/>
        </p:nvSpPr>
        <p:spPr>
          <a:xfrm>
            <a:off x="0" y="0"/>
            <a:ext cx="12192000" cy="6858000"/>
          </a:xfrm>
          <a:prstGeom prst="rect">
            <a:avLst/>
          </a:prstGeom>
          <a:solidFill>
            <a:srgbClr val="F7F9FC"/>
          </a:solidFill>
          <a:ln/>
        </p:spPr>
        <p:txBody>
          <a:bodyPr/>
          <a:lstStyle/>
          <a:p>
            <a:endParaRPr/>
          </a:p>
        </p:txBody>
      </p:sp>
      <p:sp>
        <p:nvSpPr>
          <p:cNvPr id="277" name="矩形 276"/>
          <p:cNvSpPr/>
          <p:nvPr/>
        </p:nvSpPr>
        <p:spPr>
          <a:xfrm>
            <a:off x="0" y="0"/>
            <a:ext cx="12192000" cy="685800"/>
          </a:xfrm>
          <a:prstGeom prst="rect">
            <a:avLst/>
          </a:prstGeom>
          <a:solidFill>
            <a:srgbClr val="1E4FA8"/>
          </a:solidFill>
          <a:ln/>
        </p:spPr>
        <p:txBody>
          <a:bodyPr/>
          <a:lstStyle/>
          <a:p>
            <a:endParaRPr/>
          </a:p>
        </p:txBody>
      </p:sp>
      <p:sp>
        <p:nvSpPr>
          <p:cNvPr id="278" name="文本框 277"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FFFFFF"/>
                </a:solidFill>
                <a:latin typeface="Microsoft YaHei"/>
                <a:ea typeface="Microsoft YaHei"/>
              </a:rPr>
              <a:t>战略管理</a:t>
            </a:r>
            <a:r>
              <a:rPr lang="en-US" sz="1125" spc="225">
                <a:solidFill>
                  <a:srgbClr val="FFFFFF"/>
                </a:solidFill>
                <a:latin typeface="Microsoft YaHei"/>
                <a:ea typeface="Microsoft YaHei"/>
              </a:rPr>
              <a:t> · STRATEGIC MANAGEMENT</a:t>
            </a:r>
            <a:endParaRPr/>
          </a:p>
        </p:txBody>
      </p:sp>
      <p:sp>
        <p:nvSpPr>
          <p:cNvPr id="279" name="文本框 278" descr="{&quot;isTemplate&quot;:true,&quot;type&quot;:&quot;text&quot;}"/>
          <p:cNvSpPr txBox="1"/>
          <p:nvPr/>
        </p:nvSpPr>
        <p:spPr>
          <a:xfrm>
            <a:off x="10734675" y="257175"/>
            <a:ext cx="1076325" cy="171450"/>
          </a:xfrm>
          <a:prstGeom prst="rect">
            <a:avLst/>
          </a:prstGeom>
        </p:spPr>
        <p:txBody>
          <a:bodyPr wrap="none" lIns="0" tIns="0" rIns="0" bIns="0"/>
          <a:lstStyle/>
          <a:p>
            <a:pPr>
              <a:lnSpc>
                <a:spcPct val="100000"/>
              </a:lnSpc>
            </a:pPr>
            <a:r>
              <a:rPr lang="en-US" sz="1125">
                <a:solidFill>
                  <a:srgbClr val="E8EFF8"/>
                </a:solidFill>
                <a:latin typeface="Microsoft YaHei"/>
                <a:ea typeface="Microsoft YaHei"/>
              </a:rPr>
              <a:t>01 </a:t>
            </a:r>
            <a:r>
              <a:rPr lang="zh-CN" sz="1125">
                <a:solidFill>
                  <a:srgbClr val="E8EFF8"/>
                </a:solidFill>
                <a:latin typeface="Microsoft YaHei"/>
                <a:ea typeface="Microsoft YaHei"/>
              </a:rPr>
              <a:t>走近明茨伯格</a:t>
            </a:r>
            <a:endParaRPr/>
          </a:p>
        </p:txBody>
      </p:sp>
      <p:sp>
        <p:nvSpPr>
          <p:cNvPr id="280" name="矩形 279"/>
          <p:cNvSpPr/>
          <p:nvPr/>
        </p:nvSpPr>
        <p:spPr>
          <a:xfrm>
            <a:off x="0" y="6448425"/>
            <a:ext cx="12192000" cy="409575"/>
          </a:xfrm>
          <a:prstGeom prst="rect">
            <a:avLst/>
          </a:prstGeom>
          <a:solidFill>
            <a:srgbClr val="FFFFFF"/>
          </a:solidFill>
          <a:ln/>
        </p:spPr>
        <p:txBody>
          <a:bodyPr/>
          <a:lstStyle/>
          <a:p>
            <a:endParaRPr/>
          </a:p>
        </p:txBody>
      </p:sp>
      <p:sp>
        <p:nvSpPr>
          <p:cNvPr id="281" name="任意多边形: 形状 280"/>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E5E7EB"/>
          </a:solidFill>
          <a:ln/>
        </p:spPr>
        <p:txBody>
          <a:bodyPr/>
          <a:lstStyle/>
          <a:p>
            <a:endParaRPr/>
          </a:p>
        </p:txBody>
      </p:sp>
      <p:sp>
        <p:nvSpPr>
          <p:cNvPr id="282" name="文本框 281" descr="{&quot;isTemplate&quot;:true,&quot;type&quot;:&quot;text&quot;}"/>
          <p:cNvSpPr txBox="1"/>
          <p:nvPr/>
        </p:nvSpPr>
        <p:spPr>
          <a:xfrm>
            <a:off x="381000" y="6572250"/>
            <a:ext cx="2486025"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《战略管理》教学课件</a:t>
            </a:r>
            <a:r>
              <a:rPr lang="en-US" sz="1050">
                <a:solidFill>
                  <a:srgbClr val="8B97A8"/>
                </a:solidFill>
                <a:latin typeface="Microsoft YaHei"/>
                <a:ea typeface="Microsoft YaHei"/>
              </a:rPr>
              <a:t> · </a:t>
            </a:r>
            <a:r>
              <a:rPr lang="zh-CN" sz="1050">
                <a:solidFill>
                  <a:srgbClr val="8B97A8"/>
                </a:solidFill>
                <a:latin typeface="Microsoft YaHei"/>
                <a:ea typeface="Microsoft YaHei"/>
              </a:rPr>
              <a:t>明茨伯格</a:t>
            </a:r>
            <a:r>
              <a:rPr lang="en-US" sz="1050">
                <a:solidFill>
                  <a:srgbClr val="8B97A8"/>
                </a:solidFill>
                <a:latin typeface="Microsoft YaHei"/>
                <a:ea typeface="Microsoft YaHei"/>
              </a:rPr>
              <a:t> 5P </a:t>
            </a:r>
            <a:r>
              <a:rPr lang="zh-CN" sz="1050">
                <a:solidFill>
                  <a:srgbClr val="8B97A8"/>
                </a:solidFill>
                <a:latin typeface="Microsoft YaHei"/>
                <a:ea typeface="Microsoft YaHei"/>
              </a:rPr>
              <a:t>理论</a:t>
            </a:r>
            <a:endParaRPr/>
          </a:p>
        </p:txBody>
      </p:sp>
      <p:sp>
        <p:nvSpPr>
          <p:cNvPr id="283" name="文本框 282" descr="{&quot;isTemplate&quot;:true,&quot;type&quot;:&quot;text&quot;}"/>
          <p:cNvSpPr txBox="1"/>
          <p:nvPr/>
        </p:nvSpPr>
        <p:spPr>
          <a:xfrm>
            <a:off x="11296650" y="6572250"/>
            <a:ext cx="514350" cy="171450"/>
          </a:xfrm>
          <a:prstGeom prst="rect">
            <a:avLst/>
          </a:prstGeom>
        </p:spPr>
        <p:txBody>
          <a:bodyPr wrap="none" lIns="0" tIns="0" rIns="0" bIns="0"/>
          <a:lstStyle/>
          <a:p>
            <a:pPr>
              <a:lnSpc>
                <a:spcPct val="100000"/>
              </a:lnSpc>
            </a:pPr>
            <a:r>
              <a:rPr lang="en-US" sz="1125" b="1">
                <a:solidFill>
                  <a:srgbClr val="0E3F8C"/>
                </a:solidFill>
                <a:latin typeface="Microsoft YaHei"/>
                <a:ea typeface="Microsoft YaHei"/>
              </a:rPr>
              <a:t>05 / 16</a:t>
            </a:r>
            <a:endParaRPr/>
          </a:p>
        </p:txBody>
      </p:sp>
      <p:sp>
        <p:nvSpPr>
          <p:cNvPr id="284" name="文本框 283" descr="{&quot;isTemplate&quot;:true,&quot;type&quot;:&quot;text&quot;}"/>
          <p:cNvSpPr txBox="1"/>
          <p:nvPr/>
        </p:nvSpPr>
        <p:spPr>
          <a:xfrm>
            <a:off x="381000" y="97155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为什么要重新定义战略？</a:t>
            </a:r>
            <a:endParaRPr/>
          </a:p>
        </p:txBody>
      </p:sp>
      <p:sp>
        <p:nvSpPr>
          <p:cNvPr id="285" name="矩形: 圆角 284"/>
          <p:cNvSpPr/>
          <p:nvPr/>
        </p:nvSpPr>
        <p:spPr>
          <a:xfrm>
            <a:off x="381000" y="1571625"/>
            <a:ext cx="6486525" cy="4676775"/>
          </a:xfrm>
          <a:prstGeom prst="roundRect">
            <a:avLst>
              <a:gd name="adj" fmla="val 2037"/>
            </a:avLst>
          </a:prstGeom>
          <a:solidFill>
            <a:srgbClr val="FFFFFF"/>
          </a:solidFill>
          <a:ln w="12700">
            <a:solidFill>
              <a:srgbClr val="D6DCE5"/>
            </a:solidFill>
            <a:prstDash val="solid"/>
          </a:ln>
        </p:spPr>
        <p:txBody>
          <a:bodyPr/>
          <a:lstStyle/>
          <a:p>
            <a:endParaRPr/>
          </a:p>
        </p:txBody>
      </p:sp>
      <p:sp>
        <p:nvSpPr>
          <p:cNvPr id="286" name="矩形: 圆角 285"/>
          <p:cNvSpPr/>
          <p:nvPr/>
        </p:nvSpPr>
        <p:spPr>
          <a:xfrm>
            <a:off x="647700" y="1847850"/>
            <a:ext cx="800100" cy="247650"/>
          </a:xfrm>
          <a:prstGeom prst="roundRect">
            <a:avLst>
              <a:gd name="adj" fmla="val 15385"/>
            </a:avLst>
          </a:prstGeom>
          <a:solidFill>
            <a:srgbClr val="8B97A8"/>
          </a:solidFill>
          <a:ln/>
        </p:spPr>
        <p:txBody>
          <a:bodyPr/>
          <a:lstStyle/>
          <a:p>
            <a:endParaRPr/>
          </a:p>
        </p:txBody>
      </p:sp>
      <p:sp>
        <p:nvSpPr>
          <p:cNvPr id="287" name="文本框 286" descr="{&quot;isTemplate&quot;:true,&quot;type&quot;:&quot;text&quot;}"/>
          <p:cNvSpPr txBox="1"/>
          <p:nvPr/>
        </p:nvSpPr>
        <p:spPr>
          <a:xfrm>
            <a:off x="762000" y="1885950"/>
            <a:ext cx="571500" cy="171450"/>
          </a:xfrm>
          <a:prstGeom prst="rect">
            <a:avLst/>
          </a:prstGeom>
        </p:spPr>
        <p:txBody>
          <a:bodyPr wrap="none" lIns="0" tIns="0" rIns="0" bIns="0"/>
          <a:lstStyle/>
          <a:p>
            <a:pPr>
              <a:lnSpc>
                <a:spcPct val="100000"/>
              </a:lnSpc>
            </a:pPr>
            <a:r>
              <a:rPr lang="zh-CN" sz="1125" b="1">
                <a:solidFill>
                  <a:srgbClr val="FFFFFF"/>
                </a:solidFill>
                <a:latin typeface="Microsoft YaHei"/>
                <a:ea typeface="Microsoft YaHei"/>
              </a:rPr>
              <a:t>传统观念</a:t>
            </a:r>
            <a:endParaRPr/>
          </a:p>
        </p:txBody>
      </p:sp>
      <p:sp>
        <p:nvSpPr>
          <p:cNvPr id="288" name="文本框 287" descr="{&quot;isTemplate&quot;:true,&quot;type&quot;:&quot;text&quot;}"/>
          <p:cNvSpPr txBox="1"/>
          <p:nvPr/>
        </p:nvSpPr>
        <p:spPr>
          <a:xfrm>
            <a:off x="1562100" y="1838325"/>
            <a:ext cx="2714625" cy="266700"/>
          </a:xfrm>
          <a:prstGeom prst="rect">
            <a:avLst/>
          </a:prstGeom>
        </p:spPr>
        <p:txBody>
          <a:bodyPr wrap="none" lIns="0" tIns="0" rIns="0" bIns="0"/>
          <a:lstStyle/>
          <a:p>
            <a:pPr>
              <a:lnSpc>
                <a:spcPct val="100000"/>
              </a:lnSpc>
            </a:pPr>
            <a:r>
              <a:rPr lang="zh-CN" sz="1725" b="1">
                <a:solidFill>
                  <a:srgbClr val="1A2230"/>
                </a:solidFill>
                <a:latin typeface="Microsoft YaHei"/>
                <a:ea typeface="Microsoft YaHei"/>
              </a:rPr>
              <a:t>战略</a:t>
            </a:r>
            <a:r>
              <a:rPr lang="en-US" sz="1725" b="1">
                <a:solidFill>
                  <a:srgbClr val="1A2230"/>
                </a:solidFill>
                <a:latin typeface="Microsoft YaHei"/>
                <a:ea typeface="Microsoft YaHei"/>
              </a:rPr>
              <a:t> = </a:t>
            </a:r>
            <a:r>
              <a:rPr lang="zh-CN" sz="1725" b="1">
                <a:solidFill>
                  <a:srgbClr val="1A2230"/>
                </a:solidFill>
                <a:latin typeface="Microsoft YaHei"/>
                <a:ea typeface="Microsoft YaHei"/>
              </a:rPr>
              <a:t>事先制定的行动纲领</a:t>
            </a:r>
            <a:endParaRPr/>
          </a:p>
        </p:txBody>
      </p:sp>
      <p:sp>
        <p:nvSpPr>
          <p:cNvPr id="289" name="文本框 288" descr="{&quot;isTemplate&quot;:true,&quot;type&quot;:&quot;text&quot;}"/>
          <p:cNvSpPr txBox="1"/>
          <p:nvPr/>
        </p:nvSpPr>
        <p:spPr>
          <a:xfrm>
            <a:off x="647700" y="2238375"/>
            <a:ext cx="5953125" cy="742950"/>
          </a:xfrm>
          <a:prstGeom prst="rect">
            <a:avLst/>
          </a:prstGeom>
        </p:spPr>
        <p:txBody>
          <a:bodyPr wrap="square" lIns="0" tIns="0" rIns="0" bIns="0">
            <a:normAutofit/>
          </a:bodyPr>
          <a:lstStyle/>
          <a:p>
            <a:pPr>
              <a:lnSpc>
                <a:spcPct val="180000"/>
              </a:lnSpc>
            </a:pPr>
            <a:r>
              <a:rPr lang="zh-CN" sz="1350" dirty="0">
                <a:solidFill>
                  <a:srgbClr val="4A5568"/>
                </a:solidFill>
                <a:latin typeface="Microsoft YaHei"/>
                <a:ea typeface="Microsoft YaHei"/>
              </a:rPr>
              <a:t>在明茨伯格之前，</a:t>
            </a:r>
            <a:r>
              <a:rPr lang="zh-CN" altLang="en-US" sz="1350" dirty="0">
                <a:solidFill>
                  <a:srgbClr val="4A5568"/>
                </a:solidFill>
                <a:latin typeface="Microsoft YaHei"/>
                <a:ea typeface="Microsoft YaHei"/>
              </a:rPr>
              <a:t>理性</a:t>
            </a:r>
            <a:r>
              <a:rPr lang="zh-CN" sz="1350" dirty="0">
                <a:solidFill>
                  <a:srgbClr val="4A5568"/>
                </a:solidFill>
                <a:latin typeface="Microsoft YaHei"/>
                <a:ea typeface="Microsoft YaHei"/>
              </a:rPr>
              <a:t>学派与计划学派主导教科书：战略是高层在行动之前、经过深思熟虑形成的正式计划。</a:t>
            </a:r>
            <a:endParaRPr dirty="0"/>
          </a:p>
        </p:txBody>
      </p:sp>
      <p:pic>
        <p:nvPicPr>
          <p:cNvPr id="290" name="图形 28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00" y="3162300"/>
            <a:ext cx="190500" cy="190500"/>
          </a:xfrm>
          <a:prstGeom prst="rect">
            <a:avLst/>
          </a:prstGeom>
          <a:ln/>
        </p:spPr>
      </p:pic>
      <p:sp>
        <p:nvSpPr>
          <p:cNvPr id="291" name="文本框 290" descr="{&quot;isTemplate&quot;:true,&quot;type&quot;:&quot;text&quot;}"/>
          <p:cNvSpPr txBox="1"/>
          <p:nvPr/>
        </p:nvSpPr>
        <p:spPr>
          <a:xfrm>
            <a:off x="933450" y="3152775"/>
            <a:ext cx="4048125" cy="200025"/>
          </a:xfrm>
          <a:prstGeom prst="rect">
            <a:avLst/>
          </a:prstGeom>
        </p:spPr>
        <p:txBody>
          <a:bodyPr wrap="none" lIns="0" tIns="0" rIns="0" bIns="0"/>
          <a:lstStyle/>
          <a:p>
            <a:pPr>
              <a:lnSpc>
                <a:spcPct val="100000"/>
              </a:lnSpc>
            </a:pPr>
            <a:r>
              <a:rPr lang="zh-CN" sz="1275">
                <a:solidFill>
                  <a:srgbClr val="4A5568"/>
                </a:solidFill>
                <a:latin typeface="Microsoft YaHei"/>
                <a:ea typeface="Microsoft YaHei"/>
              </a:rPr>
              <a:t>默认战略只能“先想后做”，无法解释先做后总结的成功</a:t>
            </a:r>
            <a:endParaRPr/>
          </a:p>
        </p:txBody>
      </p:sp>
      <p:pic>
        <p:nvPicPr>
          <p:cNvPr id="292" name="图形 29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00" y="3457575"/>
            <a:ext cx="190500" cy="190500"/>
          </a:xfrm>
          <a:prstGeom prst="rect">
            <a:avLst/>
          </a:prstGeom>
          <a:ln/>
        </p:spPr>
      </p:pic>
      <p:sp>
        <p:nvSpPr>
          <p:cNvPr id="293" name="文本框 292" descr="{&quot;isTemplate&quot;:true,&quot;type&quot;:&quot;text&quot;}"/>
          <p:cNvSpPr txBox="1"/>
          <p:nvPr/>
        </p:nvSpPr>
        <p:spPr>
          <a:xfrm>
            <a:off x="933450" y="3448050"/>
            <a:ext cx="3400425" cy="200025"/>
          </a:xfrm>
          <a:prstGeom prst="rect">
            <a:avLst/>
          </a:prstGeom>
        </p:spPr>
        <p:txBody>
          <a:bodyPr wrap="none" lIns="0" tIns="0" rIns="0" bIns="0"/>
          <a:lstStyle/>
          <a:p>
            <a:pPr>
              <a:lnSpc>
                <a:spcPct val="100000"/>
              </a:lnSpc>
            </a:pPr>
            <a:r>
              <a:rPr lang="zh-CN" sz="1275">
                <a:solidFill>
                  <a:srgbClr val="4A5568"/>
                </a:solidFill>
                <a:latin typeface="Microsoft YaHei"/>
                <a:ea typeface="Microsoft YaHei"/>
              </a:rPr>
              <a:t>把战略等同于计划文本，忽视竞争互动中的机变</a:t>
            </a:r>
            <a:endParaRPr/>
          </a:p>
        </p:txBody>
      </p:sp>
      <p:pic>
        <p:nvPicPr>
          <p:cNvPr id="294" name="图形 29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00" y="3752850"/>
            <a:ext cx="190500" cy="190500"/>
          </a:xfrm>
          <a:prstGeom prst="rect">
            <a:avLst/>
          </a:prstGeom>
          <a:ln/>
        </p:spPr>
      </p:pic>
      <p:sp>
        <p:nvSpPr>
          <p:cNvPr id="295" name="文本框 294" descr="{&quot;isTemplate&quot;:true,&quot;type&quot;:&quot;text&quot;}"/>
          <p:cNvSpPr txBox="1"/>
          <p:nvPr/>
        </p:nvSpPr>
        <p:spPr>
          <a:xfrm>
            <a:off x="933450" y="3743325"/>
            <a:ext cx="3238500" cy="200025"/>
          </a:xfrm>
          <a:prstGeom prst="rect">
            <a:avLst/>
          </a:prstGeom>
        </p:spPr>
        <p:txBody>
          <a:bodyPr wrap="none" lIns="0" tIns="0" rIns="0" bIns="0"/>
          <a:lstStyle/>
          <a:p>
            <a:pPr>
              <a:lnSpc>
                <a:spcPct val="100000"/>
              </a:lnSpc>
            </a:pPr>
            <a:r>
              <a:rPr lang="zh-CN" sz="1275">
                <a:solidFill>
                  <a:srgbClr val="4A5568"/>
                </a:solidFill>
                <a:latin typeface="Microsoft YaHei"/>
                <a:ea typeface="Microsoft YaHei"/>
              </a:rPr>
              <a:t>看不到长期行为沉淀出的“模式”同样是战略</a:t>
            </a:r>
            <a:endParaRPr/>
          </a:p>
        </p:txBody>
      </p:sp>
      <p:sp>
        <p:nvSpPr>
          <p:cNvPr id="296" name="矩形: 圆角 295"/>
          <p:cNvSpPr/>
          <p:nvPr/>
        </p:nvSpPr>
        <p:spPr>
          <a:xfrm>
            <a:off x="7115175" y="1571625"/>
            <a:ext cx="4695825" cy="3867150"/>
          </a:xfrm>
          <a:prstGeom prst="roundRect">
            <a:avLst>
              <a:gd name="adj" fmla="val 2463"/>
            </a:avLst>
          </a:prstGeom>
          <a:solidFill>
            <a:srgbClr val="0E3F8C"/>
          </a:solidFill>
          <a:ln/>
        </p:spPr>
        <p:txBody>
          <a:bodyPr/>
          <a:lstStyle/>
          <a:p>
            <a:endParaRPr/>
          </a:p>
        </p:txBody>
      </p:sp>
      <p:pic>
        <p:nvPicPr>
          <p:cNvPr id="297" name="图形 29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62825" y="2295525"/>
            <a:ext cx="342900" cy="342900"/>
          </a:xfrm>
          <a:prstGeom prst="rect">
            <a:avLst/>
          </a:prstGeom>
          <a:ln/>
        </p:spPr>
      </p:pic>
      <p:sp>
        <p:nvSpPr>
          <p:cNvPr id="298" name="文本框 297" descr="{&quot;isTemplate&quot;:true,&quot;type&quot;:&quot;text&quot;}"/>
          <p:cNvSpPr txBox="1"/>
          <p:nvPr/>
        </p:nvSpPr>
        <p:spPr>
          <a:xfrm>
            <a:off x="7362825" y="2771775"/>
            <a:ext cx="4200525" cy="828675"/>
          </a:xfrm>
          <a:prstGeom prst="rect">
            <a:avLst/>
          </a:prstGeom>
        </p:spPr>
        <p:txBody>
          <a:bodyPr wrap="none" lIns="0" tIns="0" rIns="0" bIns="0"/>
          <a:lstStyle/>
          <a:p>
            <a:pPr>
              <a:lnSpc>
                <a:spcPct val="150000"/>
              </a:lnSpc>
            </a:pPr>
            <a:r>
              <a:rPr lang="zh-CN" sz="1800" b="1">
                <a:solidFill>
                  <a:srgbClr val="FFFFFF"/>
                </a:solidFill>
                <a:latin typeface="Microsoft YaHei"/>
                <a:ea typeface="Microsoft YaHei"/>
              </a:rPr>
              <a:t>明茨伯格之问：</a:t>
            </a:r>
            <a:endParaRPr/>
          </a:p>
          <a:p>
            <a:pPr>
              <a:lnSpc>
                <a:spcPct val="150000"/>
              </a:lnSpc>
            </a:pPr>
            <a:r>
              <a:rPr lang="zh-CN" sz="1800" b="1">
                <a:solidFill>
                  <a:srgbClr val="FFFFFF"/>
                </a:solidFill>
                <a:latin typeface="Microsoft YaHei"/>
                <a:ea typeface="Microsoft YaHei"/>
              </a:rPr>
              <a:t>现实中的战略，都长得像“计划”吗？</a:t>
            </a:r>
            <a:endParaRPr/>
          </a:p>
        </p:txBody>
      </p:sp>
      <p:sp>
        <p:nvSpPr>
          <p:cNvPr id="299" name="文本框 298" descr="{&quot;isTemplate&quot;:true,&quot;type&quot;:&quot;text&quot;}"/>
          <p:cNvSpPr txBox="1"/>
          <p:nvPr/>
        </p:nvSpPr>
        <p:spPr>
          <a:xfrm>
            <a:off x="7362825" y="3714750"/>
            <a:ext cx="4200525" cy="1000125"/>
          </a:xfrm>
          <a:prstGeom prst="rect">
            <a:avLst/>
          </a:prstGeom>
        </p:spPr>
        <p:txBody>
          <a:bodyPr wrap="square" lIns="0" tIns="0" rIns="0" bIns="0">
            <a:normAutofit/>
          </a:bodyPr>
          <a:lstStyle/>
          <a:p>
            <a:pPr>
              <a:lnSpc>
                <a:spcPct val="170000"/>
              </a:lnSpc>
            </a:pPr>
            <a:r>
              <a:rPr lang="zh-CN" sz="1275">
                <a:solidFill>
                  <a:srgbClr val="E8EFF8"/>
                </a:solidFill>
                <a:latin typeface="Microsoft YaHei"/>
                <a:ea typeface="Microsoft YaHei"/>
              </a:rPr>
              <a:t>他发现人们把计划、计谋、模式、定位、观念都称作“战略”——与其争论谁对谁错，不如承认这是</a:t>
            </a:r>
            <a:r>
              <a:rPr lang="zh-CN" sz="1275" b="1">
                <a:solidFill>
                  <a:srgbClr val="FFC107"/>
                </a:solidFill>
                <a:latin typeface="Microsoft YaHei"/>
                <a:ea typeface="Microsoft YaHei"/>
              </a:rPr>
              <a:t>一个概念的五种互补用法</a:t>
            </a:r>
            <a:r>
              <a:rPr lang="zh-CN" sz="1275">
                <a:solidFill>
                  <a:srgbClr val="E8EFF8"/>
                </a:solidFill>
                <a:latin typeface="Microsoft YaHei"/>
                <a:ea typeface="Microsoft YaHei"/>
              </a:rPr>
              <a:t>。</a:t>
            </a:r>
            <a:endParaRPr/>
          </a:p>
        </p:txBody>
      </p:sp>
      <p:sp>
        <p:nvSpPr>
          <p:cNvPr id="300" name="矩形: 圆角 299"/>
          <p:cNvSpPr/>
          <p:nvPr/>
        </p:nvSpPr>
        <p:spPr>
          <a:xfrm>
            <a:off x="7115175" y="5629275"/>
            <a:ext cx="4695825" cy="619125"/>
          </a:xfrm>
          <a:prstGeom prst="roundRect">
            <a:avLst>
              <a:gd name="adj" fmla="val 15385"/>
            </a:avLst>
          </a:prstGeom>
          <a:solidFill>
            <a:srgbClr val="E8EFF8"/>
          </a:solidFill>
          <a:ln/>
        </p:spPr>
        <p:txBody>
          <a:bodyPr/>
          <a:lstStyle/>
          <a:p>
            <a:endParaRPr/>
          </a:p>
        </p:txBody>
      </p:sp>
      <p:pic>
        <p:nvPicPr>
          <p:cNvPr id="301" name="图形 300"/>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4725" y="5829300"/>
            <a:ext cx="228600" cy="228600"/>
          </a:xfrm>
          <a:prstGeom prst="rect">
            <a:avLst/>
          </a:prstGeom>
          <a:ln/>
        </p:spPr>
      </p:pic>
      <p:sp>
        <p:nvSpPr>
          <p:cNvPr id="302" name="文本框 301" descr="{&quot;isTemplate&quot;:true,&quot;type&quot;:&quot;text&quot;}"/>
          <p:cNvSpPr txBox="1"/>
          <p:nvPr/>
        </p:nvSpPr>
        <p:spPr>
          <a:xfrm>
            <a:off x="7667625" y="5781675"/>
            <a:ext cx="2257425" cy="314325"/>
          </a:xfrm>
          <a:prstGeom prst="rect">
            <a:avLst/>
          </a:prstGeom>
        </p:spPr>
        <p:txBody>
          <a:bodyPr wrap="none" lIns="0" tIns="0" rIns="0" bIns="0"/>
          <a:lstStyle/>
          <a:p>
            <a:pPr>
              <a:lnSpc>
                <a:spcPct val="160000"/>
              </a:lnSpc>
            </a:pPr>
            <a:r>
              <a:rPr lang="zh-CN" sz="1275">
                <a:solidFill>
                  <a:srgbClr val="0E3F8C"/>
                </a:solidFill>
                <a:latin typeface="Microsoft YaHei"/>
                <a:ea typeface="Microsoft YaHei"/>
              </a:rPr>
              <a:t>于是有了下一章的主角：五个</a:t>
            </a:r>
            <a:r>
              <a:rPr lang="en-US" sz="1275">
                <a:solidFill>
                  <a:srgbClr val="0E3F8C"/>
                </a:solidFill>
                <a:latin typeface="Microsoft YaHei"/>
                <a:ea typeface="Microsoft YaHei"/>
              </a:rPr>
              <a:t> 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position: 'relative', padding: 0 }}&gt;&#10;    &lt;Box style={{ position: 'absolute', top: 0, left: 0, width: 1280, height: 720, background: '#F7F9FC' }} /&gt;&#10;    &lt;Box style={{ position: 'absolute', top: 0, left: 0, width: 560, height: 720, background: '#0E3F8C' }} /&gt;&#10;    &lt;Box style={{ position: 'absolute', top: -100, left: 420, width: 300, height: 300, borderRadius: 150, background: '#1E4FA8', opacity: 0.18 }} /&gt;&#10;    &lt;Box style={{ position: 'absolute', top: 120, left: 72, zIndex: 1, flexDirection: 'column', width: 430 }}&gt;&#10;        &lt;Text style={{ fontSize: 200, fontWeight: 'bold', color: 'rgba(232,239,248,0.28)', lineHeight: 1 }}&gt;02&lt;/Text&gt;&#10;        &lt;Box style={{ width: 64, height: 5, background: '#FFC107', marginBottom: 30 }} /&gt;&#10;        &lt;Text style={{ fontSize: 48, fontWeight: 'bold', color: '#FFFFFF', marginBottom: 20 }}&gt;五个维度详解&lt;/Text&gt;&#10;        &lt;Text style={{ fontSize: 18, color: '#B9CCEC', lineHeight: 1.7 }}&gt;&#10;            每一个 P 给出：原文定义 → 关键特征 →&#10;            企业案例。请注意五个 P 是互补关系，&#10;            而非五种“正确答案”。&#10;        &lt;/Text&gt;&#10;    &lt;/Box&gt;&#10;    &lt;Box style={{ position: 'absolute', top: 160, left: 640, zIndex: 1, flexDirection: 'column', gap: 22, width: 560 }}&gt;&#10;        &lt;Box style={{ flexDirection: 'row', gap: 18, alignItems: 'center', background: '#FFFFFF', border: '1px solid #D6DCE5', borderRadius: 8, padding: '18px 24px' }}&gt;&#10;            &lt;Box style={{ width: 52, height: 52, borderRadius: 26, background: '#1E4FA8', justifyContent: 'center', alignItems: 'center' }}&gt;&#10;                &lt;Text style={{ fontSize: 20, fontWeight: 'bold', color: '#FFFFFF' }}&gt;P1&lt;/Text&gt;&#10;            &lt;/Box&gt;&#10;            &lt;Text style={{ fontSize: 20, color: '#1A2230' }}&gt;&lt;span style={{ fontWeight: 'bold', color: '#0E3F8C' }}&gt;Plan 计划&lt;/span&gt;：战略是事先的蓝图&lt;/Text&gt;&#10;        &lt;/Box&gt;&#10;        &lt;Box style={{ flexDirection: 'row', gap: 18, alignItems: 'center', background: '#FFFFFF', border: '1px solid #D6DCE5', borderRadius: 8, padding: '18px 24px' }}&gt;&#10;            &lt;Box style={{ width: 52, height: 52, borderRadius: 26, background: '#1E4FA8', justifyContent: 'center', alignItems: 'center' }}&gt;&#10;                &lt;Text style={{ fontSize: 20, fontWeight: 'bold', color: '#FFFFFF' }}&gt;P2&lt;/Text&gt;&#10;            &lt;/Box&gt;&#10;            &lt;Text style={{ fontSize: 20, color: '#1A2230' }}&gt;&lt;span style={{ fontWeight: 'bold', color: '#0E3F8C' }}&gt;Ploy 计谋&lt;/span&gt;：战略是竞争的算计&lt;/Text&gt;&#10;        &lt;/Box&gt;&#10;        &lt;Box style={{ flexDirection: 'row', gap: 18, alignItems: 'center', background: '#FFFFFF', border: '1px solid #D6DCE5', borderRadius: 8, padding: '18px 24px' }}&gt;&#10;            &lt;Box style={{ width: 52, height: 52, borderRadius: 26, background: '#1E4FA8', justifyContent: 'center', alignItems: 'center' }}&gt;&#10;                &lt;Text style={{ fontSize: 20, fontWeight: 'bold', color: '#FFFFFF' }}&gt;P3&lt;/Text&gt;&#10;            &lt;/Box&gt;&#10;            &lt;Text style={{ fontSize: 20, color: '#1A2230' }}&gt;&lt;span style={{ fontWeight: 'bold', color: '#0E3F8C' }}&gt;Pattern 模式&lt;/span&gt;：战略是行动的一致性&lt;/Text&gt;&#10;        &lt;/Box&gt;&#10;        &lt;Box style={{ flexDirection: 'row', gap: 18, alignItems: 'center', background: '#FFFFFF', border: '1px solid #D6DCE5', borderRadius: 8, padding: '18px 24px' }}&gt;&#10;            &lt;Box style={{ width: 52, height: 52, borderRadius: 26, background: '#1E4FA8', justifyContent: 'center', alignItems: 'center' }}&gt;&#10;                &lt;Text style={{ fontSize: 20, fontWeight: 'bold', color: '#FFFFFF' }}&gt;P4&lt;/Text&gt;&#10;            &lt;/Box&gt;&#10;            &lt;Text style={{ fontSize: 20, color: '#1A2230' }}&gt;&lt;span style={{ fontWeight: 'bold', color: '#0E3F8C' }}&gt;Position 定位&lt;/span&gt;：战略是占据的位置&lt;/Text&gt;&#10;        &lt;/Box&gt;&#10;        &lt;Box style={{ flexDirection: 'row', gap: 18, alignItems: 'center', background: '#FFFFFF', border: '1px solid #D6DCE5', borderRadius: 8, padding: '18px 24px' }}&gt;&#10;            &lt;Box style={{ width: 52, height: 52, borderRadius: 26, background: '#1E4FA8', justifyContent: 'center', alignItems: 'center' }}&gt;&#10;                &lt;Text style={{ fontSize: 20, fontWeight: 'bold', color: '#FFFFFF' }}&gt;P5&lt;/Text&gt;&#10;            &lt;/Box&gt;&#10;            &lt;Text style={{ fontSize: 20, color: '#1A2230' }}&gt;&lt;span style={{ fontWeight: 'bold', color: '#0E3F8C' }}&gt;Perspective 视角&lt;/span&gt;：战略是看世界的方式&lt;/Text&gt;&#10;        &lt;/Box&gt;&#10;    &lt;/Box&gt;&#10;&lt;/Slide&gt;"/>
        <p:cNvGrpSpPr/>
        <p:nvPr/>
      </p:nvGrpSpPr>
      <p:grpSpPr>
        <a:xfrm>
          <a:off x="0" y="0"/>
          <a:ext cx="0" cy="0"/>
          <a:chOff x="0" y="0"/>
          <a:chExt cx="0" cy="0"/>
        </a:xfrm>
      </p:grpSpPr>
      <p:sp>
        <p:nvSpPr>
          <p:cNvPr id="304" name="矩形 303"/>
          <p:cNvSpPr/>
          <p:nvPr/>
        </p:nvSpPr>
        <p:spPr>
          <a:xfrm>
            <a:off x="0" y="0"/>
            <a:ext cx="12192000" cy="6858000"/>
          </a:xfrm>
          <a:prstGeom prst="rect">
            <a:avLst/>
          </a:prstGeom>
          <a:solidFill>
            <a:srgbClr val="FFFFFF"/>
          </a:solidFill>
          <a:ln/>
        </p:spPr>
        <p:txBody>
          <a:bodyPr/>
          <a:lstStyle/>
          <a:p>
            <a:endParaRPr/>
          </a:p>
        </p:txBody>
      </p:sp>
      <p:sp>
        <p:nvSpPr>
          <p:cNvPr id="305" name="矩形 304"/>
          <p:cNvSpPr/>
          <p:nvPr/>
        </p:nvSpPr>
        <p:spPr>
          <a:xfrm>
            <a:off x="0" y="0"/>
            <a:ext cx="12192000" cy="6858000"/>
          </a:xfrm>
          <a:prstGeom prst="rect">
            <a:avLst/>
          </a:prstGeom>
          <a:solidFill>
            <a:srgbClr val="F7F9FC"/>
          </a:solidFill>
          <a:ln/>
        </p:spPr>
        <p:txBody>
          <a:bodyPr/>
          <a:lstStyle/>
          <a:p>
            <a:endParaRPr/>
          </a:p>
        </p:txBody>
      </p:sp>
      <p:sp>
        <p:nvSpPr>
          <p:cNvPr id="306" name="矩形 305"/>
          <p:cNvSpPr/>
          <p:nvPr/>
        </p:nvSpPr>
        <p:spPr>
          <a:xfrm>
            <a:off x="0" y="0"/>
            <a:ext cx="5334000" cy="6858000"/>
          </a:xfrm>
          <a:prstGeom prst="rect">
            <a:avLst/>
          </a:prstGeom>
          <a:solidFill>
            <a:srgbClr val="0E3F8C"/>
          </a:solidFill>
          <a:ln/>
        </p:spPr>
        <p:txBody>
          <a:bodyPr/>
          <a:lstStyle/>
          <a:p>
            <a:endParaRPr/>
          </a:p>
        </p:txBody>
      </p:sp>
      <p:sp>
        <p:nvSpPr>
          <p:cNvPr id="307" name="矩形: 圆角 306"/>
          <p:cNvSpPr/>
          <p:nvPr/>
        </p:nvSpPr>
        <p:spPr>
          <a:xfrm>
            <a:off x="4000500" y="-952500"/>
            <a:ext cx="2857500" cy="2857500"/>
          </a:xfrm>
          <a:prstGeom prst="roundRect">
            <a:avLst>
              <a:gd name="adj" fmla="val 50000"/>
            </a:avLst>
          </a:prstGeom>
          <a:solidFill>
            <a:srgbClr val="1E4FA8">
              <a:alpha val="18000"/>
            </a:srgbClr>
          </a:solidFill>
          <a:ln/>
        </p:spPr>
        <p:txBody>
          <a:bodyPr/>
          <a:lstStyle/>
          <a:p>
            <a:endParaRPr/>
          </a:p>
        </p:txBody>
      </p:sp>
      <p:sp>
        <p:nvSpPr>
          <p:cNvPr id="308" name="文本框 307" descr="{&quot;isTemplate&quot;:true,&quot;type&quot;:&quot;text&quot;}"/>
          <p:cNvSpPr txBox="1"/>
          <p:nvPr/>
        </p:nvSpPr>
        <p:spPr>
          <a:xfrm>
            <a:off x="685800" y="1143000"/>
            <a:ext cx="4095750" cy="2286000"/>
          </a:xfrm>
          <a:prstGeom prst="rect">
            <a:avLst/>
          </a:prstGeom>
        </p:spPr>
        <p:txBody>
          <a:bodyPr wrap="none" lIns="0" tIns="0" rIns="0" bIns="0"/>
          <a:lstStyle/>
          <a:p>
            <a:pPr>
              <a:lnSpc>
                <a:spcPct val="100000"/>
              </a:lnSpc>
            </a:pPr>
            <a:r>
              <a:rPr lang="en-US" sz="15000" b="1">
                <a:solidFill>
                  <a:srgbClr val="E8EFF8">
                    <a:alpha val="28000"/>
                  </a:srgbClr>
                </a:solidFill>
                <a:latin typeface="Microsoft YaHei"/>
                <a:ea typeface="Microsoft YaHei"/>
              </a:rPr>
              <a:t>02</a:t>
            </a:r>
            <a:endParaRPr/>
          </a:p>
        </p:txBody>
      </p:sp>
      <p:sp>
        <p:nvSpPr>
          <p:cNvPr id="309" name="矩形 308"/>
          <p:cNvSpPr/>
          <p:nvPr/>
        </p:nvSpPr>
        <p:spPr>
          <a:xfrm>
            <a:off x="685800" y="3429000"/>
            <a:ext cx="609600" cy="47625"/>
          </a:xfrm>
          <a:prstGeom prst="rect">
            <a:avLst/>
          </a:prstGeom>
          <a:solidFill>
            <a:srgbClr val="FFC107"/>
          </a:solidFill>
          <a:ln/>
        </p:spPr>
        <p:txBody>
          <a:bodyPr/>
          <a:lstStyle/>
          <a:p>
            <a:endParaRPr/>
          </a:p>
        </p:txBody>
      </p:sp>
      <p:sp>
        <p:nvSpPr>
          <p:cNvPr id="310" name="文本框 309" descr="{&quot;isTemplate&quot;:true,&quot;type&quot;:&quot;text&quot;}"/>
          <p:cNvSpPr txBox="1"/>
          <p:nvPr/>
        </p:nvSpPr>
        <p:spPr>
          <a:xfrm>
            <a:off x="685800" y="3762375"/>
            <a:ext cx="4095750" cy="552450"/>
          </a:xfrm>
          <a:prstGeom prst="rect">
            <a:avLst/>
          </a:prstGeom>
        </p:spPr>
        <p:txBody>
          <a:bodyPr wrap="none" lIns="0" tIns="0" rIns="0" bIns="0"/>
          <a:lstStyle/>
          <a:p>
            <a:pPr>
              <a:lnSpc>
                <a:spcPct val="100000"/>
              </a:lnSpc>
            </a:pPr>
            <a:r>
              <a:rPr lang="zh-CN" sz="3600" b="1">
                <a:solidFill>
                  <a:srgbClr val="FFFFFF"/>
                </a:solidFill>
                <a:latin typeface="Microsoft YaHei"/>
                <a:ea typeface="Microsoft YaHei"/>
              </a:rPr>
              <a:t>五个维度详解</a:t>
            </a:r>
            <a:endParaRPr/>
          </a:p>
        </p:txBody>
      </p:sp>
      <p:sp>
        <p:nvSpPr>
          <p:cNvPr id="311" name="文本框 310" descr="{&quot;isTemplate&quot;:true,&quot;type&quot;:&quot;text&quot;}"/>
          <p:cNvSpPr txBox="1"/>
          <p:nvPr/>
        </p:nvSpPr>
        <p:spPr>
          <a:xfrm>
            <a:off x="685800" y="4505325"/>
            <a:ext cx="4095750" cy="704850"/>
          </a:xfrm>
          <a:prstGeom prst="rect">
            <a:avLst/>
          </a:prstGeom>
        </p:spPr>
        <p:txBody>
          <a:bodyPr wrap="square" lIns="0" tIns="0" rIns="0" bIns="0">
            <a:normAutofit/>
          </a:bodyPr>
          <a:lstStyle/>
          <a:p>
            <a:pPr>
              <a:lnSpc>
                <a:spcPct val="170000"/>
              </a:lnSpc>
            </a:pPr>
            <a:r>
              <a:rPr lang="zh-CN" sz="1350">
                <a:solidFill>
                  <a:srgbClr val="B9CCEC"/>
                </a:solidFill>
                <a:latin typeface="Microsoft YaHei"/>
                <a:ea typeface="Microsoft YaHei"/>
              </a:rPr>
              <a:t>每一个</a:t>
            </a:r>
            <a:r>
              <a:rPr lang="en-US" sz="1350">
                <a:solidFill>
                  <a:srgbClr val="B9CCEC"/>
                </a:solidFill>
                <a:latin typeface="Microsoft YaHei"/>
                <a:ea typeface="Microsoft YaHei"/>
              </a:rPr>
              <a:t> P </a:t>
            </a:r>
            <a:r>
              <a:rPr lang="zh-CN" sz="1350">
                <a:solidFill>
                  <a:srgbClr val="B9CCEC"/>
                </a:solidFill>
                <a:latin typeface="Microsoft YaHei"/>
                <a:ea typeface="Microsoft YaHei"/>
              </a:rPr>
              <a:t>给出：原文定义</a:t>
            </a:r>
            <a:r>
              <a:rPr lang="en-US" sz="1350">
                <a:solidFill>
                  <a:srgbClr val="B9CCEC"/>
                </a:solidFill>
                <a:latin typeface="Microsoft YaHei"/>
                <a:ea typeface="Microsoft YaHei"/>
              </a:rPr>
              <a:t> → </a:t>
            </a:r>
            <a:r>
              <a:rPr lang="zh-CN" sz="1350">
                <a:solidFill>
                  <a:srgbClr val="B9CCEC"/>
                </a:solidFill>
                <a:latin typeface="Microsoft YaHei"/>
                <a:ea typeface="Microsoft YaHei"/>
              </a:rPr>
              <a:t>关键特征</a:t>
            </a:r>
            <a:r>
              <a:rPr lang="en-US" sz="1350">
                <a:solidFill>
                  <a:srgbClr val="B9CCEC"/>
                </a:solidFill>
                <a:latin typeface="Microsoft YaHei"/>
                <a:ea typeface="Microsoft YaHei"/>
              </a:rPr>
              <a:t> → </a:t>
            </a:r>
            <a:r>
              <a:rPr lang="zh-CN" sz="1350">
                <a:solidFill>
                  <a:srgbClr val="B9CCEC"/>
                </a:solidFill>
                <a:latin typeface="Microsoft YaHei"/>
                <a:ea typeface="Microsoft YaHei"/>
              </a:rPr>
              <a:t>企业案例。请注意五个</a:t>
            </a:r>
            <a:r>
              <a:rPr lang="en-US" sz="1350">
                <a:solidFill>
                  <a:srgbClr val="B9CCEC"/>
                </a:solidFill>
                <a:latin typeface="Microsoft YaHei"/>
                <a:ea typeface="Microsoft YaHei"/>
              </a:rPr>
              <a:t> P </a:t>
            </a:r>
            <a:r>
              <a:rPr lang="zh-CN" sz="1350">
                <a:solidFill>
                  <a:srgbClr val="B9CCEC"/>
                </a:solidFill>
                <a:latin typeface="Microsoft YaHei"/>
                <a:ea typeface="Microsoft YaHei"/>
              </a:rPr>
              <a:t>是互补关系，</a:t>
            </a:r>
            <a:r>
              <a:rPr lang="en-US" sz="1350">
                <a:solidFill>
                  <a:srgbClr val="B9CCEC"/>
                </a:solidFill>
                <a:latin typeface="Microsoft YaHei"/>
                <a:ea typeface="Microsoft YaHei"/>
              </a:rPr>
              <a:t> </a:t>
            </a:r>
            <a:r>
              <a:rPr lang="zh-CN" sz="1350">
                <a:solidFill>
                  <a:srgbClr val="B9CCEC"/>
                </a:solidFill>
                <a:latin typeface="Microsoft YaHei"/>
                <a:ea typeface="Microsoft YaHei"/>
              </a:rPr>
              <a:t>而非五种“正确答案”。</a:t>
            </a:r>
            <a:endParaRPr/>
          </a:p>
        </p:txBody>
      </p:sp>
      <p:sp>
        <p:nvSpPr>
          <p:cNvPr id="312" name="矩形: 圆角 311"/>
          <p:cNvSpPr/>
          <p:nvPr/>
        </p:nvSpPr>
        <p:spPr>
          <a:xfrm>
            <a:off x="6096000" y="1524000"/>
            <a:ext cx="5334000" cy="838200"/>
          </a:xfrm>
          <a:prstGeom prst="roundRect">
            <a:avLst>
              <a:gd name="adj" fmla="val 9091"/>
            </a:avLst>
          </a:prstGeom>
          <a:solidFill>
            <a:srgbClr val="FFFFFF"/>
          </a:solidFill>
          <a:ln w="12700">
            <a:solidFill>
              <a:srgbClr val="D6DCE5"/>
            </a:solidFill>
            <a:prstDash val="solid"/>
          </a:ln>
        </p:spPr>
        <p:txBody>
          <a:bodyPr/>
          <a:lstStyle/>
          <a:p>
            <a:endParaRPr/>
          </a:p>
        </p:txBody>
      </p:sp>
      <p:sp>
        <p:nvSpPr>
          <p:cNvPr id="313" name="矩形: 圆角 312"/>
          <p:cNvSpPr/>
          <p:nvPr/>
        </p:nvSpPr>
        <p:spPr>
          <a:xfrm>
            <a:off x="6324600" y="1695450"/>
            <a:ext cx="495300" cy="495300"/>
          </a:xfrm>
          <a:prstGeom prst="roundRect">
            <a:avLst>
              <a:gd name="adj" fmla="val 50000"/>
            </a:avLst>
          </a:prstGeom>
          <a:solidFill>
            <a:srgbClr val="1E4FA8"/>
          </a:solidFill>
          <a:ln/>
        </p:spPr>
        <p:txBody>
          <a:bodyPr/>
          <a:lstStyle/>
          <a:p>
            <a:endParaRPr/>
          </a:p>
        </p:txBody>
      </p:sp>
      <p:sp>
        <p:nvSpPr>
          <p:cNvPr id="314" name="文本框 313" descr="{&quot;isTemplate&quot;:true,&quot;type&quot;:&quot;text&quot;}"/>
          <p:cNvSpPr txBox="1"/>
          <p:nvPr/>
        </p:nvSpPr>
        <p:spPr>
          <a:xfrm>
            <a:off x="6448425" y="1828800"/>
            <a:ext cx="247650" cy="228600"/>
          </a:xfrm>
          <a:prstGeom prst="rect">
            <a:avLst/>
          </a:prstGeom>
        </p:spPr>
        <p:txBody>
          <a:bodyPr wrap="none" lIns="0" tIns="0" rIns="0" bIns="0"/>
          <a:lstStyle/>
          <a:p>
            <a:pPr>
              <a:lnSpc>
                <a:spcPct val="100000"/>
              </a:lnSpc>
            </a:pPr>
            <a:r>
              <a:rPr lang="en-US" sz="1500" b="1">
                <a:solidFill>
                  <a:srgbClr val="FFFFFF"/>
                </a:solidFill>
                <a:latin typeface="Microsoft YaHei"/>
                <a:ea typeface="Microsoft YaHei"/>
              </a:rPr>
              <a:t>P1</a:t>
            </a:r>
            <a:endParaRPr/>
          </a:p>
        </p:txBody>
      </p:sp>
      <p:sp>
        <p:nvSpPr>
          <p:cNvPr id="315" name="文本框 314" descr="{&quot;isTemplate&quot;:true,&quot;type&quot;:&quot;text&quot;}"/>
          <p:cNvSpPr txBox="1"/>
          <p:nvPr/>
        </p:nvSpPr>
        <p:spPr>
          <a:xfrm>
            <a:off x="6991350" y="1828800"/>
            <a:ext cx="2571750" cy="228600"/>
          </a:xfrm>
          <a:prstGeom prst="rect">
            <a:avLst/>
          </a:prstGeom>
        </p:spPr>
        <p:txBody>
          <a:bodyPr wrap="none" lIns="0" tIns="0" rIns="0" bIns="0"/>
          <a:lstStyle/>
          <a:p>
            <a:pPr>
              <a:lnSpc>
                <a:spcPct val="100000"/>
              </a:lnSpc>
            </a:pPr>
            <a:r>
              <a:rPr lang="en-US" sz="1500" b="1">
                <a:solidFill>
                  <a:srgbClr val="0E3F8C"/>
                </a:solidFill>
                <a:latin typeface="Microsoft YaHei"/>
                <a:ea typeface="Microsoft YaHei"/>
              </a:rPr>
              <a:t>Plan </a:t>
            </a:r>
            <a:r>
              <a:rPr lang="zh-CN" sz="1500" b="1">
                <a:solidFill>
                  <a:srgbClr val="0E3F8C"/>
                </a:solidFill>
                <a:latin typeface="Microsoft YaHei"/>
                <a:ea typeface="Microsoft YaHei"/>
              </a:rPr>
              <a:t>计划</a:t>
            </a:r>
            <a:r>
              <a:rPr lang="zh-CN" sz="1500">
                <a:solidFill>
                  <a:srgbClr val="1A2230"/>
                </a:solidFill>
                <a:latin typeface="Microsoft YaHei"/>
                <a:ea typeface="Microsoft YaHei"/>
              </a:rPr>
              <a:t>：战略是事先的蓝图</a:t>
            </a:r>
            <a:endParaRPr/>
          </a:p>
        </p:txBody>
      </p:sp>
      <p:sp>
        <p:nvSpPr>
          <p:cNvPr id="316" name="矩形: 圆角 315"/>
          <p:cNvSpPr/>
          <p:nvPr/>
        </p:nvSpPr>
        <p:spPr>
          <a:xfrm>
            <a:off x="6096000" y="2571750"/>
            <a:ext cx="5334000" cy="838200"/>
          </a:xfrm>
          <a:prstGeom prst="roundRect">
            <a:avLst>
              <a:gd name="adj" fmla="val 9091"/>
            </a:avLst>
          </a:prstGeom>
          <a:solidFill>
            <a:srgbClr val="FFFFFF"/>
          </a:solidFill>
          <a:ln w="12700">
            <a:solidFill>
              <a:srgbClr val="D6DCE5"/>
            </a:solidFill>
            <a:prstDash val="solid"/>
          </a:ln>
        </p:spPr>
        <p:txBody>
          <a:bodyPr/>
          <a:lstStyle/>
          <a:p>
            <a:endParaRPr/>
          </a:p>
        </p:txBody>
      </p:sp>
      <p:sp>
        <p:nvSpPr>
          <p:cNvPr id="317" name="矩形: 圆角 316"/>
          <p:cNvSpPr/>
          <p:nvPr/>
        </p:nvSpPr>
        <p:spPr>
          <a:xfrm>
            <a:off x="6324600" y="2743200"/>
            <a:ext cx="495300" cy="495300"/>
          </a:xfrm>
          <a:prstGeom prst="roundRect">
            <a:avLst>
              <a:gd name="adj" fmla="val 50000"/>
            </a:avLst>
          </a:prstGeom>
          <a:solidFill>
            <a:srgbClr val="1E4FA8"/>
          </a:solidFill>
          <a:ln/>
        </p:spPr>
        <p:txBody>
          <a:bodyPr/>
          <a:lstStyle/>
          <a:p>
            <a:endParaRPr/>
          </a:p>
        </p:txBody>
      </p:sp>
      <p:sp>
        <p:nvSpPr>
          <p:cNvPr id="318" name="文本框 317" descr="{&quot;isTemplate&quot;:true,&quot;type&quot;:&quot;text&quot;}"/>
          <p:cNvSpPr txBox="1"/>
          <p:nvPr/>
        </p:nvSpPr>
        <p:spPr>
          <a:xfrm>
            <a:off x="6448425" y="2876550"/>
            <a:ext cx="247650" cy="228600"/>
          </a:xfrm>
          <a:prstGeom prst="rect">
            <a:avLst/>
          </a:prstGeom>
        </p:spPr>
        <p:txBody>
          <a:bodyPr wrap="none" lIns="0" tIns="0" rIns="0" bIns="0"/>
          <a:lstStyle/>
          <a:p>
            <a:pPr>
              <a:lnSpc>
                <a:spcPct val="100000"/>
              </a:lnSpc>
            </a:pPr>
            <a:r>
              <a:rPr lang="en-US" sz="1500" b="1">
                <a:solidFill>
                  <a:srgbClr val="FFFFFF"/>
                </a:solidFill>
                <a:latin typeface="Microsoft YaHei"/>
                <a:ea typeface="Microsoft YaHei"/>
              </a:rPr>
              <a:t>P2</a:t>
            </a:r>
            <a:endParaRPr/>
          </a:p>
        </p:txBody>
      </p:sp>
      <p:sp>
        <p:nvSpPr>
          <p:cNvPr id="319" name="文本框 318" descr="{&quot;isTemplate&quot;:true,&quot;type&quot;:&quot;text&quot;}"/>
          <p:cNvSpPr txBox="1"/>
          <p:nvPr/>
        </p:nvSpPr>
        <p:spPr>
          <a:xfrm>
            <a:off x="6991350" y="2876550"/>
            <a:ext cx="2571750" cy="228600"/>
          </a:xfrm>
          <a:prstGeom prst="rect">
            <a:avLst/>
          </a:prstGeom>
        </p:spPr>
        <p:txBody>
          <a:bodyPr wrap="none" lIns="0" tIns="0" rIns="0" bIns="0"/>
          <a:lstStyle/>
          <a:p>
            <a:pPr>
              <a:lnSpc>
                <a:spcPct val="100000"/>
              </a:lnSpc>
            </a:pPr>
            <a:r>
              <a:rPr lang="en-US" sz="1500" b="1">
                <a:solidFill>
                  <a:srgbClr val="0E3F8C"/>
                </a:solidFill>
                <a:latin typeface="Microsoft YaHei"/>
                <a:ea typeface="Microsoft YaHei"/>
              </a:rPr>
              <a:t>Ploy </a:t>
            </a:r>
            <a:r>
              <a:rPr lang="zh-CN" sz="1500" b="1">
                <a:solidFill>
                  <a:srgbClr val="0E3F8C"/>
                </a:solidFill>
                <a:latin typeface="Microsoft YaHei"/>
                <a:ea typeface="Microsoft YaHei"/>
              </a:rPr>
              <a:t>计谋</a:t>
            </a:r>
            <a:r>
              <a:rPr lang="zh-CN" sz="1500">
                <a:solidFill>
                  <a:srgbClr val="1A2230"/>
                </a:solidFill>
                <a:latin typeface="Microsoft YaHei"/>
                <a:ea typeface="Microsoft YaHei"/>
              </a:rPr>
              <a:t>：战略是竞争的算计</a:t>
            </a:r>
            <a:endParaRPr/>
          </a:p>
        </p:txBody>
      </p:sp>
      <p:sp>
        <p:nvSpPr>
          <p:cNvPr id="320" name="矩形: 圆角 319"/>
          <p:cNvSpPr/>
          <p:nvPr/>
        </p:nvSpPr>
        <p:spPr>
          <a:xfrm>
            <a:off x="6096000" y="3619500"/>
            <a:ext cx="5334000" cy="838200"/>
          </a:xfrm>
          <a:prstGeom prst="roundRect">
            <a:avLst>
              <a:gd name="adj" fmla="val 9091"/>
            </a:avLst>
          </a:prstGeom>
          <a:solidFill>
            <a:srgbClr val="FFFFFF"/>
          </a:solidFill>
          <a:ln w="12700">
            <a:solidFill>
              <a:srgbClr val="D6DCE5"/>
            </a:solidFill>
            <a:prstDash val="solid"/>
          </a:ln>
        </p:spPr>
        <p:txBody>
          <a:bodyPr/>
          <a:lstStyle/>
          <a:p>
            <a:endParaRPr/>
          </a:p>
        </p:txBody>
      </p:sp>
      <p:sp>
        <p:nvSpPr>
          <p:cNvPr id="321" name="矩形: 圆角 320"/>
          <p:cNvSpPr/>
          <p:nvPr/>
        </p:nvSpPr>
        <p:spPr>
          <a:xfrm>
            <a:off x="6324600" y="3790950"/>
            <a:ext cx="495300" cy="495300"/>
          </a:xfrm>
          <a:prstGeom prst="roundRect">
            <a:avLst>
              <a:gd name="adj" fmla="val 50000"/>
            </a:avLst>
          </a:prstGeom>
          <a:solidFill>
            <a:srgbClr val="1E4FA8"/>
          </a:solidFill>
          <a:ln/>
        </p:spPr>
        <p:txBody>
          <a:bodyPr/>
          <a:lstStyle/>
          <a:p>
            <a:endParaRPr/>
          </a:p>
        </p:txBody>
      </p:sp>
      <p:sp>
        <p:nvSpPr>
          <p:cNvPr id="322" name="文本框 321" descr="{&quot;isTemplate&quot;:true,&quot;type&quot;:&quot;text&quot;}"/>
          <p:cNvSpPr txBox="1"/>
          <p:nvPr/>
        </p:nvSpPr>
        <p:spPr>
          <a:xfrm>
            <a:off x="6448425" y="3924300"/>
            <a:ext cx="247650" cy="228600"/>
          </a:xfrm>
          <a:prstGeom prst="rect">
            <a:avLst/>
          </a:prstGeom>
        </p:spPr>
        <p:txBody>
          <a:bodyPr wrap="none" lIns="0" tIns="0" rIns="0" bIns="0"/>
          <a:lstStyle/>
          <a:p>
            <a:pPr>
              <a:lnSpc>
                <a:spcPct val="100000"/>
              </a:lnSpc>
            </a:pPr>
            <a:r>
              <a:rPr lang="en-US" sz="1500" b="1">
                <a:solidFill>
                  <a:srgbClr val="FFFFFF"/>
                </a:solidFill>
                <a:latin typeface="Microsoft YaHei"/>
                <a:ea typeface="Microsoft YaHei"/>
              </a:rPr>
              <a:t>P3</a:t>
            </a:r>
            <a:endParaRPr/>
          </a:p>
        </p:txBody>
      </p:sp>
      <p:sp>
        <p:nvSpPr>
          <p:cNvPr id="323" name="文本框 322" descr="{&quot;isTemplate&quot;:true,&quot;type&quot;:&quot;text&quot;}"/>
          <p:cNvSpPr txBox="1"/>
          <p:nvPr/>
        </p:nvSpPr>
        <p:spPr>
          <a:xfrm>
            <a:off x="6991350" y="3924300"/>
            <a:ext cx="3048000" cy="228600"/>
          </a:xfrm>
          <a:prstGeom prst="rect">
            <a:avLst/>
          </a:prstGeom>
        </p:spPr>
        <p:txBody>
          <a:bodyPr wrap="none" lIns="0" tIns="0" rIns="0" bIns="0"/>
          <a:lstStyle/>
          <a:p>
            <a:pPr>
              <a:lnSpc>
                <a:spcPct val="100000"/>
              </a:lnSpc>
            </a:pPr>
            <a:r>
              <a:rPr lang="en-US" sz="1500" b="1">
                <a:solidFill>
                  <a:srgbClr val="0E3F8C"/>
                </a:solidFill>
                <a:latin typeface="Microsoft YaHei"/>
                <a:ea typeface="Microsoft YaHei"/>
              </a:rPr>
              <a:t>Pattern </a:t>
            </a:r>
            <a:r>
              <a:rPr lang="zh-CN" sz="1500" b="1">
                <a:solidFill>
                  <a:srgbClr val="0E3F8C"/>
                </a:solidFill>
                <a:latin typeface="Microsoft YaHei"/>
                <a:ea typeface="Microsoft YaHei"/>
              </a:rPr>
              <a:t>模式</a:t>
            </a:r>
            <a:r>
              <a:rPr lang="zh-CN" sz="1500">
                <a:solidFill>
                  <a:srgbClr val="1A2230"/>
                </a:solidFill>
                <a:latin typeface="Microsoft YaHei"/>
                <a:ea typeface="Microsoft YaHei"/>
              </a:rPr>
              <a:t>：战略是行动的一致性</a:t>
            </a:r>
            <a:endParaRPr/>
          </a:p>
        </p:txBody>
      </p:sp>
      <p:sp>
        <p:nvSpPr>
          <p:cNvPr id="324" name="矩形: 圆角 323"/>
          <p:cNvSpPr/>
          <p:nvPr/>
        </p:nvSpPr>
        <p:spPr>
          <a:xfrm>
            <a:off x="6096000" y="4667250"/>
            <a:ext cx="5334000" cy="838200"/>
          </a:xfrm>
          <a:prstGeom prst="roundRect">
            <a:avLst>
              <a:gd name="adj" fmla="val 9091"/>
            </a:avLst>
          </a:prstGeom>
          <a:solidFill>
            <a:srgbClr val="FFFFFF"/>
          </a:solidFill>
          <a:ln w="12700">
            <a:solidFill>
              <a:srgbClr val="D6DCE5"/>
            </a:solidFill>
            <a:prstDash val="solid"/>
          </a:ln>
        </p:spPr>
        <p:txBody>
          <a:bodyPr/>
          <a:lstStyle/>
          <a:p>
            <a:endParaRPr/>
          </a:p>
        </p:txBody>
      </p:sp>
      <p:sp>
        <p:nvSpPr>
          <p:cNvPr id="325" name="矩形: 圆角 324"/>
          <p:cNvSpPr/>
          <p:nvPr/>
        </p:nvSpPr>
        <p:spPr>
          <a:xfrm>
            <a:off x="6324600" y="4838700"/>
            <a:ext cx="495300" cy="495300"/>
          </a:xfrm>
          <a:prstGeom prst="roundRect">
            <a:avLst>
              <a:gd name="adj" fmla="val 50000"/>
            </a:avLst>
          </a:prstGeom>
          <a:solidFill>
            <a:srgbClr val="1E4FA8"/>
          </a:solidFill>
          <a:ln/>
        </p:spPr>
        <p:txBody>
          <a:bodyPr/>
          <a:lstStyle/>
          <a:p>
            <a:endParaRPr/>
          </a:p>
        </p:txBody>
      </p:sp>
      <p:sp>
        <p:nvSpPr>
          <p:cNvPr id="326" name="文本框 325" descr="{&quot;isTemplate&quot;:true,&quot;type&quot;:&quot;text&quot;}"/>
          <p:cNvSpPr txBox="1"/>
          <p:nvPr/>
        </p:nvSpPr>
        <p:spPr>
          <a:xfrm>
            <a:off x="6448425" y="4972050"/>
            <a:ext cx="247650" cy="228600"/>
          </a:xfrm>
          <a:prstGeom prst="rect">
            <a:avLst/>
          </a:prstGeom>
        </p:spPr>
        <p:txBody>
          <a:bodyPr wrap="none" lIns="0" tIns="0" rIns="0" bIns="0"/>
          <a:lstStyle/>
          <a:p>
            <a:pPr>
              <a:lnSpc>
                <a:spcPct val="100000"/>
              </a:lnSpc>
            </a:pPr>
            <a:r>
              <a:rPr lang="en-US" sz="1500" b="1">
                <a:solidFill>
                  <a:srgbClr val="FFFFFF"/>
                </a:solidFill>
                <a:latin typeface="Microsoft YaHei"/>
                <a:ea typeface="Microsoft YaHei"/>
              </a:rPr>
              <a:t>P4</a:t>
            </a:r>
            <a:endParaRPr/>
          </a:p>
        </p:txBody>
      </p:sp>
      <p:sp>
        <p:nvSpPr>
          <p:cNvPr id="327" name="文本框 326" descr="{&quot;isTemplate&quot;:true,&quot;type&quot;:&quot;text&quot;}"/>
          <p:cNvSpPr txBox="1"/>
          <p:nvPr/>
        </p:nvSpPr>
        <p:spPr>
          <a:xfrm>
            <a:off x="6991350" y="4972050"/>
            <a:ext cx="2933700" cy="228600"/>
          </a:xfrm>
          <a:prstGeom prst="rect">
            <a:avLst/>
          </a:prstGeom>
        </p:spPr>
        <p:txBody>
          <a:bodyPr wrap="none" lIns="0" tIns="0" rIns="0" bIns="0"/>
          <a:lstStyle/>
          <a:p>
            <a:pPr>
              <a:lnSpc>
                <a:spcPct val="100000"/>
              </a:lnSpc>
            </a:pPr>
            <a:r>
              <a:rPr lang="en-US" sz="1500" b="1">
                <a:solidFill>
                  <a:srgbClr val="0E3F8C"/>
                </a:solidFill>
                <a:latin typeface="Microsoft YaHei"/>
                <a:ea typeface="Microsoft YaHei"/>
              </a:rPr>
              <a:t>Position </a:t>
            </a:r>
            <a:r>
              <a:rPr lang="zh-CN" sz="1500" b="1">
                <a:solidFill>
                  <a:srgbClr val="0E3F8C"/>
                </a:solidFill>
                <a:latin typeface="Microsoft YaHei"/>
                <a:ea typeface="Microsoft YaHei"/>
              </a:rPr>
              <a:t>定位</a:t>
            </a:r>
            <a:r>
              <a:rPr lang="zh-CN" sz="1500">
                <a:solidFill>
                  <a:srgbClr val="1A2230"/>
                </a:solidFill>
                <a:latin typeface="Microsoft YaHei"/>
                <a:ea typeface="Microsoft YaHei"/>
              </a:rPr>
              <a:t>：战略是占据的位置</a:t>
            </a:r>
            <a:endParaRPr/>
          </a:p>
        </p:txBody>
      </p:sp>
      <p:sp>
        <p:nvSpPr>
          <p:cNvPr id="328" name="矩形: 圆角 327"/>
          <p:cNvSpPr/>
          <p:nvPr/>
        </p:nvSpPr>
        <p:spPr>
          <a:xfrm>
            <a:off x="6096000" y="5715000"/>
            <a:ext cx="5334000" cy="838200"/>
          </a:xfrm>
          <a:prstGeom prst="roundRect">
            <a:avLst>
              <a:gd name="adj" fmla="val 9091"/>
            </a:avLst>
          </a:prstGeom>
          <a:solidFill>
            <a:srgbClr val="FFFFFF"/>
          </a:solidFill>
          <a:ln w="12700">
            <a:solidFill>
              <a:srgbClr val="D6DCE5"/>
            </a:solidFill>
            <a:prstDash val="solid"/>
          </a:ln>
        </p:spPr>
        <p:txBody>
          <a:bodyPr/>
          <a:lstStyle/>
          <a:p>
            <a:endParaRPr/>
          </a:p>
        </p:txBody>
      </p:sp>
      <p:sp>
        <p:nvSpPr>
          <p:cNvPr id="329" name="矩形: 圆角 328"/>
          <p:cNvSpPr/>
          <p:nvPr/>
        </p:nvSpPr>
        <p:spPr>
          <a:xfrm>
            <a:off x="6324600" y="5886450"/>
            <a:ext cx="495300" cy="495300"/>
          </a:xfrm>
          <a:prstGeom prst="roundRect">
            <a:avLst>
              <a:gd name="adj" fmla="val 50000"/>
            </a:avLst>
          </a:prstGeom>
          <a:solidFill>
            <a:srgbClr val="1E4FA8"/>
          </a:solidFill>
          <a:ln/>
        </p:spPr>
        <p:txBody>
          <a:bodyPr/>
          <a:lstStyle/>
          <a:p>
            <a:endParaRPr/>
          </a:p>
        </p:txBody>
      </p:sp>
      <p:sp>
        <p:nvSpPr>
          <p:cNvPr id="330" name="文本框 329" descr="{&quot;isTemplate&quot;:true,&quot;type&quot;:&quot;text&quot;}"/>
          <p:cNvSpPr txBox="1"/>
          <p:nvPr/>
        </p:nvSpPr>
        <p:spPr>
          <a:xfrm>
            <a:off x="6448425" y="6019800"/>
            <a:ext cx="247650" cy="228600"/>
          </a:xfrm>
          <a:prstGeom prst="rect">
            <a:avLst/>
          </a:prstGeom>
        </p:spPr>
        <p:txBody>
          <a:bodyPr wrap="none" lIns="0" tIns="0" rIns="0" bIns="0"/>
          <a:lstStyle/>
          <a:p>
            <a:pPr>
              <a:lnSpc>
                <a:spcPct val="100000"/>
              </a:lnSpc>
            </a:pPr>
            <a:r>
              <a:rPr lang="en-US" sz="1500" b="1">
                <a:solidFill>
                  <a:srgbClr val="FFFFFF"/>
                </a:solidFill>
                <a:latin typeface="Microsoft YaHei"/>
                <a:ea typeface="Microsoft YaHei"/>
              </a:rPr>
              <a:t>P5</a:t>
            </a:r>
            <a:endParaRPr/>
          </a:p>
        </p:txBody>
      </p:sp>
      <p:sp>
        <p:nvSpPr>
          <p:cNvPr id="331" name="文本框 330" descr="{&quot;isTemplate&quot;:true,&quot;type&quot;:&quot;text&quot;}"/>
          <p:cNvSpPr txBox="1"/>
          <p:nvPr/>
        </p:nvSpPr>
        <p:spPr>
          <a:xfrm>
            <a:off x="6991350" y="6019800"/>
            <a:ext cx="3448050" cy="228600"/>
          </a:xfrm>
          <a:prstGeom prst="rect">
            <a:avLst/>
          </a:prstGeom>
        </p:spPr>
        <p:txBody>
          <a:bodyPr wrap="none" lIns="0" tIns="0" rIns="0" bIns="0"/>
          <a:lstStyle/>
          <a:p>
            <a:pPr>
              <a:lnSpc>
                <a:spcPct val="100000"/>
              </a:lnSpc>
            </a:pPr>
            <a:r>
              <a:rPr lang="en-US" sz="1500" b="1">
                <a:solidFill>
                  <a:srgbClr val="0E3F8C"/>
                </a:solidFill>
                <a:latin typeface="Microsoft YaHei"/>
                <a:ea typeface="Microsoft YaHei"/>
              </a:rPr>
              <a:t>Perspective </a:t>
            </a:r>
            <a:r>
              <a:rPr lang="zh-CN" sz="1500" b="1">
                <a:solidFill>
                  <a:srgbClr val="0E3F8C"/>
                </a:solidFill>
                <a:latin typeface="Microsoft YaHei"/>
                <a:ea typeface="Microsoft YaHei"/>
              </a:rPr>
              <a:t>视角</a:t>
            </a:r>
            <a:r>
              <a:rPr lang="zh-CN" sz="1500">
                <a:solidFill>
                  <a:srgbClr val="1A2230"/>
                </a:solidFill>
                <a:latin typeface="Microsoft YaHei"/>
                <a:ea typeface="Microsoft YaHei"/>
              </a:rPr>
              <a:t>：战略是看世界的方式</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7F9FC', position: 'relative', padding: 0 }}&gt;&#10;    &lt;Box style={{ position: 'absolute', top: 0, left: 0, width: 1280, height: 72, background: '#1E4FA8', flexDirection: 'row', alignItems: 'center', justifyContent: 'space-between', paddingLeft: 40, paddingRight: 40 }}&gt;&#10;        &lt;Text style={{ fontSize: 15, color: '#FFFFFF', letterSpacing: 3 }}&gt;战略管理 · STRATEGIC MANAGEMENT&lt;/Text&gt;&#10;        &lt;Text style={{ fontSize: 15, color: '#E8EFF8' }}&gt;02 五个维度详解&lt;/Text&gt;&#10;    &lt;/Box&gt;&#10;    &lt;Box style={{ position: 'absolute', bottom: 0, left: 0, width: 1280, height: 44, background: '#FFFFFF', flexDirection: 'row', alignItems: 'center', justifyContent: 'space-between', paddingLeft: 40, paddingRight: 40, borderTop: '1px solid #E5E7EB' }}&gt;&#10;        &lt;Text style={{ fontSize: 14, color: '#8B97A8' }}&gt;《战略管理》教学课件 · 明茨伯格 5P 理论&lt;/Text&gt;&#10;        &lt;Text style={{ fontSize: 15, color: '#0E3F8C', fontWeight: 'bold' }}&gt;07 / 16&lt;/Text&gt;&#10;    &lt;/Box&gt;&#10;    &lt;Box style={{ position: 'absolute', top: 72, left: 0, width: 1280, height: 604, flexDirection: 'row', padding: '28px 40px 20px 40px', gap: 36, alignItems: 'center' }}&gt;&#10;        &lt;Box style={{ width: 460, flexDirection: 'column' }}&gt;&#10;            &lt;Box style={{ background: '#0E3F8C', borderRadius: 6, padding: '6px 16px', alignSelf: 'flex-start', marginBottom: 18 }}&gt;&#10;                &lt;Text style={{ fontSize: 16, color: '#FFFFFF', letterSpacing: 2 }}&gt;总览 · OVERVIEW&lt;/Text&gt;&#10;            &lt;/Box&gt;&#10;            &lt;Text style={{ fontSize: 34, fontWeight: 'bold', color: '#0E3F8C', lineHeight: 1.4, marginBottom: 20 }}&gt;&#10;                一个词，五重含义：&#10;                &lt;br /&gt;&#10;                Strategy 的 5P 模型&#10;            &lt;/Text&gt;&#10;            &lt;Text style={{ fontSize: 18, color: '#4A5568', lineHeight: 1.8, marginBottom: 22 }}&gt;&#10;                明茨伯格指出，五个定义并不互相排斥：一项战略可以同时是一次&lt;span style={{ fontWeight: 'bold', color: '#1A2230' }}&gt;计划&lt;/span&gt;、一种&lt;span style={{ fontWeight: 'bold', color: '#1A2230' }}&gt;计谋&lt;/span&gt;、一个已实现的&lt;span style={{ fontWeight: 'bold', color: '#1A2230' }}&gt;模式&lt;/span&gt;、一处&lt;span style={{ fontWeight: 'bold', color: '#1A2230' }}&gt;定位&lt;/span&gt;，以及一种&lt;span style={{ fontWeight: 'bold', color: '#1A2230' }}&gt;视角&lt;/span&gt;。&#10;            &lt;/Text&gt;&#10;            &lt;Box style={{ background: '#E8EFF8', borderRadius: 8, padding: '18px 22px', flexDirection: 'column', gap: 8 }}&gt;&#10;                &lt;Text style={{ fontSize: 18, fontWeight: 'bold', color: '#0E3F8C' }}&gt;记忆锚点&lt;/Text&gt;&#10;                &lt;Text style={{ fontSize: 17, color: '#4A5568', lineHeight: 1.7 }}&gt;&#10;                    前两个 P 看的是“&lt;span style={{ color: '#1E4FA8', fontWeight: 'bold' }}&gt;打算做什么&lt;/span&gt;”，第三个 P 看“&lt;span style={{ color: '#1E4FA8', fontWeight: 'bold' }}&gt;实际做成了什么&lt;/span&gt;”，后两个 P 把组织与市场连接起来。&#10;                &lt;/Text&gt;&#10;            &lt;/Box&gt;&#10;        &lt;/Box&gt;&#10;        &lt;Box style={{ flex: 1, background: '#FFFFFF', border: '1px solid #D6DCE5', borderRadius: 12, padding: 12, justifyContent: 'center', alignItems: 'center', height: 560 }}&gt;&#10;            &lt;svg width={560} height={530} viewBox='0 0 560 530'&gt;&#10;                &lt;line x1='280' y1='265' x2='280' y2='95' stroke='#3D7BD9' strokeWidth='2' strokeDasharray='6 5' opacity='0.55' /&gt;&#10;                &lt;line x1='280' y1='265' x2='118' y2='212' stroke='#3D7BD9' strokeWidth='2' strokeDasharray='6 5' opacity='0.55' /&gt;&#10;                &lt;line x1='280' y1='265' x2='178' y2='400' stroke='#3D7BD9' strokeWidth='2' strokeDasharray='6 5' opacity='0.55' /&gt;&#10;                &lt;line x1='280' y1='265' x2='382' y2='400' stroke='#3D7BD9' strokeWidth='2' strokeDasharray='6 5' opacity='0.55' /&gt;&#10;                &lt;line x1='280' y1='265' x2='442' y2='212' stroke='#3D7BD9' strokeWidth='2' strokeDasharray='6 5' opacity='0.55' /&gt;&#10;                &lt;circle cx='280' cy='265' r='74' fill='#0E3F8C' /&gt;&#10;                &lt;text x='280' y='258' textAnchor='middle' fontSize='26' fontWeight='bold' fill='#FFFFFF'&gt;Strategy&lt;/text&gt;&#10;                &lt;text x='280' y='286' textAnchor='middle' fontSize='18' fill='#E8EFF8'&gt;战略&lt;/text&gt;&#10;                &lt;circle cx='280' cy='82' r='58' fill='#E8EFF8' stroke='#1E4FA8' strokeWidth='2.5' /&gt;&#10;                &lt;text x='280' y='78' textAnchor='middle' fontSize='23' fontWeight='bold' fill='#0E3F8C'&gt;计划&lt;/text&gt;&#10;                &lt;text x='280' y='102' textAnchor='middle' fontSize='15' fill='#3D7BD9'&gt;Plan&lt;/text&gt;&#10;                &lt;circle cx='116' cy='210' r='58' fill='#E8EFF8' stroke='#1E4FA8' strokeWidth='2.5' /&gt;&#10;                &lt;text x='116' y='206' textAnchor='middle' fontSize='23' fontWeight='bold' fill='#0E3F8C'&gt;计谋&lt;/text&gt;&#10;                &lt;text x='116' y='230' textAnchor='middle' fontSize='15' fill='#3D7BD9'&gt;Ploy&lt;/text&gt;&#10;                &lt;circle cx='176' cy='402' r='58' fill='#E8EFF8' stroke='#1E4FA8' strokeWidth='2.5' /&gt;&#10;                &lt;text x='176' y='398' textAnchor='middle' fontSize='23' fontWeight='bold' fill='#0E3F8C'&gt;模式&lt;/text&gt;&#10;                &lt;text x='176' y='422' textAnchor='middle' fontSize='15' fill='#3D7BD9'&gt;Pattern&lt;/text&gt;&#10;                &lt;circle cx='384' cy='402' r='58' fill='#E8EFF8' stroke='#1E4FA8' strokeWidth='2.5' /&gt;&#10;                &lt;text x='384' y='398' textAnchor='middle' fontSize='23' fontWeight='bold' fill='#0E3F8C'&gt;定位&lt;/text&gt;&#10;                &lt;text x='384' y='422' textAnchor='middle' fontSize='15' fill='#3D7BD9'&gt;Position&lt;/text&gt;&#10;                &lt;circle cx='444' cy='210' r='58' fill='#E8EFF8' stroke='#1E4FA8' strokeWidth='2.5' /&gt;&#10;                &lt;text x='444' y='206' textAnchor='middle' fontSize='23' fontWeight='bold' fill='#0E3F8C'&gt;视角&lt;/text&gt;&#10;                &lt;text x='444' y='230' textAnchor='middle' fontSize='14' fill='#3D7BD9'&gt;Perspective&lt;/text&gt;&#10;            &lt;/svg&gt;&#10;        &lt;/Box&gt;&#10;    &lt;/Box&gt;&#10;&lt;/Slide&gt;"/>
        <p:cNvGrpSpPr/>
        <p:nvPr/>
      </p:nvGrpSpPr>
      <p:grpSpPr>
        <a:xfrm>
          <a:off x="0" y="0"/>
          <a:ext cx="0" cy="0"/>
          <a:chOff x="0" y="0"/>
          <a:chExt cx="0" cy="0"/>
        </a:xfrm>
      </p:grpSpPr>
      <p:sp>
        <p:nvSpPr>
          <p:cNvPr id="333" name="矩形 332"/>
          <p:cNvSpPr/>
          <p:nvPr/>
        </p:nvSpPr>
        <p:spPr>
          <a:xfrm>
            <a:off x="0" y="0"/>
            <a:ext cx="12192000" cy="6858000"/>
          </a:xfrm>
          <a:prstGeom prst="rect">
            <a:avLst/>
          </a:prstGeom>
          <a:solidFill>
            <a:srgbClr val="F7F9FC"/>
          </a:solidFill>
          <a:ln/>
        </p:spPr>
        <p:txBody>
          <a:bodyPr/>
          <a:lstStyle/>
          <a:p>
            <a:endParaRPr/>
          </a:p>
        </p:txBody>
      </p:sp>
      <p:sp>
        <p:nvSpPr>
          <p:cNvPr id="334" name="矩形 333"/>
          <p:cNvSpPr/>
          <p:nvPr/>
        </p:nvSpPr>
        <p:spPr>
          <a:xfrm>
            <a:off x="0" y="0"/>
            <a:ext cx="12192000" cy="685800"/>
          </a:xfrm>
          <a:prstGeom prst="rect">
            <a:avLst/>
          </a:prstGeom>
          <a:solidFill>
            <a:srgbClr val="1E4FA8"/>
          </a:solidFill>
          <a:ln/>
        </p:spPr>
        <p:txBody>
          <a:bodyPr/>
          <a:lstStyle/>
          <a:p>
            <a:endParaRPr/>
          </a:p>
        </p:txBody>
      </p:sp>
      <p:sp>
        <p:nvSpPr>
          <p:cNvPr id="335" name="文本框 334"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FFFFFF"/>
                </a:solidFill>
                <a:latin typeface="Microsoft YaHei"/>
                <a:ea typeface="Microsoft YaHei"/>
              </a:rPr>
              <a:t>战略管理</a:t>
            </a:r>
            <a:r>
              <a:rPr lang="en-US" sz="1125" spc="225">
                <a:solidFill>
                  <a:srgbClr val="FFFFFF"/>
                </a:solidFill>
                <a:latin typeface="Microsoft YaHei"/>
                <a:ea typeface="Microsoft YaHei"/>
              </a:rPr>
              <a:t> · STRATEGIC MANAGEMENT</a:t>
            </a:r>
            <a:endParaRPr/>
          </a:p>
        </p:txBody>
      </p:sp>
      <p:sp>
        <p:nvSpPr>
          <p:cNvPr id="336" name="文本框 335" descr="{&quot;isTemplate&quot;:true,&quot;type&quot;:&quot;text&quot;}"/>
          <p:cNvSpPr txBox="1"/>
          <p:nvPr/>
        </p:nvSpPr>
        <p:spPr>
          <a:xfrm>
            <a:off x="10734675" y="257175"/>
            <a:ext cx="1076325" cy="171450"/>
          </a:xfrm>
          <a:prstGeom prst="rect">
            <a:avLst/>
          </a:prstGeom>
        </p:spPr>
        <p:txBody>
          <a:bodyPr wrap="none" lIns="0" tIns="0" rIns="0" bIns="0"/>
          <a:lstStyle/>
          <a:p>
            <a:pPr>
              <a:lnSpc>
                <a:spcPct val="100000"/>
              </a:lnSpc>
            </a:pPr>
            <a:r>
              <a:rPr lang="en-US" sz="1125">
                <a:solidFill>
                  <a:srgbClr val="E8EFF8"/>
                </a:solidFill>
                <a:latin typeface="Microsoft YaHei"/>
                <a:ea typeface="Microsoft YaHei"/>
              </a:rPr>
              <a:t>02 </a:t>
            </a:r>
            <a:r>
              <a:rPr lang="zh-CN" sz="1125">
                <a:solidFill>
                  <a:srgbClr val="E8EFF8"/>
                </a:solidFill>
                <a:latin typeface="Microsoft YaHei"/>
                <a:ea typeface="Microsoft YaHei"/>
              </a:rPr>
              <a:t>五个维度详解</a:t>
            </a:r>
            <a:endParaRPr/>
          </a:p>
        </p:txBody>
      </p:sp>
      <p:sp>
        <p:nvSpPr>
          <p:cNvPr id="337" name="矩形 336"/>
          <p:cNvSpPr/>
          <p:nvPr/>
        </p:nvSpPr>
        <p:spPr>
          <a:xfrm>
            <a:off x="0" y="6448425"/>
            <a:ext cx="12192000" cy="409575"/>
          </a:xfrm>
          <a:prstGeom prst="rect">
            <a:avLst/>
          </a:prstGeom>
          <a:solidFill>
            <a:srgbClr val="FFFFFF"/>
          </a:solidFill>
          <a:ln/>
        </p:spPr>
        <p:txBody>
          <a:bodyPr/>
          <a:lstStyle/>
          <a:p>
            <a:endParaRPr/>
          </a:p>
        </p:txBody>
      </p:sp>
      <p:sp>
        <p:nvSpPr>
          <p:cNvPr id="338" name="任意多边形: 形状 337"/>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E5E7EB"/>
          </a:solidFill>
          <a:ln/>
        </p:spPr>
        <p:txBody>
          <a:bodyPr/>
          <a:lstStyle/>
          <a:p>
            <a:endParaRPr/>
          </a:p>
        </p:txBody>
      </p:sp>
      <p:sp>
        <p:nvSpPr>
          <p:cNvPr id="339" name="文本框 338" descr="{&quot;isTemplate&quot;:true,&quot;type&quot;:&quot;text&quot;}"/>
          <p:cNvSpPr txBox="1"/>
          <p:nvPr/>
        </p:nvSpPr>
        <p:spPr>
          <a:xfrm>
            <a:off x="381000" y="6572250"/>
            <a:ext cx="2486025"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《战略管理》教学课件</a:t>
            </a:r>
            <a:r>
              <a:rPr lang="en-US" sz="1050">
                <a:solidFill>
                  <a:srgbClr val="8B97A8"/>
                </a:solidFill>
                <a:latin typeface="Microsoft YaHei"/>
                <a:ea typeface="Microsoft YaHei"/>
              </a:rPr>
              <a:t> · </a:t>
            </a:r>
            <a:r>
              <a:rPr lang="zh-CN" sz="1050">
                <a:solidFill>
                  <a:srgbClr val="8B97A8"/>
                </a:solidFill>
                <a:latin typeface="Microsoft YaHei"/>
                <a:ea typeface="Microsoft YaHei"/>
              </a:rPr>
              <a:t>明茨伯格</a:t>
            </a:r>
            <a:r>
              <a:rPr lang="en-US" sz="1050">
                <a:solidFill>
                  <a:srgbClr val="8B97A8"/>
                </a:solidFill>
                <a:latin typeface="Microsoft YaHei"/>
                <a:ea typeface="Microsoft YaHei"/>
              </a:rPr>
              <a:t> 5P </a:t>
            </a:r>
            <a:r>
              <a:rPr lang="zh-CN" sz="1050">
                <a:solidFill>
                  <a:srgbClr val="8B97A8"/>
                </a:solidFill>
                <a:latin typeface="Microsoft YaHei"/>
                <a:ea typeface="Microsoft YaHei"/>
              </a:rPr>
              <a:t>理论</a:t>
            </a:r>
            <a:endParaRPr/>
          </a:p>
        </p:txBody>
      </p:sp>
      <p:sp>
        <p:nvSpPr>
          <p:cNvPr id="340" name="文本框 339" descr="{&quot;isTemplate&quot;:true,&quot;type&quot;:&quot;text&quot;}"/>
          <p:cNvSpPr txBox="1"/>
          <p:nvPr/>
        </p:nvSpPr>
        <p:spPr>
          <a:xfrm>
            <a:off x="11296650" y="6572250"/>
            <a:ext cx="514350" cy="171450"/>
          </a:xfrm>
          <a:prstGeom prst="rect">
            <a:avLst/>
          </a:prstGeom>
        </p:spPr>
        <p:txBody>
          <a:bodyPr wrap="none" lIns="0" tIns="0" rIns="0" bIns="0"/>
          <a:lstStyle/>
          <a:p>
            <a:pPr>
              <a:lnSpc>
                <a:spcPct val="100000"/>
              </a:lnSpc>
            </a:pPr>
            <a:r>
              <a:rPr lang="en-US" sz="1125" b="1">
                <a:solidFill>
                  <a:srgbClr val="0E3F8C"/>
                </a:solidFill>
                <a:latin typeface="Microsoft YaHei"/>
                <a:ea typeface="Microsoft YaHei"/>
              </a:rPr>
              <a:t>07 / 16</a:t>
            </a:r>
            <a:endParaRPr/>
          </a:p>
        </p:txBody>
      </p:sp>
      <p:sp>
        <p:nvSpPr>
          <p:cNvPr id="341" name="矩形: 圆角 340"/>
          <p:cNvSpPr/>
          <p:nvPr/>
        </p:nvSpPr>
        <p:spPr>
          <a:xfrm>
            <a:off x="381000" y="1409700"/>
            <a:ext cx="1790700" cy="304800"/>
          </a:xfrm>
          <a:prstGeom prst="roundRect">
            <a:avLst>
              <a:gd name="adj" fmla="val 18750"/>
            </a:avLst>
          </a:prstGeom>
          <a:solidFill>
            <a:srgbClr val="0E3F8C"/>
          </a:solidFill>
          <a:ln/>
        </p:spPr>
        <p:txBody>
          <a:bodyPr/>
          <a:lstStyle/>
          <a:p>
            <a:endParaRPr/>
          </a:p>
        </p:txBody>
      </p:sp>
      <p:sp>
        <p:nvSpPr>
          <p:cNvPr id="342" name="文本框 341" descr="{&quot;isTemplate&quot;:true,&quot;type&quot;:&quot;text&quot;}"/>
          <p:cNvSpPr txBox="1"/>
          <p:nvPr/>
        </p:nvSpPr>
        <p:spPr>
          <a:xfrm>
            <a:off x="533400" y="1466850"/>
            <a:ext cx="1485900" cy="190500"/>
          </a:xfrm>
          <a:prstGeom prst="rect">
            <a:avLst/>
          </a:prstGeom>
        </p:spPr>
        <p:txBody>
          <a:bodyPr wrap="none" lIns="0" tIns="0" rIns="0" bIns="0"/>
          <a:lstStyle/>
          <a:p>
            <a:pPr>
              <a:lnSpc>
                <a:spcPct val="100000"/>
              </a:lnSpc>
            </a:pPr>
            <a:r>
              <a:rPr lang="zh-CN" sz="1200" spc="150">
                <a:solidFill>
                  <a:srgbClr val="FFFFFF"/>
                </a:solidFill>
                <a:latin typeface="Microsoft YaHei"/>
                <a:ea typeface="Microsoft YaHei"/>
              </a:rPr>
              <a:t>总览</a:t>
            </a:r>
            <a:r>
              <a:rPr lang="en-US" sz="1200" spc="150">
                <a:solidFill>
                  <a:srgbClr val="FFFFFF"/>
                </a:solidFill>
                <a:latin typeface="Microsoft YaHei"/>
                <a:ea typeface="Microsoft YaHei"/>
              </a:rPr>
              <a:t> · OVERVIEW</a:t>
            </a:r>
            <a:endParaRPr/>
          </a:p>
        </p:txBody>
      </p:sp>
      <p:sp>
        <p:nvSpPr>
          <p:cNvPr id="343" name="文本框 342" descr="{&quot;isTemplate&quot;:true,&quot;type&quot;:&quot;text&quot;}"/>
          <p:cNvSpPr txBox="1"/>
          <p:nvPr/>
        </p:nvSpPr>
        <p:spPr>
          <a:xfrm>
            <a:off x="381000" y="1885950"/>
            <a:ext cx="4381500" cy="1095375"/>
          </a:xfrm>
          <a:prstGeom prst="rect">
            <a:avLst/>
          </a:prstGeom>
        </p:spPr>
        <p:txBody>
          <a:bodyPr wrap="none" lIns="0" tIns="0" rIns="0" bIns="0"/>
          <a:lstStyle/>
          <a:p>
            <a:pPr>
              <a:lnSpc>
                <a:spcPct val="140000"/>
              </a:lnSpc>
            </a:pPr>
            <a:r>
              <a:rPr lang="zh-CN" sz="2550" b="1">
                <a:solidFill>
                  <a:srgbClr val="0E3F8C"/>
                </a:solidFill>
                <a:latin typeface="Microsoft YaHei"/>
                <a:ea typeface="Microsoft YaHei"/>
              </a:rPr>
              <a:t>一个词，五重含义：</a:t>
            </a:r>
            <a:endParaRPr/>
          </a:p>
          <a:p>
            <a:pPr>
              <a:lnSpc>
                <a:spcPct val="140000"/>
              </a:lnSpc>
            </a:pPr>
            <a:r>
              <a:rPr lang="en-US" sz="2550" b="1">
                <a:solidFill>
                  <a:srgbClr val="0E3F8C"/>
                </a:solidFill>
                <a:latin typeface="Microsoft YaHei"/>
                <a:ea typeface="Microsoft YaHei"/>
              </a:rPr>
              <a:t>Strategy </a:t>
            </a:r>
            <a:r>
              <a:rPr lang="zh-CN" sz="2550" b="1">
                <a:solidFill>
                  <a:srgbClr val="0E3F8C"/>
                </a:solidFill>
                <a:latin typeface="Microsoft YaHei"/>
                <a:ea typeface="Microsoft YaHei"/>
              </a:rPr>
              <a:t>的</a:t>
            </a:r>
            <a:r>
              <a:rPr lang="en-US" sz="2550" b="1">
                <a:solidFill>
                  <a:srgbClr val="0E3F8C"/>
                </a:solidFill>
                <a:latin typeface="Microsoft YaHei"/>
                <a:ea typeface="Microsoft YaHei"/>
              </a:rPr>
              <a:t> 5P </a:t>
            </a:r>
            <a:r>
              <a:rPr lang="zh-CN" sz="2550" b="1">
                <a:solidFill>
                  <a:srgbClr val="0E3F8C"/>
                </a:solidFill>
                <a:latin typeface="Microsoft YaHei"/>
                <a:ea typeface="Microsoft YaHei"/>
              </a:rPr>
              <a:t>模型</a:t>
            </a:r>
            <a:endParaRPr/>
          </a:p>
        </p:txBody>
      </p:sp>
      <p:sp>
        <p:nvSpPr>
          <p:cNvPr id="344" name="文本框 343" descr="{&quot;isTemplate&quot;:true,&quot;type&quot;:&quot;text&quot;}"/>
          <p:cNvSpPr txBox="1"/>
          <p:nvPr/>
        </p:nvSpPr>
        <p:spPr>
          <a:xfrm>
            <a:off x="381000" y="3171825"/>
            <a:ext cx="4381500" cy="1114425"/>
          </a:xfrm>
          <a:prstGeom prst="rect">
            <a:avLst/>
          </a:prstGeom>
        </p:spPr>
        <p:txBody>
          <a:bodyPr wrap="square" lIns="0" tIns="0" rIns="0" bIns="0">
            <a:normAutofit/>
          </a:bodyPr>
          <a:lstStyle/>
          <a:p>
            <a:pPr>
              <a:lnSpc>
                <a:spcPct val="180000"/>
              </a:lnSpc>
            </a:pPr>
            <a:r>
              <a:rPr lang="zh-CN" sz="1350" dirty="0">
                <a:solidFill>
                  <a:srgbClr val="4A5568"/>
                </a:solidFill>
                <a:latin typeface="Microsoft YaHei"/>
                <a:ea typeface="Microsoft YaHei"/>
              </a:rPr>
              <a:t>明茨伯格指出，五个定义并不互相排斥：一项战略可以同时是一次</a:t>
            </a:r>
            <a:r>
              <a:rPr lang="zh-CN" sz="1350" b="1" dirty="0">
                <a:solidFill>
                  <a:srgbClr val="1A2230"/>
                </a:solidFill>
                <a:latin typeface="Microsoft YaHei"/>
                <a:ea typeface="Microsoft YaHei"/>
              </a:rPr>
              <a:t>计划</a:t>
            </a:r>
            <a:r>
              <a:rPr lang="zh-CN" sz="1350" dirty="0">
                <a:solidFill>
                  <a:srgbClr val="4A5568"/>
                </a:solidFill>
                <a:latin typeface="Microsoft YaHei"/>
                <a:ea typeface="Microsoft YaHei"/>
              </a:rPr>
              <a:t>、一种</a:t>
            </a:r>
            <a:r>
              <a:rPr lang="zh-CN" sz="1350" b="1" dirty="0">
                <a:solidFill>
                  <a:srgbClr val="1A2230"/>
                </a:solidFill>
                <a:latin typeface="Microsoft YaHei"/>
                <a:ea typeface="Microsoft YaHei"/>
              </a:rPr>
              <a:t>计谋</a:t>
            </a:r>
            <a:r>
              <a:rPr lang="zh-CN" sz="1350" dirty="0">
                <a:solidFill>
                  <a:srgbClr val="4A5568"/>
                </a:solidFill>
                <a:latin typeface="Microsoft YaHei"/>
                <a:ea typeface="Microsoft YaHei"/>
              </a:rPr>
              <a:t>、一个已实现的</a:t>
            </a:r>
            <a:r>
              <a:rPr lang="zh-CN" sz="1350" b="1" dirty="0">
                <a:solidFill>
                  <a:srgbClr val="1A2230"/>
                </a:solidFill>
                <a:latin typeface="Microsoft YaHei"/>
                <a:ea typeface="Microsoft YaHei"/>
              </a:rPr>
              <a:t>模式</a:t>
            </a:r>
            <a:r>
              <a:rPr lang="zh-CN" sz="1350" dirty="0">
                <a:solidFill>
                  <a:srgbClr val="4A5568"/>
                </a:solidFill>
                <a:latin typeface="Microsoft YaHei"/>
                <a:ea typeface="Microsoft YaHei"/>
              </a:rPr>
              <a:t>、一处</a:t>
            </a:r>
            <a:r>
              <a:rPr lang="zh-CN" sz="1350" b="1" dirty="0">
                <a:solidFill>
                  <a:srgbClr val="1A2230"/>
                </a:solidFill>
                <a:latin typeface="Microsoft YaHei"/>
                <a:ea typeface="Microsoft YaHei"/>
              </a:rPr>
              <a:t>定位</a:t>
            </a:r>
            <a:r>
              <a:rPr lang="zh-CN" sz="1350" dirty="0">
                <a:solidFill>
                  <a:srgbClr val="4A5568"/>
                </a:solidFill>
                <a:latin typeface="Microsoft YaHei"/>
                <a:ea typeface="Microsoft YaHei"/>
              </a:rPr>
              <a:t>，以及一种</a:t>
            </a:r>
            <a:r>
              <a:rPr lang="zh-CN" sz="1350" b="1" dirty="0">
                <a:solidFill>
                  <a:srgbClr val="1A2230"/>
                </a:solidFill>
                <a:latin typeface="Microsoft YaHei"/>
                <a:ea typeface="Microsoft YaHei"/>
              </a:rPr>
              <a:t>视角</a:t>
            </a:r>
            <a:r>
              <a:rPr lang="zh-CN" altLang="en-US" sz="1350" b="1" dirty="0">
                <a:solidFill>
                  <a:srgbClr val="1A2230"/>
                </a:solidFill>
                <a:latin typeface="Microsoft YaHei"/>
                <a:ea typeface="Microsoft YaHei"/>
              </a:rPr>
              <a:t>或观念</a:t>
            </a:r>
            <a:r>
              <a:rPr lang="zh-CN" sz="1350" dirty="0">
                <a:solidFill>
                  <a:srgbClr val="4A5568"/>
                </a:solidFill>
                <a:latin typeface="Microsoft YaHei"/>
                <a:ea typeface="Microsoft YaHei"/>
              </a:rPr>
              <a:t>。</a:t>
            </a:r>
            <a:endParaRPr dirty="0"/>
          </a:p>
        </p:txBody>
      </p:sp>
      <p:sp>
        <p:nvSpPr>
          <p:cNvPr id="345" name="矩形: 圆角 344"/>
          <p:cNvSpPr/>
          <p:nvPr/>
        </p:nvSpPr>
        <p:spPr>
          <a:xfrm>
            <a:off x="381000" y="4495800"/>
            <a:ext cx="4381500" cy="1295400"/>
          </a:xfrm>
          <a:prstGeom prst="roundRect">
            <a:avLst>
              <a:gd name="adj" fmla="val 5882"/>
            </a:avLst>
          </a:prstGeom>
          <a:solidFill>
            <a:srgbClr val="E8EFF8"/>
          </a:solidFill>
          <a:ln/>
        </p:spPr>
        <p:txBody>
          <a:bodyPr/>
          <a:lstStyle/>
          <a:p>
            <a:endParaRPr/>
          </a:p>
        </p:txBody>
      </p:sp>
      <p:sp>
        <p:nvSpPr>
          <p:cNvPr id="346" name="文本框 345" descr="{&quot;isTemplate&quot;:true,&quot;type&quot;:&quot;text&quot;}"/>
          <p:cNvSpPr txBox="1"/>
          <p:nvPr/>
        </p:nvSpPr>
        <p:spPr>
          <a:xfrm>
            <a:off x="590550" y="4667250"/>
            <a:ext cx="3962400" cy="209550"/>
          </a:xfrm>
          <a:prstGeom prst="rect">
            <a:avLst/>
          </a:prstGeom>
        </p:spPr>
        <p:txBody>
          <a:bodyPr wrap="none" lIns="0" tIns="0" rIns="0" bIns="0"/>
          <a:lstStyle/>
          <a:p>
            <a:pPr>
              <a:lnSpc>
                <a:spcPct val="100000"/>
              </a:lnSpc>
            </a:pPr>
            <a:r>
              <a:rPr lang="zh-CN" sz="1350" b="1">
                <a:solidFill>
                  <a:srgbClr val="0E3F8C"/>
                </a:solidFill>
                <a:latin typeface="Microsoft YaHei"/>
                <a:ea typeface="Microsoft YaHei"/>
              </a:rPr>
              <a:t>记忆锚点</a:t>
            </a:r>
            <a:endParaRPr/>
          </a:p>
        </p:txBody>
      </p:sp>
      <p:sp>
        <p:nvSpPr>
          <p:cNvPr id="347" name="文本框 346" descr="{&quot;isTemplate&quot;:true,&quot;type&quot;:&quot;text&quot;}"/>
          <p:cNvSpPr txBox="1"/>
          <p:nvPr/>
        </p:nvSpPr>
        <p:spPr>
          <a:xfrm>
            <a:off x="590550" y="4953000"/>
            <a:ext cx="3962400" cy="666750"/>
          </a:xfrm>
          <a:prstGeom prst="rect">
            <a:avLst/>
          </a:prstGeom>
        </p:spPr>
        <p:txBody>
          <a:bodyPr wrap="square" lIns="0" tIns="0" rIns="0" bIns="0">
            <a:normAutofit/>
          </a:bodyPr>
          <a:lstStyle/>
          <a:p>
            <a:pPr>
              <a:lnSpc>
                <a:spcPct val="170000"/>
              </a:lnSpc>
            </a:pPr>
            <a:r>
              <a:rPr lang="zh-CN" sz="1275">
                <a:solidFill>
                  <a:srgbClr val="4A5568"/>
                </a:solidFill>
                <a:latin typeface="Microsoft YaHei"/>
                <a:ea typeface="Microsoft YaHei"/>
              </a:rPr>
              <a:t>前两个</a:t>
            </a:r>
            <a:r>
              <a:rPr lang="en-US" sz="1275">
                <a:solidFill>
                  <a:srgbClr val="4A5568"/>
                </a:solidFill>
                <a:latin typeface="Microsoft YaHei"/>
                <a:ea typeface="Microsoft YaHei"/>
              </a:rPr>
              <a:t> P </a:t>
            </a:r>
            <a:r>
              <a:rPr lang="zh-CN" sz="1275">
                <a:solidFill>
                  <a:srgbClr val="4A5568"/>
                </a:solidFill>
                <a:latin typeface="Microsoft YaHei"/>
                <a:ea typeface="Microsoft YaHei"/>
              </a:rPr>
              <a:t>看的是“</a:t>
            </a:r>
            <a:r>
              <a:rPr lang="zh-CN" sz="1275" b="1">
                <a:solidFill>
                  <a:srgbClr val="1E4FA8"/>
                </a:solidFill>
                <a:latin typeface="Microsoft YaHei"/>
                <a:ea typeface="Microsoft YaHei"/>
              </a:rPr>
              <a:t>打算做什么</a:t>
            </a:r>
            <a:r>
              <a:rPr lang="zh-CN" sz="1275">
                <a:solidFill>
                  <a:srgbClr val="4A5568"/>
                </a:solidFill>
                <a:latin typeface="Microsoft YaHei"/>
                <a:ea typeface="Microsoft YaHei"/>
              </a:rPr>
              <a:t>”，第三个</a:t>
            </a:r>
            <a:r>
              <a:rPr lang="en-US" sz="1275">
                <a:solidFill>
                  <a:srgbClr val="4A5568"/>
                </a:solidFill>
                <a:latin typeface="Microsoft YaHei"/>
                <a:ea typeface="Microsoft YaHei"/>
              </a:rPr>
              <a:t> P </a:t>
            </a:r>
            <a:r>
              <a:rPr lang="zh-CN" sz="1275">
                <a:solidFill>
                  <a:srgbClr val="4A5568"/>
                </a:solidFill>
                <a:latin typeface="Microsoft YaHei"/>
                <a:ea typeface="Microsoft YaHei"/>
              </a:rPr>
              <a:t>看“</a:t>
            </a:r>
            <a:r>
              <a:rPr lang="zh-CN" sz="1275" b="1">
                <a:solidFill>
                  <a:srgbClr val="1E4FA8"/>
                </a:solidFill>
                <a:latin typeface="Microsoft YaHei"/>
                <a:ea typeface="Microsoft YaHei"/>
              </a:rPr>
              <a:t>实际做成了什么</a:t>
            </a:r>
            <a:r>
              <a:rPr lang="zh-CN" sz="1275">
                <a:solidFill>
                  <a:srgbClr val="4A5568"/>
                </a:solidFill>
                <a:latin typeface="Microsoft YaHei"/>
                <a:ea typeface="Microsoft YaHei"/>
              </a:rPr>
              <a:t>”，后两个</a:t>
            </a:r>
            <a:r>
              <a:rPr lang="en-US" sz="1275">
                <a:solidFill>
                  <a:srgbClr val="4A5568"/>
                </a:solidFill>
                <a:latin typeface="Microsoft YaHei"/>
                <a:ea typeface="Microsoft YaHei"/>
              </a:rPr>
              <a:t> P </a:t>
            </a:r>
            <a:r>
              <a:rPr lang="zh-CN" sz="1275">
                <a:solidFill>
                  <a:srgbClr val="4A5568"/>
                </a:solidFill>
                <a:latin typeface="Microsoft YaHei"/>
                <a:ea typeface="Microsoft YaHei"/>
              </a:rPr>
              <a:t>把组织与市场连接起来。</a:t>
            </a:r>
            <a:endParaRPr/>
          </a:p>
        </p:txBody>
      </p:sp>
      <p:sp>
        <p:nvSpPr>
          <p:cNvPr id="348" name="矩形: 圆角 347"/>
          <p:cNvSpPr/>
          <p:nvPr/>
        </p:nvSpPr>
        <p:spPr>
          <a:xfrm>
            <a:off x="5105400" y="933450"/>
            <a:ext cx="6705600" cy="5334000"/>
          </a:xfrm>
          <a:prstGeom prst="roundRect">
            <a:avLst>
              <a:gd name="adj" fmla="val 2143"/>
            </a:avLst>
          </a:prstGeom>
          <a:solidFill>
            <a:srgbClr val="FFFFFF"/>
          </a:solidFill>
          <a:ln w="12700">
            <a:solidFill>
              <a:srgbClr val="D6DCE5"/>
            </a:solidFill>
            <a:prstDash val="solid"/>
          </a:ln>
        </p:spPr>
        <p:txBody>
          <a:bodyPr/>
          <a:lstStyle/>
          <a:p>
            <a:endParaRPr/>
          </a:p>
        </p:txBody>
      </p:sp>
      <p:pic>
        <p:nvPicPr>
          <p:cNvPr id="349" name="图形 34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91200" y="1076325"/>
            <a:ext cx="5334000" cy="5048250"/>
          </a:xfrm>
          <a:prstGeom prst="rect">
            <a:avLst/>
          </a:prstGeo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7F9FC', position: 'relative', padding: 0 }}&gt;&#10;    &lt;Box style={{ position: 'absolute', top: 0, left: 0, width: 1280, height: 72, background: '#1E4FA8', flexDirection: 'row', alignItems: 'center', justifyContent: 'space-between', paddingLeft: 40, paddingRight: 40 }}&gt;&#10;        &lt;Text style={{ fontSize: 15, color: '#FFFFFF', letterSpacing: 3 }}&gt;战略管理 · STRATEGIC MANAGEMENT&lt;/Text&gt;&#10;        &lt;Text style={{ fontSize: 15, color: '#E8EFF8' }}&gt;02 五个维度详解&lt;/Text&gt;&#10;    &lt;/Box&gt;&#10;    &lt;Box style={{ position: 'absolute', bottom: 0, left: 0, width: 1280, height: 44, background: '#FFFFFF', flexDirection: 'row', alignItems: 'center', justifyContent: 'space-between', paddingLeft: 40, paddingRight: 40, borderTop: '1px solid #E5E7EB' }}&gt;&#10;        &lt;Text style={{ fontSize: 14, color: '#8B97A8' }}&gt;《战略管理》教学课件 · 明茨伯格 5P 理论&lt;/Text&gt;&#10;        &lt;Text style={{ fontSize: 15, color: '#0E3F8C', fontWeight: 'bold' }}&gt;08 / 16&lt;/Text&gt;&#10;    &lt;/Box&gt;&#10;    &lt;Box style={{ position: 'absolute', top: 72, left: 0, width: 1280, height: 604, flexDirection: 'row', padding: '28px 40px 20px 40px', gap: 32 }}&gt;&#10;        &lt;Box style={{ width: 400, background: '#0E3F8C', borderRadius: 10, flexDirection: 'column', padding: 30, justifyContent: 'space-between' }}&gt;&#10;            &lt;Box style={{ flexDirection: 'column' }}&gt;&#10;                &lt;Box style={{ flexDirection: 'row', alignItems: 'baseline', gap: 14, marginBottom: 6 }}&gt;&#10;                    &lt;Text style={{ fontSize: 72, fontWeight: 'bold', color: '#FFC107', lineHeight: 1 }}&gt;P1&lt;/Text&gt;&#10;                    &lt;Text style={{ fontSize: 30, fontWeight: 'bold', color: '#FFFFFF' }}&gt;Plan 计划&lt;/Text&gt;&#10;                &lt;/Box&gt;&#10;                &lt;Box style={{ width: 48, height: 4, background: '#FFC107', margin: '18px 0 22px 0' }} /&gt;&#10;                &lt;Text style={{ fontSize: 20, color: '#FFFFFF', lineHeight: 1.8 }}&gt;&#10;                    “战略是一种&lt;span style={{ color: '#FFC107' }}&gt;有意识的、预计的行动纲领&lt;/span&gt;——处理局势的指导方针。”&#10;                &lt;/Text&gt;&#10;                &lt;Text style={{ fontSize: 15, color: '#8FB3E8', marginTop: 14, fontStyle: 'italic' }}&gt;&#10;                    —— Mintzberg (1987)，五个定义中最接近日常用法的一个&#10;                &lt;/Text&gt;&#10;            &lt;/Box&gt;&#10;            &lt;Box style={{ flexDirection: 'column', background: 'rgba(232,239,248,0.12)', borderRadius: 8, padding: 18 }}&gt;&#10;                &lt;Text style={{ fontSize: 15, color: '#FFC107', marginBottom: 6 }}&gt;关键词&lt;/Text&gt;&#10;                &lt;Text style={{ fontSize: 16, color: '#E8EFF8', lineHeight: 1.7 }}&gt;事先性 · 有意识 · 书面化 · 未来导向&lt;/Text&gt;&#10;            &lt;/Box&gt;&#10;        &lt;/Box&gt;&#10;        &lt;Box style={{ flex: 1, flexDirection: 'column', gap: 18 }}&gt;&#10;            &lt;Box style={{ flexDirection: 'row', gap: 16 }}&gt;&#10;                &lt;Box style={{ flex: 1, background: '#FFFFFF', border: '1px solid #D6DCE5', borderRadius: 8, padding: '16px 20px', flexDirection: 'column', gap: 6 }}&gt;&#10;                    &lt;FAIcon name='clock' style={{ fill: '#1E4FA8', width: 26, height: 26, marginBottom: 4 }} /&gt;&#10;                    &lt;Text style={{ fontSize: 18, fontWeight: 'bold', color: '#0E3F8C' }}&gt;先于行动&lt;/Text&gt;&#10;                    &lt;Text style={{ fontSize: 16, color: '#4A5568', lineHeight: 1.6 }}&gt;在行动之前形成，强调“谋定而后动”&lt;/Text&gt;&#10;                &lt;/Box&gt;&#10;                &lt;Box style={{ flex: 1, background: '#FFFFFF', border: '1px solid #D6DCE5', borderRadius: 8, padding: '16px 20px', flexDirection: 'column', gap: 6 }}&gt;&#10;                    &lt;FAIcon name='file-alt' style={{ fill: '#1E4FA8', width: 26, height: 26, marginBottom: 4 }} /&gt;&#10;                    &lt;Text style={{ fontSize: 18, fontWeight: 'bold', color: '#0E3F8C' }}&gt;可以言明&lt;/Text&gt;&#10;                    &lt;Text style={{ fontSize: 16, color: '#4A5568', lineHeight: 1.6 }}&gt;能被明确表述、写成文件、层层传达&lt;/Text&gt;&#10;                &lt;/Box&gt;&#10;                &lt;Box style={{ flex: 1, background: '#FFFFFF', border: '1px solid #D6DCE5', borderRadius: 8, padding: '16px 20px', flexDirection: 'column', gap: 6 }}&gt;&#10;                    &lt;FAIcon name='map' style={{ fill: '#1E4FA8', width: 26, height: 26, marginBottom: 4 }} /&gt;&#10;                    &lt;Text style={{ fontSize: 18, fontWeight: 'bold', color: '#0E3F8C' }}&gt;协调全局&lt;/Text&gt;&#10;                    &lt;Text style={{ fontSize: 16, color: '#4A5568', lineHeight: 1.6 }}&gt;统一组织资源与行动的总体安排&lt;/Text&gt;&#10;                &lt;/Box&gt;&#10;            &lt;/Box&gt;&#10;            &lt;Box style={{ flex: 1, background: '#FFFFFF', border: '1px solid #D6DCE5', borderRadius: 8, flexDirection: 'column', padding: 22 }}&gt;&#10;                &lt;Box style={{ flexDirection: 'row', alignItems: 'center', gap: 12, marginBottom: 12 }}&gt;&#10;                    &lt;Box style={{ background: '#E8EFF8', borderRadius: 4, padding: '3px 12px' }}&gt;&#10;                        &lt;Text style={{ fontSize: 15, color: '#0E3F8C', fontWeight: 'bold' }}&gt;案例&lt;/Text&gt;&#10;                    &lt;/Box&gt;&#10;                    &lt;Text style={{ fontSize: 21, fontWeight: 'bold', color: '#0E3F8C' }}&gt;比亚迪的新能源转型蓝图&lt;/Text&gt;&#10;                &lt;/Box&gt;&#10;                &lt;Text style={{ fontSize: 17, color: '#4A5568', lineHeight: 1.8 }}&gt;&#10;                    2008 年前后，比亚迪对外公布新能源汽车战略路线：先以电池技术为根基，再依次切入混动与纯电市场。这是典型的&lt;span style={{ fontWeight: 'bold', color: '#1A2230' }}&gt;事先制定、公开言明的行动纲领&lt;/span&gt;——企业五年规划、上市公司的战略白皮书，都属于 Plan 意义上的战略。&#10;                &lt;/Text&gt;&#10;                &lt;Box style={{ background: '#F0F5FC', borderRadius: 6, padding: '12px 18px', marginTop: 14, flexDirection: 'row', alignItems: 'center', gap: 10 }}&gt;&#10;                    &lt;FAIcon name='exclamation-circle' style={{ fill: '#1E4FA8', width: 22, height: 22 }} /&gt;&#10;                    &lt;Text style={{ fontSize: 16, color: '#0E3F8C', lineHeight: 1.6 }}&gt;辨析：写在纸上的只是“意图”，能否兑现要看 Pattern（第 10 页）&lt;/Text&gt;&#10;                &lt;/Box&gt;&#10;            &lt;/Box&gt;&#10;        &lt;/Box&gt;&#10;    &lt;/Box&gt;&#10;&lt;/Slide&gt;"/>
        <p:cNvGrpSpPr/>
        <p:nvPr/>
      </p:nvGrpSpPr>
      <p:grpSpPr>
        <a:xfrm>
          <a:off x="0" y="0"/>
          <a:ext cx="0" cy="0"/>
          <a:chOff x="0" y="0"/>
          <a:chExt cx="0" cy="0"/>
        </a:xfrm>
      </p:grpSpPr>
      <p:sp>
        <p:nvSpPr>
          <p:cNvPr id="351" name="矩形 350"/>
          <p:cNvSpPr/>
          <p:nvPr/>
        </p:nvSpPr>
        <p:spPr>
          <a:xfrm>
            <a:off x="0" y="0"/>
            <a:ext cx="12192000" cy="6858000"/>
          </a:xfrm>
          <a:prstGeom prst="rect">
            <a:avLst/>
          </a:prstGeom>
          <a:solidFill>
            <a:srgbClr val="F7F9FC"/>
          </a:solidFill>
          <a:ln/>
        </p:spPr>
        <p:txBody>
          <a:bodyPr/>
          <a:lstStyle/>
          <a:p>
            <a:endParaRPr/>
          </a:p>
        </p:txBody>
      </p:sp>
      <p:sp>
        <p:nvSpPr>
          <p:cNvPr id="352" name="矩形 351"/>
          <p:cNvSpPr/>
          <p:nvPr/>
        </p:nvSpPr>
        <p:spPr>
          <a:xfrm>
            <a:off x="0" y="0"/>
            <a:ext cx="12192000" cy="685800"/>
          </a:xfrm>
          <a:prstGeom prst="rect">
            <a:avLst/>
          </a:prstGeom>
          <a:solidFill>
            <a:srgbClr val="1E4FA8"/>
          </a:solidFill>
          <a:ln/>
        </p:spPr>
        <p:txBody>
          <a:bodyPr/>
          <a:lstStyle/>
          <a:p>
            <a:endParaRPr/>
          </a:p>
        </p:txBody>
      </p:sp>
      <p:sp>
        <p:nvSpPr>
          <p:cNvPr id="353" name="文本框 352"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FFFFFF"/>
                </a:solidFill>
                <a:latin typeface="Microsoft YaHei"/>
                <a:ea typeface="Microsoft YaHei"/>
              </a:rPr>
              <a:t>战略管理</a:t>
            </a:r>
            <a:r>
              <a:rPr lang="en-US" sz="1125" spc="225">
                <a:solidFill>
                  <a:srgbClr val="FFFFFF"/>
                </a:solidFill>
                <a:latin typeface="Microsoft YaHei"/>
                <a:ea typeface="Microsoft YaHei"/>
              </a:rPr>
              <a:t> · STRATEGIC MANAGEMENT</a:t>
            </a:r>
            <a:endParaRPr/>
          </a:p>
        </p:txBody>
      </p:sp>
      <p:sp>
        <p:nvSpPr>
          <p:cNvPr id="354" name="文本框 353" descr="{&quot;isTemplate&quot;:true,&quot;type&quot;:&quot;text&quot;}"/>
          <p:cNvSpPr txBox="1"/>
          <p:nvPr/>
        </p:nvSpPr>
        <p:spPr>
          <a:xfrm>
            <a:off x="10734675" y="257175"/>
            <a:ext cx="1076325" cy="171450"/>
          </a:xfrm>
          <a:prstGeom prst="rect">
            <a:avLst/>
          </a:prstGeom>
        </p:spPr>
        <p:txBody>
          <a:bodyPr wrap="none" lIns="0" tIns="0" rIns="0" bIns="0"/>
          <a:lstStyle/>
          <a:p>
            <a:pPr>
              <a:lnSpc>
                <a:spcPct val="100000"/>
              </a:lnSpc>
            </a:pPr>
            <a:r>
              <a:rPr lang="en-US" sz="1125">
                <a:solidFill>
                  <a:srgbClr val="E8EFF8"/>
                </a:solidFill>
                <a:latin typeface="Microsoft YaHei"/>
                <a:ea typeface="Microsoft YaHei"/>
              </a:rPr>
              <a:t>02 </a:t>
            </a:r>
            <a:r>
              <a:rPr lang="zh-CN" sz="1125">
                <a:solidFill>
                  <a:srgbClr val="E8EFF8"/>
                </a:solidFill>
                <a:latin typeface="Microsoft YaHei"/>
                <a:ea typeface="Microsoft YaHei"/>
              </a:rPr>
              <a:t>五个维度详解</a:t>
            </a:r>
            <a:endParaRPr/>
          </a:p>
        </p:txBody>
      </p:sp>
      <p:sp>
        <p:nvSpPr>
          <p:cNvPr id="355" name="矩形 354"/>
          <p:cNvSpPr/>
          <p:nvPr/>
        </p:nvSpPr>
        <p:spPr>
          <a:xfrm>
            <a:off x="0" y="6448425"/>
            <a:ext cx="12192000" cy="409575"/>
          </a:xfrm>
          <a:prstGeom prst="rect">
            <a:avLst/>
          </a:prstGeom>
          <a:solidFill>
            <a:srgbClr val="FFFFFF"/>
          </a:solidFill>
          <a:ln/>
        </p:spPr>
        <p:txBody>
          <a:bodyPr/>
          <a:lstStyle/>
          <a:p>
            <a:endParaRPr/>
          </a:p>
        </p:txBody>
      </p:sp>
      <p:sp>
        <p:nvSpPr>
          <p:cNvPr id="356" name="任意多边形: 形状 355"/>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E5E7EB"/>
          </a:solidFill>
          <a:ln/>
        </p:spPr>
        <p:txBody>
          <a:bodyPr/>
          <a:lstStyle/>
          <a:p>
            <a:endParaRPr/>
          </a:p>
        </p:txBody>
      </p:sp>
      <p:sp>
        <p:nvSpPr>
          <p:cNvPr id="357" name="文本框 356" descr="{&quot;isTemplate&quot;:true,&quot;type&quot;:&quot;text&quot;}"/>
          <p:cNvSpPr txBox="1"/>
          <p:nvPr/>
        </p:nvSpPr>
        <p:spPr>
          <a:xfrm>
            <a:off x="381000" y="6572250"/>
            <a:ext cx="2486025"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《战略管理》教学课件</a:t>
            </a:r>
            <a:r>
              <a:rPr lang="en-US" sz="1050">
                <a:solidFill>
                  <a:srgbClr val="8B97A8"/>
                </a:solidFill>
                <a:latin typeface="Microsoft YaHei"/>
                <a:ea typeface="Microsoft YaHei"/>
              </a:rPr>
              <a:t> · </a:t>
            </a:r>
            <a:r>
              <a:rPr lang="zh-CN" sz="1050">
                <a:solidFill>
                  <a:srgbClr val="8B97A8"/>
                </a:solidFill>
                <a:latin typeface="Microsoft YaHei"/>
                <a:ea typeface="Microsoft YaHei"/>
              </a:rPr>
              <a:t>明茨伯格</a:t>
            </a:r>
            <a:r>
              <a:rPr lang="en-US" sz="1050">
                <a:solidFill>
                  <a:srgbClr val="8B97A8"/>
                </a:solidFill>
                <a:latin typeface="Microsoft YaHei"/>
                <a:ea typeface="Microsoft YaHei"/>
              </a:rPr>
              <a:t> 5P </a:t>
            </a:r>
            <a:r>
              <a:rPr lang="zh-CN" sz="1050">
                <a:solidFill>
                  <a:srgbClr val="8B97A8"/>
                </a:solidFill>
                <a:latin typeface="Microsoft YaHei"/>
                <a:ea typeface="Microsoft YaHei"/>
              </a:rPr>
              <a:t>理论</a:t>
            </a:r>
            <a:endParaRPr/>
          </a:p>
        </p:txBody>
      </p:sp>
      <p:sp>
        <p:nvSpPr>
          <p:cNvPr id="358" name="文本框 357" descr="{&quot;isTemplate&quot;:true,&quot;type&quot;:&quot;text&quot;}"/>
          <p:cNvSpPr txBox="1"/>
          <p:nvPr/>
        </p:nvSpPr>
        <p:spPr>
          <a:xfrm>
            <a:off x="11296650" y="6572250"/>
            <a:ext cx="514350" cy="171450"/>
          </a:xfrm>
          <a:prstGeom prst="rect">
            <a:avLst/>
          </a:prstGeom>
        </p:spPr>
        <p:txBody>
          <a:bodyPr wrap="none" lIns="0" tIns="0" rIns="0" bIns="0"/>
          <a:lstStyle/>
          <a:p>
            <a:pPr>
              <a:lnSpc>
                <a:spcPct val="100000"/>
              </a:lnSpc>
            </a:pPr>
            <a:r>
              <a:rPr lang="en-US" sz="1125" b="1">
                <a:solidFill>
                  <a:srgbClr val="0E3F8C"/>
                </a:solidFill>
                <a:latin typeface="Microsoft YaHei"/>
                <a:ea typeface="Microsoft YaHei"/>
              </a:rPr>
              <a:t>08 / 16</a:t>
            </a:r>
            <a:endParaRPr/>
          </a:p>
        </p:txBody>
      </p:sp>
      <p:sp>
        <p:nvSpPr>
          <p:cNvPr id="359" name="矩形: 圆角 358"/>
          <p:cNvSpPr/>
          <p:nvPr/>
        </p:nvSpPr>
        <p:spPr>
          <a:xfrm>
            <a:off x="381000" y="952500"/>
            <a:ext cx="3810000" cy="5295900"/>
          </a:xfrm>
          <a:prstGeom prst="roundRect">
            <a:avLst>
              <a:gd name="adj" fmla="val 2500"/>
            </a:avLst>
          </a:prstGeom>
          <a:solidFill>
            <a:srgbClr val="0E3F8C"/>
          </a:solidFill>
          <a:ln/>
        </p:spPr>
        <p:txBody>
          <a:bodyPr/>
          <a:lstStyle/>
          <a:p>
            <a:endParaRPr/>
          </a:p>
        </p:txBody>
      </p:sp>
      <p:sp>
        <p:nvSpPr>
          <p:cNvPr id="360" name="文本框 359" descr="{&quot;isTemplate&quot;:true,&quot;type&quot;:&quot;text&quot;}"/>
          <p:cNvSpPr txBox="1"/>
          <p:nvPr/>
        </p:nvSpPr>
        <p:spPr>
          <a:xfrm>
            <a:off x="666750" y="1238250"/>
            <a:ext cx="876300" cy="828675"/>
          </a:xfrm>
          <a:prstGeom prst="rect">
            <a:avLst/>
          </a:prstGeom>
        </p:spPr>
        <p:txBody>
          <a:bodyPr wrap="none" lIns="0" tIns="0" rIns="0" bIns="0"/>
          <a:lstStyle/>
          <a:p>
            <a:pPr>
              <a:lnSpc>
                <a:spcPct val="100000"/>
              </a:lnSpc>
            </a:pPr>
            <a:r>
              <a:rPr lang="en-US" sz="5400" b="1">
                <a:solidFill>
                  <a:srgbClr val="FFC107"/>
                </a:solidFill>
                <a:latin typeface="Microsoft YaHei"/>
                <a:ea typeface="Microsoft YaHei"/>
              </a:rPr>
              <a:t>P1</a:t>
            </a:r>
            <a:endParaRPr/>
          </a:p>
        </p:txBody>
      </p:sp>
      <p:sp>
        <p:nvSpPr>
          <p:cNvPr id="361" name="文本框 360" descr="{&quot;isTemplate&quot;:true,&quot;type&quot;:&quot;text&quot;}"/>
          <p:cNvSpPr txBox="1"/>
          <p:nvPr/>
        </p:nvSpPr>
        <p:spPr>
          <a:xfrm>
            <a:off x="1676400" y="1238250"/>
            <a:ext cx="1285875" cy="828675"/>
          </a:xfrm>
          <a:prstGeom prst="rect">
            <a:avLst/>
          </a:prstGeom>
        </p:spPr>
        <p:txBody>
          <a:bodyPr wrap="none" lIns="0" tIns="0" rIns="0" bIns="0"/>
          <a:lstStyle/>
          <a:p>
            <a:pPr>
              <a:lnSpc>
                <a:spcPct val="100000"/>
              </a:lnSpc>
            </a:pPr>
            <a:r>
              <a:rPr lang="en-US" sz="2250" b="1">
                <a:solidFill>
                  <a:srgbClr val="FFFFFF"/>
                </a:solidFill>
                <a:latin typeface="Microsoft YaHei"/>
                <a:ea typeface="Microsoft YaHei"/>
              </a:rPr>
              <a:t>Plan </a:t>
            </a:r>
            <a:r>
              <a:rPr lang="zh-CN" sz="2250" b="1">
                <a:solidFill>
                  <a:srgbClr val="FFFFFF"/>
                </a:solidFill>
                <a:latin typeface="Microsoft YaHei"/>
                <a:ea typeface="Microsoft YaHei"/>
              </a:rPr>
              <a:t>计划</a:t>
            </a:r>
            <a:endParaRPr/>
          </a:p>
        </p:txBody>
      </p:sp>
      <p:sp>
        <p:nvSpPr>
          <p:cNvPr id="362" name="矩形 361"/>
          <p:cNvSpPr/>
          <p:nvPr/>
        </p:nvSpPr>
        <p:spPr>
          <a:xfrm>
            <a:off x="666750" y="2295525"/>
            <a:ext cx="457200" cy="38100"/>
          </a:xfrm>
          <a:prstGeom prst="rect">
            <a:avLst/>
          </a:prstGeom>
          <a:solidFill>
            <a:srgbClr val="FFC107"/>
          </a:solidFill>
          <a:ln/>
        </p:spPr>
        <p:txBody>
          <a:bodyPr/>
          <a:lstStyle/>
          <a:p>
            <a:endParaRPr/>
          </a:p>
        </p:txBody>
      </p:sp>
      <p:sp>
        <p:nvSpPr>
          <p:cNvPr id="363" name="文本框 362" descr="{&quot;isTemplate&quot;:true,&quot;type&quot;:&quot;text&quot;}"/>
          <p:cNvSpPr txBox="1"/>
          <p:nvPr/>
        </p:nvSpPr>
        <p:spPr>
          <a:xfrm>
            <a:off x="666750" y="2543175"/>
            <a:ext cx="3238500" cy="828675"/>
          </a:xfrm>
          <a:prstGeom prst="rect">
            <a:avLst/>
          </a:prstGeom>
        </p:spPr>
        <p:txBody>
          <a:bodyPr wrap="square" lIns="0" tIns="0" rIns="0" bIns="0">
            <a:normAutofit/>
          </a:bodyPr>
          <a:lstStyle/>
          <a:p>
            <a:pPr>
              <a:lnSpc>
                <a:spcPct val="180000"/>
              </a:lnSpc>
            </a:pPr>
            <a:r>
              <a:rPr lang="zh-CN" sz="1500">
                <a:solidFill>
                  <a:srgbClr val="FFFFFF"/>
                </a:solidFill>
                <a:latin typeface="Microsoft YaHei"/>
                <a:ea typeface="Microsoft YaHei"/>
              </a:rPr>
              <a:t>“战略是一种</a:t>
            </a:r>
            <a:r>
              <a:rPr lang="zh-CN" sz="1500">
                <a:solidFill>
                  <a:srgbClr val="FFC107"/>
                </a:solidFill>
                <a:latin typeface="Microsoft YaHei"/>
                <a:ea typeface="Microsoft YaHei"/>
              </a:rPr>
              <a:t>有意识的、预计的行动纲领</a:t>
            </a:r>
            <a:r>
              <a:rPr lang="zh-CN" sz="1500">
                <a:solidFill>
                  <a:srgbClr val="FFFFFF"/>
                </a:solidFill>
                <a:latin typeface="Microsoft YaHei"/>
                <a:ea typeface="Microsoft YaHei"/>
              </a:rPr>
              <a:t>——处理局势的指导方针。”</a:t>
            </a:r>
            <a:endParaRPr/>
          </a:p>
        </p:txBody>
      </p:sp>
      <p:sp>
        <p:nvSpPr>
          <p:cNvPr id="364" name="文本框 363" descr="{&quot;isTemplate&quot;:true,&quot;type&quot;:&quot;text&quot;}"/>
          <p:cNvSpPr txBox="1"/>
          <p:nvPr/>
        </p:nvSpPr>
        <p:spPr>
          <a:xfrm>
            <a:off x="666750" y="3505200"/>
            <a:ext cx="3238500" cy="342900"/>
          </a:xfrm>
          <a:prstGeom prst="rect">
            <a:avLst/>
          </a:prstGeom>
        </p:spPr>
        <p:txBody>
          <a:bodyPr wrap="square" lIns="0" tIns="0" rIns="0" bIns="0">
            <a:normAutofit/>
          </a:bodyPr>
          <a:lstStyle/>
          <a:p>
            <a:pPr>
              <a:lnSpc>
                <a:spcPct val="100000"/>
              </a:lnSpc>
            </a:pPr>
            <a:r>
              <a:rPr lang="en-US" sz="1125" i="1">
                <a:solidFill>
                  <a:srgbClr val="8FB3E8"/>
                </a:solidFill>
                <a:latin typeface="Microsoft YaHei"/>
                <a:ea typeface="Microsoft YaHei"/>
              </a:rPr>
              <a:t>—— Mintzberg (1987)</a:t>
            </a:r>
            <a:r>
              <a:rPr lang="zh-CN" sz="1125" i="1">
                <a:solidFill>
                  <a:srgbClr val="8FB3E8"/>
                </a:solidFill>
                <a:latin typeface="Microsoft YaHei"/>
                <a:ea typeface="Microsoft YaHei"/>
              </a:rPr>
              <a:t>，五个定义中最接近日常用法的一个</a:t>
            </a:r>
            <a:endParaRPr/>
          </a:p>
        </p:txBody>
      </p:sp>
      <p:sp>
        <p:nvSpPr>
          <p:cNvPr id="365" name="矩形: 圆角 364"/>
          <p:cNvSpPr/>
          <p:nvPr/>
        </p:nvSpPr>
        <p:spPr>
          <a:xfrm>
            <a:off x="666750" y="5076825"/>
            <a:ext cx="3238500" cy="885825"/>
          </a:xfrm>
          <a:prstGeom prst="roundRect">
            <a:avLst>
              <a:gd name="adj" fmla="val 8602"/>
            </a:avLst>
          </a:prstGeom>
          <a:solidFill>
            <a:srgbClr val="E8EFF8">
              <a:alpha val="12000"/>
            </a:srgbClr>
          </a:solidFill>
          <a:ln/>
        </p:spPr>
        <p:txBody>
          <a:bodyPr/>
          <a:lstStyle/>
          <a:p>
            <a:endParaRPr/>
          </a:p>
        </p:txBody>
      </p:sp>
      <p:sp>
        <p:nvSpPr>
          <p:cNvPr id="366" name="文本框 365" descr="{&quot;isTemplate&quot;:true,&quot;type&quot;:&quot;text&quot;}"/>
          <p:cNvSpPr txBox="1"/>
          <p:nvPr/>
        </p:nvSpPr>
        <p:spPr>
          <a:xfrm>
            <a:off x="838200" y="5248275"/>
            <a:ext cx="2895600" cy="171450"/>
          </a:xfrm>
          <a:prstGeom prst="rect">
            <a:avLst/>
          </a:prstGeom>
        </p:spPr>
        <p:txBody>
          <a:bodyPr wrap="none" lIns="0" tIns="0" rIns="0" bIns="0"/>
          <a:lstStyle/>
          <a:p>
            <a:pPr>
              <a:lnSpc>
                <a:spcPct val="100000"/>
              </a:lnSpc>
            </a:pPr>
            <a:r>
              <a:rPr lang="zh-CN" sz="1125">
                <a:solidFill>
                  <a:srgbClr val="FFC107"/>
                </a:solidFill>
                <a:latin typeface="Microsoft YaHei"/>
                <a:ea typeface="Microsoft YaHei"/>
              </a:rPr>
              <a:t>关键词</a:t>
            </a:r>
            <a:endParaRPr/>
          </a:p>
        </p:txBody>
      </p:sp>
      <p:sp>
        <p:nvSpPr>
          <p:cNvPr id="367" name="文本框 366" descr="{&quot;isTemplate&quot;:true,&quot;type&quot;:&quot;text&quot;}"/>
          <p:cNvSpPr txBox="1"/>
          <p:nvPr/>
        </p:nvSpPr>
        <p:spPr>
          <a:xfrm>
            <a:off x="838200" y="5476875"/>
            <a:ext cx="2895600" cy="314325"/>
          </a:xfrm>
          <a:prstGeom prst="rect">
            <a:avLst/>
          </a:prstGeom>
        </p:spPr>
        <p:txBody>
          <a:bodyPr wrap="none" lIns="0" tIns="0" rIns="0" bIns="0"/>
          <a:lstStyle/>
          <a:p>
            <a:pPr>
              <a:lnSpc>
                <a:spcPct val="170000"/>
              </a:lnSpc>
            </a:pPr>
            <a:r>
              <a:rPr lang="zh-CN" sz="1200">
                <a:solidFill>
                  <a:srgbClr val="E8EFF8"/>
                </a:solidFill>
                <a:latin typeface="Microsoft YaHei"/>
                <a:ea typeface="Microsoft YaHei"/>
              </a:rPr>
              <a:t>事先性</a:t>
            </a:r>
            <a:r>
              <a:rPr lang="en-US" sz="1200">
                <a:solidFill>
                  <a:srgbClr val="E8EFF8"/>
                </a:solidFill>
                <a:latin typeface="Microsoft YaHei"/>
                <a:ea typeface="Microsoft YaHei"/>
              </a:rPr>
              <a:t> · </a:t>
            </a:r>
            <a:r>
              <a:rPr lang="zh-CN" sz="1200">
                <a:solidFill>
                  <a:srgbClr val="E8EFF8"/>
                </a:solidFill>
                <a:latin typeface="Microsoft YaHei"/>
                <a:ea typeface="Microsoft YaHei"/>
              </a:rPr>
              <a:t>有意识</a:t>
            </a:r>
            <a:r>
              <a:rPr lang="en-US" sz="1200">
                <a:solidFill>
                  <a:srgbClr val="E8EFF8"/>
                </a:solidFill>
                <a:latin typeface="Microsoft YaHei"/>
                <a:ea typeface="Microsoft YaHei"/>
              </a:rPr>
              <a:t> · </a:t>
            </a:r>
            <a:r>
              <a:rPr lang="zh-CN" sz="1200">
                <a:solidFill>
                  <a:srgbClr val="E8EFF8"/>
                </a:solidFill>
                <a:latin typeface="Microsoft YaHei"/>
                <a:ea typeface="Microsoft YaHei"/>
              </a:rPr>
              <a:t>书面化</a:t>
            </a:r>
            <a:r>
              <a:rPr lang="en-US" sz="1200">
                <a:solidFill>
                  <a:srgbClr val="E8EFF8"/>
                </a:solidFill>
                <a:latin typeface="Microsoft YaHei"/>
                <a:ea typeface="Microsoft YaHei"/>
              </a:rPr>
              <a:t> · </a:t>
            </a:r>
            <a:r>
              <a:rPr lang="zh-CN" sz="1200">
                <a:solidFill>
                  <a:srgbClr val="E8EFF8"/>
                </a:solidFill>
                <a:latin typeface="Microsoft YaHei"/>
                <a:ea typeface="Microsoft YaHei"/>
              </a:rPr>
              <a:t>未来导向</a:t>
            </a:r>
            <a:endParaRPr/>
          </a:p>
        </p:txBody>
      </p:sp>
      <p:sp>
        <p:nvSpPr>
          <p:cNvPr id="368" name="矩形: 圆角 367"/>
          <p:cNvSpPr/>
          <p:nvPr/>
        </p:nvSpPr>
        <p:spPr>
          <a:xfrm>
            <a:off x="4495800" y="952500"/>
            <a:ext cx="2333625" cy="1504950"/>
          </a:xfrm>
          <a:prstGeom prst="roundRect">
            <a:avLst>
              <a:gd name="adj" fmla="val 5063"/>
            </a:avLst>
          </a:prstGeom>
          <a:solidFill>
            <a:srgbClr val="FFFFFF"/>
          </a:solidFill>
          <a:ln w="12700">
            <a:solidFill>
              <a:srgbClr val="D6DCE5"/>
            </a:solidFill>
            <a:prstDash val="solid"/>
          </a:ln>
        </p:spPr>
        <p:txBody>
          <a:bodyPr/>
          <a:lstStyle/>
          <a:p>
            <a:endParaRPr/>
          </a:p>
        </p:txBody>
      </p:sp>
      <p:pic>
        <p:nvPicPr>
          <p:cNvPr id="369" name="图形 36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86300" y="1104900"/>
            <a:ext cx="247650" cy="247650"/>
          </a:xfrm>
          <a:prstGeom prst="rect">
            <a:avLst/>
          </a:prstGeom>
          <a:ln/>
        </p:spPr>
      </p:pic>
      <p:sp>
        <p:nvSpPr>
          <p:cNvPr id="370" name="文本框 369" descr="{&quot;isTemplate&quot;:true,&quot;type&quot;:&quot;text&quot;}"/>
          <p:cNvSpPr txBox="1"/>
          <p:nvPr/>
        </p:nvSpPr>
        <p:spPr>
          <a:xfrm>
            <a:off x="4686300" y="1447800"/>
            <a:ext cx="1952625" cy="209550"/>
          </a:xfrm>
          <a:prstGeom prst="rect">
            <a:avLst/>
          </a:prstGeom>
        </p:spPr>
        <p:txBody>
          <a:bodyPr wrap="none" lIns="0" tIns="0" rIns="0" bIns="0"/>
          <a:lstStyle/>
          <a:p>
            <a:pPr>
              <a:lnSpc>
                <a:spcPct val="100000"/>
              </a:lnSpc>
            </a:pPr>
            <a:r>
              <a:rPr lang="zh-CN" sz="1350" b="1">
                <a:solidFill>
                  <a:srgbClr val="0E3F8C"/>
                </a:solidFill>
                <a:latin typeface="Microsoft YaHei"/>
                <a:ea typeface="Microsoft YaHei"/>
              </a:rPr>
              <a:t>先于行动</a:t>
            </a:r>
            <a:endParaRPr/>
          </a:p>
        </p:txBody>
      </p:sp>
      <p:sp>
        <p:nvSpPr>
          <p:cNvPr id="371" name="文本框 370" descr="{&quot;isTemplate&quot;:true,&quot;type&quot;:&quot;text&quot;}"/>
          <p:cNvSpPr txBox="1"/>
          <p:nvPr/>
        </p:nvSpPr>
        <p:spPr>
          <a:xfrm>
            <a:off x="4686300" y="1714500"/>
            <a:ext cx="1952625" cy="590550"/>
          </a:xfrm>
          <a:prstGeom prst="rect">
            <a:avLst/>
          </a:prstGeom>
        </p:spPr>
        <p:txBody>
          <a:bodyPr wrap="square" lIns="0" tIns="0" rIns="0" bIns="0">
            <a:normAutofit/>
          </a:bodyPr>
          <a:lstStyle/>
          <a:p>
            <a:pPr>
              <a:lnSpc>
                <a:spcPct val="160000"/>
              </a:lnSpc>
            </a:pPr>
            <a:r>
              <a:rPr lang="zh-CN" sz="1200">
                <a:solidFill>
                  <a:srgbClr val="4A5568"/>
                </a:solidFill>
                <a:latin typeface="Microsoft YaHei"/>
                <a:ea typeface="Microsoft YaHei"/>
              </a:rPr>
              <a:t>在行动之前形成，强调“谋定而后动”</a:t>
            </a:r>
            <a:endParaRPr/>
          </a:p>
        </p:txBody>
      </p:sp>
      <p:sp>
        <p:nvSpPr>
          <p:cNvPr id="372" name="矩形: 圆角 371"/>
          <p:cNvSpPr/>
          <p:nvPr/>
        </p:nvSpPr>
        <p:spPr>
          <a:xfrm>
            <a:off x="6981825" y="952500"/>
            <a:ext cx="2343150" cy="1504950"/>
          </a:xfrm>
          <a:prstGeom prst="roundRect">
            <a:avLst>
              <a:gd name="adj" fmla="val 5063"/>
            </a:avLst>
          </a:prstGeom>
          <a:solidFill>
            <a:srgbClr val="FFFFFF"/>
          </a:solidFill>
          <a:ln w="12700">
            <a:solidFill>
              <a:srgbClr val="D6DCE5"/>
            </a:solidFill>
            <a:prstDash val="solid"/>
          </a:ln>
        </p:spPr>
        <p:txBody>
          <a:bodyPr/>
          <a:lstStyle/>
          <a:p>
            <a:endParaRPr/>
          </a:p>
        </p:txBody>
      </p:sp>
      <p:pic>
        <p:nvPicPr>
          <p:cNvPr id="373" name="图形 37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72325" y="1104900"/>
            <a:ext cx="247650" cy="247650"/>
          </a:xfrm>
          <a:prstGeom prst="rect">
            <a:avLst/>
          </a:prstGeom>
          <a:ln/>
        </p:spPr>
      </p:pic>
      <p:sp>
        <p:nvSpPr>
          <p:cNvPr id="374" name="文本框 373" descr="{&quot;isTemplate&quot;:true,&quot;type&quot;:&quot;text&quot;}"/>
          <p:cNvSpPr txBox="1"/>
          <p:nvPr/>
        </p:nvSpPr>
        <p:spPr>
          <a:xfrm>
            <a:off x="7172325" y="1447800"/>
            <a:ext cx="1962150" cy="209550"/>
          </a:xfrm>
          <a:prstGeom prst="rect">
            <a:avLst/>
          </a:prstGeom>
        </p:spPr>
        <p:txBody>
          <a:bodyPr wrap="none" lIns="0" tIns="0" rIns="0" bIns="0"/>
          <a:lstStyle/>
          <a:p>
            <a:pPr>
              <a:lnSpc>
                <a:spcPct val="100000"/>
              </a:lnSpc>
            </a:pPr>
            <a:r>
              <a:rPr lang="zh-CN" sz="1350" b="1">
                <a:solidFill>
                  <a:srgbClr val="0E3F8C"/>
                </a:solidFill>
                <a:latin typeface="Microsoft YaHei"/>
                <a:ea typeface="Microsoft YaHei"/>
              </a:rPr>
              <a:t>可以言明</a:t>
            </a:r>
            <a:endParaRPr/>
          </a:p>
        </p:txBody>
      </p:sp>
      <p:sp>
        <p:nvSpPr>
          <p:cNvPr id="375" name="文本框 374" descr="{&quot;isTemplate&quot;:true,&quot;type&quot;:&quot;text&quot;}"/>
          <p:cNvSpPr txBox="1"/>
          <p:nvPr/>
        </p:nvSpPr>
        <p:spPr>
          <a:xfrm>
            <a:off x="7172325" y="1714500"/>
            <a:ext cx="1962150" cy="590550"/>
          </a:xfrm>
          <a:prstGeom prst="rect">
            <a:avLst/>
          </a:prstGeom>
        </p:spPr>
        <p:txBody>
          <a:bodyPr wrap="square" lIns="0" tIns="0" rIns="0" bIns="0">
            <a:normAutofit/>
          </a:bodyPr>
          <a:lstStyle/>
          <a:p>
            <a:pPr>
              <a:lnSpc>
                <a:spcPct val="160000"/>
              </a:lnSpc>
            </a:pPr>
            <a:r>
              <a:rPr lang="zh-CN" sz="1200">
                <a:solidFill>
                  <a:srgbClr val="4A5568"/>
                </a:solidFill>
                <a:latin typeface="Microsoft YaHei"/>
                <a:ea typeface="Microsoft YaHei"/>
              </a:rPr>
              <a:t>能被明确表述、写成文件、层层传达</a:t>
            </a:r>
            <a:endParaRPr/>
          </a:p>
        </p:txBody>
      </p:sp>
      <p:sp>
        <p:nvSpPr>
          <p:cNvPr id="376" name="矩形: 圆角 375"/>
          <p:cNvSpPr/>
          <p:nvPr/>
        </p:nvSpPr>
        <p:spPr>
          <a:xfrm>
            <a:off x="9477375" y="952500"/>
            <a:ext cx="2333625" cy="1504950"/>
          </a:xfrm>
          <a:prstGeom prst="roundRect">
            <a:avLst>
              <a:gd name="adj" fmla="val 5063"/>
            </a:avLst>
          </a:prstGeom>
          <a:solidFill>
            <a:srgbClr val="FFFFFF"/>
          </a:solidFill>
          <a:ln w="12700">
            <a:solidFill>
              <a:srgbClr val="D6DCE5"/>
            </a:solidFill>
            <a:prstDash val="solid"/>
          </a:ln>
        </p:spPr>
        <p:txBody>
          <a:bodyPr/>
          <a:lstStyle/>
          <a:p>
            <a:endParaRPr/>
          </a:p>
        </p:txBody>
      </p:sp>
      <p:pic>
        <p:nvPicPr>
          <p:cNvPr id="377" name="图形 376"/>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67875" y="1104900"/>
            <a:ext cx="247650" cy="247650"/>
          </a:xfrm>
          <a:prstGeom prst="rect">
            <a:avLst/>
          </a:prstGeom>
          <a:ln/>
        </p:spPr>
      </p:pic>
      <p:sp>
        <p:nvSpPr>
          <p:cNvPr id="378" name="文本框 377" descr="{&quot;isTemplate&quot;:true,&quot;type&quot;:&quot;text&quot;}"/>
          <p:cNvSpPr txBox="1"/>
          <p:nvPr/>
        </p:nvSpPr>
        <p:spPr>
          <a:xfrm>
            <a:off x="9667875" y="1447800"/>
            <a:ext cx="1952625" cy="209550"/>
          </a:xfrm>
          <a:prstGeom prst="rect">
            <a:avLst/>
          </a:prstGeom>
        </p:spPr>
        <p:txBody>
          <a:bodyPr wrap="none" lIns="0" tIns="0" rIns="0" bIns="0"/>
          <a:lstStyle/>
          <a:p>
            <a:pPr>
              <a:lnSpc>
                <a:spcPct val="100000"/>
              </a:lnSpc>
            </a:pPr>
            <a:r>
              <a:rPr lang="zh-CN" sz="1350" b="1">
                <a:solidFill>
                  <a:srgbClr val="0E3F8C"/>
                </a:solidFill>
                <a:latin typeface="Microsoft YaHei"/>
                <a:ea typeface="Microsoft YaHei"/>
              </a:rPr>
              <a:t>协调全局</a:t>
            </a:r>
            <a:endParaRPr/>
          </a:p>
        </p:txBody>
      </p:sp>
      <p:sp>
        <p:nvSpPr>
          <p:cNvPr id="379" name="文本框 378" descr="{&quot;isTemplate&quot;:true,&quot;type&quot;:&quot;text&quot;}"/>
          <p:cNvSpPr txBox="1"/>
          <p:nvPr/>
        </p:nvSpPr>
        <p:spPr>
          <a:xfrm>
            <a:off x="9667875" y="1714500"/>
            <a:ext cx="1952625" cy="590550"/>
          </a:xfrm>
          <a:prstGeom prst="rect">
            <a:avLst/>
          </a:prstGeom>
        </p:spPr>
        <p:txBody>
          <a:bodyPr wrap="square" lIns="0" tIns="0" rIns="0" bIns="0">
            <a:normAutofit/>
          </a:bodyPr>
          <a:lstStyle/>
          <a:p>
            <a:pPr>
              <a:lnSpc>
                <a:spcPct val="160000"/>
              </a:lnSpc>
            </a:pPr>
            <a:r>
              <a:rPr lang="zh-CN" sz="1200">
                <a:solidFill>
                  <a:srgbClr val="4A5568"/>
                </a:solidFill>
                <a:latin typeface="Microsoft YaHei"/>
                <a:ea typeface="Microsoft YaHei"/>
              </a:rPr>
              <a:t>统一组织资源与行动的总体安排</a:t>
            </a:r>
            <a:endParaRPr/>
          </a:p>
        </p:txBody>
      </p:sp>
      <p:sp>
        <p:nvSpPr>
          <p:cNvPr id="380" name="矩形: 圆角 379"/>
          <p:cNvSpPr/>
          <p:nvPr/>
        </p:nvSpPr>
        <p:spPr>
          <a:xfrm>
            <a:off x="4495800" y="2628900"/>
            <a:ext cx="7315200" cy="3619500"/>
          </a:xfrm>
          <a:prstGeom prst="roundRect">
            <a:avLst>
              <a:gd name="adj" fmla="val 2105"/>
            </a:avLst>
          </a:prstGeom>
          <a:solidFill>
            <a:srgbClr val="FFFFFF"/>
          </a:solidFill>
          <a:ln w="12700">
            <a:solidFill>
              <a:srgbClr val="D6DCE5"/>
            </a:solidFill>
            <a:prstDash val="solid"/>
          </a:ln>
        </p:spPr>
        <p:txBody>
          <a:bodyPr/>
          <a:lstStyle/>
          <a:p>
            <a:endParaRPr/>
          </a:p>
        </p:txBody>
      </p:sp>
      <p:sp>
        <p:nvSpPr>
          <p:cNvPr id="381" name="矩形: 圆角 380"/>
          <p:cNvSpPr/>
          <p:nvPr/>
        </p:nvSpPr>
        <p:spPr>
          <a:xfrm>
            <a:off x="4705350" y="2847975"/>
            <a:ext cx="514350" cy="228600"/>
          </a:xfrm>
          <a:prstGeom prst="roundRect">
            <a:avLst>
              <a:gd name="adj" fmla="val 16667"/>
            </a:avLst>
          </a:prstGeom>
          <a:solidFill>
            <a:srgbClr val="E8EFF8"/>
          </a:solidFill>
          <a:ln/>
        </p:spPr>
        <p:txBody>
          <a:bodyPr/>
          <a:lstStyle/>
          <a:p>
            <a:endParaRPr/>
          </a:p>
        </p:txBody>
      </p:sp>
      <p:sp>
        <p:nvSpPr>
          <p:cNvPr id="382" name="文本框 381" descr="{&quot;isTemplate&quot;:true,&quot;type&quot;:&quot;text&quot;}"/>
          <p:cNvSpPr txBox="1"/>
          <p:nvPr/>
        </p:nvSpPr>
        <p:spPr>
          <a:xfrm>
            <a:off x="4819650" y="2876550"/>
            <a:ext cx="285750" cy="171450"/>
          </a:xfrm>
          <a:prstGeom prst="rect">
            <a:avLst/>
          </a:prstGeom>
        </p:spPr>
        <p:txBody>
          <a:bodyPr wrap="none" lIns="0" tIns="0" rIns="0" bIns="0"/>
          <a:lstStyle/>
          <a:p>
            <a:pPr>
              <a:lnSpc>
                <a:spcPct val="100000"/>
              </a:lnSpc>
            </a:pPr>
            <a:r>
              <a:rPr lang="zh-CN" sz="1125" b="1">
                <a:solidFill>
                  <a:srgbClr val="0E3F8C"/>
                </a:solidFill>
                <a:latin typeface="Microsoft YaHei"/>
                <a:ea typeface="Microsoft YaHei"/>
              </a:rPr>
              <a:t>案例</a:t>
            </a:r>
            <a:endParaRPr/>
          </a:p>
        </p:txBody>
      </p:sp>
      <p:sp>
        <p:nvSpPr>
          <p:cNvPr id="383" name="文本框 382" descr="{&quot;isTemplate&quot;:true,&quot;type&quot;:&quot;text&quot;}"/>
          <p:cNvSpPr txBox="1"/>
          <p:nvPr/>
        </p:nvSpPr>
        <p:spPr>
          <a:xfrm>
            <a:off x="5334000" y="2838450"/>
            <a:ext cx="2200275" cy="247650"/>
          </a:xfrm>
          <a:prstGeom prst="rect">
            <a:avLst/>
          </a:prstGeom>
        </p:spPr>
        <p:txBody>
          <a:bodyPr wrap="none" lIns="0" tIns="0" rIns="0" bIns="0"/>
          <a:lstStyle/>
          <a:p>
            <a:pPr>
              <a:lnSpc>
                <a:spcPct val="100000"/>
              </a:lnSpc>
            </a:pPr>
            <a:r>
              <a:rPr lang="zh-CN" sz="1575" b="1">
                <a:solidFill>
                  <a:srgbClr val="0E3F8C"/>
                </a:solidFill>
                <a:latin typeface="Microsoft YaHei"/>
                <a:ea typeface="Microsoft YaHei"/>
              </a:rPr>
              <a:t>比亚迪的新能源转型蓝图</a:t>
            </a:r>
            <a:endParaRPr/>
          </a:p>
        </p:txBody>
      </p:sp>
      <p:sp>
        <p:nvSpPr>
          <p:cNvPr id="384" name="文本框 383" descr="{&quot;isTemplate&quot;:true,&quot;type&quot;:&quot;text&quot;}"/>
          <p:cNvSpPr txBox="1"/>
          <p:nvPr/>
        </p:nvSpPr>
        <p:spPr>
          <a:xfrm>
            <a:off x="4705350" y="3200400"/>
            <a:ext cx="6896100" cy="1057275"/>
          </a:xfrm>
          <a:prstGeom prst="rect">
            <a:avLst/>
          </a:prstGeom>
        </p:spPr>
        <p:txBody>
          <a:bodyPr wrap="square" lIns="0" tIns="0" rIns="0" bIns="0">
            <a:normAutofit/>
          </a:bodyPr>
          <a:lstStyle/>
          <a:p>
            <a:pPr>
              <a:lnSpc>
                <a:spcPct val="180000"/>
              </a:lnSpc>
            </a:pPr>
            <a:r>
              <a:rPr lang="en-US" sz="1275">
                <a:solidFill>
                  <a:srgbClr val="4A5568"/>
                </a:solidFill>
                <a:latin typeface="Microsoft YaHei"/>
                <a:ea typeface="Microsoft YaHei"/>
              </a:rPr>
              <a:t>2008 </a:t>
            </a:r>
            <a:r>
              <a:rPr lang="zh-CN" sz="1275">
                <a:solidFill>
                  <a:srgbClr val="4A5568"/>
                </a:solidFill>
                <a:latin typeface="Microsoft YaHei"/>
                <a:ea typeface="Microsoft YaHei"/>
              </a:rPr>
              <a:t>年前后，比亚迪对外公布新能源汽车战略路线：先以电池技术为根基，再依次切入混动与纯电市场。这是典型的</a:t>
            </a:r>
            <a:r>
              <a:rPr lang="zh-CN" sz="1275" b="1">
                <a:solidFill>
                  <a:srgbClr val="1A2230"/>
                </a:solidFill>
                <a:latin typeface="Microsoft YaHei"/>
                <a:ea typeface="Microsoft YaHei"/>
              </a:rPr>
              <a:t>事先制定、公开言明的行动纲领</a:t>
            </a:r>
            <a:r>
              <a:rPr lang="zh-CN" sz="1275">
                <a:solidFill>
                  <a:srgbClr val="4A5568"/>
                </a:solidFill>
                <a:latin typeface="Microsoft YaHei"/>
                <a:ea typeface="Microsoft YaHei"/>
              </a:rPr>
              <a:t>——企业五年规划、上市公司的战略白皮书，都属于</a:t>
            </a:r>
            <a:r>
              <a:rPr lang="en-US" sz="1275">
                <a:solidFill>
                  <a:srgbClr val="4A5568"/>
                </a:solidFill>
                <a:latin typeface="Microsoft YaHei"/>
                <a:ea typeface="Microsoft YaHei"/>
              </a:rPr>
              <a:t> Plan </a:t>
            </a:r>
            <a:r>
              <a:rPr lang="zh-CN" sz="1275">
                <a:solidFill>
                  <a:srgbClr val="4A5568"/>
                </a:solidFill>
                <a:latin typeface="Microsoft YaHei"/>
                <a:ea typeface="Microsoft YaHei"/>
              </a:rPr>
              <a:t>意义上的战略。</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7F9FC', position: 'relative', padding: 0 }}&gt;&#10;    &lt;Box style={{ position: 'absolute', top: 0, left: 0, width: 1280, height: 72, background: '#1E4FA8', flexDirection: 'row', alignItems: 'center', justifyContent: 'space-between', paddingLeft: 40, paddingRight: 40 }}&gt;&#10;        &lt;Text style={{ fontSize: 15, color: '#FFFFFF', letterSpacing: 3 }}&gt;战略管理 · STRATEGIC MANAGEMENT&lt;/Text&gt;&#10;        &lt;Text style={{ fontSize: 15, color: '#E8EFF8' }}&gt;02 五个维度详解&lt;/Text&gt;&#10;    &lt;/Box&gt;&#10;    &lt;Box style={{ position: 'absolute', bottom: 0, left: 0, width: 1280, height: 44, background: '#FFFFFF', flexDirection: 'row', alignItems: 'center', justifyContent: 'space-between', paddingLeft: 40, paddingRight: 40, borderTop: '1px solid #E5E7EB' }}&gt;&#10;        &lt;Text style={{ fontSize: 14, color: '#8B97A8' }}&gt;《战略管理》教学课件 · 明茨伯格 5P 理论&lt;/Text&gt;&#10;        &lt;Text style={{ fontSize: 15, color: '#0E3F8C', fontWeight: 'bold' }}&gt;09 / 16&lt;/Text&gt;&#10;    &lt;/Box&gt;&#10;    &lt;Box style={{ position: 'absolute', top: 72, left: 0, width: 1280, height: 604, flexDirection: 'column', padding: '24px 40px 20px 40px' }}&gt;&#10;        &lt;Box style={{ flexDirection: 'row', alignItems: 'baseline', gap: 16, marginBottom: 14 }}&gt;&#10;            &lt;Text style={{ fontSize: 40, fontWeight: 'bold', color: '#FFC107' }}&gt;P2&lt;/Text&gt;&#10;            &lt;Text style={{ fontSize: 30, fontWeight: 'bold', color: '#0E3F8C' }}&gt;Ploy 计谋：战略是竞争中的特定手段&lt;/Text&gt;&#10;        &lt;/Box&gt;&#10;        &lt;Box style={{ background: '#FFFFFF', border: '1px solid #D6DCE5', borderRadius: 10, padding: 10, justifyContent: 'center', alignItems: 'center', height: 300, marginBottom: 16 }}&gt;&#10;            &lt;svg width={1160} height={280} viewBox='0 0 1160 280'&gt;&#10;                &lt;rect x='40' y='60' width='270' height='110' rx='10' fill='#0E3F8C' /&gt;&#10;                &lt;text x='175' y='105' textAnchor='middle' fontSize='24' fontWeight='bold' fill='#FFFFFF'&gt;在位企业&lt;/text&gt;&#10;                &lt;text x='175' y='135' textAnchor='middle' fontSize='15' fill='#8FB3E8'&gt;行业里的现存玩家&lt;/text&gt;&#10;                &lt;rect x='850' y='60' width='270' height='110' rx='10' fill='#E8EFF8' stroke='#1E4FA8' strokeWidth='2' /&gt;&#10;                &lt;text x='985' y='105' textAnchor='middle' fontSize='24' fontWeight='bold' fill='#0E3F8C'&gt;潜在进入者&lt;/text&gt;&#10;                &lt;text x='985' y='135' textAnchor='middle' fontSize='15' fill='#3D7BD9'&gt;正考虑建厂进入市场&lt;/text&gt;&#10;                &lt;line x1='320' y1='115' x2='840' y2='115' stroke='#D9534F' strokeWidth='3' /&gt;&#10;                &lt;polygon points='840,115 822,106 822,124' fill='#D9534F' /&gt;&#10;                &lt;rect x='430' y='28' width='300' height='52' rx='26' fill='#FDECEB' stroke='#D9534F' strokeWidth='1.5' /&gt;&#10;                &lt;text x='580' y='61' textAnchor='middle' fontSize='19' fontWeight='bold' fill='#D9534F'&gt;“你若进入，我就降价 50%”&lt;/text&gt;&#10;                &lt;line x1='985' y1='170' x2='985' y2='216' stroke='#8B97A8' strokeWidth='2' strokeDasharray='6 5' /&gt;&#10;                &lt;polygon points='985,228 977,212 993,212' fill='#8B97A8' /&gt;&#10;                &lt;rect x='810' y='230' width='350' height='44' rx='8' fill='#F7F9FC' stroke='#D6DCE5' strokeWidth='1.5' /&gt;&#10;                &lt;text x='985' y='258' textAnchor='middle' fontSize='18' fill='#1A2230'&gt;权衡后放弃进入：威胁生效&lt;/text&gt;&#10;                &lt;text x='175' y='230' textAnchor='middle' fontSize='17' fill='#4A5568'&gt;明茨伯格原文中的经典例子&lt;/text&gt;&#10;                &lt;text x='175' y='256' textAnchor='middle' fontSize='17' fill='#1E4FA8' fontWeight='bold'&gt;不必真正开战，威慑本身就是战略&lt;/text&gt;&#10;            &lt;/svg&gt;&#10;        &lt;/Box&gt;&#10;        &lt;Box style={{ flexDirection: 'row', gap: 20, flex: 1 }}&gt;&#10;            &lt;Box style={{ flex: 1.1, background: '#E8EFF8', borderRadius: 8, padding: '16px 22px', flexDirection: 'column', justifyContent: 'center' }}&gt;&#10;                &lt;Text style={{ fontSize: 17, color: '#4A5568', lineHeight: 1.7 }}&gt;&#10;                    &lt;span style={{ fontWeight: 'bold', color: '#0E3F8C' }}&gt;定义要点：&lt;/span&gt;Ploy 指为应对或击败对手而设计的&lt;span style={{ color: '#D9534F', fontWeight: 'bold' }}&gt;特定计谋&lt;/span&gt;——威胁、佯动、威慑皆可。它继承了“战略”一词的军事血统（stratagem，诡计）。&#10;                &lt;/Text&gt;&#10;            &lt;/Box&gt;&#10;            &lt;Box style={{ flex: 1, background: '#FFFFFF', border: '1px solid #D6DCE5', borderRadius: 8, padding: '16px 22px', flexDirection: 'column', justifyContent: 'center' }}&gt;&#10;                &lt;Text style={{ fontSize: 17, fontWeight: 'bold', color: '#0E3F8C', marginBottom: 6 }}&gt;案例 · 民航价格战威慑&lt;/Text&gt;&#10;                &lt;Text style={{ fontSize: 16, color: '#4A5568', lineHeight: 1.7 }}&gt;&#10;                    新航司放话进入某条航线时，在位航司立即放出超低票价“迎战姿态”，常令对手重新测算收益后放弃。&#10;                &lt;/Text&gt;&#10;            &lt;/Box&gt;&#10;            &lt;Box style={{ flex: 1, background: '#FFFFFF', border: '1px solid #D6DCE5', borderRadius: 8, padding: '16px 22px', flexDirection: 'column', justifyContent: 'center' }}&gt;&#10;                &lt;Text style={{ fontSize: 17, fontWeight: 'bold', color: '#0E3F8C', marginBottom: 6 }}&gt;案例 · “全网最低价”声明&lt;/Text&gt;&#10;                &lt;Text style={{ fontSize: 16, color: '#4A5568', lineHeight: 1.7 }}&gt;&#10;                    电商平台公开承诺“降价就赔”，向对手传递“别打价格战”的信号——未动一兵一卒而改变局势。&#10;                &lt;/Text&gt;&#10;            &lt;/Box&gt;&#10;        &lt;/Box&gt;&#10;    &lt;/Box&gt;&#10;&lt;/Slide&gt;"/>
        <p:cNvGrpSpPr/>
        <p:nvPr/>
      </p:nvGrpSpPr>
      <p:grpSpPr>
        <a:xfrm>
          <a:off x="0" y="0"/>
          <a:ext cx="0" cy="0"/>
          <a:chOff x="0" y="0"/>
          <a:chExt cx="0" cy="0"/>
        </a:xfrm>
      </p:grpSpPr>
      <p:sp>
        <p:nvSpPr>
          <p:cNvPr id="389" name="矩形 388"/>
          <p:cNvSpPr/>
          <p:nvPr/>
        </p:nvSpPr>
        <p:spPr>
          <a:xfrm>
            <a:off x="0" y="0"/>
            <a:ext cx="12192000" cy="6858000"/>
          </a:xfrm>
          <a:prstGeom prst="rect">
            <a:avLst/>
          </a:prstGeom>
          <a:solidFill>
            <a:srgbClr val="F7F9FC"/>
          </a:solidFill>
          <a:ln/>
        </p:spPr>
        <p:txBody>
          <a:bodyPr/>
          <a:lstStyle/>
          <a:p>
            <a:endParaRPr/>
          </a:p>
        </p:txBody>
      </p:sp>
      <p:sp>
        <p:nvSpPr>
          <p:cNvPr id="390" name="矩形 389"/>
          <p:cNvSpPr/>
          <p:nvPr/>
        </p:nvSpPr>
        <p:spPr>
          <a:xfrm>
            <a:off x="0" y="0"/>
            <a:ext cx="12192000" cy="685800"/>
          </a:xfrm>
          <a:prstGeom prst="rect">
            <a:avLst/>
          </a:prstGeom>
          <a:solidFill>
            <a:srgbClr val="1E4FA8"/>
          </a:solidFill>
          <a:ln/>
        </p:spPr>
        <p:txBody>
          <a:bodyPr/>
          <a:lstStyle/>
          <a:p>
            <a:endParaRPr/>
          </a:p>
        </p:txBody>
      </p:sp>
      <p:sp>
        <p:nvSpPr>
          <p:cNvPr id="391" name="文本框 390"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FFFFFF"/>
                </a:solidFill>
                <a:latin typeface="Microsoft YaHei"/>
                <a:ea typeface="Microsoft YaHei"/>
              </a:rPr>
              <a:t>战略管理</a:t>
            </a:r>
            <a:r>
              <a:rPr lang="en-US" sz="1125" spc="225">
                <a:solidFill>
                  <a:srgbClr val="FFFFFF"/>
                </a:solidFill>
                <a:latin typeface="Microsoft YaHei"/>
                <a:ea typeface="Microsoft YaHei"/>
              </a:rPr>
              <a:t> · STRATEGIC MANAGEMENT</a:t>
            </a:r>
            <a:endParaRPr/>
          </a:p>
        </p:txBody>
      </p:sp>
      <p:sp>
        <p:nvSpPr>
          <p:cNvPr id="392" name="文本框 391" descr="{&quot;isTemplate&quot;:true,&quot;type&quot;:&quot;text&quot;}"/>
          <p:cNvSpPr txBox="1"/>
          <p:nvPr/>
        </p:nvSpPr>
        <p:spPr>
          <a:xfrm>
            <a:off x="10734675" y="257175"/>
            <a:ext cx="1076325" cy="171450"/>
          </a:xfrm>
          <a:prstGeom prst="rect">
            <a:avLst/>
          </a:prstGeom>
        </p:spPr>
        <p:txBody>
          <a:bodyPr wrap="none" lIns="0" tIns="0" rIns="0" bIns="0"/>
          <a:lstStyle/>
          <a:p>
            <a:pPr>
              <a:lnSpc>
                <a:spcPct val="100000"/>
              </a:lnSpc>
            </a:pPr>
            <a:r>
              <a:rPr lang="en-US" sz="1125">
                <a:solidFill>
                  <a:srgbClr val="E8EFF8"/>
                </a:solidFill>
                <a:latin typeface="Microsoft YaHei"/>
                <a:ea typeface="Microsoft YaHei"/>
              </a:rPr>
              <a:t>02 </a:t>
            </a:r>
            <a:r>
              <a:rPr lang="zh-CN" sz="1125">
                <a:solidFill>
                  <a:srgbClr val="E8EFF8"/>
                </a:solidFill>
                <a:latin typeface="Microsoft YaHei"/>
                <a:ea typeface="Microsoft YaHei"/>
              </a:rPr>
              <a:t>五个维度详解</a:t>
            </a:r>
            <a:endParaRPr/>
          </a:p>
        </p:txBody>
      </p:sp>
      <p:sp>
        <p:nvSpPr>
          <p:cNvPr id="393" name="矩形 392"/>
          <p:cNvSpPr/>
          <p:nvPr/>
        </p:nvSpPr>
        <p:spPr>
          <a:xfrm>
            <a:off x="0" y="6448425"/>
            <a:ext cx="12192000" cy="409575"/>
          </a:xfrm>
          <a:prstGeom prst="rect">
            <a:avLst/>
          </a:prstGeom>
          <a:solidFill>
            <a:srgbClr val="FFFFFF"/>
          </a:solidFill>
          <a:ln/>
        </p:spPr>
        <p:txBody>
          <a:bodyPr/>
          <a:lstStyle/>
          <a:p>
            <a:endParaRPr/>
          </a:p>
        </p:txBody>
      </p:sp>
      <p:sp>
        <p:nvSpPr>
          <p:cNvPr id="394" name="任意多边形: 形状 393"/>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E5E7EB"/>
          </a:solidFill>
          <a:ln/>
        </p:spPr>
        <p:txBody>
          <a:bodyPr/>
          <a:lstStyle/>
          <a:p>
            <a:endParaRPr/>
          </a:p>
        </p:txBody>
      </p:sp>
      <p:sp>
        <p:nvSpPr>
          <p:cNvPr id="395" name="文本框 394" descr="{&quot;isTemplate&quot;:true,&quot;type&quot;:&quot;text&quot;}"/>
          <p:cNvSpPr txBox="1"/>
          <p:nvPr/>
        </p:nvSpPr>
        <p:spPr>
          <a:xfrm>
            <a:off x="381000" y="6572250"/>
            <a:ext cx="2486025"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《战略管理》教学课件</a:t>
            </a:r>
            <a:r>
              <a:rPr lang="en-US" sz="1050">
                <a:solidFill>
                  <a:srgbClr val="8B97A8"/>
                </a:solidFill>
                <a:latin typeface="Microsoft YaHei"/>
                <a:ea typeface="Microsoft YaHei"/>
              </a:rPr>
              <a:t> · </a:t>
            </a:r>
            <a:r>
              <a:rPr lang="zh-CN" sz="1050">
                <a:solidFill>
                  <a:srgbClr val="8B97A8"/>
                </a:solidFill>
                <a:latin typeface="Microsoft YaHei"/>
                <a:ea typeface="Microsoft YaHei"/>
              </a:rPr>
              <a:t>明茨伯格</a:t>
            </a:r>
            <a:r>
              <a:rPr lang="en-US" sz="1050">
                <a:solidFill>
                  <a:srgbClr val="8B97A8"/>
                </a:solidFill>
                <a:latin typeface="Microsoft YaHei"/>
                <a:ea typeface="Microsoft YaHei"/>
              </a:rPr>
              <a:t> 5P </a:t>
            </a:r>
            <a:r>
              <a:rPr lang="zh-CN" sz="1050">
                <a:solidFill>
                  <a:srgbClr val="8B97A8"/>
                </a:solidFill>
                <a:latin typeface="Microsoft YaHei"/>
                <a:ea typeface="Microsoft YaHei"/>
              </a:rPr>
              <a:t>理论</a:t>
            </a:r>
            <a:endParaRPr/>
          </a:p>
        </p:txBody>
      </p:sp>
      <p:sp>
        <p:nvSpPr>
          <p:cNvPr id="396" name="文本框 395" descr="{&quot;isTemplate&quot;:true,&quot;type&quot;:&quot;text&quot;}"/>
          <p:cNvSpPr txBox="1"/>
          <p:nvPr/>
        </p:nvSpPr>
        <p:spPr>
          <a:xfrm>
            <a:off x="11296650" y="6572250"/>
            <a:ext cx="514350" cy="171450"/>
          </a:xfrm>
          <a:prstGeom prst="rect">
            <a:avLst/>
          </a:prstGeom>
        </p:spPr>
        <p:txBody>
          <a:bodyPr wrap="none" lIns="0" tIns="0" rIns="0" bIns="0"/>
          <a:lstStyle/>
          <a:p>
            <a:pPr>
              <a:lnSpc>
                <a:spcPct val="100000"/>
              </a:lnSpc>
            </a:pPr>
            <a:r>
              <a:rPr lang="en-US" sz="1125" b="1">
                <a:solidFill>
                  <a:srgbClr val="0E3F8C"/>
                </a:solidFill>
                <a:latin typeface="Microsoft YaHei"/>
                <a:ea typeface="Microsoft YaHei"/>
              </a:rPr>
              <a:t>09 / 16</a:t>
            </a:r>
            <a:endParaRPr/>
          </a:p>
        </p:txBody>
      </p:sp>
      <p:sp>
        <p:nvSpPr>
          <p:cNvPr id="397" name="文本框 396" descr="{&quot;isTemplate&quot;:true,&quot;type&quot;:&quot;text&quot;}"/>
          <p:cNvSpPr txBox="1"/>
          <p:nvPr/>
        </p:nvSpPr>
        <p:spPr>
          <a:xfrm>
            <a:off x="381000" y="914400"/>
            <a:ext cx="485775" cy="457200"/>
          </a:xfrm>
          <a:prstGeom prst="rect">
            <a:avLst/>
          </a:prstGeom>
        </p:spPr>
        <p:txBody>
          <a:bodyPr wrap="none" lIns="0" tIns="0" rIns="0" bIns="0"/>
          <a:lstStyle/>
          <a:p>
            <a:pPr>
              <a:lnSpc>
                <a:spcPct val="100000"/>
              </a:lnSpc>
            </a:pPr>
            <a:r>
              <a:rPr lang="en-US" sz="3000" b="1">
                <a:solidFill>
                  <a:srgbClr val="FFC107"/>
                </a:solidFill>
                <a:latin typeface="Microsoft YaHei"/>
                <a:ea typeface="Microsoft YaHei"/>
              </a:rPr>
              <a:t>P2</a:t>
            </a:r>
            <a:endParaRPr/>
          </a:p>
        </p:txBody>
      </p:sp>
      <p:sp>
        <p:nvSpPr>
          <p:cNvPr id="398" name="文本框 397" descr="{&quot;isTemplate&quot;:true,&quot;type&quot;:&quot;text&quot;}"/>
          <p:cNvSpPr txBox="1"/>
          <p:nvPr/>
        </p:nvSpPr>
        <p:spPr>
          <a:xfrm>
            <a:off x="1019175" y="914400"/>
            <a:ext cx="4714875" cy="457200"/>
          </a:xfrm>
          <a:prstGeom prst="rect">
            <a:avLst/>
          </a:prstGeom>
        </p:spPr>
        <p:txBody>
          <a:bodyPr wrap="none" lIns="0" tIns="0" rIns="0" bIns="0"/>
          <a:lstStyle/>
          <a:p>
            <a:pPr>
              <a:lnSpc>
                <a:spcPct val="100000"/>
              </a:lnSpc>
            </a:pPr>
            <a:r>
              <a:rPr lang="en-US" sz="2250" b="1">
                <a:solidFill>
                  <a:srgbClr val="0E3F8C"/>
                </a:solidFill>
                <a:latin typeface="Microsoft YaHei"/>
                <a:ea typeface="Microsoft YaHei"/>
              </a:rPr>
              <a:t>Ploy </a:t>
            </a:r>
            <a:r>
              <a:rPr lang="zh-CN" sz="2250" b="1">
                <a:solidFill>
                  <a:srgbClr val="0E3F8C"/>
                </a:solidFill>
                <a:latin typeface="Microsoft YaHei"/>
                <a:ea typeface="Microsoft YaHei"/>
              </a:rPr>
              <a:t>计谋：战略是竞争中的特定手段</a:t>
            </a:r>
            <a:endParaRPr/>
          </a:p>
        </p:txBody>
      </p:sp>
      <p:sp>
        <p:nvSpPr>
          <p:cNvPr id="399" name="矩形: 圆角 398"/>
          <p:cNvSpPr/>
          <p:nvPr/>
        </p:nvSpPr>
        <p:spPr>
          <a:xfrm>
            <a:off x="381000" y="1504950"/>
            <a:ext cx="11430000" cy="2857500"/>
          </a:xfrm>
          <a:prstGeom prst="roundRect">
            <a:avLst>
              <a:gd name="adj" fmla="val 3333"/>
            </a:avLst>
          </a:prstGeom>
          <a:solidFill>
            <a:srgbClr val="FFFFFF"/>
          </a:solidFill>
          <a:ln w="12700">
            <a:solidFill>
              <a:srgbClr val="D6DCE5"/>
            </a:solidFill>
            <a:prstDash val="solid"/>
          </a:ln>
        </p:spPr>
        <p:txBody>
          <a:bodyPr/>
          <a:lstStyle/>
          <a:p>
            <a:endParaRPr/>
          </a:p>
        </p:txBody>
      </p:sp>
      <p:pic>
        <p:nvPicPr>
          <p:cNvPr id="400" name="图形 39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1500" y="1600200"/>
            <a:ext cx="11049000" cy="2667000"/>
          </a:xfrm>
          <a:prstGeom prst="rect">
            <a:avLst/>
          </a:prstGeom>
          <a:ln/>
        </p:spPr>
      </p:pic>
      <p:sp>
        <p:nvSpPr>
          <p:cNvPr id="401" name="矩形: 圆角 400"/>
          <p:cNvSpPr/>
          <p:nvPr/>
        </p:nvSpPr>
        <p:spPr>
          <a:xfrm>
            <a:off x="381000" y="4514850"/>
            <a:ext cx="3924300" cy="1733550"/>
          </a:xfrm>
          <a:prstGeom prst="roundRect">
            <a:avLst>
              <a:gd name="adj" fmla="val 4396"/>
            </a:avLst>
          </a:prstGeom>
          <a:solidFill>
            <a:srgbClr val="E8EFF8"/>
          </a:solidFill>
          <a:ln/>
        </p:spPr>
        <p:txBody>
          <a:bodyPr/>
          <a:lstStyle/>
          <a:p>
            <a:endParaRPr/>
          </a:p>
        </p:txBody>
      </p:sp>
      <p:sp>
        <p:nvSpPr>
          <p:cNvPr id="402" name="文本框 401" descr="{&quot;isTemplate&quot;:true,&quot;type&quot;:&quot;text&quot;}"/>
          <p:cNvSpPr txBox="1"/>
          <p:nvPr/>
        </p:nvSpPr>
        <p:spPr>
          <a:xfrm>
            <a:off x="590550" y="4724400"/>
            <a:ext cx="3505200" cy="1323975"/>
          </a:xfrm>
          <a:prstGeom prst="rect">
            <a:avLst/>
          </a:prstGeom>
        </p:spPr>
        <p:txBody>
          <a:bodyPr wrap="square" lIns="0" tIns="0" rIns="0" bIns="0">
            <a:normAutofit/>
          </a:bodyPr>
          <a:lstStyle/>
          <a:p>
            <a:pPr>
              <a:lnSpc>
                <a:spcPct val="170000"/>
              </a:lnSpc>
            </a:pPr>
            <a:r>
              <a:rPr lang="zh-CN" sz="1275" b="1">
                <a:solidFill>
                  <a:srgbClr val="0E3F8C"/>
                </a:solidFill>
                <a:latin typeface="Microsoft YaHei"/>
                <a:ea typeface="Microsoft YaHei"/>
              </a:rPr>
              <a:t>定义要点：</a:t>
            </a:r>
            <a:r>
              <a:rPr lang="en-US" sz="1275">
                <a:solidFill>
                  <a:srgbClr val="4A5568"/>
                </a:solidFill>
                <a:latin typeface="Microsoft YaHei"/>
                <a:ea typeface="Microsoft YaHei"/>
              </a:rPr>
              <a:t>Ploy </a:t>
            </a:r>
            <a:r>
              <a:rPr lang="zh-CN" sz="1275">
                <a:solidFill>
                  <a:srgbClr val="4A5568"/>
                </a:solidFill>
                <a:latin typeface="Microsoft YaHei"/>
                <a:ea typeface="Microsoft YaHei"/>
              </a:rPr>
              <a:t>指为应对或击败对手而设计的</a:t>
            </a:r>
            <a:r>
              <a:rPr lang="zh-CN" sz="1275" b="1">
                <a:solidFill>
                  <a:srgbClr val="D9534F"/>
                </a:solidFill>
                <a:latin typeface="Microsoft YaHei"/>
                <a:ea typeface="Microsoft YaHei"/>
              </a:rPr>
              <a:t>特定计谋</a:t>
            </a:r>
            <a:r>
              <a:rPr lang="zh-CN" sz="1275">
                <a:solidFill>
                  <a:srgbClr val="4A5568"/>
                </a:solidFill>
                <a:latin typeface="Microsoft YaHei"/>
                <a:ea typeface="Microsoft YaHei"/>
              </a:rPr>
              <a:t>——威胁、佯动、威慑皆可。它继承了“战略”一词的军事血统（</a:t>
            </a:r>
            <a:r>
              <a:rPr lang="en-US" sz="1275">
                <a:solidFill>
                  <a:srgbClr val="4A5568"/>
                </a:solidFill>
                <a:latin typeface="Microsoft YaHei"/>
                <a:ea typeface="Microsoft YaHei"/>
              </a:rPr>
              <a:t>stratagem</a:t>
            </a:r>
            <a:r>
              <a:rPr lang="zh-CN" sz="1275">
                <a:solidFill>
                  <a:srgbClr val="4A5568"/>
                </a:solidFill>
                <a:latin typeface="Microsoft YaHei"/>
                <a:ea typeface="Microsoft YaHei"/>
              </a:rPr>
              <a:t>，诡计）。</a:t>
            </a:r>
            <a:endParaRPr/>
          </a:p>
        </p:txBody>
      </p:sp>
      <p:sp>
        <p:nvSpPr>
          <p:cNvPr id="403" name="矩形: 圆角 402"/>
          <p:cNvSpPr/>
          <p:nvPr/>
        </p:nvSpPr>
        <p:spPr>
          <a:xfrm>
            <a:off x="4495800" y="4514850"/>
            <a:ext cx="3562350" cy="1733550"/>
          </a:xfrm>
          <a:prstGeom prst="roundRect">
            <a:avLst>
              <a:gd name="adj" fmla="val 4396"/>
            </a:avLst>
          </a:prstGeom>
          <a:solidFill>
            <a:srgbClr val="FFFFFF"/>
          </a:solidFill>
          <a:ln w="12700">
            <a:solidFill>
              <a:srgbClr val="D6DCE5"/>
            </a:solidFill>
            <a:prstDash val="solid"/>
          </a:ln>
        </p:spPr>
        <p:txBody>
          <a:bodyPr/>
          <a:lstStyle/>
          <a:p>
            <a:endParaRPr/>
          </a:p>
        </p:txBody>
      </p:sp>
      <p:sp>
        <p:nvSpPr>
          <p:cNvPr id="404" name="文本框 403" descr="{&quot;isTemplate&quot;:true,&quot;type&quot;:&quot;text&quot;}"/>
          <p:cNvSpPr txBox="1"/>
          <p:nvPr/>
        </p:nvSpPr>
        <p:spPr>
          <a:xfrm>
            <a:off x="4705350" y="4791075"/>
            <a:ext cx="314325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案例</a:t>
            </a:r>
            <a:r>
              <a:rPr lang="en-US" sz="1275" b="1">
                <a:solidFill>
                  <a:srgbClr val="0E3F8C"/>
                </a:solidFill>
                <a:latin typeface="Microsoft YaHei"/>
                <a:ea typeface="Microsoft YaHei"/>
              </a:rPr>
              <a:t> · </a:t>
            </a:r>
            <a:r>
              <a:rPr lang="zh-CN" sz="1275" b="1">
                <a:solidFill>
                  <a:srgbClr val="0E3F8C"/>
                </a:solidFill>
                <a:latin typeface="Microsoft YaHei"/>
                <a:ea typeface="Microsoft YaHei"/>
              </a:rPr>
              <a:t>民航价格战威慑</a:t>
            </a:r>
            <a:endParaRPr/>
          </a:p>
        </p:txBody>
      </p:sp>
      <p:sp>
        <p:nvSpPr>
          <p:cNvPr id="405" name="文本框 404" descr="{&quot;isTemplate&quot;:true,&quot;type&quot;:&quot;text&quot;}"/>
          <p:cNvSpPr txBox="1"/>
          <p:nvPr/>
        </p:nvSpPr>
        <p:spPr>
          <a:xfrm>
            <a:off x="4705350" y="5048250"/>
            <a:ext cx="3143250" cy="933450"/>
          </a:xfrm>
          <a:prstGeom prst="rect">
            <a:avLst/>
          </a:prstGeom>
        </p:spPr>
        <p:txBody>
          <a:bodyPr wrap="square" lIns="0" tIns="0" rIns="0" bIns="0">
            <a:normAutofit/>
          </a:bodyPr>
          <a:lstStyle/>
          <a:p>
            <a:pPr>
              <a:lnSpc>
                <a:spcPct val="170000"/>
              </a:lnSpc>
            </a:pPr>
            <a:r>
              <a:rPr lang="zh-CN" sz="1200" dirty="0">
                <a:solidFill>
                  <a:srgbClr val="4A5568"/>
                </a:solidFill>
                <a:latin typeface="Microsoft YaHei"/>
                <a:ea typeface="Microsoft YaHei"/>
              </a:rPr>
              <a:t>新航司放话进入某条航线时，在位航司立即放出超低票价“迎战姿态”，常令对手重新测算收益后放弃。</a:t>
            </a:r>
            <a:endParaRPr dirty="0"/>
          </a:p>
        </p:txBody>
      </p:sp>
      <p:sp>
        <p:nvSpPr>
          <p:cNvPr id="406" name="矩形: 圆角 405"/>
          <p:cNvSpPr/>
          <p:nvPr/>
        </p:nvSpPr>
        <p:spPr>
          <a:xfrm>
            <a:off x="8248650" y="4514850"/>
            <a:ext cx="3562350" cy="1733550"/>
          </a:xfrm>
          <a:prstGeom prst="roundRect">
            <a:avLst>
              <a:gd name="adj" fmla="val 4396"/>
            </a:avLst>
          </a:prstGeom>
          <a:solidFill>
            <a:srgbClr val="FFFFFF"/>
          </a:solidFill>
          <a:ln w="12700">
            <a:solidFill>
              <a:srgbClr val="D6DCE5"/>
            </a:solidFill>
            <a:prstDash val="solid"/>
          </a:ln>
        </p:spPr>
        <p:txBody>
          <a:bodyPr/>
          <a:lstStyle/>
          <a:p>
            <a:endParaRPr/>
          </a:p>
        </p:txBody>
      </p:sp>
      <p:sp>
        <p:nvSpPr>
          <p:cNvPr id="407" name="文本框 406" descr="{&quot;isTemplate&quot;:true,&quot;type&quot;:&quot;text&quot;}"/>
          <p:cNvSpPr txBox="1"/>
          <p:nvPr/>
        </p:nvSpPr>
        <p:spPr>
          <a:xfrm>
            <a:off x="8458200" y="4791075"/>
            <a:ext cx="3143250" cy="200025"/>
          </a:xfrm>
          <a:prstGeom prst="rect">
            <a:avLst/>
          </a:prstGeom>
        </p:spPr>
        <p:txBody>
          <a:bodyPr wrap="none" lIns="0" tIns="0" rIns="0" bIns="0"/>
          <a:lstStyle/>
          <a:p>
            <a:pPr>
              <a:lnSpc>
                <a:spcPct val="100000"/>
              </a:lnSpc>
            </a:pPr>
            <a:r>
              <a:rPr lang="zh-CN" sz="1275" b="1">
                <a:solidFill>
                  <a:srgbClr val="0E3F8C"/>
                </a:solidFill>
                <a:latin typeface="Microsoft YaHei"/>
                <a:ea typeface="Microsoft YaHei"/>
              </a:rPr>
              <a:t>案例</a:t>
            </a:r>
            <a:r>
              <a:rPr lang="en-US" sz="1275" b="1">
                <a:solidFill>
                  <a:srgbClr val="0E3F8C"/>
                </a:solidFill>
                <a:latin typeface="Microsoft YaHei"/>
                <a:ea typeface="Microsoft YaHei"/>
              </a:rPr>
              <a:t> · “</a:t>
            </a:r>
            <a:r>
              <a:rPr lang="zh-CN" sz="1275" b="1">
                <a:solidFill>
                  <a:srgbClr val="0E3F8C"/>
                </a:solidFill>
                <a:latin typeface="Microsoft YaHei"/>
                <a:ea typeface="Microsoft YaHei"/>
              </a:rPr>
              <a:t>全网最低价”声明</a:t>
            </a:r>
            <a:endParaRPr/>
          </a:p>
        </p:txBody>
      </p:sp>
      <p:sp>
        <p:nvSpPr>
          <p:cNvPr id="408" name="文本框 407" descr="{&quot;isTemplate&quot;:true,&quot;type&quot;:&quot;text&quot;}"/>
          <p:cNvSpPr txBox="1"/>
          <p:nvPr/>
        </p:nvSpPr>
        <p:spPr>
          <a:xfrm>
            <a:off x="8458200" y="5048250"/>
            <a:ext cx="3143250" cy="933450"/>
          </a:xfrm>
          <a:prstGeom prst="rect">
            <a:avLst/>
          </a:prstGeom>
        </p:spPr>
        <p:txBody>
          <a:bodyPr wrap="square" lIns="0" tIns="0" rIns="0" bIns="0">
            <a:normAutofit/>
          </a:bodyPr>
          <a:lstStyle/>
          <a:p>
            <a:pPr>
              <a:lnSpc>
                <a:spcPct val="170000"/>
              </a:lnSpc>
            </a:pPr>
            <a:r>
              <a:rPr lang="zh-CN" sz="1200">
                <a:solidFill>
                  <a:srgbClr val="4A5568"/>
                </a:solidFill>
                <a:latin typeface="Microsoft YaHei"/>
                <a:ea typeface="Microsoft YaHei"/>
              </a:rPr>
              <a:t>电商平台公开承诺“降价就赔”，向对手传递“别打价格战”的信号——未动一兵一卒而改变局势。</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7F9FC', position: 'relative', padding: 0 }}&gt;&#10;    &lt;Box style={{ position: 'absolute', top: 0, left: 0, width: 1280, height: 72, background: '#1E4FA8', flexDirection: 'row', alignItems: 'center', justifyContent: 'space-between', paddingLeft: 40, paddingRight: 40 }}&gt;&#10;        &lt;Text style={{ fontSize: 15, color: '#FFFFFF', letterSpacing: 3 }}&gt;战略管理 · STRATEGIC MANAGEMENT&lt;/Text&gt;&#10;        &lt;Text style={{ fontSize: 15, color: '#E8EFF8' }}&gt;02 五个维度详解&lt;/Text&gt;&#10;    &lt;/Box&gt;&#10;    &lt;Box style={{ position: 'absolute', bottom: 0, left: 0, width: 1280, height: 44, background: '#FFFFFF', flexDirection: 'row', alignItems: 'center', justifyContent: 'space-between', paddingLeft: 40, paddingRight: 40, borderTop: '1px solid #E5E7EB' }}&gt;&#10;        &lt;Text style={{ fontSize: 14, color: '#8B97A8' }}&gt;《战略管理》教学课件 · 明茨伯格 5P 理论&lt;/Text&gt;&#10;        &lt;Text style={{ fontSize: 15, color: '#0E3F8C', fontWeight: 'bold' }}&gt;10 / 16&lt;/Text&gt;&#10;    &lt;/Box&gt;&#10;    &lt;Box style={{ position: 'absolute', top: 72, left: 0, width: 1280, height: 604, flexDirection: 'row', padding: '24px 40px 20px 40px', gap: 28 }}&gt;&#10;        &lt;Box style={{ width: '63%', flexDirection: 'column' }}&gt;&#10;            &lt;Box style={{ flexDirection: 'row', alignItems: 'baseline', gap: 16, marginBottom: 12 }}&gt;&#10;                &lt;Text style={{ fontSize: 40, fontWeight: 'bold', color: '#FFC107' }}&gt;P3&lt;/Text&gt;&#10;                &lt;Text style={{ fontSize: 30, fontWeight: 'bold', color: '#0E3F8C' }}&gt;Pattern 模式：战略是行动的一致性&lt;/Text&gt;&#10;            &lt;/Box&gt;&#10;            &lt;Box style={{ flex: 1, background: '#FFFFFF', border: '1px solid #D6DCE5', borderRadius: 10, padding: 10, justifyContent: 'center', alignItems: 'center' }}&gt;&#10;                &lt;svg width={700} height={440} viewBox='0 0 700 440'&gt;&#10;                    &lt;text x='20' y='26' fontSize='17' fill='#8B97A8'&gt;3M 公司的一系列实际行动（并非来自一份总规划）&lt;/text&gt;&#10;                    &lt;rect x='20' y='46' width='260' height='72' rx='9' fill='#E8EFF8' stroke='#3D7BD9' strokeWidth='1.5' /&gt;&#10;                    &lt;text x='150' y='88' textAnchor='middle' fontSize='18' fill='#0E3F8C' fontWeight='bold'&gt;长期保留“15% 自由时间”&lt;/text&gt;&#10;                    &lt;rect x='20' y='142' width='260' height='72' rx='9' fill='#E8EFF8' stroke='#3D7BD9' strokeWidth='1.5' /&gt;&#10;                    &lt;text x='150' y='184' textAnchor='middle' fontSize='18' fill='#0E3F8C' fontWeight='bold'&gt;鼓励内部创业与产品赛马&lt;/text&gt;&#10;                    &lt;rect x='20' y='238' width='260' height='72' rx='9' fill='#E8EFF8' stroke='#3D7BD9' strokeWidth='1.5' /&gt;&#10;                    &lt;text x='150' y='280' textAnchor='middle' fontSize='18' fill='#0E3F8C' fontWeight='bold'&gt;宽容失败、奖励“好的试错”&lt;/text&gt;&#10;                    &lt;rect x='20' y='334' width='260' height='72' rx='9' fill='#E8EFF8' stroke='#3D7BD9' strokeWidth='1.5' /&gt;&#10;                    &lt;text x='150' y='376' textAnchor='middle' fontSize='18' fill='#0E3F8C' fontWeight='bold'&gt;持续孵化多元产品线&lt;/text&gt;&#10;                    &lt;line x1='286' y1='82' x2='388' y2='220' stroke='#1E4FA8' strokeWidth='2' /&gt;&#10;                    &lt;line x1='286' y1='178' x2='388' y2='228' stroke='#1E4FA8' strokeWidth='2' /&gt;&#10;                    &lt;line x1='286' y1='274' x2='388' y2='240' stroke='#1E4FA8' strokeWidth='2' /&gt;&#10;                    &lt;line x1='286' y1='370' x2='388' y2='252' stroke='#1E4FA8' strokeWidth='2' /&gt;&#10;                    &lt;rect x='396' y='150' width='290' height='150' rx='12' fill='#0E3F8C' /&gt;&#10;                    &lt;text x='541' y='212' textAnchor='middle' fontSize='24' fontWeight='bold' fill='#FFFFFF'&gt;Pattern 模式&lt;/text&gt;&#10;                    &lt;text x='541' y='244' textAnchor='middle' fontSize='17' fill='#FFC107'&gt;持续创新&lt;/text&gt;&#10;                    &lt;text x='541' y='272' textAnchor='middle' fontSize='15' fill='#E8EFF8'&gt;在行动中反复出现的一致性&lt;/text&gt;&#10;                    &lt;text x='396' y='334' fontSize='16' fill='#4A5568'&gt;单项行动看不出战略，&lt;/text&gt;&#10;                    &lt;text x='396' y='358' fontSize='16' fill='#4A5568'&gt;一连串同类行动连起来，&lt;/text&gt;&#10;                    &lt;text x='396' y='382' fontSize='16' fill='#1E4FA8' fontWeight='bold'&gt;“模式”即战略本身。&lt;/text&gt;&#10;                &lt;/svg&gt;&#10;            &lt;/Box&gt;&#10;        &lt;/Box&gt;&#10;        &lt;Box style={{ width: '37%', flexDirection: 'column', gap: 18 }}&gt;&#10;            &lt;Box style={{ background: '#0E3F8C', borderRadius: 10, padding: 24, flexDirection: 'column' }}&gt;&#10;                &lt;Text style={{ fontSize: 18, color: '#8FB3E8', letterSpacing: 3, marginBottom: 10 }}&gt;定义&lt;/Text&gt;&#10;                &lt;Text style={{ fontSize: 19, color: '#FFFFFF', lineHeight: 1.8 }}&gt;&#10;                    战略是&lt;span style={{ color: '#FFC107' }}&gt;一系列行动汇聚而成的连贯模式&lt;/span&gt;——哪怕这些行动从未被预先谋划。&#10;                &lt;/Text&gt;&#10;            &lt;/Box&gt;&#10;            &lt;Box style={{ flex: 1, background: '#FFFFFF', border: '1px solid #D6DCE5', borderRadius: 10, padding: 20, flexDirection: 'column', justifyContent: 'center' }}&gt;&#10;                &lt;Text style={{ fontSize: 18, fontWeight: 'bold', color: '#0E3F8C', marginBottom: 8 }}&gt;案例 · 麦当劳的全球扩张&lt;/Text&gt;&#10;                &lt;Text style={{ fontSize: 16, color: '#4A5568', lineHeight: 1.7 }}&gt;&#10;                    选址、标准化流程、快速复制的开店节奏年复一年地重复——没有哪份文件名叫“模式”，但它就是麦当劳最真实的战略。&#10;                &lt;/Text&gt;&#10;            &lt;/Box&gt;&#10;            &lt;Box style={{ background: '#E8EFF8', borderRadius: 8, padding: '14px 20px', flexDirection: 'row', alignItems: 'center', gap: 10 }}&gt;&#10;                &lt;FAIcon name='exclamation-circle' style={{ fill: '#1E4FA8', width: 22, height: 22 }} /&gt;&#10;                &lt;Text style={{ fontSize: 15, color: '#0E3F8C', lineHeight: 1.6 }}&gt;Pattern 让“事后总结的战略”也拥有正当性&lt;/Text&gt;&#10;            &lt;/Box&gt;&#10;        &lt;/Box&gt;&#10;    &lt;/Box&gt;&#10;&lt;/Slide&gt;"/>
        <p:cNvGrpSpPr/>
        <p:nvPr/>
      </p:nvGrpSpPr>
      <p:grpSpPr>
        <a:xfrm>
          <a:off x="0" y="0"/>
          <a:ext cx="0" cy="0"/>
          <a:chOff x="0" y="0"/>
          <a:chExt cx="0" cy="0"/>
        </a:xfrm>
      </p:grpSpPr>
      <p:sp>
        <p:nvSpPr>
          <p:cNvPr id="29" name="矩形 28"/>
          <p:cNvSpPr/>
          <p:nvPr/>
        </p:nvSpPr>
        <p:spPr>
          <a:xfrm>
            <a:off x="0" y="0"/>
            <a:ext cx="12192000" cy="6858000"/>
          </a:xfrm>
          <a:prstGeom prst="rect">
            <a:avLst/>
          </a:prstGeom>
          <a:solidFill>
            <a:srgbClr val="F7F9FC"/>
          </a:solidFill>
          <a:ln/>
        </p:spPr>
        <p:txBody>
          <a:bodyPr/>
          <a:lstStyle/>
          <a:p>
            <a:endParaRPr/>
          </a:p>
        </p:txBody>
      </p:sp>
      <p:sp>
        <p:nvSpPr>
          <p:cNvPr id="30" name="矩形 29"/>
          <p:cNvSpPr/>
          <p:nvPr/>
        </p:nvSpPr>
        <p:spPr>
          <a:xfrm>
            <a:off x="0" y="0"/>
            <a:ext cx="12192000" cy="685800"/>
          </a:xfrm>
          <a:prstGeom prst="rect">
            <a:avLst/>
          </a:prstGeom>
          <a:solidFill>
            <a:srgbClr val="1E4FA8"/>
          </a:solidFill>
          <a:ln/>
        </p:spPr>
        <p:txBody>
          <a:bodyPr/>
          <a:lstStyle/>
          <a:p>
            <a:endParaRPr/>
          </a:p>
        </p:txBody>
      </p:sp>
      <p:sp>
        <p:nvSpPr>
          <p:cNvPr id="31" name="文本框 30"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FFFFFF"/>
                </a:solidFill>
                <a:latin typeface="Microsoft YaHei"/>
                <a:ea typeface="Microsoft YaHei"/>
              </a:rPr>
              <a:t>战略管理</a:t>
            </a:r>
            <a:r>
              <a:rPr lang="en-US" sz="1125" spc="225">
                <a:solidFill>
                  <a:srgbClr val="FFFFFF"/>
                </a:solidFill>
                <a:latin typeface="Microsoft YaHei"/>
                <a:ea typeface="Microsoft YaHei"/>
              </a:rPr>
              <a:t> · STRATEGIC MANAGEMENT</a:t>
            </a:r>
            <a:endParaRPr/>
          </a:p>
        </p:txBody>
      </p:sp>
      <p:sp>
        <p:nvSpPr>
          <p:cNvPr id="32" name="文本框 31" descr="{&quot;isTemplate&quot;:true,&quot;type&quot;:&quot;text&quot;}"/>
          <p:cNvSpPr txBox="1"/>
          <p:nvPr/>
        </p:nvSpPr>
        <p:spPr>
          <a:xfrm>
            <a:off x="10734675" y="257175"/>
            <a:ext cx="1076325" cy="171450"/>
          </a:xfrm>
          <a:prstGeom prst="rect">
            <a:avLst/>
          </a:prstGeom>
        </p:spPr>
        <p:txBody>
          <a:bodyPr wrap="none" lIns="0" tIns="0" rIns="0" bIns="0"/>
          <a:lstStyle/>
          <a:p>
            <a:pPr>
              <a:lnSpc>
                <a:spcPct val="100000"/>
              </a:lnSpc>
            </a:pPr>
            <a:r>
              <a:rPr lang="en-US" sz="1125">
                <a:solidFill>
                  <a:srgbClr val="E8EFF8"/>
                </a:solidFill>
                <a:latin typeface="Microsoft YaHei"/>
                <a:ea typeface="Microsoft YaHei"/>
              </a:rPr>
              <a:t>02 </a:t>
            </a:r>
            <a:r>
              <a:rPr lang="zh-CN" sz="1125">
                <a:solidFill>
                  <a:srgbClr val="E8EFF8"/>
                </a:solidFill>
                <a:latin typeface="Microsoft YaHei"/>
                <a:ea typeface="Microsoft YaHei"/>
              </a:rPr>
              <a:t>五个维度详解</a:t>
            </a:r>
            <a:endParaRPr/>
          </a:p>
        </p:txBody>
      </p:sp>
      <p:sp>
        <p:nvSpPr>
          <p:cNvPr id="33" name="矩形 32"/>
          <p:cNvSpPr/>
          <p:nvPr/>
        </p:nvSpPr>
        <p:spPr>
          <a:xfrm>
            <a:off x="0" y="6448425"/>
            <a:ext cx="12192000" cy="409575"/>
          </a:xfrm>
          <a:prstGeom prst="rect">
            <a:avLst/>
          </a:prstGeom>
          <a:solidFill>
            <a:srgbClr val="FFFFFF"/>
          </a:solidFill>
          <a:ln/>
        </p:spPr>
        <p:txBody>
          <a:bodyPr/>
          <a:lstStyle/>
          <a:p>
            <a:endParaRPr/>
          </a:p>
        </p:txBody>
      </p:sp>
      <p:sp>
        <p:nvSpPr>
          <p:cNvPr id="34" name="任意多边形: 形状 33"/>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E5E7EB"/>
          </a:solidFill>
          <a:ln/>
        </p:spPr>
        <p:txBody>
          <a:bodyPr/>
          <a:lstStyle/>
          <a:p>
            <a:endParaRPr/>
          </a:p>
        </p:txBody>
      </p:sp>
      <p:sp>
        <p:nvSpPr>
          <p:cNvPr id="35" name="文本框 34" descr="{&quot;isTemplate&quot;:true,&quot;type&quot;:&quot;text&quot;}"/>
          <p:cNvSpPr txBox="1"/>
          <p:nvPr/>
        </p:nvSpPr>
        <p:spPr>
          <a:xfrm>
            <a:off x="381000" y="6572250"/>
            <a:ext cx="2486025"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《战略管理》教学课件</a:t>
            </a:r>
            <a:r>
              <a:rPr lang="en-US" sz="1050">
                <a:solidFill>
                  <a:srgbClr val="8B97A8"/>
                </a:solidFill>
                <a:latin typeface="Microsoft YaHei"/>
                <a:ea typeface="Microsoft YaHei"/>
              </a:rPr>
              <a:t> · </a:t>
            </a:r>
            <a:r>
              <a:rPr lang="zh-CN" sz="1050">
                <a:solidFill>
                  <a:srgbClr val="8B97A8"/>
                </a:solidFill>
                <a:latin typeface="Microsoft YaHei"/>
                <a:ea typeface="Microsoft YaHei"/>
              </a:rPr>
              <a:t>明茨伯格</a:t>
            </a:r>
            <a:r>
              <a:rPr lang="en-US" sz="1050">
                <a:solidFill>
                  <a:srgbClr val="8B97A8"/>
                </a:solidFill>
                <a:latin typeface="Microsoft YaHei"/>
                <a:ea typeface="Microsoft YaHei"/>
              </a:rPr>
              <a:t> 5P </a:t>
            </a:r>
            <a:r>
              <a:rPr lang="zh-CN" sz="1050">
                <a:solidFill>
                  <a:srgbClr val="8B97A8"/>
                </a:solidFill>
                <a:latin typeface="Microsoft YaHei"/>
                <a:ea typeface="Microsoft YaHei"/>
              </a:rPr>
              <a:t>理论</a:t>
            </a:r>
            <a:endParaRPr/>
          </a:p>
        </p:txBody>
      </p:sp>
      <p:sp>
        <p:nvSpPr>
          <p:cNvPr id="36" name="文本框 35" descr="{&quot;isTemplate&quot;:true,&quot;type&quot;:&quot;text&quot;}"/>
          <p:cNvSpPr txBox="1"/>
          <p:nvPr/>
        </p:nvSpPr>
        <p:spPr>
          <a:xfrm>
            <a:off x="11296650" y="6572250"/>
            <a:ext cx="514350" cy="171450"/>
          </a:xfrm>
          <a:prstGeom prst="rect">
            <a:avLst/>
          </a:prstGeom>
        </p:spPr>
        <p:txBody>
          <a:bodyPr wrap="none" lIns="0" tIns="0" rIns="0" bIns="0"/>
          <a:lstStyle/>
          <a:p>
            <a:pPr>
              <a:lnSpc>
                <a:spcPct val="100000"/>
              </a:lnSpc>
            </a:pPr>
            <a:r>
              <a:rPr lang="en-US" sz="1125" b="1">
                <a:solidFill>
                  <a:srgbClr val="0E3F8C"/>
                </a:solidFill>
                <a:latin typeface="Microsoft YaHei"/>
                <a:ea typeface="Microsoft YaHei"/>
              </a:rPr>
              <a:t>10 / 16</a:t>
            </a:r>
            <a:endParaRPr/>
          </a:p>
        </p:txBody>
      </p:sp>
      <p:sp>
        <p:nvSpPr>
          <p:cNvPr id="37" name="文本框 36" descr="{&quot;isTemplate&quot;:true,&quot;type&quot;:&quot;text&quot;}"/>
          <p:cNvSpPr txBox="1"/>
          <p:nvPr/>
        </p:nvSpPr>
        <p:spPr>
          <a:xfrm>
            <a:off x="381000" y="914400"/>
            <a:ext cx="485775" cy="457200"/>
          </a:xfrm>
          <a:prstGeom prst="rect">
            <a:avLst/>
          </a:prstGeom>
        </p:spPr>
        <p:txBody>
          <a:bodyPr wrap="none" lIns="0" tIns="0" rIns="0" bIns="0"/>
          <a:lstStyle/>
          <a:p>
            <a:pPr>
              <a:lnSpc>
                <a:spcPct val="100000"/>
              </a:lnSpc>
            </a:pPr>
            <a:r>
              <a:rPr lang="en-US" sz="3000" b="1">
                <a:solidFill>
                  <a:srgbClr val="FFC107"/>
                </a:solidFill>
                <a:latin typeface="Microsoft YaHei"/>
                <a:ea typeface="Microsoft YaHei"/>
              </a:rPr>
              <a:t>P3</a:t>
            </a:r>
            <a:endParaRPr/>
          </a:p>
        </p:txBody>
      </p:sp>
      <p:sp>
        <p:nvSpPr>
          <p:cNvPr id="38" name="文本框 37" descr="{&quot;isTemplate&quot;:true,&quot;type&quot;:&quot;text&quot;}"/>
          <p:cNvSpPr txBox="1"/>
          <p:nvPr/>
        </p:nvSpPr>
        <p:spPr>
          <a:xfrm>
            <a:off x="1019175" y="914400"/>
            <a:ext cx="4572000" cy="457200"/>
          </a:xfrm>
          <a:prstGeom prst="rect">
            <a:avLst/>
          </a:prstGeom>
        </p:spPr>
        <p:txBody>
          <a:bodyPr wrap="none" lIns="0" tIns="0" rIns="0" bIns="0"/>
          <a:lstStyle/>
          <a:p>
            <a:pPr>
              <a:lnSpc>
                <a:spcPct val="100000"/>
              </a:lnSpc>
            </a:pPr>
            <a:r>
              <a:rPr lang="en-US" sz="2250" b="1">
                <a:solidFill>
                  <a:srgbClr val="0E3F8C"/>
                </a:solidFill>
                <a:latin typeface="Microsoft YaHei"/>
                <a:ea typeface="Microsoft YaHei"/>
              </a:rPr>
              <a:t>Pattern </a:t>
            </a:r>
            <a:r>
              <a:rPr lang="zh-CN" sz="2250" b="1">
                <a:solidFill>
                  <a:srgbClr val="0E3F8C"/>
                </a:solidFill>
                <a:latin typeface="Microsoft YaHei"/>
                <a:ea typeface="Microsoft YaHei"/>
              </a:rPr>
              <a:t>模式：战略是行动的一致性</a:t>
            </a:r>
            <a:endParaRPr/>
          </a:p>
        </p:txBody>
      </p:sp>
      <p:sp>
        <p:nvSpPr>
          <p:cNvPr id="39" name="矩形: 圆角 38"/>
          <p:cNvSpPr/>
          <p:nvPr/>
        </p:nvSpPr>
        <p:spPr>
          <a:xfrm>
            <a:off x="381000" y="1485900"/>
            <a:ext cx="7029450" cy="4762500"/>
          </a:xfrm>
          <a:prstGeom prst="roundRect">
            <a:avLst>
              <a:gd name="adj" fmla="val 2000"/>
            </a:avLst>
          </a:prstGeom>
          <a:solidFill>
            <a:srgbClr val="FFFFFF"/>
          </a:solidFill>
          <a:ln w="12700">
            <a:solidFill>
              <a:srgbClr val="D6DCE5"/>
            </a:solidFill>
            <a:prstDash val="solid"/>
          </a:ln>
        </p:spPr>
        <p:txBody>
          <a:bodyPr/>
          <a:lstStyle/>
          <a:p>
            <a:endParaRPr/>
          </a:p>
        </p:txBody>
      </p:sp>
      <p:pic>
        <p:nvPicPr>
          <p:cNvPr id="40" name="图形 3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1975" y="1771650"/>
            <a:ext cx="6667500" cy="4191000"/>
          </a:xfrm>
          <a:prstGeom prst="rect">
            <a:avLst/>
          </a:prstGeom>
          <a:ln/>
        </p:spPr>
      </p:pic>
      <p:sp>
        <p:nvSpPr>
          <p:cNvPr id="41" name="矩形: 圆角 40"/>
          <p:cNvSpPr/>
          <p:nvPr/>
        </p:nvSpPr>
        <p:spPr>
          <a:xfrm>
            <a:off x="7677150" y="914400"/>
            <a:ext cx="4133850" cy="1552575"/>
          </a:xfrm>
          <a:prstGeom prst="roundRect">
            <a:avLst>
              <a:gd name="adj" fmla="val 6135"/>
            </a:avLst>
          </a:prstGeom>
          <a:solidFill>
            <a:srgbClr val="0E3F8C"/>
          </a:solidFill>
          <a:ln/>
        </p:spPr>
        <p:txBody>
          <a:bodyPr/>
          <a:lstStyle/>
          <a:p>
            <a:endParaRPr/>
          </a:p>
        </p:txBody>
      </p:sp>
      <p:sp>
        <p:nvSpPr>
          <p:cNvPr id="42" name="文本框 41" descr="{&quot;isTemplate&quot;:true,&quot;type&quot;:&quot;text&quot;}"/>
          <p:cNvSpPr txBox="1"/>
          <p:nvPr/>
        </p:nvSpPr>
        <p:spPr>
          <a:xfrm>
            <a:off x="7905750" y="1143000"/>
            <a:ext cx="3676650" cy="209550"/>
          </a:xfrm>
          <a:prstGeom prst="rect">
            <a:avLst/>
          </a:prstGeom>
        </p:spPr>
        <p:txBody>
          <a:bodyPr wrap="none" lIns="0" tIns="0" rIns="0" bIns="0"/>
          <a:lstStyle/>
          <a:p>
            <a:pPr>
              <a:lnSpc>
                <a:spcPct val="100000"/>
              </a:lnSpc>
            </a:pPr>
            <a:r>
              <a:rPr lang="zh-CN" sz="1350" spc="225">
                <a:solidFill>
                  <a:srgbClr val="8FB3E8"/>
                </a:solidFill>
                <a:latin typeface="Microsoft YaHei"/>
                <a:ea typeface="Microsoft YaHei"/>
              </a:rPr>
              <a:t>定义</a:t>
            </a:r>
            <a:endParaRPr/>
          </a:p>
        </p:txBody>
      </p:sp>
      <p:sp>
        <p:nvSpPr>
          <p:cNvPr id="43" name="文本框 42" descr="{&quot;isTemplate&quot;:true,&quot;type&quot;:&quot;text&quot;}"/>
          <p:cNvSpPr txBox="1"/>
          <p:nvPr/>
        </p:nvSpPr>
        <p:spPr>
          <a:xfrm>
            <a:off x="7905750" y="1447800"/>
            <a:ext cx="3676650" cy="790575"/>
          </a:xfrm>
          <a:prstGeom prst="rect">
            <a:avLst/>
          </a:prstGeom>
        </p:spPr>
        <p:txBody>
          <a:bodyPr wrap="square" lIns="0" tIns="0" rIns="0" bIns="0">
            <a:normAutofit/>
          </a:bodyPr>
          <a:lstStyle/>
          <a:p>
            <a:pPr>
              <a:lnSpc>
                <a:spcPct val="180000"/>
              </a:lnSpc>
            </a:pPr>
            <a:r>
              <a:rPr lang="zh-CN" sz="1425">
                <a:solidFill>
                  <a:srgbClr val="FFFFFF"/>
                </a:solidFill>
                <a:latin typeface="Microsoft YaHei"/>
                <a:ea typeface="Microsoft YaHei"/>
              </a:rPr>
              <a:t>战略是</a:t>
            </a:r>
            <a:r>
              <a:rPr lang="zh-CN" sz="1425">
                <a:solidFill>
                  <a:srgbClr val="FFC107"/>
                </a:solidFill>
                <a:latin typeface="Microsoft YaHei"/>
                <a:ea typeface="Microsoft YaHei"/>
              </a:rPr>
              <a:t>一系列行动汇聚而成的连贯模式</a:t>
            </a:r>
            <a:r>
              <a:rPr lang="zh-CN" sz="1425">
                <a:solidFill>
                  <a:srgbClr val="FFFFFF"/>
                </a:solidFill>
                <a:latin typeface="Microsoft YaHei"/>
                <a:ea typeface="Microsoft YaHei"/>
              </a:rPr>
              <a:t>——哪怕这些行动从未被预先谋划。</a:t>
            </a:r>
            <a:endParaRPr/>
          </a:p>
        </p:txBody>
      </p:sp>
      <p:sp>
        <p:nvSpPr>
          <p:cNvPr id="44" name="矩形: 圆角 43"/>
          <p:cNvSpPr/>
          <p:nvPr/>
        </p:nvSpPr>
        <p:spPr>
          <a:xfrm>
            <a:off x="7677150" y="2638425"/>
            <a:ext cx="4133850" cy="2895600"/>
          </a:xfrm>
          <a:prstGeom prst="roundRect">
            <a:avLst>
              <a:gd name="adj" fmla="val 3289"/>
            </a:avLst>
          </a:prstGeom>
          <a:solidFill>
            <a:srgbClr val="FFFFFF"/>
          </a:solidFill>
          <a:ln w="12700">
            <a:solidFill>
              <a:srgbClr val="D6DCE5"/>
            </a:solidFill>
            <a:prstDash val="solid"/>
          </a:ln>
        </p:spPr>
        <p:txBody>
          <a:bodyPr/>
          <a:lstStyle/>
          <a:p>
            <a:endParaRPr/>
          </a:p>
        </p:txBody>
      </p:sp>
      <p:sp>
        <p:nvSpPr>
          <p:cNvPr id="45" name="文本框 44" descr="{&quot;isTemplate&quot;:true,&quot;type&quot;:&quot;text&quot;}"/>
          <p:cNvSpPr txBox="1"/>
          <p:nvPr/>
        </p:nvSpPr>
        <p:spPr>
          <a:xfrm>
            <a:off x="7867650" y="3476625"/>
            <a:ext cx="3752850" cy="209550"/>
          </a:xfrm>
          <a:prstGeom prst="rect">
            <a:avLst/>
          </a:prstGeom>
        </p:spPr>
        <p:txBody>
          <a:bodyPr wrap="none" lIns="0" tIns="0" rIns="0" bIns="0"/>
          <a:lstStyle/>
          <a:p>
            <a:pPr>
              <a:lnSpc>
                <a:spcPct val="100000"/>
              </a:lnSpc>
            </a:pPr>
            <a:r>
              <a:rPr lang="zh-CN" sz="1350" b="1">
                <a:solidFill>
                  <a:srgbClr val="0E3F8C"/>
                </a:solidFill>
                <a:latin typeface="Microsoft YaHei"/>
                <a:ea typeface="Microsoft YaHei"/>
              </a:rPr>
              <a:t>案例</a:t>
            </a:r>
            <a:r>
              <a:rPr lang="en-US" sz="1350" b="1">
                <a:solidFill>
                  <a:srgbClr val="0E3F8C"/>
                </a:solidFill>
                <a:latin typeface="Microsoft YaHei"/>
                <a:ea typeface="Microsoft YaHei"/>
              </a:rPr>
              <a:t> · </a:t>
            </a:r>
            <a:r>
              <a:rPr lang="zh-CN" sz="1350" b="1">
                <a:solidFill>
                  <a:srgbClr val="0E3F8C"/>
                </a:solidFill>
                <a:latin typeface="Microsoft YaHei"/>
                <a:ea typeface="Microsoft YaHei"/>
              </a:rPr>
              <a:t>麦当劳的全球扩张</a:t>
            </a:r>
            <a:endParaRPr/>
          </a:p>
        </p:txBody>
      </p:sp>
      <p:sp>
        <p:nvSpPr>
          <p:cNvPr id="46" name="文本框 45" descr="{&quot;isTemplate&quot;:true,&quot;type&quot;:&quot;text&quot;}"/>
          <p:cNvSpPr txBox="1"/>
          <p:nvPr/>
        </p:nvSpPr>
        <p:spPr>
          <a:xfrm>
            <a:off x="7867650" y="3762375"/>
            <a:ext cx="3752850" cy="933450"/>
          </a:xfrm>
          <a:prstGeom prst="rect">
            <a:avLst/>
          </a:prstGeom>
        </p:spPr>
        <p:txBody>
          <a:bodyPr wrap="square" lIns="0" tIns="0" rIns="0" bIns="0">
            <a:normAutofit/>
          </a:bodyPr>
          <a:lstStyle/>
          <a:p>
            <a:pPr>
              <a:lnSpc>
                <a:spcPct val="170000"/>
              </a:lnSpc>
            </a:pPr>
            <a:r>
              <a:rPr lang="zh-CN" sz="1200">
                <a:solidFill>
                  <a:srgbClr val="4A5568"/>
                </a:solidFill>
                <a:latin typeface="Microsoft YaHei"/>
                <a:ea typeface="Microsoft YaHei"/>
              </a:rPr>
              <a:t>选址、标准化流程、快速复制的开店节奏年复一年地重复——没有哪份文件名叫“模式”，但它就是麦当劳最真实的战略。</a:t>
            </a:r>
            <a:endParaRPr/>
          </a:p>
        </p:txBody>
      </p:sp>
      <p:sp>
        <p:nvSpPr>
          <p:cNvPr id="47" name="矩形: 圆角 46"/>
          <p:cNvSpPr/>
          <p:nvPr/>
        </p:nvSpPr>
        <p:spPr>
          <a:xfrm>
            <a:off x="7677150" y="5705475"/>
            <a:ext cx="4133850" cy="542925"/>
          </a:xfrm>
          <a:prstGeom prst="roundRect">
            <a:avLst>
              <a:gd name="adj" fmla="val 14035"/>
            </a:avLst>
          </a:prstGeom>
          <a:solidFill>
            <a:srgbClr val="E8EFF8"/>
          </a:solidFill>
          <a:ln/>
        </p:spPr>
        <p:txBody>
          <a:bodyPr/>
          <a:lstStyle/>
          <a:p>
            <a:endParaRPr/>
          </a:p>
        </p:txBody>
      </p:sp>
      <p:pic>
        <p:nvPicPr>
          <p:cNvPr id="48" name="图形 47"/>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67650" y="5876925"/>
            <a:ext cx="209550" cy="209550"/>
          </a:xfrm>
          <a:prstGeom prst="rect">
            <a:avLst/>
          </a:prstGeom>
          <a:ln/>
        </p:spPr>
      </p:pic>
      <p:sp>
        <p:nvSpPr>
          <p:cNvPr id="49" name="文本框 48" descr="{&quot;isTemplate&quot;:true,&quot;type&quot;:&quot;text&quot;}"/>
          <p:cNvSpPr txBox="1"/>
          <p:nvPr/>
        </p:nvSpPr>
        <p:spPr>
          <a:xfrm>
            <a:off x="8172450" y="5838825"/>
            <a:ext cx="2819400" cy="276225"/>
          </a:xfrm>
          <a:prstGeom prst="rect">
            <a:avLst/>
          </a:prstGeom>
        </p:spPr>
        <p:txBody>
          <a:bodyPr wrap="none" lIns="0" tIns="0" rIns="0" bIns="0"/>
          <a:lstStyle/>
          <a:p>
            <a:pPr>
              <a:lnSpc>
                <a:spcPct val="160000"/>
              </a:lnSpc>
            </a:pPr>
            <a:r>
              <a:rPr lang="en-US" sz="1125">
                <a:solidFill>
                  <a:srgbClr val="0E3F8C"/>
                </a:solidFill>
                <a:latin typeface="Microsoft YaHei"/>
                <a:ea typeface="Microsoft YaHei"/>
              </a:rPr>
              <a:t>Pattern </a:t>
            </a:r>
            <a:r>
              <a:rPr lang="zh-CN" sz="1125">
                <a:solidFill>
                  <a:srgbClr val="0E3F8C"/>
                </a:solidFill>
                <a:latin typeface="Microsoft YaHei"/>
                <a:ea typeface="Microsoft YaHei"/>
              </a:rPr>
              <a:t>让“事后总结的战略”也拥有正当性</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7F9FC', position: 'relative', padding: 0 }}&gt;&#10;    &lt;Box style={{ position: 'absolute', top: 0, left: 0, width: 1280, height: 72, background: '#1E4FA8', flexDirection: 'row', alignItems: 'center', justifyContent: 'space-between', paddingLeft: 40, paddingRight: 40 }}&gt;&#10;        &lt;Text style={{ fontSize: 15, color: '#FFFFFF', letterSpacing: 3 }}&gt;战略管理 · STRATEGIC MANAGEMENT&lt;/Text&gt;&#10;        &lt;Text style={{ fontSize: 15, color: '#E8EFF8' }}&gt;02 五个维度详解&lt;/Text&gt;&#10;    &lt;/Box&gt;&#10;    &lt;Box style={{ position: 'absolute', bottom: 0, left: 0, width: 1280, height: 44, background: '#FFFFFF', flexDirection: 'row', alignItems: 'center', justifyContent: 'space-between', paddingLeft: 40, paddingRight: 40, borderTop: '1px solid #E5E7EB' }}&gt;&#10;        &lt;Text style={{ fontSize: 14, color: '#8B97A8' }}&gt;《战略管理》教学课件 · 明茨伯格 5P 理论&lt;/Text&gt;&#10;        &lt;Text style={{ fontSize: 15, color: '#0E3F8C', fontWeight: 'bold' }}&gt;11 / 16&lt;/Text&gt;&#10;    &lt;/Box&gt;&#10;    &lt;Box style={{ position: 'absolute', top: 72, left: 0, width: 1280, height: 604, flexDirection: 'row', padding: '24px 40px 20px 40px', gap: 30 }}&gt;&#10;        &lt;Box style={{ width: 380, flexDirection: 'column' }}&gt;&#10;            &lt;Box style={{ background: '#0E3F8C', borderRadius: 10, padding: 26, flexDirection: 'column', marginBottom: 16 }}&gt;&#10;                &lt;Box style={{ flexDirection: 'row', alignItems: 'baseline', gap: 12, marginBottom: 10 }}&gt;&#10;                    &lt;Text style={{ fontSize: 56, fontWeight: 'bold', color: '#FFC107', lineHeight: 1 }}&gt;P4&lt;/Text&gt;&#10;                    &lt;Text style={{ fontSize: 28, fontWeight: 'bold', color: '#FFFFFF' }}&gt;Position 定位&lt;/Text&gt;&#10;                &lt;/Box&gt;&#10;                &lt;Text style={{ fontSize: 19, color: '#FFFFFF', lineHeight: 1.8 }}&gt;&#10;                    战略是企业在市场（或行业）中为自己选取的、&lt;span style={{ color: '#FFC107' }}&gt;可防御的特定位置&lt;/span&gt;——介于组织内部与外部环境之间。&#10;                &lt;/Text&gt;&#10;            &lt;/Box&gt;&#10;            &lt;Box style={{ flex: 1, background: '#E8EFF8', borderRadius: 10, padding: 22, flexDirection: 'column', justifyContent: 'center' }}&gt;&#10;                &lt;Text style={{ fontSize: 18, fontWeight: 'bold', color: '#0E3F8C', marginBottom: 10 }}&gt;与其他 P 的连接&lt;/Text&gt;&#10;                &lt;Text style={{ fontSize: 16, color: '#4A5568', lineHeight: 1.8 }}&gt;&#10;                    这一定义与波特的竞争定位思想遥相呼应：定位向下可落实为具体的 Plan，向上又依托组织的 Perspective——它是外部市场与内部能力的交界面。&#10;                &lt;/Text&gt;&#10;            &lt;/Box&gt;&#10;        &lt;/Box&gt;&#10;        &lt;Box style={{ flex: 1, flexDirection: 'column', gap: 16 }}&gt;&#10;            &lt;Box style={{ flex: 1, background: '#FFFFFF', border: '1px solid #D6DCE5', borderRadius: 10, padding: 12, justifyContent: 'center', alignItems: 'center' }}&gt;&#10;                &lt;svg width={640} height={360} viewBox='0 0 640 360'&gt;&#10;                    &lt;text x='30' y='30' fontSize='17' fill='#8B97A8'&gt;同一市场，不同的“位置”&lt;/text&gt;&#10;                    &lt;line x1='80' y1='300' x2='80' y2='60' stroke='#1A2230' strokeWidth='2.5' /&gt;&#10;                    &lt;polygon points='80,50 73,66 87,66' fill='#1A2230' /&gt;&#10;                    &lt;line x1='80' y1='300' x2='580' y2='300' stroke='#1A2230' strokeWidth='2.5' /&gt;&#10;                    &lt;polygon points='590,300 574,293 574,307' fill='#1A2230' /&gt;&#10;                    &lt;text x='24' y='190' fontSize='16' fill='#4A5568' transform='rotate(-90 24 190)'&gt;价格水平 高 ↑&lt;/text&gt;&#10;                    &lt;text x='330' y='338' textAnchor='middle' fontSize='16' fill='#4A5568'&gt;产品/服务差异化程度 → 高&lt;/text&gt;&#10;                    &lt;circle cx='500' cy='100' r='13' fill='#0E3F8C' /&gt;&#10;                    &lt;text x='500' y='72' textAnchor='middle' fontSize='17' fontWeight='bold' fill='#0E3F8C'&gt;劳斯莱斯&lt;/text&gt;&#10;                    &lt;text x='500' y='132' textAnchor='middle' fontSize='14' fill='#8B97A8'&gt;顶端奢侈品位&lt;/text&gt;&#10;                    &lt;circle cx='470' cy='160' r='13' fill='#1E4FA8' /&gt;&#10;                    &lt;text x='470' y='192' textAnchor='middle' fontSize='17' fontWeight='bold' fill='#1E4FA8'&gt;苹果&lt;/text&gt;&#10;                    &lt;text x='470' y='214' textAnchor='middle' fontSize='14' fill='#8B97A8'&gt;高差异 · 高溢价&lt;/text&gt;&#10;                    &lt;circle cx='190' cy='230' r='13' fill='#3D7BD9' /&gt;&#10;                    &lt;text x='190' y='262' textAnchor='middle' fontSize='17' fontWeight='bold' fill='#3D7BD9'&gt;拼多多&lt;/text&gt;&#10;                    &lt;text x='190' y='284' textAnchor='middle' fontSize='14' fill='#8B97A8'&gt;下沉市场 · 极致低价&lt;/text&gt;&#10;                    &lt;circle cx='150' cy='130' r='13' fill='#D9534F' /&gt;&#10;                    &lt;text x='150' y='102' textAnchor='middle' fontSize='17' fontWeight='bold' fill='#D9534F'&gt;西南航空&lt;/text&gt;&#10;                    &lt;text x='150' y='164' textAnchor='middle' fontSize='14' fill='#8B97A8'&gt;低价 · 单一舱型 · 短途直达&lt;/text&gt;&#10;                &lt;/svg&gt;&#10;            &lt;/Box&gt;&#10;            &lt;Box style={{ background: '#FFFFFF', border: '1px solid #D6DCE5', borderRadius: 10, padding: '16px 22px', flexDirection: 'row', alignItems: 'center', gap: 14 }}&gt;&#10;                &lt;FAIcon name='chess' style={{ fill: '#1E4FA8', width: 30, height: 30 }} /&gt;&#10;                &lt;Text style={{ fontSize: 16, color: '#4A5568', lineHeight: 1.7 }}&gt;&#10;                    &lt;span style={{ fontWeight: 'bold', color: '#0E3F8C' }}&gt;定位的要义：&lt;/span&gt;放弃“服务所有顾客”的幻想，在地图上找到对手难以进攻的一格，并集中资源守住它。&#10;                &lt;/Text&gt;&#10;            &lt;/Box&gt;&#10;        &lt;/Box&gt;&#10;    &lt;/Box&gt;&#10;&lt;/Slide&gt;"/>
        <p:cNvGrpSpPr/>
        <p:nvPr/>
      </p:nvGrpSpPr>
      <p:grpSpPr>
        <a:xfrm>
          <a:off x="0" y="0"/>
          <a:ext cx="0" cy="0"/>
          <a:chOff x="0" y="0"/>
          <a:chExt cx="0" cy="0"/>
        </a:xfrm>
      </p:grpSpPr>
      <p:sp>
        <p:nvSpPr>
          <p:cNvPr id="51" name="矩形 50"/>
          <p:cNvSpPr/>
          <p:nvPr/>
        </p:nvSpPr>
        <p:spPr>
          <a:xfrm>
            <a:off x="0" y="0"/>
            <a:ext cx="12192000" cy="6858000"/>
          </a:xfrm>
          <a:prstGeom prst="rect">
            <a:avLst/>
          </a:prstGeom>
          <a:solidFill>
            <a:srgbClr val="F7F9FC"/>
          </a:solidFill>
          <a:ln/>
        </p:spPr>
        <p:txBody>
          <a:bodyPr/>
          <a:lstStyle/>
          <a:p>
            <a:endParaRPr/>
          </a:p>
        </p:txBody>
      </p:sp>
      <p:sp>
        <p:nvSpPr>
          <p:cNvPr id="52" name="矩形 51"/>
          <p:cNvSpPr/>
          <p:nvPr/>
        </p:nvSpPr>
        <p:spPr>
          <a:xfrm>
            <a:off x="0" y="0"/>
            <a:ext cx="12192000" cy="685800"/>
          </a:xfrm>
          <a:prstGeom prst="rect">
            <a:avLst/>
          </a:prstGeom>
          <a:solidFill>
            <a:srgbClr val="1E4FA8"/>
          </a:solidFill>
          <a:ln/>
        </p:spPr>
        <p:txBody>
          <a:bodyPr/>
          <a:lstStyle/>
          <a:p>
            <a:endParaRPr/>
          </a:p>
        </p:txBody>
      </p:sp>
      <p:sp>
        <p:nvSpPr>
          <p:cNvPr id="53" name="文本框 52"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FFFFFF"/>
                </a:solidFill>
                <a:latin typeface="Microsoft YaHei"/>
                <a:ea typeface="Microsoft YaHei"/>
              </a:rPr>
              <a:t>战略管理</a:t>
            </a:r>
            <a:r>
              <a:rPr lang="en-US" sz="1125" spc="225">
                <a:solidFill>
                  <a:srgbClr val="FFFFFF"/>
                </a:solidFill>
                <a:latin typeface="Microsoft YaHei"/>
                <a:ea typeface="Microsoft YaHei"/>
              </a:rPr>
              <a:t> · STRATEGIC MANAGEMENT</a:t>
            </a:r>
            <a:endParaRPr/>
          </a:p>
        </p:txBody>
      </p:sp>
      <p:sp>
        <p:nvSpPr>
          <p:cNvPr id="54" name="文本框 53" descr="{&quot;isTemplate&quot;:true,&quot;type&quot;:&quot;text&quot;}"/>
          <p:cNvSpPr txBox="1"/>
          <p:nvPr/>
        </p:nvSpPr>
        <p:spPr>
          <a:xfrm>
            <a:off x="10734675" y="257175"/>
            <a:ext cx="1076325" cy="171450"/>
          </a:xfrm>
          <a:prstGeom prst="rect">
            <a:avLst/>
          </a:prstGeom>
        </p:spPr>
        <p:txBody>
          <a:bodyPr wrap="none" lIns="0" tIns="0" rIns="0" bIns="0"/>
          <a:lstStyle/>
          <a:p>
            <a:pPr>
              <a:lnSpc>
                <a:spcPct val="100000"/>
              </a:lnSpc>
            </a:pPr>
            <a:r>
              <a:rPr lang="en-US" sz="1125">
                <a:solidFill>
                  <a:srgbClr val="E8EFF8"/>
                </a:solidFill>
                <a:latin typeface="Microsoft YaHei"/>
                <a:ea typeface="Microsoft YaHei"/>
              </a:rPr>
              <a:t>02 </a:t>
            </a:r>
            <a:r>
              <a:rPr lang="zh-CN" sz="1125">
                <a:solidFill>
                  <a:srgbClr val="E8EFF8"/>
                </a:solidFill>
                <a:latin typeface="Microsoft YaHei"/>
                <a:ea typeface="Microsoft YaHei"/>
              </a:rPr>
              <a:t>五个维度详解</a:t>
            </a:r>
            <a:endParaRPr/>
          </a:p>
        </p:txBody>
      </p:sp>
      <p:sp>
        <p:nvSpPr>
          <p:cNvPr id="55" name="矩形 54"/>
          <p:cNvSpPr/>
          <p:nvPr/>
        </p:nvSpPr>
        <p:spPr>
          <a:xfrm>
            <a:off x="0" y="6448425"/>
            <a:ext cx="12192000" cy="409575"/>
          </a:xfrm>
          <a:prstGeom prst="rect">
            <a:avLst/>
          </a:prstGeom>
          <a:solidFill>
            <a:srgbClr val="FFFFFF"/>
          </a:solidFill>
          <a:ln/>
        </p:spPr>
        <p:txBody>
          <a:bodyPr/>
          <a:lstStyle/>
          <a:p>
            <a:endParaRPr/>
          </a:p>
        </p:txBody>
      </p:sp>
      <p:sp>
        <p:nvSpPr>
          <p:cNvPr id="56" name="任意多边形: 形状 55"/>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E5E7EB"/>
          </a:solidFill>
          <a:ln/>
        </p:spPr>
        <p:txBody>
          <a:bodyPr/>
          <a:lstStyle/>
          <a:p>
            <a:endParaRPr/>
          </a:p>
        </p:txBody>
      </p:sp>
      <p:sp>
        <p:nvSpPr>
          <p:cNvPr id="57" name="文本框 56" descr="{&quot;isTemplate&quot;:true,&quot;type&quot;:&quot;text&quot;}"/>
          <p:cNvSpPr txBox="1"/>
          <p:nvPr/>
        </p:nvSpPr>
        <p:spPr>
          <a:xfrm>
            <a:off x="381000" y="6572250"/>
            <a:ext cx="2486025"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《战略管理》教学课件</a:t>
            </a:r>
            <a:r>
              <a:rPr lang="en-US" sz="1050">
                <a:solidFill>
                  <a:srgbClr val="8B97A8"/>
                </a:solidFill>
                <a:latin typeface="Microsoft YaHei"/>
                <a:ea typeface="Microsoft YaHei"/>
              </a:rPr>
              <a:t> · </a:t>
            </a:r>
            <a:r>
              <a:rPr lang="zh-CN" sz="1050">
                <a:solidFill>
                  <a:srgbClr val="8B97A8"/>
                </a:solidFill>
                <a:latin typeface="Microsoft YaHei"/>
                <a:ea typeface="Microsoft YaHei"/>
              </a:rPr>
              <a:t>明茨伯格</a:t>
            </a:r>
            <a:r>
              <a:rPr lang="en-US" sz="1050">
                <a:solidFill>
                  <a:srgbClr val="8B97A8"/>
                </a:solidFill>
                <a:latin typeface="Microsoft YaHei"/>
                <a:ea typeface="Microsoft YaHei"/>
              </a:rPr>
              <a:t> 5P </a:t>
            </a:r>
            <a:r>
              <a:rPr lang="zh-CN" sz="1050">
                <a:solidFill>
                  <a:srgbClr val="8B97A8"/>
                </a:solidFill>
                <a:latin typeface="Microsoft YaHei"/>
                <a:ea typeface="Microsoft YaHei"/>
              </a:rPr>
              <a:t>理论</a:t>
            </a:r>
            <a:endParaRPr/>
          </a:p>
        </p:txBody>
      </p:sp>
      <p:sp>
        <p:nvSpPr>
          <p:cNvPr id="58" name="文本框 57" descr="{&quot;isTemplate&quot;:true,&quot;type&quot;:&quot;text&quot;}"/>
          <p:cNvSpPr txBox="1"/>
          <p:nvPr/>
        </p:nvSpPr>
        <p:spPr>
          <a:xfrm>
            <a:off x="11296650" y="6572250"/>
            <a:ext cx="514350" cy="171450"/>
          </a:xfrm>
          <a:prstGeom prst="rect">
            <a:avLst/>
          </a:prstGeom>
        </p:spPr>
        <p:txBody>
          <a:bodyPr wrap="none" lIns="0" tIns="0" rIns="0" bIns="0"/>
          <a:lstStyle/>
          <a:p>
            <a:pPr>
              <a:lnSpc>
                <a:spcPct val="100000"/>
              </a:lnSpc>
            </a:pPr>
            <a:r>
              <a:rPr lang="en-US" sz="1125" b="1">
                <a:solidFill>
                  <a:srgbClr val="0E3F8C"/>
                </a:solidFill>
                <a:latin typeface="Microsoft YaHei"/>
                <a:ea typeface="Microsoft YaHei"/>
              </a:rPr>
              <a:t>11 / 16</a:t>
            </a:r>
            <a:endParaRPr/>
          </a:p>
        </p:txBody>
      </p:sp>
      <p:sp>
        <p:nvSpPr>
          <p:cNvPr id="59" name="矩形: 圆角 58"/>
          <p:cNvSpPr/>
          <p:nvPr/>
        </p:nvSpPr>
        <p:spPr>
          <a:xfrm>
            <a:off x="381000" y="914400"/>
            <a:ext cx="3619500" cy="2419350"/>
          </a:xfrm>
          <a:prstGeom prst="roundRect">
            <a:avLst>
              <a:gd name="adj" fmla="val 3937"/>
            </a:avLst>
          </a:prstGeom>
          <a:solidFill>
            <a:srgbClr val="0E3F8C"/>
          </a:solidFill>
          <a:ln/>
        </p:spPr>
        <p:txBody>
          <a:bodyPr/>
          <a:lstStyle/>
          <a:p>
            <a:endParaRPr/>
          </a:p>
        </p:txBody>
      </p:sp>
      <p:sp>
        <p:nvSpPr>
          <p:cNvPr id="60" name="文本框 59" descr="{&quot;isTemplate&quot;:true,&quot;type&quot;:&quot;text&quot;}"/>
          <p:cNvSpPr txBox="1"/>
          <p:nvPr/>
        </p:nvSpPr>
        <p:spPr>
          <a:xfrm>
            <a:off x="628650" y="1162050"/>
            <a:ext cx="685800" cy="647700"/>
          </a:xfrm>
          <a:prstGeom prst="rect">
            <a:avLst/>
          </a:prstGeom>
        </p:spPr>
        <p:txBody>
          <a:bodyPr wrap="none" lIns="0" tIns="0" rIns="0" bIns="0"/>
          <a:lstStyle/>
          <a:p>
            <a:pPr>
              <a:lnSpc>
                <a:spcPct val="100000"/>
              </a:lnSpc>
            </a:pPr>
            <a:r>
              <a:rPr lang="en-US" sz="4200" b="1">
                <a:solidFill>
                  <a:srgbClr val="FFC107"/>
                </a:solidFill>
                <a:latin typeface="Microsoft YaHei"/>
                <a:ea typeface="Microsoft YaHei"/>
              </a:rPr>
              <a:t>P4</a:t>
            </a:r>
            <a:endParaRPr/>
          </a:p>
        </p:txBody>
      </p:sp>
      <p:sp>
        <p:nvSpPr>
          <p:cNvPr id="61" name="文本框 60" descr="{&quot;isTemplate&quot;:true,&quot;type&quot;:&quot;text&quot;}"/>
          <p:cNvSpPr txBox="1"/>
          <p:nvPr/>
        </p:nvSpPr>
        <p:spPr>
          <a:xfrm>
            <a:off x="1428750" y="1162050"/>
            <a:ext cx="1704975" cy="647700"/>
          </a:xfrm>
          <a:prstGeom prst="rect">
            <a:avLst/>
          </a:prstGeom>
        </p:spPr>
        <p:txBody>
          <a:bodyPr wrap="none" lIns="0" tIns="0" rIns="0" bIns="0"/>
          <a:lstStyle/>
          <a:p>
            <a:pPr>
              <a:lnSpc>
                <a:spcPct val="100000"/>
              </a:lnSpc>
            </a:pPr>
            <a:r>
              <a:rPr lang="en-US" sz="2100" b="1">
                <a:solidFill>
                  <a:srgbClr val="FFFFFF"/>
                </a:solidFill>
                <a:latin typeface="Microsoft YaHei"/>
                <a:ea typeface="Microsoft YaHei"/>
              </a:rPr>
              <a:t>Position </a:t>
            </a:r>
            <a:r>
              <a:rPr lang="zh-CN" sz="2100" b="1">
                <a:solidFill>
                  <a:srgbClr val="FFFFFF"/>
                </a:solidFill>
                <a:latin typeface="Microsoft YaHei"/>
                <a:ea typeface="Microsoft YaHei"/>
              </a:rPr>
              <a:t>定位</a:t>
            </a:r>
            <a:endParaRPr/>
          </a:p>
        </p:txBody>
      </p:sp>
      <p:sp>
        <p:nvSpPr>
          <p:cNvPr id="62" name="文本框 61" descr="{&quot;isTemplate&quot;:true,&quot;type&quot;:&quot;text&quot;}"/>
          <p:cNvSpPr txBox="1"/>
          <p:nvPr/>
        </p:nvSpPr>
        <p:spPr>
          <a:xfrm>
            <a:off x="628650" y="1905000"/>
            <a:ext cx="3124200" cy="1181100"/>
          </a:xfrm>
          <a:prstGeom prst="rect">
            <a:avLst/>
          </a:prstGeom>
        </p:spPr>
        <p:txBody>
          <a:bodyPr wrap="square" lIns="0" tIns="0" rIns="0" bIns="0">
            <a:normAutofit/>
          </a:bodyPr>
          <a:lstStyle/>
          <a:p>
            <a:pPr>
              <a:lnSpc>
                <a:spcPct val="180000"/>
              </a:lnSpc>
            </a:pPr>
            <a:r>
              <a:rPr lang="zh-CN" sz="1425">
                <a:solidFill>
                  <a:srgbClr val="FFFFFF"/>
                </a:solidFill>
                <a:latin typeface="Microsoft YaHei"/>
                <a:ea typeface="Microsoft YaHei"/>
              </a:rPr>
              <a:t>战略是企业在市场（或行业）中为自己选取的、</a:t>
            </a:r>
            <a:r>
              <a:rPr lang="zh-CN" sz="1425">
                <a:solidFill>
                  <a:srgbClr val="FFC107"/>
                </a:solidFill>
                <a:latin typeface="Microsoft YaHei"/>
                <a:ea typeface="Microsoft YaHei"/>
              </a:rPr>
              <a:t>可防御的特定位置</a:t>
            </a:r>
            <a:r>
              <a:rPr lang="zh-CN" sz="1425">
                <a:solidFill>
                  <a:srgbClr val="FFFFFF"/>
                </a:solidFill>
                <a:latin typeface="Microsoft YaHei"/>
                <a:ea typeface="Microsoft YaHei"/>
              </a:rPr>
              <a:t>——介于组织内部与外部环境之间。</a:t>
            </a:r>
            <a:endParaRPr/>
          </a:p>
        </p:txBody>
      </p:sp>
      <p:sp>
        <p:nvSpPr>
          <p:cNvPr id="63" name="矩形: 圆角 62"/>
          <p:cNvSpPr/>
          <p:nvPr/>
        </p:nvSpPr>
        <p:spPr>
          <a:xfrm>
            <a:off x="381000" y="3486150"/>
            <a:ext cx="3619500" cy="2762250"/>
          </a:xfrm>
          <a:prstGeom prst="roundRect">
            <a:avLst>
              <a:gd name="adj" fmla="val 3448"/>
            </a:avLst>
          </a:prstGeom>
          <a:solidFill>
            <a:srgbClr val="E8EFF8"/>
          </a:solidFill>
          <a:ln/>
        </p:spPr>
        <p:txBody>
          <a:bodyPr/>
          <a:lstStyle/>
          <a:p>
            <a:endParaRPr/>
          </a:p>
        </p:txBody>
      </p:sp>
      <p:sp>
        <p:nvSpPr>
          <p:cNvPr id="64" name="文本框 63" descr="{&quot;isTemplate&quot;:true,&quot;type&quot;:&quot;text&quot;}"/>
          <p:cNvSpPr txBox="1"/>
          <p:nvPr/>
        </p:nvSpPr>
        <p:spPr>
          <a:xfrm>
            <a:off x="590550" y="4057650"/>
            <a:ext cx="3200400" cy="209550"/>
          </a:xfrm>
          <a:prstGeom prst="rect">
            <a:avLst/>
          </a:prstGeom>
        </p:spPr>
        <p:txBody>
          <a:bodyPr wrap="none" lIns="0" tIns="0" rIns="0" bIns="0"/>
          <a:lstStyle/>
          <a:p>
            <a:pPr>
              <a:lnSpc>
                <a:spcPct val="100000"/>
              </a:lnSpc>
            </a:pPr>
            <a:r>
              <a:rPr lang="zh-CN" sz="1350" b="1">
                <a:solidFill>
                  <a:srgbClr val="0E3F8C"/>
                </a:solidFill>
                <a:latin typeface="Microsoft YaHei"/>
                <a:ea typeface="Microsoft YaHei"/>
              </a:rPr>
              <a:t>与其他</a:t>
            </a:r>
            <a:r>
              <a:rPr lang="en-US" sz="1350" b="1">
                <a:solidFill>
                  <a:srgbClr val="0E3F8C"/>
                </a:solidFill>
                <a:latin typeface="Microsoft YaHei"/>
                <a:ea typeface="Microsoft YaHei"/>
              </a:rPr>
              <a:t> P </a:t>
            </a:r>
            <a:r>
              <a:rPr lang="zh-CN" sz="1350" b="1">
                <a:solidFill>
                  <a:srgbClr val="0E3F8C"/>
                </a:solidFill>
                <a:latin typeface="Microsoft YaHei"/>
                <a:ea typeface="Microsoft YaHei"/>
              </a:rPr>
              <a:t>的连接</a:t>
            </a:r>
            <a:endParaRPr/>
          </a:p>
        </p:txBody>
      </p:sp>
      <p:sp>
        <p:nvSpPr>
          <p:cNvPr id="65" name="文本框 64" descr="{&quot;isTemplate&quot;:true,&quot;type&quot;:&quot;text&quot;}"/>
          <p:cNvSpPr txBox="1"/>
          <p:nvPr/>
        </p:nvSpPr>
        <p:spPr>
          <a:xfrm>
            <a:off x="590550" y="4362450"/>
            <a:ext cx="3200400" cy="1323975"/>
          </a:xfrm>
          <a:prstGeom prst="rect">
            <a:avLst/>
          </a:prstGeom>
        </p:spPr>
        <p:txBody>
          <a:bodyPr wrap="square" lIns="0" tIns="0" rIns="0" bIns="0">
            <a:normAutofit/>
          </a:bodyPr>
          <a:lstStyle/>
          <a:p>
            <a:pPr>
              <a:lnSpc>
                <a:spcPct val="180000"/>
              </a:lnSpc>
            </a:pPr>
            <a:r>
              <a:rPr lang="zh-CN" sz="1200">
                <a:solidFill>
                  <a:srgbClr val="4A5568"/>
                </a:solidFill>
                <a:latin typeface="Microsoft YaHei"/>
                <a:ea typeface="Microsoft YaHei"/>
              </a:rPr>
              <a:t>这一定义与波特的竞争定位思想遥相呼应：定位向下可落实为具体的</a:t>
            </a:r>
            <a:r>
              <a:rPr lang="en-US" sz="1200">
                <a:solidFill>
                  <a:srgbClr val="4A5568"/>
                </a:solidFill>
                <a:latin typeface="Microsoft YaHei"/>
                <a:ea typeface="Microsoft YaHei"/>
              </a:rPr>
              <a:t> Plan</a:t>
            </a:r>
            <a:r>
              <a:rPr lang="zh-CN" sz="1200">
                <a:solidFill>
                  <a:srgbClr val="4A5568"/>
                </a:solidFill>
                <a:latin typeface="Microsoft YaHei"/>
                <a:ea typeface="Microsoft YaHei"/>
              </a:rPr>
              <a:t>，向上又依托组织的</a:t>
            </a:r>
            <a:r>
              <a:rPr lang="en-US" sz="1200">
                <a:solidFill>
                  <a:srgbClr val="4A5568"/>
                </a:solidFill>
                <a:latin typeface="Microsoft YaHei"/>
                <a:ea typeface="Microsoft YaHei"/>
              </a:rPr>
              <a:t> Perspective——</a:t>
            </a:r>
            <a:r>
              <a:rPr lang="zh-CN" sz="1200">
                <a:solidFill>
                  <a:srgbClr val="4A5568"/>
                </a:solidFill>
                <a:latin typeface="Microsoft YaHei"/>
                <a:ea typeface="Microsoft YaHei"/>
              </a:rPr>
              <a:t>它是外部市场与内部能力的交界面。</a:t>
            </a:r>
            <a:endParaRPr/>
          </a:p>
        </p:txBody>
      </p:sp>
      <p:sp>
        <p:nvSpPr>
          <p:cNvPr id="66" name="矩形: 圆角 65"/>
          <p:cNvSpPr/>
          <p:nvPr/>
        </p:nvSpPr>
        <p:spPr>
          <a:xfrm>
            <a:off x="4286250" y="914400"/>
            <a:ext cx="7524750" cy="4562475"/>
          </a:xfrm>
          <a:prstGeom prst="roundRect">
            <a:avLst>
              <a:gd name="adj" fmla="val 2088"/>
            </a:avLst>
          </a:prstGeom>
          <a:solidFill>
            <a:srgbClr val="FFFFFF"/>
          </a:solidFill>
          <a:ln w="12700">
            <a:solidFill>
              <a:srgbClr val="D6DCE5"/>
            </a:solidFill>
            <a:prstDash val="solid"/>
          </a:ln>
        </p:spPr>
        <p:txBody>
          <a:bodyPr/>
          <a:lstStyle/>
          <a:p>
            <a:endParaRPr/>
          </a:p>
        </p:txBody>
      </p:sp>
      <p:pic>
        <p:nvPicPr>
          <p:cNvPr id="67" name="图形 6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00625" y="1485900"/>
            <a:ext cx="6096000" cy="3429000"/>
          </a:xfrm>
          <a:prstGeom prst="rect">
            <a:avLst/>
          </a:prstGeom>
          <a:ln/>
        </p:spPr>
      </p:pic>
      <p:sp>
        <p:nvSpPr>
          <p:cNvPr id="68" name="矩形: 圆角 67"/>
          <p:cNvSpPr/>
          <p:nvPr/>
        </p:nvSpPr>
        <p:spPr>
          <a:xfrm>
            <a:off x="4286250" y="5629275"/>
            <a:ext cx="7524750" cy="619125"/>
          </a:xfrm>
          <a:prstGeom prst="roundRect">
            <a:avLst>
              <a:gd name="adj" fmla="val 15385"/>
            </a:avLst>
          </a:prstGeom>
          <a:solidFill>
            <a:srgbClr val="FFFFFF"/>
          </a:solidFill>
          <a:ln w="12700">
            <a:solidFill>
              <a:srgbClr val="D6DCE5"/>
            </a:solidFill>
            <a:prstDash val="solid"/>
          </a:ln>
        </p:spPr>
        <p:txBody>
          <a:bodyPr/>
          <a:lstStyle/>
          <a:p>
            <a:endParaRPr/>
          </a:p>
        </p:txBody>
      </p:sp>
      <p:pic>
        <p:nvPicPr>
          <p:cNvPr id="69" name="图形 6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95800" y="5800725"/>
            <a:ext cx="285750" cy="285750"/>
          </a:xfrm>
          <a:prstGeom prst="rect">
            <a:avLst/>
          </a:prstGeom>
          <a:ln/>
        </p:spPr>
      </p:pic>
      <p:sp>
        <p:nvSpPr>
          <p:cNvPr id="70" name="文本框 69" descr="{&quot;isTemplate&quot;:true,&quot;type&quot;:&quot;text&quot;}"/>
          <p:cNvSpPr txBox="1"/>
          <p:nvPr/>
        </p:nvSpPr>
        <p:spPr>
          <a:xfrm>
            <a:off x="4905375" y="5781675"/>
            <a:ext cx="6696075" cy="314325"/>
          </a:xfrm>
          <a:prstGeom prst="rect">
            <a:avLst/>
          </a:prstGeom>
        </p:spPr>
        <p:txBody>
          <a:bodyPr wrap="none" lIns="0" tIns="0" rIns="0" bIns="0"/>
          <a:lstStyle/>
          <a:p>
            <a:pPr>
              <a:lnSpc>
                <a:spcPct val="170000"/>
              </a:lnSpc>
            </a:pPr>
            <a:r>
              <a:rPr lang="zh-CN" sz="1200" b="1">
                <a:solidFill>
                  <a:srgbClr val="0E3F8C"/>
                </a:solidFill>
                <a:latin typeface="Microsoft YaHei"/>
                <a:ea typeface="Microsoft YaHei"/>
              </a:rPr>
              <a:t>定位的要义：</a:t>
            </a:r>
            <a:r>
              <a:rPr lang="zh-CN" sz="1200">
                <a:solidFill>
                  <a:srgbClr val="4A5568"/>
                </a:solidFill>
                <a:latin typeface="Microsoft YaHei"/>
                <a:ea typeface="Microsoft YaHei"/>
              </a:rPr>
              <a:t>放弃“服务所有顾客”的幻想，在地图上找到对手难以进攻的一格，并集中资源守住它。</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7F9FC', position: 'relative', padding: 0 }}&gt;&#10;    &lt;Box style={{ position: 'absolute', top: 0, left: 0, width: 1280, height: 72, background: '#1E4FA8', flexDirection: 'row', alignItems: 'center', justifyContent: 'space-between', paddingLeft: 40, paddingRight: 40 }}&gt;&#10;        &lt;Text style={{ fontSize: 15, color: '#FFFFFF', letterSpacing: 3 }}&gt;战略管理 · STRATEGIC MANAGEMENT&lt;/Text&gt;&#10;        &lt;Text style={{ fontSize: 15, color: '#E8EFF8' }}&gt;02 五个维度详解&lt;/Text&gt;&#10;    &lt;/Box&gt;&#10;    &lt;Box style={{ position: 'absolute', bottom: 0, left: 0, width: 1280, height: 44, background: '#FFFFFF', flexDirection: 'row', alignItems: 'center', justifyContent: 'space-between', paddingLeft: 40, paddingRight: 40, borderTop: '1px solid #E5E7EB' }}&gt;&#10;        &lt;Text style={{ fontSize: 14, color: '#8B97A8' }}&gt;《战略管理》教学课件 · 明茨伯格 5P 理论&lt;/Text&gt;&#10;        &lt;Text style={{ fontSize: 15, color: '#0E3F8C', fontWeight: 'bold' }}&gt;12 / 16&lt;/Text&gt;&#10;    &lt;/Box&gt;&#10;    &lt;Box style={{ position: 'absolute', top: 72, left: 0, width: 1280, height: 604, flexDirection: 'row', padding: '24px 40px 20px 40px', gap: 30 }}&gt;&#10;        &lt;Box style={{ width: '58%', flexDirection: 'column', gap: 18 }}&gt;&#10;            &lt;Box style={{ flexDirection: 'row', alignItems: 'baseline', gap: 16 }}&gt;&#10;                &lt;Text style={{ fontSize: 40, fontWeight: 'bold', color: '#FFC107' }}&gt;P5&lt;/Text&gt;&#10;                &lt;Text style={{ fontSize: 30, fontWeight: 'bold', color: '#0E3F8C' }}&gt;Perspective 视角：战略是看世界的方式&lt;/Text&gt;&#10;            &lt;/Box&gt;&#10;            &lt;Box style={{ background: '#0E3F8C', borderRadius: 10, padding: 26, flexDirection: 'column' }}&gt;&#10;                &lt;Text style={{ fontSize: 20, color: '#FFFFFF', lineHeight: 1.8 }}&gt;&#10;                    战略是组织成员&lt;span style={{ color: '#FFC107' }}&gt;共享的基本观念与心智模式&lt;/span&gt;——它决定了组织“看得见什么、看不见什么”。&#10;                &lt;/Text&gt;&#10;            &lt;/Box&gt;&#10;            &lt;Box style={{ flex: 1, background: '#FFFFFF', border: '1px solid #D6DCE5', borderRadius: 10, padding: 24, flexDirection: 'column', justifyContent: 'center' }}&gt;&#10;                &lt;Text style={{ fontSize: 20, fontWeight: 'bold', color: '#0E3F8C', marginBottom: 12 }}&gt;一个视角，两个朝向&lt;/Text&gt;&#10;                &lt;Box style={{ flexDirection: 'row', gap: 20 }}&gt;&#10;                    &lt;Box style={{ flex: 1, background: '#E8EFF8', borderRadius: 8, padding: 18, flexDirection: 'column', gap: 8 }}&gt;&#10;                        &lt;FAIcon name='building' style={{ fill: '#1E4FA8', width: 28, height: 28 }} /&gt;&#10;                        &lt;Text style={{ fontSize: 18, fontWeight: 'bold', color: '#0E3F8C' }}&gt;向内看 = 文化&lt;/Text&gt;&#10;                        &lt;Text style={{ fontSize: 16, color: '#4A5568', lineHeight: 1.6 }}&gt;组织的集体性格：做什么、不做什么、崇拜什么&lt;/Text&gt;&#10;                    &lt;/Box&gt;&#10;                    &lt;Box style={{ flex: 1, background: '#E8EFF8', borderRadius: 8, padding: 18, flexDirection: 'column', gap: 8 }}&gt;&#10;                        &lt;FAIcon name='globe' style={{ fill: '#1E4FA8', width: 28, height: 28 }} /&gt;&#10;                        &lt;Text style={{ fontSize: 18, fontWeight: 'bold', color: '#0E3F8C' }}&gt;向外看 = 经营哲学&lt;/Text&gt;&#10;                        &lt;Text style={{ fontSize: 16, color: '#4A5568', lineHeight: 1.6 }}&gt;理解行业与顾客的底层假设，先于任何具体计划&lt;/Text&gt;&#10;                    &lt;/Box&gt;&#10;                &lt;/Box&gt;&#10;                &lt;Box style={{ background: '#F0F5FC', borderRadius: 6, padding: '12px 18px', marginTop: 16, flexDirection: 'row', alignItems: 'center', gap: 10 }}&gt;&#10;                    &lt;FAIcon name='exclamation-circle' style={{ fill: '#1E4FA8', width: 22, height: 22 }} /&gt;&#10;                    &lt;Text style={{ fontSize: 16, color: '#0E3F8C', lineHeight: 1.6 }}&gt;视角是最难模仿的战略资产，也是转型时最难改变的东西&lt;/Text&gt;&#10;                &lt;/Box&gt;&#10;            &lt;/Box&gt;&#10;        &lt;/Box&gt;&#10;        &lt;Box style={{ width: '42%', flexDirection: 'column', gap: 18 }}&gt;&#10;            &lt;Box style={{ flex: 1, background: '#FFFFFF', border: '1px solid #D6DCE5', borderRadius: 10, padding: 22, flexDirection: 'column', justifyContent: 'center' }}&gt;&#10;                &lt;Text style={{ fontSize: 19, fontWeight: 'bold', color: '#0E3F8C', marginBottom: 10 }}&gt;案例 · 苹果的“科技 + 人文”视角&lt;/Text&gt;&#10;                &lt;Text style={{ fontSize: 16, color: '#4A5568', lineHeight: 1.8 }}&gt;&#10;                    从麦金塔到 iPhone，产品形态一直在变，但“站在科技与人文的十字路口做产品”这一视角从未动摇——它先于任何一款具体产品的计划。&#10;                &lt;/Text&gt;&#10;            &lt;/Box&gt;&#10;            &lt;Box style={{ flex: 1, background: '#FFFFFF', border: '1px solid #D6DCE5', borderRadius: 10, padding: 22, flexDirection: 'column', justifyContent: 'center' }}&gt;&#10;                &lt;Text style={{ fontSize: 19, fontWeight: 'bold', color: '#0E3F8C', marginBottom: 10 }}&gt;案例 · IBM 的视角转变&lt;/Text&gt;&#10;                &lt;Text style={{ fontSize: 16, color: '#4A5568', lineHeight: 1.8 }}&gt;&#10;                    20 世纪 90 年代，IBM 从“我们卖硬件”转向“我们为客户提供解决方案”——视角一变，定位、计划与组织结构随之重构，这是 Perspective 级别的战略变革。&#10;                &lt;/Text&gt;&#10;            &lt;/Box&gt;&#10;        &lt;/Box&gt;&#10;    &lt;/Box&gt;&#10;&lt;/Slide&gt;"/>
        <p:cNvGrpSpPr/>
        <p:nvPr/>
      </p:nvGrpSpPr>
      <p:grpSpPr>
        <a:xfrm>
          <a:off x="0" y="0"/>
          <a:ext cx="0" cy="0"/>
          <a:chOff x="0" y="0"/>
          <a:chExt cx="0" cy="0"/>
        </a:xfrm>
      </p:grpSpPr>
      <p:sp>
        <p:nvSpPr>
          <p:cNvPr id="72" name="矩形 71"/>
          <p:cNvSpPr/>
          <p:nvPr/>
        </p:nvSpPr>
        <p:spPr>
          <a:xfrm>
            <a:off x="0" y="0"/>
            <a:ext cx="12192000" cy="6858000"/>
          </a:xfrm>
          <a:prstGeom prst="rect">
            <a:avLst/>
          </a:prstGeom>
          <a:solidFill>
            <a:srgbClr val="F7F9FC"/>
          </a:solidFill>
          <a:ln/>
        </p:spPr>
        <p:txBody>
          <a:bodyPr/>
          <a:lstStyle/>
          <a:p>
            <a:endParaRPr/>
          </a:p>
        </p:txBody>
      </p:sp>
      <p:sp>
        <p:nvSpPr>
          <p:cNvPr id="73" name="矩形 72"/>
          <p:cNvSpPr/>
          <p:nvPr/>
        </p:nvSpPr>
        <p:spPr>
          <a:xfrm>
            <a:off x="0" y="0"/>
            <a:ext cx="12192000" cy="685800"/>
          </a:xfrm>
          <a:prstGeom prst="rect">
            <a:avLst/>
          </a:prstGeom>
          <a:solidFill>
            <a:srgbClr val="1E4FA8"/>
          </a:solidFill>
          <a:ln/>
        </p:spPr>
        <p:txBody>
          <a:bodyPr/>
          <a:lstStyle/>
          <a:p>
            <a:endParaRPr/>
          </a:p>
        </p:txBody>
      </p:sp>
      <p:sp>
        <p:nvSpPr>
          <p:cNvPr id="74" name="文本框 73"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FFFFFF"/>
                </a:solidFill>
                <a:latin typeface="Microsoft YaHei"/>
                <a:ea typeface="Microsoft YaHei"/>
              </a:rPr>
              <a:t>战略管理</a:t>
            </a:r>
            <a:r>
              <a:rPr lang="en-US" sz="1125" spc="225">
                <a:solidFill>
                  <a:srgbClr val="FFFFFF"/>
                </a:solidFill>
                <a:latin typeface="Microsoft YaHei"/>
                <a:ea typeface="Microsoft YaHei"/>
              </a:rPr>
              <a:t> · STRATEGIC MANAGEMENT</a:t>
            </a:r>
            <a:endParaRPr/>
          </a:p>
        </p:txBody>
      </p:sp>
      <p:sp>
        <p:nvSpPr>
          <p:cNvPr id="75" name="文本框 74" descr="{&quot;isTemplate&quot;:true,&quot;type&quot;:&quot;text&quot;}"/>
          <p:cNvSpPr txBox="1"/>
          <p:nvPr/>
        </p:nvSpPr>
        <p:spPr>
          <a:xfrm>
            <a:off x="10734675" y="257175"/>
            <a:ext cx="1076325" cy="171450"/>
          </a:xfrm>
          <a:prstGeom prst="rect">
            <a:avLst/>
          </a:prstGeom>
        </p:spPr>
        <p:txBody>
          <a:bodyPr wrap="none" lIns="0" tIns="0" rIns="0" bIns="0"/>
          <a:lstStyle/>
          <a:p>
            <a:pPr>
              <a:lnSpc>
                <a:spcPct val="100000"/>
              </a:lnSpc>
            </a:pPr>
            <a:r>
              <a:rPr lang="en-US" sz="1125">
                <a:solidFill>
                  <a:srgbClr val="E8EFF8"/>
                </a:solidFill>
                <a:latin typeface="Microsoft YaHei"/>
                <a:ea typeface="Microsoft YaHei"/>
              </a:rPr>
              <a:t>02 </a:t>
            </a:r>
            <a:r>
              <a:rPr lang="zh-CN" sz="1125">
                <a:solidFill>
                  <a:srgbClr val="E8EFF8"/>
                </a:solidFill>
                <a:latin typeface="Microsoft YaHei"/>
                <a:ea typeface="Microsoft YaHei"/>
              </a:rPr>
              <a:t>五个维度详解</a:t>
            </a:r>
            <a:endParaRPr/>
          </a:p>
        </p:txBody>
      </p:sp>
      <p:sp>
        <p:nvSpPr>
          <p:cNvPr id="76" name="矩形 75"/>
          <p:cNvSpPr/>
          <p:nvPr/>
        </p:nvSpPr>
        <p:spPr>
          <a:xfrm>
            <a:off x="0" y="6448425"/>
            <a:ext cx="12192000" cy="409575"/>
          </a:xfrm>
          <a:prstGeom prst="rect">
            <a:avLst/>
          </a:prstGeom>
          <a:solidFill>
            <a:srgbClr val="FFFFFF"/>
          </a:solidFill>
          <a:ln/>
        </p:spPr>
        <p:txBody>
          <a:bodyPr/>
          <a:lstStyle/>
          <a:p>
            <a:endParaRPr/>
          </a:p>
        </p:txBody>
      </p:sp>
      <p:sp>
        <p:nvSpPr>
          <p:cNvPr id="77" name="任意多边形: 形状 76"/>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E5E7EB"/>
          </a:solidFill>
          <a:ln/>
        </p:spPr>
        <p:txBody>
          <a:bodyPr/>
          <a:lstStyle/>
          <a:p>
            <a:endParaRPr/>
          </a:p>
        </p:txBody>
      </p:sp>
      <p:sp>
        <p:nvSpPr>
          <p:cNvPr id="78" name="文本框 77" descr="{&quot;isTemplate&quot;:true,&quot;type&quot;:&quot;text&quot;}"/>
          <p:cNvSpPr txBox="1"/>
          <p:nvPr/>
        </p:nvSpPr>
        <p:spPr>
          <a:xfrm>
            <a:off x="381000" y="6572250"/>
            <a:ext cx="2486025"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《战略管理》教学课件</a:t>
            </a:r>
            <a:r>
              <a:rPr lang="en-US" sz="1050">
                <a:solidFill>
                  <a:srgbClr val="8B97A8"/>
                </a:solidFill>
                <a:latin typeface="Microsoft YaHei"/>
                <a:ea typeface="Microsoft YaHei"/>
              </a:rPr>
              <a:t> · </a:t>
            </a:r>
            <a:r>
              <a:rPr lang="zh-CN" sz="1050">
                <a:solidFill>
                  <a:srgbClr val="8B97A8"/>
                </a:solidFill>
                <a:latin typeface="Microsoft YaHei"/>
                <a:ea typeface="Microsoft YaHei"/>
              </a:rPr>
              <a:t>明茨伯格</a:t>
            </a:r>
            <a:r>
              <a:rPr lang="en-US" sz="1050">
                <a:solidFill>
                  <a:srgbClr val="8B97A8"/>
                </a:solidFill>
                <a:latin typeface="Microsoft YaHei"/>
                <a:ea typeface="Microsoft YaHei"/>
              </a:rPr>
              <a:t> 5P </a:t>
            </a:r>
            <a:r>
              <a:rPr lang="zh-CN" sz="1050">
                <a:solidFill>
                  <a:srgbClr val="8B97A8"/>
                </a:solidFill>
                <a:latin typeface="Microsoft YaHei"/>
                <a:ea typeface="Microsoft YaHei"/>
              </a:rPr>
              <a:t>理论</a:t>
            </a:r>
            <a:endParaRPr/>
          </a:p>
        </p:txBody>
      </p:sp>
      <p:sp>
        <p:nvSpPr>
          <p:cNvPr id="79" name="文本框 78" descr="{&quot;isTemplate&quot;:true,&quot;type&quot;:&quot;text&quot;}"/>
          <p:cNvSpPr txBox="1"/>
          <p:nvPr/>
        </p:nvSpPr>
        <p:spPr>
          <a:xfrm>
            <a:off x="11296650" y="6572250"/>
            <a:ext cx="514350" cy="171450"/>
          </a:xfrm>
          <a:prstGeom prst="rect">
            <a:avLst/>
          </a:prstGeom>
        </p:spPr>
        <p:txBody>
          <a:bodyPr wrap="none" lIns="0" tIns="0" rIns="0" bIns="0"/>
          <a:lstStyle/>
          <a:p>
            <a:pPr>
              <a:lnSpc>
                <a:spcPct val="100000"/>
              </a:lnSpc>
            </a:pPr>
            <a:r>
              <a:rPr lang="en-US" sz="1125" b="1">
                <a:solidFill>
                  <a:srgbClr val="0E3F8C"/>
                </a:solidFill>
                <a:latin typeface="Microsoft YaHei"/>
                <a:ea typeface="Microsoft YaHei"/>
              </a:rPr>
              <a:t>12 / 16</a:t>
            </a:r>
            <a:endParaRPr/>
          </a:p>
        </p:txBody>
      </p:sp>
      <p:sp>
        <p:nvSpPr>
          <p:cNvPr id="80" name="文本框 79" descr="{&quot;isTemplate&quot;:true,&quot;type&quot;:&quot;text&quot;}"/>
          <p:cNvSpPr txBox="1"/>
          <p:nvPr/>
        </p:nvSpPr>
        <p:spPr>
          <a:xfrm>
            <a:off x="381000" y="914400"/>
            <a:ext cx="485775" cy="457200"/>
          </a:xfrm>
          <a:prstGeom prst="rect">
            <a:avLst/>
          </a:prstGeom>
        </p:spPr>
        <p:txBody>
          <a:bodyPr wrap="none" lIns="0" tIns="0" rIns="0" bIns="0"/>
          <a:lstStyle/>
          <a:p>
            <a:pPr>
              <a:lnSpc>
                <a:spcPct val="100000"/>
              </a:lnSpc>
            </a:pPr>
            <a:r>
              <a:rPr lang="en-US" sz="3000" b="1">
                <a:solidFill>
                  <a:srgbClr val="FFC107"/>
                </a:solidFill>
                <a:latin typeface="Microsoft YaHei"/>
                <a:ea typeface="Microsoft YaHei"/>
              </a:rPr>
              <a:t>P5</a:t>
            </a:r>
            <a:endParaRPr/>
          </a:p>
        </p:txBody>
      </p:sp>
      <p:sp>
        <p:nvSpPr>
          <p:cNvPr id="81" name="文本框 80" descr="{&quot;isTemplate&quot;:true,&quot;type&quot;:&quot;text&quot;}"/>
          <p:cNvSpPr txBox="1"/>
          <p:nvPr/>
        </p:nvSpPr>
        <p:spPr>
          <a:xfrm>
            <a:off x="1019175" y="914400"/>
            <a:ext cx="5162550" cy="457200"/>
          </a:xfrm>
          <a:prstGeom prst="rect">
            <a:avLst/>
          </a:prstGeom>
        </p:spPr>
        <p:txBody>
          <a:bodyPr wrap="none" lIns="0" tIns="0" rIns="0" bIns="0"/>
          <a:lstStyle/>
          <a:p>
            <a:pPr>
              <a:lnSpc>
                <a:spcPct val="100000"/>
              </a:lnSpc>
            </a:pPr>
            <a:r>
              <a:rPr lang="en-US" sz="2250" b="1">
                <a:solidFill>
                  <a:srgbClr val="0E3F8C"/>
                </a:solidFill>
                <a:latin typeface="Microsoft YaHei"/>
                <a:ea typeface="Microsoft YaHei"/>
              </a:rPr>
              <a:t>Perspective </a:t>
            </a:r>
            <a:r>
              <a:rPr lang="zh-CN" sz="2250" b="1">
                <a:solidFill>
                  <a:srgbClr val="0E3F8C"/>
                </a:solidFill>
                <a:latin typeface="Microsoft YaHei"/>
                <a:ea typeface="Microsoft YaHei"/>
              </a:rPr>
              <a:t>视角：战略是看世界的方式</a:t>
            </a:r>
            <a:endParaRPr/>
          </a:p>
        </p:txBody>
      </p:sp>
      <p:sp>
        <p:nvSpPr>
          <p:cNvPr id="82" name="矩形: 圆角 81"/>
          <p:cNvSpPr/>
          <p:nvPr/>
        </p:nvSpPr>
        <p:spPr>
          <a:xfrm>
            <a:off x="381000" y="1543050"/>
            <a:ext cx="6467475" cy="1323975"/>
          </a:xfrm>
          <a:prstGeom prst="roundRect">
            <a:avLst>
              <a:gd name="adj" fmla="val 7194"/>
            </a:avLst>
          </a:prstGeom>
          <a:solidFill>
            <a:srgbClr val="0E3F8C"/>
          </a:solidFill>
          <a:ln/>
        </p:spPr>
        <p:txBody>
          <a:bodyPr/>
          <a:lstStyle/>
          <a:p>
            <a:endParaRPr/>
          </a:p>
        </p:txBody>
      </p:sp>
      <p:sp>
        <p:nvSpPr>
          <p:cNvPr id="83" name="文本框 82" descr="{&quot;isTemplate&quot;:true,&quot;type&quot;:&quot;text&quot;}"/>
          <p:cNvSpPr txBox="1"/>
          <p:nvPr/>
        </p:nvSpPr>
        <p:spPr>
          <a:xfrm>
            <a:off x="628650" y="1790700"/>
            <a:ext cx="5972175" cy="828675"/>
          </a:xfrm>
          <a:prstGeom prst="rect">
            <a:avLst/>
          </a:prstGeom>
        </p:spPr>
        <p:txBody>
          <a:bodyPr wrap="square" lIns="0" tIns="0" rIns="0" bIns="0">
            <a:normAutofit/>
          </a:bodyPr>
          <a:lstStyle/>
          <a:p>
            <a:pPr>
              <a:lnSpc>
                <a:spcPct val="180000"/>
              </a:lnSpc>
            </a:pPr>
            <a:r>
              <a:rPr lang="zh-CN" sz="1500">
                <a:solidFill>
                  <a:srgbClr val="FFFFFF"/>
                </a:solidFill>
                <a:latin typeface="Microsoft YaHei"/>
                <a:ea typeface="Microsoft YaHei"/>
              </a:rPr>
              <a:t>战略是组织成员</a:t>
            </a:r>
            <a:r>
              <a:rPr lang="zh-CN" sz="1500">
                <a:solidFill>
                  <a:srgbClr val="FFC107"/>
                </a:solidFill>
                <a:latin typeface="Microsoft YaHei"/>
                <a:ea typeface="Microsoft YaHei"/>
              </a:rPr>
              <a:t>共享的基本观念与心智模式</a:t>
            </a:r>
            <a:r>
              <a:rPr lang="zh-CN" sz="1500">
                <a:solidFill>
                  <a:srgbClr val="FFFFFF"/>
                </a:solidFill>
                <a:latin typeface="Microsoft YaHei"/>
                <a:ea typeface="Microsoft YaHei"/>
              </a:rPr>
              <a:t>——它决定了组织“看得见什么、看不见什么”。</a:t>
            </a:r>
            <a:endParaRPr/>
          </a:p>
        </p:txBody>
      </p:sp>
      <p:sp>
        <p:nvSpPr>
          <p:cNvPr id="84" name="矩形: 圆角 83"/>
          <p:cNvSpPr/>
          <p:nvPr/>
        </p:nvSpPr>
        <p:spPr>
          <a:xfrm>
            <a:off x="381000" y="3038475"/>
            <a:ext cx="6467475" cy="3209925"/>
          </a:xfrm>
          <a:prstGeom prst="roundRect">
            <a:avLst>
              <a:gd name="adj" fmla="val 2967"/>
            </a:avLst>
          </a:prstGeom>
          <a:solidFill>
            <a:srgbClr val="FFFFFF"/>
          </a:solidFill>
          <a:ln w="12700">
            <a:solidFill>
              <a:srgbClr val="D6DCE5"/>
            </a:solidFill>
            <a:prstDash val="solid"/>
          </a:ln>
        </p:spPr>
        <p:txBody>
          <a:bodyPr/>
          <a:lstStyle/>
          <a:p>
            <a:endParaRPr/>
          </a:p>
        </p:txBody>
      </p:sp>
      <p:sp>
        <p:nvSpPr>
          <p:cNvPr id="85" name="文本框 84" descr="{&quot;isTemplate&quot;:true,&quot;type&quot;:&quot;text&quot;}"/>
          <p:cNvSpPr txBox="1"/>
          <p:nvPr/>
        </p:nvSpPr>
        <p:spPr>
          <a:xfrm>
            <a:off x="609600" y="3352800"/>
            <a:ext cx="6010275" cy="228600"/>
          </a:xfrm>
          <a:prstGeom prst="rect">
            <a:avLst/>
          </a:prstGeom>
        </p:spPr>
        <p:txBody>
          <a:bodyPr wrap="none" lIns="0" tIns="0" rIns="0" bIns="0"/>
          <a:lstStyle/>
          <a:p>
            <a:pPr>
              <a:lnSpc>
                <a:spcPct val="100000"/>
              </a:lnSpc>
            </a:pPr>
            <a:r>
              <a:rPr lang="zh-CN" sz="1500" b="1">
                <a:solidFill>
                  <a:srgbClr val="0E3F8C"/>
                </a:solidFill>
                <a:latin typeface="Microsoft YaHei"/>
                <a:ea typeface="Microsoft YaHei"/>
              </a:rPr>
              <a:t>一个视角，两个朝向</a:t>
            </a:r>
            <a:endParaRPr/>
          </a:p>
        </p:txBody>
      </p:sp>
      <p:sp>
        <p:nvSpPr>
          <p:cNvPr id="86" name="矩形: 圆角 85"/>
          <p:cNvSpPr/>
          <p:nvPr/>
        </p:nvSpPr>
        <p:spPr>
          <a:xfrm>
            <a:off x="609600" y="3695700"/>
            <a:ext cx="2914650" cy="1562100"/>
          </a:xfrm>
          <a:prstGeom prst="roundRect">
            <a:avLst>
              <a:gd name="adj" fmla="val 4878"/>
            </a:avLst>
          </a:prstGeom>
          <a:solidFill>
            <a:srgbClr val="E8EFF8"/>
          </a:solidFill>
          <a:ln/>
        </p:spPr>
        <p:txBody>
          <a:bodyPr/>
          <a:lstStyle/>
          <a:p>
            <a:endParaRPr/>
          </a:p>
        </p:txBody>
      </p:sp>
      <p:pic>
        <p:nvPicPr>
          <p:cNvPr id="87" name="图形 8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1050" y="3867150"/>
            <a:ext cx="266700" cy="266700"/>
          </a:xfrm>
          <a:prstGeom prst="rect">
            <a:avLst/>
          </a:prstGeom>
          <a:ln/>
        </p:spPr>
      </p:pic>
      <p:sp>
        <p:nvSpPr>
          <p:cNvPr id="88" name="文本框 87" descr="{&quot;isTemplate&quot;:true,&quot;type&quot;:&quot;text&quot;}"/>
          <p:cNvSpPr txBox="1"/>
          <p:nvPr/>
        </p:nvSpPr>
        <p:spPr>
          <a:xfrm>
            <a:off x="781050" y="4210050"/>
            <a:ext cx="2571750" cy="209550"/>
          </a:xfrm>
          <a:prstGeom prst="rect">
            <a:avLst/>
          </a:prstGeom>
        </p:spPr>
        <p:txBody>
          <a:bodyPr wrap="none" lIns="0" tIns="0" rIns="0" bIns="0"/>
          <a:lstStyle/>
          <a:p>
            <a:pPr>
              <a:lnSpc>
                <a:spcPct val="100000"/>
              </a:lnSpc>
            </a:pPr>
            <a:r>
              <a:rPr lang="zh-CN" sz="1350" b="1">
                <a:solidFill>
                  <a:srgbClr val="0E3F8C"/>
                </a:solidFill>
                <a:latin typeface="Microsoft YaHei"/>
                <a:ea typeface="Microsoft YaHei"/>
              </a:rPr>
              <a:t>向内看</a:t>
            </a:r>
            <a:r>
              <a:rPr lang="en-US" sz="1350" b="1">
                <a:solidFill>
                  <a:srgbClr val="0E3F8C"/>
                </a:solidFill>
                <a:latin typeface="Microsoft YaHei"/>
                <a:ea typeface="Microsoft YaHei"/>
              </a:rPr>
              <a:t> = </a:t>
            </a:r>
            <a:r>
              <a:rPr lang="zh-CN" sz="1350" b="1">
                <a:solidFill>
                  <a:srgbClr val="0E3F8C"/>
                </a:solidFill>
                <a:latin typeface="Microsoft YaHei"/>
                <a:ea typeface="Microsoft YaHei"/>
              </a:rPr>
              <a:t>文化</a:t>
            </a:r>
            <a:endParaRPr/>
          </a:p>
        </p:txBody>
      </p:sp>
      <p:sp>
        <p:nvSpPr>
          <p:cNvPr id="89" name="文本框 88" descr="{&quot;isTemplate&quot;:true,&quot;type&quot;:&quot;text&quot;}"/>
          <p:cNvSpPr txBox="1"/>
          <p:nvPr/>
        </p:nvSpPr>
        <p:spPr>
          <a:xfrm>
            <a:off x="781050" y="4495800"/>
            <a:ext cx="2571750" cy="590550"/>
          </a:xfrm>
          <a:prstGeom prst="rect">
            <a:avLst/>
          </a:prstGeom>
        </p:spPr>
        <p:txBody>
          <a:bodyPr wrap="square" lIns="0" tIns="0" rIns="0" bIns="0">
            <a:normAutofit/>
          </a:bodyPr>
          <a:lstStyle/>
          <a:p>
            <a:pPr>
              <a:lnSpc>
                <a:spcPct val="160000"/>
              </a:lnSpc>
            </a:pPr>
            <a:r>
              <a:rPr lang="zh-CN" sz="1200">
                <a:solidFill>
                  <a:srgbClr val="4A5568"/>
                </a:solidFill>
                <a:latin typeface="Microsoft YaHei"/>
                <a:ea typeface="Microsoft YaHei"/>
              </a:rPr>
              <a:t>组织的集体性格：做什么、不做什么、崇拜什么</a:t>
            </a:r>
            <a:endParaRPr/>
          </a:p>
        </p:txBody>
      </p:sp>
      <p:sp>
        <p:nvSpPr>
          <p:cNvPr id="90" name="矩形: 圆角 89"/>
          <p:cNvSpPr/>
          <p:nvPr/>
        </p:nvSpPr>
        <p:spPr>
          <a:xfrm>
            <a:off x="3714750" y="3695700"/>
            <a:ext cx="2905125" cy="1562100"/>
          </a:xfrm>
          <a:prstGeom prst="roundRect">
            <a:avLst>
              <a:gd name="adj" fmla="val 4878"/>
            </a:avLst>
          </a:prstGeom>
          <a:solidFill>
            <a:srgbClr val="E8EFF8"/>
          </a:solidFill>
          <a:ln/>
        </p:spPr>
        <p:txBody>
          <a:bodyPr/>
          <a:lstStyle/>
          <a:p>
            <a:endParaRPr/>
          </a:p>
        </p:txBody>
      </p:sp>
      <p:pic>
        <p:nvPicPr>
          <p:cNvPr id="91" name="图形 9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86200" y="3867150"/>
            <a:ext cx="266700" cy="266700"/>
          </a:xfrm>
          <a:prstGeom prst="rect">
            <a:avLst/>
          </a:prstGeom>
          <a:ln/>
        </p:spPr>
      </p:pic>
      <p:sp>
        <p:nvSpPr>
          <p:cNvPr id="92" name="文本框 91" descr="{&quot;isTemplate&quot;:true,&quot;type&quot;:&quot;text&quot;}"/>
          <p:cNvSpPr txBox="1"/>
          <p:nvPr/>
        </p:nvSpPr>
        <p:spPr>
          <a:xfrm>
            <a:off x="3886200" y="4210050"/>
            <a:ext cx="2562225" cy="209550"/>
          </a:xfrm>
          <a:prstGeom prst="rect">
            <a:avLst/>
          </a:prstGeom>
        </p:spPr>
        <p:txBody>
          <a:bodyPr wrap="none" lIns="0" tIns="0" rIns="0" bIns="0"/>
          <a:lstStyle/>
          <a:p>
            <a:pPr>
              <a:lnSpc>
                <a:spcPct val="100000"/>
              </a:lnSpc>
            </a:pPr>
            <a:r>
              <a:rPr lang="zh-CN" sz="1350" b="1">
                <a:solidFill>
                  <a:srgbClr val="0E3F8C"/>
                </a:solidFill>
                <a:latin typeface="Microsoft YaHei"/>
                <a:ea typeface="Microsoft YaHei"/>
              </a:rPr>
              <a:t>向外看</a:t>
            </a:r>
            <a:r>
              <a:rPr lang="en-US" sz="1350" b="1">
                <a:solidFill>
                  <a:srgbClr val="0E3F8C"/>
                </a:solidFill>
                <a:latin typeface="Microsoft YaHei"/>
                <a:ea typeface="Microsoft YaHei"/>
              </a:rPr>
              <a:t> = </a:t>
            </a:r>
            <a:r>
              <a:rPr lang="zh-CN" sz="1350" b="1">
                <a:solidFill>
                  <a:srgbClr val="0E3F8C"/>
                </a:solidFill>
                <a:latin typeface="Microsoft YaHei"/>
                <a:ea typeface="Microsoft YaHei"/>
              </a:rPr>
              <a:t>经营哲学</a:t>
            </a:r>
            <a:endParaRPr/>
          </a:p>
        </p:txBody>
      </p:sp>
      <p:sp>
        <p:nvSpPr>
          <p:cNvPr id="93" name="文本框 92" descr="{&quot;isTemplate&quot;:true,&quot;type&quot;:&quot;text&quot;}"/>
          <p:cNvSpPr txBox="1"/>
          <p:nvPr/>
        </p:nvSpPr>
        <p:spPr>
          <a:xfrm>
            <a:off x="3886200" y="4495800"/>
            <a:ext cx="2562225" cy="590550"/>
          </a:xfrm>
          <a:prstGeom prst="rect">
            <a:avLst/>
          </a:prstGeom>
        </p:spPr>
        <p:txBody>
          <a:bodyPr wrap="square" lIns="0" tIns="0" rIns="0" bIns="0">
            <a:normAutofit/>
          </a:bodyPr>
          <a:lstStyle/>
          <a:p>
            <a:pPr>
              <a:lnSpc>
                <a:spcPct val="160000"/>
              </a:lnSpc>
            </a:pPr>
            <a:r>
              <a:rPr lang="zh-CN" sz="1200">
                <a:solidFill>
                  <a:srgbClr val="4A5568"/>
                </a:solidFill>
                <a:latin typeface="Microsoft YaHei"/>
                <a:ea typeface="Microsoft YaHei"/>
              </a:rPr>
              <a:t>理解行业与顾客的底层假设，先于任何具体计划</a:t>
            </a:r>
            <a:endParaRPr/>
          </a:p>
        </p:txBody>
      </p:sp>
      <p:sp>
        <p:nvSpPr>
          <p:cNvPr id="94" name="矩形: 圆角 93"/>
          <p:cNvSpPr/>
          <p:nvPr/>
        </p:nvSpPr>
        <p:spPr>
          <a:xfrm>
            <a:off x="609600" y="5410200"/>
            <a:ext cx="6010275" cy="523875"/>
          </a:xfrm>
          <a:prstGeom prst="roundRect">
            <a:avLst>
              <a:gd name="adj" fmla="val 10909"/>
            </a:avLst>
          </a:prstGeom>
          <a:solidFill>
            <a:srgbClr val="F0F5FC"/>
          </a:solidFill>
          <a:ln/>
        </p:spPr>
        <p:txBody>
          <a:bodyPr/>
          <a:lstStyle/>
          <a:p>
            <a:endParaRPr/>
          </a:p>
        </p:txBody>
      </p:sp>
      <p:pic>
        <p:nvPicPr>
          <p:cNvPr id="95" name="图形 9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1050" y="5572125"/>
            <a:ext cx="209550" cy="209550"/>
          </a:xfrm>
          <a:prstGeom prst="rect">
            <a:avLst/>
          </a:prstGeom>
          <a:ln/>
        </p:spPr>
      </p:pic>
      <p:sp>
        <p:nvSpPr>
          <p:cNvPr id="96" name="文本框 95" descr="{&quot;isTemplate&quot;:true,&quot;type&quot;:&quot;text&quot;}"/>
          <p:cNvSpPr txBox="1"/>
          <p:nvPr/>
        </p:nvSpPr>
        <p:spPr>
          <a:xfrm>
            <a:off x="1085850" y="5524500"/>
            <a:ext cx="3810000" cy="295275"/>
          </a:xfrm>
          <a:prstGeom prst="rect">
            <a:avLst/>
          </a:prstGeom>
        </p:spPr>
        <p:txBody>
          <a:bodyPr wrap="none" lIns="0" tIns="0" rIns="0" bIns="0"/>
          <a:lstStyle/>
          <a:p>
            <a:pPr>
              <a:lnSpc>
                <a:spcPct val="160000"/>
              </a:lnSpc>
            </a:pPr>
            <a:r>
              <a:rPr lang="zh-CN" sz="1200">
                <a:solidFill>
                  <a:srgbClr val="0E3F8C"/>
                </a:solidFill>
                <a:latin typeface="Microsoft YaHei"/>
                <a:ea typeface="Microsoft YaHei"/>
              </a:rPr>
              <a:t>视角是最难模仿的战略资产，也是转型时最难改变的东西</a:t>
            </a:r>
            <a:endParaRPr/>
          </a:p>
        </p:txBody>
      </p:sp>
      <p:sp>
        <p:nvSpPr>
          <p:cNvPr id="97" name="矩形: 圆角 96"/>
          <p:cNvSpPr/>
          <p:nvPr/>
        </p:nvSpPr>
        <p:spPr>
          <a:xfrm>
            <a:off x="7202796" y="902471"/>
            <a:ext cx="4676775" cy="2581275"/>
          </a:xfrm>
          <a:prstGeom prst="roundRect">
            <a:avLst>
              <a:gd name="adj" fmla="val 3690"/>
            </a:avLst>
          </a:prstGeom>
          <a:solidFill>
            <a:srgbClr val="FFFFFF"/>
          </a:solidFill>
          <a:ln w="12700">
            <a:solidFill>
              <a:srgbClr val="D6DCE5"/>
            </a:solidFill>
            <a:prstDash val="solid"/>
          </a:ln>
        </p:spPr>
        <p:txBody>
          <a:bodyPr/>
          <a:lstStyle/>
          <a:p>
            <a:endParaRPr/>
          </a:p>
        </p:txBody>
      </p:sp>
      <p:sp>
        <p:nvSpPr>
          <p:cNvPr id="98" name="文本框 97" descr="{&quot;isTemplate&quot;:true,&quot;type&quot;:&quot;text&quot;}"/>
          <p:cNvSpPr txBox="1"/>
          <p:nvPr/>
        </p:nvSpPr>
        <p:spPr>
          <a:xfrm>
            <a:off x="7343775" y="1552575"/>
            <a:ext cx="4257675" cy="219075"/>
          </a:xfrm>
          <a:prstGeom prst="rect">
            <a:avLst/>
          </a:prstGeom>
        </p:spPr>
        <p:txBody>
          <a:bodyPr wrap="none" lIns="0" tIns="0" rIns="0" bIns="0"/>
          <a:lstStyle/>
          <a:p>
            <a:pPr>
              <a:lnSpc>
                <a:spcPct val="100000"/>
              </a:lnSpc>
            </a:pPr>
            <a:r>
              <a:rPr lang="zh-CN" sz="1425" b="1" dirty="0">
                <a:solidFill>
                  <a:srgbClr val="0E3F8C"/>
                </a:solidFill>
                <a:latin typeface="Microsoft YaHei"/>
                <a:ea typeface="Microsoft YaHei"/>
              </a:rPr>
              <a:t>案例</a:t>
            </a:r>
            <a:r>
              <a:rPr lang="en-US" sz="1425" b="1" dirty="0">
                <a:solidFill>
                  <a:srgbClr val="0E3F8C"/>
                </a:solidFill>
                <a:latin typeface="Microsoft YaHei"/>
                <a:ea typeface="Microsoft YaHei"/>
              </a:rPr>
              <a:t> · </a:t>
            </a:r>
            <a:r>
              <a:rPr lang="zh-CN" altLang="en-US" sz="1425" b="1" dirty="0">
                <a:solidFill>
                  <a:srgbClr val="0E3F8C"/>
                </a:solidFill>
                <a:latin typeface="Microsoft YaHei"/>
                <a:ea typeface="Microsoft YaHei"/>
              </a:rPr>
              <a:t>星巴克</a:t>
            </a:r>
            <a:r>
              <a:rPr lang="zh-CN" sz="1425" b="1" dirty="0">
                <a:solidFill>
                  <a:srgbClr val="0E3F8C"/>
                </a:solidFill>
                <a:latin typeface="Microsoft YaHei"/>
                <a:ea typeface="Microsoft YaHei"/>
              </a:rPr>
              <a:t>“</a:t>
            </a:r>
            <a:r>
              <a:rPr lang="zh-CN" altLang="en-US" sz="1425" b="1" dirty="0">
                <a:solidFill>
                  <a:srgbClr val="0E3F8C"/>
                </a:solidFill>
                <a:latin typeface="Microsoft YaHei"/>
                <a:ea typeface="Microsoft YaHei"/>
              </a:rPr>
              <a:t>第三空间</a:t>
            </a:r>
            <a:r>
              <a:rPr lang="zh-CN" sz="1425" b="1" dirty="0">
                <a:solidFill>
                  <a:srgbClr val="0E3F8C"/>
                </a:solidFill>
                <a:latin typeface="Microsoft YaHei"/>
                <a:ea typeface="Microsoft YaHei"/>
              </a:rPr>
              <a:t>”视角</a:t>
            </a:r>
            <a:endParaRPr dirty="0"/>
          </a:p>
        </p:txBody>
      </p:sp>
      <p:sp>
        <p:nvSpPr>
          <p:cNvPr id="99" name="文本框 98" descr="{&quot;isTemplate&quot;:true,&quot;type&quot;:&quot;text&quot;}"/>
          <p:cNvSpPr txBox="1"/>
          <p:nvPr/>
        </p:nvSpPr>
        <p:spPr>
          <a:xfrm>
            <a:off x="7343775" y="1866900"/>
            <a:ext cx="4257675" cy="990600"/>
          </a:xfrm>
          <a:prstGeom prst="rect">
            <a:avLst/>
          </a:prstGeom>
        </p:spPr>
        <p:txBody>
          <a:bodyPr wrap="square" lIns="0" tIns="0" rIns="0" bIns="0">
            <a:normAutofit/>
          </a:bodyPr>
          <a:lstStyle/>
          <a:p>
            <a:pPr>
              <a:lnSpc>
                <a:spcPct val="180000"/>
              </a:lnSpc>
            </a:pPr>
            <a:endParaRPr dirty="0"/>
          </a:p>
        </p:txBody>
      </p:sp>
      <p:sp>
        <p:nvSpPr>
          <p:cNvPr id="100" name="矩形: 圆角 99"/>
          <p:cNvSpPr/>
          <p:nvPr/>
        </p:nvSpPr>
        <p:spPr>
          <a:xfrm>
            <a:off x="7134225" y="3667125"/>
            <a:ext cx="4676775" cy="2581275"/>
          </a:xfrm>
          <a:prstGeom prst="roundRect">
            <a:avLst>
              <a:gd name="adj" fmla="val 3690"/>
            </a:avLst>
          </a:prstGeom>
          <a:solidFill>
            <a:srgbClr val="FFFFFF"/>
          </a:solidFill>
          <a:ln w="12700">
            <a:solidFill>
              <a:srgbClr val="D6DCE5"/>
            </a:solidFill>
            <a:prstDash val="solid"/>
          </a:ln>
        </p:spPr>
        <p:txBody>
          <a:bodyPr/>
          <a:lstStyle/>
          <a:p>
            <a:endParaRPr/>
          </a:p>
        </p:txBody>
      </p:sp>
      <p:sp>
        <p:nvSpPr>
          <p:cNvPr id="101" name="文本框 100" descr="{&quot;isTemplate&quot;:true,&quot;type&quot;:&quot;text&quot;}"/>
          <p:cNvSpPr txBox="1"/>
          <p:nvPr/>
        </p:nvSpPr>
        <p:spPr>
          <a:xfrm>
            <a:off x="7343775" y="4305300"/>
            <a:ext cx="4257675" cy="219075"/>
          </a:xfrm>
          <a:prstGeom prst="rect">
            <a:avLst/>
          </a:prstGeom>
        </p:spPr>
        <p:txBody>
          <a:bodyPr wrap="none" lIns="0" tIns="0" rIns="0" bIns="0"/>
          <a:lstStyle/>
          <a:p>
            <a:pPr>
              <a:lnSpc>
                <a:spcPct val="100000"/>
              </a:lnSpc>
            </a:pPr>
            <a:r>
              <a:rPr lang="zh-CN" sz="1425" b="1">
                <a:solidFill>
                  <a:srgbClr val="0E3F8C"/>
                </a:solidFill>
                <a:latin typeface="Microsoft YaHei"/>
                <a:ea typeface="Microsoft YaHei"/>
              </a:rPr>
              <a:t>案例</a:t>
            </a:r>
            <a:r>
              <a:rPr lang="en-US" sz="1425" b="1">
                <a:solidFill>
                  <a:srgbClr val="0E3F8C"/>
                </a:solidFill>
                <a:latin typeface="Microsoft YaHei"/>
                <a:ea typeface="Microsoft YaHei"/>
              </a:rPr>
              <a:t> · IBM </a:t>
            </a:r>
            <a:r>
              <a:rPr lang="zh-CN" sz="1425" b="1">
                <a:solidFill>
                  <a:srgbClr val="0E3F8C"/>
                </a:solidFill>
                <a:latin typeface="Microsoft YaHei"/>
                <a:ea typeface="Microsoft YaHei"/>
              </a:rPr>
              <a:t>的视角转变</a:t>
            </a:r>
            <a:endParaRPr/>
          </a:p>
        </p:txBody>
      </p:sp>
      <p:sp>
        <p:nvSpPr>
          <p:cNvPr id="102" name="文本框 101" descr="{&quot;isTemplate&quot;:true,&quot;type&quot;:&quot;text&quot;}"/>
          <p:cNvSpPr txBox="1"/>
          <p:nvPr/>
        </p:nvSpPr>
        <p:spPr>
          <a:xfrm>
            <a:off x="7343775" y="4619625"/>
            <a:ext cx="4257675" cy="990600"/>
          </a:xfrm>
          <a:prstGeom prst="rect">
            <a:avLst/>
          </a:prstGeom>
        </p:spPr>
        <p:txBody>
          <a:bodyPr wrap="square" lIns="0" tIns="0" rIns="0" bIns="0">
            <a:normAutofit/>
          </a:bodyPr>
          <a:lstStyle/>
          <a:p>
            <a:pPr>
              <a:lnSpc>
                <a:spcPct val="180000"/>
              </a:lnSpc>
            </a:pPr>
            <a:r>
              <a:rPr lang="en-US" sz="1200">
                <a:solidFill>
                  <a:srgbClr val="4A5568"/>
                </a:solidFill>
                <a:latin typeface="Microsoft YaHei"/>
                <a:ea typeface="Microsoft YaHei"/>
              </a:rPr>
              <a:t>20 </a:t>
            </a:r>
            <a:r>
              <a:rPr lang="zh-CN" sz="1200">
                <a:solidFill>
                  <a:srgbClr val="4A5568"/>
                </a:solidFill>
                <a:latin typeface="Microsoft YaHei"/>
                <a:ea typeface="Microsoft YaHei"/>
              </a:rPr>
              <a:t>世纪</a:t>
            </a:r>
            <a:r>
              <a:rPr lang="en-US" sz="1200">
                <a:solidFill>
                  <a:srgbClr val="4A5568"/>
                </a:solidFill>
                <a:latin typeface="Microsoft YaHei"/>
                <a:ea typeface="Microsoft YaHei"/>
              </a:rPr>
              <a:t> 90 </a:t>
            </a:r>
            <a:r>
              <a:rPr lang="zh-CN" sz="1200">
                <a:solidFill>
                  <a:srgbClr val="4A5568"/>
                </a:solidFill>
                <a:latin typeface="Microsoft YaHei"/>
                <a:ea typeface="Microsoft YaHei"/>
              </a:rPr>
              <a:t>年代，</a:t>
            </a:r>
            <a:r>
              <a:rPr lang="en-US" sz="1200">
                <a:solidFill>
                  <a:srgbClr val="4A5568"/>
                </a:solidFill>
                <a:latin typeface="Microsoft YaHei"/>
                <a:ea typeface="Microsoft YaHei"/>
              </a:rPr>
              <a:t>IBM </a:t>
            </a:r>
            <a:r>
              <a:rPr lang="zh-CN" sz="1200">
                <a:solidFill>
                  <a:srgbClr val="4A5568"/>
                </a:solidFill>
                <a:latin typeface="Microsoft YaHei"/>
                <a:ea typeface="Microsoft YaHei"/>
              </a:rPr>
              <a:t>从“我们卖硬件”转向“我们为客户提供解决方案”——视角一变，定位、计划与组织结构随之重构，这是</a:t>
            </a:r>
            <a:r>
              <a:rPr lang="en-US" sz="1200">
                <a:solidFill>
                  <a:srgbClr val="4A5568"/>
                </a:solidFill>
                <a:latin typeface="Microsoft YaHei"/>
                <a:ea typeface="Microsoft YaHei"/>
              </a:rPr>
              <a:t> Perspective </a:t>
            </a:r>
            <a:r>
              <a:rPr lang="zh-CN" sz="1200">
                <a:solidFill>
                  <a:srgbClr val="4A5568"/>
                </a:solidFill>
                <a:latin typeface="Microsoft YaHei"/>
                <a:ea typeface="Microsoft YaHei"/>
              </a:rPr>
              <a:t>级别的战略变革。</a:t>
            </a:r>
            <a:endParaRPr/>
          </a:p>
        </p:txBody>
      </p:sp>
      <p:sp>
        <p:nvSpPr>
          <p:cNvPr id="33" name="文本框 32" descr="{&quot;isTemplate&quot;:true,&quot;type&quot;:&quot;text&quot;}">
            <a:extLst>
              <a:ext uri="{FF2B5EF4-FFF2-40B4-BE49-F238E27FC236}">
                <a16:creationId xmlns:a16="http://schemas.microsoft.com/office/drawing/2014/main" id="{3AD8C997-B3EF-48CB-B0A7-9B7D246B2C99}"/>
              </a:ext>
            </a:extLst>
          </p:cNvPr>
          <p:cNvSpPr txBox="1"/>
          <p:nvPr/>
        </p:nvSpPr>
        <p:spPr>
          <a:xfrm>
            <a:off x="7343774" y="1970843"/>
            <a:ext cx="4257675" cy="219075"/>
          </a:xfrm>
          <a:prstGeom prst="rect">
            <a:avLst/>
          </a:prstGeom>
        </p:spPr>
        <p:txBody>
          <a:bodyPr wrap="none" lIns="0" tIns="0" rIns="0" bIns="0"/>
          <a:lstStyle/>
          <a:p>
            <a:pPr>
              <a:lnSpc>
                <a:spcPct val="100000"/>
              </a:lnSpc>
            </a:pPr>
            <a:r>
              <a:rPr lang="zh-CN" sz="1425" b="1" dirty="0">
                <a:solidFill>
                  <a:srgbClr val="0E3F8C"/>
                </a:solidFill>
                <a:latin typeface="Microsoft YaHei"/>
                <a:ea typeface="Microsoft YaHei"/>
              </a:rPr>
              <a:t>案例</a:t>
            </a:r>
            <a:r>
              <a:rPr lang="en-US" sz="1425" b="1" dirty="0">
                <a:solidFill>
                  <a:srgbClr val="0E3F8C"/>
                </a:solidFill>
                <a:latin typeface="Microsoft YaHei"/>
                <a:ea typeface="Microsoft YaHei"/>
              </a:rPr>
              <a:t> · </a:t>
            </a:r>
            <a:r>
              <a:rPr lang="zh-CN" altLang="en-US" sz="1425" b="1" dirty="0">
                <a:solidFill>
                  <a:srgbClr val="0E3F8C"/>
                </a:solidFill>
                <a:latin typeface="Microsoft YaHei"/>
                <a:ea typeface="Microsoft YaHei"/>
              </a:rPr>
              <a:t>阿里巴巴的商业生态系统 </a:t>
            </a:r>
            <a:r>
              <a:rPr lang="zh-CN" sz="1425" b="1" dirty="0">
                <a:solidFill>
                  <a:srgbClr val="0E3F8C"/>
                </a:solidFill>
                <a:latin typeface="Microsoft YaHei"/>
                <a:ea typeface="Microsoft YaHei"/>
              </a:rPr>
              <a:t>视角</a:t>
            </a:r>
            <a:endParaRPr dirty="0"/>
          </a:p>
        </p:txBody>
      </p:sp>
      <p:sp>
        <p:nvSpPr>
          <p:cNvPr id="34" name="文本框 33" descr="{&quot;isTemplate&quot;:true,&quot;type&quot;:&quot;text&quot;}">
            <a:extLst>
              <a:ext uri="{FF2B5EF4-FFF2-40B4-BE49-F238E27FC236}">
                <a16:creationId xmlns:a16="http://schemas.microsoft.com/office/drawing/2014/main" id="{3B347046-9C27-475D-B701-EFD708438ACD}"/>
              </a:ext>
            </a:extLst>
          </p:cNvPr>
          <p:cNvSpPr txBox="1"/>
          <p:nvPr/>
        </p:nvSpPr>
        <p:spPr>
          <a:xfrm>
            <a:off x="7343775" y="2380418"/>
            <a:ext cx="4257675" cy="219075"/>
          </a:xfrm>
          <a:prstGeom prst="rect">
            <a:avLst/>
          </a:prstGeom>
        </p:spPr>
        <p:txBody>
          <a:bodyPr wrap="none" lIns="0" tIns="0" rIns="0" bIns="0"/>
          <a:lstStyle/>
          <a:p>
            <a:pPr>
              <a:lnSpc>
                <a:spcPct val="100000"/>
              </a:lnSpc>
            </a:pPr>
            <a:r>
              <a:rPr lang="zh-CN" sz="1425" b="1" dirty="0">
                <a:solidFill>
                  <a:srgbClr val="0E3F8C"/>
                </a:solidFill>
                <a:latin typeface="Microsoft YaHei"/>
                <a:ea typeface="Microsoft YaHei"/>
              </a:rPr>
              <a:t>案例</a:t>
            </a:r>
            <a:r>
              <a:rPr lang="en-US" sz="1425" b="1" dirty="0">
                <a:solidFill>
                  <a:srgbClr val="0E3F8C"/>
                </a:solidFill>
                <a:latin typeface="Microsoft YaHei"/>
                <a:ea typeface="Microsoft YaHei"/>
              </a:rPr>
              <a:t> · </a:t>
            </a:r>
            <a:r>
              <a:rPr lang="zh-CN" altLang="en-US" sz="1425" b="1" dirty="0">
                <a:solidFill>
                  <a:srgbClr val="0E3F8C"/>
                </a:solidFill>
                <a:latin typeface="Microsoft YaHei"/>
                <a:ea typeface="Microsoft YaHei"/>
              </a:rPr>
              <a:t>战略管理</a:t>
            </a:r>
            <a:r>
              <a:rPr lang="zh-CN" sz="1425" b="1" dirty="0">
                <a:solidFill>
                  <a:srgbClr val="0E3F8C"/>
                </a:solidFill>
                <a:latin typeface="Microsoft YaHei"/>
                <a:ea typeface="Microsoft YaHei"/>
              </a:rPr>
              <a:t>“</a:t>
            </a:r>
            <a:r>
              <a:rPr lang="zh-CN" altLang="en-US" sz="1425" b="1" dirty="0">
                <a:solidFill>
                  <a:srgbClr val="0E3F8C"/>
                </a:solidFill>
                <a:latin typeface="Microsoft YaHei"/>
                <a:ea typeface="Microsoft YaHei"/>
              </a:rPr>
              <a:t>思维框架</a:t>
            </a:r>
            <a:r>
              <a:rPr lang="zh-CN" sz="1425" b="1" dirty="0">
                <a:solidFill>
                  <a:srgbClr val="0E3F8C"/>
                </a:solidFill>
                <a:latin typeface="Microsoft YaHei"/>
                <a:ea typeface="Microsoft YaHei"/>
              </a:rPr>
              <a:t>”视角</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7F9FC', position: 'relative', padding: 0 }}&gt;&#10;    &lt;Box style={{ position: 'absolute', top: 0, left: 0, width: 1280, height: 72, background: '#1E4FA8', flexDirection: 'row', alignItems: 'center', justifyContent: 'space-between', paddingLeft: 40, paddingRight: 40 }}&gt;&#10;        &lt;Text style={{ fontSize: 15, color: '#FFFFFF', letterSpacing: 3 }}&gt;战略管理 · STRATEGIC MANAGEMENT&lt;/Text&gt;&#10;        &lt;Text style={{ fontSize: 15, color: '#E8EFF8' }}&gt;02 五个维度详解&lt;/Text&gt;&#10;    &lt;/Box&gt;&#10;    &lt;Box style={{ position: 'absolute', bottom: 0, left: 0, width: 1280, height: 44, background: '#FFFFFF', flexDirection: 'row', alignItems: 'center', justifyContent: 'space-between', paddingLeft: 40, paddingRight: 40, borderTop: '1px solid #E5E7EB' }}&gt;&#10;        &lt;Text style={{ fontSize: 14, color: '#8B97A8' }}&gt;《战略管理》教学课件 · 明茨伯格 5P 理论&lt;/Text&gt;&#10;        &lt;Text style={{ fontSize: 15, color: '#0E3F8C', fontWeight: 'bold' }}&gt;13 / 16&lt;/Text&gt;&#10;    &lt;/Box&gt;&#10;    &lt;Box style={{ position: 'absolute', top: 72, left: 0, width: 1280, height: 604, flexDirection: 'column', padding: '24px 40px 20px 40px' }}&gt;&#10;        &lt;Text style={{ fontSize: 30, fontWeight: 'bold', color: '#0E3F8C', marginBottom: 16 }}&gt;五个 P 如何彼此咬合？&lt;/Text&gt;&#10;        &lt;Box style={{ background: '#FFFFFF', border: '1px solid #D6DCE5', borderRadius: 10, padding: 8, justifyContent: 'center', alignItems: 'center', height: 330, marginBottom: 16 }}&gt;&#10;            &lt;svg width={1140} height={316} viewBox='0 0 1140 316'&gt;&#10;                &lt;rect x='120' y='24' width='200' height='70' rx='10' fill='#0E3F8C' /&gt;&#10;                &lt;text x='220' y='54' textAnchor='middle' fontSize='21' fontWeight='bold' fill='#FFFFFF'&gt;Plan 计划&lt;/text&gt;&#10;                &lt;text x='220' y='80' textAnchor='middle' fontSize='14' fill='#8FB3E8'&gt;事前 · 打算做什么&lt;/text&gt;&#10;                &lt;rect x='380' y='24' width='200' height='70' rx='10' fill='#0E3F8C' /&gt;&#10;                &lt;text x='480' y='54' textAnchor='middle' fontSize='21' fontWeight='bold' fill='#FFFFFF'&gt;Ploy 计谋&lt;/text&gt;&#10;                &lt;text x='480' y='80' textAnchor='middle' fontSize='14' fill='#8FB3E8'&gt;事前 · 对手的算计&lt;/text&gt;&#10;                &lt;rect x='820' y='24' width='200' height='70' rx='10' fill='#1E4FA8' /&gt;&#10;                &lt;text x='920' y='54' textAnchor='middle' fontSize='21' fontWeight='bold' fill='#FFFFFF'&gt;Pattern 模式&lt;/text&gt;&#10;                &lt;text x='920' y='80' textAnchor='middle' fontSize='14' fill='#E8EFF8'&gt;事后 · 实际做成什么&lt;/text&gt;&#10;                &lt;line x1='220' y1='94' x2='220' y2='140' stroke='#8B97A8' strokeWidth='2' /&gt;&#10;                &lt;line x1='480' y1='94' x2='480' y2='140' stroke='#8B97A8' strokeWidth='2' /&gt;&#10;                &lt;line x1='920' y1='94' x2='920' y2='140' stroke='#8B97A8' strokeWidth='2' /&gt;&#10;                &lt;line x1='90' y1='160' x2='1050' y2='160' stroke='#1A2230' strokeWidth='3' /&gt;&#10;                &lt;polygon points='1062,160 1044,152 1044,168' fill='#1A2230' /&gt;&#10;                &lt;polygon points='78,160 96,152 96,168' fill='#1A2230' /&gt;&#10;                &lt;text x='120' y='196' fontSize='16' fill='#4A5568'&gt;意图战略 Intended（先想）&lt;/text&gt;&#10;                &lt;text x='1020' y='196' textAnchor='end' fontSize='16' fill='#4A5568'&gt;实现战略 Realized（后成）&lt;/text&gt;&#10;                &lt;rect x='330' y='226' width='220' height='76' rx='10' fill='#E8EFF8' stroke='#1E4FA8' strokeWidth='2' /&gt;&#10;                &lt;text x='440' y='256' textAnchor='middle' fontSize='20' fontWeight='bold' fill='#0E3F8C'&gt;Position 定位&lt;/text&gt;&#10;                &lt;text x='440' y='282' textAnchor='middle' fontSize='14' fill='#3D7BD9'&gt;向外 · 连接市场环境&lt;/text&gt;&#10;                &lt;rect x='590' y='226' width='220' height='76' rx='10' fill='#E8EFF8' stroke='#1E4FA8' strokeWidth='2' /&gt;&#10;                &lt;text x='700' y='256' textAnchor='middle' fontSize='20' fontWeight='bold' fill='#0E3F8C'&gt;Perspective 视角&lt;/text&gt;&#10;                &lt;text x='700' y='282' textAnchor='middle' fontSize='14' fill='#3D7BD9'&gt;向内 · 植根组织观念&lt;/text&gt;&#10;                &lt;line x1='440' y1='226' x2='500' y2='160' stroke='#3D7BD9' strokeWidth='2' strokeDasharray='6 5' /&gt;&#10;                &lt;line x1='700' y1='226' x2='640' y2='160' stroke='#3D7BD9' strokeWidth='2' strokeDasharray='6 5' /&gt;&#10;                &lt;text x='570' y='30' textAnchor='middle' fontSize='15' fill='#D9534F' fontWeight='bold'&gt;意图 ≠ 实现：落空的计划只是空响&lt;/text&gt;&#10;            &lt;/svg&gt;&#10;        &lt;/Box&gt;&#10;        &lt;Box style={{ flexDirection: 'row', gap: 20, flex: 1 }}&gt;&#10;            &lt;Box style={{ flex: 1, background: '#E8EFF8', borderRadius: 8, padding: '14px 20px', flexDirection: 'column', justifyContent: 'center' }}&gt;&#10;                &lt;Text style={{ fontSize: 16, color: '#0E3F8C', lineHeight: 1.7 }}&gt;&#10;                    &lt;span style={{ fontWeight: 'bold' }}&gt;互补而非互斥：&lt;/span&gt;同一项战略可以同时是计划与模式——先形成意图，再在行动中兑现为模式。&#10;                &lt;/Text&gt;&#10;            &lt;/Box&gt;&#10;            &lt;Box style={{ flex: 1, background: '#E8EFF8', borderRadius: 8, padding: '14px 20px', flexDirection: 'column', justifyContent: 'center' }}&gt;&#10;                &lt;Text style={{ fontSize: 16, color: '#0E3F8C', lineHeight: 1.7 }}&gt;&#10;                    &lt;span style={{ fontWeight: 'bold' }}&gt;连接内外：&lt;/span&gt;定位让组织嵌入外部市场，视角让战略植根内部观念——五个 P 合成完整图景。&#10;                &lt;/Text&gt;&#10;            &lt;/Box&gt;&#10;            &lt;Box style={{ flex: 1, background: '#0E3F8C', borderRadius: 8, padding: '14px 20px', flexDirection: 'column', justifyContent: 'center' }}&gt;&#10;                &lt;Text style={{ fontSize: 16, color: '#FFFFFF', lineHeight: 1.7 }}&gt;&#10;                    &lt;span style={{ fontWeight: 'bold', color: '#FFC107' }}&gt;教学提示：&lt;/span&gt;考试中常见的辨析题，正是“意图战略 vs 涌现战略”。&#10;                &lt;/Text&gt;&#10;            &lt;/Box&gt;&#10;        &lt;/Box&gt;&#10;    &lt;/Box&gt;&#10;&lt;/Slide&gt;"/>
        <p:cNvGrpSpPr/>
        <p:nvPr/>
      </p:nvGrpSpPr>
      <p:grpSpPr>
        <a:xfrm>
          <a:off x="0" y="0"/>
          <a:ext cx="0" cy="0"/>
          <a:chOff x="0" y="0"/>
          <a:chExt cx="0" cy="0"/>
        </a:xfrm>
      </p:grpSpPr>
      <p:sp>
        <p:nvSpPr>
          <p:cNvPr id="104" name="矩形 103"/>
          <p:cNvSpPr/>
          <p:nvPr/>
        </p:nvSpPr>
        <p:spPr>
          <a:xfrm>
            <a:off x="0" y="0"/>
            <a:ext cx="12192000" cy="6858000"/>
          </a:xfrm>
          <a:prstGeom prst="rect">
            <a:avLst/>
          </a:prstGeom>
          <a:solidFill>
            <a:srgbClr val="F7F9FC"/>
          </a:solidFill>
          <a:ln/>
        </p:spPr>
        <p:txBody>
          <a:bodyPr/>
          <a:lstStyle/>
          <a:p>
            <a:endParaRPr/>
          </a:p>
        </p:txBody>
      </p:sp>
      <p:sp>
        <p:nvSpPr>
          <p:cNvPr id="105" name="矩形 104"/>
          <p:cNvSpPr/>
          <p:nvPr/>
        </p:nvSpPr>
        <p:spPr>
          <a:xfrm>
            <a:off x="0" y="0"/>
            <a:ext cx="12192000" cy="685800"/>
          </a:xfrm>
          <a:prstGeom prst="rect">
            <a:avLst/>
          </a:prstGeom>
          <a:solidFill>
            <a:srgbClr val="1E4FA8"/>
          </a:solidFill>
          <a:ln/>
        </p:spPr>
        <p:txBody>
          <a:bodyPr/>
          <a:lstStyle/>
          <a:p>
            <a:endParaRPr/>
          </a:p>
        </p:txBody>
      </p:sp>
      <p:sp>
        <p:nvSpPr>
          <p:cNvPr id="106" name="文本框 105"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FFFFFF"/>
                </a:solidFill>
                <a:latin typeface="Microsoft YaHei"/>
                <a:ea typeface="Microsoft YaHei"/>
              </a:rPr>
              <a:t>战略管理</a:t>
            </a:r>
            <a:r>
              <a:rPr lang="en-US" sz="1125" spc="225">
                <a:solidFill>
                  <a:srgbClr val="FFFFFF"/>
                </a:solidFill>
                <a:latin typeface="Microsoft YaHei"/>
                <a:ea typeface="Microsoft YaHei"/>
              </a:rPr>
              <a:t> · STRATEGIC MANAGEMENT</a:t>
            </a:r>
            <a:endParaRPr/>
          </a:p>
        </p:txBody>
      </p:sp>
      <p:sp>
        <p:nvSpPr>
          <p:cNvPr id="107" name="文本框 106" descr="{&quot;isTemplate&quot;:true,&quot;type&quot;:&quot;text&quot;}"/>
          <p:cNvSpPr txBox="1"/>
          <p:nvPr/>
        </p:nvSpPr>
        <p:spPr>
          <a:xfrm>
            <a:off x="10734675" y="257175"/>
            <a:ext cx="1076325" cy="171450"/>
          </a:xfrm>
          <a:prstGeom prst="rect">
            <a:avLst/>
          </a:prstGeom>
        </p:spPr>
        <p:txBody>
          <a:bodyPr wrap="none" lIns="0" tIns="0" rIns="0" bIns="0"/>
          <a:lstStyle/>
          <a:p>
            <a:pPr>
              <a:lnSpc>
                <a:spcPct val="100000"/>
              </a:lnSpc>
            </a:pPr>
            <a:r>
              <a:rPr lang="en-US" sz="1125">
                <a:solidFill>
                  <a:srgbClr val="E8EFF8"/>
                </a:solidFill>
                <a:latin typeface="Microsoft YaHei"/>
                <a:ea typeface="Microsoft YaHei"/>
              </a:rPr>
              <a:t>02 </a:t>
            </a:r>
            <a:r>
              <a:rPr lang="zh-CN" sz="1125">
                <a:solidFill>
                  <a:srgbClr val="E8EFF8"/>
                </a:solidFill>
                <a:latin typeface="Microsoft YaHei"/>
                <a:ea typeface="Microsoft YaHei"/>
              </a:rPr>
              <a:t>五个维度详解</a:t>
            </a:r>
            <a:endParaRPr/>
          </a:p>
        </p:txBody>
      </p:sp>
      <p:sp>
        <p:nvSpPr>
          <p:cNvPr id="108" name="矩形 107"/>
          <p:cNvSpPr/>
          <p:nvPr/>
        </p:nvSpPr>
        <p:spPr>
          <a:xfrm>
            <a:off x="0" y="6448425"/>
            <a:ext cx="12192000" cy="409575"/>
          </a:xfrm>
          <a:prstGeom prst="rect">
            <a:avLst/>
          </a:prstGeom>
          <a:solidFill>
            <a:srgbClr val="FFFFFF"/>
          </a:solidFill>
          <a:ln/>
        </p:spPr>
        <p:txBody>
          <a:bodyPr/>
          <a:lstStyle/>
          <a:p>
            <a:endParaRPr/>
          </a:p>
        </p:txBody>
      </p:sp>
      <p:sp>
        <p:nvSpPr>
          <p:cNvPr id="109" name="任意多边形: 形状 108"/>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E5E7EB"/>
          </a:solidFill>
          <a:ln/>
        </p:spPr>
        <p:txBody>
          <a:bodyPr/>
          <a:lstStyle/>
          <a:p>
            <a:endParaRPr/>
          </a:p>
        </p:txBody>
      </p:sp>
      <p:sp>
        <p:nvSpPr>
          <p:cNvPr id="110" name="文本框 109" descr="{&quot;isTemplate&quot;:true,&quot;type&quot;:&quot;text&quot;}"/>
          <p:cNvSpPr txBox="1"/>
          <p:nvPr/>
        </p:nvSpPr>
        <p:spPr>
          <a:xfrm>
            <a:off x="381000" y="6572250"/>
            <a:ext cx="2486025"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《战略管理》教学课件</a:t>
            </a:r>
            <a:r>
              <a:rPr lang="en-US" sz="1050">
                <a:solidFill>
                  <a:srgbClr val="8B97A8"/>
                </a:solidFill>
                <a:latin typeface="Microsoft YaHei"/>
                <a:ea typeface="Microsoft YaHei"/>
              </a:rPr>
              <a:t> · </a:t>
            </a:r>
            <a:r>
              <a:rPr lang="zh-CN" sz="1050">
                <a:solidFill>
                  <a:srgbClr val="8B97A8"/>
                </a:solidFill>
                <a:latin typeface="Microsoft YaHei"/>
                <a:ea typeface="Microsoft YaHei"/>
              </a:rPr>
              <a:t>明茨伯格</a:t>
            </a:r>
            <a:r>
              <a:rPr lang="en-US" sz="1050">
                <a:solidFill>
                  <a:srgbClr val="8B97A8"/>
                </a:solidFill>
                <a:latin typeface="Microsoft YaHei"/>
                <a:ea typeface="Microsoft YaHei"/>
              </a:rPr>
              <a:t> 5P </a:t>
            </a:r>
            <a:r>
              <a:rPr lang="zh-CN" sz="1050">
                <a:solidFill>
                  <a:srgbClr val="8B97A8"/>
                </a:solidFill>
                <a:latin typeface="Microsoft YaHei"/>
                <a:ea typeface="Microsoft YaHei"/>
              </a:rPr>
              <a:t>理论</a:t>
            </a:r>
            <a:endParaRPr/>
          </a:p>
        </p:txBody>
      </p:sp>
      <p:sp>
        <p:nvSpPr>
          <p:cNvPr id="111" name="文本框 110" descr="{&quot;isTemplate&quot;:true,&quot;type&quot;:&quot;text&quot;}"/>
          <p:cNvSpPr txBox="1"/>
          <p:nvPr/>
        </p:nvSpPr>
        <p:spPr>
          <a:xfrm>
            <a:off x="11296650" y="6572250"/>
            <a:ext cx="514350" cy="171450"/>
          </a:xfrm>
          <a:prstGeom prst="rect">
            <a:avLst/>
          </a:prstGeom>
        </p:spPr>
        <p:txBody>
          <a:bodyPr wrap="none" lIns="0" tIns="0" rIns="0" bIns="0"/>
          <a:lstStyle/>
          <a:p>
            <a:pPr>
              <a:lnSpc>
                <a:spcPct val="100000"/>
              </a:lnSpc>
            </a:pPr>
            <a:r>
              <a:rPr lang="en-US" sz="1125" b="1">
                <a:solidFill>
                  <a:srgbClr val="0E3F8C"/>
                </a:solidFill>
                <a:latin typeface="Microsoft YaHei"/>
                <a:ea typeface="Microsoft YaHei"/>
              </a:rPr>
              <a:t>13 / 16</a:t>
            </a:r>
            <a:endParaRPr/>
          </a:p>
        </p:txBody>
      </p:sp>
      <p:sp>
        <p:nvSpPr>
          <p:cNvPr id="112" name="文本框 111" descr="{&quot;isTemplate&quot;:true,&quot;type&quot;:&quot;text&quot;}"/>
          <p:cNvSpPr txBox="1"/>
          <p:nvPr/>
        </p:nvSpPr>
        <p:spPr>
          <a:xfrm>
            <a:off x="381000" y="914400"/>
            <a:ext cx="11430000" cy="342900"/>
          </a:xfrm>
          <a:prstGeom prst="rect">
            <a:avLst/>
          </a:prstGeom>
        </p:spPr>
        <p:txBody>
          <a:bodyPr wrap="none" lIns="0" tIns="0" rIns="0" bIns="0"/>
          <a:lstStyle/>
          <a:p>
            <a:pPr>
              <a:lnSpc>
                <a:spcPct val="100000"/>
              </a:lnSpc>
            </a:pPr>
            <a:r>
              <a:rPr lang="zh-CN" sz="2250" b="1">
                <a:solidFill>
                  <a:srgbClr val="0E3F8C"/>
                </a:solidFill>
                <a:latin typeface="Microsoft YaHei"/>
                <a:ea typeface="Microsoft YaHei"/>
              </a:rPr>
              <a:t>五个</a:t>
            </a:r>
            <a:r>
              <a:rPr lang="en-US" sz="2250" b="1">
                <a:solidFill>
                  <a:srgbClr val="0E3F8C"/>
                </a:solidFill>
                <a:latin typeface="Microsoft YaHei"/>
                <a:ea typeface="Microsoft YaHei"/>
              </a:rPr>
              <a:t> P </a:t>
            </a:r>
            <a:r>
              <a:rPr lang="zh-CN" sz="2250" b="1">
                <a:solidFill>
                  <a:srgbClr val="0E3F8C"/>
                </a:solidFill>
                <a:latin typeface="Microsoft YaHei"/>
                <a:ea typeface="Microsoft YaHei"/>
              </a:rPr>
              <a:t>如何彼此咬合？</a:t>
            </a:r>
            <a:endParaRPr/>
          </a:p>
        </p:txBody>
      </p:sp>
      <p:sp>
        <p:nvSpPr>
          <p:cNvPr id="113" name="矩形: 圆角 112"/>
          <p:cNvSpPr/>
          <p:nvPr/>
        </p:nvSpPr>
        <p:spPr>
          <a:xfrm>
            <a:off x="381000" y="1409700"/>
            <a:ext cx="11430000" cy="3143250"/>
          </a:xfrm>
          <a:prstGeom prst="roundRect">
            <a:avLst>
              <a:gd name="adj" fmla="val 3030"/>
            </a:avLst>
          </a:prstGeom>
          <a:solidFill>
            <a:srgbClr val="FFFFFF"/>
          </a:solidFill>
          <a:ln w="12700">
            <a:solidFill>
              <a:srgbClr val="D6DCE5"/>
            </a:solidFill>
            <a:prstDash val="solid"/>
          </a:ln>
        </p:spPr>
        <p:txBody>
          <a:bodyPr/>
          <a:lstStyle/>
          <a:p>
            <a:endParaRPr/>
          </a:p>
        </p:txBody>
      </p:sp>
      <p:pic>
        <p:nvPicPr>
          <p:cNvPr id="114" name="图形 11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6750" y="1476375"/>
            <a:ext cx="10858500" cy="3009900"/>
          </a:xfrm>
          <a:prstGeom prst="rect">
            <a:avLst/>
          </a:prstGeom>
          <a:ln/>
        </p:spPr>
      </p:pic>
      <p:sp>
        <p:nvSpPr>
          <p:cNvPr id="115" name="矩形: 圆角 114"/>
          <p:cNvSpPr/>
          <p:nvPr/>
        </p:nvSpPr>
        <p:spPr>
          <a:xfrm>
            <a:off x="381000" y="4705350"/>
            <a:ext cx="3686175" cy="1543050"/>
          </a:xfrm>
          <a:prstGeom prst="roundRect">
            <a:avLst>
              <a:gd name="adj" fmla="val 4938"/>
            </a:avLst>
          </a:prstGeom>
          <a:solidFill>
            <a:srgbClr val="E8EFF8"/>
          </a:solidFill>
          <a:ln/>
        </p:spPr>
        <p:txBody>
          <a:bodyPr/>
          <a:lstStyle/>
          <a:p>
            <a:endParaRPr/>
          </a:p>
        </p:txBody>
      </p:sp>
      <p:sp>
        <p:nvSpPr>
          <p:cNvPr id="116" name="文本框 115" descr="{&quot;isTemplate&quot;:true,&quot;type&quot;:&quot;text&quot;}"/>
          <p:cNvSpPr txBox="1"/>
          <p:nvPr/>
        </p:nvSpPr>
        <p:spPr>
          <a:xfrm>
            <a:off x="571500" y="5162550"/>
            <a:ext cx="3305175" cy="628650"/>
          </a:xfrm>
          <a:prstGeom prst="rect">
            <a:avLst/>
          </a:prstGeom>
        </p:spPr>
        <p:txBody>
          <a:bodyPr wrap="square" lIns="0" tIns="0" rIns="0" bIns="0">
            <a:normAutofit/>
          </a:bodyPr>
          <a:lstStyle/>
          <a:p>
            <a:pPr>
              <a:lnSpc>
                <a:spcPct val="170000"/>
              </a:lnSpc>
            </a:pPr>
            <a:r>
              <a:rPr lang="zh-CN" sz="1200" b="1">
                <a:solidFill>
                  <a:srgbClr val="0E3F8C"/>
                </a:solidFill>
                <a:latin typeface="Microsoft YaHei"/>
                <a:ea typeface="Microsoft YaHei"/>
              </a:rPr>
              <a:t>互补而非互斥：</a:t>
            </a:r>
            <a:r>
              <a:rPr lang="zh-CN" sz="1200">
                <a:solidFill>
                  <a:srgbClr val="0E3F8C"/>
                </a:solidFill>
                <a:latin typeface="Microsoft YaHei"/>
                <a:ea typeface="Microsoft YaHei"/>
              </a:rPr>
              <a:t>同一项战略可以同时是计划与模式——先形成意图，再在行动中兑现为模式。</a:t>
            </a:r>
            <a:endParaRPr/>
          </a:p>
        </p:txBody>
      </p:sp>
      <p:sp>
        <p:nvSpPr>
          <p:cNvPr id="117" name="矩形: 圆角 116"/>
          <p:cNvSpPr/>
          <p:nvPr/>
        </p:nvSpPr>
        <p:spPr>
          <a:xfrm>
            <a:off x="4257675" y="4705350"/>
            <a:ext cx="3676650" cy="1543050"/>
          </a:xfrm>
          <a:prstGeom prst="roundRect">
            <a:avLst>
              <a:gd name="adj" fmla="val 4938"/>
            </a:avLst>
          </a:prstGeom>
          <a:solidFill>
            <a:srgbClr val="E8EFF8"/>
          </a:solidFill>
          <a:ln/>
        </p:spPr>
        <p:txBody>
          <a:bodyPr/>
          <a:lstStyle/>
          <a:p>
            <a:endParaRPr/>
          </a:p>
        </p:txBody>
      </p:sp>
      <p:sp>
        <p:nvSpPr>
          <p:cNvPr id="118" name="文本框 117" descr="{&quot;isTemplate&quot;:true,&quot;type&quot;:&quot;text&quot;}"/>
          <p:cNvSpPr txBox="1"/>
          <p:nvPr/>
        </p:nvSpPr>
        <p:spPr>
          <a:xfrm>
            <a:off x="4448175" y="5162550"/>
            <a:ext cx="3295650" cy="628650"/>
          </a:xfrm>
          <a:prstGeom prst="rect">
            <a:avLst/>
          </a:prstGeom>
        </p:spPr>
        <p:txBody>
          <a:bodyPr wrap="square" lIns="0" tIns="0" rIns="0" bIns="0">
            <a:normAutofit/>
          </a:bodyPr>
          <a:lstStyle/>
          <a:p>
            <a:pPr>
              <a:lnSpc>
                <a:spcPct val="170000"/>
              </a:lnSpc>
            </a:pPr>
            <a:r>
              <a:rPr lang="zh-CN" sz="1200" b="1">
                <a:solidFill>
                  <a:srgbClr val="0E3F8C"/>
                </a:solidFill>
                <a:latin typeface="Microsoft YaHei"/>
                <a:ea typeface="Microsoft YaHei"/>
              </a:rPr>
              <a:t>连接内外：</a:t>
            </a:r>
            <a:r>
              <a:rPr lang="zh-CN" sz="1200">
                <a:solidFill>
                  <a:srgbClr val="0E3F8C"/>
                </a:solidFill>
                <a:latin typeface="Microsoft YaHei"/>
                <a:ea typeface="Microsoft YaHei"/>
              </a:rPr>
              <a:t>定位让组织嵌入外部市场，视角让战略植根内部观念——五个</a:t>
            </a:r>
            <a:r>
              <a:rPr lang="en-US" sz="1200">
                <a:solidFill>
                  <a:srgbClr val="0E3F8C"/>
                </a:solidFill>
                <a:latin typeface="Microsoft YaHei"/>
                <a:ea typeface="Microsoft YaHei"/>
              </a:rPr>
              <a:t> P </a:t>
            </a:r>
            <a:r>
              <a:rPr lang="zh-CN" sz="1200">
                <a:solidFill>
                  <a:srgbClr val="0E3F8C"/>
                </a:solidFill>
                <a:latin typeface="Microsoft YaHei"/>
                <a:ea typeface="Microsoft YaHei"/>
              </a:rPr>
              <a:t>合成完整图景。</a:t>
            </a:r>
            <a:endParaRPr/>
          </a:p>
        </p:txBody>
      </p:sp>
      <p:sp>
        <p:nvSpPr>
          <p:cNvPr id="119" name="矩形: 圆角 118"/>
          <p:cNvSpPr/>
          <p:nvPr/>
        </p:nvSpPr>
        <p:spPr>
          <a:xfrm>
            <a:off x="8124825" y="4705350"/>
            <a:ext cx="3686175" cy="1543050"/>
          </a:xfrm>
          <a:prstGeom prst="roundRect">
            <a:avLst>
              <a:gd name="adj" fmla="val 4938"/>
            </a:avLst>
          </a:prstGeom>
          <a:solidFill>
            <a:srgbClr val="0E3F8C"/>
          </a:solidFill>
          <a:ln/>
        </p:spPr>
        <p:txBody>
          <a:bodyPr/>
          <a:lstStyle/>
          <a:p>
            <a:endParaRPr/>
          </a:p>
        </p:txBody>
      </p:sp>
      <p:sp>
        <p:nvSpPr>
          <p:cNvPr id="120" name="文本框 119" descr="{&quot;isTemplate&quot;:true,&quot;type&quot;:&quot;text&quot;}"/>
          <p:cNvSpPr txBox="1"/>
          <p:nvPr/>
        </p:nvSpPr>
        <p:spPr>
          <a:xfrm>
            <a:off x="8315325" y="5162550"/>
            <a:ext cx="3305175" cy="628650"/>
          </a:xfrm>
          <a:prstGeom prst="rect">
            <a:avLst/>
          </a:prstGeom>
        </p:spPr>
        <p:txBody>
          <a:bodyPr wrap="square" lIns="0" tIns="0" rIns="0" bIns="0">
            <a:normAutofit/>
          </a:bodyPr>
          <a:lstStyle/>
          <a:p>
            <a:pPr>
              <a:lnSpc>
                <a:spcPct val="170000"/>
              </a:lnSpc>
            </a:pPr>
            <a:r>
              <a:rPr lang="zh-CN" sz="1200" b="1">
                <a:solidFill>
                  <a:srgbClr val="FFC107"/>
                </a:solidFill>
                <a:latin typeface="Microsoft YaHei"/>
                <a:ea typeface="Microsoft YaHei"/>
              </a:rPr>
              <a:t>教学提示：</a:t>
            </a:r>
            <a:r>
              <a:rPr lang="zh-CN" sz="1200">
                <a:solidFill>
                  <a:srgbClr val="FFFFFF"/>
                </a:solidFill>
                <a:latin typeface="Microsoft YaHei"/>
                <a:ea typeface="Microsoft YaHei"/>
              </a:rPr>
              <a:t>考试中常见的辨析题，正是“意图战略</a:t>
            </a:r>
            <a:r>
              <a:rPr lang="en-US" sz="1200">
                <a:solidFill>
                  <a:srgbClr val="FFFFFF"/>
                </a:solidFill>
                <a:latin typeface="Microsoft YaHei"/>
                <a:ea typeface="Microsoft YaHei"/>
              </a:rPr>
              <a:t> vs </a:t>
            </a:r>
            <a:r>
              <a:rPr lang="zh-CN" sz="1200">
                <a:solidFill>
                  <a:srgbClr val="FFFFFF"/>
                </a:solidFill>
                <a:latin typeface="Microsoft YaHei"/>
                <a:ea typeface="Microsoft YaHei"/>
              </a:rPr>
              <a:t>涌现战略”。</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a:t>战略是计划（</a:t>
            </a:r>
            <a:r>
              <a:rPr kumimoji="1" lang="en-US" altLang="zh-CN" dirty="0"/>
              <a:t>plan</a:t>
            </a:r>
            <a:r>
              <a:rPr kumimoji="1" lang="zh-CN" altLang="en-US" dirty="0"/>
              <a:t>）</a:t>
            </a:r>
          </a:p>
        </p:txBody>
      </p:sp>
      <p:sp>
        <p:nvSpPr>
          <p:cNvPr id="4" name="内容占位符 3"/>
          <p:cNvSpPr>
            <a:spLocks noGrp="1"/>
          </p:cNvSpPr>
          <p:nvPr>
            <p:ph idx="1"/>
          </p:nvPr>
        </p:nvSpPr>
        <p:spPr/>
        <p:txBody>
          <a:bodyPr/>
          <a:lstStyle/>
          <a:p>
            <a:r>
              <a:rPr kumimoji="1" lang="zh-CN" altLang="en-US" dirty="0"/>
              <a:t>高层管理者的事前和主动的计划行为</a:t>
            </a:r>
            <a:endParaRPr kumimoji="1" lang="en-US" altLang="zh-CN" dirty="0"/>
          </a:p>
          <a:p>
            <a:r>
              <a:rPr kumimoji="1" lang="zh-CN" altLang="en-US" dirty="0"/>
              <a:t>长期的、重大的全局的和根本性的</a:t>
            </a:r>
            <a:endParaRPr kumimoji="1" lang="en-US" altLang="zh-CN" dirty="0"/>
          </a:p>
          <a:p>
            <a:r>
              <a:rPr kumimoji="1" lang="zh-CN" altLang="en-US" dirty="0"/>
              <a:t>主要靠理性决策方法</a:t>
            </a:r>
            <a:endParaRPr kumimoji="1" lang="en-US" altLang="zh-CN" dirty="0"/>
          </a:p>
          <a:p>
            <a:pPr lvl="1"/>
            <a:r>
              <a:rPr kumimoji="1" lang="zh-CN" altLang="en-US" dirty="0"/>
              <a:t>开会、调查、预测</a:t>
            </a:r>
            <a:endParaRPr kumimoji="1" lang="en-US" altLang="zh-CN" dirty="0"/>
          </a:p>
          <a:p>
            <a:r>
              <a:rPr kumimoji="1" lang="zh-CN" altLang="en-US" dirty="0"/>
              <a:t>在准确预测与理性分析基础上，设定目标和实现目标的方法</a:t>
            </a:r>
          </a:p>
        </p:txBody>
      </p:sp>
    </p:spTree>
    <p:extLst>
      <p:ext uri="{BB962C8B-B14F-4D97-AF65-F5344CB8AC3E}">
        <p14:creationId xmlns:p14="http://schemas.microsoft.com/office/powerpoint/2010/main" val="3356018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78696" y="419753"/>
            <a:ext cx="8906005" cy="1077229"/>
          </a:xfrm>
        </p:spPr>
        <p:txBody>
          <a:bodyPr>
            <a:noAutofit/>
          </a:bodyPr>
          <a:lstStyle/>
          <a:p>
            <a:r>
              <a:rPr kumimoji="1" lang="zh-CN" altLang="en-US" sz="2400" dirty="0"/>
              <a:t>观念（</a:t>
            </a:r>
            <a:r>
              <a:rPr kumimoji="1" lang="en-US" altLang="zh-CN" sz="2400" dirty="0"/>
              <a:t>perspective</a:t>
            </a:r>
            <a:r>
              <a:rPr kumimoji="1" lang="zh-CN" altLang="en-US" sz="2400" dirty="0"/>
              <a:t>）</a:t>
            </a:r>
            <a:br>
              <a:rPr kumimoji="1" lang="en-US" altLang="zh-CN" sz="2400" dirty="0"/>
            </a:br>
            <a:r>
              <a:rPr lang="zh-CN" altLang="en-US" sz="2400" dirty="0"/>
              <a:t>是指战略观念。它关注的是企业内部对战略的看法和认知，企业战略与企业文化、价值观的关系。</a:t>
            </a:r>
            <a:r>
              <a:rPr lang="en-US" altLang="zh-CN" sz="2400" dirty="0"/>
              <a:t>Perspective</a:t>
            </a:r>
            <a:r>
              <a:rPr lang="zh-CN" altLang="en-US" sz="2400" dirty="0"/>
              <a:t>强调企业应建立一种全局性的、前瞻性的战略观念，以便指导企业的未来发展。它更注重对企业主观认知和理解的表述。</a:t>
            </a:r>
            <a:br>
              <a:rPr lang="zh-CN" altLang="en-US" sz="2400" dirty="0"/>
            </a:br>
            <a:br>
              <a:rPr lang="zh-CN" altLang="en-US" sz="2400" dirty="0"/>
            </a:br>
            <a:endParaRPr kumimoji="1" lang="zh-CN" altLang="en-US" sz="2400" dirty="0"/>
          </a:p>
        </p:txBody>
      </p:sp>
      <p:sp>
        <p:nvSpPr>
          <p:cNvPr id="3" name="内容占位符 2"/>
          <p:cNvSpPr>
            <a:spLocks noGrp="1"/>
          </p:cNvSpPr>
          <p:nvPr>
            <p:ph idx="1"/>
          </p:nvPr>
        </p:nvSpPr>
        <p:spPr>
          <a:xfrm>
            <a:off x="1980161" y="2452948"/>
            <a:ext cx="8589978" cy="4242667"/>
          </a:xfrm>
        </p:spPr>
        <p:txBody>
          <a:bodyPr>
            <a:normAutofit fontScale="92500" lnSpcReduction="10000"/>
          </a:bodyPr>
          <a:lstStyle/>
          <a:p>
            <a:r>
              <a:rPr kumimoji="1" lang="zh-CN" altLang="en-US" dirty="0"/>
              <a:t>难以准确预测外部环境变化和竞争对手行为</a:t>
            </a:r>
            <a:endParaRPr kumimoji="1" lang="en-US" altLang="zh-CN" dirty="0"/>
          </a:p>
          <a:p>
            <a:r>
              <a:rPr kumimoji="1" lang="zh-CN" altLang="en-US" dirty="0"/>
              <a:t>战略的长期化、目标的定量化、战略的具体化难度大，且没必要</a:t>
            </a:r>
            <a:endParaRPr kumimoji="1" lang="en-US" altLang="zh-CN" dirty="0"/>
          </a:p>
          <a:p>
            <a:r>
              <a:rPr kumimoji="1" lang="zh-CN" altLang="en-US" dirty="0"/>
              <a:t>将战略作为一种定位或者观念更有利于企业做到既取舍清晰方向明确又灵活应对变化。</a:t>
            </a:r>
            <a:endParaRPr kumimoji="1" lang="en-US" altLang="zh-CN" dirty="0"/>
          </a:p>
          <a:p>
            <a:r>
              <a:rPr kumimoji="1" lang="zh-CN" altLang="en-US" dirty="0"/>
              <a:t>过去，战略制定和战略实施是分开的两个阶段，变化周期长，现在，变化周期短，有些时候看不清，就是基于观念和定位，基于公司的使命进行选择。</a:t>
            </a:r>
            <a:endParaRPr kumimoji="1" lang="en-US" altLang="zh-CN" dirty="0"/>
          </a:p>
          <a:p>
            <a:pPr lvl="1"/>
            <a:r>
              <a:rPr kumimoji="1" lang="zh-CN" altLang="en-US" dirty="0"/>
              <a:t>阿里巴巴云计算的例子。让天下没有难做的生意，建立开放、协同繁荣的商业生态系统，赋能中小企业发展。</a:t>
            </a:r>
            <a:endParaRPr kumimoji="1" lang="en-US" altLang="zh-CN" dirty="0"/>
          </a:p>
          <a:p>
            <a:endParaRPr kumimoji="1" lang="zh-CN" altLang="en-US" dirty="0"/>
          </a:p>
        </p:txBody>
      </p:sp>
    </p:spTree>
    <p:extLst>
      <p:ext uri="{BB962C8B-B14F-4D97-AF65-F5344CB8AC3E}">
        <p14:creationId xmlns:p14="http://schemas.microsoft.com/office/powerpoint/2010/main" val="574383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207B56-9814-B04C-9896-F0071C554704}"/>
              </a:ext>
            </a:extLst>
          </p:cNvPr>
          <p:cNvSpPr>
            <a:spLocks noGrp="1"/>
          </p:cNvSpPr>
          <p:nvPr>
            <p:ph type="title"/>
          </p:nvPr>
        </p:nvSpPr>
        <p:spPr/>
        <p:txBody>
          <a:bodyPr/>
          <a:lstStyle/>
          <a:p>
            <a:r>
              <a:rPr kumimoji="1" lang="zh-CN" altLang="en-US" dirty="0"/>
              <a:t>互联网时代的战略管理</a:t>
            </a:r>
            <a:br>
              <a:rPr kumimoji="1" lang="en-US" altLang="zh-CN" dirty="0"/>
            </a:br>
            <a:endParaRPr kumimoji="1" lang="zh-CN" altLang="en-US" dirty="0"/>
          </a:p>
        </p:txBody>
      </p:sp>
      <p:sp>
        <p:nvSpPr>
          <p:cNvPr id="3" name="内容占位符 2">
            <a:extLst>
              <a:ext uri="{FF2B5EF4-FFF2-40B4-BE49-F238E27FC236}">
                <a16:creationId xmlns:a16="http://schemas.microsoft.com/office/drawing/2014/main" id="{41D80B72-75DB-304E-AA72-594F4ABC8718}"/>
              </a:ext>
            </a:extLst>
          </p:cNvPr>
          <p:cNvSpPr>
            <a:spLocks noGrp="1"/>
          </p:cNvSpPr>
          <p:nvPr>
            <p:ph idx="1"/>
          </p:nvPr>
        </p:nvSpPr>
        <p:spPr/>
        <p:txBody>
          <a:bodyPr>
            <a:normAutofit fontScale="92500" lnSpcReduction="20000"/>
          </a:bodyPr>
          <a:lstStyle/>
          <a:p>
            <a:r>
              <a:rPr kumimoji="1" lang="zh-CN" altLang="en-US" dirty="0"/>
              <a:t>尝试期：</a:t>
            </a:r>
            <a:r>
              <a:rPr kumimoji="1" lang="en-US" altLang="zh-CN" dirty="0"/>
              <a:t>0-1</a:t>
            </a:r>
            <a:r>
              <a:rPr kumimoji="1" lang="zh-CN" altLang="en-US" dirty="0"/>
              <a:t>，看不清，鼓励多尝试，由下而上，技术</a:t>
            </a:r>
            <a:r>
              <a:rPr kumimoji="1" lang="en-US" altLang="zh-CN" dirty="0"/>
              <a:t>/</a:t>
            </a:r>
            <a:r>
              <a:rPr kumimoji="1" lang="zh-CN" altLang="en-US" dirty="0"/>
              <a:t>产品经理主导，内部创业，野蛮生长，允许混乱，有</a:t>
            </a:r>
            <a:r>
              <a:rPr kumimoji="1" lang="en-US" altLang="zh-CN" dirty="0"/>
              <a:t>Perspective</a:t>
            </a:r>
            <a:r>
              <a:rPr kumimoji="1" lang="zh-CN" altLang="en-US" dirty="0"/>
              <a:t>和使命避免失控</a:t>
            </a:r>
            <a:endParaRPr kumimoji="1" lang="en-US" altLang="zh-CN" dirty="0"/>
          </a:p>
          <a:p>
            <a:r>
              <a:rPr kumimoji="1" lang="zh-CN" altLang="en-US" dirty="0"/>
              <a:t>成型期：</a:t>
            </a:r>
            <a:r>
              <a:rPr kumimoji="1" lang="en-US" altLang="zh-CN" dirty="0"/>
              <a:t>1-10000</a:t>
            </a:r>
            <a:r>
              <a:rPr kumimoji="1" lang="zh-CN" altLang="en-US" dirty="0"/>
              <a:t>，已确定方向，确定战略共识、商业模式、关键点，大量配置资源，求得突破</a:t>
            </a:r>
            <a:endParaRPr kumimoji="1" lang="en-US" altLang="zh-CN" dirty="0"/>
          </a:p>
          <a:p>
            <a:r>
              <a:rPr kumimoji="1" lang="zh-CN" altLang="en-US" dirty="0"/>
              <a:t>扩张期：建立效率和纪律，自上而下，建立</a:t>
            </a:r>
            <a:r>
              <a:rPr kumimoji="1" lang="en-US" altLang="zh-CN" dirty="0"/>
              <a:t>KPI</a:t>
            </a:r>
          </a:p>
          <a:p>
            <a:r>
              <a:rPr kumimoji="1" lang="zh-CN" altLang="en-US" dirty="0"/>
              <a:t>谁参与：原来：君与丞，现在，更多人（小团队，组织结构扁平），新业务，创新业务，高层人员没有经验，高层往往脱离业务，脱离客户</a:t>
            </a:r>
            <a:endParaRPr kumimoji="1" lang="en-US" altLang="zh-CN" dirty="0"/>
          </a:p>
          <a:p>
            <a:endParaRPr kumimoji="1" lang="zh-CN" altLang="en-US" dirty="0"/>
          </a:p>
        </p:txBody>
      </p:sp>
    </p:spTree>
    <p:extLst>
      <p:ext uri="{BB962C8B-B14F-4D97-AF65-F5344CB8AC3E}">
        <p14:creationId xmlns:p14="http://schemas.microsoft.com/office/powerpoint/2010/main" val="5374301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战略是一种行为模式（</a:t>
            </a:r>
            <a:r>
              <a:rPr kumimoji="1" lang="en-US" altLang="zh-CN" dirty="0"/>
              <a:t>pattern</a:t>
            </a:r>
            <a:r>
              <a:rPr kumimoji="1" lang="zh-CN" altLang="en-US" dirty="0"/>
              <a:t>）</a:t>
            </a:r>
          </a:p>
        </p:txBody>
      </p:sp>
      <p:sp>
        <p:nvSpPr>
          <p:cNvPr id="3" name="内容占位符 2"/>
          <p:cNvSpPr>
            <a:spLocks noGrp="1"/>
          </p:cNvSpPr>
          <p:nvPr>
            <p:ph idx="1"/>
          </p:nvPr>
        </p:nvSpPr>
        <p:spPr>
          <a:xfrm>
            <a:off x="2773599" y="2052116"/>
            <a:ext cx="7958330" cy="3997828"/>
          </a:xfrm>
        </p:spPr>
        <p:txBody>
          <a:bodyPr>
            <a:normAutofit fontScale="92500" lnSpcReduction="10000"/>
          </a:bodyPr>
          <a:lstStyle/>
          <a:p>
            <a:r>
              <a:rPr kumimoji="1" lang="zh-CN" altLang="en-US" dirty="0"/>
              <a:t>模式是企业的过去</a:t>
            </a:r>
            <a:endParaRPr kumimoji="1" lang="en-US" altLang="zh-CN" dirty="0"/>
          </a:p>
          <a:p>
            <a:r>
              <a:rPr kumimoji="1" lang="zh-CN" altLang="en-US" dirty="0"/>
              <a:t>企业未来的战略决策会受到原有的行为模式的影响，从这个意义上说，战略是一种行为模式</a:t>
            </a:r>
            <a:endParaRPr kumimoji="1" lang="en-US" altLang="zh-CN" dirty="0"/>
          </a:p>
          <a:p>
            <a:r>
              <a:rPr kumimoji="1" lang="zh-CN" altLang="en-US" dirty="0"/>
              <a:t>模式由价值观、理念、传统、惯例、成长过程定义，有一定的稳定性</a:t>
            </a:r>
            <a:endParaRPr kumimoji="1" lang="en-US" altLang="zh-CN" dirty="0"/>
          </a:p>
          <a:p>
            <a:pPr lvl="1"/>
            <a:r>
              <a:rPr kumimoji="1" lang="zh-CN" altLang="en-US" dirty="0"/>
              <a:t>“知人者智，自知者明；胜人者有力，自胜者强”</a:t>
            </a:r>
            <a:endParaRPr kumimoji="1" lang="en-US" altLang="zh-CN" dirty="0"/>
          </a:p>
          <a:p>
            <a:pPr lvl="1"/>
            <a:r>
              <a:rPr kumimoji="1" lang="zh-CN" altLang="en-US" dirty="0"/>
              <a:t>三岁看大，七岁看老</a:t>
            </a:r>
            <a:endParaRPr kumimoji="1" lang="en-US" altLang="zh-CN" dirty="0"/>
          </a:p>
          <a:p>
            <a:pPr lvl="1"/>
            <a:r>
              <a:rPr kumimoji="1" lang="zh-CN" altLang="en-US" dirty="0"/>
              <a:t>修养</a:t>
            </a:r>
            <a:r>
              <a:rPr kumimoji="1" lang="en-US" altLang="zh-CN" dirty="0"/>
              <a:t>-</a:t>
            </a:r>
            <a:r>
              <a:rPr kumimoji="1" lang="zh-CN" altLang="en-US" dirty="0"/>
              <a:t>修齐治平，终身学习，学习型组织。。。终身修养，修养型组织，不断自拔与更新</a:t>
            </a:r>
            <a:endParaRPr kumimoji="1" lang="en-US" altLang="zh-CN" dirty="0"/>
          </a:p>
          <a:p>
            <a:endParaRPr kumimoji="1" lang="zh-CN" altLang="en-US" dirty="0"/>
          </a:p>
        </p:txBody>
      </p:sp>
    </p:spTree>
    <p:extLst>
      <p:ext uri="{BB962C8B-B14F-4D97-AF65-F5344CB8AC3E}">
        <p14:creationId xmlns:p14="http://schemas.microsoft.com/office/powerpoint/2010/main" val="16570396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战略是一种策略（</a:t>
            </a:r>
            <a:r>
              <a:rPr kumimoji="1" lang="en-US" altLang="zh-CN" dirty="0"/>
              <a:t>plot</a:t>
            </a:r>
            <a:r>
              <a:rPr kumimoji="1" lang="zh-CN" altLang="en-US" dirty="0"/>
              <a:t>）</a:t>
            </a:r>
          </a:p>
        </p:txBody>
      </p:sp>
      <p:sp>
        <p:nvSpPr>
          <p:cNvPr id="3" name="内容占位符 2"/>
          <p:cNvSpPr>
            <a:spLocks noGrp="1"/>
          </p:cNvSpPr>
          <p:nvPr>
            <p:ph idx="1"/>
          </p:nvPr>
        </p:nvSpPr>
        <p:spPr/>
        <p:txBody>
          <a:bodyPr>
            <a:normAutofit lnSpcReduction="10000"/>
          </a:bodyPr>
          <a:lstStyle/>
          <a:p>
            <a:r>
              <a:rPr kumimoji="1" lang="zh-CN" altLang="en-US" dirty="0"/>
              <a:t>竞争互动、互动创新</a:t>
            </a:r>
            <a:endParaRPr kumimoji="1" lang="en-US" altLang="zh-CN" dirty="0"/>
          </a:p>
          <a:p>
            <a:r>
              <a:rPr kumimoji="1" lang="zh-CN" altLang="en-US" dirty="0"/>
              <a:t>针对性、对抗性、博弈性</a:t>
            </a:r>
            <a:endParaRPr kumimoji="1" lang="en-US" altLang="zh-CN" dirty="0"/>
          </a:p>
          <a:p>
            <a:r>
              <a:rPr kumimoji="1" lang="zh-CN" altLang="en-US" dirty="0"/>
              <a:t>战略与策略的界限模糊，战略在实施中包括了策略手腕的内容，而这部分是否执行要取决于对手的反应。</a:t>
            </a:r>
            <a:endParaRPr kumimoji="1" lang="en-US" altLang="zh-CN" dirty="0"/>
          </a:p>
          <a:p>
            <a:r>
              <a:rPr kumimoji="1" lang="zh-CN" altLang="en-US" dirty="0"/>
              <a:t>电视剧</a:t>
            </a:r>
            <a:r>
              <a:rPr kumimoji="1" lang="zh-CN" altLang="zh-CN" dirty="0"/>
              <a:t>《</a:t>
            </a:r>
            <a:r>
              <a:rPr kumimoji="1" lang="zh-CN" altLang="en-US" dirty="0"/>
              <a:t>天道</a:t>
            </a:r>
            <a:r>
              <a:rPr kumimoji="1" lang="en-US" altLang="zh-CN" dirty="0"/>
              <a:t>》</a:t>
            </a:r>
            <a:r>
              <a:rPr kumimoji="1" lang="zh-CN" altLang="en-US" dirty="0"/>
              <a:t>扶贫企业打败音响行业老大</a:t>
            </a:r>
            <a:endParaRPr kumimoji="1" lang="en-US" altLang="zh-CN" dirty="0"/>
          </a:p>
          <a:p>
            <a:r>
              <a:rPr kumimoji="1" lang="en-US" altLang="zh-CN" dirty="0">
                <a:hlinkClick r:id="rId3"/>
              </a:rPr>
              <a:t>https://www.bilibili.com/video/BV1gi4y137NR?p=11&amp;vd_source=7f8117026af9f2068c49053eea7e57eb</a:t>
            </a:r>
            <a:endParaRPr kumimoji="1" lang="en-US" altLang="zh-CN" dirty="0"/>
          </a:p>
          <a:p>
            <a:endParaRPr kumimoji="1" lang="zh-CN" altLang="en-US" dirty="0"/>
          </a:p>
        </p:txBody>
      </p:sp>
    </p:spTree>
    <p:extLst>
      <p:ext uri="{BB962C8B-B14F-4D97-AF65-F5344CB8AC3E}">
        <p14:creationId xmlns:p14="http://schemas.microsoft.com/office/powerpoint/2010/main" val="3509880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战略是定位（</a:t>
            </a:r>
            <a:r>
              <a:rPr lang="en-US" altLang="zh-CN" dirty="0"/>
              <a:t>position</a:t>
            </a:r>
            <a:r>
              <a:rPr lang="zh-CN" altLang="en-US" dirty="0"/>
              <a:t>）</a:t>
            </a:r>
          </a:p>
        </p:txBody>
      </p:sp>
      <p:sp>
        <p:nvSpPr>
          <p:cNvPr id="3" name="内容占位符 2"/>
          <p:cNvSpPr>
            <a:spLocks noGrp="1"/>
          </p:cNvSpPr>
          <p:nvPr>
            <p:ph idx="1"/>
          </p:nvPr>
        </p:nvSpPr>
        <p:spPr/>
        <p:txBody>
          <a:bodyPr>
            <a:normAutofit fontScale="85000" lnSpcReduction="10000"/>
          </a:bodyPr>
          <a:lstStyle/>
          <a:p>
            <a:r>
              <a:rPr lang="en-US" altLang="zh-CN" b="1" dirty="0"/>
              <a:t>Position</a:t>
            </a:r>
            <a:r>
              <a:rPr lang="zh-CN" altLang="en-US" dirty="0"/>
              <a:t>：是指从产业层次来看的战略定位。它关注的是企业在市场中的位置和角色，以及企业与外部环境的关系。</a:t>
            </a:r>
            <a:r>
              <a:rPr lang="en-US" altLang="zh-CN" dirty="0"/>
              <a:t>Position</a:t>
            </a:r>
            <a:r>
              <a:rPr lang="zh-CN" altLang="en-US" dirty="0"/>
              <a:t>强调企业应根据自身的资源和能力，以及市场的需求和竞争态势，来确立自己在产业链或价值链中的地位。它更注重对企业当前状态和位置的客观描述。</a:t>
            </a:r>
          </a:p>
          <a:p>
            <a:r>
              <a:rPr lang="zh-CN" altLang="en-US" b="1" dirty="0"/>
              <a:t>苹果手机的战略定位是高端市场</a:t>
            </a:r>
            <a:r>
              <a:rPr lang="zh-CN" altLang="en-US" dirty="0"/>
              <a:t>。它们以高品质、高设计和高性能为特点，针对高端消费者群体。苹果通过不断创新和差异化，成功在高端市场树立了品牌形象，并保持了领先地位。</a:t>
            </a:r>
            <a:endParaRPr lang="en-US" altLang="zh-CN" dirty="0"/>
          </a:p>
          <a:p>
            <a:r>
              <a:rPr lang="zh-CN" altLang="en-US" dirty="0"/>
              <a:t>成为平台型企业</a:t>
            </a:r>
            <a:br>
              <a:rPr lang="zh-CN" altLang="en-US" dirty="0"/>
            </a:br>
            <a:endParaRPr lang="zh-CN" altLang="en-US" dirty="0"/>
          </a:p>
        </p:txBody>
      </p:sp>
    </p:spTree>
    <p:extLst>
      <p:ext uri="{BB962C8B-B14F-4D97-AF65-F5344CB8AC3E}">
        <p14:creationId xmlns:p14="http://schemas.microsoft.com/office/powerpoint/2010/main" val="2625590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53536"/>
            <a:ext cx="8229600" cy="1143000"/>
          </a:xfrm>
        </p:spPr>
        <p:txBody>
          <a:bodyPr/>
          <a:lstStyle/>
          <a:p>
            <a:pPr marL="54864">
              <a:defRPr/>
            </a:pPr>
            <a:r>
              <a:rPr lang="zh-CN" altLang="en-US" dirty="0">
                <a:solidFill>
                  <a:schemeClr val="tx2">
                    <a:tint val="100000"/>
                    <a:shade val="90000"/>
                    <a:satMod val="250000"/>
                    <a:alpha val="100000"/>
                  </a:schemeClr>
                </a:solidFill>
                <a:cs typeface="+mj-cs"/>
              </a:rPr>
              <a:t>企业战略的构成要素</a:t>
            </a:r>
          </a:p>
        </p:txBody>
      </p:sp>
      <p:sp>
        <p:nvSpPr>
          <p:cNvPr id="27650" name="内容占位符 2"/>
          <p:cNvSpPr>
            <a:spLocks noGrp="1"/>
          </p:cNvSpPr>
          <p:nvPr>
            <p:ph idx="1"/>
          </p:nvPr>
        </p:nvSpPr>
        <p:spPr/>
        <p:txBody>
          <a:bodyPr/>
          <a:lstStyle/>
          <a:p>
            <a:r>
              <a:rPr lang="zh-CN" altLang="en-US" dirty="0"/>
              <a:t>经营范围：企业从事生产经营活动的领域</a:t>
            </a:r>
            <a:endParaRPr lang="en-US" altLang="zh-CN" dirty="0"/>
          </a:p>
          <a:p>
            <a:r>
              <a:rPr lang="zh-CN" altLang="en-US" dirty="0"/>
              <a:t>资源配置</a:t>
            </a:r>
            <a:endParaRPr lang="en-US" altLang="zh-CN" dirty="0"/>
          </a:p>
          <a:p>
            <a:pPr lvl="1"/>
            <a:r>
              <a:rPr lang="zh-CN" altLang="en-US" dirty="0"/>
              <a:t>企业资源和技能配置的水平和模式</a:t>
            </a:r>
            <a:endParaRPr lang="en-US" altLang="zh-CN" dirty="0"/>
          </a:p>
          <a:p>
            <a:r>
              <a:rPr lang="zh-CN" altLang="en-US" dirty="0"/>
              <a:t>竞争优势</a:t>
            </a:r>
            <a:endParaRPr lang="en-US" altLang="zh-CN" dirty="0"/>
          </a:p>
          <a:p>
            <a:pPr lvl="1"/>
            <a:r>
              <a:rPr lang="zh-CN" altLang="en-US" dirty="0"/>
              <a:t>指企业通过其资源配置的模式与经营范围的决策在市场上形成的与其竞争对手不同的竞争地位（创新、低成本）</a:t>
            </a:r>
            <a:endParaRPr lang="en-US" altLang="zh-CN" dirty="0"/>
          </a:p>
          <a:p>
            <a:r>
              <a:rPr lang="zh-CN" altLang="en-US" dirty="0"/>
              <a:t>协同作用</a:t>
            </a:r>
            <a:endParaRPr lang="en-US" altLang="zh-CN" dirty="0"/>
          </a:p>
          <a:p>
            <a:pPr lvl="1"/>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display: 'flex', flexDirection: 'column' }}&gt;&#10;  &lt;Box style={{ height: 72, background: '#0E3F8C', flexDirection: 'row', justifyContent: 'space-between', alignItems: 'center', padding: '0 40px', flexShrink: 0 }}&gt;&#10;    &lt;Text style={{ fontSize: 15, color: '#B8CCE8', letterSpacing: 3 }}&gt;战略管理 · STRATEGIC MANAGEMENT&lt;/Text&gt;&#10;    &lt;Text style={{ fontSize: 14, color: '#B8CCE8' }}&gt;导入 · Introduction&lt;/Text&gt;&#10;  &lt;/Box&gt;&#10;  &lt;Box style={{ height: 78, padding: '16px 40px 0 40px', flexDirection: 'column', flexShrink: 0 }}&gt;&#10;    &lt;Text style={{ fontSize: 32, fontWeight: 'bold', color: '#0E3F8C' }}&gt;导入：从“战略是什么”到“战略由什么构成”&lt;/Text&gt;&#10;    &lt;Text style={{ fontSize: 15, color: '#8B97A8', marginTop: 6 }}&gt;From “What is Strategy” to “What Constitutes Strategy”&lt;/Text&gt;&#10;  &lt;/Box&gt;&#10;  &lt;Box style={{ flex: 1, padding: '8px 60px 18px 60px', minHeight: 0, flexDirection: 'column', justifyContent: 'center', gap: 22 }}&gt;&#10;    &lt;Box style={{ padding: '36px 46px', background: '#F7F9FC', borderRadius: 12, border: '1px solid #D6DCE5' }}&gt;&#10;      &lt;Text style={{ fontSize: 22, color: '#1A2230', lineHeight: 1.95, textAlign: 'justify' }}&gt;&#10;        &lt;span style={{ fontSize: 54, fontWeight: 'bold', color: '#1E4FA8' }}&gt;上&lt;/span&gt;一讲我们跟随明茨伯格辨析了“战略是什么”——计划、计谋、模式、定位与视角，五个 P 从不同侧面刻画了战略的性质。这一讲换一个问法：战略由什么构成？1978 年，霍弗与申德尔在《战略制定：分析概念》中给出经典回答：一项完整的企业战略包含四个构成要素——经营范围划定企业从事生产经营活动的领域；资源配置决定企业资源和技能配置的水平与模式；竞争优势指通过资源配置模式与经营范围决策在市场上形成的、与竞争对手不同的竞争地位；协同作用则追求整体大于部分之和。如果说 5P 描绘的是战略的“光谱”，四要素给出的就是战略的“成分表”。&#10;      &lt;/Text&gt;&#10;    &lt;/Box&gt;&#10;    &lt;Box style={{ borderLeft: '6px solid #1E4FA8', background: '#E8EFF8', borderRadius: 8, padding: '16px 26px' }}&gt;&#10;      &lt;Text style={{ fontSize: 21, fontWeight: 'bold', color: '#0E3F8C' }}&gt;5P 回答“战略是什么”，四要素回答“战略由什么构成”——两套框架互为表里，共同构成战略分析的完整地图。&lt;/Text&gt;&#10;    &lt;/Box&gt;&#10;    &lt;Text style={{ fontSize: 14, color: '#8B97A8' }}&gt;理论出处：Hofer, C. W. &amp;amp; Schendel, D. (1978). Strategy Formulation: Analytical Concepts. St. Paul: West Publishing.&lt;/Text&gt;&#10;  &lt;/Box&gt;&#10;  &lt;Box style={{ height: 44, borderTop: '1px solid #D6DCE5', flexDirection: 'row', justifyContent: 'space-between', alignItems: 'center', padding: '0 40px', flexShrink: 0 }}&gt;&#10;    &lt;Text style={{ fontSize: 14, color: '#8B97A8' }}&gt;企业战略的构成要素 · 教学课件&lt;/Text&gt;&#10;    &lt;Text style={{ fontSize: 14, color: '#0E3F8C' }}&gt;02 / 16&lt;/Text&gt;&#10;  &lt;/Box&gt;&#10;&lt;/Slide&gt;"/>
        <p:cNvGrpSpPr/>
        <p:nvPr/>
      </p:nvGrpSpPr>
      <p:grpSpPr>
        <a:xfrm>
          <a:off x="0" y="0"/>
          <a:ext cx="0" cy="0"/>
          <a:chOff x="0" y="0"/>
          <a:chExt cx="0" cy="0"/>
        </a:xfrm>
      </p:grpSpPr>
      <p:sp>
        <p:nvSpPr>
          <p:cNvPr id="205" name="矩形 204"/>
          <p:cNvSpPr/>
          <p:nvPr/>
        </p:nvSpPr>
        <p:spPr>
          <a:xfrm>
            <a:off x="0" y="0"/>
            <a:ext cx="12192000" cy="6858000"/>
          </a:xfrm>
          <a:prstGeom prst="rect">
            <a:avLst/>
          </a:prstGeom>
          <a:solidFill>
            <a:srgbClr val="FFFFFF"/>
          </a:solidFill>
          <a:ln/>
        </p:spPr>
        <p:txBody>
          <a:bodyPr/>
          <a:lstStyle/>
          <a:p>
            <a:endParaRPr/>
          </a:p>
        </p:txBody>
      </p:sp>
      <p:sp>
        <p:nvSpPr>
          <p:cNvPr id="206" name="矩形 205"/>
          <p:cNvSpPr/>
          <p:nvPr/>
        </p:nvSpPr>
        <p:spPr>
          <a:xfrm>
            <a:off x="0" y="0"/>
            <a:ext cx="12192000" cy="685800"/>
          </a:xfrm>
          <a:prstGeom prst="rect">
            <a:avLst/>
          </a:prstGeom>
          <a:solidFill>
            <a:srgbClr val="0E3F8C"/>
          </a:solidFill>
          <a:ln/>
        </p:spPr>
        <p:txBody>
          <a:bodyPr/>
          <a:lstStyle/>
          <a:p>
            <a:endParaRPr/>
          </a:p>
        </p:txBody>
      </p:sp>
      <p:sp>
        <p:nvSpPr>
          <p:cNvPr id="207" name="文本框 206"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B8CCE8"/>
                </a:solidFill>
                <a:latin typeface="Microsoft YaHei"/>
                <a:ea typeface="Microsoft YaHei"/>
              </a:rPr>
              <a:t>战略管理</a:t>
            </a:r>
            <a:r>
              <a:rPr lang="en-US" sz="1125" spc="225">
                <a:solidFill>
                  <a:srgbClr val="B8CCE8"/>
                </a:solidFill>
                <a:latin typeface="Microsoft YaHei"/>
                <a:ea typeface="Microsoft YaHei"/>
              </a:rPr>
              <a:t> · STRATEGIC MANAGEMENT</a:t>
            </a:r>
            <a:endParaRPr/>
          </a:p>
        </p:txBody>
      </p:sp>
      <p:sp>
        <p:nvSpPr>
          <p:cNvPr id="208" name="文本框 207" descr="{&quot;isTemplate&quot;:true,&quot;type&quot;:&quot;text&quot;}"/>
          <p:cNvSpPr txBox="1"/>
          <p:nvPr/>
        </p:nvSpPr>
        <p:spPr>
          <a:xfrm>
            <a:off x="10639425" y="266700"/>
            <a:ext cx="1171575" cy="161925"/>
          </a:xfrm>
          <a:prstGeom prst="rect">
            <a:avLst/>
          </a:prstGeom>
        </p:spPr>
        <p:txBody>
          <a:bodyPr wrap="none" lIns="0" tIns="0" rIns="0" bIns="0"/>
          <a:lstStyle/>
          <a:p>
            <a:pPr>
              <a:lnSpc>
                <a:spcPct val="100000"/>
              </a:lnSpc>
            </a:pPr>
            <a:r>
              <a:rPr lang="zh-CN" sz="1050">
                <a:solidFill>
                  <a:srgbClr val="B8CCE8"/>
                </a:solidFill>
                <a:latin typeface="Microsoft YaHei"/>
                <a:ea typeface="Microsoft YaHei"/>
              </a:rPr>
              <a:t>导入</a:t>
            </a:r>
            <a:r>
              <a:rPr lang="en-US" sz="1050">
                <a:solidFill>
                  <a:srgbClr val="B8CCE8"/>
                </a:solidFill>
                <a:latin typeface="Microsoft YaHei"/>
                <a:ea typeface="Microsoft YaHei"/>
              </a:rPr>
              <a:t> · Introduction</a:t>
            </a:r>
            <a:endParaRPr/>
          </a:p>
        </p:txBody>
      </p:sp>
      <p:sp>
        <p:nvSpPr>
          <p:cNvPr id="209" name="文本框 208" descr="{&quot;isTemplate&quot;:true,&quot;type&quot;:&quot;text&quot;}"/>
          <p:cNvSpPr txBox="1"/>
          <p:nvPr/>
        </p:nvSpPr>
        <p:spPr>
          <a:xfrm>
            <a:off x="381000" y="8382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导入：从“战略是什么”到“战略由什么构成”</a:t>
            </a:r>
            <a:endParaRPr/>
          </a:p>
        </p:txBody>
      </p:sp>
      <p:sp>
        <p:nvSpPr>
          <p:cNvPr id="210" name="文本框 209" descr="{&quot;isTemplate&quot;:true,&quot;type&quot;:&quot;text&quot;}"/>
          <p:cNvSpPr txBox="1"/>
          <p:nvPr/>
        </p:nvSpPr>
        <p:spPr>
          <a:xfrm>
            <a:off x="381000" y="1266825"/>
            <a:ext cx="11430000"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From “What is Strategy” to “What Constitutes Strategy”</a:t>
            </a:r>
            <a:endParaRPr/>
          </a:p>
        </p:txBody>
      </p:sp>
      <p:sp>
        <p:nvSpPr>
          <p:cNvPr id="211" name="矩形: 圆角 210"/>
          <p:cNvSpPr/>
          <p:nvPr/>
        </p:nvSpPr>
        <p:spPr>
          <a:xfrm>
            <a:off x="571500" y="1152525"/>
            <a:ext cx="11049000" cy="4343400"/>
          </a:xfrm>
          <a:prstGeom prst="roundRect">
            <a:avLst>
              <a:gd name="adj" fmla="val 2632"/>
            </a:avLst>
          </a:prstGeom>
          <a:solidFill>
            <a:srgbClr val="F7F9FC"/>
          </a:solidFill>
          <a:ln w="12700">
            <a:solidFill>
              <a:srgbClr val="D6DCE5"/>
            </a:solidFill>
            <a:prstDash val="solid"/>
          </a:ln>
        </p:spPr>
        <p:txBody>
          <a:bodyPr/>
          <a:lstStyle/>
          <a:p>
            <a:endParaRPr/>
          </a:p>
        </p:txBody>
      </p:sp>
      <p:sp>
        <p:nvSpPr>
          <p:cNvPr id="212" name="文本框 211" descr="{&quot;isTemplate&quot;:true,&quot;type&quot;:&quot;text&quot;}"/>
          <p:cNvSpPr txBox="1"/>
          <p:nvPr/>
        </p:nvSpPr>
        <p:spPr>
          <a:xfrm>
            <a:off x="1009650" y="1495425"/>
            <a:ext cx="10172700" cy="3657600"/>
          </a:xfrm>
          <a:prstGeom prst="rect">
            <a:avLst/>
          </a:prstGeom>
        </p:spPr>
        <p:txBody>
          <a:bodyPr wrap="square" lIns="0" tIns="0" rIns="0" bIns="0">
            <a:normAutofit/>
          </a:bodyPr>
          <a:lstStyle/>
          <a:p>
            <a:pPr algn="just">
              <a:lnSpc>
                <a:spcPct val="195000"/>
              </a:lnSpc>
            </a:pPr>
            <a:r>
              <a:rPr lang="zh-CN" sz="4050" b="1">
                <a:solidFill>
                  <a:srgbClr val="1E4FA8"/>
                </a:solidFill>
                <a:latin typeface="Microsoft YaHei"/>
                <a:ea typeface="Microsoft YaHei"/>
              </a:rPr>
              <a:t>上</a:t>
            </a:r>
            <a:r>
              <a:rPr lang="zh-CN" sz="1650">
                <a:solidFill>
                  <a:srgbClr val="1A2230"/>
                </a:solidFill>
                <a:latin typeface="Microsoft YaHei"/>
                <a:ea typeface="Microsoft YaHei"/>
              </a:rPr>
              <a:t>一讲我们跟随明茨伯格辨析了“战略是什么”——计划、计谋、模式、定位与视角，五个</a:t>
            </a:r>
            <a:r>
              <a:rPr lang="en-US" sz="1650">
                <a:solidFill>
                  <a:srgbClr val="1A2230"/>
                </a:solidFill>
                <a:latin typeface="Microsoft YaHei"/>
                <a:ea typeface="Microsoft YaHei"/>
              </a:rPr>
              <a:t> P </a:t>
            </a:r>
            <a:r>
              <a:rPr lang="zh-CN" sz="1650">
                <a:solidFill>
                  <a:srgbClr val="1A2230"/>
                </a:solidFill>
                <a:latin typeface="Microsoft YaHei"/>
                <a:ea typeface="Microsoft YaHei"/>
              </a:rPr>
              <a:t>从不同侧面刻画了战略的性质。这一讲换一个问法：战略由什么构成？</a:t>
            </a:r>
            <a:r>
              <a:rPr lang="en-US" sz="1650">
                <a:solidFill>
                  <a:srgbClr val="1A2230"/>
                </a:solidFill>
                <a:latin typeface="Microsoft YaHei"/>
                <a:ea typeface="Microsoft YaHei"/>
              </a:rPr>
              <a:t>1978 </a:t>
            </a:r>
            <a:r>
              <a:rPr lang="zh-CN" sz="1650">
                <a:solidFill>
                  <a:srgbClr val="1A2230"/>
                </a:solidFill>
                <a:latin typeface="Microsoft YaHei"/>
                <a:ea typeface="Microsoft YaHei"/>
              </a:rPr>
              <a:t>年，霍弗与申德尔在《战略制定：分析概念》中给出经典回答：一项完整的企业战略包含四个构成要素——经营范围划定企业从事生产经营活动的领域；资源配置决定企业资源和技能配置的水平与模式；竞争优势指通过资源配置模式与经营范围决策在市场上形成的、与竞争对手不同的竞争地位；协同作用则追求整体大于部分之和。如果说</a:t>
            </a:r>
            <a:r>
              <a:rPr lang="en-US" sz="1650">
                <a:solidFill>
                  <a:srgbClr val="1A2230"/>
                </a:solidFill>
                <a:latin typeface="Microsoft YaHei"/>
                <a:ea typeface="Microsoft YaHei"/>
              </a:rPr>
              <a:t> 5P </a:t>
            </a:r>
            <a:r>
              <a:rPr lang="zh-CN" sz="1650">
                <a:solidFill>
                  <a:srgbClr val="1A2230"/>
                </a:solidFill>
                <a:latin typeface="Microsoft YaHei"/>
                <a:ea typeface="Microsoft YaHei"/>
              </a:rPr>
              <a:t>描绘的是战略的“光谱”，四要素给出的就是战略的“成分表”。</a:t>
            </a:r>
            <a:endParaRPr/>
          </a:p>
        </p:txBody>
      </p:sp>
      <p:sp>
        <p:nvSpPr>
          <p:cNvPr id="213" name="矩形: 圆角 212"/>
          <p:cNvSpPr/>
          <p:nvPr/>
        </p:nvSpPr>
        <p:spPr>
          <a:xfrm>
            <a:off x="628650" y="5705475"/>
            <a:ext cx="11049000" cy="552450"/>
          </a:xfrm>
          <a:prstGeom prst="roundRect">
            <a:avLst>
              <a:gd name="adj" fmla="val 13793"/>
            </a:avLst>
          </a:prstGeom>
          <a:solidFill>
            <a:srgbClr val="E8EFF8"/>
          </a:solidFill>
          <a:ln/>
        </p:spPr>
        <p:txBody>
          <a:bodyPr/>
          <a:lstStyle/>
          <a:p>
            <a:endParaRPr/>
          </a:p>
        </p:txBody>
      </p:sp>
      <p:sp>
        <p:nvSpPr>
          <p:cNvPr id="214" name="任意多边形: 形状 213"/>
          <p:cNvSpPr/>
          <p:nvPr/>
        </p:nvSpPr>
        <p:spPr>
          <a:xfrm>
            <a:off x="628650" y="5705475"/>
            <a:ext cx="11049000" cy="552450"/>
          </a:xfrm>
          <a:custGeom>
            <a:avLst/>
            <a:gdLst/>
            <a:ahLst/>
            <a:cxnLst/>
            <a:rect l="0" t="0" r="0" b="0"/>
            <a:pathLst>
              <a:path w="1160" h="58">
                <a:moveTo>
                  <a:pt x="8" y="0"/>
                </a:moveTo>
                <a:cubicBezTo>
                  <a:pt x="7" y="0"/>
                  <a:pt x="6" y="1"/>
                  <a:pt x="6" y="2"/>
                </a:cubicBezTo>
                <a:lnTo>
                  <a:pt x="6" y="56"/>
                </a:lnTo>
                <a:cubicBezTo>
                  <a:pt x="6" y="57"/>
                  <a:pt x="7" y="58"/>
                  <a:pt x="8" y="58"/>
                </a:cubicBezTo>
                <a:cubicBezTo>
                  <a:pt x="3" y="58"/>
                  <a:pt x="0" y="54"/>
                  <a:pt x="0" y="50"/>
                </a:cubicBezTo>
                <a:lnTo>
                  <a:pt x="0" y="8"/>
                </a:lnTo>
                <a:cubicBezTo>
                  <a:pt x="0" y="4"/>
                  <a:pt x="4" y="0"/>
                  <a:pt x="8" y="0"/>
                </a:cubicBezTo>
                <a:close/>
              </a:path>
            </a:pathLst>
          </a:custGeom>
          <a:solidFill>
            <a:srgbClr val="1E4FA8"/>
          </a:solidFill>
          <a:ln/>
        </p:spPr>
        <p:txBody>
          <a:bodyPr/>
          <a:lstStyle/>
          <a:p>
            <a:endParaRPr/>
          </a:p>
        </p:txBody>
      </p:sp>
      <p:sp>
        <p:nvSpPr>
          <p:cNvPr id="215" name="文本框 214" descr="{&quot;isTemplate&quot;:true,&quot;type&quot;:&quot;text&quot;}"/>
          <p:cNvSpPr txBox="1"/>
          <p:nvPr/>
        </p:nvSpPr>
        <p:spPr>
          <a:xfrm>
            <a:off x="876300" y="5857875"/>
            <a:ext cx="10496550" cy="247650"/>
          </a:xfrm>
          <a:prstGeom prst="rect">
            <a:avLst/>
          </a:prstGeom>
        </p:spPr>
        <p:txBody>
          <a:bodyPr wrap="none" lIns="0" tIns="0" rIns="0" bIns="0"/>
          <a:lstStyle/>
          <a:p>
            <a:pPr>
              <a:lnSpc>
                <a:spcPct val="100000"/>
              </a:lnSpc>
            </a:pPr>
            <a:r>
              <a:rPr lang="en-US" sz="1575" b="1">
                <a:solidFill>
                  <a:srgbClr val="0E3F8C"/>
                </a:solidFill>
                <a:latin typeface="Microsoft YaHei"/>
                <a:ea typeface="Microsoft YaHei"/>
              </a:rPr>
              <a:t>5P </a:t>
            </a:r>
            <a:r>
              <a:rPr lang="zh-CN" sz="1575" b="1">
                <a:solidFill>
                  <a:srgbClr val="0E3F8C"/>
                </a:solidFill>
                <a:latin typeface="Microsoft YaHei"/>
                <a:ea typeface="Microsoft YaHei"/>
              </a:rPr>
              <a:t>回答“战略是什么”，四要素回答“战略由什么构成”——两套框架互为表里，共同构成战略分析的完整地图。</a:t>
            </a:r>
            <a:endParaRPr/>
          </a:p>
        </p:txBody>
      </p:sp>
      <p:sp>
        <p:nvSpPr>
          <p:cNvPr id="216" name="文本框 215" descr="{&quot;isTemplate&quot;:true,&quot;type&quot;:&quot;text&quot;}"/>
          <p:cNvSpPr txBox="1"/>
          <p:nvPr/>
        </p:nvSpPr>
        <p:spPr>
          <a:xfrm>
            <a:off x="571500" y="6467475"/>
            <a:ext cx="1104900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理论出处：</a:t>
            </a:r>
            <a:r>
              <a:rPr lang="en-US" sz="1050">
                <a:solidFill>
                  <a:srgbClr val="8B97A8"/>
                </a:solidFill>
                <a:latin typeface="Microsoft YaHei"/>
                <a:ea typeface="Microsoft YaHei"/>
              </a:rPr>
              <a:t>Hofer, C. W. &amp; Schendel, D. (1978). Strategy Formulation: Analytical Concepts. St. Paul: West Publishing.</a:t>
            </a:r>
            <a:endParaRPr/>
          </a:p>
        </p:txBody>
      </p:sp>
      <p:sp>
        <p:nvSpPr>
          <p:cNvPr id="217" name="任意多边形: 形状 216"/>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D6DCE5"/>
          </a:solidFill>
          <a:ln/>
        </p:spPr>
        <p:txBody>
          <a:bodyPr/>
          <a:lstStyle/>
          <a:p>
            <a:endParaRPr/>
          </a:p>
        </p:txBody>
      </p:sp>
      <p:sp>
        <p:nvSpPr>
          <p:cNvPr id="218" name="文本框 217" descr="{&quot;isTemplate&quot;:true,&quot;type&quot;:&quot;text&quot;}"/>
          <p:cNvSpPr txBox="1"/>
          <p:nvPr/>
        </p:nvSpPr>
        <p:spPr>
          <a:xfrm>
            <a:off x="381000" y="6572250"/>
            <a:ext cx="18478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企业战略的构成要素</a:t>
            </a:r>
            <a:r>
              <a:rPr lang="en-US" sz="1050">
                <a:solidFill>
                  <a:srgbClr val="8B97A8"/>
                </a:solidFill>
                <a:latin typeface="Microsoft YaHei"/>
                <a:ea typeface="Microsoft YaHei"/>
              </a:rPr>
              <a:t> · </a:t>
            </a:r>
            <a:r>
              <a:rPr lang="zh-CN" sz="1050">
                <a:solidFill>
                  <a:srgbClr val="8B97A8"/>
                </a:solidFill>
                <a:latin typeface="Microsoft YaHei"/>
                <a:ea typeface="Microsoft YaHei"/>
              </a:rPr>
              <a:t>教学课件</a:t>
            </a:r>
            <a:endParaRPr/>
          </a:p>
        </p:txBody>
      </p:sp>
      <p:sp>
        <p:nvSpPr>
          <p:cNvPr id="219" name="文本框 218" descr="{&quot;isTemplate&quot;:true,&quot;type&quot;:&quot;text&quot;}"/>
          <p:cNvSpPr txBox="1"/>
          <p:nvPr/>
        </p:nvSpPr>
        <p:spPr>
          <a:xfrm>
            <a:off x="11353800" y="6572250"/>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02 / 16</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display: 'flex', flexDirection: 'row' }}&gt;&#10;  &lt;Box style={{ width: 400, height: 720, background: '#0E3F8C', padding: '84px 52px', flexDirection: 'column', flexShrink: 0 }}&gt;&#10;    &lt;Text style={{ fontSize: 15, color: '#8FB3E8', letterSpacing: 5 }}&gt;CONTENTS&lt;/Text&gt;&#10;    &lt;Text style={{ fontSize: 52, fontWeight: 'bold', color: '#FFFFFF', marginTop: 18 }}&gt;目 录&lt;/Text&gt;&#10;    &lt;Box style={{ width: 64, height: 3, background: '#3D7BD9', marginTop: 30 }} /&gt;&#10;    &lt;Text style={{ fontSize: 16, color: '#B8CCE8', marginTop: 32, lineHeight: 1.8 }}&gt;企业战略的构成要素&lt;br /&gt;教学课件 · 三章十六页&lt;/Text&gt;&#10;    &lt;Box style={{ flex: 1 }} /&gt;&#10;    &lt;Box style={{ flexDirection: 'row', gap: 10, alignItems: 'center' }}&gt;&#10;      &lt;Box style={{ width: 10, height: 10, background: '#3D7BD9', borderRadius: 5 }} /&gt;&#10;      &lt;Text style={{ fontSize: 14, color: '#8FB3E8' }}&gt;战略管理 · STRATEGIC MANAGEMENT&lt;/Text&gt;&#10;    &lt;/Box&gt;&#10;  &lt;/Box&gt;&#10;  &lt;Box style={{ flex: 1, padding: '80px 72px', flexDirection: 'column', justifyContent: 'center', gap: 52 }}&gt;&#10;    &lt;Box style={{ flexDirection: 'row', gap: 26, alignItems: 'center' }}&gt;&#10;      &lt;Box style={{ width: 58, height: 58, background: '#1E4FA8', borderRadius: 10, justifyContent: 'center', alignItems: 'center', flexShrink: 0 }}&gt;&#10;        &lt;Text style={{ fontSize: 24, fontWeight: 'bold', color: '#FFFFFF' }}&gt;01&lt;/Text&gt;&#10;      &lt;/Box&gt;&#10;      &lt;Box style={{ flexDirection: 'column', gap: 6 }}&gt;&#10;        &lt;Text style={{ fontSize: 26, fontWeight: 'bold', color: '#0E3F8C' }}&gt;走近四要素框架&lt;/Text&gt;&#10;        &lt;Text style={{ fontSize: 16, color: '#4A5568' }}&gt;框架出处与四问结构 · 经营范围与竞争优势&lt;/Text&gt;&#10;        &lt;Text style={{ fontSize: 14, color: '#8B97A8' }}&gt;第 04 – 06 页&lt;/Text&gt;&#10;      &lt;/Box&gt;&#10;    &lt;/Box&gt;&#10;    &lt;Box style={{ flexDirection: 'row', gap: 26, alignItems: 'center' }}&gt;&#10;      &lt;Box style={{ width: 58, height: 58, background: '#1E4FA8', borderRadius: 10, justifyContent: 'center', alignItems: 'center', flexShrink: 0 }}&gt;&#10;        &lt;Text style={{ fontSize: 24, fontWeight: 'bold', color: '#FFFFFF' }}&gt;02&lt;/Text&gt;&#10;      &lt;/Box&gt;&#10;      &lt;Box style={{ flexDirection: 'column', gap: 6 }}&gt;&#10;        &lt;Text style={{ fontSize: 26, fontWeight: 'bold', color: '#0E3F8C' }}&gt;资源配置——战略的实弹&lt;/Text&gt;&#10;        &lt;Text style={{ fontSize: 16, color: '#4A5568' }}&gt;水平与模式两维度 · 三个关键命题 · 华为实例&lt;/Text&gt;&#10;        &lt;Text style={{ fontSize: 14, color: '#8B97A8' }}&gt;第 07 – 11 页&lt;/Text&gt;&#10;      &lt;/Box&gt;&#10;    &lt;/Box&gt;&#10;    &lt;Box style={{ flexDirection: 'row', gap: 26, alignItems: 'center' }}&gt;&#10;      &lt;Box style={{ width: 58, height: 58, background: '#1E4FA8', borderRadius: 10, justifyContent: 'center', alignItems: 'center', flexShrink: 0 }}&gt;&#10;        &lt;Text style={{ fontSize: 24, fontWeight: 'bold', color: '#FFFFFF' }}&gt;03&lt;/Text&gt;&#10;      &lt;/Box&gt;&#10;      &lt;Box style={{ flexDirection: 'column', gap: 6 }}&gt;&#10;        &lt;Text style={{ fontSize: 26, fontWeight: 'bold', color: '#0E3F8C' }}&gt;协同作用——战略的乘数&lt;/Text&gt;&#10;        &lt;Text style={{ fontSize: 16, color: '#4A5568' }}&gt;四种类型 · 三类成本与负协同 · 整合与课堂讨论&lt;/Text&gt;&#10;        &lt;Text style={{ fontSize: 14, color: '#8B97A8' }}&gt;第 12 – 15 页&lt;/Text&gt;&#10;      &lt;/Box&gt;&#10;    &lt;/Box&gt;&#10;  &lt;/Box&gt;&#10;&lt;/Slide&gt;"/>
        <p:cNvGrpSpPr/>
        <p:nvPr/>
      </p:nvGrpSpPr>
      <p:grpSpPr>
        <a:xfrm>
          <a:off x="0" y="0"/>
          <a:ext cx="0" cy="0"/>
          <a:chOff x="0" y="0"/>
          <a:chExt cx="0" cy="0"/>
        </a:xfrm>
      </p:grpSpPr>
      <p:sp>
        <p:nvSpPr>
          <p:cNvPr id="221" name="矩形 220"/>
          <p:cNvSpPr/>
          <p:nvPr/>
        </p:nvSpPr>
        <p:spPr>
          <a:xfrm>
            <a:off x="0" y="0"/>
            <a:ext cx="12192000" cy="6858000"/>
          </a:xfrm>
          <a:prstGeom prst="rect">
            <a:avLst/>
          </a:prstGeom>
          <a:solidFill>
            <a:srgbClr val="FFFFFF"/>
          </a:solidFill>
          <a:ln/>
        </p:spPr>
        <p:txBody>
          <a:bodyPr/>
          <a:lstStyle/>
          <a:p>
            <a:endParaRPr/>
          </a:p>
        </p:txBody>
      </p:sp>
      <p:sp>
        <p:nvSpPr>
          <p:cNvPr id="222" name="矩形 221"/>
          <p:cNvSpPr/>
          <p:nvPr/>
        </p:nvSpPr>
        <p:spPr>
          <a:xfrm>
            <a:off x="0" y="0"/>
            <a:ext cx="3810000" cy="6858000"/>
          </a:xfrm>
          <a:prstGeom prst="rect">
            <a:avLst/>
          </a:prstGeom>
          <a:solidFill>
            <a:srgbClr val="0E3F8C"/>
          </a:solidFill>
          <a:ln/>
        </p:spPr>
        <p:txBody>
          <a:bodyPr/>
          <a:lstStyle/>
          <a:p>
            <a:endParaRPr/>
          </a:p>
        </p:txBody>
      </p:sp>
      <p:sp>
        <p:nvSpPr>
          <p:cNvPr id="223" name="文本框 222" descr="{&quot;isTemplate&quot;:true,&quot;type&quot;:&quot;text&quot;}"/>
          <p:cNvSpPr txBox="1"/>
          <p:nvPr/>
        </p:nvSpPr>
        <p:spPr>
          <a:xfrm>
            <a:off x="495300" y="800100"/>
            <a:ext cx="2819400" cy="171450"/>
          </a:xfrm>
          <a:prstGeom prst="rect">
            <a:avLst/>
          </a:prstGeom>
        </p:spPr>
        <p:txBody>
          <a:bodyPr wrap="none" lIns="0" tIns="0" rIns="0" bIns="0"/>
          <a:lstStyle/>
          <a:p>
            <a:pPr>
              <a:lnSpc>
                <a:spcPct val="100000"/>
              </a:lnSpc>
            </a:pPr>
            <a:r>
              <a:rPr lang="en-US" sz="1125" spc="375">
                <a:solidFill>
                  <a:srgbClr val="8FB3E8"/>
                </a:solidFill>
                <a:latin typeface="Microsoft YaHei"/>
                <a:ea typeface="Microsoft YaHei"/>
              </a:rPr>
              <a:t>CONTENTS</a:t>
            </a:r>
            <a:endParaRPr/>
          </a:p>
        </p:txBody>
      </p:sp>
      <p:sp>
        <p:nvSpPr>
          <p:cNvPr id="224" name="文本框 223" descr="{&quot;isTemplate&quot;:true,&quot;type&quot;:&quot;text&quot;}"/>
          <p:cNvSpPr txBox="1"/>
          <p:nvPr/>
        </p:nvSpPr>
        <p:spPr>
          <a:xfrm>
            <a:off x="495300" y="1143000"/>
            <a:ext cx="2819400" cy="600075"/>
          </a:xfrm>
          <a:prstGeom prst="rect">
            <a:avLst/>
          </a:prstGeom>
        </p:spPr>
        <p:txBody>
          <a:bodyPr wrap="none" lIns="0" tIns="0" rIns="0" bIns="0"/>
          <a:lstStyle/>
          <a:p>
            <a:pPr>
              <a:lnSpc>
                <a:spcPct val="100000"/>
              </a:lnSpc>
            </a:pPr>
            <a:r>
              <a:rPr lang="zh-CN" sz="3900" b="1">
                <a:solidFill>
                  <a:srgbClr val="FFFFFF"/>
                </a:solidFill>
                <a:latin typeface="Microsoft YaHei"/>
                <a:ea typeface="Microsoft YaHei"/>
              </a:rPr>
              <a:t>目</a:t>
            </a:r>
            <a:r>
              <a:rPr lang="en-US" sz="3900" b="1">
                <a:solidFill>
                  <a:srgbClr val="FFFFFF"/>
                </a:solidFill>
                <a:latin typeface="Microsoft YaHei"/>
                <a:ea typeface="Microsoft YaHei"/>
              </a:rPr>
              <a:t> </a:t>
            </a:r>
            <a:r>
              <a:rPr lang="zh-CN" sz="3900" b="1">
                <a:solidFill>
                  <a:srgbClr val="FFFFFF"/>
                </a:solidFill>
                <a:latin typeface="Microsoft YaHei"/>
                <a:ea typeface="Microsoft YaHei"/>
              </a:rPr>
              <a:t>录</a:t>
            </a:r>
            <a:endParaRPr/>
          </a:p>
        </p:txBody>
      </p:sp>
      <p:sp>
        <p:nvSpPr>
          <p:cNvPr id="225" name="矩形 224"/>
          <p:cNvSpPr/>
          <p:nvPr/>
        </p:nvSpPr>
        <p:spPr>
          <a:xfrm>
            <a:off x="495300" y="2028825"/>
            <a:ext cx="609600" cy="28575"/>
          </a:xfrm>
          <a:prstGeom prst="rect">
            <a:avLst/>
          </a:prstGeom>
          <a:solidFill>
            <a:srgbClr val="3D7BD9"/>
          </a:solidFill>
          <a:ln/>
        </p:spPr>
        <p:txBody>
          <a:bodyPr/>
          <a:lstStyle/>
          <a:p>
            <a:endParaRPr/>
          </a:p>
        </p:txBody>
      </p:sp>
      <p:sp>
        <p:nvSpPr>
          <p:cNvPr id="226" name="文本框 225" descr="{&quot;isTemplate&quot;:true,&quot;type&quot;:&quot;text&quot;}"/>
          <p:cNvSpPr txBox="1"/>
          <p:nvPr/>
        </p:nvSpPr>
        <p:spPr>
          <a:xfrm>
            <a:off x="495300" y="2362200"/>
            <a:ext cx="2819400" cy="666750"/>
          </a:xfrm>
          <a:prstGeom prst="rect">
            <a:avLst/>
          </a:prstGeom>
        </p:spPr>
        <p:txBody>
          <a:bodyPr wrap="none" lIns="0" tIns="0" rIns="0" bIns="0"/>
          <a:lstStyle/>
          <a:p>
            <a:pPr>
              <a:lnSpc>
                <a:spcPct val="180000"/>
              </a:lnSpc>
            </a:pPr>
            <a:r>
              <a:rPr lang="zh-CN" sz="1200">
                <a:solidFill>
                  <a:srgbClr val="B8CCE8"/>
                </a:solidFill>
                <a:latin typeface="Microsoft YaHei"/>
                <a:ea typeface="Microsoft YaHei"/>
              </a:rPr>
              <a:t>企业战略的构成要素</a:t>
            </a:r>
            <a:endParaRPr/>
          </a:p>
          <a:p>
            <a:pPr>
              <a:lnSpc>
                <a:spcPct val="180000"/>
              </a:lnSpc>
            </a:pPr>
            <a:r>
              <a:rPr lang="zh-CN" sz="1200">
                <a:solidFill>
                  <a:srgbClr val="B8CCE8"/>
                </a:solidFill>
                <a:latin typeface="Microsoft YaHei"/>
                <a:ea typeface="Microsoft YaHei"/>
              </a:rPr>
              <a:t>教学课件</a:t>
            </a:r>
            <a:r>
              <a:rPr lang="en-US" sz="1200">
                <a:solidFill>
                  <a:srgbClr val="B8CCE8"/>
                </a:solidFill>
                <a:latin typeface="Microsoft YaHei"/>
                <a:ea typeface="Microsoft YaHei"/>
              </a:rPr>
              <a:t> · </a:t>
            </a:r>
            <a:r>
              <a:rPr lang="zh-CN" sz="1200">
                <a:solidFill>
                  <a:srgbClr val="B8CCE8"/>
                </a:solidFill>
                <a:latin typeface="Microsoft YaHei"/>
                <a:ea typeface="Microsoft YaHei"/>
              </a:rPr>
              <a:t>三章十六页</a:t>
            </a:r>
            <a:endParaRPr/>
          </a:p>
        </p:txBody>
      </p:sp>
      <p:sp>
        <p:nvSpPr>
          <p:cNvPr id="227" name="矩形: 圆角 226"/>
          <p:cNvSpPr/>
          <p:nvPr/>
        </p:nvSpPr>
        <p:spPr>
          <a:xfrm>
            <a:off x="495300" y="5934075"/>
            <a:ext cx="95250" cy="95250"/>
          </a:xfrm>
          <a:prstGeom prst="roundRect">
            <a:avLst>
              <a:gd name="adj" fmla="val 50000"/>
            </a:avLst>
          </a:prstGeom>
          <a:solidFill>
            <a:srgbClr val="3D7BD9"/>
          </a:solidFill>
          <a:ln/>
        </p:spPr>
        <p:txBody>
          <a:bodyPr/>
          <a:lstStyle/>
          <a:p>
            <a:endParaRPr/>
          </a:p>
        </p:txBody>
      </p:sp>
      <p:sp>
        <p:nvSpPr>
          <p:cNvPr id="228" name="文本框 227" descr="{&quot;isTemplate&quot;:true,&quot;type&quot;:&quot;text&quot;}"/>
          <p:cNvSpPr txBox="1"/>
          <p:nvPr/>
        </p:nvSpPr>
        <p:spPr>
          <a:xfrm>
            <a:off x="685800" y="5895975"/>
            <a:ext cx="2371725" cy="161925"/>
          </a:xfrm>
          <a:prstGeom prst="rect">
            <a:avLst/>
          </a:prstGeom>
        </p:spPr>
        <p:txBody>
          <a:bodyPr wrap="none" lIns="0" tIns="0" rIns="0" bIns="0"/>
          <a:lstStyle/>
          <a:p>
            <a:pPr>
              <a:lnSpc>
                <a:spcPct val="100000"/>
              </a:lnSpc>
            </a:pPr>
            <a:r>
              <a:rPr lang="zh-CN" sz="1050">
                <a:solidFill>
                  <a:srgbClr val="8FB3E8"/>
                </a:solidFill>
                <a:latin typeface="Microsoft YaHei"/>
                <a:ea typeface="Microsoft YaHei"/>
              </a:rPr>
              <a:t>战略管理</a:t>
            </a:r>
            <a:r>
              <a:rPr lang="en-US" sz="1050">
                <a:solidFill>
                  <a:srgbClr val="8FB3E8"/>
                </a:solidFill>
                <a:latin typeface="Microsoft YaHei"/>
                <a:ea typeface="Microsoft YaHei"/>
              </a:rPr>
              <a:t> · STRATEGIC MANAGEMENT</a:t>
            </a:r>
            <a:endParaRPr/>
          </a:p>
        </p:txBody>
      </p:sp>
      <p:sp>
        <p:nvSpPr>
          <p:cNvPr id="229" name="矩形: 圆角 228"/>
          <p:cNvSpPr/>
          <p:nvPr/>
        </p:nvSpPr>
        <p:spPr>
          <a:xfrm>
            <a:off x="4495800" y="1895475"/>
            <a:ext cx="552450" cy="552450"/>
          </a:xfrm>
          <a:prstGeom prst="roundRect">
            <a:avLst>
              <a:gd name="adj" fmla="val 17241"/>
            </a:avLst>
          </a:prstGeom>
          <a:solidFill>
            <a:srgbClr val="1E4FA8"/>
          </a:solidFill>
          <a:ln/>
        </p:spPr>
        <p:txBody>
          <a:bodyPr/>
          <a:lstStyle/>
          <a:p>
            <a:endParaRPr/>
          </a:p>
        </p:txBody>
      </p:sp>
      <p:sp>
        <p:nvSpPr>
          <p:cNvPr id="230" name="文本框 229" descr="{&quot;isTemplate&quot;:true,&quot;type&quot;:&quot;text&quot;}"/>
          <p:cNvSpPr txBox="1"/>
          <p:nvPr/>
        </p:nvSpPr>
        <p:spPr>
          <a:xfrm>
            <a:off x="4629150" y="2038350"/>
            <a:ext cx="285750" cy="276225"/>
          </a:xfrm>
          <a:prstGeom prst="rect">
            <a:avLst/>
          </a:prstGeom>
        </p:spPr>
        <p:txBody>
          <a:bodyPr wrap="none" lIns="0" tIns="0" rIns="0" bIns="0"/>
          <a:lstStyle/>
          <a:p>
            <a:pPr>
              <a:lnSpc>
                <a:spcPct val="100000"/>
              </a:lnSpc>
            </a:pPr>
            <a:r>
              <a:rPr lang="en-US" sz="1800" b="1">
                <a:solidFill>
                  <a:srgbClr val="FFFFFF"/>
                </a:solidFill>
                <a:latin typeface="Microsoft YaHei"/>
                <a:ea typeface="Microsoft YaHei"/>
              </a:rPr>
              <a:t>01</a:t>
            </a:r>
            <a:endParaRPr/>
          </a:p>
        </p:txBody>
      </p:sp>
      <p:sp>
        <p:nvSpPr>
          <p:cNvPr id="231" name="文本框 230" descr="{&quot;isTemplate&quot;:true,&quot;type&quot;:&quot;text&quot;}"/>
          <p:cNvSpPr txBox="1"/>
          <p:nvPr/>
        </p:nvSpPr>
        <p:spPr>
          <a:xfrm>
            <a:off x="5295900" y="1781175"/>
            <a:ext cx="2876550" cy="304800"/>
          </a:xfrm>
          <a:prstGeom prst="rect">
            <a:avLst/>
          </a:prstGeom>
        </p:spPr>
        <p:txBody>
          <a:bodyPr wrap="none" lIns="0" tIns="0" rIns="0" bIns="0"/>
          <a:lstStyle/>
          <a:p>
            <a:pPr>
              <a:lnSpc>
                <a:spcPct val="100000"/>
              </a:lnSpc>
            </a:pPr>
            <a:r>
              <a:rPr lang="zh-CN" sz="1950" b="1">
                <a:solidFill>
                  <a:srgbClr val="0E3F8C"/>
                </a:solidFill>
                <a:latin typeface="Microsoft YaHei"/>
                <a:ea typeface="Microsoft YaHei"/>
              </a:rPr>
              <a:t>走近四要素框架</a:t>
            </a:r>
            <a:endParaRPr/>
          </a:p>
        </p:txBody>
      </p:sp>
      <p:sp>
        <p:nvSpPr>
          <p:cNvPr id="232" name="文本框 231" descr="{&quot;isTemplate&quot;:true,&quot;type&quot;:&quot;text&quot;}"/>
          <p:cNvSpPr txBox="1"/>
          <p:nvPr/>
        </p:nvSpPr>
        <p:spPr>
          <a:xfrm>
            <a:off x="5295900" y="2143125"/>
            <a:ext cx="2876550" cy="190500"/>
          </a:xfrm>
          <a:prstGeom prst="rect">
            <a:avLst/>
          </a:prstGeom>
        </p:spPr>
        <p:txBody>
          <a:bodyPr wrap="none" lIns="0" tIns="0" rIns="0" bIns="0"/>
          <a:lstStyle/>
          <a:p>
            <a:pPr>
              <a:lnSpc>
                <a:spcPct val="100000"/>
              </a:lnSpc>
            </a:pPr>
            <a:r>
              <a:rPr lang="zh-CN" sz="1200">
                <a:solidFill>
                  <a:srgbClr val="4A5568"/>
                </a:solidFill>
                <a:latin typeface="Microsoft YaHei"/>
                <a:ea typeface="Microsoft YaHei"/>
              </a:rPr>
              <a:t>框架出处与四问结构</a:t>
            </a:r>
            <a:r>
              <a:rPr lang="en-US" sz="1200">
                <a:solidFill>
                  <a:srgbClr val="4A5568"/>
                </a:solidFill>
                <a:latin typeface="Microsoft YaHei"/>
                <a:ea typeface="Microsoft YaHei"/>
              </a:rPr>
              <a:t> · </a:t>
            </a:r>
            <a:r>
              <a:rPr lang="zh-CN" sz="1200">
                <a:solidFill>
                  <a:srgbClr val="4A5568"/>
                </a:solidFill>
                <a:latin typeface="Microsoft YaHei"/>
                <a:ea typeface="Microsoft YaHei"/>
              </a:rPr>
              <a:t>经营范围与竞争优势</a:t>
            </a:r>
            <a:endParaRPr/>
          </a:p>
        </p:txBody>
      </p:sp>
      <p:sp>
        <p:nvSpPr>
          <p:cNvPr id="233" name="文本框 232" descr="{&quot;isTemplate&quot;:true,&quot;type&quot;:&quot;text&quot;}"/>
          <p:cNvSpPr txBox="1"/>
          <p:nvPr/>
        </p:nvSpPr>
        <p:spPr>
          <a:xfrm>
            <a:off x="5295900" y="2390775"/>
            <a:ext cx="28765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第</a:t>
            </a:r>
            <a:r>
              <a:rPr lang="en-US" sz="1050">
                <a:solidFill>
                  <a:srgbClr val="8B97A8"/>
                </a:solidFill>
                <a:latin typeface="Microsoft YaHei"/>
                <a:ea typeface="Microsoft YaHei"/>
              </a:rPr>
              <a:t> 04 – 06 </a:t>
            </a:r>
            <a:r>
              <a:rPr lang="zh-CN" sz="1050">
                <a:solidFill>
                  <a:srgbClr val="8B97A8"/>
                </a:solidFill>
                <a:latin typeface="Microsoft YaHei"/>
                <a:ea typeface="Microsoft YaHei"/>
              </a:rPr>
              <a:t>页</a:t>
            </a:r>
            <a:endParaRPr/>
          </a:p>
        </p:txBody>
      </p:sp>
      <p:sp>
        <p:nvSpPr>
          <p:cNvPr id="234" name="矩形: 圆角 233"/>
          <p:cNvSpPr/>
          <p:nvPr/>
        </p:nvSpPr>
        <p:spPr>
          <a:xfrm>
            <a:off x="4495800" y="3162300"/>
            <a:ext cx="552450" cy="552450"/>
          </a:xfrm>
          <a:prstGeom prst="roundRect">
            <a:avLst>
              <a:gd name="adj" fmla="val 17241"/>
            </a:avLst>
          </a:prstGeom>
          <a:solidFill>
            <a:srgbClr val="1E4FA8"/>
          </a:solidFill>
          <a:ln/>
        </p:spPr>
        <p:txBody>
          <a:bodyPr/>
          <a:lstStyle/>
          <a:p>
            <a:endParaRPr/>
          </a:p>
        </p:txBody>
      </p:sp>
      <p:sp>
        <p:nvSpPr>
          <p:cNvPr id="235" name="文本框 234" descr="{&quot;isTemplate&quot;:true,&quot;type&quot;:&quot;text&quot;}"/>
          <p:cNvSpPr txBox="1"/>
          <p:nvPr/>
        </p:nvSpPr>
        <p:spPr>
          <a:xfrm>
            <a:off x="4629150" y="3305175"/>
            <a:ext cx="285750" cy="276225"/>
          </a:xfrm>
          <a:prstGeom prst="rect">
            <a:avLst/>
          </a:prstGeom>
        </p:spPr>
        <p:txBody>
          <a:bodyPr wrap="none" lIns="0" tIns="0" rIns="0" bIns="0"/>
          <a:lstStyle/>
          <a:p>
            <a:pPr>
              <a:lnSpc>
                <a:spcPct val="100000"/>
              </a:lnSpc>
            </a:pPr>
            <a:r>
              <a:rPr lang="en-US" sz="1800" b="1">
                <a:solidFill>
                  <a:srgbClr val="FFFFFF"/>
                </a:solidFill>
                <a:latin typeface="Microsoft YaHei"/>
                <a:ea typeface="Microsoft YaHei"/>
              </a:rPr>
              <a:t>02</a:t>
            </a:r>
            <a:endParaRPr/>
          </a:p>
        </p:txBody>
      </p:sp>
      <p:sp>
        <p:nvSpPr>
          <p:cNvPr id="236" name="文本框 235" descr="{&quot;isTemplate&quot;:true,&quot;type&quot;:&quot;text&quot;}"/>
          <p:cNvSpPr txBox="1"/>
          <p:nvPr/>
        </p:nvSpPr>
        <p:spPr>
          <a:xfrm>
            <a:off x="5295900" y="3048000"/>
            <a:ext cx="3000375" cy="304800"/>
          </a:xfrm>
          <a:prstGeom prst="rect">
            <a:avLst/>
          </a:prstGeom>
        </p:spPr>
        <p:txBody>
          <a:bodyPr wrap="none" lIns="0" tIns="0" rIns="0" bIns="0"/>
          <a:lstStyle/>
          <a:p>
            <a:pPr>
              <a:lnSpc>
                <a:spcPct val="100000"/>
              </a:lnSpc>
            </a:pPr>
            <a:r>
              <a:rPr lang="zh-CN" sz="1950" b="1">
                <a:solidFill>
                  <a:srgbClr val="0E3F8C"/>
                </a:solidFill>
                <a:latin typeface="Microsoft YaHei"/>
                <a:ea typeface="Microsoft YaHei"/>
              </a:rPr>
              <a:t>资源配置——战略的实弹</a:t>
            </a:r>
            <a:endParaRPr/>
          </a:p>
        </p:txBody>
      </p:sp>
      <p:sp>
        <p:nvSpPr>
          <p:cNvPr id="237" name="文本框 236" descr="{&quot;isTemplate&quot;:true,&quot;type&quot;:&quot;text&quot;}"/>
          <p:cNvSpPr txBox="1"/>
          <p:nvPr/>
        </p:nvSpPr>
        <p:spPr>
          <a:xfrm>
            <a:off x="5295900" y="3409950"/>
            <a:ext cx="3000375" cy="190500"/>
          </a:xfrm>
          <a:prstGeom prst="rect">
            <a:avLst/>
          </a:prstGeom>
        </p:spPr>
        <p:txBody>
          <a:bodyPr wrap="none" lIns="0" tIns="0" rIns="0" bIns="0"/>
          <a:lstStyle/>
          <a:p>
            <a:pPr>
              <a:lnSpc>
                <a:spcPct val="100000"/>
              </a:lnSpc>
            </a:pPr>
            <a:r>
              <a:rPr lang="zh-CN" sz="1200">
                <a:solidFill>
                  <a:srgbClr val="4A5568"/>
                </a:solidFill>
                <a:latin typeface="Microsoft YaHei"/>
                <a:ea typeface="Microsoft YaHei"/>
              </a:rPr>
              <a:t>水平与模式两维度</a:t>
            </a:r>
            <a:r>
              <a:rPr lang="en-US" sz="1200">
                <a:solidFill>
                  <a:srgbClr val="4A5568"/>
                </a:solidFill>
                <a:latin typeface="Microsoft YaHei"/>
                <a:ea typeface="Microsoft YaHei"/>
              </a:rPr>
              <a:t> · </a:t>
            </a:r>
            <a:r>
              <a:rPr lang="zh-CN" sz="1200">
                <a:solidFill>
                  <a:srgbClr val="4A5568"/>
                </a:solidFill>
                <a:latin typeface="Microsoft YaHei"/>
                <a:ea typeface="Microsoft YaHei"/>
              </a:rPr>
              <a:t>三个关键命题</a:t>
            </a:r>
            <a:r>
              <a:rPr lang="en-US" sz="1200">
                <a:solidFill>
                  <a:srgbClr val="4A5568"/>
                </a:solidFill>
                <a:latin typeface="Microsoft YaHei"/>
                <a:ea typeface="Microsoft YaHei"/>
              </a:rPr>
              <a:t> · </a:t>
            </a:r>
            <a:r>
              <a:rPr lang="zh-CN" sz="1200">
                <a:solidFill>
                  <a:srgbClr val="4A5568"/>
                </a:solidFill>
                <a:latin typeface="Microsoft YaHei"/>
                <a:ea typeface="Microsoft YaHei"/>
              </a:rPr>
              <a:t>华为实例</a:t>
            </a:r>
            <a:endParaRPr/>
          </a:p>
        </p:txBody>
      </p:sp>
      <p:sp>
        <p:nvSpPr>
          <p:cNvPr id="238" name="文本框 237" descr="{&quot;isTemplate&quot;:true,&quot;type&quot;:&quot;text&quot;}"/>
          <p:cNvSpPr txBox="1"/>
          <p:nvPr/>
        </p:nvSpPr>
        <p:spPr>
          <a:xfrm>
            <a:off x="5295900" y="3657600"/>
            <a:ext cx="3000375"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第</a:t>
            </a:r>
            <a:r>
              <a:rPr lang="en-US" sz="1050">
                <a:solidFill>
                  <a:srgbClr val="8B97A8"/>
                </a:solidFill>
                <a:latin typeface="Microsoft YaHei"/>
                <a:ea typeface="Microsoft YaHei"/>
              </a:rPr>
              <a:t> 07 – 11 </a:t>
            </a:r>
            <a:r>
              <a:rPr lang="zh-CN" sz="1050">
                <a:solidFill>
                  <a:srgbClr val="8B97A8"/>
                </a:solidFill>
                <a:latin typeface="Microsoft YaHei"/>
                <a:ea typeface="Microsoft YaHei"/>
              </a:rPr>
              <a:t>页</a:t>
            </a:r>
            <a:endParaRPr/>
          </a:p>
        </p:txBody>
      </p:sp>
      <p:sp>
        <p:nvSpPr>
          <p:cNvPr id="239" name="矩形: 圆角 238"/>
          <p:cNvSpPr/>
          <p:nvPr/>
        </p:nvSpPr>
        <p:spPr>
          <a:xfrm>
            <a:off x="4495800" y="4429125"/>
            <a:ext cx="552450" cy="552450"/>
          </a:xfrm>
          <a:prstGeom prst="roundRect">
            <a:avLst>
              <a:gd name="adj" fmla="val 17241"/>
            </a:avLst>
          </a:prstGeom>
          <a:solidFill>
            <a:srgbClr val="1E4FA8"/>
          </a:solidFill>
          <a:ln/>
        </p:spPr>
        <p:txBody>
          <a:bodyPr/>
          <a:lstStyle/>
          <a:p>
            <a:endParaRPr/>
          </a:p>
        </p:txBody>
      </p:sp>
      <p:sp>
        <p:nvSpPr>
          <p:cNvPr id="240" name="文本框 239" descr="{&quot;isTemplate&quot;:true,&quot;type&quot;:&quot;text&quot;}"/>
          <p:cNvSpPr txBox="1"/>
          <p:nvPr/>
        </p:nvSpPr>
        <p:spPr>
          <a:xfrm>
            <a:off x="4629150" y="4572000"/>
            <a:ext cx="285750" cy="276225"/>
          </a:xfrm>
          <a:prstGeom prst="rect">
            <a:avLst/>
          </a:prstGeom>
        </p:spPr>
        <p:txBody>
          <a:bodyPr wrap="none" lIns="0" tIns="0" rIns="0" bIns="0"/>
          <a:lstStyle/>
          <a:p>
            <a:pPr>
              <a:lnSpc>
                <a:spcPct val="100000"/>
              </a:lnSpc>
            </a:pPr>
            <a:r>
              <a:rPr lang="en-US" sz="1800" b="1">
                <a:solidFill>
                  <a:srgbClr val="FFFFFF"/>
                </a:solidFill>
                <a:latin typeface="Microsoft YaHei"/>
                <a:ea typeface="Microsoft YaHei"/>
              </a:rPr>
              <a:t>03</a:t>
            </a:r>
            <a:endParaRPr/>
          </a:p>
        </p:txBody>
      </p:sp>
      <p:sp>
        <p:nvSpPr>
          <p:cNvPr id="241" name="文本框 240" descr="{&quot;isTemplate&quot;:true,&quot;type&quot;:&quot;text&quot;}"/>
          <p:cNvSpPr txBox="1"/>
          <p:nvPr/>
        </p:nvSpPr>
        <p:spPr>
          <a:xfrm>
            <a:off x="5295900" y="4314825"/>
            <a:ext cx="3152775" cy="304800"/>
          </a:xfrm>
          <a:prstGeom prst="rect">
            <a:avLst/>
          </a:prstGeom>
        </p:spPr>
        <p:txBody>
          <a:bodyPr wrap="none" lIns="0" tIns="0" rIns="0" bIns="0"/>
          <a:lstStyle/>
          <a:p>
            <a:pPr>
              <a:lnSpc>
                <a:spcPct val="100000"/>
              </a:lnSpc>
            </a:pPr>
            <a:r>
              <a:rPr lang="zh-CN" sz="1950" b="1">
                <a:solidFill>
                  <a:srgbClr val="0E3F8C"/>
                </a:solidFill>
                <a:latin typeface="Microsoft YaHei"/>
                <a:ea typeface="Microsoft YaHei"/>
              </a:rPr>
              <a:t>协同作用——战略的乘数</a:t>
            </a:r>
            <a:endParaRPr/>
          </a:p>
        </p:txBody>
      </p:sp>
      <p:sp>
        <p:nvSpPr>
          <p:cNvPr id="242" name="文本框 241" descr="{&quot;isTemplate&quot;:true,&quot;type&quot;:&quot;text&quot;}"/>
          <p:cNvSpPr txBox="1"/>
          <p:nvPr/>
        </p:nvSpPr>
        <p:spPr>
          <a:xfrm>
            <a:off x="5295900" y="4676775"/>
            <a:ext cx="3152775" cy="190500"/>
          </a:xfrm>
          <a:prstGeom prst="rect">
            <a:avLst/>
          </a:prstGeom>
        </p:spPr>
        <p:txBody>
          <a:bodyPr wrap="none" lIns="0" tIns="0" rIns="0" bIns="0"/>
          <a:lstStyle/>
          <a:p>
            <a:pPr>
              <a:lnSpc>
                <a:spcPct val="100000"/>
              </a:lnSpc>
            </a:pPr>
            <a:r>
              <a:rPr lang="zh-CN" sz="1200">
                <a:solidFill>
                  <a:srgbClr val="4A5568"/>
                </a:solidFill>
                <a:latin typeface="Microsoft YaHei"/>
                <a:ea typeface="Microsoft YaHei"/>
              </a:rPr>
              <a:t>四种类型</a:t>
            </a:r>
            <a:r>
              <a:rPr lang="en-US" sz="1200">
                <a:solidFill>
                  <a:srgbClr val="4A5568"/>
                </a:solidFill>
                <a:latin typeface="Microsoft YaHei"/>
                <a:ea typeface="Microsoft YaHei"/>
              </a:rPr>
              <a:t> · </a:t>
            </a:r>
            <a:r>
              <a:rPr lang="zh-CN" sz="1200">
                <a:solidFill>
                  <a:srgbClr val="4A5568"/>
                </a:solidFill>
                <a:latin typeface="Microsoft YaHei"/>
                <a:ea typeface="Microsoft YaHei"/>
              </a:rPr>
              <a:t>三类成本与负协同</a:t>
            </a:r>
            <a:r>
              <a:rPr lang="en-US" sz="1200">
                <a:solidFill>
                  <a:srgbClr val="4A5568"/>
                </a:solidFill>
                <a:latin typeface="Microsoft YaHei"/>
                <a:ea typeface="Microsoft YaHei"/>
              </a:rPr>
              <a:t> · </a:t>
            </a:r>
            <a:r>
              <a:rPr lang="zh-CN" sz="1200">
                <a:solidFill>
                  <a:srgbClr val="4A5568"/>
                </a:solidFill>
                <a:latin typeface="Microsoft YaHei"/>
                <a:ea typeface="Microsoft YaHei"/>
              </a:rPr>
              <a:t>整合与课堂讨论</a:t>
            </a:r>
            <a:endParaRPr/>
          </a:p>
        </p:txBody>
      </p:sp>
      <p:sp>
        <p:nvSpPr>
          <p:cNvPr id="243" name="文本框 242" descr="{&quot;isTemplate&quot;:true,&quot;type&quot;:&quot;text&quot;}"/>
          <p:cNvSpPr txBox="1"/>
          <p:nvPr/>
        </p:nvSpPr>
        <p:spPr>
          <a:xfrm>
            <a:off x="5295900" y="4924425"/>
            <a:ext cx="3152775"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第</a:t>
            </a:r>
            <a:r>
              <a:rPr lang="en-US" sz="1050">
                <a:solidFill>
                  <a:srgbClr val="8B97A8"/>
                </a:solidFill>
                <a:latin typeface="Microsoft YaHei"/>
                <a:ea typeface="Microsoft YaHei"/>
              </a:rPr>
              <a:t> 12 – 15 </a:t>
            </a:r>
            <a:r>
              <a:rPr lang="zh-CN" sz="1050">
                <a:solidFill>
                  <a:srgbClr val="8B97A8"/>
                </a:solidFill>
                <a:latin typeface="Microsoft YaHei"/>
                <a:ea typeface="Microsoft YaHei"/>
              </a:rPr>
              <a:t>页</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0E3F8C', display: 'flex', flexDirection: 'column', justifyContent: 'center', padding: '0 110px' }}&gt;&#10;  &lt;Box style={{ flexDirection: 'row', alignItems: 'center', gap: 56 }}&gt;&#10;    &lt;Text style={{ fontSize: 220, fontWeight: 'bold', color: '#FFFFFF', flexShrink: 0 }}&gt;01&lt;/Text&gt;&#10;    &lt;Box style={{ flexDirection: 'column' }}&gt;&#10;      &lt;Text style={{ fontSize: 15, color: '#8FB3E8', letterSpacing: 5 }}&gt;CHAPTER 01&lt;/Text&gt;&#10;      &lt;Text style={{ fontSize: 44, fontWeight: 'bold', color: '#FFFFFF', marginTop: 14 }}&gt;走近四要素框架&lt;/Text&gt;&#10;      &lt;Box style={{ width: 72, height: 3, background: '#3D7BD9', marginTop: 26 }} /&gt;&#10;      &lt;Box style={{ flexDirection: 'column', gap: 12, marginTop: 28 }}&gt;&#10;        &lt;Box style={{ flexDirection: 'row', gap: 12, alignItems: 'center' }}&gt;&#10;          &lt;Box style={{ width: 8, height: 8, background: '#3D7BD9', borderRadius: 4 }} /&gt;&#10;          &lt;Text style={{ fontSize: 18, color: '#B8CCE8' }}&gt;框架出处：霍弗与申德尔《战略制定：分析概念》（1978）&lt;/Text&gt;&#10;        &lt;/Box&gt;&#10;        &lt;Box style={{ flexDirection: 'row', gap: 12, alignItems: 'center' }}&gt;&#10;          &lt;Box style={{ width: 8, height: 8, background: '#3D7BD9', borderRadius: 4 }} /&gt;&#10;          &lt;Text style={{ fontSize: 18, color: '#B8CCE8' }}&gt;四问结构：在哪竞争 · 用什么竞争 · 凭什么赢 · 如何 1+1&amp;gt;2&lt;/Text&gt;&#10;        &lt;/Box&gt;&#10;        &lt;Box style={{ flexDirection: 'row', gap: 12, alignItems: 'center' }}&gt;&#10;          &lt;Box style={{ width: 8, height: 8, background: '#3D7BD9', borderRadius: 4 }} /&gt;&#10;          &lt;Text style={{ fontSize: 18, color: '#B8CCE8' }}&gt;先总览全貌，再重点拆解资源配置与协同作用&lt;/Text&gt;&#10;        &lt;/Box&gt;&#10;      &lt;/Box&gt;&#10;    &lt;/Box&gt;&#10;  &lt;/Box&gt;&#10;  &lt;Box style={{ position: 'absolute', bottom: 44, right: 64 }}&gt;&#10;    &lt;Text style={{ fontSize: 14, color: '#8FB3E8' }}&gt;第 1 章 / 共 3 章&lt;/Text&gt;&#10;  &lt;/Box&gt;&#10;&lt;/Slide&gt;"/>
        <p:cNvGrpSpPr/>
        <p:nvPr/>
      </p:nvGrpSpPr>
      <p:grpSpPr>
        <a:xfrm>
          <a:off x="0" y="0"/>
          <a:ext cx="0" cy="0"/>
          <a:chOff x="0" y="0"/>
          <a:chExt cx="0" cy="0"/>
        </a:xfrm>
      </p:grpSpPr>
      <p:sp>
        <p:nvSpPr>
          <p:cNvPr id="245" name="矩形 244"/>
          <p:cNvSpPr/>
          <p:nvPr/>
        </p:nvSpPr>
        <p:spPr>
          <a:xfrm>
            <a:off x="0" y="0"/>
            <a:ext cx="12192000" cy="6858000"/>
          </a:xfrm>
          <a:prstGeom prst="rect">
            <a:avLst/>
          </a:prstGeom>
          <a:solidFill>
            <a:srgbClr val="0E3F8C"/>
          </a:solidFill>
          <a:ln/>
        </p:spPr>
        <p:txBody>
          <a:bodyPr/>
          <a:lstStyle/>
          <a:p>
            <a:endParaRPr/>
          </a:p>
        </p:txBody>
      </p:sp>
      <p:sp>
        <p:nvSpPr>
          <p:cNvPr id="246" name="文本框 245" descr="{&quot;isTemplate&quot;:true,&quot;type&quot;:&quot;text&quot;}"/>
          <p:cNvSpPr txBox="1"/>
          <p:nvPr/>
        </p:nvSpPr>
        <p:spPr>
          <a:xfrm>
            <a:off x="1047750" y="2171700"/>
            <a:ext cx="2590800" cy="2514600"/>
          </a:xfrm>
          <a:prstGeom prst="rect">
            <a:avLst/>
          </a:prstGeom>
        </p:spPr>
        <p:txBody>
          <a:bodyPr wrap="none" lIns="0" tIns="0" rIns="0" bIns="0"/>
          <a:lstStyle/>
          <a:p>
            <a:pPr>
              <a:lnSpc>
                <a:spcPct val="100000"/>
              </a:lnSpc>
            </a:pPr>
            <a:r>
              <a:rPr lang="en-US" sz="16500" b="1">
                <a:solidFill>
                  <a:srgbClr val="FFFFFF"/>
                </a:solidFill>
                <a:latin typeface="Microsoft YaHei"/>
                <a:ea typeface="Microsoft YaHei"/>
              </a:rPr>
              <a:t>01</a:t>
            </a:r>
            <a:endParaRPr/>
          </a:p>
        </p:txBody>
      </p:sp>
      <p:sp>
        <p:nvSpPr>
          <p:cNvPr id="247" name="文本框 246" descr="{&quot;isTemplate&quot;:true,&quot;type&quot;:&quot;text&quot;}"/>
          <p:cNvSpPr txBox="1"/>
          <p:nvPr/>
        </p:nvSpPr>
        <p:spPr>
          <a:xfrm>
            <a:off x="4171950" y="2324100"/>
            <a:ext cx="4714875" cy="171450"/>
          </a:xfrm>
          <a:prstGeom prst="rect">
            <a:avLst/>
          </a:prstGeom>
        </p:spPr>
        <p:txBody>
          <a:bodyPr wrap="none" lIns="0" tIns="0" rIns="0" bIns="0"/>
          <a:lstStyle/>
          <a:p>
            <a:pPr>
              <a:lnSpc>
                <a:spcPct val="100000"/>
              </a:lnSpc>
            </a:pPr>
            <a:r>
              <a:rPr lang="en-US" sz="1125" spc="375">
                <a:solidFill>
                  <a:srgbClr val="8FB3E8"/>
                </a:solidFill>
                <a:latin typeface="Microsoft YaHei"/>
                <a:ea typeface="Microsoft YaHei"/>
              </a:rPr>
              <a:t>CHAPTER 01</a:t>
            </a:r>
            <a:endParaRPr/>
          </a:p>
        </p:txBody>
      </p:sp>
      <p:sp>
        <p:nvSpPr>
          <p:cNvPr id="248" name="文本框 247" descr="{&quot;isTemplate&quot;:true,&quot;type&quot;:&quot;text&quot;}"/>
          <p:cNvSpPr txBox="1"/>
          <p:nvPr/>
        </p:nvSpPr>
        <p:spPr>
          <a:xfrm>
            <a:off x="4171950" y="2628900"/>
            <a:ext cx="4714875" cy="504825"/>
          </a:xfrm>
          <a:prstGeom prst="rect">
            <a:avLst/>
          </a:prstGeom>
        </p:spPr>
        <p:txBody>
          <a:bodyPr wrap="none" lIns="0" tIns="0" rIns="0" bIns="0"/>
          <a:lstStyle/>
          <a:p>
            <a:pPr>
              <a:lnSpc>
                <a:spcPct val="100000"/>
              </a:lnSpc>
            </a:pPr>
            <a:r>
              <a:rPr lang="zh-CN" sz="3300" b="1">
                <a:solidFill>
                  <a:srgbClr val="FFFFFF"/>
                </a:solidFill>
                <a:latin typeface="Microsoft YaHei"/>
                <a:ea typeface="Microsoft YaHei"/>
              </a:rPr>
              <a:t>走近四要素框架</a:t>
            </a:r>
            <a:endParaRPr/>
          </a:p>
        </p:txBody>
      </p:sp>
      <p:sp>
        <p:nvSpPr>
          <p:cNvPr id="249" name="矩形 248"/>
          <p:cNvSpPr/>
          <p:nvPr/>
        </p:nvSpPr>
        <p:spPr>
          <a:xfrm>
            <a:off x="4171950" y="3381375"/>
            <a:ext cx="685800" cy="28575"/>
          </a:xfrm>
          <a:prstGeom prst="rect">
            <a:avLst/>
          </a:prstGeom>
          <a:solidFill>
            <a:srgbClr val="3D7BD9"/>
          </a:solidFill>
          <a:ln/>
        </p:spPr>
        <p:txBody>
          <a:bodyPr/>
          <a:lstStyle/>
          <a:p>
            <a:endParaRPr/>
          </a:p>
        </p:txBody>
      </p:sp>
      <p:sp>
        <p:nvSpPr>
          <p:cNvPr id="250" name="矩形: 圆角 249"/>
          <p:cNvSpPr/>
          <p:nvPr/>
        </p:nvSpPr>
        <p:spPr>
          <a:xfrm>
            <a:off x="4171950" y="3743325"/>
            <a:ext cx="76200" cy="76200"/>
          </a:xfrm>
          <a:prstGeom prst="roundRect">
            <a:avLst>
              <a:gd name="adj" fmla="val 50000"/>
            </a:avLst>
          </a:prstGeom>
          <a:solidFill>
            <a:srgbClr val="3D7BD9"/>
          </a:solidFill>
          <a:ln/>
        </p:spPr>
        <p:txBody>
          <a:bodyPr/>
          <a:lstStyle/>
          <a:p>
            <a:endParaRPr/>
          </a:p>
        </p:txBody>
      </p:sp>
      <p:sp>
        <p:nvSpPr>
          <p:cNvPr id="251" name="文本框 250" descr="{&quot;isTemplate&quot;:true,&quot;type&quot;:&quot;text&quot;}"/>
          <p:cNvSpPr txBox="1"/>
          <p:nvPr/>
        </p:nvSpPr>
        <p:spPr>
          <a:xfrm>
            <a:off x="4362450" y="3676650"/>
            <a:ext cx="4524375" cy="209550"/>
          </a:xfrm>
          <a:prstGeom prst="rect">
            <a:avLst/>
          </a:prstGeom>
        </p:spPr>
        <p:txBody>
          <a:bodyPr wrap="none" lIns="0" tIns="0" rIns="0" bIns="0"/>
          <a:lstStyle/>
          <a:p>
            <a:pPr>
              <a:lnSpc>
                <a:spcPct val="100000"/>
              </a:lnSpc>
            </a:pPr>
            <a:r>
              <a:rPr lang="zh-CN" sz="1350">
                <a:solidFill>
                  <a:srgbClr val="B8CCE8"/>
                </a:solidFill>
                <a:latin typeface="Microsoft YaHei"/>
                <a:ea typeface="Microsoft YaHei"/>
              </a:rPr>
              <a:t>框架出处：霍弗与申德尔《战略制定：分析概念》（</a:t>
            </a:r>
            <a:r>
              <a:rPr lang="en-US" sz="1350">
                <a:solidFill>
                  <a:srgbClr val="B8CCE8"/>
                </a:solidFill>
                <a:latin typeface="Microsoft YaHei"/>
                <a:ea typeface="Microsoft YaHei"/>
              </a:rPr>
              <a:t>1978</a:t>
            </a:r>
            <a:r>
              <a:rPr lang="zh-CN" sz="1350">
                <a:solidFill>
                  <a:srgbClr val="B8CCE8"/>
                </a:solidFill>
                <a:latin typeface="Microsoft YaHei"/>
                <a:ea typeface="Microsoft YaHei"/>
              </a:rPr>
              <a:t>）</a:t>
            </a:r>
            <a:endParaRPr/>
          </a:p>
        </p:txBody>
      </p:sp>
      <p:sp>
        <p:nvSpPr>
          <p:cNvPr id="252" name="矩形: 圆角 251"/>
          <p:cNvSpPr/>
          <p:nvPr/>
        </p:nvSpPr>
        <p:spPr>
          <a:xfrm>
            <a:off x="4171950" y="4067175"/>
            <a:ext cx="76200" cy="76200"/>
          </a:xfrm>
          <a:prstGeom prst="roundRect">
            <a:avLst>
              <a:gd name="adj" fmla="val 50000"/>
            </a:avLst>
          </a:prstGeom>
          <a:solidFill>
            <a:srgbClr val="3D7BD9"/>
          </a:solidFill>
          <a:ln/>
        </p:spPr>
        <p:txBody>
          <a:bodyPr/>
          <a:lstStyle/>
          <a:p>
            <a:endParaRPr/>
          </a:p>
        </p:txBody>
      </p:sp>
      <p:sp>
        <p:nvSpPr>
          <p:cNvPr id="253" name="文本框 252" descr="{&quot;isTemplate&quot;:true,&quot;type&quot;:&quot;text&quot;}"/>
          <p:cNvSpPr txBox="1"/>
          <p:nvPr/>
        </p:nvSpPr>
        <p:spPr>
          <a:xfrm>
            <a:off x="4362450" y="4000500"/>
            <a:ext cx="4467225" cy="209550"/>
          </a:xfrm>
          <a:prstGeom prst="rect">
            <a:avLst/>
          </a:prstGeom>
        </p:spPr>
        <p:txBody>
          <a:bodyPr wrap="none" lIns="0" tIns="0" rIns="0" bIns="0"/>
          <a:lstStyle/>
          <a:p>
            <a:pPr>
              <a:lnSpc>
                <a:spcPct val="100000"/>
              </a:lnSpc>
            </a:pPr>
            <a:r>
              <a:rPr lang="zh-CN" sz="1350">
                <a:solidFill>
                  <a:srgbClr val="B8CCE8"/>
                </a:solidFill>
                <a:latin typeface="Microsoft YaHei"/>
                <a:ea typeface="Microsoft YaHei"/>
              </a:rPr>
              <a:t>四问结构：在哪竞争</a:t>
            </a:r>
            <a:r>
              <a:rPr lang="en-US" sz="1350">
                <a:solidFill>
                  <a:srgbClr val="B8CCE8"/>
                </a:solidFill>
                <a:latin typeface="Microsoft YaHei"/>
                <a:ea typeface="Microsoft YaHei"/>
              </a:rPr>
              <a:t> · </a:t>
            </a:r>
            <a:r>
              <a:rPr lang="zh-CN" sz="1350">
                <a:solidFill>
                  <a:srgbClr val="B8CCE8"/>
                </a:solidFill>
                <a:latin typeface="Microsoft YaHei"/>
                <a:ea typeface="Microsoft YaHei"/>
              </a:rPr>
              <a:t>用什么竞争</a:t>
            </a:r>
            <a:r>
              <a:rPr lang="en-US" sz="1350">
                <a:solidFill>
                  <a:srgbClr val="B8CCE8"/>
                </a:solidFill>
                <a:latin typeface="Microsoft YaHei"/>
                <a:ea typeface="Microsoft YaHei"/>
              </a:rPr>
              <a:t> · </a:t>
            </a:r>
            <a:r>
              <a:rPr lang="zh-CN" sz="1350">
                <a:solidFill>
                  <a:srgbClr val="B8CCE8"/>
                </a:solidFill>
                <a:latin typeface="Microsoft YaHei"/>
                <a:ea typeface="Microsoft YaHei"/>
              </a:rPr>
              <a:t>凭什么赢</a:t>
            </a:r>
            <a:r>
              <a:rPr lang="en-US" sz="1350">
                <a:solidFill>
                  <a:srgbClr val="B8CCE8"/>
                </a:solidFill>
                <a:latin typeface="Microsoft YaHei"/>
                <a:ea typeface="Microsoft YaHei"/>
              </a:rPr>
              <a:t> · </a:t>
            </a:r>
            <a:r>
              <a:rPr lang="zh-CN" sz="1350">
                <a:solidFill>
                  <a:srgbClr val="B8CCE8"/>
                </a:solidFill>
                <a:latin typeface="Microsoft YaHei"/>
                <a:ea typeface="Microsoft YaHei"/>
              </a:rPr>
              <a:t>如何</a:t>
            </a:r>
            <a:r>
              <a:rPr lang="en-US" sz="1350">
                <a:solidFill>
                  <a:srgbClr val="B8CCE8"/>
                </a:solidFill>
                <a:latin typeface="Microsoft YaHei"/>
                <a:ea typeface="Microsoft YaHei"/>
              </a:rPr>
              <a:t> 1+1&gt;2</a:t>
            </a:r>
            <a:endParaRPr/>
          </a:p>
        </p:txBody>
      </p:sp>
      <p:sp>
        <p:nvSpPr>
          <p:cNvPr id="254" name="矩形: 圆角 253"/>
          <p:cNvSpPr/>
          <p:nvPr/>
        </p:nvSpPr>
        <p:spPr>
          <a:xfrm>
            <a:off x="4171950" y="4391025"/>
            <a:ext cx="76200" cy="76200"/>
          </a:xfrm>
          <a:prstGeom prst="roundRect">
            <a:avLst>
              <a:gd name="adj" fmla="val 50000"/>
            </a:avLst>
          </a:prstGeom>
          <a:solidFill>
            <a:srgbClr val="3D7BD9"/>
          </a:solidFill>
          <a:ln/>
        </p:spPr>
        <p:txBody>
          <a:bodyPr/>
          <a:lstStyle/>
          <a:p>
            <a:endParaRPr/>
          </a:p>
        </p:txBody>
      </p:sp>
      <p:sp>
        <p:nvSpPr>
          <p:cNvPr id="255" name="文本框 254" descr="{&quot;isTemplate&quot;:true,&quot;type&quot;:&quot;text&quot;}"/>
          <p:cNvSpPr txBox="1"/>
          <p:nvPr/>
        </p:nvSpPr>
        <p:spPr>
          <a:xfrm>
            <a:off x="4362450" y="4324350"/>
            <a:ext cx="3429000" cy="209550"/>
          </a:xfrm>
          <a:prstGeom prst="rect">
            <a:avLst/>
          </a:prstGeom>
        </p:spPr>
        <p:txBody>
          <a:bodyPr wrap="none" lIns="0" tIns="0" rIns="0" bIns="0"/>
          <a:lstStyle/>
          <a:p>
            <a:pPr>
              <a:lnSpc>
                <a:spcPct val="100000"/>
              </a:lnSpc>
            </a:pPr>
            <a:r>
              <a:rPr lang="zh-CN" sz="1350">
                <a:solidFill>
                  <a:srgbClr val="B8CCE8"/>
                </a:solidFill>
                <a:latin typeface="Microsoft YaHei"/>
                <a:ea typeface="Microsoft YaHei"/>
              </a:rPr>
              <a:t>先总览全貌，再重点拆解资源配置与协同作用</a:t>
            </a:r>
            <a:endParaRPr/>
          </a:p>
        </p:txBody>
      </p:sp>
      <p:sp>
        <p:nvSpPr>
          <p:cNvPr id="256" name="文本框 255" descr="{&quot;isTemplate&quot;:true,&quot;type&quot;:&quot;text&quot;}"/>
          <p:cNvSpPr txBox="1"/>
          <p:nvPr/>
        </p:nvSpPr>
        <p:spPr>
          <a:xfrm>
            <a:off x="10591800" y="6276975"/>
            <a:ext cx="990600" cy="161925"/>
          </a:xfrm>
          <a:prstGeom prst="rect">
            <a:avLst/>
          </a:prstGeom>
        </p:spPr>
        <p:txBody>
          <a:bodyPr wrap="none" lIns="0" tIns="0" rIns="0" bIns="0"/>
          <a:lstStyle/>
          <a:p>
            <a:pPr>
              <a:lnSpc>
                <a:spcPct val="100000"/>
              </a:lnSpc>
            </a:pPr>
            <a:r>
              <a:rPr lang="zh-CN" sz="1050">
                <a:solidFill>
                  <a:srgbClr val="8FB3E8"/>
                </a:solidFill>
                <a:latin typeface="Microsoft YaHei"/>
                <a:ea typeface="Microsoft YaHei"/>
              </a:rPr>
              <a:t>第</a:t>
            </a:r>
            <a:r>
              <a:rPr lang="en-US" sz="1050">
                <a:solidFill>
                  <a:srgbClr val="8FB3E8"/>
                </a:solidFill>
                <a:latin typeface="Microsoft YaHei"/>
                <a:ea typeface="Microsoft YaHei"/>
              </a:rPr>
              <a:t> 1 </a:t>
            </a:r>
            <a:r>
              <a:rPr lang="zh-CN" sz="1050">
                <a:solidFill>
                  <a:srgbClr val="8FB3E8"/>
                </a:solidFill>
                <a:latin typeface="Microsoft YaHei"/>
                <a:ea typeface="Microsoft YaHei"/>
              </a:rPr>
              <a:t>章</a:t>
            </a:r>
            <a:r>
              <a:rPr lang="en-US" sz="1050">
                <a:solidFill>
                  <a:srgbClr val="8FB3E8"/>
                </a:solidFill>
                <a:latin typeface="Microsoft YaHei"/>
                <a:ea typeface="Microsoft YaHei"/>
              </a:rPr>
              <a:t> / </a:t>
            </a:r>
            <a:r>
              <a:rPr lang="zh-CN" sz="1050">
                <a:solidFill>
                  <a:srgbClr val="8FB3E8"/>
                </a:solidFill>
                <a:latin typeface="Microsoft YaHei"/>
                <a:ea typeface="Microsoft YaHei"/>
              </a:rPr>
              <a:t>共</a:t>
            </a:r>
            <a:r>
              <a:rPr lang="en-US" sz="1050">
                <a:solidFill>
                  <a:srgbClr val="8FB3E8"/>
                </a:solidFill>
                <a:latin typeface="Microsoft YaHei"/>
                <a:ea typeface="Microsoft YaHei"/>
              </a:rPr>
              <a:t> 3 </a:t>
            </a:r>
            <a:r>
              <a:rPr lang="zh-CN" sz="1050">
                <a:solidFill>
                  <a:srgbClr val="8FB3E8"/>
                </a:solidFill>
                <a:latin typeface="Microsoft YaHei"/>
                <a:ea typeface="Microsoft YaHei"/>
              </a:rPr>
              <a:t>章</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display: 'flex', flexDirection: 'column' }}&gt;&#10;  &lt;Box style={{ height: 72, background: '#0E3F8C', flexDirection: 'row', justifyContent: 'space-between', alignItems: 'center', padding: '0 40px', flexShrink: 0 }}&gt;&#10;    &lt;Text style={{ fontSize: 15, color: '#B8CCE8', letterSpacing: 3 }}&gt;战略管理 · STRATEGIC MANAGEMENT&lt;/Text&gt;&#10;    &lt;Text style={{ fontSize: 14, color: '#B8CCE8' }}&gt;第一章 · 四要素框架&lt;/Text&gt;&#10;  &lt;/Box&gt;&#10;  &lt;Box style={{ height: 78, padding: '16px 40px 0 40px', flexDirection: 'column', flexShrink: 0 }}&gt;&#10;    &lt;Text style={{ fontSize: 32, fontWeight: 'bold', color: '#0E3F8C' }}&gt;四要素总览：一个框架，四个问题&lt;/Text&gt;&#10;    &lt;Text style={{ fontSize: 15, color: '#8B97A8', marginTop: 6 }}&gt;The Four Components and the Four Questions They Answer&lt;/Text&gt;&#10;  &lt;/Box&gt;&#10;  &lt;Box style={{ flex: 1, padding: '6px 40px 18px 40px', minHeight: 0, flexDirection: 'row', gap: 26, alignItems: 'center' }}&gt;&#10;    &lt;svg width={700} height={480} viewBox='0 0 700 480'&gt;&#10;      &lt;rect x='10' y='10' width='680' height='460' rx='16' fill='#E8EFF8' stroke='#1E4FA8' strokeWidth='1.5' /&gt;&#10;      &lt;text x='350' y='50' textAnchor='middle' fontSize='22' fontWeight='bold' fill='#0E3F8C' fontFamily='sans-serif'&gt;企业战略&lt;/text&gt;&#10;      &lt;text x='350' y='72' textAnchor='middle' fontSize='12' fill='#8B97A8' fontFamily='sans-serif' letterSpacing='3'&gt;CORPORATE STRATEGY&lt;/text&gt;&#10;      &lt;rect x='30' y='92' width='320' height='172' rx='10' fill='#FFFFFF' stroke='#3D7BD9' strokeWidth='1' /&gt;&#10;      &lt;text x='190' y='138' textAnchor='middle' fontSize='22' fontWeight='bold' fill='#0E3F8C' fontFamily='sans-serif'&gt;经营范围&lt;/text&gt;&#10;      &lt;text x='190' y='174' textAnchor='middle' fontSize='16' fill='#4A5568' fontFamily='sans-serif'&gt;我们在哪个领域竞争？&lt;/text&gt;&#10;      &lt;text x='190' y='204' textAnchor='middle' fontSize='13' fill='#8B97A8' fontFamily='sans-serif'&gt;Scope · 产品与市场边界&lt;/text&gt;&#10;      &lt;rect x='350' y='92' width='320' height='172' rx='10' fill='#F0F5FC' stroke='#1E4FA8' strokeWidth='2' /&gt;&#10;      &lt;rect x='600' y='106' width='54' height='26' rx='13' fill='#1E4FA8' /&gt;&#10;      &lt;text x='627' y='123' textAnchor='middle' fontSize='13' fill='#FFFFFF' fontFamily='sans-serif'&gt;重点&lt;/text&gt;&#10;      &lt;text x='510' y='152' textAnchor='middle' fontSize='22' fontWeight='bold' fill='#0E3F8C' fontFamily='sans-serif'&gt;资源配置&lt;/text&gt;&#10;      &lt;text x='510' y='188' textAnchor='middle' fontSize='16' fill='#4A5568' fontFamily='sans-serif'&gt;资源投在哪里、投多少？&lt;/text&gt;&#10;      &lt;text x='510' y='218' textAnchor='middle' fontSize='13' fill='#8B97A8' fontFamily='sans-serif'&gt;Resource Deployment&lt;/text&gt;&#10;      &lt;rect x='30' y='276' width='320' height='172' rx='10' fill='#FFFFFF' stroke='#3D7BD9' strokeWidth='1' /&gt;&#10;      &lt;text x='190' y='322' textAnchor='middle' fontSize='22' fontWeight='bold' fill='#0E3F8C' fontFamily='sans-serif'&gt;竞争优势&lt;/text&gt;&#10;      &lt;text x='190' y='358' textAnchor='middle' fontSize='16' fill='#4A5568' fontFamily='sans-serif'&gt;凭什么赢过竞争对手？&lt;/text&gt;&#10;      &lt;text x='190' y='388' textAnchor='middle' fontSize='13' fill='#8B97A8' fontFamily='sans-serif'&gt;Innovation · Low Cost&lt;/text&gt;&#10;      &lt;rect x='350' y='276' width='320' height='172' rx='10' fill='#F0F5FC' stroke='#1E4FA8' strokeWidth='2' /&gt;&#10;      &lt;rect x='600' y='290' width='54' height='26' rx='13' fill='#1E4FA8' /&gt;&#10;      &lt;text x='627' y='307' textAnchor='middle' fontSize='13' fill='#FFFFFF' fontFamily='sans-serif'&gt;重点&lt;/text&gt;&#10;      &lt;text x='510' y='336' textAnchor='middle' fontSize='22' fontWeight='bold' fill='#0E3F8C' fontFamily='sans-serif'&gt;协同作用&lt;/text&gt;&#10;      &lt;text x='510' y='372' textAnchor='middle' fontSize='16' fill='#4A5568' fontFamily='sans-serif'&gt;整体如何大于部分之和？&lt;/text&gt;&#10;      &lt;text x='510' y='402' textAnchor='middle' fontSize='13' fill='#8B97A8' fontFamily='sans-serif'&gt;Synergy · 2+2=5&lt;/text&gt;&#10;    &lt;/svg&gt;&#10;    &lt;Box style={{ flex: 1, flexDirection: 'column', gap: 18, height: 480, justifyContent: 'center' }}&gt;&#10;      &lt;Box style={{ background: '#FFFFFF', border: '1px solid #D6DCE5', borderRadius: 10, padding: '22px 26px' }}&gt;&#10;        &lt;Text style={{ fontSize: 24, fontWeight: 'bold', color: '#0E3F8C' }}&gt;框架出处&lt;/Text&gt;&#10;        &lt;Text style={{ fontSize: 21, color: '#1A2230', lineHeight: 1.7, marginTop: 10 }}&gt;霍弗与申德尔在《战略制定：分析概念》（1978）中提出：一项完整的企业战略，由经营范围、资源配置、竞争优势与协同作用四要素构成。&lt;/Text&gt;&#10;      &lt;/Box&gt;&#10;      &lt;Box style={{ background: '#0E3F8C', borderRadius: 10, padding: '22px 26px' }}&gt;&#10;        &lt;Text style={{ fontSize: 22, fontWeight: 'bold', color: '#FFFFFF', lineHeight: 1.7 }}&gt;四要素不是并列的四个部门话题，而是一条决策链——场地、弹药、得分、乘数，缺一环则战略散架。&lt;/Text&gt;&#10;      &lt;/Box&gt;&#10;      &lt;Box style={{ background: '#F7F9FC', border: '1px solid #D6DCE5', borderRadius: 10, padding: '20px 26px' }}&gt;&#10;        &lt;Text style={{ fontSize: 21, color: '#1A2230', lineHeight: 1.7 }}&gt;与明茨伯格 5P 互为表里：5P 刻画战略的“光谱”，四要素给出战略的“成分表”。&lt;/Text&gt;&#10;      &lt;/Box&gt;&#10;    &lt;/Box&gt;&#10;  &lt;/Box&gt;&#10;  &lt;Box style={{ height: 44, borderTop: '1px solid #D6DCE5', flexDirection: 'row', justifyContent: 'space-between', alignItems: 'center', padding: '0 40px', flexShrink: 0 }}&gt;&#10;    &lt;Text style={{ fontSize: 14, color: '#8B97A8' }}&gt;企业战略的构成要素 · 教学课件&lt;/Text&gt;&#10;    &lt;Text style={{ fontSize: 14, color: '#0E3F8C' }}&gt;05 / 16&lt;/Text&gt;&#10;  &lt;/Box&gt;&#10;&lt;/Slide&gt;"/>
        <p:cNvGrpSpPr/>
        <p:nvPr/>
      </p:nvGrpSpPr>
      <p:grpSpPr>
        <a:xfrm>
          <a:off x="0" y="0"/>
          <a:ext cx="0" cy="0"/>
          <a:chOff x="0" y="0"/>
          <a:chExt cx="0" cy="0"/>
        </a:xfrm>
      </p:grpSpPr>
      <p:sp>
        <p:nvSpPr>
          <p:cNvPr id="258" name="矩形 257"/>
          <p:cNvSpPr/>
          <p:nvPr/>
        </p:nvSpPr>
        <p:spPr>
          <a:xfrm>
            <a:off x="0" y="0"/>
            <a:ext cx="12192000" cy="6858000"/>
          </a:xfrm>
          <a:prstGeom prst="rect">
            <a:avLst/>
          </a:prstGeom>
          <a:solidFill>
            <a:srgbClr val="FFFFFF"/>
          </a:solidFill>
          <a:ln/>
        </p:spPr>
        <p:txBody>
          <a:bodyPr/>
          <a:lstStyle/>
          <a:p>
            <a:endParaRPr/>
          </a:p>
        </p:txBody>
      </p:sp>
      <p:sp>
        <p:nvSpPr>
          <p:cNvPr id="259" name="矩形 258"/>
          <p:cNvSpPr/>
          <p:nvPr/>
        </p:nvSpPr>
        <p:spPr>
          <a:xfrm>
            <a:off x="0" y="0"/>
            <a:ext cx="12192000" cy="685800"/>
          </a:xfrm>
          <a:prstGeom prst="rect">
            <a:avLst/>
          </a:prstGeom>
          <a:solidFill>
            <a:srgbClr val="0E3F8C"/>
          </a:solidFill>
          <a:ln/>
        </p:spPr>
        <p:txBody>
          <a:bodyPr/>
          <a:lstStyle/>
          <a:p>
            <a:endParaRPr/>
          </a:p>
        </p:txBody>
      </p:sp>
      <p:sp>
        <p:nvSpPr>
          <p:cNvPr id="260" name="文本框 259"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B8CCE8"/>
                </a:solidFill>
                <a:latin typeface="Microsoft YaHei"/>
                <a:ea typeface="Microsoft YaHei"/>
              </a:rPr>
              <a:t>战略管理</a:t>
            </a:r>
            <a:r>
              <a:rPr lang="en-US" sz="1125" spc="225">
                <a:solidFill>
                  <a:srgbClr val="B8CCE8"/>
                </a:solidFill>
                <a:latin typeface="Microsoft YaHei"/>
                <a:ea typeface="Microsoft YaHei"/>
              </a:rPr>
              <a:t> · STRATEGIC MANAGEMENT</a:t>
            </a:r>
            <a:endParaRPr/>
          </a:p>
        </p:txBody>
      </p:sp>
      <p:sp>
        <p:nvSpPr>
          <p:cNvPr id="261" name="文本框 260" descr="{&quot;isTemplate&quot;:true,&quot;type&quot;:&quot;text&quot;}"/>
          <p:cNvSpPr txBox="1"/>
          <p:nvPr/>
        </p:nvSpPr>
        <p:spPr>
          <a:xfrm>
            <a:off x="10629900" y="266700"/>
            <a:ext cx="1181100" cy="161925"/>
          </a:xfrm>
          <a:prstGeom prst="rect">
            <a:avLst/>
          </a:prstGeom>
        </p:spPr>
        <p:txBody>
          <a:bodyPr wrap="none" lIns="0" tIns="0" rIns="0" bIns="0"/>
          <a:lstStyle/>
          <a:p>
            <a:pPr>
              <a:lnSpc>
                <a:spcPct val="100000"/>
              </a:lnSpc>
            </a:pPr>
            <a:r>
              <a:rPr lang="zh-CN" sz="1050">
                <a:solidFill>
                  <a:srgbClr val="B8CCE8"/>
                </a:solidFill>
                <a:latin typeface="Microsoft YaHei"/>
                <a:ea typeface="Microsoft YaHei"/>
              </a:rPr>
              <a:t>第一章</a:t>
            </a:r>
            <a:r>
              <a:rPr lang="en-US" sz="1050">
                <a:solidFill>
                  <a:srgbClr val="B8CCE8"/>
                </a:solidFill>
                <a:latin typeface="Microsoft YaHei"/>
                <a:ea typeface="Microsoft YaHei"/>
              </a:rPr>
              <a:t> · </a:t>
            </a:r>
            <a:r>
              <a:rPr lang="zh-CN" sz="1050">
                <a:solidFill>
                  <a:srgbClr val="B8CCE8"/>
                </a:solidFill>
                <a:latin typeface="Microsoft YaHei"/>
                <a:ea typeface="Microsoft YaHei"/>
              </a:rPr>
              <a:t>四要素框架</a:t>
            </a:r>
            <a:endParaRPr/>
          </a:p>
        </p:txBody>
      </p:sp>
      <p:sp>
        <p:nvSpPr>
          <p:cNvPr id="262" name="文本框 261" descr="{&quot;isTemplate&quot;:true,&quot;type&quot;:&quot;text&quot;}"/>
          <p:cNvSpPr txBox="1"/>
          <p:nvPr/>
        </p:nvSpPr>
        <p:spPr>
          <a:xfrm>
            <a:off x="381000" y="8382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四要素总览：一个框架，四个问题</a:t>
            </a:r>
            <a:endParaRPr/>
          </a:p>
        </p:txBody>
      </p:sp>
      <p:sp>
        <p:nvSpPr>
          <p:cNvPr id="263" name="文本框 262" descr="{&quot;isTemplate&quot;:true,&quot;type&quot;:&quot;text&quot;}"/>
          <p:cNvSpPr txBox="1"/>
          <p:nvPr/>
        </p:nvSpPr>
        <p:spPr>
          <a:xfrm>
            <a:off x="381000" y="1266825"/>
            <a:ext cx="11430000"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The Four Components and the Four Questions They Answer</a:t>
            </a:r>
            <a:endParaRPr/>
          </a:p>
        </p:txBody>
      </p:sp>
      <p:pic>
        <p:nvPicPr>
          <p:cNvPr id="264" name="图形 26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00" y="1590675"/>
            <a:ext cx="6667500" cy="4572000"/>
          </a:xfrm>
          <a:prstGeom prst="rect">
            <a:avLst/>
          </a:prstGeom>
          <a:ln/>
        </p:spPr>
      </p:pic>
      <p:sp>
        <p:nvSpPr>
          <p:cNvPr id="265" name="矩形: 圆角 264"/>
          <p:cNvSpPr/>
          <p:nvPr/>
        </p:nvSpPr>
        <p:spPr>
          <a:xfrm>
            <a:off x="7296150" y="1038225"/>
            <a:ext cx="4514850" cy="2428875"/>
          </a:xfrm>
          <a:prstGeom prst="roundRect">
            <a:avLst>
              <a:gd name="adj" fmla="val 3922"/>
            </a:avLst>
          </a:prstGeom>
          <a:solidFill>
            <a:srgbClr val="FFFFFF"/>
          </a:solidFill>
          <a:ln w="12700">
            <a:solidFill>
              <a:srgbClr val="D6DCE5"/>
            </a:solidFill>
            <a:prstDash val="solid"/>
          </a:ln>
        </p:spPr>
        <p:txBody>
          <a:bodyPr/>
          <a:lstStyle/>
          <a:p>
            <a:endParaRPr/>
          </a:p>
        </p:txBody>
      </p:sp>
      <p:sp>
        <p:nvSpPr>
          <p:cNvPr id="266" name="文本框 265" descr="{&quot;isTemplate&quot;:true,&quot;type&quot;:&quot;text&quot;}"/>
          <p:cNvSpPr txBox="1"/>
          <p:nvPr/>
        </p:nvSpPr>
        <p:spPr>
          <a:xfrm>
            <a:off x="7543800" y="1247775"/>
            <a:ext cx="401955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框架出处</a:t>
            </a:r>
            <a:endParaRPr/>
          </a:p>
        </p:txBody>
      </p:sp>
      <p:sp>
        <p:nvSpPr>
          <p:cNvPr id="267" name="文本框 266" descr="{&quot;isTemplate&quot;:true,&quot;type&quot;:&quot;text&quot;}"/>
          <p:cNvSpPr txBox="1"/>
          <p:nvPr/>
        </p:nvSpPr>
        <p:spPr>
          <a:xfrm>
            <a:off x="7543800" y="1619250"/>
            <a:ext cx="4019550" cy="1638300"/>
          </a:xfrm>
          <a:prstGeom prst="rect">
            <a:avLst/>
          </a:prstGeom>
        </p:spPr>
        <p:txBody>
          <a:bodyPr wrap="square" lIns="0" tIns="0" rIns="0" bIns="0">
            <a:normAutofit/>
          </a:bodyPr>
          <a:lstStyle/>
          <a:p>
            <a:pPr>
              <a:lnSpc>
                <a:spcPct val="170000"/>
              </a:lnSpc>
            </a:pPr>
            <a:r>
              <a:rPr lang="zh-CN" sz="1575">
                <a:solidFill>
                  <a:srgbClr val="1A2230"/>
                </a:solidFill>
                <a:latin typeface="Microsoft YaHei"/>
                <a:ea typeface="Microsoft YaHei"/>
              </a:rPr>
              <a:t>霍弗与申德尔在《战略制定：分析概念》（</a:t>
            </a:r>
            <a:r>
              <a:rPr lang="en-US" sz="1575">
                <a:solidFill>
                  <a:srgbClr val="1A2230"/>
                </a:solidFill>
                <a:latin typeface="Microsoft YaHei"/>
                <a:ea typeface="Microsoft YaHei"/>
              </a:rPr>
              <a:t>1978</a:t>
            </a:r>
            <a:r>
              <a:rPr lang="zh-CN" sz="1575">
                <a:solidFill>
                  <a:srgbClr val="1A2230"/>
                </a:solidFill>
                <a:latin typeface="Microsoft YaHei"/>
                <a:ea typeface="Microsoft YaHei"/>
              </a:rPr>
              <a:t>）中提出：一项完整的企业战略，由经营范围、资源配置、竞争优势与协同作用四要素构成。</a:t>
            </a:r>
            <a:endParaRPr/>
          </a:p>
        </p:txBody>
      </p:sp>
      <p:sp>
        <p:nvSpPr>
          <p:cNvPr id="268" name="矩形: 圆角 267"/>
          <p:cNvSpPr/>
          <p:nvPr/>
        </p:nvSpPr>
        <p:spPr>
          <a:xfrm>
            <a:off x="7296150" y="3638550"/>
            <a:ext cx="4514850" cy="1704975"/>
          </a:xfrm>
          <a:prstGeom prst="roundRect">
            <a:avLst>
              <a:gd name="adj" fmla="val 5587"/>
            </a:avLst>
          </a:prstGeom>
          <a:solidFill>
            <a:srgbClr val="0E3F8C"/>
          </a:solidFill>
          <a:ln/>
        </p:spPr>
        <p:txBody>
          <a:bodyPr/>
          <a:lstStyle/>
          <a:p>
            <a:endParaRPr/>
          </a:p>
        </p:txBody>
      </p:sp>
      <p:sp>
        <p:nvSpPr>
          <p:cNvPr id="269" name="文本框 268" descr="{&quot;isTemplate&quot;:true,&quot;type&quot;:&quot;text&quot;}"/>
          <p:cNvSpPr txBox="1"/>
          <p:nvPr/>
        </p:nvSpPr>
        <p:spPr>
          <a:xfrm>
            <a:off x="7543800" y="3848100"/>
            <a:ext cx="4019550" cy="1285875"/>
          </a:xfrm>
          <a:prstGeom prst="rect">
            <a:avLst/>
          </a:prstGeom>
        </p:spPr>
        <p:txBody>
          <a:bodyPr wrap="square" lIns="0" tIns="0" rIns="0" bIns="0">
            <a:normAutofit/>
          </a:bodyPr>
          <a:lstStyle/>
          <a:p>
            <a:pPr>
              <a:lnSpc>
                <a:spcPct val="170000"/>
              </a:lnSpc>
            </a:pPr>
            <a:r>
              <a:rPr lang="zh-CN" sz="1650" b="1">
                <a:solidFill>
                  <a:srgbClr val="FFFFFF"/>
                </a:solidFill>
                <a:latin typeface="Microsoft YaHei"/>
                <a:ea typeface="Microsoft YaHei"/>
              </a:rPr>
              <a:t>四要素不是并列的四个部门话题，而是一条决策链——场地、弹药、得分、乘数，缺一环则战略散架。</a:t>
            </a:r>
            <a:endParaRPr/>
          </a:p>
        </p:txBody>
      </p:sp>
      <p:sp>
        <p:nvSpPr>
          <p:cNvPr id="270" name="矩形: 圆角 269"/>
          <p:cNvSpPr/>
          <p:nvPr/>
        </p:nvSpPr>
        <p:spPr>
          <a:xfrm>
            <a:off x="7296150" y="5514975"/>
            <a:ext cx="4514850" cy="1200150"/>
          </a:xfrm>
          <a:prstGeom prst="roundRect">
            <a:avLst>
              <a:gd name="adj" fmla="val 7937"/>
            </a:avLst>
          </a:prstGeom>
          <a:solidFill>
            <a:srgbClr val="F7F9FC"/>
          </a:solidFill>
          <a:ln w="12700">
            <a:solidFill>
              <a:srgbClr val="D6DCE5"/>
            </a:solidFill>
            <a:prstDash val="solid"/>
          </a:ln>
        </p:spPr>
        <p:txBody>
          <a:bodyPr/>
          <a:lstStyle/>
          <a:p>
            <a:endParaRPr/>
          </a:p>
        </p:txBody>
      </p:sp>
      <p:sp>
        <p:nvSpPr>
          <p:cNvPr id="271" name="文本框 270" descr="{&quot;isTemplate&quot;:true,&quot;type&quot;:&quot;text&quot;}"/>
          <p:cNvSpPr txBox="1"/>
          <p:nvPr/>
        </p:nvSpPr>
        <p:spPr>
          <a:xfrm>
            <a:off x="7543800" y="5705475"/>
            <a:ext cx="4019550" cy="819150"/>
          </a:xfrm>
          <a:prstGeom prst="rect">
            <a:avLst/>
          </a:prstGeom>
        </p:spPr>
        <p:txBody>
          <a:bodyPr wrap="square" lIns="0" tIns="0" rIns="0" bIns="0">
            <a:normAutofit/>
          </a:bodyPr>
          <a:lstStyle/>
          <a:p>
            <a:pPr>
              <a:lnSpc>
                <a:spcPct val="170000"/>
              </a:lnSpc>
            </a:pPr>
            <a:r>
              <a:rPr lang="zh-CN" sz="1575">
                <a:solidFill>
                  <a:srgbClr val="1A2230"/>
                </a:solidFill>
                <a:latin typeface="Microsoft YaHei"/>
                <a:ea typeface="Microsoft YaHei"/>
              </a:rPr>
              <a:t>与明茨伯格</a:t>
            </a:r>
            <a:r>
              <a:rPr lang="en-US" sz="1575">
                <a:solidFill>
                  <a:srgbClr val="1A2230"/>
                </a:solidFill>
                <a:latin typeface="Microsoft YaHei"/>
                <a:ea typeface="Microsoft YaHei"/>
              </a:rPr>
              <a:t> 5P </a:t>
            </a:r>
            <a:r>
              <a:rPr lang="zh-CN" sz="1575">
                <a:solidFill>
                  <a:srgbClr val="1A2230"/>
                </a:solidFill>
                <a:latin typeface="Microsoft YaHei"/>
                <a:ea typeface="Microsoft YaHei"/>
              </a:rPr>
              <a:t>互为表里：</a:t>
            </a:r>
            <a:r>
              <a:rPr lang="en-US" sz="1575">
                <a:solidFill>
                  <a:srgbClr val="1A2230"/>
                </a:solidFill>
                <a:latin typeface="Microsoft YaHei"/>
                <a:ea typeface="Microsoft YaHei"/>
              </a:rPr>
              <a:t>5P </a:t>
            </a:r>
            <a:r>
              <a:rPr lang="zh-CN" sz="1575">
                <a:solidFill>
                  <a:srgbClr val="1A2230"/>
                </a:solidFill>
                <a:latin typeface="Microsoft YaHei"/>
                <a:ea typeface="Microsoft YaHei"/>
              </a:rPr>
              <a:t>刻画战略的“光谱”，四要素给出战略的“成分表”。</a:t>
            </a:r>
            <a:endParaRPr/>
          </a:p>
        </p:txBody>
      </p:sp>
      <p:sp>
        <p:nvSpPr>
          <p:cNvPr id="272" name="任意多边形: 形状 271"/>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D6DCE5"/>
          </a:solidFill>
          <a:ln/>
        </p:spPr>
        <p:txBody>
          <a:bodyPr/>
          <a:lstStyle/>
          <a:p>
            <a:endParaRPr/>
          </a:p>
        </p:txBody>
      </p:sp>
      <p:sp>
        <p:nvSpPr>
          <p:cNvPr id="273" name="文本框 272" descr="{&quot;isTemplate&quot;:true,&quot;type&quot;:&quot;text&quot;}"/>
          <p:cNvSpPr txBox="1"/>
          <p:nvPr/>
        </p:nvSpPr>
        <p:spPr>
          <a:xfrm>
            <a:off x="381000" y="6572250"/>
            <a:ext cx="18478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企业战略的构成要素</a:t>
            </a:r>
            <a:r>
              <a:rPr lang="en-US" sz="1050">
                <a:solidFill>
                  <a:srgbClr val="8B97A8"/>
                </a:solidFill>
                <a:latin typeface="Microsoft YaHei"/>
                <a:ea typeface="Microsoft YaHei"/>
              </a:rPr>
              <a:t> · </a:t>
            </a:r>
            <a:r>
              <a:rPr lang="zh-CN" sz="1050">
                <a:solidFill>
                  <a:srgbClr val="8B97A8"/>
                </a:solidFill>
                <a:latin typeface="Microsoft YaHei"/>
                <a:ea typeface="Microsoft YaHei"/>
              </a:rPr>
              <a:t>教学课件</a:t>
            </a:r>
            <a:endParaRPr/>
          </a:p>
        </p:txBody>
      </p:sp>
      <p:sp>
        <p:nvSpPr>
          <p:cNvPr id="274" name="文本框 273" descr="{&quot;isTemplate&quot;:true,&quot;type&quot;:&quot;text&quot;}"/>
          <p:cNvSpPr txBox="1"/>
          <p:nvPr/>
        </p:nvSpPr>
        <p:spPr>
          <a:xfrm>
            <a:off x="11353800" y="6572250"/>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05 / 16</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display: 'flex', flexDirection: 'column' }}&gt;&#10;  &lt;Box style={{ height: 72, background: '#0E3F8C', flexDirection: 'row', justifyContent: 'space-between', alignItems: 'center', padding: '0 40px', flexShrink: 0 }}&gt;&#10;    &lt;Text style={{ fontSize: 15, color: '#B8CCE8', letterSpacing: 3 }}&gt;战略管理 · STRATEGIC MANAGEMENT&lt;/Text&gt;&#10;    &lt;Text style={{ fontSize: 14, color: '#B8CCE8' }}&gt;第一章 · 四要素框架&lt;/Text&gt;&#10;  &lt;/Box&gt;&#10;  &lt;Box style={{ height: 78, padding: '16px 40px 0 40px', flexDirection: 'column', flexShrink: 0 }}&gt;&#10;    &lt;Text style={{ fontSize: 32, fontWeight: 'bold', color: '#0E3F8C' }}&gt;经营范围与竞争优势：场地与得分&lt;/Text&gt;&#10;    &lt;Text style={{ fontSize: 15, color: '#8B97A8', marginTop: 6 }}&gt;Scope: the Arena · Competitive Advantage: the Score&lt;/Text&gt;&#10;  &lt;/Box&gt;&#10;  &lt;Box style={{ flex: 1, padding: '6px 40px 18px 40px', minHeight: 0, flexDirection: 'column', gap: 16 }}&gt;&#10;    &lt;Box style={{ flex: 1, flexDirection: 'row', gap: 22, minHeight: 0 }}&gt;&#10;      &lt;Box style={{ flex: 3, background: '#FFFFFF', border: '1px solid #D6DCE5', borderRadius: 12, padding: '24px 28px', flexDirection: 'column' }}&gt;&#10;        &lt;Box style={{ flexDirection: 'row', justifyContent: 'space-between', alignItems: 'center' }}&gt;&#10;          &lt;Text style={{ fontSize: 26, fontWeight: 'bold', color: '#0E3F8C' }}&gt;经营范围&lt;/Text&gt;&#10;          &lt;Box style={{ background: '#E8EFF8', borderRadius: 14, padding: '5px 16px' }}&gt;&#10;            &lt;Text style={{ fontSize: 14, color: '#1E4FA8' }}&gt;Scope · 场地&lt;/Text&gt;&#10;          &lt;/Box&gt;&#10;        &lt;/Box&gt;&#10;        &lt;Text style={{ fontSize: 22, color: '#1A2230', lineHeight: 1.7, marginTop: 12 }}&gt;企业从事生产经营活动的领域——由产品边界、市场边界与多元化程度共同划定。&lt;/Text&gt;&#10;        &lt;Box style={{ flexDirection: 'column', gap: 12, marginTop: 16 }}&gt;&#10;          &lt;Box style={{ background: '#F7F9FC', border: '1px solid #E5E7EB', borderRadius: 8, padding: '12px 18px', flexDirection: 'row', gap: 14, alignItems: 'center' }}&gt;&#10;            &lt;Box style={{ width: 6, height: 40, background: '#3D7BD9', borderRadius: 3, flexShrink: 0 }} /&gt;&#10;            &lt;Text style={{ fontSize: 20, color: '#1A2230', lineHeight: 1.55 }}&gt;&lt;span style={{ fontWeight: 'bold', color: '#0E3F8C' }}&gt;麦当劳&lt;/span&gt;：聚焦餐饮连锁，产品与市场高度收敛，资源沿单一大规模市场铺开。&lt;/Text&gt;&#10;          &lt;/Box&gt;&#10;          &lt;Box style={{ background: '#F7F9FC', border: '1px solid #E5E7EB', borderRadius: 8, padding: '12px 18px', flexDirection: 'row', gap: 14, alignItems: 'center' }}&gt;&#10;            &lt;Box style={{ width: 6, height: 40, background: '#3D7BD9', borderRadius: 3, flexShrink: 0 }} /&gt;&#10;            &lt;Text style={{ fontSize: 20, color: '#1A2230', lineHeight: 1.55 }}&gt;&lt;span style={{ fontWeight: 'bold', color: '#0E3F8C' }}&gt;通用电气&lt;/span&gt;：横跨航空、能源、医疗等多领域，范围宽广，考验资源是否够分。&lt;/Text&gt;&#10;          &lt;/Box&gt;&#10;        &lt;/Box&gt;&#10;        &lt;Box style={{ flex: 1 }} /&gt;&#10;        &lt;Text style={{ fontSize: 16, color: '#8B97A8' }}&gt;宽窄没有对错，关键是与资源配置能力相匹配&lt;/Text&gt;&#10;      &lt;/Box&gt;&#10;      &lt;Box style={{ flex: 2, background: '#F0F5FC', border: '1px solid #D6DCE5', borderRadius: 12, padding: '24px 28px', flexDirection: 'column' }}&gt;&#10;        &lt;Box style={{ flexDirection: 'row', justifyContent: 'space-between', alignItems: 'center' }}&gt;&#10;          &lt;Text style={{ fontSize: 26, fontWeight: 'bold', color: '#0E3F8C' }}&gt;竞争优势&lt;/Text&gt;&#10;          &lt;Box style={{ background: '#E8EFF8', borderRadius: 14, padding: '5px 16px' }}&gt;&#10;            &lt;Text style={{ fontSize: 14, color: '#1E4FA8' }}&gt;Advantage · 得分&lt;/Text&gt;&#10;          &lt;/Box&gt;&#10;        &lt;/Box&gt;&#10;        &lt;Text style={{ fontSize: 22, color: '#1A2230', lineHeight: 1.7, marginTop: 12 }}&gt;通过资源配置的模式与经营范围的决策，在市场上形成的与竞争对手不同的竞争地位。&lt;/Text&gt;&#10;        &lt;Box style={{ flexDirection: 'row', gap: 14, marginTop: 18 }}&gt;&#10;          &lt;Box style={{ background: '#1E4FA8', borderRadius: 16, padding: '8px 22px' }}&gt;&#10;            &lt;Text style={{ fontSize: 17, color: '#FFFFFF' }}&gt;创新&lt;/Text&gt;&#10;          &lt;/Box&gt;&#10;          &lt;Box style={{ background: '#1E4FA8', borderRadius: 16, padding: '8px 22px' }}&gt;&#10;            &lt;Text style={{ fontSize: 17, color: '#FFFFFF' }}&gt;低成本&lt;/Text&gt;&#10;          &lt;/Box&gt;&#10;        &lt;/Box&gt;&#10;        &lt;Box style={{ flex: 1 }} /&gt;&#10;        &lt;Box style={{ borderLeft: '5px solid #1E4FA8', background: '#FFFFFF', borderRadius: 6, padding: '12px 18px' }}&gt;&#10;          &lt;Text style={{ fontSize: 19, color: '#1A2230', lineHeight: 1.6 }}&gt;与 5P 的 Position 呼应：定位描述“在哪里”，竞争优势解释“凭什么守住”。&lt;/Text&gt;&#10;        &lt;/Box&gt;&#10;      &lt;/Box&gt;&#10;    &lt;/Box&gt;&#10;    &lt;Box style={{ borderLeft: '6px solid #1E4FA8', background: '#E8EFF8', borderRadius: 8, padding: '13px 26px' }}&gt;&#10;      &lt;Text style={{ fontSize: 21, fontWeight: 'bold', color: '#0E3F8C' }}&gt;判断：场地选错，后面三要素再优也难以补救——经营范围是其余三要素的约束条件。&lt;/Text&gt;&#10;    &lt;/Box&gt;&#10;  &lt;/Box&gt;&#10;  &lt;Box style={{ height: 44, borderTop: '1px solid #D6DCE5', flexDirection: 'row', justifyContent: 'space-between', alignItems: 'center', padding: '0 40px', flexShrink: 0 }}&gt;&#10;    &lt;Text style={{ fontSize: 14, color: '#8B97A8' }}&gt;企业战略的构成要素 · 教学课件&lt;/Text&gt;&#10;    &lt;Text style={{ fontSize: 14, color: '#0E3F8C' }}&gt;06 / 16&lt;/Text&gt;&#10;  &lt;/Box&gt;&#10;&lt;/Slide&gt;"/>
        <p:cNvGrpSpPr/>
        <p:nvPr/>
      </p:nvGrpSpPr>
      <p:grpSpPr>
        <a:xfrm>
          <a:off x="0" y="0"/>
          <a:ext cx="0" cy="0"/>
          <a:chOff x="0" y="0"/>
          <a:chExt cx="0" cy="0"/>
        </a:xfrm>
      </p:grpSpPr>
      <p:sp>
        <p:nvSpPr>
          <p:cNvPr id="276" name="矩形 275"/>
          <p:cNvSpPr/>
          <p:nvPr/>
        </p:nvSpPr>
        <p:spPr>
          <a:xfrm>
            <a:off x="0" y="0"/>
            <a:ext cx="12192000" cy="6858000"/>
          </a:xfrm>
          <a:prstGeom prst="rect">
            <a:avLst/>
          </a:prstGeom>
          <a:solidFill>
            <a:srgbClr val="FFFFFF"/>
          </a:solidFill>
          <a:ln/>
        </p:spPr>
        <p:txBody>
          <a:bodyPr/>
          <a:lstStyle/>
          <a:p>
            <a:endParaRPr/>
          </a:p>
        </p:txBody>
      </p:sp>
      <p:sp>
        <p:nvSpPr>
          <p:cNvPr id="277" name="矩形 276"/>
          <p:cNvSpPr/>
          <p:nvPr/>
        </p:nvSpPr>
        <p:spPr>
          <a:xfrm>
            <a:off x="0" y="0"/>
            <a:ext cx="12192000" cy="685800"/>
          </a:xfrm>
          <a:prstGeom prst="rect">
            <a:avLst/>
          </a:prstGeom>
          <a:solidFill>
            <a:srgbClr val="0E3F8C"/>
          </a:solidFill>
          <a:ln/>
        </p:spPr>
        <p:txBody>
          <a:bodyPr/>
          <a:lstStyle/>
          <a:p>
            <a:endParaRPr/>
          </a:p>
        </p:txBody>
      </p:sp>
      <p:sp>
        <p:nvSpPr>
          <p:cNvPr id="278" name="文本框 277"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B8CCE8"/>
                </a:solidFill>
                <a:latin typeface="Microsoft YaHei"/>
                <a:ea typeface="Microsoft YaHei"/>
              </a:rPr>
              <a:t>战略管理</a:t>
            </a:r>
            <a:r>
              <a:rPr lang="en-US" sz="1125" spc="225">
                <a:solidFill>
                  <a:srgbClr val="B8CCE8"/>
                </a:solidFill>
                <a:latin typeface="Microsoft YaHei"/>
                <a:ea typeface="Microsoft YaHei"/>
              </a:rPr>
              <a:t> · STRATEGIC MANAGEMENT</a:t>
            </a:r>
            <a:endParaRPr/>
          </a:p>
        </p:txBody>
      </p:sp>
      <p:sp>
        <p:nvSpPr>
          <p:cNvPr id="279" name="文本框 278" descr="{&quot;isTemplate&quot;:true,&quot;type&quot;:&quot;text&quot;}"/>
          <p:cNvSpPr txBox="1"/>
          <p:nvPr/>
        </p:nvSpPr>
        <p:spPr>
          <a:xfrm>
            <a:off x="10629900" y="266700"/>
            <a:ext cx="1181100" cy="161925"/>
          </a:xfrm>
          <a:prstGeom prst="rect">
            <a:avLst/>
          </a:prstGeom>
        </p:spPr>
        <p:txBody>
          <a:bodyPr wrap="none" lIns="0" tIns="0" rIns="0" bIns="0"/>
          <a:lstStyle/>
          <a:p>
            <a:pPr>
              <a:lnSpc>
                <a:spcPct val="100000"/>
              </a:lnSpc>
            </a:pPr>
            <a:r>
              <a:rPr lang="zh-CN" sz="1050">
                <a:solidFill>
                  <a:srgbClr val="B8CCE8"/>
                </a:solidFill>
                <a:latin typeface="Microsoft YaHei"/>
                <a:ea typeface="Microsoft YaHei"/>
              </a:rPr>
              <a:t>第一章</a:t>
            </a:r>
            <a:r>
              <a:rPr lang="en-US" sz="1050">
                <a:solidFill>
                  <a:srgbClr val="B8CCE8"/>
                </a:solidFill>
                <a:latin typeface="Microsoft YaHei"/>
                <a:ea typeface="Microsoft YaHei"/>
              </a:rPr>
              <a:t> · </a:t>
            </a:r>
            <a:r>
              <a:rPr lang="zh-CN" sz="1050">
                <a:solidFill>
                  <a:srgbClr val="B8CCE8"/>
                </a:solidFill>
                <a:latin typeface="Microsoft YaHei"/>
                <a:ea typeface="Microsoft YaHei"/>
              </a:rPr>
              <a:t>四要素框架</a:t>
            </a:r>
            <a:endParaRPr/>
          </a:p>
        </p:txBody>
      </p:sp>
      <p:sp>
        <p:nvSpPr>
          <p:cNvPr id="280" name="文本框 279" descr="{&quot;isTemplate&quot;:true,&quot;type&quot;:&quot;text&quot;}"/>
          <p:cNvSpPr txBox="1"/>
          <p:nvPr/>
        </p:nvSpPr>
        <p:spPr>
          <a:xfrm>
            <a:off x="381000" y="8382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经营范围与竞争优势：场地与得分</a:t>
            </a:r>
            <a:endParaRPr/>
          </a:p>
        </p:txBody>
      </p:sp>
      <p:sp>
        <p:nvSpPr>
          <p:cNvPr id="281" name="文本框 280" descr="{&quot;isTemplate&quot;:true,&quot;type&quot;:&quot;text&quot;}"/>
          <p:cNvSpPr txBox="1"/>
          <p:nvPr/>
        </p:nvSpPr>
        <p:spPr>
          <a:xfrm>
            <a:off x="381000" y="1266825"/>
            <a:ext cx="11430000"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Scope: the Arena · Competitive Advantage: the Score</a:t>
            </a:r>
            <a:endParaRPr/>
          </a:p>
        </p:txBody>
      </p:sp>
      <p:sp>
        <p:nvSpPr>
          <p:cNvPr id="282" name="矩形: 圆角 281"/>
          <p:cNvSpPr/>
          <p:nvPr/>
        </p:nvSpPr>
        <p:spPr>
          <a:xfrm>
            <a:off x="381000" y="1485900"/>
            <a:ext cx="6734175" cy="4133850"/>
          </a:xfrm>
          <a:prstGeom prst="roundRect">
            <a:avLst>
              <a:gd name="adj" fmla="val 2765"/>
            </a:avLst>
          </a:prstGeom>
          <a:solidFill>
            <a:srgbClr val="FFFFFF"/>
          </a:solidFill>
          <a:ln w="12700">
            <a:solidFill>
              <a:srgbClr val="D6DCE5"/>
            </a:solidFill>
            <a:prstDash val="solid"/>
          </a:ln>
        </p:spPr>
        <p:txBody>
          <a:bodyPr/>
          <a:lstStyle/>
          <a:p>
            <a:endParaRPr/>
          </a:p>
        </p:txBody>
      </p:sp>
      <p:sp>
        <p:nvSpPr>
          <p:cNvPr id="283" name="文本框 282" descr="{&quot;isTemplate&quot;:true,&quot;type&quot;:&quot;text&quot;}"/>
          <p:cNvSpPr txBox="1"/>
          <p:nvPr/>
        </p:nvSpPr>
        <p:spPr>
          <a:xfrm>
            <a:off x="647700" y="1714500"/>
            <a:ext cx="990600" cy="304800"/>
          </a:xfrm>
          <a:prstGeom prst="rect">
            <a:avLst/>
          </a:prstGeom>
        </p:spPr>
        <p:txBody>
          <a:bodyPr wrap="none" lIns="0" tIns="0" rIns="0" bIns="0"/>
          <a:lstStyle/>
          <a:p>
            <a:pPr>
              <a:lnSpc>
                <a:spcPct val="100000"/>
              </a:lnSpc>
            </a:pPr>
            <a:r>
              <a:rPr lang="zh-CN" sz="1950" b="1">
                <a:solidFill>
                  <a:srgbClr val="0E3F8C"/>
                </a:solidFill>
                <a:latin typeface="Microsoft YaHei"/>
                <a:ea typeface="Microsoft YaHei"/>
              </a:rPr>
              <a:t>经营范围</a:t>
            </a:r>
            <a:endParaRPr/>
          </a:p>
        </p:txBody>
      </p:sp>
      <p:sp>
        <p:nvSpPr>
          <p:cNvPr id="284" name="矩形: 圆角 283"/>
          <p:cNvSpPr/>
          <p:nvPr/>
        </p:nvSpPr>
        <p:spPr>
          <a:xfrm>
            <a:off x="5772150" y="1743075"/>
            <a:ext cx="1076325" cy="257175"/>
          </a:xfrm>
          <a:prstGeom prst="roundRect">
            <a:avLst>
              <a:gd name="adj" fmla="val 51852"/>
            </a:avLst>
          </a:prstGeom>
          <a:solidFill>
            <a:srgbClr val="E8EFF8"/>
          </a:solidFill>
          <a:ln/>
        </p:spPr>
        <p:txBody>
          <a:bodyPr/>
          <a:lstStyle/>
          <a:p>
            <a:endParaRPr/>
          </a:p>
        </p:txBody>
      </p:sp>
      <p:sp>
        <p:nvSpPr>
          <p:cNvPr id="285" name="文本框 284" descr="{&quot;isTemplate&quot;:true,&quot;type&quot;:&quot;text&quot;}"/>
          <p:cNvSpPr txBox="1"/>
          <p:nvPr/>
        </p:nvSpPr>
        <p:spPr>
          <a:xfrm>
            <a:off x="5924550" y="1790700"/>
            <a:ext cx="771525" cy="161925"/>
          </a:xfrm>
          <a:prstGeom prst="rect">
            <a:avLst/>
          </a:prstGeom>
        </p:spPr>
        <p:txBody>
          <a:bodyPr wrap="none" lIns="0" tIns="0" rIns="0" bIns="0"/>
          <a:lstStyle/>
          <a:p>
            <a:pPr>
              <a:lnSpc>
                <a:spcPct val="100000"/>
              </a:lnSpc>
            </a:pPr>
            <a:r>
              <a:rPr lang="en-US" sz="1050">
                <a:solidFill>
                  <a:srgbClr val="1E4FA8"/>
                </a:solidFill>
                <a:latin typeface="Microsoft YaHei"/>
                <a:ea typeface="Microsoft YaHei"/>
              </a:rPr>
              <a:t>Scope · </a:t>
            </a:r>
            <a:r>
              <a:rPr lang="zh-CN" sz="1050">
                <a:solidFill>
                  <a:srgbClr val="1E4FA8"/>
                </a:solidFill>
                <a:latin typeface="Microsoft YaHei"/>
                <a:ea typeface="Microsoft YaHei"/>
              </a:rPr>
              <a:t>场地</a:t>
            </a:r>
            <a:endParaRPr/>
          </a:p>
        </p:txBody>
      </p:sp>
      <p:sp>
        <p:nvSpPr>
          <p:cNvPr id="286" name="文本框 285" descr="{&quot;isTemplate&quot;:true,&quot;type&quot;:&quot;text&quot;}"/>
          <p:cNvSpPr txBox="1"/>
          <p:nvPr/>
        </p:nvSpPr>
        <p:spPr>
          <a:xfrm>
            <a:off x="647700" y="2133600"/>
            <a:ext cx="6200775" cy="857250"/>
          </a:xfrm>
          <a:prstGeom prst="rect">
            <a:avLst/>
          </a:prstGeom>
        </p:spPr>
        <p:txBody>
          <a:bodyPr wrap="square" lIns="0" tIns="0" rIns="0" bIns="0">
            <a:normAutofit/>
          </a:bodyPr>
          <a:lstStyle/>
          <a:p>
            <a:pPr>
              <a:lnSpc>
                <a:spcPct val="170000"/>
              </a:lnSpc>
            </a:pPr>
            <a:r>
              <a:rPr lang="zh-CN" sz="1650">
                <a:solidFill>
                  <a:srgbClr val="1A2230"/>
                </a:solidFill>
                <a:latin typeface="Microsoft YaHei"/>
                <a:ea typeface="Microsoft YaHei"/>
              </a:rPr>
              <a:t>企业从事生产经营活动的领域——由产品边界、市场边界与多元化程度共同划定。</a:t>
            </a:r>
            <a:endParaRPr/>
          </a:p>
        </p:txBody>
      </p:sp>
      <p:sp>
        <p:nvSpPr>
          <p:cNvPr id="287" name="矩形: 圆角 286"/>
          <p:cNvSpPr/>
          <p:nvPr/>
        </p:nvSpPr>
        <p:spPr>
          <a:xfrm>
            <a:off x="647700" y="3143250"/>
            <a:ext cx="6200775" cy="942975"/>
          </a:xfrm>
          <a:prstGeom prst="roundRect">
            <a:avLst>
              <a:gd name="adj" fmla="val 8081"/>
            </a:avLst>
          </a:prstGeom>
          <a:solidFill>
            <a:srgbClr val="F7F9FC"/>
          </a:solidFill>
          <a:ln w="12700">
            <a:solidFill>
              <a:srgbClr val="E5E7EB"/>
            </a:solidFill>
            <a:prstDash val="solid"/>
          </a:ln>
        </p:spPr>
        <p:txBody>
          <a:bodyPr/>
          <a:lstStyle/>
          <a:p>
            <a:endParaRPr/>
          </a:p>
        </p:txBody>
      </p:sp>
      <p:sp>
        <p:nvSpPr>
          <p:cNvPr id="288" name="矩形: 圆角 287"/>
          <p:cNvSpPr/>
          <p:nvPr/>
        </p:nvSpPr>
        <p:spPr>
          <a:xfrm>
            <a:off x="819150" y="3429000"/>
            <a:ext cx="57150" cy="381000"/>
          </a:xfrm>
          <a:prstGeom prst="roundRect">
            <a:avLst>
              <a:gd name="adj" fmla="val 50000"/>
            </a:avLst>
          </a:prstGeom>
          <a:solidFill>
            <a:srgbClr val="3D7BD9"/>
          </a:solidFill>
          <a:ln/>
        </p:spPr>
        <p:txBody>
          <a:bodyPr/>
          <a:lstStyle/>
          <a:p>
            <a:endParaRPr/>
          </a:p>
        </p:txBody>
      </p:sp>
      <p:sp>
        <p:nvSpPr>
          <p:cNvPr id="289" name="文本框 288" descr="{&quot;isTemplate&quot;:true,&quot;type&quot;:&quot;text&quot;}"/>
          <p:cNvSpPr txBox="1"/>
          <p:nvPr/>
        </p:nvSpPr>
        <p:spPr>
          <a:xfrm>
            <a:off x="1009650" y="3257550"/>
            <a:ext cx="5667375" cy="714375"/>
          </a:xfrm>
          <a:prstGeom prst="rect">
            <a:avLst/>
          </a:prstGeom>
        </p:spPr>
        <p:txBody>
          <a:bodyPr wrap="square" lIns="0" tIns="0" rIns="0" bIns="0">
            <a:normAutofit/>
          </a:bodyPr>
          <a:lstStyle/>
          <a:p>
            <a:pPr>
              <a:lnSpc>
                <a:spcPct val="155000"/>
              </a:lnSpc>
            </a:pPr>
            <a:r>
              <a:rPr lang="zh-CN" sz="1500" b="1">
                <a:solidFill>
                  <a:srgbClr val="0E3F8C"/>
                </a:solidFill>
                <a:latin typeface="Microsoft YaHei"/>
                <a:ea typeface="Microsoft YaHei"/>
              </a:rPr>
              <a:t>麦当劳</a:t>
            </a:r>
            <a:r>
              <a:rPr lang="zh-CN" sz="1500">
                <a:solidFill>
                  <a:srgbClr val="1A2230"/>
                </a:solidFill>
                <a:latin typeface="Microsoft YaHei"/>
                <a:ea typeface="Microsoft YaHei"/>
              </a:rPr>
              <a:t>：聚焦餐饮连锁，产品与市场高度收敛，资源沿单一大规模市场铺开。</a:t>
            </a:r>
            <a:endParaRPr/>
          </a:p>
        </p:txBody>
      </p:sp>
      <p:sp>
        <p:nvSpPr>
          <p:cNvPr id="290" name="矩形: 圆角 289"/>
          <p:cNvSpPr/>
          <p:nvPr/>
        </p:nvSpPr>
        <p:spPr>
          <a:xfrm>
            <a:off x="647700" y="4200525"/>
            <a:ext cx="6200775" cy="942975"/>
          </a:xfrm>
          <a:prstGeom prst="roundRect">
            <a:avLst>
              <a:gd name="adj" fmla="val 8081"/>
            </a:avLst>
          </a:prstGeom>
          <a:solidFill>
            <a:srgbClr val="F7F9FC"/>
          </a:solidFill>
          <a:ln w="12700">
            <a:solidFill>
              <a:srgbClr val="E5E7EB"/>
            </a:solidFill>
            <a:prstDash val="solid"/>
          </a:ln>
        </p:spPr>
        <p:txBody>
          <a:bodyPr/>
          <a:lstStyle/>
          <a:p>
            <a:endParaRPr/>
          </a:p>
        </p:txBody>
      </p:sp>
      <p:sp>
        <p:nvSpPr>
          <p:cNvPr id="291" name="矩形: 圆角 290"/>
          <p:cNvSpPr/>
          <p:nvPr/>
        </p:nvSpPr>
        <p:spPr>
          <a:xfrm>
            <a:off x="819150" y="4486275"/>
            <a:ext cx="57150" cy="381000"/>
          </a:xfrm>
          <a:prstGeom prst="roundRect">
            <a:avLst>
              <a:gd name="adj" fmla="val 50000"/>
            </a:avLst>
          </a:prstGeom>
          <a:solidFill>
            <a:srgbClr val="3D7BD9"/>
          </a:solidFill>
          <a:ln/>
        </p:spPr>
        <p:txBody>
          <a:bodyPr/>
          <a:lstStyle/>
          <a:p>
            <a:endParaRPr/>
          </a:p>
        </p:txBody>
      </p:sp>
      <p:sp>
        <p:nvSpPr>
          <p:cNvPr id="292" name="文本框 291" descr="{&quot;isTemplate&quot;:true,&quot;type&quot;:&quot;text&quot;}"/>
          <p:cNvSpPr txBox="1"/>
          <p:nvPr/>
        </p:nvSpPr>
        <p:spPr>
          <a:xfrm>
            <a:off x="1009650" y="4314825"/>
            <a:ext cx="5667375" cy="714375"/>
          </a:xfrm>
          <a:prstGeom prst="rect">
            <a:avLst/>
          </a:prstGeom>
        </p:spPr>
        <p:txBody>
          <a:bodyPr wrap="square" lIns="0" tIns="0" rIns="0" bIns="0">
            <a:normAutofit/>
          </a:bodyPr>
          <a:lstStyle/>
          <a:p>
            <a:pPr>
              <a:lnSpc>
                <a:spcPct val="155000"/>
              </a:lnSpc>
            </a:pPr>
            <a:r>
              <a:rPr lang="zh-CN" sz="1500" b="1">
                <a:solidFill>
                  <a:srgbClr val="0E3F8C"/>
                </a:solidFill>
                <a:latin typeface="Microsoft YaHei"/>
                <a:ea typeface="Microsoft YaHei"/>
              </a:rPr>
              <a:t>通用电气</a:t>
            </a:r>
            <a:r>
              <a:rPr lang="zh-CN" sz="1500">
                <a:solidFill>
                  <a:srgbClr val="1A2230"/>
                </a:solidFill>
                <a:latin typeface="Microsoft YaHei"/>
                <a:ea typeface="Microsoft YaHei"/>
              </a:rPr>
              <a:t>：横跨航空、能源、医疗等多领域，范围宽广，考验资源是否够分。</a:t>
            </a:r>
            <a:endParaRPr/>
          </a:p>
        </p:txBody>
      </p:sp>
      <p:sp>
        <p:nvSpPr>
          <p:cNvPr id="293" name="文本框 292" descr="{&quot;isTemplate&quot;:true,&quot;type&quot;:&quot;text&quot;}"/>
          <p:cNvSpPr txBox="1"/>
          <p:nvPr/>
        </p:nvSpPr>
        <p:spPr>
          <a:xfrm>
            <a:off x="647700" y="5200650"/>
            <a:ext cx="6200775" cy="190500"/>
          </a:xfrm>
          <a:prstGeom prst="rect">
            <a:avLst/>
          </a:prstGeom>
        </p:spPr>
        <p:txBody>
          <a:bodyPr wrap="none" lIns="0" tIns="0" rIns="0" bIns="0"/>
          <a:lstStyle/>
          <a:p>
            <a:pPr>
              <a:lnSpc>
                <a:spcPct val="100000"/>
              </a:lnSpc>
            </a:pPr>
            <a:r>
              <a:rPr lang="zh-CN" sz="1200">
                <a:solidFill>
                  <a:srgbClr val="8B97A8"/>
                </a:solidFill>
                <a:latin typeface="Microsoft YaHei"/>
                <a:ea typeface="Microsoft YaHei"/>
              </a:rPr>
              <a:t>宽窄没有对错，关键是与资源配置能力相匹配</a:t>
            </a:r>
            <a:endParaRPr/>
          </a:p>
        </p:txBody>
      </p:sp>
      <p:sp>
        <p:nvSpPr>
          <p:cNvPr id="294" name="矩形: 圆角 293"/>
          <p:cNvSpPr/>
          <p:nvPr/>
        </p:nvSpPr>
        <p:spPr>
          <a:xfrm>
            <a:off x="7324725" y="1485900"/>
            <a:ext cx="4486275" cy="4133850"/>
          </a:xfrm>
          <a:prstGeom prst="roundRect">
            <a:avLst>
              <a:gd name="adj" fmla="val 2765"/>
            </a:avLst>
          </a:prstGeom>
          <a:solidFill>
            <a:srgbClr val="F0F5FC"/>
          </a:solidFill>
          <a:ln w="12700">
            <a:solidFill>
              <a:srgbClr val="D6DCE5"/>
            </a:solidFill>
            <a:prstDash val="solid"/>
          </a:ln>
        </p:spPr>
        <p:txBody>
          <a:bodyPr/>
          <a:lstStyle/>
          <a:p>
            <a:endParaRPr/>
          </a:p>
        </p:txBody>
      </p:sp>
      <p:sp>
        <p:nvSpPr>
          <p:cNvPr id="295" name="文本框 294" descr="{&quot;isTemplate&quot;:true,&quot;type&quot;:&quot;text&quot;}"/>
          <p:cNvSpPr txBox="1"/>
          <p:nvPr/>
        </p:nvSpPr>
        <p:spPr>
          <a:xfrm>
            <a:off x="7591425" y="1714500"/>
            <a:ext cx="990600" cy="304800"/>
          </a:xfrm>
          <a:prstGeom prst="rect">
            <a:avLst/>
          </a:prstGeom>
        </p:spPr>
        <p:txBody>
          <a:bodyPr wrap="none" lIns="0" tIns="0" rIns="0" bIns="0"/>
          <a:lstStyle/>
          <a:p>
            <a:pPr>
              <a:lnSpc>
                <a:spcPct val="100000"/>
              </a:lnSpc>
            </a:pPr>
            <a:r>
              <a:rPr lang="zh-CN" sz="1950" b="1">
                <a:solidFill>
                  <a:srgbClr val="0E3F8C"/>
                </a:solidFill>
                <a:latin typeface="Microsoft YaHei"/>
                <a:ea typeface="Microsoft YaHei"/>
              </a:rPr>
              <a:t>竞争优势</a:t>
            </a:r>
            <a:endParaRPr/>
          </a:p>
        </p:txBody>
      </p:sp>
      <p:sp>
        <p:nvSpPr>
          <p:cNvPr id="296" name="矩形: 圆角 295"/>
          <p:cNvSpPr/>
          <p:nvPr/>
        </p:nvSpPr>
        <p:spPr>
          <a:xfrm>
            <a:off x="10172700" y="1743075"/>
            <a:ext cx="1371600" cy="257175"/>
          </a:xfrm>
          <a:prstGeom prst="roundRect">
            <a:avLst>
              <a:gd name="adj" fmla="val 51852"/>
            </a:avLst>
          </a:prstGeom>
          <a:solidFill>
            <a:srgbClr val="E8EFF8"/>
          </a:solidFill>
          <a:ln/>
        </p:spPr>
        <p:txBody>
          <a:bodyPr/>
          <a:lstStyle/>
          <a:p>
            <a:endParaRPr/>
          </a:p>
        </p:txBody>
      </p:sp>
      <p:sp>
        <p:nvSpPr>
          <p:cNvPr id="297" name="文本框 296" descr="{&quot;isTemplate&quot;:true,&quot;type&quot;:&quot;text&quot;}"/>
          <p:cNvSpPr txBox="1"/>
          <p:nvPr/>
        </p:nvSpPr>
        <p:spPr>
          <a:xfrm>
            <a:off x="10325100" y="1790700"/>
            <a:ext cx="1066800" cy="161925"/>
          </a:xfrm>
          <a:prstGeom prst="rect">
            <a:avLst/>
          </a:prstGeom>
        </p:spPr>
        <p:txBody>
          <a:bodyPr wrap="none" lIns="0" tIns="0" rIns="0" bIns="0"/>
          <a:lstStyle/>
          <a:p>
            <a:pPr>
              <a:lnSpc>
                <a:spcPct val="100000"/>
              </a:lnSpc>
            </a:pPr>
            <a:r>
              <a:rPr lang="en-US" sz="1050">
                <a:solidFill>
                  <a:srgbClr val="1E4FA8"/>
                </a:solidFill>
                <a:latin typeface="Microsoft YaHei"/>
                <a:ea typeface="Microsoft YaHei"/>
              </a:rPr>
              <a:t>Advantage · </a:t>
            </a:r>
            <a:r>
              <a:rPr lang="zh-CN" sz="1050">
                <a:solidFill>
                  <a:srgbClr val="1E4FA8"/>
                </a:solidFill>
                <a:latin typeface="Microsoft YaHei"/>
                <a:ea typeface="Microsoft YaHei"/>
              </a:rPr>
              <a:t>得分</a:t>
            </a:r>
            <a:endParaRPr/>
          </a:p>
        </p:txBody>
      </p:sp>
      <p:sp>
        <p:nvSpPr>
          <p:cNvPr id="298" name="文本框 297" descr="{&quot;isTemplate&quot;:true,&quot;type&quot;:&quot;text&quot;}"/>
          <p:cNvSpPr txBox="1"/>
          <p:nvPr/>
        </p:nvSpPr>
        <p:spPr>
          <a:xfrm>
            <a:off x="7591425" y="2133600"/>
            <a:ext cx="3952875" cy="1285875"/>
          </a:xfrm>
          <a:prstGeom prst="rect">
            <a:avLst/>
          </a:prstGeom>
        </p:spPr>
        <p:txBody>
          <a:bodyPr wrap="square" lIns="0" tIns="0" rIns="0" bIns="0">
            <a:normAutofit/>
          </a:bodyPr>
          <a:lstStyle/>
          <a:p>
            <a:pPr>
              <a:lnSpc>
                <a:spcPct val="170000"/>
              </a:lnSpc>
            </a:pPr>
            <a:r>
              <a:rPr lang="zh-CN" sz="1650">
                <a:solidFill>
                  <a:srgbClr val="1A2230"/>
                </a:solidFill>
                <a:latin typeface="Microsoft YaHei"/>
                <a:ea typeface="Microsoft YaHei"/>
              </a:rPr>
              <a:t>通过资源配置的模式与经营范围的决策，在市场上形成的与竞争对手不同的竞争地位。</a:t>
            </a:r>
            <a:endParaRPr/>
          </a:p>
        </p:txBody>
      </p:sp>
      <p:sp>
        <p:nvSpPr>
          <p:cNvPr id="299" name="矩形: 圆角 298"/>
          <p:cNvSpPr/>
          <p:nvPr/>
        </p:nvSpPr>
        <p:spPr>
          <a:xfrm>
            <a:off x="7591425" y="3590925"/>
            <a:ext cx="742950" cy="352425"/>
          </a:xfrm>
          <a:prstGeom prst="roundRect">
            <a:avLst>
              <a:gd name="adj" fmla="val 43243"/>
            </a:avLst>
          </a:prstGeom>
          <a:solidFill>
            <a:srgbClr val="1E4FA8"/>
          </a:solidFill>
          <a:ln/>
        </p:spPr>
        <p:txBody>
          <a:bodyPr/>
          <a:lstStyle/>
          <a:p>
            <a:endParaRPr/>
          </a:p>
        </p:txBody>
      </p:sp>
      <p:sp>
        <p:nvSpPr>
          <p:cNvPr id="300" name="文本框 299" descr="{&quot;isTemplate&quot;:true,&quot;type&quot;:&quot;text&quot;}"/>
          <p:cNvSpPr txBox="1"/>
          <p:nvPr/>
        </p:nvSpPr>
        <p:spPr>
          <a:xfrm>
            <a:off x="7800975" y="3667125"/>
            <a:ext cx="323850" cy="200025"/>
          </a:xfrm>
          <a:prstGeom prst="rect">
            <a:avLst/>
          </a:prstGeom>
        </p:spPr>
        <p:txBody>
          <a:bodyPr wrap="none" lIns="0" tIns="0" rIns="0" bIns="0"/>
          <a:lstStyle/>
          <a:p>
            <a:pPr>
              <a:lnSpc>
                <a:spcPct val="100000"/>
              </a:lnSpc>
            </a:pPr>
            <a:r>
              <a:rPr lang="zh-CN" sz="1275">
                <a:solidFill>
                  <a:srgbClr val="FFFFFF"/>
                </a:solidFill>
                <a:latin typeface="Microsoft YaHei"/>
                <a:ea typeface="Microsoft YaHei"/>
              </a:rPr>
              <a:t>创新</a:t>
            </a:r>
            <a:endParaRPr/>
          </a:p>
        </p:txBody>
      </p:sp>
      <p:sp>
        <p:nvSpPr>
          <p:cNvPr id="301" name="矩形: 圆角 300"/>
          <p:cNvSpPr/>
          <p:nvPr/>
        </p:nvSpPr>
        <p:spPr>
          <a:xfrm>
            <a:off x="8467725" y="3590925"/>
            <a:ext cx="904875" cy="352425"/>
          </a:xfrm>
          <a:prstGeom prst="roundRect">
            <a:avLst>
              <a:gd name="adj" fmla="val 43243"/>
            </a:avLst>
          </a:prstGeom>
          <a:solidFill>
            <a:srgbClr val="1E4FA8"/>
          </a:solidFill>
          <a:ln/>
        </p:spPr>
        <p:txBody>
          <a:bodyPr/>
          <a:lstStyle/>
          <a:p>
            <a:endParaRPr/>
          </a:p>
        </p:txBody>
      </p:sp>
      <p:sp>
        <p:nvSpPr>
          <p:cNvPr id="302" name="文本框 301" descr="{&quot;isTemplate&quot;:true,&quot;type&quot;:&quot;text&quot;}"/>
          <p:cNvSpPr txBox="1"/>
          <p:nvPr/>
        </p:nvSpPr>
        <p:spPr>
          <a:xfrm>
            <a:off x="8677275" y="3667125"/>
            <a:ext cx="485775" cy="200025"/>
          </a:xfrm>
          <a:prstGeom prst="rect">
            <a:avLst/>
          </a:prstGeom>
        </p:spPr>
        <p:txBody>
          <a:bodyPr wrap="none" lIns="0" tIns="0" rIns="0" bIns="0"/>
          <a:lstStyle/>
          <a:p>
            <a:pPr>
              <a:lnSpc>
                <a:spcPct val="100000"/>
              </a:lnSpc>
            </a:pPr>
            <a:r>
              <a:rPr lang="zh-CN" sz="1275">
                <a:solidFill>
                  <a:srgbClr val="FFFFFF"/>
                </a:solidFill>
                <a:latin typeface="Microsoft YaHei"/>
                <a:ea typeface="Microsoft YaHei"/>
              </a:rPr>
              <a:t>低成本</a:t>
            </a:r>
            <a:endParaRPr/>
          </a:p>
        </p:txBody>
      </p:sp>
      <p:sp>
        <p:nvSpPr>
          <p:cNvPr id="303" name="矩形: 圆角 302"/>
          <p:cNvSpPr/>
          <p:nvPr/>
        </p:nvSpPr>
        <p:spPr>
          <a:xfrm>
            <a:off x="7639050" y="4467225"/>
            <a:ext cx="3952875" cy="923925"/>
          </a:xfrm>
          <a:prstGeom prst="roundRect">
            <a:avLst>
              <a:gd name="adj" fmla="val 6186"/>
            </a:avLst>
          </a:prstGeom>
          <a:solidFill>
            <a:srgbClr val="FFFFFF"/>
          </a:solidFill>
          <a:ln/>
        </p:spPr>
        <p:txBody>
          <a:bodyPr/>
          <a:lstStyle/>
          <a:p>
            <a:endParaRPr/>
          </a:p>
        </p:txBody>
      </p:sp>
      <p:sp>
        <p:nvSpPr>
          <p:cNvPr id="304" name="任意多边形: 形状 303"/>
          <p:cNvSpPr/>
          <p:nvPr/>
        </p:nvSpPr>
        <p:spPr>
          <a:xfrm>
            <a:off x="7639050" y="4467225"/>
            <a:ext cx="3952875" cy="923925"/>
          </a:xfrm>
          <a:custGeom>
            <a:avLst/>
            <a:gdLst/>
            <a:ahLst/>
            <a:cxnLst/>
            <a:rect l="0" t="0" r="0" b="0"/>
            <a:pathLst>
              <a:path w="415" h="97">
                <a:moveTo>
                  <a:pt x="6" y="0"/>
                </a:moveTo>
                <a:cubicBezTo>
                  <a:pt x="5" y="0"/>
                  <a:pt x="5" y="0"/>
                  <a:pt x="5" y="1"/>
                </a:cubicBezTo>
                <a:lnTo>
                  <a:pt x="5" y="96"/>
                </a:lnTo>
                <a:cubicBezTo>
                  <a:pt x="5" y="97"/>
                  <a:pt x="5" y="97"/>
                  <a:pt x="6" y="97"/>
                </a:cubicBezTo>
                <a:cubicBezTo>
                  <a:pt x="3" y="97"/>
                  <a:pt x="0" y="94"/>
                  <a:pt x="0" y="91"/>
                </a:cubicBezTo>
                <a:lnTo>
                  <a:pt x="0" y="6"/>
                </a:lnTo>
                <a:cubicBezTo>
                  <a:pt x="0" y="3"/>
                  <a:pt x="3" y="0"/>
                  <a:pt x="6" y="0"/>
                </a:cubicBezTo>
                <a:close/>
              </a:path>
            </a:pathLst>
          </a:custGeom>
          <a:solidFill>
            <a:srgbClr val="1E4FA8"/>
          </a:solidFill>
          <a:ln/>
        </p:spPr>
        <p:txBody>
          <a:bodyPr/>
          <a:lstStyle/>
          <a:p>
            <a:endParaRPr/>
          </a:p>
        </p:txBody>
      </p:sp>
      <p:sp>
        <p:nvSpPr>
          <p:cNvPr id="305" name="文本框 304" descr="{&quot;isTemplate&quot;:true,&quot;type&quot;:&quot;text&quot;}"/>
          <p:cNvSpPr txBox="1"/>
          <p:nvPr/>
        </p:nvSpPr>
        <p:spPr>
          <a:xfrm>
            <a:off x="7810500" y="4581525"/>
            <a:ext cx="3562350" cy="695325"/>
          </a:xfrm>
          <a:prstGeom prst="rect">
            <a:avLst/>
          </a:prstGeom>
        </p:spPr>
        <p:txBody>
          <a:bodyPr wrap="square" lIns="0" tIns="0" rIns="0" bIns="0">
            <a:normAutofit/>
          </a:bodyPr>
          <a:lstStyle/>
          <a:p>
            <a:pPr>
              <a:lnSpc>
                <a:spcPct val="160000"/>
              </a:lnSpc>
            </a:pPr>
            <a:r>
              <a:rPr lang="zh-CN" sz="1425">
                <a:solidFill>
                  <a:srgbClr val="1A2230"/>
                </a:solidFill>
                <a:latin typeface="Microsoft YaHei"/>
                <a:ea typeface="Microsoft YaHei"/>
              </a:rPr>
              <a:t>与</a:t>
            </a:r>
            <a:r>
              <a:rPr lang="en-US" sz="1425">
                <a:solidFill>
                  <a:srgbClr val="1A2230"/>
                </a:solidFill>
                <a:latin typeface="Microsoft YaHei"/>
                <a:ea typeface="Microsoft YaHei"/>
              </a:rPr>
              <a:t> 5P </a:t>
            </a:r>
            <a:r>
              <a:rPr lang="zh-CN" sz="1425">
                <a:solidFill>
                  <a:srgbClr val="1A2230"/>
                </a:solidFill>
                <a:latin typeface="Microsoft YaHei"/>
                <a:ea typeface="Microsoft YaHei"/>
              </a:rPr>
              <a:t>的</a:t>
            </a:r>
            <a:r>
              <a:rPr lang="en-US" sz="1425">
                <a:solidFill>
                  <a:srgbClr val="1A2230"/>
                </a:solidFill>
                <a:latin typeface="Microsoft YaHei"/>
                <a:ea typeface="Microsoft YaHei"/>
              </a:rPr>
              <a:t> Position </a:t>
            </a:r>
            <a:r>
              <a:rPr lang="zh-CN" sz="1425">
                <a:solidFill>
                  <a:srgbClr val="1A2230"/>
                </a:solidFill>
                <a:latin typeface="Microsoft YaHei"/>
                <a:ea typeface="Microsoft YaHei"/>
              </a:rPr>
              <a:t>呼应：定位描述“在哪里”，竞争优势解释“凭什么守住”。</a:t>
            </a:r>
            <a:endParaRPr/>
          </a:p>
        </p:txBody>
      </p:sp>
      <p:sp>
        <p:nvSpPr>
          <p:cNvPr id="306" name="矩形: 圆角 305"/>
          <p:cNvSpPr/>
          <p:nvPr/>
        </p:nvSpPr>
        <p:spPr>
          <a:xfrm>
            <a:off x="438150" y="5772150"/>
            <a:ext cx="11430000" cy="495300"/>
          </a:xfrm>
          <a:prstGeom prst="roundRect">
            <a:avLst>
              <a:gd name="adj" fmla="val 15385"/>
            </a:avLst>
          </a:prstGeom>
          <a:solidFill>
            <a:srgbClr val="E8EFF8"/>
          </a:solidFill>
          <a:ln/>
        </p:spPr>
        <p:txBody>
          <a:bodyPr/>
          <a:lstStyle/>
          <a:p>
            <a:endParaRPr/>
          </a:p>
        </p:txBody>
      </p:sp>
      <p:sp>
        <p:nvSpPr>
          <p:cNvPr id="307" name="任意多边形: 形状 306"/>
          <p:cNvSpPr/>
          <p:nvPr/>
        </p:nvSpPr>
        <p:spPr>
          <a:xfrm>
            <a:off x="438150" y="5772150"/>
            <a:ext cx="11430000" cy="495300"/>
          </a:xfrm>
          <a:custGeom>
            <a:avLst/>
            <a:gdLst/>
            <a:ahLst/>
            <a:cxnLst/>
            <a:rect l="0" t="0" r="0" b="0"/>
            <a:pathLst>
              <a:path w="1200" h="52">
                <a:moveTo>
                  <a:pt x="8" y="0"/>
                </a:moveTo>
                <a:cubicBezTo>
                  <a:pt x="7" y="0"/>
                  <a:pt x="6" y="1"/>
                  <a:pt x="6" y="2"/>
                </a:cubicBezTo>
                <a:lnTo>
                  <a:pt x="6" y="50"/>
                </a:lnTo>
                <a:cubicBezTo>
                  <a:pt x="6" y="51"/>
                  <a:pt x="7" y="52"/>
                  <a:pt x="8" y="52"/>
                </a:cubicBezTo>
                <a:cubicBezTo>
                  <a:pt x="3" y="52"/>
                  <a:pt x="0" y="48"/>
                  <a:pt x="0" y="44"/>
                </a:cubicBezTo>
                <a:lnTo>
                  <a:pt x="0" y="8"/>
                </a:lnTo>
                <a:cubicBezTo>
                  <a:pt x="0" y="4"/>
                  <a:pt x="4" y="0"/>
                  <a:pt x="8" y="0"/>
                </a:cubicBezTo>
                <a:close/>
              </a:path>
            </a:pathLst>
          </a:custGeom>
          <a:solidFill>
            <a:srgbClr val="1E4FA8"/>
          </a:solidFill>
          <a:ln/>
        </p:spPr>
        <p:txBody>
          <a:bodyPr/>
          <a:lstStyle/>
          <a:p>
            <a:endParaRPr/>
          </a:p>
        </p:txBody>
      </p:sp>
      <p:sp>
        <p:nvSpPr>
          <p:cNvPr id="308" name="文本框 307" descr="{&quot;isTemplate&quot;:true,&quot;type&quot;:&quot;text&quot;}"/>
          <p:cNvSpPr txBox="1"/>
          <p:nvPr/>
        </p:nvSpPr>
        <p:spPr>
          <a:xfrm>
            <a:off x="685800" y="5895975"/>
            <a:ext cx="10877550" cy="247650"/>
          </a:xfrm>
          <a:prstGeom prst="rect">
            <a:avLst/>
          </a:prstGeom>
        </p:spPr>
        <p:txBody>
          <a:bodyPr wrap="none" lIns="0" tIns="0" rIns="0" bIns="0"/>
          <a:lstStyle/>
          <a:p>
            <a:pPr>
              <a:lnSpc>
                <a:spcPct val="100000"/>
              </a:lnSpc>
            </a:pPr>
            <a:r>
              <a:rPr lang="zh-CN" sz="1575" b="1">
                <a:solidFill>
                  <a:srgbClr val="0E3F8C"/>
                </a:solidFill>
                <a:latin typeface="Microsoft YaHei"/>
                <a:ea typeface="Microsoft YaHei"/>
              </a:rPr>
              <a:t>判断：场地选错，后面三要素再优也难以补救——经营范围是其余三要素的约束条件。</a:t>
            </a:r>
            <a:endParaRPr/>
          </a:p>
        </p:txBody>
      </p:sp>
      <p:sp>
        <p:nvSpPr>
          <p:cNvPr id="309" name="任意多边形: 形状 308"/>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D6DCE5"/>
          </a:solidFill>
          <a:ln/>
        </p:spPr>
        <p:txBody>
          <a:bodyPr/>
          <a:lstStyle/>
          <a:p>
            <a:endParaRPr/>
          </a:p>
        </p:txBody>
      </p:sp>
      <p:sp>
        <p:nvSpPr>
          <p:cNvPr id="310" name="文本框 309" descr="{&quot;isTemplate&quot;:true,&quot;type&quot;:&quot;text&quot;}"/>
          <p:cNvSpPr txBox="1"/>
          <p:nvPr/>
        </p:nvSpPr>
        <p:spPr>
          <a:xfrm>
            <a:off x="381000" y="6572250"/>
            <a:ext cx="18478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企业战略的构成要素</a:t>
            </a:r>
            <a:r>
              <a:rPr lang="en-US" sz="1050">
                <a:solidFill>
                  <a:srgbClr val="8B97A8"/>
                </a:solidFill>
                <a:latin typeface="Microsoft YaHei"/>
                <a:ea typeface="Microsoft YaHei"/>
              </a:rPr>
              <a:t> · </a:t>
            </a:r>
            <a:r>
              <a:rPr lang="zh-CN" sz="1050">
                <a:solidFill>
                  <a:srgbClr val="8B97A8"/>
                </a:solidFill>
                <a:latin typeface="Microsoft YaHei"/>
                <a:ea typeface="Microsoft YaHei"/>
              </a:rPr>
              <a:t>教学课件</a:t>
            </a:r>
            <a:endParaRPr/>
          </a:p>
        </p:txBody>
      </p:sp>
      <p:sp>
        <p:nvSpPr>
          <p:cNvPr id="311" name="文本框 310" descr="{&quot;isTemplate&quot;:true,&quot;type&quot;:&quot;text&quot;}"/>
          <p:cNvSpPr txBox="1"/>
          <p:nvPr/>
        </p:nvSpPr>
        <p:spPr>
          <a:xfrm>
            <a:off x="11353800" y="6572250"/>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06 / 16</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0E3F8C', display: 'flex', flexDirection: 'column', justifyContent: 'center', padding: '0 110px' }}&gt;&#10;  &lt;Box style={{ flexDirection: 'row', alignItems: 'center', gap: 56 }}&gt;&#10;    &lt;Text style={{ fontSize: 220, fontWeight: 'bold', color: '#FFFFFF', flexShrink: 0 }}&gt;02&lt;/Text&gt;&#10;    &lt;Box style={{ flexDirection: 'column' }}&gt;&#10;      &lt;Text style={{ fontSize: 15, color: '#8FB3E8', letterSpacing: 5 }}&gt;CHAPTER 02&lt;/Text&gt;&#10;      &lt;Text style={{ fontSize: 44, fontWeight: 'bold', color: '#FFFFFF', marginTop: 14 }}&gt;资源配置——战略的实弹&lt;/Text&gt;&#10;      &lt;Box style={{ width: 72, height: 3, background: '#3D7BD9', marginTop: 26 }} /&gt;&#10;      &lt;Box style={{ flexDirection: 'column', gap: 12, marginTop: 28 }}&gt;&#10;        &lt;Box style={{ flexDirection: 'row', gap: 12, alignItems: 'center' }}&gt;&#10;          &lt;Box style={{ width: 8, height: 8, background: '#3D7BD9', borderRadius: 4 }} /&gt;&#10;          &lt;Text style={{ fontSize: 18, color: '#B8CCE8' }}&gt;两个维度：配置水平（投多少）× 配置模式（投到哪）&lt;/Text&gt;&#10;        &lt;/Box&gt;&#10;        &lt;Box style={{ flexDirection: 'row', gap: 12, alignItems: 'center' }}&gt;&#10;          &lt;Box style={{ width: 8, height: 8, background: '#3D7BD9', borderRadius: 4 }} /&gt;&#10;          &lt;Text style={{ fontSize: 18, color: '#B8CCE8' }}&gt;三个关键命题：配置生优势 · 一致性 · 集中与分散&lt;/Text&gt;&#10;        &lt;/Box&gt;&#10;        &lt;Box style={{ flexDirection: 'row', gap: 12, alignItems: 'center' }}&gt;&#10;          &lt;Box style={{ width: 8, height: 8, background: '#3D7BD9', borderRadius: 4 }} /&gt;&#10;          &lt;Text style={{ fontSize: 18, color: '#B8CCE8' }}&gt;实例：华为的研发资源配置（2024 年报数据）&lt;/Text&gt;&#10;        &lt;/Box&gt;&#10;      &lt;/Box&gt;&#10;    &lt;/Box&gt;&#10;  &lt;/Box&gt;&#10;  &lt;Box style={{ position: 'absolute', bottom: 44, right: 64 }}&gt;&#10;    &lt;Text style={{ fontSize: 14, color: '#8FB3E8' }}&gt;第 2 章 / 共 3 章&lt;/Text&gt;&#10;  &lt;/Box&gt;&#10;&lt;/Slide&gt;"/>
        <p:cNvGrpSpPr/>
        <p:nvPr/>
      </p:nvGrpSpPr>
      <p:grpSpPr>
        <a:xfrm>
          <a:off x="0" y="0"/>
          <a:ext cx="0" cy="0"/>
          <a:chOff x="0" y="0"/>
          <a:chExt cx="0" cy="0"/>
        </a:xfrm>
      </p:grpSpPr>
      <p:sp>
        <p:nvSpPr>
          <p:cNvPr id="313" name="矩形 312"/>
          <p:cNvSpPr/>
          <p:nvPr/>
        </p:nvSpPr>
        <p:spPr>
          <a:xfrm>
            <a:off x="0" y="0"/>
            <a:ext cx="12192000" cy="6858000"/>
          </a:xfrm>
          <a:prstGeom prst="rect">
            <a:avLst/>
          </a:prstGeom>
          <a:solidFill>
            <a:srgbClr val="0E3F8C"/>
          </a:solidFill>
          <a:ln/>
        </p:spPr>
        <p:txBody>
          <a:bodyPr/>
          <a:lstStyle/>
          <a:p>
            <a:endParaRPr/>
          </a:p>
        </p:txBody>
      </p:sp>
      <p:sp>
        <p:nvSpPr>
          <p:cNvPr id="314" name="文本框 313" descr="{&quot;isTemplate&quot;:true,&quot;type&quot;:&quot;text&quot;}"/>
          <p:cNvSpPr txBox="1"/>
          <p:nvPr/>
        </p:nvSpPr>
        <p:spPr>
          <a:xfrm>
            <a:off x="1047750" y="2171700"/>
            <a:ext cx="2590800" cy="2514600"/>
          </a:xfrm>
          <a:prstGeom prst="rect">
            <a:avLst/>
          </a:prstGeom>
        </p:spPr>
        <p:txBody>
          <a:bodyPr wrap="none" lIns="0" tIns="0" rIns="0" bIns="0"/>
          <a:lstStyle/>
          <a:p>
            <a:pPr>
              <a:lnSpc>
                <a:spcPct val="100000"/>
              </a:lnSpc>
            </a:pPr>
            <a:r>
              <a:rPr lang="en-US" sz="16500" b="1">
                <a:solidFill>
                  <a:srgbClr val="FFFFFF"/>
                </a:solidFill>
                <a:latin typeface="Microsoft YaHei"/>
                <a:ea typeface="Microsoft YaHei"/>
              </a:rPr>
              <a:t>02</a:t>
            </a:r>
            <a:endParaRPr/>
          </a:p>
        </p:txBody>
      </p:sp>
      <p:sp>
        <p:nvSpPr>
          <p:cNvPr id="315" name="文本框 314" descr="{&quot;isTemplate&quot;:true,&quot;type&quot;:&quot;text&quot;}"/>
          <p:cNvSpPr txBox="1"/>
          <p:nvPr/>
        </p:nvSpPr>
        <p:spPr>
          <a:xfrm>
            <a:off x="4171950" y="2324100"/>
            <a:ext cx="4686300" cy="171450"/>
          </a:xfrm>
          <a:prstGeom prst="rect">
            <a:avLst/>
          </a:prstGeom>
        </p:spPr>
        <p:txBody>
          <a:bodyPr wrap="none" lIns="0" tIns="0" rIns="0" bIns="0"/>
          <a:lstStyle/>
          <a:p>
            <a:pPr>
              <a:lnSpc>
                <a:spcPct val="100000"/>
              </a:lnSpc>
            </a:pPr>
            <a:r>
              <a:rPr lang="en-US" sz="1125" spc="375">
                <a:solidFill>
                  <a:srgbClr val="8FB3E8"/>
                </a:solidFill>
                <a:latin typeface="Microsoft YaHei"/>
                <a:ea typeface="Microsoft YaHei"/>
              </a:rPr>
              <a:t>CHAPTER 02</a:t>
            </a:r>
            <a:endParaRPr/>
          </a:p>
        </p:txBody>
      </p:sp>
      <p:sp>
        <p:nvSpPr>
          <p:cNvPr id="316" name="文本框 315" descr="{&quot;isTemplate&quot;:true,&quot;type&quot;:&quot;text&quot;}"/>
          <p:cNvSpPr txBox="1"/>
          <p:nvPr/>
        </p:nvSpPr>
        <p:spPr>
          <a:xfrm>
            <a:off x="4171950" y="2628900"/>
            <a:ext cx="4686300" cy="504825"/>
          </a:xfrm>
          <a:prstGeom prst="rect">
            <a:avLst/>
          </a:prstGeom>
        </p:spPr>
        <p:txBody>
          <a:bodyPr wrap="none" lIns="0" tIns="0" rIns="0" bIns="0"/>
          <a:lstStyle/>
          <a:p>
            <a:pPr>
              <a:lnSpc>
                <a:spcPct val="100000"/>
              </a:lnSpc>
            </a:pPr>
            <a:r>
              <a:rPr lang="zh-CN" sz="3300" b="1">
                <a:solidFill>
                  <a:srgbClr val="FFFFFF"/>
                </a:solidFill>
                <a:latin typeface="Microsoft YaHei"/>
                <a:ea typeface="Microsoft YaHei"/>
              </a:rPr>
              <a:t>资源配置——战略的实弹</a:t>
            </a:r>
            <a:endParaRPr/>
          </a:p>
        </p:txBody>
      </p:sp>
      <p:sp>
        <p:nvSpPr>
          <p:cNvPr id="317" name="矩形 316"/>
          <p:cNvSpPr/>
          <p:nvPr/>
        </p:nvSpPr>
        <p:spPr>
          <a:xfrm>
            <a:off x="4171950" y="3381375"/>
            <a:ext cx="685800" cy="28575"/>
          </a:xfrm>
          <a:prstGeom prst="rect">
            <a:avLst/>
          </a:prstGeom>
          <a:solidFill>
            <a:srgbClr val="3D7BD9"/>
          </a:solidFill>
          <a:ln/>
        </p:spPr>
        <p:txBody>
          <a:bodyPr/>
          <a:lstStyle/>
          <a:p>
            <a:endParaRPr/>
          </a:p>
        </p:txBody>
      </p:sp>
      <p:sp>
        <p:nvSpPr>
          <p:cNvPr id="318" name="矩形: 圆角 317"/>
          <p:cNvSpPr/>
          <p:nvPr/>
        </p:nvSpPr>
        <p:spPr>
          <a:xfrm>
            <a:off x="4171950" y="3743325"/>
            <a:ext cx="76200" cy="76200"/>
          </a:xfrm>
          <a:prstGeom prst="roundRect">
            <a:avLst>
              <a:gd name="adj" fmla="val 50000"/>
            </a:avLst>
          </a:prstGeom>
          <a:solidFill>
            <a:srgbClr val="3D7BD9"/>
          </a:solidFill>
          <a:ln/>
        </p:spPr>
        <p:txBody>
          <a:bodyPr/>
          <a:lstStyle/>
          <a:p>
            <a:endParaRPr/>
          </a:p>
        </p:txBody>
      </p:sp>
      <p:sp>
        <p:nvSpPr>
          <p:cNvPr id="319" name="文本框 318" descr="{&quot;isTemplate&quot;:true,&quot;type&quot;:&quot;text&quot;}"/>
          <p:cNvSpPr txBox="1"/>
          <p:nvPr/>
        </p:nvSpPr>
        <p:spPr>
          <a:xfrm>
            <a:off x="4362450" y="3676650"/>
            <a:ext cx="4124325" cy="209550"/>
          </a:xfrm>
          <a:prstGeom prst="rect">
            <a:avLst/>
          </a:prstGeom>
        </p:spPr>
        <p:txBody>
          <a:bodyPr wrap="none" lIns="0" tIns="0" rIns="0" bIns="0"/>
          <a:lstStyle/>
          <a:p>
            <a:pPr>
              <a:lnSpc>
                <a:spcPct val="100000"/>
              </a:lnSpc>
            </a:pPr>
            <a:r>
              <a:rPr lang="zh-CN" sz="1350">
                <a:solidFill>
                  <a:srgbClr val="B8CCE8"/>
                </a:solidFill>
                <a:latin typeface="Microsoft YaHei"/>
                <a:ea typeface="Microsoft YaHei"/>
              </a:rPr>
              <a:t>两个维度：配置水平（投多少）×</a:t>
            </a:r>
            <a:r>
              <a:rPr lang="en-US" sz="1350">
                <a:solidFill>
                  <a:srgbClr val="B8CCE8"/>
                </a:solidFill>
                <a:latin typeface="Microsoft YaHei"/>
                <a:ea typeface="Microsoft YaHei"/>
              </a:rPr>
              <a:t> </a:t>
            </a:r>
            <a:r>
              <a:rPr lang="zh-CN" sz="1350">
                <a:solidFill>
                  <a:srgbClr val="B8CCE8"/>
                </a:solidFill>
                <a:latin typeface="Microsoft YaHei"/>
                <a:ea typeface="Microsoft YaHei"/>
              </a:rPr>
              <a:t>配置模式（投到哪）</a:t>
            </a:r>
            <a:endParaRPr/>
          </a:p>
        </p:txBody>
      </p:sp>
      <p:sp>
        <p:nvSpPr>
          <p:cNvPr id="320" name="矩形: 圆角 319"/>
          <p:cNvSpPr/>
          <p:nvPr/>
        </p:nvSpPr>
        <p:spPr>
          <a:xfrm>
            <a:off x="4171950" y="4067175"/>
            <a:ext cx="76200" cy="76200"/>
          </a:xfrm>
          <a:prstGeom prst="roundRect">
            <a:avLst>
              <a:gd name="adj" fmla="val 50000"/>
            </a:avLst>
          </a:prstGeom>
          <a:solidFill>
            <a:srgbClr val="3D7BD9"/>
          </a:solidFill>
          <a:ln/>
        </p:spPr>
        <p:txBody>
          <a:bodyPr/>
          <a:lstStyle/>
          <a:p>
            <a:endParaRPr/>
          </a:p>
        </p:txBody>
      </p:sp>
      <p:sp>
        <p:nvSpPr>
          <p:cNvPr id="321" name="文本框 320" descr="{&quot;isTemplate&quot;:true,&quot;type&quot;:&quot;text&quot;}"/>
          <p:cNvSpPr txBox="1"/>
          <p:nvPr/>
        </p:nvSpPr>
        <p:spPr>
          <a:xfrm>
            <a:off x="4362450" y="4000500"/>
            <a:ext cx="3714750" cy="209550"/>
          </a:xfrm>
          <a:prstGeom prst="rect">
            <a:avLst/>
          </a:prstGeom>
        </p:spPr>
        <p:txBody>
          <a:bodyPr wrap="none" lIns="0" tIns="0" rIns="0" bIns="0"/>
          <a:lstStyle/>
          <a:p>
            <a:pPr>
              <a:lnSpc>
                <a:spcPct val="100000"/>
              </a:lnSpc>
            </a:pPr>
            <a:r>
              <a:rPr lang="zh-CN" sz="1350">
                <a:solidFill>
                  <a:srgbClr val="B8CCE8"/>
                </a:solidFill>
                <a:latin typeface="Microsoft YaHei"/>
                <a:ea typeface="Microsoft YaHei"/>
              </a:rPr>
              <a:t>三个关键命题：配置生优势</a:t>
            </a:r>
            <a:r>
              <a:rPr lang="en-US" sz="1350">
                <a:solidFill>
                  <a:srgbClr val="B8CCE8"/>
                </a:solidFill>
                <a:latin typeface="Microsoft YaHei"/>
                <a:ea typeface="Microsoft YaHei"/>
              </a:rPr>
              <a:t> · </a:t>
            </a:r>
            <a:r>
              <a:rPr lang="zh-CN" sz="1350">
                <a:solidFill>
                  <a:srgbClr val="B8CCE8"/>
                </a:solidFill>
                <a:latin typeface="Microsoft YaHei"/>
                <a:ea typeface="Microsoft YaHei"/>
              </a:rPr>
              <a:t>一致性</a:t>
            </a:r>
            <a:r>
              <a:rPr lang="en-US" sz="1350">
                <a:solidFill>
                  <a:srgbClr val="B8CCE8"/>
                </a:solidFill>
                <a:latin typeface="Microsoft YaHei"/>
                <a:ea typeface="Microsoft YaHei"/>
              </a:rPr>
              <a:t> · </a:t>
            </a:r>
            <a:r>
              <a:rPr lang="zh-CN" sz="1350">
                <a:solidFill>
                  <a:srgbClr val="B8CCE8"/>
                </a:solidFill>
                <a:latin typeface="Microsoft YaHei"/>
                <a:ea typeface="Microsoft YaHei"/>
              </a:rPr>
              <a:t>集中与分散</a:t>
            </a:r>
            <a:endParaRPr/>
          </a:p>
        </p:txBody>
      </p:sp>
      <p:sp>
        <p:nvSpPr>
          <p:cNvPr id="322" name="矩形: 圆角 321"/>
          <p:cNvSpPr/>
          <p:nvPr/>
        </p:nvSpPr>
        <p:spPr>
          <a:xfrm>
            <a:off x="4171950" y="4391025"/>
            <a:ext cx="76200" cy="76200"/>
          </a:xfrm>
          <a:prstGeom prst="roundRect">
            <a:avLst>
              <a:gd name="adj" fmla="val 50000"/>
            </a:avLst>
          </a:prstGeom>
          <a:solidFill>
            <a:srgbClr val="3D7BD9"/>
          </a:solidFill>
          <a:ln/>
        </p:spPr>
        <p:txBody>
          <a:bodyPr/>
          <a:lstStyle/>
          <a:p>
            <a:endParaRPr/>
          </a:p>
        </p:txBody>
      </p:sp>
      <p:sp>
        <p:nvSpPr>
          <p:cNvPr id="323" name="文本框 322" descr="{&quot;isTemplate&quot;:true,&quot;type&quot;:&quot;text&quot;}"/>
          <p:cNvSpPr txBox="1"/>
          <p:nvPr/>
        </p:nvSpPr>
        <p:spPr>
          <a:xfrm>
            <a:off x="4362450" y="4324350"/>
            <a:ext cx="3543300" cy="209550"/>
          </a:xfrm>
          <a:prstGeom prst="rect">
            <a:avLst/>
          </a:prstGeom>
        </p:spPr>
        <p:txBody>
          <a:bodyPr wrap="none" lIns="0" tIns="0" rIns="0" bIns="0"/>
          <a:lstStyle/>
          <a:p>
            <a:pPr>
              <a:lnSpc>
                <a:spcPct val="100000"/>
              </a:lnSpc>
            </a:pPr>
            <a:r>
              <a:rPr lang="zh-CN" sz="1350">
                <a:solidFill>
                  <a:srgbClr val="B8CCE8"/>
                </a:solidFill>
                <a:latin typeface="Microsoft YaHei"/>
                <a:ea typeface="Microsoft YaHei"/>
              </a:rPr>
              <a:t>实例：华为的研发资源配置（</a:t>
            </a:r>
            <a:r>
              <a:rPr lang="en-US" sz="1350">
                <a:solidFill>
                  <a:srgbClr val="B8CCE8"/>
                </a:solidFill>
                <a:latin typeface="Microsoft YaHei"/>
                <a:ea typeface="Microsoft YaHei"/>
              </a:rPr>
              <a:t>2024 </a:t>
            </a:r>
            <a:r>
              <a:rPr lang="zh-CN" sz="1350">
                <a:solidFill>
                  <a:srgbClr val="B8CCE8"/>
                </a:solidFill>
                <a:latin typeface="Microsoft YaHei"/>
                <a:ea typeface="Microsoft YaHei"/>
              </a:rPr>
              <a:t>年报数据）</a:t>
            </a:r>
            <a:endParaRPr/>
          </a:p>
        </p:txBody>
      </p:sp>
      <p:sp>
        <p:nvSpPr>
          <p:cNvPr id="324" name="文本框 323" descr="{&quot;isTemplate&quot;:true,&quot;type&quot;:&quot;text&quot;}"/>
          <p:cNvSpPr txBox="1"/>
          <p:nvPr/>
        </p:nvSpPr>
        <p:spPr>
          <a:xfrm>
            <a:off x="10591800" y="6276975"/>
            <a:ext cx="990600" cy="161925"/>
          </a:xfrm>
          <a:prstGeom prst="rect">
            <a:avLst/>
          </a:prstGeom>
        </p:spPr>
        <p:txBody>
          <a:bodyPr wrap="none" lIns="0" tIns="0" rIns="0" bIns="0"/>
          <a:lstStyle/>
          <a:p>
            <a:pPr>
              <a:lnSpc>
                <a:spcPct val="100000"/>
              </a:lnSpc>
            </a:pPr>
            <a:r>
              <a:rPr lang="zh-CN" sz="1050">
                <a:solidFill>
                  <a:srgbClr val="8FB3E8"/>
                </a:solidFill>
                <a:latin typeface="Microsoft YaHei"/>
                <a:ea typeface="Microsoft YaHei"/>
              </a:rPr>
              <a:t>第</a:t>
            </a:r>
            <a:r>
              <a:rPr lang="en-US" sz="1050">
                <a:solidFill>
                  <a:srgbClr val="8FB3E8"/>
                </a:solidFill>
                <a:latin typeface="Microsoft YaHei"/>
                <a:ea typeface="Microsoft YaHei"/>
              </a:rPr>
              <a:t> 2 </a:t>
            </a:r>
            <a:r>
              <a:rPr lang="zh-CN" sz="1050">
                <a:solidFill>
                  <a:srgbClr val="8FB3E8"/>
                </a:solidFill>
                <a:latin typeface="Microsoft YaHei"/>
                <a:ea typeface="Microsoft YaHei"/>
              </a:rPr>
              <a:t>章</a:t>
            </a:r>
            <a:r>
              <a:rPr lang="en-US" sz="1050">
                <a:solidFill>
                  <a:srgbClr val="8FB3E8"/>
                </a:solidFill>
                <a:latin typeface="Microsoft YaHei"/>
                <a:ea typeface="Microsoft YaHei"/>
              </a:rPr>
              <a:t> / </a:t>
            </a:r>
            <a:r>
              <a:rPr lang="zh-CN" sz="1050">
                <a:solidFill>
                  <a:srgbClr val="8FB3E8"/>
                </a:solidFill>
                <a:latin typeface="Microsoft YaHei"/>
                <a:ea typeface="Microsoft YaHei"/>
              </a:rPr>
              <a:t>共</a:t>
            </a:r>
            <a:r>
              <a:rPr lang="en-US" sz="1050">
                <a:solidFill>
                  <a:srgbClr val="8FB3E8"/>
                </a:solidFill>
                <a:latin typeface="Microsoft YaHei"/>
                <a:ea typeface="Microsoft YaHei"/>
              </a:rPr>
              <a:t> 3 </a:t>
            </a:r>
            <a:r>
              <a:rPr lang="zh-CN" sz="1050">
                <a:solidFill>
                  <a:srgbClr val="8FB3E8"/>
                </a:solidFill>
                <a:latin typeface="Microsoft YaHei"/>
                <a:ea typeface="Microsoft YaHei"/>
              </a:rPr>
              <a:t>章</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display: 'flex', flexDirection: 'column' }}&gt;&#10;  &lt;Box style={{ height: 72, background: '#0E3F8C', flexDirection: 'row', justifyContent: 'space-between', alignItems: 'center', padding: '0 40px', flexShrink: 0 }}&gt;&#10;    &lt;Text style={{ fontSize: 15, color: '#B8CCE8', letterSpacing: 3 }}&gt;战略管理 · STRATEGIC MANAGEMENT&lt;/Text&gt;&#10;    &lt;Text style={{ fontSize: 14, color: '#B8CCE8' }}&gt;第二章 · 资源配置&lt;/Text&gt;&#10;  &lt;/Box&gt;&#10;  &lt;Box style={{ height: 78, padding: '16px 40px 0 40px', flexDirection: 'column', flexShrink: 0 }}&gt;&#10;    &lt;Text style={{ fontSize: 32, fontWeight: 'bold', color: '#0E3F8C' }}&gt;资源配置：水平与模式两个维度&lt;/Text&gt;&#10;    &lt;Text style={{ fontSize: 15, color: '#8B97A8', marginTop: 6 }}&gt;Resource Deployment: Level and Pattern&lt;/Text&gt;&#10;  &lt;/Box&gt;&#10;  &lt;Box style={{ flex: 1, padding: '6px 40px 18px 40px', minHeight: 0, flexDirection: 'row', gap: 26, alignItems: 'center' }}&gt;&#10;    &lt;svg width={640} height={480} viewBox='0 0 640 480'&gt;&#10;      &lt;rect x='10' y='10' width='306' height='380' rx='12' fill='#E8EFF8' stroke='#1E4FA8' strokeWidth='1' /&gt;&#10;      &lt;path d='M10 74 L316 74' stroke='#1E4FA8' strokeWidth='1' /&gt;&#10;      &lt;text x='163' y='40' textAnchor='middle' fontSize='20' fontWeight='bold' fill='#0E3F8C' fontFamily='sans-serif'&gt;配置水平&lt;/text&gt;&#10;      &lt;text x='163' y='62' textAnchor='middle' fontSize='12' fill='#4A5568' fontFamily='sans-serif'&gt;投多少 · 强度问题&lt;/text&gt;&#10;      &lt;rect x='30' y='92' width='266' height='88' rx='8' fill='#FFFFFF' stroke='#3D7BD9' strokeWidth='1' /&gt;&#10;      &lt;text x='46' y='128' fontSize='17' fontWeight='bold' fill='#0E3F8C' fontFamily='sans-serif'&gt;投入强度&lt;/text&gt;&#10;      &lt;text x='46' y='156' fontSize='13' fill='#4A5568' fontFamily='sans-serif'&gt;研发费用率 · 营销费用率&lt;/text&gt;&#10;      &lt;rect x='30' y='196' width='266' height='88' rx='8' fill='#FFFFFF' stroke='#3D7BD9' strokeWidth='1' /&gt;&#10;      &lt;text x='46' y='232' fontSize='17' fontWeight='bold' fill='#0E3F8C' fontFamily='sans-serif'&gt;绝对规模&lt;/text&gt;&#10;      &lt;text x='46' y='260' fontSize='13' fill='#4A5568' fontFamily='sans-serif'&gt;人、财、物的投入总量&lt;/text&gt;&#10;      &lt;rect x='30' y='300' width='266' height='88' rx='8' fill='#FFFFFF' stroke='#3D7BD9' strokeWidth='1' /&gt;&#10;      &lt;text x='46' y='336' fontSize='17' fontWeight='bold' fill='#0E3F8C' fontFamily='sans-serif'&gt;相对差距&lt;/text&gt;&#10;      &lt;text x='46' y='364' fontSize='13' fill='#4A5568' fontFamily='sans-serif'&gt;与主要竞争对手的投入比&lt;/text&gt;&#10;      &lt;rect x='324' y='10' width='306' height='380' rx='12' fill='#E8EFF8' stroke='#1E4FA8' strokeWidth='1' /&gt;&#10;      &lt;path d='M324 74 L630 74' stroke='#1E4FA8' strokeWidth='1' /&gt;&#10;      &lt;text x='477' y='40' textAnchor='middle' fontSize='20' fontWeight='bold' fill='#0E3F8C' fontFamily='sans-serif'&gt;配置模式&lt;/text&gt;&#10;      &lt;text x='477' y='62' textAnchor='middle' fontSize='12' fill='#4A5568' fontFamily='sans-serif'&gt;投到哪 · 结构问题&lt;/text&gt;&#10;      &lt;rect x='344' y='92' width='266' height='88' rx='8' fill='#FFFFFF' stroke='#3D7BD9' strokeWidth='1' /&gt;&#10;      &lt;text x='360' y='128' fontSize='17' fontWeight='bold' fill='#0E3F8C' fontFamily='sans-serif'&gt;业务分布&lt;/text&gt;&#10;      &lt;text x='360' y='156' fontSize='13' fill='#4A5568' fontFamily='sans-serif'&gt;集中经营 vs 多元分散&lt;/text&gt;&#10;      &lt;rect x='344' y='196' width='266' height='88' rx='8' fill='#FFFFFF' stroke='#3D7BD9' strokeWidth='1' /&gt;&#10;      &lt;text x='360' y='232' fontSize='17' fontWeight='bold' fill='#0E3F8C' fontFamily='sans-serif'&gt;链上分布&lt;/text&gt;&#10;      &lt;text x='360' y='260' fontSize='13' fill='#4A5568' fontFamily='sans-serif'&gt;研发、制造、渠道各环节强弱&lt;/text&gt;&#10;      &lt;rect x='344' y='300' width='266' height='88' rx='8' fill='#FFFFFF' stroke='#3D7BD9' strokeWidth='1' /&gt;&#10;      &lt;text x='360' y='336' fontSize='17' fontWeight='bold' fill='#0E3F8C' fontFamily='sans-serif'&gt;时序节奏&lt;/text&gt;&#10;      &lt;text x='360' y='364' fontSize='13' fill='#4A5568' fontFamily='sans-serif'&gt;先发重投 vs 后发跟随&lt;/text&gt;&#10;      &lt;rect x='10' y='404' width='620' height='66' rx='10' fill='#F0F5FC' stroke='#3D7BD9' strokeWidth='1' /&gt;&#10;      &lt;text x='320' y='434' textAnchor='middle' fontSize='17' fontWeight='bold' fill='#0E3F8C' fontFamily='sans-serif'&gt;资源配置 = 企业资源和技能配置的水平和模式&lt;/text&gt;&#10;      &lt;text x='320' y='458' textAnchor='middle' fontSize='13' fill='#4A5568' fontFamily='sans-serif'&gt;“水平”回答投多少 · “模式”回答投到哪&lt;/text&gt;&#10;    &lt;/svg&gt;&#10;    &lt;Box style={{ flex: 1, flexDirection: 'column', gap: 18, height: 480, justifyContent: 'center' }}&gt;&#10;      &lt;Box style={{ background: '#0E3F8C', borderRadius: 10, padding: '22px 26px' }}&gt;&#10;        &lt;Text style={{ fontSize: 22, fontWeight: 'bold', color: '#FFFFFF', lineHeight: 1.7 }}&gt;资源配置是“写在预算表里的战略”——宣称的战略与预算表的战略不一致时，后者才是真的。&lt;/Text&gt;&#10;      &lt;/Box&gt;&#10;      &lt;Box style={{ background: '#FFFFFF', border: '1px solid #D6DCE5', borderRadius: 10, padding: '22px 26px' }}&gt;&#10;        &lt;Text style={{ fontSize: 24, fontWeight: 'bold', color: '#0E3F8C' }}&gt;同一笔钱，投法不同&lt;/Text&gt;&#10;        &lt;Text style={{ fontSize: 21, color: '#1A2230', lineHeight: 1.7, marginTop: 10 }}&gt;西南航空不是投得更多，而是投得更集中：单一机型、点对点短途、不转运行李——用削减配置项提升配置效率。&lt;/Text&gt;&#10;      &lt;/Box&gt;&#10;      &lt;Box style={{ background: '#F7F9FC', border: '1px solid #D6DCE5', borderRadius: 10, padding: '20px 26px' }}&gt;&#10;        &lt;Text style={{ fontSize: 20, color: '#1A2230', lineHeight: 1.7 }}&gt;&lt;span style={{ fontWeight: 'bold', color: '#1E4FA8' }}&gt;课堂工具&lt;/span&gt;：资源盘点表——战略重要性 × 当前投入强度，两栏对照找错配。&lt;/Text&gt;&#10;      &lt;/Box&gt;&#10;    &lt;/Box&gt;&#10;  &lt;/Box&gt;&#10;  &lt;Box style={{ height: 44, borderTop: '1px solid #D6DCE5', flexDirection: 'row', justifyContent: 'space-between', alignItems: 'center', padding: '0 40px', flexShrink: 0 }}&gt;&#10;    &lt;Text style={{ fontSize: 14, color: '#8B97A8' }}&gt;企业战略的构成要素 · 教学课件&lt;/Text&gt;&#10;    &lt;Text style={{ fontSize: 14, color: '#0E3F8C' }}&gt;08 / 16&lt;/Text&gt;&#10;  &lt;/Box&gt;&#10;&lt;/Slide&gt;"/>
        <p:cNvGrpSpPr/>
        <p:nvPr/>
      </p:nvGrpSpPr>
      <p:grpSpPr>
        <a:xfrm>
          <a:off x="0" y="0"/>
          <a:ext cx="0" cy="0"/>
          <a:chOff x="0" y="0"/>
          <a:chExt cx="0" cy="0"/>
        </a:xfrm>
      </p:grpSpPr>
      <p:sp>
        <p:nvSpPr>
          <p:cNvPr id="326" name="矩形 325"/>
          <p:cNvSpPr/>
          <p:nvPr/>
        </p:nvSpPr>
        <p:spPr>
          <a:xfrm>
            <a:off x="0" y="0"/>
            <a:ext cx="12192000" cy="6858000"/>
          </a:xfrm>
          <a:prstGeom prst="rect">
            <a:avLst/>
          </a:prstGeom>
          <a:solidFill>
            <a:srgbClr val="FFFFFF"/>
          </a:solidFill>
          <a:ln/>
        </p:spPr>
        <p:txBody>
          <a:bodyPr/>
          <a:lstStyle/>
          <a:p>
            <a:endParaRPr/>
          </a:p>
        </p:txBody>
      </p:sp>
      <p:sp>
        <p:nvSpPr>
          <p:cNvPr id="327" name="矩形 326"/>
          <p:cNvSpPr/>
          <p:nvPr/>
        </p:nvSpPr>
        <p:spPr>
          <a:xfrm>
            <a:off x="0" y="0"/>
            <a:ext cx="12192000" cy="685800"/>
          </a:xfrm>
          <a:prstGeom prst="rect">
            <a:avLst/>
          </a:prstGeom>
          <a:solidFill>
            <a:srgbClr val="0E3F8C"/>
          </a:solidFill>
          <a:ln/>
        </p:spPr>
        <p:txBody>
          <a:bodyPr/>
          <a:lstStyle/>
          <a:p>
            <a:endParaRPr/>
          </a:p>
        </p:txBody>
      </p:sp>
      <p:sp>
        <p:nvSpPr>
          <p:cNvPr id="328" name="文本框 327"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B8CCE8"/>
                </a:solidFill>
                <a:latin typeface="Microsoft YaHei"/>
                <a:ea typeface="Microsoft YaHei"/>
              </a:rPr>
              <a:t>战略管理</a:t>
            </a:r>
            <a:r>
              <a:rPr lang="en-US" sz="1125" spc="225">
                <a:solidFill>
                  <a:srgbClr val="B8CCE8"/>
                </a:solidFill>
                <a:latin typeface="Microsoft YaHei"/>
                <a:ea typeface="Microsoft YaHei"/>
              </a:rPr>
              <a:t> · STRATEGIC MANAGEMENT</a:t>
            </a:r>
            <a:endParaRPr/>
          </a:p>
        </p:txBody>
      </p:sp>
      <p:sp>
        <p:nvSpPr>
          <p:cNvPr id="329" name="文本框 328" descr="{&quot;isTemplate&quot;:true,&quot;type&quot;:&quot;text&quot;}"/>
          <p:cNvSpPr txBox="1"/>
          <p:nvPr/>
        </p:nvSpPr>
        <p:spPr>
          <a:xfrm>
            <a:off x="10763250" y="266700"/>
            <a:ext cx="1047750" cy="161925"/>
          </a:xfrm>
          <a:prstGeom prst="rect">
            <a:avLst/>
          </a:prstGeom>
        </p:spPr>
        <p:txBody>
          <a:bodyPr wrap="none" lIns="0" tIns="0" rIns="0" bIns="0"/>
          <a:lstStyle/>
          <a:p>
            <a:pPr>
              <a:lnSpc>
                <a:spcPct val="100000"/>
              </a:lnSpc>
            </a:pPr>
            <a:r>
              <a:rPr lang="zh-CN" sz="1050">
                <a:solidFill>
                  <a:srgbClr val="B8CCE8"/>
                </a:solidFill>
                <a:latin typeface="Microsoft YaHei"/>
                <a:ea typeface="Microsoft YaHei"/>
              </a:rPr>
              <a:t>第二章</a:t>
            </a:r>
            <a:r>
              <a:rPr lang="en-US" sz="1050">
                <a:solidFill>
                  <a:srgbClr val="B8CCE8"/>
                </a:solidFill>
                <a:latin typeface="Microsoft YaHei"/>
                <a:ea typeface="Microsoft YaHei"/>
              </a:rPr>
              <a:t> · </a:t>
            </a:r>
            <a:r>
              <a:rPr lang="zh-CN" sz="1050">
                <a:solidFill>
                  <a:srgbClr val="B8CCE8"/>
                </a:solidFill>
                <a:latin typeface="Microsoft YaHei"/>
                <a:ea typeface="Microsoft YaHei"/>
              </a:rPr>
              <a:t>资源配置</a:t>
            </a:r>
            <a:endParaRPr/>
          </a:p>
        </p:txBody>
      </p:sp>
      <p:sp>
        <p:nvSpPr>
          <p:cNvPr id="330" name="文本框 329" descr="{&quot;isTemplate&quot;:true,&quot;type&quot;:&quot;text&quot;}"/>
          <p:cNvSpPr txBox="1"/>
          <p:nvPr/>
        </p:nvSpPr>
        <p:spPr>
          <a:xfrm>
            <a:off x="381000" y="8382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资源配置：水平与模式两个维度</a:t>
            </a:r>
            <a:endParaRPr/>
          </a:p>
        </p:txBody>
      </p:sp>
      <p:sp>
        <p:nvSpPr>
          <p:cNvPr id="331" name="文本框 330" descr="{&quot;isTemplate&quot;:true,&quot;type&quot;:&quot;text&quot;}"/>
          <p:cNvSpPr txBox="1"/>
          <p:nvPr/>
        </p:nvSpPr>
        <p:spPr>
          <a:xfrm>
            <a:off x="381000" y="1266825"/>
            <a:ext cx="11430000"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Resource Deployment: Level and Pattern</a:t>
            </a:r>
            <a:endParaRPr/>
          </a:p>
        </p:txBody>
      </p:sp>
      <p:pic>
        <p:nvPicPr>
          <p:cNvPr id="332" name="图形 3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00" y="1590675"/>
            <a:ext cx="6096000" cy="4572000"/>
          </a:xfrm>
          <a:prstGeom prst="rect">
            <a:avLst/>
          </a:prstGeom>
          <a:ln/>
        </p:spPr>
      </p:pic>
      <p:sp>
        <p:nvSpPr>
          <p:cNvPr id="333" name="矩形: 圆角 332"/>
          <p:cNvSpPr/>
          <p:nvPr/>
        </p:nvSpPr>
        <p:spPr>
          <a:xfrm>
            <a:off x="6724650" y="1476375"/>
            <a:ext cx="5086350" cy="1276350"/>
          </a:xfrm>
          <a:prstGeom prst="roundRect">
            <a:avLst>
              <a:gd name="adj" fmla="val 7463"/>
            </a:avLst>
          </a:prstGeom>
          <a:solidFill>
            <a:srgbClr val="0E3F8C"/>
          </a:solidFill>
          <a:ln/>
        </p:spPr>
        <p:txBody>
          <a:bodyPr/>
          <a:lstStyle/>
          <a:p>
            <a:endParaRPr/>
          </a:p>
        </p:txBody>
      </p:sp>
      <p:sp>
        <p:nvSpPr>
          <p:cNvPr id="334" name="文本框 333" descr="{&quot;isTemplate&quot;:true,&quot;type&quot;:&quot;text&quot;}"/>
          <p:cNvSpPr txBox="1"/>
          <p:nvPr/>
        </p:nvSpPr>
        <p:spPr>
          <a:xfrm>
            <a:off x="6972300" y="1685925"/>
            <a:ext cx="4591050" cy="857250"/>
          </a:xfrm>
          <a:prstGeom prst="rect">
            <a:avLst/>
          </a:prstGeom>
        </p:spPr>
        <p:txBody>
          <a:bodyPr wrap="square" lIns="0" tIns="0" rIns="0" bIns="0">
            <a:normAutofit/>
          </a:bodyPr>
          <a:lstStyle/>
          <a:p>
            <a:pPr>
              <a:lnSpc>
                <a:spcPct val="170000"/>
              </a:lnSpc>
            </a:pPr>
            <a:r>
              <a:rPr lang="zh-CN" sz="1650" b="1">
                <a:solidFill>
                  <a:srgbClr val="FFFFFF"/>
                </a:solidFill>
                <a:latin typeface="Microsoft YaHei"/>
                <a:ea typeface="Microsoft YaHei"/>
              </a:rPr>
              <a:t>资源配置是“写在预算表里的战略”——宣称的战略与预算表的战略不一致时，后者才是真的。</a:t>
            </a:r>
            <a:endParaRPr/>
          </a:p>
        </p:txBody>
      </p:sp>
      <p:sp>
        <p:nvSpPr>
          <p:cNvPr id="335" name="矩形: 圆角 334"/>
          <p:cNvSpPr/>
          <p:nvPr/>
        </p:nvSpPr>
        <p:spPr>
          <a:xfrm>
            <a:off x="6724650" y="2924175"/>
            <a:ext cx="5086350" cy="2019300"/>
          </a:xfrm>
          <a:prstGeom prst="roundRect">
            <a:avLst>
              <a:gd name="adj" fmla="val 4717"/>
            </a:avLst>
          </a:prstGeom>
          <a:solidFill>
            <a:srgbClr val="FFFFFF"/>
          </a:solidFill>
          <a:ln w="12700">
            <a:solidFill>
              <a:srgbClr val="D6DCE5"/>
            </a:solidFill>
            <a:prstDash val="solid"/>
          </a:ln>
        </p:spPr>
        <p:txBody>
          <a:bodyPr/>
          <a:lstStyle/>
          <a:p>
            <a:endParaRPr/>
          </a:p>
        </p:txBody>
      </p:sp>
      <p:sp>
        <p:nvSpPr>
          <p:cNvPr id="336" name="文本框 335" descr="{&quot;isTemplate&quot;:true,&quot;type&quot;:&quot;text&quot;}"/>
          <p:cNvSpPr txBox="1"/>
          <p:nvPr/>
        </p:nvSpPr>
        <p:spPr>
          <a:xfrm>
            <a:off x="6972300" y="3133725"/>
            <a:ext cx="459105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同一笔钱，投法不同</a:t>
            </a:r>
            <a:endParaRPr/>
          </a:p>
        </p:txBody>
      </p:sp>
      <p:sp>
        <p:nvSpPr>
          <p:cNvPr id="337" name="文本框 336" descr="{&quot;isTemplate&quot;:true,&quot;type&quot;:&quot;text&quot;}"/>
          <p:cNvSpPr txBox="1"/>
          <p:nvPr/>
        </p:nvSpPr>
        <p:spPr>
          <a:xfrm>
            <a:off x="6972300" y="3505200"/>
            <a:ext cx="4591050" cy="1228725"/>
          </a:xfrm>
          <a:prstGeom prst="rect">
            <a:avLst/>
          </a:prstGeom>
        </p:spPr>
        <p:txBody>
          <a:bodyPr wrap="square" lIns="0" tIns="0" rIns="0" bIns="0">
            <a:normAutofit/>
          </a:bodyPr>
          <a:lstStyle/>
          <a:p>
            <a:pPr>
              <a:lnSpc>
                <a:spcPct val="170000"/>
              </a:lnSpc>
            </a:pPr>
            <a:r>
              <a:rPr lang="zh-CN" sz="1575">
                <a:solidFill>
                  <a:srgbClr val="1A2230"/>
                </a:solidFill>
                <a:latin typeface="Microsoft YaHei"/>
                <a:ea typeface="Microsoft YaHei"/>
              </a:rPr>
              <a:t>西南航空不是投得更多，而是投得更集中：单一机型、点对点短途、不转运行李——用削减配置项提升配置效率。</a:t>
            </a:r>
            <a:endParaRPr/>
          </a:p>
        </p:txBody>
      </p:sp>
      <p:sp>
        <p:nvSpPr>
          <p:cNvPr id="338" name="矩形: 圆角 337"/>
          <p:cNvSpPr/>
          <p:nvPr/>
        </p:nvSpPr>
        <p:spPr>
          <a:xfrm>
            <a:off x="6724650" y="5114925"/>
            <a:ext cx="5086350" cy="1162050"/>
          </a:xfrm>
          <a:prstGeom prst="roundRect">
            <a:avLst>
              <a:gd name="adj" fmla="val 8197"/>
            </a:avLst>
          </a:prstGeom>
          <a:solidFill>
            <a:srgbClr val="F7F9FC"/>
          </a:solidFill>
          <a:ln w="12700">
            <a:solidFill>
              <a:srgbClr val="D6DCE5"/>
            </a:solidFill>
            <a:prstDash val="solid"/>
          </a:ln>
        </p:spPr>
        <p:txBody>
          <a:bodyPr/>
          <a:lstStyle/>
          <a:p>
            <a:endParaRPr/>
          </a:p>
        </p:txBody>
      </p:sp>
      <p:sp>
        <p:nvSpPr>
          <p:cNvPr id="339" name="文本框 338" descr="{&quot;isTemplate&quot;:true,&quot;type&quot;:&quot;text&quot;}"/>
          <p:cNvSpPr txBox="1"/>
          <p:nvPr/>
        </p:nvSpPr>
        <p:spPr>
          <a:xfrm>
            <a:off x="6972300" y="5305425"/>
            <a:ext cx="4591050" cy="781050"/>
          </a:xfrm>
          <a:prstGeom prst="rect">
            <a:avLst/>
          </a:prstGeom>
        </p:spPr>
        <p:txBody>
          <a:bodyPr wrap="square" lIns="0" tIns="0" rIns="0" bIns="0">
            <a:normAutofit/>
          </a:bodyPr>
          <a:lstStyle/>
          <a:p>
            <a:pPr>
              <a:lnSpc>
                <a:spcPct val="170000"/>
              </a:lnSpc>
            </a:pPr>
            <a:r>
              <a:rPr lang="zh-CN" sz="1500" b="1">
                <a:solidFill>
                  <a:srgbClr val="1E4FA8"/>
                </a:solidFill>
                <a:latin typeface="Microsoft YaHei"/>
                <a:ea typeface="Microsoft YaHei"/>
              </a:rPr>
              <a:t>课堂工具</a:t>
            </a:r>
            <a:r>
              <a:rPr lang="zh-CN" sz="1500">
                <a:solidFill>
                  <a:srgbClr val="1A2230"/>
                </a:solidFill>
                <a:latin typeface="Microsoft YaHei"/>
                <a:ea typeface="Microsoft YaHei"/>
              </a:rPr>
              <a:t>：资源盘点表——战略重要性</a:t>
            </a:r>
            <a:r>
              <a:rPr lang="en-US" sz="1500">
                <a:solidFill>
                  <a:srgbClr val="1A2230"/>
                </a:solidFill>
                <a:latin typeface="Microsoft YaHei"/>
                <a:ea typeface="Microsoft YaHei"/>
              </a:rPr>
              <a:t> × </a:t>
            </a:r>
            <a:r>
              <a:rPr lang="zh-CN" sz="1500">
                <a:solidFill>
                  <a:srgbClr val="1A2230"/>
                </a:solidFill>
                <a:latin typeface="Microsoft YaHei"/>
                <a:ea typeface="Microsoft YaHei"/>
              </a:rPr>
              <a:t>当前投入强度，两栏对照找错配。</a:t>
            </a:r>
            <a:endParaRPr/>
          </a:p>
        </p:txBody>
      </p:sp>
      <p:sp>
        <p:nvSpPr>
          <p:cNvPr id="340" name="任意多边形: 形状 339"/>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D6DCE5"/>
          </a:solidFill>
          <a:ln/>
        </p:spPr>
        <p:txBody>
          <a:bodyPr/>
          <a:lstStyle/>
          <a:p>
            <a:endParaRPr/>
          </a:p>
        </p:txBody>
      </p:sp>
      <p:sp>
        <p:nvSpPr>
          <p:cNvPr id="341" name="文本框 340" descr="{&quot;isTemplate&quot;:true,&quot;type&quot;:&quot;text&quot;}"/>
          <p:cNvSpPr txBox="1"/>
          <p:nvPr/>
        </p:nvSpPr>
        <p:spPr>
          <a:xfrm>
            <a:off x="381000" y="6572250"/>
            <a:ext cx="18478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企业战略的构成要素</a:t>
            </a:r>
            <a:r>
              <a:rPr lang="en-US" sz="1050">
                <a:solidFill>
                  <a:srgbClr val="8B97A8"/>
                </a:solidFill>
                <a:latin typeface="Microsoft YaHei"/>
                <a:ea typeface="Microsoft YaHei"/>
              </a:rPr>
              <a:t> · </a:t>
            </a:r>
            <a:r>
              <a:rPr lang="zh-CN" sz="1050">
                <a:solidFill>
                  <a:srgbClr val="8B97A8"/>
                </a:solidFill>
                <a:latin typeface="Microsoft YaHei"/>
                <a:ea typeface="Microsoft YaHei"/>
              </a:rPr>
              <a:t>教学课件</a:t>
            </a:r>
            <a:endParaRPr/>
          </a:p>
        </p:txBody>
      </p:sp>
      <p:sp>
        <p:nvSpPr>
          <p:cNvPr id="342" name="文本框 341" descr="{&quot;isTemplate&quot;:true,&quot;type&quot;:&quot;text&quot;}"/>
          <p:cNvSpPr txBox="1"/>
          <p:nvPr/>
        </p:nvSpPr>
        <p:spPr>
          <a:xfrm>
            <a:off x="11353800" y="6572250"/>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08 / 16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display: 'flex', flexDirection: 'column' }}&gt;&#10;  &lt;Box style={{ height: 72, background: '#0E3F8C', flexDirection: 'row', justifyContent: 'space-between', alignItems: 'center', padding: '0 40px', flexShrink: 0 }}&gt;&#10;    &lt;Text style={{ fontSize: 15, color: '#B8CCE8', letterSpacing: 3 }}&gt;战略管理 · STRATEGIC MANAGEMENT&lt;/Text&gt;&#10;    &lt;Text style={{ fontSize: 14, color: '#B8CCE8' }}&gt;第二章 · 资源配置&lt;/Text&gt;&#10;  &lt;/Box&gt;&#10;  &lt;Box style={{ height: 78, padding: '16px 40px 0 40px', flexDirection: 'column', flexShrink: 0 }}&gt;&#10;    &lt;Text style={{ fontSize: 32, fontWeight: 'bold', color: '#0E3F8C' }}&gt;资源配置的三个关键命题&lt;/Text&gt;&#10;    &lt;Text style={{ fontSize: 15, color: '#8B97A8', marginTop: 6 }}&gt;Three Key Propositions on Resource Deployment&lt;/Text&gt;&#10;  &lt;/Box&gt;&#10;  &lt;Box style={{ flex: 1, padding: '6px 40px 18px 40px', minHeight: 0, flexDirection: 'row', gap: 26 }}&gt;&#10;    &lt;Box style={{ width: 320, background: '#E8EFF8', borderRadius: 12, borderLeft: '8px solid #1E4FA8', padding: '36px 30px', flexDirection: 'column', flexShrink: 0 }}&gt;&#10;      &lt;Text style={{ fontSize: 14, color: '#1E4FA8', letterSpacing: 3 }}&gt;RESOURCE DEPLOYMENT&lt;/Text&gt;&#10;      &lt;Text style={{ fontSize: 34, fontWeight: 'bold', color: '#0E3F8C', marginTop: 16, lineHeight: 1.4 }}&gt;资源配置的&lt;br /&gt;三个关键命题&lt;/Text&gt;&#10;      &lt;Box style={{ width: 56, height: 3, background: '#1E4FA8', marginTop: 24 }} /&gt;&#10;      &lt;Text style={{ fontSize: 16, color: '#4A5568', lineHeight: 1.8, marginTop: 24 }}&gt;理论支点：巴尼（1991）资源基础观 · VRIN 框架&lt;/Text&gt;&#10;      &lt;Box style={{ flex: 1 }} /&gt;&#10;      &lt;Box style={{ background: '#FFFFFF', borderRadius: 14, padding: '6px 18px', alignSelf: 'flex-start' }}&gt;&#10;        &lt;Text style={{ fontSize: 14, color: '#1E4FA8' }}&gt;第二章 · 资源配置&lt;/Text&gt;&#10;      &lt;/Box&gt;&#10;    &lt;/Box&gt;&#10;    &lt;Box style={{ flex: 1, flexDirection: 'column', gap: 14 }}&gt;&#10;      &lt;Box style={{ flex: 1, flexDirection: 'row', gap: 20, background: '#FFFFFF', border: '1px solid #D6DCE5', borderRadius: 10, padding: '11px 22px', alignItems: 'center' }}&gt;&#10;        &lt;Box style={{ width: 48, height: 48, background: '#1E4FA8', borderRadius: 10, justifyContent: 'center', alignItems: 'center', flexShrink: 0 }}&gt;&#10;          &lt;Text style={{ fontSize: 22, fontWeight: 'bold', color: '#FFFFFF' }}&gt;1&lt;/Text&gt;&#10;        &lt;/Box&gt;&#10;        &lt;Box style={{ flexDirection: 'column', gap: 6 }}&gt;&#10;          &lt;Text style={{ fontSize: 24, fontWeight: 'bold', color: '#0E3F8C' }}&gt;资源本身不产生优势，配置方式才产生&lt;/Text&gt;&#10;          &lt;Text style={{ fontSize: 20, color: '#1A2230', lineHeight: 1.6 }}&gt;巴尼（1991）：资源须满足有价值、稀缺、难模仿、难替代方能形成持续优势。“难模仿”往往不在资源本身，而在配置方式——资源是存量，配置才是结构与流量。&lt;/Text&gt;&#10;        &lt;/Box&gt;&#10;      &lt;/Box&gt;&#10;      &lt;Box style={{ flex: 1, flexDirection: 'row', gap: 20, background: '#FFFFFF', border: '1px solid #D6DCE5', borderRadius: 10, padding: '11px 22px', alignItems: 'center' }}&gt;&#10;        &lt;Box style={{ width: 48, height: 48, background: '#1E4FA8', borderRadius: 10, justifyContent: 'center', alignItems: 'center', flexShrink: 0 }}&gt;&#10;          &lt;Text style={{ fontSize: 22, fontWeight: 'bold', color: '#FFFFFF' }}&gt;2&lt;/Text&gt;&#10;        &lt;/Box&gt;&#10;        &lt;Box style={{ flexDirection: 'column', gap: 6 }}&gt;&#10;          &lt;Text style={{ fontSize: 24, fontWeight: 'bold', color: '#0E3F8C' }}&gt;配置一致性，就是战略一致性&lt;/Text&gt;&#10;          &lt;Text style={{ fontSize: 20, color: '#1A2230', lineHeight: 1.6 }}&gt;资源投向哪里，战略就真实地是什么。资源错配是战略失败最常见的根因：不是方向错了，是钱没有跟着方向走。&lt;/Text&gt;&#10;        &lt;/Box&gt;&#10;      &lt;/Box&gt;&#10;      &lt;Box style={{ flex: 1, flexDirection: 'row', gap: 20, background: '#FFFFFF', border: '1px solid #D6DCE5', borderRadius: 10, padding: '11px 22px', alignItems: 'center' }}&gt;&#10;        &lt;Box style={{ width: 48, height: 48, background: '#1E4FA8', borderRadius: 10, justifyContent: 'center', alignItems: 'center', flexShrink: 0 }}&gt;&#10;          &lt;Text style={{ fontSize: 22, fontWeight: 'bold', color: '#FFFFFF' }}&gt;3&lt;/Text&gt;&#10;        &lt;/Box&gt;&#10;        &lt;Box style={{ flexDirection: 'column', gap: 6 }}&gt;&#10;          &lt;Text style={{ fontSize: 24, fontWeight: 'bold', color: '#0E3F8C' }}&gt;集中与分散，是核心取舍&lt;/Text&gt;&#10;          &lt;Text style={{ fontSize: 20, color: '#1A2230', lineHeight: 1.6 }}&gt;多元化企业最典型的失败模式是资源摊薄：每个业务都投一点，结果每个都不足以形成优势，“样样通、样样松”。&lt;/Text&gt;&#10;        &lt;/Box&gt;&#10;      &lt;/Box&gt;&#10;      &lt;Box style={{ background: '#FDECEB', borderLeft: '6px solid #D9534F', borderRadius: 8, padding: '13px 24px' }}&gt;&#10;        &lt;Text style={{ fontSize: 20, color: '#1A2230', lineHeight: 1.6 }}&gt;&lt;span style={{ fontWeight: 'bold', color: '#D9534F' }}&gt;反例&lt;/span&gt;：诺基亚与柯达把资源持续锁定在既有技术轨道上，新范式需要资源时已无余量——错配的代价是出局。&lt;/Text&gt;&#10;      &lt;/Box&gt;&#10;    &lt;/Box&gt;&#10;  &lt;/Box&gt;&#10;  &lt;Box style={{ height: 44, borderTop: '1px solid #D6DCE5', flexDirection: 'row', justifyContent: 'space-between', alignItems: 'center', padding: '0 40px', flexShrink: 0 }}&gt;&#10;    &lt;Text style={{ fontSize: 14, color: '#8B97A8' }}&gt;企业战略的构成要素 · 教学课件&lt;/Text&gt;&#10;    &lt;Text style={{ fontSize: 14, color: '#0E3F8C' }}&gt;09 / 16&lt;/Text&gt;&#10;  &lt;/Box&gt;&#10;&lt;/Slide&gt;"/>
        <p:cNvGrpSpPr/>
        <p:nvPr/>
      </p:nvGrpSpPr>
      <p:grpSpPr>
        <a:xfrm>
          <a:off x="0" y="0"/>
          <a:ext cx="0" cy="0"/>
          <a:chOff x="0" y="0"/>
          <a:chExt cx="0" cy="0"/>
        </a:xfrm>
      </p:grpSpPr>
      <p:sp>
        <p:nvSpPr>
          <p:cNvPr id="344" name="矩形 343"/>
          <p:cNvSpPr/>
          <p:nvPr/>
        </p:nvSpPr>
        <p:spPr>
          <a:xfrm>
            <a:off x="0" y="0"/>
            <a:ext cx="12192000" cy="6858000"/>
          </a:xfrm>
          <a:prstGeom prst="rect">
            <a:avLst/>
          </a:prstGeom>
          <a:solidFill>
            <a:srgbClr val="FFFFFF"/>
          </a:solidFill>
          <a:ln/>
        </p:spPr>
        <p:txBody>
          <a:bodyPr/>
          <a:lstStyle/>
          <a:p>
            <a:endParaRPr/>
          </a:p>
        </p:txBody>
      </p:sp>
      <p:sp>
        <p:nvSpPr>
          <p:cNvPr id="345" name="矩形 344"/>
          <p:cNvSpPr/>
          <p:nvPr/>
        </p:nvSpPr>
        <p:spPr>
          <a:xfrm>
            <a:off x="0" y="0"/>
            <a:ext cx="12192000" cy="685800"/>
          </a:xfrm>
          <a:prstGeom prst="rect">
            <a:avLst/>
          </a:prstGeom>
          <a:solidFill>
            <a:srgbClr val="0E3F8C"/>
          </a:solidFill>
          <a:ln/>
        </p:spPr>
        <p:txBody>
          <a:bodyPr/>
          <a:lstStyle/>
          <a:p>
            <a:endParaRPr/>
          </a:p>
        </p:txBody>
      </p:sp>
      <p:sp>
        <p:nvSpPr>
          <p:cNvPr id="346" name="文本框 345"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B8CCE8"/>
                </a:solidFill>
                <a:latin typeface="Microsoft YaHei"/>
                <a:ea typeface="Microsoft YaHei"/>
              </a:rPr>
              <a:t>战略管理</a:t>
            </a:r>
            <a:r>
              <a:rPr lang="en-US" sz="1125" spc="225">
                <a:solidFill>
                  <a:srgbClr val="B8CCE8"/>
                </a:solidFill>
                <a:latin typeface="Microsoft YaHei"/>
                <a:ea typeface="Microsoft YaHei"/>
              </a:rPr>
              <a:t> · STRATEGIC MANAGEMENT</a:t>
            </a:r>
            <a:endParaRPr/>
          </a:p>
        </p:txBody>
      </p:sp>
      <p:sp>
        <p:nvSpPr>
          <p:cNvPr id="347" name="文本框 346" descr="{&quot;isTemplate&quot;:true,&quot;type&quot;:&quot;text&quot;}"/>
          <p:cNvSpPr txBox="1"/>
          <p:nvPr/>
        </p:nvSpPr>
        <p:spPr>
          <a:xfrm>
            <a:off x="10763250" y="266700"/>
            <a:ext cx="1047750" cy="161925"/>
          </a:xfrm>
          <a:prstGeom prst="rect">
            <a:avLst/>
          </a:prstGeom>
        </p:spPr>
        <p:txBody>
          <a:bodyPr wrap="none" lIns="0" tIns="0" rIns="0" bIns="0"/>
          <a:lstStyle/>
          <a:p>
            <a:pPr>
              <a:lnSpc>
                <a:spcPct val="100000"/>
              </a:lnSpc>
            </a:pPr>
            <a:r>
              <a:rPr lang="zh-CN" sz="1050">
                <a:solidFill>
                  <a:srgbClr val="B8CCE8"/>
                </a:solidFill>
                <a:latin typeface="Microsoft YaHei"/>
                <a:ea typeface="Microsoft YaHei"/>
              </a:rPr>
              <a:t>第二章</a:t>
            </a:r>
            <a:r>
              <a:rPr lang="en-US" sz="1050">
                <a:solidFill>
                  <a:srgbClr val="B8CCE8"/>
                </a:solidFill>
                <a:latin typeface="Microsoft YaHei"/>
                <a:ea typeface="Microsoft YaHei"/>
              </a:rPr>
              <a:t> · </a:t>
            </a:r>
            <a:r>
              <a:rPr lang="zh-CN" sz="1050">
                <a:solidFill>
                  <a:srgbClr val="B8CCE8"/>
                </a:solidFill>
                <a:latin typeface="Microsoft YaHei"/>
                <a:ea typeface="Microsoft YaHei"/>
              </a:rPr>
              <a:t>资源配置</a:t>
            </a:r>
            <a:endParaRPr/>
          </a:p>
        </p:txBody>
      </p:sp>
      <p:sp>
        <p:nvSpPr>
          <p:cNvPr id="348" name="文本框 347" descr="{&quot;isTemplate&quot;:true,&quot;type&quot;:&quot;text&quot;}"/>
          <p:cNvSpPr txBox="1"/>
          <p:nvPr/>
        </p:nvSpPr>
        <p:spPr>
          <a:xfrm>
            <a:off x="381000" y="8382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资源配置的三个关键命题</a:t>
            </a:r>
            <a:endParaRPr/>
          </a:p>
        </p:txBody>
      </p:sp>
      <p:sp>
        <p:nvSpPr>
          <p:cNvPr id="349" name="文本框 348" descr="{&quot;isTemplate&quot;:true,&quot;type&quot;:&quot;text&quot;}"/>
          <p:cNvSpPr txBox="1"/>
          <p:nvPr/>
        </p:nvSpPr>
        <p:spPr>
          <a:xfrm>
            <a:off x="381000" y="1266825"/>
            <a:ext cx="11430000"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Three Key Propositions on Resource Deployment</a:t>
            </a:r>
            <a:endParaRPr/>
          </a:p>
        </p:txBody>
      </p:sp>
      <p:sp>
        <p:nvSpPr>
          <p:cNvPr id="350" name="矩形: 圆角 349"/>
          <p:cNvSpPr/>
          <p:nvPr/>
        </p:nvSpPr>
        <p:spPr>
          <a:xfrm>
            <a:off x="457200" y="1485900"/>
            <a:ext cx="2971800" cy="4781550"/>
          </a:xfrm>
          <a:prstGeom prst="roundRect">
            <a:avLst>
              <a:gd name="adj" fmla="val 3846"/>
            </a:avLst>
          </a:prstGeom>
          <a:solidFill>
            <a:srgbClr val="E8EFF8"/>
          </a:solidFill>
          <a:ln/>
        </p:spPr>
        <p:txBody>
          <a:bodyPr/>
          <a:lstStyle/>
          <a:p>
            <a:endParaRPr/>
          </a:p>
        </p:txBody>
      </p:sp>
      <p:sp>
        <p:nvSpPr>
          <p:cNvPr id="351" name="任意多边形: 形状 350"/>
          <p:cNvSpPr/>
          <p:nvPr/>
        </p:nvSpPr>
        <p:spPr>
          <a:xfrm>
            <a:off x="457200" y="1485900"/>
            <a:ext cx="2971800" cy="4781550"/>
          </a:xfrm>
          <a:custGeom>
            <a:avLst/>
            <a:gdLst/>
            <a:ahLst/>
            <a:cxnLst/>
            <a:rect l="0" t="0" r="0" b="0"/>
            <a:pathLst>
              <a:path w="312" h="502">
                <a:moveTo>
                  <a:pt x="12" y="0"/>
                </a:moveTo>
                <a:cubicBezTo>
                  <a:pt x="10" y="0"/>
                  <a:pt x="8" y="2"/>
                  <a:pt x="8" y="4"/>
                </a:cubicBezTo>
                <a:lnTo>
                  <a:pt x="8" y="498"/>
                </a:lnTo>
                <a:cubicBezTo>
                  <a:pt x="8" y="500"/>
                  <a:pt x="9" y="502"/>
                  <a:pt x="11" y="502"/>
                </a:cubicBezTo>
                <a:cubicBezTo>
                  <a:pt x="5" y="502"/>
                  <a:pt x="0" y="496"/>
                  <a:pt x="0" y="490"/>
                </a:cubicBezTo>
                <a:lnTo>
                  <a:pt x="0" y="12"/>
                </a:lnTo>
                <a:cubicBezTo>
                  <a:pt x="0" y="5"/>
                  <a:pt x="5" y="0"/>
                  <a:pt x="12" y="0"/>
                </a:cubicBezTo>
                <a:close/>
              </a:path>
            </a:pathLst>
          </a:custGeom>
          <a:solidFill>
            <a:srgbClr val="1E4FA8"/>
          </a:solidFill>
          <a:ln/>
        </p:spPr>
        <p:txBody>
          <a:bodyPr/>
          <a:lstStyle/>
          <a:p>
            <a:endParaRPr/>
          </a:p>
        </p:txBody>
      </p:sp>
      <p:sp>
        <p:nvSpPr>
          <p:cNvPr id="352" name="文本框 351" descr="{&quot;isTemplate&quot;:true,&quot;type&quot;:&quot;text&quot;}"/>
          <p:cNvSpPr txBox="1"/>
          <p:nvPr/>
        </p:nvSpPr>
        <p:spPr>
          <a:xfrm>
            <a:off x="742950" y="1828800"/>
            <a:ext cx="2400300" cy="161925"/>
          </a:xfrm>
          <a:prstGeom prst="rect">
            <a:avLst/>
          </a:prstGeom>
        </p:spPr>
        <p:txBody>
          <a:bodyPr wrap="none" lIns="0" tIns="0" rIns="0" bIns="0"/>
          <a:lstStyle/>
          <a:p>
            <a:pPr>
              <a:lnSpc>
                <a:spcPct val="100000"/>
              </a:lnSpc>
            </a:pPr>
            <a:r>
              <a:rPr lang="en-US" sz="1050" spc="225">
                <a:solidFill>
                  <a:srgbClr val="1E4FA8"/>
                </a:solidFill>
                <a:latin typeface="Microsoft YaHei"/>
                <a:ea typeface="Microsoft YaHei"/>
              </a:rPr>
              <a:t>RESOURCE DEPLOYMENT</a:t>
            </a:r>
            <a:endParaRPr/>
          </a:p>
        </p:txBody>
      </p:sp>
      <p:sp>
        <p:nvSpPr>
          <p:cNvPr id="353" name="文本框 352" descr="{&quot;isTemplate&quot;:true,&quot;type&quot;:&quot;text&quot;}"/>
          <p:cNvSpPr txBox="1"/>
          <p:nvPr/>
        </p:nvSpPr>
        <p:spPr>
          <a:xfrm>
            <a:off x="742950" y="2143125"/>
            <a:ext cx="2400300" cy="1095375"/>
          </a:xfrm>
          <a:prstGeom prst="rect">
            <a:avLst/>
          </a:prstGeom>
        </p:spPr>
        <p:txBody>
          <a:bodyPr wrap="none" lIns="0" tIns="0" rIns="0" bIns="0"/>
          <a:lstStyle/>
          <a:p>
            <a:pPr>
              <a:lnSpc>
                <a:spcPct val="140000"/>
              </a:lnSpc>
            </a:pPr>
            <a:r>
              <a:rPr lang="zh-CN" sz="2550" b="1">
                <a:solidFill>
                  <a:srgbClr val="0E3F8C"/>
                </a:solidFill>
                <a:latin typeface="Microsoft YaHei"/>
                <a:ea typeface="Microsoft YaHei"/>
              </a:rPr>
              <a:t>资源配置的</a:t>
            </a:r>
            <a:endParaRPr/>
          </a:p>
          <a:p>
            <a:pPr>
              <a:lnSpc>
                <a:spcPct val="140000"/>
              </a:lnSpc>
            </a:pPr>
            <a:r>
              <a:rPr lang="zh-CN" sz="2550" b="1">
                <a:solidFill>
                  <a:srgbClr val="0E3F8C"/>
                </a:solidFill>
                <a:latin typeface="Microsoft YaHei"/>
                <a:ea typeface="Microsoft YaHei"/>
              </a:rPr>
              <a:t>三个关键命题</a:t>
            </a:r>
            <a:endParaRPr/>
          </a:p>
        </p:txBody>
      </p:sp>
      <p:sp>
        <p:nvSpPr>
          <p:cNvPr id="354" name="矩形 353"/>
          <p:cNvSpPr/>
          <p:nvPr/>
        </p:nvSpPr>
        <p:spPr>
          <a:xfrm>
            <a:off x="742950" y="3467100"/>
            <a:ext cx="533400" cy="28575"/>
          </a:xfrm>
          <a:prstGeom prst="rect">
            <a:avLst/>
          </a:prstGeom>
          <a:solidFill>
            <a:srgbClr val="1E4FA8"/>
          </a:solidFill>
          <a:ln/>
        </p:spPr>
        <p:txBody>
          <a:bodyPr/>
          <a:lstStyle/>
          <a:p>
            <a:endParaRPr/>
          </a:p>
        </p:txBody>
      </p:sp>
      <p:sp>
        <p:nvSpPr>
          <p:cNvPr id="355" name="文本框 354" descr="{&quot;isTemplate&quot;:true,&quot;type&quot;:&quot;text&quot;}"/>
          <p:cNvSpPr txBox="1"/>
          <p:nvPr/>
        </p:nvSpPr>
        <p:spPr>
          <a:xfrm>
            <a:off x="742950" y="3724275"/>
            <a:ext cx="2400300" cy="666750"/>
          </a:xfrm>
          <a:prstGeom prst="rect">
            <a:avLst/>
          </a:prstGeom>
        </p:spPr>
        <p:txBody>
          <a:bodyPr wrap="square" lIns="0" tIns="0" rIns="0" bIns="0">
            <a:normAutofit/>
          </a:bodyPr>
          <a:lstStyle/>
          <a:p>
            <a:pPr>
              <a:lnSpc>
                <a:spcPct val="180000"/>
              </a:lnSpc>
            </a:pPr>
            <a:r>
              <a:rPr lang="zh-CN" sz="1200">
                <a:solidFill>
                  <a:srgbClr val="4A5568"/>
                </a:solidFill>
                <a:latin typeface="Microsoft YaHei"/>
                <a:ea typeface="Microsoft YaHei"/>
              </a:rPr>
              <a:t>理论支点：巴尼（</a:t>
            </a:r>
            <a:r>
              <a:rPr lang="en-US" sz="1200">
                <a:solidFill>
                  <a:srgbClr val="4A5568"/>
                </a:solidFill>
                <a:latin typeface="Microsoft YaHei"/>
                <a:ea typeface="Microsoft YaHei"/>
              </a:rPr>
              <a:t>1991</a:t>
            </a:r>
            <a:r>
              <a:rPr lang="zh-CN" sz="1200">
                <a:solidFill>
                  <a:srgbClr val="4A5568"/>
                </a:solidFill>
                <a:latin typeface="Microsoft YaHei"/>
                <a:ea typeface="Microsoft YaHei"/>
              </a:rPr>
              <a:t>）资源基础观</a:t>
            </a:r>
            <a:r>
              <a:rPr lang="en-US" sz="1200">
                <a:solidFill>
                  <a:srgbClr val="4A5568"/>
                </a:solidFill>
                <a:latin typeface="Microsoft YaHei"/>
                <a:ea typeface="Microsoft YaHei"/>
              </a:rPr>
              <a:t> · VRIN </a:t>
            </a:r>
            <a:r>
              <a:rPr lang="zh-CN" sz="1200">
                <a:solidFill>
                  <a:srgbClr val="4A5568"/>
                </a:solidFill>
                <a:latin typeface="Microsoft YaHei"/>
                <a:ea typeface="Microsoft YaHei"/>
              </a:rPr>
              <a:t>框架</a:t>
            </a:r>
            <a:endParaRPr/>
          </a:p>
        </p:txBody>
      </p:sp>
      <p:sp>
        <p:nvSpPr>
          <p:cNvPr id="356" name="矩形: 圆角 355"/>
          <p:cNvSpPr/>
          <p:nvPr/>
        </p:nvSpPr>
        <p:spPr>
          <a:xfrm>
            <a:off x="742950" y="5648325"/>
            <a:ext cx="1390650" cy="276225"/>
          </a:xfrm>
          <a:prstGeom prst="roundRect">
            <a:avLst>
              <a:gd name="adj" fmla="val 48276"/>
            </a:avLst>
          </a:prstGeom>
          <a:solidFill>
            <a:srgbClr val="FFFFFF"/>
          </a:solidFill>
          <a:ln/>
        </p:spPr>
        <p:txBody>
          <a:bodyPr/>
          <a:lstStyle/>
          <a:p>
            <a:endParaRPr/>
          </a:p>
        </p:txBody>
      </p:sp>
      <p:sp>
        <p:nvSpPr>
          <p:cNvPr id="357" name="文本框 356" descr="{&quot;isTemplate&quot;:true,&quot;type&quot;:&quot;text&quot;}"/>
          <p:cNvSpPr txBox="1"/>
          <p:nvPr/>
        </p:nvSpPr>
        <p:spPr>
          <a:xfrm>
            <a:off x="914400" y="5705475"/>
            <a:ext cx="1047750" cy="161925"/>
          </a:xfrm>
          <a:prstGeom prst="rect">
            <a:avLst/>
          </a:prstGeom>
        </p:spPr>
        <p:txBody>
          <a:bodyPr wrap="none" lIns="0" tIns="0" rIns="0" bIns="0"/>
          <a:lstStyle/>
          <a:p>
            <a:pPr>
              <a:lnSpc>
                <a:spcPct val="100000"/>
              </a:lnSpc>
            </a:pPr>
            <a:r>
              <a:rPr lang="zh-CN" sz="1050">
                <a:solidFill>
                  <a:srgbClr val="1E4FA8"/>
                </a:solidFill>
                <a:latin typeface="Microsoft YaHei"/>
                <a:ea typeface="Microsoft YaHei"/>
              </a:rPr>
              <a:t>第二章</a:t>
            </a:r>
            <a:r>
              <a:rPr lang="en-US" sz="1050">
                <a:solidFill>
                  <a:srgbClr val="1E4FA8"/>
                </a:solidFill>
                <a:latin typeface="Microsoft YaHei"/>
                <a:ea typeface="Microsoft YaHei"/>
              </a:rPr>
              <a:t> · </a:t>
            </a:r>
            <a:r>
              <a:rPr lang="zh-CN" sz="1050">
                <a:solidFill>
                  <a:srgbClr val="1E4FA8"/>
                </a:solidFill>
                <a:latin typeface="Microsoft YaHei"/>
                <a:ea typeface="Microsoft YaHei"/>
              </a:rPr>
              <a:t>资源配置</a:t>
            </a:r>
            <a:endParaRPr/>
          </a:p>
        </p:txBody>
      </p:sp>
      <p:sp>
        <p:nvSpPr>
          <p:cNvPr id="358" name="矩形: 圆角 357"/>
          <p:cNvSpPr/>
          <p:nvPr/>
        </p:nvSpPr>
        <p:spPr>
          <a:xfrm>
            <a:off x="3676650" y="1485900"/>
            <a:ext cx="8134350" cy="1276350"/>
          </a:xfrm>
          <a:prstGeom prst="roundRect">
            <a:avLst>
              <a:gd name="adj" fmla="val 7463"/>
            </a:avLst>
          </a:prstGeom>
          <a:solidFill>
            <a:srgbClr val="FFFFFF"/>
          </a:solidFill>
          <a:ln w="12700">
            <a:solidFill>
              <a:srgbClr val="D6DCE5"/>
            </a:solidFill>
            <a:prstDash val="solid"/>
          </a:ln>
        </p:spPr>
        <p:txBody>
          <a:bodyPr/>
          <a:lstStyle/>
          <a:p>
            <a:endParaRPr/>
          </a:p>
        </p:txBody>
      </p:sp>
      <p:sp>
        <p:nvSpPr>
          <p:cNvPr id="359" name="矩形: 圆角 358"/>
          <p:cNvSpPr/>
          <p:nvPr/>
        </p:nvSpPr>
        <p:spPr>
          <a:xfrm>
            <a:off x="3886200" y="1895475"/>
            <a:ext cx="457200" cy="457200"/>
          </a:xfrm>
          <a:prstGeom prst="roundRect">
            <a:avLst>
              <a:gd name="adj" fmla="val 20833"/>
            </a:avLst>
          </a:prstGeom>
          <a:solidFill>
            <a:srgbClr val="1E4FA8"/>
          </a:solidFill>
          <a:ln/>
        </p:spPr>
        <p:txBody>
          <a:bodyPr/>
          <a:lstStyle/>
          <a:p>
            <a:endParaRPr/>
          </a:p>
        </p:txBody>
      </p:sp>
      <p:sp>
        <p:nvSpPr>
          <p:cNvPr id="360" name="文本框 359" descr="{&quot;isTemplate&quot;:true,&quot;type&quot;:&quot;text&quot;}"/>
          <p:cNvSpPr txBox="1"/>
          <p:nvPr/>
        </p:nvSpPr>
        <p:spPr>
          <a:xfrm>
            <a:off x="4048125" y="2000250"/>
            <a:ext cx="133350" cy="257175"/>
          </a:xfrm>
          <a:prstGeom prst="rect">
            <a:avLst/>
          </a:prstGeom>
        </p:spPr>
        <p:txBody>
          <a:bodyPr wrap="none" lIns="0" tIns="0" rIns="0" bIns="0"/>
          <a:lstStyle/>
          <a:p>
            <a:pPr>
              <a:lnSpc>
                <a:spcPct val="100000"/>
              </a:lnSpc>
            </a:pPr>
            <a:r>
              <a:rPr lang="en-US" sz="1650" b="1">
                <a:solidFill>
                  <a:srgbClr val="FFFFFF"/>
                </a:solidFill>
                <a:latin typeface="Microsoft YaHei"/>
                <a:ea typeface="Microsoft YaHei"/>
              </a:rPr>
              <a:t>1</a:t>
            </a:r>
            <a:endParaRPr/>
          </a:p>
        </p:txBody>
      </p:sp>
      <p:sp>
        <p:nvSpPr>
          <p:cNvPr id="361" name="文本框 360" descr="{&quot;isTemplate&quot;:true,&quot;type&quot;:&quot;text&quot;}"/>
          <p:cNvSpPr txBox="1"/>
          <p:nvPr/>
        </p:nvSpPr>
        <p:spPr>
          <a:xfrm>
            <a:off x="4533900" y="1590675"/>
            <a:ext cx="706755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资源本身不产生优势，配置方式才产生</a:t>
            </a:r>
            <a:endParaRPr/>
          </a:p>
        </p:txBody>
      </p:sp>
      <p:sp>
        <p:nvSpPr>
          <p:cNvPr id="362" name="文本框 361" descr="{&quot;isTemplate&quot;:true,&quot;type&quot;:&quot;text&quot;}"/>
          <p:cNvSpPr txBox="1"/>
          <p:nvPr/>
        </p:nvSpPr>
        <p:spPr>
          <a:xfrm>
            <a:off x="4533900" y="1924050"/>
            <a:ext cx="7067550" cy="1104900"/>
          </a:xfrm>
          <a:prstGeom prst="rect">
            <a:avLst/>
          </a:prstGeom>
        </p:spPr>
        <p:txBody>
          <a:bodyPr wrap="square" lIns="0" tIns="0" rIns="0" bIns="0">
            <a:normAutofit/>
          </a:bodyPr>
          <a:lstStyle/>
          <a:p>
            <a:pPr>
              <a:lnSpc>
                <a:spcPct val="160000"/>
              </a:lnSpc>
            </a:pPr>
            <a:r>
              <a:rPr lang="zh-CN" sz="1500">
                <a:solidFill>
                  <a:srgbClr val="1A2230"/>
                </a:solidFill>
                <a:latin typeface="Microsoft YaHei"/>
                <a:ea typeface="Microsoft YaHei"/>
              </a:rPr>
              <a:t>巴尼（</a:t>
            </a:r>
            <a:r>
              <a:rPr lang="en-US" sz="1500">
                <a:solidFill>
                  <a:srgbClr val="1A2230"/>
                </a:solidFill>
                <a:latin typeface="Microsoft YaHei"/>
                <a:ea typeface="Microsoft YaHei"/>
              </a:rPr>
              <a:t>1991</a:t>
            </a:r>
            <a:r>
              <a:rPr lang="zh-CN" sz="1500">
                <a:solidFill>
                  <a:srgbClr val="1A2230"/>
                </a:solidFill>
                <a:latin typeface="Microsoft YaHei"/>
                <a:ea typeface="Microsoft YaHei"/>
              </a:rPr>
              <a:t>）：资源须满足有价值、稀缺、难模仿、难替代方能形成持续优势。“难模仿”往往不在资源本身，而在配置方式——资源是存量，配置才是结构与流量。</a:t>
            </a:r>
            <a:endParaRPr/>
          </a:p>
        </p:txBody>
      </p:sp>
      <p:sp>
        <p:nvSpPr>
          <p:cNvPr id="363" name="矩形: 圆角 362"/>
          <p:cNvSpPr/>
          <p:nvPr/>
        </p:nvSpPr>
        <p:spPr>
          <a:xfrm>
            <a:off x="3676650" y="2895600"/>
            <a:ext cx="8134350" cy="1276350"/>
          </a:xfrm>
          <a:prstGeom prst="roundRect">
            <a:avLst>
              <a:gd name="adj" fmla="val 7463"/>
            </a:avLst>
          </a:prstGeom>
          <a:solidFill>
            <a:srgbClr val="FFFFFF"/>
          </a:solidFill>
          <a:ln w="12700">
            <a:solidFill>
              <a:srgbClr val="D6DCE5"/>
            </a:solidFill>
            <a:prstDash val="solid"/>
          </a:ln>
        </p:spPr>
        <p:txBody>
          <a:bodyPr/>
          <a:lstStyle/>
          <a:p>
            <a:endParaRPr/>
          </a:p>
        </p:txBody>
      </p:sp>
      <p:sp>
        <p:nvSpPr>
          <p:cNvPr id="364" name="矩形: 圆角 363"/>
          <p:cNvSpPr/>
          <p:nvPr/>
        </p:nvSpPr>
        <p:spPr>
          <a:xfrm>
            <a:off x="3886200" y="3305175"/>
            <a:ext cx="457200" cy="457200"/>
          </a:xfrm>
          <a:prstGeom prst="roundRect">
            <a:avLst>
              <a:gd name="adj" fmla="val 20833"/>
            </a:avLst>
          </a:prstGeom>
          <a:solidFill>
            <a:srgbClr val="1E4FA8"/>
          </a:solidFill>
          <a:ln/>
        </p:spPr>
        <p:txBody>
          <a:bodyPr/>
          <a:lstStyle/>
          <a:p>
            <a:endParaRPr/>
          </a:p>
        </p:txBody>
      </p:sp>
      <p:sp>
        <p:nvSpPr>
          <p:cNvPr id="365" name="文本框 364" descr="{&quot;isTemplate&quot;:true,&quot;type&quot;:&quot;text&quot;}"/>
          <p:cNvSpPr txBox="1"/>
          <p:nvPr/>
        </p:nvSpPr>
        <p:spPr>
          <a:xfrm>
            <a:off x="4048125" y="3409950"/>
            <a:ext cx="133350" cy="257175"/>
          </a:xfrm>
          <a:prstGeom prst="rect">
            <a:avLst/>
          </a:prstGeom>
        </p:spPr>
        <p:txBody>
          <a:bodyPr wrap="none" lIns="0" tIns="0" rIns="0" bIns="0"/>
          <a:lstStyle/>
          <a:p>
            <a:pPr>
              <a:lnSpc>
                <a:spcPct val="100000"/>
              </a:lnSpc>
            </a:pPr>
            <a:r>
              <a:rPr lang="en-US" sz="1650" b="1">
                <a:solidFill>
                  <a:srgbClr val="FFFFFF"/>
                </a:solidFill>
                <a:latin typeface="Microsoft YaHei"/>
                <a:ea typeface="Microsoft YaHei"/>
              </a:rPr>
              <a:t>2</a:t>
            </a:r>
            <a:endParaRPr/>
          </a:p>
        </p:txBody>
      </p:sp>
      <p:sp>
        <p:nvSpPr>
          <p:cNvPr id="366" name="文本框 365" descr="{&quot;isTemplate&quot;:true,&quot;type&quot;:&quot;text&quot;}"/>
          <p:cNvSpPr txBox="1"/>
          <p:nvPr/>
        </p:nvSpPr>
        <p:spPr>
          <a:xfrm>
            <a:off x="4533900" y="3000375"/>
            <a:ext cx="706755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配置一致性，就是战略一致性</a:t>
            </a:r>
            <a:endParaRPr/>
          </a:p>
        </p:txBody>
      </p:sp>
      <p:sp>
        <p:nvSpPr>
          <p:cNvPr id="367" name="文本框 366" descr="{&quot;isTemplate&quot;:true,&quot;type&quot;:&quot;text&quot;}"/>
          <p:cNvSpPr txBox="1"/>
          <p:nvPr/>
        </p:nvSpPr>
        <p:spPr>
          <a:xfrm>
            <a:off x="4533900" y="3333750"/>
            <a:ext cx="7067550" cy="733425"/>
          </a:xfrm>
          <a:prstGeom prst="rect">
            <a:avLst/>
          </a:prstGeom>
        </p:spPr>
        <p:txBody>
          <a:bodyPr wrap="square" lIns="0" tIns="0" rIns="0" bIns="0">
            <a:normAutofit/>
          </a:bodyPr>
          <a:lstStyle/>
          <a:p>
            <a:pPr>
              <a:lnSpc>
                <a:spcPct val="160000"/>
              </a:lnSpc>
            </a:pPr>
            <a:r>
              <a:rPr lang="zh-CN" sz="1500">
                <a:solidFill>
                  <a:srgbClr val="1A2230"/>
                </a:solidFill>
                <a:latin typeface="Microsoft YaHei"/>
                <a:ea typeface="Microsoft YaHei"/>
              </a:rPr>
              <a:t>资源投向哪里，战略就真实地是什么。资源错配是战略失败最常见的根因：不是方向错了，是钱没有跟着方向走。</a:t>
            </a:r>
            <a:endParaRPr/>
          </a:p>
        </p:txBody>
      </p:sp>
      <p:sp>
        <p:nvSpPr>
          <p:cNvPr id="368" name="矩形: 圆角 367"/>
          <p:cNvSpPr/>
          <p:nvPr/>
        </p:nvSpPr>
        <p:spPr>
          <a:xfrm>
            <a:off x="3676650" y="4305300"/>
            <a:ext cx="8134350" cy="1276350"/>
          </a:xfrm>
          <a:prstGeom prst="roundRect">
            <a:avLst>
              <a:gd name="adj" fmla="val 7463"/>
            </a:avLst>
          </a:prstGeom>
          <a:solidFill>
            <a:srgbClr val="FFFFFF"/>
          </a:solidFill>
          <a:ln w="12700">
            <a:solidFill>
              <a:srgbClr val="D6DCE5"/>
            </a:solidFill>
            <a:prstDash val="solid"/>
          </a:ln>
        </p:spPr>
        <p:txBody>
          <a:bodyPr/>
          <a:lstStyle/>
          <a:p>
            <a:endParaRPr/>
          </a:p>
        </p:txBody>
      </p:sp>
      <p:sp>
        <p:nvSpPr>
          <p:cNvPr id="369" name="矩形: 圆角 368"/>
          <p:cNvSpPr/>
          <p:nvPr/>
        </p:nvSpPr>
        <p:spPr>
          <a:xfrm>
            <a:off x="3886200" y="4714875"/>
            <a:ext cx="457200" cy="457200"/>
          </a:xfrm>
          <a:prstGeom prst="roundRect">
            <a:avLst>
              <a:gd name="adj" fmla="val 20833"/>
            </a:avLst>
          </a:prstGeom>
          <a:solidFill>
            <a:srgbClr val="1E4FA8"/>
          </a:solidFill>
          <a:ln/>
        </p:spPr>
        <p:txBody>
          <a:bodyPr/>
          <a:lstStyle/>
          <a:p>
            <a:endParaRPr/>
          </a:p>
        </p:txBody>
      </p:sp>
      <p:sp>
        <p:nvSpPr>
          <p:cNvPr id="370" name="文本框 369" descr="{&quot;isTemplate&quot;:true,&quot;type&quot;:&quot;text&quot;}"/>
          <p:cNvSpPr txBox="1"/>
          <p:nvPr/>
        </p:nvSpPr>
        <p:spPr>
          <a:xfrm>
            <a:off x="4048125" y="4819650"/>
            <a:ext cx="133350" cy="257175"/>
          </a:xfrm>
          <a:prstGeom prst="rect">
            <a:avLst/>
          </a:prstGeom>
        </p:spPr>
        <p:txBody>
          <a:bodyPr wrap="none" lIns="0" tIns="0" rIns="0" bIns="0"/>
          <a:lstStyle/>
          <a:p>
            <a:pPr>
              <a:lnSpc>
                <a:spcPct val="100000"/>
              </a:lnSpc>
            </a:pPr>
            <a:r>
              <a:rPr lang="en-US" sz="1650" b="1">
                <a:solidFill>
                  <a:srgbClr val="FFFFFF"/>
                </a:solidFill>
                <a:latin typeface="Microsoft YaHei"/>
                <a:ea typeface="Microsoft YaHei"/>
              </a:rPr>
              <a:t>3</a:t>
            </a:r>
            <a:endParaRPr/>
          </a:p>
        </p:txBody>
      </p:sp>
      <p:sp>
        <p:nvSpPr>
          <p:cNvPr id="371" name="文本框 370" descr="{&quot;isTemplate&quot;:true,&quot;type&quot;:&quot;text&quot;}"/>
          <p:cNvSpPr txBox="1"/>
          <p:nvPr/>
        </p:nvSpPr>
        <p:spPr>
          <a:xfrm>
            <a:off x="4533900" y="4410075"/>
            <a:ext cx="706755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集中与分散，是核心取舍</a:t>
            </a:r>
            <a:endParaRPr/>
          </a:p>
        </p:txBody>
      </p:sp>
      <p:sp>
        <p:nvSpPr>
          <p:cNvPr id="372" name="文本框 371" descr="{&quot;isTemplate&quot;:true,&quot;type&quot;:&quot;text&quot;}"/>
          <p:cNvSpPr txBox="1"/>
          <p:nvPr/>
        </p:nvSpPr>
        <p:spPr>
          <a:xfrm>
            <a:off x="4533900" y="4743450"/>
            <a:ext cx="7067550" cy="733425"/>
          </a:xfrm>
          <a:prstGeom prst="rect">
            <a:avLst/>
          </a:prstGeom>
        </p:spPr>
        <p:txBody>
          <a:bodyPr wrap="square" lIns="0" tIns="0" rIns="0" bIns="0">
            <a:normAutofit/>
          </a:bodyPr>
          <a:lstStyle/>
          <a:p>
            <a:pPr>
              <a:lnSpc>
                <a:spcPct val="160000"/>
              </a:lnSpc>
            </a:pPr>
            <a:r>
              <a:rPr lang="zh-CN" sz="1500">
                <a:solidFill>
                  <a:srgbClr val="1A2230"/>
                </a:solidFill>
                <a:latin typeface="Microsoft YaHei"/>
                <a:ea typeface="Microsoft YaHei"/>
              </a:rPr>
              <a:t>多元化企业最典型的失败模式是资源摊薄：每个业务都投一点，结果每个都不足以形成优势，“样样通、样样松”。</a:t>
            </a:r>
            <a:endParaRPr/>
          </a:p>
        </p:txBody>
      </p:sp>
      <p:sp>
        <p:nvSpPr>
          <p:cNvPr id="373" name="矩形: 圆角 372"/>
          <p:cNvSpPr/>
          <p:nvPr/>
        </p:nvSpPr>
        <p:spPr>
          <a:xfrm>
            <a:off x="3733800" y="5715000"/>
            <a:ext cx="8134350" cy="981075"/>
          </a:xfrm>
          <a:prstGeom prst="roundRect">
            <a:avLst>
              <a:gd name="adj" fmla="val 7767"/>
            </a:avLst>
          </a:prstGeom>
          <a:solidFill>
            <a:srgbClr val="FDECEB"/>
          </a:solidFill>
          <a:ln/>
        </p:spPr>
        <p:txBody>
          <a:bodyPr/>
          <a:lstStyle/>
          <a:p>
            <a:endParaRPr/>
          </a:p>
        </p:txBody>
      </p:sp>
      <p:sp>
        <p:nvSpPr>
          <p:cNvPr id="374" name="任意多边形: 形状 373"/>
          <p:cNvSpPr/>
          <p:nvPr/>
        </p:nvSpPr>
        <p:spPr>
          <a:xfrm>
            <a:off x="3733800" y="5715000"/>
            <a:ext cx="8134350" cy="981075"/>
          </a:xfrm>
          <a:custGeom>
            <a:avLst/>
            <a:gdLst/>
            <a:ahLst/>
            <a:cxnLst/>
            <a:rect l="0" t="0" r="0" b="0"/>
            <a:pathLst>
              <a:path w="854" h="103">
                <a:moveTo>
                  <a:pt x="8" y="0"/>
                </a:moveTo>
                <a:cubicBezTo>
                  <a:pt x="7" y="0"/>
                  <a:pt x="6" y="1"/>
                  <a:pt x="6" y="2"/>
                </a:cubicBezTo>
                <a:lnTo>
                  <a:pt x="6" y="101"/>
                </a:lnTo>
                <a:cubicBezTo>
                  <a:pt x="6" y="102"/>
                  <a:pt x="7" y="103"/>
                  <a:pt x="8" y="103"/>
                </a:cubicBezTo>
                <a:cubicBezTo>
                  <a:pt x="3" y="103"/>
                  <a:pt x="0" y="99"/>
                  <a:pt x="0" y="95"/>
                </a:cubicBezTo>
                <a:lnTo>
                  <a:pt x="0" y="8"/>
                </a:lnTo>
                <a:cubicBezTo>
                  <a:pt x="0" y="4"/>
                  <a:pt x="4" y="0"/>
                  <a:pt x="8" y="0"/>
                </a:cubicBezTo>
                <a:close/>
              </a:path>
            </a:pathLst>
          </a:custGeom>
          <a:solidFill>
            <a:srgbClr val="D9534F"/>
          </a:solidFill>
          <a:ln/>
        </p:spPr>
        <p:txBody>
          <a:bodyPr/>
          <a:lstStyle/>
          <a:p>
            <a:endParaRPr/>
          </a:p>
        </p:txBody>
      </p:sp>
      <p:sp>
        <p:nvSpPr>
          <p:cNvPr id="375" name="文本框 374" descr="{&quot;isTemplate&quot;:true,&quot;type&quot;:&quot;text&quot;}"/>
          <p:cNvSpPr txBox="1"/>
          <p:nvPr/>
        </p:nvSpPr>
        <p:spPr>
          <a:xfrm>
            <a:off x="3962400" y="5838825"/>
            <a:ext cx="7620000" cy="733425"/>
          </a:xfrm>
          <a:prstGeom prst="rect">
            <a:avLst/>
          </a:prstGeom>
        </p:spPr>
        <p:txBody>
          <a:bodyPr wrap="square" lIns="0" tIns="0" rIns="0" bIns="0">
            <a:normAutofit/>
          </a:bodyPr>
          <a:lstStyle/>
          <a:p>
            <a:pPr>
              <a:lnSpc>
                <a:spcPct val="160000"/>
              </a:lnSpc>
            </a:pPr>
            <a:r>
              <a:rPr lang="zh-CN" sz="1500" b="1">
                <a:solidFill>
                  <a:srgbClr val="D9534F"/>
                </a:solidFill>
                <a:latin typeface="Microsoft YaHei"/>
                <a:ea typeface="Microsoft YaHei"/>
              </a:rPr>
              <a:t>反例</a:t>
            </a:r>
            <a:r>
              <a:rPr lang="zh-CN" sz="1500">
                <a:solidFill>
                  <a:srgbClr val="1A2230"/>
                </a:solidFill>
                <a:latin typeface="Microsoft YaHei"/>
                <a:ea typeface="Microsoft YaHei"/>
              </a:rPr>
              <a:t>：诺基亚与柯达把资源持续锁定在既有技术轨道上，新范式需要资源时已无余量——错配的代价是出局。</a:t>
            </a:r>
            <a:endParaRPr/>
          </a:p>
        </p:txBody>
      </p:sp>
      <p:sp>
        <p:nvSpPr>
          <p:cNvPr id="376" name="任意多边形: 形状 375"/>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D6DCE5"/>
          </a:solidFill>
          <a:ln/>
        </p:spPr>
        <p:txBody>
          <a:bodyPr/>
          <a:lstStyle/>
          <a:p>
            <a:endParaRPr/>
          </a:p>
        </p:txBody>
      </p:sp>
      <p:sp>
        <p:nvSpPr>
          <p:cNvPr id="377" name="文本框 376" descr="{&quot;isTemplate&quot;:true,&quot;type&quot;:&quot;text&quot;}"/>
          <p:cNvSpPr txBox="1"/>
          <p:nvPr/>
        </p:nvSpPr>
        <p:spPr>
          <a:xfrm>
            <a:off x="381000" y="6572250"/>
            <a:ext cx="18478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企业战略的构成要素</a:t>
            </a:r>
            <a:r>
              <a:rPr lang="en-US" sz="1050">
                <a:solidFill>
                  <a:srgbClr val="8B97A8"/>
                </a:solidFill>
                <a:latin typeface="Microsoft YaHei"/>
                <a:ea typeface="Microsoft YaHei"/>
              </a:rPr>
              <a:t> · </a:t>
            </a:r>
            <a:r>
              <a:rPr lang="zh-CN" sz="1050">
                <a:solidFill>
                  <a:srgbClr val="8B97A8"/>
                </a:solidFill>
                <a:latin typeface="Microsoft YaHei"/>
                <a:ea typeface="Microsoft YaHei"/>
              </a:rPr>
              <a:t>教学课件</a:t>
            </a:r>
            <a:endParaRPr/>
          </a:p>
        </p:txBody>
      </p:sp>
      <p:sp>
        <p:nvSpPr>
          <p:cNvPr id="378" name="文本框 377" descr="{&quot;isTemplate&quot;:true,&quot;type&quot;:&quot;text&quot;}"/>
          <p:cNvSpPr txBox="1"/>
          <p:nvPr/>
        </p:nvSpPr>
        <p:spPr>
          <a:xfrm>
            <a:off x="11353800" y="6572250"/>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09 / 16</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display: 'flex', flexDirection: 'column' }}&gt;&#10;  &lt;Box style={{ height: 72, background: '#0E3F8C', flexDirection: 'row', justifyContent: 'space-between', alignItems: 'center', padding: '0 40px', flexShrink: 0 }}&gt;&#10;    &lt;Text style={{ fontSize: 15, color: '#B8CCE8', letterSpacing: 3 }}&gt;战略管理 · STRATEGIC MANAGEMENT&lt;/Text&gt;&#10;    &lt;Text style={{ fontSize: 14, color: '#B8CCE8' }}&gt;第二章 · 资源配置&lt;/Text&gt;&#10;  &lt;/Box&gt;&#10;  &lt;Box style={{ height: 78, padding: '16px 40px 0 40px', flexDirection: 'column', flexShrink: 0 }}&gt;&#10;    &lt;Text style={{ fontSize: 32, fontWeight: 'bold', color: '#0E3F8C' }}&gt;实例：华为的研发资源配置&lt;/Text&gt;&#10;    &lt;Text style={{ fontSize: 15, color: '#8B97A8', marginTop: 6 }}&gt;Case Study: Huawei’s R&amp;amp;D Resource Deployment（数据来源：华为 2024 年年度报告）&lt;/Text&gt;&#10;  &lt;/Box&gt;&#10;  &lt;Box style={{ flex: 1, padding: '6px 40px 18px 40px', minHeight: 0, flexDirection: 'column', gap: 14 }}&gt;&#10;    &lt;Box style={{ background: '#F7F9FC', borderRadius: 8, border: '1px solid #D6DCE5', padding: '10px 22px' }}&gt;&#10;      &lt;Text style={{ fontSize: 17, color: '#4A5568' }}&gt;先看四个数字，再回答一个问题：华为的资源配置，强在“水平”还是“模式”？&lt;/Text&gt;&#10;    &lt;/Box&gt;&#10;    &lt;Box style={{ flex: 1, flexDirection: 'row', gap: 40, alignItems: 'center', minHeight: 0 }}&gt;&#10;      &lt;Box style={{ flex: 5, flexDirection: 'column', justifyContent: 'center', paddingLeft: 20 }}&gt;&#10;        &lt;Text style={{ fontSize: 128, fontWeight: 'bold', color: '#1E4FA8', lineHeight: 1.1 }}&gt;20.8&lt;span style={{ fontSize: 64 }}&gt;%&lt;/span&gt;&lt;/Text&gt;&#10;        &lt;Box style={{ width: 120, height: 4, background: '#FFC107', marginTop: 14, marginBottom: 14 }} /&gt;&#10;        &lt;Text style={{ fontSize: 21, color: '#4A5568' }}&gt;2024 年研发投入占全年收入的比例&lt;/Text&gt;&#10;        &lt;Text style={{ fontSize: 16, color: '#8B97A8', marginTop: 8 }}&gt;对照：公司政策底线为每年 10% 以上销售收入投入研发&lt;/Text&gt;&#10;      &lt;/Box&gt;&#10;      &lt;Box style={{ flex: 4, flexDirection: 'column', gap: 20, justifyContent: 'center' }}&gt;&#10;        &lt;Box style={{ flexDirection: 'column', gap: 4, paddingBottom: 16, borderBottom: '1px solid #D6DCE5' }}&gt;&#10;          &lt;Text style={{ fontSize: 46, fontWeight: 'bold', color: '#0E3F8C', lineHeight: 1.2 }}&gt;1797 &lt;span style={{ fontSize: 24 }}&gt;亿元&lt;/span&gt;&lt;/Text&gt;&#10;          &lt;Text style={{ fontSize: 17, color: '#4A5568' }}&gt;2024 年研发投入总额，同比增长 9.1%&lt;/Text&gt;&#10;        &lt;/Box&gt;&#10;        &lt;Box style={{ flexDirection: 'column', gap: 4, paddingBottom: 16, borderBottom: '1px solid #D6DCE5' }}&gt;&#10;          &lt;Text style={{ fontSize: 46, fontWeight: 'bold', color: '#0E3F8C', lineHeight: 1.2 }}&gt;54.1&lt;span style={{ fontSize: 24 }}&gt;%&lt;/span&gt;&lt;/Text&gt;&#10;          &lt;Text style={{ fontSize: 17, color: '#4A5568' }}&gt;研发人员占比，约 11.3 万名员工&lt;/Text&gt;&#10;        &lt;/Box&gt;&#10;        &lt;Box style={{ flexDirection: 'column', gap: 4 }}&gt;&#10;          &lt;Text style={{ fontSize: 46, fontWeight: 'bold', color: '#0E3F8C', lineHeight: 1.2 }}&gt;1.249 &lt;span style={{ fontSize: 24 }}&gt;万亿元&lt;/span&gt;&lt;/Text&gt;&#10;          &lt;Text style={{ fontSize: 17, color: '#4A5568' }}&gt;近十年累计研发投入，有效授权专利超 15 万件&lt;/Text&gt;&#10;        &lt;/Box&gt;&#10;      &lt;/Box&gt;&#10;    &lt;/Box&gt;&#10;    &lt;Box style={{ background: '#FFF8E1', borderLeft: '6px solid #FFC107', borderRadius: 8, padding: '14px 26px' }}&gt;&#10;      &lt;Text style={{ fontSize: 22, fontWeight: 'bold', color: '#0E3F8C', lineHeight: 1.5 }}&gt;每 5 元收入就有 1 元押在技术上——这不是花钱多，而是把资源配置成了战略本身。&lt;/Text&gt;&#10;      &lt;Text style={{ fontSize: 14, color: '#8B97A8', marginTop: 6 }}&gt;数据来源：华为投资与控股 2024 年年度报告（2025 年 3 月 31 日发布，毕马威审计）&lt;/Text&gt;&#10;    &lt;/Box&gt;&#10;  &lt;/Box&gt;&#10;  &lt;Box style={{ height: 44, borderTop: '1px solid #D6DCE5', flexDirection: 'row', justifyContent: 'space-between', alignItems: 'center', padding: '0 40px', flexShrink: 0 }}&gt;&#10;    &lt;Text style={{ fontSize: 14, color: '#8B97A8' }}&gt;企业战略的构成要素 · 教学课件&lt;/Text&gt;&#10;    &lt;Text style={{ fontSize: 14, color: '#0E3F8C' }}&gt;10 / 16&lt;/Text&gt;&#10;  &lt;/Box&gt;&#10;&lt;/Slide&gt;"/>
        <p:cNvGrpSpPr/>
        <p:nvPr/>
      </p:nvGrpSpPr>
      <p:grpSpPr>
        <a:xfrm>
          <a:off x="0" y="0"/>
          <a:ext cx="0" cy="0"/>
          <a:chOff x="0" y="0"/>
          <a:chExt cx="0" cy="0"/>
        </a:xfrm>
      </p:grpSpPr>
      <p:sp>
        <p:nvSpPr>
          <p:cNvPr id="21" name="矩形 20"/>
          <p:cNvSpPr/>
          <p:nvPr/>
        </p:nvSpPr>
        <p:spPr>
          <a:xfrm>
            <a:off x="0" y="0"/>
            <a:ext cx="12192000" cy="6858000"/>
          </a:xfrm>
          <a:prstGeom prst="rect">
            <a:avLst/>
          </a:prstGeom>
          <a:solidFill>
            <a:srgbClr val="FFFFFF"/>
          </a:solidFill>
          <a:ln/>
        </p:spPr>
        <p:txBody>
          <a:bodyPr/>
          <a:lstStyle/>
          <a:p>
            <a:endParaRPr/>
          </a:p>
        </p:txBody>
      </p:sp>
      <p:sp>
        <p:nvSpPr>
          <p:cNvPr id="22" name="矩形 21"/>
          <p:cNvSpPr/>
          <p:nvPr/>
        </p:nvSpPr>
        <p:spPr>
          <a:xfrm>
            <a:off x="0" y="0"/>
            <a:ext cx="12192000" cy="685800"/>
          </a:xfrm>
          <a:prstGeom prst="rect">
            <a:avLst/>
          </a:prstGeom>
          <a:solidFill>
            <a:srgbClr val="0E3F8C"/>
          </a:solidFill>
          <a:ln/>
        </p:spPr>
        <p:txBody>
          <a:bodyPr/>
          <a:lstStyle/>
          <a:p>
            <a:endParaRPr/>
          </a:p>
        </p:txBody>
      </p:sp>
      <p:sp>
        <p:nvSpPr>
          <p:cNvPr id="23" name="文本框 22"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B8CCE8"/>
                </a:solidFill>
                <a:latin typeface="Microsoft YaHei"/>
                <a:ea typeface="Microsoft YaHei"/>
              </a:rPr>
              <a:t>战略管理</a:t>
            </a:r>
            <a:r>
              <a:rPr lang="en-US" sz="1125" spc="225">
                <a:solidFill>
                  <a:srgbClr val="B8CCE8"/>
                </a:solidFill>
                <a:latin typeface="Microsoft YaHei"/>
                <a:ea typeface="Microsoft YaHei"/>
              </a:rPr>
              <a:t> · STRATEGIC MANAGEMENT</a:t>
            </a:r>
            <a:endParaRPr/>
          </a:p>
        </p:txBody>
      </p:sp>
      <p:sp>
        <p:nvSpPr>
          <p:cNvPr id="24" name="文本框 23" descr="{&quot;isTemplate&quot;:true,&quot;type&quot;:&quot;text&quot;}"/>
          <p:cNvSpPr txBox="1"/>
          <p:nvPr/>
        </p:nvSpPr>
        <p:spPr>
          <a:xfrm>
            <a:off x="10763250" y="266700"/>
            <a:ext cx="1047750" cy="161925"/>
          </a:xfrm>
          <a:prstGeom prst="rect">
            <a:avLst/>
          </a:prstGeom>
        </p:spPr>
        <p:txBody>
          <a:bodyPr wrap="none" lIns="0" tIns="0" rIns="0" bIns="0"/>
          <a:lstStyle/>
          <a:p>
            <a:pPr>
              <a:lnSpc>
                <a:spcPct val="100000"/>
              </a:lnSpc>
            </a:pPr>
            <a:r>
              <a:rPr lang="zh-CN" sz="1050">
                <a:solidFill>
                  <a:srgbClr val="B8CCE8"/>
                </a:solidFill>
                <a:latin typeface="Microsoft YaHei"/>
                <a:ea typeface="Microsoft YaHei"/>
              </a:rPr>
              <a:t>第二章</a:t>
            </a:r>
            <a:r>
              <a:rPr lang="en-US" sz="1050">
                <a:solidFill>
                  <a:srgbClr val="B8CCE8"/>
                </a:solidFill>
                <a:latin typeface="Microsoft YaHei"/>
                <a:ea typeface="Microsoft YaHei"/>
              </a:rPr>
              <a:t> · </a:t>
            </a:r>
            <a:r>
              <a:rPr lang="zh-CN" sz="1050">
                <a:solidFill>
                  <a:srgbClr val="B8CCE8"/>
                </a:solidFill>
                <a:latin typeface="Microsoft YaHei"/>
                <a:ea typeface="Microsoft YaHei"/>
              </a:rPr>
              <a:t>资源配置</a:t>
            </a:r>
            <a:endParaRPr/>
          </a:p>
        </p:txBody>
      </p:sp>
      <p:sp>
        <p:nvSpPr>
          <p:cNvPr id="25" name="文本框 24" descr="{&quot;isTemplate&quot;:true,&quot;type&quot;:&quot;text&quot;}"/>
          <p:cNvSpPr txBox="1"/>
          <p:nvPr/>
        </p:nvSpPr>
        <p:spPr>
          <a:xfrm>
            <a:off x="381000" y="8382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实例：华为的研发资源配置</a:t>
            </a:r>
            <a:endParaRPr/>
          </a:p>
        </p:txBody>
      </p:sp>
      <p:sp>
        <p:nvSpPr>
          <p:cNvPr id="26" name="文本框 25" descr="{&quot;isTemplate&quot;:true,&quot;type&quot;:&quot;text&quot;}"/>
          <p:cNvSpPr txBox="1"/>
          <p:nvPr/>
        </p:nvSpPr>
        <p:spPr>
          <a:xfrm>
            <a:off x="381000" y="1266825"/>
            <a:ext cx="11430000"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Case Study: Huawei’s R&amp;D Resource Deployment</a:t>
            </a:r>
            <a:r>
              <a:rPr lang="zh-CN" sz="1125">
                <a:solidFill>
                  <a:srgbClr val="8B97A8"/>
                </a:solidFill>
                <a:latin typeface="Microsoft YaHei"/>
                <a:ea typeface="Microsoft YaHei"/>
              </a:rPr>
              <a:t>（数据来源：华为</a:t>
            </a:r>
            <a:r>
              <a:rPr lang="en-US" sz="1125">
                <a:solidFill>
                  <a:srgbClr val="8B97A8"/>
                </a:solidFill>
                <a:latin typeface="Microsoft YaHei"/>
                <a:ea typeface="Microsoft YaHei"/>
              </a:rPr>
              <a:t> 2024 </a:t>
            </a:r>
            <a:r>
              <a:rPr lang="zh-CN" sz="1125">
                <a:solidFill>
                  <a:srgbClr val="8B97A8"/>
                </a:solidFill>
                <a:latin typeface="Microsoft YaHei"/>
                <a:ea typeface="Microsoft YaHei"/>
              </a:rPr>
              <a:t>年年度报告）</a:t>
            </a:r>
            <a:endParaRPr/>
          </a:p>
        </p:txBody>
      </p:sp>
      <p:sp>
        <p:nvSpPr>
          <p:cNvPr id="27" name="矩形: 圆角 26"/>
          <p:cNvSpPr/>
          <p:nvPr/>
        </p:nvSpPr>
        <p:spPr>
          <a:xfrm>
            <a:off x="381000" y="1485900"/>
            <a:ext cx="11430000" cy="390525"/>
          </a:xfrm>
          <a:prstGeom prst="roundRect">
            <a:avLst>
              <a:gd name="adj" fmla="val 19512"/>
            </a:avLst>
          </a:prstGeom>
          <a:solidFill>
            <a:srgbClr val="F7F9FC"/>
          </a:solidFill>
          <a:ln w="12700">
            <a:solidFill>
              <a:srgbClr val="D6DCE5"/>
            </a:solidFill>
            <a:prstDash val="solid"/>
          </a:ln>
        </p:spPr>
        <p:txBody>
          <a:bodyPr/>
          <a:lstStyle/>
          <a:p>
            <a:endParaRPr/>
          </a:p>
        </p:txBody>
      </p:sp>
      <p:sp>
        <p:nvSpPr>
          <p:cNvPr id="28" name="文本框 27" descr="{&quot;isTemplate&quot;:true,&quot;type&quot;:&quot;text&quot;}"/>
          <p:cNvSpPr txBox="1"/>
          <p:nvPr/>
        </p:nvSpPr>
        <p:spPr>
          <a:xfrm>
            <a:off x="590550" y="1581150"/>
            <a:ext cx="11010900" cy="200025"/>
          </a:xfrm>
          <a:prstGeom prst="rect">
            <a:avLst/>
          </a:prstGeom>
        </p:spPr>
        <p:txBody>
          <a:bodyPr wrap="none" lIns="0" tIns="0" rIns="0" bIns="0"/>
          <a:lstStyle/>
          <a:p>
            <a:pPr>
              <a:lnSpc>
                <a:spcPct val="100000"/>
              </a:lnSpc>
            </a:pPr>
            <a:r>
              <a:rPr lang="zh-CN" sz="1275">
                <a:solidFill>
                  <a:srgbClr val="4A5568"/>
                </a:solidFill>
                <a:latin typeface="Microsoft YaHei"/>
                <a:ea typeface="Microsoft YaHei"/>
              </a:rPr>
              <a:t>先看四个数字，再回答一个问题：华为的资源配置，强在“水平”还是“模式”？</a:t>
            </a:r>
            <a:endParaRPr/>
          </a:p>
        </p:txBody>
      </p:sp>
      <p:sp>
        <p:nvSpPr>
          <p:cNvPr id="29" name="文本框 28" descr="{&quot;isTemplate&quot;:true,&quot;type&quot;:&quot;text&quot;}"/>
          <p:cNvSpPr txBox="1"/>
          <p:nvPr/>
        </p:nvSpPr>
        <p:spPr>
          <a:xfrm>
            <a:off x="571500" y="2428875"/>
            <a:ext cx="5943600" cy="1609725"/>
          </a:xfrm>
          <a:prstGeom prst="rect">
            <a:avLst/>
          </a:prstGeom>
        </p:spPr>
        <p:txBody>
          <a:bodyPr wrap="none" lIns="0" tIns="0" rIns="0" bIns="0"/>
          <a:lstStyle/>
          <a:p>
            <a:pPr>
              <a:lnSpc>
                <a:spcPct val="110000"/>
              </a:lnSpc>
            </a:pPr>
            <a:r>
              <a:rPr lang="en-US" sz="9600" b="1">
                <a:solidFill>
                  <a:srgbClr val="1E4FA8"/>
                </a:solidFill>
                <a:latin typeface="Microsoft YaHei"/>
                <a:ea typeface="Microsoft YaHei"/>
              </a:rPr>
              <a:t>20.8</a:t>
            </a:r>
            <a:r>
              <a:rPr lang="en-US" sz="4800" b="1">
                <a:solidFill>
                  <a:srgbClr val="1E4FA8"/>
                </a:solidFill>
                <a:latin typeface="Microsoft YaHei"/>
                <a:ea typeface="Microsoft YaHei"/>
              </a:rPr>
              <a:t>%</a:t>
            </a:r>
            <a:endParaRPr/>
          </a:p>
        </p:txBody>
      </p:sp>
      <p:sp>
        <p:nvSpPr>
          <p:cNvPr id="30" name="矩形 29"/>
          <p:cNvSpPr/>
          <p:nvPr/>
        </p:nvSpPr>
        <p:spPr>
          <a:xfrm>
            <a:off x="571500" y="4171950"/>
            <a:ext cx="1143000" cy="38100"/>
          </a:xfrm>
          <a:prstGeom prst="rect">
            <a:avLst/>
          </a:prstGeom>
          <a:solidFill>
            <a:srgbClr val="FFC107"/>
          </a:solidFill>
          <a:ln/>
        </p:spPr>
        <p:txBody>
          <a:bodyPr/>
          <a:lstStyle/>
          <a:p>
            <a:endParaRPr/>
          </a:p>
        </p:txBody>
      </p:sp>
      <p:sp>
        <p:nvSpPr>
          <p:cNvPr id="31" name="文本框 30" descr="{&quot;isTemplate&quot;:true,&quot;type&quot;:&quot;text&quot;}"/>
          <p:cNvSpPr txBox="1"/>
          <p:nvPr/>
        </p:nvSpPr>
        <p:spPr>
          <a:xfrm>
            <a:off x="571500" y="4343400"/>
            <a:ext cx="5943600" cy="247650"/>
          </a:xfrm>
          <a:prstGeom prst="rect">
            <a:avLst/>
          </a:prstGeom>
        </p:spPr>
        <p:txBody>
          <a:bodyPr wrap="none" lIns="0" tIns="0" rIns="0" bIns="0"/>
          <a:lstStyle/>
          <a:p>
            <a:pPr>
              <a:lnSpc>
                <a:spcPct val="100000"/>
              </a:lnSpc>
            </a:pPr>
            <a:r>
              <a:rPr lang="en-US" sz="1575">
                <a:solidFill>
                  <a:srgbClr val="4A5568"/>
                </a:solidFill>
                <a:latin typeface="Microsoft YaHei"/>
                <a:ea typeface="Microsoft YaHei"/>
              </a:rPr>
              <a:t>2024 </a:t>
            </a:r>
            <a:r>
              <a:rPr lang="zh-CN" sz="1575">
                <a:solidFill>
                  <a:srgbClr val="4A5568"/>
                </a:solidFill>
                <a:latin typeface="Microsoft YaHei"/>
                <a:ea typeface="Microsoft YaHei"/>
              </a:rPr>
              <a:t>年研发投入占全年收入的比例</a:t>
            </a:r>
            <a:endParaRPr/>
          </a:p>
        </p:txBody>
      </p:sp>
      <p:sp>
        <p:nvSpPr>
          <p:cNvPr id="32" name="文本框 31" descr="{&quot;isTemplate&quot;:true,&quot;type&quot;:&quot;text&quot;}"/>
          <p:cNvSpPr txBox="1"/>
          <p:nvPr/>
        </p:nvSpPr>
        <p:spPr>
          <a:xfrm>
            <a:off x="571500" y="4667250"/>
            <a:ext cx="5943600" cy="190500"/>
          </a:xfrm>
          <a:prstGeom prst="rect">
            <a:avLst/>
          </a:prstGeom>
        </p:spPr>
        <p:txBody>
          <a:bodyPr wrap="none" lIns="0" tIns="0" rIns="0" bIns="0"/>
          <a:lstStyle/>
          <a:p>
            <a:pPr>
              <a:lnSpc>
                <a:spcPct val="100000"/>
              </a:lnSpc>
            </a:pPr>
            <a:r>
              <a:rPr lang="zh-CN" sz="1200">
                <a:solidFill>
                  <a:srgbClr val="8B97A8"/>
                </a:solidFill>
                <a:latin typeface="Microsoft YaHei"/>
                <a:ea typeface="Microsoft YaHei"/>
              </a:rPr>
              <a:t>对照：公司政策底线为每年</a:t>
            </a:r>
            <a:r>
              <a:rPr lang="en-US" sz="1200">
                <a:solidFill>
                  <a:srgbClr val="8B97A8"/>
                </a:solidFill>
                <a:latin typeface="Microsoft YaHei"/>
                <a:ea typeface="Microsoft YaHei"/>
              </a:rPr>
              <a:t> 10% </a:t>
            </a:r>
            <a:r>
              <a:rPr lang="zh-CN" sz="1200">
                <a:solidFill>
                  <a:srgbClr val="8B97A8"/>
                </a:solidFill>
                <a:latin typeface="Microsoft YaHei"/>
                <a:ea typeface="Microsoft YaHei"/>
              </a:rPr>
              <a:t>以上销售收入投入研发</a:t>
            </a:r>
            <a:endParaRPr/>
          </a:p>
        </p:txBody>
      </p:sp>
      <p:sp>
        <p:nvSpPr>
          <p:cNvPr id="33" name="任意多边形: 形状 32"/>
          <p:cNvSpPr/>
          <p:nvPr/>
        </p:nvSpPr>
        <p:spPr>
          <a:xfrm>
            <a:off x="6896100" y="1971675"/>
            <a:ext cx="4914900" cy="1047750"/>
          </a:xfrm>
          <a:custGeom>
            <a:avLst/>
            <a:gdLst/>
            <a:ahLst/>
            <a:cxnLst/>
            <a:rect l="0" t="0" r="0" b="0"/>
            <a:pathLst>
              <a:path w="516" h="110">
                <a:moveTo>
                  <a:pt x="0" y="109"/>
                </a:moveTo>
                <a:lnTo>
                  <a:pt x="516" y="109"/>
                </a:lnTo>
                <a:lnTo>
                  <a:pt x="516" y="110"/>
                </a:lnTo>
                <a:lnTo>
                  <a:pt x="0" y="110"/>
                </a:lnTo>
                <a:close/>
              </a:path>
            </a:pathLst>
          </a:custGeom>
          <a:solidFill>
            <a:srgbClr val="D6DCE5"/>
          </a:solidFill>
          <a:ln/>
        </p:spPr>
        <p:txBody>
          <a:bodyPr/>
          <a:lstStyle/>
          <a:p>
            <a:endParaRPr/>
          </a:p>
        </p:txBody>
      </p:sp>
      <p:sp>
        <p:nvSpPr>
          <p:cNvPr id="34" name="文本框 33" descr="{&quot;isTemplate&quot;:true,&quot;type&quot;:&quot;text&quot;}"/>
          <p:cNvSpPr txBox="1"/>
          <p:nvPr/>
        </p:nvSpPr>
        <p:spPr>
          <a:xfrm>
            <a:off x="6896100" y="1971675"/>
            <a:ext cx="4914900" cy="638175"/>
          </a:xfrm>
          <a:prstGeom prst="rect">
            <a:avLst/>
          </a:prstGeom>
        </p:spPr>
        <p:txBody>
          <a:bodyPr wrap="none" lIns="0" tIns="0" rIns="0" bIns="0"/>
          <a:lstStyle/>
          <a:p>
            <a:pPr>
              <a:lnSpc>
                <a:spcPct val="120000"/>
              </a:lnSpc>
            </a:pPr>
            <a:r>
              <a:rPr lang="en-US" sz="3450" b="1">
                <a:solidFill>
                  <a:srgbClr val="0E3F8C"/>
                </a:solidFill>
                <a:latin typeface="Microsoft YaHei"/>
                <a:ea typeface="Microsoft YaHei"/>
              </a:rPr>
              <a:t>1797 </a:t>
            </a:r>
            <a:r>
              <a:rPr lang="zh-CN" sz="1800" b="1">
                <a:solidFill>
                  <a:srgbClr val="0E3F8C"/>
                </a:solidFill>
                <a:latin typeface="Microsoft YaHei"/>
                <a:ea typeface="Microsoft YaHei"/>
              </a:rPr>
              <a:t>亿元</a:t>
            </a:r>
            <a:endParaRPr/>
          </a:p>
        </p:txBody>
      </p:sp>
      <p:sp>
        <p:nvSpPr>
          <p:cNvPr id="35" name="文本框 34" descr="{&quot;isTemplate&quot;:true,&quot;type&quot;:&quot;text&quot;}"/>
          <p:cNvSpPr txBox="1"/>
          <p:nvPr/>
        </p:nvSpPr>
        <p:spPr>
          <a:xfrm>
            <a:off x="6896100" y="2647950"/>
            <a:ext cx="4914900" cy="200025"/>
          </a:xfrm>
          <a:prstGeom prst="rect">
            <a:avLst/>
          </a:prstGeom>
        </p:spPr>
        <p:txBody>
          <a:bodyPr wrap="none" lIns="0" tIns="0" rIns="0" bIns="0"/>
          <a:lstStyle/>
          <a:p>
            <a:pPr>
              <a:lnSpc>
                <a:spcPct val="100000"/>
              </a:lnSpc>
            </a:pPr>
            <a:r>
              <a:rPr lang="en-US" sz="1275">
                <a:solidFill>
                  <a:srgbClr val="4A5568"/>
                </a:solidFill>
                <a:latin typeface="Microsoft YaHei"/>
                <a:ea typeface="Microsoft YaHei"/>
              </a:rPr>
              <a:t>2024 </a:t>
            </a:r>
            <a:r>
              <a:rPr lang="zh-CN" sz="1275">
                <a:solidFill>
                  <a:srgbClr val="4A5568"/>
                </a:solidFill>
                <a:latin typeface="Microsoft YaHei"/>
                <a:ea typeface="Microsoft YaHei"/>
              </a:rPr>
              <a:t>年研发投入总额，同比增长</a:t>
            </a:r>
            <a:r>
              <a:rPr lang="en-US" sz="1275">
                <a:solidFill>
                  <a:srgbClr val="4A5568"/>
                </a:solidFill>
                <a:latin typeface="Microsoft YaHei"/>
                <a:ea typeface="Microsoft YaHei"/>
              </a:rPr>
              <a:t> 9.1%</a:t>
            </a:r>
            <a:endParaRPr/>
          </a:p>
        </p:txBody>
      </p:sp>
      <p:sp>
        <p:nvSpPr>
          <p:cNvPr id="36" name="任意多边形: 形状 35"/>
          <p:cNvSpPr/>
          <p:nvPr/>
        </p:nvSpPr>
        <p:spPr>
          <a:xfrm>
            <a:off x="6896100" y="3200400"/>
            <a:ext cx="4914900" cy="1047750"/>
          </a:xfrm>
          <a:custGeom>
            <a:avLst/>
            <a:gdLst/>
            <a:ahLst/>
            <a:cxnLst/>
            <a:rect l="0" t="0" r="0" b="0"/>
            <a:pathLst>
              <a:path w="516" h="110">
                <a:moveTo>
                  <a:pt x="0" y="109"/>
                </a:moveTo>
                <a:lnTo>
                  <a:pt x="516" y="109"/>
                </a:lnTo>
                <a:lnTo>
                  <a:pt x="516" y="110"/>
                </a:lnTo>
                <a:lnTo>
                  <a:pt x="0" y="110"/>
                </a:lnTo>
                <a:close/>
              </a:path>
            </a:pathLst>
          </a:custGeom>
          <a:solidFill>
            <a:srgbClr val="D6DCE5"/>
          </a:solidFill>
          <a:ln/>
        </p:spPr>
        <p:txBody>
          <a:bodyPr/>
          <a:lstStyle/>
          <a:p>
            <a:endParaRPr/>
          </a:p>
        </p:txBody>
      </p:sp>
      <p:sp>
        <p:nvSpPr>
          <p:cNvPr id="37" name="文本框 36" descr="{&quot;isTemplate&quot;:true,&quot;type&quot;:&quot;text&quot;}"/>
          <p:cNvSpPr txBox="1"/>
          <p:nvPr/>
        </p:nvSpPr>
        <p:spPr>
          <a:xfrm>
            <a:off x="6896100" y="3200400"/>
            <a:ext cx="4914900" cy="638175"/>
          </a:xfrm>
          <a:prstGeom prst="rect">
            <a:avLst/>
          </a:prstGeom>
        </p:spPr>
        <p:txBody>
          <a:bodyPr wrap="none" lIns="0" tIns="0" rIns="0" bIns="0"/>
          <a:lstStyle/>
          <a:p>
            <a:pPr>
              <a:lnSpc>
                <a:spcPct val="120000"/>
              </a:lnSpc>
            </a:pPr>
            <a:r>
              <a:rPr lang="en-US" sz="3450" b="1">
                <a:solidFill>
                  <a:srgbClr val="0E3F8C"/>
                </a:solidFill>
                <a:latin typeface="Microsoft YaHei"/>
                <a:ea typeface="Microsoft YaHei"/>
              </a:rPr>
              <a:t>54.1</a:t>
            </a:r>
            <a:r>
              <a:rPr lang="en-US" sz="1800" b="1">
                <a:solidFill>
                  <a:srgbClr val="0E3F8C"/>
                </a:solidFill>
                <a:latin typeface="Microsoft YaHei"/>
                <a:ea typeface="Microsoft YaHei"/>
              </a:rPr>
              <a:t>%</a:t>
            </a:r>
            <a:endParaRPr/>
          </a:p>
        </p:txBody>
      </p:sp>
      <p:sp>
        <p:nvSpPr>
          <p:cNvPr id="38" name="文本框 37" descr="{&quot;isTemplate&quot;:true,&quot;type&quot;:&quot;text&quot;}"/>
          <p:cNvSpPr txBox="1"/>
          <p:nvPr/>
        </p:nvSpPr>
        <p:spPr>
          <a:xfrm>
            <a:off x="6896100" y="3876675"/>
            <a:ext cx="4914900" cy="200025"/>
          </a:xfrm>
          <a:prstGeom prst="rect">
            <a:avLst/>
          </a:prstGeom>
        </p:spPr>
        <p:txBody>
          <a:bodyPr wrap="none" lIns="0" tIns="0" rIns="0" bIns="0"/>
          <a:lstStyle/>
          <a:p>
            <a:pPr>
              <a:lnSpc>
                <a:spcPct val="100000"/>
              </a:lnSpc>
            </a:pPr>
            <a:r>
              <a:rPr lang="zh-CN" sz="1275">
                <a:solidFill>
                  <a:srgbClr val="4A5568"/>
                </a:solidFill>
                <a:latin typeface="Microsoft YaHei"/>
                <a:ea typeface="Microsoft YaHei"/>
              </a:rPr>
              <a:t>研发人员占比，约</a:t>
            </a:r>
            <a:r>
              <a:rPr lang="en-US" sz="1275">
                <a:solidFill>
                  <a:srgbClr val="4A5568"/>
                </a:solidFill>
                <a:latin typeface="Microsoft YaHei"/>
                <a:ea typeface="Microsoft YaHei"/>
              </a:rPr>
              <a:t> 11.3 </a:t>
            </a:r>
            <a:r>
              <a:rPr lang="zh-CN" sz="1275">
                <a:solidFill>
                  <a:srgbClr val="4A5568"/>
                </a:solidFill>
                <a:latin typeface="Microsoft YaHei"/>
                <a:ea typeface="Microsoft YaHei"/>
              </a:rPr>
              <a:t>万名员工</a:t>
            </a:r>
            <a:endParaRPr/>
          </a:p>
        </p:txBody>
      </p:sp>
      <p:sp>
        <p:nvSpPr>
          <p:cNvPr id="39" name="文本框 38" descr="{&quot;isTemplate&quot;:true,&quot;type&quot;:&quot;text&quot;}"/>
          <p:cNvSpPr txBox="1"/>
          <p:nvPr/>
        </p:nvSpPr>
        <p:spPr>
          <a:xfrm>
            <a:off x="6896100" y="4429125"/>
            <a:ext cx="4914900" cy="638175"/>
          </a:xfrm>
          <a:prstGeom prst="rect">
            <a:avLst/>
          </a:prstGeom>
        </p:spPr>
        <p:txBody>
          <a:bodyPr wrap="none" lIns="0" tIns="0" rIns="0" bIns="0"/>
          <a:lstStyle/>
          <a:p>
            <a:pPr>
              <a:lnSpc>
                <a:spcPct val="120000"/>
              </a:lnSpc>
            </a:pPr>
            <a:r>
              <a:rPr lang="en-US" sz="3450" b="1">
                <a:solidFill>
                  <a:srgbClr val="0E3F8C"/>
                </a:solidFill>
                <a:latin typeface="Microsoft YaHei"/>
                <a:ea typeface="Microsoft YaHei"/>
              </a:rPr>
              <a:t>1.249 </a:t>
            </a:r>
            <a:r>
              <a:rPr lang="zh-CN" sz="1800" b="1">
                <a:solidFill>
                  <a:srgbClr val="0E3F8C"/>
                </a:solidFill>
                <a:latin typeface="Microsoft YaHei"/>
                <a:ea typeface="Microsoft YaHei"/>
              </a:rPr>
              <a:t>万亿元</a:t>
            </a:r>
            <a:endParaRPr/>
          </a:p>
        </p:txBody>
      </p:sp>
      <p:sp>
        <p:nvSpPr>
          <p:cNvPr id="40" name="文本框 39" descr="{&quot;isTemplate&quot;:true,&quot;type&quot;:&quot;text&quot;}"/>
          <p:cNvSpPr txBox="1"/>
          <p:nvPr/>
        </p:nvSpPr>
        <p:spPr>
          <a:xfrm>
            <a:off x="6896100" y="5105400"/>
            <a:ext cx="4914900" cy="200025"/>
          </a:xfrm>
          <a:prstGeom prst="rect">
            <a:avLst/>
          </a:prstGeom>
        </p:spPr>
        <p:txBody>
          <a:bodyPr wrap="none" lIns="0" tIns="0" rIns="0" bIns="0"/>
          <a:lstStyle/>
          <a:p>
            <a:pPr>
              <a:lnSpc>
                <a:spcPct val="100000"/>
              </a:lnSpc>
            </a:pPr>
            <a:r>
              <a:rPr lang="zh-CN" sz="1275">
                <a:solidFill>
                  <a:srgbClr val="4A5568"/>
                </a:solidFill>
                <a:latin typeface="Microsoft YaHei"/>
                <a:ea typeface="Microsoft YaHei"/>
              </a:rPr>
              <a:t>近十年累计研发投入，有效授权专利超</a:t>
            </a:r>
            <a:r>
              <a:rPr lang="en-US" sz="1275">
                <a:solidFill>
                  <a:srgbClr val="4A5568"/>
                </a:solidFill>
                <a:latin typeface="Microsoft YaHei"/>
                <a:ea typeface="Microsoft YaHei"/>
              </a:rPr>
              <a:t> 15 </a:t>
            </a:r>
            <a:r>
              <a:rPr lang="zh-CN" sz="1275">
                <a:solidFill>
                  <a:srgbClr val="4A5568"/>
                </a:solidFill>
                <a:latin typeface="Microsoft YaHei"/>
                <a:ea typeface="Microsoft YaHei"/>
              </a:rPr>
              <a:t>万件</a:t>
            </a:r>
            <a:endParaRPr/>
          </a:p>
        </p:txBody>
      </p:sp>
      <p:sp>
        <p:nvSpPr>
          <p:cNvPr id="41" name="矩形: 圆角 40"/>
          <p:cNvSpPr/>
          <p:nvPr/>
        </p:nvSpPr>
        <p:spPr>
          <a:xfrm>
            <a:off x="438150" y="5400675"/>
            <a:ext cx="11430000" cy="866775"/>
          </a:xfrm>
          <a:prstGeom prst="roundRect">
            <a:avLst>
              <a:gd name="adj" fmla="val 8791"/>
            </a:avLst>
          </a:prstGeom>
          <a:solidFill>
            <a:srgbClr val="FFF8E1"/>
          </a:solidFill>
          <a:ln/>
        </p:spPr>
        <p:txBody>
          <a:bodyPr/>
          <a:lstStyle/>
          <a:p>
            <a:endParaRPr/>
          </a:p>
        </p:txBody>
      </p:sp>
      <p:sp>
        <p:nvSpPr>
          <p:cNvPr id="42" name="任意多边形: 形状 41"/>
          <p:cNvSpPr/>
          <p:nvPr/>
        </p:nvSpPr>
        <p:spPr>
          <a:xfrm>
            <a:off x="438150" y="5400675"/>
            <a:ext cx="11430000" cy="866775"/>
          </a:xfrm>
          <a:custGeom>
            <a:avLst/>
            <a:gdLst/>
            <a:ahLst/>
            <a:cxnLst/>
            <a:rect l="0" t="0" r="0" b="0"/>
            <a:pathLst>
              <a:path w="1200" h="91">
                <a:moveTo>
                  <a:pt x="8" y="0"/>
                </a:moveTo>
                <a:cubicBezTo>
                  <a:pt x="7" y="0"/>
                  <a:pt x="6" y="1"/>
                  <a:pt x="6" y="2"/>
                </a:cubicBezTo>
                <a:lnTo>
                  <a:pt x="6" y="89"/>
                </a:lnTo>
                <a:cubicBezTo>
                  <a:pt x="6" y="90"/>
                  <a:pt x="7" y="91"/>
                  <a:pt x="8" y="91"/>
                </a:cubicBezTo>
                <a:cubicBezTo>
                  <a:pt x="3" y="91"/>
                  <a:pt x="0" y="87"/>
                  <a:pt x="0" y="83"/>
                </a:cubicBezTo>
                <a:lnTo>
                  <a:pt x="0" y="8"/>
                </a:lnTo>
                <a:cubicBezTo>
                  <a:pt x="0" y="4"/>
                  <a:pt x="4" y="0"/>
                  <a:pt x="8" y="0"/>
                </a:cubicBezTo>
                <a:close/>
              </a:path>
            </a:pathLst>
          </a:custGeom>
          <a:solidFill>
            <a:srgbClr val="FFC107"/>
          </a:solidFill>
          <a:ln/>
        </p:spPr>
        <p:txBody>
          <a:bodyPr/>
          <a:lstStyle/>
          <a:p>
            <a:endParaRPr/>
          </a:p>
        </p:txBody>
      </p:sp>
      <p:sp>
        <p:nvSpPr>
          <p:cNvPr id="43" name="文本框 42" descr="{&quot;isTemplate&quot;:true,&quot;type&quot;:&quot;text&quot;}"/>
          <p:cNvSpPr txBox="1"/>
          <p:nvPr/>
        </p:nvSpPr>
        <p:spPr>
          <a:xfrm>
            <a:off x="685800" y="5534025"/>
            <a:ext cx="10877550" cy="381000"/>
          </a:xfrm>
          <a:prstGeom prst="rect">
            <a:avLst/>
          </a:prstGeom>
        </p:spPr>
        <p:txBody>
          <a:bodyPr wrap="none" lIns="0" tIns="0" rIns="0" bIns="0"/>
          <a:lstStyle/>
          <a:p>
            <a:pPr>
              <a:lnSpc>
                <a:spcPct val="150000"/>
              </a:lnSpc>
            </a:pPr>
            <a:r>
              <a:rPr lang="zh-CN" sz="1650" b="1">
                <a:solidFill>
                  <a:srgbClr val="0E3F8C"/>
                </a:solidFill>
                <a:latin typeface="Microsoft YaHei"/>
                <a:ea typeface="Microsoft YaHei"/>
              </a:rPr>
              <a:t>每</a:t>
            </a:r>
            <a:r>
              <a:rPr lang="en-US" sz="1650" b="1">
                <a:solidFill>
                  <a:srgbClr val="0E3F8C"/>
                </a:solidFill>
                <a:latin typeface="Microsoft YaHei"/>
                <a:ea typeface="Microsoft YaHei"/>
              </a:rPr>
              <a:t> 5 </a:t>
            </a:r>
            <a:r>
              <a:rPr lang="zh-CN" sz="1650" b="1">
                <a:solidFill>
                  <a:srgbClr val="0E3F8C"/>
                </a:solidFill>
                <a:latin typeface="Microsoft YaHei"/>
                <a:ea typeface="Microsoft YaHei"/>
              </a:rPr>
              <a:t>元收入就有</a:t>
            </a:r>
            <a:r>
              <a:rPr lang="en-US" sz="1650" b="1">
                <a:solidFill>
                  <a:srgbClr val="0E3F8C"/>
                </a:solidFill>
                <a:latin typeface="Microsoft YaHei"/>
                <a:ea typeface="Microsoft YaHei"/>
              </a:rPr>
              <a:t> 1 </a:t>
            </a:r>
            <a:r>
              <a:rPr lang="zh-CN" sz="1650" b="1">
                <a:solidFill>
                  <a:srgbClr val="0E3F8C"/>
                </a:solidFill>
                <a:latin typeface="Microsoft YaHei"/>
                <a:ea typeface="Microsoft YaHei"/>
              </a:rPr>
              <a:t>元押在技术上——这不是花钱多，而是把资源配置成了战略本身。</a:t>
            </a:r>
            <a:endParaRPr/>
          </a:p>
        </p:txBody>
      </p:sp>
      <p:sp>
        <p:nvSpPr>
          <p:cNvPr id="44" name="文本框 43" descr="{&quot;isTemplate&quot;:true,&quot;type&quot;:&quot;text&quot;}"/>
          <p:cNvSpPr txBox="1"/>
          <p:nvPr/>
        </p:nvSpPr>
        <p:spPr>
          <a:xfrm>
            <a:off x="685800" y="5972175"/>
            <a:ext cx="108775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数据来源：华为投资与控股</a:t>
            </a:r>
            <a:r>
              <a:rPr lang="en-US" sz="1050">
                <a:solidFill>
                  <a:srgbClr val="8B97A8"/>
                </a:solidFill>
                <a:latin typeface="Microsoft YaHei"/>
                <a:ea typeface="Microsoft YaHei"/>
              </a:rPr>
              <a:t> 2024 </a:t>
            </a:r>
            <a:r>
              <a:rPr lang="zh-CN" sz="1050">
                <a:solidFill>
                  <a:srgbClr val="8B97A8"/>
                </a:solidFill>
                <a:latin typeface="Microsoft YaHei"/>
                <a:ea typeface="Microsoft YaHei"/>
              </a:rPr>
              <a:t>年年度报告（</a:t>
            </a:r>
            <a:r>
              <a:rPr lang="en-US" sz="1050">
                <a:solidFill>
                  <a:srgbClr val="8B97A8"/>
                </a:solidFill>
                <a:latin typeface="Microsoft YaHei"/>
                <a:ea typeface="Microsoft YaHei"/>
              </a:rPr>
              <a:t>2025 </a:t>
            </a:r>
            <a:r>
              <a:rPr lang="zh-CN" sz="1050">
                <a:solidFill>
                  <a:srgbClr val="8B97A8"/>
                </a:solidFill>
                <a:latin typeface="Microsoft YaHei"/>
                <a:ea typeface="Microsoft YaHei"/>
              </a:rPr>
              <a:t>年</a:t>
            </a:r>
            <a:r>
              <a:rPr lang="en-US" sz="1050">
                <a:solidFill>
                  <a:srgbClr val="8B97A8"/>
                </a:solidFill>
                <a:latin typeface="Microsoft YaHei"/>
                <a:ea typeface="Microsoft YaHei"/>
              </a:rPr>
              <a:t> 3 </a:t>
            </a:r>
            <a:r>
              <a:rPr lang="zh-CN" sz="1050">
                <a:solidFill>
                  <a:srgbClr val="8B97A8"/>
                </a:solidFill>
                <a:latin typeface="Microsoft YaHei"/>
                <a:ea typeface="Microsoft YaHei"/>
              </a:rPr>
              <a:t>月</a:t>
            </a:r>
            <a:r>
              <a:rPr lang="en-US" sz="1050">
                <a:solidFill>
                  <a:srgbClr val="8B97A8"/>
                </a:solidFill>
                <a:latin typeface="Microsoft YaHei"/>
                <a:ea typeface="Microsoft YaHei"/>
              </a:rPr>
              <a:t> 31 </a:t>
            </a:r>
            <a:r>
              <a:rPr lang="zh-CN" sz="1050">
                <a:solidFill>
                  <a:srgbClr val="8B97A8"/>
                </a:solidFill>
                <a:latin typeface="Microsoft YaHei"/>
                <a:ea typeface="Microsoft YaHei"/>
              </a:rPr>
              <a:t>日发布，毕马威审计）</a:t>
            </a:r>
            <a:endParaRPr/>
          </a:p>
        </p:txBody>
      </p:sp>
      <p:sp>
        <p:nvSpPr>
          <p:cNvPr id="45" name="任意多边形: 形状 44"/>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D6DCE5"/>
          </a:solidFill>
          <a:ln/>
        </p:spPr>
        <p:txBody>
          <a:bodyPr/>
          <a:lstStyle/>
          <a:p>
            <a:endParaRPr/>
          </a:p>
        </p:txBody>
      </p:sp>
      <p:sp>
        <p:nvSpPr>
          <p:cNvPr id="46" name="文本框 45" descr="{&quot;isTemplate&quot;:true,&quot;type&quot;:&quot;text&quot;}"/>
          <p:cNvSpPr txBox="1"/>
          <p:nvPr/>
        </p:nvSpPr>
        <p:spPr>
          <a:xfrm>
            <a:off x="381000" y="6572250"/>
            <a:ext cx="18478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企业战略的构成要素</a:t>
            </a:r>
            <a:r>
              <a:rPr lang="en-US" sz="1050">
                <a:solidFill>
                  <a:srgbClr val="8B97A8"/>
                </a:solidFill>
                <a:latin typeface="Microsoft YaHei"/>
                <a:ea typeface="Microsoft YaHei"/>
              </a:rPr>
              <a:t> · </a:t>
            </a:r>
            <a:r>
              <a:rPr lang="zh-CN" sz="1050">
                <a:solidFill>
                  <a:srgbClr val="8B97A8"/>
                </a:solidFill>
                <a:latin typeface="Microsoft YaHei"/>
                <a:ea typeface="Microsoft YaHei"/>
              </a:rPr>
              <a:t>教学课件</a:t>
            </a:r>
            <a:endParaRPr/>
          </a:p>
        </p:txBody>
      </p:sp>
      <p:sp>
        <p:nvSpPr>
          <p:cNvPr id="47" name="文本框 46" descr="{&quot;isTemplate&quot;:true,&quot;type&quot;:&quot;text&quot;}"/>
          <p:cNvSpPr txBox="1"/>
          <p:nvPr/>
        </p:nvSpPr>
        <p:spPr>
          <a:xfrm>
            <a:off x="11353800" y="6572250"/>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10 / 16</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display: 'flex', flexDirection: 'column' }}&gt;&#10;  &lt;Box style={{ height: 72, background: '#0E3F8C', flexDirection: 'row', justifyContent: 'space-between', alignItems: 'center', padding: '0 40px', flexShrink: 0 }}&gt;&#10;    &lt;Text style={{ fontSize: 15, color: '#B8CCE8', letterSpacing: 3 }}&gt;战略管理 · STRATEGIC MANAGEMENT&lt;/Text&gt;&#10;    &lt;Text style={{ fontSize: 14, color: '#B8CCE8' }}&gt;第二章 · 资源配置&lt;/Text&gt;&#10;  &lt;/Box&gt;&#10;  &lt;Box style={{ height: 78, padding: '16px 40px 0 40px', flexDirection: 'column', flexShrink: 0 }}&gt;&#10;    &lt;Text style={{ fontSize: 32, fontWeight: 'bold', color: '#0E3F8C' }}&gt;华为深析：压强原则与配置模式&lt;/Text&gt;&#10;    &lt;Text style={{ fontSize: 15, color: '#8B97A8', marginTop: 6 }}&gt;The Pressure Principle: Concentration over Sprinkling&lt;/Text&gt;&#10;  &lt;/Box&gt;&#10;  &lt;Box style={{ flex: 1, padding: '6px 40px 18px 40px', minHeight: 0, flexDirection: 'row', gap: 26, alignItems: 'center' }}&gt;&#10;    &lt;svg width={700} height={470} viewBox='0 0 700 470'&gt;&#10;      &lt;rect x='10' y='10' width='680' height='190' rx='12' fill='#F7F9FC' stroke='#D6DCE5' strokeWidth='1' /&gt;&#10;      &lt;text x='34' y='44' fontSize='17' fontWeight='bold' fill='#4A5568' fontFamily='sans-serif'&gt;撒芝麻式配置（反模式）&lt;/text&gt;&#10;      &lt;rect x='34' y='68' width='110' height='96' rx='10' fill='#E8EFF8' stroke='#8B97A8' strokeWidth='1' /&gt;&#10;      &lt;text x='89' y='122' textAnchor='middle' fontSize='16' fontWeight='bold' fill='#4A5568' fontFamily='sans-serif'&gt;资源&lt;/text&gt;&#10;      &lt;path d='M144 100 L470 82' stroke='#B4BDCB' strokeWidth='1.5' strokeDasharray='4 3' fill='none' /&gt;&#10;      &lt;path d='M144 108 L470 112' stroke='#B4BDCB' strokeWidth='1.5' strokeDasharray='4 3' fill='none' /&gt;&#10;      &lt;path d='M144 120 L470 142' stroke='#B4BDCB' strokeWidth='1.5' strokeDasharray='4 3' fill='none' /&gt;&#10;      &lt;path d='M144 132 L470 172' stroke='#B4BDCB' strokeWidth='1.5' strokeDasharray='4 3' fill='none' /&gt;&#10;      &lt;rect x='470' y='70' width='196' height='26' rx='6' fill='#FFFFFF' stroke='#B4BDCB' strokeWidth='1' /&gt;&#10;      &lt;text x='568' y='87' textAnchor='middle' fontSize='13' fill='#8B97A8' fontFamily='sans-serif'&gt;业务 A（浅投入）&lt;/text&gt;&#10;      &lt;rect x='470' y='102' width='196' height='26' rx='6' fill='#FFFFFF' stroke='#B4BDCB' strokeWidth='1' /&gt;&#10;      &lt;text x='568' y='119' textAnchor='middle' fontSize='13' fill='#8B97A8' fontFamily='sans-serif'&gt;业务 B（浅投入）&lt;/text&gt;&#10;      &lt;rect x='470' y='134' width='196' height='26' rx='6' fill='#FFFFFF' stroke='#B4BDCB' strokeWidth='1' /&gt;&#10;      &lt;text x='568' y='151' textAnchor='middle' fontSize='13' fill='#8B97A8' fontFamily='sans-serif'&gt;业务 C（浅投入）&lt;/text&gt;&#10;      &lt;rect x='470' y='166' width='196' height='26' rx='6' fill='#FFFFFF' stroke='#B4BDCB' strokeWidth='1' /&gt;&#10;      &lt;text x='568' y='183' textAnchor='middle' fontSize='13' fill='#8B97A8' fontFamily='sans-serif'&gt;业务 D / E（浅投入）&lt;/text&gt;&#10;      &lt;text x='34' y='188' fontSize='13' fill='#8B97A8' fontFamily='sans-serif'&gt;资源分散 · 处处薄弱&lt;/text&gt;&#10;      &lt;rect x='10' y='220' width='680' height='190' rx='12' fill='#E8EFF8' stroke='#1E4FA8' strokeWidth='1.5' /&gt;&#10;      &lt;text x='34' y='254' fontSize='17' fontWeight='bold' fill='#0E3F8C' fontFamily='sans-serif'&gt;压强式配置（华为 · 压强原则）&lt;/text&gt;&#10;      &lt;rect x='34' y='278' width='110' height='96' rx='10' fill='#FFFFFF' stroke='#1E4FA8' strokeWidth='1.5' /&gt;&#10;      &lt;text x='89' y='332' textAnchor='middle' fontSize='16' fontWeight='bold' fill='#0E3F8C' fontFamily='sans-serif'&gt;资源&lt;/text&gt;&#10;      &lt;path d='M144 310 L470 300' stroke='#1E4FA8' strokeWidth='4' fill='none' /&gt;&#10;      &lt;path d='M144 322 L470 318' stroke='#1E4FA8' strokeWidth='4' fill='none' /&gt;&#10;      &lt;path d='M144 334 L470 336' stroke='#1E4FA8' strokeWidth='4' fill='none' /&gt;&#10;      &lt;path d='M144 346 L470 354' stroke='#1E4FA8' strokeWidth='4' fill='none' /&gt;&#10;      &lt;rect x='470' y='288' width='196' height='84' rx='10' fill='#0E3F8C' /&gt;&#10;      &lt;text x='568' y='322' textAnchor='middle' fontSize='16' fontWeight='bold' fill='#FFFFFF' fontFamily='sans-serif'&gt;选定的战略生长点&lt;/text&gt;&#10;      &lt;text x='568' y='348' textAnchor='middle' fontSize='13' fill='#B8CCE8' fontFamily='sans-serif'&gt;ICT 主航道 · 根技术&lt;/text&gt;&#10;      &lt;text x='34' y='398' fontSize='13' fill='#1E4FA8' fontFamily='sans-serif'&gt;集中突破 · 以超过主要竞争对手的强度配置&lt;/text&gt;&#10;      &lt;rect x='10' y='426' width='680' height='40' rx='8' fill='#FFFFFF' stroke='#D6DCE5' strokeWidth='1' /&gt;&#10;      &lt;text x='350' y='451' textAnchor='middle' fontSize='14' fontStyle='italic' fill='#0E3F8C' fontFamily='Georgia, serif'&gt;“在成功关键因素和选定的战略生长点上，以超过主要竞争对手的强度配置资源。”——任正非「压强原则」&lt;/text&gt;&#10;    &lt;/svg&gt;&#10;    &lt;Box style={{ flex: 1, flexDirection: 'column', gap: 16, height: 470, justifyContent: 'center' }}&gt;&#10;      &lt;Box style={{ flexDirection: 'row', gap: 14, background: '#FFFFFF', border: '1px solid #D6DCE5', borderRadius: 10, padding: '16px 20px', alignItems: 'center' }}&gt;&#10;        &lt;Box style={{ width: 40, height: 40, background: '#1E4FA8', borderRadius: 8, justifyContent: 'center', alignItems: 'center', flexShrink: 0 }}&gt;&#10;          &lt;Text style={{ fontSize: 19, fontWeight: 'bold', color: '#FFFFFF' }}&gt;1&lt;/Text&gt;&#10;        &lt;/Box&gt;&#10;        &lt;Box style={{ flexDirection: 'column' }}&gt;&#10;          &lt;Text style={{ fontSize: 21, fontWeight: 'bold', color: '#0E3F8C' }}&gt;政策底线&lt;/Text&gt;&#10;          &lt;Text style={{ fontSize: 18, color: '#1A2230', lineHeight: 1.55, marginTop: 4 }}&gt;每年将 10% 以上销售收入投入研发——写入制度，而非口头承诺。&lt;/Text&gt;&#10;        &lt;/Box&gt;&#10;      &lt;/Box&gt;&#10;      &lt;Box style={{ flexDirection: 'row', gap: 14, background: '#FFFFFF', border: '1px solid #D6DCE5', borderRadius: 10, padding: '16px 20px', alignItems: 'center' }}&gt;&#10;        &lt;Box style={{ width: 40, height: 40, background: '#1E4FA8', borderRadius: 8, justifyContent: 'center', alignItems: 'center', flexShrink: 0 }}&gt;&#10;          &lt;Text style={{ fontSize: 19, fontWeight: 'bold', color: '#FFFFFF' }}&gt;2&lt;/Text&gt;&#10;        &lt;/Box&gt;&#10;        &lt;Box style={{ flexDirection: 'column' }}&gt;&#10;          &lt;Text style={{ fontSize: 21, fontWeight: 'bold', color: '#0E3F8C' }}&gt;聚焦不撒芝麻&lt;/Text&gt;&#10;          &lt;Text style={{ fontSize: 18, color: '#1A2230', lineHeight: 1.55, marginTop: 4 }}&gt;“力出一孔”：资源压在 ICT 主航道与根技术上，不追逐热点。&lt;/Text&gt;&#10;        &lt;/Box&gt;&#10;      &lt;/Box&gt;&#10;      &lt;Box style={{ flexDirection: 'row', gap: 14, background: '#FFFFFF', border: '1px solid #D6DCE5', borderRadius: 10, padding: '16px 20px', alignItems: 'center' }}&gt;&#10;        &lt;Box style={{ width: 40, height: 40, background: '#1E4FA8', borderRadius: 8, justifyContent: 'center', alignItems: 'center', flexShrink: 0 }}&gt;&#10;          &lt;Text style={{ fontSize: 19, fontWeight: 'bold', color: '#FFFFFF' }}&gt;3&lt;/Text&gt;&#10;        &lt;/Box&gt;&#10;        &lt;Box style={{ flexDirection: 'column' }}&gt;&#10;          &lt;Text style={{ fontSize: 21, fontWeight: 'bold', color: '#0E3F8C' }}&gt;长期不撤回&lt;/Text&gt;&#10;          &lt;Text style={{ fontSize: 18, color: '#1A2230', lineHeight: 1.55, marginTop: 4 }}&gt;2022–2024 年研发费用率连续保持 20% 以上（25.1% → 23.4% → 20.8%）。&lt;/Text&gt;&#10;        &lt;/Box&gt;&#10;      &lt;/Box&gt;&#10;      &lt;Box style={{ background: '#E8EFF8', borderRadius: 10, padding: '16px 20px' }}&gt;&#10;        &lt;Text style={{ fontSize: 19, color: '#1A2230', lineHeight: 1.6 }}&gt;&lt;span style={{ fontWeight: 'bold', color: '#1E4FA8' }}&gt;课堂追问&lt;/span&gt;：如果研发预算被砍一半，你砍哪一块？——考查的正是配置一致性。&lt;/Text&gt;&#10;      &lt;/Box&gt;&#10;    &lt;/Box&gt;&#10;  &lt;/Box&gt;&#10;  &lt;Box style={{ height: 44, borderTop: '1px solid #D6DCE5', flexDirection: 'row', justifyContent: 'space-between', alignItems: 'center', padding: '0 40px', flexShrink: 0 }}&gt;&#10;    &lt;Text style={{ fontSize: 14, color: '#8B97A8' }}&gt;企业战略的构成要素 · 教学课件&lt;/Text&gt;&#10;    &lt;Text style={{ fontSize: 14, color: '#0E3F8C' }}&gt;11 / 16&lt;/Text&gt;&#10;  &lt;/Box&gt;&#10;&lt;/Slide&gt;"/>
        <p:cNvGrpSpPr/>
        <p:nvPr/>
      </p:nvGrpSpPr>
      <p:grpSpPr>
        <a:xfrm>
          <a:off x="0" y="0"/>
          <a:ext cx="0" cy="0"/>
          <a:chOff x="0" y="0"/>
          <a:chExt cx="0" cy="0"/>
        </a:xfrm>
      </p:grpSpPr>
      <p:sp>
        <p:nvSpPr>
          <p:cNvPr id="49" name="矩形 48"/>
          <p:cNvSpPr/>
          <p:nvPr/>
        </p:nvSpPr>
        <p:spPr>
          <a:xfrm>
            <a:off x="0" y="0"/>
            <a:ext cx="12192000" cy="6858000"/>
          </a:xfrm>
          <a:prstGeom prst="rect">
            <a:avLst/>
          </a:prstGeom>
          <a:solidFill>
            <a:srgbClr val="FFFFFF"/>
          </a:solidFill>
          <a:ln/>
        </p:spPr>
        <p:txBody>
          <a:bodyPr/>
          <a:lstStyle/>
          <a:p>
            <a:endParaRPr/>
          </a:p>
        </p:txBody>
      </p:sp>
      <p:sp>
        <p:nvSpPr>
          <p:cNvPr id="50" name="矩形 49"/>
          <p:cNvSpPr/>
          <p:nvPr/>
        </p:nvSpPr>
        <p:spPr>
          <a:xfrm>
            <a:off x="0" y="0"/>
            <a:ext cx="12192000" cy="685800"/>
          </a:xfrm>
          <a:prstGeom prst="rect">
            <a:avLst/>
          </a:prstGeom>
          <a:solidFill>
            <a:srgbClr val="0E3F8C"/>
          </a:solidFill>
          <a:ln/>
        </p:spPr>
        <p:txBody>
          <a:bodyPr/>
          <a:lstStyle/>
          <a:p>
            <a:endParaRPr/>
          </a:p>
        </p:txBody>
      </p:sp>
      <p:sp>
        <p:nvSpPr>
          <p:cNvPr id="51" name="文本框 50"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B8CCE8"/>
                </a:solidFill>
                <a:latin typeface="Microsoft YaHei"/>
                <a:ea typeface="Microsoft YaHei"/>
              </a:rPr>
              <a:t>战略管理</a:t>
            </a:r>
            <a:r>
              <a:rPr lang="en-US" sz="1125" spc="225">
                <a:solidFill>
                  <a:srgbClr val="B8CCE8"/>
                </a:solidFill>
                <a:latin typeface="Microsoft YaHei"/>
                <a:ea typeface="Microsoft YaHei"/>
              </a:rPr>
              <a:t> · STRATEGIC MANAGEMENT</a:t>
            </a:r>
            <a:endParaRPr/>
          </a:p>
        </p:txBody>
      </p:sp>
      <p:sp>
        <p:nvSpPr>
          <p:cNvPr id="52" name="文本框 51" descr="{&quot;isTemplate&quot;:true,&quot;type&quot;:&quot;text&quot;}"/>
          <p:cNvSpPr txBox="1"/>
          <p:nvPr/>
        </p:nvSpPr>
        <p:spPr>
          <a:xfrm>
            <a:off x="10763250" y="266700"/>
            <a:ext cx="1047750" cy="161925"/>
          </a:xfrm>
          <a:prstGeom prst="rect">
            <a:avLst/>
          </a:prstGeom>
        </p:spPr>
        <p:txBody>
          <a:bodyPr wrap="none" lIns="0" tIns="0" rIns="0" bIns="0"/>
          <a:lstStyle/>
          <a:p>
            <a:pPr>
              <a:lnSpc>
                <a:spcPct val="100000"/>
              </a:lnSpc>
            </a:pPr>
            <a:r>
              <a:rPr lang="zh-CN" sz="1050">
                <a:solidFill>
                  <a:srgbClr val="B8CCE8"/>
                </a:solidFill>
                <a:latin typeface="Microsoft YaHei"/>
                <a:ea typeface="Microsoft YaHei"/>
              </a:rPr>
              <a:t>第二章</a:t>
            </a:r>
            <a:r>
              <a:rPr lang="en-US" sz="1050">
                <a:solidFill>
                  <a:srgbClr val="B8CCE8"/>
                </a:solidFill>
                <a:latin typeface="Microsoft YaHei"/>
                <a:ea typeface="Microsoft YaHei"/>
              </a:rPr>
              <a:t> · </a:t>
            </a:r>
            <a:r>
              <a:rPr lang="zh-CN" sz="1050">
                <a:solidFill>
                  <a:srgbClr val="B8CCE8"/>
                </a:solidFill>
                <a:latin typeface="Microsoft YaHei"/>
                <a:ea typeface="Microsoft YaHei"/>
              </a:rPr>
              <a:t>资源配置</a:t>
            </a:r>
            <a:endParaRPr/>
          </a:p>
        </p:txBody>
      </p:sp>
      <p:sp>
        <p:nvSpPr>
          <p:cNvPr id="53" name="文本框 52" descr="{&quot;isTemplate&quot;:true,&quot;type&quot;:&quot;text&quot;}"/>
          <p:cNvSpPr txBox="1"/>
          <p:nvPr/>
        </p:nvSpPr>
        <p:spPr>
          <a:xfrm>
            <a:off x="381000" y="8382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华为深析：压强原则与配置模式</a:t>
            </a:r>
            <a:endParaRPr/>
          </a:p>
        </p:txBody>
      </p:sp>
      <p:sp>
        <p:nvSpPr>
          <p:cNvPr id="54" name="文本框 53" descr="{&quot;isTemplate&quot;:true,&quot;type&quot;:&quot;text&quot;}"/>
          <p:cNvSpPr txBox="1"/>
          <p:nvPr/>
        </p:nvSpPr>
        <p:spPr>
          <a:xfrm>
            <a:off x="381000" y="1266825"/>
            <a:ext cx="11430000"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The Pressure Principle: Concentration over Sprinkling</a:t>
            </a:r>
            <a:endParaRPr/>
          </a:p>
        </p:txBody>
      </p:sp>
      <p:pic>
        <p:nvPicPr>
          <p:cNvPr id="55" name="图形 5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00" y="1638300"/>
            <a:ext cx="6667500" cy="4476750"/>
          </a:xfrm>
          <a:prstGeom prst="rect">
            <a:avLst/>
          </a:prstGeom>
          <a:ln/>
        </p:spPr>
      </p:pic>
      <p:sp>
        <p:nvSpPr>
          <p:cNvPr id="56" name="矩形: 圆角 55"/>
          <p:cNvSpPr/>
          <p:nvPr/>
        </p:nvSpPr>
        <p:spPr>
          <a:xfrm>
            <a:off x="7296150" y="1304925"/>
            <a:ext cx="4514850" cy="1228725"/>
          </a:xfrm>
          <a:prstGeom prst="roundRect">
            <a:avLst>
              <a:gd name="adj" fmla="val 7752"/>
            </a:avLst>
          </a:prstGeom>
          <a:solidFill>
            <a:srgbClr val="FFFFFF"/>
          </a:solidFill>
          <a:ln w="12700">
            <a:solidFill>
              <a:srgbClr val="D6DCE5"/>
            </a:solidFill>
            <a:prstDash val="solid"/>
          </a:ln>
        </p:spPr>
        <p:txBody>
          <a:bodyPr/>
          <a:lstStyle/>
          <a:p>
            <a:endParaRPr/>
          </a:p>
        </p:txBody>
      </p:sp>
      <p:sp>
        <p:nvSpPr>
          <p:cNvPr id="57" name="矩形: 圆角 56"/>
          <p:cNvSpPr/>
          <p:nvPr/>
        </p:nvSpPr>
        <p:spPr>
          <a:xfrm>
            <a:off x="7486650" y="1733550"/>
            <a:ext cx="381000" cy="381000"/>
          </a:xfrm>
          <a:prstGeom prst="roundRect">
            <a:avLst>
              <a:gd name="adj" fmla="val 20000"/>
            </a:avLst>
          </a:prstGeom>
          <a:solidFill>
            <a:srgbClr val="1E4FA8"/>
          </a:solidFill>
          <a:ln/>
        </p:spPr>
        <p:txBody>
          <a:bodyPr/>
          <a:lstStyle/>
          <a:p>
            <a:endParaRPr/>
          </a:p>
        </p:txBody>
      </p:sp>
      <p:sp>
        <p:nvSpPr>
          <p:cNvPr id="58" name="文本框 57" descr="{&quot;isTemplate&quot;:true,&quot;type&quot;:&quot;text&quot;}"/>
          <p:cNvSpPr txBox="1"/>
          <p:nvPr/>
        </p:nvSpPr>
        <p:spPr>
          <a:xfrm>
            <a:off x="7620000" y="1819275"/>
            <a:ext cx="114300" cy="219075"/>
          </a:xfrm>
          <a:prstGeom prst="rect">
            <a:avLst/>
          </a:prstGeom>
        </p:spPr>
        <p:txBody>
          <a:bodyPr wrap="none" lIns="0" tIns="0" rIns="0" bIns="0"/>
          <a:lstStyle/>
          <a:p>
            <a:pPr>
              <a:lnSpc>
                <a:spcPct val="100000"/>
              </a:lnSpc>
            </a:pPr>
            <a:r>
              <a:rPr lang="en-US" sz="1425" b="1">
                <a:solidFill>
                  <a:srgbClr val="FFFFFF"/>
                </a:solidFill>
                <a:latin typeface="Microsoft YaHei"/>
                <a:ea typeface="Microsoft YaHei"/>
              </a:rPr>
              <a:t>1</a:t>
            </a:r>
            <a:endParaRPr/>
          </a:p>
        </p:txBody>
      </p:sp>
      <p:sp>
        <p:nvSpPr>
          <p:cNvPr id="59" name="文本框 58" descr="{&quot;isTemplate&quot;:true,&quot;type&quot;:&quot;text&quot;}"/>
          <p:cNvSpPr txBox="1"/>
          <p:nvPr/>
        </p:nvSpPr>
        <p:spPr>
          <a:xfrm>
            <a:off x="8001000" y="1457325"/>
            <a:ext cx="3619500" cy="247650"/>
          </a:xfrm>
          <a:prstGeom prst="rect">
            <a:avLst/>
          </a:prstGeom>
        </p:spPr>
        <p:txBody>
          <a:bodyPr wrap="none" lIns="0" tIns="0" rIns="0" bIns="0"/>
          <a:lstStyle/>
          <a:p>
            <a:pPr>
              <a:lnSpc>
                <a:spcPct val="100000"/>
              </a:lnSpc>
            </a:pPr>
            <a:r>
              <a:rPr lang="zh-CN" sz="1575" b="1">
                <a:solidFill>
                  <a:srgbClr val="0E3F8C"/>
                </a:solidFill>
                <a:latin typeface="Microsoft YaHei"/>
                <a:ea typeface="Microsoft YaHei"/>
              </a:rPr>
              <a:t>政策底线</a:t>
            </a:r>
            <a:endParaRPr/>
          </a:p>
        </p:txBody>
      </p:sp>
      <p:sp>
        <p:nvSpPr>
          <p:cNvPr id="60" name="文本框 59" descr="{&quot;isTemplate&quot;:true,&quot;type&quot;:&quot;text&quot;}"/>
          <p:cNvSpPr txBox="1"/>
          <p:nvPr/>
        </p:nvSpPr>
        <p:spPr>
          <a:xfrm>
            <a:off x="8001000" y="1743075"/>
            <a:ext cx="3619500" cy="638175"/>
          </a:xfrm>
          <a:prstGeom prst="rect">
            <a:avLst/>
          </a:prstGeom>
        </p:spPr>
        <p:txBody>
          <a:bodyPr wrap="square" lIns="0" tIns="0" rIns="0" bIns="0">
            <a:normAutofit/>
          </a:bodyPr>
          <a:lstStyle/>
          <a:p>
            <a:pPr>
              <a:lnSpc>
                <a:spcPct val="155000"/>
              </a:lnSpc>
            </a:pPr>
            <a:r>
              <a:rPr lang="zh-CN" sz="1350">
                <a:solidFill>
                  <a:srgbClr val="1A2230"/>
                </a:solidFill>
                <a:latin typeface="Microsoft YaHei"/>
                <a:ea typeface="Microsoft YaHei"/>
              </a:rPr>
              <a:t>每年将</a:t>
            </a:r>
            <a:r>
              <a:rPr lang="en-US" sz="1350">
                <a:solidFill>
                  <a:srgbClr val="1A2230"/>
                </a:solidFill>
                <a:latin typeface="Microsoft YaHei"/>
                <a:ea typeface="Microsoft YaHei"/>
              </a:rPr>
              <a:t> 10% </a:t>
            </a:r>
            <a:r>
              <a:rPr lang="zh-CN" sz="1350">
                <a:solidFill>
                  <a:srgbClr val="1A2230"/>
                </a:solidFill>
                <a:latin typeface="Microsoft YaHei"/>
                <a:ea typeface="Microsoft YaHei"/>
              </a:rPr>
              <a:t>以上销售收入投入研发——写入制度，而非口头承诺。</a:t>
            </a:r>
            <a:endParaRPr/>
          </a:p>
        </p:txBody>
      </p:sp>
      <p:sp>
        <p:nvSpPr>
          <p:cNvPr id="61" name="矩形: 圆角 60"/>
          <p:cNvSpPr/>
          <p:nvPr/>
        </p:nvSpPr>
        <p:spPr>
          <a:xfrm>
            <a:off x="7296150" y="2686050"/>
            <a:ext cx="4514850" cy="1228725"/>
          </a:xfrm>
          <a:prstGeom prst="roundRect">
            <a:avLst>
              <a:gd name="adj" fmla="val 7752"/>
            </a:avLst>
          </a:prstGeom>
          <a:solidFill>
            <a:srgbClr val="FFFFFF"/>
          </a:solidFill>
          <a:ln w="12700">
            <a:solidFill>
              <a:srgbClr val="D6DCE5"/>
            </a:solidFill>
            <a:prstDash val="solid"/>
          </a:ln>
        </p:spPr>
        <p:txBody>
          <a:bodyPr/>
          <a:lstStyle/>
          <a:p>
            <a:endParaRPr/>
          </a:p>
        </p:txBody>
      </p:sp>
      <p:sp>
        <p:nvSpPr>
          <p:cNvPr id="62" name="矩形: 圆角 61"/>
          <p:cNvSpPr/>
          <p:nvPr/>
        </p:nvSpPr>
        <p:spPr>
          <a:xfrm>
            <a:off x="7486650" y="3114675"/>
            <a:ext cx="381000" cy="381000"/>
          </a:xfrm>
          <a:prstGeom prst="roundRect">
            <a:avLst>
              <a:gd name="adj" fmla="val 20000"/>
            </a:avLst>
          </a:prstGeom>
          <a:solidFill>
            <a:srgbClr val="1E4FA8"/>
          </a:solidFill>
          <a:ln/>
        </p:spPr>
        <p:txBody>
          <a:bodyPr/>
          <a:lstStyle/>
          <a:p>
            <a:endParaRPr/>
          </a:p>
        </p:txBody>
      </p:sp>
      <p:sp>
        <p:nvSpPr>
          <p:cNvPr id="63" name="文本框 62" descr="{&quot;isTemplate&quot;:true,&quot;type&quot;:&quot;text&quot;}"/>
          <p:cNvSpPr txBox="1"/>
          <p:nvPr/>
        </p:nvSpPr>
        <p:spPr>
          <a:xfrm>
            <a:off x="7620000" y="3200400"/>
            <a:ext cx="114300" cy="219075"/>
          </a:xfrm>
          <a:prstGeom prst="rect">
            <a:avLst/>
          </a:prstGeom>
        </p:spPr>
        <p:txBody>
          <a:bodyPr wrap="none" lIns="0" tIns="0" rIns="0" bIns="0"/>
          <a:lstStyle/>
          <a:p>
            <a:pPr>
              <a:lnSpc>
                <a:spcPct val="100000"/>
              </a:lnSpc>
            </a:pPr>
            <a:r>
              <a:rPr lang="en-US" sz="1425" b="1">
                <a:solidFill>
                  <a:srgbClr val="FFFFFF"/>
                </a:solidFill>
                <a:latin typeface="Microsoft YaHei"/>
                <a:ea typeface="Microsoft YaHei"/>
              </a:rPr>
              <a:t>2</a:t>
            </a:r>
            <a:endParaRPr/>
          </a:p>
        </p:txBody>
      </p:sp>
      <p:sp>
        <p:nvSpPr>
          <p:cNvPr id="64" name="文本框 63" descr="{&quot;isTemplate&quot;:true,&quot;type&quot;:&quot;text&quot;}"/>
          <p:cNvSpPr txBox="1"/>
          <p:nvPr/>
        </p:nvSpPr>
        <p:spPr>
          <a:xfrm>
            <a:off x="8001000" y="2838450"/>
            <a:ext cx="3619500" cy="247650"/>
          </a:xfrm>
          <a:prstGeom prst="rect">
            <a:avLst/>
          </a:prstGeom>
        </p:spPr>
        <p:txBody>
          <a:bodyPr wrap="none" lIns="0" tIns="0" rIns="0" bIns="0"/>
          <a:lstStyle/>
          <a:p>
            <a:pPr>
              <a:lnSpc>
                <a:spcPct val="100000"/>
              </a:lnSpc>
            </a:pPr>
            <a:r>
              <a:rPr lang="zh-CN" sz="1575" b="1">
                <a:solidFill>
                  <a:srgbClr val="0E3F8C"/>
                </a:solidFill>
                <a:latin typeface="Microsoft YaHei"/>
                <a:ea typeface="Microsoft YaHei"/>
              </a:rPr>
              <a:t>聚焦不撒芝麻</a:t>
            </a:r>
            <a:endParaRPr/>
          </a:p>
        </p:txBody>
      </p:sp>
      <p:sp>
        <p:nvSpPr>
          <p:cNvPr id="65" name="文本框 64" descr="{&quot;isTemplate&quot;:true,&quot;type&quot;:&quot;text&quot;}"/>
          <p:cNvSpPr txBox="1"/>
          <p:nvPr/>
        </p:nvSpPr>
        <p:spPr>
          <a:xfrm>
            <a:off x="8001000" y="3124200"/>
            <a:ext cx="3619500" cy="638175"/>
          </a:xfrm>
          <a:prstGeom prst="rect">
            <a:avLst/>
          </a:prstGeom>
        </p:spPr>
        <p:txBody>
          <a:bodyPr wrap="square" lIns="0" tIns="0" rIns="0" bIns="0">
            <a:normAutofit/>
          </a:bodyPr>
          <a:lstStyle/>
          <a:p>
            <a:pPr>
              <a:lnSpc>
                <a:spcPct val="155000"/>
              </a:lnSpc>
            </a:pPr>
            <a:r>
              <a:rPr lang="zh-CN" sz="1350">
                <a:solidFill>
                  <a:srgbClr val="1A2230"/>
                </a:solidFill>
                <a:latin typeface="Microsoft YaHei"/>
                <a:ea typeface="Microsoft YaHei"/>
              </a:rPr>
              <a:t>“力出一孔”：资源压在</a:t>
            </a:r>
            <a:r>
              <a:rPr lang="en-US" sz="1350">
                <a:solidFill>
                  <a:srgbClr val="1A2230"/>
                </a:solidFill>
                <a:latin typeface="Microsoft YaHei"/>
                <a:ea typeface="Microsoft YaHei"/>
              </a:rPr>
              <a:t> ICT </a:t>
            </a:r>
            <a:r>
              <a:rPr lang="zh-CN" sz="1350">
                <a:solidFill>
                  <a:srgbClr val="1A2230"/>
                </a:solidFill>
                <a:latin typeface="Microsoft YaHei"/>
                <a:ea typeface="Microsoft YaHei"/>
              </a:rPr>
              <a:t>主航道与根技术上，不追逐热点。</a:t>
            </a:r>
            <a:endParaRPr/>
          </a:p>
        </p:txBody>
      </p:sp>
      <p:sp>
        <p:nvSpPr>
          <p:cNvPr id="66" name="矩形: 圆角 65"/>
          <p:cNvSpPr/>
          <p:nvPr/>
        </p:nvSpPr>
        <p:spPr>
          <a:xfrm>
            <a:off x="7296150" y="4067175"/>
            <a:ext cx="4514850" cy="1228725"/>
          </a:xfrm>
          <a:prstGeom prst="roundRect">
            <a:avLst>
              <a:gd name="adj" fmla="val 7752"/>
            </a:avLst>
          </a:prstGeom>
          <a:solidFill>
            <a:srgbClr val="FFFFFF"/>
          </a:solidFill>
          <a:ln w="12700">
            <a:solidFill>
              <a:srgbClr val="D6DCE5"/>
            </a:solidFill>
            <a:prstDash val="solid"/>
          </a:ln>
        </p:spPr>
        <p:txBody>
          <a:bodyPr/>
          <a:lstStyle/>
          <a:p>
            <a:endParaRPr/>
          </a:p>
        </p:txBody>
      </p:sp>
      <p:sp>
        <p:nvSpPr>
          <p:cNvPr id="67" name="矩形: 圆角 66"/>
          <p:cNvSpPr/>
          <p:nvPr/>
        </p:nvSpPr>
        <p:spPr>
          <a:xfrm>
            <a:off x="7486650" y="4495800"/>
            <a:ext cx="381000" cy="381000"/>
          </a:xfrm>
          <a:prstGeom prst="roundRect">
            <a:avLst>
              <a:gd name="adj" fmla="val 20000"/>
            </a:avLst>
          </a:prstGeom>
          <a:solidFill>
            <a:srgbClr val="1E4FA8"/>
          </a:solidFill>
          <a:ln/>
        </p:spPr>
        <p:txBody>
          <a:bodyPr/>
          <a:lstStyle/>
          <a:p>
            <a:endParaRPr/>
          </a:p>
        </p:txBody>
      </p:sp>
      <p:sp>
        <p:nvSpPr>
          <p:cNvPr id="68" name="文本框 67" descr="{&quot;isTemplate&quot;:true,&quot;type&quot;:&quot;text&quot;}"/>
          <p:cNvSpPr txBox="1"/>
          <p:nvPr/>
        </p:nvSpPr>
        <p:spPr>
          <a:xfrm>
            <a:off x="7620000" y="4581525"/>
            <a:ext cx="114300" cy="219075"/>
          </a:xfrm>
          <a:prstGeom prst="rect">
            <a:avLst/>
          </a:prstGeom>
        </p:spPr>
        <p:txBody>
          <a:bodyPr wrap="none" lIns="0" tIns="0" rIns="0" bIns="0"/>
          <a:lstStyle/>
          <a:p>
            <a:pPr>
              <a:lnSpc>
                <a:spcPct val="100000"/>
              </a:lnSpc>
            </a:pPr>
            <a:r>
              <a:rPr lang="en-US" sz="1425" b="1">
                <a:solidFill>
                  <a:srgbClr val="FFFFFF"/>
                </a:solidFill>
                <a:latin typeface="Microsoft YaHei"/>
                <a:ea typeface="Microsoft YaHei"/>
              </a:rPr>
              <a:t>3</a:t>
            </a:r>
            <a:endParaRPr/>
          </a:p>
        </p:txBody>
      </p:sp>
      <p:sp>
        <p:nvSpPr>
          <p:cNvPr id="69" name="文本框 68" descr="{&quot;isTemplate&quot;:true,&quot;type&quot;:&quot;text&quot;}"/>
          <p:cNvSpPr txBox="1"/>
          <p:nvPr/>
        </p:nvSpPr>
        <p:spPr>
          <a:xfrm>
            <a:off x="8001000" y="4219575"/>
            <a:ext cx="3619500" cy="247650"/>
          </a:xfrm>
          <a:prstGeom prst="rect">
            <a:avLst/>
          </a:prstGeom>
        </p:spPr>
        <p:txBody>
          <a:bodyPr wrap="none" lIns="0" tIns="0" rIns="0" bIns="0"/>
          <a:lstStyle/>
          <a:p>
            <a:pPr>
              <a:lnSpc>
                <a:spcPct val="100000"/>
              </a:lnSpc>
            </a:pPr>
            <a:r>
              <a:rPr lang="zh-CN" sz="1575" b="1">
                <a:solidFill>
                  <a:srgbClr val="0E3F8C"/>
                </a:solidFill>
                <a:latin typeface="Microsoft YaHei"/>
                <a:ea typeface="Microsoft YaHei"/>
              </a:rPr>
              <a:t>长期不撤回</a:t>
            </a:r>
            <a:endParaRPr/>
          </a:p>
        </p:txBody>
      </p:sp>
      <p:sp>
        <p:nvSpPr>
          <p:cNvPr id="70" name="文本框 69" descr="{&quot;isTemplate&quot;:true,&quot;type&quot;:&quot;text&quot;}"/>
          <p:cNvSpPr txBox="1"/>
          <p:nvPr/>
        </p:nvSpPr>
        <p:spPr>
          <a:xfrm>
            <a:off x="8001000" y="4505325"/>
            <a:ext cx="3619500" cy="638175"/>
          </a:xfrm>
          <a:prstGeom prst="rect">
            <a:avLst/>
          </a:prstGeom>
        </p:spPr>
        <p:txBody>
          <a:bodyPr wrap="square" lIns="0" tIns="0" rIns="0" bIns="0">
            <a:normAutofit/>
          </a:bodyPr>
          <a:lstStyle/>
          <a:p>
            <a:pPr>
              <a:lnSpc>
                <a:spcPct val="155000"/>
              </a:lnSpc>
            </a:pPr>
            <a:r>
              <a:rPr lang="en-US" sz="1350">
                <a:solidFill>
                  <a:srgbClr val="1A2230"/>
                </a:solidFill>
                <a:latin typeface="Microsoft YaHei"/>
                <a:ea typeface="Microsoft YaHei"/>
              </a:rPr>
              <a:t>2022–2024 </a:t>
            </a:r>
            <a:r>
              <a:rPr lang="zh-CN" sz="1350">
                <a:solidFill>
                  <a:srgbClr val="1A2230"/>
                </a:solidFill>
                <a:latin typeface="Microsoft YaHei"/>
                <a:ea typeface="Microsoft YaHei"/>
              </a:rPr>
              <a:t>年研发费用率连续保持</a:t>
            </a:r>
            <a:r>
              <a:rPr lang="en-US" sz="1350">
                <a:solidFill>
                  <a:srgbClr val="1A2230"/>
                </a:solidFill>
                <a:latin typeface="Microsoft YaHei"/>
                <a:ea typeface="Microsoft YaHei"/>
              </a:rPr>
              <a:t> 20% </a:t>
            </a:r>
            <a:r>
              <a:rPr lang="zh-CN" sz="1350">
                <a:solidFill>
                  <a:srgbClr val="1A2230"/>
                </a:solidFill>
                <a:latin typeface="Microsoft YaHei"/>
                <a:ea typeface="Microsoft YaHei"/>
              </a:rPr>
              <a:t>以上（</a:t>
            </a:r>
            <a:r>
              <a:rPr lang="en-US" sz="1350">
                <a:solidFill>
                  <a:srgbClr val="1A2230"/>
                </a:solidFill>
                <a:latin typeface="Microsoft YaHei"/>
                <a:ea typeface="Microsoft YaHei"/>
              </a:rPr>
              <a:t>25.1% → 23.4% → 20.8%</a:t>
            </a:r>
            <a:r>
              <a:rPr lang="zh-CN" sz="1350">
                <a:solidFill>
                  <a:srgbClr val="1A2230"/>
                </a:solidFill>
                <a:latin typeface="Microsoft YaHei"/>
                <a:ea typeface="Microsoft YaHei"/>
              </a:rPr>
              <a:t>）。</a:t>
            </a:r>
            <a:endParaRPr/>
          </a:p>
        </p:txBody>
      </p:sp>
      <p:sp>
        <p:nvSpPr>
          <p:cNvPr id="71" name="矩形: 圆角 70"/>
          <p:cNvSpPr/>
          <p:nvPr/>
        </p:nvSpPr>
        <p:spPr>
          <a:xfrm>
            <a:off x="7296150" y="5448300"/>
            <a:ext cx="4514850" cy="1000125"/>
          </a:xfrm>
          <a:prstGeom prst="roundRect">
            <a:avLst>
              <a:gd name="adj" fmla="val 9524"/>
            </a:avLst>
          </a:prstGeom>
          <a:solidFill>
            <a:srgbClr val="E8EFF8"/>
          </a:solidFill>
          <a:ln/>
        </p:spPr>
        <p:txBody>
          <a:bodyPr/>
          <a:lstStyle/>
          <a:p>
            <a:endParaRPr/>
          </a:p>
        </p:txBody>
      </p:sp>
      <p:sp>
        <p:nvSpPr>
          <p:cNvPr id="72" name="文本框 71" descr="{&quot;isTemplate&quot;:true,&quot;type&quot;:&quot;text&quot;}"/>
          <p:cNvSpPr txBox="1"/>
          <p:nvPr/>
        </p:nvSpPr>
        <p:spPr>
          <a:xfrm>
            <a:off x="7486650" y="5600700"/>
            <a:ext cx="4133850" cy="695325"/>
          </a:xfrm>
          <a:prstGeom prst="rect">
            <a:avLst/>
          </a:prstGeom>
        </p:spPr>
        <p:txBody>
          <a:bodyPr wrap="square" lIns="0" tIns="0" rIns="0" bIns="0">
            <a:normAutofit/>
          </a:bodyPr>
          <a:lstStyle/>
          <a:p>
            <a:pPr>
              <a:lnSpc>
                <a:spcPct val="160000"/>
              </a:lnSpc>
            </a:pPr>
            <a:r>
              <a:rPr lang="zh-CN" sz="1425" b="1">
                <a:solidFill>
                  <a:srgbClr val="1E4FA8"/>
                </a:solidFill>
                <a:latin typeface="Microsoft YaHei"/>
                <a:ea typeface="Microsoft YaHei"/>
              </a:rPr>
              <a:t>课堂追问</a:t>
            </a:r>
            <a:r>
              <a:rPr lang="zh-CN" sz="1425">
                <a:solidFill>
                  <a:srgbClr val="1A2230"/>
                </a:solidFill>
                <a:latin typeface="Microsoft YaHei"/>
                <a:ea typeface="Microsoft YaHei"/>
              </a:rPr>
              <a:t>：如果研发预算被砍一半，你砍哪一块？——考查的正是配置一致性。</a:t>
            </a:r>
            <a:endParaRPr/>
          </a:p>
        </p:txBody>
      </p:sp>
      <p:sp>
        <p:nvSpPr>
          <p:cNvPr id="73" name="任意多边形: 形状 72"/>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D6DCE5"/>
          </a:solidFill>
          <a:ln/>
        </p:spPr>
        <p:txBody>
          <a:bodyPr/>
          <a:lstStyle/>
          <a:p>
            <a:endParaRPr/>
          </a:p>
        </p:txBody>
      </p:sp>
      <p:sp>
        <p:nvSpPr>
          <p:cNvPr id="74" name="文本框 73" descr="{&quot;isTemplate&quot;:true,&quot;type&quot;:&quot;text&quot;}"/>
          <p:cNvSpPr txBox="1"/>
          <p:nvPr/>
        </p:nvSpPr>
        <p:spPr>
          <a:xfrm>
            <a:off x="381000" y="6572250"/>
            <a:ext cx="18478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企业战略的构成要素</a:t>
            </a:r>
            <a:r>
              <a:rPr lang="en-US" sz="1050">
                <a:solidFill>
                  <a:srgbClr val="8B97A8"/>
                </a:solidFill>
                <a:latin typeface="Microsoft YaHei"/>
                <a:ea typeface="Microsoft YaHei"/>
              </a:rPr>
              <a:t> · </a:t>
            </a:r>
            <a:r>
              <a:rPr lang="zh-CN" sz="1050">
                <a:solidFill>
                  <a:srgbClr val="8B97A8"/>
                </a:solidFill>
                <a:latin typeface="Microsoft YaHei"/>
                <a:ea typeface="Microsoft YaHei"/>
              </a:rPr>
              <a:t>教学课件</a:t>
            </a:r>
            <a:endParaRPr/>
          </a:p>
        </p:txBody>
      </p:sp>
      <p:sp>
        <p:nvSpPr>
          <p:cNvPr id="75" name="文本框 74" descr="{&quot;isTemplate&quot;:true,&quot;type&quot;:&quot;text&quot;}"/>
          <p:cNvSpPr txBox="1"/>
          <p:nvPr/>
        </p:nvSpPr>
        <p:spPr>
          <a:xfrm>
            <a:off x="11353800" y="6572250"/>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11 / 16</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0E3F8C', display: 'flex', flexDirection: 'column', justifyContent: 'center', padding: '0 110px' }}&gt;&#10;  &lt;Box style={{ flexDirection: 'row', alignItems: 'center', gap: 56 }}&gt;&#10;    &lt;Text style={{ fontSize: 220, fontWeight: 'bold', color: '#FFFFFF', flexShrink: 0 }}&gt;03&lt;/Text&gt;&#10;    &lt;Box style={{ flexDirection: 'column' }}&gt;&#10;      &lt;Text style={{ fontSize: 15, color: '#8FB3E8', letterSpacing: 5 }}&gt;CHAPTER 03&lt;/Text&gt;&#10;      &lt;Text style={{ fontSize: 44, fontWeight: 'bold', color: '#FFFFFF', marginTop: 14 }}&gt;协同作用——战略的乘数&lt;/Text&gt;&#10;      &lt;Box style={{ width: 72, height: 3, background: '#3D7BD9', marginTop: 26 }} /&gt;&#10;      &lt;Box style={{ flexDirection: 'column', gap: 12, marginTop: 28 }}&gt;&#10;        &lt;Box style={{ flexDirection: 'row', gap: 12, alignItems: 'center' }}&gt;&#10;          &lt;Box style={{ width: 8, height: 8, background: '#3D7BD9', borderRadius: 4 }} /&gt;&#10;          &lt;Text style={{ fontSize: 18, color: '#B8CCE8' }}&gt;定义：协同 = 共享 → 2+2=5（安索夫，1965）&lt;/Text&gt;&#10;        &lt;/Box&gt;&#10;        &lt;Box style={{ flexDirection: 'row', gap: 12, alignItems: 'center' }}&gt;&#10;          &lt;Box style={{ width: 8, height: 8, background: '#3D7BD9', borderRadius: 4 }} /&gt;&#10;          &lt;Text style={{ fontSize: 18, color: '#B8CCE8' }}&gt;四种类型：销售 · 运营 · 投资 · 管理协同&lt;/Text&gt;&#10;        &lt;/Box&gt;&#10;        &lt;Box style={{ flexDirection: 'row', gap: 12, alignItems: 'center' }}&gt;&#10;          &lt;Box style={{ width: 8, height: 8, background: '#3D7BD9', borderRadius: 4 }} /&gt;&#10;          &lt;Text style={{ fontSize: 18, color: '#B8CCE8' }}&gt;代价与反例：三类成本 · 负协同（2+2=3）&lt;/Text&gt;&#10;        &lt;/Box&gt;&#10;      &lt;/Box&gt;&#10;    &lt;/Box&gt;&#10;  &lt;/Box&gt;&#10;  &lt;Box style={{ position: 'absolute', bottom: 44, right: 64 }}&gt;&#10;    &lt;Text style={{ fontSize: 14, color: '#8FB3E8' }}&gt;第 3 章 / 共 3 章&lt;/Text&gt;&#10;  &lt;/Box&gt;&#10;&lt;/Slide&gt;"/>
        <p:cNvGrpSpPr/>
        <p:nvPr/>
      </p:nvGrpSpPr>
      <p:grpSpPr>
        <a:xfrm>
          <a:off x="0" y="0"/>
          <a:ext cx="0" cy="0"/>
          <a:chOff x="0" y="0"/>
          <a:chExt cx="0" cy="0"/>
        </a:xfrm>
      </p:grpSpPr>
      <p:sp>
        <p:nvSpPr>
          <p:cNvPr id="77" name="矩形 76"/>
          <p:cNvSpPr/>
          <p:nvPr/>
        </p:nvSpPr>
        <p:spPr>
          <a:xfrm>
            <a:off x="0" y="0"/>
            <a:ext cx="12192000" cy="6858000"/>
          </a:xfrm>
          <a:prstGeom prst="rect">
            <a:avLst/>
          </a:prstGeom>
          <a:solidFill>
            <a:srgbClr val="0E3F8C"/>
          </a:solidFill>
          <a:ln/>
        </p:spPr>
        <p:txBody>
          <a:bodyPr/>
          <a:lstStyle/>
          <a:p>
            <a:endParaRPr/>
          </a:p>
        </p:txBody>
      </p:sp>
      <p:sp>
        <p:nvSpPr>
          <p:cNvPr id="78" name="文本框 77" descr="{&quot;isTemplate&quot;:true,&quot;type&quot;:&quot;text&quot;}"/>
          <p:cNvSpPr txBox="1"/>
          <p:nvPr/>
        </p:nvSpPr>
        <p:spPr>
          <a:xfrm>
            <a:off x="1047750" y="2171700"/>
            <a:ext cx="2590800" cy="2514600"/>
          </a:xfrm>
          <a:prstGeom prst="rect">
            <a:avLst/>
          </a:prstGeom>
        </p:spPr>
        <p:txBody>
          <a:bodyPr wrap="none" lIns="0" tIns="0" rIns="0" bIns="0"/>
          <a:lstStyle/>
          <a:p>
            <a:pPr>
              <a:lnSpc>
                <a:spcPct val="100000"/>
              </a:lnSpc>
            </a:pPr>
            <a:r>
              <a:rPr lang="en-US" sz="16500" b="1">
                <a:solidFill>
                  <a:srgbClr val="FFFFFF"/>
                </a:solidFill>
                <a:latin typeface="Microsoft YaHei"/>
                <a:ea typeface="Microsoft YaHei"/>
              </a:rPr>
              <a:t>03</a:t>
            </a:r>
            <a:endParaRPr/>
          </a:p>
        </p:txBody>
      </p:sp>
      <p:sp>
        <p:nvSpPr>
          <p:cNvPr id="79" name="文本框 78" descr="{&quot;isTemplate&quot;:true,&quot;type&quot;:&quot;text&quot;}"/>
          <p:cNvSpPr txBox="1"/>
          <p:nvPr/>
        </p:nvSpPr>
        <p:spPr>
          <a:xfrm>
            <a:off x="4171950" y="2324100"/>
            <a:ext cx="4686300" cy="171450"/>
          </a:xfrm>
          <a:prstGeom prst="rect">
            <a:avLst/>
          </a:prstGeom>
        </p:spPr>
        <p:txBody>
          <a:bodyPr wrap="none" lIns="0" tIns="0" rIns="0" bIns="0"/>
          <a:lstStyle/>
          <a:p>
            <a:pPr>
              <a:lnSpc>
                <a:spcPct val="100000"/>
              </a:lnSpc>
            </a:pPr>
            <a:r>
              <a:rPr lang="en-US" sz="1125" spc="375">
                <a:solidFill>
                  <a:srgbClr val="8FB3E8"/>
                </a:solidFill>
                <a:latin typeface="Microsoft YaHei"/>
                <a:ea typeface="Microsoft YaHei"/>
              </a:rPr>
              <a:t>CHAPTER 03</a:t>
            </a:r>
            <a:endParaRPr/>
          </a:p>
        </p:txBody>
      </p:sp>
      <p:sp>
        <p:nvSpPr>
          <p:cNvPr id="80" name="文本框 79" descr="{&quot;isTemplate&quot;:true,&quot;type&quot;:&quot;text&quot;}"/>
          <p:cNvSpPr txBox="1"/>
          <p:nvPr/>
        </p:nvSpPr>
        <p:spPr>
          <a:xfrm>
            <a:off x="4171950" y="2628900"/>
            <a:ext cx="4686300" cy="504825"/>
          </a:xfrm>
          <a:prstGeom prst="rect">
            <a:avLst/>
          </a:prstGeom>
        </p:spPr>
        <p:txBody>
          <a:bodyPr wrap="none" lIns="0" tIns="0" rIns="0" bIns="0"/>
          <a:lstStyle/>
          <a:p>
            <a:pPr>
              <a:lnSpc>
                <a:spcPct val="100000"/>
              </a:lnSpc>
            </a:pPr>
            <a:r>
              <a:rPr lang="zh-CN" sz="3300" b="1">
                <a:solidFill>
                  <a:srgbClr val="FFFFFF"/>
                </a:solidFill>
                <a:latin typeface="Microsoft YaHei"/>
                <a:ea typeface="Microsoft YaHei"/>
              </a:rPr>
              <a:t>协同作用——战略的乘数</a:t>
            </a:r>
            <a:endParaRPr/>
          </a:p>
        </p:txBody>
      </p:sp>
      <p:sp>
        <p:nvSpPr>
          <p:cNvPr id="81" name="矩形 80"/>
          <p:cNvSpPr/>
          <p:nvPr/>
        </p:nvSpPr>
        <p:spPr>
          <a:xfrm>
            <a:off x="4171950" y="3381375"/>
            <a:ext cx="685800" cy="28575"/>
          </a:xfrm>
          <a:prstGeom prst="rect">
            <a:avLst/>
          </a:prstGeom>
          <a:solidFill>
            <a:srgbClr val="3D7BD9"/>
          </a:solidFill>
          <a:ln/>
        </p:spPr>
        <p:txBody>
          <a:bodyPr/>
          <a:lstStyle/>
          <a:p>
            <a:endParaRPr/>
          </a:p>
        </p:txBody>
      </p:sp>
      <p:sp>
        <p:nvSpPr>
          <p:cNvPr id="82" name="矩形: 圆角 81"/>
          <p:cNvSpPr/>
          <p:nvPr/>
        </p:nvSpPr>
        <p:spPr>
          <a:xfrm>
            <a:off x="4171950" y="3743325"/>
            <a:ext cx="76200" cy="76200"/>
          </a:xfrm>
          <a:prstGeom prst="roundRect">
            <a:avLst>
              <a:gd name="adj" fmla="val 50000"/>
            </a:avLst>
          </a:prstGeom>
          <a:solidFill>
            <a:srgbClr val="3D7BD9"/>
          </a:solidFill>
          <a:ln/>
        </p:spPr>
        <p:txBody>
          <a:bodyPr/>
          <a:lstStyle/>
          <a:p>
            <a:endParaRPr/>
          </a:p>
        </p:txBody>
      </p:sp>
      <p:sp>
        <p:nvSpPr>
          <p:cNvPr id="83" name="文本框 82" descr="{&quot;isTemplate&quot;:true,&quot;type&quot;:&quot;text&quot;}"/>
          <p:cNvSpPr txBox="1"/>
          <p:nvPr/>
        </p:nvSpPr>
        <p:spPr>
          <a:xfrm>
            <a:off x="4362450" y="3676650"/>
            <a:ext cx="3695700" cy="209550"/>
          </a:xfrm>
          <a:prstGeom prst="rect">
            <a:avLst/>
          </a:prstGeom>
        </p:spPr>
        <p:txBody>
          <a:bodyPr wrap="none" lIns="0" tIns="0" rIns="0" bIns="0"/>
          <a:lstStyle/>
          <a:p>
            <a:pPr>
              <a:lnSpc>
                <a:spcPct val="100000"/>
              </a:lnSpc>
            </a:pPr>
            <a:r>
              <a:rPr lang="zh-CN" sz="1350">
                <a:solidFill>
                  <a:srgbClr val="B8CCE8"/>
                </a:solidFill>
                <a:latin typeface="Microsoft YaHei"/>
                <a:ea typeface="Microsoft YaHei"/>
              </a:rPr>
              <a:t>定义：协同</a:t>
            </a:r>
            <a:r>
              <a:rPr lang="en-US" sz="1350">
                <a:solidFill>
                  <a:srgbClr val="B8CCE8"/>
                </a:solidFill>
                <a:latin typeface="Microsoft YaHei"/>
                <a:ea typeface="Microsoft YaHei"/>
              </a:rPr>
              <a:t> = </a:t>
            </a:r>
            <a:r>
              <a:rPr lang="zh-CN" sz="1350">
                <a:solidFill>
                  <a:srgbClr val="B8CCE8"/>
                </a:solidFill>
                <a:latin typeface="Microsoft YaHei"/>
                <a:ea typeface="Microsoft YaHei"/>
              </a:rPr>
              <a:t>共享</a:t>
            </a:r>
            <a:r>
              <a:rPr lang="en-US" sz="1350">
                <a:solidFill>
                  <a:srgbClr val="B8CCE8"/>
                </a:solidFill>
                <a:latin typeface="Microsoft YaHei"/>
                <a:ea typeface="Microsoft YaHei"/>
              </a:rPr>
              <a:t> → 2+2=5</a:t>
            </a:r>
            <a:r>
              <a:rPr lang="zh-CN" sz="1350">
                <a:solidFill>
                  <a:srgbClr val="B8CCE8"/>
                </a:solidFill>
                <a:latin typeface="Microsoft YaHei"/>
                <a:ea typeface="Microsoft YaHei"/>
              </a:rPr>
              <a:t>（安索夫，</a:t>
            </a:r>
            <a:r>
              <a:rPr lang="en-US" sz="1350">
                <a:solidFill>
                  <a:srgbClr val="B8CCE8"/>
                </a:solidFill>
                <a:latin typeface="Microsoft YaHei"/>
                <a:ea typeface="Microsoft YaHei"/>
              </a:rPr>
              <a:t>1965</a:t>
            </a:r>
            <a:r>
              <a:rPr lang="zh-CN" sz="1350">
                <a:solidFill>
                  <a:srgbClr val="B8CCE8"/>
                </a:solidFill>
                <a:latin typeface="Microsoft YaHei"/>
                <a:ea typeface="Microsoft YaHei"/>
              </a:rPr>
              <a:t>）</a:t>
            </a:r>
            <a:endParaRPr/>
          </a:p>
        </p:txBody>
      </p:sp>
      <p:sp>
        <p:nvSpPr>
          <p:cNvPr id="84" name="矩形: 圆角 83"/>
          <p:cNvSpPr/>
          <p:nvPr/>
        </p:nvSpPr>
        <p:spPr>
          <a:xfrm>
            <a:off x="4171950" y="4067175"/>
            <a:ext cx="76200" cy="76200"/>
          </a:xfrm>
          <a:prstGeom prst="roundRect">
            <a:avLst>
              <a:gd name="adj" fmla="val 50000"/>
            </a:avLst>
          </a:prstGeom>
          <a:solidFill>
            <a:srgbClr val="3D7BD9"/>
          </a:solidFill>
          <a:ln/>
        </p:spPr>
        <p:txBody>
          <a:bodyPr/>
          <a:lstStyle/>
          <a:p>
            <a:endParaRPr/>
          </a:p>
        </p:txBody>
      </p:sp>
      <p:sp>
        <p:nvSpPr>
          <p:cNvPr id="85" name="文本框 84" descr="{&quot;isTemplate&quot;:true,&quot;type&quot;:&quot;text&quot;}"/>
          <p:cNvSpPr txBox="1"/>
          <p:nvPr/>
        </p:nvSpPr>
        <p:spPr>
          <a:xfrm>
            <a:off x="4362450" y="4000500"/>
            <a:ext cx="3000375" cy="209550"/>
          </a:xfrm>
          <a:prstGeom prst="rect">
            <a:avLst/>
          </a:prstGeom>
        </p:spPr>
        <p:txBody>
          <a:bodyPr wrap="none" lIns="0" tIns="0" rIns="0" bIns="0"/>
          <a:lstStyle/>
          <a:p>
            <a:pPr>
              <a:lnSpc>
                <a:spcPct val="100000"/>
              </a:lnSpc>
            </a:pPr>
            <a:r>
              <a:rPr lang="zh-CN" sz="1350">
                <a:solidFill>
                  <a:srgbClr val="B8CCE8"/>
                </a:solidFill>
                <a:latin typeface="Microsoft YaHei"/>
                <a:ea typeface="Microsoft YaHei"/>
              </a:rPr>
              <a:t>四种类型：销售</a:t>
            </a:r>
            <a:r>
              <a:rPr lang="en-US" sz="1350">
                <a:solidFill>
                  <a:srgbClr val="B8CCE8"/>
                </a:solidFill>
                <a:latin typeface="Microsoft YaHei"/>
                <a:ea typeface="Microsoft YaHei"/>
              </a:rPr>
              <a:t> · </a:t>
            </a:r>
            <a:r>
              <a:rPr lang="zh-CN" sz="1350">
                <a:solidFill>
                  <a:srgbClr val="B8CCE8"/>
                </a:solidFill>
                <a:latin typeface="Microsoft YaHei"/>
                <a:ea typeface="Microsoft YaHei"/>
              </a:rPr>
              <a:t>运营</a:t>
            </a:r>
            <a:r>
              <a:rPr lang="en-US" sz="1350">
                <a:solidFill>
                  <a:srgbClr val="B8CCE8"/>
                </a:solidFill>
                <a:latin typeface="Microsoft YaHei"/>
                <a:ea typeface="Microsoft YaHei"/>
              </a:rPr>
              <a:t> · </a:t>
            </a:r>
            <a:r>
              <a:rPr lang="zh-CN" sz="1350">
                <a:solidFill>
                  <a:srgbClr val="B8CCE8"/>
                </a:solidFill>
                <a:latin typeface="Microsoft YaHei"/>
                <a:ea typeface="Microsoft YaHei"/>
              </a:rPr>
              <a:t>投资</a:t>
            </a:r>
            <a:r>
              <a:rPr lang="en-US" sz="1350">
                <a:solidFill>
                  <a:srgbClr val="B8CCE8"/>
                </a:solidFill>
                <a:latin typeface="Microsoft YaHei"/>
                <a:ea typeface="Microsoft YaHei"/>
              </a:rPr>
              <a:t> · </a:t>
            </a:r>
            <a:r>
              <a:rPr lang="zh-CN" sz="1350">
                <a:solidFill>
                  <a:srgbClr val="B8CCE8"/>
                </a:solidFill>
                <a:latin typeface="Microsoft YaHei"/>
                <a:ea typeface="Microsoft YaHei"/>
              </a:rPr>
              <a:t>管理协同</a:t>
            </a:r>
            <a:endParaRPr/>
          </a:p>
        </p:txBody>
      </p:sp>
      <p:sp>
        <p:nvSpPr>
          <p:cNvPr id="86" name="矩形: 圆角 85"/>
          <p:cNvSpPr/>
          <p:nvPr/>
        </p:nvSpPr>
        <p:spPr>
          <a:xfrm>
            <a:off x="4171950" y="4391025"/>
            <a:ext cx="76200" cy="76200"/>
          </a:xfrm>
          <a:prstGeom prst="roundRect">
            <a:avLst>
              <a:gd name="adj" fmla="val 50000"/>
            </a:avLst>
          </a:prstGeom>
          <a:solidFill>
            <a:srgbClr val="3D7BD9"/>
          </a:solidFill>
          <a:ln/>
        </p:spPr>
        <p:txBody>
          <a:bodyPr/>
          <a:lstStyle/>
          <a:p>
            <a:endParaRPr/>
          </a:p>
        </p:txBody>
      </p:sp>
      <p:sp>
        <p:nvSpPr>
          <p:cNvPr id="87" name="文本框 86" descr="{&quot;isTemplate&quot;:true,&quot;type&quot;:&quot;text&quot;}"/>
          <p:cNvSpPr txBox="1"/>
          <p:nvPr/>
        </p:nvSpPr>
        <p:spPr>
          <a:xfrm>
            <a:off x="4362450" y="4324350"/>
            <a:ext cx="3276600" cy="209550"/>
          </a:xfrm>
          <a:prstGeom prst="rect">
            <a:avLst/>
          </a:prstGeom>
        </p:spPr>
        <p:txBody>
          <a:bodyPr wrap="none" lIns="0" tIns="0" rIns="0" bIns="0"/>
          <a:lstStyle/>
          <a:p>
            <a:pPr>
              <a:lnSpc>
                <a:spcPct val="100000"/>
              </a:lnSpc>
            </a:pPr>
            <a:r>
              <a:rPr lang="zh-CN" sz="1350">
                <a:solidFill>
                  <a:srgbClr val="B8CCE8"/>
                </a:solidFill>
                <a:latin typeface="Microsoft YaHei"/>
                <a:ea typeface="Microsoft YaHei"/>
              </a:rPr>
              <a:t>代价与反例：三类成本</a:t>
            </a:r>
            <a:r>
              <a:rPr lang="en-US" sz="1350">
                <a:solidFill>
                  <a:srgbClr val="B8CCE8"/>
                </a:solidFill>
                <a:latin typeface="Microsoft YaHei"/>
                <a:ea typeface="Microsoft YaHei"/>
              </a:rPr>
              <a:t> · </a:t>
            </a:r>
            <a:r>
              <a:rPr lang="zh-CN" sz="1350">
                <a:solidFill>
                  <a:srgbClr val="B8CCE8"/>
                </a:solidFill>
                <a:latin typeface="Microsoft YaHei"/>
                <a:ea typeface="Microsoft YaHei"/>
              </a:rPr>
              <a:t>负协同（</a:t>
            </a:r>
            <a:r>
              <a:rPr lang="en-US" sz="1350">
                <a:solidFill>
                  <a:srgbClr val="B8CCE8"/>
                </a:solidFill>
                <a:latin typeface="Microsoft YaHei"/>
                <a:ea typeface="Microsoft YaHei"/>
              </a:rPr>
              <a:t>2+2=3</a:t>
            </a:r>
            <a:r>
              <a:rPr lang="zh-CN" sz="1350">
                <a:solidFill>
                  <a:srgbClr val="B8CCE8"/>
                </a:solidFill>
                <a:latin typeface="Microsoft YaHei"/>
                <a:ea typeface="Microsoft YaHei"/>
              </a:rPr>
              <a:t>）</a:t>
            </a:r>
            <a:endParaRPr/>
          </a:p>
        </p:txBody>
      </p:sp>
      <p:sp>
        <p:nvSpPr>
          <p:cNvPr id="88" name="文本框 87" descr="{&quot;isTemplate&quot;:true,&quot;type&quot;:&quot;text&quot;}"/>
          <p:cNvSpPr txBox="1"/>
          <p:nvPr/>
        </p:nvSpPr>
        <p:spPr>
          <a:xfrm>
            <a:off x="10591800" y="6276975"/>
            <a:ext cx="990600" cy="161925"/>
          </a:xfrm>
          <a:prstGeom prst="rect">
            <a:avLst/>
          </a:prstGeom>
        </p:spPr>
        <p:txBody>
          <a:bodyPr wrap="none" lIns="0" tIns="0" rIns="0" bIns="0"/>
          <a:lstStyle/>
          <a:p>
            <a:pPr>
              <a:lnSpc>
                <a:spcPct val="100000"/>
              </a:lnSpc>
            </a:pPr>
            <a:r>
              <a:rPr lang="zh-CN" sz="1050">
                <a:solidFill>
                  <a:srgbClr val="8FB3E8"/>
                </a:solidFill>
                <a:latin typeface="Microsoft YaHei"/>
                <a:ea typeface="Microsoft YaHei"/>
              </a:rPr>
              <a:t>第</a:t>
            </a:r>
            <a:r>
              <a:rPr lang="en-US" sz="1050">
                <a:solidFill>
                  <a:srgbClr val="8FB3E8"/>
                </a:solidFill>
                <a:latin typeface="Microsoft YaHei"/>
                <a:ea typeface="Microsoft YaHei"/>
              </a:rPr>
              <a:t> 3 </a:t>
            </a:r>
            <a:r>
              <a:rPr lang="zh-CN" sz="1050">
                <a:solidFill>
                  <a:srgbClr val="8FB3E8"/>
                </a:solidFill>
                <a:latin typeface="Microsoft YaHei"/>
                <a:ea typeface="Microsoft YaHei"/>
              </a:rPr>
              <a:t>章</a:t>
            </a:r>
            <a:r>
              <a:rPr lang="en-US" sz="1050">
                <a:solidFill>
                  <a:srgbClr val="8FB3E8"/>
                </a:solidFill>
                <a:latin typeface="Microsoft YaHei"/>
                <a:ea typeface="Microsoft YaHei"/>
              </a:rPr>
              <a:t> / </a:t>
            </a:r>
            <a:r>
              <a:rPr lang="zh-CN" sz="1050">
                <a:solidFill>
                  <a:srgbClr val="8FB3E8"/>
                </a:solidFill>
                <a:latin typeface="Microsoft YaHei"/>
                <a:ea typeface="Microsoft YaHei"/>
              </a:rPr>
              <a:t>共</a:t>
            </a:r>
            <a:r>
              <a:rPr lang="en-US" sz="1050">
                <a:solidFill>
                  <a:srgbClr val="8FB3E8"/>
                </a:solidFill>
                <a:latin typeface="Microsoft YaHei"/>
                <a:ea typeface="Microsoft YaHei"/>
              </a:rPr>
              <a:t> 3 </a:t>
            </a:r>
            <a:r>
              <a:rPr lang="zh-CN" sz="1050">
                <a:solidFill>
                  <a:srgbClr val="8FB3E8"/>
                </a:solidFill>
                <a:latin typeface="Microsoft YaHei"/>
                <a:ea typeface="Microsoft YaHei"/>
              </a:rPr>
              <a:t>章</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display: 'flex', flexDirection: 'column' }}&gt;&#10;  &lt;Box style={{ height: 72, background: '#0E3F8C', flexDirection: 'row', justifyContent: 'space-between', alignItems: 'center', padding: '0 40px', flexShrink: 0 }}&gt;&#10;    &lt;Text style={{ fontSize: 15, color: '#B8CCE8', letterSpacing: 3 }}&gt;战略管理 · STRATEGIC MANAGEMENT&lt;/Text&gt;&#10;    &lt;Text style={{ fontSize: 14, color: '#B8CCE8' }}&gt;第三章 · 协同作用&lt;/Text&gt;&#10;  &lt;/Box&gt;&#10;  &lt;Box style={{ height: 78, padding: '16px 40px 0 40px', flexDirection: 'column', flexShrink: 0 }}&gt;&#10;    &lt;Text style={{ fontSize: 32, fontWeight: 'bold', color: '#0E3F8C' }}&gt;协同作用：定义与四种类型&lt;/Text&gt;&#10;    &lt;Text style={{ fontSize: 15, color: '#8B97A8', marginTop: 6 }}&gt;Synergy: Definition and the Four Types（Ansoff, 1965）&lt;/Text&gt;&#10;  &lt;/Box&gt;&#10;  &lt;Box style={{ flex: 1, padding: '6px 40px 18px 40px', minHeight: 0, flexDirection: 'column', gap: 14 }}&gt;&#10;    &lt;Box style={{ background: '#0E3F8C', borderRadius: 10, padding: '13px 26px', flexDirection: 'row', justifyContent: 'space-between', alignItems: 'center' }}&gt;&#10;      &lt;Text style={{ fontSize: 22, fontWeight: 'bold', color: '#FFFFFF' }}&gt;协同 = 共享 → 2 + 2 = 5：整体价值大于各部分独立运作之和&lt;/Text&gt;&#10;      &lt;Text style={{ fontSize: 15, color: '#B8CCE8' }}&gt;安索夫《公司战略》（1965）&lt;/Text&gt;&#10;    &lt;/Box&gt;&#10;    &lt;Box style={{ flex: 1, flexDirection: 'row', gap: 16, minHeight: 0 }}&gt;&#10;      &lt;Box style={{ flex: 1, background: '#FFFFFF', border: '1px solid #D6DCE5', borderRadius: 12, padding: '20px 24px', flexDirection: 'column' }}&gt;&#10;        &lt;Box style={{ flexDirection: 'row', gap: 14, alignItems: 'center' }}&gt;&#10;          &lt;Box style={{ width: 52, height: 52, background: '#E8EFF8', borderRadius: 12, justifyContent: 'center', alignItems: 'center', flexShrink: 0 }}&gt;&#10;            &lt;FAIcon name='share' style={{ fill: '#1E4FA8', width: 26, height: 26 }} /&gt;&#10;          &lt;/Box&gt;&#10;          &lt;Text style={{ fontSize: 24, fontWeight: 'bold', color: '#0E3F8C' }}&gt;销售协同&lt;/Text&gt;&#10;        &lt;/Box&gt;&#10;        &lt;Text style={{ fontSize: 20, color: '#1A2230', lineHeight: 1.6, marginTop: 12 }}&gt;共享分销渠道、客户群、品牌与销售队伍，一份渠道费用撬动多条产品线。&lt;/Text&gt;&#10;        &lt;Box style={{ flex: 1 }} /&gt;&#10;        &lt;Box style={{ background: '#F7F9FC', borderRadius: 6, padding: '8px 14px' }}&gt;&#10;          &lt;Text style={{ fontSize: 15, color: '#4A5568' }}&gt;例：小米将品牌与渠道延伸至生态链产品&lt;/Text&gt;&#10;        &lt;/Box&gt;&#10;      &lt;/Box&gt;&#10;      &lt;Box style={{ flex: 1, background: '#FFFFFF', border: '1px solid #D6DCE5', borderRadius: 12, padding: '20px 24px', flexDirection: 'column' }}&gt;&#10;        &lt;Box style={{ flexDirection: 'row', gap: 14, alignItems: 'center' }}&gt;&#10;          &lt;Box style={{ width: 52, height: 52, background: '#E8EFF8', borderRadius: 12, justifyContent: 'center', alignItems: 'center', flexShrink: 0 }}&gt;&#10;            &lt;FAIcon name='cog' style={{ fill: '#1E4FA8', width: 26, height: 26 }} /&gt;&#10;          &lt;/Box&gt;&#10;          &lt;Text style={{ fontSize: 24, fontWeight: 'bold', color: '#0E3F8C' }}&gt;运营协同&lt;/Text&gt;&#10;        &lt;/Box&gt;&#10;        &lt;Text style={{ fontSize: 20, color: '#1A2230', lineHeight: 1.6, marginTop: 12 }}&gt;共享采购、产能与物流体系，摊薄单位成本，形成规模与范围经济。&lt;/Text&gt;&#10;        &lt;Box style={{ flex: 1 }} /&gt;&#10;        &lt;Box style={{ background: '#F7F9FC', borderRadius: 6, padding: '8px 14px' }}&gt;&#10;          &lt;Text style={{ fontSize: 15, color: '#4A5568' }}&gt;例：宝洁共享全球采购与物流网络&lt;/Text&gt;&#10;        &lt;/Box&gt;&#10;      &lt;/Box&gt;&#10;    &lt;/Box&gt;&#10;    &lt;Box style={{ flex: 1, flexDirection: 'row', gap: 16, minHeight: 0 }}&gt;&#10;      &lt;Box style={{ flex: 1, background: '#FFFFFF', border: '1px solid #D6DCE5', borderRadius: 12, padding: '20px 24px', flexDirection: 'column' }}&gt;&#10;        &lt;Box style={{ flexDirection: 'row', gap: 14, alignItems: 'center' }}&gt;&#10;          &lt;Box style={{ width: 52, height: 52, background: '#E8EFF8', borderRadius: 12, justifyContent: 'center', alignItems: 'center', flexShrink: 0 }}&gt;&#10;            &lt;FAIcon name='chart-line' style={{ fill: '#1E4FA8', width: 26, height: 26 }} /&gt;&#10;          &lt;/Box&gt;&#10;          &lt;Text style={{ fontSize: 24, fontWeight: 'bold', color: '#0E3F8C' }}&gt;投资协同&lt;/Text&gt;&#10;        &lt;/Box&gt;&#10;        &lt;Text style={{ fontSize: 20, color: '#1A2230', lineHeight: 1.6, marginTop: 12 }}&gt;共享技术平台、设备与现金池，一次研发投入在多处变现。&lt;/Text&gt;&#10;        &lt;Box style={{ flex: 1 }} /&gt;&#10;        &lt;Box style={{ background: '#F7F9FC', borderRadius: 6, padding: '8px 14px' }}&gt;&#10;          &lt;Text style={{ fontSize: 15, color: '#4A5568' }}&gt;例：佳能将影像技术跨相机、复印机、医疗设备复用&lt;/Text&gt;&#10;        &lt;/Box&gt;&#10;      &lt;/Box&gt;&#10;      &lt;Box style={{ flex: 1, background: '#FFFFFF', border: '1px solid #D6DCE5', borderRadius: 12, padding: '20px 24px', flexDirection: 'column' }}&gt;&#10;        &lt;Box style={{ flexDirection: 'row', gap: 14, alignItems: 'center' }}&gt;&#10;          &lt;Box style={{ width: 52, height: 52, background: '#E8EFF8', borderRadius: 12, justifyContent: 'center', alignItems: 'center', flexShrink: 0 }}&gt;&#10;            &lt;FAIcon name='clipboard' style={{ fill: '#1E4FA8', width: 26, height: 26 }} /&gt;&#10;          &lt;/Box&gt;&#10;          &lt;Text style={{ fontSize: 24, fontWeight: 'bold', color: '#0E3F8C' }}&gt;管理协同&lt;/Text&gt;&#10;        &lt;/Box&gt;&#10;        &lt;Text style={{ fontSize: 20, color: '#1A2230', lineHeight: 1.6, marginTop: 12 }}&gt;共享管理经验、制度与流程，把一个战场学到的东西带到另一个战场。&lt;/Text&gt;&#10;        &lt;Box style={{ flex: 1 }} /&gt;&#10;        &lt;Box style={{ background: '#F7F9FC', borderRadius: 6, padding: '8px 14px' }}&gt;&#10;          &lt;Text style={{ fontSize: 15, color: '#4A5568' }}&gt;例：华为将 IPD 研发流程复制到各产品线&lt;/Text&gt;&#10;        &lt;/Box&gt;&#10;      &lt;/Box&gt;&#10;    &lt;/Box&gt;&#10;    &lt;Box style={{ borderLeft: '6px solid #1E4FA8', background: '#E8EFF8', borderRadius: 8, padding: '13px 26px' }}&gt;&#10;      &lt;Text style={{ fontSize: 21, fontWeight: 'bold', color: '#0E3F8C' }}&gt;判断：协同的本质是让同一份资源在更大范围产生效益——它是资源配置的乘数。&lt;/Text&gt;&#10;    &lt;/Box&gt;&#10;  &lt;/Box&gt;&#10;  &lt;Box style={{ height: 44, borderTop: '1px solid #D6DCE5', flexDirection: 'row', justifyContent: 'space-between', alignItems: 'center', padding: '0 40px', flexShrink: 0 }}&gt;&#10;    &lt;Text style={{ fontSize: 14, color: '#8B97A8' }}&gt;企业战略的构成要素 · 教学课件&lt;/Text&gt;&#10;    &lt;Text style={{ fontSize: 14, color: '#0E3F8C' }}&gt;13 / 16&lt;/Text&gt;&#10;  &lt;/Box&gt;&#10;&lt;/Slide&gt;"/>
        <p:cNvGrpSpPr/>
        <p:nvPr/>
      </p:nvGrpSpPr>
      <p:grpSpPr>
        <a:xfrm>
          <a:off x="0" y="0"/>
          <a:ext cx="0" cy="0"/>
          <a:chOff x="0" y="0"/>
          <a:chExt cx="0" cy="0"/>
        </a:xfrm>
      </p:grpSpPr>
      <p:sp>
        <p:nvSpPr>
          <p:cNvPr id="90" name="矩形 89"/>
          <p:cNvSpPr/>
          <p:nvPr/>
        </p:nvSpPr>
        <p:spPr>
          <a:xfrm>
            <a:off x="0" y="0"/>
            <a:ext cx="12192000" cy="6858000"/>
          </a:xfrm>
          <a:prstGeom prst="rect">
            <a:avLst/>
          </a:prstGeom>
          <a:solidFill>
            <a:srgbClr val="FFFFFF"/>
          </a:solidFill>
          <a:ln/>
        </p:spPr>
        <p:txBody>
          <a:bodyPr/>
          <a:lstStyle/>
          <a:p>
            <a:endParaRPr/>
          </a:p>
        </p:txBody>
      </p:sp>
      <p:sp>
        <p:nvSpPr>
          <p:cNvPr id="91" name="矩形 90"/>
          <p:cNvSpPr/>
          <p:nvPr/>
        </p:nvSpPr>
        <p:spPr>
          <a:xfrm>
            <a:off x="0" y="0"/>
            <a:ext cx="12192000" cy="685800"/>
          </a:xfrm>
          <a:prstGeom prst="rect">
            <a:avLst/>
          </a:prstGeom>
          <a:solidFill>
            <a:srgbClr val="0E3F8C"/>
          </a:solidFill>
          <a:ln/>
        </p:spPr>
        <p:txBody>
          <a:bodyPr/>
          <a:lstStyle/>
          <a:p>
            <a:endParaRPr/>
          </a:p>
        </p:txBody>
      </p:sp>
      <p:sp>
        <p:nvSpPr>
          <p:cNvPr id="92" name="文本框 91"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B8CCE8"/>
                </a:solidFill>
                <a:latin typeface="Microsoft YaHei"/>
                <a:ea typeface="Microsoft YaHei"/>
              </a:rPr>
              <a:t>战略管理</a:t>
            </a:r>
            <a:r>
              <a:rPr lang="en-US" sz="1125" spc="225">
                <a:solidFill>
                  <a:srgbClr val="B8CCE8"/>
                </a:solidFill>
                <a:latin typeface="Microsoft YaHei"/>
                <a:ea typeface="Microsoft YaHei"/>
              </a:rPr>
              <a:t> · STRATEGIC MANAGEMENT</a:t>
            </a:r>
            <a:endParaRPr/>
          </a:p>
        </p:txBody>
      </p:sp>
      <p:sp>
        <p:nvSpPr>
          <p:cNvPr id="93" name="文本框 92" descr="{&quot;isTemplate&quot;:true,&quot;type&quot;:&quot;text&quot;}"/>
          <p:cNvSpPr txBox="1"/>
          <p:nvPr/>
        </p:nvSpPr>
        <p:spPr>
          <a:xfrm>
            <a:off x="10763250" y="266700"/>
            <a:ext cx="1047750" cy="161925"/>
          </a:xfrm>
          <a:prstGeom prst="rect">
            <a:avLst/>
          </a:prstGeom>
        </p:spPr>
        <p:txBody>
          <a:bodyPr wrap="none" lIns="0" tIns="0" rIns="0" bIns="0"/>
          <a:lstStyle/>
          <a:p>
            <a:pPr>
              <a:lnSpc>
                <a:spcPct val="100000"/>
              </a:lnSpc>
            </a:pPr>
            <a:r>
              <a:rPr lang="zh-CN" sz="1050">
                <a:solidFill>
                  <a:srgbClr val="B8CCE8"/>
                </a:solidFill>
                <a:latin typeface="Microsoft YaHei"/>
                <a:ea typeface="Microsoft YaHei"/>
              </a:rPr>
              <a:t>第三章</a:t>
            </a:r>
            <a:r>
              <a:rPr lang="en-US" sz="1050">
                <a:solidFill>
                  <a:srgbClr val="B8CCE8"/>
                </a:solidFill>
                <a:latin typeface="Microsoft YaHei"/>
                <a:ea typeface="Microsoft YaHei"/>
              </a:rPr>
              <a:t> · </a:t>
            </a:r>
            <a:r>
              <a:rPr lang="zh-CN" sz="1050">
                <a:solidFill>
                  <a:srgbClr val="B8CCE8"/>
                </a:solidFill>
                <a:latin typeface="Microsoft YaHei"/>
                <a:ea typeface="Microsoft YaHei"/>
              </a:rPr>
              <a:t>协同作用</a:t>
            </a:r>
            <a:endParaRPr/>
          </a:p>
        </p:txBody>
      </p:sp>
      <p:sp>
        <p:nvSpPr>
          <p:cNvPr id="94" name="文本框 93" descr="{&quot;isTemplate&quot;:true,&quot;type&quot;:&quot;text&quot;}"/>
          <p:cNvSpPr txBox="1"/>
          <p:nvPr/>
        </p:nvSpPr>
        <p:spPr>
          <a:xfrm>
            <a:off x="381000" y="8382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协同作用：定义与四种类型</a:t>
            </a:r>
            <a:endParaRPr/>
          </a:p>
        </p:txBody>
      </p:sp>
      <p:sp>
        <p:nvSpPr>
          <p:cNvPr id="95" name="文本框 94" descr="{&quot;isTemplate&quot;:true,&quot;type&quot;:&quot;text&quot;}"/>
          <p:cNvSpPr txBox="1"/>
          <p:nvPr/>
        </p:nvSpPr>
        <p:spPr>
          <a:xfrm>
            <a:off x="381000" y="1266825"/>
            <a:ext cx="11430000"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Synergy: Definition and the Four Types</a:t>
            </a:r>
            <a:r>
              <a:rPr lang="zh-CN" sz="1125">
                <a:solidFill>
                  <a:srgbClr val="8B97A8"/>
                </a:solidFill>
                <a:latin typeface="Microsoft YaHei"/>
                <a:ea typeface="Microsoft YaHei"/>
              </a:rPr>
              <a:t>（</a:t>
            </a:r>
            <a:r>
              <a:rPr lang="en-US" sz="1125">
                <a:solidFill>
                  <a:srgbClr val="8B97A8"/>
                </a:solidFill>
                <a:latin typeface="Microsoft YaHei"/>
                <a:ea typeface="Microsoft YaHei"/>
              </a:rPr>
              <a:t>Ansoff, 1965</a:t>
            </a:r>
            <a:r>
              <a:rPr lang="zh-CN" sz="1125">
                <a:solidFill>
                  <a:srgbClr val="8B97A8"/>
                </a:solidFill>
                <a:latin typeface="Microsoft YaHei"/>
                <a:ea typeface="Microsoft YaHei"/>
              </a:rPr>
              <a:t>）</a:t>
            </a:r>
            <a:endParaRPr/>
          </a:p>
        </p:txBody>
      </p:sp>
      <p:sp>
        <p:nvSpPr>
          <p:cNvPr id="96" name="矩形: 圆角 95"/>
          <p:cNvSpPr/>
          <p:nvPr/>
        </p:nvSpPr>
        <p:spPr>
          <a:xfrm>
            <a:off x="381000" y="1485900"/>
            <a:ext cx="11430000" cy="504825"/>
          </a:xfrm>
          <a:prstGeom prst="roundRect">
            <a:avLst>
              <a:gd name="adj" fmla="val 18868"/>
            </a:avLst>
          </a:prstGeom>
          <a:solidFill>
            <a:srgbClr val="0E3F8C"/>
          </a:solidFill>
          <a:ln/>
        </p:spPr>
        <p:txBody>
          <a:bodyPr/>
          <a:lstStyle/>
          <a:p>
            <a:endParaRPr/>
          </a:p>
        </p:txBody>
      </p:sp>
      <p:sp>
        <p:nvSpPr>
          <p:cNvPr id="97" name="文本框 96" descr="{&quot;isTemplate&quot;:true,&quot;type&quot;:&quot;text&quot;}"/>
          <p:cNvSpPr txBox="1"/>
          <p:nvPr/>
        </p:nvSpPr>
        <p:spPr>
          <a:xfrm>
            <a:off x="628650" y="1609725"/>
            <a:ext cx="5772150" cy="257175"/>
          </a:xfrm>
          <a:prstGeom prst="rect">
            <a:avLst/>
          </a:prstGeom>
        </p:spPr>
        <p:txBody>
          <a:bodyPr wrap="none" lIns="0" tIns="0" rIns="0" bIns="0"/>
          <a:lstStyle/>
          <a:p>
            <a:pPr>
              <a:lnSpc>
                <a:spcPct val="100000"/>
              </a:lnSpc>
            </a:pPr>
            <a:r>
              <a:rPr lang="zh-CN" sz="1650" b="1">
                <a:solidFill>
                  <a:srgbClr val="FFFFFF"/>
                </a:solidFill>
                <a:latin typeface="Microsoft YaHei"/>
                <a:ea typeface="Microsoft YaHei"/>
              </a:rPr>
              <a:t>协同</a:t>
            </a:r>
            <a:r>
              <a:rPr lang="en-US" sz="1650" b="1">
                <a:solidFill>
                  <a:srgbClr val="FFFFFF"/>
                </a:solidFill>
                <a:latin typeface="Microsoft YaHei"/>
                <a:ea typeface="Microsoft YaHei"/>
              </a:rPr>
              <a:t> = </a:t>
            </a:r>
            <a:r>
              <a:rPr lang="zh-CN" sz="1650" b="1">
                <a:solidFill>
                  <a:srgbClr val="FFFFFF"/>
                </a:solidFill>
                <a:latin typeface="Microsoft YaHei"/>
                <a:ea typeface="Microsoft YaHei"/>
              </a:rPr>
              <a:t>共享</a:t>
            </a:r>
            <a:r>
              <a:rPr lang="en-US" sz="1650" b="1">
                <a:solidFill>
                  <a:srgbClr val="FFFFFF"/>
                </a:solidFill>
                <a:latin typeface="Microsoft YaHei"/>
                <a:ea typeface="Microsoft YaHei"/>
              </a:rPr>
              <a:t> → 2 + 2 = 5</a:t>
            </a:r>
            <a:r>
              <a:rPr lang="zh-CN" sz="1650" b="1">
                <a:solidFill>
                  <a:srgbClr val="FFFFFF"/>
                </a:solidFill>
                <a:latin typeface="Microsoft YaHei"/>
                <a:ea typeface="Microsoft YaHei"/>
              </a:rPr>
              <a:t>：整体价值大于各部分独立运作之和</a:t>
            </a:r>
            <a:endParaRPr/>
          </a:p>
        </p:txBody>
      </p:sp>
      <p:sp>
        <p:nvSpPr>
          <p:cNvPr id="98" name="文本框 97" descr="{&quot;isTemplate&quot;:true,&quot;type&quot;:&quot;text&quot;}"/>
          <p:cNvSpPr txBox="1"/>
          <p:nvPr/>
        </p:nvSpPr>
        <p:spPr>
          <a:xfrm>
            <a:off x="9648825" y="1657350"/>
            <a:ext cx="1914525" cy="171450"/>
          </a:xfrm>
          <a:prstGeom prst="rect">
            <a:avLst/>
          </a:prstGeom>
        </p:spPr>
        <p:txBody>
          <a:bodyPr wrap="none" lIns="0" tIns="0" rIns="0" bIns="0"/>
          <a:lstStyle/>
          <a:p>
            <a:pPr>
              <a:lnSpc>
                <a:spcPct val="100000"/>
              </a:lnSpc>
            </a:pPr>
            <a:r>
              <a:rPr lang="zh-CN" sz="1125">
                <a:solidFill>
                  <a:srgbClr val="B8CCE8"/>
                </a:solidFill>
                <a:latin typeface="Microsoft YaHei"/>
                <a:ea typeface="Microsoft YaHei"/>
              </a:rPr>
              <a:t>安索夫《公司战略》（</a:t>
            </a:r>
            <a:r>
              <a:rPr lang="en-US" sz="1125">
                <a:solidFill>
                  <a:srgbClr val="B8CCE8"/>
                </a:solidFill>
                <a:latin typeface="Microsoft YaHei"/>
                <a:ea typeface="Microsoft YaHei"/>
              </a:rPr>
              <a:t>1965</a:t>
            </a:r>
            <a:r>
              <a:rPr lang="zh-CN" sz="1125">
                <a:solidFill>
                  <a:srgbClr val="B8CCE8"/>
                </a:solidFill>
                <a:latin typeface="Microsoft YaHei"/>
                <a:ea typeface="Microsoft YaHei"/>
              </a:rPr>
              <a:t>）</a:t>
            </a:r>
            <a:endParaRPr/>
          </a:p>
        </p:txBody>
      </p:sp>
      <p:sp>
        <p:nvSpPr>
          <p:cNvPr id="99" name="矩形: 圆角 98"/>
          <p:cNvSpPr/>
          <p:nvPr/>
        </p:nvSpPr>
        <p:spPr>
          <a:xfrm>
            <a:off x="381000" y="2124075"/>
            <a:ext cx="5638800" cy="2047875"/>
          </a:xfrm>
          <a:prstGeom prst="roundRect">
            <a:avLst>
              <a:gd name="adj" fmla="val 5581"/>
            </a:avLst>
          </a:prstGeom>
          <a:solidFill>
            <a:srgbClr val="FFFFFF"/>
          </a:solidFill>
          <a:ln w="12700">
            <a:solidFill>
              <a:srgbClr val="D6DCE5"/>
            </a:solidFill>
            <a:prstDash val="solid"/>
          </a:ln>
        </p:spPr>
        <p:txBody>
          <a:bodyPr/>
          <a:lstStyle/>
          <a:p>
            <a:endParaRPr/>
          </a:p>
        </p:txBody>
      </p:sp>
      <p:sp>
        <p:nvSpPr>
          <p:cNvPr id="100" name="矩形: 圆角 99"/>
          <p:cNvSpPr/>
          <p:nvPr/>
        </p:nvSpPr>
        <p:spPr>
          <a:xfrm>
            <a:off x="609600" y="2314575"/>
            <a:ext cx="495300" cy="495300"/>
          </a:xfrm>
          <a:prstGeom prst="roundRect">
            <a:avLst>
              <a:gd name="adj" fmla="val 23077"/>
            </a:avLst>
          </a:prstGeom>
          <a:solidFill>
            <a:srgbClr val="E8EFF8"/>
          </a:solidFill>
          <a:ln/>
        </p:spPr>
        <p:txBody>
          <a:bodyPr/>
          <a:lstStyle/>
          <a:p>
            <a:endParaRPr/>
          </a:p>
        </p:txBody>
      </p:sp>
      <p:pic>
        <p:nvPicPr>
          <p:cNvPr id="101" name="图形 10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3425" y="2438400"/>
            <a:ext cx="247650" cy="247650"/>
          </a:xfrm>
          <a:prstGeom prst="rect">
            <a:avLst/>
          </a:prstGeom>
          <a:ln/>
        </p:spPr>
      </p:pic>
      <p:sp>
        <p:nvSpPr>
          <p:cNvPr id="102" name="文本框 101" descr="{&quot;isTemplate&quot;:true,&quot;type&quot;:&quot;text&quot;}"/>
          <p:cNvSpPr txBox="1"/>
          <p:nvPr/>
        </p:nvSpPr>
        <p:spPr>
          <a:xfrm>
            <a:off x="1238250" y="2428875"/>
            <a:ext cx="91440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销售协同</a:t>
            </a:r>
            <a:endParaRPr/>
          </a:p>
        </p:txBody>
      </p:sp>
      <p:sp>
        <p:nvSpPr>
          <p:cNvPr id="103" name="文本框 102" descr="{&quot;isTemplate&quot;:true,&quot;type&quot;:&quot;text&quot;}"/>
          <p:cNvSpPr txBox="1"/>
          <p:nvPr/>
        </p:nvSpPr>
        <p:spPr>
          <a:xfrm>
            <a:off x="609600" y="2924175"/>
            <a:ext cx="5181600" cy="733425"/>
          </a:xfrm>
          <a:prstGeom prst="rect">
            <a:avLst/>
          </a:prstGeom>
        </p:spPr>
        <p:txBody>
          <a:bodyPr wrap="square" lIns="0" tIns="0" rIns="0" bIns="0">
            <a:normAutofit/>
          </a:bodyPr>
          <a:lstStyle/>
          <a:p>
            <a:pPr>
              <a:lnSpc>
                <a:spcPct val="160000"/>
              </a:lnSpc>
            </a:pPr>
            <a:r>
              <a:rPr lang="zh-CN" sz="1500">
                <a:solidFill>
                  <a:srgbClr val="1A2230"/>
                </a:solidFill>
                <a:latin typeface="Microsoft YaHei"/>
                <a:ea typeface="Microsoft YaHei"/>
              </a:rPr>
              <a:t>共享分销渠道、客户群、品牌与销售队伍，一份渠道费用撬动多条产品线。</a:t>
            </a:r>
            <a:endParaRPr/>
          </a:p>
        </p:txBody>
      </p:sp>
      <p:sp>
        <p:nvSpPr>
          <p:cNvPr id="104" name="矩形: 圆角 103"/>
          <p:cNvSpPr/>
          <p:nvPr/>
        </p:nvSpPr>
        <p:spPr>
          <a:xfrm>
            <a:off x="609600" y="3657600"/>
            <a:ext cx="5181600" cy="323850"/>
          </a:xfrm>
          <a:prstGeom prst="roundRect">
            <a:avLst>
              <a:gd name="adj" fmla="val 17647"/>
            </a:avLst>
          </a:prstGeom>
          <a:solidFill>
            <a:srgbClr val="F7F9FC"/>
          </a:solidFill>
          <a:ln/>
        </p:spPr>
        <p:txBody>
          <a:bodyPr/>
          <a:lstStyle/>
          <a:p>
            <a:endParaRPr/>
          </a:p>
        </p:txBody>
      </p:sp>
      <p:sp>
        <p:nvSpPr>
          <p:cNvPr id="105" name="文本框 104" descr="{&quot;isTemplate&quot;:true,&quot;type&quot;:&quot;text&quot;}"/>
          <p:cNvSpPr txBox="1"/>
          <p:nvPr/>
        </p:nvSpPr>
        <p:spPr>
          <a:xfrm>
            <a:off x="742950" y="3733800"/>
            <a:ext cx="4914900" cy="171450"/>
          </a:xfrm>
          <a:prstGeom prst="rect">
            <a:avLst/>
          </a:prstGeom>
        </p:spPr>
        <p:txBody>
          <a:bodyPr wrap="none" lIns="0" tIns="0" rIns="0" bIns="0"/>
          <a:lstStyle/>
          <a:p>
            <a:pPr>
              <a:lnSpc>
                <a:spcPct val="100000"/>
              </a:lnSpc>
            </a:pPr>
            <a:r>
              <a:rPr lang="zh-CN" sz="1125">
                <a:solidFill>
                  <a:srgbClr val="4A5568"/>
                </a:solidFill>
                <a:latin typeface="Microsoft YaHei"/>
                <a:ea typeface="Microsoft YaHei"/>
              </a:rPr>
              <a:t>例：小米将品牌与渠道延伸至生态链产品</a:t>
            </a:r>
            <a:endParaRPr/>
          </a:p>
        </p:txBody>
      </p:sp>
      <p:sp>
        <p:nvSpPr>
          <p:cNvPr id="106" name="矩形: 圆角 105"/>
          <p:cNvSpPr/>
          <p:nvPr/>
        </p:nvSpPr>
        <p:spPr>
          <a:xfrm>
            <a:off x="6172200" y="2124075"/>
            <a:ext cx="5638800" cy="2047875"/>
          </a:xfrm>
          <a:prstGeom prst="roundRect">
            <a:avLst>
              <a:gd name="adj" fmla="val 5581"/>
            </a:avLst>
          </a:prstGeom>
          <a:solidFill>
            <a:srgbClr val="FFFFFF"/>
          </a:solidFill>
          <a:ln w="12700">
            <a:solidFill>
              <a:srgbClr val="D6DCE5"/>
            </a:solidFill>
            <a:prstDash val="solid"/>
          </a:ln>
        </p:spPr>
        <p:txBody>
          <a:bodyPr/>
          <a:lstStyle/>
          <a:p>
            <a:endParaRPr/>
          </a:p>
        </p:txBody>
      </p:sp>
      <p:sp>
        <p:nvSpPr>
          <p:cNvPr id="107" name="矩形: 圆角 106"/>
          <p:cNvSpPr/>
          <p:nvPr/>
        </p:nvSpPr>
        <p:spPr>
          <a:xfrm>
            <a:off x="6400800" y="2314575"/>
            <a:ext cx="495300" cy="495300"/>
          </a:xfrm>
          <a:prstGeom prst="roundRect">
            <a:avLst>
              <a:gd name="adj" fmla="val 23077"/>
            </a:avLst>
          </a:prstGeom>
          <a:solidFill>
            <a:srgbClr val="E8EFF8"/>
          </a:solidFill>
          <a:ln/>
        </p:spPr>
        <p:txBody>
          <a:bodyPr/>
          <a:lstStyle/>
          <a:p>
            <a:endParaRPr/>
          </a:p>
        </p:txBody>
      </p:sp>
      <p:pic>
        <p:nvPicPr>
          <p:cNvPr id="108" name="图形 107"/>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24625" y="2438400"/>
            <a:ext cx="247650" cy="247650"/>
          </a:xfrm>
          <a:prstGeom prst="rect">
            <a:avLst/>
          </a:prstGeom>
          <a:ln/>
        </p:spPr>
      </p:pic>
      <p:sp>
        <p:nvSpPr>
          <p:cNvPr id="109" name="文本框 108" descr="{&quot;isTemplate&quot;:true,&quot;type&quot;:&quot;text&quot;}"/>
          <p:cNvSpPr txBox="1"/>
          <p:nvPr/>
        </p:nvSpPr>
        <p:spPr>
          <a:xfrm>
            <a:off x="7029450" y="2428875"/>
            <a:ext cx="91440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运营协同</a:t>
            </a:r>
            <a:endParaRPr/>
          </a:p>
        </p:txBody>
      </p:sp>
      <p:sp>
        <p:nvSpPr>
          <p:cNvPr id="110" name="文本框 109" descr="{&quot;isTemplate&quot;:true,&quot;type&quot;:&quot;text&quot;}"/>
          <p:cNvSpPr txBox="1"/>
          <p:nvPr/>
        </p:nvSpPr>
        <p:spPr>
          <a:xfrm>
            <a:off x="6400800" y="2924175"/>
            <a:ext cx="5181600" cy="733425"/>
          </a:xfrm>
          <a:prstGeom prst="rect">
            <a:avLst/>
          </a:prstGeom>
        </p:spPr>
        <p:txBody>
          <a:bodyPr wrap="square" lIns="0" tIns="0" rIns="0" bIns="0">
            <a:normAutofit/>
          </a:bodyPr>
          <a:lstStyle/>
          <a:p>
            <a:pPr>
              <a:lnSpc>
                <a:spcPct val="160000"/>
              </a:lnSpc>
            </a:pPr>
            <a:r>
              <a:rPr lang="zh-CN" sz="1500">
                <a:solidFill>
                  <a:srgbClr val="1A2230"/>
                </a:solidFill>
                <a:latin typeface="Microsoft YaHei"/>
                <a:ea typeface="Microsoft YaHei"/>
              </a:rPr>
              <a:t>共享采购、产能与物流体系，摊薄单位成本，形成规模与范围经济。</a:t>
            </a:r>
            <a:endParaRPr/>
          </a:p>
        </p:txBody>
      </p:sp>
      <p:sp>
        <p:nvSpPr>
          <p:cNvPr id="111" name="矩形: 圆角 110"/>
          <p:cNvSpPr/>
          <p:nvPr/>
        </p:nvSpPr>
        <p:spPr>
          <a:xfrm>
            <a:off x="6400800" y="3657600"/>
            <a:ext cx="5181600" cy="323850"/>
          </a:xfrm>
          <a:prstGeom prst="roundRect">
            <a:avLst>
              <a:gd name="adj" fmla="val 17647"/>
            </a:avLst>
          </a:prstGeom>
          <a:solidFill>
            <a:srgbClr val="F7F9FC"/>
          </a:solidFill>
          <a:ln/>
        </p:spPr>
        <p:txBody>
          <a:bodyPr/>
          <a:lstStyle/>
          <a:p>
            <a:endParaRPr/>
          </a:p>
        </p:txBody>
      </p:sp>
      <p:sp>
        <p:nvSpPr>
          <p:cNvPr id="112" name="文本框 111" descr="{&quot;isTemplate&quot;:true,&quot;type&quot;:&quot;text&quot;}"/>
          <p:cNvSpPr txBox="1"/>
          <p:nvPr/>
        </p:nvSpPr>
        <p:spPr>
          <a:xfrm>
            <a:off x="6534150" y="3733800"/>
            <a:ext cx="4914900" cy="171450"/>
          </a:xfrm>
          <a:prstGeom prst="rect">
            <a:avLst/>
          </a:prstGeom>
        </p:spPr>
        <p:txBody>
          <a:bodyPr wrap="none" lIns="0" tIns="0" rIns="0" bIns="0"/>
          <a:lstStyle/>
          <a:p>
            <a:pPr>
              <a:lnSpc>
                <a:spcPct val="100000"/>
              </a:lnSpc>
            </a:pPr>
            <a:r>
              <a:rPr lang="zh-CN" sz="1125">
                <a:solidFill>
                  <a:srgbClr val="4A5568"/>
                </a:solidFill>
                <a:latin typeface="Microsoft YaHei"/>
                <a:ea typeface="Microsoft YaHei"/>
              </a:rPr>
              <a:t>例：宝洁共享全球采购与物流网络</a:t>
            </a:r>
            <a:endParaRPr/>
          </a:p>
        </p:txBody>
      </p:sp>
      <p:sp>
        <p:nvSpPr>
          <p:cNvPr id="113" name="矩形: 圆角 112"/>
          <p:cNvSpPr/>
          <p:nvPr/>
        </p:nvSpPr>
        <p:spPr>
          <a:xfrm>
            <a:off x="381000" y="3952875"/>
            <a:ext cx="5638800" cy="1685925"/>
          </a:xfrm>
          <a:prstGeom prst="roundRect">
            <a:avLst>
              <a:gd name="adj" fmla="val 6780"/>
            </a:avLst>
          </a:prstGeom>
          <a:solidFill>
            <a:srgbClr val="FFFFFF"/>
          </a:solidFill>
          <a:ln w="12700">
            <a:solidFill>
              <a:srgbClr val="D6DCE5"/>
            </a:solidFill>
            <a:prstDash val="solid"/>
          </a:ln>
        </p:spPr>
        <p:txBody>
          <a:bodyPr/>
          <a:lstStyle/>
          <a:p>
            <a:endParaRPr/>
          </a:p>
        </p:txBody>
      </p:sp>
      <p:sp>
        <p:nvSpPr>
          <p:cNvPr id="114" name="矩形: 圆角 113"/>
          <p:cNvSpPr/>
          <p:nvPr/>
        </p:nvSpPr>
        <p:spPr>
          <a:xfrm>
            <a:off x="609600" y="4143375"/>
            <a:ext cx="495300" cy="495300"/>
          </a:xfrm>
          <a:prstGeom prst="roundRect">
            <a:avLst>
              <a:gd name="adj" fmla="val 23077"/>
            </a:avLst>
          </a:prstGeom>
          <a:solidFill>
            <a:srgbClr val="E8EFF8"/>
          </a:solidFill>
          <a:ln/>
        </p:spPr>
        <p:txBody>
          <a:bodyPr/>
          <a:lstStyle/>
          <a:p>
            <a:endParaRPr/>
          </a:p>
        </p:txBody>
      </p:sp>
      <p:pic>
        <p:nvPicPr>
          <p:cNvPr id="115" name="图形 11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3425" y="4267200"/>
            <a:ext cx="247650" cy="247650"/>
          </a:xfrm>
          <a:prstGeom prst="rect">
            <a:avLst/>
          </a:prstGeom>
          <a:ln/>
        </p:spPr>
      </p:pic>
      <p:sp>
        <p:nvSpPr>
          <p:cNvPr id="116" name="文本框 115" descr="{&quot;isTemplate&quot;:true,&quot;type&quot;:&quot;text&quot;}"/>
          <p:cNvSpPr txBox="1"/>
          <p:nvPr/>
        </p:nvSpPr>
        <p:spPr>
          <a:xfrm>
            <a:off x="1238250" y="4257675"/>
            <a:ext cx="91440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投资协同</a:t>
            </a:r>
            <a:endParaRPr/>
          </a:p>
        </p:txBody>
      </p:sp>
      <p:sp>
        <p:nvSpPr>
          <p:cNvPr id="117" name="文本框 116" descr="{&quot;isTemplate&quot;:true,&quot;type&quot;:&quot;text&quot;}"/>
          <p:cNvSpPr txBox="1"/>
          <p:nvPr/>
        </p:nvSpPr>
        <p:spPr>
          <a:xfrm>
            <a:off x="609600" y="4752975"/>
            <a:ext cx="5181600" cy="371475"/>
          </a:xfrm>
          <a:prstGeom prst="rect">
            <a:avLst/>
          </a:prstGeom>
        </p:spPr>
        <p:txBody>
          <a:bodyPr wrap="none" lIns="0" tIns="0" rIns="0" bIns="0"/>
          <a:lstStyle/>
          <a:p>
            <a:pPr>
              <a:lnSpc>
                <a:spcPct val="160000"/>
              </a:lnSpc>
            </a:pPr>
            <a:r>
              <a:rPr lang="zh-CN" sz="1500">
                <a:solidFill>
                  <a:srgbClr val="1A2230"/>
                </a:solidFill>
                <a:latin typeface="Microsoft YaHei"/>
                <a:ea typeface="Microsoft YaHei"/>
              </a:rPr>
              <a:t>共享技术平台、设备与现金池，一次研发投入在多处变现。</a:t>
            </a:r>
            <a:endParaRPr/>
          </a:p>
        </p:txBody>
      </p:sp>
      <p:sp>
        <p:nvSpPr>
          <p:cNvPr id="118" name="矩形: 圆角 117"/>
          <p:cNvSpPr/>
          <p:nvPr/>
        </p:nvSpPr>
        <p:spPr>
          <a:xfrm>
            <a:off x="609600" y="5124450"/>
            <a:ext cx="5181600" cy="323850"/>
          </a:xfrm>
          <a:prstGeom prst="roundRect">
            <a:avLst>
              <a:gd name="adj" fmla="val 17647"/>
            </a:avLst>
          </a:prstGeom>
          <a:solidFill>
            <a:srgbClr val="F7F9FC"/>
          </a:solidFill>
          <a:ln/>
        </p:spPr>
        <p:txBody>
          <a:bodyPr/>
          <a:lstStyle/>
          <a:p>
            <a:endParaRPr/>
          </a:p>
        </p:txBody>
      </p:sp>
      <p:sp>
        <p:nvSpPr>
          <p:cNvPr id="119" name="文本框 118" descr="{&quot;isTemplate&quot;:true,&quot;type&quot;:&quot;text&quot;}"/>
          <p:cNvSpPr txBox="1"/>
          <p:nvPr/>
        </p:nvSpPr>
        <p:spPr>
          <a:xfrm>
            <a:off x="742950" y="5200650"/>
            <a:ext cx="4914900" cy="171450"/>
          </a:xfrm>
          <a:prstGeom prst="rect">
            <a:avLst/>
          </a:prstGeom>
        </p:spPr>
        <p:txBody>
          <a:bodyPr wrap="none" lIns="0" tIns="0" rIns="0" bIns="0"/>
          <a:lstStyle/>
          <a:p>
            <a:pPr>
              <a:lnSpc>
                <a:spcPct val="100000"/>
              </a:lnSpc>
            </a:pPr>
            <a:r>
              <a:rPr lang="zh-CN" sz="1125">
                <a:solidFill>
                  <a:srgbClr val="4A5568"/>
                </a:solidFill>
                <a:latin typeface="Microsoft YaHei"/>
                <a:ea typeface="Microsoft YaHei"/>
              </a:rPr>
              <a:t>例：佳能将影像技术跨相机、复印机、医疗设备复用</a:t>
            </a:r>
            <a:endParaRPr/>
          </a:p>
        </p:txBody>
      </p:sp>
      <p:sp>
        <p:nvSpPr>
          <p:cNvPr id="120" name="矩形: 圆角 119"/>
          <p:cNvSpPr/>
          <p:nvPr/>
        </p:nvSpPr>
        <p:spPr>
          <a:xfrm>
            <a:off x="6172200" y="3952875"/>
            <a:ext cx="5638800" cy="2047875"/>
          </a:xfrm>
          <a:prstGeom prst="roundRect">
            <a:avLst>
              <a:gd name="adj" fmla="val 5581"/>
            </a:avLst>
          </a:prstGeom>
          <a:solidFill>
            <a:srgbClr val="FFFFFF"/>
          </a:solidFill>
          <a:ln w="12700">
            <a:solidFill>
              <a:srgbClr val="D6DCE5"/>
            </a:solidFill>
            <a:prstDash val="solid"/>
          </a:ln>
        </p:spPr>
        <p:txBody>
          <a:bodyPr/>
          <a:lstStyle/>
          <a:p>
            <a:endParaRPr/>
          </a:p>
        </p:txBody>
      </p:sp>
      <p:sp>
        <p:nvSpPr>
          <p:cNvPr id="121" name="矩形: 圆角 120"/>
          <p:cNvSpPr/>
          <p:nvPr/>
        </p:nvSpPr>
        <p:spPr>
          <a:xfrm>
            <a:off x="6400800" y="4143375"/>
            <a:ext cx="495300" cy="495300"/>
          </a:xfrm>
          <a:prstGeom prst="roundRect">
            <a:avLst>
              <a:gd name="adj" fmla="val 23077"/>
            </a:avLst>
          </a:prstGeom>
          <a:solidFill>
            <a:srgbClr val="E8EFF8"/>
          </a:solidFill>
          <a:ln/>
        </p:spPr>
        <p:txBody>
          <a:bodyPr/>
          <a:lstStyle/>
          <a:p>
            <a:endParaRPr/>
          </a:p>
        </p:txBody>
      </p:sp>
      <p:pic>
        <p:nvPicPr>
          <p:cNvPr id="122" name="图形 121"/>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24625" y="4267200"/>
            <a:ext cx="247650" cy="247650"/>
          </a:xfrm>
          <a:prstGeom prst="rect">
            <a:avLst/>
          </a:prstGeom>
          <a:ln/>
        </p:spPr>
      </p:pic>
      <p:sp>
        <p:nvSpPr>
          <p:cNvPr id="123" name="文本框 122" descr="{&quot;isTemplate&quot;:true,&quot;type&quot;:&quot;text&quot;}"/>
          <p:cNvSpPr txBox="1"/>
          <p:nvPr/>
        </p:nvSpPr>
        <p:spPr>
          <a:xfrm>
            <a:off x="7029450" y="4257675"/>
            <a:ext cx="91440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管理协同</a:t>
            </a:r>
            <a:endParaRPr/>
          </a:p>
        </p:txBody>
      </p:sp>
      <p:sp>
        <p:nvSpPr>
          <p:cNvPr id="124" name="文本框 123" descr="{&quot;isTemplate&quot;:true,&quot;type&quot;:&quot;text&quot;}"/>
          <p:cNvSpPr txBox="1"/>
          <p:nvPr/>
        </p:nvSpPr>
        <p:spPr>
          <a:xfrm>
            <a:off x="6400800" y="4752975"/>
            <a:ext cx="5181600" cy="733425"/>
          </a:xfrm>
          <a:prstGeom prst="rect">
            <a:avLst/>
          </a:prstGeom>
        </p:spPr>
        <p:txBody>
          <a:bodyPr wrap="square" lIns="0" tIns="0" rIns="0" bIns="0">
            <a:normAutofit/>
          </a:bodyPr>
          <a:lstStyle/>
          <a:p>
            <a:pPr>
              <a:lnSpc>
                <a:spcPct val="160000"/>
              </a:lnSpc>
            </a:pPr>
            <a:r>
              <a:rPr lang="zh-CN" sz="1500">
                <a:solidFill>
                  <a:srgbClr val="1A2230"/>
                </a:solidFill>
                <a:latin typeface="Microsoft YaHei"/>
                <a:ea typeface="Microsoft YaHei"/>
              </a:rPr>
              <a:t>共享管理经验、制度与流程，把一个战场学到的东西带到另一个战场。</a:t>
            </a:r>
            <a:endParaRPr/>
          </a:p>
        </p:txBody>
      </p:sp>
      <p:sp>
        <p:nvSpPr>
          <p:cNvPr id="125" name="矩形: 圆角 124"/>
          <p:cNvSpPr/>
          <p:nvPr/>
        </p:nvSpPr>
        <p:spPr>
          <a:xfrm>
            <a:off x="6400800" y="5486400"/>
            <a:ext cx="5181600" cy="323850"/>
          </a:xfrm>
          <a:prstGeom prst="roundRect">
            <a:avLst>
              <a:gd name="adj" fmla="val 17647"/>
            </a:avLst>
          </a:prstGeom>
          <a:solidFill>
            <a:srgbClr val="F7F9FC"/>
          </a:solidFill>
          <a:ln/>
        </p:spPr>
        <p:txBody>
          <a:bodyPr/>
          <a:lstStyle/>
          <a:p>
            <a:endParaRPr/>
          </a:p>
        </p:txBody>
      </p:sp>
      <p:sp>
        <p:nvSpPr>
          <p:cNvPr id="126" name="文本框 125" descr="{&quot;isTemplate&quot;:true,&quot;type&quot;:&quot;text&quot;}"/>
          <p:cNvSpPr txBox="1"/>
          <p:nvPr/>
        </p:nvSpPr>
        <p:spPr>
          <a:xfrm>
            <a:off x="6534150" y="5562600"/>
            <a:ext cx="4914900" cy="171450"/>
          </a:xfrm>
          <a:prstGeom prst="rect">
            <a:avLst/>
          </a:prstGeom>
        </p:spPr>
        <p:txBody>
          <a:bodyPr wrap="none" lIns="0" tIns="0" rIns="0" bIns="0"/>
          <a:lstStyle/>
          <a:p>
            <a:pPr>
              <a:lnSpc>
                <a:spcPct val="100000"/>
              </a:lnSpc>
            </a:pPr>
            <a:r>
              <a:rPr lang="zh-CN" sz="1125">
                <a:solidFill>
                  <a:srgbClr val="4A5568"/>
                </a:solidFill>
                <a:latin typeface="Microsoft YaHei"/>
                <a:ea typeface="Microsoft YaHei"/>
              </a:rPr>
              <a:t>例：华为将</a:t>
            </a:r>
            <a:r>
              <a:rPr lang="en-US" sz="1125">
                <a:solidFill>
                  <a:srgbClr val="4A5568"/>
                </a:solidFill>
                <a:latin typeface="Microsoft YaHei"/>
                <a:ea typeface="Microsoft YaHei"/>
              </a:rPr>
              <a:t> IPD </a:t>
            </a:r>
            <a:r>
              <a:rPr lang="zh-CN" sz="1125">
                <a:solidFill>
                  <a:srgbClr val="4A5568"/>
                </a:solidFill>
                <a:latin typeface="Microsoft YaHei"/>
                <a:ea typeface="Microsoft YaHei"/>
              </a:rPr>
              <a:t>研发流程复制到各产品线</a:t>
            </a:r>
            <a:endParaRPr/>
          </a:p>
        </p:txBody>
      </p:sp>
      <p:sp>
        <p:nvSpPr>
          <p:cNvPr id="127" name="矩形: 圆角 126"/>
          <p:cNvSpPr/>
          <p:nvPr/>
        </p:nvSpPr>
        <p:spPr>
          <a:xfrm>
            <a:off x="438150" y="5772150"/>
            <a:ext cx="11430000" cy="495300"/>
          </a:xfrm>
          <a:prstGeom prst="roundRect">
            <a:avLst>
              <a:gd name="adj" fmla="val 15385"/>
            </a:avLst>
          </a:prstGeom>
          <a:solidFill>
            <a:srgbClr val="E8EFF8"/>
          </a:solidFill>
          <a:ln/>
        </p:spPr>
        <p:txBody>
          <a:bodyPr/>
          <a:lstStyle/>
          <a:p>
            <a:endParaRPr/>
          </a:p>
        </p:txBody>
      </p:sp>
      <p:sp>
        <p:nvSpPr>
          <p:cNvPr id="128" name="任意多边形: 形状 127"/>
          <p:cNvSpPr/>
          <p:nvPr/>
        </p:nvSpPr>
        <p:spPr>
          <a:xfrm>
            <a:off x="438150" y="5772150"/>
            <a:ext cx="11430000" cy="495300"/>
          </a:xfrm>
          <a:custGeom>
            <a:avLst/>
            <a:gdLst/>
            <a:ahLst/>
            <a:cxnLst/>
            <a:rect l="0" t="0" r="0" b="0"/>
            <a:pathLst>
              <a:path w="1200" h="52">
                <a:moveTo>
                  <a:pt x="8" y="0"/>
                </a:moveTo>
                <a:cubicBezTo>
                  <a:pt x="7" y="0"/>
                  <a:pt x="6" y="1"/>
                  <a:pt x="6" y="2"/>
                </a:cubicBezTo>
                <a:lnTo>
                  <a:pt x="6" y="50"/>
                </a:lnTo>
                <a:cubicBezTo>
                  <a:pt x="6" y="51"/>
                  <a:pt x="7" y="52"/>
                  <a:pt x="8" y="52"/>
                </a:cubicBezTo>
                <a:cubicBezTo>
                  <a:pt x="3" y="52"/>
                  <a:pt x="0" y="48"/>
                  <a:pt x="0" y="44"/>
                </a:cubicBezTo>
                <a:lnTo>
                  <a:pt x="0" y="8"/>
                </a:lnTo>
                <a:cubicBezTo>
                  <a:pt x="0" y="4"/>
                  <a:pt x="4" y="0"/>
                  <a:pt x="8" y="0"/>
                </a:cubicBezTo>
                <a:close/>
              </a:path>
            </a:pathLst>
          </a:custGeom>
          <a:solidFill>
            <a:srgbClr val="1E4FA8"/>
          </a:solidFill>
          <a:ln/>
        </p:spPr>
        <p:txBody>
          <a:bodyPr/>
          <a:lstStyle/>
          <a:p>
            <a:endParaRPr/>
          </a:p>
        </p:txBody>
      </p:sp>
      <p:sp>
        <p:nvSpPr>
          <p:cNvPr id="129" name="文本框 128" descr="{&quot;isTemplate&quot;:true,&quot;type&quot;:&quot;text&quot;}"/>
          <p:cNvSpPr txBox="1"/>
          <p:nvPr/>
        </p:nvSpPr>
        <p:spPr>
          <a:xfrm>
            <a:off x="685800" y="5895975"/>
            <a:ext cx="10877550" cy="247650"/>
          </a:xfrm>
          <a:prstGeom prst="rect">
            <a:avLst/>
          </a:prstGeom>
        </p:spPr>
        <p:txBody>
          <a:bodyPr wrap="none" lIns="0" tIns="0" rIns="0" bIns="0"/>
          <a:lstStyle/>
          <a:p>
            <a:pPr>
              <a:lnSpc>
                <a:spcPct val="100000"/>
              </a:lnSpc>
            </a:pPr>
            <a:r>
              <a:rPr lang="zh-CN" sz="1575" b="1">
                <a:solidFill>
                  <a:srgbClr val="0E3F8C"/>
                </a:solidFill>
                <a:latin typeface="Microsoft YaHei"/>
                <a:ea typeface="Microsoft YaHei"/>
              </a:rPr>
              <a:t>判断：协同的本质是让同一份资源在更大范围产生效益——它是资源配置的乘数。</a:t>
            </a:r>
            <a:endParaRPr/>
          </a:p>
        </p:txBody>
      </p:sp>
      <p:sp>
        <p:nvSpPr>
          <p:cNvPr id="130" name="任意多边形: 形状 129"/>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D6DCE5"/>
          </a:solidFill>
          <a:ln/>
        </p:spPr>
        <p:txBody>
          <a:bodyPr/>
          <a:lstStyle/>
          <a:p>
            <a:endParaRPr/>
          </a:p>
        </p:txBody>
      </p:sp>
      <p:sp>
        <p:nvSpPr>
          <p:cNvPr id="131" name="文本框 130" descr="{&quot;isTemplate&quot;:true,&quot;type&quot;:&quot;text&quot;}"/>
          <p:cNvSpPr txBox="1"/>
          <p:nvPr/>
        </p:nvSpPr>
        <p:spPr>
          <a:xfrm>
            <a:off x="381000" y="6572250"/>
            <a:ext cx="18478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企业战略的构成要素</a:t>
            </a:r>
            <a:r>
              <a:rPr lang="en-US" sz="1050">
                <a:solidFill>
                  <a:srgbClr val="8B97A8"/>
                </a:solidFill>
                <a:latin typeface="Microsoft YaHei"/>
                <a:ea typeface="Microsoft YaHei"/>
              </a:rPr>
              <a:t> · </a:t>
            </a:r>
            <a:r>
              <a:rPr lang="zh-CN" sz="1050">
                <a:solidFill>
                  <a:srgbClr val="8B97A8"/>
                </a:solidFill>
                <a:latin typeface="Microsoft YaHei"/>
                <a:ea typeface="Microsoft YaHei"/>
              </a:rPr>
              <a:t>教学课件</a:t>
            </a:r>
            <a:endParaRPr/>
          </a:p>
        </p:txBody>
      </p:sp>
      <p:sp>
        <p:nvSpPr>
          <p:cNvPr id="132" name="文本框 131" descr="{&quot;isTemplate&quot;:true,&quot;type&quot;:&quot;text&quot;}"/>
          <p:cNvSpPr txBox="1"/>
          <p:nvPr/>
        </p:nvSpPr>
        <p:spPr>
          <a:xfrm>
            <a:off x="11353800" y="6572250"/>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13 / 16</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display: 'flex', flexDirection: 'column' }}&gt;&#10;  &lt;Box style={{ height: 72, background: '#0E3F8C', flexDirection: 'row', justifyContent: 'space-between', alignItems: 'center', padding: '0 40px', flexShrink: 0 }}&gt;&#10;    &lt;Text style={{ fontSize: 15, color: '#B8CCE8', letterSpacing: 3 }}&gt;战略管理 · STRATEGIC MANAGEMENT&lt;/Text&gt;&#10;    &lt;Text style={{ fontSize: 14, color: '#B8CCE8' }}&gt;第三章 · 协同作用&lt;/Text&gt;&#10;  &lt;/Box&gt;&#10;  &lt;Box style={{ height: 78, padding: '16px 40px 0 40px', flexDirection: 'column', flexShrink: 0 }}&gt;&#10;    &lt;Text style={{ fontSize: 32, fontWeight: 'bold', color: '#0E3F8C' }}&gt;协同的代价：三类成本与负协同&lt;/Text&gt;&#10;    &lt;Text style={{ fontSize: 15, color: '#8B97A8', marginTop: 6 }}&gt;The Costs of Sharing and Dyssynergy（Porter, 1985）&lt;/Text&gt;&#10;  &lt;/Box&gt;&#10;  &lt;Box style={{ flex: 1, padding: '6px 40px 18px 40px', minHeight: 0, flexDirection: 'row', gap: 26 }}&gt;&#10;    &lt;Box style={{ width: 320, background: '#FDECEB', borderRadius: 12, borderLeft: '8px solid #D9534F', padding: '36px 30px', flexDirection: 'column', flexShrink: 0 }}&gt;&#10;      &lt;Text style={{ fontSize: 14, color: '#D9534F', letterSpacing: 3 }}&gt;COSTS OF SYNERGY&lt;/Text&gt;&#10;      &lt;Text style={{ fontSize: 34, fontWeight: 'bold', color: '#1A2230', marginTop: 16, lineHeight: 1.4 }}&gt;协同不是&lt;br /&gt;免费的&lt;/Text&gt;&#10;      &lt;Box style={{ width: 56, height: 3, background: '#D9534F', marginTop: 24 }} /&gt;&#10;      &lt;Text style={{ fontSize: 16, color: '#4A5568', lineHeight: 1.8, marginTop: 24 }}&gt;波特《竞争优势》（1985）：共享在带来收益的同时，必然产生三类成本；当成本超过收益，协同变成负协同。&lt;/Text&gt;&#10;      &lt;Box style={{ flex: 1 }} /&gt;&#10;      &lt;Box style={{ background: '#FFFFFF', borderRadius: 14, padding: '6px 18px', alignSelf: 'flex-start' }}&gt;&#10;        &lt;Text style={{ fontSize: 14, color: '#D9534F' }}&gt;负协同警示 · 2+2=3&lt;/Text&gt;&#10;      &lt;/Box&gt;&#10;    &lt;/Box&gt;&#10;    &lt;Box style={{ flex: 1, flexDirection: 'column', gap: 14 }}&gt;&#10;      &lt;Box style={{ flex: 1, flexDirection: 'row', gap: 20, background: '#FFFFFF', border: '1px solid #D6DCE5', borderRadius: 10, padding: '18px 24px', alignItems: 'center' }}&gt;&#10;        &lt;Box style={{ width: 52, height: 52, background: '#FDECEB', borderRadius: 12, justifyContent: 'center', alignItems: 'center', flexShrink: 0 }}&gt;&#10;          &lt;FAIcon name='clock' style={{ fill: '#D9534F', width: 26, height: 26 }} /&gt;&#10;        &lt;/Box&gt;&#10;        &lt;Box style={{ flexDirection: 'column', gap: 6 }}&gt;&#10;          &lt;Text style={{ fontSize: 24, fontWeight: 'bold', color: '#0E3F8C' }}&gt;协调成本&lt;/Text&gt;&#10;          &lt;Text style={{ fontSize: 20, color: '#1A2230', lineHeight: 1.6 }}&gt;跨部门沟通与决策链条变长，组织复杂度上升，响应速度下降。&lt;/Text&gt;&#10;        &lt;/Box&gt;&#10;      &lt;/Box&gt;&#10;      &lt;Box style={{ flex: 1, flexDirection: 'row', gap: 20, background: '#FFFFFF', border: '1px solid #D6DCE5', borderRadius: 10, padding: '18px 24px', alignItems: 'center' }}&gt;&#10;        &lt;Box style={{ width: 52, height: 52, background: '#FDECEB', borderRadius: 12, justifyContent: 'center', alignItems: 'center', flexShrink: 0 }}&gt;&#10;          &lt;FAIcon name='comment' style={{ fill: '#D9534F', width: 26, height: 26 }} /&gt;&#10;        &lt;/Box&gt;&#10;        &lt;Box style={{ flexDirection: 'column', gap: 6 }}&gt;&#10;          &lt;Text style={{ fontSize: 24, fontWeight: 'bold', color: '#0E3F8C' }}&gt;妥协成本&lt;/Text&gt;&#10;          &lt;Text style={{ fontSize: 20, color: '#1A2230', lineHeight: 1.6 }}&gt;为兼顾共享各方，方案对谁都不是最优——共享设计往往比独立设计打折扣。&lt;/Text&gt;&#10;        &lt;/Box&gt;&#10;      &lt;/Box&gt;&#10;      &lt;Box style={{ flex: 1, flexDirection: 'row', gap: 20, background: '#FFFFFF', border: '1px solid #D6DCE5', borderRadius: 10, padding: '18px 24px', alignItems: 'center' }}&gt;&#10;        &lt;Box style={{ width: 52, height: 52, background: '#FDECEB', borderRadius: 12, justifyContent: 'center', alignItems: 'center', flexShrink: 0 }}&gt;&#10;          &lt;FAIcon name='lock' style={{ fill: '#D9534F', width: 26, height: 26 }} /&gt;&#10;        &lt;/Box&gt;&#10;        &lt;Box style={{ flexDirection: 'column', gap: 6 }}&gt;&#10;          &lt;Text style={{ fontSize: 24, fontWeight: 'bold', color: '#0E3F8C' }}&gt;刚性成本&lt;/Text&gt;&#10;          &lt;Text style={{ fontSize: 20, color: '#1A2230', lineHeight: 1.6 }}&gt;共享资产与共享承诺难以快速调整，业务退出与转向的代价显著上升。&lt;/Text&gt;&#10;        &lt;/Box&gt;&#10;      &lt;/Box&gt;&#10;      &lt;Box style={{ background: '#FDECEB', borderLeft: '6px solid #D9534F', borderRadius: 8, padding: '14px 24px' }}&gt;&#10;        &lt;Text style={{ fontSize: 19, color: '#1A2230', lineHeight: 1.6 }}&gt;&lt;span style={{ fontWeight: 'bold', color: '#D9534F' }}&gt;负协同实例&lt;/span&gt;：戴姆勒-克莱斯勒 1998 年合并预期共享平台与零部件，2007 年拆分；花旗集团“交叉销售”落空，2009 年起拆分剥离。协同必须落到相对竞争者的成本或差异化优势上，否则只是内部自娱。&lt;/Text&gt;&#10;      &lt;/Box&gt;&#10;    &lt;/Box&gt;&#10;  &lt;/Box&gt;&#10;  &lt;Box style={{ height: 44, borderTop: '1px solid #D6DCE5', flexDirection: 'row', justifyContent: 'space-between', alignItems: 'center', padding: '0 40px', flexShrink: 0 }}&gt;&#10;    &lt;Text style={{ fontSize: 14, color: '#8B97A8' }}&gt;企业战略的构成要素 · 教学课件&lt;/Text&gt;&#10;    &lt;Text style={{ fontSize: 14, color: '#0E3F8C' }}&gt;14 / 16&lt;/Text&gt;&#10;  &lt;/Box&gt;&#10;&lt;/Slide&gt;"/>
        <p:cNvGrpSpPr/>
        <p:nvPr/>
      </p:nvGrpSpPr>
      <p:grpSpPr>
        <a:xfrm>
          <a:off x="0" y="0"/>
          <a:ext cx="0" cy="0"/>
          <a:chOff x="0" y="0"/>
          <a:chExt cx="0" cy="0"/>
        </a:xfrm>
      </p:grpSpPr>
      <p:sp>
        <p:nvSpPr>
          <p:cNvPr id="134" name="矩形 133"/>
          <p:cNvSpPr/>
          <p:nvPr/>
        </p:nvSpPr>
        <p:spPr>
          <a:xfrm>
            <a:off x="0" y="0"/>
            <a:ext cx="12192000" cy="6858000"/>
          </a:xfrm>
          <a:prstGeom prst="rect">
            <a:avLst/>
          </a:prstGeom>
          <a:solidFill>
            <a:srgbClr val="FFFFFF"/>
          </a:solidFill>
          <a:ln/>
        </p:spPr>
        <p:txBody>
          <a:bodyPr/>
          <a:lstStyle/>
          <a:p>
            <a:endParaRPr/>
          </a:p>
        </p:txBody>
      </p:sp>
      <p:sp>
        <p:nvSpPr>
          <p:cNvPr id="135" name="矩形 134"/>
          <p:cNvSpPr/>
          <p:nvPr/>
        </p:nvSpPr>
        <p:spPr>
          <a:xfrm>
            <a:off x="0" y="0"/>
            <a:ext cx="12192000" cy="685800"/>
          </a:xfrm>
          <a:prstGeom prst="rect">
            <a:avLst/>
          </a:prstGeom>
          <a:solidFill>
            <a:srgbClr val="0E3F8C"/>
          </a:solidFill>
          <a:ln/>
        </p:spPr>
        <p:txBody>
          <a:bodyPr/>
          <a:lstStyle/>
          <a:p>
            <a:endParaRPr/>
          </a:p>
        </p:txBody>
      </p:sp>
      <p:sp>
        <p:nvSpPr>
          <p:cNvPr id="136" name="文本框 135"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B8CCE8"/>
                </a:solidFill>
                <a:latin typeface="Microsoft YaHei"/>
                <a:ea typeface="Microsoft YaHei"/>
              </a:rPr>
              <a:t>战略管理</a:t>
            </a:r>
            <a:r>
              <a:rPr lang="en-US" sz="1125" spc="225">
                <a:solidFill>
                  <a:srgbClr val="B8CCE8"/>
                </a:solidFill>
                <a:latin typeface="Microsoft YaHei"/>
                <a:ea typeface="Microsoft YaHei"/>
              </a:rPr>
              <a:t> · STRATEGIC MANAGEMENT</a:t>
            </a:r>
            <a:endParaRPr/>
          </a:p>
        </p:txBody>
      </p:sp>
      <p:sp>
        <p:nvSpPr>
          <p:cNvPr id="137" name="文本框 136" descr="{&quot;isTemplate&quot;:true,&quot;type&quot;:&quot;text&quot;}"/>
          <p:cNvSpPr txBox="1"/>
          <p:nvPr/>
        </p:nvSpPr>
        <p:spPr>
          <a:xfrm>
            <a:off x="10763250" y="266700"/>
            <a:ext cx="1047750" cy="161925"/>
          </a:xfrm>
          <a:prstGeom prst="rect">
            <a:avLst/>
          </a:prstGeom>
        </p:spPr>
        <p:txBody>
          <a:bodyPr wrap="none" lIns="0" tIns="0" rIns="0" bIns="0"/>
          <a:lstStyle/>
          <a:p>
            <a:pPr>
              <a:lnSpc>
                <a:spcPct val="100000"/>
              </a:lnSpc>
            </a:pPr>
            <a:r>
              <a:rPr lang="zh-CN" sz="1050">
                <a:solidFill>
                  <a:srgbClr val="B8CCE8"/>
                </a:solidFill>
                <a:latin typeface="Microsoft YaHei"/>
                <a:ea typeface="Microsoft YaHei"/>
              </a:rPr>
              <a:t>第三章</a:t>
            </a:r>
            <a:r>
              <a:rPr lang="en-US" sz="1050">
                <a:solidFill>
                  <a:srgbClr val="B8CCE8"/>
                </a:solidFill>
                <a:latin typeface="Microsoft YaHei"/>
                <a:ea typeface="Microsoft YaHei"/>
              </a:rPr>
              <a:t> · </a:t>
            </a:r>
            <a:r>
              <a:rPr lang="zh-CN" sz="1050">
                <a:solidFill>
                  <a:srgbClr val="B8CCE8"/>
                </a:solidFill>
                <a:latin typeface="Microsoft YaHei"/>
                <a:ea typeface="Microsoft YaHei"/>
              </a:rPr>
              <a:t>协同作用</a:t>
            </a:r>
            <a:endParaRPr/>
          </a:p>
        </p:txBody>
      </p:sp>
      <p:sp>
        <p:nvSpPr>
          <p:cNvPr id="138" name="文本框 137" descr="{&quot;isTemplate&quot;:true,&quot;type&quot;:&quot;text&quot;}"/>
          <p:cNvSpPr txBox="1"/>
          <p:nvPr/>
        </p:nvSpPr>
        <p:spPr>
          <a:xfrm>
            <a:off x="381000" y="8382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协同的代价：三类成本与负协同</a:t>
            </a:r>
            <a:endParaRPr/>
          </a:p>
        </p:txBody>
      </p:sp>
      <p:sp>
        <p:nvSpPr>
          <p:cNvPr id="139" name="文本框 138" descr="{&quot;isTemplate&quot;:true,&quot;type&quot;:&quot;text&quot;}"/>
          <p:cNvSpPr txBox="1"/>
          <p:nvPr/>
        </p:nvSpPr>
        <p:spPr>
          <a:xfrm>
            <a:off x="381000" y="1266825"/>
            <a:ext cx="11430000"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The Costs of Sharing and Dyssynergy</a:t>
            </a:r>
            <a:r>
              <a:rPr lang="zh-CN" sz="1125">
                <a:solidFill>
                  <a:srgbClr val="8B97A8"/>
                </a:solidFill>
                <a:latin typeface="Microsoft YaHei"/>
                <a:ea typeface="Microsoft YaHei"/>
              </a:rPr>
              <a:t>（</a:t>
            </a:r>
            <a:r>
              <a:rPr lang="en-US" sz="1125">
                <a:solidFill>
                  <a:srgbClr val="8B97A8"/>
                </a:solidFill>
                <a:latin typeface="Microsoft YaHei"/>
                <a:ea typeface="Microsoft YaHei"/>
              </a:rPr>
              <a:t>Porter, 1985</a:t>
            </a:r>
            <a:r>
              <a:rPr lang="zh-CN" sz="1125">
                <a:solidFill>
                  <a:srgbClr val="8B97A8"/>
                </a:solidFill>
                <a:latin typeface="Microsoft YaHei"/>
                <a:ea typeface="Microsoft YaHei"/>
              </a:rPr>
              <a:t>）</a:t>
            </a:r>
            <a:endParaRPr/>
          </a:p>
        </p:txBody>
      </p:sp>
      <p:sp>
        <p:nvSpPr>
          <p:cNvPr id="140" name="矩形: 圆角 139"/>
          <p:cNvSpPr/>
          <p:nvPr/>
        </p:nvSpPr>
        <p:spPr>
          <a:xfrm>
            <a:off x="457200" y="1485900"/>
            <a:ext cx="2971800" cy="4781550"/>
          </a:xfrm>
          <a:prstGeom prst="roundRect">
            <a:avLst>
              <a:gd name="adj" fmla="val 3846"/>
            </a:avLst>
          </a:prstGeom>
          <a:solidFill>
            <a:srgbClr val="FDECEB"/>
          </a:solidFill>
          <a:ln/>
        </p:spPr>
        <p:txBody>
          <a:bodyPr/>
          <a:lstStyle/>
          <a:p>
            <a:endParaRPr/>
          </a:p>
        </p:txBody>
      </p:sp>
      <p:sp>
        <p:nvSpPr>
          <p:cNvPr id="141" name="任意多边形: 形状 140"/>
          <p:cNvSpPr/>
          <p:nvPr/>
        </p:nvSpPr>
        <p:spPr>
          <a:xfrm>
            <a:off x="457200" y="1485900"/>
            <a:ext cx="2971800" cy="4781550"/>
          </a:xfrm>
          <a:custGeom>
            <a:avLst/>
            <a:gdLst/>
            <a:ahLst/>
            <a:cxnLst/>
            <a:rect l="0" t="0" r="0" b="0"/>
            <a:pathLst>
              <a:path w="312" h="502">
                <a:moveTo>
                  <a:pt x="12" y="0"/>
                </a:moveTo>
                <a:cubicBezTo>
                  <a:pt x="10" y="0"/>
                  <a:pt x="8" y="2"/>
                  <a:pt x="8" y="4"/>
                </a:cubicBezTo>
                <a:lnTo>
                  <a:pt x="8" y="498"/>
                </a:lnTo>
                <a:cubicBezTo>
                  <a:pt x="8" y="500"/>
                  <a:pt x="9" y="502"/>
                  <a:pt x="11" y="502"/>
                </a:cubicBezTo>
                <a:cubicBezTo>
                  <a:pt x="5" y="502"/>
                  <a:pt x="0" y="496"/>
                  <a:pt x="0" y="490"/>
                </a:cubicBezTo>
                <a:lnTo>
                  <a:pt x="0" y="12"/>
                </a:lnTo>
                <a:cubicBezTo>
                  <a:pt x="0" y="5"/>
                  <a:pt x="5" y="0"/>
                  <a:pt x="12" y="0"/>
                </a:cubicBezTo>
                <a:close/>
              </a:path>
            </a:pathLst>
          </a:custGeom>
          <a:solidFill>
            <a:srgbClr val="D9534F"/>
          </a:solidFill>
          <a:ln/>
        </p:spPr>
        <p:txBody>
          <a:bodyPr/>
          <a:lstStyle/>
          <a:p>
            <a:endParaRPr/>
          </a:p>
        </p:txBody>
      </p:sp>
      <p:sp>
        <p:nvSpPr>
          <p:cNvPr id="142" name="文本框 141" descr="{&quot;isTemplate&quot;:true,&quot;type&quot;:&quot;text&quot;}"/>
          <p:cNvSpPr txBox="1"/>
          <p:nvPr/>
        </p:nvSpPr>
        <p:spPr>
          <a:xfrm>
            <a:off x="742950" y="1828800"/>
            <a:ext cx="2400300" cy="161925"/>
          </a:xfrm>
          <a:prstGeom prst="rect">
            <a:avLst/>
          </a:prstGeom>
        </p:spPr>
        <p:txBody>
          <a:bodyPr wrap="none" lIns="0" tIns="0" rIns="0" bIns="0"/>
          <a:lstStyle/>
          <a:p>
            <a:pPr>
              <a:lnSpc>
                <a:spcPct val="100000"/>
              </a:lnSpc>
            </a:pPr>
            <a:r>
              <a:rPr lang="en-US" sz="1050" spc="225">
                <a:solidFill>
                  <a:srgbClr val="D9534F"/>
                </a:solidFill>
                <a:latin typeface="Microsoft YaHei"/>
                <a:ea typeface="Microsoft YaHei"/>
              </a:rPr>
              <a:t>COSTS OF SYNERGY</a:t>
            </a:r>
            <a:endParaRPr/>
          </a:p>
        </p:txBody>
      </p:sp>
      <p:sp>
        <p:nvSpPr>
          <p:cNvPr id="143" name="文本框 142" descr="{&quot;isTemplate&quot;:true,&quot;type&quot;:&quot;text&quot;}"/>
          <p:cNvSpPr txBox="1"/>
          <p:nvPr/>
        </p:nvSpPr>
        <p:spPr>
          <a:xfrm>
            <a:off x="742950" y="2143125"/>
            <a:ext cx="2400300" cy="1095375"/>
          </a:xfrm>
          <a:prstGeom prst="rect">
            <a:avLst/>
          </a:prstGeom>
        </p:spPr>
        <p:txBody>
          <a:bodyPr wrap="none" lIns="0" tIns="0" rIns="0" bIns="0"/>
          <a:lstStyle/>
          <a:p>
            <a:pPr>
              <a:lnSpc>
                <a:spcPct val="140000"/>
              </a:lnSpc>
            </a:pPr>
            <a:r>
              <a:rPr lang="zh-CN" sz="2550" b="1">
                <a:solidFill>
                  <a:srgbClr val="1A2230"/>
                </a:solidFill>
                <a:latin typeface="Microsoft YaHei"/>
                <a:ea typeface="Microsoft YaHei"/>
              </a:rPr>
              <a:t>协同不是</a:t>
            </a:r>
            <a:endParaRPr/>
          </a:p>
          <a:p>
            <a:pPr>
              <a:lnSpc>
                <a:spcPct val="140000"/>
              </a:lnSpc>
            </a:pPr>
            <a:r>
              <a:rPr lang="zh-CN" sz="2550" b="1">
                <a:solidFill>
                  <a:srgbClr val="1A2230"/>
                </a:solidFill>
                <a:latin typeface="Microsoft YaHei"/>
                <a:ea typeface="Microsoft YaHei"/>
              </a:rPr>
              <a:t>免费的</a:t>
            </a:r>
            <a:endParaRPr/>
          </a:p>
        </p:txBody>
      </p:sp>
      <p:sp>
        <p:nvSpPr>
          <p:cNvPr id="144" name="矩形 143"/>
          <p:cNvSpPr/>
          <p:nvPr/>
        </p:nvSpPr>
        <p:spPr>
          <a:xfrm>
            <a:off x="742950" y="3467100"/>
            <a:ext cx="533400" cy="28575"/>
          </a:xfrm>
          <a:prstGeom prst="rect">
            <a:avLst/>
          </a:prstGeom>
          <a:solidFill>
            <a:srgbClr val="D9534F"/>
          </a:solidFill>
          <a:ln/>
        </p:spPr>
        <p:txBody>
          <a:bodyPr/>
          <a:lstStyle/>
          <a:p>
            <a:endParaRPr/>
          </a:p>
        </p:txBody>
      </p:sp>
      <p:sp>
        <p:nvSpPr>
          <p:cNvPr id="145" name="文本框 144" descr="{&quot;isTemplate&quot;:true,&quot;type&quot;:&quot;text&quot;}"/>
          <p:cNvSpPr txBox="1"/>
          <p:nvPr/>
        </p:nvSpPr>
        <p:spPr>
          <a:xfrm>
            <a:off x="742950" y="3724275"/>
            <a:ext cx="2400300" cy="1323975"/>
          </a:xfrm>
          <a:prstGeom prst="rect">
            <a:avLst/>
          </a:prstGeom>
        </p:spPr>
        <p:txBody>
          <a:bodyPr wrap="square" lIns="0" tIns="0" rIns="0" bIns="0">
            <a:normAutofit/>
          </a:bodyPr>
          <a:lstStyle/>
          <a:p>
            <a:pPr>
              <a:lnSpc>
                <a:spcPct val="180000"/>
              </a:lnSpc>
            </a:pPr>
            <a:r>
              <a:rPr lang="zh-CN" sz="1200">
                <a:solidFill>
                  <a:srgbClr val="4A5568"/>
                </a:solidFill>
                <a:latin typeface="Microsoft YaHei"/>
                <a:ea typeface="Microsoft YaHei"/>
              </a:rPr>
              <a:t>波特《竞争优势》（</a:t>
            </a:r>
            <a:r>
              <a:rPr lang="en-US" sz="1200">
                <a:solidFill>
                  <a:srgbClr val="4A5568"/>
                </a:solidFill>
                <a:latin typeface="Microsoft YaHei"/>
                <a:ea typeface="Microsoft YaHei"/>
              </a:rPr>
              <a:t>1985</a:t>
            </a:r>
            <a:r>
              <a:rPr lang="zh-CN" sz="1200">
                <a:solidFill>
                  <a:srgbClr val="4A5568"/>
                </a:solidFill>
                <a:latin typeface="Microsoft YaHei"/>
                <a:ea typeface="Microsoft YaHei"/>
              </a:rPr>
              <a:t>）：共享在带来收益的同时，必然产生三类成本；当成本超过收益，协同变成负协同。</a:t>
            </a:r>
            <a:endParaRPr/>
          </a:p>
        </p:txBody>
      </p:sp>
      <p:sp>
        <p:nvSpPr>
          <p:cNvPr id="146" name="矩形: 圆角 145"/>
          <p:cNvSpPr/>
          <p:nvPr/>
        </p:nvSpPr>
        <p:spPr>
          <a:xfrm>
            <a:off x="742950" y="5648325"/>
            <a:ext cx="1562100" cy="276225"/>
          </a:xfrm>
          <a:prstGeom prst="roundRect">
            <a:avLst>
              <a:gd name="adj" fmla="val 48276"/>
            </a:avLst>
          </a:prstGeom>
          <a:solidFill>
            <a:srgbClr val="FFFFFF"/>
          </a:solidFill>
          <a:ln/>
        </p:spPr>
        <p:txBody>
          <a:bodyPr/>
          <a:lstStyle/>
          <a:p>
            <a:endParaRPr/>
          </a:p>
        </p:txBody>
      </p:sp>
      <p:sp>
        <p:nvSpPr>
          <p:cNvPr id="147" name="文本框 146" descr="{&quot;isTemplate&quot;:true,&quot;type&quot;:&quot;text&quot;}"/>
          <p:cNvSpPr txBox="1"/>
          <p:nvPr/>
        </p:nvSpPr>
        <p:spPr>
          <a:xfrm>
            <a:off x="914400" y="5705475"/>
            <a:ext cx="1219200" cy="161925"/>
          </a:xfrm>
          <a:prstGeom prst="rect">
            <a:avLst/>
          </a:prstGeom>
        </p:spPr>
        <p:txBody>
          <a:bodyPr wrap="none" lIns="0" tIns="0" rIns="0" bIns="0"/>
          <a:lstStyle/>
          <a:p>
            <a:pPr>
              <a:lnSpc>
                <a:spcPct val="100000"/>
              </a:lnSpc>
            </a:pPr>
            <a:r>
              <a:rPr lang="zh-CN" sz="1050">
                <a:solidFill>
                  <a:srgbClr val="D9534F"/>
                </a:solidFill>
                <a:latin typeface="Microsoft YaHei"/>
                <a:ea typeface="Microsoft YaHei"/>
              </a:rPr>
              <a:t>负协同警示</a:t>
            </a:r>
            <a:r>
              <a:rPr lang="en-US" sz="1050">
                <a:solidFill>
                  <a:srgbClr val="D9534F"/>
                </a:solidFill>
                <a:latin typeface="Microsoft YaHei"/>
                <a:ea typeface="Microsoft YaHei"/>
              </a:rPr>
              <a:t> · 2+2=3</a:t>
            </a:r>
            <a:endParaRPr/>
          </a:p>
        </p:txBody>
      </p:sp>
      <p:sp>
        <p:nvSpPr>
          <p:cNvPr id="148" name="矩形: 圆角 147"/>
          <p:cNvSpPr/>
          <p:nvPr/>
        </p:nvSpPr>
        <p:spPr>
          <a:xfrm>
            <a:off x="3676650" y="1485900"/>
            <a:ext cx="8134350" cy="1047750"/>
          </a:xfrm>
          <a:prstGeom prst="roundRect">
            <a:avLst>
              <a:gd name="adj" fmla="val 9091"/>
            </a:avLst>
          </a:prstGeom>
          <a:solidFill>
            <a:srgbClr val="FFFFFF"/>
          </a:solidFill>
          <a:ln w="12700">
            <a:solidFill>
              <a:srgbClr val="D6DCE5"/>
            </a:solidFill>
            <a:prstDash val="solid"/>
          </a:ln>
        </p:spPr>
        <p:txBody>
          <a:bodyPr/>
          <a:lstStyle/>
          <a:p>
            <a:endParaRPr/>
          </a:p>
        </p:txBody>
      </p:sp>
      <p:sp>
        <p:nvSpPr>
          <p:cNvPr id="149" name="矩形: 圆角 148"/>
          <p:cNvSpPr/>
          <p:nvPr/>
        </p:nvSpPr>
        <p:spPr>
          <a:xfrm>
            <a:off x="3905250" y="1762125"/>
            <a:ext cx="495300" cy="495300"/>
          </a:xfrm>
          <a:prstGeom prst="roundRect">
            <a:avLst>
              <a:gd name="adj" fmla="val 23077"/>
            </a:avLst>
          </a:prstGeom>
          <a:solidFill>
            <a:srgbClr val="FDECEB"/>
          </a:solidFill>
          <a:ln/>
        </p:spPr>
        <p:txBody>
          <a:bodyPr/>
          <a:lstStyle/>
          <a:p>
            <a:endParaRPr/>
          </a:p>
        </p:txBody>
      </p:sp>
      <p:pic>
        <p:nvPicPr>
          <p:cNvPr id="150" name="图形 14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29075" y="1885950"/>
            <a:ext cx="247650" cy="247650"/>
          </a:xfrm>
          <a:prstGeom prst="rect">
            <a:avLst/>
          </a:prstGeom>
          <a:ln/>
        </p:spPr>
      </p:pic>
      <p:sp>
        <p:nvSpPr>
          <p:cNvPr id="151" name="文本框 150" descr="{&quot;isTemplate&quot;:true,&quot;type&quot;:&quot;text&quot;}"/>
          <p:cNvSpPr txBox="1"/>
          <p:nvPr/>
        </p:nvSpPr>
        <p:spPr>
          <a:xfrm>
            <a:off x="4591050" y="1657350"/>
            <a:ext cx="533400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协调成本</a:t>
            </a:r>
            <a:endParaRPr/>
          </a:p>
        </p:txBody>
      </p:sp>
      <p:sp>
        <p:nvSpPr>
          <p:cNvPr id="152" name="文本框 151" descr="{&quot;isTemplate&quot;:true,&quot;type&quot;:&quot;text&quot;}"/>
          <p:cNvSpPr txBox="1"/>
          <p:nvPr/>
        </p:nvSpPr>
        <p:spPr>
          <a:xfrm>
            <a:off x="4591050" y="1990725"/>
            <a:ext cx="5334000" cy="371475"/>
          </a:xfrm>
          <a:prstGeom prst="rect">
            <a:avLst/>
          </a:prstGeom>
        </p:spPr>
        <p:txBody>
          <a:bodyPr wrap="none" lIns="0" tIns="0" rIns="0" bIns="0"/>
          <a:lstStyle/>
          <a:p>
            <a:pPr>
              <a:lnSpc>
                <a:spcPct val="160000"/>
              </a:lnSpc>
            </a:pPr>
            <a:r>
              <a:rPr lang="zh-CN" sz="1500">
                <a:solidFill>
                  <a:srgbClr val="1A2230"/>
                </a:solidFill>
                <a:latin typeface="Microsoft YaHei"/>
                <a:ea typeface="Microsoft YaHei"/>
              </a:rPr>
              <a:t>跨部门沟通与决策链条变长，组织复杂度上升，响应速度下降。</a:t>
            </a:r>
            <a:endParaRPr/>
          </a:p>
        </p:txBody>
      </p:sp>
      <p:sp>
        <p:nvSpPr>
          <p:cNvPr id="153" name="矩形: 圆角 152"/>
          <p:cNvSpPr/>
          <p:nvPr/>
        </p:nvSpPr>
        <p:spPr>
          <a:xfrm>
            <a:off x="3676650" y="2667000"/>
            <a:ext cx="8134350" cy="1047750"/>
          </a:xfrm>
          <a:prstGeom prst="roundRect">
            <a:avLst>
              <a:gd name="adj" fmla="val 9091"/>
            </a:avLst>
          </a:prstGeom>
          <a:solidFill>
            <a:srgbClr val="FFFFFF"/>
          </a:solidFill>
          <a:ln w="12700">
            <a:solidFill>
              <a:srgbClr val="D6DCE5"/>
            </a:solidFill>
            <a:prstDash val="solid"/>
          </a:ln>
        </p:spPr>
        <p:txBody>
          <a:bodyPr/>
          <a:lstStyle/>
          <a:p>
            <a:endParaRPr/>
          </a:p>
        </p:txBody>
      </p:sp>
      <p:sp>
        <p:nvSpPr>
          <p:cNvPr id="154" name="矩形: 圆角 153"/>
          <p:cNvSpPr/>
          <p:nvPr/>
        </p:nvSpPr>
        <p:spPr>
          <a:xfrm>
            <a:off x="3905250" y="2943225"/>
            <a:ext cx="495300" cy="495300"/>
          </a:xfrm>
          <a:prstGeom prst="roundRect">
            <a:avLst>
              <a:gd name="adj" fmla="val 23077"/>
            </a:avLst>
          </a:prstGeom>
          <a:solidFill>
            <a:srgbClr val="FDECEB"/>
          </a:solidFill>
          <a:ln/>
        </p:spPr>
        <p:txBody>
          <a:bodyPr/>
          <a:lstStyle/>
          <a:p>
            <a:endParaRPr/>
          </a:p>
        </p:txBody>
      </p:sp>
      <p:pic>
        <p:nvPicPr>
          <p:cNvPr id="155" name="图形 15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29075" y="3067050"/>
            <a:ext cx="247650" cy="247650"/>
          </a:xfrm>
          <a:prstGeom prst="rect">
            <a:avLst/>
          </a:prstGeom>
          <a:ln/>
        </p:spPr>
      </p:pic>
      <p:sp>
        <p:nvSpPr>
          <p:cNvPr id="156" name="文本框 155" descr="{&quot;isTemplate&quot;:true,&quot;type&quot;:&quot;text&quot;}"/>
          <p:cNvSpPr txBox="1"/>
          <p:nvPr/>
        </p:nvSpPr>
        <p:spPr>
          <a:xfrm>
            <a:off x="4591050" y="2838450"/>
            <a:ext cx="651510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妥协成本</a:t>
            </a:r>
            <a:endParaRPr/>
          </a:p>
        </p:txBody>
      </p:sp>
      <p:sp>
        <p:nvSpPr>
          <p:cNvPr id="157" name="文本框 156" descr="{&quot;isTemplate&quot;:true,&quot;type&quot;:&quot;text&quot;}"/>
          <p:cNvSpPr txBox="1"/>
          <p:nvPr/>
        </p:nvSpPr>
        <p:spPr>
          <a:xfrm>
            <a:off x="4591050" y="3171825"/>
            <a:ext cx="6515100" cy="371475"/>
          </a:xfrm>
          <a:prstGeom prst="rect">
            <a:avLst/>
          </a:prstGeom>
        </p:spPr>
        <p:txBody>
          <a:bodyPr wrap="none" lIns="0" tIns="0" rIns="0" bIns="0"/>
          <a:lstStyle/>
          <a:p>
            <a:pPr>
              <a:lnSpc>
                <a:spcPct val="160000"/>
              </a:lnSpc>
            </a:pPr>
            <a:r>
              <a:rPr lang="zh-CN" sz="1500">
                <a:solidFill>
                  <a:srgbClr val="1A2230"/>
                </a:solidFill>
                <a:latin typeface="Microsoft YaHei"/>
                <a:ea typeface="Microsoft YaHei"/>
              </a:rPr>
              <a:t>为兼顾共享各方，方案对谁都不是最优——共享设计往往比独立设计打折扣。</a:t>
            </a:r>
            <a:endParaRPr/>
          </a:p>
        </p:txBody>
      </p:sp>
      <p:sp>
        <p:nvSpPr>
          <p:cNvPr id="158" name="矩形: 圆角 157"/>
          <p:cNvSpPr/>
          <p:nvPr/>
        </p:nvSpPr>
        <p:spPr>
          <a:xfrm>
            <a:off x="3676650" y="3848100"/>
            <a:ext cx="8134350" cy="1047750"/>
          </a:xfrm>
          <a:prstGeom prst="roundRect">
            <a:avLst>
              <a:gd name="adj" fmla="val 9091"/>
            </a:avLst>
          </a:prstGeom>
          <a:solidFill>
            <a:srgbClr val="FFFFFF"/>
          </a:solidFill>
          <a:ln w="12700">
            <a:solidFill>
              <a:srgbClr val="D6DCE5"/>
            </a:solidFill>
            <a:prstDash val="solid"/>
          </a:ln>
        </p:spPr>
        <p:txBody>
          <a:bodyPr/>
          <a:lstStyle/>
          <a:p>
            <a:endParaRPr/>
          </a:p>
        </p:txBody>
      </p:sp>
      <p:sp>
        <p:nvSpPr>
          <p:cNvPr id="159" name="矩形: 圆角 158"/>
          <p:cNvSpPr/>
          <p:nvPr/>
        </p:nvSpPr>
        <p:spPr>
          <a:xfrm>
            <a:off x="3905250" y="4124325"/>
            <a:ext cx="495300" cy="495300"/>
          </a:xfrm>
          <a:prstGeom prst="roundRect">
            <a:avLst>
              <a:gd name="adj" fmla="val 23077"/>
            </a:avLst>
          </a:prstGeom>
          <a:solidFill>
            <a:srgbClr val="FDECEB"/>
          </a:solidFill>
          <a:ln/>
        </p:spPr>
        <p:txBody>
          <a:bodyPr/>
          <a:lstStyle/>
          <a:p>
            <a:endParaRPr/>
          </a:p>
        </p:txBody>
      </p:sp>
      <p:pic>
        <p:nvPicPr>
          <p:cNvPr id="160" name="图形 159"/>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29075" y="4248150"/>
            <a:ext cx="247650" cy="247650"/>
          </a:xfrm>
          <a:prstGeom prst="rect">
            <a:avLst/>
          </a:prstGeom>
          <a:ln/>
        </p:spPr>
      </p:pic>
      <p:sp>
        <p:nvSpPr>
          <p:cNvPr id="161" name="文本框 160" descr="{&quot;isTemplate&quot;:true,&quot;type&quot;:&quot;text&quot;}"/>
          <p:cNvSpPr txBox="1"/>
          <p:nvPr/>
        </p:nvSpPr>
        <p:spPr>
          <a:xfrm>
            <a:off x="4591050" y="4019550"/>
            <a:ext cx="5905500" cy="276225"/>
          </a:xfrm>
          <a:prstGeom prst="rect">
            <a:avLst/>
          </a:prstGeom>
        </p:spPr>
        <p:txBody>
          <a:bodyPr wrap="none" lIns="0" tIns="0" rIns="0" bIns="0"/>
          <a:lstStyle/>
          <a:p>
            <a:pPr>
              <a:lnSpc>
                <a:spcPct val="100000"/>
              </a:lnSpc>
            </a:pPr>
            <a:r>
              <a:rPr lang="zh-CN" sz="1800" b="1">
                <a:solidFill>
                  <a:srgbClr val="0E3F8C"/>
                </a:solidFill>
                <a:latin typeface="Microsoft YaHei"/>
                <a:ea typeface="Microsoft YaHei"/>
              </a:rPr>
              <a:t>刚性成本</a:t>
            </a:r>
            <a:endParaRPr/>
          </a:p>
        </p:txBody>
      </p:sp>
      <p:sp>
        <p:nvSpPr>
          <p:cNvPr id="162" name="文本框 161" descr="{&quot;isTemplate&quot;:true,&quot;type&quot;:&quot;text&quot;}"/>
          <p:cNvSpPr txBox="1"/>
          <p:nvPr/>
        </p:nvSpPr>
        <p:spPr>
          <a:xfrm>
            <a:off x="4591050" y="4352925"/>
            <a:ext cx="5905500" cy="371475"/>
          </a:xfrm>
          <a:prstGeom prst="rect">
            <a:avLst/>
          </a:prstGeom>
        </p:spPr>
        <p:txBody>
          <a:bodyPr wrap="none" lIns="0" tIns="0" rIns="0" bIns="0"/>
          <a:lstStyle/>
          <a:p>
            <a:pPr>
              <a:lnSpc>
                <a:spcPct val="160000"/>
              </a:lnSpc>
            </a:pPr>
            <a:r>
              <a:rPr lang="zh-CN" sz="1500">
                <a:solidFill>
                  <a:srgbClr val="1A2230"/>
                </a:solidFill>
                <a:latin typeface="Microsoft YaHei"/>
                <a:ea typeface="Microsoft YaHei"/>
              </a:rPr>
              <a:t>共享资产与共享承诺难以快速调整，业务退出与转向的代价显著上升。</a:t>
            </a:r>
            <a:endParaRPr/>
          </a:p>
        </p:txBody>
      </p:sp>
      <p:sp>
        <p:nvSpPr>
          <p:cNvPr id="163" name="矩形: 圆角 162"/>
          <p:cNvSpPr/>
          <p:nvPr/>
        </p:nvSpPr>
        <p:spPr>
          <a:xfrm>
            <a:off x="3733800" y="5029200"/>
            <a:ext cx="8134350" cy="1314450"/>
          </a:xfrm>
          <a:prstGeom prst="roundRect">
            <a:avLst>
              <a:gd name="adj" fmla="val 5797"/>
            </a:avLst>
          </a:prstGeom>
          <a:solidFill>
            <a:srgbClr val="FDECEB"/>
          </a:solidFill>
          <a:ln/>
        </p:spPr>
        <p:txBody>
          <a:bodyPr/>
          <a:lstStyle/>
          <a:p>
            <a:endParaRPr/>
          </a:p>
        </p:txBody>
      </p:sp>
      <p:sp>
        <p:nvSpPr>
          <p:cNvPr id="164" name="任意多边形: 形状 163"/>
          <p:cNvSpPr/>
          <p:nvPr/>
        </p:nvSpPr>
        <p:spPr>
          <a:xfrm>
            <a:off x="3733800" y="5029200"/>
            <a:ext cx="8134350" cy="1314450"/>
          </a:xfrm>
          <a:custGeom>
            <a:avLst/>
            <a:gdLst/>
            <a:ahLst/>
            <a:cxnLst/>
            <a:rect l="0" t="0" r="0" b="0"/>
            <a:pathLst>
              <a:path w="854" h="138">
                <a:moveTo>
                  <a:pt x="8" y="0"/>
                </a:moveTo>
                <a:cubicBezTo>
                  <a:pt x="7" y="0"/>
                  <a:pt x="6" y="1"/>
                  <a:pt x="6" y="2"/>
                </a:cubicBezTo>
                <a:lnTo>
                  <a:pt x="6" y="136"/>
                </a:lnTo>
                <a:cubicBezTo>
                  <a:pt x="6" y="137"/>
                  <a:pt x="7" y="138"/>
                  <a:pt x="8" y="138"/>
                </a:cubicBezTo>
                <a:cubicBezTo>
                  <a:pt x="3" y="138"/>
                  <a:pt x="0" y="134"/>
                  <a:pt x="0" y="130"/>
                </a:cubicBezTo>
                <a:lnTo>
                  <a:pt x="0" y="8"/>
                </a:lnTo>
                <a:cubicBezTo>
                  <a:pt x="0" y="4"/>
                  <a:pt x="4" y="0"/>
                  <a:pt x="8" y="0"/>
                </a:cubicBezTo>
                <a:close/>
              </a:path>
            </a:pathLst>
          </a:custGeom>
          <a:solidFill>
            <a:srgbClr val="D9534F"/>
          </a:solidFill>
          <a:ln/>
        </p:spPr>
        <p:txBody>
          <a:bodyPr/>
          <a:lstStyle/>
          <a:p>
            <a:endParaRPr/>
          </a:p>
        </p:txBody>
      </p:sp>
      <p:sp>
        <p:nvSpPr>
          <p:cNvPr id="165" name="文本框 164" descr="{&quot;isTemplate&quot;:true,&quot;type&quot;:&quot;text&quot;}"/>
          <p:cNvSpPr txBox="1"/>
          <p:nvPr/>
        </p:nvSpPr>
        <p:spPr>
          <a:xfrm>
            <a:off x="3962400" y="5162550"/>
            <a:ext cx="7620000" cy="1047750"/>
          </a:xfrm>
          <a:prstGeom prst="rect">
            <a:avLst/>
          </a:prstGeom>
        </p:spPr>
        <p:txBody>
          <a:bodyPr wrap="square" lIns="0" tIns="0" rIns="0" bIns="0">
            <a:normAutofit/>
          </a:bodyPr>
          <a:lstStyle/>
          <a:p>
            <a:pPr>
              <a:lnSpc>
                <a:spcPct val="160000"/>
              </a:lnSpc>
            </a:pPr>
            <a:r>
              <a:rPr lang="zh-CN" sz="1425" b="1" dirty="0">
                <a:solidFill>
                  <a:srgbClr val="D9534F"/>
                </a:solidFill>
                <a:latin typeface="Microsoft YaHei"/>
                <a:ea typeface="Microsoft YaHei"/>
              </a:rPr>
              <a:t>负协同实例</a:t>
            </a:r>
            <a:r>
              <a:rPr lang="zh-CN" sz="1425" dirty="0">
                <a:solidFill>
                  <a:srgbClr val="1A2230"/>
                </a:solidFill>
                <a:latin typeface="Microsoft YaHei"/>
                <a:ea typeface="Microsoft YaHei"/>
              </a:rPr>
              <a:t>：戴姆勒</a:t>
            </a:r>
            <a:r>
              <a:rPr lang="en-US" sz="1425" dirty="0">
                <a:solidFill>
                  <a:srgbClr val="1A2230"/>
                </a:solidFill>
                <a:latin typeface="Microsoft YaHei"/>
                <a:ea typeface="Microsoft YaHei"/>
              </a:rPr>
              <a:t>-</a:t>
            </a:r>
            <a:r>
              <a:rPr lang="zh-CN" sz="1425" dirty="0">
                <a:solidFill>
                  <a:srgbClr val="1A2230"/>
                </a:solidFill>
                <a:latin typeface="Microsoft YaHei"/>
                <a:ea typeface="Microsoft YaHei"/>
              </a:rPr>
              <a:t>克莱斯勒</a:t>
            </a:r>
            <a:r>
              <a:rPr lang="en-US" sz="1425" dirty="0">
                <a:solidFill>
                  <a:srgbClr val="1A2230"/>
                </a:solidFill>
                <a:latin typeface="Microsoft YaHei"/>
                <a:ea typeface="Microsoft YaHei"/>
              </a:rPr>
              <a:t> 1998 </a:t>
            </a:r>
            <a:r>
              <a:rPr lang="zh-CN" sz="1425" dirty="0">
                <a:solidFill>
                  <a:srgbClr val="1A2230"/>
                </a:solidFill>
                <a:latin typeface="Microsoft YaHei"/>
                <a:ea typeface="Microsoft YaHei"/>
              </a:rPr>
              <a:t>年合并预期共享平台与零部件，</a:t>
            </a:r>
            <a:r>
              <a:rPr lang="en-US" sz="1425" dirty="0">
                <a:solidFill>
                  <a:srgbClr val="1A2230"/>
                </a:solidFill>
                <a:latin typeface="Microsoft YaHei"/>
                <a:ea typeface="Microsoft YaHei"/>
              </a:rPr>
              <a:t>2007 </a:t>
            </a:r>
            <a:r>
              <a:rPr lang="zh-CN" sz="1425" dirty="0">
                <a:solidFill>
                  <a:srgbClr val="1A2230"/>
                </a:solidFill>
                <a:latin typeface="Microsoft YaHei"/>
                <a:ea typeface="Microsoft YaHei"/>
              </a:rPr>
              <a:t>年拆分；协同必须落到相对竞争者的成本或差异化优势上，否则只是内部自娱。</a:t>
            </a:r>
            <a:endParaRPr dirty="0"/>
          </a:p>
        </p:txBody>
      </p:sp>
      <p:sp>
        <p:nvSpPr>
          <p:cNvPr id="166" name="任意多边形: 形状 165"/>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D6DCE5"/>
          </a:solidFill>
          <a:ln/>
        </p:spPr>
        <p:txBody>
          <a:bodyPr/>
          <a:lstStyle/>
          <a:p>
            <a:endParaRPr/>
          </a:p>
        </p:txBody>
      </p:sp>
      <p:sp>
        <p:nvSpPr>
          <p:cNvPr id="167" name="文本框 166" descr="{&quot;isTemplate&quot;:true,&quot;type&quot;:&quot;text&quot;}"/>
          <p:cNvSpPr txBox="1"/>
          <p:nvPr/>
        </p:nvSpPr>
        <p:spPr>
          <a:xfrm>
            <a:off x="381000" y="6572250"/>
            <a:ext cx="18478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企业战略的构成要素</a:t>
            </a:r>
            <a:r>
              <a:rPr lang="en-US" sz="1050">
                <a:solidFill>
                  <a:srgbClr val="8B97A8"/>
                </a:solidFill>
                <a:latin typeface="Microsoft YaHei"/>
                <a:ea typeface="Microsoft YaHei"/>
              </a:rPr>
              <a:t> · </a:t>
            </a:r>
            <a:r>
              <a:rPr lang="zh-CN" sz="1050">
                <a:solidFill>
                  <a:srgbClr val="8B97A8"/>
                </a:solidFill>
                <a:latin typeface="Microsoft YaHei"/>
                <a:ea typeface="Microsoft YaHei"/>
              </a:rPr>
              <a:t>教学课件</a:t>
            </a:r>
            <a:endParaRPr/>
          </a:p>
        </p:txBody>
      </p:sp>
      <p:sp>
        <p:nvSpPr>
          <p:cNvPr id="168" name="文本框 167" descr="{&quot;isTemplate&quot;:true,&quot;type&quot;:&quot;text&quot;}"/>
          <p:cNvSpPr txBox="1"/>
          <p:nvPr/>
        </p:nvSpPr>
        <p:spPr>
          <a:xfrm>
            <a:off x="11353800" y="6572250"/>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14 / 16</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display: 'flex', flexDirection: 'column' }}&gt;&#10;  &lt;Box style={{ height: 72, background: '#0E3F8C', flexDirection: 'row', justifyContent: 'space-between', alignItems: 'center', padding: '0 40px', flexShrink: 0 }}&gt;&#10;    &lt;Text style={{ fontSize: 15, color: '#B8CCE8', letterSpacing: 3 }}&gt;战略管理 · STRATEGIC MANAGEMENT&lt;/Text&gt;&#10;    &lt;Text style={{ fontSize: 14, color: '#B8CCE8' }}&gt;第三章 · 协同作用&lt;/Text&gt;&#10;  &lt;/Box&gt;&#10;  &lt;Box style={{ height: 78, padding: '16px 40px 0 40px', flexDirection: 'column', flexShrink: 0 }}&gt;&#10;    &lt;Text style={{ fontSize: 32, fontWeight: 'bold', color: '#0E3F8C' }}&gt;整合：四要素是一条决策链&lt;/Text&gt;&#10;    &lt;Text style={{ fontSize: 15, color: '#8B97A8', marginTop: 6 }}&gt;Putting It Together: The Four Components as a Decision Chain&lt;/Text&gt;&#10;  &lt;/Box&gt;&#10;  &lt;Box style={{ flex: 1, padding: '6px 40px 18px 40px', minHeight: 0, flexDirection: 'column', gap: 16 }}&gt;&#10;    &lt;svg width={1200} height={266} viewBox='0 0 1200 266'&gt;&#10;      &lt;rect x='20' y='30' width='250' height='150' rx='12' fill='#E8EFF8' stroke='#3D7BD9' strokeWidth='1' /&gt;&#10;      &lt;rect x='32' y='44' width='70' height='28' rx='14' fill='#FFFFFF' /&gt;&#10;      &lt;text x='67' y='63' textAnchor='middle' fontSize='14' fill='#1E4FA8' fontFamily='sans-serif'&gt;场地&lt;/text&gt;&#10;      &lt;text x='145' y='108' textAnchor='middle' fontSize='23' fontWeight='bold' fill='#0E3F8C' fontFamily='sans-serif'&gt;经营范围&lt;/text&gt;&#10;      &lt;text x='145' y='142' textAnchor='middle' fontSize='14' fill='#4A5568' fontFamily='sans-serif'&gt;划定产品与市场边界&lt;/text&gt;&#10;      &lt;path d='M270 105 L326 105' stroke='#1E4FA8' strokeWidth='3' fill='none' /&gt;&#10;      &lt;polygon points='336,105 322,98 322,112' fill='#1E4FA8' /&gt;&#10;      &lt;rect x='340' y='30' width='250' height='150' rx='12' fill='#F0F5FC' stroke='#1E4FA8' strokeWidth='2' /&gt;&#10;      &lt;rect x='352' y='44' width='70' height='28' rx='14' fill='#1E4FA8' /&gt;&#10;      &lt;text x='387' y='63' textAnchor='middle' fontSize='14' fill='#FFFFFF' fontFamily='sans-serif'&gt;弹药&lt;/text&gt;&#10;      &lt;text x='465' y='108' textAnchor='middle' fontSize='23' fontWeight='bold' fill='#0E3F8C' fontFamily='sans-serif'&gt;资源配置&lt;/text&gt;&#10;      &lt;text x='465' y='142' textAnchor='middle' fontSize='14' fill='#4A5568' fontFamily='sans-serif'&gt;投多少 · 投到哪&lt;/text&gt;&#10;      &lt;path d='M590 105 L646 105' stroke='#1E4FA8' strokeWidth='3' fill='none' /&gt;&#10;      &lt;polygon points='656,105 642,98 642,112' fill='#1E4FA8' /&gt;&#10;      &lt;rect x='660' y='30' width='250' height='150' rx='12' fill='#E8EFF8' stroke='#3D7BD9' strokeWidth='1' /&gt;&#10;      &lt;rect x='672' y='44' width='70' height='28' rx='14' fill='#FFFFFF' /&gt;&#10;      &lt;text x='707' y='63' textAnchor='middle' fontSize='14' fill='#1E4FA8' fontFamily='sans-serif'&gt;得分&lt;/text&gt;&#10;      &lt;text x='785' y='108' textAnchor='middle' fontSize='23' fontWeight='bold' fill='#0E3F8C' fontFamily='sans-serif'&gt;竞争优势&lt;/text&gt;&#10;      &lt;text x='785' y='142' textAnchor='middle' fontSize='14' fill='#4A5568' fontFamily='sans-serif'&gt;独特的竞争地位&lt;/text&gt;&#10;      &lt;path d='M910 105 L966 105' stroke='#1E4FA8' strokeWidth='3' fill='none' /&gt;&#10;      &lt;polygon points='976,105 962,98 962,112' fill='#1E4FA8' /&gt;&#10;      &lt;rect x='980' y='30' width='250' height='150' rx='12' fill='#F0F5FC' stroke='#1E4FA8' strokeWidth='2' /&gt;&#10;      &lt;rect x='992' y='44' width='70' height='28' rx='14' fill='#1E4FA8' /&gt;&#10;      &lt;text x='1027' y='63' textAnchor='middle' fontSize='14' fill='#FFFFFF' fontFamily='sans-serif'&gt;乘数&lt;/text&gt;&#10;      &lt;text x='1105' y='108' textAnchor='middle' fontSize='23' fontWeight='bold' fill='#0E3F8C' fontFamily='sans-serif'&gt;协同作用&lt;/text&gt;&#10;      &lt;text x='1105' y='142' textAnchor='middle' fontSize='14' fill='#4A5568' fontFamily='sans-serif'&gt;整体大于部分之和&lt;/text&gt;&#10;      &lt;rect x='20' y='202' width='1210' height='48' rx='10' fill='#0E3F8C' /&gt;&#10;      &lt;text x='625' y='231' textAnchor='middle' fontSize='18' fontWeight='bold' fill='#FFFFFF' fontFamily='sans-serif'&gt;资源是存量 · 配置是流量与结构 · 优势是得分 · 协同是乘数 —— 四者错位，战略就散架&lt;/text&gt;&#10;    &lt;/svg&gt;&#10;    &lt;Box style={{ flex: 1, flexDirection: 'row', gap: 16, minHeight: 0 }}&gt;&#10;      &lt;Box style={{ flex: 1, background: '#FFFFFF', border: '1px solid #D6DCE5', borderRadius: 12, padding: '18px 24px', flexDirection: 'column' }}&gt;&#10;        &lt;Box style={{ background: '#E8EFF8', borderRadius: 14, padding: '5px 16px', alignSelf: 'flex-start' }}&gt;&#10;          &lt;Text style={{ fontSize: 14, color: '#1E4FA8' }}&gt;课堂讨论 01&lt;/Text&gt;&#10;        &lt;/Box&gt;&#10;        &lt;Text style={{ fontSize: 22, fontWeight: 'bold', color: '#0E3F8C', marginTop: 10 }}&gt;资源盘点表&lt;/Text&gt;&#10;        &lt;Text style={{ fontSize: 19, color: '#1A2230', lineHeight: 1.6, marginTop: 8 }}&gt;列出现有主要资源，标注“战略重要性 × 当前投入强度”，找出错配项；追问：预算砍一半，你砍哪块？&lt;/Text&gt;&#10;      &lt;/Box&gt;&#10;      &lt;Box style={{ flex: 1, background: '#FFFFFF', border: '1px solid #D6DCE5', borderRadius: 12, padding: '18px 24px', flexDirection: 'column' }}&gt;&#10;        &lt;Box style={{ background: '#E8EFF8', borderRadius: 14, padding: '5px 16px', alignSelf: 'flex-start' }}&gt;&#10;          &lt;Text style={{ fontSize: 14, color: '#1E4FA8' }}&gt;课堂讨论 02&lt;/Text&gt;&#10;        &lt;/Box&gt;&#10;        &lt;Text style={{ fontSize: 22, fontWeight: 'bold', color: '#0E3F8C', marginTop: 10 }}&gt;价值链共享标注&lt;/Text&gt;&#10;        &lt;Text style={{ fontSize: 19, color: '#1A2230', lineHeight: 1.6, marginTop: 8 }}&gt;画出两条业务的价值链，逐环节标注可共享 / 不可共享，再按协调、妥协、刚性三类成本排序。&lt;/Text&gt;&#10;      &lt;/Box&gt;&#10;      &lt;Box style={{ flex: 1, background: '#FFFFFF', border: '1px solid #D6DCE5', borderRadius: 12, padding: '18px 24px', flexDirection: 'column' }}&gt;&#10;        &lt;Box style={{ background: '#E8EFF8', borderRadius: 14, padding: '5px 16px', alignSelf: 'flex-start' }}&gt;&#10;          &lt;Text style={{ fontSize: 14, color: '#1E4FA8' }}&gt;课堂讨论 03&lt;/Text&gt;&#10;        &lt;/Box&gt;&#10;        &lt;Text style={{ fontSize: 22, fontWeight: 'bold', color: '#0E3F8C', marginTop: 10 }}&gt;何时放弃协同&lt;/Text&gt;&#10;        &lt;Text style={{ fontSize: 19, color: '#1A2230', lineHeight: 1.6, marginTop: 8 }}&gt;高不确定性、业务差异化诉求强、文化冲突大时，为什么主动放弃协同反而是理性选择？&lt;/Text&gt;&#10;      &lt;/Box&gt;&#10;    &lt;/Box&gt;&#10;  &lt;/Box&gt;&#10;  &lt;Box style={{ height: 44, borderTop: '1px solid #D6DCE5', flexDirection: 'row', justifyContent: 'space-between', alignItems: 'center', padding: '0 40px', flexShrink: 0 }}&gt;&#10;    &lt;Text style={{ fontSize: 14, color: '#8B97A8' }}&gt;企业战略的构成要素 · 教学课件&lt;/Text&gt;&#10;    &lt;Text style={{ fontSize: 14, color: '#0E3F8C' }}&gt;15 / 16&lt;/Text&gt;&#10;  &lt;/Box&gt;&#10;&lt;/Slide&gt;"/>
        <p:cNvGrpSpPr/>
        <p:nvPr/>
      </p:nvGrpSpPr>
      <p:grpSpPr>
        <a:xfrm>
          <a:off x="0" y="0"/>
          <a:ext cx="0" cy="0"/>
          <a:chOff x="0" y="0"/>
          <a:chExt cx="0" cy="0"/>
        </a:xfrm>
      </p:grpSpPr>
      <p:sp>
        <p:nvSpPr>
          <p:cNvPr id="170" name="矩形 169"/>
          <p:cNvSpPr/>
          <p:nvPr/>
        </p:nvSpPr>
        <p:spPr>
          <a:xfrm>
            <a:off x="0" y="0"/>
            <a:ext cx="12192000" cy="6858000"/>
          </a:xfrm>
          <a:prstGeom prst="rect">
            <a:avLst/>
          </a:prstGeom>
          <a:solidFill>
            <a:srgbClr val="FFFFFF"/>
          </a:solidFill>
          <a:ln/>
        </p:spPr>
        <p:txBody>
          <a:bodyPr/>
          <a:lstStyle/>
          <a:p>
            <a:endParaRPr/>
          </a:p>
        </p:txBody>
      </p:sp>
      <p:sp>
        <p:nvSpPr>
          <p:cNvPr id="171" name="矩形 170"/>
          <p:cNvSpPr/>
          <p:nvPr/>
        </p:nvSpPr>
        <p:spPr>
          <a:xfrm>
            <a:off x="0" y="0"/>
            <a:ext cx="12192000" cy="685800"/>
          </a:xfrm>
          <a:prstGeom prst="rect">
            <a:avLst/>
          </a:prstGeom>
          <a:solidFill>
            <a:srgbClr val="0E3F8C"/>
          </a:solidFill>
          <a:ln/>
        </p:spPr>
        <p:txBody>
          <a:bodyPr/>
          <a:lstStyle/>
          <a:p>
            <a:endParaRPr/>
          </a:p>
        </p:txBody>
      </p:sp>
      <p:sp>
        <p:nvSpPr>
          <p:cNvPr id="172" name="文本框 171" descr="{&quot;isTemplate&quot;:true,&quot;type&quot;:&quot;text&quot;}"/>
          <p:cNvSpPr txBox="1"/>
          <p:nvPr/>
        </p:nvSpPr>
        <p:spPr>
          <a:xfrm>
            <a:off x="381000" y="257175"/>
            <a:ext cx="3333750" cy="171450"/>
          </a:xfrm>
          <a:prstGeom prst="rect">
            <a:avLst/>
          </a:prstGeom>
        </p:spPr>
        <p:txBody>
          <a:bodyPr wrap="none" lIns="0" tIns="0" rIns="0" bIns="0"/>
          <a:lstStyle/>
          <a:p>
            <a:pPr>
              <a:lnSpc>
                <a:spcPct val="100000"/>
              </a:lnSpc>
            </a:pPr>
            <a:r>
              <a:rPr lang="zh-CN" sz="1125" spc="225">
                <a:solidFill>
                  <a:srgbClr val="B8CCE8"/>
                </a:solidFill>
                <a:latin typeface="Microsoft YaHei"/>
                <a:ea typeface="Microsoft YaHei"/>
              </a:rPr>
              <a:t>战略管理</a:t>
            </a:r>
            <a:r>
              <a:rPr lang="en-US" sz="1125" spc="225">
                <a:solidFill>
                  <a:srgbClr val="B8CCE8"/>
                </a:solidFill>
                <a:latin typeface="Microsoft YaHei"/>
                <a:ea typeface="Microsoft YaHei"/>
              </a:rPr>
              <a:t> · STRATEGIC MANAGEMENT</a:t>
            </a:r>
            <a:endParaRPr/>
          </a:p>
        </p:txBody>
      </p:sp>
      <p:sp>
        <p:nvSpPr>
          <p:cNvPr id="173" name="文本框 172" descr="{&quot;isTemplate&quot;:true,&quot;type&quot;:&quot;text&quot;}"/>
          <p:cNvSpPr txBox="1"/>
          <p:nvPr/>
        </p:nvSpPr>
        <p:spPr>
          <a:xfrm>
            <a:off x="10763250" y="266700"/>
            <a:ext cx="1047750" cy="161925"/>
          </a:xfrm>
          <a:prstGeom prst="rect">
            <a:avLst/>
          </a:prstGeom>
        </p:spPr>
        <p:txBody>
          <a:bodyPr wrap="none" lIns="0" tIns="0" rIns="0" bIns="0"/>
          <a:lstStyle/>
          <a:p>
            <a:pPr>
              <a:lnSpc>
                <a:spcPct val="100000"/>
              </a:lnSpc>
            </a:pPr>
            <a:r>
              <a:rPr lang="zh-CN" sz="1050">
                <a:solidFill>
                  <a:srgbClr val="B8CCE8"/>
                </a:solidFill>
                <a:latin typeface="Microsoft YaHei"/>
                <a:ea typeface="Microsoft YaHei"/>
              </a:rPr>
              <a:t>第三章</a:t>
            </a:r>
            <a:r>
              <a:rPr lang="en-US" sz="1050">
                <a:solidFill>
                  <a:srgbClr val="B8CCE8"/>
                </a:solidFill>
                <a:latin typeface="Microsoft YaHei"/>
                <a:ea typeface="Microsoft YaHei"/>
              </a:rPr>
              <a:t> · </a:t>
            </a:r>
            <a:r>
              <a:rPr lang="zh-CN" sz="1050">
                <a:solidFill>
                  <a:srgbClr val="B8CCE8"/>
                </a:solidFill>
                <a:latin typeface="Microsoft YaHei"/>
                <a:ea typeface="Microsoft YaHei"/>
              </a:rPr>
              <a:t>协同作用</a:t>
            </a:r>
            <a:endParaRPr/>
          </a:p>
        </p:txBody>
      </p:sp>
      <p:sp>
        <p:nvSpPr>
          <p:cNvPr id="174" name="文本框 173" descr="{&quot;isTemplate&quot;:true,&quot;type&quot;:&quot;text&quot;}"/>
          <p:cNvSpPr txBox="1"/>
          <p:nvPr/>
        </p:nvSpPr>
        <p:spPr>
          <a:xfrm>
            <a:off x="381000" y="8382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整合：四要素是一条决策链</a:t>
            </a:r>
            <a:endParaRPr/>
          </a:p>
        </p:txBody>
      </p:sp>
      <p:sp>
        <p:nvSpPr>
          <p:cNvPr id="175" name="文本框 174" descr="{&quot;isTemplate&quot;:true,&quot;type&quot;:&quot;text&quot;}"/>
          <p:cNvSpPr txBox="1"/>
          <p:nvPr/>
        </p:nvSpPr>
        <p:spPr>
          <a:xfrm>
            <a:off x="381000" y="1266825"/>
            <a:ext cx="11430000"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Putting It Together: The Four Components as a Decision Chain</a:t>
            </a:r>
            <a:endParaRPr/>
          </a:p>
        </p:txBody>
      </p:sp>
      <p:pic>
        <p:nvPicPr>
          <p:cNvPr id="176" name="图形 17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00" y="1485900"/>
            <a:ext cx="11430000" cy="2533650"/>
          </a:xfrm>
          <a:prstGeom prst="rect">
            <a:avLst/>
          </a:prstGeom>
          <a:ln/>
        </p:spPr>
      </p:pic>
      <p:sp>
        <p:nvSpPr>
          <p:cNvPr id="177" name="矩形: 圆角 176"/>
          <p:cNvSpPr/>
          <p:nvPr/>
        </p:nvSpPr>
        <p:spPr>
          <a:xfrm>
            <a:off x="381000" y="4171950"/>
            <a:ext cx="3705225" cy="2095500"/>
          </a:xfrm>
          <a:prstGeom prst="roundRect">
            <a:avLst>
              <a:gd name="adj" fmla="val 5455"/>
            </a:avLst>
          </a:prstGeom>
          <a:solidFill>
            <a:srgbClr val="FFFFFF"/>
          </a:solidFill>
          <a:ln w="12700">
            <a:solidFill>
              <a:srgbClr val="D6DCE5"/>
            </a:solidFill>
            <a:prstDash val="solid"/>
          </a:ln>
        </p:spPr>
        <p:txBody>
          <a:bodyPr/>
          <a:lstStyle/>
          <a:p>
            <a:endParaRPr/>
          </a:p>
        </p:txBody>
      </p:sp>
      <p:sp>
        <p:nvSpPr>
          <p:cNvPr id="178" name="矩形: 圆角 177"/>
          <p:cNvSpPr/>
          <p:nvPr/>
        </p:nvSpPr>
        <p:spPr>
          <a:xfrm>
            <a:off x="609600" y="4343400"/>
            <a:ext cx="1038225" cy="257175"/>
          </a:xfrm>
          <a:prstGeom prst="roundRect">
            <a:avLst>
              <a:gd name="adj" fmla="val 51852"/>
            </a:avLst>
          </a:prstGeom>
          <a:solidFill>
            <a:srgbClr val="E8EFF8"/>
          </a:solidFill>
          <a:ln/>
        </p:spPr>
        <p:txBody>
          <a:bodyPr/>
          <a:lstStyle/>
          <a:p>
            <a:endParaRPr/>
          </a:p>
        </p:txBody>
      </p:sp>
      <p:sp>
        <p:nvSpPr>
          <p:cNvPr id="179" name="文本框 178" descr="{&quot;isTemplate&quot;:true,&quot;type&quot;:&quot;text&quot;}"/>
          <p:cNvSpPr txBox="1"/>
          <p:nvPr/>
        </p:nvSpPr>
        <p:spPr>
          <a:xfrm>
            <a:off x="762000" y="4391025"/>
            <a:ext cx="733425" cy="161925"/>
          </a:xfrm>
          <a:prstGeom prst="rect">
            <a:avLst/>
          </a:prstGeom>
        </p:spPr>
        <p:txBody>
          <a:bodyPr wrap="none" lIns="0" tIns="0" rIns="0" bIns="0"/>
          <a:lstStyle/>
          <a:p>
            <a:pPr>
              <a:lnSpc>
                <a:spcPct val="100000"/>
              </a:lnSpc>
            </a:pPr>
            <a:r>
              <a:rPr lang="zh-CN" sz="1050">
                <a:solidFill>
                  <a:srgbClr val="1E4FA8"/>
                </a:solidFill>
                <a:latin typeface="Microsoft YaHei"/>
                <a:ea typeface="Microsoft YaHei"/>
              </a:rPr>
              <a:t>课堂讨论</a:t>
            </a:r>
            <a:r>
              <a:rPr lang="en-US" sz="1050">
                <a:solidFill>
                  <a:srgbClr val="1E4FA8"/>
                </a:solidFill>
                <a:latin typeface="Microsoft YaHei"/>
                <a:ea typeface="Microsoft YaHei"/>
              </a:rPr>
              <a:t> 01</a:t>
            </a:r>
            <a:endParaRPr/>
          </a:p>
        </p:txBody>
      </p:sp>
      <p:sp>
        <p:nvSpPr>
          <p:cNvPr id="180" name="文本框 179" descr="{&quot;isTemplate&quot;:true,&quot;type&quot;:&quot;text&quot;}"/>
          <p:cNvSpPr txBox="1"/>
          <p:nvPr/>
        </p:nvSpPr>
        <p:spPr>
          <a:xfrm>
            <a:off x="609600" y="4695825"/>
            <a:ext cx="3248025" cy="257175"/>
          </a:xfrm>
          <a:prstGeom prst="rect">
            <a:avLst/>
          </a:prstGeom>
        </p:spPr>
        <p:txBody>
          <a:bodyPr wrap="none" lIns="0" tIns="0" rIns="0" bIns="0"/>
          <a:lstStyle/>
          <a:p>
            <a:pPr>
              <a:lnSpc>
                <a:spcPct val="100000"/>
              </a:lnSpc>
            </a:pPr>
            <a:r>
              <a:rPr lang="zh-CN" sz="1650" b="1">
                <a:solidFill>
                  <a:srgbClr val="0E3F8C"/>
                </a:solidFill>
                <a:latin typeface="Microsoft YaHei"/>
                <a:ea typeface="Microsoft YaHei"/>
              </a:rPr>
              <a:t>资源盘点表</a:t>
            </a:r>
            <a:endParaRPr/>
          </a:p>
        </p:txBody>
      </p:sp>
      <p:sp>
        <p:nvSpPr>
          <p:cNvPr id="181" name="文本框 180" descr="{&quot;isTemplate&quot;:true,&quot;type&quot;:&quot;text&quot;}"/>
          <p:cNvSpPr txBox="1"/>
          <p:nvPr/>
        </p:nvSpPr>
        <p:spPr>
          <a:xfrm>
            <a:off x="609600" y="5029200"/>
            <a:ext cx="3248025" cy="1047750"/>
          </a:xfrm>
          <a:prstGeom prst="rect">
            <a:avLst/>
          </a:prstGeom>
        </p:spPr>
        <p:txBody>
          <a:bodyPr wrap="square" lIns="0" tIns="0" rIns="0" bIns="0">
            <a:normAutofit/>
          </a:bodyPr>
          <a:lstStyle/>
          <a:p>
            <a:pPr>
              <a:lnSpc>
                <a:spcPct val="160000"/>
              </a:lnSpc>
            </a:pPr>
            <a:r>
              <a:rPr lang="zh-CN" sz="1425">
                <a:solidFill>
                  <a:srgbClr val="1A2230"/>
                </a:solidFill>
                <a:latin typeface="Microsoft YaHei"/>
                <a:ea typeface="Microsoft YaHei"/>
              </a:rPr>
              <a:t>列出现有主要资源，标注“战略重要性</a:t>
            </a:r>
            <a:r>
              <a:rPr lang="en-US" sz="1425">
                <a:solidFill>
                  <a:srgbClr val="1A2230"/>
                </a:solidFill>
                <a:latin typeface="Microsoft YaHei"/>
                <a:ea typeface="Microsoft YaHei"/>
              </a:rPr>
              <a:t> × </a:t>
            </a:r>
            <a:r>
              <a:rPr lang="zh-CN" sz="1425">
                <a:solidFill>
                  <a:srgbClr val="1A2230"/>
                </a:solidFill>
                <a:latin typeface="Microsoft YaHei"/>
                <a:ea typeface="Microsoft YaHei"/>
              </a:rPr>
              <a:t>当前投入强度”，找出错配项；追问：预算砍一半，你砍哪块？</a:t>
            </a:r>
            <a:endParaRPr/>
          </a:p>
        </p:txBody>
      </p:sp>
      <p:sp>
        <p:nvSpPr>
          <p:cNvPr id="182" name="矩形: 圆角 181"/>
          <p:cNvSpPr/>
          <p:nvPr/>
        </p:nvSpPr>
        <p:spPr>
          <a:xfrm>
            <a:off x="4238625" y="4171950"/>
            <a:ext cx="3714750" cy="2095500"/>
          </a:xfrm>
          <a:prstGeom prst="roundRect">
            <a:avLst>
              <a:gd name="adj" fmla="val 5455"/>
            </a:avLst>
          </a:prstGeom>
          <a:solidFill>
            <a:srgbClr val="FFFFFF"/>
          </a:solidFill>
          <a:ln w="12700">
            <a:solidFill>
              <a:srgbClr val="D6DCE5"/>
            </a:solidFill>
            <a:prstDash val="solid"/>
          </a:ln>
        </p:spPr>
        <p:txBody>
          <a:bodyPr/>
          <a:lstStyle/>
          <a:p>
            <a:endParaRPr/>
          </a:p>
        </p:txBody>
      </p:sp>
      <p:sp>
        <p:nvSpPr>
          <p:cNvPr id="183" name="矩形: 圆角 182"/>
          <p:cNvSpPr/>
          <p:nvPr/>
        </p:nvSpPr>
        <p:spPr>
          <a:xfrm>
            <a:off x="4467225" y="4343400"/>
            <a:ext cx="1038225" cy="257175"/>
          </a:xfrm>
          <a:prstGeom prst="roundRect">
            <a:avLst>
              <a:gd name="adj" fmla="val 51852"/>
            </a:avLst>
          </a:prstGeom>
          <a:solidFill>
            <a:srgbClr val="E8EFF8"/>
          </a:solidFill>
          <a:ln/>
        </p:spPr>
        <p:txBody>
          <a:bodyPr/>
          <a:lstStyle/>
          <a:p>
            <a:endParaRPr/>
          </a:p>
        </p:txBody>
      </p:sp>
      <p:sp>
        <p:nvSpPr>
          <p:cNvPr id="184" name="文本框 183" descr="{&quot;isTemplate&quot;:true,&quot;type&quot;:&quot;text&quot;}"/>
          <p:cNvSpPr txBox="1"/>
          <p:nvPr/>
        </p:nvSpPr>
        <p:spPr>
          <a:xfrm>
            <a:off x="4619625" y="4391025"/>
            <a:ext cx="733425" cy="161925"/>
          </a:xfrm>
          <a:prstGeom prst="rect">
            <a:avLst/>
          </a:prstGeom>
        </p:spPr>
        <p:txBody>
          <a:bodyPr wrap="none" lIns="0" tIns="0" rIns="0" bIns="0"/>
          <a:lstStyle/>
          <a:p>
            <a:pPr>
              <a:lnSpc>
                <a:spcPct val="100000"/>
              </a:lnSpc>
            </a:pPr>
            <a:r>
              <a:rPr lang="zh-CN" sz="1050">
                <a:solidFill>
                  <a:srgbClr val="1E4FA8"/>
                </a:solidFill>
                <a:latin typeface="Microsoft YaHei"/>
                <a:ea typeface="Microsoft YaHei"/>
              </a:rPr>
              <a:t>课堂讨论</a:t>
            </a:r>
            <a:r>
              <a:rPr lang="en-US" sz="1050">
                <a:solidFill>
                  <a:srgbClr val="1E4FA8"/>
                </a:solidFill>
                <a:latin typeface="Microsoft YaHei"/>
                <a:ea typeface="Microsoft YaHei"/>
              </a:rPr>
              <a:t> 02</a:t>
            </a:r>
            <a:endParaRPr/>
          </a:p>
        </p:txBody>
      </p:sp>
      <p:sp>
        <p:nvSpPr>
          <p:cNvPr id="185" name="文本框 184" descr="{&quot;isTemplate&quot;:true,&quot;type&quot;:&quot;text&quot;}"/>
          <p:cNvSpPr txBox="1"/>
          <p:nvPr/>
        </p:nvSpPr>
        <p:spPr>
          <a:xfrm>
            <a:off x="4467225" y="4695825"/>
            <a:ext cx="3257550" cy="257175"/>
          </a:xfrm>
          <a:prstGeom prst="rect">
            <a:avLst/>
          </a:prstGeom>
        </p:spPr>
        <p:txBody>
          <a:bodyPr wrap="none" lIns="0" tIns="0" rIns="0" bIns="0"/>
          <a:lstStyle/>
          <a:p>
            <a:pPr>
              <a:lnSpc>
                <a:spcPct val="100000"/>
              </a:lnSpc>
            </a:pPr>
            <a:r>
              <a:rPr lang="zh-CN" sz="1650" b="1">
                <a:solidFill>
                  <a:srgbClr val="0E3F8C"/>
                </a:solidFill>
                <a:latin typeface="Microsoft YaHei"/>
                <a:ea typeface="Microsoft YaHei"/>
              </a:rPr>
              <a:t>价值链共享标注</a:t>
            </a:r>
            <a:endParaRPr/>
          </a:p>
        </p:txBody>
      </p:sp>
      <p:sp>
        <p:nvSpPr>
          <p:cNvPr id="186" name="文本框 185" descr="{&quot;isTemplate&quot;:true,&quot;type&quot;:&quot;text&quot;}"/>
          <p:cNvSpPr txBox="1"/>
          <p:nvPr/>
        </p:nvSpPr>
        <p:spPr>
          <a:xfrm>
            <a:off x="4467225" y="5029200"/>
            <a:ext cx="3257550" cy="1047750"/>
          </a:xfrm>
          <a:prstGeom prst="rect">
            <a:avLst/>
          </a:prstGeom>
        </p:spPr>
        <p:txBody>
          <a:bodyPr wrap="square" lIns="0" tIns="0" rIns="0" bIns="0">
            <a:normAutofit/>
          </a:bodyPr>
          <a:lstStyle/>
          <a:p>
            <a:pPr>
              <a:lnSpc>
                <a:spcPct val="160000"/>
              </a:lnSpc>
            </a:pPr>
            <a:r>
              <a:rPr lang="zh-CN" sz="1425">
                <a:solidFill>
                  <a:srgbClr val="1A2230"/>
                </a:solidFill>
                <a:latin typeface="Microsoft YaHei"/>
                <a:ea typeface="Microsoft YaHei"/>
              </a:rPr>
              <a:t>画出两条业务的价值链，逐环节标注可共享</a:t>
            </a:r>
            <a:r>
              <a:rPr lang="en-US" sz="1425">
                <a:solidFill>
                  <a:srgbClr val="1A2230"/>
                </a:solidFill>
                <a:latin typeface="Microsoft YaHei"/>
                <a:ea typeface="Microsoft YaHei"/>
              </a:rPr>
              <a:t> / </a:t>
            </a:r>
            <a:r>
              <a:rPr lang="zh-CN" sz="1425">
                <a:solidFill>
                  <a:srgbClr val="1A2230"/>
                </a:solidFill>
                <a:latin typeface="Microsoft YaHei"/>
                <a:ea typeface="Microsoft YaHei"/>
              </a:rPr>
              <a:t>不可共享，再按协调、妥协、刚性三类成本排序。</a:t>
            </a:r>
            <a:endParaRPr/>
          </a:p>
        </p:txBody>
      </p:sp>
      <p:sp>
        <p:nvSpPr>
          <p:cNvPr id="187" name="矩形: 圆角 186"/>
          <p:cNvSpPr/>
          <p:nvPr/>
        </p:nvSpPr>
        <p:spPr>
          <a:xfrm>
            <a:off x="8105775" y="4171950"/>
            <a:ext cx="3705225" cy="2095500"/>
          </a:xfrm>
          <a:prstGeom prst="roundRect">
            <a:avLst>
              <a:gd name="adj" fmla="val 5455"/>
            </a:avLst>
          </a:prstGeom>
          <a:solidFill>
            <a:srgbClr val="FFFFFF"/>
          </a:solidFill>
          <a:ln w="12700">
            <a:solidFill>
              <a:srgbClr val="D6DCE5"/>
            </a:solidFill>
            <a:prstDash val="solid"/>
          </a:ln>
        </p:spPr>
        <p:txBody>
          <a:bodyPr/>
          <a:lstStyle/>
          <a:p>
            <a:endParaRPr/>
          </a:p>
        </p:txBody>
      </p:sp>
      <p:sp>
        <p:nvSpPr>
          <p:cNvPr id="188" name="矩形: 圆角 187"/>
          <p:cNvSpPr/>
          <p:nvPr/>
        </p:nvSpPr>
        <p:spPr>
          <a:xfrm>
            <a:off x="8334375" y="4343400"/>
            <a:ext cx="1038225" cy="257175"/>
          </a:xfrm>
          <a:prstGeom prst="roundRect">
            <a:avLst>
              <a:gd name="adj" fmla="val 51852"/>
            </a:avLst>
          </a:prstGeom>
          <a:solidFill>
            <a:srgbClr val="E8EFF8"/>
          </a:solidFill>
          <a:ln/>
        </p:spPr>
        <p:txBody>
          <a:bodyPr/>
          <a:lstStyle/>
          <a:p>
            <a:endParaRPr/>
          </a:p>
        </p:txBody>
      </p:sp>
      <p:sp>
        <p:nvSpPr>
          <p:cNvPr id="189" name="文本框 188" descr="{&quot;isTemplate&quot;:true,&quot;type&quot;:&quot;text&quot;}"/>
          <p:cNvSpPr txBox="1"/>
          <p:nvPr/>
        </p:nvSpPr>
        <p:spPr>
          <a:xfrm>
            <a:off x="8486775" y="4391025"/>
            <a:ext cx="733425" cy="161925"/>
          </a:xfrm>
          <a:prstGeom prst="rect">
            <a:avLst/>
          </a:prstGeom>
        </p:spPr>
        <p:txBody>
          <a:bodyPr wrap="none" lIns="0" tIns="0" rIns="0" bIns="0"/>
          <a:lstStyle/>
          <a:p>
            <a:pPr>
              <a:lnSpc>
                <a:spcPct val="100000"/>
              </a:lnSpc>
            </a:pPr>
            <a:r>
              <a:rPr lang="zh-CN" sz="1050">
                <a:solidFill>
                  <a:srgbClr val="1E4FA8"/>
                </a:solidFill>
                <a:latin typeface="Microsoft YaHei"/>
                <a:ea typeface="Microsoft YaHei"/>
              </a:rPr>
              <a:t>课堂讨论</a:t>
            </a:r>
            <a:r>
              <a:rPr lang="en-US" sz="1050">
                <a:solidFill>
                  <a:srgbClr val="1E4FA8"/>
                </a:solidFill>
                <a:latin typeface="Microsoft YaHei"/>
                <a:ea typeface="Microsoft YaHei"/>
              </a:rPr>
              <a:t> 03</a:t>
            </a:r>
            <a:endParaRPr/>
          </a:p>
        </p:txBody>
      </p:sp>
      <p:sp>
        <p:nvSpPr>
          <p:cNvPr id="190" name="文本框 189" descr="{&quot;isTemplate&quot;:true,&quot;type&quot;:&quot;text&quot;}"/>
          <p:cNvSpPr txBox="1"/>
          <p:nvPr/>
        </p:nvSpPr>
        <p:spPr>
          <a:xfrm>
            <a:off x="8334375" y="4695825"/>
            <a:ext cx="3248025" cy="257175"/>
          </a:xfrm>
          <a:prstGeom prst="rect">
            <a:avLst/>
          </a:prstGeom>
        </p:spPr>
        <p:txBody>
          <a:bodyPr wrap="none" lIns="0" tIns="0" rIns="0" bIns="0"/>
          <a:lstStyle/>
          <a:p>
            <a:pPr>
              <a:lnSpc>
                <a:spcPct val="100000"/>
              </a:lnSpc>
            </a:pPr>
            <a:r>
              <a:rPr lang="zh-CN" sz="1650" b="1">
                <a:solidFill>
                  <a:srgbClr val="0E3F8C"/>
                </a:solidFill>
                <a:latin typeface="Microsoft YaHei"/>
                <a:ea typeface="Microsoft YaHei"/>
              </a:rPr>
              <a:t>何时放弃协同</a:t>
            </a:r>
            <a:endParaRPr/>
          </a:p>
        </p:txBody>
      </p:sp>
      <p:sp>
        <p:nvSpPr>
          <p:cNvPr id="191" name="文本框 190" descr="{&quot;isTemplate&quot;:true,&quot;type&quot;:&quot;text&quot;}"/>
          <p:cNvSpPr txBox="1"/>
          <p:nvPr/>
        </p:nvSpPr>
        <p:spPr>
          <a:xfrm>
            <a:off x="8334375" y="5029200"/>
            <a:ext cx="3248025" cy="1047750"/>
          </a:xfrm>
          <a:prstGeom prst="rect">
            <a:avLst/>
          </a:prstGeom>
        </p:spPr>
        <p:txBody>
          <a:bodyPr wrap="square" lIns="0" tIns="0" rIns="0" bIns="0">
            <a:normAutofit/>
          </a:bodyPr>
          <a:lstStyle/>
          <a:p>
            <a:pPr>
              <a:lnSpc>
                <a:spcPct val="160000"/>
              </a:lnSpc>
            </a:pPr>
            <a:r>
              <a:rPr lang="zh-CN" sz="1425">
                <a:solidFill>
                  <a:srgbClr val="1A2230"/>
                </a:solidFill>
                <a:latin typeface="Microsoft YaHei"/>
                <a:ea typeface="Microsoft YaHei"/>
              </a:rPr>
              <a:t>高不确定性、业务差异化诉求强、文化冲突大时，为什么主动放弃协同反而是理性选择？</a:t>
            </a:r>
            <a:endParaRPr/>
          </a:p>
        </p:txBody>
      </p:sp>
      <p:sp>
        <p:nvSpPr>
          <p:cNvPr id="192" name="任意多边形: 形状 191"/>
          <p:cNvSpPr/>
          <p:nvPr/>
        </p:nvSpPr>
        <p:spPr>
          <a:xfrm>
            <a:off x="0" y="6438900"/>
            <a:ext cx="12192000" cy="419100"/>
          </a:xfrm>
          <a:custGeom>
            <a:avLst/>
            <a:gdLst/>
            <a:ahLst/>
            <a:cxnLst/>
            <a:rect l="0" t="0" r="0" b="0"/>
            <a:pathLst>
              <a:path w="1280" h="44">
                <a:moveTo>
                  <a:pt x="0" y="0"/>
                </a:moveTo>
                <a:lnTo>
                  <a:pt x="1280" y="0"/>
                </a:lnTo>
                <a:lnTo>
                  <a:pt x="1280" y="1"/>
                </a:lnTo>
                <a:lnTo>
                  <a:pt x="0" y="1"/>
                </a:lnTo>
                <a:close/>
              </a:path>
            </a:pathLst>
          </a:custGeom>
          <a:solidFill>
            <a:srgbClr val="D6DCE5"/>
          </a:solidFill>
          <a:ln/>
        </p:spPr>
        <p:txBody>
          <a:bodyPr/>
          <a:lstStyle/>
          <a:p>
            <a:endParaRPr/>
          </a:p>
        </p:txBody>
      </p:sp>
      <p:sp>
        <p:nvSpPr>
          <p:cNvPr id="193" name="文本框 192" descr="{&quot;isTemplate&quot;:true,&quot;type&quot;:&quot;text&quot;}"/>
          <p:cNvSpPr txBox="1"/>
          <p:nvPr/>
        </p:nvSpPr>
        <p:spPr>
          <a:xfrm>
            <a:off x="381000" y="6572250"/>
            <a:ext cx="18478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企业战略的构成要素</a:t>
            </a:r>
            <a:r>
              <a:rPr lang="en-US" sz="1050">
                <a:solidFill>
                  <a:srgbClr val="8B97A8"/>
                </a:solidFill>
                <a:latin typeface="Microsoft YaHei"/>
                <a:ea typeface="Microsoft YaHei"/>
              </a:rPr>
              <a:t> · </a:t>
            </a:r>
            <a:r>
              <a:rPr lang="zh-CN" sz="1050">
                <a:solidFill>
                  <a:srgbClr val="8B97A8"/>
                </a:solidFill>
                <a:latin typeface="Microsoft YaHei"/>
                <a:ea typeface="Microsoft YaHei"/>
              </a:rPr>
              <a:t>教学课件</a:t>
            </a:r>
            <a:endParaRPr/>
          </a:p>
        </p:txBody>
      </p:sp>
      <p:sp>
        <p:nvSpPr>
          <p:cNvPr id="194" name="文本框 193" descr="{&quot;isTemplate&quot;:true,&quot;type&quot;:&quot;text&quot;}"/>
          <p:cNvSpPr txBox="1"/>
          <p:nvPr/>
        </p:nvSpPr>
        <p:spPr>
          <a:xfrm>
            <a:off x="11353800" y="6572250"/>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15 / 16</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5012E0-147E-7B48-9992-194607C62A7D}"/>
              </a:ext>
            </a:extLst>
          </p:cNvPr>
          <p:cNvSpPr>
            <a:spLocks noGrp="1"/>
          </p:cNvSpPr>
          <p:nvPr>
            <p:ph type="title"/>
          </p:nvPr>
        </p:nvSpPr>
        <p:spPr/>
        <p:txBody>
          <a:bodyPr/>
          <a:lstStyle/>
          <a:p>
            <a:r>
              <a:rPr kumimoji="1" lang="zh-CN" altLang="en-US" dirty="0"/>
              <a:t>万科</a:t>
            </a:r>
          </a:p>
        </p:txBody>
      </p:sp>
      <p:sp>
        <p:nvSpPr>
          <p:cNvPr id="3" name="内容占位符 2">
            <a:extLst>
              <a:ext uri="{FF2B5EF4-FFF2-40B4-BE49-F238E27FC236}">
                <a16:creationId xmlns:a16="http://schemas.microsoft.com/office/drawing/2014/main" id="{2CFA01E0-2F7F-CF45-8C0C-0C266D6A2A7D}"/>
              </a:ext>
            </a:extLst>
          </p:cNvPr>
          <p:cNvSpPr>
            <a:spLocks noGrp="1"/>
          </p:cNvSpPr>
          <p:nvPr>
            <p:ph idx="1"/>
          </p:nvPr>
        </p:nvSpPr>
        <p:spPr/>
        <p:txBody>
          <a:bodyPr>
            <a:normAutofit/>
          </a:bodyPr>
          <a:lstStyle/>
          <a:p>
            <a:r>
              <a:rPr kumimoji="1" lang="zh-CN" altLang="en-US" dirty="0"/>
              <a:t>王石时代</a:t>
            </a:r>
            <a:endParaRPr kumimoji="1" lang="en-US" altLang="zh-CN" dirty="0"/>
          </a:p>
          <a:p>
            <a:pPr lvl="1"/>
            <a:r>
              <a:rPr kumimoji="1" lang="en-US" altLang="zh-CN" dirty="0"/>
              <a:t>93</a:t>
            </a:r>
            <a:r>
              <a:rPr kumimoji="1" lang="zh-CN" altLang="en-US" dirty="0"/>
              <a:t>年，出售怡宝、万家超市，专业化战略，城市住宅地产、市郊地块，配套完善，精装修房，绿色建筑，物业服务好</a:t>
            </a:r>
            <a:endParaRPr kumimoji="1" lang="en-US" altLang="zh-CN" dirty="0"/>
          </a:p>
          <a:p>
            <a:pPr lvl="1"/>
            <a:r>
              <a:rPr kumimoji="1" lang="zh-CN" altLang="en-US" dirty="0"/>
              <a:t>专业化领导企业的前瞻性，房地产业领先企业，行业领跑者</a:t>
            </a:r>
            <a:endParaRPr kumimoji="1" lang="en-US" altLang="zh-CN" dirty="0"/>
          </a:p>
          <a:p>
            <a:r>
              <a:rPr kumimoji="1" lang="zh-CN" altLang="en-US" dirty="0"/>
              <a:t>郁亮时代</a:t>
            </a:r>
            <a:endParaRPr kumimoji="1" lang="en-US" altLang="zh-CN" dirty="0"/>
          </a:p>
          <a:p>
            <a:pPr lvl="1"/>
            <a:r>
              <a:rPr kumimoji="1" lang="zh-CN" altLang="en-US" dirty="0"/>
              <a:t>宏观环境变了，住宅无法提供更多发展空间。相关多元化，商业地产、物流地产、城中村改造、海外业务、众创空间。</a:t>
            </a:r>
            <a:endParaRPr kumimoji="1" lang="en-US" altLang="zh-CN" dirty="0"/>
          </a:p>
          <a:p>
            <a:pPr lvl="1"/>
            <a:endParaRPr kumimoji="1" lang="en-US" altLang="zh-CN" dirty="0"/>
          </a:p>
          <a:p>
            <a:pPr lvl="1"/>
            <a:endParaRPr kumimoji="1" lang="zh-CN" altLang="en-US" dirty="0"/>
          </a:p>
        </p:txBody>
      </p:sp>
    </p:spTree>
    <p:extLst>
      <p:ext uri="{BB962C8B-B14F-4D97-AF65-F5344CB8AC3E}">
        <p14:creationId xmlns:p14="http://schemas.microsoft.com/office/powerpoint/2010/main" val="33614200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E6A49"/>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008439" y="188914"/>
            <a:ext cx="5616575" cy="981075"/>
          </a:xfrm>
        </p:spPr>
        <p:txBody>
          <a:bodyPr/>
          <a:lstStyle/>
          <a:p>
            <a:pPr marL="54864">
              <a:defRPr/>
            </a:pPr>
            <a:r>
              <a:rPr lang="zh-CN" altLang="en-US" dirty="0">
                <a:solidFill>
                  <a:schemeClr val="tx2">
                    <a:tint val="100000"/>
                    <a:shade val="90000"/>
                    <a:satMod val="250000"/>
                    <a:alpha val="100000"/>
                  </a:schemeClr>
                </a:solidFill>
                <a:ea typeface="黑体" pitchFamily="2" charset="-122"/>
                <a:cs typeface="+mj-cs"/>
              </a:rPr>
              <a:t>企业战略的层次</a:t>
            </a:r>
          </a:p>
        </p:txBody>
      </p:sp>
      <p:sp>
        <p:nvSpPr>
          <p:cNvPr id="28674" name="Text Box 3"/>
          <p:cNvSpPr txBox="1">
            <a:spLocks noChangeArrowheads="1"/>
          </p:cNvSpPr>
          <p:nvPr/>
        </p:nvSpPr>
        <p:spPr bwMode="auto">
          <a:xfrm>
            <a:off x="1774824" y="1214439"/>
            <a:ext cx="9299575" cy="4770537"/>
          </a:xfrm>
          <a:prstGeom prst="rect">
            <a:avLst/>
          </a:prstGeom>
          <a:noFill/>
          <a:ln w="9525">
            <a:noFill/>
            <a:miter lim="800000"/>
            <a:headEnd/>
            <a:tailEnd/>
          </a:ln>
        </p:spPr>
        <p:txBody>
          <a:bodyPr wrap="square">
            <a:spAutoFit/>
          </a:bodyPr>
          <a:lstStyle/>
          <a:p>
            <a:pPr>
              <a:buFont typeface="Wingdings" pitchFamily="2" charset="2"/>
              <a:buChar char="u"/>
            </a:pPr>
            <a:r>
              <a:rPr lang="zh-CN" altLang="en-US" sz="2800" b="1" dirty="0">
                <a:latin typeface="+mj-ea"/>
                <a:ea typeface="+mj-ea"/>
              </a:rPr>
              <a:t>公司战略（</a:t>
            </a:r>
            <a:r>
              <a:rPr lang="en-US" altLang="zh-CN" sz="2800" b="1" dirty="0">
                <a:latin typeface="+mj-ea"/>
                <a:ea typeface="+mj-ea"/>
              </a:rPr>
              <a:t>Corporate Strategy</a:t>
            </a:r>
            <a:r>
              <a:rPr lang="zh-CN" altLang="en-US" sz="2800" b="1" dirty="0">
                <a:latin typeface="+mj-ea"/>
                <a:ea typeface="+mj-ea"/>
              </a:rPr>
              <a:t>）</a:t>
            </a:r>
            <a:r>
              <a:rPr lang="zh-CN" altLang="en-US" sz="2400" b="1" dirty="0">
                <a:latin typeface="+mj-ea"/>
                <a:ea typeface="+mj-ea"/>
              </a:rPr>
              <a:t>：企业整体的战略总纲，是企业最高管理层指导和控制企业行为的最高纲领。它强调两个主要问题：企业应该做什么业务？企业怎样去发展这些业务？</a:t>
            </a:r>
            <a:endParaRPr lang="en-US" altLang="zh-CN" sz="2400" b="1" dirty="0">
              <a:latin typeface="+mj-ea"/>
              <a:ea typeface="+mj-ea"/>
            </a:endParaRPr>
          </a:p>
          <a:p>
            <a:pPr>
              <a:buFont typeface="Wingdings" pitchFamily="2" charset="2"/>
              <a:buChar char="u"/>
            </a:pPr>
            <a:endParaRPr lang="zh-CN" altLang="en-US" sz="2400" b="1" dirty="0">
              <a:latin typeface="+mj-ea"/>
              <a:ea typeface="+mj-ea"/>
            </a:endParaRPr>
          </a:p>
          <a:p>
            <a:pPr>
              <a:buFont typeface="Wingdings" pitchFamily="2" charset="2"/>
              <a:buChar char="u"/>
            </a:pPr>
            <a:r>
              <a:rPr lang="zh-CN" altLang="en-US" sz="2800" b="1" dirty="0">
                <a:latin typeface="+mj-ea"/>
                <a:ea typeface="+mj-ea"/>
              </a:rPr>
              <a:t>事业部战略</a:t>
            </a:r>
            <a:r>
              <a:rPr lang="en-US" altLang="zh-CN" sz="2800" b="1" dirty="0">
                <a:latin typeface="+mj-ea"/>
                <a:ea typeface="+mj-ea"/>
              </a:rPr>
              <a:t>(SBU Strategy)</a:t>
            </a:r>
            <a:r>
              <a:rPr lang="zh-CN" altLang="en-US" sz="2400" b="1" dirty="0">
                <a:latin typeface="+mj-ea"/>
                <a:ea typeface="+mj-ea"/>
              </a:rPr>
              <a:t>：是在公司战略指导下，经营管理某一特定的“战略经营单位”</a:t>
            </a:r>
            <a:r>
              <a:rPr lang="zh-CN" altLang="en-US" sz="2400" b="1" dirty="0">
                <a:latin typeface="+mj-ea"/>
                <a:ea typeface="+mj-ea"/>
                <a:hlinkClick r:id="rId2" action="ppaction://hlinksldjump"/>
              </a:rPr>
              <a:t>（</a:t>
            </a:r>
            <a:r>
              <a:rPr lang="en-US" altLang="zh-CN" sz="2400" b="1" dirty="0">
                <a:latin typeface="+mj-ea"/>
                <a:ea typeface="+mj-ea"/>
                <a:hlinkClick r:id="rId3" action="ppaction://hlinksldjump"/>
              </a:rPr>
              <a:t>SBU</a:t>
            </a:r>
            <a:r>
              <a:rPr lang="zh-CN" altLang="en-US" sz="2400" b="1" dirty="0">
                <a:latin typeface="+mj-ea"/>
                <a:ea typeface="+mj-ea"/>
                <a:hlinkClick r:id="rId3" action="ppaction://hlinksldjump"/>
              </a:rPr>
              <a:t>）</a:t>
            </a:r>
            <a:r>
              <a:rPr lang="zh-CN" altLang="en-US" sz="2400" b="1" dirty="0">
                <a:latin typeface="+mj-ea"/>
                <a:ea typeface="+mj-ea"/>
              </a:rPr>
              <a:t>的战略计划，它是公司战略的子战略。其任务是改进</a:t>
            </a:r>
            <a:r>
              <a:rPr lang="en-US" altLang="zh-CN" sz="2400" b="1" dirty="0">
                <a:latin typeface="+mj-ea"/>
                <a:ea typeface="+mj-ea"/>
              </a:rPr>
              <a:t>SBU</a:t>
            </a:r>
            <a:r>
              <a:rPr lang="zh-CN" altLang="en-US" sz="2400" b="1" dirty="0">
                <a:latin typeface="+mj-ea"/>
                <a:ea typeface="+mj-ea"/>
              </a:rPr>
              <a:t>在其所从事的行业中产品或服务的竞争地位。</a:t>
            </a:r>
            <a:endParaRPr lang="en-US" altLang="zh-CN" sz="2400" b="1" dirty="0">
              <a:latin typeface="+mj-ea"/>
              <a:ea typeface="+mj-ea"/>
            </a:endParaRPr>
          </a:p>
          <a:p>
            <a:pPr>
              <a:buFont typeface="Wingdings" pitchFamily="2" charset="2"/>
              <a:buChar char="u"/>
            </a:pPr>
            <a:endParaRPr lang="zh-CN" altLang="en-US" sz="2400" b="1" dirty="0">
              <a:latin typeface="+mj-ea"/>
              <a:ea typeface="+mj-ea"/>
            </a:endParaRPr>
          </a:p>
          <a:p>
            <a:pPr>
              <a:buFont typeface="Wingdings" pitchFamily="2" charset="2"/>
              <a:buChar char="u"/>
            </a:pPr>
            <a:r>
              <a:rPr lang="zh-CN" altLang="en-US" sz="2800" b="1" dirty="0">
                <a:latin typeface="+mj-ea"/>
                <a:ea typeface="+mj-ea"/>
              </a:rPr>
              <a:t>职能战略</a:t>
            </a:r>
            <a:r>
              <a:rPr lang="en-US" altLang="zh-CN" sz="2800" b="1" dirty="0">
                <a:latin typeface="+mj-ea"/>
                <a:ea typeface="+mj-ea"/>
              </a:rPr>
              <a:t>(Functional Strategy)</a:t>
            </a:r>
            <a:r>
              <a:rPr lang="zh-CN" altLang="en-US" sz="2400" b="1" dirty="0">
                <a:latin typeface="+mj-ea"/>
                <a:ea typeface="+mj-ea"/>
              </a:rPr>
              <a:t>：是为贯彻、实施公司战略和事业战略而在企业特定的职能管理领域制定的战略。职能战略的重点是提高企业资源的利用效率，使资源利用效率达到最大化</a:t>
            </a:r>
            <a:r>
              <a:rPr lang="zh-CN" altLang="en-US" sz="2800" b="1" dirty="0">
                <a:latin typeface="+mj-ea"/>
                <a:ea typeface="+mj-ea"/>
                <a:hlinkClick r:id="rId4" action="ppaction://hlinksldjump"/>
              </a:rPr>
              <a:t>。</a:t>
            </a:r>
            <a:endParaRPr lang="zh-CN" altLang="en-US" sz="2800" b="1" dirty="0">
              <a:latin typeface="+mj-ea"/>
              <a:ea typeface="+mj-ea"/>
            </a:endParaRPr>
          </a:p>
        </p:txBody>
      </p:sp>
    </p:spTree>
  </p:cSld>
  <p:clrMapOvr>
    <a:masterClrMapping/>
  </p:clrMapOvr>
  <p:transition spd="med">
    <p:randomBar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0DBF81-9110-A943-8618-49239A4E95F1}"/>
              </a:ext>
            </a:extLst>
          </p:cNvPr>
          <p:cNvSpPr>
            <a:spLocks noGrp="1"/>
          </p:cNvSpPr>
          <p:nvPr>
            <p:ph type="title"/>
          </p:nvPr>
        </p:nvSpPr>
        <p:spPr/>
        <p:txBody>
          <a:bodyPr/>
          <a:lstStyle/>
          <a:p>
            <a:r>
              <a:rPr kumimoji="1" lang="zh-CN" altLang="en-US" dirty="0"/>
              <a:t>竞争战略和职能战略</a:t>
            </a:r>
          </a:p>
        </p:txBody>
      </p:sp>
      <p:sp>
        <p:nvSpPr>
          <p:cNvPr id="3" name="内容占位符 2">
            <a:extLst>
              <a:ext uri="{FF2B5EF4-FFF2-40B4-BE49-F238E27FC236}">
                <a16:creationId xmlns:a16="http://schemas.microsoft.com/office/drawing/2014/main" id="{A1479F77-D1D5-1B41-A2B4-53C82A123B68}"/>
              </a:ext>
            </a:extLst>
          </p:cNvPr>
          <p:cNvSpPr>
            <a:spLocks noGrp="1"/>
          </p:cNvSpPr>
          <p:nvPr>
            <p:ph idx="1"/>
          </p:nvPr>
        </p:nvSpPr>
        <p:spPr/>
        <p:txBody>
          <a:bodyPr>
            <a:normAutofit/>
          </a:bodyPr>
          <a:lstStyle/>
          <a:p>
            <a:r>
              <a:rPr kumimoji="1" lang="zh-CN" altLang="en-US" dirty="0"/>
              <a:t>成本领先与差异化</a:t>
            </a:r>
            <a:endParaRPr kumimoji="1" lang="en-US" altLang="zh-CN" dirty="0"/>
          </a:p>
          <a:p>
            <a:pPr lvl="1"/>
            <a:r>
              <a:rPr kumimoji="1" lang="zh-CN" altLang="en-US" dirty="0"/>
              <a:t>产品设计</a:t>
            </a:r>
            <a:endParaRPr kumimoji="1" lang="en-US" altLang="zh-CN" dirty="0"/>
          </a:p>
          <a:p>
            <a:pPr lvl="1"/>
            <a:r>
              <a:rPr kumimoji="1" lang="zh-CN" altLang="en-US" dirty="0"/>
              <a:t>流程设计</a:t>
            </a:r>
            <a:endParaRPr kumimoji="1" lang="en-US" altLang="zh-CN" dirty="0"/>
          </a:p>
          <a:p>
            <a:pPr lvl="1"/>
            <a:r>
              <a:rPr kumimoji="1" lang="zh-CN" altLang="en-US" dirty="0"/>
              <a:t>设施选址与设施布置</a:t>
            </a:r>
            <a:endParaRPr kumimoji="1" lang="en-US" altLang="zh-CN" dirty="0"/>
          </a:p>
          <a:p>
            <a:pPr lvl="1"/>
            <a:r>
              <a:rPr kumimoji="1" lang="zh-CN" altLang="en-US" dirty="0"/>
              <a:t>生产方式</a:t>
            </a:r>
            <a:endParaRPr kumimoji="1" lang="en-US" altLang="zh-CN" dirty="0"/>
          </a:p>
          <a:p>
            <a:pPr lvl="1"/>
            <a:r>
              <a:rPr kumimoji="1" lang="zh-CN" altLang="en-US" dirty="0"/>
              <a:t>人力资源</a:t>
            </a:r>
            <a:endParaRPr kumimoji="1" lang="en-US" altLang="zh-CN" dirty="0"/>
          </a:p>
          <a:p>
            <a:pPr lvl="1"/>
            <a:endParaRPr kumimoji="1" lang="zh-CN" altLang="en-US" dirty="0"/>
          </a:p>
        </p:txBody>
      </p:sp>
    </p:spTree>
    <p:extLst>
      <p:ext uri="{BB962C8B-B14F-4D97-AF65-F5344CB8AC3E}">
        <p14:creationId xmlns:p14="http://schemas.microsoft.com/office/powerpoint/2010/main" val="2519127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0DBF81-9110-A943-8618-49239A4E95F1}"/>
              </a:ext>
            </a:extLst>
          </p:cNvPr>
          <p:cNvSpPr>
            <a:spLocks noGrp="1"/>
          </p:cNvSpPr>
          <p:nvPr>
            <p:ph type="title"/>
          </p:nvPr>
        </p:nvSpPr>
        <p:spPr/>
        <p:txBody>
          <a:bodyPr/>
          <a:lstStyle/>
          <a:p>
            <a:r>
              <a:rPr kumimoji="1" lang="zh-CN" altLang="en-US" dirty="0"/>
              <a:t>华为的人力资源战略</a:t>
            </a:r>
          </a:p>
        </p:txBody>
      </p:sp>
      <p:sp>
        <p:nvSpPr>
          <p:cNvPr id="3" name="内容占位符 2">
            <a:extLst>
              <a:ext uri="{FF2B5EF4-FFF2-40B4-BE49-F238E27FC236}">
                <a16:creationId xmlns:a16="http://schemas.microsoft.com/office/drawing/2014/main" id="{A1479F77-D1D5-1B41-A2B4-53C82A123B68}"/>
              </a:ext>
            </a:extLst>
          </p:cNvPr>
          <p:cNvSpPr>
            <a:spLocks noGrp="1"/>
          </p:cNvSpPr>
          <p:nvPr>
            <p:ph idx="1"/>
          </p:nvPr>
        </p:nvSpPr>
        <p:spPr/>
        <p:txBody>
          <a:bodyPr>
            <a:normAutofit/>
          </a:bodyPr>
          <a:lstStyle/>
          <a:p>
            <a:r>
              <a:rPr kumimoji="1" lang="zh-CN" altLang="en-US" dirty="0"/>
              <a:t>技术型企业，效率优先，兼顾公平，对优秀人员给予高薪；且整体薪酬水平非常有竞争力，支持其创新战略。</a:t>
            </a:r>
            <a:endParaRPr kumimoji="1" lang="en-US" altLang="zh-CN" dirty="0"/>
          </a:p>
          <a:p>
            <a:pPr lvl="1"/>
            <a:r>
              <a:rPr kumimoji="1" lang="zh-CN" altLang="en-US" dirty="0"/>
              <a:t>天才少年计划</a:t>
            </a:r>
            <a:endParaRPr kumimoji="1" lang="en-US" altLang="zh-CN" dirty="0"/>
          </a:p>
          <a:p>
            <a:pPr lvl="1"/>
            <a:r>
              <a:rPr kumimoji="1" lang="zh-CN" altLang="en-US" dirty="0"/>
              <a:t>竞争性的人才战略（储备培养高薪高福利晋升空间）</a:t>
            </a:r>
            <a:endParaRPr kumimoji="1" lang="en-US" altLang="zh-CN" dirty="0"/>
          </a:p>
          <a:p>
            <a:pPr lvl="1"/>
            <a:r>
              <a:rPr kumimoji="1" lang="en-US" altLang="zh-CN" dirty="0"/>
              <a:t>5</a:t>
            </a:r>
            <a:r>
              <a:rPr kumimoji="1" lang="zh-CN" altLang="en-US" dirty="0"/>
              <a:t>个月的培训，企业文化认同</a:t>
            </a:r>
            <a:endParaRPr kumimoji="1" lang="en-US" altLang="zh-CN" dirty="0"/>
          </a:p>
          <a:p>
            <a:pPr lvl="1"/>
            <a:r>
              <a:rPr kumimoji="1" lang="zh-CN" altLang="en-US" dirty="0"/>
              <a:t>在人力上投入巨大（千亿规模）</a:t>
            </a:r>
            <a:endParaRPr kumimoji="1" lang="en-US" altLang="zh-CN" dirty="0"/>
          </a:p>
          <a:p>
            <a:pPr lvl="1"/>
            <a:r>
              <a:rPr kumimoji="1" lang="zh-CN" altLang="en-US" dirty="0"/>
              <a:t>薪酬绩效体系</a:t>
            </a:r>
            <a:endParaRPr kumimoji="1" lang="en-US" altLang="zh-CN" dirty="0"/>
          </a:p>
          <a:p>
            <a:endParaRPr kumimoji="1" lang="zh-CN" altLang="en-US" dirty="0"/>
          </a:p>
        </p:txBody>
      </p:sp>
    </p:spTree>
    <p:extLst>
      <p:ext uri="{BB962C8B-B14F-4D97-AF65-F5344CB8AC3E}">
        <p14:creationId xmlns:p14="http://schemas.microsoft.com/office/powerpoint/2010/main" val="11361873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a:t>战略管理</a:t>
            </a:r>
            <a:r>
              <a:rPr kumimoji="1" lang="en-US" altLang="zh-CN" dirty="0"/>
              <a:t>50</a:t>
            </a:r>
            <a:r>
              <a:rPr kumimoji="1" lang="zh-CN" altLang="en-US" dirty="0"/>
              <a:t>年</a:t>
            </a:r>
          </a:p>
        </p:txBody>
      </p:sp>
      <p:sp>
        <p:nvSpPr>
          <p:cNvPr id="4" name="内容占位符 3"/>
          <p:cNvSpPr>
            <a:spLocks noGrp="1"/>
          </p:cNvSpPr>
          <p:nvPr>
            <p:ph idx="1"/>
          </p:nvPr>
        </p:nvSpPr>
        <p:spPr/>
        <p:txBody>
          <a:bodyPr>
            <a:normAutofit lnSpcReduction="10000"/>
          </a:bodyPr>
          <a:lstStyle/>
          <a:p>
            <a:pPr>
              <a:spcBef>
                <a:spcPts val="0"/>
              </a:spcBef>
              <a:spcAft>
                <a:spcPts val="0"/>
              </a:spcAft>
            </a:pPr>
            <a:r>
              <a:rPr kumimoji="1" lang="en-US" altLang="zh-CN" dirty="0"/>
              <a:t>1911</a:t>
            </a:r>
            <a:r>
              <a:rPr kumimoji="1" lang="zh-CN" altLang="en-US" dirty="0"/>
              <a:t>年泰勒科学管理，之父</a:t>
            </a:r>
            <a:endParaRPr kumimoji="1" lang="en-US" altLang="zh-CN" dirty="0"/>
          </a:p>
          <a:p>
            <a:pPr>
              <a:spcBef>
                <a:spcPts val="0"/>
              </a:spcBef>
              <a:spcAft>
                <a:spcPts val="0"/>
              </a:spcAft>
            </a:pPr>
            <a:r>
              <a:rPr kumimoji="1" lang="zh-CN" altLang="zh-CN" dirty="0"/>
              <a:t>1</a:t>
            </a:r>
            <a:r>
              <a:rPr kumimoji="1" lang="en-US" altLang="zh-CN" dirty="0"/>
              <a:t>916</a:t>
            </a:r>
            <a:r>
              <a:rPr kumimoji="1" lang="zh-CN" altLang="en-US" dirty="0"/>
              <a:t>年法约尔一般管理，现代管理之父</a:t>
            </a:r>
            <a:endParaRPr kumimoji="1" lang="en-US" altLang="zh-CN" dirty="0"/>
          </a:p>
          <a:p>
            <a:pPr>
              <a:spcBef>
                <a:spcPts val="0"/>
              </a:spcBef>
              <a:spcAft>
                <a:spcPts val="0"/>
              </a:spcAft>
            </a:pPr>
            <a:r>
              <a:rPr kumimoji="1" lang="en-US" altLang="zh-CN" dirty="0"/>
              <a:t>1911</a:t>
            </a:r>
            <a:r>
              <a:rPr kumimoji="1" lang="zh-CN" altLang="en-US" dirty="0"/>
              <a:t>马克斯韦伯官僚行政组织理论，之父</a:t>
            </a:r>
            <a:endParaRPr kumimoji="1" lang="en-US" altLang="zh-CN" dirty="0"/>
          </a:p>
          <a:p>
            <a:pPr>
              <a:spcBef>
                <a:spcPts val="0"/>
              </a:spcBef>
              <a:spcAft>
                <a:spcPts val="0"/>
              </a:spcAft>
            </a:pPr>
            <a:r>
              <a:rPr kumimoji="1" lang="zh-CN" altLang="en-US" dirty="0"/>
              <a:t>二战之后，大量生产－竞争－战略概念提出</a:t>
            </a:r>
            <a:endParaRPr kumimoji="1" lang="en-US" altLang="zh-CN" dirty="0"/>
          </a:p>
          <a:p>
            <a:pPr>
              <a:spcBef>
                <a:spcPts val="0"/>
              </a:spcBef>
              <a:spcAft>
                <a:spcPts val="0"/>
              </a:spcAft>
            </a:pPr>
            <a:r>
              <a:rPr kumimoji="1" lang="zh-CN" altLang="zh-CN" dirty="0"/>
              <a:t>1</a:t>
            </a:r>
            <a:r>
              <a:rPr kumimoji="1" lang="en-US" altLang="zh-CN" dirty="0"/>
              <a:t>962 </a:t>
            </a:r>
            <a:r>
              <a:rPr kumimoji="1" lang="zh-CN" altLang="en-US" dirty="0"/>
              <a:t>钱德勒：战略与结构，结构跟随战略</a:t>
            </a:r>
            <a:endParaRPr kumimoji="1" lang="en-US" altLang="zh-CN" dirty="0"/>
          </a:p>
          <a:p>
            <a:pPr>
              <a:spcBef>
                <a:spcPts val="0"/>
              </a:spcBef>
              <a:spcAft>
                <a:spcPts val="0"/>
              </a:spcAft>
            </a:pPr>
            <a:r>
              <a:rPr kumimoji="1" lang="zh-CN" altLang="zh-CN" dirty="0"/>
              <a:t>1</a:t>
            </a:r>
            <a:r>
              <a:rPr kumimoji="1" lang="en-US" altLang="zh-CN" dirty="0"/>
              <a:t>965 </a:t>
            </a:r>
            <a:r>
              <a:rPr kumimoji="1" lang="zh-CN" altLang="en-US" dirty="0"/>
              <a:t>安索夫：协同矩阵</a:t>
            </a:r>
            <a:endParaRPr kumimoji="1" lang="en-US" altLang="zh-CN" dirty="0"/>
          </a:p>
          <a:p>
            <a:pPr>
              <a:spcBef>
                <a:spcPts val="0"/>
              </a:spcBef>
              <a:spcAft>
                <a:spcPts val="0"/>
              </a:spcAft>
            </a:pPr>
            <a:r>
              <a:rPr kumimoji="1" lang="zh-CN" altLang="zh-CN" dirty="0"/>
              <a:t>1</a:t>
            </a:r>
            <a:r>
              <a:rPr kumimoji="1" lang="en-US" altLang="zh-CN" dirty="0"/>
              <a:t>965 </a:t>
            </a:r>
            <a:r>
              <a:rPr kumimoji="1" lang="zh-CN" altLang="en-US" dirty="0"/>
              <a:t>安德鲁斯：</a:t>
            </a:r>
            <a:r>
              <a:rPr kumimoji="1" lang="en-US" altLang="zh-CN" dirty="0"/>
              <a:t>SWOT</a:t>
            </a:r>
          </a:p>
          <a:p>
            <a:pPr>
              <a:spcBef>
                <a:spcPts val="0"/>
              </a:spcBef>
              <a:spcAft>
                <a:spcPts val="0"/>
              </a:spcAft>
            </a:pPr>
            <a:endParaRPr kumimoji="1" lang="en-US" altLang="zh-CN" dirty="0"/>
          </a:p>
          <a:p>
            <a:pPr>
              <a:spcBef>
                <a:spcPts val="0"/>
              </a:spcBef>
              <a:spcAft>
                <a:spcPts val="0"/>
              </a:spcAft>
            </a:pPr>
            <a:r>
              <a:rPr kumimoji="1" lang="zh-CN" altLang="en-US" dirty="0">
                <a:solidFill>
                  <a:srgbClr val="FF0000"/>
                </a:solidFill>
              </a:rPr>
              <a:t>奠基阶段，战略管理初步的理论框架和研究议题形成</a:t>
            </a:r>
            <a:endParaRPr kumimoji="1" lang="en-US" altLang="zh-CN" dirty="0">
              <a:solidFill>
                <a:srgbClr val="FF0000"/>
              </a:solidFill>
            </a:endParaRPr>
          </a:p>
          <a:p>
            <a:pPr lvl="1"/>
            <a:endParaRPr kumimoji="1" lang="zh-CN" altLang="en-US" dirty="0"/>
          </a:p>
        </p:txBody>
      </p:sp>
    </p:spTree>
    <p:extLst>
      <p:ext uri="{BB962C8B-B14F-4D97-AF65-F5344CB8AC3E}">
        <p14:creationId xmlns:p14="http://schemas.microsoft.com/office/powerpoint/2010/main" val="5977618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0120" name="Group 72"/>
          <p:cNvGraphicFramePr>
            <a:graphicFrameLocks noGrp="1"/>
          </p:cNvGraphicFramePr>
          <p:nvPr>
            <p:ph idx="4294967295"/>
            <p:extLst>
              <p:ext uri="{D42A27DB-BD31-4B8C-83A1-F6EECF244321}">
                <p14:modId xmlns:p14="http://schemas.microsoft.com/office/powerpoint/2010/main" val="1472950485"/>
              </p:ext>
            </p:extLst>
          </p:nvPr>
        </p:nvGraphicFramePr>
        <p:xfrm>
          <a:off x="2301945" y="838517"/>
          <a:ext cx="7796211" cy="5180966"/>
        </p:xfrm>
        <a:graphic>
          <a:graphicData uri="http://schemas.openxmlformats.org/drawingml/2006/table">
            <a:tbl>
              <a:tblPr/>
              <a:tblGrid>
                <a:gridCol w="5125739">
                  <a:extLst>
                    <a:ext uri="{9D8B030D-6E8A-4147-A177-3AD203B41FA5}">
                      <a16:colId xmlns:a16="http://schemas.microsoft.com/office/drawing/2014/main" val="20000"/>
                    </a:ext>
                  </a:extLst>
                </a:gridCol>
                <a:gridCol w="2670472">
                  <a:extLst>
                    <a:ext uri="{9D8B030D-6E8A-4147-A177-3AD203B41FA5}">
                      <a16:colId xmlns:a16="http://schemas.microsoft.com/office/drawing/2014/main" val="20001"/>
                    </a:ext>
                  </a:extLst>
                </a:gridCol>
              </a:tblGrid>
              <a:tr h="656416">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4000" b="0" i="0" u="none" strike="noStrike" cap="none" normalizeH="0" baseline="0" dirty="0">
                          <a:ln>
                            <a:noFill/>
                          </a:ln>
                          <a:solidFill>
                            <a:srgbClr val="FFFF00"/>
                          </a:solidFill>
                          <a:effectLst/>
                          <a:latin typeface="KaiTi" panose="02010609060101010101" pitchFamily="49" charset="-122"/>
                          <a:ea typeface="KaiTi" panose="02010609060101010101" pitchFamily="49" charset="-122"/>
                        </a:rPr>
                        <a:t>战略的定义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4000" b="0" i="0" u="none" strike="noStrike" cap="none" normalizeH="0" baseline="0" dirty="0">
                          <a:ln>
                            <a:noFill/>
                          </a:ln>
                          <a:solidFill>
                            <a:srgbClr val="FFFF00"/>
                          </a:solidFill>
                          <a:effectLst/>
                          <a:latin typeface="KaiTi" panose="02010609060101010101" pitchFamily="49" charset="-122"/>
                          <a:ea typeface="KaiTi" panose="02010609060101010101" pitchFamily="49" charset="-122"/>
                        </a:rPr>
                        <a:t>来   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8428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一个企业长期目标的决策，以及为实现这些目标所采取的路线和资源的配置。提出了“结构跟随战略”</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latin typeface="KaiTi" panose="02010609060101010101" pitchFamily="49" charset="-122"/>
                          <a:ea typeface="KaiTi" panose="02010609060101010101" pitchFamily="49" charset="-122"/>
                        </a:rPr>
                        <a:t>钱德勒（</a:t>
                      </a:r>
                      <a:r>
                        <a:rPr kumimoji="0" lang="en-US" altLang="zh-CN" sz="2400" b="1" i="0" u="none" strike="noStrike" cap="none" normalizeH="0" baseline="0">
                          <a:ln>
                            <a:noFill/>
                          </a:ln>
                          <a:solidFill>
                            <a:schemeClr val="tx1"/>
                          </a:solidFill>
                          <a:effectLst/>
                          <a:latin typeface="KaiTi" panose="02010609060101010101" pitchFamily="49" charset="-122"/>
                          <a:ea typeface="KaiTi" panose="02010609060101010101" pitchFamily="49" charset="-122"/>
                        </a:rPr>
                        <a:t>A.D.ChandlerJr.</a:t>
                      </a:r>
                      <a:r>
                        <a:rPr kumimoji="0" lang="zh-CN" altLang="en-US" sz="2400" b="1" i="0" u="none" strike="noStrike" cap="none" normalizeH="0" baseline="0">
                          <a:ln>
                            <a:noFill/>
                          </a:ln>
                          <a:solidFill>
                            <a:schemeClr val="tx1"/>
                          </a:solidFill>
                          <a:effectLst/>
                          <a:latin typeface="KaiTi" panose="02010609060101010101" pitchFamily="49" charset="-122"/>
                          <a:ea typeface="KaiTi" panose="02010609060101010101" pitchFamily="49" charset="-122"/>
                        </a:rPr>
                        <a:t>）</a:t>
                      </a:r>
                      <a:r>
                        <a:rPr kumimoji="0" lang="en-US" altLang="zh-CN" sz="2400" b="1" i="0" u="none" strike="noStrike" cap="none" normalizeH="0" baseline="0">
                          <a:ln>
                            <a:noFill/>
                          </a:ln>
                          <a:solidFill>
                            <a:schemeClr val="tx1"/>
                          </a:solidFill>
                          <a:effectLst/>
                          <a:latin typeface="KaiTi" panose="02010609060101010101" pitchFamily="49" charset="-122"/>
                          <a:ea typeface="KaiTi" panose="02010609060101010101" pitchFamily="49" charset="-122"/>
                        </a:rPr>
                        <a:t>1962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097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企业经营活动和产品、市场的共同主线，其主要四个成分是产品</a:t>
                      </a:r>
                      <a:r>
                        <a:rPr kumimoji="0" lang="en-US" altLang="zh-CN"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a:t>
                      </a: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市场范围、成长方向、竞争手段和协同作用。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伊戈尔</a:t>
                      </a:r>
                      <a:r>
                        <a:rPr kumimoji="0" lang="en-US" altLang="zh-CN"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a:t>
                      </a: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安索夫（</a:t>
                      </a:r>
                      <a:r>
                        <a:rPr kumimoji="0" lang="en-US" altLang="zh-CN" sz="2400" b="1" i="0" u="none" strike="noStrike" cap="none" normalizeH="0" baseline="0" dirty="0" err="1">
                          <a:ln>
                            <a:noFill/>
                          </a:ln>
                          <a:solidFill>
                            <a:schemeClr val="tx1"/>
                          </a:solidFill>
                          <a:effectLst/>
                          <a:latin typeface="KaiTi" panose="02010609060101010101" pitchFamily="49" charset="-122"/>
                          <a:ea typeface="KaiTi" panose="02010609060101010101" pitchFamily="49" charset="-122"/>
                        </a:rPr>
                        <a:t>I.IgorAnsoff</a:t>
                      </a: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a:t>
                      </a:r>
                      <a:r>
                        <a:rPr kumimoji="0" lang="en-US" altLang="zh-CN"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1965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78593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a:ln>
                            <a:noFill/>
                          </a:ln>
                          <a:solidFill>
                            <a:schemeClr val="tx1"/>
                          </a:solidFill>
                          <a:effectLst/>
                          <a:latin typeface="KaiTi" panose="02010609060101010101" pitchFamily="49" charset="-122"/>
                          <a:ea typeface="KaiTi" panose="02010609060101010101" pitchFamily="49" charset="-122"/>
                        </a:rPr>
                        <a:t>目标、目的以及为实现这些目的的主要政策和计划的类型，其表述方式定义了企业目前或将来所在的行业，以及企业目前或将来的性质。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安德鲁斯（</a:t>
                      </a:r>
                      <a:r>
                        <a:rPr kumimoji="0" lang="en-US" altLang="zh-CN" sz="2400" b="1" i="0" u="none" strike="noStrike" cap="none" normalizeH="0" baseline="0" dirty="0" err="1">
                          <a:ln>
                            <a:noFill/>
                          </a:ln>
                          <a:solidFill>
                            <a:schemeClr val="tx1"/>
                          </a:solidFill>
                          <a:effectLst/>
                          <a:latin typeface="KaiTi" panose="02010609060101010101" pitchFamily="49" charset="-122"/>
                          <a:ea typeface="KaiTi" panose="02010609060101010101" pitchFamily="49" charset="-122"/>
                        </a:rPr>
                        <a:t>K.Andrews</a:t>
                      </a: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a:t>
                      </a:r>
                      <a:r>
                        <a:rPr kumimoji="0" lang="en-US" altLang="zh-CN"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a:t>
                      </a:r>
                    </a:p>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altLang="zh-CN"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rPr>
                        <a:t>1965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a:t>钱德勒</a:t>
            </a:r>
          </a:p>
        </p:txBody>
      </p:sp>
      <p:sp>
        <p:nvSpPr>
          <p:cNvPr id="4" name="内容占位符 3"/>
          <p:cNvSpPr>
            <a:spLocks noGrp="1"/>
          </p:cNvSpPr>
          <p:nvPr>
            <p:ph idx="1"/>
          </p:nvPr>
        </p:nvSpPr>
        <p:spPr>
          <a:xfrm>
            <a:off x="2773599" y="1243733"/>
            <a:ext cx="7796540" cy="3997828"/>
          </a:xfrm>
        </p:spPr>
        <p:txBody>
          <a:bodyPr/>
          <a:lstStyle/>
          <a:p>
            <a:r>
              <a:rPr kumimoji="1" lang="en-US" altLang="zh-CN" dirty="0"/>
              <a:t>1918-2007</a:t>
            </a:r>
          </a:p>
          <a:p>
            <a:r>
              <a:rPr kumimoji="1" lang="zh-CN" altLang="en-US" dirty="0"/>
              <a:t>哈佛大学毕业，企业史学教授</a:t>
            </a:r>
            <a:endParaRPr kumimoji="1" lang="en-US" altLang="zh-CN" dirty="0"/>
          </a:p>
          <a:p>
            <a:r>
              <a:rPr kumimoji="1" lang="zh-CN" altLang="zh-CN" dirty="0"/>
              <a:t>1</a:t>
            </a:r>
            <a:r>
              <a:rPr kumimoji="1" lang="en-US" altLang="zh-CN" dirty="0"/>
              <a:t>962《</a:t>
            </a:r>
            <a:r>
              <a:rPr kumimoji="1" lang="zh-CN" altLang="en-US" dirty="0"/>
              <a:t>战略与结构</a:t>
            </a:r>
            <a:r>
              <a:rPr kumimoji="1" lang="en-US" altLang="zh-CN" dirty="0"/>
              <a:t>》</a:t>
            </a:r>
            <a:r>
              <a:rPr kumimoji="1" lang="zh-CN" altLang="en-US" dirty="0"/>
              <a:t>，实施多元化战略的企业，其组织结构从职能走向事业部制，</a:t>
            </a:r>
            <a:r>
              <a:rPr kumimoji="1" lang="zh-CN" altLang="zh-CN" dirty="0"/>
              <a:t>“</a:t>
            </a:r>
            <a:r>
              <a:rPr kumimoji="1" lang="zh-CN" altLang="en-US" dirty="0"/>
              <a:t>结构跟随战略”</a:t>
            </a:r>
          </a:p>
        </p:txBody>
      </p:sp>
    </p:spTree>
    <p:extLst>
      <p:ext uri="{BB962C8B-B14F-4D97-AF65-F5344CB8AC3E}">
        <p14:creationId xmlns:p14="http://schemas.microsoft.com/office/powerpoint/2010/main" val="13980681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905000" y="457200"/>
            <a:ext cx="8458200" cy="1143000"/>
          </a:xfrm>
        </p:spPr>
        <p:txBody>
          <a:bodyPr/>
          <a:lstStyle/>
          <a:p>
            <a:pPr marL="54864">
              <a:defRPr/>
            </a:pPr>
            <a:r>
              <a:rPr lang="zh-CN" altLang="en-US" sz="4000" b="1" dirty="0">
                <a:solidFill>
                  <a:schemeClr val="tx2">
                    <a:tint val="100000"/>
                    <a:shade val="90000"/>
                    <a:satMod val="250000"/>
                    <a:alpha val="100000"/>
                  </a:schemeClr>
                </a:solidFill>
              </a:rPr>
              <a:t>安索夫</a:t>
            </a:r>
            <a:r>
              <a:rPr lang="en-US" altLang="zh-CN" sz="4000" b="1" dirty="0">
                <a:solidFill>
                  <a:schemeClr val="tx2">
                    <a:tint val="100000"/>
                    <a:shade val="90000"/>
                    <a:satMod val="250000"/>
                    <a:alpha val="100000"/>
                  </a:schemeClr>
                </a:solidFill>
              </a:rPr>
              <a:t>-</a:t>
            </a:r>
            <a:r>
              <a:rPr lang="zh-CN" altLang="en-US" sz="4000" b="1" dirty="0">
                <a:solidFill>
                  <a:schemeClr val="tx2">
                    <a:tint val="100000"/>
                    <a:shade val="90000"/>
                    <a:satMod val="250000"/>
                    <a:alpha val="100000"/>
                  </a:schemeClr>
                </a:solidFill>
              </a:rPr>
              <a:t>共同经营主线</a:t>
            </a:r>
          </a:p>
        </p:txBody>
      </p:sp>
      <p:sp>
        <p:nvSpPr>
          <p:cNvPr id="32771" name="Rectangle 3"/>
          <p:cNvSpPr>
            <a:spLocks noGrp="1" noChangeArrowheads="1"/>
          </p:cNvSpPr>
          <p:nvPr>
            <p:ph type="body" idx="1"/>
          </p:nvPr>
        </p:nvSpPr>
        <p:spPr>
          <a:xfrm>
            <a:off x="2133600" y="1676400"/>
            <a:ext cx="8153400" cy="4114800"/>
          </a:xfrm>
        </p:spPr>
        <p:txBody>
          <a:bodyPr>
            <a:normAutofit fontScale="92500" lnSpcReduction="20000"/>
          </a:bodyPr>
          <a:lstStyle/>
          <a:p>
            <a:pPr algn="just">
              <a:lnSpc>
                <a:spcPct val="90000"/>
              </a:lnSpc>
              <a:spcBef>
                <a:spcPts val="0"/>
              </a:spcBef>
              <a:spcAft>
                <a:spcPts val="0"/>
              </a:spcAft>
              <a:defRPr/>
            </a:pPr>
            <a:r>
              <a:rPr lang="zh-CN" altLang="en-US" sz="2800" dirty="0"/>
              <a:t>企业战略是贯穿于企业经营与产品和市场之间的一条“</a:t>
            </a:r>
            <a:r>
              <a:rPr lang="zh-CN" altLang="en-US" sz="2800" dirty="0">
                <a:solidFill>
                  <a:srgbClr val="CC3300"/>
                </a:solidFill>
              </a:rPr>
              <a:t>共同经营主线</a:t>
            </a:r>
            <a:r>
              <a:rPr lang="zh-CN" altLang="en-US" sz="2800" dirty="0"/>
              <a:t>”，决定着企业目前所从事的、或者计划要从事的经营业务的基本性质。</a:t>
            </a:r>
          </a:p>
          <a:p>
            <a:pPr algn="just">
              <a:lnSpc>
                <a:spcPct val="90000"/>
              </a:lnSpc>
              <a:spcBef>
                <a:spcPts val="0"/>
              </a:spcBef>
              <a:spcAft>
                <a:spcPts val="0"/>
              </a:spcAft>
              <a:defRPr/>
            </a:pPr>
            <a:r>
              <a:rPr lang="zh-CN" altLang="en-US" sz="2800" dirty="0"/>
              <a:t>安索夫指出，企业在制定战略时，有必要首先确定自己的经营性质。不论是以产品系列的性质还是按照构成产品系列的技术来确定企业的经营性质，</a:t>
            </a:r>
            <a:r>
              <a:rPr lang="zh-CN" altLang="en-US" sz="2800" b="1" dirty="0"/>
              <a:t>企业目前的产品和市场与企业未来的产品和市场之间一定存在着一种内在的联系。这种内在的联系被称为</a:t>
            </a:r>
            <a:r>
              <a:rPr lang="zh-CN" altLang="en-US" sz="2800" dirty="0"/>
              <a:t>“</a:t>
            </a:r>
            <a:r>
              <a:rPr lang="zh-CN" altLang="en-US" sz="2800" dirty="0">
                <a:solidFill>
                  <a:srgbClr val="CC3300"/>
                </a:solidFill>
              </a:rPr>
              <a:t>共同经营主线</a:t>
            </a:r>
            <a:r>
              <a:rPr lang="zh-CN" altLang="en-US" sz="2800" dirty="0"/>
              <a:t>”。</a:t>
            </a:r>
          </a:p>
          <a:p>
            <a:pPr algn="just">
              <a:lnSpc>
                <a:spcPct val="90000"/>
              </a:lnSpc>
              <a:spcBef>
                <a:spcPts val="0"/>
              </a:spcBef>
              <a:spcAft>
                <a:spcPts val="0"/>
              </a:spcAft>
              <a:defRPr/>
            </a:pPr>
            <a:r>
              <a:rPr lang="zh-CN" altLang="en-US" sz="2800" b="1" dirty="0"/>
              <a:t>通过分析这种共同的经营主线，可以把握企业运行的方向，寻找企业发展的新使命。</a:t>
            </a:r>
            <a:endParaRPr lang="en-US" altLang="zh-CN" sz="2800" b="1" dirty="0"/>
          </a:p>
          <a:p>
            <a:pPr algn="just">
              <a:lnSpc>
                <a:spcPct val="90000"/>
              </a:lnSpc>
              <a:spcBef>
                <a:spcPts val="0"/>
              </a:spcBef>
              <a:spcAft>
                <a:spcPts val="0"/>
              </a:spcAft>
              <a:defRPr/>
            </a:pPr>
            <a:r>
              <a:rPr lang="en-US" altLang="zh-CN" sz="2800" b="1" dirty="0"/>
              <a:t>Netflix</a:t>
            </a:r>
            <a:endParaRPr lang="zh-CN" altLang="en-US" sz="2800" b="1" dirty="0"/>
          </a:p>
          <a:p>
            <a:pPr>
              <a:lnSpc>
                <a:spcPct val="90000"/>
              </a:lnSpc>
              <a:spcBef>
                <a:spcPts val="0"/>
              </a:spcBef>
              <a:spcAft>
                <a:spcPts val="0"/>
              </a:spcAft>
              <a:defRPr/>
            </a:pPr>
            <a:r>
              <a:rPr lang="zh-CN" altLang="en-US" sz="2800" dirty="0"/>
              <a:t>乐凯胶片</a:t>
            </a:r>
            <a:r>
              <a:rPr lang="en-US" altLang="zh-CN" sz="2800" dirty="0"/>
              <a:t>-</a:t>
            </a:r>
            <a:r>
              <a:rPr lang="zh-CN" altLang="en-US" sz="2800" dirty="0"/>
              <a:t>光伏背膜、医用</a:t>
            </a:r>
            <a:r>
              <a:rPr lang="en-US" altLang="zh-CN" sz="2800" dirty="0"/>
              <a:t>X</a:t>
            </a:r>
            <a:r>
              <a:rPr lang="zh-CN" altLang="en-US" sz="2800" dirty="0"/>
              <a:t>光胶片</a:t>
            </a:r>
            <a:endParaRPr lang="en-US" altLang="zh-CN" sz="2800"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E2F486-185C-184D-8820-085395BD9DAC}"/>
              </a:ext>
            </a:extLst>
          </p:cNvPr>
          <p:cNvSpPr>
            <a:spLocks noGrp="1"/>
          </p:cNvSpPr>
          <p:nvPr>
            <p:ph type="title"/>
          </p:nvPr>
        </p:nvSpPr>
        <p:spPr/>
        <p:txBody>
          <a:bodyPr/>
          <a:lstStyle/>
          <a:p>
            <a:r>
              <a:rPr kumimoji="1" lang="en-US" altLang="zh-CN" dirty="0"/>
              <a:t>Netflix</a:t>
            </a:r>
            <a:endParaRPr kumimoji="1" lang="zh-CN" altLang="en-US" dirty="0"/>
          </a:p>
        </p:txBody>
      </p:sp>
      <p:sp>
        <p:nvSpPr>
          <p:cNvPr id="3" name="内容占位符 2">
            <a:extLst>
              <a:ext uri="{FF2B5EF4-FFF2-40B4-BE49-F238E27FC236}">
                <a16:creationId xmlns:a16="http://schemas.microsoft.com/office/drawing/2014/main" id="{412E44C5-230E-C24C-9D04-1AF6471092EA}"/>
              </a:ext>
            </a:extLst>
          </p:cNvPr>
          <p:cNvSpPr>
            <a:spLocks noGrp="1"/>
          </p:cNvSpPr>
          <p:nvPr>
            <p:ph idx="1"/>
          </p:nvPr>
        </p:nvSpPr>
        <p:spPr>
          <a:xfrm>
            <a:off x="2773598" y="2173356"/>
            <a:ext cx="7958331" cy="4108174"/>
          </a:xfrm>
        </p:spPr>
        <p:txBody>
          <a:bodyPr>
            <a:normAutofit fontScale="62500" lnSpcReduction="20000"/>
          </a:bodyPr>
          <a:lstStyle/>
          <a:p>
            <a:r>
              <a:rPr kumimoji="1" lang="zh-CN" altLang="en-US" dirty="0"/>
              <a:t>中国的爱奇艺、优酷、腾讯视频</a:t>
            </a:r>
            <a:endParaRPr kumimoji="1" lang="en-US" altLang="zh-CN" dirty="0"/>
          </a:p>
          <a:p>
            <a:r>
              <a:rPr kumimoji="1" lang="en-US" altLang="zh-CN" dirty="0"/>
              <a:t>Netflix</a:t>
            </a:r>
            <a:r>
              <a:rPr kumimoji="1" lang="zh-CN" altLang="en-US" dirty="0"/>
              <a:t>，</a:t>
            </a:r>
            <a:r>
              <a:rPr kumimoji="1" lang="en-US" altLang="zh-CN" dirty="0"/>
              <a:t>1977</a:t>
            </a:r>
            <a:r>
              <a:rPr kumimoji="1" lang="zh-CN" altLang="en-US" dirty="0"/>
              <a:t>年成立，录像带租赁，录像带租赁行业收入大于电影院票房</a:t>
            </a:r>
            <a:endParaRPr kumimoji="1" lang="en-US" altLang="zh-CN" dirty="0"/>
          </a:p>
          <a:p>
            <a:r>
              <a:rPr kumimoji="1" lang="zh-CN" altLang="en-US" dirty="0"/>
              <a:t>营收不好，</a:t>
            </a:r>
            <a:r>
              <a:rPr kumimoji="1" lang="en-US" altLang="zh-CN" dirty="0"/>
              <a:t>2005</a:t>
            </a:r>
            <a:r>
              <a:rPr kumimoji="1" lang="zh-CN" altLang="en-US" dirty="0"/>
              <a:t>年希望</a:t>
            </a:r>
            <a:r>
              <a:rPr kumimoji="1" lang="en-US" altLang="zh-CN" dirty="0"/>
              <a:t>5000</a:t>
            </a:r>
            <a:r>
              <a:rPr kumimoji="1" lang="zh-CN" altLang="en-US" dirty="0"/>
              <a:t>万卖给百视达（</a:t>
            </a:r>
            <a:r>
              <a:rPr kumimoji="1" lang="en-US" altLang="zh-CN" dirty="0"/>
              <a:t>Blockbuster</a:t>
            </a:r>
            <a:r>
              <a:rPr kumimoji="1" lang="zh-CN" altLang="en-US" dirty="0"/>
              <a:t>），被拒，后市值</a:t>
            </a:r>
            <a:r>
              <a:rPr kumimoji="1" lang="en-US" altLang="zh-CN" dirty="0"/>
              <a:t>1000</a:t>
            </a:r>
            <a:r>
              <a:rPr kumimoji="1" lang="zh-CN" altLang="en-US" dirty="0"/>
              <a:t>亿美元</a:t>
            </a:r>
            <a:endParaRPr kumimoji="1" lang="en-US" altLang="zh-CN" dirty="0"/>
          </a:p>
          <a:p>
            <a:r>
              <a:rPr kumimoji="1" lang="zh-CN" altLang="en-US" dirty="0"/>
              <a:t>用户</a:t>
            </a:r>
            <a:r>
              <a:rPr kumimoji="1" lang="en-US" altLang="zh-CN" dirty="0"/>
              <a:t>e-mail</a:t>
            </a:r>
            <a:r>
              <a:rPr kumimoji="1" lang="zh-CN" altLang="en-US" dirty="0"/>
              <a:t>选片下单，片源浩瀚，长尾，包月，</a:t>
            </a:r>
            <a:r>
              <a:rPr kumimoji="1" lang="en-US" altLang="zh-CN" dirty="0"/>
              <a:t>2006</a:t>
            </a:r>
            <a:r>
              <a:rPr kumimoji="1" lang="zh-CN" altLang="en-US" dirty="0"/>
              <a:t>年视频推荐算法大赛取得突破，成为持续至今的竞争优势</a:t>
            </a:r>
            <a:endParaRPr kumimoji="1" lang="en-US" altLang="zh-CN" dirty="0"/>
          </a:p>
          <a:p>
            <a:r>
              <a:rPr kumimoji="1" lang="en-US" altLang="zh-CN" dirty="0"/>
              <a:t>DVD</a:t>
            </a:r>
            <a:r>
              <a:rPr kumimoji="1" lang="zh-CN" altLang="en-US" dirty="0"/>
              <a:t>出现，转向</a:t>
            </a:r>
            <a:r>
              <a:rPr kumimoji="1" lang="en-US" altLang="zh-CN" dirty="0"/>
              <a:t>DVD</a:t>
            </a:r>
            <a:r>
              <a:rPr kumimoji="1" lang="zh-CN" altLang="en-US" dirty="0"/>
              <a:t>，百视达不想放弃录像带。</a:t>
            </a:r>
            <a:endParaRPr kumimoji="1" lang="en-US" altLang="zh-CN" dirty="0"/>
          </a:p>
          <a:p>
            <a:r>
              <a:rPr kumimoji="1" lang="zh-CN" altLang="en-US" dirty="0"/>
              <a:t>流媒体。。创始人说，我最大的恐惧是我能否从</a:t>
            </a:r>
            <a:r>
              <a:rPr kumimoji="1" lang="en-US" altLang="zh-CN" dirty="0"/>
              <a:t>DVD</a:t>
            </a:r>
            <a:r>
              <a:rPr kumimoji="1" lang="zh-CN" altLang="en-US" dirty="0"/>
              <a:t>的成功跳出。</a:t>
            </a:r>
            <a:endParaRPr kumimoji="1" lang="en-US" altLang="zh-CN" dirty="0"/>
          </a:p>
          <a:p>
            <a:r>
              <a:rPr kumimoji="1" lang="zh-CN" altLang="en-US" dirty="0"/>
              <a:t>后涉足影视制作，后向一体化</a:t>
            </a:r>
            <a:endParaRPr kumimoji="1" lang="en-US" altLang="zh-CN" dirty="0"/>
          </a:p>
          <a:p>
            <a:r>
              <a:rPr kumimoji="1" lang="zh-CN" altLang="en-US" dirty="0"/>
              <a:t>从</a:t>
            </a:r>
            <a:r>
              <a:rPr kumimoji="1" lang="en-US" altLang="zh-CN" dirty="0"/>
              <a:t>DVD</a:t>
            </a:r>
            <a:r>
              <a:rPr kumimoji="1" lang="zh-CN" altLang="en-US" dirty="0"/>
              <a:t>转到流媒体，从流媒体转向后向一体化，都是风险和跳跃非常大的决策。决策基于</a:t>
            </a:r>
            <a:r>
              <a:rPr kumimoji="1" lang="en-US" altLang="zh-CN" dirty="0"/>
              <a:t>perspective</a:t>
            </a:r>
            <a:r>
              <a:rPr kumimoji="1" lang="zh-CN" altLang="en-US" dirty="0"/>
              <a:t>。</a:t>
            </a:r>
            <a:endParaRPr kumimoji="1" lang="en-US" altLang="zh-CN" dirty="0"/>
          </a:p>
          <a:p>
            <a:endParaRPr kumimoji="1" lang="en-US" altLang="zh-CN" dirty="0"/>
          </a:p>
          <a:p>
            <a:endParaRPr kumimoji="1" lang="en-US" altLang="zh-CN" dirty="0"/>
          </a:p>
          <a:p>
            <a:endParaRPr kumimoji="1" lang="en-US" altLang="zh-CN" dirty="0"/>
          </a:p>
        </p:txBody>
      </p:sp>
    </p:spTree>
    <p:extLst>
      <p:ext uri="{BB962C8B-B14F-4D97-AF65-F5344CB8AC3E}">
        <p14:creationId xmlns:p14="http://schemas.microsoft.com/office/powerpoint/2010/main" val="41392567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905000" y="533400"/>
            <a:ext cx="8458200" cy="1143000"/>
          </a:xfrm>
        </p:spPr>
        <p:txBody>
          <a:bodyPr/>
          <a:lstStyle/>
          <a:p>
            <a:pPr marL="54864">
              <a:defRPr/>
            </a:pPr>
            <a:r>
              <a:rPr lang="zh-CN" altLang="en-US" b="1" dirty="0">
                <a:solidFill>
                  <a:schemeClr val="tx2">
                    <a:tint val="100000"/>
                    <a:shade val="90000"/>
                    <a:satMod val="250000"/>
                    <a:alpha val="100000"/>
                  </a:schemeClr>
                </a:solidFill>
                <a:cs typeface="+mj-cs"/>
              </a:rPr>
              <a:t>安索夫</a:t>
            </a:r>
            <a:r>
              <a:rPr lang="en-US" altLang="zh-CN" b="1" dirty="0">
                <a:solidFill>
                  <a:schemeClr val="tx2">
                    <a:tint val="100000"/>
                    <a:shade val="90000"/>
                    <a:satMod val="250000"/>
                    <a:alpha val="100000"/>
                  </a:schemeClr>
                </a:solidFill>
                <a:cs typeface="+mj-cs"/>
              </a:rPr>
              <a:t>-</a:t>
            </a:r>
            <a:r>
              <a:rPr lang="zh-CN" altLang="en-US" b="1" dirty="0">
                <a:solidFill>
                  <a:schemeClr val="tx2">
                    <a:tint val="100000"/>
                    <a:shade val="90000"/>
                    <a:satMod val="250000"/>
                    <a:alpha val="100000"/>
                  </a:schemeClr>
                </a:solidFill>
                <a:cs typeface="+mj-cs"/>
              </a:rPr>
              <a:t>战略构成四要素</a:t>
            </a:r>
          </a:p>
        </p:txBody>
      </p:sp>
      <p:sp>
        <p:nvSpPr>
          <p:cNvPr id="21506" name="Rectangle 3"/>
          <p:cNvSpPr>
            <a:spLocks noGrp="1" noChangeArrowheads="1"/>
          </p:cNvSpPr>
          <p:nvPr>
            <p:ph type="body" idx="1"/>
          </p:nvPr>
        </p:nvSpPr>
        <p:spPr>
          <a:xfrm>
            <a:off x="2247900" y="1371600"/>
            <a:ext cx="7772400" cy="4114800"/>
          </a:xfrm>
        </p:spPr>
        <p:txBody>
          <a:bodyPr/>
          <a:lstStyle/>
          <a:p>
            <a:r>
              <a:rPr lang="en-US" altLang="zh-CN" sz="2800" dirty="0"/>
              <a:t> 1. </a:t>
            </a:r>
            <a:r>
              <a:rPr lang="zh-CN" altLang="en-US" sz="2800" dirty="0"/>
              <a:t>产品和市场范围         获利能力的范围          </a:t>
            </a:r>
          </a:p>
          <a:p>
            <a:r>
              <a:rPr lang="zh-CN" altLang="en-US" sz="2800" dirty="0"/>
              <a:t> </a:t>
            </a:r>
            <a:r>
              <a:rPr lang="en-US" altLang="zh-CN" sz="2800" dirty="0"/>
              <a:t>2. </a:t>
            </a:r>
            <a:r>
              <a:rPr lang="zh-CN" altLang="en-US" sz="2800" dirty="0"/>
              <a:t>竞争优势                     获利能力的保证          </a:t>
            </a:r>
          </a:p>
          <a:p>
            <a:r>
              <a:rPr lang="zh-CN" altLang="en-US" sz="2800" dirty="0"/>
              <a:t> </a:t>
            </a:r>
            <a:r>
              <a:rPr lang="en-US" altLang="zh-CN" sz="2800" dirty="0"/>
              <a:t>3. </a:t>
            </a:r>
            <a:r>
              <a:rPr lang="zh-CN" altLang="en-US" sz="2800" dirty="0"/>
              <a:t>协同作用         获利能力的进一步挖潜</a:t>
            </a:r>
          </a:p>
          <a:p>
            <a:r>
              <a:rPr lang="zh-CN" altLang="en-US" sz="2800" dirty="0"/>
              <a:t> </a:t>
            </a:r>
            <a:r>
              <a:rPr lang="en-US" altLang="zh-CN" sz="2800" dirty="0"/>
              <a:t>4. </a:t>
            </a:r>
            <a:r>
              <a:rPr lang="zh-CN" altLang="en-US" sz="2800" dirty="0"/>
              <a:t>成长方向             获利能力的扩展方向</a:t>
            </a:r>
          </a:p>
          <a:p>
            <a:endParaRPr lang="en-US" altLang="zh-CN"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产品市场组合矩阵</a:t>
            </a:r>
          </a:p>
        </p:txBody>
      </p:sp>
      <p:pic>
        <p:nvPicPr>
          <p:cNvPr id="4" name="内容占位符 3" descr="b2de9c82d158ccbfec8ca91919d8bc3eb13541e4.jpg"/>
          <p:cNvPicPr>
            <a:picLocks noGrp="1" noChangeAspect="1"/>
          </p:cNvPicPr>
          <p:nvPr>
            <p:ph idx="1"/>
          </p:nvPr>
        </p:nvPicPr>
        <p:blipFill>
          <a:blip r:embed="rId3">
            <a:extLst>
              <a:ext uri="{28A0092B-C50C-407E-A947-70E740481C1C}">
                <a14:useLocalDpi xmlns:a14="http://schemas.microsoft.com/office/drawing/2010/main" val="0"/>
              </a:ext>
            </a:extLst>
          </a:blip>
          <a:srcRect t="4085" b="4085"/>
          <a:stretch>
            <a:fillRect/>
          </a:stretch>
        </p:blipFill>
        <p:spPr>
          <a:xfrm>
            <a:off x="3216275" y="1989138"/>
            <a:ext cx="6199188" cy="4291012"/>
          </a:xfrm>
        </p:spPr>
      </p:pic>
    </p:spTree>
    <p:extLst>
      <p:ext uri="{BB962C8B-B14F-4D97-AF65-F5344CB8AC3E}">
        <p14:creationId xmlns:p14="http://schemas.microsoft.com/office/powerpoint/2010/main" val="7398199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981200" y="485800"/>
            <a:ext cx="8077200" cy="1143000"/>
          </a:xfrm>
        </p:spPr>
        <p:txBody>
          <a:bodyPr/>
          <a:lstStyle/>
          <a:p>
            <a:pPr marL="54864">
              <a:defRPr/>
            </a:pPr>
            <a:r>
              <a:rPr lang="zh-CN" altLang="en-US" b="1" dirty="0">
                <a:solidFill>
                  <a:schemeClr val="tx2">
                    <a:tint val="100000"/>
                    <a:shade val="90000"/>
                    <a:satMod val="250000"/>
                    <a:alpha val="100000"/>
                  </a:schemeClr>
                </a:solidFill>
                <a:cs typeface="+mj-cs"/>
              </a:rPr>
              <a:t>安德鲁斯</a:t>
            </a:r>
          </a:p>
        </p:txBody>
      </p:sp>
      <p:sp>
        <p:nvSpPr>
          <p:cNvPr id="22530" name="Rectangle 3"/>
          <p:cNvSpPr>
            <a:spLocks noGrp="1" noChangeArrowheads="1"/>
          </p:cNvSpPr>
          <p:nvPr>
            <p:ph type="body" idx="1"/>
          </p:nvPr>
        </p:nvSpPr>
        <p:spPr>
          <a:xfrm>
            <a:off x="2286000" y="1908313"/>
            <a:ext cx="8077200" cy="4114800"/>
          </a:xfrm>
        </p:spPr>
        <p:txBody>
          <a:bodyPr>
            <a:normAutofit fontScale="92500" lnSpcReduction="20000"/>
          </a:bodyPr>
          <a:lstStyle/>
          <a:p>
            <a:pPr algn="just">
              <a:spcBef>
                <a:spcPts val="0"/>
              </a:spcBef>
              <a:spcAft>
                <a:spcPts val="0"/>
              </a:spcAft>
            </a:pPr>
            <a:r>
              <a:rPr lang="zh-CN" altLang="en-US" sz="2800" u="sng" dirty="0">
                <a:latin typeface="宋体" charset="-122"/>
              </a:rPr>
              <a:t>安德鲁斯</a:t>
            </a:r>
            <a:r>
              <a:rPr lang="zh-CN" altLang="en-US" sz="2800" dirty="0">
                <a:latin typeface="宋体" charset="-122"/>
              </a:rPr>
              <a:t>认为：战略是</a:t>
            </a:r>
            <a:r>
              <a:rPr lang="zh-CN" altLang="en-US" sz="2800" dirty="0">
                <a:solidFill>
                  <a:schemeClr val="accent2"/>
                </a:solidFill>
                <a:latin typeface="宋体" charset="-122"/>
              </a:rPr>
              <a:t>目标</a:t>
            </a:r>
            <a:r>
              <a:rPr lang="zh-CN" altLang="en-US" sz="2800" dirty="0">
                <a:latin typeface="宋体" charset="-122"/>
              </a:rPr>
              <a:t>、意图或</a:t>
            </a:r>
            <a:r>
              <a:rPr lang="zh-CN" altLang="en-US" sz="2800" dirty="0">
                <a:solidFill>
                  <a:srgbClr val="DA1F28"/>
                </a:solidFill>
                <a:latin typeface="宋体" charset="-122"/>
              </a:rPr>
              <a:t>目的</a:t>
            </a:r>
            <a:r>
              <a:rPr lang="zh-CN" altLang="en-US" sz="2800" dirty="0">
                <a:latin typeface="宋体" charset="-122"/>
              </a:rPr>
              <a:t>，以及为达到这些目的而制定的主要方针和计划的一种决策模式</a:t>
            </a:r>
            <a:r>
              <a:rPr lang="en-US" altLang="zh-CN" sz="2800" dirty="0">
                <a:latin typeface="宋体" charset="-122"/>
              </a:rPr>
              <a:t>(a mode  of  decision )</a:t>
            </a:r>
            <a:r>
              <a:rPr lang="zh-CN" altLang="en-US" sz="2800" dirty="0">
                <a:latin typeface="宋体" charset="-122"/>
              </a:rPr>
              <a:t>。</a:t>
            </a:r>
            <a:endParaRPr lang="en-US" altLang="zh-CN" sz="2800" dirty="0">
              <a:latin typeface="宋体" charset="-122"/>
            </a:endParaRPr>
          </a:p>
          <a:p>
            <a:pPr algn="just">
              <a:spcBef>
                <a:spcPts val="0"/>
              </a:spcBef>
              <a:spcAft>
                <a:spcPts val="0"/>
              </a:spcAft>
            </a:pPr>
            <a:r>
              <a:rPr lang="en-US" altLang="zh-CN" sz="2800" dirty="0">
                <a:latin typeface="宋体" charset="-122"/>
              </a:rPr>
              <a:t>SWOT</a:t>
            </a:r>
            <a:r>
              <a:rPr lang="zh-CN" altLang="en-US" sz="2800" dirty="0">
                <a:latin typeface="宋体" charset="-122"/>
              </a:rPr>
              <a:t>分析框架创始人</a:t>
            </a:r>
          </a:p>
          <a:p>
            <a:pPr algn="just">
              <a:spcBef>
                <a:spcPts val="0"/>
              </a:spcBef>
              <a:spcAft>
                <a:spcPts val="0"/>
              </a:spcAft>
            </a:pPr>
            <a:r>
              <a:rPr lang="zh-CN" altLang="en-US" sz="2800" dirty="0">
                <a:latin typeface="宋体" charset="-122"/>
              </a:rPr>
              <a:t>企业经营战略是在企业外部环境因素（决定企业可能干什么）和企业内部资源与运作</a:t>
            </a:r>
            <a:r>
              <a:rPr lang="zh-CN" altLang="zh-CN" sz="2800" dirty="0">
                <a:latin typeface="宋体" charset="-122"/>
              </a:rPr>
              <a:t>（</a:t>
            </a:r>
            <a:r>
              <a:rPr lang="zh-CN" altLang="en-US" sz="2800" dirty="0">
                <a:latin typeface="宋体" charset="-122"/>
              </a:rPr>
              <a:t>决定企业能够做什么）之间寻求契合</a:t>
            </a:r>
            <a:endParaRPr lang="en-US" altLang="zh-CN" sz="2800" dirty="0">
              <a:latin typeface="宋体" charset="-122"/>
            </a:endParaRPr>
          </a:p>
          <a:p>
            <a:pPr algn="just">
              <a:spcBef>
                <a:spcPts val="0"/>
              </a:spcBef>
              <a:spcAft>
                <a:spcPts val="0"/>
              </a:spcAft>
            </a:pPr>
            <a:r>
              <a:rPr lang="zh-CN" altLang="en-US" sz="2800" dirty="0">
                <a:latin typeface="宋体" charset="-122"/>
              </a:rPr>
              <a:t>影响因素：企业想干什么（决策者个人偏好），企业应该干什么（社会责任）</a:t>
            </a:r>
            <a:endParaRPr lang="en-US" altLang="zh-CN" sz="2800" dirty="0">
              <a:latin typeface="宋体" charset="-122"/>
            </a:endParaRPr>
          </a:p>
          <a:p>
            <a:pPr algn="just">
              <a:spcBef>
                <a:spcPts val="0"/>
              </a:spcBef>
              <a:spcAft>
                <a:spcPts val="0"/>
              </a:spcAft>
            </a:pPr>
            <a:r>
              <a:rPr lang="zh-CN" altLang="en-US" sz="2800" dirty="0">
                <a:latin typeface="宋体" charset="-122"/>
              </a:rPr>
              <a:t>利用优势抓住机会</a:t>
            </a:r>
          </a:p>
          <a:p>
            <a:pPr algn="just">
              <a:spcBef>
                <a:spcPts val="0"/>
              </a:spcBef>
              <a:spcAft>
                <a:spcPts val="0"/>
              </a:spcAft>
            </a:pPr>
            <a:endParaRPr lang="zh-CN" altLang="en-US" sz="2800" dirty="0">
              <a:latin typeface="宋体" charset="-122"/>
            </a:endParaRPr>
          </a:p>
          <a:p>
            <a:pPr algn="just">
              <a:spcBef>
                <a:spcPts val="0"/>
              </a:spcBef>
              <a:spcAft>
                <a:spcPts val="0"/>
              </a:spcAft>
            </a:pPr>
            <a:endParaRPr lang="en-US" altLang="zh-CN" sz="2800"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340539" y="808056"/>
            <a:ext cx="8229600" cy="1143000"/>
          </a:xfrm>
        </p:spPr>
        <p:txBody>
          <a:bodyPr/>
          <a:lstStyle/>
          <a:p>
            <a:pPr marL="54864">
              <a:defRPr/>
            </a:pPr>
            <a:r>
              <a:rPr lang="zh-CN" altLang="en-US" dirty="0">
                <a:solidFill>
                  <a:schemeClr val="tx2">
                    <a:tint val="100000"/>
                    <a:shade val="90000"/>
                    <a:satMod val="250000"/>
                    <a:alpha val="100000"/>
                  </a:schemeClr>
                </a:solidFill>
                <a:cs typeface="+mj-cs"/>
              </a:rPr>
              <a:t>安德鲁斯的观点</a:t>
            </a:r>
          </a:p>
        </p:txBody>
      </p:sp>
      <p:sp>
        <p:nvSpPr>
          <p:cNvPr id="23554" name="Rectangle 3"/>
          <p:cNvSpPr>
            <a:spLocks noGrp="1" noChangeArrowheads="1"/>
          </p:cNvSpPr>
          <p:nvPr>
            <p:ph type="body" idx="1"/>
          </p:nvPr>
        </p:nvSpPr>
        <p:spPr>
          <a:xfrm>
            <a:off x="2340539" y="2052116"/>
            <a:ext cx="8229600" cy="3997828"/>
          </a:xfrm>
        </p:spPr>
        <p:txBody>
          <a:bodyPr>
            <a:normAutofit/>
          </a:bodyPr>
          <a:lstStyle/>
          <a:p>
            <a:pPr algn="just">
              <a:lnSpc>
                <a:spcPct val="90000"/>
              </a:lnSpc>
            </a:pPr>
            <a:r>
              <a:rPr lang="zh-CN" altLang="en-US" dirty="0">
                <a:latin typeface="宋体" charset="-122"/>
              </a:rPr>
              <a:t>企业总体战略是一个决策模式：①决定和揭示企业的</a:t>
            </a:r>
            <a:r>
              <a:rPr lang="zh-CN" altLang="en-US" dirty="0">
                <a:solidFill>
                  <a:srgbClr val="DA1F28"/>
                </a:solidFill>
                <a:latin typeface="宋体" charset="-122"/>
              </a:rPr>
              <a:t>目的和目标</a:t>
            </a:r>
            <a:r>
              <a:rPr lang="zh-CN" altLang="en-US" dirty="0">
                <a:latin typeface="宋体" charset="-122"/>
              </a:rPr>
              <a:t>；②提出实现目的的重大方针与计划；③确定企业应该从事的经营业务；④明确企业的经济类型与人文组织类型；⑤决定企业应当对职工、顾客和社会做出的经济的与非经济的贡献。</a:t>
            </a:r>
          </a:p>
          <a:p>
            <a:pPr algn="just">
              <a:lnSpc>
                <a:spcPct val="90000"/>
              </a:lnSpc>
            </a:pPr>
            <a:r>
              <a:rPr lang="zh-CN" altLang="en-US" dirty="0">
                <a:latin typeface="宋体" charset="-122"/>
              </a:rPr>
              <a:t>安德鲁斯的定义指出了企业总体战略要解决的主要问题是企业长远发展的使命与实现使命的有机结合，使企业能够形成自己的特殊的战略属性和竞争优势，将不确定的环境因素与企业的经营活动很好地结合起来，以便能够集中企业的各种资源形成企业产品和市场的“生长圈”，并且能够在较长的时期内相对稳定地执行企业的战略</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战略管理</a:t>
            </a:r>
            <a:r>
              <a:rPr kumimoji="1" lang="en-US" altLang="zh-CN" dirty="0"/>
              <a:t>50</a:t>
            </a:r>
            <a:r>
              <a:rPr kumimoji="1" lang="zh-CN" altLang="en-US" dirty="0"/>
              <a:t>年</a:t>
            </a:r>
          </a:p>
        </p:txBody>
      </p:sp>
      <p:sp>
        <p:nvSpPr>
          <p:cNvPr id="3" name="内容占位符 2"/>
          <p:cNvSpPr>
            <a:spLocks noGrp="1"/>
          </p:cNvSpPr>
          <p:nvPr>
            <p:ph idx="1"/>
          </p:nvPr>
        </p:nvSpPr>
        <p:spPr>
          <a:xfrm>
            <a:off x="2611808" y="1346670"/>
            <a:ext cx="8225705" cy="5049078"/>
          </a:xfrm>
        </p:spPr>
        <p:txBody>
          <a:bodyPr>
            <a:normAutofit/>
          </a:bodyPr>
          <a:lstStyle/>
          <a:p>
            <a:pPr>
              <a:spcAft>
                <a:spcPts val="0"/>
              </a:spcAft>
            </a:pPr>
            <a:r>
              <a:rPr kumimoji="1" lang="en-US" altLang="zh-CN" sz="1600" dirty="0"/>
              <a:t>1974</a:t>
            </a:r>
            <a:r>
              <a:rPr kumimoji="1" lang="zh-CN" altLang="en-US" sz="1600" dirty="0"/>
              <a:t>年儒梅尔特</a:t>
            </a:r>
            <a:r>
              <a:rPr kumimoji="1" lang="en-US" altLang="zh-CN" sz="1600" dirty="0"/>
              <a:t>《</a:t>
            </a:r>
            <a:r>
              <a:rPr kumimoji="1" lang="zh-CN" altLang="en-US" sz="1600" dirty="0"/>
              <a:t>战略结构和经济绩效</a:t>
            </a:r>
            <a:r>
              <a:rPr kumimoji="1" lang="en-US" altLang="zh-CN" sz="1600" dirty="0"/>
              <a:t>》</a:t>
            </a:r>
          </a:p>
          <a:p>
            <a:pPr lvl="1">
              <a:spcAft>
                <a:spcPts val="0"/>
              </a:spcAft>
            </a:pPr>
            <a:r>
              <a:rPr kumimoji="1" lang="zh-CN" altLang="en-US" sz="1400" dirty="0"/>
              <a:t>多元化经营、协同效应、范围经济</a:t>
            </a:r>
            <a:endParaRPr kumimoji="1" lang="en-US" altLang="zh-CN" sz="1400" dirty="0"/>
          </a:p>
          <a:p>
            <a:pPr lvl="1">
              <a:spcAft>
                <a:spcPts val="0"/>
              </a:spcAft>
            </a:pPr>
            <a:r>
              <a:rPr kumimoji="1" lang="zh-CN" altLang="en-US" sz="1400" dirty="0"/>
              <a:t>一个企业的不同业务间共享研发、品牌和渠道</a:t>
            </a:r>
            <a:endParaRPr kumimoji="1" lang="en-US" altLang="zh-CN" sz="1400" dirty="0"/>
          </a:p>
          <a:p>
            <a:pPr>
              <a:spcAft>
                <a:spcPts val="0"/>
              </a:spcAft>
            </a:pPr>
            <a:r>
              <a:rPr kumimoji="1" lang="zh-CN" altLang="en-US" sz="1600" dirty="0"/>
              <a:t>大企业支持的战略计划运动</a:t>
            </a:r>
            <a:endParaRPr kumimoji="1" lang="en-US" altLang="zh-CN" sz="1600" dirty="0"/>
          </a:p>
          <a:p>
            <a:pPr lvl="1">
              <a:spcAft>
                <a:spcPts val="0"/>
              </a:spcAft>
            </a:pPr>
            <a:r>
              <a:rPr kumimoji="1" lang="zh-CN" altLang="en-US" sz="1400" dirty="0"/>
              <a:t>在很多大企业里，战略计划部门所做的工作不过是部门职员每年自娱自乐的季节性游戏</a:t>
            </a:r>
            <a:endParaRPr kumimoji="1" lang="en-US" altLang="zh-CN" sz="1400" dirty="0"/>
          </a:p>
          <a:p>
            <a:pPr>
              <a:spcAft>
                <a:spcPts val="0"/>
              </a:spcAft>
            </a:pPr>
            <a:r>
              <a:rPr kumimoji="1" lang="zh-CN" altLang="zh-CN" sz="1600" dirty="0"/>
              <a:t>2</a:t>
            </a:r>
            <a:r>
              <a:rPr kumimoji="1" lang="en-US" altLang="zh-CN" sz="1600" dirty="0"/>
              <a:t>0</a:t>
            </a:r>
            <a:r>
              <a:rPr kumimoji="1" lang="zh-CN" altLang="en-US" sz="1600" dirty="0"/>
              <a:t>世纪</a:t>
            </a:r>
            <a:r>
              <a:rPr kumimoji="1" lang="en-US" altLang="zh-CN" sz="1600" dirty="0"/>
              <a:t>70</a:t>
            </a:r>
            <a:r>
              <a:rPr kumimoji="1" lang="zh-CN" altLang="en-US" sz="1600" dirty="0"/>
              <a:t>年代后期</a:t>
            </a:r>
            <a:r>
              <a:rPr kumimoji="1" lang="zh-CN" altLang="zh-CN" sz="1600" dirty="0"/>
              <a:t>（</a:t>
            </a:r>
            <a:r>
              <a:rPr kumimoji="1" lang="en-US" altLang="zh-CN" sz="1600" dirty="0"/>
              <a:t>1978</a:t>
            </a:r>
            <a:r>
              <a:rPr kumimoji="1" lang="zh-CN" altLang="en-US" sz="1600" dirty="0"/>
              <a:t>），战略管理领域作为独立学科和研究领域的地位正式形成</a:t>
            </a:r>
            <a:endParaRPr kumimoji="1" lang="en-US" altLang="zh-CN" sz="1600" dirty="0"/>
          </a:p>
          <a:p>
            <a:pPr>
              <a:spcAft>
                <a:spcPts val="0"/>
              </a:spcAft>
            </a:pPr>
            <a:r>
              <a:rPr kumimoji="1" lang="zh-CN" altLang="en-US" sz="1600" dirty="0"/>
              <a:t>波特革命</a:t>
            </a:r>
            <a:r>
              <a:rPr kumimoji="1" lang="en-US" altLang="zh-CN" sz="1600" dirty="0"/>
              <a:t>1980-1985</a:t>
            </a:r>
          </a:p>
          <a:p>
            <a:pPr>
              <a:spcAft>
                <a:spcPts val="0"/>
              </a:spcAft>
            </a:pPr>
            <a:r>
              <a:rPr kumimoji="1" lang="zh-CN" altLang="en-US" sz="1600" dirty="0"/>
              <a:t>资源本位企业观</a:t>
            </a:r>
            <a:r>
              <a:rPr kumimoji="1" lang="en-US" altLang="zh-CN" sz="1600" dirty="0"/>
              <a:t>1984-1991</a:t>
            </a:r>
          </a:p>
          <a:p>
            <a:pPr>
              <a:spcAft>
                <a:spcPts val="0"/>
              </a:spcAft>
            </a:pPr>
            <a:r>
              <a:rPr kumimoji="1" lang="zh-CN" altLang="en-US" sz="1600" dirty="0"/>
              <a:t>动态能力</a:t>
            </a:r>
            <a:r>
              <a:rPr kumimoji="1" lang="zh-CN" altLang="zh-CN" sz="1600" dirty="0"/>
              <a:t>，</a:t>
            </a:r>
            <a:r>
              <a:rPr kumimoji="1" lang="zh-CN" altLang="en-US" sz="1600" dirty="0"/>
              <a:t>持续热点</a:t>
            </a:r>
            <a:endParaRPr kumimoji="1" lang="en-US" altLang="zh-CN" sz="1600" dirty="0"/>
          </a:p>
          <a:p>
            <a:pPr>
              <a:spcAft>
                <a:spcPts val="0"/>
              </a:spcAft>
            </a:pPr>
            <a:r>
              <a:rPr kumimoji="1" lang="zh-CN" altLang="en-US" sz="1600" dirty="0"/>
              <a:t>快速决策与内部创业</a:t>
            </a:r>
            <a:r>
              <a:rPr kumimoji="1" lang="en-US" altLang="zh-CN" sz="1600" dirty="0"/>
              <a:t>1989</a:t>
            </a:r>
          </a:p>
          <a:p>
            <a:pPr>
              <a:spcAft>
                <a:spcPts val="0"/>
              </a:spcAft>
            </a:pPr>
            <a:r>
              <a:rPr kumimoji="1" lang="zh-CN" altLang="en-US" sz="1600" dirty="0"/>
              <a:t>知识本位企业观</a:t>
            </a:r>
            <a:r>
              <a:rPr kumimoji="1" lang="en-US" altLang="zh-CN" sz="1600" dirty="0"/>
              <a:t>1996</a:t>
            </a:r>
            <a:endParaRPr kumimoji="1" lang="zh-CN" altLang="en-US" sz="1600" dirty="0"/>
          </a:p>
        </p:txBody>
      </p:sp>
    </p:spTree>
    <p:extLst>
      <p:ext uri="{BB962C8B-B14F-4D97-AF65-F5344CB8AC3E}">
        <p14:creationId xmlns:p14="http://schemas.microsoft.com/office/powerpoint/2010/main" val="42203347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p:cNvSpPr>
            <a:spLocks noGrp="1"/>
          </p:cNvSpPr>
          <p:nvPr>
            <p:ph idx="1"/>
          </p:nvPr>
        </p:nvSpPr>
        <p:spPr>
          <a:xfrm>
            <a:off x="2625060" y="1288938"/>
            <a:ext cx="7796540" cy="3997828"/>
          </a:xfrm>
        </p:spPr>
        <p:txBody>
          <a:bodyPr>
            <a:normAutofit/>
          </a:bodyPr>
          <a:lstStyle/>
          <a:p>
            <a:r>
              <a:rPr lang="zh-CN" altLang="en-US" sz="2800" dirty="0">
                <a:solidFill>
                  <a:srgbClr val="FFFF00"/>
                </a:solidFill>
              </a:rPr>
              <a:t>企业的战略管理是一个动态管理的过程，战略管理活动的重点是制定和实施战略。它是对企业的生产经营活动实行的总体性管理，是企业制定和实施战略的一系列管理决策和行为，其核心问题是使企业自身条件与环境相适应，求得企业的长期生存和发展。</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53536"/>
            <a:ext cx="8229600" cy="1143000"/>
          </a:xfrm>
        </p:spPr>
        <p:txBody>
          <a:bodyPr/>
          <a:lstStyle/>
          <a:p>
            <a:pPr marL="54864">
              <a:defRPr/>
            </a:pPr>
            <a:r>
              <a:rPr lang="zh-CN" altLang="en-US" dirty="0">
                <a:solidFill>
                  <a:schemeClr val="tx2">
                    <a:tint val="100000"/>
                    <a:shade val="90000"/>
                    <a:satMod val="250000"/>
                    <a:alpha val="100000"/>
                  </a:schemeClr>
                </a:solidFill>
                <a:cs typeface="+mj-cs"/>
              </a:rPr>
              <a:t>战略管理过程</a:t>
            </a:r>
          </a:p>
        </p:txBody>
      </p:sp>
      <p:sp>
        <p:nvSpPr>
          <p:cNvPr id="4" name="矩形 3"/>
          <p:cNvSpPr/>
          <p:nvPr/>
        </p:nvSpPr>
        <p:spPr>
          <a:xfrm>
            <a:off x="3719514" y="2565400"/>
            <a:ext cx="1800225" cy="1150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企业外部</a:t>
            </a:r>
            <a:endParaRPr lang="en-US" altLang="zh-CN" dirty="0"/>
          </a:p>
          <a:p>
            <a:pPr algn="ctr">
              <a:defRPr/>
            </a:pPr>
            <a:r>
              <a:rPr lang="zh-CN" altLang="en-US" dirty="0"/>
              <a:t>环境分析</a:t>
            </a:r>
          </a:p>
        </p:txBody>
      </p:sp>
      <p:sp>
        <p:nvSpPr>
          <p:cNvPr id="5" name="矩形 4"/>
          <p:cNvSpPr/>
          <p:nvPr/>
        </p:nvSpPr>
        <p:spPr>
          <a:xfrm>
            <a:off x="5951539" y="2565400"/>
            <a:ext cx="1800225" cy="1150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企业内部</a:t>
            </a:r>
            <a:endParaRPr lang="en-US" altLang="zh-CN" dirty="0"/>
          </a:p>
          <a:p>
            <a:pPr algn="ctr">
              <a:defRPr/>
            </a:pPr>
            <a:r>
              <a:rPr lang="zh-CN" altLang="en-US" dirty="0"/>
              <a:t>条件分析</a:t>
            </a:r>
          </a:p>
        </p:txBody>
      </p:sp>
      <p:sp>
        <p:nvSpPr>
          <p:cNvPr id="6" name="矩形 5"/>
          <p:cNvSpPr/>
          <p:nvPr/>
        </p:nvSpPr>
        <p:spPr>
          <a:xfrm>
            <a:off x="1919288" y="4292601"/>
            <a:ext cx="1223962"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确定使命与愿景</a:t>
            </a:r>
          </a:p>
        </p:txBody>
      </p:sp>
      <p:sp>
        <p:nvSpPr>
          <p:cNvPr id="7" name="矩形 6"/>
          <p:cNvSpPr/>
          <p:nvPr/>
        </p:nvSpPr>
        <p:spPr>
          <a:xfrm>
            <a:off x="3359151" y="4292601"/>
            <a:ext cx="1223963"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确定</a:t>
            </a:r>
            <a:endParaRPr lang="en-US" altLang="zh-CN" dirty="0"/>
          </a:p>
          <a:p>
            <a:pPr algn="ctr">
              <a:defRPr/>
            </a:pPr>
            <a:r>
              <a:rPr lang="zh-CN" altLang="en-US" dirty="0"/>
              <a:t>战略目标</a:t>
            </a:r>
          </a:p>
        </p:txBody>
      </p:sp>
      <p:sp>
        <p:nvSpPr>
          <p:cNvPr id="8" name="矩形 7"/>
          <p:cNvSpPr/>
          <p:nvPr/>
        </p:nvSpPr>
        <p:spPr>
          <a:xfrm>
            <a:off x="4872038" y="4292601"/>
            <a:ext cx="1223962"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确定</a:t>
            </a:r>
            <a:endParaRPr lang="en-US" altLang="zh-CN" dirty="0"/>
          </a:p>
          <a:p>
            <a:pPr algn="ctr">
              <a:defRPr/>
            </a:pPr>
            <a:r>
              <a:rPr lang="zh-CN" altLang="en-US" dirty="0"/>
              <a:t>战略方案</a:t>
            </a:r>
          </a:p>
        </p:txBody>
      </p:sp>
      <p:sp>
        <p:nvSpPr>
          <p:cNvPr id="9" name="矩形 8"/>
          <p:cNvSpPr/>
          <p:nvPr/>
        </p:nvSpPr>
        <p:spPr>
          <a:xfrm>
            <a:off x="6383338" y="4292601"/>
            <a:ext cx="1225550"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战略方案的评价与选择</a:t>
            </a:r>
          </a:p>
        </p:txBody>
      </p:sp>
      <p:sp>
        <p:nvSpPr>
          <p:cNvPr id="10" name="矩形 9"/>
          <p:cNvSpPr/>
          <p:nvPr/>
        </p:nvSpPr>
        <p:spPr>
          <a:xfrm>
            <a:off x="7859713" y="4292601"/>
            <a:ext cx="1223962"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确定职能部门的策略</a:t>
            </a:r>
          </a:p>
        </p:txBody>
      </p:sp>
      <p:sp>
        <p:nvSpPr>
          <p:cNvPr id="11" name="矩形 10"/>
          <p:cNvSpPr/>
          <p:nvPr/>
        </p:nvSpPr>
        <p:spPr>
          <a:xfrm>
            <a:off x="9264651" y="4292601"/>
            <a:ext cx="1223963"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战略实施与控制</a:t>
            </a:r>
          </a:p>
        </p:txBody>
      </p:sp>
      <p:grpSp>
        <p:nvGrpSpPr>
          <p:cNvPr id="33802" name="组合 27"/>
          <p:cNvGrpSpPr>
            <a:grpSpLocks/>
          </p:cNvGrpSpPr>
          <p:nvPr/>
        </p:nvGrpSpPr>
        <p:grpSpPr bwMode="auto">
          <a:xfrm>
            <a:off x="2495551" y="4005263"/>
            <a:ext cx="7237413" cy="1079500"/>
            <a:chOff x="971600" y="3212976"/>
            <a:chExt cx="7236804" cy="1080118"/>
          </a:xfrm>
        </p:grpSpPr>
        <p:cxnSp>
          <p:nvCxnSpPr>
            <p:cNvPr id="13" name="直接连接符 12"/>
            <p:cNvCxnSpPr/>
            <p:nvPr/>
          </p:nvCxnSpPr>
          <p:spPr>
            <a:xfrm>
              <a:off x="971600" y="3212976"/>
              <a:ext cx="720029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6" idx="0"/>
            </p:cNvCxnSpPr>
            <p:nvPr/>
          </p:nvCxnSpPr>
          <p:spPr>
            <a:xfrm rot="16200000" flipH="1">
              <a:off x="846104" y="4131087"/>
              <a:ext cx="287502" cy="365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rot="16200000" flipH="1">
              <a:off x="2358071" y="3339266"/>
              <a:ext cx="287501" cy="3492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rot="16200000" flipH="1">
              <a:off x="3798606" y="3338472"/>
              <a:ext cx="287501" cy="365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rot="16200000" flipH="1">
              <a:off x="5310573" y="3339266"/>
              <a:ext cx="287501" cy="3492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rot="16200000" flipH="1">
              <a:off x="6750313" y="3339266"/>
              <a:ext cx="287501" cy="3492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rot="16200000" flipH="1">
              <a:off x="8046398" y="3338472"/>
              <a:ext cx="287501" cy="365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23" name="直接连接符 22"/>
          <p:cNvCxnSpPr>
            <a:stCxn id="4" idx="2"/>
          </p:cNvCxnSpPr>
          <p:nvPr/>
        </p:nvCxnSpPr>
        <p:spPr>
          <a:xfrm rot="16200000" flipH="1">
            <a:off x="4997451" y="3338514"/>
            <a:ext cx="288925" cy="1044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5" idx="2"/>
          </p:cNvCxnSpPr>
          <p:nvPr/>
        </p:nvCxnSpPr>
        <p:spPr>
          <a:xfrm rot="5400000">
            <a:off x="6113463" y="3267076"/>
            <a:ext cx="288925" cy="11874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33805" name="组合 28"/>
          <p:cNvGrpSpPr>
            <a:grpSpLocks/>
          </p:cNvGrpSpPr>
          <p:nvPr/>
        </p:nvGrpSpPr>
        <p:grpSpPr bwMode="auto">
          <a:xfrm rot="10800000">
            <a:off x="2747964" y="5445125"/>
            <a:ext cx="7235825" cy="287338"/>
            <a:chOff x="971600" y="3212976"/>
            <a:chExt cx="7236804" cy="288033"/>
          </a:xfrm>
        </p:grpSpPr>
        <p:cxnSp>
          <p:nvCxnSpPr>
            <p:cNvPr id="30" name="直接连接符 29"/>
            <p:cNvCxnSpPr/>
            <p:nvPr/>
          </p:nvCxnSpPr>
          <p:spPr>
            <a:xfrm>
              <a:off x="974775" y="3211385"/>
              <a:ext cx="72002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rot="16200000" flipH="1">
              <a:off x="847430"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rot="16200000" flipH="1">
              <a:off x="2358935"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rot="16200000" flipH="1">
              <a:off x="3800580"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rot="16200000" flipH="1">
              <a:off x="5313671" y="3338734"/>
              <a:ext cx="288033" cy="3651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rot="16200000" flipH="1">
              <a:off x="6753729"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rot="16200000" flipH="1">
              <a:off x="8049304"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38" name="直接箭头连接符 37"/>
          <p:cNvCxnSpPr>
            <a:stCxn id="6" idx="3"/>
            <a:endCxn id="7" idx="1"/>
          </p:cNvCxnSpPr>
          <p:nvPr/>
        </p:nvCxnSpPr>
        <p:spPr>
          <a:xfrm>
            <a:off x="3143250" y="4868864"/>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endCxn id="8" idx="1"/>
          </p:cNvCxnSpPr>
          <p:nvPr/>
        </p:nvCxnSpPr>
        <p:spPr>
          <a:xfrm>
            <a:off x="4656138" y="4868864"/>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6096000" y="4868864"/>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7608888" y="4868864"/>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9048750" y="4868864"/>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rot="5400000" flipH="1" flipV="1">
            <a:off x="1128713" y="3213100"/>
            <a:ext cx="215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2208213" y="2133600"/>
            <a:ext cx="46085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endCxn id="4" idx="0"/>
          </p:cNvCxnSpPr>
          <p:nvPr/>
        </p:nvCxnSpPr>
        <p:spPr>
          <a:xfrm rot="16200000" flipH="1">
            <a:off x="4385469" y="2331244"/>
            <a:ext cx="431800" cy="365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rot="16200000" flipH="1">
            <a:off x="6618288" y="2332038"/>
            <a:ext cx="431800" cy="349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4" idx="3"/>
            <a:endCxn id="5" idx="1"/>
          </p:cNvCxnSpPr>
          <p:nvPr/>
        </p:nvCxnSpPr>
        <p:spPr>
          <a:xfrm>
            <a:off x="5519738" y="3141664"/>
            <a:ext cx="431800" cy="1587"/>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AB1EC5-0ADF-9E43-9005-BF637534F50D}"/>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E9FD0137-3D83-7C41-82C9-981B1494234B}"/>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D6507E3D-21D7-D84E-98BD-A9484DEB081E}"/>
              </a:ext>
            </a:extLst>
          </p:cNvPr>
          <p:cNvPicPr/>
          <p:nvPr/>
        </p:nvPicPr>
        <p:blipFill>
          <a:blip r:embed="rId2"/>
          <a:stretch>
            <a:fillRect/>
          </a:stretch>
        </p:blipFill>
        <p:spPr>
          <a:xfrm rot="10800000">
            <a:off x="259080" y="-2"/>
            <a:ext cx="11658600" cy="6644639"/>
          </a:xfrm>
          <a:prstGeom prst="rect">
            <a:avLst/>
          </a:prstGeom>
        </p:spPr>
      </p:pic>
    </p:spTree>
    <p:extLst>
      <p:ext uri="{BB962C8B-B14F-4D97-AF65-F5344CB8AC3E}">
        <p14:creationId xmlns:p14="http://schemas.microsoft.com/office/powerpoint/2010/main" val="38942861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53536"/>
            <a:ext cx="8229600" cy="1143000"/>
          </a:xfrm>
        </p:spPr>
        <p:txBody>
          <a:bodyPr/>
          <a:lstStyle/>
          <a:p>
            <a:pPr marL="54864">
              <a:defRPr/>
            </a:pPr>
            <a:r>
              <a:rPr lang="zh-CN" altLang="en-US" dirty="0">
                <a:solidFill>
                  <a:schemeClr val="tx2">
                    <a:tint val="100000"/>
                    <a:shade val="90000"/>
                    <a:satMod val="250000"/>
                    <a:alpha val="100000"/>
                  </a:schemeClr>
                </a:solidFill>
                <a:cs typeface="+mj-cs"/>
              </a:rPr>
              <a:t>使命</a:t>
            </a:r>
          </a:p>
        </p:txBody>
      </p:sp>
      <p:sp>
        <p:nvSpPr>
          <p:cNvPr id="142339" name="内容占位符 2"/>
          <p:cNvSpPr>
            <a:spLocks noGrp="1"/>
          </p:cNvSpPr>
          <p:nvPr>
            <p:ph idx="1"/>
          </p:nvPr>
        </p:nvSpPr>
        <p:spPr>
          <a:xfrm>
            <a:off x="2340539" y="1396536"/>
            <a:ext cx="8229600" cy="4653408"/>
          </a:xfrm>
        </p:spPr>
        <p:txBody>
          <a:bodyPr>
            <a:normAutofit lnSpcReduction="10000"/>
          </a:bodyPr>
          <a:lstStyle/>
          <a:p>
            <a:r>
              <a:rPr lang="zh-CN" altLang="en-US" sz="2800" dirty="0"/>
              <a:t>彼得</a:t>
            </a:r>
            <a:r>
              <a:rPr lang="en-US" altLang="zh-CN" sz="2800" dirty="0"/>
              <a:t>-</a:t>
            </a:r>
            <a:r>
              <a:rPr lang="zh-CN" altLang="en-US" sz="2800" dirty="0"/>
              <a:t>德鲁克，</a:t>
            </a:r>
            <a:r>
              <a:rPr lang="en-US" altLang="zh-CN" sz="2800" dirty="0"/>
              <a:t>20</a:t>
            </a:r>
            <a:r>
              <a:rPr lang="zh-CN" altLang="en-US" sz="2800" dirty="0"/>
              <a:t>世纪</a:t>
            </a:r>
            <a:r>
              <a:rPr lang="en-US" altLang="zh-CN" sz="2800" dirty="0"/>
              <a:t>70</a:t>
            </a:r>
            <a:r>
              <a:rPr lang="zh-CN" altLang="en-US" sz="2800" dirty="0"/>
              <a:t>年代</a:t>
            </a:r>
            <a:endParaRPr lang="en-US" altLang="zh-CN" sz="2800" dirty="0"/>
          </a:p>
          <a:p>
            <a:r>
              <a:rPr lang="zh-CN" altLang="en-US" sz="2800" dirty="0"/>
              <a:t>企业的业务是什么</a:t>
            </a:r>
            <a:r>
              <a:rPr lang="en-US" altLang="zh-CN" sz="2800" dirty="0"/>
              <a:t>=</a:t>
            </a:r>
            <a:r>
              <a:rPr lang="zh-CN" altLang="en-US" sz="2800" dirty="0"/>
              <a:t>企业的使命是什么</a:t>
            </a:r>
            <a:endParaRPr lang="en-US" altLang="zh-CN" sz="2800" dirty="0"/>
          </a:p>
          <a:p>
            <a:r>
              <a:rPr lang="zh-CN" altLang="en-US" sz="2800" dirty="0"/>
              <a:t>企业使命是阐明企业的根本性质及存在的目的或者理由，说明企业的经营领域、经营思想，为企业的目标的确立与战略的制定提供依据</a:t>
            </a:r>
            <a:endParaRPr lang="en-US" altLang="zh-CN" sz="2800" dirty="0"/>
          </a:p>
          <a:p>
            <a:r>
              <a:rPr lang="zh-CN" altLang="en-US" sz="2800" dirty="0"/>
              <a:t>特斯拉使命：加速世界向可持续能源转变，</a:t>
            </a:r>
            <a:r>
              <a:rPr lang="en-US" altLang="zh-CN" sz="2800" dirty="0"/>
              <a:t>to accelerate the world’s transition to sustainable energy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p:spPr>
        <p:txBody>
          <a:bodyPr/>
          <a:lstStyle/>
          <a:p>
            <a:pPr algn="l" eaLnBrk="1" hangingPunct="1"/>
            <a:r>
              <a:rPr lang="en-US" altLang="zh-CN" b="1" dirty="0">
                <a:latin typeface="+mj-ea"/>
              </a:rPr>
              <a:t>  </a:t>
            </a:r>
            <a:r>
              <a:rPr lang="zh-CN" altLang="en-US" b="1" dirty="0">
                <a:latin typeface="+mj-ea"/>
              </a:rPr>
              <a:t>实例分析：松下公司使命</a:t>
            </a:r>
          </a:p>
        </p:txBody>
      </p:sp>
      <p:sp>
        <p:nvSpPr>
          <p:cNvPr id="21507" name="Rectangle 3"/>
          <p:cNvSpPr>
            <a:spLocks noGrp="1" noChangeArrowheads="1"/>
          </p:cNvSpPr>
          <p:nvPr>
            <p:ph idx="1"/>
          </p:nvPr>
        </p:nvSpPr>
        <p:spPr>
          <a:xfrm>
            <a:off x="2428159" y="1346670"/>
            <a:ext cx="7796540" cy="3997828"/>
          </a:xfrm>
          <a:noFill/>
        </p:spPr>
        <p:txBody>
          <a:bodyPr>
            <a:normAutofit/>
          </a:bodyPr>
          <a:lstStyle/>
          <a:p>
            <a:pPr eaLnBrk="1" hangingPunct="1"/>
            <a:r>
              <a:rPr lang="zh-CN" altLang="en-US" sz="3200" b="1" dirty="0">
                <a:latin typeface="+mn-ea"/>
              </a:rPr>
              <a:t>作为工业组织的一个成员，努力改善和提高人们的社会生活水平，要使家用电器像“自来水”那样廉价和充足</a:t>
            </a:r>
            <a:r>
              <a:rPr lang="zh-CN" altLang="en-US" sz="4000" b="1" dirty="0">
                <a:latin typeface="+mn-ea"/>
              </a:rPr>
              <a:t>。</a:t>
            </a:r>
          </a:p>
        </p:txBody>
      </p:sp>
    </p:spTree>
    <p:extLst>
      <p:ext uri="{BB962C8B-B14F-4D97-AF65-F5344CB8AC3E}">
        <p14:creationId xmlns:p14="http://schemas.microsoft.com/office/powerpoint/2010/main" val="1456457322"/>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dirty="0">
                <a:latin typeface="+mn-ea"/>
                <a:ea typeface="+mn-ea"/>
              </a:rPr>
              <a:t>是谁？</a:t>
            </a:r>
          </a:p>
        </p:txBody>
      </p:sp>
      <p:sp>
        <p:nvSpPr>
          <p:cNvPr id="23555" name="内容占位符 2"/>
          <p:cNvSpPr>
            <a:spLocks noGrp="1"/>
          </p:cNvSpPr>
          <p:nvPr>
            <p:ph idx="1"/>
          </p:nvPr>
        </p:nvSpPr>
        <p:spPr/>
        <p:txBody>
          <a:bodyPr>
            <a:normAutofit lnSpcReduction="10000"/>
          </a:bodyPr>
          <a:lstStyle/>
          <a:p>
            <a:r>
              <a:rPr lang="zh-CN" altLang="en-US" sz="2800" dirty="0">
                <a:latin typeface="+mn-ea"/>
              </a:rPr>
              <a:t>使命：</a:t>
            </a:r>
            <a:br>
              <a:rPr lang="zh-CN" altLang="en-US" sz="2800" dirty="0">
                <a:latin typeface="+mn-ea"/>
              </a:rPr>
            </a:br>
            <a:r>
              <a:rPr lang="zh-CN" altLang="en-US" sz="2800" dirty="0">
                <a:latin typeface="+mn-ea"/>
              </a:rPr>
              <a:t>立足中国实践 贡献管理知识 培养领袖人才 促进社会发展 </a:t>
            </a:r>
          </a:p>
          <a:p>
            <a:r>
              <a:rPr lang="zh-CN" altLang="en-US" sz="2800" dirty="0">
                <a:latin typeface="+mn-ea"/>
              </a:rPr>
              <a:t>愿景：</a:t>
            </a:r>
            <a:br>
              <a:rPr lang="zh-CN" altLang="en-US" sz="2800" dirty="0">
                <a:latin typeface="+mn-ea"/>
              </a:rPr>
            </a:br>
            <a:r>
              <a:rPr lang="zh-CN" altLang="en-US" sz="2800" dirty="0">
                <a:latin typeface="+mn-ea"/>
              </a:rPr>
              <a:t>成为最受尊敬的商学院 </a:t>
            </a:r>
          </a:p>
          <a:p>
            <a:r>
              <a:rPr lang="zh-CN" altLang="en-US" sz="2800" dirty="0">
                <a:latin typeface="+mn-ea"/>
              </a:rPr>
              <a:t>价值观：</a:t>
            </a:r>
            <a:br>
              <a:rPr lang="zh-CN" altLang="en-US" sz="2800" dirty="0">
                <a:latin typeface="+mn-ea"/>
              </a:rPr>
            </a:br>
            <a:r>
              <a:rPr lang="zh-CN" altLang="en-US" sz="2800" dirty="0">
                <a:latin typeface="+mn-ea"/>
              </a:rPr>
              <a:t>求真、创新、合作、开放</a:t>
            </a:r>
          </a:p>
          <a:p>
            <a:endParaRPr lang="zh-CN" altLang="en-US" dirty="0">
              <a:latin typeface="Calibri" charset="0"/>
              <a:ea typeface="宋体" charset="0"/>
            </a:endParaRPr>
          </a:p>
        </p:txBody>
      </p:sp>
    </p:spTree>
    <p:extLst>
      <p:ext uri="{BB962C8B-B14F-4D97-AF65-F5344CB8AC3E}">
        <p14:creationId xmlns:p14="http://schemas.microsoft.com/office/powerpoint/2010/main" val="60004641"/>
      </p:ext>
    </p:extLst>
  </p:cSld>
  <p:clrMapOvr>
    <a:overrideClrMapping bg1="dk1" tx1="lt1" bg2="dk2" tx2="lt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557069" y="808056"/>
            <a:ext cx="8229600" cy="1143000"/>
          </a:xfrm>
        </p:spPr>
        <p:txBody>
          <a:bodyPr/>
          <a:lstStyle/>
          <a:p>
            <a:pPr marL="54864" algn="l">
              <a:defRPr/>
            </a:pPr>
            <a:r>
              <a:rPr lang="zh-CN" altLang="en-US" dirty="0">
                <a:solidFill>
                  <a:schemeClr val="tx2">
                    <a:tint val="100000"/>
                    <a:shade val="90000"/>
                    <a:satMod val="250000"/>
                    <a:alpha val="100000"/>
                  </a:schemeClr>
                </a:solidFill>
                <a:cs typeface="+mj-cs"/>
              </a:rPr>
              <a:t>确定企业的经营领域</a:t>
            </a:r>
          </a:p>
        </p:txBody>
      </p:sp>
      <p:sp>
        <p:nvSpPr>
          <p:cNvPr id="144387" name="内容占位符 2"/>
          <p:cNvSpPr>
            <a:spLocks noGrp="1"/>
          </p:cNvSpPr>
          <p:nvPr>
            <p:ph idx="4294967295"/>
          </p:nvPr>
        </p:nvSpPr>
        <p:spPr/>
        <p:txBody>
          <a:bodyPr>
            <a:normAutofit fontScale="92500" lnSpcReduction="20000"/>
          </a:bodyPr>
          <a:lstStyle/>
          <a:p>
            <a:r>
              <a:rPr lang="zh-CN" altLang="en-US" dirty="0"/>
              <a:t>企业的性质和任务</a:t>
            </a:r>
            <a:endParaRPr lang="en-US" altLang="zh-CN" dirty="0"/>
          </a:p>
          <a:p>
            <a:r>
              <a:rPr lang="zh-CN" altLang="en-US" dirty="0"/>
              <a:t>稳定</a:t>
            </a:r>
            <a:endParaRPr lang="en-US" altLang="zh-CN" dirty="0"/>
          </a:p>
          <a:p>
            <a:r>
              <a:rPr lang="zh-CN" altLang="en-US" dirty="0"/>
              <a:t>随社会、技术、需求的变化而发展变化</a:t>
            </a:r>
            <a:endParaRPr lang="en-US" altLang="zh-CN" dirty="0"/>
          </a:p>
          <a:p>
            <a:r>
              <a:rPr lang="zh-CN" altLang="en-US" dirty="0"/>
              <a:t>决定要素</a:t>
            </a:r>
            <a:endParaRPr lang="en-US" altLang="zh-CN" dirty="0"/>
          </a:p>
          <a:p>
            <a:pPr lvl="1"/>
            <a:r>
              <a:rPr lang="zh-CN" altLang="en-US" dirty="0"/>
              <a:t>企业的历史</a:t>
            </a:r>
            <a:endParaRPr lang="en-US" altLang="zh-CN" dirty="0"/>
          </a:p>
          <a:p>
            <a:pPr lvl="1"/>
            <a:r>
              <a:rPr lang="zh-CN" altLang="en-US" dirty="0"/>
              <a:t>领导人的偏好</a:t>
            </a:r>
            <a:endParaRPr lang="en-US" altLang="zh-CN" dirty="0"/>
          </a:p>
          <a:p>
            <a:pPr lvl="1"/>
            <a:r>
              <a:rPr lang="zh-CN" altLang="en-US" dirty="0"/>
              <a:t>企业的内外环境要素</a:t>
            </a:r>
            <a:endParaRPr lang="en-US" altLang="zh-CN" dirty="0"/>
          </a:p>
          <a:p>
            <a:pPr lvl="1"/>
            <a:r>
              <a:rPr lang="zh-CN" altLang="en-US" dirty="0"/>
              <a:t>企业的资源</a:t>
            </a:r>
            <a:endParaRPr lang="en-US" altLang="zh-CN" dirty="0"/>
          </a:p>
          <a:p>
            <a:pPr lvl="1"/>
            <a:r>
              <a:rPr lang="zh-CN" altLang="en-US" dirty="0"/>
              <a:t>企业的能力</a:t>
            </a:r>
            <a:endParaRPr lang="en-US" altLang="zh-CN" dirty="0"/>
          </a:p>
          <a:p>
            <a:pPr lvl="1"/>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087218" y="808056"/>
            <a:ext cx="8229600" cy="1143000"/>
          </a:xfrm>
        </p:spPr>
        <p:txBody>
          <a:bodyPr>
            <a:normAutofit fontScale="90000"/>
          </a:bodyPr>
          <a:lstStyle/>
          <a:p>
            <a:pPr marL="54864">
              <a:defRPr/>
            </a:pPr>
            <a:r>
              <a:rPr lang="zh-CN" altLang="en-US" sz="4400" dirty="0">
                <a:solidFill>
                  <a:schemeClr val="tx2">
                    <a:tint val="100000"/>
                    <a:shade val="90000"/>
                    <a:satMod val="250000"/>
                    <a:alpha val="100000"/>
                  </a:schemeClr>
                </a:solidFill>
              </a:rPr>
              <a:t>用市场导向观念确定企业经营领域</a:t>
            </a:r>
          </a:p>
        </p:txBody>
      </p:sp>
      <p:sp>
        <p:nvSpPr>
          <p:cNvPr id="145411" name="内容占位符 2"/>
          <p:cNvSpPr>
            <a:spLocks noGrp="1"/>
          </p:cNvSpPr>
          <p:nvPr>
            <p:ph idx="4294967295"/>
          </p:nvPr>
        </p:nvSpPr>
        <p:spPr/>
        <p:txBody>
          <a:bodyPr/>
          <a:lstStyle/>
          <a:p>
            <a:r>
              <a:rPr lang="zh-CN" altLang="en-US" dirty="0"/>
              <a:t>企业的经营是顾客需求的满足过程而非产品生产过程</a:t>
            </a:r>
            <a:endParaRPr lang="en-US" altLang="zh-CN" dirty="0"/>
          </a:p>
          <a:p>
            <a:r>
              <a:rPr lang="zh-CN" altLang="en-US" dirty="0"/>
              <a:t>产品短暂而顾客的需要和顾客是永恒的</a:t>
            </a:r>
            <a:endParaRPr lang="en-US" altLang="zh-CN" dirty="0"/>
          </a:p>
          <a:p>
            <a:pPr lvl="1"/>
            <a:r>
              <a:rPr lang="zh-CN" altLang="en-US" dirty="0"/>
              <a:t>视频，</a:t>
            </a:r>
            <a:r>
              <a:rPr lang="en-US" altLang="zh-CN" dirty="0"/>
              <a:t>music</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1847850" y="655636"/>
            <a:ext cx="8229600" cy="1143000"/>
          </a:xfrm>
        </p:spPr>
        <p:txBody>
          <a:bodyPr/>
          <a:lstStyle/>
          <a:p>
            <a:pPr marL="54864" algn="l">
              <a:defRPr/>
            </a:pPr>
            <a:r>
              <a:rPr lang="en-US" altLang="zh-CN" dirty="0">
                <a:solidFill>
                  <a:schemeClr val="tx2">
                    <a:tint val="100000"/>
                    <a:shade val="90000"/>
                    <a:satMod val="250000"/>
                    <a:alpha val="100000"/>
                  </a:schemeClr>
                </a:solidFill>
                <a:cs typeface="+mj-cs"/>
              </a:rPr>
              <a:t>         </a:t>
            </a:r>
            <a:r>
              <a:rPr lang="zh-CN" altLang="en-US" b="1" dirty="0">
                <a:solidFill>
                  <a:schemeClr val="tx2">
                    <a:tint val="100000"/>
                    <a:shade val="90000"/>
                    <a:satMod val="250000"/>
                    <a:alpha val="100000"/>
                  </a:schemeClr>
                </a:solidFill>
                <a:cs typeface="+mj-cs"/>
              </a:rPr>
              <a:t>一首歌谣</a:t>
            </a:r>
          </a:p>
        </p:txBody>
      </p:sp>
      <p:sp>
        <p:nvSpPr>
          <p:cNvPr id="146435" name="Rectangle 3"/>
          <p:cNvSpPr>
            <a:spLocks noGrp="1" noChangeArrowheads="1"/>
          </p:cNvSpPr>
          <p:nvPr>
            <p:ph type="body" idx="4294967295"/>
          </p:nvPr>
        </p:nvSpPr>
        <p:spPr>
          <a:xfrm>
            <a:off x="1847850" y="1676401"/>
            <a:ext cx="8820150" cy="4525963"/>
          </a:xfrm>
        </p:spPr>
        <p:txBody>
          <a:bodyPr>
            <a:normAutofit fontScale="92500" lnSpcReduction="20000"/>
          </a:bodyPr>
          <a:lstStyle/>
          <a:p>
            <a:pPr>
              <a:lnSpc>
                <a:spcPct val="90000"/>
              </a:lnSpc>
            </a:pPr>
            <a:r>
              <a:rPr lang="zh-CN" altLang="en-US" sz="2400" b="1"/>
              <a:t>不要给我东西。</a:t>
            </a:r>
          </a:p>
          <a:p>
            <a:pPr>
              <a:lnSpc>
                <a:spcPct val="90000"/>
              </a:lnSpc>
            </a:pPr>
            <a:r>
              <a:rPr lang="zh-CN" altLang="en-US" sz="2400" b="1"/>
              <a:t>不要给我衣服，我要的是迷人的外表。</a:t>
            </a:r>
          </a:p>
          <a:p>
            <a:pPr>
              <a:lnSpc>
                <a:spcPct val="90000"/>
              </a:lnSpc>
            </a:pPr>
            <a:r>
              <a:rPr lang="zh-CN" altLang="en-US" sz="2400" b="1"/>
              <a:t>不要给我鞋子，我要的是两脚舒服，走路轻松。</a:t>
            </a:r>
          </a:p>
          <a:p>
            <a:pPr>
              <a:lnSpc>
                <a:spcPct val="90000"/>
              </a:lnSpc>
            </a:pPr>
            <a:r>
              <a:rPr lang="zh-CN" altLang="en-US" sz="2400" b="1"/>
              <a:t>不要给我房子，我要的是安全、温暖、洁净和欢乐。</a:t>
            </a:r>
          </a:p>
          <a:p>
            <a:pPr>
              <a:lnSpc>
                <a:spcPct val="90000"/>
              </a:lnSpc>
            </a:pPr>
            <a:r>
              <a:rPr lang="zh-CN" altLang="en-US" sz="2400" b="1"/>
              <a:t>不要给我书籍，我要的是阅读的愉悦与知识的满足。</a:t>
            </a:r>
          </a:p>
          <a:p>
            <a:pPr>
              <a:lnSpc>
                <a:spcPct val="90000"/>
              </a:lnSpc>
            </a:pPr>
            <a:r>
              <a:rPr lang="zh-CN" altLang="en-US" sz="2400" b="1"/>
              <a:t>不要给我磁带，我要的是美妙动听的乐曲。</a:t>
            </a:r>
          </a:p>
          <a:p>
            <a:pPr>
              <a:lnSpc>
                <a:spcPct val="90000"/>
              </a:lnSpc>
            </a:pPr>
            <a:r>
              <a:rPr lang="zh-CN" altLang="en-US" sz="2400" b="1"/>
              <a:t>不要给我家具，我要的是舒适、美观和方便。</a:t>
            </a:r>
          </a:p>
          <a:p>
            <a:pPr>
              <a:lnSpc>
                <a:spcPct val="90000"/>
              </a:lnSpc>
            </a:pPr>
            <a:r>
              <a:rPr lang="zh-CN" altLang="en-US" sz="2400" b="1"/>
              <a:t>不要给我东西，我要的是想法、情绪、气氛、感觉和收益。</a:t>
            </a:r>
          </a:p>
          <a:p>
            <a:pPr>
              <a:lnSpc>
                <a:spcPct val="90000"/>
              </a:lnSpc>
            </a:pPr>
            <a:r>
              <a:rPr lang="en-US" altLang="zh-CN" sz="2400" b="1"/>
              <a:t>…………</a:t>
            </a:r>
          </a:p>
          <a:p>
            <a:pPr>
              <a:lnSpc>
                <a:spcPct val="90000"/>
              </a:lnSpc>
            </a:pPr>
            <a:r>
              <a:rPr lang="zh-CN" altLang="en-US" sz="2400" b="1"/>
              <a:t>请，不要给我东西。</a:t>
            </a:r>
          </a:p>
          <a:p>
            <a:pPr>
              <a:lnSpc>
                <a:spcPct val="90000"/>
              </a:lnSpc>
            </a:pPr>
            <a:endParaRPr lang="en-US" altLang="zh-CN" sz="2400" b="1"/>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45026" y="909116"/>
            <a:ext cx="8229600" cy="1143000"/>
          </a:xfrm>
        </p:spPr>
        <p:txBody>
          <a:bodyPr/>
          <a:lstStyle/>
          <a:p>
            <a:pPr marL="54864">
              <a:defRPr/>
            </a:pPr>
            <a:r>
              <a:rPr lang="zh-CN" altLang="en-US" dirty="0">
                <a:solidFill>
                  <a:schemeClr val="tx2">
                    <a:tint val="100000"/>
                    <a:shade val="90000"/>
                    <a:satMod val="250000"/>
                    <a:alpha val="100000"/>
                  </a:schemeClr>
                </a:solidFill>
                <a:cs typeface="+mj-cs"/>
              </a:rPr>
              <a:t>愿景</a:t>
            </a:r>
          </a:p>
        </p:txBody>
      </p:sp>
      <p:sp>
        <p:nvSpPr>
          <p:cNvPr id="34818" name="内容占位符 2"/>
          <p:cNvSpPr>
            <a:spLocks noGrp="1"/>
          </p:cNvSpPr>
          <p:nvPr>
            <p:ph idx="1"/>
          </p:nvPr>
        </p:nvSpPr>
        <p:spPr/>
        <p:txBody>
          <a:bodyPr/>
          <a:lstStyle/>
          <a:p>
            <a:r>
              <a:rPr lang="zh-CN" altLang="en-US" dirty="0"/>
              <a:t>愿景：愿望</a:t>
            </a:r>
            <a:r>
              <a:rPr lang="en-US" altLang="zh-CN" dirty="0"/>
              <a:t>+</a:t>
            </a:r>
            <a:r>
              <a:rPr lang="zh-CN" altLang="en-US" dirty="0"/>
              <a:t>景象，组织成员普遍接受和认同的组织的长远目标的生动大胆的描述。</a:t>
            </a:r>
            <a:endParaRPr lang="en-US" altLang="zh-CN" dirty="0"/>
          </a:p>
          <a:p>
            <a:r>
              <a:rPr lang="zh-CN" altLang="en-US" dirty="0"/>
              <a:t>想象一下未来十年的你。。。</a:t>
            </a:r>
            <a:endParaRPr lang="en-US" altLang="zh-CN" dirty="0"/>
          </a:p>
          <a:p>
            <a:endParaRPr lang="en-US" altLang="zh-CN" dirty="0"/>
          </a:p>
          <a:p>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2557069" y="808056"/>
            <a:ext cx="8229600" cy="1143000"/>
          </a:xfrm>
        </p:spPr>
        <p:txBody>
          <a:bodyPr/>
          <a:lstStyle/>
          <a:p>
            <a:pPr marL="54864">
              <a:defRPr/>
            </a:pPr>
            <a:r>
              <a:rPr lang="zh-CN" altLang="en-US" sz="4800" b="1" dirty="0">
                <a:solidFill>
                  <a:schemeClr val="tx2">
                    <a:tint val="100000"/>
                    <a:shade val="90000"/>
                    <a:satMod val="250000"/>
                    <a:alpha val="100000"/>
                  </a:schemeClr>
                </a:solidFill>
                <a:cs typeface="Arial" pitchFamily="34" charset="0"/>
              </a:rPr>
              <a:t>战略目标</a:t>
            </a:r>
          </a:p>
        </p:txBody>
      </p:sp>
      <p:sp>
        <p:nvSpPr>
          <p:cNvPr id="52226" name="Rectangle 3"/>
          <p:cNvSpPr>
            <a:spLocks noGrp="1" noChangeArrowheads="1"/>
          </p:cNvSpPr>
          <p:nvPr>
            <p:ph idx="1"/>
          </p:nvPr>
        </p:nvSpPr>
        <p:spPr/>
        <p:txBody>
          <a:bodyPr>
            <a:normAutofit fontScale="92500" lnSpcReduction="10000"/>
          </a:bodyPr>
          <a:lstStyle/>
          <a:p>
            <a:r>
              <a:rPr lang="zh-CN" altLang="en-US" sz="3000" b="1" dirty="0">
                <a:latin typeface="+mn-ea"/>
                <a:cs typeface="华文仿宋"/>
              </a:rPr>
              <a:t>战略目标是企业在一定时期内，沿其经营方向所预期达到的理想成果。</a:t>
            </a:r>
            <a:endParaRPr lang="en-US" altLang="zh-CN" sz="3000" b="1" dirty="0">
              <a:latin typeface="+mn-ea"/>
              <a:cs typeface="华文仿宋"/>
            </a:endParaRPr>
          </a:p>
          <a:p>
            <a:r>
              <a:rPr lang="zh-CN" altLang="en-US" sz="3000" b="1" dirty="0">
                <a:latin typeface="+mn-ea"/>
                <a:cs typeface="华文仿宋"/>
              </a:rPr>
              <a:t>挑战性</a:t>
            </a:r>
            <a:endParaRPr lang="en-US" altLang="zh-CN" sz="3000" b="1" dirty="0">
              <a:latin typeface="+mn-ea"/>
              <a:cs typeface="华文仿宋"/>
            </a:endParaRPr>
          </a:p>
          <a:p>
            <a:r>
              <a:rPr lang="zh-CN" altLang="en-US" sz="3000" b="1" dirty="0">
                <a:latin typeface="+mn-ea"/>
                <a:cs typeface="华文仿宋"/>
              </a:rPr>
              <a:t>可度量</a:t>
            </a:r>
            <a:endParaRPr lang="en-US" altLang="zh-CN" sz="3000" b="1" dirty="0">
              <a:latin typeface="+mn-ea"/>
              <a:cs typeface="华文仿宋"/>
            </a:endParaRPr>
          </a:p>
          <a:p>
            <a:r>
              <a:rPr lang="zh-CN" altLang="en-US" sz="3000" b="1" dirty="0">
                <a:latin typeface="+mn-ea"/>
                <a:cs typeface="华文仿宋"/>
              </a:rPr>
              <a:t>系统性</a:t>
            </a:r>
            <a:endParaRPr lang="en-US" altLang="zh-CN" sz="3000" b="1" dirty="0">
              <a:latin typeface="+mn-ea"/>
              <a:cs typeface="华文仿宋"/>
            </a:endParaRPr>
          </a:p>
          <a:p>
            <a:r>
              <a:rPr lang="zh-CN" altLang="en-US" sz="3000" b="1" dirty="0">
                <a:latin typeface="+mn-ea"/>
                <a:cs typeface="华文仿宋"/>
              </a:rPr>
              <a:t>相对稳定及动态性</a:t>
            </a:r>
          </a:p>
          <a:p>
            <a:endParaRPr lang="en-US" altLang="zh-CN" dirty="0"/>
          </a:p>
        </p:txBody>
      </p:sp>
    </p:spTree>
  </p:cSld>
  <p:clrMapOvr>
    <a:overrideClrMapping bg1="dk1" tx1="lt1" bg2="dk2" tx2="lt2" accent1="accent1" accent2="accent2" accent3="accent3" accent4="accent4" accent5="accent5" accent6="accent6" hlink="hlink" folHlink="folHlink"/>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2394509" y="717362"/>
            <a:ext cx="8229600" cy="1143000"/>
          </a:xfrm>
        </p:spPr>
        <p:txBody>
          <a:bodyPr/>
          <a:lstStyle/>
          <a:p>
            <a:pPr marL="54864">
              <a:defRPr/>
            </a:pPr>
            <a:r>
              <a:rPr lang="zh-CN" altLang="en-US" b="1" dirty="0">
                <a:solidFill>
                  <a:schemeClr val="tx2">
                    <a:tint val="100000"/>
                    <a:shade val="90000"/>
                    <a:satMod val="250000"/>
                    <a:alpha val="100000"/>
                  </a:schemeClr>
                </a:solidFill>
                <a:cs typeface="+mj-cs"/>
              </a:rPr>
              <a:t>战略目标的性质</a:t>
            </a:r>
          </a:p>
        </p:txBody>
      </p:sp>
      <p:sp>
        <p:nvSpPr>
          <p:cNvPr id="53250" name="Rectangle 4"/>
          <p:cNvSpPr>
            <a:spLocks noGrp="1" noChangeArrowheads="1"/>
          </p:cNvSpPr>
          <p:nvPr>
            <p:ph idx="1"/>
          </p:nvPr>
        </p:nvSpPr>
        <p:spPr>
          <a:xfrm>
            <a:off x="2611039" y="1430086"/>
            <a:ext cx="7796540" cy="3997828"/>
          </a:xfrm>
        </p:spPr>
        <p:txBody>
          <a:bodyPr/>
          <a:lstStyle/>
          <a:p>
            <a:r>
              <a:rPr lang="zh-CN" altLang="en-US" dirty="0"/>
              <a:t>战略目标的性质：</a:t>
            </a:r>
          </a:p>
          <a:p>
            <a:pPr lvl="1"/>
            <a:r>
              <a:rPr lang="zh-CN" altLang="en-US" dirty="0"/>
              <a:t>战略目标是实现企业使命的结果，衡量战略行为的标准；</a:t>
            </a:r>
          </a:p>
          <a:p>
            <a:pPr lvl="1"/>
            <a:r>
              <a:rPr lang="zh-CN" altLang="en-US" dirty="0"/>
              <a:t>战略目标是一个体系；</a:t>
            </a:r>
          </a:p>
          <a:p>
            <a:pPr lvl="1"/>
            <a:r>
              <a:rPr lang="zh-CN" altLang="en-US" dirty="0"/>
              <a:t>战略目标能使企业的各类资源发挥最大效能；</a:t>
            </a:r>
          </a:p>
          <a:p>
            <a:pPr lvl="1"/>
            <a:r>
              <a:rPr lang="zh-CN" altLang="en-US" dirty="0"/>
              <a:t>战略目标具有挑战性、激励性。</a:t>
            </a:r>
            <a:endParaRPr lang="en-US" altLang="zh-CN" dirty="0"/>
          </a:p>
          <a:p>
            <a:r>
              <a:rPr lang="zh-CN" altLang="en-US" dirty="0"/>
              <a:t>目标设定的</a:t>
            </a:r>
            <a:r>
              <a:rPr lang="en-US" altLang="zh-CN" dirty="0"/>
              <a:t>smart</a:t>
            </a:r>
            <a:r>
              <a:rPr lang="zh-CN" altLang="en-US" dirty="0"/>
              <a:t>原则</a:t>
            </a:r>
            <a:endParaRPr lang="en-US" altLang="zh-CN" dirty="0"/>
          </a:p>
          <a:p>
            <a:pPr lvl="1"/>
            <a:r>
              <a:rPr lang="en-US" altLang="zh-CN" dirty="0"/>
              <a:t>Specific</a:t>
            </a:r>
            <a:r>
              <a:rPr lang="zh-CN" altLang="en-US" dirty="0"/>
              <a:t>，</a:t>
            </a:r>
            <a:r>
              <a:rPr lang="en-US" altLang="zh-CN" dirty="0"/>
              <a:t>measurable</a:t>
            </a:r>
            <a:r>
              <a:rPr lang="zh-CN" altLang="en-US" dirty="0"/>
              <a:t>，</a:t>
            </a:r>
            <a:r>
              <a:rPr lang="en-US" altLang="zh-CN" dirty="0"/>
              <a:t>attainable</a:t>
            </a:r>
            <a:r>
              <a:rPr lang="zh-CN" altLang="en-US" dirty="0"/>
              <a:t>，</a:t>
            </a:r>
            <a:r>
              <a:rPr lang="en-US" altLang="zh-CN" dirty="0"/>
              <a:t>relevant</a:t>
            </a:r>
            <a:r>
              <a:rPr lang="zh-CN" altLang="en-US" dirty="0"/>
              <a:t>，</a:t>
            </a:r>
            <a:r>
              <a:rPr lang="en-US" altLang="zh-CN" dirty="0"/>
              <a:t>time</a:t>
            </a:r>
            <a:endParaRPr lang="zh-CN" altLang="en-US" dirty="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2557069" y="808056"/>
            <a:ext cx="8229600" cy="1143000"/>
          </a:xfrm>
        </p:spPr>
        <p:txBody>
          <a:bodyPr/>
          <a:lstStyle/>
          <a:p>
            <a:pPr marL="54864">
              <a:defRPr/>
            </a:pPr>
            <a:r>
              <a:rPr lang="zh-CN" altLang="en-US" b="1" dirty="0">
                <a:solidFill>
                  <a:schemeClr val="tx2">
                    <a:tint val="100000"/>
                    <a:shade val="90000"/>
                    <a:satMod val="250000"/>
                    <a:alpha val="100000"/>
                  </a:schemeClr>
                </a:solidFill>
                <a:cs typeface="+mj-cs"/>
              </a:rPr>
              <a:t>战略目标的内容</a:t>
            </a:r>
          </a:p>
        </p:txBody>
      </p:sp>
      <p:sp>
        <p:nvSpPr>
          <p:cNvPr id="54274" name="Rectangle 4"/>
          <p:cNvSpPr>
            <a:spLocks noGrp="1" noChangeArrowheads="1"/>
          </p:cNvSpPr>
          <p:nvPr>
            <p:ph idx="1"/>
          </p:nvPr>
        </p:nvSpPr>
        <p:spPr>
          <a:xfrm>
            <a:off x="2773599" y="1681055"/>
            <a:ext cx="7796540" cy="3997828"/>
          </a:xfrm>
        </p:spPr>
        <p:txBody>
          <a:bodyPr>
            <a:normAutofit fontScale="77500" lnSpcReduction="20000"/>
          </a:bodyPr>
          <a:lstStyle/>
          <a:p>
            <a:r>
              <a:rPr lang="zh-CN" altLang="en-US" sz="2400" b="1" dirty="0">
                <a:solidFill>
                  <a:srgbClr val="FFFF66"/>
                </a:solidFill>
              </a:rPr>
              <a:t>赢利能力</a:t>
            </a:r>
            <a:r>
              <a:rPr lang="zh-CN" altLang="en-US" sz="2400" b="1" dirty="0"/>
              <a:t>：用利润、投资收益率、每股平均收益、销售利润率等来表示。</a:t>
            </a:r>
          </a:p>
          <a:p>
            <a:r>
              <a:rPr lang="zh-CN" altLang="en-US" sz="2400" b="1" dirty="0">
                <a:solidFill>
                  <a:srgbClr val="FFFF66"/>
                </a:solidFill>
              </a:rPr>
              <a:t>竞争地位</a:t>
            </a:r>
            <a:r>
              <a:rPr lang="zh-CN" altLang="en-US" sz="2400" b="1" dirty="0"/>
              <a:t>：用市场占有率、销售额或销售量来表示。</a:t>
            </a:r>
          </a:p>
          <a:p>
            <a:r>
              <a:rPr lang="zh-CN" altLang="en-US" sz="2400" b="1" dirty="0">
                <a:solidFill>
                  <a:srgbClr val="FFFF66"/>
                </a:solidFill>
              </a:rPr>
              <a:t>生产能力</a:t>
            </a:r>
            <a:r>
              <a:rPr lang="zh-CN" altLang="en-US" sz="2400" b="1" dirty="0"/>
              <a:t>：用工作面积、固定费用或生产量等表示。</a:t>
            </a:r>
          </a:p>
          <a:p>
            <a:r>
              <a:rPr lang="zh-CN" altLang="en-US" sz="2400" b="1" dirty="0">
                <a:solidFill>
                  <a:srgbClr val="FFFF66"/>
                </a:solidFill>
              </a:rPr>
              <a:t>技术领先</a:t>
            </a:r>
            <a:r>
              <a:rPr lang="zh-CN" altLang="en-US" sz="2400" b="1" dirty="0"/>
              <a:t>：研究与开发：用花费的货币量或完成的项目来表示。</a:t>
            </a:r>
          </a:p>
          <a:p>
            <a:r>
              <a:rPr lang="zh-CN" altLang="en-US" sz="2400" b="1" dirty="0">
                <a:solidFill>
                  <a:srgbClr val="FFFF66"/>
                </a:solidFill>
              </a:rPr>
              <a:t>组织</a:t>
            </a:r>
            <a:r>
              <a:rPr lang="zh-CN" altLang="en-US" sz="2400" b="1" dirty="0"/>
              <a:t>：用将实行的变革或承担的项目来表示。</a:t>
            </a:r>
          </a:p>
          <a:p>
            <a:r>
              <a:rPr lang="zh-CN" altLang="en-US" sz="2400" b="1" dirty="0">
                <a:solidFill>
                  <a:srgbClr val="FFFF66"/>
                </a:solidFill>
              </a:rPr>
              <a:t>职工素质培养</a:t>
            </a:r>
            <a:r>
              <a:rPr lang="zh-CN" altLang="en-US" sz="2400" b="1" dirty="0"/>
              <a:t>：人力资源：用缺勤率、人员流动率、培训人数或将实施的培训计划数来表示。</a:t>
            </a:r>
          </a:p>
          <a:p>
            <a:r>
              <a:rPr lang="zh-CN" altLang="en-US" sz="2400" b="1" dirty="0">
                <a:solidFill>
                  <a:srgbClr val="FFFF66"/>
                </a:solidFill>
              </a:rPr>
              <a:t>社会责任</a:t>
            </a:r>
            <a:r>
              <a:rPr lang="zh-CN" altLang="en-US" sz="2400" b="1" dirty="0"/>
              <a:t>：用活动的类型、服务天数或财政资助来表示</a:t>
            </a:r>
            <a:r>
              <a:rPr lang="zh-CN" altLang="en-US" sz="2400" dirty="0"/>
              <a:t>。</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2340539" y="1032013"/>
            <a:ext cx="8229600" cy="1143000"/>
          </a:xfrm>
        </p:spPr>
        <p:txBody>
          <a:bodyPr/>
          <a:lstStyle/>
          <a:p>
            <a:pPr marL="54864">
              <a:defRPr/>
            </a:pPr>
            <a:r>
              <a:rPr kumimoji="1" lang="en-US" altLang="zh-CN" sz="4000" b="1" dirty="0">
                <a:solidFill>
                  <a:srgbClr val="FFFF66"/>
                </a:solidFill>
              </a:rPr>
              <a:t>★ ★ ★</a:t>
            </a:r>
            <a:r>
              <a:rPr kumimoji="1" lang="zh-CN" altLang="en-US" sz="4000" b="1" dirty="0">
                <a:solidFill>
                  <a:srgbClr val="FFFF66"/>
                </a:solidFill>
              </a:rPr>
              <a:t>集团主要目标</a:t>
            </a:r>
          </a:p>
        </p:txBody>
      </p:sp>
      <p:sp>
        <p:nvSpPr>
          <p:cNvPr id="55298" name="Rectangle 3"/>
          <p:cNvSpPr>
            <a:spLocks noGrp="1" noChangeArrowheads="1"/>
          </p:cNvSpPr>
          <p:nvPr>
            <p:ph type="body" idx="1"/>
          </p:nvPr>
        </p:nvSpPr>
        <p:spPr>
          <a:xfrm>
            <a:off x="2340539" y="1603513"/>
            <a:ext cx="8229600" cy="4446431"/>
          </a:xfrm>
        </p:spPr>
        <p:txBody>
          <a:bodyPr/>
          <a:lstStyle/>
          <a:p>
            <a:pPr>
              <a:lnSpc>
                <a:spcPct val="90000"/>
              </a:lnSpc>
              <a:buFont typeface="Wingdings" pitchFamily="2" charset="2"/>
              <a:buNone/>
            </a:pPr>
            <a:r>
              <a:rPr kumimoji="1" lang="en-US" altLang="zh-CN" b="1" dirty="0">
                <a:solidFill>
                  <a:srgbClr val="FFFF66"/>
                </a:solidFill>
              </a:rPr>
              <a:t>      ★ ★ ★</a:t>
            </a:r>
            <a:r>
              <a:rPr kumimoji="1" lang="zh-CN" altLang="en-US" b="1" dirty="0">
                <a:solidFill>
                  <a:srgbClr val="FFFF66"/>
                </a:solidFill>
              </a:rPr>
              <a:t>集团追求实现可持续成长和确保世界一流地位。在未来</a:t>
            </a:r>
            <a:r>
              <a:rPr kumimoji="1" lang="en-US" altLang="zh-CN" b="1" dirty="0">
                <a:solidFill>
                  <a:srgbClr val="FFFF66"/>
                </a:solidFill>
              </a:rPr>
              <a:t>10</a:t>
            </a:r>
            <a:r>
              <a:rPr kumimoji="1" lang="zh-CN" altLang="en-US" b="1" dirty="0">
                <a:solidFill>
                  <a:srgbClr val="FFFF66"/>
                </a:solidFill>
              </a:rPr>
              <a:t>年内，总体发展目标是：资产规模以提高资产质量、优化资本结构为前提迅速增长，年增长速度约为</a:t>
            </a:r>
            <a:r>
              <a:rPr kumimoji="1" lang="en-US" altLang="zh-CN" b="1" dirty="0">
                <a:solidFill>
                  <a:srgbClr val="FFFF66"/>
                </a:solidFill>
              </a:rPr>
              <a:t>15%</a:t>
            </a:r>
            <a:r>
              <a:rPr kumimoji="1" lang="zh-CN" altLang="en-US" b="1" dirty="0">
                <a:solidFill>
                  <a:srgbClr val="FFFF66"/>
                </a:solidFill>
              </a:rPr>
              <a:t>，达到</a:t>
            </a:r>
            <a:r>
              <a:rPr kumimoji="1" lang="en-US" altLang="zh-CN" b="1" dirty="0">
                <a:solidFill>
                  <a:srgbClr val="FFFF66"/>
                </a:solidFill>
              </a:rPr>
              <a:t>800</a:t>
            </a:r>
            <a:r>
              <a:rPr kumimoji="1" lang="zh-CN" altLang="en-US" b="1" dirty="0">
                <a:solidFill>
                  <a:srgbClr val="FFFF66"/>
                </a:solidFill>
              </a:rPr>
              <a:t>亿元的总量水平；同时，在经济发展质量上，实现经济形态的升级、提高主营产业竞争力。</a:t>
            </a:r>
          </a:p>
          <a:p>
            <a:pPr>
              <a:lnSpc>
                <a:spcPct val="90000"/>
              </a:lnSpc>
              <a:buFont typeface="Wingdings" pitchFamily="2" charset="2"/>
              <a:buNone/>
            </a:pPr>
            <a:r>
              <a:rPr kumimoji="1" lang="zh-CN" altLang="en-US" b="1" dirty="0">
                <a:solidFill>
                  <a:srgbClr val="FFFF66"/>
                </a:solidFill>
              </a:rPr>
              <a:t>            </a:t>
            </a:r>
            <a:r>
              <a:rPr kumimoji="1" lang="en-US" altLang="zh-CN" b="1" dirty="0">
                <a:solidFill>
                  <a:srgbClr val="FFFF66"/>
                </a:solidFill>
              </a:rPr>
              <a:t>——</a:t>
            </a:r>
            <a:r>
              <a:rPr kumimoji="1" lang="zh-CN" altLang="en-US" b="1" dirty="0">
                <a:solidFill>
                  <a:srgbClr val="FFFF66"/>
                </a:solidFill>
              </a:rPr>
              <a:t>摘自</a:t>
            </a:r>
            <a:r>
              <a:rPr kumimoji="1" lang="en-US" altLang="zh-CN" b="1" dirty="0">
                <a:solidFill>
                  <a:srgbClr val="FFFF66"/>
                </a:solidFill>
              </a:rPr>
              <a:t>《★ ★ ★</a:t>
            </a:r>
            <a:r>
              <a:rPr kumimoji="1" lang="zh-CN" altLang="en-US" b="1" dirty="0">
                <a:solidFill>
                  <a:srgbClr val="FFFF66"/>
                </a:solidFill>
              </a:rPr>
              <a:t>集团宪章</a:t>
            </a:r>
            <a:r>
              <a:rPr kumimoji="1" lang="en-US" altLang="zh-CN" b="1" dirty="0">
                <a:solidFill>
                  <a:srgbClr val="FFFF66"/>
                </a:solidFill>
              </a:rPr>
              <a:t>》</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KaiTi" panose="02010609060101010101" pitchFamily="49" charset="-122"/>
                <a:ea typeface="KaiTi" panose="02010609060101010101" pitchFamily="49" charset="-122"/>
              </a:rPr>
              <a:t>战略管理概述</a:t>
            </a:r>
            <a:r>
              <a:rPr lang="en-US" altLang="zh-CN" dirty="0">
                <a:latin typeface="KaiTi" panose="02010609060101010101" pitchFamily="49" charset="-122"/>
                <a:ea typeface="KaiTi" panose="02010609060101010101" pitchFamily="49" charset="-122"/>
              </a:rPr>
              <a:t>-why</a:t>
            </a:r>
            <a:endParaRPr lang="zh-CN" altLang="en-US" dirty="0">
              <a:latin typeface="KaiTi" panose="02010609060101010101" pitchFamily="49" charset="-122"/>
              <a:ea typeface="KaiTi" panose="02010609060101010101" pitchFamily="49" charset="-122"/>
            </a:endParaRPr>
          </a:p>
        </p:txBody>
      </p:sp>
      <p:sp>
        <p:nvSpPr>
          <p:cNvPr id="3" name="内容占位符 2"/>
          <p:cNvSpPr>
            <a:spLocks noGrp="1"/>
          </p:cNvSpPr>
          <p:nvPr>
            <p:ph idx="1"/>
          </p:nvPr>
        </p:nvSpPr>
        <p:spPr>
          <a:xfrm>
            <a:off x="2773599" y="2052116"/>
            <a:ext cx="8335388" cy="3997828"/>
          </a:xfrm>
        </p:spPr>
        <p:txBody>
          <a:bodyPr>
            <a:normAutofit lnSpcReduction="10000"/>
          </a:bodyPr>
          <a:lstStyle/>
          <a:p>
            <a:pPr marL="0" indent="0">
              <a:buNone/>
            </a:pPr>
            <a:endParaRPr lang="en-US" altLang="zh-CN" dirty="0">
              <a:latin typeface="KaiTi" panose="02010609060101010101" pitchFamily="49" charset="-122"/>
              <a:ea typeface="KaiTi" panose="02010609060101010101" pitchFamily="49" charset="-122"/>
            </a:endParaRPr>
          </a:p>
          <a:p>
            <a:r>
              <a:rPr lang="zh-CN" altLang="en-US" dirty="0">
                <a:latin typeface="KaiTi" panose="02010609060101010101" pitchFamily="49" charset="-122"/>
                <a:ea typeface="KaiTi" panose="02010609060101010101" pitchFamily="49" charset="-122"/>
              </a:rPr>
              <a:t>世间万物的自然之道</a:t>
            </a:r>
            <a:endParaRPr lang="en-US" altLang="zh-CN" dirty="0">
              <a:latin typeface="KaiTi" panose="02010609060101010101" pitchFamily="49" charset="-122"/>
              <a:ea typeface="KaiTi" panose="02010609060101010101" pitchFamily="49" charset="-122"/>
            </a:endParaRPr>
          </a:p>
          <a:p>
            <a:r>
              <a:rPr lang="zh-CN" altLang="en-US" dirty="0">
                <a:latin typeface="KaiTi" panose="02010609060101010101" pitchFamily="49" charset="-122"/>
                <a:ea typeface="KaiTi" panose="02010609060101010101" pitchFamily="49" charset="-122"/>
              </a:rPr>
              <a:t>人</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企业的根本问题</a:t>
            </a:r>
          </a:p>
          <a:p>
            <a:pPr lvl="1"/>
            <a:r>
              <a:rPr lang="zh-CN" altLang="en-US" dirty="0">
                <a:solidFill>
                  <a:srgbClr val="FF0000"/>
                </a:solidFill>
                <a:latin typeface="KaiTi" panose="02010609060101010101" pitchFamily="49" charset="-122"/>
                <a:ea typeface="KaiTi" panose="02010609060101010101" pitchFamily="49" charset="-122"/>
              </a:rPr>
              <a:t>生存</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活下来，活得长，活的好，不必</a:t>
            </a:r>
            <a:r>
              <a:rPr lang="en-US" altLang="zh-CN" dirty="0">
                <a:latin typeface="KaiTi" panose="02010609060101010101" pitchFamily="49" charset="-122"/>
                <a:ea typeface="KaiTi" panose="02010609060101010101" pitchFamily="49" charset="-122"/>
              </a:rPr>
              <a:t>996</a:t>
            </a:r>
            <a:r>
              <a:rPr lang="zh-CN" altLang="en-US" dirty="0">
                <a:latin typeface="KaiTi" panose="02010609060101010101" pitchFamily="49" charset="-122"/>
                <a:ea typeface="KaiTi" panose="02010609060101010101" pitchFamily="49" charset="-122"/>
              </a:rPr>
              <a:t>，站着就能把钱挣了，基业长青</a:t>
            </a:r>
          </a:p>
          <a:p>
            <a:pPr lvl="1"/>
            <a:r>
              <a:rPr lang="zh-CN" altLang="en-US" dirty="0">
                <a:solidFill>
                  <a:srgbClr val="FF0000"/>
                </a:solidFill>
                <a:latin typeface="KaiTi" panose="02010609060101010101" pitchFamily="49" charset="-122"/>
                <a:ea typeface="KaiTi" panose="02010609060101010101" pitchFamily="49" charset="-122"/>
              </a:rPr>
              <a:t>发展</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自然长大，小白</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大鳄，小企业</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大企业，资源的拥有和掌控，能力的提升与取得，更多贡献</a:t>
            </a:r>
            <a:endParaRPr lang="en-US" altLang="zh-CN" dirty="0">
              <a:latin typeface="KaiTi" panose="02010609060101010101" pitchFamily="49" charset="-122"/>
              <a:ea typeface="KaiTi" panose="02010609060101010101" pitchFamily="49" charset="-122"/>
            </a:endParaRPr>
          </a:p>
          <a:p>
            <a:pPr lvl="1"/>
            <a:endParaRPr lang="en-US" altLang="zh-CN" dirty="0">
              <a:latin typeface="KaiTi" panose="02010609060101010101" pitchFamily="49" charset="-122"/>
              <a:ea typeface="KaiTi" panose="02010609060101010101" pitchFamily="49" charset="-122"/>
            </a:endParaRPr>
          </a:p>
          <a:p>
            <a:pPr lvl="1"/>
            <a:r>
              <a:rPr lang="en-US" altLang="zh-CN" dirty="0">
                <a:latin typeface="KaiTi" panose="02010609060101010101" pitchFamily="49" charset="-122"/>
                <a:ea typeface="KaiTi" panose="02010609060101010101" pitchFamily="49" charset="-122"/>
              </a:rPr>
              <a:t>1985</a:t>
            </a:r>
            <a:r>
              <a:rPr lang="zh-CN" altLang="en-US" dirty="0">
                <a:latin typeface="KaiTi" panose="02010609060101010101" pitchFamily="49" charset="-122"/>
                <a:ea typeface="KaiTi" panose="02010609060101010101" pitchFamily="49" charset="-122"/>
              </a:rPr>
              <a:t>年，邓和平与发展是当今世界的两大主题</a:t>
            </a:r>
          </a:p>
          <a:p>
            <a:pPr marL="457200" lvl="1" indent="0">
              <a:buNone/>
            </a:pPr>
            <a:endParaRPr lang="zh-CN" altLang="en-US" dirty="0">
              <a:latin typeface="KaiTi" panose="02010609060101010101" pitchFamily="49" charset="-122"/>
              <a:ea typeface="KaiTi" panose="02010609060101010101" pitchFamily="49" charset="-122"/>
            </a:endParaRPr>
          </a:p>
          <a:p>
            <a:pPr lvl="0"/>
            <a:endParaRPr lang="zh-CN" altLang="en-US" dirty="0"/>
          </a:p>
        </p:txBody>
      </p:sp>
    </p:spTree>
    <p:extLst>
      <p:ext uri="{BB962C8B-B14F-4D97-AF65-F5344CB8AC3E}">
        <p14:creationId xmlns:p14="http://schemas.microsoft.com/office/powerpoint/2010/main" val="2097425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E2F486-185C-184D-8820-085395BD9DAC}"/>
              </a:ext>
            </a:extLst>
          </p:cNvPr>
          <p:cNvSpPr>
            <a:spLocks noGrp="1"/>
          </p:cNvSpPr>
          <p:nvPr>
            <p:ph type="title"/>
          </p:nvPr>
        </p:nvSpPr>
        <p:spPr/>
        <p:txBody>
          <a:bodyPr/>
          <a:lstStyle/>
          <a:p>
            <a:r>
              <a:rPr kumimoji="1" lang="en-US" altLang="zh-CN" dirty="0"/>
              <a:t>Netflix</a:t>
            </a:r>
            <a:endParaRPr kumimoji="1" lang="zh-CN" altLang="en-US" dirty="0"/>
          </a:p>
        </p:txBody>
      </p:sp>
      <p:sp>
        <p:nvSpPr>
          <p:cNvPr id="3" name="内容占位符 2">
            <a:extLst>
              <a:ext uri="{FF2B5EF4-FFF2-40B4-BE49-F238E27FC236}">
                <a16:creationId xmlns:a16="http://schemas.microsoft.com/office/drawing/2014/main" id="{412E44C5-230E-C24C-9D04-1AF6471092EA}"/>
              </a:ext>
            </a:extLst>
          </p:cNvPr>
          <p:cNvSpPr>
            <a:spLocks noGrp="1"/>
          </p:cNvSpPr>
          <p:nvPr>
            <p:ph idx="1"/>
          </p:nvPr>
        </p:nvSpPr>
        <p:spPr>
          <a:xfrm>
            <a:off x="2773598" y="2173356"/>
            <a:ext cx="7958331" cy="4108174"/>
          </a:xfrm>
        </p:spPr>
        <p:txBody>
          <a:bodyPr>
            <a:normAutofit fontScale="62500" lnSpcReduction="20000"/>
          </a:bodyPr>
          <a:lstStyle/>
          <a:p>
            <a:r>
              <a:rPr kumimoji="1" lang="zh-CN" altLang="en-US" dirty="0"/>
              <a:t>中国的爱奇艺、优酷、腾讯视频</a:t>
            </a:r>
            <a:endParaRPr kumimoji="1" lang="en-US" altLang="zh-CN" dirty="0"/>
          </a:p>
          <a:p>
            <a:r>
              <a:rPr kumimoji="1" lang="en-US" altLang="zh-CN" dirty="0"/>
              <a:t>Netflix</a:t>
            </a:r>
            <a:r>
              <a:rPr kumimoji="1" lang="zh-CN" altLang="en-US" dirty="0"/>
              <a:t>，</a:t>
            </a:r>
            <a:r>
              <a:rPr kumimoji="1" lang="en-US" altLang="zh-CN" dirty="0"/>
              <a:t>1977</a:t>
            </a:r>
            <a:r>
              <a:rPr kumimoji="1" lang="zh-CN" altLang="en-US" dirty="0"/>
              <a:t>年成立，录像带租赁，录像带租赁行业收入大于电影院票房</a:t>
            </a:r>
            <a:endParaRPr kumimoji="1" lang="en-US" altLang="zh-CN" dirty="0"/>
          </a:p>
          <a:p>
            <a:r>
              <a:rPr kumimoji="1" lang="zh-CN" altLang="en-US" dirty="0"/>
              <a:t>营收不好，</a:t>
            </a:r>
            <a:r>
              <a:rPr kumimoji="1" lang="en-US" altLang="zh-CN" dirty="0"/>
              <a:t>2005</a:t>
            </a:r>
            <a:r>
              <a:rPr kumimoji="1" lang="zh-CN" altLang="en-US" dirty="0"/>
              <a:t>年希望</a:t>
            </a:r>
            <a:r>
              <a:rPr kumimoji="1" lang="en-US" altLang="zh-CN" dirty="0"/>
              <a:t>5000</a:t>
            </a:r>
            <a:r>
              <a:rPr kumimoji="1" lang="zh-CN" altLang="en-US" dirty="0"/>
              <a:t>万卖给百视达（</a:t>
            </a:r>
            <a:r>
              <a:rPr kumimoji="1" lang="en-US" altLang="zh-CN" dirty="0"/>
              <a:t>Blockbuster</a:t>
            </a:r>
            <a:r>
              <a:rPr kumimoji="1" lang="zh-CN" altLang="en-US" dirty="0"/>
              <a:t>），被拒，后市值</a:t>
            </a:r>
            <a:r>
              <a:rPr kumimoji="1" lang="en-US" altLang="zh-CN" dirty="0"/>
              <a:t>1000</a:t>
            </a:r>
            <a:r>
              <a:rPr kumimoji="1" lang="zh-CN" altLang="en-US" dirty="0"/>
              <a:t>亿美元</a:t>
            </a:r>
            <a:endParaRPr kumimoji="1" lang="en-US" altLang="zh-CN" dirty="0"/>
          </a:p>
          <a:p>
            <a:r>
              <a:rPr kumimoji="1" lang="zh-CN" altLang="en-US" dirty="0"/>
              <a:t>用户</a:t>
            </a:r>
            <a:r>
              <a:rPr kumimoji="1" lang="en-US" altLang="zh-CN" dirty="0"/>
              <a:t>e-mail</a:t>
            </a:r>
            <a:r>
              <a:rPr kumimoji="1" lang="zh-CN" altLang="en-US" dirty="0"/>
              <a:t>选片下单，片源浩瀚，长尾，包月，</a:t>
            </a:r>
            <a:r>
              <a:rPr kumimoji="1" lang="en-US" altLang="zh-CN" dirty="0"/>
              <a:t>2006</a:t>
            </a:r>
            <a:r>
              <a:rPr kumimoji="1" lang="zh-CN" altLang="en-US" dirty="0"/>
              <a:t>年视频推荐算法大赛取得突破，成为持续至今的竞争优势</a:t>
            </a:r>
            <a:endParaRPr kumimoji="1" lang="en-US" altLang="zh-CN" dirty="0"/>
          </a:p>
          <a:p>
            <a:r>
              <a:rPr kumimoji="1" lang="en-US" altLang="zh-CN" dirty="0"/>
              <a:t>DVD</a:t>
            </a:r>
            <a:r>
              <a:rPr kumimoji="1" lang="zh-CN" altLang="en-US" dirty="0"/>
              <a:t>出现，转向</a:t>
            </a:r>
            <a:r>
              <a:rPr kumimoji="1" lang="en-US" altLang="zh-CN" dirty="0"/>
              <a:t>DVD</a:t>
            </a:r>
            <a:r>
              <a:rPr kumimoji="1" lang="zh-CN" altLang="en-US" dirty="0"/>
              <a:t>，百视达不想放弃录像带。</a:t>
            </a:r>
            <a:endParaRPr kumimoji="1" lang="en-US" altLang="zh-CN" dirty="0"/>
          </a:p>
          <a:p>
            <a:r>
              <a:rPr kumimoji="1" lang="zh-CN" altLang="en-US" dirty="0"/>
              <a:t>流媒体。。创始人说，我最大的恐惧是我能否从</a:t>
            </a:r>
            <a:r>
              <a:rPr kumimoji="1" lang="en-US" altLang="zh-CN" dirty="0"/>
              <a:t>DVD</a:t>
            </a:r>
            <a:r>
              <a:rPr kumimoji="1" lang="zh-CN" altLang="en-US" dirty="0"/>
              <a:t>的成功跳出。</a:t>
            </a:r>
            <a:endParaRPr kumimoji="1" lang="en-US" altLang="zh-CN" dirty="0"/>
          </a:p>
          <a:p>
            <a:r>
              <a:rPr kumimoji="1" lang="zh-CN" altLang="en-US" dirty="0"/>
              <a:t>后涉足影视制作，后向一体化</a:t>
            </a:r>
            <a:endParaRPr kumimoji="1" lang="en-US" altLang="zh-CN" dirty="0"/>
          </a:p>
          <a:p>
            <a:r>
              <a:rPr kumimoji="1" lang="zh-CN" altLang="en-US" dirty="0"/>
              <a:t>从</a:t>
            </a:r>
            <a:r>
              <a:rPr kumimoji="1" lang="en-US" altLang="zh-CN" dirty="0"/>
              <a:t>DVD</a:t>
            </a:r>
            <a:r>
              <a:rPr kumimoji="1" lang="zh-CN" altLang="en-US" dirty="0"/>
              <a:t>转到流媒体，从流媒体转向后向一体化，都是风险和跳跃非常大的决策。决策基于</a:t>
            </a:r>
            <a:r>
              <a:rPr kumimoji="1" lang="en-US" altLang="zh-CN" dirty="0"/>
              <a:t>perspective</a:t>
            </a:r>
            <a:r>
              <a:rPr kumimoji="1" lang="zh-CN" altLang="en-US" dirty="0"/>
              <a:t>。</a:t>
            </a:r>
            <a:endParaRPr kumimoji="1" lang="en-US" altLang="zh-CN" dirty="0"/>
          </a:p>
          <a:p>
            <a:endParaRPr kumimoji="1" lang="en-US" altLang="zh-CN" dirty="0"/>
          </a:p>
          <a:p>
            <a:endParaRPr kumimoji="1" lang="en-US" altLang="zh-CN" dirty="0"/>
          </a:p>
          <a:p>
            <a:endParaRPr kumimoji="1" lang="en-US" altLang="zh-CN" dirty="0"/>
          </a:p>
        </p:txBody>
      </p:sp>
    </p:spTree>
    <p:extLst>
      <p:ext uri="{BB962C8B-B14F-4D97-AF65-F5344CB8AC3E}">
        <p14:creationId xmlns:p14="http://schemas.microsoft.com/office/powerpoint/2010/main" val="6561737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内容占位符 1"/>
          <p:cNvSpPr>
            <a:spLocks noGrp="1"/>
          </p:cNvSpPr>
          <p:nvPr>
            <p:ph/>
          </p:nvPr>
        </p:nvSpPr>
        <p:spPr>
          <a:xfrm>
            <a:off x="2057400" y="1052513"/>
            <a:ext cx="8610600" cy="5149850"/>
          </a:xfrm>
        </p:spPr>
        <p:txBody>
          <a:bodyPr/>
          <a:lstStyle/>
          <a:p>
            <a:r>
              <a:rPr lang="zh-CN" altLang="en-US" dirty="0">
                <a:solidFill>
                  <a:schemeClr val="bg1"/>
                </a:solidFill>
              </a:rPr>
              <a:t>企业战略是企业面对激烈变化、严峻挑战的环境，为求得长期生存和不断发展而进行的总体性谋划</a:t>
            </a:r>
            <a:endParaRPr lang="en-US" altLang="zh-CN" dirty="0">
              <a:solidFill>
                <a:schemeClr val="bg1"/>
              </a:solidFill>
            </a:endParaRPr>
          </a:p>
          <a:p>
            <a:r>
              <a:rPr lang="zh-CN" altLang="en-US" dirty="0">
                <a:solidFill>
                  <a:schemeClr val="bg1"/>
                </a:solidFill>
              </a:rPr>
              <a:t>生存与发展</a:t>
            </a:r>
            <a:endParaRPr lang="en-US" altLang="zh-CN" dirty="0">
              <a:solidFill>
                <a:schemeClr val="bg1"/>
              </a:solidFill>
            </a:endParaRPr>
          </a:p>
          <a:p>
            <a:r>
              <a:rPr lang="zh-CN" altLang="en-US" dirty="0">
                <a:solidFill>
                  <a:schemeClr val="bg1"/>
                </a:solidFill>
              </a:rPr>
              <a:t>谋划</a:t>
            </a:r>
            <a:endParaRPr lang="en-US" altLang="zh-CN" dirty="0">
              <a:solidFill>
                <a:schemeClr val="bg1"/>
              </a:solidFill>
            </a:endParaRPr>
          </a:p>
          <a:p>
            <a:r>
              <a:rPr lang="zh-CN" altLang="en-US" dirty="0">
                <a:solidFill>
                  <a:schemeClr val="bg1"/>
                </a:solidFill>
              </a:rPr>
              <a:t>外部动因</a:t>
            </a:r>
          </a:p>
        </p:txBody>
      </p:sp>
    </p:spTree>
    <p:extLst>
      <p:ext uri="{BB962C8B-B14F-4D97-AF65-F5344CB8AC3E}">
        <p14:creationId xmlns:p14="http://schemas.microsoft.com/office/powerpoint/2010/main" val="3040898434"/>
      </p:ext>
    </p:extLst>
  </p:cSld>
  <p:clrMapOvr>
    <a:masterClrMapping/>
  </p:clrMapOvr>
  <p:transition spd="med">
    <p:randomBar dir="ver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050"/>
          <p:cNvSpPr>
            <a:spLocks noGrp="1" noChangeArrowheads="1"/>
          </p:cNvSpPr>
          <p:nvPr>
            <p:ph type="title"/>
          </p:nvPr>
        </p:nvSpPr>
        <p:spPr>
          <a:xfrm>
            <a:off x="1793876" y="549275"/>
            <a:ext cx="8874125" cy="700088"/>
          </a:xfrm>
        </p:spPr>
        <p:txBody>
          <a:bodyPr>
            <a:normAutofit/>
          </a:bodyPr>
          <a:lstStyle/>
          <a:p>
            <a:pPr marL="54864">
              <a:defRPr/>
            </a:pPr>
            <a:r>
              <a:rPr lang="zh-CN" altLang="en-US" sz="4000" dirty="0">
                <a:solidFill>
                  <a:schemeClr val="tx2">
                    <a:tint val="100000"/>
                    <a:shade val="90000"/>
                    <a:satMod val="250000"/>
                    <a:alpha val="100000"/>
                  </a:schemeClr>
                </a:solidFill>
                <a:ea typeface="黑体" pitchFamily="2" charset="-122"/>
              </a:rPr>
              <a:t>明茨伯格（</a:t>
            </a:r>
            <a:r>
              <a:rPr lang="en-US" altLang="zh-CN" sz="4000" dirty="0" err="1">
                <a:solidFill>
                  <a:schemeClr val="tx2">
                    <a:tint val="100000"/>
                    <a:shade val="90000"/>
                    <a:satMod val="250000"/>
                    <a:alpha val="100000"/>
                  </a:schemeClr>
                </a:solidFill>
                <a:ea typeface="黑体" pitchFamily="2" charset="-122"/>
              </a:rPr>
              <a:t>H.Mintzberg</a:t>
            </a:r>
            <a:r>
              <a:rPr lang="zh-CN" altLang="en-US" sz="4000" dirty="0">
                <a:solidFill>
                  <a:schemeClr val="tx2">
                    <a:tint val="100000"/>
                    <a:shade val="90000"/>
                    <a:satMod val="250000"/>
                    <a:alpha val="100000"/>
                  </a:schemeClr>
                </a:solidFill>
                <a:ea typeface="黑体" pitchFamily="2" charset="-122"/>
              </a:rPr>
              <a:t>）的战略</a:t>
            </a:r>
            <a:r>
              <a:rPr lang="en-US" altLang="zh-CN" sz="4000" dirty="0">
                <a:solidFill>
                  <a:schemeClr val="tx2">
                    <a:tint val="100000"/>
                    <a:shade val="90000"/>
                    <a:satMod val="250000"/>
                    <a:alpha val="100000"/>
                  </a:schemeClr>
                </a:solidFill>
                <a:ea typeface="黑体" pitchFamily="2" charset="-122"/>
              </a:rPr>
              <a:t>5Ps</a:t>
            </a:r>
          </a:p>
        </p:txBody>
      </p:sp>
      <p:sp>
        <p:nvSpPr>
          <p:cNvPr id="24578" name="Rectangle 2051"/>
          <p:cNvSpPr>
            <a:spLocks noGrp="1" noChangeArrowheads="1"/>
          </p:cNvSpPr>
          <p:nvPr>
            <p:ph idx="1"/>
          </p:nvPr>
        </p:nvSpPr>
        <p:spPr>
          <a:xfrm>
            <a:off x="2286000" y="1752600"/>
            <a:ext cx="7772400" cy="4114800"/>
          </a:xfrm>
        </p:spPr>
        <p:txBody>
          <a:bodyPr/>
          <a:lstStyle/>
          <a:p>
            <a:pPr>
              <a:lnSpc>
                <a:spcPct val="80000"/>
              </a:lnSpc>
              <a:buFont typeface="Wingdings" pitchFamily="2" charset="2"/>
              <a:buNone/>
            </a:pPr>
            <a:endParaRPr lang="en-US" altLang="zh-CN" sz="4400" b="1">
              <a:solidFill>
                <a:schemeClr val="accent2"/>
              </a:solidFill>
            </a:endParaRPr>
          </a:p>
          <a:p>
            <a:pPr>
              <a:lnSpc>
                <a:spcPct val="80000"/>
              </a:lnSpc>
            </a:pPr>
            <a:r>
              <a:rPr lang="zh-CN" altLang="en-US" sz="3600" b="1"/>
              <a:t>战略是计划（</a:t>
            </a:r>
            <a:r>
              <a:rPr lang="en-US" altLang="zh-CN" sz="3600" b="1"/>
              <a:t>plan</a:t>
            </a:r>
            <a:r>
              <a:rPr lang="zh-CN" altLang="en-US" sz="3600" b="1"/>
              <a:t>）</a:t>
            </a:r>
          </a:p>
          <a:p>
            <a:pPr>
              <a:lnSpc>
                <a:spcPct val="80000"/>
              </a:lnSpc>
            </a:pPr>
            <a:r>
              <a:rPr lang="zh-CN" altLang="en-US" sz="3600" b="1"/>
              <a:t>战略是模式（</a:t>
            </a:r>
            <a:r>
              <a:rPr lang="en-US" altLang="zh-CN" sz="3600" b="1"/>
              <a:t>pattern</a:t>
            </a:r>
            <a:r>
              <a:rPr lang="zh-CN" altLang="en-US" sz="3600" b="1"/>
              <a:t>）</a:t>
            </a:r>
          </a:p>
          <a:p>
            <a:pPr>
              <a:lnSpc>
                <a:spcPct val="80000"/>
              </a:lnSpc>
            </a:pPr>
            <a:r>
              <a:rPr lang="zh-CN" altLang="en-US" sz="3600" b="1"/>
              <a:t>战略是定位（</a:t>
            </a:r>
            <a:r>
              <a:rPr lang="en-US" altLang="zh-CN" sz="3600" b="1"/>
              <a:t>position</a:t>
            </a:r>
            <a:r>
              <a:rPr lang="zh-CN" altLang="en-US" sz="3600" b="1"/>
              <a:t>）</a:t>
            </a:r>
          </a:p>
          <a:p>
            <a:pPr>
              <a:lnSpc>
                <a:spcPct val="80000"/>
              </a:lnSpc>
            </a:pPr>
            <a:r>
              <a:rPr lang="zh-CN" altLang="en-US" sz="3600" b="1"/>
              <a:t>战略是观念（</a:t>
            </a:r>
            <a:r>
              <a:rPr lang="en-US" altLang="zh-CN" sz="3600" b="1"/>
              <a:t>perspective</a:t>
            </a:r>
            <a:r>
              <a:rPr lang="zh-CN" altLang="en-US" sz="3600" b="1"/>
              <a:t>）</a:t>
            </a:r>
          </a:p>
          <a:p>
            <a:pPr>
              <a:lnSpc>
                <a:spcPct val="80000"/>
              </a:lnSpc>
            </a:pPr>
            <a:r>
              <a:rPr lang="zh-CN" altLang="en-US" sz="3600" b="1"/>
              <a:t>战略是计谋（</a:t>
            </a:r>
            <a:r>
              <a:rPr lang="en-US" altLang="zh-CN" sz="3600" b="1"/>
              <a:t>ploy</a:t>
            </a:r>
            <a:r>
              <a:rPr lang="zh-CN" altLang="en-US" sz="3600" b="1"/>
              <a:t>）</a:t>
            </a:r>
          </a:p>
          <a:p>
            <a:endParaRPr lang="en-US" altLang="zh-CN"/>
          </a:p>
        </p:txBody>
      </p:sp>
    </p:spTree>
    <p:extLst>
      <p:ext uri="{BB962C8B-B14F-4D97-AF65-F5344CB8AC3E}">
        <p14:creationId xmlns:p14="http://schemas.microsoft.com/office/powerpoint/2010/main" val="248174589"/>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53536"/>
            <a:ext cx="8229600" cy="1143000"/>
          </a:xfrm>
        </p:spPr>
        <p:txBody>
          <a:bodyPr/>
          <a:lstStyle/>
          <a:p>
            <a:pPr marL="54864">
              <a:defRPr/>
            </a:pPr>
            <a:r>
              <a:rPr lang="zh-CN" altLang="en-US" dirty="0">
                <a:solidFill>
                  <a:schemeClr val="tx2">
                    <a:tint val="100000"/>
                    <a:shade val="90000"/>
                    <a:satMod val="250000"/>
                    <a:alpha val="100000"/>
                  </a:schemeClr>
                </a:solidFill>
                <a:cs typeface="+mj-cs"/>
              </a:rPr>
              <a:t>企业战略的构成要素</a:t>
            </a:r>
          </a:p>
        </p:txBody>
      </p:sp>
      <p:sp>
        <p:nvSpPr>
          <p:cNvPr id="27650" name="内容占位符 2"/>
          <p:cNvSpPr>
            <a:spLocks noGrp="1"/>
          </p:cNvSpPr>
          <p:nvPr>
            <p:ph idx="1"/>
          </p:nvPr>
        </p:nvSpPr>
        <p:spPr/>
        <p:txBody>
          <a:bodyPr/>
          <a:lstStyle/>
          <a:p>
            <a:r>
              <a:rPr lang="zh-CN" altLang="en-US" dirty="0"/>
              <a:t>经营范围：企业从事生产经营活动的领域</a:t>
            </a:r>
            <a:endParaRPr lang="en-US" altLang="zh-CN" dirty="0"/>
          </a:p>
          <a:p>
            <a:r>
              <a:rPr lang="zh-CN" altLang="en-US" dirty="0"/>
              <a:t>资源配置</a:t>
            </a:r>
            <a:endParaRPr lang="en-US" altLang="zh-CN" dirty="0"/>
          </a:p>
          <a:p>
            <a:pPr lvl="1"/>
            <a:r>
              <a:rPr lang="zh-CN" altLang="en-US" dirty="0"/>
              <a:t>企业资源和技能配置的水平和模式</a:t>
            </a:r>
            <a:endParaRPr lang="en-US" altLang="zh-CN" dirty="0"/>
          </a:p>
          <a:p>
            <a:r>
              <a:rPr lang="zh-CN" altLang="en-US" dirty="0"/>
              <a:t>竞争优势</a:t>
            </a:r>
            <a:endParaRPr lang="en-US" altLang="zh-CN" dirty="0"/>
          </a:p>
          <a:p>
            <a:pPr lvl="1"/>
            <a:r>
              <a:rPr lang="zh-CN" altLang="en-US" dirty="0"/>
              <a:t>指企业通过其资源配置的模式与经营范围的决策在市场上形成的与其竞争对手不同的竞争地位（创新、低成本）</a:t>
            </a:r>
            <a:endParaRPr lang="en-US" altLang="zh-CN" dirty="0"/>
          </a:p>
          <a:p>
            <a:r>
              <a:rPr lang="zh-CN" altLang="en-US" dirty="0"/>
              <a:t>协同作用</a:t>
            </a:r>
            <a:endParaRPr lang="en-US" altLang="zh-CN" dirty="0"/>
          </a:p>
          <a:p>
            <a:pPr lvl="1"/>
            <a:endParaRPr lang="zh-CN" altLang="en-US" dirty="0"/>
          </a:p>
        </p:txBody>
      </p:sp>
    </p:spTree>
    <p:extLst>
      <p:ext uri="{BB962C8B-B14F-4D97-AF65-F5344CB8AC3E}">
        <p14:creationId xmlns:p14="http://schemas.microsoft.com/office/powerpoint/2010/main" val="16762216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p:cNvSpPr>
            <a:spLocks noGrp="1"/>
          </p:cNvSpPr>
          <p:nvPr>
            <p:ph idx="1"/>
          </p:nvPr>
        </p:nvSpPr>
        <p:spPr>
          <a:xfrm>
            <a:off x="2625060" y="1288938"/>
            <a:ext cx="7796540" cy="3997828"/>
          </a:xfrm>
        </p:spPr>
        <p:txBody>
          <a:bodyPr>
            <a:normAutofit/>
          </a:bodyPr>
          <a:lstStyle/>
          <a:p>
            <a:r>
              <a:rPr lang="zh-CN" altLang="en-US" sz="2800" dirty="0">
                <a:solidFill>
                  <a:srgbClr val="FFFF00"/>
                </a:solidFill>
              </a:rPr>
              <a:t>企业的战略管理是一个动态管理的过程，战略管理活动的重点是制定和实施战略。它是对企业的生产经营活动实行的总体性管理，是企业制定和实施战略的一系列管理决策和行为，其核心问题是使企业自身条件与环境相适应，求得企业的长期生存和发展。</a:t>
            </a:r>
          </a:p>
        </p:txBody>
      </p:sp>
    </p:spTree>
    <p:extLst>
      <p:ext uri="{BB962C8B-B14F-4D97-AF65-F5344CB8AC3E}">
        <p14:creationId xmlns:p14="http://schemas.microsoft.com/office/powerpoint/2010/main" val="15250303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53536"/>
            <a:ext cx="8229600" cy="1143000"/>
          </a:xfrm>
        </p:spPr>
        <p:txBody>
          <a:bodyPr/>
          <a:lstStyle/>
          <a:p>
            <a:pPr marL="54864">
              <a:defRPr/>
            </a:pPr>
            <a:r>
              <a:rPr lang="zh-CN" altLang="en-US" dirty="0">
                <a:solidFill>
                  <a:schemeClr val="tx2">
                    <a:tint val="100000"/>
                    <a:shade val="90000"/>
                    <a:satMod val="250000"/>
                    <a:alpha val="100000"/>
                  </a:schemeClr>
                </a:solidFill>
                <a:cs typeface="+mj-cs"/>
              </a:rPr>
              <a:t>战略管理过程</a:t>
            </a:r>
          </a:p>
        </p:txBody>
      </p:sp>
      <p:sp>
        <p:nvSpPr>
          <p:cNvPr id="4" name="矩形 3"/>
          <p:cNvSpPr/>
          <p:nvPr/>
        </p:nvSpPr>
        <p:spPr>
          <a:xfrm>
            <a:off x="3719514" y="2565400"/>
            <a:ext cx="1800225" cy="1150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企业外部</a:t>
            </a:r>
            <a:endParaRPr lang="en-US" altLang="zh-CN" dirty="0"/>
          </a:p>
          <a:p>
            <a:pPr algn="ctr">
              <a:defRPr/>
            </a:pPr>
            <a:r>
              <a:rPr lang="zh-CN" altLang="en-US" dirty="0"/>
              <a:t>环境分析</a:t>
            </a:r>
          </a:p>
        </p:txBody>
      </p:sp>
      <p:sp>
        <p:nvSpPr>
          <p:cNvPr id="5" name="矩形 4"/>
          <p:cNvSpPr/>
          <p:nvPr/>
        </p:nvSpPr>
        <p:spPr>
          <a:xfrm>
            <a:off x="5951539" y="2565400"/>
            <a:ext cx="1800225" cy="1150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企业内部</a:t>
            </a:r>
            <a:endParaRPr lang="en-US" altLang="zh-CN" dirty="0"/>
          </a:p>
          <a:p>
            <a:pPr algn="ctr">
              <a:defRPr/>
            </a:pPr>
            <a:r>
              <a:rPr lang="zh-CN" altLang="en-US" dirty="0"/>
              <a:t>条件分析</a:t>
            </a:r>
          </a:p>
        </p:txBody>
      </p:sp>
      <p:sp>
        <p:nvSpPr>
          <p:cNvPr id="6" name="矩形 5"/>
          <p:cNvSpPr/>
          <p:nvPr/>
        </p:nvSpPr>
        <p:spPr>
          <a:xfrm>
            <a:off x="1919288" y="4292601"/>
            <a:ext cx="1223962"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确定使命与愿景</a:t>
            </a:r>
          </a:p>
        </p:txBody>
      </p:sp>
      <p:sp>
        <p:nvSpPr>
          <p:cNvPr id="7" name="矩形 6"/>
          <p:cNvSpPr/>
          <p:nvPr/>
        </p:nvSpPr>
        <p:spPr>
          <a:xfrm>
            <a:off x="3359151" y="4292601"/>
            <a:ext cx="1223963"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确定</a:t>
            </a:r>
            <a:endParaRPr lang="en-US" altLang="zh-CN" dirty="0"/>
          </a:p>
          <a:p>
            <a:pPr algn="ctr">
              <a:defRPr/>
            </a:pPr>
            <a:r>
              <a:rPr lang="zh-CN" altLang="en-US" dirty="0"/>
              <a:t>战略目标</a:t>
            </a:r>
          </a:p>
        </p:txBody>
      </p:sp>
      <p:sp>
        <p:nvSpPr>
          <p:cNvPr id="8" name="矩形 7"/>
          <p:cNvSpPr/>
          <p:nvPr/>
        </p:nvSpPr>
        <p:spPr>
          <a:xfrm>
            <a:off x="4872038" y="4292601"/>
            <a:ext cx="1223962"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确定</a:t>
            </a:r>
            <a:endParaRPr lang="en-US" altLang="zh-CN" dirty="0"/>
          </a:p>
          <a:p>
            <a:pPr algn="ctr">
              <a:defRPr/>
            </a:pPr>
            <a:r>
              <a:rPr lang="zh-CN" altLang="en-US" dirty="0"/>
              <a:t>战略方案</a:t>
            </a:r>
          </a:p>
        </p:txBody>
      </p:sp>
      <p:sp>
        <p:nvSpPr>
          <p:cNvPr id="9" name="矩形 8"/>
          <p:cNvSpPr/>
          <p:nvPr/>
        </p:nvSpPr>
        <p:spPr>
          <a:xfrm>
            <a:off x="6383338" y="4292601"/>
            <a:ext cx="1225550"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战略方案的评价与选择</a:t>
            </a:r>
          </a:p>
        </p:txBody>
      </p:sp>
      <p:sp>
        <p:nvSpPr>
          <p:cNvPr id="10" name="矩形 9"/>
          <p:cNvSpPr/>
          <p:nvPr/>
        </p:nvSpPr>
        <p:spPr>
          <a:xfrm>
            <a:off x="7859713" y="4292601"/>
            <a:ext cx="1223962"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确定职能部门的策略</a:t>
            </a:r>
          </a:p>
        </p:txBody>
      </p:sp>
      <p:sp>
        <p:nvSpPr>
          <p:cNvPr id="11" name="矩形 10"/>
          <p:cNvSpPr/>
          <p:nvPr/>
        </p:nvSpPr>
        <p:spPr>
          <a:xfrm>
            <a:off x="9264651" y="4292601"/>
            <a:ext cx="1223963" cy="115252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战略实施与控制</a:t>
            </a:r>
          </a:p>
        </p:txBody>
      </p:sp>
      <p:grpSp>
        <p:nvGrpSpPr>
          <p:cNvPr id="33802" name="组合 27"/>
          <p:cNvGrpSpPr>
            <a:grpSpLocks/>
          </p:cNvGrpSpPr>
          <p:nvPr/>
        </p:nvGrpSpPr>
        <p:grpSpPr bwMode="auto">
          <a:xfrm>
            <a:off x="2495551" y="4005263"/>
            <a:ext cx="7237413" cy="1079500"/>
            <a:chOff x="971600" y="3212976"/>
            <a:chExt cx="7236804" cy="1080118"/>
          </a:xfrm>
        </p:grpSpPr>
        <p:cxnSp>
          <p:nvCxnSpPr>
            <p:cNvPr id="13" name="直接连接符 12"/>
            <p:cNvCxnSpPr/>
            <p:nvPr/>
          </p:nvCxnSpPr>
          <p:spPr>
            <a:xfrm>
              <a:off x="971600" y="3212976"/>
              <a:ext cx="720029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6" idx="0"/>
            </p:cNvCxnSpPr>
            <p:nvPr/>
          </p:nvCxnSpPr>
          <p:spPr>
            <a:xfrm rot="16200000" flipH="1">
              <a:off x="846104" y="4131087"/>
              <a:ext cx="287502" cy="365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rot="16200000" flipH="1">
              <a:off x="2358071" y="3339266"/>
              <a:ext cx="287501" cy="3492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rot="16200000" flipH="1">
              <a:off x="3798606" y="3338472"/>
              <a:ext cx="287501" cy="365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rot="16200000" flipH="1">
              <a:off x="5310573" y="3339266"/>
              <a:ext cx="287501" cy="3492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rot="16200000" flipH="1">
              <a:off x="6750313" y="3339266"/>
              <a:ext cx="287501" cy="3492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rot="16200000" flipH="1">
              <a:off x="8046398" y="3338472"/>
              <a:ext cx="287501" cy="365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23" name="直接连接符 22"/>
          <p:cNvCxnSpPr>
            <a:stCxn id="4" idx="2"/>
          </p:cNvCxnSpPr>
          <p:nvPr/>
        </p:nvCxnSpPr>
        <p:spPr>
          <a:xfrm rot="16200000" flipH="1">
            <a:off x="4997451" y="3338514"/>
            <a:ext cx="288925" cy="1044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5" idx="2"/>
          </p:cNvCxnSpPr>
          <p:nvPr/>
        </p:nvCxnSpPr>
        <p:spPr>
          <a:xfrm rot="5400000">
            <a:off x="6113463" y="3267076"/>
            <a:ext cx="288925" cy="11874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33805" name="组合 28"/>
          <p:cNvGrpSpPr>
            <a:grpSpLocks/>
          </p:cNvGrpSpPr>
          <p:nvPr/>
        </p:nvGrpSpPr>
        <p:grpSpPr bwMode="auto">
          <a:xfrm rot="10800000">
            <a:off x="2747964" y="5445125"/>
            <a:ext cx="7235825" cy="287338"/>
            <a:chOff x="971600" y="3212976"/>
            <a:chExt cx="7236804" cy="288033"/>
          </a:xfrm>
        </p:grpSpPr>
        <p:cxnSp>
          <p:nvCxnSpPr>
            <p:cNvPr id="30" name="直接连接符 29"/>
            <p:cNvCxnSpPr/>
            <p:nvPr/>
          </p:nvCxnSpPr>
          <p:spPr>
            <a:xfrm>
              <a:off x="974775" y="3211385"/>
              <a:ext cx="72002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rot="16200000" flipH="1">
              <a:off x="847430"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rot="16200000" flipH="1">
              <a:off x="2358935"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rot="16200000" flipH="1">
              <a:off x="3800580"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rot="16200000" flipH="1">
              <a:off x="5313671" y="3338734"/>
              <a:ext cx="288033" cy="3651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rot="16200000" flipH="1">
              <a:off x="6753729"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rot="16200000" flipH="1">
              <a:off x="8049304" y="3338734"/>
              <a:ext cx="288033" cy="365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38" name="直接箭头连接符 37"/>
          <p:cNvCxnSpPr>
            <a:stCxn id="6" idx="3"/>
            <a:endCxn id="7" idx="1"/>
          </p:cNvCxnSpPr>
          <p:nvPr/>
        </p:nvCxnSpPr>
        <p:spPr>
          <a:xfrm>
            <a:off x="3143250" y="4868864"/>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endCxn id="8" idx="1"/>
          </p:cNvCxnSpPr>
          <p:nvPr/>
        </p:nvCxnSpPr>
        <p:spPr>
          <a:xfrm>
            <a:off x="4656138" y="4868864"/>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6096000" y="4868864"/>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7608888" y="4868864"/>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9048750" y="4868864"/>
            <a:ext cx="2159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rot="5400000" flipH="1" flipV="1">
            <a:off x="1128713" y="3213100"/>
            <a:ext cx="215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2208213" y="2133600"/>
            <a:ext cx="46085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endCxn id="4" idx="0"/>
          </p:cNvCxnSpPr>
          <p:nvPr/>
        </p:nvCxnSpPr>
        <p:spPr>
          <a:xfrm rot="16200000" flipH="1">
            <a:off x="4385469" y="2331244"/>
            <a:ext cx="431800" cy="365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rot="16200000" flipH="1">
            <a:off x="6618288" y="2332038"/>
            <a:ext cx="431800" cy="349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4" idx="3"/>
            <a:endCxn id="5" idx="1"/>
          </p:cNvCxnSpPr>
          <p:nvPr/>
        </p:nvCxnSpPr>
        <p:spPr>
          <a:xfrm>
            <a:off x="5519738" y="3141664"/>
            <a:ext cx="431800" cy="1587"/>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24892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AB1EC5-0ADF-9E43-9005-BF637534F50D}"/>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E9FD0137-3D83-7C41-82C9-981B1494234B}"/>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D6507E3D-21D7-D84E-98BD-A9484DEB081E}"/>
              </a:ext>
            </a:extLst>
          </p:cNvPr>
          <p:cNvPicPr/>
          <p:nvPr/>
        </p:nvPicPr>
        <p:blipFill>
          <a:blip r:embed="rId2"/>
          <a:stretch>
            <a:fillRect/>
          </a:stretch>
        </p:blipFill>
        <p:spPr>
          <a:xfrm rot="10800000">
            <a:off x="259080" y="-2"/>
            <a:ext cx="11658600" cy="6644639"/>
          </a:xfrm>
          <a:prstGeom prst="rect">
            <a:avLst/>
          </a:prstGeom>
        </p:spPr>
      </p:pic>
    </p:spTree>
    <p:extLst>
      <p:ext uri="{BB962C8B-B14F-4D97-AF65-F5344CB8AC3E}">
        <p14:creationId xmlns:p14="http://schemas.microsoft.com/office/powerpoint/2010/main" val="12659476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dirty="0">
                <a:latin typeface="+mn-ea"/>
                <a:ea typeface="+mn-ea"/>
              </a:rPr>
              <a:t>是谁？</a:t>
            </a:r>
          </a:p>
        </p:txBody>
      </p:sp>
      <p:sp>
        <p:nvSpPr>
          <p:cNvPr id="23555" name="内容占位符 2"/>
          <p:cNvSpPr>
            <a:spLocks noGrp="1"/>
          </p:cNvSpPr>
          <p:nvPr>
            <p:ph idx="1"/>
          </p:nvPr>
        </p:nvSpPr>
        <p:spPr/>
        <p:txBody>
          <a:bodyPr>
            <a:normAutofit lnSpcReduction="10000"/>
          </a:bodyPr>
          <a:lstStyle/>
          <a:p>
            <a:r>
              <a:rPr lang="zh-CN" altLang="en-US" sz="2800" dirty="0">
                <a:latin typeface="+mn-ea"/>
              </a:rPr>
              <a:t>使命：</a:t>
            </a:r>
            <a:br>
              <a:rPr lang="zh-CN" altLang="en-US" sz="2800" dirty="0">
                <a:latin typeface="+mn-ea"/>
              </a:rPr>
            </a:br>
            <a:r>
              <a:rPr lang="zh-CN" altLang="en-US" sz="2800" dirty="0">
                <a:latin typeface="+mn-ea"/>
              </a:rPr>
              <a:t>立足中国实践 贡献管理知识 培养领袖人才 促进社会发展 </a:t>
            </a:r>
          </a:p>
          <a:p>
            <a:r>
              <a:rPr lang="zh-CN" altLang="en-US" sz="2800" dirty="0">
                <a:latin typeface="+mn-ea"/>
              </a:rPr>
              <a:t>愿景：</a:t>
            </a:r>
            <a:br>
              <a:rPr lang="zh-CN" altLang="en-US" sz="2800" dirty="0">
                <a:latin typeface="+mn-ea"/>
              </a:rPr>
            </a:br>
            <a:r>
              <a:rPr lang="zh-CN" altLang="en-US" sz="2800" dirty="0">
                <a:latin typeface="+mn-ea"/>
              </a:rPr>
              <a:t>成为最受尊敬的商学院 </a:t>
            </a:r>
          </a:p>
          <a:p>
            <a:r>
              <a:rPr lang="zh-CN" altLang="en-US" sz="2800" dirty="0">
                <a:latin typeface="+mn-ea"/>
              </a:rPr>
              <a:t>价值观：</a:t>
            </a:r>
            <a:br>
              <a:rPr lang="zh-CN" altLang="en-US" sz="2800" dirty="0">
                <a:latin typeface="+mn-ea"/>
              </a:rPr>
            </a:br>
            <a:r>
              <a:rPr lang="zh-CN" altLang="en-US" sz="2800" dirty="0">
                <a:latin typeface="+mn-ea"/>
              </a:rPr>
              <a:t>求真、创新、合作、开放</a:t>
            </a:r>
          </a:p>
          <a:p>
            <a:endParaRPr lang="zh-CN" altLang="en-US" dirty="0">
              <a:latin typeface="Calibri" charset="0"/>
              <a:ea typeface="宋体" charset="0"/>
            </a:endParaRPr>
          </a:p>
        </p:txBody>
      </p:sp>
    </p:spTree>
    <p:extLst>
      <p:ext uri="{BB962C8B-B14F-4D97-AF65-F5344CB8AC3E}">
        <p14:creationId xmlns:p14="http://schemas.microsoft.com/office/powerpoint/2010/main" val="20910240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36749" y="810127"/>
            <a:ext cx="8229600" cy="1143000"/>
          </a:xfrm>
        </p:spPr>
        <p:txBody>
          <a:bodyPr/>
          <a:lstStyle/>
          <a:p>
            <a:pPr marL="54864">
              <a:defRPr/>
            </a:pPr>
            <a:r>
              <a:rPr lang="zh-CN" altLang="en-US" dirty="0">
                <a:solidFill>
                  <a:schemeClr val="tx2">
                    <a:tint val="100000"/>
                    <a:shade val="90000"/>
                    <a:satMod val="250000"/>
                    <a:alpha val="100000"/>
                  </a:schemeClr>
                </a:solidFill>
                <a:cs typeface="+mj-cs"/>
              </a:rPr>
              <a:t>组织的外部环境分析</a:t>
            </a:r>
          </a:p>
        </p:txBody>
      </p:sp>
      <p:sp>
        <p:nvSpPr>
          <p:cNvPr id="56322" name="内容占位符 2"/>
          <p:cNvSpPr>
            <a:spLocks noGrp="1"/>
          </p:cNvSpPr>
          <p:nvPr>
            <p:ph idx="1"/>
          </p:nvPr>
        </p:nvSpPr>
        <p:spPr>
          <a:xfrm>
            <a:off x="2753279" y="975156"/>
            <a:ext cx="7796540" cy="3997828"/>
          </a:xfrm>
        </p:spPr>
        <p:txBody>
          <a:bodyPr/>
          <a:lstStyle/>
          <a:p>
            <a:r>
              <a:rPr lang="zh-CN" altLang="en-US" dirty="0"/>
              <a:t>宏观环境分析</a:t>
            </a:r>
            <a:endParaRPr lang="en-US" altLang="zh-CN" dirty="0"/>
          </a:p>
          <a:p>
            <a:r>
              <a:rPr lang="zh-CN" altLang="en-US" dirty="0"/>
              <a:t>行业结构分析</a:t>
            </a:r>
            <a:endParaRPr lang="en-US" altLang="zh-CN" dirty="0"/>
          </a:p>
          <a:p>
            <a:r>
              <a:rPr lang="zh-CN" altLang="en-US" dirty="0"/>
              <a:t>外部因素评价矩阵</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35149" y="825036"/>
            <a:ext cx="8229600" cy="1143000"/>
          </a:xfrm>
        </p:spPr>
        <p:txBody>
          <a:bodyPr/>
          <a:lstStyle/>
          <a:p>
            <a:pPr marL="54864">
              <a:defRPr/>
            </a:pPr>
            <a:r>
              <a:rPr lang="zh-CN" altLang="en-US" dirty="0">
                <a:solidFill>
                  <a:schemeClr val="tx2">
                    <a:tint val="100000"/>
                    <a:shade val="90000"/>
                    <a:satMod val="250000"/>
                    <a:alpha val="100000"/>
                  </a:schemeClr>
                </a:solidFill>
                <a:cs typeface="+mj-cs"/>
              </a:rPr>
              <a:t>组织的宏观环境分析</a:t>
            </a:r>
          </a:p>
        </p:txBody>
      </p:sp>
      <p:sp>
        <p:nvSpPr>
          <p:cNvPr id="3" name="内容占位符 2"/>
          <p:cNvSpPr>
            <a:spLocks noGrp="1"/>
          </p:cNvSpPr>
          <p:nvPr>
            <p:ph idx="1"/>
          </p:nvPr>
        </p:nvSpPr>
        <p:spPr>
          <a:xfrm>
            <a:off x="2435149" y="1396535"/>
            <a:ext cx="8630416" cy="4739221"/>
          </a:xfrm>
        </p:spPr>
        <p:txBody>
          <a:bodyPr>
            <a:normAutofit fontScale="92500" lnSpcReduction="10000"/>
          </a:bodyPr>
          <a:lstStyle/>
          <a:p>
            <a:pPr>
              <a:lnSpc>
                <a:spcPct val="110000"/>
              </a:lnSpc>
              <a:spcBef>
                <a:spcPts val="0"/>
              </a:spcBef>
              <a:spcAft>
                <a:spcPts val="0"/>
              </a:spcAft>
              <a:defRPr/>
            </a:pPr>
            <a:r>
              <a:rPr lang="zh-CN" altLang="en-US" sz="2800" dirty="0">
                <a:cs typeface="+mn-cs"/>
              </a:rPr>
              <a:t>政治</a:t>
            </a:r>
            <a:endParaRPr lang="en-US" altLang="zh-CN" sz="2800" dirty="0">
              <a:cs typeface="+mn-cs"/>
            </a:endParaRPr>
          </a:p>
          <a:p>
            <a:pPr marL="640080" lvl="1">
              <a:lnSpc>
                <a:spcPct val="110000"/>
              </a:lnSpc>
              <a:spcAft>
                <a:spcPts val="0"/>
              </a:spcAft>
              <a:defRPr/>
            </a:pPr>
            <a:r>
              <a:rPr lang="zh-CN" altLang="en-US" sz="2000" dirty="0">
                <a:cs typeface="+mn-cs"/>
              </a:rPr>
              <a:t>特点：直接、难预测、不可逆转</a:t>
            </a:r>
            <a:endParaRPr lang="en-US" altLang="zh-CN" sz="2000" dirty="0">
              <a:cs typeface="+mn-cs"/>
            </a:endParaRPr>
          </a:p>
          <a:p>
            <a:pPr marL="640080" lvl="1">
              <a:lnSpc>
                <a:spcPct val="110000"/>
              </a:lnSpc>
              <a:spcAft>
                <a:spcPts val="0"/>
              </a:spcAft>
              <a:defRPr/>
            </a:pPr>
            <a:r>
              <a:rPr lang="zh-CN" altLang="en-US" sz="2000" dirty="0">
                <a:cs typeface="+mn-cs"/>
              </a:rPr>
              <a:t>政治制度、政党和政党制度、政治性团体、国家的方针政策及政治气氛</a:t>
            </a:r>
            <a:endParaRPr lang="en-US" altLang="zh-CN" sz="2000" dirty="0">
              <a:cs typeface="+mn-cs"/>
            </a:endParaRPr>
          </a:p>
          <a:p>
            <a:pPr>
              <a:lnSpc>
                <a:spcPct val="110000"/>
              </a:lnSpc>
              <a:spcBef>
                <a:spcPts val="0"/>
              </a:spcBef>
              <a:spcAft>
                <a:spcPts val="0"/>
              </a:spcAft>
              <a:defRPr/>
            </a:pPr>
            <a:r>
              <a:rPr lang="zh-CN" altLang="en-US" sz="2800" dirty="0">
                <a:cs typeface="+mn-cs"/>
              </a:rPr>
              <a:t>经济</a:t>
            </a:r>
            <a:endParaRPr lang="en-US" altLang="zh-CN" sz="2800" dirty="0">
              <a:cs typeface="+mn-cs"/>
            </a:endParaRPr>
          </a:p>
          <a:p>
            <a:pPr marL="640080" lvl="1">
              <a:lnSpc>
                <a:spcPct val="110000"/>
              </a:lnSpc>
              <a:spcAft>
                <a:spcPts val="0"/>
              </a:spcAft>
              <a:defRPr/>
            </a:pPr>
            <a:r>
              <a:rPr lang="zh-CN" altLang="en-US" sz="2000" dirty="0">
                <a:cs typeface="+mn-cs"/>
              </a:rPr>
              <a:t>社会经济状况和国家经济政策</a:t>
            </a:r>
            <a:endParaRPr lang="en-US" altLang="zh-CN" sz="2000" dirty="0">
              <a:cs typeface="+mn-cs"/>
            </a:endParaRPr>
          </a:p>
          <a:p>
            <a:pPr marL="640080" lvl="1">
              <a:lnSpc>
                <a:spcPct val="110000"/>
              </a:lnSpc>
              <a:spcAft>
                <a:spcPts val="0"/>
              </a:spcAft>
              <a:defRPr/>
            </a:pPr>
            <a:r>
              <a:rPr lang="zh-CN" altLang="en-US" sz="2000" dirty="0">
                <a:cs typeface="+mn-cs"/>
              </a:rPr>
              <a:t>社会经济结构、经济发展水平、经济体制、宏观经济政策</a:t>
            </a:r>
            <a:endParaRPr lang="en-US" altLang="zh-CN" sz="2000" dirty="0">
              <a:cs typeface="+mn-cs"/>
            </a:endParaRPr>
          </a:p>
          <a:p>
            <a:pPr>
              <a:lnSpc>
                <a:spcPct val="110000"/>
              </a:lnSpc>
              <a:spcBef>
                <a:spcPts val="0"/>
              </a:spcBef>
              <a:spcAft>
                <a:spcPts val="0"/>
              </a:spcAft>
              <a:defRPr/>
            </a:pPr>
            <a:r>
              <a:rPr lang="zh-CN" altLang="en-US" sz="2800" dirty="0">
                <a:cs typeface="+mn-cs"/>
              </a:rPr>
              <a:t>技术</a:t>
            </a:r>
            <a:endParaRPr lang="en-US" altLang="zh-CN" sz="2800" dirty="0">
              <a:cs typeface="+mn-cs"/>
            </a:endParaRPr>
          </a:p>
          <a:p>
            <a:pPr marL="640080" lvl="1">
              <a:lnSpc>
                <a:spcPct val="110000"/>
              </a:lnSpc>
              <a:spcAft>
                <a:spcPts val="0"/>
              </a:spcAft>
              <a:defRPr/>
            </a:pPr>
            <a:r>
              <a:rPr lang="zh-CN" altLang="en-US" sz="2000" dirty="0">
                <a:cs typeface="+mn-cs"/>
              </a:rPr>
              <a:t>社会科技水平、社会科技力量、国家科技体制、国家科技政策、科技立法</a:t>
            </a:r>
            <a:endParaRPr lang="en-US" altLang="zh-CN" sz="2000" dirty="0">
              <a:cs typeface="+mn-cs"/>
            </a:endParaRPr>
          </a:p>
          <a:p>
            <a:pPr>
              <a:lnSpc>
                <a:spcPct val="110000"/>
              </a:lnSpc>
              <a:spcBef>
                <a:spcPts val="0"/>
              </a:spcBef>
              <a:spcAft>
                <a:spcPts val="0"/>
              </a:spcAft>
              <a:defRPr/>
            </a:pPr>
            <a:r>
              <a:rPr lang="zh-CN" altLang="en-US" sz="2800" dirty="0">
                <a:cs typeface="+mn-cs"/>
              </a:rPr>
              <a:t>社会文化</a:t>
            </a:r>
            <a:endParaRPr lang="en-US" altLang="zh-CN" sz="2800" dirty="0">
              <a:cs typeface="+mn-cs"/>
            </a:endParaRPr>
          </a:p>
          <a:p>
            <a:pPr marL="640080" lvl="1">
              <a:lnSpc>
                <a:spcPct val="110000"/>
              </a:lnSpc>
              <a:spcAft>
                <a:spcPts val="0"/>
              </a:spcAft>
              <a:defRPr/>
            </a:pPr>
            <a:r>
              <a:rPr lang="zh-CN" altLang="en-US" sz="2000" dirty="0">
                <a:cs typeface="+mn-cs"/>
              </a:rPr>
              <a:t>社会环境：社会阶层的形成与流动、人口、社会中的权利结构、生活方式 、就业、城乡差别、社会福利与保障等</a:t>
            </a:r>
            <a:endParaRPr lang="en-US" altLang="zh-CN" sz="2000" dirty="0">
              <a:cs typeface="+mn-cs"/>
            </a:endParaRPr>
          </a:p>
          <a:p>
            <a:pPr marL="640080" lvl="1">
              <a:lnSpc>
                <a:spcPct val="110000"/>
              </a:lnSpc>
              <a:spcAft>
                <a:spcPts val="0"/>
              </a:spcAft>
              <a:defRPr/>
            </a:pPr>
            <a:r>
              <a:rPr lang="zh-CN" altLang="en-US" sz="2000" dirty="0">
                <a:cs typeface="+mn-cs"/>
              </a:rPr>
              <a:t>文化环境</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557464" y="718345"/>
            <a:ext cx="8229600" cy="1143000"/>
          </a:xfrm>
        </p:spPr>
        <p:txBody>
          <a:bodyPr/>
          <a:lstStyle/>
          <a:p>
            <a:pPr marL="54864">
              <a:defRPr/>
            </a:pPr>
            <a:r>
              <a:rPr lang="zh-CN" altLang="en-US" dirty="0">
                <a:solidFill>
                  <a:schemeClr val="tx2">
                    <a:tint val="100000"/>
                    <a:shade val="90000"/>
                    <a:satMod val="250000"/>
                    <a:alpha val="100000"/>
                  </a:schemeClr>
                </a:solidFill>
                <a:ea typeface="黑体" pitchFamily="2" charset="-122"/>
                <a:cs typeface="+mj-cs"/>
              </a:rPr>
              <a:t>宏观环境分析</a:t>
            </a:r>
          </a:p>
        </p:txBody>
      </p:sp>
      <p:pic>
        <p:nvPicPr>
          <p:cNvPr id="58370" name="Picture 47" descr="金融4"/>
          <p:cNvPicPr>
            <a:picLocks noChangeAspect="1" noChangeArrowheads="1"/>
          </p:cNvPicPr>
          <p:nvPr/>
        </p:nvPicPr>
        <p:blipFill>
          <a:blip r:embed="rId2"/>
          <a:srcRect/>
          <a:stretch>
            <a:fillRect/>
          </a:stretch>
        </p:blipFill>
        <p:spPr bwMode="auto">
          <a:xfrm>
            <a:off x="8904288" y="1773239"/>
            <a:ext cx="1439862" cy="1800225"/>
          </a:xfrm>
          <a:prstGeom prst="rect">
            <a:avLst/>
          </a:prstGeom>
          <a:noFill/>
          <a:ln w="9525">
            <a:noFill/>
            <a:miter lim="800000"/>
            <a:headEnd/>
            <a:tailEnd/>
          </a:ln>
        </p:spPr>
      </p:pic>
      <p:pic>
        <p:nvPicPr>
          <p:cNvPr id="58371" name="Picture 49" descr="科学技术2"/>
          <p:cNvPicPr>
            <a:picLocks noChangeAspect="1" noChangeArrowheads="1"/>
          </p:cNvPicPr>
          <p:nvPr/>
        </p:nvPicPr>
        <p:blipFill>
          <a:blip r:embed="rId3"/>
          <a:srcRect/>
          <a:stretch>
            <a:fillRect/>
          </a:stretch>
        </p:blipFill>
        <p:spPr bwMode="auto">
          <a:xfrm>
            <a:off x="8904288" y="4221164"/>
            <a:ext cx="1414462" cy="1800225"/>
          </a:xfrm>
          <a:prstGeom prst="rect">
            <a:avLst/>
          </a:prstGeom>
          <a:noFill/>
          <a:ln w="9525">
            <a:noFill/>
            <a:miter lim="800000"/>
            <a:headEnd/>
            <a:tailEnd/>
          </a:ln>
        </p:spPr>
      </p:pic>
      <p:pic>
        <p:nvPicPr>
          <p:cNvPr id="58372" name="Picture 50" descr="文化2"/>
          <p:cNvPicPr>
            <a:picLocks noChangeAspect="1" noChangeArrowheads="1"/>
          </p:cNvPicPr>
          <p:nvPr/>
        </p:nvPicPr>
        <p:blipFill>
          <a:blip r:embed="rId4"/>
          <a:srcRect/>
          <a:stretch>
            <a:fillRect/>
          </a:stretch>
        </p:blipFill>
        <p:spPr bwMode="auto">
          <a:xfrm>
            <a:off x="1774825" y="4221164"/>
            <a:ext cx="1295400" cy="1800225"/>
          </a:xfrm>
          <a:prstGeom prst="rect">
            <a:avLst/>
          </a:prstGeom>
          <a:noFill/>
          <a:ln w="9525">
            <a:noFill/>
            <a:miter lim="800000"/>
            <a:headEnd/>
            <a:tailEnd/>
          </a:ln>
        </p:spPr>
      </p:pic>
      <p:sp>
        <p:nvSpPr>
          <p:cNvPr id="58373" name="Rectangle 51"/>
          <p:cNvSpPr>
            <a:spLocks noChangeArrowheads="1"/>
          </p:cNvSpPr>
          <p:nvPr/>
        </p:nvSpPr>
        <p:spPr bwMode="auto">
          <a:xfrm>
            <a:off x="3095625" y="1724026"/>
            <a:ext cx="2520950" cy="1800225"/>
          </a:xfrm>
          <a:prstGeom prst="rect">
            <a:avLst/>
          </a:prstGeom>
          <a:noFill/>
          <a:ln w="9525">
            <a:solidFill>
              <a:schemeClr val="tx1"/>
            </a:solidFill>
            <a:miter lim="800000"/>
            <a:headEnd/>
            <a:tailEnd/>
          </a:ln>
        </p:spPr>
        <p:txBody>
          <a:bodyPr wrap="none" anchor="ctr"/>
          <a:lstStyle/>
          <a:p>
            <a:r>
              <a:rPr lang="zh-CN" altLang="en-US">
                <a:solidFill>
                  <a:srgbClr val="00CC00"/>
                </a:solidFill>
                <a:latin typeface="Rockwell"/>
                <a:ea typeface="方正姚体"/>
              </a:rPr>
              <a:t>政治</a:t>
            </a:r>
            <a:r>
              <a:rPr lang="en-US" altLang="zh-CN">
                <a:solidFill>
                  <a:srgbClr val="00CC00"/>
                </a:solidFill>
                <a:latin typeface="Rockwell"/>
                <a:ea typeface="方正姚体"/>
              </a:rPr>
              <a:t>/</a:t>
            </a:r>
            <a:r>
              <a:rPr lang="zh-CN" altLang="en-US">
                <a:solidFill>
                  <a:srgbClr val="00CC00"/>
                </a:solidFill>
                <a:latin typeface="Rockwell"/>
                <a:ea typeface="方正姚体"/>
              </a:rPr>
              <a:t>法律（</a:t>
            </a:r>
            <a:r>
              <a:rPr lang="en-US" altLang="zh-CN">
                <a:solidFill>
                  <a:srgbClr val="00CC00"/>
                </a:solidFill>
                <a:latin typeface="Rockwell"/>
                <a:ea typeface="方正姚体"/>
              </a:rPr>
              <a:t>Political </a:t>
            </a:r>
            <a:r>
              <a:rPr lang="zh-CN" altLang="en-US">
                <a:solidFill>
                  <a:srgbClr val="00CC00"/>
                </a:solidFill>
                <a:latin typeface="Rockwell"/>
                <a:ea typeface="方正姚体"/>
              </a:rPr>
              <a:t>）</a:t>
            </a:r>
          </a:p>
          <a:p>
            <a:r>
              <a:rPr lang="zh-CN" altLang="en-US">
                <a:latin typeface="Rockwell"/>
                <a:ea typeface="方正姚体"/>
              </a:rPr>
              <a:t>垄断法律；环境保护法；</a:t>
            </a:r>
          </a:p>
          <a:p>
            <a:r>
              <a:rPr lang="zh-CN" altLang="en-US">
                <a:latin typeface="Rockwell"/>
                <a:ea typeface="方正姚体"/>
              </a:rPr>
              <a:t>税法；外贸法规；</a:t>
            </a:r>
          </a:p>
          <a:p>
            <a:r>
              <a:rPr lang="zh-CN" altLang="en-US">
                <a:latin typeface="Rockwell"/>
                <a:ea typeface="方正姚体"/>
              </a:rPr>
              <a:t>对于外来企业态度；</a:t>
            </a:r>
          </a:p>
          <a:p>
            <a:r>
              <a:rPr lang="zh-CN" altLang="en-US">
                <a:latin typeface="Rockwell"/>
                <a:ea typeface="方正姚体"/>
              </a:rPr>
              <a:t>政府稳定性</a:t>
            </a:r>
          </a:p>
        </p:txBody>
      </p:sp>
      <p:pic>
        <p:nvPicPr>
          <p:cNvPr id="58374" name="Picture 52" descr="法律"/>
          <p:cNvPicPr>
            <a:picLocks noChangeAspect="1" noChangeArrowheads="1"/>
          </p:cNvPicPr>
          <p:nvPr/>
        </p:nvPicPr>
        <p:blipFill>
          <a:blip r:embed="rId5"/>
          <a:srcRect/>
          <a:stretch>
            <a:fillRect/>
          </a:stretch>
        </p:blipFill>
        <p:spPr bwMode="auto">
          <a:xfrm>
            <a:off x="1703388" y="1700214"/>
            <a:ext cx="1422400" cy="1800225"/>
          </a:xfrm>
          <a:prstGeom prst="rect">
            <a:avLst/>
          </a:prstGeom>
          <a:noFill/>
          <a:ln w="9525">
            <a:noFill/>
            <a:miter lim="800000"/>
            <a:headEnd/>
            <a:tailEnd/>
          </a:ln>
        </p:spPr>
      </p:pic>
      <p:sp>
        <p:nvSpPr>
          <p:cNvPr id="58375" name="Rectangle 55"/>
          <p:cNvSpPr>
            <a:spLocks noChangeArrowheads="1"/>
          </p:cNvSpPr>
          <p:nvPr/>
        </p:nvSpPr>
        <p:spPr bwMode="auto">
          <a:xfrm>
            <a:off x="6383338" y="1773239"/>
            <a:ext cx="2520950" cy="1800225"/>
          </a:xfrm>
          <a:prstGeom prst="rect">
            <a:avLst/>
          </a:prstGeom>
          <a:noFill/>
          <a:ln w="9525">
            <a:solidFill>
              <a:schemeClr val="tx1"/>
            </a:solidFill>
            <a:miter lim="800000"/>
            <a:headEnd/>
            <a:tailEnd/>
          </a:ln>
        </p:spPr>
        <p:txBody>
          <a:bodyPr wrap="none" anchor="ctr"/>
          <a:lstStyle/>
          <a:p>
            <a:r>
              <a:rPr lang="zh-CN" altLang="en-US">
                <a:solidFill>
                  <a:srgbClr val="00CC00"/>
                </a:solidFill>
                <a:latin typeface="Rockwell"/>
                <a:ea typeface="方正姚体"/>
              </a:rPr>
              <a:t>经济（</a:t>
            </a:r>
            <a:r>
              <a:rPr lang="en-US" altLang="zh-CN">
                <a:solidFill>
                  <a:srgbClr val="00CC00"/>
                </a:solidFill>
                <a:latin typeface="Rockwell"/>
                <a:ea typeface="方正姚体"/>
              </a:rPr>
              <a:t>Economic</a:t>
            </a:r>
            <a:r>
              <a:rPr lang="zh-CN" altLang="en-US">
                <a:solidFill>
                  <a:srgbClr val="00CC00"/>
                </a:solidFill>
                <a:latin typeface="Rockwell"/>
                <a:ea typeface="方正姚体"/>
              </a:rPr>
              <a:t>）</a:t>
            </a:r>
          </a:p>
          <a:p>
            <a:r>
              <a:rPr lang="en-US" altLang="zh-CN">
                <a:latin typeface="Rockwell"/>
                <a:ea typeface="方正姚体"/>
              </a:rPr>
              <a:t>GDP</a:t>
            </a:r>
            <a:r>
              <a:rPr lang="zh-CN" altLang="en-US">
                <a:latin typeface="Rockwell"/>
                <a:ea typeface="方正姚体"/>
              </a:rPr>
              <a:t>趋势；利率；</a:t>
            </a:r>
          </a:p>
          <a:p>
            <a:r>
              <a:rPr lang="zh-CN" altLang="en-US">
                <a:latin typeface="Rockwell"/>
                <a:ea typeface="方正姚体"/>
              </a:rPr>
              <a:t>货币供给；</a:t>
            </a:r>
          </a:p>
          <a:p>
            <a:r>
              <a:rPr lang="zh-CN" altLang="en-US">
                <a:latin typeface="Rockwell"/>
                <a:ea typeface="方正姚体"/>
              </a:rPr>
              <a:t>通涨；失业率；</a:t>
            </a:r>
          </a:p>
          <a:p>
            <a:r>
              <a:rPr lang="zh-CN" altLang="en-US">
                <a:latin typeface="Rockwell"/>
                <a:ea typeface="方正姚体"/>
              </a:rPr>
              <a:t>可支配收入；</a:t>
            </a:r>
          </a:p>
          <a:p>
            <a:r>
              <a:rPr lang="zh-CN" altLang="en-US">
                <a:latin typeface="Rockwell"/>
                <a:ea typeface="方正姚体"/>
              </a:rPr>
              <a:t>能源供应；成本</a:t>
            </a:r>
          </a:p>
        </p:txBody>
      </p:sp>
      <p:sp>
        <p:nvSpPr>
          <p:cNvPr id="58376" name="Rectangle 56"/>
          <p:cNvSpPr>
            <a:spLocks noChangeArrowheads="1"/>
          </p:cNvSpPr>
          <p:nvPr/>
        </p:nvSpPr>
        <p:spPr bwMode="auto">
          <a:xfrm>
            <a:off x="3071813" y="4221164"/>
            <a:ext cx="2520950" cy="1800225"/>
          </a:xfrm>
          <a:prstGeom prst="rect">
            <a:avLst/>
          </a:prstGeom>
          <a:noFill/>
          <a:ln w="9525">
            <a:solidFill>
              <a:schemeClr val="tx1"/>
            </a:solidFill>
            <a:miter lim="800000"/>
            <a:headEnd/>
            <a:tailEnd/>
          </a:ln>
        </p:spPr>
        <p:txBody>
          <a:bodyPr wrap="none" anchor="ctr"/>
          <a:lstStyle/>
          <a:p>
            <a:r>
              <a:rPr lang="zh-CN" altLang="en-US">
                <a:solidFill>
                  <a:srgbClr val="00CC00"/>
                </a:solidFill>
                <a:latin typeface="Rockwell"/>
                <a:ea typeface="方正姚体"/>
              </a:rPr>
              <a:t>社会文化（</a:t>
            </a:r>
            <a:r>
              <a:rPr lang="en-US" altLang="zh-CN">
                <a:solidFill>
                  <a:srgbClr val="00CC00"/>
                </a:solidFill>
                <a:latin typeface="Rockwell"/>
                <a:ea typeface="方正姚体"/>
              </a:rPr>
              <a:t>Social</a:t>
            </a:r>
            <a:r>
              <a:rPr lang="zh-CN" altLang="en-US">
                <a:solidFill>
                  <a:srgbClr val="00CC00"/>
                </a:solidFill>
                <a:latin typeface="Rockwell"/>
                <a:ea typeface="方正姚体"/>
              </a:rPr>
              <a:t>）</a:t>
            </a:r>
          </a:p>
          <a:p>
            <a:pPr>
              <a:spcBef>
                <a:spcPct val="20000"/>
              </a:spcBef>
              <a:buClr>
                <a:schemeClr val="folHlink"/>
              </a:buClr>
              <a:buFont typeface="Wingdings" pitchFamily="2" charset="2"/>
              <a:buNone/>
            </a:pPr>
            <a:r>
              <a:rPr lang="zh-CN" altLang="en-US">
                <a:latin typeface="Rockwell"/>
                <a:ea typeface="方正姚体"/>
              </a:rPr>
              <a:t>人口统计；收入分配；</a:t>
            </a:r>
          </a:p>
          <a:p>
            <a:pPr>
              <a:spcBef>
                <a:spcPct val="20000"/>
              </a:spcBef>
              <a:buClr>
                <a:schemeClr val="folHlink"/>
              </a:buClr>
              <a:buFont typeface="Wingdings" pitchFamily="2" charset="2"/>
              <a:buNone/>
            </a:pPr>
            <a:r>
              <a:rPr lang="zh-CN" altLang="en-US">
                <a:latin typeface="Rockwell"/>
                <a:ea typeface="方正姚体"/>
              </a:rPr>
              <a:t>生活方式演变；</a:t>
            </a:r>
          </a:p>
          <a:p>
            <a:pPr>
              <a:spcBef>
                <a:spcPct val="20000"/>
              </a:spcBef>
              <a:buClr>
                <a:schemeClr val="folHlink"/>
              </a:buClr>
              <a:buFont typeface="Wingdings" pitchFamily="2" charset="2"/>
              <a:buNone/>
            </a:pPr>
            <a:r>
              <a:rPr lang="zh-CN" altLang="en-US">
                <a:latin typeface="Rockwell"/>
                <a:ea typeface="方正姚体"/>
              </a:rPr>
              <a:t>工作期望水平；</a:t>
            </a:r>
          </a:p>
          <a:p>
            <a:pPr>
              <a:spcBef>
                <a:spcPct val="20000"/>
              </a:spcBef>
              <a:buClr>
                <a:schemeClr val="folHlink"/>
              </a:buClr>
              <a:buFont typeface="Wingdings" pitchFamily="2" charset="2"/>
              <a:buNone/>
            </a:pPr>
            <a:r>
              <a:rPr lang="zh-CN" altLang="en-US">
                <a:latin typeface="Rockwell"/>
                <a:ea typeface="方正姚体"/>
              </a:rPr>
              <a:t>教育水平；消费者态度</a:t>
            </a:r>
          </a:p>
        </p:txBody>
      </p:sp>
      <p:sp>
        <p:nvSpPr>
          <p:cNvPr id="58377" name="Rectangle 59"/>
          <p:cNvSpPr>
            <a:spLocks noChangeArrowheads="1"/>
          </p:cNvSpPr>
          <p:nvPr/>
        </p:nvSpPr>
        <p:spPr bwMode="auto">
          <a:xfrm>
            <a:off x="6383338" y="4221164"/>
            <a:ext cx="2520950" cy="1800225"/>
          </a:xfrm>
          <a:prstGeom prst="rect">
            <a:avLst/>
          </a:prstGeom>
          <a:noFill/>
          <a:ln w="9525">
            <a:solidFill>
              <a:schemeClr val="tx1"/>
            </a:solidFill>
            <a:miter lim="800000"/>
            <a:headEnd/>
            <a:tailEnd/>
          </a:ln>
        </p:spPr>
        <p:txBody>
          <a:bodyPr wrap="none" anchor="ctr"/>
          <a:lstStyle/>
          <a:p>
            <a:r>
              <a:rPr lang="zh-CN" altLang="en-US">
                <a:solidFill>
                  <a:srgbClr val="00CC00"/>
                </a:solidFill>
                <a:latin typeface="Rockwell"/>
                <a:ea typeface="方正姚体"/>
              </a:rPr>
              <a:t>技术（</a:t>
            </a:r>
            <a:r>
              <a:rPr lang="en-US" altLang="zh-CN">
                <a:solidFill>
                  <a:srgbClr val="00CC00"/>
                </a:solidFill>
                <a:latin typeface="Rockwell"/>
                <a:ea typeface="方正姚体"/>
              </a:rPr>
              <a:t>Technological</a:t>
            </a:r>
            <a:r>
              <a:rPr lang="zh-CN" altLang="en-US">
                <a:solidFill>
                  <a:srgbClr val="00CC00"/>
                </a:solidFill>
                <a:latin typeface="Rockwell"/>
                <a:ea typeface="方正姚体"/>
              </a:rPr>
              <a:t>）</a:t>
            </a:r>
          </a:p>
          <a:p>
            <a:r>
              <a:rPr lang="zh-CN" altLang="en-US">
                <a:latin typeface="Rockwell"/>
                <a:ea typeface="方正姚体"/>
              </a:rPr>
              <a:t>政府对研究的投入；</a:t>
            </a:r>
          </a:p>
          <a:p>
            <a:r>
              <a:rPr lang="zh-CN" altLang="en-US">
                <a:latin typeface="Rockwell"/>
                <a:ea typeface="方正姚体"/>
              </a:rPr>
              <a:t>政府对技术的重视；</a:t>
            </a:r>
          </a:p>
          <a:p>
            <a:r>
              <a:rPr lang="zh-CN" altLang="en-US">
                <a:latin typeface="Rockwell"/>
                <a:ea typeface="方正姚体"/>
              </a:rPr>
              <a:t>新技术开发；</a:t>
            </a:r>
          </a:p>
          <a:p>
            <a:r>
              <a:rPr lang="zh-CN" altLang="en-US">
                <a:latin typeface="Rockwell"/>
                <a:ea typeface="方正姚体"/>
              </a:rPr>
              <a:t>知识产权与保护；</a:t>
            </a:r>
          </a:p>
          <a:p>
            <a:r>
              <a:rPr lang="zh-CN" altLang="en-US">
                <a:latin typeface="Rockwell"/>
                <a:ea typeface="方正姚体"/>
              </a:rPr>
              <a:t>折旧</a:t>
            </a:r>
          </a:p>
        </p:txBody>
      </p:sp>
      <p:sp>
        <p:nvSpPr>
          <p:cNvPr id="58378" name="AutoShape 62"/>
          <p:cNvSpPr>
            <a:spLocks noChangeArrowheads="1"/>
          </p:cNvSpPr>
          <p:nvPr/>
        </p:nvSpPr>
        <p:spPr bwMode="auto">
          <a:xfrm>
            <a:off x="5087939" y="3141664"/>
            <a:ext cx="1584325" cy="1584325"/>
          </a:xfrm>
          <a:prstGeom prst="star24">
            <a:avLst>
              <a:gd name="adj" fmla="val 37500"/>
            </a:avLst>
          </a:prstGeom>
          <a:solidFill>
            <a:srgbClr val="FFFF00"/>
          </a:solidFill>
          <a:ln w="9525">
            <a:solidFill>
              <a:schemeClr val="tx1"/>
            </a:solidFill>
            <a:miter lim="800000"/>
            <a:headEnd/>
            <a:tailEnd/>
          </a:ln>
        </p:spPr>
        <p:txBody>
          <a:bodyPr wrap="none" anchor="ctr"/>
          <a:lstStyle/>
          <a:p>
            <a:pPr algn="ctr"/>
            <a:r>
              <a:rPr lang="en-US" altLang="zh-CN" sz="2800">
                <a:latin typeface="Rockwell"/>
                <a:ea typeface="方正姚体"/>
              </a:rPr>
              <a:t>PEST</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6429" y="690858"/>
            <a:ext cx="8229600" cy="1143000"/>
          </a:xfrm>
        </p:spPr>
        <p:txBody>
          <a:bodyPr/>
          <a:lstStyle/>
          <a:p>
            <a:pPr marL="54864">
              <a:defRPr/>
            </a:pPr>
            <a:r>
              <a:rPr lang="zh-CN" altLang="en-US" dirty="0">
                <a:solidFill>
                  <a:schemeClr val="tx2">
                    <a:tint val="100000"/>
                    <a:shade val="90000"/>
                    <a:satMod val="250000"/>
                    <a:alpha val="100000"/>
                  </a:schemeClr>
                </a:solidFill>
                <a:cs typeface="+mj-cs"/>
              </a:rPr>
              <a:t>行业结构分析</a:t>
            </a:r>
          </a:p>
        </p:txBody>
      </p:sp>
      <p:sp>
        <p:nvSpPr>
          <p:cNvPr id="59394" name="内容占位符 2"/>
          <p:cNvSpPr>
            <a:spLocks noGrp="1"/>
          </p:cNvSpPr>
          <p:nvPr>
            <p:ph idx="1"/>
          </p:nvPr>
        </p:nvSpPr>
        <p:spPr>
          <a:xfrm>
            <a:off x="2732959" y="1117396"/>
            <a:ext cx="7796540" cy="3997828"/>
          </a:xfrm>
        </p:spPr>
        <p:txBody>
          <a:bodyPr/>
          <a:lstStyle/>
          <a:p>
            <a:r>
              <a:rPr lang="zh-CN" altLang="en-US" dirty="0"/>
              <a:t>行业竞争的五种力量模型</a:t>
            </a:r>
            <a:endParaRPr lang="en-US" altLang="zh-CN" dirty="0"/>
          </a:p>
          <a:p>
            <a:r>
              <a:rPr lang="zh-CN" altLang="en-US" dirty="0"/>
              <a:t>行业吸引力</a:t>
            </a:r>
            <a:endParaRPr lang="en-US" altLang="zh-CN" dirty="0"/>
          </a:p>
          <a:p>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050"/>
          <p:cNvSpPr>
            <a:spLocks noGrp="1" noChangeArrowheads="1"/>
          </p:cNvSpPr>
          <p:nvPr>
            <p:ph type="title"/>
          </p:nvPr>
        </p:nvSpPr>
        <p:spPr>
          <a:xfrm>
            <a:off x="2479123" y="763586"/>
            <a:ext cx="8785225" cy="1143000"/>
          </a:xfrm>
        </p:spPr>
        <p:txBody>
          <a:bodyPr>
            <a:normAutofit/>
          </a:bodyPr>
          <a:lstStyle/>
          <a:p>
            <a:pPr marL="54864">
              <a:defRPr/>
            </a:pPr>
            <a:r>
              <a:rPr lang="en-US" altLang="zh-CN" dirty="0">
                <a:solidFill>
                  <a:schemeClr val="tx2">
                    <a:tint val="100000"/>
                    <a:shade val="90000"/>
                    <a:satMod val="250000"/>
                    <a:alpha val="100000"/>
                  </a:schemeClr>
                </a:solidFill>
                <a:ea typeface="黑体" pitchFamily="2" charset="-122"/>
                <a:cs typeface="+mj-cs"/>
              </a:rPr>
              <a:t>  </a:t>
            </a:r>
            <a:r>
              <a:rPr lang="zh-CN" altLang="en-US" dirty="0">
                <a:solidFill>
                  <a:schemeClr val="tx2">
                    <a:tint val="100000"/>
                    <a:shade val="90000"/>
                    <a:satMod val="250000"/>
                    <a:alpha val="100000"/>
                  </a:schemeClr>
                </a:solidFill>
                <a:ea typeface="黑体" pitchFamily="2" charset="-122"/>
                <a:cs typeface="+mj-cs"/>
              </a:rPr>
              <a:t>迈克尔</a:t>
            </a:r>
            <a:r>
              <a:rPr lang="en-US" altLang="zh-CN" dirty="0">
                <a:solidFill>
                  <a:schemeClr val="tx2">
                    <a:tint val="100000"/>
                    <a:shade val="90000"/>
                    <a:satMod val="250000"/>
                    <a:alpha val="100000"/>
                  </a:schemeClr>
                </a:solidFill>
                <a:ea typeface="黑体" pitchFamily="2" charset="-122"/>
                <a:cs typeface="+mj-cs"/>
              </a:rPr>
              <a:t>·</a:t>
            </a:r>
            <a:r>
              <a:rPr lang="zh-CN" altLang="en-US" dirty="0">
                <a:solidFill>
                  <a:schemeClr val="tx2">
                    <a:tint val="100000"/>
                    <a:shade val="90000"/>
                    <a:satMod val="250000"/>
                    <a:alpha val="100000"/>
                  </a:schemeClr>
                </a:solidFill>
                <a:ea typeface="黑体" pitchFamily="2" charset="-122"/>
                <a:cs typeface="+mj-cs"/>
              </a:rPr>
              <a:t>波特对于管理理论的贡献</a:t>
            </a:r>
            <a:endParaRPr lang="zh-CN" altLang="en-US" sz="3200" b="1" dirty="0">
              <a:solidFill>
                <a:schemeClr val="tx2">
                  <a:tint val="100000"/>
                  <a:shade val="90000"/>
                  <a:satMod val="250000"/>
                  <a:alpha val="100000"/>
                </a:schemeClr>
              </a:solidFill>
              <a:latin typeface="Times New Roman" pitchFamily="18" charset="0"/>
            </a:endParaRPr>
          </a:p>
        </p:txBody>
      </p:sp>
      <p:sp>
        <p:nvSpPr>
          <p:cNvPr id="60418" name="Rectangle 2051"/>
          <p:cNvSpPr>
            <a:spLocks noGrp="1" noChangeArrowheads="1"/>
          </p:cNvSpPr>
          <p:nvPr>
            <p:ph idx="1"/>
          </p:nvPr>
        </p:nvSpPr>
        <p:spPr>
          <a:xfrm>
            <a:off x="4008438" y="2205039"/>
            <a:ext cx="6335712" cy="3889375"/>
          </a:xfrm>
        </p:spPr>
        <p:txBody>
          <a:bodyPr>
            <a:normAutofit lnSpcReduction="10000"/>
          </a:bodyPr>
          <a:lstStyle/>
          <a:p>
            <a:pPr>
              <a:buFont typeface="Wingdings" pitchFamily="2" charset="2"/>
              <a:buNone/>
            </a:pPr>
            <a:r>
              <a:rPr lang="en-US" altLang="zh-CN" sz="2400" b="1">
                <a:solidFill>
                  <a:srgbClr val="00FF00"/>
                </a:solidFill>
              </a:rPr>
              <a:t>     </a:t>
            </a:r>
            <a:r>
              <a:rPr lang="zh-CN" altLang="en-US" sz="2400" b="1"/>
              <a:t>迈克尔</a:t>
            </a:r>
            <a:r>
              <a:rPr lang="en-US" altLang="zh-CN" sz="2400" b="1"/>
              <a:t>·</a:t>
            </a:r>
            <a:r>
              <a:rPr lang="zh-CN" altLang="en-US" sz="2400" b="1"/>
              <a:t>波特在产业经济学与管理学之间架起了一座桥梁。在其经典著作</a:t>
            </a:r>
            <a:r>
              <a:rPr lang="en-US" altLang="zh-CN" sz="2400" b="1">
                <a:solidFill>
                  <a:srgbClr val="00FF00"/>
                </a:solidFill>
              </a:rPr>
              <a:t>《</a:t>
            </a:r>
            <a:r>
              <a:rPr lang="zh-CN" altLang="en-US" sz="2400" b="1">
                <a:solidFill>
                  <a:srgbClr val="00FF00"/>
                </a:solidFill>
              </a:rPr>
              <a:t>竞争战略</a:t>
            </a:r>
            <a:r>
              <a:rPr lang="en-US" altLang="zh-CN" sz="2400" b="1">
                <a:solidFill>
                  <a:srgbClr val="00FF00"/>
                </a:solidFill>
              </a:rPr>
              <a:t>》</a:t>
            </a:r>
            <a:r>
              <a:rPr lang="zh-CN" altLang="en-US" sz="2400" b="1"/>
              <a:t>中，他提出了行业结构分析模型，即所谓的“五力模型”：行业现有的竞争状况、供应商的议价能力、客户的议价能力、替代产品或服务的威胁、新进入者的威胁这五大竞争驱动力，决定了企业的盈利能力，并指出公司战略的核心，应在于选择正确的行业，以及行业中最具有吸引力的竞争位置。</a:t>
            </a:r>
            <a:r>
              <a:rPr lang="zh-CN" altLang="en-US" sz="2400"/>
              <a:t> </a:t>
            </a:r>
          </a:p>
        </p:txBody>
      </p:sp>
      <p:pic>
        <p:nvPicPr>
          <p:cNvPr id="60419" name="Picture 2052" descr="porter"/>
          <p:cNvPicPr>
            <a:picLocks noChangeAspect="1" noChangeArrowheads="1"/>
          </p:cNvPicPr>
          <p:nvPr/>
        </p:nvPicPr>
        <p:blipFill>
          <a:blip r:embed="rId2"/>
          <a:srcRect/>
          <a:stretch>
            <a:fillRect/>
          </a:stretch>
        </p:blipFill>
        <p:spPr bwMode="auto">
          <a:xfrm>
            <a:off x="2063750" y="1700213"/>
            <a:ext cx="1785938" cy="2305050"/>
          </a:xfrm>
          <a:prstGeom prst="rect">
            <a:avLst/>
          </a:prstGeom>
          <a:noFill/>
          <a:ln w="9525">
            <a:noFill/>
            <a:miter lim="800000"/>
            <a:headEnd/>
            <a:tailEnd/>
          </a:ln>
        </p:spPr>
      </p:pic>
      <p:pic>
        <p:nvPicPr>
          <p:cNvPr id="60420" name="Picture 2053" descr="竞争战略"/>
          <p:cNvPicPr>
            <a:picLocks noChangeAspect="1" noChangeArrowheads="1"/>
          </p:cNvPicPr>
          <p:nvPr/>
        </p:nvPicPr>
        <p:blipFill>
          <a:blip r:embed="rId3"/>
          <a:srcRect/>
          <a:stretch>
            <a:fillRect/>
          </a:stretch>
        </p:blipFill>
        <p:spPr bwMode="auto">
          <a:xfrm>
            <a:off x="2063751" y="4076700"/>
            <a:ext cx="1793875" cy="2592388"/>
          </a:xfrm>
          <a:prstGeom prst="rect">
            <a:avLst/>
          </a:prstGeom>
          <a:noFill/>
          <a:ln w="9525">
            <a:noFill/>
            <a:miter lim="800000"/>
            <a:headEnd/>
            <a:tailEnd/>
          </a:ln>
        </p:spPr>
      </p:pic>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2519873" y="657225"/>
            <a:ext cx="8229600" cy="1052513"/>
          </a:xfrm>
        </p:spPr>
        <p:txBody>
          <a:bodyPr/>
          <a:lstStyle/>
          <a:p>
            <a:pPr marL="54864">
              <a:defRPr/>
            </a:pPr>
            <a:r>
              <a:rPr lang="zh-CN" altLang="en-US" dirty="0">
                <a:solidFill>
                  <a:schemeClr val="tx2">
                    <a:tint val="100000"/>
                    <a:shade val="90000"/>
                    <a:satMod val="250000"/>
                    <a:alpha val="100000"/>
                  </a:schemeClr>
                </a:solidFill>
                <a:ea typeface="黑体" pitchFamily="2" charset="-122"/>
                <a:cs typeface="+mj-cs"/>
              </a:rPr>
              <a:t>行业竞争力量模型</a:t>
            </a:r>
          </a:p>
        </p:txBody>
      </p:sp>
      <p:sp>
        <p:nvSpPr>
          <p:cNvPr id="61442" name="Rectangle 3"/>
          <p:cNvSpPr>
            <a:spLocks noGrp="1" noChangeArrowheads="1"/>
          </p:cNvSpPr>
          <p:nvPr>
            <p:ph idx="1"/>
          </p:nvPr>
        </p:nvSpPr>
        <p:spPr>
          <a:xfrm>
            <a:off x="1638300" y="657225"/>
            <a:ext cx="8915400" cy="5543550"/>
          </a:xfrm>
        </p:spPr>
        <p:txBody>
          <a:bodyPr/>
          <a:lstStyle/>
          <a:p>
            <a:endParaRPr lang="en-US" altLang="zh-CN" sz="900" dirty="0"/>
          </a:p>
          <a:p>
            <a:pPr>
              <a:lnSpc>
                <a:spcPct val="110000"/>
              </a:lnSpc>
            </a:pPr>
            <a:r>
              <a:rPr lang="zh-CN" altLang="en-US" b="1" dirty="0"/>
              <a:t>美国学者迈克尔</a:t>
            </a:r>
            <a:r>
              <a:rPr lang="en-US" altLang="zh-CN" b="1" dirty="0">
                <a:latin typeface="宋体" charset="-122"/>
              </a:rPr>
              <a:t>•</a:t>
            </a:r>
            <a:r>
              <a:rPr lang="zh-CN" altLang="en-US" b="1" dirty="0"/>
              <a:t>波特（</a:t>
            </a:r>
            <a:r>
              <a:rPr lang="en-US" altLang="zh-CN" b="1" dirty="0" err="1"/>
              <a:t>Michael.E.Porter</a:t>
            </a:r>
            <a:r>
              <a:rPr lang="zh-CN" altLang="en-US" b="1" dirty="0"/>
              <a:t>）认为，企业所选择及所处的行业的竞争激烈程度</a:t>
            </a:r>
            <a:r>
              <a:rPr lang="en-US" altLang="zh-CN" b="1" dirty="0"/>
              <a:t>——</a:t>
            </a:r>
            <a:r>
              <a:rPr lang="zh-CN" altLang="en-US" b="1" dirty="0"/>
              <a:t>行业结构，</a:t>
            </a:r>
            <a:r>
              <a:rPr lang="zh-CN" altLang="en-US" b="1" dirty="0">
                <a:solidFill>
                  <a:srgbClr val="00FF00"/>
                </a:solidFill>
              </a:rPr>
              <a:t>对行业内部企业的获利水平具有决定的意义。</a:t>
            </a:r>
          </a:p>
          <a:p>
            <a:pPr>
              <a:lnSpc>
                <a:spcPct val="110000"/>
              </a:lnSpc>
              <a:buFont typeface="Wingdings" pitchFamily="2" charset="2"/>
              <a:buNone/>
            </a:pPr>
            <a:endParaRPr lang="zh-CN" altLang="en-US" b="1" dirty="0">
              <a:solidFill>
                <a:srgbClr val="CC6600"/>
              </a:solidFill>
            </a:endParaRPr>
          </a:p>
          <a:p>
            <a:pPr>
              <a:lnSpc>
                <a:spcPct val="110000"/>
              </a:lnSpc>
            </a:pPr>
            <a:r>
              <a:rPr lang="zh-CN" altLang="en-US" b="1" dirty="0"/>
              <a:t> 行业的竞争强度又与什么有关呢？波特的结论是：一个行业的竞争状态主要由</a:t>
            </a:r>
            <a:r>
              <a:rPr lang="zh-CN" altLang="en-US" b="1" dirty="0">
                <a:solidFill>
                  <a:srgbClr val="00FF00"/>
                </a:solidFill>
              </a:rPr>
              <a:t>五种力决定的</a:t>
            </a:r>
            <a:r>
              <a:rPr lang="zh-CN" altLang="en-US" b="1" dirty="0"/>
              <a:t>（</a:t>
            </a:r>
            <a:r>
              <a:rPr lang="en-US" altLang="zh-CN" b="1" dirty="0"/>
              <a:t>20</a:t>
            </a:r>
            <a:r>
              <a:rPr lang="zh-CN" altLang="en-US" b="1" dirty="0"/>
              <a:t>世纪</a:t>
            </a:r>
            <a:r>
              <a:rPr lang="en-US" altLang="zh-CN" b="1" dirty="0"/>
              <a:t>70</a:t>
            </a:r>
            <a:r>
              <a:rPr lang="zh-CN" altLang="en-US" b="1" dirty="0"/>
              <a:t>年代末）。</a:t>
            </a: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992313" y="1195386"/>
            <a:ext cx="8147050" cy="1125538"/>
          </a:xfrm>
        </p:spPr>
        <p:txBody>
          <a:bodyPr/>
          <a:lstStyle/>
          <a:p>
            <a:pPr marL="54864">
              <a:defRPr/>
            </a:pPr>
            <a:r>
              <a:rPr lang="zh-CN" altLang="en-US" dirty="0">
                <a:solidFill>
                  <a:schemeClr val="tx2">
                    <a:tint val="100000"/>
                    <a:shade val="90000"/>
                    <a:satMod val="250000"/>
                    <a:alpha val="100000"/>
                  </a:schemeClr>
                </a:solidFill>
                <a:ea typeface="黑体" pitchFamily="2" charset="-122"/>
                <a:cs typeface="+mj-cs"/>
              </a:rPr>
              <a:t>五种力分析模型</a:t>
            </a:r>
          </a:p>
        </p:txBody>
      </p:sp>
      <p:sp>
        <p:nvSpPr>
          <p:cNvPr id="62466" name="Rectangle 3"/>
          <p:cNvSpPr>
            <a:spLocks noGrp="1" noChangeArrowheads="1"/>
          </p:cNvSpPr>
          <p:nvPr>
            <p:ph idx="1"/>
          </p:nvPr>
        </p:nvSpPr>
        <p:spPr>
          <a:xfrm>
            <a:off x="1992313" y="2133601"/>
            <a:ext cx="7632700" cy="3529013"/>
          </a:xfrm>
        </p:spPr>
        <p:txBody>
          <a:bodyPr/>
          <a:lstStyle/>
          <a:p>
            <a:pPr lvl="1"/>
            <a:r>
              <a:rPr lang="zh-CN" altLang="en-US" b="1"/>
              <a:t>现有竞争者之间的抗衡</a:t>
            </a:r>
          </a:p>
          <a:p>
            <a:pPr lvl="1"/>
            <a:r>
              <a:rPr lang="zh-CN" altLang="en-US" b="1"/>
              <a:t>潜在的进入者的威胁</a:t>
            </a:r>
          </a:p>
          <a:p>
            <a:pPr lvl="1"/>
            <a:r>
              <a:rPr lang="zh-CN" altLang="en-US" b="1"/>
              <a:t>替代品的威胁</a:t>
            </a:r>
          </a:p>
          <a:p>
            <a:pPr lvl="1"/>
            <a:r>
              <a:rPr lang="zh-CN" altLang="en-US" b="1"/>
              <a:t>购买者的侃价能力</a:t>
            </a:r>
          </a:p>
          <a:p>
            <a:pPr lvl="1"/>
            <a:r>
              <a:rPr lang="zh-CN" altLang="en-US" b="1"/>
              <a:t>供应者的侃价能力</a:t>
            </a: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ext Box 2"/>
          <p:cNvSpPr txBox="1">
            <a:spLocks noChangeArrowheads="1"/>
          </p:cNvSpPr>
          <p:nvPr/>
        </p:nvSpPr>
        <p:spPr bwMode="auto">
          <a:xfrm>
            <a:off x="3048000" y="457200"/>
            <a:ext cx="7620000" cy="457200"/>
          </a:xfrm>
          <a:prstGeom prst="rect">
            <a:avLst/>
          </a:prstGeom>
          <a:noFill/>
          <a:ln w="12700" cap="sq">
            <a:noFill/>
            <a:miter lim="800000"/>
            <a:headEnd type="none" w="sm" len="sm"/>
            <a:tailEnd type="none" w="sm" len="sm"/>
          </a:ln>
        </p:spPr>
        <p:txBody>
          <a:bodyPr>
            <a:spAutoFit/>
          </a:bodyPr>
          <a:lstStyle/>
          <a:p>
            <a:pPr>
              <a:spcBef>
                <a:spcPct val="50000"/>
              </a:spcBef>
            </a:pPr>
            <a:endParaRPr kumimoji="1" lang="zh-CN" altLang="zh-CN" sz="2400">
              <a:latin typeface="Times New Roman" pitchFamily="18" charset="0"/>
              <a:ea typeface="方正姚体"/>
            </a:endParaRPr>
          </a:p>
        </p:txBody>
      </p:sp>
      <p:sp>
        <p:nvSpPr>
          <p:cNvPr id="37891" name="Oval 3"/>
          <p:cNvSpPr>
            <a:spLocks noChangeArrowheads="1"/>
          </p:cNvSpPr>
          <p:nvPr/>
        </p:nvSpPr>
        <p:spPr bwMode="auto">
          <a:xfrm flipH="1" flipV="1">
            <a:off x="5159375" y="3429001"/>
            <a:ext cx="1728788" cy="1312863"/>
          </a:xfrm>
          <a:prstGeom prst="ellipse">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rot="10800000" wrap="none" anchor="ctr">
            <a:flatTx/>
          </a:bodyPr>
          <a:lstStyle/>
          <a:p>
            <a:pPr algn="ctr">
              <a:defRPr/>
            </a:pPr>
            <a:r>
              <a:rPr kumimoji="1" lang="zh-CN" altLang="en-US" sz="2400">
                <a:solidFill>
                  <a:srgbClr val="FFFF00"/>
                </a:solidFill>
                <a:effectLst>
                  <a:outerShdw blurRad="38100" dist="38100" dir="2700000" algn="tl">
                    <a:srgbClr val="000000"/>
                  </a:outerShdw>
                </a:effectLst>
                <a:latin typeface="Times New Roman" pitchFamily="18" charset="0"/>
              </a:rPr>
              <a:t>产业内</a:t>
            </a:r>
          </a:p>
          <a:p>
            <a:pPr algn="ctr">
              <a:defRPr/>
            </a:pPr>
            <a:r>
              <a:rPr kumimoji="1" lang="zh-CN" altLang="en-US" sz="2400">
                <a:solidFill>
                  <a:srgbClr val="FFFF00"/>
                </a:solidFill>
                <a:effectLst>
                  <a:outerShdw blurRad="38100" dist="38100" dir="2700000" algn="tl">
                    <a:srgbClr val="000000"/>
                  </a:outerShdw>
                </a:effectLst>
                <a:latin typeface="Times New Roman" pitchFamily="18" charset="0"/>
              </a:rPr>
              <a:t>竞争者</a:t>
            </a:r>
          </a:p>
        </p:txBody>
      </p:sp>
      <p:sp>
        <p:nvSpPr>
          <p:cNvPr id="63491" name="AutoShape 4"/>
          <p:cNvSpPr>
            <a:spLocks noChangeArrowheads="1"/>
          </p:cNvSpPr>
          <p:nvPr/>
        </p:nvSpPr>
        <p:spPr bwMode="auto">
          <a:xfrm>
            <a:off x="5664200" y="2492376"/>
            <a:ext cx="647700" cy="720725"/>
          </a:xfrm>
          <a:prstGeom prst="downArrow">
            <a:avLst>
              <a:gd name="adj1" fmla="val 31861"/>
              <a:gd name="adj2" fmla="val 34191"/>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37893" name="Oval 5"/>
          <p:cNvSpPr>
            <a:spLocks noChangeArrowheads="1"/>
          </p:cNvSpPr>
          <p:nvPr/>
        </p:nvSpPr>
        <p:spPr bwMode="auto">
          <a:xfrm>
            <a:off x="5303839" y="1557338"/>
            <a:ext cx="1368425" cy="914400"/>
          </a:xfrm>
          <a:prstGeom prst="ellipse">
            <a:avLst/>
          </a:prstGeom>
          <a:gradFill rotWithShape="1">
            <a:gsLst>
              <a:gs pos="0">
                <a:srgbClr val="00CCFF"/>
              </a:gs>
              <a:gs pos="100000">
                <a:srgbClr val="0066FF"/>
              </a:gs>
            </a:gsLst>
            <a:path path="shape">
              <a:fillToRect l="50000" t="50000" r="50000" b="50000"/>
            </a:path>
          </a:gra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66FF"/>
            </a:extrusionClr>
          </a:sp3d>
        </p:spPr>
        <p:txBody>
          <a:bodyPr wrap="none" anchor="ctr">
            <a:flatTx/>
          </a:bodyPr>
          <a:lstStyle/>
          <a:p>
            <a:pPr algn="ctr">
              <a:defRPr/>
            </a:pPr>
            <a:r>
              <a:rPr kumimoji="1" lang="zh-CN" altLang="en-US" sz="2400">
                <a:solidFill>
                  <a:srgbClr val="FFFF00"/>
                </a:solidFill>
                <a:effectLst>
                  <a:outerShdw blurRad="38100" dist="38100" dir="2700000" algn="tl">
                    <a:srgbClr val="000000"/>
                  </a:outerShdw>
                </a:effectLst>
                <a:latin typeface="Times New Roman" pitchFamily="18" charset="0"/>
              </a:rPr>
              <a:t>潜在</a:t>
            </a:r>
          </a:p>
          <a:p>
            <a:pPr algn="ctr">
              <a:defRPr/>
            </a:pPr>
            <a:r>
              <a:rPr kumimoji="1" lang="zh-CN" altLang="en-US" sz="2400">
                <a:solidFill>
                  <a:srgbClr val="FFFF00"/>
                </a:solidFill>
                <a:effectLst>
                  <a:outerShdw blurRad="38100" dist="38100" dir="2700000" algn="tl">
                    <a:srgbClr val="000000"/>
                  </a:outerShdw>
                </a:effectLst>
                <a:latin typeface="Times New Roman" pitchFamily="18" charset="0"/>
              </a:rPr>
              <a:t>进入者</a:t>
            </a:r>
          </a:p>
        </p:txBody>
      </p:sp>
      <p:sp>
        <p:nvSpPr>
          <p:cNvPr id="63493" name="AutoShape 6"/>
          <p:cNvSpPr>
            <a:spLocks noChangeArrowheads="1"/>
          </p:cNvSpPr>
          <p:nvPr/>
        </p:nvSpPr>
        <p:spPr bwMode="auto">
          <a:xfrm>
            <a:off x="7248525" y="3716338"/>
            <a:ext cx="838200" cy="457200"/>
          </a:xfrm>
          <a:prstGeom prst="leftArrow">
            <a:avLst>
              <a:gd name="adj1" fmla="val 50000"/>
              <a:gd name="adj2" fmla="val 45833"/>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37895" name="Oval 7"/>
          <p:cNvSpPr>
            <a:spLocks noChangeArrowheads="1"/>
          </p:cNvSpPr>
          <p:nvPr/>
        </p:nvSpPr>
        <p:spPr bwMode="auto">
          <a:xfrm>
            <a:off x="8183563" y="3429001"/>
            <a:ext cx="1727200" cy="1190625"/>
          </a:xfrm>
          <a:prstGeom prst="ellipse">
            <a:avLst/>
          </a:prstGeom>
          <a:gradFill rotWithShape="1">
            <a:gsLst>
              <a:gs pos="0">
                <a:srgbClr val="00CCFF"/>
              </a:gs>
              <a:gs pos="100000">
                <a:srgbClr val="0066FF"/>
              </a:gs>
            </a:gsLst>
            <a:path path="shape">
              <a:fillToRect l="50000" t="50000" r="50000" b="50000"/>
            </a:path>
          </a:gra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66FF"/>
            </a:extrusionClr>
          </a:sp3d>
        </p:spPr>
        <p:txBody>
          <a:bodyPr wrap="none" anchor="ctr">
            <a:flatTx/>
          </a:bodyPr>
          <a:lstStyle/>
          <a:p>
            <a:pPr algn="ctr">
              <a:defRPr/>
            </a:pPr>
            <a:r>
              <a:rPr kumimoji="1" lang="zh-CN" altLang="en-US" sz="2400">
                <a:solidFill>
                  <a:srgbClr val="FFFF00"/>
                </a:solidFill>
                <a:effectLst>
                  <a:outerShdw blurRad="38100" dist="38100" dir="2700000" algn="tl">
                    <a:srgbClr val="000000"/>
                  </a:outerShdw>
                </a:effectLst>
                <a:latin typeface="Times New Roman" pitchFamily="18" charset="0"/>
              </a:rPr>
              <a:t>买方</a:t>
            </a:r>
          </a:p>
        </p:txBody>
      </p:sp>
      <p:sp>
        <p:nvSpPr>
          <p:cNvPr id="63495" name="AutoShape 8"/>
          <p:cNvSpPr>
            <a:spLocks noChangeArrowheads="1"/>
          </p:cNvSpPr>
          <p:nvPr/>
        </p:nvSpPr>
        <p:spPr bwMode="auto">
          <a:xfrm>
            <a:off x="5735638" y="4797425"/>
            <a:ext cx="685800" cy="617538"/>
          </a:xfrm>
          <a:prstGeom prst="upArrow">
            <a:avLst>
              <a:gd name="adj1" fmla="val 32407"/>
              <a:gd name="adj2" fmla="val 29167"/>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37897" name="Oval 9"/>
          <p:cNvSpPr>
            <a:spLocks noChangeArrowheads="1"/>
          </p:cNvSpPr>
          <p:nvPr/>
        </p:nvSpPr>
        <p:spPr bwMode="auto">
          <a:xfrm>
            <a:off x="5303839" y="5589589"/>
            <a:ext cx="1368425" cy="936625"/>
          </a:xfrm>
          <a:prstGeom prst="ellipse">
            <a:avLst/>
          </a:prstGeom>
          <a:gradFill rotWithShape="1">
            <a:gsLst>
              <a:gs pos="0">
                <a:srgbClr val="00CCFF"/>
              </a:gs>
              <a:gs pos="100000">
                <a:srgbClr val="0066FF"/>
              </a:gs>
            </a:gsLst>
            <a:path path="shape">
              <a:fillToRect l="50000" t="50000" r="50000" b="50000"/>
            </a:path>
          </a:gra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66FF"/>
            </a:extrusionClr>
          </a:sp3d>
        </p:spPr>
        <p:txBody>
          <a:bodyPr wrap="none" anchor="ctr">
            <a:flatTx/>
          </a:bodyPr>
          <a:lstStyle/>
          <a:p>
            <a:pPr algn="ctr">
              <a:defRPr/>
            </a:pPr>
            <a:r>
              <a:rPr kumimoji="1" lang="zh-CN" altLang="en-US" sz="2400">
                <a:solidFill>
                  <a:srgbClr val="FFFF00"/>
                </a:solidFill>
                <a:effectLst>
                  <a:outerShdw blurRad="38100" dist="38100" dir="2700000" algn="tl">
                    <a:srgbClr val="000000"/>
                  </a:outerShdw>
                </a:effectLst>
                <a:latin typeface="Times New Roman" pitchFamily="18" charset="0"/>
              </a:rPr>
              <a:t>替代品</a:t>
            </a:r>
          </a:p>
        </p:txBody>
      </p:sp>
      <p:sp>
        <p:nvSpPr>
          <p:cNvPr id="63497" name="AutoShape 10"/>
          <p:cNvSpPr>
            <a:spLocks noChangeArrowheads="1"/>
          </p:cNvSpPr>
          <p:nvPr/>
        </p:nvSpPr>
        <p:spPr bwMode="auto">
          <a:xfrm>
            <a:off x="4008438" y="3789363"/>
            <a:ext cx="914400" cy="457200"/>
          </a:xfrm>
          <a:prstGeom prst="rightArrow">
            <a:avLst>
              <a:gd name="adj1" fmla="val 50000"/>
              <a:gd name="adj2" fmla="val 50000"/>
            </a:avLst>
          </a:prstGeom>
          <a:solidFill>
            <a:schemeClr val="accent1"/>
          </a:solidFill>
          <a:ln w="9525">
            <a:solidFill>
              <a:schemeClr val="tx1"/>
            </a:solidFill>
            <a:miter lim="800000"/>
            <a:headEnd/>
            <a:tailEnd/>
          </a:ln>
        </p:spPr>
        <p:txBody>
          <a:bodyPr wrap="none" anchor="ctr"/>
          <a:lstStyle/>
          <a:p>
            <a:endParaRPr lang="zh-CN" altLang="en-US">
              <a:latin typeface="Rockwell"/>
              <a:ea typeface="方正姚体"/>
            </a:endParaRPr>
          </a:p>
        </p:txBody>
      </p:sp>
      <p:sp>
        <p:nvSpPr>
          <p:cNvPr id="37899" name="Oval 11"/>
          <p:cNvSpPr>
            <a:spLocks noChangeArrowheads="1"/>
          </p:cNvSpPr>
          <p:nvPr/>
        </p:nvSpPr>
        <p:spPr bwMode="auto">
          <a:xfrm>
            <a:off x="2063751" y="3429000"/>
            <a:ext cx="1757363" cy="1214438"/>
          </a:xfrm>
          <a:prstGeom prst="ellipse">
            <a:avLst/>
          </a:prstGeom>
          <a:gradFill rotWithShape="1">
            <a:gsLst>
              <a:gs pos="0">
                <a:srgbClr val="00CCFF"/>
              </a:gs>
              <a:gs pos="100000">
                <a:srgbClr val="0066FF"/>
              </a:gs>
            </a:gsLst>
            <a:path path="shape">
              <a:fillToRect l="50000" t="50000" r="50000" b="50000"/>
            </a:path>
          </a:gradFill>
          <a:ln w="9525" algn="ctr">
            <a:miter lim="800000"/>
            <a:headEnd/>
            <a:tailEnd/>
          </a:ln>
          <a:effectLst/>
          <a:scene3d>
            <a:camera prst="legacyObliqueTopRight"/>
            <a:lightRig rig="legacyFlat3" dir="b"/>
          </a:scene3d>
          <a:sp3d extrusionH="430200" prstMaterial="legacyMatte">
            <a:bevelT w="13500" h="13500" prst="angle"/>
            <a:bevelB w="13500" h="13500" prst="angle"/>
            <a:extrusionClr>
              <a:srgbClr val="0066FF"/>
            </a:extrusionClr>
          </a:sp3d>
        </p:spPr>
        <p:txBody>
          <a:bodyPr wrap="none" anchor="ctr">
            <a:flatTx/>
          </a:bodyPr>
          <a:lstStyle/>
          <a:p>
            <a:pPr algn="ctr">
              <a:defRPr/>
            </a:pPr>
            <a:r>
              <a:rPr kumimoji="1" lang="zh-CN" altLang="en-US" sz="2400">
                <a:solidFill>
                  <a:srgbClr val="FFFF00"/>
                </a:solidFill>
                <a:effectLst>
                  <a:outerShdw blurRad="38100" dist="38100" dir="2700000" algn="tl">
                    <a:srgbClr val="000000"/>
                  </a:outerShdw>
                </a:effectLst>
                <a:latin typeface="Times New Roman" pitchFamily="18" charset="0"/>
              </a:rPr>
              <a:t>供应商</a:t>
            </a:r>
          </a:p>
        </p:txBody>
      </p:sp>
      <p:sp>
        <p:nvSpPr>
          <p:cNvPr id="63499" name="Line 12"/>
          <p:cNvSpPr>
            <a:spLocks noChangeShapeType="1"/>
          </p:cNvSpPr>
          <p:nvPr/>
        </p:nvSpPr>
        <p:spPr bwMode="auto">
          <a:xfrm>
            <a:off x="4511676" y="2708275"/>
            <a:ext cx="1008063" cy="719138"/>
          </a:xfrm>
          <a:prstGeom prst="line">
            <a:avLst/>
          </a:prstGeom>
          <a:noFill/>
          <a:ln w="76200">
            <a:solidFill>
              <a:schemeClr val="tx1"/>
            </a:solidFill>
            <a:miter lim="800000"/>
            <a:headEnd/>
            <a:tailEnd type="triangle" w="med" len="med"/>
          </a:ln>
        </p:spPr>
        <p:txBody>
          <a:bodyPr wrap="none"/>
          <a:lstStyle/>
          <a:p>
            <a:endParaRPr lang="zh-CN" altLang="en-US"/>
          </a:p>
        </p:txBody>
      </p:sp>
      <p:sp>
        <p:nvSpPr>
          <p:cNvPr id="37901" name="Oval 13"/>
          <p:cNvSpPr>
            <a:spLocks noChangeArrowheads="1"/>
          </p:cNvSpPr>
          <p:nvPr/>
        </p:nvSpPr>
        <p:spPr bwMode="auto">
          <a:xfrm>
            <a:off x="3143251" y="1700213"/>
            <a:ext cx="1311275" cy="1143000"/>
          </a:xfrm>
          <a:prstGeom prst="ellipse">
            <a:avLst/>
          </a:prstGeom>
          <a:gradFill rotWithShape="1">
            <a:gsLst>
              <a:gs pos="0">
                <a:srgbClr val="00FF00"/>
              </a:gs>
              <a:gs pos="100000">
                <a:srgbClr val="009900"/>
              </a:gs>
            </a:gsLst>
            <a:path path="shape">
              <a:fillToRect l="50000" t="50000" r="50000" b="50000"/>
            </a:path>
          </a:gra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009900"/>
            </a:extrusionClr>
          </a:sp3d>
        </p:spPr>
        <p:txBody>
          <a:bodyPr wrap="none" anchor="ctr">
            <a:flatTx/>
          </a:bodyPr>
          <a:lstStyle/>
          <a:p>
            <a:pPr algn="ctr">
              <a:defRPr/>
            </a:pPr>
            <a:r>
              <a:rPr kumimoji="1" lang="zh-CN" altLang="en-US" sz="2000">
                <a:solidFill>
                  <a:srgbClr val="FFFF00"/>
                </a:solidFill>
                <a:effectLst>
                  <a:outerShdw blurRad="38100" dist="38100" dir="2700000" algn="tl">
                    <a:srgbClr val="000000"/>
                  </a:outerShdw>
                </a:effectLst>
                <a:latin typeface="Times New Roman" pitchFamily="18" charset="0"/>
              </a:rPr>
              <a:t>其他利</a:t>
            </a:r>
          </a:p>
          <a:p>
            <a:pPr algn="ctr">
              <a:defRPr/>
            </a:pPr>
            <a:r>
              <a:rPr kumimoji="1" lang="zh-CN" altLang="en-US" sz="2000">
                <a:solidFill>
                  <a:srgbClr val="FFFF00"/>
                </a:solidFill>
                <a:effectLst>
                  <a:outerShdw blurRad="38100" dist="38100" dir="2700000" algn="tl">
                    <a:srgbClr val="000000"/>
                  </a:outerShdw>
                </a:effectLst>
                <a:latin typeface="Times New Roman" pitchFamily="18" charset="0"/>
              </a:rPr>
              <a:t>益相关者</a:t>
            </a:r>
          </a:p>
        </p:txBody>
      </p:sp>
      <p:sp>
        <p:nvSpPr>
          <p:cNvPr id="63501" name="Text Box 16"/>
          <p:cNvSpPr txBox="1">
            <a:spLocks noChangeArrowheads="1"/>
          </p:cNvSpPr>
          <p:nvPr/>
        </p:nvSpPr>
        <p:spPr bwMode="auto">
          <a:xfrm>
            <a:off x="3863975" y="404813"/>
            <a:ext cx="5257800" cy="762000"/>
          </a:xfrm>
          <a:prstGeom prst="rect">
            <a:avLst/>
          </a:prstGeom>
          <a:noFill/>
          <a:ln w="9525">
            <a:noFill/>
            <a:miter lim="800000"/>
            <a:headEnd/>
            <a:tailEnd/>
          </a:ln>
        </p:spPr>
        <p:txBody>
          <a:bodyPr>
            <a:spAutoFit/>
          </a:bodyPr>
          <a:lstStyle/>
          <a:p>
            <a:pPr>
              <a:spcBef>
                <a:spcPct val="50000"/>
              </a:spcBef>
            </a:pPr>
            <a:r>
              <a:rPr lang="zh-CN" altLang="en-US" sz="4400" dirty="0">
                <a:solidFill>
                  <a:srgbClr val="FFFF00"/>
                </a:solidFill>
                <a:latin typeface="Rockwell"/>
                <a:ea typeface="黑体" pitchFamily="2" charset="-122"/>
              </a:rPr>
              <a:t>波特模型（改进型）</a:t>
            </a:r>
          </a:p>
        </p:txBody>
      </p:sp>
      <p:sp>
        <p:nvSpPr>
          <p:cNvPr id="63502" name="Text Box 17"/>
          <p:cNvSpPr txBox="1">
            <a:spLocks noChangeArrowheads="1"/>
          </p:cNvSpPr>
          <p:nvPr/>
        </p:nvSpPr>
        <p:spPr bwMode="auto">
          <a:xfrm>
            <a:off x="6096001" y="2492376"/>
            <a:ext cx="2016125" cy="396875"/>
          </a:xfrm>
          <a:prstGeom prst="rect">
            <a:avLst/>
          </a:prstGeom>
          <a:noFill/>
          <a:ln w="9525">
            <a:noFill/>
            <a:miter lim="800000"/>
            <a:headEnd/>
            <a:tailEnd/>
          </a:ln>
        </p:spPr>
        <p:txBody>
          <a:bodyPr>
            <a:spAutoFit/>
          </a:bodyPr>
          <a:lstStyle/>
          <a:p>
            <a:pPr>
              <a:spcBef>
                <a:spcPct val="50000"/>
              </a:spcBef>
            </a:pPr>
            <a:r>
              <a:rPr lang="zh-CN" altLang="en-US" sz="2000">
                <a:latin typeface="Garamond"/>
                <a:ea typeface="方正姚体"/>
              </a:rPr>
              <a:t>新进入者的威胁</a:t>
            </a:r>
          </a:p>
        </p:txBody>
      </p:sp>
      <p:sp>
        <p:nvSpPr>
          <p:cNvPr id="63503" name="Text Box 18"/>
          <p:cNvSpPr txBox="1">
            <a:spLocks noChangeArrowheads="1"/>
          </p:cNvSpPr>
          <p:nvPr/>
        </p:nvSpPr>
        <p:spPr bwMode="auto">
          <a:xfrm>
            <a:off x="4295776" y="5084764"/>
            <a:ext cx="1584325" cy="396875"/>
          </a:xfrm>
          <a:prstGeom prst="rect">
            <a:avLst/>
          </a:prstGeom>
          <a:noFill/>
          <a:ln w="9525">
            <a:noFill/>
            <a:miter lim="800000"/>
            <a:headEnd/>
            <a:tailEnd/>
          </a:ln>
        </p:spPr>
        <p:txBody>
          <a:bodyPr>
            <a:spAutoFit/>
          </a:bodyPr>
          <a:lstStyle/>
          <a:p>
            <a:pPr>
              <a:spcBef>
                <a:spcPct val="50000"/>
              </a:spcBef>
            </a:pPr>
            <a:r>
              <a:rPr lang="zh-CN" altLang="en-US" sz="2000">
                <a:latin typeface="Garamond"/>
                <a:ea typeface="方正姚体"/>
              </a:rPr>
              <a:t>替代品威胁</a:t>
            </a:r>
          </a:p>
        </p:txBody>
      </p:sp>
      <p:sp>
        <p:nvSpPr>
          <p:cNvPr id="63504" name="Text Box 19"/>
          <p:cNvSpPr txBox="1">
            <a:spLocks noChangeArrowheads="1"/>
          </p:cNvSpPr>
          <p:nvPr/>
        </p:nvSpPr>
        <p:spPr bwMode="auto">
          <a:xfrm>
            <a:off x="3863976" y="4221164"/>
            <a:ext cx="1223963" cy="396875"/>
          </a:xfrm>
          <a:prstGeom prst="rect">
            <a:avLst/>
          </a:prstGeom>
          <a:noFill/>
          <a:ln w="9525">
            <a:noFill/>
            <a:miter lim="800000"/>
            <a:headEnd/>
            <a:tailEnd/>
          </a:ln>
        </p:spPr>
        <p:txBody>
          <a:bodyPr>
            <a:spAutoFit/>
          </a:bodyPr>
          <a:lstStyle/>
          <a:p>
            <a:pPr>
              <a:spcBef>
                <a:spcPct val="50000"/>
              </a:spcBef>
            </a:pPr>
            <a:r>
              <a:rPr lang="zh-CN" altLang="en-US" sz="2000">
                <a:latin typeface="Garamond"/>
                <a:ea typeface="方正姚体"/>
              </a:rPr>
              <a:t>侃价力量</a:t>
            </a:r>
          </a:p>
        </p:txBody>
      </p:sp>
      <p:sp>
        <p:nvSpPr>
          <p:cNvPr id="63505" name="Text Box 20"/>
          <p:cNvSpPr txBox="1">
            <a:spLocks noChangeArrowheads="1"/>
          </p:cNvSpPr>
          <p:nvPr/>
        </p:nvSpPr>
        <p:spPr bwMode="auto">
          <a:xfrm>
            <a:off x="7032626" y="4221164"/>
            <a:ext cx="1439863" cy="396875"/>
          </a:xfrm>
          <a:prstGeom prst="rect">
            <a:avLst/>
          </a:prstGeom>
          <a:noFill/>
          <a:ln w="9525">
            <a:noFill/>
            <a:miter lim="800000"/>
            <a:headEnd/>
            <a:tailEnd/>
          </a:ln>
        </p:spPr>
        <p:txBody>
          <a:bodyPr>
            <a:spAutoFit/>
          </a:bodyPr>
          <a:lstStyle/>
          <a:p>
            <a:pPr>
              <a:spcBef>
                <a:spcPct val="50000"/>
              </a:spcBef>
            </a:pPr>
            <a:r>
              <a:rPr lang="zh-CN" altLang="en-US" sz="2000">
                <a:latin typeface="Garamond"/>
                <a:ea typeface="方正姚体"/>
              </a:rPr>
              <a:t>侃价力量</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现有竞争者分析</a:t>
            </a:r>
          </a:p>
        </p:txBody>
      </p:sp>
      <p:sp>
        <p:nvSpPr>
          <p:cNvPr id="3" name="内容占位符 2"/>
          <p:cNvSpPr>
            <a:spLocks noGrp="1"/>
          </p:cNvSpPr>
          <p:nvPr>
            <p:ph idx="1"/>
          </p:nvPr>
        </p:nvSpPr>
        <p:spPr/>
        <p:txBody>
          <a:bodyPr/>
          <a:lstStyle/>
          <a:p>
            <a:r>
              <a:rPr kumimoji="1" lang="zh-CN" altLang="en-US" dirty="0"/>
              <a:t>竞争强度分析：产业是否具有吸引力</a:t>
            </a:r>
            <a:endParaRPr kumimoji="1" lang="en-US" altLang="zh-CN" dirty="0"/>
          </a:p>
          <a:p>
            <a:pPr lvl="1"/>
            <a:r>
              <a:rPr kumimoji="1" lang="zh-CN" altLang="en-US" dirty="0"/>
              <a:t>产业一般获利水平是由产业内企业之间的竞争直接造成的</a:t>
            </a:r>
            <a:endParaRPr kumimoji="1" lang="en-US" altLang="zh-CN" dirty="0"/>
          </a:p>
          <a:p>
            <a:pPr lvl="1"/>
            <a:r>
              <a:rPr kumimoji="1" lang="zh-CN" altLang="en-US" dirty="0"/>
              <a:t>现有竞争者之间的数量和力量对比</a:t>
            </a:r>
            <a:endParaRPr kumimoji="1" lang="en-US" altLang="zh-CN" dirty="0"/>
          </a:p>
          <a:p>
            <a:pPr lvl="1"/>
            <a:r>
              <a:rPr kumimoji="1" lang="zh-CN" altLang="en-US" dirty="0"/>
              <a:t>成本结构：固定成本</a:t>
            </a:r>
            <a:endParaRPr kumimoji="1" lang="en-US" altLang="zh-CN" dirty="0"/>
          </a:p>
          <a:p>
            <a:pPr lvl="1"/>
            <a:r>
              <a:rPr kumimoji="1" lang="zh-CN" altLang="en-US" dirty="0"/>
              <a:t>产品差异性，小竞争激烈</a:t>
            </a:r>
            <a:endParaRPr kumimoji="1" lang="en-US" altLang="zh-CN" dirty="0"/>
          </a:p>
          <a:p>
            <a:pPr lvl="1"/>
            <a:r>
              <a:rPr kumimoji="1" lang="zh-CN" altLang="en-US" dirty="0"/>
              <a:t>退出壁垒及转移成本</a:t>
            </a:r>
            <a:endParaRPr kumimoji="1" lang="en-US" altLang="zh-CN" dirty="0"/>
          </a:p>
          <a:p>
            <a:pPr lvl="1"/>
            <a:r>
              <a:rPr kumimoji="1" lang="zh-CN" altLang="en-US" dirty="0"/>
              <a:t>需求增长和行业增长</a:t>
            </a:r>
            <a:endParaRPr kumimoji="1" lang="en-US" altLang="zh-CN" dirty="0"/>
          </a:p>
          <a:p>
            <a:endParaRPr kumimoji="1" lang="zh-CN" altLang="en-US" dirty="0"/>
          </a:p>
        </p:txBody>
      </p:sp>
    </p:spTree>
    <p:extLst>
      <p:ext uri="{BB962C8B-B14F-4D97-AF65-F5344CB8AC3E}">
        <p14:creationId xmlns:p14="http://schemas.microsoft.com/office/powerpoint/2010/main" val="1521653550"/>
      </p:ext>
    </p:extLst>
  </p:cSld>
  <p:clrMapOvr>
    <a:overrideClrMapping bg1="dk1" tx1="lt1" bg2="dk2" tx2="lt2" accent1="accent1" accent2="accent2" accent3="accent3" accent4="accent4" accent5="accent5" accent6="accent6" hlink="hlink" folHlink="folHlink"/>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主要竞争者分析</a:t>
            </a:r>
          </a:p>
        </p:txBody>
      </p:sp>
      <p:sp>
        <p:nvSpPr>
          <p:cNvPr id="3" name="内容占位符 2"/>
          <p:cNvSpPr>
            <a:spLocks noGrp="1"/>
          </p:cNvSpPr>
          <p:nvPr>
            <p:ph idx="1"/>
          </p:nvPr>
        </p:nvSpPr>
        <p:spPr>
          <a:xfrm>
            <a:off x="1991544" y="1412776"/>
            <a:ext cx="8229600" cy="4525962"/>
          </a:xfrm>
        </p:spPr>
        <p:txBody>
          <a:bodyPr>
            <a:normAutofit/>
          </a:bodyPr>
          <a:lstStyle/>
          <a:p>
            <a:r>
              <a:rPr kumimoji="1" lang="zh-CN" altLang="en-US" dirty="0"/>
              <a:t>识别主要竞争者</a:t>
            </a:r>
            <a:endParaRPr kumimoji="1" lang="en-US" altLang="zh-CN" dirty="0"/>
          </a:p>
          <a:p>
            <a:pPr lvl="1"/>
            <a:r>
              <a:rPr kumimoji="1" lang="zh-CN" altLang="en-US" dirty="0"/>
              <a:t>价格策略相似</a:t>
            </a:r>
            <a:endParaRPr kumimoji="1" lang="en-US" altLang="zh-CN" dirty="0"/>
          </a:p>
          <a:p>
            <a:pPr lvl="1"/>
            <a:r>
              <a:rPr kumimoji="1" lang="zh-CN" altLang="en-US" dirty="0"/>
              <a:t>产品质量和目标客户相似</a:t>
            </a:r>
            <a:endParaRPr kumimoji="1" lang="en-US" altLang="zh-CN" dirty="0"/>
          </a:p>
          <a:p>
            <a:pPr lvl="1"/>
            <a:r>
              <a:rPr kumimoji="1" lang="zh-CN" altLang="en-US" dirty="0"/>
              <a:t>市场地位和组织规模相当</a:t>
            </a:r>
            <a:endParaRPr kumimoji="1" lang="en-US" altLang="zh-CN" dirty="0"/>
          </a:p>
          <a:p>
            <a:pPr lvl="1"/>
            <a:r>
              <a:rPr kumimoji="1" lang="zh-CN" altLang="en-US" dirty="0"/>
              <a:t>有类似的产品线宽度</a:t>
            </a:r>
            <a:endParaRPr kumimoji="1" lang="en-US" altLang="zh-CN" dirty="0"/>
          </a:p>
          <a:p>
            <a:pPr lvl="1"/>
            <a:r>
              <a:rPr kumimoji="1" lang="zh-CN" altLang="en-US" dirty="0"/>
              <a:t>利用同样的技术方法</a:t>
            </a:r>
            <a:endParaRPr kumimoji="1" lang="en-US" altLang="zh-CN" dirty="0"/>
          </a:p>
          <a:p>
            <a:pPr lvl="1"/>
            <a:r>
              <a:rPr kumimoji="1" lang="zh-CN" altLang="en-US" dirty="0"/>
              <a:t>重视同一分销渠道</a:t>
            </a:r>
            <a:endParaRPr kumimoji="1" lang="en-US" altLang="zh-CN" dirty="0"/>
          </a:p>
          <a:p>
            <a:r>
              <a:rPr kumimoji="1" lang="zh-CN" altLang="en-US" dirty="0"/>
              <a:t>战略群组：一个产业中具有相似竞争战略的企业</a:t>
            </a:r>
            <a:endParaRPr kumimoji="1" lang="en-US" altLang="zh-CN" dirty="0"/>
          </a:p>
        </p:txBody>
      </p:sp>
    </p:spTree>
    <p:extLst>
      <p:ext uri="{BB962C8B-B14F-4D97-AF65-F5344CB8AC3E}">
        <p14:creationId xmlns:p14="http://schemas.microsoft.com/office/powerpoint/2010/main" val="22436050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潜在进入者</a:t>
            </a:r>
          </a:p>
        </p:txBody>
      </p:sp>
      <p:sp>
        <p:nvSpPr>
          <p:cNvPr id="3" name="内容占位符 2"/>
          <p:cNvSpPr>
            <a:spLocks noGrp="1"/>
          </p:cNvSpPr>
          <p:nvPr>
            <p:ph idx="1"/>
          </p:nvPr>
        </p:nvSpPr>
        <p:spPr/>
        <p:txBody>
          <a:bodyPr>
            <a:normAutofit fontScale="92500" lnSpcReduction="20000"/>
          </a:bodyPr>
          <a:lstStyle/>
          <a:p>
            <a:r>
              <a:rPr kumimoji="1" lang="zh-CN" altLang="en-US" dirty="0"/>
              <a:t>进入壁垒</a:t>
            </a:r>
            <a:endParaRPr kumimoji="1" lang="en-US" altLang="zh-CN" dirty="0"/>
          </a:p>
          <a:p>
            <a:pPr lvl="1"/>
            <a:r>
              <a:rPr kumimoji="1" lang="zh-CN" altLang="en-US" dirty="0"/>
              <a:t>结构性壁垒</a:t>
            </a:r>
            <a:endParaRPr kumimoji="1" lang="en-US" altLang="zh-CN" dirty="0"/>
          </a:p>
          <a:p>
            <a:pPr lvl="2"/>
            <a:r>
              <a:rPr kumimoji="1" lang="zh-CN" altLang="en-US" dirty="0"/>
              <a:t>规模经济：汽车航空钢铁</a:t>
            </a:r>
            <a:endParaRPr kumimoji="1" lang="en-US" altLang="zh-CN" dirty="0"/>
          </a:p>
          <a:p>
            <a:pPr lvl="2"/>
            <a:r>
              <a:rPr kumimoji="1" lang="zh-CN" altLang="en-US" dirty="0"/>
              <a:t>资本需求量：银行保险</a:t>
            </a:r>
            <a:endParaRPr kumimoji="1" lang="en-US" altLang="zh-CN" dirty="0"/>
          </a:p>
          <a:p>
            <a:pPr lvl="2"/>
            <a:r>
              <a:rPr kumimoji="1" lang="zh-CN" altLang="en-US" dirty="0"/>
              <a:t>产品差异化</a:t>
            </a:r>
            <a:endParaRPr kumimoji="1" lang="en-US" altLang="zh-CN" dirty="0"/>
          </a:p>
          <a:p>
            <a:pPr lvl="1"/>
            <a:r>
              <a:rPr kumimoji="1" lang="zh-CN" altLang="en-US" dirty="0"/>
              <a:t>政策壁垒</a:t>
            </a:r>
            <a:endParaRPr kumimoji="1" lang="en-US" altLang="zh-CN" dirty="0"/>
          </a:p>
          <a:p>
            <a:pPr lvl="2"/>
            <a:r>
              <a:rPr kumimoji="1" lang="zh-CN" altLang="en-US" dirty="0"/>
              <a:t>石油电信</a:t>
            </a:r>
            <a:endParaRPr kumimoji="1" lang="en-US" altLang="zh-CN" dirty="0"/>
          </a:p>
          <a:p>
            <a:pPr lvl="1"/>
            <a:r>
              <a:rPr kumimoji="1" lang="zh-CN" altLang="en-US" dirty="0"/>
              <a:t>策略性</a:t>
            </a:r>
            <a:endParaRPr kumimoji="1" lang="en-US" altLang="zh-CN" dirty="0"/>
          </a:p>
          <a:p>
            <a:pPr lvl="2"/>
            <a:r>
              <a:rPr kumimoji="1" lang="zh-CN" altLang="en-US" dirty="0"/>
              <a:t>限制进入定价－格兰仕</a:t>
            </a:r>
            <a:endParaRPr kumimoji="1" lang="en-US" altLang="zh-CN" dirty="0"/>
          </a:p>
          <a:p>
            <a:pPr lvl="2"/>
            <a:r>
              <a:rPr kumimoji="1" lang="zh-CN" altLang="en-US" dirty="0"/>
              <a:t>资源控制</a:t>
            </a:r>
            <a:endParaRPr kumimoji="1" lang="en-US" altLang="zh-CN" dirty="0"/>
          </a:p>
          <a:p>
            <a:pPr lvl="2"/>
            <a:endParaRPr kumimoji="1" lang="en-US" altLang="zh-CN" dirty="0"/>
          </a:p>
          <a:p>
            <a:pPr lvl="2"/>
            <a:endParaRPr kumimoji="1" lang="zh-CN" altLang="en-US" dirty="0"/>
          </a:p>
        </p:txBody>
      </p:sp>
    </p:spTree>
    <p:extLst>
      <p:ext uri="{BB962C8B-B14F-4D97-AF65-F5344CB8AC3E}">
        <p14:creationId xmlns:p14="http://schemas.microsoft.com/office/powerpoint/2010/main" val="18817460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替代品</a:t>
            </a:r>
          </a:p>
        </p:txBody>
      </p:sp>
      <p:sp>
        <p:nvSpPr>
          <p:cNvPr id="3" name="内容占位符 2"/>
          <p:cNvSpPr>
            <a:spLocks noGrp="1"/>
          </p:cNvSpPr>
          <p:nvPr>
            <p:ph idx="1"/>
          </p:nvPr>
        </p:nvSpPr>
        <p:spPr>
          <a:xfrm>
            <a:off x="2692703" y="1655373"/>
            <a:ext cx="7796540" cy="3997828"/>
          </a:xfrm>
        </p:spPr>
        <p:txBody>
          <a:bodyPr>
            <a:normAutofit lnSpcReduction="10000"/>
          </a:bodyPr>
          <a:lstStyle/>
          <a:p>
            <a:r>
              <a:rPr kumimoji="1" lang="zh-CN" altLang="en-US" dirty="0"/>
              <a:t>替代品是否代表产业发展方向</a:t>
            </a:r>
            <a:endParaRPr kumimoji="1" lang="en-US" altLang="zh-CN" dirty="0"/>
          </a:p>
          <a:p>
            <a:pPr lvl="1"/>
            <a:r>
              <a:rPr kumimoji="1" lang="zh-CN" altLang="en-US" dirty="0"/>
              <a:t>汽车替代马车</a:t>
            </a:r>
            <a:endParaRPr kumimoji="1" lang="en-US" altLang="zh-CN" dirty="0"/>
          </a:p>
          <a:p>
            <a:pPr lvl="1"/>
            <a:r>
              <a:rPr kumimoji="1" lang="zh-CN" altLang="en-US" dirty="0"/>
              <a:t>数码相机替代传统相机</a:t>
            </a:r>
            <a:endParaRPr kumimoji="1" lang="en-US" altLang="zh-CN" dirty="0"/>
          </a:p>
          <a:p>
            <a:pPr lvl="1"/>
            <a:r>
              <a:rPr kumimoji="1" lang="zh-CN" altLang="en-US" dirty="0"/>
              <a:t>电动车代替传统汽车</a:t>
            </a:r>
            <a:endParaRPr kumimoji="1" lang="en-US" altLang="zh-CN" dirty="0"/>
          </a:p>
          <a:p>
            <a:r>
              <a:rPr kumimoji="1" lang="zh-CN" altLang="en-US" dirty="0"/>
              <a:t>替代品对盈利空间的影响</a:t>
            </a:r>
            <a:endParaRPr kumimoji="1" lang="en-US" altLang="zh-CN" dirty="0"/>
          </a:p>
          <a:p>
            <a:pPr lvl="1"/>
            <a:r>
              <a:rPr kumimoji="1" lang="zh-CN" altLang="en-US" dirty="0"/>
              <a:t>价格限制</a:t>
            </a:r>
            <a:endParaRPr kumimoji="1" lang="en-US" altLang="zh-CN" dirty="0"/>
          </a:p>
          <a:p>
            <a:pPr lvl="1"/>
            <a:r>
              <a:rPr kumimoji="1" lang="zh-CN" altLang="en-US" dirty="0"/>
              <a:t>影响行业总需求弹性，价格高，销量极速下滑</a:t>
            </a:r>
            <a:endParaRPr kumimoji="1" lang="en-US" altLang="zh-CN" dirty="0"/>
          </a:p>
          <a:p>
            <a:r>
              <a:rPr kumimoji="1" lang="zh-CN" altLang="en-US" dirty="0"/>
              <a:t>转移成本高低影响替代品威胁</a:t>
            </a:r>
          </a:p>
        </p:txBody>
      </p:sp>
    </p:spTree>
    <p:extLst>
      <p:ext uri="{BB962C8B-B14F-4D97-AF65-F5344CB8AC3E}">
        <p14:creationId xmlns:p14="http://schemas.microsoft.com/office/powerpoint/2010/main" val="29691766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供应商分析</a:t>
            </a:r>
          </a:p>
        </p:txBody>
      </p:sp>
      <p:sp>
        <p:nvSpPr>
          <p:cNvPr id="3" name="内容占位符 2"/>
          <p:cNvSpPr>
            <a:spLocks noGrp="1"/>
          </p:cNvSpPr>
          <p:nvPr>
            <p:ph idx="1"/>
          </p:nvPr>
        </p:nvSpPr>
        <p:spPr/>
        <p:txBody>
          <a:bodyPr>
            <a:normAutofit fontScale="92500" lnSpcReduction="10000"/>
          </a:bodyPr>
          <a:lstStyle/>
          <a:p>
            <a:r>
              <a:rPr kumimoji="1" lang="zh-CN" altLang="en-US" dirty="0"/>
              <a:t>供应商的供应能力</a:t>
            </a:r>
            <a:endParaRPr kumimoji="1" lang="en-US" altLang="zh-CN" dirty="0"/>
          </a:p>
          <a:p>
            <a:pPr lvl="1"/>
            <a:r>
              <a:rPr kumimoji="1" lang="zh-CN" altLang="en-US" dirty="0"/>
              <a:t>决定企业从事某项特定业务活动的要素可获得性及成本</a:t>
            </a:r>
            <a:endParaRPr kumimoji="1" lang="en-US" altLang="zh-CN" dirty="0"/>
          </a:p>
          <a:p>
            <a:r>
              <a:rPr kumimoji="1" lang="zh-CN" altLang="en-US" dirty="0"/>
              <a:t>供应商的议价能力</a:t>
            </a:r>
            <a:endParaRPr kumimoji="1" lang="en-US" altLang="zh-CN" dirty="0"/>
          </a:p>
          <a:p>
            <a:pPr lvl="1"/>
            <a:r>
              <a:rPr kumimoji="1" lang="zh-CN" altLang="en-US" dirty="0"/>
              <a:t>如铁矿石，产业价值被供应商获取</a:t>
            </a:r>
            <a:endParaRPr kumimoji="1" lang="en-US" altLang="zh-CN" dirty="0"/>
          </a:p>
          <a:p>
            <a:pPr lvl="1"/>
            <a:r>
              <a:rPr kumimoji="1" lang="zh-CN" altLang="en-US" dirty="0"/>
              <a:t>供应商行业的集中程度</a:t>
            </a:r>
            <a:endParaRPr kumimoji="1" lang="en-US" altLang="zh-CN" dirty="0"/>
          </a:p>
          <a:p>
            <a:pPr lvl="1"/>
            <a:r>
              <a:rPr kumimoji="1" lang="zh-CN" altLang="en-US" dirty="0"/>
              <a:t>供应商产品的差异化程度</a:t>
            </a:r>
            <a:endParaRPr kumimoji="1" lang="en-US" altLang="zh-CN" dirty="0"/>
          </a:p>
          <a:p>
            <a:pPr lvl="1"/>
            <a:r>
              <a:rPr kumimoji="1" lang="zh-CN" altLang="en-US" dirty="0"/>
              <a:t>供应商产品的替代品情况</a:t>
            </a:r>
            <a:endParaRPr kumimoji="1" lang="en-US" altLang="zh-CN" dirty="0"/>
          </a:p>
          <a:p>
            <a:pPr lvl="1"/>
            <a:r>
              <a:rPr kumimoji="1" lang="zh-CN" altLang="en-US" dirty="0"/>
              <a:t>供应商前向一体化的可能性</a:t>
            </a:r>
            <a:endParaRPr kumimoji="1" lang="en-US" altLang="zh-CN" dirty="0"/>
          </a:p>
          <a:p>
            <a:pPr lvl="1"/>
            <a:r>
              <a:rPr kumimoji="1" lang="zh-CN" altLang="en-US" dirty="0"/>
              <a:t>供应商产品对本企业产品的重要性</a:t>
            </a:r>
          </a:p>
        </p:txBody>
      </p:sp>
    </p:spTree>
    <p:extLst>
      <p:ext uri="{BB962C8B-B14F-4D97-AF65-F5344CB8AC3E}">
        <p14:creationId xmlns:p14="http://schemas.microsoft.com/office/powerpoint/2010/main" val="266729162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买方分析</a:t>
            </a:r>
          </a:p>
        </p:txBody>
      </p:sp>
      <p:sp>
        <p:nvSpPr>
          <p:cNvPr id="3" name="内容占位符 2"/>
          <p:cNvSpPr>
            <a:spLocks noGrp="1"/>
          </p:cNvSpPr>
          <p:nvPr>
            <p:ph idx="1"/>
          </p:nvPr>
        </p:nvSpPr>
        <p:spPr/>
        <p:txBody>
          <a:bodyPr>
            <a:normAutofit fontScale="92500"/>
          </a:bodyPr>
          <a:lstStyle/>
          <a:p>
            <a:r>
              <a:rPr kumimoji="1" lang="zh-CN" altLang="en-US" dirty="0"/>
              <a:t>买方需求状况将决定产业的市场容量和事物发展潜力</a:t>
            </a:r>
            <a:endParaRPr kumimoji="1" lang="en-US" altLang="zh-CN" dirty="0"/>
          </a:p>
          <a:p>
            <a:r>
              <a:rPr kumimoji="1" lang="zh-CN" altLang="en-US" dirty="0"/>
              <a:t>总需求、需求结构、购买力</a:t>
            </a:r>
            <a:endParaRPr kumimoji="1" lang="en-US" altLang="zh-CN" dirty="0"/>
          </a:p>
          <a:p>
            <a:r>
              <a:rPr kumimoji="1" lang="zh-CN" altLang="en-US" dirty="0"/>
              <a:t>买方的议价能力，产业价值被买方获取或者被本企业获取</a:t>
            </a:r>
            <a:endParaRPr kumimoji="1" lang="en-US" altLang="zh-CN" dirty="0"/>
          </a:p>
          <a:p>
            <a:pPr lvl="1"/>
            <a:r>
              <a:rPr kumimoji="1" lang="zh-CN" altLang="en-US" dirty="0"/>
              <a:t>买方的集中度</a:t>
            </a:r>
            <a:endParaRPr kumimoji="1" lang="en-US" altLang="zh-CN" dirty="0"/>
          </a:p>
          <a:p>
            <a:pPr lvl="1"/>
            <a:r>
              <a:rPr kumimoji="1" lang="zh-CN" altLang="en-US" dirty="0"/>
              <a:t>本企业产品差异化程度</a:t>
            </a:r>
            <a:endParaRPr kumimoji="1" lang="en-US" altLang="zh-CN" dirty="0"/>
          </a:p>
          <a:p>
            <a:pPr lvl="1"/>
            <a:r>
              <a:rPr kumimoji="1" lang="zh-CN" altLang="en-US" dirty="0"/>
              <a:t>买方转移成本</a:t>
            </a:r>
            <a:endParaRPr kumimoji="1" lang="en-US" altLang="zh-CN" dirty="0"/>
          </a:p>
          <a:p>
            <a:pPr lvl="1"/>
            <a:r>
              <a:rPr kumimoji="1" lang="zh-CN" altLang="en-US" dirty="0"/>
              <a:t>买方后向一体化的能力</a:t>
            </a:r>
            <a:endParaRPr kumimoji="1" lang="en-US" altLang="zh-CN" dirty="0"/>
          </a:p>
          <a:p>
            <a:pPr lvl="1"/>
            <a:r>
              <a:rPr kumimoji="1" lang="zh-CN" altLang="en-US" dirty="0"/>
              <a:t>家电生产企业对比家电分销企业</a:t>
            </a:r>
          </a:p>
        </p:txBody>
      </p:sp>
    </p:spTree>
    <p:extLst>
      <p:ext uri="{BB962C8B-B14F-4D97-AF65-F5344CB8AC3E}">
        <p14:creationId xmlns:p14="http://schemas.microsoft.com/office/powerpoint/2010/main" val="21555890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981200" y="680256"/>
            <a:ext cx="8229600" cy="1143000"/>
          </a:xfrm>
        </p:spPr>
        <p:txBody>
          <a:bodyPr>
            <a:normAutofit/>
          </a:bodyPr>
          <a:lstStyle/>
          <a:p>
            <a:pPr marL="54864">
              <a:defRPr/>
            </a:pPr>
            <a:r>
              <a:rPr lang="zh-CN" altLang="en-US" dirty="0">
                <a:solidFill>
                  <a:schemeClr val="tx2">
                    <a:tint val="100000"/>
                    <a:shade val="90000"/>
                    <a:satMod val="250000"/>
                    <a:alpha val="100000"/>
                  </a:schemeClr>
                </a:solidFill>
                <a:ea typeface="黑体" pitchFamily="2" charset="-122"/>
                <a:cs typeface="+mj-cs"/>
              </a:rPr>
              <a:t>五种力量会导致的竞争结果</a:t>
            </a:r>
            <a:br>
              <a:rPr lang="zh-CN" altLang="en-US" sz="4000" b="1" dirty="0">
                <a:solidFill>
                  <a:schemeClr val="tx2">
                    <a:tint val="100000"/>
                    <a:shade val="90000"/>
                    <a:satMod val="250000"/>
                    <a:alpha val="100000"/>
                  </a:schemeClr>
                </a:solidFill>
              </a:rPr>
            </a:br>
            <a:endParaRPr lang="zh-CN" altLang="en-US" sz="4000" b="1" dirty="0">
              <a:solidFill>
                <a:schemeClr val="tx2">
                  <a:tint val="100000"/>
                  <a:shade val="90000"/>
                  <a:satMod val="250000"/>
                  <a:alpha val="100000"/>
                </a:schemeClr>
              </a:solidFill>
            </a:endParaRPr>
          </a:p>
        </p:txBody>
      </p:sp>
      <p:sp>
        <p:nvSpPr>
          <p:cNvPr id="65538" name="Rectangle 3"/>
          <p:cNvSpPr>
            <a:spLocks noGrp="1" noChangeArrowheads="1"/>
          </p:cNvSpPr>
          <p:nvPr>
            <p:ph idx="1"/>
          </p:nvPr>
        </p:nvSpPr>
        <p:spPr>
          <a:xfrm>
            <a:off x="1981200" y="1396536"/>
            <a:ext cx="7993063" cy="4525963"/>
          </a:xfrm>
        </p:spPr>
        <p:txBody>
          <a:bodyPr/>
          <a:lstStyle/>
          <a:p>
            <a:pPr>
              <a:spcBef>
                <a:spcPct val="35000"/>
              </a:spcBef>
            </a:pPr>
            <a:r>
              <a:rPr lang="zh-CN" altLang="en-US" sz="2400" b="1" dirty="0">
                <a:solidFill>
                  <a:srgbClr val="00FF00"/>
                </a:solidFill>
              </a:rPr>
              <a:t>新竞争者</a:t>
            </a:r>
            <a:r>
              <a:rPr lang="zh-CN" altLang="en-US" sz="2400" dirty="0"/>
              <a:t>进入通过低价格将价值转移到消费者身上，或者通过提高竞争成本导致价值损失</a:t>
            </a:r>
          </a:p>
          <a:p>
            <a:pPr>
              <a:spcBef>
                <a:spcPct val="35000"/>
              </a:spcBef>
            </a:pPr>
            <a:r>
              <a:rPr lang="zh-CN" altLang="en-US" sz="2400" dirty="0"/>
              <a:t>强大的</a:t>
            </a:r>
            <a:r>
              <a:rPr lang="zh-CN" altLang="en-US" sz="2400" b="1" dirty="0">
                <a:solidFill>
                  <a:srgbClr val="00FF00"/>
                </a:solidFill>
              </a:rPr>
              <a:t>购买者</a:t>
            </a:r>
            <a:r>
              <a:rPr lang="zh-CN" altLang="en-US" sz="2400" dirty="0"/>
              <a:t>将为自己争得价值</a:t>
            </a:r>
          </a:p>
          <a:p>
            <a:pPr>
              <a:spcBef>
                <a:spcPct val="35000"/>
              </a:spcBef>
            </a:pPr>
            <a:r>
              <a:rPr lang="zh-CN" altLang="en-US" sz="2400" b="1" dirty="0">
                <a:solidFill>
                  <a:srgbClr val="00FF00"/>
                </a:solidFill>
              </a:rPr>
              <a:t>替代品</a:t>
            </a:r>
            <a:r>
              <a:rPr lang="zh-CN" altLang="en-US" sz="2400" dirty="0"/>
              <a:t>为产品的价格确定最高价格极限</a:t>
            </a:r>
          </a:p>
          <a:p>
            <a:pPr>
              <a:spcBef>
                <a:spcPct val="35000"/>
              </a:spcBef>
            </a:pPr>
            <a:r>
              <a:rPr lang="zh-CN" altLang="en-US" sz="2400" dirty="0"/>
              <a:t>强大的</a:t>
            </a:r>
            <a:r>
              <a:rPr lang="zh-CN" altLang="en-US" sz="2400" b="1" dirty="0">
                <a:solidFill>
                  <a:srgbClr val="00FF00"/>
                </a:solidFill>
              </a:rPr>
              <a:t>供应商</a:t>
            </a:r>
            <a:r>
              <a:rPr lang="zh-CN" altLang="en-US" sz="2400" dirty="0"/>
              <a:t>将为自己争得价值</a:t>
            </a:r>
          </a:p>
          <a:p>
            <a:pPr>
              <a:spcBef>
                <a:spcPct val="35000"/>
              </a:spcBef>
            </a:pPr>
            <a:r>
              <a:rPr lang="zh-CN" altLang="en-US" sz="2400" b="1" dirty="0">
                <a:solidFill>
                  <a:srgbClr val="00FF00"/>
                </a:solidFill>
              </a:rPr>
              <a:t>竞争对手</a:t>
            </a:r>
            <a:r>
              <a:rPr lang="zh-CN" altLang="en-US" sz="2400" dirty="0"/>
              <a:t>的作用与新进入者相同，将价值转移给消费者或通过提高竞争成本导致价值损失</a:t>
            </a: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497376"/>
            <a:ext cx="8229600" cy="1143000"/>
          </a:xfrm>
        </p:spPr>
        <p:txBody>
          <a:bodyPr/>
          <a:lstStyle/>
          <a:p>
            <a:pPr marL="54864">
              <a:defRPr/>
            </a:pPr>
            <a:r>
              <a:rPr lang="zh-CN" altLang="en-US" dirty="0">
                <a:solidFill>
                  <a:schemeClr val="tx2">
                    <a:tint val="100000"/>
                    <a:shade val="90000"/>
                    <a:satMod val="250000"/>
                    <a:alpha val="100000"/>
                  </a:schemeClr>
                </a:solidFill>
                <a:cs typeface="+mj-cs"/>
              </a:rPr>
              <a:t>行业吸引力</a:t>
            </a:r>
          </a:p>
        </p:txBody>
      </p:sp>
      <p:sp>
        <p:nvSpPr>
          <p:cNvPr id="79874" name="内容占位符 2"/>
          <p:cNvSpPr>
            <a:spLocks noGrp="1"/>
          </p:cNvSpPr>
          <p:nvPr>
            <p:ph idx="1"/>
          </p:nvPr>
        </p:nvSpPr>
        <p:spPr>
          <a:xfrm>
            <a:off x="2590719" y="1068876"/>
            <a:ext cx="7796540" cy="3997828"/>
          </a:xfrm>
        </p:spPr>
        <p:txBody>
          <a:bodyPr/>
          <a:lstStyle/>
          <a:p>
            <a:r>
              <a:rPr lang="zh-CN" altLang="en-US" dirty="0"/>
              <a:t>行业销售利润率或</a:t>
            </a:r>
            <a:r>
              <a:rPr lang="en-US" altLang="zh-CN" dirty="0"/>
              <a:t>/</a:t>
            </a:r>
            <a:r>
              <a:rPr lang="zh-CN" altLang="en-US" dirty="0"/>
              <a:t>和行业销售额的增长高于该国或该地区各行业的平均水平</a:t>
            </a:r>
          </a:p>
        </p:txBody>
      </p:sp>
    </p:spTree>
  </p:cSld>
  <p:clrMapOvr>
    <a:overrideClrMapping bg1="dk1" tx1="lt1" bg2="dk2" tx2="lt2" accent1="accent1" accent2="accent2" accent3="accent3" accent4="accent4" accent5="accent5" accent6="accent6" hlink="hlink" folHlink="folHlink"/>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5880" y="749808"/>
            <a:ext cx="8887968" cy="1005840"/>
          </a:xfrm>
        </p:spPr>
        <p:txBody>
          <a:bodyPr/>
          <a:lstStyle/>
          <a:p>
            <a:r>
              <a:rPr sz="3000" b="1" dirty="0" err="1">
                <a:solidFill>
                  <a:srgbClr val="262626"/>
                </a:solidFill>
                <a:latin typeface="等线"/>
              </a:rPr>
              <a:t>供应商档案卡：全球四大铁矿石矿山（背景速览</a:t>
            </a:r>
            <a:r>
              <a:rPr sz="3000" b="1" dirty="0">
                <a:solidFill>
                  <a:srgbClr val="262626"/>
                </a:solidFill>
                <a:latin typeface="等线"/>
              </a:rPr>
              <a:t>）</a:t>
            </a:r>
          </a:p>
        </p:txBody>
      </p:sp>
      <p:graphicFrame>
        <p:nvGraphicFramePr>
          <p:cNvPr id="3" name="Table 2"/>
          <p:cNvGraphicFramePr>
            <a:graphicFrameLocks noGrp="1"/>
          </p:cNvGraphicFramePr>
          <p:nvPr/>
        </p:nvGraphicFramePr>
        <p:xfrm>
          <a:off x="1325880" y="1719072"/>
          <a:ext cx="10195560" cy="4483608"/>
        </p:xfrm>
        <a:graphic>
          <a:graphicData uri="http://schemas.openxmlformats.org/drawingml/2006/table">
            <a:tbl>
              <a:tblPr firstRow="1">
                <a:tableStyleId>{5C22544A-7EE6-4342-B048-85BDC9FD1C3A}</a:tableStyleId>
              </a:tblPr>
              <a:tblGrid>
                <a:gridCol w="13716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5257800">
                  <a:extLst>
                    <a:ext uri="{9D8B030D-6E8A-4147-A177-3AD203B41FA5}">
                      <a16:colId xmlns:a16="http://schemas.microsoft.com/office/drawing/2014/main" val="20003"/>
                    </a:ext>
                  </a:extLst>
                </a:gridCol>
              </a:tblGrid>
              <a:tr h="868680">
                <a:tc>
                  <a:txBody>
                    <a:bodyPr/>
                    <a:lstStyle/>
                    <a:p>
                      <a:pPr algn="ctr"/>
                      <a:r>
                        <a:rPr sz="1200" b="1">
                          <a:solidFill>
                            <a:srgbClr val="FFFFFF"/>
                          </a:solidFill>
                          <a:latin typeface="等线"/>
                        </a:rPr>
                        <a:t>矿山</a:t>
                      </a:r>
                    </a:p>
                  </a:txBody>
                  <a:tcPr marL="36576" marR="36576" marT="9144" marB="9144" anchor="ctr">
                    <a:solidFill>
                      <a:srgbClr val="4472C4"/>
                    </a:solidFill>
                  </a:tcPr>
                </a:tc>
                <a:tc>
                  <a:txBody>
                    <a:bodyPr/>
                    <a:lstStyle/>
                    <a:p>
                      <a:pPr algn="ctr"/>
                      <a:r>
                        <a:rPr sz="1200" b="1">
                          <a:solidFill>
                            <a:srgbClr val="FFFFFF"/>
                          </a:solidFill>
                          <a:latin typeface="等线"/>
                        </a:rPr>
                        <a:t>国家 · 总部</a:t>
                      </a:r>
                    </a:p>
                  </a:txBody>
                  <a:tcPr marL="36576" marR="36576" marT="9144" marB="9144" anchor="ctr">
                    <a:solidFill>
                      <a:srgbClr val="4472C4"/>
                    </a:solidFill>
                  </a:tcPr>
                </a:tc>
                <a:tc>
                  <a:txBody>
                    <a:bodyPr/>
                    <a:lstStyle/>
                    <a:p>
                      <a:pPr algn="ctr"/>
                      <a:r>
                        <a:rPr sz="1200" b="1">
                          <a:solidFill>
                            <a:srgbClr val="FFFFFF"/>
                          </a:solidFill>
                          <a:latin typeface="等线"/>
                        </a:rPr>
                        <a:t>成立 · 背景</a:t>
                      </a:r>
                    </a:p>
                  </a:txBody>
                  <a:tcPr marL="36576" marR="36576" marT="9144" marB="9144" anchor="ctr">
                    <a:solidFill>
                      <a:srgbClr val="4472C4"/>
                    </a:solidFill>
                  </a:tcPr>
                </a:tc>
                <a:tc>
                  <a:txBody>
                    <a:bodyPr/>
                    <a:lstStyle/>
                    <a:p>
                      <a:pPr algn="ctr"/>
                      <a:r>
                        <a:rPr sz="1200" b="1">
                          <a:solidFill>
                            <a:srgbClr val="FFFFFF"/>
                          </a:solidFill>
                          <a:latin typeface="等线"/>
                        </a:rPr>
                        <a:t>核心资产与战略特点</a:t>
                      </a:r>
                    </a:p>
                  </a:txBody>
                  <a:tcPr marL="36576" marR="36576" marT="9144" marB="9144" anchor="ctr">
                    <a:solidFill>
                      <a:srgbClr val="4472C4"/>
                    </a:solidFill>
                  </a:tcPr>
                </a:tc>
                <a:extLst>
                  <a:ext uri="{0D108BD9-81ED-4DB2-BD59-A6C34878D82A}">
                    <a16:rowId xmlns:a16="http://schemas.microsoft.com/office/drawing/2014/main" val="10000"/>
                  </a:ext>
                </a:extLst>
              </a:tr>
              <a:tr h="868680">
                <a:tc>
                  <a:txBody>
                    <a:bodyPr/>
                    <a:lstStyle/>
                    <a:p>
                      <a:pPr algn="l"/>
                      <a:r>
                        <a:rPr sz="1100" b="0">
                          <a:solidFill>
                            <a:srgbClr val="262626"/>
                          </a:solidFill>
                          <a:latin typeface="等线"/>
                        </a:rPr>
                        <a:t>淡水河谷</a:t>
                      </a:r>
                    </a:p>
                    <a:p>
                      <a:r>
                        <a:t>Vale</a:t>
                      </a:r>
                    </a:p>
                  </a:txBody>
                  <a:tcPr marL="36576" marR="36576" marT="9144" marB="9144" anchor="ctr"/>
                </a:tc>
                <a:tc>
                  <a:txBody>
                    <a:bodyPr/>
                    <a:lstStyle/>
                    <a:p>
                      <a:pPr algn="ctr"/>
                      <a:r>
                        <a:rPr sz="1100" b="0">
                          <a:solidFill>
                            <a:srgbClr val="262626"/>
                          </a:solidFill>
                          <a:latin typeface="等线"/>
                        </a:rPr>
                        <a:t>巴西</a:t>
                      </a:r>
                    </a:p>
                    <a:p>
                      <a:r>
                        <a:t>里约热内卢</a:t>
                      </a:r>
                    </a:p>
                  </a:txBody>
                  <a:tcPr marL="36576" marR="36576" marT="9144" marB="9144" anchor="ctr"/>
                </a:tc>
                <a:tc>
                  <a:txBody>
                    <a:bodyPr/>
                    <a:lstStyle/>
                    <a:p>
                      <a:pPr algn="ctr"/>
                      <a:r>
                        <a:rPr sz="1100" b="0">
                          <a:solidFill>
                            <a:srgbClr val="262626"/>
                          </a:solidFill>
                          <a:latin typeface="等线"/>
                        </a:rPr>
                        <a:t>1942年成立，拉美</a:t>
                      </a:r>
                    </a:p>
                    <a:p>
                      <a:r>
                        <a:t>最大矿业公司</a:t>
                      </a:r>
                    </a:p>
                  </a:txBody>
                  <a:tcPr marL="36576" marR="36576" marT="9144" marB="9144" anchor="ctr"/>
                </a:tc>
                <a:tc>
                  <a:txBody>
                    <a:bodyPr/>
                    <a:lstStyle/>
                    <a:p>
                      <a:pPr algn="ctr"/>
                      <a:r>
                        <a:rPr sz="1100" b="0">
                          <a:solidFill>
                            <a:srgbClr val="262626"/>
                          </a:solidFill>
                          <a:latin typeface="等线"/>
                        </a:rPr>
                        <a:t>全球第一大铁矿生产商；核心矿区在米纳斯吉拉斯州"铁四角"与北部卡拉加斯（后者为全球品位最高的铁矿之一）；兼营镍、铜、钾肥；中国长期是其最大客户</a:t>
                      </a:r>
                    </a:p>
                  </a:txBody>
                  <a:tcPr marL="36576" marR="36576" marT="9144" marB="9144" anchor="ctr"/>
                </a:tc>
                <a:extLst>
                  <a:ext uri="{0D108BD9-81ED-4DB2-BD59-A6C34878D82A}">
                    <a16:rowId xmlns:a16="http://schemas.microsoft.com/office/drawing/2014/main" val="10001"/>
                  </a:ext>
                </a:extLst>
              </a:tr>
              <a:tr h="868680">
                <a:tc>
                  <a:txBody>
                    <a:bodyPr/>
                    <a:lstStyle/>
                    <a:p>
                      <a:pPr algn="l"/>
                      <a:r>
                        <a:rPr sz="1100" b="0">
                          <a:solidFill>
                            <a:srgbClr val="262626"/>
                          </a:solidFill>
                          <a:latin typeface="等线"/>
                        </a:rPr>
                        <a:t>力拓</a:t>
                      </a:r>
                    </a:p>
                    <a:p>
                      <a:r>
                        <a:t>Rio Tinto</a:t>
                      </a:r>
                    </a:p>
                  </a:txBody>
                  <a:tcPr marL="36576" marR="36576" marT="9144" marB="9144" anchor="ctr"/>
                </a:tc>
                <a:tc>
                  <a:txBody>
                    <a:bodyPr/>
                    <a:lstStyle/>
                    <a:p>
                      <a:pPr algn="ctr"/>
                      <a:r>
                        <a:rPr sz="1100" b="0">
                          <a:solidFill>
                            <a:srgbClr val="262626"/>
                          </a:solidFill>
                          <a:latin typeface="等线"/>
                        </a:rPr>
                        <a:t>英国—澳大利亚</a:t>
                      </a:r>
                    </a:p>
                    <a:p>
                      <a:r>
                        <a:t>伦敦—悉尼</a:t>
                      </a:r>
                    </a:p>
                    <a:p>
                      <a:r>
                        <a:t>两地上市</a:t>
                      </a:r>
                    </a:p>
                  </a:txBody>
                  <a:tcPr marL="36576" marR="36576" marT="9144" marB="9144" anchor="ctr"/>
                </a:tc>
                <a:tc>
                  <a:txBody>
                    <a:bodyPr/>
                    <a:lstStyle/>
                    <a:p>
                      <a:pPr algn="ctr"/>
                      <a:r>
                        <a:rPr sz="1100" b="0">
                          <a:solidFill>
                            <a:srgbClr val="262626"/>
                          </a:solidFill>
                          <a:latin typeface="等线"/>
                        </a:rPr>
                        <a:t>1873年起家于</a:t>
                      </a:r>
                    </a:p>
                    <a:p>
                      <a:r>
                        <a:t>西班牙力拓河畔</a:t>
                      </a:r>
                    </a:p>
                  </a:txBody>
                  <a:tcPr marL="36576" marR="36576" marT="9144" marB="9144" anchor="ctr"/>
                </a:tc>
                <a:tc>
                  <a:txBody>
                    <a:bodyPr/>
                    <a:lstStyle/>
                    <a:p>
                      <a:pPr algn="ctr"/>
                      <a:r>
                        <a:rPr sz="1100" b="0">
                          <a:solidFill>
                            <a:srgbClr val="262626"/>
                          </a:solidFill>
                          <a:latin typeface="等线"/>
                        </a:rPr>
                        <a:t>全球第二大铁矿生产商；核心资产在西澳皮尔巴拉；与中铝有股权合作（中铝曾于2009年注资、现为重要股东）；兼营铝、铜、锂、钛</a:t>
                      </a:r>
                    </a:p>
                  </a:txBody>
                  <a:tcPr marL="36576" marR="36576" marT="9144" marB="9144" anchor="ctr"/>
                </a:tc>
                <a:extLst>
                  <a:ext uri="{0D108BD9-81ED-4DB2-BD59-A6C34878D82A}">
                    <a16:rowId xmlns:a16="http://schemas.microsoft.com/office/drawing/2014/main" val="10002"/>
                  </a:ext>
                </a:extLst>
              </a:tr>
              <a:tr h="868680">
                <a:tc>
                  <a:txBody>
                    <a:bodyPr/>
                    <a:lstStyle/>
                    <a:p>
                      <a:pPr algn="l"/>
                      <a:r>
                        <a:rPr sz="1100" b="0">
                          <a:solidFill>
                            <a:srgbClr val="262626"/>
                          </a:solidFill>
                          <a:latin typeface="等线"/>
                        </a:rPr>
                        <a:t>必和必拓</a:t>
                      </a:r>
                    </a:p>
                    <a:p>
                      <a:r>
                        <a:t>BHP</a:t>
                      </a:r>
                    </a:p>
                  </a:txBody>
                  <a:tcPr marL="36576" marR="36576" marT="9144" marB="9144" anchor="ctr"/>
                </a:tc>
                <a:tc>
                  <a:txBody>
                    <a:bodyPr/>
                    <a:lstStyle/>
                    <a:p>
                      <a:pPr algn="ctr"/>
                      <a:r>
                        <a:rPr sz="1100" b="0">
                          <a:solidFill>
                            <a:srgbClr val="262626"/>
                          </a:solidFill>
                          <a:latin typeface="等线"/>
                        </a:rPr>
                        <a:t>澳大利亚</a:t>
                      </a:r>
                    </a:p>
                    <a:p>
                      <a:r>
                        <a:t>墨尔本</a:t>
                      </a:r>
                    </a:p>
                    <a:p>
                      <a:r>
                        <a:t>（澳英两地上市）</a:t>
                      </a:r>
                    </a:p>
                  </a:txBody>
                  <a:tcPr marL="36576" marR="36576" marT="9144" marB="9144" anchor="ctr"/>
                </a:tc>
                <a:tc>
                  <a:txBody>
                    <a:bodyPr/>
                    <a:lstStyle/>
                    <a:p>
                      <a:pPr algn="ctr"/>
                      <a:r>
                        <a:rPr sz="1100" b="0">
                          <a:solidFill>
                            <a:srgbClr val="262626"/>
                          </a:solidFill>
                          <a:latin typeface="等线"/>
                        </a:rPr>
                        <a:t>2001年由BHP（澳，1885）</a:t>
                      </a:r>
                    </a:p>
                    <a:p>
                      <a:r>
                        <a:t>与比利顿（英）合并</a:t>
                      </a:r>
                    </a:p>
                  </a:txBody>
                  <a:tcPr marL="36576" marR="36576" marT="9144" marB="9144" anchor="ctr"/>
                </a:tc>
                <a:tc>
                  <a:txBody>
                    <a:bodyPr/>
                    <a:lstStyle/>
                    <a:p>
                      <a:pPr algn="ctr"/>
                      <a:r>
                        <a:rPr sz="1100" b="0">
                          <a:solidFill>
                            <a:srgbClr val="262626"/>
                          </a:solidFill>
                          <a:latin typeface="等线"/>
                        </a:rPr>
                        <a:t>全球第三大铁矿生产商；矿区同样集中于皮尔巴拉，与力拓共用部分铁路港口设施（两家另有合资矿区）；兼营铜、煤炭、钾肥；定位"面向能源转型的资源公司"</a:t>
                      </a:r>
                    </a:p>
                  </a:txBody>
                  <a:tcPr marL="36576" marR="36576" marT="9144" marB="9144" anchor="ctr"/>
                </a:tc>
                <a:extLst>
                  <a:ext uri="{0D108BD9-81ED-4DB2-BD59-A6C34878D82A}">
                    <a16:rowId xmlns:a16="http://schemas.microsoft.com/office/drawing/2014/main" val="10003"/>
                  </a:ext>
                </a:extLst>
              </a:tr>
              <a:tr h="868680">
                <a:tc>
                  <a:txBody>
                    <a:bodyPr/>
                    <a:lstStyle/>
                    <a:p>
                      <a:pPr algn="l"/>
                      <a:r>
                        <a:rPr sz="1100" b="0">
                          <a:solidFill>
                            <a:srgbClr val="262626"/>
                          </a:solidFill>
                          <a:latin typeface="等线"/>
                        </a:rPr>
                        <a:t>FMG</a:t>
                      </a:r>
                    </a:p>
                    <a:p>
                      <a:r>
                        <a:t>Fortescue</a:t>
                      </a:r>
                    </a:p>
                  </a:txBody>
                  <a:tcPr marL="36576" marR="36576" marT="9144" marB="9144" anchor="ctr"/>
                </a:tc>
                <a:tc>
                  <a:txBody>
                    <a:bodyPr/>
                    <a:lstStyle/>
                    <a:p>
                      <a:pPr algn="ctr"/>
                      <a:r>
                        <a:rPr sz="1100" b="0">
                          <a:solidFill>
                            <a:srgbClr val="262626"/>
                          </a:solidFill>
                          <a:latin typeface="等线"/>
                        </a:rPr>
                        <a:t>澳大利亚</a:t>
                      </a:r>
                    </a:p>
                    <a:p>
                      <a:r>
                        <a:t>珀斯</a:t>
                      </a:r>
                    </a:p>
                  </a:txBody>
                  <a:tcPr marL="36576" marR="36576" marT="9144" marB="9144" anchor="ctr"/>
                </a:tc>
                <a:tc>
                  <a:txBody>
                    <a:bodyPr/>
                    <a:lstStyle/>
                    <a:p>
                      <a:pPr algn="ctr"/>
                      <a:r>
                        <a:rPr sz="1100" b="0">
                          <a:solidFill>
                            <a:srgbClr val="262626"/>
                          </a:solidFill>
                          <a:latin typeface="等线"/>
                        </a:rPr>
                        <a:t>2003年由福瑞斯特</a:t>
                      </a:r>
                    </a:p>
                    <a:p>
                      <a:r>
                        <a:t>（A. Forrest）创立</a:t>
                      </a:r>
                    </a:p>
                    <a:p>
                      <a:r>
                        <a:t>——四家中最年轻</a:t>
                      </a:r>
                    </a:p>
                  </a:txBody>
                  <a:tcPr marL="36576" marR="36576" marT="9144" marB="9144" anchor="ctr"/>
                </a:tc>
                <a:tc>
                  <a:txBody>
                    <a:bodyPr/>
                    <a:lstStyle/>
                    <a:p>
                      <a:pPr algn="ctr"/>
                      <a:r>
                        <a:rPr sz="1100" b="0">
                          <a:solidFill>
                            <a:srgbClr val="262626"/>
                          </a:solidFill>
                          <a:latin typeface="等线"/>
                        </a:rPr>
                        <a:t>"低成本后来者"：开发皮尔巴拉此前被视为"次等"的矿藏，十年内跻身第四大；客户高度依赖中国（早期几乎全部销往中国）；近年经Fortescue Future Industries大举投资绿氢，是前三家最直接的挑战者</a:t>
                      </a:r>
                    </a:p>
                  </a:txBody>
                  <a:tcPr marL="36576" marR="36576" marT="9144" marB="9144" anchor="ctr"/>
                </a:tc>
                <a:extLst>
                  <a:ext uri="{0D108BD9-81ED-4DB2-BD59-A6C34878D82A}">
                    <a16:rowId xmlns:a16="http://schemas.microsoft.com/office/drawing/2014/main" val="10004"/>
                  </a:ext>
                </a:extLst>
              </a:tr>
            </a:tbl>
          </a:graphicData>
        </a:graphic>
      </p:graphicFrame>
      <p:sp>
        <p:nvSpPr>
          <p:cNvPr id="4" name="TextBox 3"/>
          <p:cNvSpPr txBox="1"/>
          <p:nvPr/>
        </p:nvSpPr>
        <p:spPr>
          <a:xfrm>
            <a:off x="1325880" y="6153912"/>
            <a:ext cx="10195560" cy="649224"/>
          </a:xfrm>
          <a:prstGeom prst="rect">
            <a:avLst/>
          </a:prstGeom>
          <a:noFill/>
        </p:spPr>
        <p:txBody>
          <a:bodyPr wrap="square">
            <a:spAutoFit/>
          </a:bodyPr>
          <a:lstStyle/>
          <a:p>
            <a:r>
              <a:rPr sz="1200" b="1">
                <a:solidFill>
                  <a:srgbClr val="30508C"/>
                </a:solidFill>
                <a:latin typeface="等线"/>
              </a:rPr>
              <a:t>结构含义：四家合计控制全球海运铁矿石约三分之二——一家在巴西，三家挤在西澳同一片皮尔巴拉矿区；而买方（中国）占全球海运需求约七成。"高度集中的卖方 vs 高度集中但内部竞争的买方"，正是钢铁业五力中"供应商议价能力：强"的结构根源（详见下两页钢铁业五力分析）。</a:t>
            </a:r>
          </a:p>
          <a:p>
            <a:r>
              <a:rPr sz="1100" i="1">
                <a:solidFill>
                  <a:srgbClr val="7F7F7F"/>
                </a:solidFill>
                <a:latin typeface="等线"/>
              </a:rPr>
              <a:t>资料来源：各公司年报及官网公开资料整理；海运份额数据见前文（2025年发运11.03亿吨、占67.5%）</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案例：中国钢铁业的波特五力分析（一）——五种力量的结构画像</a:t>
            </a:r>
          </a:p>
        </p:txBody>
      </p:sp>
      <p:graphicFrame>
        <p:nvGraphicFramePr>
          <p:cNvPr id="3" name="Table 2"/>
          <p:cNvGraphicFramePr>
            <a:graphicFrameLocks noGrp="1"/>
          </p:cNvGraphicFramePr>
          <p:nvPr/>
        </p:nvGraphicFramePr>
        <p:xfrm>
          <a:off x="1325880" y="1719072"/>
          <a:ext cx="10195560" cy="4498848"/>
        </p:xfrm>
        <a:graphic>
          <a:graphicData uri="http://schemas.openxmlformats.org/drawingml/2006/table">
            <a:tbl>
              <a:tblPr firstRow="1">
                <a:tableStyleId>{5C22544A-7EE6-4342-B048-85BDC9FD1C3A}</a:tableStyleId>
              </a:tblPr>
              <a:tblGrid>
                <a:gridCol w="15544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7818120">
                  <a:extLst>
                    <a:ext uri="{9D8B030D-6E8A-4147-A177-3AD203B41FA5}">
                      <a16:colId xmlns:a16="http://schemas.microsoft.com/office/drawing/2014/main" val="20002"/>
                    </a:ext>
                  </a:extLst>
                </a:gridCol>
              </a:tblGrid>
              <a:tr h="749808">
                <a:tc>
                  <a:txBody>
                    <a:bodyPr/>
                    <a:lstStyle/>
                    <a:p>
                      <a:pPr algn="ctr"/>
                      <a:r>
                        <a:rPr sz="1200" b="1">
                          <a:solidFill>
                            <a:srgbClr val="FFFFFF"/>
                          </a:solidFill>
                          <a:latin typeface="等线"/>
                        </a:rPr>
                        <a:t>五种力量</a:t>
                      </a:r>
                    </a:p>
                  </a:txBody>
                  <a:tcPr marL="36576" marR="36576" marT="9144" marB="9144" anchor="ctr">
                    <a:solidFill>
                      <a:srgbClr val="4472C4"/>
                    </a:solidFill>
                  </a:tcPr>
                </a:tc>
                <a:tc>
                  <a:txBody>
                    <a:bodyPr/>
                    <a:lstStyle/>
                    <a:p>
                      <a:pPr algn="ctr"/>
                      <a:r>
                        <a:rPr sz="1200" b="1">
                          <a:solidFill>
                            <a:srgbClr val="FFFFFF"/>
                          </a:solidFill>
                          <a:latin typeface="等线"/>
                        </a:rPr>
                        <a:t>强度</a:t>
                      </a:r>
                    </a:p>
                  </a:txBody>
                  <a:tcPr marL="36576" marR="36576" marT="9144" marB="9144" anchor="ctr">
                    <a:solidFill>
                      <a:srgbClr val="4472C4"/>
                    </a:solidFill>
                  </a:tcPr>
                </a:tc>
                <a:tc>
                  <a:txBody>
                    <a:bodyPr/>
                    <a:lstStyle/>
                    <a:p>
                      <a:pPr algn="ctr"/>
                      <a:r>
                        <a:rPr sz="1200" b="1">
                          <a:solidFill>
                            <a:srgbClr val="FFFFFF"/>
                          </a:solidFill>
                          <a:latin typeface="等线"/>
                        </a:rPr>
                        <a:t>事实与数据</a:t>
                      </a:r>
                    </a:p>
                  </a:txBody>
                  <a:tcPr marL="36576" marR="36576" marT="9144" marB="9144" anchor="ctr">
                    <a:solidFill>
                      <a:srgbClr val="4472C4"/>
                    </a:solidFill>
                  </a:tcPr>
                </a:tc>
                <a:extLst>
                  <a:ext uri="{0D108BD9-81ED-4DB2-BD59-A6C34878D82A}">
                    <a16:rowId xmlns:a16="http://schemas.microsoft.com/office/drawing/2014/main" val="10000"/>
                  </a:ext>
                </a:extLst>
              </a:tr>
              <a:tr h="749808">
                <a:tc>
                  <a:txBody>
                    <a:bodyPr/>
                    <a:lstStyle/>
                    <a:p>
                      <a:pPr algn="l"/>
                      <a:r>
                        <a:rPr sz="1100" b="0">
                          <a:solidFill>
                            <a:srgbClr val="262626"/>
                          </a:solidFill>
                          <a:latin typeface="等线"/>
                        </a:rPr>
                        <a:t>供应商的</a:t>
                      </a:r>
                    </a:p>
                    <a:p>
                      <a:r>
                        <a:t>议价能力</a:t>
                      </a:r>
                    </a:p>
                  </a:txBody>
                  <a:tcPr marL="36576" marR="36576" marT="9144" marB="9144" anchor="ctr"/>
                </a:tc>
                <a:tc>
                  <a:txBody>
                    <a:bodyPr/>
                    <a:lstStyle/>
                    <a:p>
                      <a:pPr algn="ctr"/>
                      <a:r>
                        <a:rPr sz="1100" b="0">
                          <a:solidFill>
                            <a:srgbClr val="262626"/>
                          </a:solidFill>
                          <a:latin typeface="等线"/>
                        </a:rPr>
                        <a:t>强</a:t>
                      </a:r>
                    </a:p>
                  </a:txBody>
                  <a:tcPr marL="36576" marR="36576" marT="9144" marB="9144" anchor="ctr"/>
                </a:tc>
                <a:tc>
                  <a:txBody>
                    <a:bodyPr/>
                    <a:lstStyle/>
                    <a:p>
                      <a:pPr algn="ctr"/>
                      <a:r>
                        <a:rPr sz="1100" b="0">
                          <a:solidFill>
                            <a:srgbClr val="262626"/>
                          </a:solidFill>
                          <a:latin typeface="等线"/>
                        </a:rPr>
                        <a:t>四大矿山（淡水河谷、力拓、必和必拓、FMG）2025年发运量11.03亿吨、占全球海运量67.5%；中国2025年进口铁矿石12.6亿吨、对外依存度超80%（澳、巴合计占82%）；2012—2020年四大矿山铁矿业务EBITDA合计约2.15万亿元，为中国重点钢企同期利润总额（约0.88万亿元）的2.4倍——产业价值被上游获取（呼应前页）</a:t>
                      </a:r>
                    </a:p>
                  </a:txBody>
                  <a:tcPr marL="36576" marR="36576" marT="9144" marB="9144" anchor="ctr"/>
                </a:tc>
                <a:extLst>
                  <a:ext uri="{0D108BD9-81ED-4DB2-BD59-A6C34878D82A}">
                    <a16:rowId xmlns:a16="http://schemas.microsoft.com/office/drawing/2014/main" val="10001"/>
                  </a:ext>
                </a:extLst>
              </a:tr>
              <a:tr h="749808">
                <a:tc>
                  <a:txBody>
                    <a:bodyPr/>
                    <a:lstStyle/>
                    <a:p>
                      <a:pPr algn="l"/>
                      <a:r>
                        <a:rPr sz="1100" b="0">
                          <a:solidFill>
                            <a:srgbClr val="262626"/>
                          </a:solidFill>
                          <a:latin typeface="等线"/>
                        </a:rPr>
                        <a:t>现有竞争者</a:t>
                      </a:r>
                    </a:p>
                    <a:p>
                      <a:r>
                        <a:t>之间的抗衡</a:t>
                      </a:r>
                    </a:p>
                  </a:txBody>
                  <a:tcPr marL="36576" marR="36576" marT="9144" marB="9144" anchor="ctr"/>
                </a:tc>
                <a:tc>
                  <a:txBody>
                    <a:bodyPr/>
                    <a:lstStyle/>
                    <a:p>
                      <a:pPr algn="ctr"/>
                      <a:r>
                        <a:rPr sz="1100" b="0">
                          <a:solidFill>
                            <a:srgbClr val="262626"/>
                          </a:solidFill>
                          <a:latin typeface="等线"/>
                        </a:rPr>
                        <a:t>极强</a:t>
                      </a:r>
                    </a:p>
                  </a:txBody>
                  <a:tcPr marL="36576" marR="36576" marT="9144" marB="9144" anchor="ctr"/>
                </a:tc>
                <a:tc>
                  <a:txBody>
                    <a:bodyPr/>
                    <a:lstStyle/>
                    <a:p>
                      <a:pPr algn="ctr"/>
                      <a:r>
                        <a:rPr sz="1100" b="0">
                          <a:solidFill>
                            <a:srgbClr val="262626"/>
                          </a:solidFill>
                          <a:latin typeface="等线"/>
                        </a:rPr>
                        <a:t>规模以上冶炼企业约330家，CR10仅43%（远低于主要发达国家）；60%以上产能为螺纹钢、线材、普通热轧板卷等低附加值同质品种；CSPI钢价指数2025年6月末跌至89.51点（2016年12月以来新低）；重点钢企销售利润率自2022年下半年起长期低于1.8%、最低-2.04%</a:t>
                      </a:r>
                    </a:p>
                  </a:txBody>
                  <a:tcPr marL="36576" marR="36576" marT="9144" marB="9144" anchor="ctr"/>
                </a:tc>
                <a:extLst>
                  <a:ext uri="{0D108BD9-81ED-4DB2-BD59-A6C34878D82A}">
                    <a16:rowId xmlns:a16="http://schemas.microsoft.com/office/drawing/2014/main" val="10002"/>
                  </a:ext>
                </a:extLst>
              </a:tr>
              <a:tr h="749808">
                <a:tc>
                  <a:txBody>
                    <a:bodyPr/>
                    <a:lstStyle/>
                    <a:p>
                      <a:pPr algn="l"/>
                      <a:r>
                        <a:rPr sz="1100" b="0">
                          <a:solidFill>
                            <a:srgbClr val="262626"/>
                          </a:solidFill>
                          <a:latin typeface="等线"/>
                        </a:rPr>
                        <a:t>购买者的</a:t>
                      </a:r>
                    </a:p>
                    <a:p>
                      <a:r>
                        <a:t>议价能力</a:t>
                      </a:r>
                    </a:p>
                  </a:txBody>
                  <a:tcPr marL="36576" marR="36576" marT="9144" marB="9144" anchor="ctr"/>
                </a:tc>
                <a:tc>
                  <a:txBody>
                    <a:bodyPr/>
                    <a:lstStyle/>
                    <a:p>
                      <a:pPr algn="ctr"/>
                      <a:r>
                        <a:rPr sz="1100" b="0">
                          <a:solidFill>
                            <a:srgbClr val="262626"/>
                          </a:solidFill>
                          <a:latin typeface="等线"/>
                        </a:rPr>
                        <a:t>较强</a:t>
                      </a:r>
                    </a:p>
                  </a:txBody>
                  <a:tcPr marL="36576" marR="36576" marT="9144" marB="9144" anchor="ctr"/>
                </a:tc>
                <a:tc>
                  <a:txBody>
                    <a:bodyPr/>
                    <a:lstStyle/>
                    <a:p>
                      <a:pPr algn="ctr"/>
                      <a:r>
                        <a:rPr sz="1100" b="0">
                          <a:solidFill>
                            <a:srgbClr val="262626"/>
                          </a:solidFill>
                          <a:latin typeface="等线"/>
                        </a:rPr>
                        <a:t>2025年粗钢表观消费8.29亿吨，较2020年峰值10.48亿吨累计下降20.9%、连续5年下降；2025年房屋新开工面积同比-20.4%、施工面积-10.0%；建筑业用钢占比由2020年的58%降至约50%——需求收缩进一步强化买方地位</a:t>
                      </a:r>
                    </a:p>
                  </a:txBody>
                  <a:tcPr marL="36576" marR="36576" marT="9144" marB="9144" anchor="ctr"/>
                </a:tc>
                <a:extLst>
                  <a:ext uri="{0D108BD9-81ED-4DB2-BD59-A6C34878D82A}">
                    <a16:rowId xmlns:a16="http://schemas.microsoft.com/office/drawing/2014/main" val="10003"/>
                  </a:ext>
                </a:extLst>
              </a:tr>
              <a:tr h="749808">
                <a:tc>
                  <a:txBody>
                    <a:bodyPr/>
                    <a:lstStyle/>
                    <a:p>
                      <a:pPr algn="l"/>
                      <a:r>
                        <a:rPr sz="1100" b="0">
                          <a:solidFill>
                            <a:srgbClr val="262626"/>
                          </a:solidFill>
                          <a:latin typeface="等线"/>
                        </a:rPr>
                        <a:t>替代品的</a:t>
                      </a:r>
                    </a:p>
                    <a:p>
                      <a:r>
                        <a:t>威胁</a:t>
                      </a:r>
                    </a:p>
                  </a:txBody>
                  <a:tcPr marL="36576" marR="36576" marT="9144" marB="9144" anchor="ctr"/>
                </a:tc>
                <a:tc>
                  <a:txBody>
                    <a:bodyPr/>
                    <a:lstStyle/>
                    <a:p>
                      <a:pPr algn="ctr"/>
                      <a:r>
                        <a:rPr sz="1100" b="0">
                          <a:solidFill>
                            <a:srgbClr val="262626"/>
                          </a:solidFill>
                          <a:latin typeface="等线"/>
                        </a:rPr>
                        <a:t>中</a:t>
                      </a:r>
                    </a:p>
                  </a:txBody>
                  <a:tcPr marL="36576" marR="36576" marT="9144" marB="9144" anchor="ctr"/>
                </a:tc>
                <a:tc>
                  <a:txBody>
                    <a:bodyPr/>
                    <a:lstStyle/>
                    <a:p>
                      <a:pPr algn="ctr"/>
                      <a:r>
                        <a:rPr sz="1100" b="0">
                          <a:solidFill>
                            <a:srgbClr val="262626"/>
                          </a:solidFill>
                          <a:latin typeface="等线"/>
                        </a:rPr>
                        <a:t>铝合金、复合材料、装配式建筑在轻量化与建筑领域部分替代用钢；但结构钢在大规模基建、桥梁、船舶中替代有限；"以钢代混凝土"亦在推进（2022年以来钢结构加工量连续三年超1亿吨）</a:t>
                      </a:r>
                    </a:p>
                  </a:txBody>
                  <a:tcPr marL="36576" marR="36576" marT="9144" marB="9144" anchor="ctr"/>
                </a:tc>
                <a:extLst>
                  <a:ext uri="{0D108BD9-81ED-4DB2-BD59-A6C34878D82A}">
                    <a16:rowId xmlns:a16="http://schemas.microsoft.com/office/drawing/2014/main" val="10004"/>
                  </a:ext>
                </a:extLst>
              </a:tr>
              <a:tr h="749808">
                <a:tc>
                  <a:txBody>
                    <a:bodyPr/>
                    <a:lstStyle/>
                    <a:p>
                      <a:pPr algn="l"/>
                      <a:r>
                        <a:rPr sz="1100" b="0">
                          <a:solidFill>
                            <a:srgbClr val="262626"/>
                          </a:solidFill>
                          <a:latin typeface="等线"/>
                        </a:rPr>
                        <a:t>潜在进入者</a:t>
                      </a:r>
                    </a:p>
                    <a:p>
                      <a:r>
                        <a:t>的威胁</a:t>
                      </a:r>
                    </a:p>
                  </a:txBody>
                  <a:tcPr marL="36576" marR="36576" marT="9144" marB="9144" anchor="ctr"/>
                </a:tc>
                <a:tc>
                  <a:txBody>
                    <a:bodyPr/>
                    <a:lstStyle/>
                    <a:p>
                      <a:pPr algn="ctr"/>
                      <a:r>
                        <a:rPr sz="1100" b="0">
                          <a:solidFill>
                            <a:srgbClr val="262626"/>
                          </a:solidFill>
                          <a:latin typeface="等线"/>
                        </a:rPr>
                        <a:t>弱</a:t>
                      </a:r>
                    </a:p>
                  </a:txBody>
                  <a:tcPr marL="36576" marR="36576" marT="9144" marB="9144" anchor="ctr"/>
                </a:tc>
                <a:tc>
                  <a:txBody>
                    <a:bodyPr/>
                    <a:lstStyle/>
                    <a:p>
                      <a:pPr algn="ctr"/>
                      <a:r>
                        <a:rPr sz="1100" b="0">
                          <a:solidFill>
                            <a:srgbClr val="262626"/>
                          </a:solidFill>
                          <a:latin typeface="等线"/>
                        </a:rPr>
                        <a:t>产能置换与双碳构成政策性进入壁垒："十四五"超低排放改造投入超3100亿元、环保成本占钢企成本普遍达10%以上；2026年工信部新版产能置换办法延续严控——五力中唯一偏弱的一环，但难以抵消其余四面受压</a:t>
                      </a:r>
                    </a:p>
                  </a:txBody>
                  <a:tcPr marL="36576" marR="36576" marT="9144" marB="9144" anchor="ctr"/>
                </a:tc>
                <a:extLst>
                  <a:ext uri="{0D108BD9-81ED-4DB2-BD59-A6C34878D82A}">
                    <a16:rowId xmlns:a16="http://schemas.microsoft.com/office/drawing/2014/main" val="10005"/>
                  </a:ext>
                </a:extLst>
              </a:tr>
            </a:tbl>
          </a:graphicData>
        </a:graphic>
      </p:graphicFrame>
      <p:sp>
        <p:nvSpPr>
          <p:cNvPr id="4" name="TextBox 3"/>
          <p:cNvSpPr txBox="1"/>
          <p:nvPr/>
        </p:nvSpPr>
        <p:spPr>
          <a:xfrm>
            <a:off x="1325880" y="6309359"/>
            <a:ext cx="10195560" cy="493776"/>
          </a:xfrm>
          <a:prstGeom prst="rect">
            <a:avLst/>
          </a:prstGeom>
          <a:noFill/>
        </p:spPr>
        <p:txBody>
          <a:bodyPr wrap="square">
            <a:spAutoFit/>
          </a:bodyPr>
          <a:lstStyle/>
          <a:p>
            <a:r>
              <a:rPr sz="1200" b="1">
                <a:solidFill>
                  <a:srgbClr val="30508C"/>
                </a:solidFill>
                <a:latin typeface="等线"/>
              </a:rPr>
              <a:t>解读：供应商强、买方强、竞争极强、替代中等、进入弱——三面受压使钢铁业成为"结构不利行业"的教科书案例（呼应前页"行业吸引力"）。2025年前三季度重点钢企销售利润率2.10%，虽同比明显改善，仍显著低于工业平均水平。</a:t>
            </a:r>
          </a:p>
          <a:p>
            <a:r>
              <a:rPr sz="1100" i="1">
                <a:solidFill>
                  <a:srgbClr val="7F7F7F"/>
                </a:solidFill>
                <a:latin typeface="等线"/>
              </a:rPr>
              <a:t>数据来源：国家统计局、海关总署、中国钢铁工业协会、世界钢铁协会、Mysteel公开数据；方法参见 Porter (1980)、Fred R. David 第13版</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案例：中国钢铁业的波特五力分析（二）——退出壁垒与战略应对</a:t>
            </a:r>
          </a:p>
        </p:txBody>
      </p:sp>
      <p:sp>
        <p:nvSpPr>
          <p:cNvPr id="3" name="Content Placeholder 2"/>
          <p:cNvSpPr>
            <a:spLocks noGrp="1"/>
          </p:cNvSpPr>
          <p:nvPr>
            <p:ph idx="1"/>
          </p:nvPr>
        </p:nvSpPr>
        <p:spPr>
          <a:xfrm>
            <a:off x="2331720" y="1847088"/>
            <a:ext cx="8778240" cy="4526280"/>
          </a:xfrm>
        </p:spPr>
        <p:txBody>
          <a:bodyPr wrap="square"/>
          <a:lstStyle/>
          <a:p>
            <a:pPr>
              <a:spcAft>
                <a:spcPts val="500"/>
              </a:spcAft>
            </a:pPr>
            <a:r>
              <a:rPr sz="1450" b="1">
                <a:solidFill>
                  <a:srgbClr val="30508C"/>
                </a:solidFill>
                <a:latin typeface="等线"/>
              </a:rPr>
              <a:t>退出壁垒：为什么"亏损也难退出"（现有竞争者分析的深化）</a:t>
            </a:r>
          </a:p>
          <a:p>
            <a:pPr lvl="1">
              <a:spcAft>
                <a:spcPts val="300"/>
              </a:spcAft>
            </a:pPr>
            <a:r>
              <a:rPr sz="1250" b="0">
                <a:solidFill>
                  <a:srgbClr val="262626"/>
                </a:solidFill>
                <a:latin typeface="等线"/>
              </a:rPr>
              <a:t>高炉、轧线等固定资产专用性极强、沉没成本巨大——转产几乎不可能</a:t>
            </a:r>
          </a:p>
          <a:p>
            <a:pPr lvl="1">
              <a:spcAft>
                <a:spcPts val="300"/>
              </a:spcAft>
            </a:pPr>
            <a:r>
              <a:rPr sz="1250" b="0">
                <a:solidFill>
                  <a:srgbClr val="262626"/>
                </a:solidFill>
                <a:latin typeface="等线"/>
              </a:rPr>
              <a:t>每 1 个钢铁就业岗位可带动供应链 6.5 个岗位 → 地方就业与税收依赖使退出被人为延缓（"僵尸企业"）</a:t>
            </a:r>
          </a:p>
          <a:p>
            <a:pPr lvl="1">
              <a:spcAft>
                <a:spcPts val="300"/>
              </a:spcAft>
            </a:pPr>
            <a:r>
              <a:rPr sz="1250" b="0">
                <a:solidFill>
                  <a:srgbClr val="262626"/>
                </a:solidFill>
                <a:latin typeface="等线"/>
              </a:rPr>
              <a:t>2015 年全行业亏损超 800 亿元仍无法自发出清；2016—2018 年供给侧改革行政压减粗钢产能 1.5 亿吨以上、出清"地条钢" 1.4 亿吨——市场机制失灵，最终靠政策强制</a:t>
            </a:r>
          </a:p>
          <a:p>
            <a:pPr>
              <a:spcAft>
                <a:spcPts val="500"/>
              </a:spcAft>
            </a:pPr>
            <a:r>
              <a:rPr sz="1450" b="1">
                <a:solidFill>
                  <a:srgbClr val="30508C"/>
                </a:solidFill>
                <a:latin typeface="等线"/>
              </a:rPr>
              <a:t>头部企业的战略应对：做"结构塑造者"，而非"结构接受者"</a:t>
            </a:r>
          </a:p>
          <a:p>
            <a:pPr lvl="1">
              <a:spcAft>
                <a:spcPts val="300"/>
              </a:spcAft>
            </a:pPr>
            <a:r>
              <a:rPr sz="1250" b="0">
                <a:solidFill>
                  <a:srgbClr val="262626"/>
                </a:solidFill>
                <a:latin typeface="等线"/>
              </a:rPr>
              <a:t>提升集中度：宝武 2025 年粗钢产量 1.25 亿吨、全球第一（约为第二名安赛乐米塔尔的 2 倍），约占全国 1/8；行业 CR10 由 2020 年 38.6% 升至 2024 年 43%</a:t>
            </a:r>
          </a:p>
          <a:p>
            <a:pPr lvl="1">
              <a:spcAft>
                <a:spcPts val="300"/>
              </a:spcAft>
            </a:pPr>
            <a:r>
              <a:rPr sz="1250" b="0">
                <a:solidFill>
                  <a:srgbClr val="262626"/>
                </a:solidFill>
                <a:latin typeface="等线"/>
              </a:rPr>
              <a:t>产品高端化：制造业用钢占比由 42%（2020）升至 51%（2025）；取向硅钢、汽车板、"手撕钢"等摆脱同质化价格战</a:t>
            </a:r>
          </a:p>
          <a:p>
            <a:pPr lvl="1">
              <a:spcAft>
                <a:spcPts val="300"/>
              </a:spcAft>
            </a:pPr>
            <a:r>
              <a:rPr sz="1250" b="0">
                <a:solidFill>
                  <a:srgbClr val="262626"/>
                </a:solidFill>
                <a:latin typeface="等线"/>
              </a:rPr>
              <a:t>向上游延伸：几内亚西芒杜铁矿 2025 年 11 月投产（中资持股过半，满产 1.2 亿吨/年、约占全球海运量 7%—10%），首船已抵宝武马迹山港</a:t>
            </a:r>
          </a:p>
          <a:p>
            <a:pPr lvl="1">
              <a:spcAft>
                <a:spcPts val="300"/>
              </a:spcAft>
            </a:pPr>
            <a:r>
              <a:rPr sz="1250" b="0">
                <a:solidFill>
                  <a:srgbClr val="262626"/>
                </a:solidFill>
                <a:latin typeface="等线"/>
              </a:rPr>
              <a:t>定价权博弈：2026 年起力拓、FMG 长协弃用普氏指数，改用 Fastmarkets、Mysteel 等——集中采购与多指数并行正在削弱矿山单一定价权</a:t>
            </a:r>
          </a:p>
          <a:p>
            <a:pPr>
              <a:spcAft>
                <a:spcPts val="500"/>
              </a:spcAft>
            </a:pPr>
            <a:r>
              <a:rPr sz="1450" b="1">
                <a:solidFill>
                  <a:srgbClr val="30508C"/>
                </a:solidFill>
                <a:latin typeface="等线"/>
              </a:rPr>
              <a:t>教学要点：五力是"结构"而非"命运"——结构不利时，战略空间在于重塑结构（提升 CR、垂直整合、差异化）</a:t>
            </a:r>
          </a:p>
        </p:txBody>
      </p:sp>
      <p:sp>
        <p:nvSpPr>
          <p:cNvPr id="4" name="TextBox 3"/>
          <p:cNvSpPr txBox="1"/>
          <p:nvPr/>
        </p:nvSpPr>
        <p:spPr>
          <a:xfrm>
            <a:off x="1463040" y="6473952"/>
            <a:ext cx="9326880" cy="310896"/>
          </a:xfrm>
          <a:prstGeom prst="rect">
            <a:avLst/>
          </a:prstGeom>
          <a:noFill/>
        </p:spPr>
        <p:txBody>
          <a:bodyPr wrap="none">
            <a:spAutoFit/>
          </a:bodyPr>
          <a:lstStyle/>
          <a:p>
            <a:r>
              <a:rPr sz="1100" i="1">
                <a:solidFill>
                  <a:srgbClr val="7F7F7F"/>
                </a:solidFill>
                <a:latin typeface="等线"/>
              </a:rPr>
              <a:t>数据来源：国家统计局、中钢协、世界钢铁协会、海关总署、新华社等公开资料；方法参见 Porter (1980)、Fred R. David 第13版</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2557069" y="808056"/>
            <a:ext cx="8229600" cy="1143000"/>
          </a:xfrm>
        </p:spPr>
        <p:txBody>
          <a:bodyPr/>
          <a:lstStyle/>
          <a:p>
            <a:pPr marL="54864">
              <a:defRPr/>
            </a:pPr>
            <a:r>
              <a:rPr lang="zh-CN" altLang="en-US" dirty="0">
                <a:solidFill>
                  <a:schemeClr val="tx2">
                    <a:tint val="100000"/>
                    <a:shade val="90000"/>
                    <a:satMod val="250000"/>
                    <a:alpha val="100000"/>
                  </a:schemeClr>
                </a:solidFill>
                <a:cs typeface="+mj-cs"/>
              </a:rPr>
              <a:t>行业市场集中度</a:t>
            </a:r>
          </a:p>
        </p:txBody>
      </p:sp>
      <p:sp>
        <p:nvSpPr>
          <p:cNvPr id="80898" name="内容占位符 2"/>
          <p:cNvSpPr>
            <a:spLocks noGrp="1"/>
          </p:cNvSpPr>
          <p:nvPr>
            <p:ph idx="1"/>
          </p:nvPr>
        </p:nvSpPr>
        <p:spPr/>
        <p:txBody>
          <a:bodyPr/>
          <a:lstStyle/>
          <a:p>
            <a:r>
              <a:rPr lang="zh-CN" altLang="en-US"/>
              <a:t>集中的概念反映了行业市场垄断程度的高低</a:t>
            </a:r>
            <a:endParaRPr lang="en-US" altLang="zh-CN"/>
          </a:p>
          <a:p>
            <a:r>
              <a:rPr lang="zh-CN" altLang="en-US"/>
              <a:t>绝对集中度指标</a:t>
            </a:r>
            <a:endParaRPr lang="en-US" altLang="zh-CN"/>
          </a:p>
          <a:p>
            <a:pPr lvl="1"/>
            <a:r>
              <a:rPr lang="zh-CN" altLang="en-US"/>
              <a:t>规模（如以销售额为依据）上处于前</a:t>
            </a:r>
            <a:r>
              <a:rPr lang="en-US" altLang="zh-CN"/>
              <a:t>4</a:t>
            </a:r>
            <a:r>
              <a:rPr lang="zh-CN" altLang="en-US"/>
              <a:t>名或前</a:t>
            </a:r>
            <a:r>
              <a:rPr lang="en-US" altLang="zh-CN"/>
              <a:t>8</a:t>
            </a:r>
            <a:r>
              <a:rPr lang="zh-CN" altLang="en-US"/>
              <a:t>家企业的市场占有率之和</a:t>
            </a:r>
            <a:endParaRPr lang="en-US" altLang="zh-CN"/>
          </a:p>
          <a:p>
            <a:r>
              <a:rPr lang="zh-CN" altLang="en-US"/>
              <a:t>相对集中度指标</a:t>
            </a:r>
            <a:endParaRPr lang="en-US" altLang="zh-CN"/>
          </a:p>
          <a:p>
            <a:pPr lvl="1"/>
            <a:endParaRPr lang="en-US" altLang="zh-CN"/>
          </a:p>
          <a:p>
            <a:pPr lvl="1"/>
            <a:endParaRPr lang="zh-CN" altLang="en-US"/>
          </a:p>
        </p:txBody>
      </p:sp>
    </p:spTree>
  </p:cSld>
  <p:clrMapOvr>
    <a:overrideClrMapping bg1="dk1" tx1="lt1" bg2="dk2" tx2="lt2" accent1="accent1" accent2="accent2" accent3="accent3" accent4="accent4" accent5="accent5" accent6="accent6" hlink="hlink" folHlink="folHlink"/>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808056"/>
            <a:ext cx="8229600" cy="1143000"/>
          </a:xfrm>
        </p:spPr>
        <p:txBody>
          <a:bodyPr/>
          <a:lstStyle/>
          <a:p>
            <a:pPr marL="54864">
              <a:defRPr/>
            </a:pPr>
            <a:r>
              <a:rPr lang="zh-CN" altLang="en-US" dirty="0">
                <a:solidFill>
                  <a:schemeClr val="tx2">
                    <a:tint val="100000"/>
                    <a:shade val="90000"/>
                    <a:satMod val="250000"/>
                    <a:alpha val="100000"/>
                  </a:schemeClr>
                </a:solidFill>
                <a:cs typeface="+mj-cs"/>
              </a:rPr>
              <a:t>洛伦茨曲线</a:t>
            </a:r>
          </a:p>
        </p:txBody>
      </p:sp>
      <p:sp>
        <p:nvSpPr>
          <p:cNvPr id="3" name="内容占位符 2"/>
          <p:cNvSpPr>
            <a:spLocks noGrp="1"/>
          </p:cNvSpPr>
          <p:nvPr>
            <p:ph idx="1"/>
          </p:nvPr>
        </p:nvSpPr>
        <p:spPr/>
        <p:txBody>
          <a:bodyPr>
            <a:normAutofit fontScale="77500" lnSpcReduction="20000"/>
          </a:bodyPr>
          <a:lstStyle/>
          <a:p>
            <a:pPr>
              <a:spcBef>
                <a:spcPts val="0"/>
              </a:spcBef>
              <a:buFont typeface="Wingdings" pitchFamily="2" charset="2"/>
              <a:buChar char="l"/>
              <a:defRPr/>
            </a:pPr>
            <a:r>
              <a:rPr lang="zh-CN" altLang="en-US" sz="2900" dirty="0">
                <a:cs typeface="+mn-cs"/>
              </a:rPr>
              <a:t>为了研究国民收入在国民之间的分配问题，美国统计学家</a:t>
            </a:r>
            <a:r>
              <a:rPr lang="en-US" altLang="zh-CN" sz="2900" dirty="0">
                <a:cs typeface="+mn-cs"/>
              </a:rPr>
              <a:t>M.O.</a:t>
            </a:r>
            <a:r>
              <a:rPr lang="zh-CN" altLang="en-US" sz="2900" dirty="0">
                <a:cs typeface="+mn-cs"/>
              </a:rPr>
              <a:t>洛伦茨提出的了著名的洛伦茨曲线。它先将一国人口按收入由低到高排队，然后考虑收入最低的任意百分比人口所得到的收入百分比。将这样的人口累计百分比和收入累计百分比的对应关系描绘在图形上，即得到洛伦兹曲线。</a:t>
            </a:r>
          </a:p>
          <a:p>
            <a:pPr marL="292100" lvl="1" indent="-292100">
              <a:spcBef>
                <a:spcPts val="0"/>
              </a:spcBef>
              <a:buClr>
                <a:schemeClr val="accent1"/>
              </a:buClr>
              <a:buSzPct val="70000"/>
              <a:buFont typeface="Wingdings 2"/>
              <a:buChar char=""/>
              <a:defRPr/>
            </a:pPr>
            <a:r>
              <a:rPr lang="zh-CN" altLang="en-US" sz="2800" dirty="0"/>
              <a:t>从企业的最小到最大规模顺序进行排列，分析某市场占有率或资产比率等方面的相对集中程度。当市场上所有企业规模完全相等时，产业规模的累计线，即洛伦茨曲线就是图中的对角线</a:t>
            </a:r>
            <a:r>
              <a:rPr lang="en-US" altLang="zh-CN" sz="2800" dirty="0"/>
              <a:t>OS</a:t>
            </a:r>
            <a:r>
              <a:rPr lang="zh-CN" altLang="en-US" sz="2800" dirty="0"/>
              <a:t>。当企业的规模不完全相等时，洛伦茨曲线就是对角线</a:t>
            </a:r>
            <a:r>
              <a:rPr lang="en-US" altLang="zh-CN" sz="2800" dirty="0"/>
              <a:t>OS</a:t>
            </a:r>
            <a:r>
              <a:rPr lang="zh-CN" altLang="en-US" sz="2800" dirty="0"/>
              <a:t>下方的一条折线，如图中的</a:t>
            </a:r>
            <a:r>
              <a:rPr lang="en-US" altLang="zh-CN" sz="2800" dirty="0"/>
              <a:t>ORWVUS</a:t>
            </a:r>
            <a:r>
              <a:rPr lang="zh-CN" altLang="en-US" sz="2800" dirty="0"/>
              <a:t>折线。曲线或折线越偏离对角线，企业规模分布的不均匀度越大。</a:t>
            </a:r>
          </a:p>
          <a:p>
            <a:pPr marL="0" indent="0">
              <a:spcBef>
                <a:spcPts val="0"/>
              </a:spcBef>
              <a:buNone/>
              <a:defRPr/>
            </a:pPr>
            <a:endParaRPr lang="zh-CN" altLang="en-US" dirty="0">
              <a:cs typeface="+mn-cs"/>
            </a:endParaRPr>
          </a:p>
          <a:p>
            <a:pPr>
              <a:spcBef>
                <a:spcPts val="0"/>
              </a:spcBef>
              <a:defRPr/>
            </a:pPr>
            <a:endParaRPr lang="zh-CN" altLang="en-US" dirty="0">
              <a:cs typeface="+mn-cs"/>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19051" y="623618"/>
            <a:ext cx="8229600" cy="1143000"/>
          </a:xfrm>
        </p:spPr>
        <p:txBody>
          <a:bodyPr/>
          <a:lstStyle/>
          <a:p>
            <a:pPr marL="54864">
              <a:defRPr/>
            </a:pPr>
            <a:r>
              <a:rPr lang="zh-CN" altLang="en-US" dirty="0">
                <a:solidFill>
                  <a:schemeClr val="tx2">
                    <a:tint val="100000"/>
                    <a:shade val="90000"/>
                    <a:satMod val="250000"/>
                    <a:alpha val="100000"/>
                  </a:schemeClr>
                </a:solidFill>
                <a:cs typeface="+mj-cs"/>
              </a:rPr>
              <a:t>相对集中度</a:t>
            </a:r>
          </a:p>
        </p:txBody>
      </p:sp>
      <p:sp>
        <p:nvSpPr>
          <p:cNvPr id="82946" name="内容占位符 2"/>
          <p:cNvSpPr>
            <a:spLocks noGrp="1"/>
          </p:cNvSpPr>
          <p:nvPr>
            <p:ph idx="1"/>
          </p:nvPr>
        </p:nvSpPr>
        <p:spPr/>
        <p:txBody>
          <a:bodyPr/>
          <a:lstStyle/>
          <a:p>
            <a:endParaRPr lang="zh-CN" altLang="en-US" sz="2000"/>
          </a:p>
        </p:txBody>
      </p:sp>
      <p:pic>
        <p:nvPicPr>
          <p:cNvPr id="82947" name="Picture 2" descr="洛伦茨曲线">
            <a:hlinkClick r:id="rId2"/>
          </p:cNvPr>
          <p:cNvPicPr>
            <a:picLocks noChangeAspect="1" noChangeArrowheads="1"/>
          </p:cNvPicPr>
          <p:nvPr/>
        </p:nvPicPr>
        <p:blipFill>
          <a:blip r:embed="rId3"/>
          <a:srcRect/>
          <a:stretch>
            <a:fillRect/>
          </a:stretch>
        </p:blipFill>
        <p:spPr bwMode="auto">
          <a:xfrm>
            <a:off x="2649301" y="1481119"/>
            <a:ext cx="6769100" cy="4568825"/>
          </a:xfrm>
          <a:prstGeom prst="rect">
            <a:avLst/>
          </a:prstGeom>
          <a:noFill/>
          <a:ln w="9525">
            <a:noFill/>
            <a:miter lim="800000"/>
            <a:headEnd/>
            <a:tailEnd/>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案例一：中国新能源汽车市场的集中度演变</a:t>
            </a:r>
          </a:p>
        </p:txBody>
      </p:sp>
      <p:pic>
        <p:nvPicPr>
          <p:cNvPr id="3" name="Picture 2" descr="lorenz_nev.png"/>
          <p:cNvPicPr>
            <a:picLocks noChangeAspect="1"/>
          </p:cNvPicPr>
          <p:nvPr/>
        </p:nvPicPr>
        <p:blipFill>
          <a:blip r:embed="rId2"/>
          <a:stretch>
            <a:fillRect/>
          </a:stretch>
        </p:blipFill>
        <p:spPr>
          <a:xfrm>
            <a:off x="1600200" y="1719072"/>
            <a:ext cx="9052560" cy="2873203"/>
          </a:xfrm>
          <a:prstGeom prst="rect">
            <a:avLst/>
          </a:prstGeom>
        </p:spPr>
      </p:pic>
      <p:sp>
        <p:nvSpPr>
          <p:cNvPr id="4" name="TextBox 3"/>
          <p:cNvSpPr txBox="1"/>
          <p:nvPr/>
        </p:nvSpPr>
        <p:spPr>
          <a:xfrm>
            <a:off x="1737360" y="4702003"/>
            <a:ext cx="8961120" cy="1653076"/>
          </a:xfrm>
          <a:prstGeom prst="rect">
            <a:avLst/>
          </a:prstGeom>
          <a:noFill/>
        </p:spPr>
        <p:txBody>
          <a:bodyPr wrap="square">
            <a:spAutoFit/>
          </a:bodyPr>
          <a:lstStyle/>
          <a:p>
            <a:pPr>
              <a:spcAft>
                <a:spcPts val="300"/>
              </a:spcAft>
            </a:pPr>
            <a:r>
              <a:rPr sz="1400" b="1">
                <a:solidFill>
                  <a:srgbClr val="30508C"/>
                </a:solidFill>
                <a:latin typeface="等线"/>
              </a:rPr>
              <a:t>三个时间节点：2019 曲线接近对角线（分散竞争）→ 2022 明显弯曲 → 2024 深度弯曲（寡头化）；基尼系数 G 由 0.62 升至 0.72</a:t>
            </a:r>
          </a:p>
          <a:p>
            <a:pPr lvl="1">
              <a:spcAft>
                <a:spcPts val="300"/>
              </a:spcAft>
            </a:pPr>
            <a:r>
              <a:rPr sz="1250" b="0">
                <a:solidFill>
                  <a:srgbClr val="262626"/>
                </a:solidFill>
                <a:latin typeface="等线"/>
              </a:rPr>
              <a:t>CR5 由约五成升至约三分之二；比亚迪一家约占国内零售三分之一，头部"翘尾"逐年抬高</a:t>
            </a:r>
          </a:p>
          <a:p>
            <a:pPr lvl="1">
              <a:spcAft>
                <a:spcPts val="300"/>
              </a:spcAft>
            </a:pPr>
            <a:r>
              <a:rPr sz="1250" b="0">
                <a:solidFill>
                  <a:srgbClr val="262626"/>
                </a:solidFill>
                <a:latin typeface="等线"/>
              </a:rPr>
              <a:t>2023—2024 年价格战加速尾部出清：威马（破产重整）、高合（停产）、极越（重组）相继倒下——曲线外移是"竞争出清"的直观脚印</a:t>
            </a:r>
          </a:p>
          <a:p>
            <a:pPr>
              <a:spcAft>
                <a:spcPts val="300"/>
              </a:spcAft>
            </a:pPr>
            <a:r>
              <a:rPr sz="1400" b="1">
                <a:solidFill>
                  <a:srgbClr val="30508C"/>
                </a:solidFill>
                <a:latin typeface="等线"/>
              </a:rPr>
              <a:t>战略含义：行业由竞争型转向寡头型，腰部与尾部企业战略空间被急剧压缩；对应五力模型——对抗方式从"混战"转向"寡头博弈"</a:t>
            </a:r>
          </a:p>
        </p:txBody>
      </p:sp>
      <p:sp>
        <p:nvSpPr>
          <p:cNvPr id="5" name="TextBox 4"/>
          <p:cNvSpPr txBox="1"/>
          <p:nvPr/>
        </p:nvSpPr>
        <p:spPr>
          <a:xfrm>
            <a:off x="1463040" y="6473952"/>
            <a:ext cx="9326880" cy="310896"/>
          </a:xfrm>
          <a:prstGeom prst="rect">
            <a:avLst/>
          </a:prstGeom>
          <a:noFill/>
        </p:spPr>
        <p:txBody>
          <a:bodyPr wrap="none">
            <a:spAutoFit/>
          </a:bodyPr>
          <a:lstStyle/>
          <a:p>
            <a:r>
              <a:rPr sz="1100" i="1">
                <a:solidFill>
                  <a:srgbClr val="7F7F7F"/>
                </a:solidFill>
                <a:latin typeface="等线"/>
              </a:rPr>
              <a:t>数据来源：基于乘联会、中国汽车工业协会公开数据简化整理（课堂示意口径）；方法参见 Fred R. David《战略管理》第13版 第3章 外部审计</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案例二：不同行业的洛伦茨曲线形态对比</a:t>
            </a:r>
          </a:p>
        </p:txBody>
      </p:sp>
      <p:pic>
        <p:nvPicPr>
          <p:cNvPr id="3" name="Picture 2" descr="lorenz_industry.png"/>
          <p:cNvPicPr>
            <a:picLocks noChangeAspect="1"/>
          </p:cNvPicPr>
          <p:nvPr/>
        </p:nvPicPr>
        <p:blipFill>
          <a:blip r:embed="rId2"/>
          <a:stretch>
            <a:fillRect/>
          </a:stretch>
        </p:blipFill>
        <p:spPr>
          <a:xfrm>
            <a:off x="868680" y="1755648"/>
            <a:ext cx="6675120" cy="3699464"/>
          </a:xfrm>
          <a:prstGeom prst="rect">
            <a:avLst/>
          </a:prstGeom>
        </p:spPr>
      </p:pic>
      <p:sp>
        <p:nvSpPr>
          <p:cNvPr id="4" name="TextBox 3"/>
          <p:cNvSpPr txBox="1"/>
          <p:nvPr/>
        </p:nvSpPr>
        <p:spPr>
          <a:xfrm>
            <a:off x="7726679" y="1874519"/>
            <a:ext cx="4069080" cy="4114800"/>
          </a:xfrm>
          <a:prstGeom prst="rect">
            <a:avLst/>
          </a:prstGeom>
          <a:noFill/>
        </p:spPr>
        <p:txBody>
          <a:bodyPr wrap="square">
            <a:spAutoFit/>
          </a:bodyPr>
          <a:lstStyle/>
          <a:p>
            <a:pPr>
              <a:spcAft>
                <a:spcPts val="300"/>
              </a:spcAft>
            </a:pPr>
            <a:r>
              <a:rPr sz="1350" b="1">
                <a:solidFill>
                  <a:srgbClr val="30508C"/>
                </a:solidFill>
                <a:latin typeface="等线"/>
              </a:rPr>
              <a:t>曲线弯曲程度 = 集中程度（基尼系数 G = A / (A+B)）</a:t>
            </a:r>
          </a:p>
          <a:p>
            <a:pPr lvl="1">
              <a:spcAft>
                <a:spcPts val="300"/>
              </a:spcAft>
            </a:pPr>
            <a:r>
              <a:rPr sz="1200" b="0">
                <a:solidFill>
                  <a:srgbClr val="262626"/>
                </a:solidFill>
                <a:latin typeface="等线"/>
              </a:rPr>
              <a:t>智能手机（中国）：CR5 约八成——高度弯曲，寡头形态（IDC，2024）</a:t>
            </a:r>
          </a:p>
          <a:p>
            <a:pPr lvl="1">
              <a:spcAft>
                <a:spcPts val="300"/>
              </a:spcAft>
            </a:pPr>
            <a:r>
              <a:rPr sz="1200" b="0">
                <a:solidFill>
                  <a:srgbClr val="262626"/>
                </a:solidFill>
                <a:latin typeface="等线"/>
              </a:rPr>
              <a:t>空调行业：美的、格力、海尔合计约七成——典型寡头；1990 年代数百个品牌淘汰至十余个</a:t>
            </a:r>
          </a:p>
          <a:p>
            <a:pPr lvl="1">
              <a:spcAft>
                <a:spcPts val="300"/>
              </a:spcAft>
            </a:pPr>
            <a:r>
              <a:rPr sz="1200" b="0">
                <a:solidFill>
                  <a:srgbClr val="262626"/>
                </a:solidFill>
                <a:latin typeface="等线"/>
              </a:rPr>
              <a:t>餐饮行业：百强企业占比不足一成——曲线接近对角线，分散竞争形态</a:t>
            </a:r>
          </a:p>
          <a:p>
            <a:pPr>
              <a:spcAft>
                <a:spcPts val="300"/>
              </a:spcAft>
            </a:pPr>
            <a:r>
              <a:rPr sz="1350" b="1">
                <a:solidFill>
                  <a:srgbClr val="30508C"/>
                </a:solidFill>
                <a:latin typeface="等线"/>
              </a:rPr>
              <a:t>教学要点：行业形态光谱——完全竞争（餐饮）→ 一般竞争 → 寡头（空调、手机）→ 走向垄断；先判断"我们在曲线的哪个位置"——位置决定可选战略空间</a:t>
            </a:r>
          </a:p>
        </p:txBody>
      </p:sp>
      <p:sp>
        <p:nvSpPr>
          <p:cNvPr id="5" name="TextBox 4"/>
          <p:cNvSpPr txBox="1"/>
          <p:nvPr/>
        </p:nvSpPr>
        <p:spPr>
          <a:xfrm>
            <a:off x="1463040" y="6473952"/>
            <a:ext cx="9326880" cy="310896"/>
          </a:xfrm>
          <a:prstGeom prst="rect">
            <a:avLst/>
          </a:prstGeom>
          <a:noFill/>
        </p:spPr>
        <p:txBody>
          <a:bodyPr wrap="none">
            <a:spAutoFit/>
          </a:bodyPr>
          <a:lstStyle/>
          <a:p>
            <a:r>
              <a:rPr sz="1100" i="1">
                <a:solidFill>
                  <a:srgbClr val="7F7F7F"/>
                </a:solidFill>
                <a:latin typeface="等线"/>
              </a:rPr>
              <a:t>数据来源：基于 IDC、奥维云网/产业在线、中国饭店协会《中国餐饮业年度报告》公开数据简化整理（课堂示意口径）</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5880" y="749808"/>
            <a:ext cx="8887968" cy="1005840"/>
          </a:xfrm>
        </p:spPr>
        <p:txBody>
          <a:bodyPr/>
          <a:lstStyle/>
          <a:p>
            <a:r>
              <a:rPr sz="3000" b="1" dirty="0" err="1">
                <a:solidFill>
                  <a:srgbClr val="262626"/>
                </a:solidFill>
                <a:latin typeface="等线"/>
              </a:rPr>
              <a:t>行业集中度指标</a:t>
            </a:r>
            <a:r>
              <a:rPr sz="3000" b="1" dirty="0">
                <a:solidFill>
                  <a:srgbClr val="262626"/>
                </a:solidFill>
                <a:latin typeface="等线"/>
              </a:rPr>
              <a:t> CR3 / CR5：定义、判定标准与应用</a:t>
            </a:r>
          </a:p>
        </p:txBody>
      </p:sp>
      <p:graphicFrame>
        <p:nvGraphicFramePr>
          <p:cNvPr id="3" name="Table 2"/>
          <p:cNvGraphicFramePr>
            <a:graphicFrameLocks noGrp="1"/>
          </p:cNvGraphicFramePr>
          <p:nvPr/>
        </p:nvGraphicFramePr>
        <p:xfrm>
          <a:off x="1325880" y="1719072"/>
          <a:ext cx="10149840" cy="1645920"/>
        </p:xfrm>
        <a:graphic>
          <a:graphicData uri="http://schemas.openxmlformats.org/drawingml/2006/table">
            <a:tbl>
              <a:tblPr firstRow="1">
                <a:tableStyleId>{5C22544A-7EE6-4342-B048-85BDC9FD1C3A}</a:tableStyleId>
              </a:tblPr>
              <a:tblGrid>
                <a:gridCol w="21031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329184">
                <a:tc>
                  <a:txBody>
                    <a:bodyPr/>
                    <a:lstStyle/>
                    <a:p>
                      <a:pPr algn="ctr"/>
                      <a:r>
                        <a:rPr sz="1200" b="1">
                          <a:solidFill>
                            <a:srgbClr val="FFFFFF"/>
                          </a:solidFill>
                          <a:latin typeface="等线"/>
                        </a:rPr>
                        <a:t>CR4（或 CR5）区间</a:t>
                      </a:r>
                    </a:p>
                  </a:txBody>
                  <a:tcPr marL="36576" marR="36576" marT="9144" marB="9144" anchor="ctr">
                    <a:solidFill>
                      <a:srgbClr val="4472C4"/>
                    </a:solidFill>
                  </a:tcPr>
                </a:tc>
                <a:tc>
                  <a:txBody>
                    <a:bodyPr/>
                    <a:lstStyle/>
                    <a:p>
                      <a:pPr algn="ctr"/>
                      <a:r>
                        <a:rPr sz="1200" b="1">
                          <a:solidFill>
                            <a:srgbClr val="FFFFFF"/>
                          </a:solidFill>
                          <a:latin typeface="等线"/>
                        </a:rPr>
                        <a:t>市场结构（贝恩分类）</a:t>
                      </a:r>
                    </a:p>
                  </a:txBody>
                  <a:tcPr marL="36576" marR="36576" marT="9144" marB="9144" anchor="ctr">
                    <a:solidFill>
                      <a:srgbClr val="4472C4"/>
                    </a:solidFill>
                  </a:tcPr>
                </a:tc>
                <a:tc>
                  <a:txBody>
                    <a:bodyPr/>
                    <a:lstStyle/>
                    <a:p>
                      <a:pPr algn="ctr"/>
                      <a:r>
                        <a:rPr sz="1200" b="1">
                          <a:solidFill>
                            <a:srgbClr val="FFFFFF"/>
                          </a:solidFill>
                          <a:latin typeface="等线"/>
                        </a:rPr>
                        <a:t>典型行业（课堂示例）</a:t>
                      </a:r>
                    </a:p>
                  </a:txBody>
                  <a:tcPr marL="36576" marR="36576" marT="9144" marB="9144" anchor="ctr">
                    <a:solidFill>
                      <a:srgbClr val="4472C4"/>
                    </a:solidFill>
                  </a:tcPr>
                </a:tc>
                <a:extLst>
                  <a:ext uri="{0D108BD9-81ED-4DB2-BD59-A6C34878D82A}">
                    <a16:rowId xmlns:a16="http://schemas.microsoft.com/office/drawing/2014/main" val="10000"/>
                  </a:ext>
                </a:extLst>
              </a:tr>
              <a:tr h="329184">
                <a:tc>
                  <a:txBody>
                    <a:bodyPr/>
                    <a:lstStyle/>
                    <a:p>
                      <a:pPr algn="l"/>
                      <a:r>
                        <a:rPr sz="1100" b="0">
                          <a:solidFill>
                            <a:srgbClr val="262626"/>
                          </a:solidFill>
                          <a:latin typeface="等线"/>
                        </a:rPr>
                        <a:t>＜ 30%</a:t>
                      </a:r>
                    </a:p>
                  </a:txBody>
                  <a:tcPr marL="36576" marR="36576" marT="9144" marB="9144" anchor="ctr"/>
                </a:tc>
                <a:tc>
                  <a:txBody>
                    <a:bodyPr/>
                    <a:lstStyle/>
                    <a:p>
                      <a:pPr algn="ctr"/>
                      <a:r>
                        <a:rPr sz="1100" b="0">
                          <a:solidFill>
                            <a:srgbClr val="262626"/>
                          </a:solidFill>
                          <a:latin typeface="等线"/>
                        </a:rPr>
                        <a:t>竞争型（分散竞争）</a:t>
                      </a:r>
                    </a:p>
                  </a:txBody>
                  <a:tcPr marL="36576" marR="36576" marT="9144" marB="9144" anchor="ctr"/>
                </a:tc>
                <a:tc>
                  <a:txBody>
                    <a:bodyPr/>
                    <a:lstStyle/>
                    <a:p>
                      <a:pPr algn="ctr"/>
                      <a:r>
                        <a:rPr sz="1100" b="0">
                          <a:solidFill>
                            <a:srgbClr val="262626"/>
                          </a:solidFill>
                          <a:latin typeface="等线"/>
                        </a:rPr>
                        <a:t>餐饮业：百强企业合计不足 10%</a:t>
                      </a:r>
                    </a:p>
                  </a:txBody>
                  <a:tcPr marL="36576" marR="36576" marT="9144" marB="9144" anchor="ctr"/>
                </a:tc>
                <a:extLst>
                  <a:ext uri="{0D108BD9-81ED-4DB2-BD59-A6C34878D82A}">
                    <a16:rowId xmlns:a16="http://schemas.microsoft.com/office/drawing/2014/main" val="10001"/>
                  </a:ext>
                </a:extLst>
              </a:tr>
              <a:tr h="329184">
                <a:tc>
                  <a:txBody>
                    <a:bodyPr/>
                    <a:lstStyle/>
                    <a:p>
                      <a:pPr algn="l"/>
                      <a:r>
                        <a:rPr sz="1100" b="0">
                          <a:solidFill>
                            <a:srgbClr val="262626"/>
                          </a:solidFill>
                          <a:latin typeface="等线"/>
                        </a:rPr>
                        <a:t>30% — 50%</a:t>
                      </a:r>
                    </a:p>
                  </a:txBody>
                  <a:tcPr marL="36576" marR="36576" marT="9144" marB="9144" anchor="ctr"/>
                </a:tc>
                <a:tc>
                  <a:txBody>
                    <a:bodyPr/>
                    <a:lstStyle/>
                    <a:p>
                      <a:pPr algn="ctr"/>
                      <a:r>
                        <a:rPr sz="1100" b="0">
                          <a:solidFill>
                            <a:srgbClr val="262626"/>
                          </a:solidFill>
                          <a:latin typeface="等线"/>
                        </a:rPr>
                        <a:t>低集中寡占</a:t>
                      </a:r>
                    </a:p>
                  </a:txBody>
                  <a:tcPr marL="36576" marR="36576" marT="9144" marB="9144" anchor="ctr"/>
                </a:tc>
                <a:tc>
                  <a:txBody>
                    <a:bodyPr/>
                    <a:lstStyle/>
                    <a:p>
                      <a:pPr algn="ctr"/>
                      <a:r>
                        <a:rPr sz="1100" b="0">
                          <a:solidFill>
                            <a:srgbClr val="262626"/>
                          </a:solidFill>
                          <a:latin typeface="等线"/>
                        </a:rPr>
                        <a:t>中国钢铁业：CR10=43%（2024年底，中钢协），集中度仍偏低</a:t>
                      </a:r>
                    </a:p>
                  </a:txBody>
                  <a:tcPr marL="36576" marR="36576" marT="9144" marB="9144" anchor="ctr"/>
                </a:tc>
                <a:extLst>
                  <a:ext uri="{0D108BD9-81ED-4DB2-BD59-A6C34878D82A}">
                    <a16:rowId xmlns:a16="http://schemas.microsoft.com/office/drawing/2014/main" val="10002"/>
                  </a:ext>
                </a:extLst>
              </a:tr>
              <a:tr h="329184">
                <a:tc>
                  <a:txBody>
                    <a:bodyPr/>
                    <a:lstStyle/>
                    <a:p>
                      <a:pPr algn="l"/>
                      <a:r>
                        <a:rPr sz="1100" b="0">
                          <a:solidFill>
                            <a:srgbClr val="262626"/>
                          </a:solidFill>
                          <a:latin typeface="等线"/>
                        </a:rPr>
                        <a:t>50% — 80%</a:t>
                      </a:r>
                    </a:p>
                  </a:txBody>
                  <a:tcPr marL="36576" marR="36576" marT="9144" marB="9144" anchor="ctr"/>
                </a:tc>
                <a:tc>
                  <a:txBody>
                    <a:bodyPr/>
                    <a:lstStyle/>
                    <a:p>
                      <a:pPr algn="ctr"/>
                      <a:r>
                        <a:rPr sz="1100" b="0">
                          <a:solidFill>
                            <a:srgbClr val="262626"/>
                          </a:solidFill>
                          <a:latin typeface="等线"/>
                        </a:rPr>
                        <a:t>高集中寡占</a:t>
                      </a:r>
                    </a:p>
                  </a:txBody>
                  <a:tcPr marL="36576" marR="36576" marT="9144" marB="9144" anchor="ctr"/>
                </a:tc>
                <a:tc>
                  <a:txBody>
                    <a:bodyPr/>
                    <a:lstStyle/>
                    <a:p>
                      <a:pPr algn="ctr"/>
                      <a:r>
                        <a:rPr sz="1100" b="0">
                          <a:solidFill>
                            <a:srgbClr val="262626"/>
                          </a:solidFill>
                          <a:latin typeface="等线"/>
                        </a:rPr>
                        <a:t>新能源汽车 2024（CR5≈66%）；空调（CR3≈69%）</a:t>
                      </a:r>
                    </a:p>
                  </a:txBody>
                  <a:tcPr marL="36576" marR="36576" marT="9144" marB="9144" anchor="ctr"/>
                </a:tc>
                <a:extLst>
                  <a:ext uri="{0D108BD9-81ED-4DB2-BD59-A6C34878D82A}">
                    <a16:rowId xmlns:a16="http://schemas.microsoft.com/office/drawing/2014/main" val="10003"/>
                  </a:ext>
                </a:extLst>
              </a:tr>
              <a:tr h="329184">
                <a:tc>
                  <a:txBody>
                    <a:bodyPr/>
                    <a:lstStyle/>
                    <a:p>
                      <a:pPr algn="l"/>
                      <a:r>
                        <a:rPr sz="1200" b="1">
                          <a:solidFill>
                            <a:srgbClr val="30508C"/>
                          </a:solidFill>
                          <a:latin typeface="等线"/>
                        </a:rPr>
                        <a:t>＞ 80%</a:t>
                      </a:r>
                    </a:p>
                  </a:txBody>
                  <a:tcPr marL="36576" marR="36576" marT="9144" marB="9144" anchor="ctr">
                    <a:solidFill>
                      <a:srgbClr val="F2F2F2"/>
                    </a:solidFill>
                  </a:tcPr>
                </a:tc>
                <a:tc>
                  <a:txBody>
                    <a:bodyPr/>
                    <a:lstStyle/>
                    <a:p>
                      <a:pPr algn="ctr"/>
                      <a:r>
                        <a:rPr sz="1200" b="1">
                          <a:solidFill>
                            <a:srgbClr val="30508C"/>
                          </a:solidFill>
                          <a:latin typeface="等线"/>
                        </a:rPr>
                        <a:t>寡头乃至趋向垄断</a:t>
                      </a:r>
                    </a:p>
                  </a:txBody>
                  <a:tcPr marL="36576" marR="36576" marT="9144" marB="9144" anchor="ctr">
                    <a:solidFill>
                      <a:srgbClr val="F2F2F2"/>
                    </a:solidFill>
                  </a:tcPr>
                </a:tc>
                <a:tc>
                  <a:txBody>
                    <a:bodyPr/>
                    <a:lstStyle/>
                    <a:p>
                      <a:pPr algn="ctr"/>
                      <a:r>
                        <a:rPr sz="1200" b="1">
                          <a:solidFill>
                            <a:srgbClr val="30508C"/>
                          </a:solidFill>
                          <a:latin typeface="等线"/>
                        </a:rPr>
                        <a:t>智能手机（CR5≈81%）</a:t>
                      </a:r>
                    </a:p>
                  </a:txBody>
                  <a:tcPr marL="36576" marR="36576" marT="9144" marB="9144" anchor="ctr">
                    <a:solidFill>
                      <a:srgbClr val="F2F2F2"/>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1325880" y="3456432"/>
            <a:ext cx="10149840" cy="3346704"/>
          </a:xfrm>
          <a:prstGeom prst="rect">
            <a:avLst/>
          </a:prstGeom>
          <a:noFill/>
        </p:spPr>
        <p:txBody>
          <a:bodyPr wrap="square">
            <a:spAutoFit/>
          </a:bodyPr>
          <a:lstStyle/>
          <a:p>
            <a:r>
              <a:rPr sz="1200" b="1">
                <a:solidFill>
                  <a:srgbClr val="30508C"/>
                </a:solidFill>
                <a:latin typeface="等线"/>
              </a:rPr>
              <a:t>CRN（Concentration Ratio）＝行业内规模最大的前 N 家企业市场份额之和，是行业集中度的"快照"读数；洛伦茨曲线刻画全部企业的分布"全貌"，基尼系数 G＝A/(A+B) 是其单一数值化——CR 是"点"，洛伦茨是"线"。前页图中橙色圆点标记的即 CR5 的位置（前 5 家企业已占据的份额），曲线右端越陡峭（"翘尾"越高），CR5 越大。N 的选取以能覆盖行业主要竞争者为宜：空调用 CR3、手机用 CR5、钢铁常用 CR10；分类标准源自贝恩（Bain, 1959）传统（以 CR4/CR8 为准），教学常用 CR5 近似，教材版本略有差异。</a:t>
            </a:r>
          </a:p>
          <a:p>
            <a:r>
              <a:rPr sz="1100" i="1">
                <a:solidFill>
                  <a:srgbClr val="7F7F7F"/>
                </a:solidFill>
                <a:latin typeface="等线"/>
              </a:rPr>
              <a:t>参见 Bain (1959) Industrial Organization；Fred R. David《战略管理：概念与案例》第13版</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808056"/>
            <a:ext cx="8229600" cy="1143000"/>
          </a:xfrm>
        </p:spPr>
        <p:txBody>
          <a:bodyPr/>
          <a:lstStyle/>
          <a:p>
            <a:pPr marL="54864">
              <a:defRPr/>
            </a:pPr>
            <a:r>
              <a:rPr lang="zh-CN" altLang="en-US" dirty="0">
                <a:solidFill>
                  <a:schemeClr val="tx2">
                    <a:tint val="100000"/>
                    <a:shade val="90000"/>
                    <a:satMod val="250000"/>
                    <a:alpha val="100000"/>
                  </a:schemeClr>
                </a:solidFill>
                <a:cs typeface="+mj-cs"/>
              </a:rPr>
              <a:t>外部因素评价矩阵</a:t>
            </a:r>
          </a:p>
        </p:txBody>
      </p:sp>
      <p:sp>
        <p:nvSpPr>
          <p:cNvPr id="86018" name="内容占位符 2"/>
          <p:cNvSpPr>
            <a:spLocks noGrp="1"/>
          </p:cNvSpPr>
          <p:nvPr>
            <p:ph idx="1"/>
          </p:nvPr>
        </p:nvSpPr>
        <p:spPr>
          <a:xfrm>
            <a:off x="2671999" y="1430086"/>
            <a:ext cx="7796540" cy="3997828"/>
          </a:xfrm>
        </p:spPr>
        <p:txBody>
          <a:bodyPr/>
          <a:lstStyle/>
          <a:p>
            <a:r>
              <a:rPr lang="zh-CN" altLang="en-US" sz="2400" dirty="0"/>
              <a:t>其做法是从机会和威胁两个方面找出影响企业未来发展的关键因素，根据各个因素影响程度的大小确定权数，再按企业对各关键因素的有效反应程度对各关键因素进行评分，最后算出企业的总加权分数。通过</a:t>
            </a:r>
            <a:r>
              <a:rPr lang="en-US" altLang="zh-CN" sz="2400" dirty="0"/>
              <a:t>EFE</a:t>
            </a:r>
            <a:r>
              <a:rPr lang="zh-CN" altLang="en-US" sz="2400" dirty="0"/>
              <a:t>，企业就可以把自己所面临的机会与威胁汇总，来刻划出企业的全部吸引力。</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DB034-6B33-8949-B680-2EC1759BC556}"/>
              </a:ext>
            </a:extLst>
          </p:cNvPr>
          <p:cNvSpPr>
            <a:spLocks noGrp="1"/>
          </p:cNvSpPr>
          <p:nvPr>
            <p:ph type="title"/>
          </p:nvPr>
        </p:nvSpPr>
        <p:spPr/>
        <p:txBody>
          <a:bodyPr/>
          <a:lstStyle/>
          <a:p>
            <a:endParaRPr kumimoji="1" lang="zh-CN" altLang="en-US"/>
          </a:p>
        </p:txBody>
      </p:sp>
      <p:pic>
        <p:nvPicPr>
          <p:cNvPr id="7" name="内容占位符 6">
            <a:extLst>
              <a:ext uri="{FF2B5EF4-FFF2-40B4-BE49-F238E27FC236}">
                <a16:creationId xmlns:a16="http://schemas.microsoft.com/office/drawing/2014/main" id="{1591A9CD-E4D6-0743-B5D6-3F6E801A6BB0}"/>
              </a:ext>
            </a:extLst>
          </p:cNvPr>
          <p:cNvPicPr>
            <a:picLocks noGrp="1" noChangeAspect="1"/>
          </p:cNvPicPr>
          <p:nvPr>
            <p:ph idx="1"/>
          </p:nvPr>
        </p:nvPicPr>
        <p:blipFill>
          <a:blip r:embed="rId2"/>
          <a:stretch>
            <a:fillRect/>
          </a:stretch>
        </p:blipFill>
        <p:spPr>
          <a:xfrm rot="16200000">
            <a:off x="2544419" y="-968866"/>
            <a:ext cx="6599580" cy="8799442"/>
          </a:xfrm>
        </p:spPr>
      </p:pic>
    </p:spTree>
    <p:extLst>
      <p:ext uri="{BB962C8B-B14F-4D97-AF65-F5344CB8AC3E}">
        <p14:creationId xmlns:p14="http://schemas.microsoft.com/office/powerpoint/2010/main" val="307808146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案例：比亚迪 EFE 矩阵（外部因素评价）</a:t>
            </a:r>
          </a:p>
        </p:txBody>
      </p:sp>
      <p:graphicFrame>
        <p:nvGraphicFramePr>
          <p:cNvPr id="3" name="Table 2"/>
          <p:cNvGraphicFramePr>
            <a:graphicFrameLocks noGrp="1"/>
          </p:cNvGraphicFramePr>
          <p:nvPr/>
        </p:nvGraphicFramePr>
        <p:xfrm>
          <a:off x="1325880" y="1719072"/>
          <a:ext cx="8961120" cy="3950208"/>
        </p:xfrm>
        <a:graphic>
          <a:graphicData uri="http://schemas.openxmlformats.org/drawingml/2006/table">
            <a:tbl>
              <a:tblPr firstRow="1">
                <a:tableStyleId>{5C22544A-7EE6-4342-B048-85BDC9FD1C3A}</a:tableStyleId>
              </a:tblPr>
              <a:tblGrid>
                <a:gridCol w="55778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29184">
                <a:tc>
                  <a:txBody>
                    <a:bodyPr/>
                    <a:lstStyle/>
                    <a:p>
                      <a:pPr algn="ctr"/>
                      <a:r>
                        <a:rPr sz="1200" b="1">
                          <a:solidFill>
                            <a:srgbClr val="FFFFFF"/>
                          </a:solidFill>
                          <a:latin typeface="等线"/>
                        </a:rPr>
                        <a:t>关键外部因素</a:t>
                      </a:r>
                    </a:p>
                  </a:txBody>
                  <a:tcPr marL="36576" marR="36576" marT="9144" marB="9144" anchor="ctr">
                    <a:solidFill>
                      <a:srgbClr val="4472C4"/>
                    </a:solidFill>
                  </a:tcPr>
                </a:tc>
                <a:tc>
                  <a:txBody>
                    <a:bodyPr/>
                    <a:lstStyle/>
                    <a:p>
                      <a:pPr algn="ctr"/>
                      <a:r>
                        <a:rPr sz="1200" b="1">
                          <a:solidFill>
                            <a:srgbClr val="FFFFFF"/>
                          </a:solidFill>
                          <a:latin typeface="等线"/>
                        </a:rPr>
                        <a:t>权重</a:t>
                      </a:r>
                    </a:p>
                  </a:txBody>
                  <a:tcPr marL="36576" marR="36576" marT="9144" marB="9144" anchor="ctr">
                    <a:solidFill>
                      <a:srgbClr val="4472C4"/>
                    </a:solidFill>
                  </a:tcPr>
                </a:tc>
                <a:tc>
                  <a:txBody>
                    <a:bodyPr/>
                    <a:lstStyle/>
                    <a:p>
                      <a:pPr algn="ctr"/>
                      <a:r>
                        <a:rPr sz="1200" b="1">
                          <a:solidFill>
                            <a:srgbClr val="FFFFFF"/>
                          </a:solidFill>
                          <a:latin typeface="等线"/>
                        </a:rPr>
                        <a:t>评分(1-4)</a:t>
                      </a:r>
                    </a:p>
                  </a:txBody>
                  <a:tcPr marL="36576" marR="36576" marT="9144" marB="9144" anchor="ctr">
                    <a:solidFill>
                      <a:srgbClr val="4472C4"/>
                    </a:solidFill>
                  </a:tcPr>
                </a:tc>
                <a:tc>
                  <a:txBody>
                    <a:bodyPr/>
                    <a:lstStyle/>
                    <a:p>
                      <a:pPr algn="ctr"/>
                      <a:r>
                        <a:rPr sz="1200" b="1">
                          <a:solidFill>
                            <a:srgbClr val="FFFFFF"/>
                          </a:solidFill>
                          <a:latin typeface="等线"/>
                        </a:rPr>
                        <a:t>加权分数</a:t>
                      </a:r>
                    </a:p>
                  </a:txBody>
                  <a:tcPr marL="36576" marR="36576" marT="9144" marB="9144" anchor="ctr">
                    <a:solidFill>
                      <a:srgbClr val="4472C4"/>
                    </a:solidFill>
                  </a:tcPr>
                </a:tc>
                <a:extLst>
                  <a:ext uri="{0D108BD9-81ED-4DB2-BD59-A6C34878D82A}">
                    <a16:rowId xmlns:a16="http://schemas.microsoft.com/office/drawing/2014/main" val="10000"/>
                  </a:ext>
                </a:extLst>
              </a:tr>
              <a:tr h="329184">
                <a:tc>
                  <a:txBody>
                    <a:bodyPr/>
                    <a:lstStyle/>
                    <a:p>
                      <a:pPr algn="l"/>
                      <a:r>
                        <a:rPr sz="1150" b="1">
                          <a:solidFill>
                            <a:srgbClr val="30508C"/>
                          </a:solidFill>
                          <a:latin typeface="等线"/>
                        </a:rPr>
                        <a:t>机会</a:t>
                      </a:r>
                    </a:p>
                  </a:txBody>
                  <a:tcPr marL="36576" marR="36576" marT="9144" marB="9144" anchor="ctr">
                    <a:solidFill>
                      <a:srgbClr val="EAF0F9"/>
                    </a:solidFill>
                  </a:tcPr>
                </a:tc>
                <a:tc>
                  <a:txBody>
                    <a:bodyPr/>
                    <a:lstStyle/>
                    <a:p>
                      <a:pPr algn="ctr"/>
                      <a:endParaRPr/>
                    </a:p>
                  </a:txBody>
                  <a:tcPr marL="36576" marR="36576" marT="9144" marB="9144" anchor="ctr">
                    <a:solidFill>
                      <a:srgbClr val="EAF0F9"/>
                    </a:solidFill>
                  </a:tcPr>
                </a:tc>
                <a:tc>
                  <a:txBody>
                    <a:bodyPr/>
                    <a:lstStyle/>
                    <a:p>
                      <a:pPr algn="ctr"/>
                      <a:endParaRPr/>
                    </a:p>
                  </a:txBody>
                  <a:tcPr marL="36576" marR="36576" marT="9144" marB="9144" anchor="ctr">
                    <a:solidFill>
                      <a:srgbClr val="EAF0F9"/>
                    </a:solidFill>
                  </a:tcPr>
                </a:tc>
                <a:tc>
                  <a:txBody>
                    <a:bodyPr/>
                    <a:lstStyle/>
                    <a:p>
                      <a:pPr algn="ctr"/>
                      <a:endParaRPr/>
                    </a:p>
                  </a:txBody>
                  <a:tcPr marL="36576" marR="36576" marT="9144" marB="9144" anchor="ctr">
                    <a:solidFill>
                      <a:srgbClr val="EAF0F9"/>
                    </a:solidFill>
                  </a:tcPr>
                </a:tc>
                <a:extLst>
                  <a:ext uri="{0D108BD9-81ED-4DB2-BD59-A6C34878D82A}">
                    <a16:rowId xmlns:a16="http://schemas.microsoft.com/office/drawing/2014/main" val="10001"/>
                  </a:ext>
                </a:extLst>
              </a:tr>
              <a:tr h="329184">
                <a:tc>
                  <a:txBody>
                    <a:bodyPr/>
                    <a:lstStyle/>
                    <a:p>
                      <a:pPr algn="l"/>
                      <a:r>
                        <a:rPr sz="1100" b="0">
                          <a:solidFill>
                            <a:srgbClr val="262626"/>
                          </a:solidFill>
                          <a:latin typeface="等线"/>
                        </a:rPr>
                        <a:t>O1 全球碳中和与汽车电动化转型（多国公布禁燃时间表）</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tc>
                  <a:txBody>
                    <a:bodyPr/>
                    <a:lstStyle/>
                    <a:p>
                      <a:pPr algn="ctr"/>
                      <a:r>
                        <a:rPr sz="1100" b="0">
                          <a:solidFill>
                            <a:srgbClr val="262626"/>
                          </a:solidFill>
                          <a:latin typeface="等线"/>
                        </a:rPr>
                        <a:t>4</a:t>
                      </a:r>
                    </a:p>
                  </a:txBody>
                  <a:tcPr marL="36576" marR="36576" marT="9144" marB="9144" anchor="ctr"/>
                </a:tc>
                <a:tc>
                  <a:txBody>
                    <a:bodyPr/>
                    <a:lstStyle/>
                    <a:p>
                      <a:pPr algn="ctr"/>
                      <a:r>
                        <a:rPr sz="1100" b="0">
                          <a:solidFill>
                            <a:srgbClr val="262626"/>
                          </a:solidFill>
                          <a:latin typeface="等线"/>
                        </a:rPr>
                        <a:t>0.60</a:t>
                      </a:r>
                    </a:p>
                  </a:txBody>
                  <a:tcPr marL="36576" marR="36576" marT="9144" marB="9144" anchor="ctr"/>
                </a:tc>
                <a:extLst>
                  <a:ext uri="{0D108BD9-81ED-4DB2-BD59-A6C34878D82A}">
                    <a16:rowId xmlns:a16="http://schemas.microsoft.com/office/drawing/2014/main" val="10002"/>
                  </a:ext>
                </a:extLst>
              </a:tr>
              <a:tr h="329184">
                <a:tc>
                  <a:txBody>
                    <a:bodyPr/>
                    <a:lstStyle/>
                    <a:p>
                      <a:pPr algn="l"/>
                      <a:r>
                        <a:rPr sz="1100" b="0">
                          <a:solidFill>
                            <a:srgbClr val="262626"/>
                          </a:solidFill>
                          <a:latin typeface="等线"/>
                        </a:rPr>
                        <a:t>O2 中国新能源乘用车渗透率约48%且持续提升（乘联会，2024）</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tc>
                  <a:txBody>
                    <a:bodyPr/>
                    <a:lstStyle/>
                    <a:p>
                      <a:pPr algn="ctr"/>
                      <a:r>
                        <a:rPr sz="1100" b="0">
                          <a:solidFill>
                            <a:srgbClr val="262626"/>
                          </a:solidFill>
                          <a:latin typeface="等线"/>
                        </a:rPr>
                        <a:t>4</a:t>
                      </a:r>
                    </a:p>
                  </a:txBody>
                  <a:tcPr marL="36576" marR="36576" marT="9144" marB="9144" anchor="ctr"/>
                </a:tc>
                <a:tc>
                  <a:txBody>
                    <a:bodyPr/>
                    <a:lstStyle/>
                    <a:p>
                      <a:pPr algn="ctr"/>
                      <a:r>
                        <a:rPr sz="1100" b="0">
                          <a:solidFill>
                            <a:srgbClr val="262626"/>
                          </a:solidFill>
                          <a:latin typeface="等线"/>
                        </a:rPr>
                        <a:t>0.60</a:t>
                      </a:r>
                    </a:p>
                  </a:txBody>
                  <a:tcPr marL="36576" marR="36576" marT="9144" marB="9144" anchor="ctr"/>
                </a:tc>
                <a:extLst>
                  <a:ext uri="{0D108BD9-81ED-4DB2-BD59-A6C34878D82A}">
                    <a16:rowId xmlns:a16="http://schemas.microsoft.com/office/drawing/2014/main" val="10003"/>
                  </a:ext>
                </a:extLst>
              </a:tr>
              <a:tr h="329184">
                <a:tc>
                  <a:txBody>
                    <a:bodyPr/>
                    <a:lstStyle/>
                    <a:p>
                      <a:pPr algn="l"/>
                      <a:r>
                        <a:rPr sz="1100" b="0">
                          <a:solidFill>
                            <a:srgbClr val="262626"/>
                          </a:solidFill>
                          <a:latin typeface="等线"/>
                        </a:rPr>
                        <a:t>O3 东南亚、拉美、中东等新兴市场需求高增长</a:t>
                      </a:r>
                    </a:p>
                  </a:txBody>
                  <a:tcPr marL="36576" marR="36576" marT="9144" marB="9144" anchor="ctr"/>
                </a:tc>
                <a:tc>
                  <a:txBody>
                    <a:bodyPr/>
                    <a:lstStyle/>
                    <a:p>
                      <a:pPr algn="ctr"/>
                      <a:r>
                        <a:rPr sz="1100" b="0">
                          <a:solidFill>
                            <a:srgbClr val="262626"/>
                          </a:solidFill>
                          <a:latin typeface="等线"/>
                        </a:rPr>
                        <a:t>0.10</a:t>
                      </a:r>
                    </a:p>
                  </a:txBody>
                  <a:tcPr marL="36576" marR="36576" marT="9144" marB="9144" anchor="ctr"/>
                </a:tc>
                <a:tc>
                  <a:txBody>
                    <a:bodyPr/>
                    <a:lstStyle/>
                    <a:p>
                      <a:pPr algn="ctr"/>
                      <a:r>
                        <a:rPr sz="1100" b="0">
                          <a:solidFill>
                            <a:srgbClr val="262626"/>
                          </a:solidFill>
                          <a:latin typeface="等线"/>
                        </a:rPr>
                        <a:t>3</a:t>
                      </a:r>
                    </a:p>
                  </a:txBody>
                  <a:tcPr marL="36576" marR="36576" marT="9144" marB="9144" anchor="ctr"/>
                </a:tc>
                <a:tc>
                  <a:txBody>
                    <a:bodyPr/>
                    <a:lstStyle/>
                    <a:p>
                      <a:pPr algn="ctr"/>
                      <a:r>
                        <a:rPr sz="1100" b="0">
                          <a:solidFill>
                            <a:srgbClr val="262626"/>
                          </a:solidFill>
                          <a:latin typeface="等线"/>
                        </a:rPr>
                        <a:t>0.30</a:t>
                      </a:r>
                    </a:p>
                  </a:txBody>
                  <a:tcPr marL="36576" marR="36576" marT="9144" marB="9144" anchor="ctr"/>
                </a:tc>
                <a:extLst>
                  <a:ext uri="{0D108BD9-81ED-4DB2-BD59-A6C34878D82A}">
                    <a16:rowId xmlns:a16="http://schemas.microsoft.com/office/drawing/2014/main" val="10004"/>
                  </a:ext>
                </a:extLst>
              </a:tr>
              <a:tr h="329184">
                <a:tc>
                  <a:txBody>
                    <a:bodyPr/>
                    <a:lstStyle/>
                    <a:p>
                      <a:pPr algn="l"/>
                      <a:r>
                        <a:rPr sz="1100" b="0">
                          <a:solidFill>
                            <a:srgbClr val="262626"/>
                          </a:solidFill>
                          <a:latin typeface="等线"/>
                        </a:rPr>
                        <a:t>O4 汽车智能化"下半场"（整车智能、车路云一体化）</a:t>
                      </a:r>
                    </a:p>
                  </a:txBody>
                  <a:tcPr marL="36576" marR="36576" marT="9144" marB="9144" anchor="ctr"/>
                </a:tc>
                <a:tc>
                  <a:txBody>
                    <a:bodyPr/>
                    <a:lstStyle/>
                    <a:p>
                      <a:pPr algn="ctr"/>
                      <a:r>
                        <a:rPr sz="1100" b="0">
                          <a:solidFill>
                            <a:srgbClr val="262626"/>
                          </a:solidFill>
                          <a:latin typeface="等线"/>
                        </a:rPr>
                        <a:t>0.10</a:t>
                      </a:r>
                    </a:p>
                  </a:txBody>
                  <a:tcPr marL="36576" marR="36576" marT="9144" marB="9144" anchor="ctr"/>
                </a:tc>
                <a:tc>
                  <a:txBody>
                    <a:bodyPr/>
                    <a:lstStyle/>
                    <a:p>
                      <a:pPr algn="ctr"/>
                      <a:r>
                        <a:rPr sz="1100" b="0">
                          <a:solidFill>
                            <a:srgbClr val="262626"/>
                          </a:solidFill>
                          <a:latin typeface="等线"/>
                        </a:rPr>
                        <a:t>3</a:t>
                      </a:r>
                    </a:p>
                  </a:txBody>
                  <a:tcPr marL="36576" marR="36576" marT="9144" marB="9144" anchor="ctr"/>
                </a:tc>
                <a:tc>
                  <a:txBody>
                    <a:bodyPr/>
                    <a:lstStyle/>
                    <a:p>
                      <a:pPr algn="ctr"/>
                      <a:r>
                        <a:rPr sz="1100" b="0">
                          <a:solidFill>
                            <a:srgbClr val="262626"/>
                          </a:solidFill>
                          <a:latin typeface="等线"/>
                        </a:rPr>
                        <a:t>0.30</a:t>
                      </a:r>
                    </a:p>
                  </a:txBody>
                  <a:tcPr marL="36576" marR="36576" marT="9144" marB="9144" anchor="ctr"/>
                </a:tc>
                <a:extLst>
                  <a:ext uri="{0D108BD9-81ED-4DB2-BD59-A6C34878D82A}">
                    <a16:rowId xmlns:a16="http://schemas.microsoft.com/office/drawing/2014/main" val="10005"/>
                  </a:ext>
                </a:extLst>
              </a:tr>
              <a:tr h="329184">
                <a:tc>
                  <a:txBody>
                    <a:bodyPr/>
                    <a:lstStyle/>
                    <a:p>
                      <a:pPr algn="l"/>
                      <a:r>
                        <a:rPr sz="1150" b="1">
                          <a:solidFill>
                            <a:srgbClr val="30508C"/>
                          </a:solidFill>
                          <a:latin typeface="等线"/>
                        </a:rPr>
                        <a:t>威胁</a:t>
                      </a:r>
                    </a:p>
                  </a:txBody>
                  <a:tcPr marL="36576" marR="36576" marT="9144" marB="9144" anchor="ctr">
                    <a:solidFill>
                      <a:srgbClr val="EAF0F9"/>
                    </a:solidFill>
                  </a:tcPr>
                </a:tc>
                <a:tc>
                  <a:txBody>
                    <a:bodyPr/>
                    <a:lstStyle/>
                    <a:p>
                      <a:pPr algn="ctr"/>
                      <a:endParaRPr/>
                    </a:p>
                  </a:txBody>
                  <a:tcPr marL="36576" marR="36576" marT="9144" marB="9144" anchor="ctr">
                    <a:solidFill>
                      <a:srgbClr val="EAF0F9"/>
                    </a:solidFill>
                  </a:tcPr>
                </a:tc>
                <a:tc>
                  <a:txBody>
                    <a:bodyPr/>
                    <a:lstStyle/>
                    <a:p>
                      <a:pPr algn="ctr"/>
                      <a:endParaRPr/>
                    </a:p>
                  </a:txBody>
                  <a:tcPr marL="36576" marR="36576" marT="9144" marB="9144" anchor="ctr">
                    <a:solidFill>
                      <a:srgbClr val="EAF0F9"/>
                    </a:solidFill>
                  </a:tcPr>
                </a:tc>
                <a:tc>
                  <a:txBody>
                    <a:bodyPr/>
                    <a:lstStyle/>
                    <a:p>
                      <a:pPr algn="ctr"/>
                      <a:endParaRPr/>
                    </a:p>
                  </a:txBody>
                  <a:tcPr marL="36576" marR="36576" marT="9144" marB="9144" anchor="ctr">
                    <a:solidFill>
                      <a:srgbClr val="EAF0F9"/>
                    </a:solidFill>
                  </a:tcPr>
                </a:tc>
                <a:extLst>
                  <a:ext uri="{0D108BD9-81ED-4DB2-BD59-A6C34878D82A}">
                    <a16:rowId xmlns:a16="http://schemas.microsoft.com/office/drawing/2014/main" val="10006"/>
                  </a:ext>
                </a:extLst>
              </a:tr>
              <a:tr h="329184">
                <a:tc>
                  <a:txBody>
                    <a:bodyPr/>
                    <a:lstStyle/>
                    <a:p>
                      <a:pPr algn="l"/>
                      <a:r>
                        <a:rPr sz="1100" b="0">
                          <a:solidFill>
                            <a:srgbClr val="262626"/>
                          </a:solidFill>
                          <a:latin typeface="等线"/>
                        </a:rPr>
                        <a:t>T1 行业价格战持续，盈利空间受挤压</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tc>
                  <a:txBody>
                    <a:bodyPr/>
                    <a:lstStyle/>
                    <a:p>
                      <a:pPr algn="ctr"/>
                      <a:r>
                        <a:rPr sz="1100" b="0">
                          <a:solidFill>
                            <a:srgbClr val="262626"/>
                          </a:solidFill>
                          <a:latin typeface="等线"/>
                        </a:rPr>
                        <a:t>2</a:t>
                      </a:r>
                    </a:p>
                  </a:txBody>
                  <a:tcPr marL="36576" marR="36576" marT="9144" marB="9144" anchor="ctr"/>
                </a:tc>
                <a:tc>
                  <a:txBody>
                    <a:bodyPr/>
                    <a:lstStyle/>
                    <a:p>
                      <a:pPr algn="ctr"/>
                      <a:r>
                        <a:rPr sz="1100" b="0">
                          <a:solidFill>
                            <a:srgbClr val="262626"/>
                          </a:solidFill>
                          <a:latin typeface="等线"/>
                        </a:rPr>
                        <a:t>0.30</a:t>
                      </a:r>
                    </a:p>
                  </a:txBody>
                  <a:tcPr marL="36576" marR="36576" marT="9144" marB="9144" anchor="ctr"/>
                </a:tc>
                <a:extLst>
                  <a:ext uri="{0D108BD9-81ED-4DB2-BD59-A6C34878D82A}">
                    <a16:rowId xmlns:a16="http://schemas.microsoft.com/office/drawing/2014/main" val="10007"/>
                  </a:ext>
                </a:extLst>
              </a:tr>
              <a:tr h="329184">
                <a:tc>
                  <a:txBody>
                    <a:bodyPr/>
                    <a:lstStyle/>
                    <a:p>
                      <a:pPr algn="l"/>
                      <a:r>
                        <a:rPr sz="1100" b="0">
                          <a:solidFill>
                            <a:srgbClr val="262626"/>
                          </a:solidFill>
                          <a:latin typeface="等线"/>
                        </a:rPr>
                        <a:t>T2 欧盟反补贴税与美国贸易壁垒</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tc>
                  <a:txBody>
                    <a:bodyPr/>
                    <a:lstStyle/>
                    <a:p>
                      <a:pPr algn="ctr"/>
                      <a:r>
                        <a:rPr sz="1100" b="0">
                          <a:solidFill>
                            <a:srgbClr val="262626"/>
                          </a:solidFill>
                          <a:latin typeface="等线"/>
                        </a:rPr>
                        <a:t>2</a:t>
                      </a:r>
                    </a:p>
                  </a:txBody>
                  <a:tcPr marL="36576" marR="36576" marT="9144" marB="9144" anchor="ctr"/>
                </a:tc>
                <a:tc>
                  <a:txBody>
                    <a:bodyPr/>
                    <a:lstStyle/>
                    <a:p>
                      <a:pPr algn="ctr"/>
                      <a:r>
                        <a:rPr sz="1100" b="0">
                          <a:solidFill>
                            <a:srgbClr val="262626"/>
                          </a:solidFill>
                          <a:latin typeface="等线"/>
                        </a:rPr>
                        <a:t>0.30</a:t>
                      </a:r>
                    </a:p>
                  </a:txBody>
                  <a:tcPr marL="36576" marR="36576" marT="9144" marB="9144" anchor="ctr"/>
                </a:tc>
                <a:extLst>
                  <a:ext uri="{0D108BD9-81ED-4DB2-BD59-A6C34878D82A}">
                    <a16:rowId xmlns:a16="http://schemas.microsoft.com/office/drawing/2014/main" val="10008"/>
                  </a:ext>
                </a:extLst>
              </a:tr>
              <a:tr h="329184">
                <a:tc>
                  <a:txBody>
                    <a:bodyPr/>
                    <a:lstStyle/>
                    <a:p>
                      <a:pPr algn="l"/>
                      <a:r>
                        <a:rPr sz="1100" b="0">
                          <a:solidFill>
                            <a:srgbClr val="262626"/>
                          </a:solidFill>
                          <a:latin typeface="等线"/>
                        </a:rPr>
                        <a:t>T3 上游原材料（锂等）价格波动</a:t>
                      </a:r>
                    </a:p>
                  </a:txBody>
                  <a:tcPr marL="36576" marR="36576" marT="9144" marB="9144" anchor="ctr"/>
                </a:tc>
                <a:tc>
                  <a:txBody>
                    <a:bodyPr/>
                    <a:lstStyle/>
                    <a:p>
                      <a:pPr algn="ctr"/>
                      <a:r>
                        <a:rPr sz="1100" b="0">
                          <a:solidFill>
                            <a:srgbClr val="262626"/>
                          </a:solidFill>
                          <a:latin typeface="等线"/>
                        </a:rPr>
                        <a:t>0.05</a:t>
                      </a:r>
                    </a:p>
                  </a:txBody>
                  <a:tcPr marL="36576" marR="36576" marT="9144" marB="9144" anchor="ctr"/>
                </a:tc>
                <a:tc>
                  <a:txBody>
                    <a:bodyPr/>
                    <a:lstStyle/>
                    <a:p>
                      <a:pPr algn="ctr"/>
                      <a:r>
                        <a:rPr sz="1100" b="0">
                          <a:solidFill>
                            <a:srgbClr val="262626"/>
                          </a:solidFill>
                          <a:latin typeface="等线"/>
                        </a:rPr>
                        <a:t>3</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extLst>
                  <a:ext uri="{0D108BD9-81ED-4DB2-BD59-A6C34878D82A}">
                    <a16:rowId xmlns:a16="http://schemas.microsoft.com/office/drawing/2014/main" val="10009"/>
                  </a:ext>
                </a:extLst>
              </a:tr>
              <a:tr h="329184">
                <a:tc>
                  <a:txBody>
                    <a:bodyPr/>
                    <a:lstStyle/>
                    <a:p>
                      <a:pPr algn="l"/>
                      <a:r>
                        <a:rPr sz="1100" b="0">
                          <a:solidFill>
                            <a:srgbClr val="262626"/>
                          </a:solidFill>
                          <a:latin typeface="等线"/>
                        </a:rPr>
                        <a:t>T4 华为系、小米等科技企业跨界入场</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tc>
                  <a:txBody>
                    <a:bodyPr/>
                    <a:lstStyle/>
                    <a:p>
                      <a:pPr algn="ctr"/>
                      <a:r>
                        <a:rPr sz="1100" b="0">
                          <a:solidFill>
                            <a:srgbClr val="262626"/>
                          </a:solidFill>
                          <a:latin typeface="等线"/>
                        </a:rPr>
                        <a:t>3</a:t>
                      </a:r>
                    </a:p>
                  </a:txBody>
                  <a:tcPr marL="36576" marR="36576" marT="9144" marB="9144" anchor="ctr"/>
                </a:tc>
                <a:tc>
                  <a:txBody>
                    <a:bodyPr/>
                    <a:lstStyle/>
                    <a:p>
                      <a:pPr algn="ctr"/>
                      <a:r>
                        <a:rPr sz="1100" b="0">
                          <a:solidFill>
                            <a:srgbClr val="262626"/>
                          </a:solidFill>
                          <a:latin typeface="等线"/>
                        </a:rPr>
                        <a:t>0.45</a:t>
                      </a:r>
                    </a:p>
                  </a:txBody>
                  <a:tcPr marL="36576" marR="36576" marT="9144" marB="9144" anchor="ctr"/>
                </a:tc>
                <a:extLst>
                  <a:ext uri="{0D108BD9-81ED-4DB2-BD59-A6C34878D82A}">
                    <a16:rowId xmlns:a16="http://schemas.microsoft.com/office/drawing/2014/main" val="10010"/>
                  </a:ext>
                </a:extLst>
              </a:tr>
              <a:tr h="329184">
                <a:tc>
                  <a:txBody>
                    <a:bodyPr/>
                    <a:lstStyle/>
                    <a:p>
                      <a:pPr algn="l"/>
                      <a:r>
                        <a:rPr sz="1200" b="1">
                          <a:solidFill>
                            <a:srgbClr val="30508C"/>
                          </a:solidFill>
                          <a:latin typeface="等线"/>
                        </a:rPr>
                        <a:t>总计</a:t>
                      </a:r>
                    </a:p>
                  </a:txBody>
                  <a:tcPr marL="36576" marR="36576" marT="9144" marB="9144" anchor="ctr">
                    <a:solidFill>
                      <a:srgbClr val="F2F2F2"/>
                    </a:solidFill>
                  </a:tcPr>
                </a:tc>
                <a:tc>
                  <a:txBody>
                    <a:bodyPr/>
                    <a:lstStyle/>
                    <a:p>
                      <a:pPr algn="ctr"/>
                      <a:r>
                        <a:rPr sz="1200" b="1">
                          <a:solidFill>
                            <a:srgbClr val="30508C"/>
                          </a:solidFill>
                          <a:latin typeface="等线"/>
                        </a:rPr>
                        <a:t>1.00</a:t>
                      </a:r>
                    </a:p>
                  </a:txBody>
                  <a:tcPr marL="36576" marR="36576" marT="9144" marB="9144" anchor="ctr">
                    <a:solidFill>
                      <a:srgbClr val="F2F2F2"/>
                    </a:solidFill>
                  </a:tcPr>
                </a:tc>
                <a:tc>
                  <a:txBody>
                    <a:bodyPr/>
                    <a:lstStyle/>
                    <a:p>
                      <a:pPr algn="ctr"/>
                      <a:endParaRPr/>
                    </a:p>
                  </a:txBody>
                  <a:tcPr marL="36576" marR="36576" marT="9144" marB="9144" anchor="ctr">
                    <a:solidFill>
                      <a:srgbClr val="F2F2F2"/>
                    </a:solidFill>
                  </a:tcPr>
                </a:tc>
                <a:tc>
                  <a:txBody>
                    <a:bodyPr/>
                    <a:lstStyle/>
                    <a:p>
                      <a:pPr algn="ctr"/>
                      <a:r>
                        <a:rPr sz="1200" b="1">
                          <a:solidFill>
                            <a:srgbClr val="30508C"/>
                          </a:solidFill>
                          <a:latin typeface="等线"/>
                        </a:rPr>
                        <a:t>3.00</a:t>
                      </a:r>
                    </a:p>
                  </a:txBody>
                  <a:tcPr marL="36576" marR="36576" marT="9144" marB="9144" anchor="ctr">
                    <a:solidFill>
                      <a:srgbClr val="F2F2F2"/>
                    </a:solidFill>
                  </a:tcPr>
                </a:tc>
                <a:extLst>
                  <a:ext uri="{0D108BD9-81ED-4DB2-BD59-A6C34878D82A}">
                    <a16:rowId xmlns:a16="http://schemas.microsoft.com/office/drawing/2014/main" val="10011"/>
                  </a:ext>
                </a:extLst>
              </a:tr>
            </a:tbl>
          </a:graphicData>
        </a:graphic>
      </p:graphicFrame>
      <p:sp>
        <p:nvSpPr>
          <p:cNvPr id="4" name="TextBox 3"/>
          <p:cNvSpPr txBox="1"/>
          <p:nvPr/>
        </p:nvSpPr>
        <p:spPr>
          <a:xfrm>
            <a:off x="1325880" y="5760720"/>
            <a:ext cx="8961119" cy="1042416"/>
          </a:xfrm>
          <a:prstGeom prst="rect">
            <a:avLst/>
          </a:prstGeom>
          <a:noFill/>
        </p:spPr>
        <p:txBody>
          <a:bodyPr wrap="square">
            <a:spAutoFit/>
          </a:bodyPr>
          <a:lstStyle/>
          <a:p>
            <a:r>
              <a:rPr sz="1200" b="1">
                <a:solidFill>
                  <a:srgbClr val="30508C"/>
                </a:solidFill>
                <a:latin typeface="等线"/>
              </a:rPr>
              <a:t>解读：总分 3.00 高于平均水平 2.50——对电动化、智能化机会的反应总体有效；主要减分项是价格战与欧美贸易壁垒（评分2）。评分：4=反应很好，3=高于平均，2=低于平均，1=很差；权重之和恒为1.00。</a:t>
            </a:r>
          </a:p>
          <a:p>
            <a:r>
              <a:rPr sz="1100" i="1">
                <a:solidFill>
                  <a:srgbClr val="7F7F7F"/>
                </a:solidFill>
                <a:latin typeface="等线"/>
              </a:rPr>
              <a:t>编制方法：Fred R. David《战略管理：概念与案例》第13版 第3章；依据公司年报及公开资料课堂演练赋分</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1310176"/>
            <a:ext cx="8229600" cy="1143000"/>
          </a:xfrm>
        </p:spPr>
        <p:txBody>
          <a:bodyPr/>
          <a:lstStyle/>
          <a:p>
            <a:pPr marL="54864">
              <a:defRPr/>
            </a:pPr>
            <a:r>
              <a:rPr lang="zh-CN" altLang="en-US" dirty="0">
                <a:solidFill>
                  <a:schemeClr val="tx2">
                    <a:tint val="100000"/>
                    <a:shade val="90000"/>
                    <a:satMod val="250000"/>
                    <a:alpha val="100000"/>
                  </a:schemeClr>
                </a:solidFill>
                <a:cs typeface="+mj-cs"/>
              </a:rPr>
              <a:t>竞争态势矩阵</a:t>
            </a:r>
          </a:p>
        </p:txBody>
      </p:sp>
      <p:sp>
        <p:nvSpPr>
          <p:cNvPr id="110594" name="内容占位符 2"/>
          <p:cNvSpPr>
            <a:spLocks noGrp="1"/>
          </p:cNvSpPr>
          <p:nvPr>
            <p:ph idx="1"/>
          </p:nvPr>
        </p:nvSpPr>
        <p:spPr/>
        <p:txBody>
          <a:bodyPr/>
          <a:lstStyle/>
          <a:p>
            <a:r>
              <a:rPr lang="zh-CN" altLang="en-US"/>
              <a:t>竞争态势矩阵（</a:t>
            </a:r>
            <a:r>
              <a:rPr lang="en-US" altLang="zh-CN"/>
              <a:t>Competitive Profile Matrix</a:t>
            </a:r>
            <a:r>
              <a:rPr lang="zh-CN" altLang="en-US"/>
              <a:t>，</a:t>
            </a:r>
            <a:r>
              <a:rPr lang="en-US" altLang="zh-CN"/>
              <a:t>CPM</a:t>
            </a:r>
            <a:r>
              <a:rPr lang="zh-CN" altLang="en-US"/>
              <a:t>矩阵）用于确认企业的主要</a:t>
            </a:r>
            <a:r>
              <a:rPr lang="zh-CN" altLang="en-US">
                <a:hlinkClick r:id="rId2" action="ppaction://hlinkfile" tooltip="竞争对手"/>
              </a:rPr>
              <a:t>竞争对手</a:t>
            </a:r>
            <a:r>
              <a:rPr lang="zh-CN" altLang="en-US"/>
              <a:t>及相对于该企业的战略地位，以及主要竞争对手的特定优势与弱点。</a:t>
            </a:r>
            <a:r>
              <a:rPr lang="en-US" altLang="zh-CN"/>
              <a:t>CPM</a:t>
            </a:r>
            <a:r>
              <a:rPr lang="zh-CN" altLang="en-US"/>
              <a:t>矩阵与</a:t>
            </a:r>
            <a:r>
              <a:rPr lang="en-US" altLang="zh-CN">
                <a:hlinkClick r:id="rId3" action="ppaction://hlinkfile" tooltip="外部因素评价矩阵"/>
              </a:rPr>
              <a:t>EFE</a:t>
            </a:r>
            <a:r>
              <a:rPr lang="zh-CN" altLang="en-US">
                <a:hlinkClick r:id="rId3" action="ppaction://hlinkfile" tooltip="外部因素评价矩阵"/>
              </a:rPr>
              <a:t>矩阵</a:t>
            </a:r>
            <a:r>
              <a:rPr lang="zh-CN" altLang="en-US"/>
              <a:t>的</a:t>
            </a:r>
            <a:r>
              <a:rPr lang="zh-CN" altLang="en-US">
                <a:hlinkClick r:id="rId4" action="ppaction://hlinkfile" tooltip="权重"/>
              </a:rPr>
              <a:t>权重</a:t>
            </a:r>
            <a:r>
              <a:rPr lang="zh-CN" altLang="en-US"/>
              <a:t>和总加权分数的涵义相同。编制矩阵的方法也一样。但是，</a:t>
            </a:r>
            <a:r>
              <a:rPr lang="en-US" altLang="zh-CN"/>
              <a:t>CPM</a:t>
            </a:r>
            <a:r>
              <a:rPr lang="zh-CN" altLang="en-US"/>
              <a:t>矩阵中的因素包括外部和内部两个方面的问题，评分则表示优势和弱点。 </a:t>
            </a:r>
          </a:p>
          <a:p>
            <a:endParaRPr lang="zh-CN" altLang="en-US"/>
          </a:p>
        </p:txBody>
      </p:sp>
    </p:spTree>
    <p:extLst>
      <p:ext uri="{BB962C8B-B14F-4D97-AF65-F5344CB8AC3E}">
        <p14:creationId xmlns:p14="http://schemas.microsoft.com/office/powerpoint/2010/main" val="163143574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矩形 3"/>
          <p:cNvSpPr>
            <a:spLocks noChangeArrowheads="1"/>
          </p:cNvSpPr>
          <p:nvPr/>
        </p:nvSpPr>
        <p:spPr bwMode="auto">
          <a:xfrm>
            <a:off x="3810000" y="1858964"/>
            <a:ext cx="4572000" cy="369887"/>
          </a:xfrm>
          <a:prstGeom prst="rect">
            <a:avLst/>
          </a:prstGeom>
          <a:noFill/>
          <a:ln w="9525">
            <a:noFill/>
            <a:miter lim="800000"/>
            <a:headEnd/>
            <a:tailEnd/>
          </a:ln>
        </p:spPr>
        <p:txBody>
          <a:bodyPr>
            <a:spAutoFit/>
          </a:bodyPr>
          <a:lstStyle/>
          <a:p>
            <a:r>
              <a:rPr lang="zh-CN" altLang="en-US">
                <a:latin typeface="Rockwell"/>
                <a:ea typeface="方正姚体"/>
              </a:rPr>
              <a:t>　</a:t>
            </a:r>
          </a:p>
        </p:txBody>
      </p:sp>
      <p:sp>
        <p:nvSpPr>
          <p:cNvPr id="5" name="矩形 4"/>
          <p:cNvSpPr/>
          <p:nvPr/>
        </p:nvSpPr>
        <p:spPr>
          <a:xfrm>
            <a:off x="1524001" y="188914"/>
            <a:ext cx="8964613" cy="666908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dirty="0"/>
              <a:t>的相对重要程度，确定每个因素的权重，权重和为</a:t>
            </a:r>
            <a:r>
              <a:rPr lang="en-US" altLang="zh-CN" dirty="0"/>
              <a:t>1</a:t>
            </a:r>
            <a:r>
              <a:rPr lang="zh-CN" altLang="en-US" dirty="0"/>
              <a:t>；</a:t>
            </a:r>
          </a:p>
        </p:txBody>
      </p:sp>
      <p:pic>
        <p:nvPicPr>
          <p:cNvPr id="112643" name="图片 5" descr="竞争态~1.JPG"/>
          <p:cNvPicPr>
            <a:picLocks noChangeAspect="1"/>
          </p:cNvPicPr>
          <p:nvPr/>
        </p:nvPicPr>
        <p:blipFill>
          <a:blip r:embed="rId2"/>
          <a:srcRect/>
          <a:stretch>
            <a:fillRect/>
          </a:stretch>
        </p:blipFill>
        <p:spPr bwMode="auto">
          <a:xfrm>
            <a:off x="2640014" y="304801"/>
            <a:ext cx="7127875" cy="6443663"/>
          </a:xfrm>
          <a:prstGeom prst="rect">
            <a:avLst/>
          </a:prstGeom>
          <a:noFill/>
          <a:ln w="9525">
            <a:noFill/>
            <a:miter lim="800000"/>
            <a:headEnd/>
            <a:tailEnd/>
          </a:ln>
        </p:spPr>
      </p:pic>
    </p:spTree>
    <p:extLst>
      <p:ext uri="{BB962C8B-B14F-4D97-AF65-F5344CB8AC3E}">
        <p14:creationId xmlns:p14="http://schemas.microsoft.com/office/powerpoint/2010/main" val="40558319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C96228-F4F2-D147-ACCA-8FDA06A413C1}"/>
              </a:ext>
            </a:extLst>
          </p:cNvPr>
          <p:cNvSpPr>
            <a:spLocks noGrp="1"/>
          </p:cNvSpPr>
          <p:nvPr>
            <p:ph type="title"/>
          </p:nvPr>
        </p:nvSpPr>
        <p:spPr/>
        <p:txBody>
          <a:bodyPr/>
          <a:lstStyle/>
          <a:p>
            <a:endParaRPr kumimoji="1" lang="zh-CN" altLang="en-US"/>
          </a:p>
        </p:txBody>
      </p:sp>
      <p:pic>
        <p:nvPicPr>
          <p:cNvPr id="5" name="内容占位符 4">
            <a:extLst>
              <a:ext uri="{FF2B5EF4-FFF2-40B4-BE49-F238E27FC236}">
                <a16:creationId xmlns:a16="http://schemas.microsoft.com/office/drawing/2014/main" id="{66E63EF9-FEE1-DF43-84F8-CB5074361552}"/>
              </a:ext>
            </a:extLst>
          </p:cNvPr>
          <p:cNvPicPr>
            <a:picLocks noGrp="1" noChangeAspect="1"/>
          </p:cNvPicPr>
          <p:nvPr>
            <p:ph idx="1"/>
          </p:nvPr>
        </p:nvPicPr>
        <p:blipFill>
          <a:blip r:embed="rId2"/>
          <a:stretch>
            <a:fillRect/>
          </a:stretch>
        </p:blipFill>
        <p:spPr>
          <a:xfrm rot="16200000">
            <a:off x="2915481" y="-1432695"/>
            <a:ext cx="6559823" cy="9607828"/>
          </a:xfrm>
        </p:spPr>
      </p:pic>
    </p:spTree>
    <p:extLst>
      <p:ext uri="{BB962C8B-B14F-4D97-AF65-F5344CB8AC3E}">
        <p14:creationId xmlns:p14="http://schemas.microsoft.com/office/powerpoint/2010/main" val="394586893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案例：比亚迪 vs 特斯拉 vs 吉利（CPM 竞争态势矩阵）</a:t>
            </a:r>
          </a:p>
        </p:txBody>
      </p:sp>
      <p:graphicFrame>
        <p:nvGraphicFramePr>
          <p:cNvPr id="3" name="Table 2"/>
          <p:cNvGraphicFramePr>
            <a:graphicFrameLocks noGrp="1"/>
          </p:cNvGraphicFramePr>
          <p:nvPr/>
        </p:nvGraphicFramePr>
        <p:xfrm>
          <a:off x="1325880" y="1719072"/>
          <a:ext cx="8915400" cy="3291840"/>
        </p:xfrm>
        <a:graphic>
          <a:graphicData uri="http://schemas.openxmlformats.org/drawingml/2006/table">
            <a:tbl>
              <a:tblPr firstRow="1">
                <a:tableStyleId>{5C22544A-7EE6-4342-B048-85BDC9FD1C3A}</a:tableStyleId>
              </a:tblPr>
              <a:tblGrid>
                <a:gridCol w="29260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tblGrid>
              <a:tr h="329184">
                <a:tc>
                  <a:txBody>
                    <a:bodyPr/>
                    <a:lstStyle/>
                    <a:p>
                      <a:pPr algn="ctr"/>
                      <a:r>
                        <a:rPr sz="1200" b="1">
                          <a:solidFill>
                            <a:srgbClr val="FFFFFF"/>
                          </a:solidFill>
                          <a:latin typeface="等线"/>
                        </a:rPr>
                        <a:t>关键竞争因素</a:t>
                      </a:r>
                    </a:p>
                  </a:txBody>
                  <a:tcPr marL="36576" marR="36576" marT="9144" marB="9144" anchor="ctr">
                    <a:solidFill>
                      <a:srgbClr val="4472C4"/>
                    </a:solidFill>
                  </a:tcPr>
                </a:tc>
                <a:tc>
                  <a:txBody>
                    <a:bodyPr/>
                    <a:lstStyle/>
                    <a:p>
                      <a:pPr algn="ctr"/>
                      <a:r>
                        <a:rPr sz="1200" b="1">
                          <a:solidFill>
                            <a:srgbClr val="FFFFFF"/>
                          </a:solidFill>
                          <a:latin typeface="等线"/>
                        </a:rPr>
                        <a:t>权重</a:t>
                      </a:r>
                    </a:p>
                  </a:txBody>
                  <a:tcPr marL="36576" marR="36576" marT="9144" marB="9144" anchor="ctr">
                    <a:solidFill>
                      <a:srgbClr val="4472C4"/>
                    </a:solidFill>
                  </a:tcPr>
                </a:tc>
                <a:tc>
                  <a:txBody>
                    <a:bodyPr/>
                    <a:lstStyle/>
                    <a:p>
                      <a:pPr algn="ctr"/>
                      <a:r>
                        <a:rPr sz="1200" b="1">
                          <a:solidFill>
                            <a:srgbClr val="FFFFFF"/>
                          </a:solidFill>
                          <a:latin typeface="等线"/>
                        </a:rPr>
                        <a:t>比亚迪</a:t>
                      </a:r>
                    </a:p>
                  </a:txBody>
                  <a:tcPr marL="36576" marR="36576" marT="9144" marB="9144" anchor="ctr">
                    <a:solidFill>
                      <a:srgbClr val="4472C4"/>
                    </a:solidFill>
                  </a:tcPr>
                </a:tc>
                <a:tc>
                  <a:txBody>
                    <a:bodyPr/>
                    <a:lstStyle/>
                    <a:p>
                      <a:pPr algn="ctr"/>
                      <a:r>
                        <a:rPr sz="1200" b="1">
                          <a:solidFill>
                            <a:srgbClr val="FFFFFF"/>
                          </a:solidFill>
                          <a:latin typeface="等线"/>
                        </a:rPr>
                        <a:t>特斯拉</a:t>
                      </a:r>
                    </a:p>
                  </a:txBody>
                  <a:tcPr marL="36576" marR="36576" marT="9144" marB="9144" anchor="ctr">
                    <a:solidFill>
                      <a:srgbClr val="4472C4"/>
                    </a:solidFill>
                  </a:tcPr>
                </a:tc>
                <a:tc>
                  <a:txBody>
                    <a:bodyPr/>
                    <a:lstStyle/>
                    <a:p>
                      <a:pPr algn="ctr"/>
                      <a:r>
                        <a:rPr sz="1200" b="1">
                          <a:solidFill>
                            <a:srgbClr val="FFFFFF"/>
                          </a:solidFill>
                          <a:latin typeface="等线"/>
                        </a:rPr>
                        <a:t>吉利</a:t>
                      </a:r>
                    </a:p>
                  </a:txBody>
                  <a:tcPr marL="36576" marR="36576" marT="9144" marB="9144" anchor="ctr">
                    <a:solidFill>
                      <a:srgbClr val="4472C4"/>
                    </a:solidFill>
                  </a:tcPr>
                </a:tc>
                <a:extLst>
                  <a:ext uri="{0D108BD9-81ED-4DB2-BD59-A6C34878D82A}">
                    <a16:rowId xmlns:a16="http://schemas.microsoft.com/office/drawing/2014/main" val="10000"/>
                  </a:ext>
                </a:extLst>
              </a:tr>
              <a:tr h="329184">
                <a:tc>
                  <a:txBody>
                    <a:bodyPr/>
                    <a:lstStyle/>
                    <a:p>
                      <a:pPr algn="l"/>
                      <a:r>
                        <a:rPr sz="1100" b="0">
                          <a:solidFill>
                            <a:srgbClr val="262626"/>
                          </a:solidFill>
                          <a:latin typeface="等线"/>
                        </a:rPr>
                        <a:t>中国市场份额</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tc>
                  <a:txBody>
                    <a:bodyPr/>
                    <a:lstStyle/>
                    <a:p>
                      <a:pPr algn="ctr"/>
                      <a:r>
                        <a:rPr sz="1100" b="0">
                          <a:solidFill>
                            <a:srgbClr val="262626"/>
                          </a:solidFill>
                          <a:latin typeface="等线"/>
                        </a:rPr>
                        <a:t>4 (0.60)</a:t>
                      </a:r>
                    </a:p>
                  </a:txBody>
                  <a:tcPr marL="36576" marR="36576" marT="9144" marB="9144" anchor="ctr"/>
                </a:tc>
                <a:tc>
                  <a:txBody>
                    <a:bodyPr/>
                    <a:lstStyle/>
                    <a:p>
                      <a:pPr algn="ctr"/>
                      <a:r>
                        <a:rPr sz="1100" b="0">
                          <a:solidFill>
                            <a:srgbClr val="262626"/>
                          </a:solidFill>
                          <a:latin typeface="等线"/>
                        </a:rPr>
                        <a:t>3 (0.45)</a:t>
                      </a:r>
                    </a:p>
                  </a:txBody>
                  <a:tcPr marL="36576" marR="36576" marT="9144" marB="9144" anchor="ctr"/>
                </a:tc>
                <a:tc>
                  <a:txBody>
                    <a:bodyPr/>
                    <a:lstStyle/>
                    <a:p>
                      <a:pPr algn="ctr"/>
                      <a:r>
                        <a:rPr sz="1100" b="0">
                          <a:solidFill>
                            <a:srgbClr val="262626"/>
                          </a:solidFill>
                          <a:latin typeface="等线"/>
                        </a:rPr>
                        <a:t>3 (0.45)</a:t>
                      </a:r>
                    </a:p>
                  </a:txBody>
                  <a:tcPr marL="36576" marR="36576" marT="9144" marB="9144" anchor="ctr"/>
                </a:tc>
                <a:extLst>
                  <a:ext uri="{0D108BD9-81ED-4DB2-BD59-A6C34878D82A}">
                    <a16:rowId xmlns:a16="http://schemas.microsoft.com/office/drawing/2014/main" val="10001"/>
                  </a:ext>
                </a:extLst>
              </a:tr>
              <a:tr h="329184">
                <a:tc>
                  <a:txBody>
                    <a:bodyPr/>
                    <a:lstStyle/>
                    <a:p>
                      <a:pPr algn="l"/>
                      <a:r>
                        <a:rPr sz="1100" b="0">
                          <a:solidFill>
                            <a:srgbClr val="262626"/>
                          </a:solidFill>
                          <a:latin typeface="等线"/>
                        </a:rPr>
                        <a:t>产品矩阵广度</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tc>
                  <a:txBody>
                    <a:bodyPr/>
                    <a:lstStyle/>
                    <a:p>
                      <a:pPr algn="ctr"/>
                      <a:r>
                        <a:rPr sz="1100" b="0">
                          <a:solidFill>
                            <a:srgbClr val="262626"/>
                          </a:solidFill>
                          <a:latin typeface="等线"/>
                        </a:rPr>
                        <a:t>4 (0.60)</a:t>
                      </a:r>
                    </a:p>
                  </a:txBody>
                  <a:tcPr marL="36576" marR="36576" marT="9144" marB="9144" anchor="ctr"/>
                </a:tc>
                <a:tc>
                  <a:txBody>
                    <a:bodyPr/>
                    <a:lstStyle/>
                    <a:p>
                      <a:pPr algn="ctr"/>
                      <a:r>
                        <a:rPr sz="1100" b="0">
                          <a:solidFill>
                            <a:srgbClr val="262626"/>
                          </a:solidFill>
                          <a:latin typeface="等线"/>
                        </a:rPr>
                        <a:t>2 (0.30)</a:t>
                      </a:r>
                    </a:p>
                  </a:txBody>
                  <a:tcPr marL="36576" marR="36576" marT="9144" marB="9144" anchor="ctr"/>
                </a:tc>
                <a:tc>
                  <a:txBody>
                    <a:bodyPr/>
                    <a:lstStyle/>
                    <a:p>
                      <a:pPr algn="ctr"/>
                      <a:r>
                        <a:rPr sz="1100" b="0">
                          <a:solidFill>
                            <a:srgbClr val="262626"/>
                          </a:solidFill>
                          <a:latin typeface="等线"/>
                        </a:rPr>
                        <a:t>3 (0.45)</a:t>
                      </a:r>
                    </a:p>
                  </a:txBody>
                  <a:tcPr marL="36576" marR="36576" marT="9144" marB="9144" anchor="ctr"/>
                </a:tc>
                <a:extLst>
                  <a:ext uri="{0D108BD9-81ED-4DB2-BD59-A6C34878D82A}">
                    <a16:rowId xmlns:a16="http://schemas.microsoft.com/office/drawing/2014/main" val="10002"/>
                  </a:ext>
                </a:extLst>
              </a:tr>
              <a:tr h="329184">
                <a:tc>
                  <a:txBody>
                    <a:bodyPr/>
                    <a:lstStyle/>
                    <a:p>
                      <a:pPr algn="l"/>
                      <a:r>
                        <a:rPr sz="1100" b="0">
                          <a:solidFill>
                            <a:srgbClr val="262626"/>
                          </a:solidFill>
                          <a:latin typeface="等线"/>
                        </a:rPr>
                        <a:t>价格竞争力</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tc>
                  <a:txBody>
                    <a:bodyPr/>
                    <a:lstStyle/>
                    <a:p>
                      <a:pPr algn="ctr"/>
                      <a:r>
                        <a:rPr sz="1100" b="0">
                          <a:solidFill>
                            <a:srgbClr val="262626"/>
                          </a:solidFill>
                          <a:latin typeface="等线"/>
                        </a:rPr>
                        <a:t>4 (0.60)</a:t>
                      </a:r>
                    </a:p>
                  </a:txBody>
                  <a:tcPr marL="36576" marR="36576" marT="9144" marB="9144" anchor="ctr"/>
                </a:tc>
                <a:tc>
                  <a:txBody>
                    <a:bodyPr/>
                    <a:lstStyle/>
                    <a:p>
                      <a:pPr algn="ctr"/>
                      <a:r>
                        <a:rPr sz="1100" b="0">
                          <a:solidFill>
                            <a:srgbClr val="262626"/>
                          </a:solidFill>
                          <a:latin typeface="等线"/>
                        </a:rPr>
                        <a:t>2 (0.30)</a:t>
                      </a:r>
                    </a:p>
                  </a:txBody>
                  <a:tcPr marL="36576" marR="36576" marT="9144" marB="9144" anchor="ctr"/>
                </a:tc>
                <a:tc>
                  <a:txBody>
                    <a:bodyPr/>
                    <a:lstStyle/>
                    <a:p>
                      <a:pPr algn="ctr"/>
                      <a:r>
                        <a:rPr sz="1100" b="0">
                          <a:solidFill>
                            <a:srgbClr val="262626"/>
                          </a:solidFill>
                          <a:latin typeface="等线"/>
                        </a:rPr>
                        <a:t>3 (0.45)</a:t>
                      </a:r>
                    </a:p>
                  </a:txBody>
                  <a:tcPr marL="36576" marR="36576" marT="9144" marB="9144" anchor="ctr"/>
                </a:tc>
                <a:extLst>
                  <a:ext uri="{0D108BD9-81ED-4DB2-BD59-A6C34878D82A}">
                    <a16:rowId xmlns:a16="http://schemas.microsoft.com/office/drawing/2014/main" val="10003"/>
                  </a:ext>
                </a:extLst>
              </a:tr>
              <a:tr h="329184">
                <a:tc>
                  <a:txBody>
                    <a:bodyPr/>
                    <a:lstStyle/>
                    <a:p>
                      <a:pPr algn="l"/>
                      <a:r>
                        <a:rPr sz="1100" b="0">
                          <a:solidFill>
                            <a:srgbClr val="262626"/>
                          </a:solidFill>
                          <a:latin typeface="等线"/>
                        </a:rPr>
                        <a:t>盈利能力</a:t>
                      </a:r>
                    </a:p>
                  </a:txBody>
                  <a:tcPr marL="36576" marR="36576" marT="9144" marB="9144" anchor="ctr"/>
                </a:tc>
                <a:tc>
                  <a:txBody>
                    <a:bodyPr/>
                    <a:lstStyle/>
                    <a:p>
                      <a:pPr algn="ctr"/>
                      <a:r>
                        <a:rPr sz="1100" b="0">
                          <a:solidFill>
                            <a:srgbClr val="262626"/>
                          </a:solidFill>
                          <a:latin typeface="等线"/>
                        </a:rPr>
                        <a:t>0.10</a:t>
                      </a:r>
                    </a:p>
                  </a:txBody>
                  <a:tcPr marL="36576" marR="36576" marT="9144" marB="9144" anchor="ctr"/>
                </a:tc>
                <a:tc>
                  <a:txBody>
                    <a:bodyPr/>
                    <a:lstStyle/>
                    <a:p>
                      <a:pPr algn="ctr"/>
                      <a:r>
                        <a:rPr sz="1100" b="0">
                          <a:solidFill>
                            <a:srgbClr val="262626"/>
                          </a:solidFill>
                          <a:latin typeface="等线"/>
                        </a:rPr>
                        <a:t>3 (0.30)</a:t>
                      </a:r>
                    </a:p>
                  </a:txBody>
                  <a:tcPr marL="36576" marR="36576" marT="9144" marB="9144" anchor="ctr"/>
                </a:tc>
                <a:tc>
                  <a:txBody>
                    <a:bodyPr/>
                    <a:lstStyle/>
                    <a:p>
                      <a:pPr algn="ctr"/>
                      <a:r>
                        <a:rPr sz="1100" b="0">
                          <a:solidFill>
                            <a:srgbClr val="262626"/>
                          </a:solidFill>
                          <a:latin typeface="等线"/>
                        </a:rPr>
                        <a:t>4 (0.40)</a:t>
                      </a:r>
                    </a:p>
                  </a:txBody>
                  <a:tcPr marL="36576" marR="36576" marT="9144" marB="9144" anchor="ctr"/>
                </a:tc>
                <a:tc>
                  <a:txBody>
                    <a:bodyPr/>
                    <a:lstStyle/>
                    <a:p>
                      <a:pPr algn="ctr"/>
                      <a:r>
                        <a:rPr sz="1100" b="0">
                          <a:solidFill>
                            <a:srgbClr val="262626"/>
                          </a:solidFill>
                          <a:latin typeface="等线"/>
                        </a:rPr>
                        <a:t>3 (0.30)</a:t>
                      </a:r>
                    </a:p>
                  </a:txBody>
                  <a:tcPr marL="36576" marR="36576" marT="9144" marB="9144" anchor="ctr"/>
                </a:tc>
                <a:extLst>
                  <a:ext uri="{0D108BD9-81ED-4DB2-BD59-A6C34878D82A}">
                    <a16:rowId xmlns:a16="http://schemas.microsoft.com/office/drawing/2014/main" val="10004"/>
                  </a:ext>
                </a:extLst>
              </a:tr>
              <a:tr h="329184">
                <a:tc>
                  <a:txBody>
                    <a:bodyPr/>
                    <a:lstStyle/>
                    <a:p>
                      <a:pPr algn="l"/>
                      <a:r>
                        <a:rPr sz="1100" b="0">
                          <a:solidFill>
                            <a:srgbClr val="262626"/>
                          </a:solidFill>
                          <a:latin typeface="等线"/>
                        </a:rPr>
                        <a:t>全球市场布局</a:t>
                      </a:r>
                    </a:p>
                  </a:txBody>
                  <a:tcPr marL="36576" marR="36576" marT="9144" marB="9144" anchor="ctr"/>
                </a:tc>
                <a:tc>
                  <a:txBody>
                    <a:bodyPr/>
                    <a:lstStyle/>
                    <a:p>
                      <a:pPr algn="ctr"/>
                      <a:r>
                        <a:rPr sz="1100" b="0">
                          <a:solidFill>
                            <a:srgbClr val="262626"/>
                          </a:solidFill>
                          <a:latin typeface="等线"/>
                        </a:rPr>
                        <a:t>0.10</a:t>
                      </a:r>
                    </a:p>
                  </a:txBody>
                  <a:tcPr marL="36576" marR="36576" marT="9144" marB="9144" anchor="ctr"/>
                </a:tc>
                <a:tc>
                  <a:txBody>
                    <a:bodyPr/>
                    <a:lstStyle/>
                    <a:p>
                      <a:pPr algn="ctr"/>
                      <a:r>
                        <a:rPr sz="1100" b="0">
                          <a:solidFill>
                            <a:srgbClr val="262626"/>
                          </a:solidFill>
                          <a:latin typeface="等线"/>
                        </a:rPr>
                        <a:t>3 (0.30)</a:t>
                      </a:r>
                    </a:p>
                  </a:txBody>
                  <a:tcPr marL="36576" marR="36576" marT="9144" marB="9144" anchor="ctr"/>
                </a:tc>
                <a:tc>
                  <a:txBody>
                    <a:bodyPr/>
                    <a:lstStyle/>
                    <a:p>
                      <a:pPr algn="ctr"/>
                      <a:r>
                        <a:rPr sz="1100" b="0">
                          <a:solidFill>
                            <a:srgbClr val="262626"/>
                          </a:solidFill>
                          <a:latin typeface="等线"/>
                        </a:rPr>
                        <a:t>4 (0.40)</a:t>
                      </a:r>
                    </a:p>
                  </a:txBody>
                  <a:tcPr marL="36576" marR="36576" marT="9144" marB="9144" anchor="ctr"/>
                </a:tc>
                <a:tc>
                  <a:txBody>
                    <a:bodyPr/>
                    <a:lstStyle/>
                    <a:p>
                      <a:pPr algn="ctr"/>
                      <a:r>
                        <a:rPr sz="1100" b="0">
                          <a:solidFill>
                            <a:srgbClr val="262626"/>
                          </a:solidFill>
                          <a:latin typeface="等线"/>
                        </a:rPr>
                        <a:t>2 (0.20)</a:t>
                      </a:r>
                    </a:p>
                  </a:txBody>
                  <a:tcPr marL="36576" marR="36576" marT="9144" marB="9144" anchor="ctr"/>
                </a:tc>
                <a:extLst>
                  <a:ext uri="{0D108BD9-81ED-4DB2-BD59-A6C34878D82A}">
                    <a16:rowId xmlns:a16="http://schemas.microsoft.com/office/drawing/2014/main" val="10005"/>
                  </a:ext>
                </a:extLst>
              </a:tr>
              <a:tr h="329184">
                <a:tc>
                  <a:txBody>
                    <a:bodyPr/>
                    <a:lstStyle/>
                    <a:p>
                      <a:pPr algn="l"/>
                      <a:r>
                        <a:rPr sz="1100" b="0">
                          <a:solidFill>
                            <a:srgbClr val="262626"/>
                          </a:solidFill>
                          <a:latin typeface="等线"/>
                        </a:rPr>
                        <a:t>品牌影响力</a:t>
                      </a:r>
                    </a:p>
                  </a:txBody>
                  <a:tcPr marL="36576" marR="36576" marT="9144" marB="9144" anchor="ctr"/>
                </a:tc>
                <a:tc>
                  <a:txBody>
                    <a:bodyPr/>
                    <a:lstStyle/>
                    <a:p>
                      <a:pPr algn="ctr"/>
                      <a:r>
                        <a:rPr sz="1100" b="0">
                          <a:solidFill>
                            <a:srgbClr val="262626"/>
                          </a:solidFill>
                          <a:latin typeface="等线"/>
                        </a:rPr>
                        <a:t>0.10</a:t>
                      </a:r>
                    </a:p>
                  </a:txBody>
                  <a:tcPr marL="36576" marR="36576" marT="9144" marB="9144" anchor="ctr"/>
                </a:tc>
                <a:tc>
                  <a:txBody>
                    <a:bodyPr/>
                    <a:lstStyle/>
                    <a:p>
                      <a:pPr algn="ctr"/>
                      <a:r>
                        <a:rPr sz="1100" b="0">
                          <a:solidFill>
                            <a:srgbClr val="262626"/>
                          </a:solidFill>
                          <a:latin typeface="等线"/>
                        </a:rPr>
                        <a:t>3 (0.30)</a:t>
                      </a:r>
                    </a:p>
                  </a:txBody>
                  <a:tcPr marL="36576" marR="36576" marT="9144" marB="9144" anchor="ctr"/>
                </a:tc>
                <a:tc>
                  <a:txBody>
                    <a:bodyPr/>
                    <a:lstStyle/>
                    <a:p>
                      <a:pPr algn="ctr"/>
                      <a:r>
                        <a:rPr sz="1100" b="0">
                          <a:solidFill>
                            <a:srgbClr val="262626"/>
                          </a:solidFill>
                          <a:latin typeface="等线"/>
                        </a:rPr>
                        <a:t>4 (0.40)</a:t>
                      </a:r>
                    </a:p>
                  </a:txBody>
                  <a:tcPr marL="36576" marR="36576" marT="9144" marB="9144" anchor="ctr"/>
                </a:tc>
                <a:tc>
                  <a:txBody>
                    <a:bodyPr/>
                    <a:lstStyle/>
                    <a:p>
                      <a:pPr algn="ctr"/>
                      <a:r>
                        <a:rPr sz="1100" b="0">
                          <a:solidFill>
                            <a:srgbClr val="262626"/>
                          </a:solidFill>
                          <a:latin typeface="等线"/>
                        </a:rPr>
                        <a:t>3 (0.30)</a:t>
                      </a:r>
                    </a:p>
                  </a:txBody>
                  <a:tcPr marL="36576" marR="36576" marT="9144" marB="9144" anchor="ctr"/>
                </a:tc>
                <a:extLst>
                  <a:ext uri="{0D108BD9-81ED-4DB2-BD59-A6C34878D82A}">
                    <a16:rowId xmlns:a16="http://schemas.microsoft.com/office/drawing/2014/main" val="10006"/>
                  </a:ext>
                </a:extLst>
              </a:tr>
              <a:tr h="329184">
                <a:tc>
                  <a:txBody>
                    <a:bodyPr/>
                    <a:lstStyle/>
                    <a:p>
                      <a:pPr algn="l"/>
                      <a:r>
                        <a:rPr sz="1100" b="0">
                          <a:solidFill>
                            <a:srgbClr val="262626"/>
                          </a:solidFill>
                          <a:latin typeface="等线"/>
                        </a:rPr>
                        <a:t>研发与技术储备</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tc>
                  <a:txBody>
                    <a:bodyPr/>
                    <a:lstStyle/>
                    <a:p>
                      <a:pPr algn="ctr"/>
                      <a:r>
                        <a:rPr sz="1100" b="0">
                          <a:solidFill>
                            <a:srgbClr val="262626"/>
                          </a:solidFill>
                          <a:latin typeface="等线"/>
                        </a:rPr>
                        <a:t>4 (0.60)</a:t>
                      </a:r>
                    </a:p>
                  </a:txBody>
                  <a:tcPr marL="36576" marR="36576" marT="9144" marB="9144" anchor="ctr"/>
                </a:tc>
                <a:tc>
                  <a:txBody>
                    <a:bodyPr/>
                    <a:lstStyle/>
                    <a:p>
                      <a:pPr algn="ctr"/>
                      <a:r>
                        <a:rPr sz="1100" b="0">
                          <a:solidFill>
                            <a:srgbClr val="262626"/>
                          </a:solidFill>
                          <a:latin typeface="等线"/>
                        </a:rPr>
                        <a:t>4 (0.60)</a:t>
                      </a:r>
                    </a:p>
                  </a:txBody>
                  <a:tcPr marL="36576" marR="36576" marT="9144" marB="9144" anchor="ctr"/>
                </a:tc>
                <a:tc>
                  <a:txBody>
                    <a:bodyPr/>
                    <a:lstStyle/>
                    <a:p>
                      <a:pPr algn="ctr"/>
                      <a:r>
                        <a:rPr sz="1100" b="0">
                          <a:solidFill>
                            <a:srgbClr val="262626"/>
                          </a:solidFill>
                          <a:latin typeface="等线"/>
                        </a:rPr>
                        <a:t>3 (0.45)</a:t>
                      </a:r>
                    </a:p>
                  </a:txBody>
                  <a:tcPr marL="36576" marR="36576" marT="9144" marB="9144" anchor="ctr"/>
                </a:tc>
                <a:extLst>
                  <a:ext uri="{0D108BD9-81ED-4DB2-BD59-A6C34878D82A}">
                    <a16:rowId xmlns:a16="http://schemas.microsoft.com/office/drawing/2014/main" val="10007"/>
                  </a:ext>
                </a:extLst>
              </a:tr>
              <a:tr h="329184">
                <a:tc>
                  <a:txBody>
                    <a:bodyPr/>
                    <a:lstStyle/>
                    <a:p>
                      <a:pPr algn="l"/>
                      <a:r>
                        <a:rPr sz="1100" b="0">
                          <a:solidFill>
                            <a:srgbClr val="262626"/>
                          </a:solidFill>
                          <a:latin typeface="等线"/>
                        </a:rPr>
                        <a:t>智能化进展</a:t>
                      </a:r>
                    </a:p>
                  </a:txBody>
                  <a:tcPr marL="36576" marR="36576" marT="9144" marB="9144" anchor="ctr"/>
                </a:tc>
                <a:tc>
                  <a:txBody>
                    <a:bodyPr/>
                    <a:lstStyle/>
                    <a:p>
                      <a:pPr algn="ctr"/>
                      <a:r>
                        <a:rPr sz="1100" b="0">
                          <a:solidFill>
                            <a:srgbClr val="262626"/>
                          </a:solidFill>
                          <a:latin typeface="等线"/>
                        </a:rPr>
                        <a:t>0.10</a:t>
                      </a:r>
                    </a:p>
                  </a:txBody>
                  <a:tcPr marL="36576" marR="36576" marT="9144" marB="9144" anchor="ctr"/>
                </a:tc>
                <a:tc>
                  <a:txBody>
                    <a:bodyPr/>
                    <a:lstStyle/>
                    <a:p>
                      <a:pPr algn="ctr"/>
                      <a:r>
                        <a:rPr sz="1100" b="0">
                          <a:solidFill>
                            <a:srgbClr val="262626"/>
                          </a:solidFill>
                          <a:latin typeface="等线"/>
                        </a:rPr>
                        <a:t>3 (0.30)</a:t>
                      </a:r>
                    </a:p>
                  </a:txBody>
                  <a:tcPr marL="36576" marR="36576" marT="9144" marB="9144" anchor="ctr"/>
                </a:tc>
                <a:tc>
                  <a:txBody>
                    <a:bodyPr/>
                    <a:lstStyle/>
                    <a:p>
                      <a:pPr algn="ctr"/>
                      <a:r>
                        <a:rPr sz="1100" b="0">
                          <a:solidFill>
                            <a:srgbClr val="262626"/>
                          </a:solidFill>
                          <a:latin typeface="等线"/>
                        </a:rPr>
                        <a:t>4 (0.40)</a:t>
                      </a:r>
                    </a:p>
                  </a:txBody>
                  <a:tcPr marL="36576" marR="36576" marT="9144" marB="9144" anchor="ctr"/>
                </a:tc>
                <a:tc>
                  <a:txBody>
                    <a:bodyPr/>
                    <a:lstStyle/>
                    <a:p>
                      <a:pPr algn="ctr"/>
                      <a:r>
                        <a:rPr sz="1100" b="0">
                          <a:solidFill>
                            <a:srgbClr val="262626"/>
                          </a:solidFill>
                          <a:latin typeface="等线"/>
                        </a:rPr>
                        <a:t>2 (0.20)</a:t>
                      </a:r>
                    </a:p>
                  </a:txBody>
                  <a:tcPr marL="36576" marR="36576" marT="9144" marB="9144" anchor="ctr"/>
                </a:tc>
                <a:extLst>
                  <a:ext uri="{0D108BD9-81ED-4DB2-BD59-A6C34878D82A}">
                    <a16:rowId xmlns:a16="http://schemas.microsoft.com/office/drawing/2014/main" val="10008"/>
                  </a:ext>
                </a:extLst>
              </a:tr>
              <a:tr h="329184">
                <a:tc>
                  <a:txBody>
                    <a:bodyPr/>
                    <a:lstStyle/>
                    <a:p>
                      <a:pPr algn="l"/>
                      <a:r>
                        <a:rPr sz="1200" b="1">
                          <a:solidFill>
                            <a:srgbClr val="30508C"/>
                          </a:solidFill>
                          <a:latin typeface="等线"/>
                        </a:rPr>
                        <a:t>总计</a:t>
                      </a:r>
                    </a:p>
                  </a:txBody>
                  <a:tcPr marL="36576" marR="36576" marT="9144" marB="9144" anchor="ctr">
                    <a:solidFill>
                      <a:srgbClr val="F2F2F2"/>
                    </a:solidFill>
                  </a:tcPr>
                </a:tc>
                <a:tc>
                  <a:txBody>
                    <a:bodyPr/>
                    <a:lstStyle/>
                    <a:p>
                      <a:pPr algn="ctr"/>
                      <a:r>
                        <a:rPr sz="1200" b="1">
                          <a:solidFill>
                            <a:srgbClr val="30508C"/>
                          </a:solidFill>
                          <a:latin typeface="等线"/>
                        </a:rPr>
                        <a:t>1.00</a:t>
                      </a:r>
                    </a:p>
                  </a:txBody>
                  <a:tcPr marL="36576" marR="36576" marT="9144" marB="9144" anchor="ctr">
                    <a:solidFill>
                      <a:srgbClr val="F2F2F2"/>
                    </a:solidFill>
                  </a:tcPr>
                </a:tc>
                <a:tc>
                  <a:txBody>
                    <a:bodyPr/>
                    <a:lstStyle/>
                    <a:p>
                      <a:pPr algn="ctr"/>
                      <a:r>
                        <a:rPr sz="1200" b="1">
                          <a:solidFill>
                            <a:srgbClr val="30508C"/>
                          </a:solidFill>
                          <a:latin typeface="等线"/>
                        </a:rPr>
                        <a:t>3.60</a:t>
                      </a:r>
                    </a:p>
                  </a:txBody>
                  <a:tcPr marL="36576" marR="36576" marT="9144" marB="9144" anchor="ctr">
                    <a:solidFill>
                      <a:srgbClr val="F2F2F2"/>
                    </a:solidFill>
                  </a:tcPr>
                </a:tc>
                <a:tc>
                  <a:txBody>
                    <a:bodyPr/>
                    <a:lstStyle/>
                    <a:p>
                      <a:pPr algn="ctr"/>
                      <a:r>
                        <a:rPr sz="1200" b="1">
                          <a:solidFill>
                            <a:srgbClr val="30508C"/>
                          </a:solidFill>
                          <a:latin typeface="等线"/>
                        </a:rPr>
                        <a:t>3.25</a:t>
                      </a:r>
                    </a:p>
                  </a:txBody>
                  <a:tcPr marL="36576" marR="36576" marT="9144" marB="9144" anchor="ctr">
                    <a:solidFill>
                      <a:srgbClr val="F2F2F2"/>
                    </a:solidFill>
                  </a:tcPr>
                </a:tc>
                <a:tc>
                  <a:txBody>
                    <a:bodyPr/>
                    <a:lstStyle/>
                    <a:p>
                      <a:pPr algn="ctr"/>
                      <a:r>
                        <a:rPr sz="1200" b="1">
                          <a:solidFill>
                            <a:srgbClr val="30508C"/>
                          </a:solidFill>
                          <a:latin typeface="等线"/>
                        </a:rPr>
                        <a:t>2.80</a:t>
                      </a:r>
                    </a:p>
                  </a:txBody>
                  <a:tcPr marL="36576" marR="36576" marT="9144" marB="9144" anchor="ctr">
                    <a:solidFill>
                      <a:srgbClr val="F2F2F2"/>
                    </a:solidFill>
                  </a:tcPr>
                </a:tc>
                <a:extLst>
                  <a:ext uri="{0D108BD9-81ED-4DB2-BD59-A6C34878D82A}">
                    <a16:rowId xmlns:a16="http://schemas.microsoft.com/office/drawing/2014/main" val="10009"/>
                  </a:ext>
                </a:extLst>
              </a:tr>
            </a:tbl>
          </a:graphicData>
        </a:graphic>
      </p:graphicFrame>
      <p:sp>
        <p:nvSpPr>
          <p:cNvPr id="4" name="TextBox 3"/>
          <p:cNvSpPr txBox="1"/>
          <p:nvPr/>
        </p:nvSpPr>
        <p:spPr>
          <a:xfrm>
            <a:off x="1325880" y="5102351"/>
            <a:ext cx="8915400" cy="1700784"/>
          </a:xfrm>
          <a:prstGeom prst="rect">
            <a:avLst/>
          </a:prstGeom>
          <a:noFill/>
        </p:spPr>
        <p:txBody>
          <a:bodyPr wrap="square">
            <a:spAutoFit/>
          </a:bodyPr>
          <a:lstStyle/>
          <a:p>
            <a:r>
              <a:rPr sz="1200" b="1">
                <a:solidFill>
                  <a:srgbClr val="30508C"/>
                </a:solidFill>
                <a:latin typeface="等线"/>
              </a:rPr>
              <a:t>解读：比亚迪胜在规模、产品广度与成本控制（3.60）；特斯拉胜在盈利、全球布局与智能化（3.25）；吉利居后但产品矩阵正在完善（2.80）。注意：CPM 评分表示优势/弱点（4=主要优势，1=主要弱点），且不区分机会与威胁——这是与 EFE 的关键区别。</a:t>
            </a:r>
          </a:p>
          <a:p>
            <a:r>
              <a:rPr sz="1100" i="1">
                <a:solidFill>
                  <a:srgbClr val="7F7F7F"/>
                </a:solidFill>
                <a:latin typeface="等线"/>
              </a:rPr>
              <a:t>编制方法：Fred R. David《战略管理：概念与案例》第13版；依据三家公司年报及公开资料课堂演练赋分</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03512" y="564216"/>
            <a:ext cx="7958331" cy="1077229"/>
          </a:xfrm>
        </p:spPr>
        <p:txBody>
          <a:bodyPr/>
          <a:lstStyle/>
          <a:p>
            <a:r>
              <a:rPr kumimoji="1" lang="zh-CN" altLang="en-US" dirty="0"/>
              <a:t>企业资源观</a:t>
            </a:r>
          </a:p>
        </p:txBody>
      </p:sp>
      <p:sp>
        <p:nvSpPr>
          <p:cNvPr id="3" name="内容占位符 2"/>
          <p:cNvSpPr>
            <a:spLocks noGrp="1"/>
          </p:cNvSpPr>
          <p:nvPr>
            <p:ph idx="1"/>
          </p:nvPr>
        </p:nvSpPr>
        <p:spPr>
          <a:xfrm>
            <a:off x="1703512" y="1412776"/>
            <a:ext cx="9577064" cy="1452344"/>
          </a:xfrm>
        </p:spPr>
        <p:txBody>
          <a:bodyPr>
            <a:normAutofit fontScale="25000" lnSpcReduction="20000"/>
          </a:bodyPr>
          <a:lstStyle/>
          <a:p>
            <a:pPr lvl="1"/>
            <a:endParaRPr kumimoji="1" lang="en-US" altLang="zh-CN" dirty="0"/>
          </a:p>
          <a:p>
            <a:pPr lvl="1"/>
            <a:endParaRPr kumimoji="1" lang="en-US" altLang="zh-CN" dirty="0"/>
          </a:p>
          <a:p>
            <a:r>
              <a:rPr kumimoji="1" lang="zh-CN" altLang="en-US" sz="9600" dirty="0"/>
              <a:t>上个世纪</a:t>
            </a:r>
            <a:r>
              <a:rPr kumimoji="1" lang="en-US" altLang="zh-CN" sz="9600" dirty="0"/>
              <a:t>80</a:t>
            </a:r>
            <a:r>
              <a:rPr kumimoji="1" lang="zh-CN" altLang="en-US" sz="9600" dirty="0"/>
              <a:t>年代与波特行业分析理论并行企业的资源观</a:t>
            </a:r>
            <a:endParaRPr kumimoji="1" lang="en-US" altLang="zh-CN" sz="9600" dirty="0"/>
          </a:p>
          <a:p>
            <a:r>
              <a:rPr kumimoji="1" lang="zh-CN" altLang="en-US" sz="9600" dirty="0"/>
              <a:t>同一行业的企业利润差别巨大</a:t>
            </a:r>
            <a:endParaRPr kumimoji="1" lang="en-US" altLang="zh-CN" sz="9600" dirty="0"/>
          </a:p>
          <a:p>
            <a:pPr lvl="1"/>
            <a:endParaRPr kumimoji="1" lang="en-US" altLang="zh-CN" dirty="0"/>
          </a:p>
          <a:p>
            <a:endParaRPr kumimoji="1" lang="en-US" altLang="zh-CN" dirty="0"/>
          </a:p>
          <a:p>
            <a:endParaRPr kumimoji="1" lang="zh-CN" altLang="en-US" dirty="0"/>
          </a:p>
        </p:txBody>
      </p:sp>
      <p:pic>
        <p:nvPicPr>
          <p:cNvPr id="5" name="图片 4"/>
          <p:cNvPicPr>
            <a:picLocks noChangeAspect="1"/>
          </p:cNvPicPr>
          <p:nvPr/>
        </p:nvPicPr>
        <p:blipFill>
          <a:blip r:embed="rId2"/>
          <a:stretch>
            <a:fillRect/>
          </a:stretch>
        </p:blipFill>
        <p:spPr>
          <a:xfrm>
            <a:off x="1555294" y="2636912"/>
            <a:ext cx="9144000" cy="4073236"/>
          </a:xfrm>
          <a:prstGeom prst="rect">
            <a:avLst/>
          </a:prstGeom>
        </p:spPr>
      </p:pic>
    </p:spTree>
    <p:extLst>
      <p:ext uri="{BB962C8B-B14F-4D97-AF65-F5344CB8AC3E}">
        <p14:creationId xmlns:p14="http://schemas.microsoft.com/office/powerpoint/2010/main" val="70107579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52261" y="683342"/>
            <a:ext cx="8229600" cy="1143000"/>
          </a:xfrm>
        </p:spPr>
        <p:txBody>
          <a:bodyPr/>
          <a:lstStyle/>
          <a:p>
            <a:pPr marL="54864">
              <a:defRPr/>
            </a:pPr>
            <a:r>
              <a:rPr lang="zh-CN" altLang="en-US" dirty="0">
                <a:solidFill>
                  <a:schemeClr val="tx2">
                    <a:tint val="100000"/>
                    <a:shade val="90000"/>
                    <a:satMod val="250000"/>
                    <a:alpha val="100000"/>
                  </a:schemeClr>
                </a:solidFill>
                <a:cs typeface="+mj-cs"/>
              </a:rPr>
              <a:t>组织的资源和能力分析</a:t>
            </a:r>
          </a:p>
        </p:txBody>
      </p:sp>
      <p:sp>
        <p:nvSpPr>
          <p:cNvPr id="89090" name="内容占位符 2"/>
          <p:cNvSpPr>
            <a:spLocks noGrp="1"/>
          </p:cNvSpPr>
          <p:nvPr>
            <p:ph idx="1"/>
          </p:nvPr>
        </p:nvSpPr>
        <p:spPr>
          <a:xfrm>
            <a:off x="1981200" y="1646239"/>
            <a:ext cx="8229600" cy="1393102"/>
          </a:xfrm>
        </p:spPr>
        <p:txBody>
          <a:bodyPr>
            <a:normAutofit fontScale="77500" lnSpcReduction="20000"/>
          </a:bodyPr>
          <a:lstStyle/>
          <a:p>
            <a:r>
              <a:rPr lang="zh-CN" altLang="en-US" dirty="0"/>
              <a:t>企业的资源观</a:t>
            </a:r>
            <a:endParaRPr lang="en-US" altLang="zh-CN" dirty="0"/>
          </a:p>
          <a:p>
            <a:r>
              <a:rPr lang="zh-CN" altLang="en-US" dirty="0"/>
              <a:t>资源的种类</a:t>
            </a:r>
            <a:endParaRPr lang="en-US" altLang="zh-CN" dirty="0"/>
          </a:p>
          <a:p>
            <a:r>
              <a:rPr lang="zh-CN" altLang="en-US" dirty="0"/>
              <a:t>核心能力分析</a:t>
            </a:r>
          </a:p>
        </p:txBody>
      </p:sp>
      <p:grpSp>
        <p:nvGrpSpPr>
          <p:cNvPr id="29" name="组合 28">
            <a:extLst>
              <a:ext uri="{FF2B5EF4-FFF2-40B4-BE49-F238E27FC236}">
                <a16:creationId xmlns:a16="http://schemas.microsoft.com/office/drawing/2014/main" id="{BA4F7E17-42BD-5246-8349-4B152B0158F5}"/>
              </a:ext>
            </a:extLst>
          </p:cNvPr>
          <p:cNvGrpSpPr/>
          <p:nvPr/>
        </p:nvGrpSpPr>
        <p:grpSpPr>
          <a:xfrm>
            <a:off x="2999656" y="3449328"/>
            <a:ext cx="6336704" cy="1521460"/>
            <a:chOff x="1475656" y="3449328"/>
            <a:chExt cx="6336704" cy="1521460"/>
          </a:xfrm>
        </p:grpSpPr>
        <p:sp>
          <p:nvSpPr>
            <p:cNvPr id="4" name="文本框 3"/>
            <p:cNvSpPr txBox="1"/>
            <p:nvPr/>
          </p:nvSpPr>
          <p:spPr>
            <a:xfrm>
              <a:off x="1475656" y="3449328"/>
              <a:ext cx="1224136" cy="369332"/>
            </a:xfrm>
            <a:prstGeom prst="rect">
              <a:avLst/>
            </a:prstGeom>
            <a:solidFill>
              <a:schemeClr val="accent3"/>
            </a:solidFill>
          </p:spPr>
          <p:txBody>
            <a:bodyPr wrap="square" rtlCol="0">
              <a:spAutoFit/>
            </a:bodyPr>
            <a:lstStyle/>
            <a:p>
              <a:pPr algn="ctr"/>
              <a:r>
                <a:rPr kumimoji="1" lang="zh-CN" altLang="en-US" dirty="0"/>
                <a:t>资源</a:t>
              </a:r>
            </a:p>
          </p:txBody>
        </p:sp>
        <p:sp>
          <p:nvSpPr>
            <p:cNvPr id="6" name="文本框 5"/>
            <p:cNvSpPr txBox="1"/>
            <p:nvPr/>
          </p:nvSpPr>
          <p:spPr>
            <a:xfrm>
              <a:off x="1475656" y="4025392"/>
              <a:ext cx="1224136" cy="369332"/>
            </a:xfrm>
            <a:prstGeom prst="rect">
              <a:avLst/>
            </a:prstGeom>
            <a:solidFill>
              <a:schemeClr val="accent3"/>
            </a:solidFill>
          </p:spPr>
          <p:txBody>
            <a:bodyPr wrap="square" rtlCol="0">
              <a:spAutoFit/>
            </a:bodyPr>
            <a:lstStyle/>
            <a:p>
              <a:pPr algn="ctr"/>
              <a:r>
                <a:rPr kumimoji="1" lang="zh-CN" altLang="en-US" dirty="0"/>
                <a:t>核心能力</a:t>
              </a:r>
            </a:p>
          </p:txBody>
        </p:sp>
        <p:sp>
          <p:nvSpPr>
            <p:cNvPr id="7" name="文本框 6"/>
            <p:cNvSpPr txBox="1"/>
            <p:nvPr/>
          </p:nvSpPr>
          <p:spPr>
            <a:xfrm>
              <a:off x="1475656" y="4601456"/>
              <a:ext cx="1224136" cy="369332"/>
            </a:xfrm>
            <a:prstGeom prst="rect">
              <a:avLst/>
            </a:prstGeom>
            <a:solidFill>
              <a:schemeClr val="accent3"/>
            </a:solidFill>
          </p:spPr>
          <p:txBody>
            <a:bodyPr wrap="square" rtlCol="0">
              <a:spAutoFit/>
            </a:bodyPr>
            <a:lstStyle/>
            <a:p>
              <a:pPr algn="ctr"/>
              <a:r>
                <a:rPr kumimoji="1" lang="zh-CN" altLang="en-US" dirty="0"/>
                <a:t>能力</a:t>
              </a:r>
            </a:p>
          </p:txBody>
        </p:sp>
        <p:sp>
          <p:nvSpPr>
            <p:cNvPr id="8" name="文本框 7"/>
            <p:cNvSpPr txBox="1"/>
            <p:nvPr/>
          </p:nvSpPr>
          <p:spPr>
            <a:xfrm>
              <a:off x="3203848" y="4025392"/>
              <a:ext cx="1008112" cy="369332"/>
            </a:xfrm>
            <a:prstGeom prst="rect">
              <a:avLst/>
            </a:prstGeom>
            <a:solidFill>
              <a:schemeClr val="accent3"/>
            </a:solidFill>
          </p:spPr>
          <p:txBody>
            <a:bodyPr wrap="square" rtlCol="0">
              <a:spAutoFit/>
            </a:bodyPr>
            <a:lstStyle/>
            <a:p>
              <a:pPr algn="ctr"/>
              <a:r>
                <a:rPr kumimoji="1" lang="zh-CN" altLang="en-US" dirty="0"/>
                <a:t>战略</a:t>
              </a:r>
            </a:p>
          </p:txBody>
        </p:sp>
        <p:sp>
          <p:nvSpPr>
            <p:cNvPr id="9" name="文本框 8"/>
            <p:cNvSpPr txBox="1"/>
            <p:nvPr/>
          </p:nvSpPr>
          <p:spPr>
            <a:xfrm>
              <a:off x="4572000" y="4025392"/>
              <a:ext cx="1152128" cy="369332"/>
            </a:xfrm>
            <a:prstGeom prst="rect">
              <a:avLst/>
            </a:prstGeom>
            <a:solidFill>
              <a:schemeClr val="accent3"/>
            </a:solidFill>
          </p:spPr>
          <p:txBody>
            <a:bodyPr wrap="square" rtlCol="0">
              <a:spAutoFit/>
            </a:bodyPr>
            <a:lstStyle/>
            <a:p>
              <a:pPr algn="ctr"/>
              <a:r>
                <a:rPr kumimoji="1" lang="zh-CN" altLang="en-US" dirty="0"/>
                <a:t>竞争优势</a:t>
              </a:r>
            </a:p>
          </p:txBody>
        </p:sp>
        <p:sp>
          <p:nvSpPr>
            <p:cNvPr id="10" name="文本框 9"/>
            <p:cNvSpPr txBox="1"/>
            <p:nvPr/>
          </p:nvSpPr>
          <p:spPr>
            <a:xfrm>
              <a:off x="6012160" y="4025392"/>
              <a:ext cx="1800200" cy="369332"/>
            </a:xfrm>
            <a:prstGeom prst="rect">
              <a:avLst/>
            </a:prstGeom>
            <a:solidFill>
              <a:schemeClr val="accent3"/>
            </a:solidFill>
          </p:spPr>
          <p:txBody>
            <a:bodyPr wrap="square" rtlCol="0">
              <a:spAutoFit/>
            </a:bodyPr>
            <a:lstStyle/>
            <a:p>
              <a:r>
                <a:rPr kumimoji="1" lang="zh-CN" altLang="en-US" dirty="0"/>
                <a:t>卓越的盈利能力</a:t>
              </a:r>
            </a:p>
          </p:txBody>
        </p:sp>
        <p:cxnSp>
          <p:nvCxnSpPr>
            <p:cNvPr id="11" name="直线箭头连接符 10"/>
            <p:cNvCxnSpPr>
              <a:stCxn id="4" idx="2"/>
              <a:endCxn id="6" idx="0"/>
            </p:cNvCxnSpPr>
            <p:nvPr/>
          </p:nvCxnSpPr>
          <p:spPr>
            <a:xfrm>
              <a:off x="2087724" y="3818660"/>
              <a:ext cx="0" cy="2067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直线箭头连接符 12"/>
            <p:cNvCxnSpPr>
              <a:stCxn id="7" idx="0"/>
              <a:endCxn id="6" idx="2"/>
            </p:cNvCxnSpPr>
            <p:nvPr/>
          </p:nvCxnSpPr>
          <p:spPr>
            <a:xfrm flipV="1">
              <a:off x="2087724" y="4394724"/>
              <a:ext cx="0" cy="2067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直线箭头连接符 14"/>
            <p:cNvCxnSpPr>
              <a:stCxn id="6" idx="3"/>
              <a:endCxn id="8" idx="1"/>
            </p:cNvCxnSpPr>
            <p:nvPr/>
          </p:nvCxnSpPr>
          <p:spPr>
            <a:xfrm>
              <a:off x="2699792" y="4210058"/>
              <a:ext cx="50405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直线箭头连接符 16"/>
            <p:cNvCxnSpPr>
              <a:stCxn id="8" idx="3"/>
              <a:endCxn id="9" idx="1"/>
            </p:cNvCxnSpPr>
            <p:nvPr/>
          </p:nvCxnSpPr>
          <p:spPr>
            <a:xfrm>
              <a:off x="4211960" y="4210058"/>
              <a:ext cx="36004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直线箭头连接符 18"/>
            <p:cNvCxnSpPr>
              <a:stCxn id="9" idx="3"/>
              <a:endCxn id="10" idx="1"/>
            </p:cNvCxnSpPr>
            <p:nvPr/>
          </p:nvCxnSpPr>
          <p:spPr>
            <a:xfrm>
              <a:off x="5724128" y="4210058"/>
              <a:ext cx="2880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8000754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808056"/>
            <a:ext cx="8229600" cy="1143000"/>
          </a:xfrm>
        </p:spPr>
        <p:txBody>
          <a:bodyPr/>
          <a:lstStyle/>
          <a:p>
            <a:pPr marL="54864">
              <a:defRPr/>
            </a:pPr>
            <a:r>
              <a:rPr lang="zh-CN" altLang="en-US" dirty="0">
                <a:solidFill>
                  <a:schemeClr val="tx2">
                    <a:tint val="100000"/>
                    <a:shade val="90000"/>
                    <a:satMod val="250000"/>
                    <a:alpha val="100000"/>
                  </a:schemeClr>
                </a:solidFill>
                <a:cs typeface="+mj-cs"/>
              </a:rPr>
              <a:t>企业资源观的核心观点</a:t>
            </a:r>
          </a:p>
        </p:txBody>
      </p:sp>
      <p:sp>
        <p:nvSpPr>
          <p:cNvPr id="3" name="内容占位符 2"/>
          <p:cNvSpPr>
            <a:spLocks noGrp="1"/>
          </p:cNvSpPr>
          <p:nvPr>
            <p:ph idx="1"/>
          </p:nvPr>
        </p:nvSpPr>
        <p:spPr>
          <a:xfrm>
            <a:off x="2141316" y="1681726"/>
            <a:ext cx="8428823" cy="3997828"/>
          </a:xfrm>
        </p:spPr>
        <p:txBody>
          <a:bodyPr>
            <a:normAutofit fontScale="92500"/>
          </a:bodyPr>
          <a:lstStyle/>
          <a:p>
            <a:pPr>
              <a:spcBef>
                <a:spcPts val="0"/>
              </a:spcBef>
              <a:defRPr/>
            </a:pPr>
            <a:r>
              <a:rPr lang="zh-CN" altLang="en-US" dirty="0">
                <a:cs typeface="+mn-cs"/>
              </a:rPr>
              <a:t>企业是由一系列资源束所组成的集合，每种资源有许多不同的用途，企业的竞争优势源自于企业所拥有的资源，外部的市场结构与市场机会对企业竞争产生一定的影响，但不是决定性因素。</a:t>
            </a:r>
            <a:endParaRPr lang="en-US" altLang="zh-CN" dirty="0">
              <a:cs typeface="+mn-cs"/>
            </a:endParaRPr>
          </a:p>
          <a:p>
            <a:pPr>
              <a:spcBef>
                <a:spcPts val="0"/>
              </a:spcBef>
              <a:defRPr/>
            </a:pPr>
            <a:r>
              <a:rPr lang="zh-CN" altLang="en-US" dirty="0">
                <a:cs typeface="+mn-cs"/>
              </a:rPr>
              <a:t>企业是各种资源的集合体。由于各种原因，企业所拥有的资源不同，具有异质性，正是这种异质性导致了企业竞争力的差距。</a:t>
            </a:r>
            <a:endParaRPr lang="en-US" altLang="zh-CN" dirty="0">
              <a:cs typeface="+mn-cs"/>
            </a:endParaRPr>
          </a:p>
          <a:p>
            <a:pPr>
              <a:spcBef>
                <a:spcPts val="0"/>
              </a:spcBef>
              <a:defRPr/>
            </a:pPr>
            <a:r>
              <a:rPr lang="zh-CN" altLang="en-US" dirty="0">
                <a:cs typeface="+mn-cs"/>
              </a:rPr>
              <a:t>总的来讲，企业竞争优势来源于企业的异质资源；持续的竞争优势源于资源的不可模仿性；异质资源的获取与管理主要来源于学习。</a:t>
            </a:r>
          </a:p>
        </p:txBody>
      </p:sp>
    </p:spTree>
    <p:extLst>
      <p:ext uri="{BB962C8B-B14F-4D97-AF65-F5344CB8AC3E}">
        <p14:creationId xmlns:p14="http://schemas.microsoft.com/office/powerpoint/2010/main" val="164012411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558336"/>
            <a:ext cx="8229600" cy="1143000"/>
          </a:xfrm>
        </p:spPr>
        <p:txBody>
          <a:bodyPr/>
          <a:lstStyle/>
          <a:p>
            <a:pPr marL="54864">
              <a:defRPr/>
            </a:pPr>
            <a:r>
              <a:rPr lang="zh-CN" altLang="en-US" dirty="0">
                <a:solidFill>
                  <a:schemeClr val="tx2">
                    <a:tint val="100000"/>
                    <a:shade val="90000"/>
                    <a:satMod val="250000"/>
                    <a:alpha val="100000"/>
                  </a:schemeClr>
                </a:solidFill>
                <a:cs typeface="+mj-cs"/>
              </a:rPr>
              <a:t>企业资源的概念与分类</a:t>
            </a:r>
          </a:p>
        </p:txBody>
      </p:sp>
      <p:sp>
        <p:nvSpPr>
          <p:cNvPr id="93186" name="内容占位符 2"/>
          <p:cNvSpPr>
            <a:spLocks noGrp="1"/>
          </p:cNvSpPr>
          <p:nvPr>
            <p:ph idx="1"/>
          </p:nvPr>
        </p:nvSpPr>
        <p:spPr/>
        <p:txBody>
          <a:bodyPr>
            <a:normAutofit fontScale="70000" lnSpcReduction="20000"/>
          </a:bodyPr>
          <a:lstStyle/>
          <a:p>
            <a:r>
              <a:rPr lang="zh-CN" altLang="en-US" dirty="0"/>
              <a:t>企业资源是企业所拥有的、能够创造价值的各种生产要素</a:t>
            </a:r>
            <a:endParaRPr lang="en-US" altLang="zh-CN" dirty="0"/>
          </a:p>
          <a:p>
            <a:r>
              <a:rPr lang="zh-CN" altLang="en-US" dirty="0"/>
              <a:t>分类：有形、无形、人力</a:t>
            </a:r>
            <a:endParaRPr lang="en-US" altLang="zh-CN" dirty="0"/>
          </a:p>
          <a:p>
            <a:r>
              <a:rPr lang="zh-CN" altLang="en-US" dirty="0"/>
              <a:t>有形：土地、厂房、设备、原材料、资金</a:t>
            </a:r>
            <a:endParaRPr lang="en-US" altLang="zh-CN" dirty="0"/>
          </a:p>
          <a:p>
            <a:r>
              <a:rPr lang="zh-CN" altLang="en-US" dirty="0"/>
              <a:t>无形：品牌、商誉、专利、</a:t>
            </a:r>
            <a:r>
              <a:rPr lang="en-US" altLang="zh-CN" dirty="0"/>
              <a:t>knowhow</a:t>
            </a:r>
            <a:r>
              <a:rPr lang="zh-CN" altLang="en-US" dirty="0"/>
              <a:t>、社会资本。。</a:t>
            </a:r>
            <a:endParaRPr lang="en-US" altLang="zh-CN" dirty="0"/>
          </a:p>
          <a:p>
            <a:r>
              <a:rPr lang="zh-CN" altLang="en-US" dirty="0"/>
              <a:t>人：员工队伍（知识水平、专业技能）、管理者队伍、研发队伍</a:t>
            </a:r>
            <a:endParaRPr lang="en-US" altLang="zh-CN" dirty="0"/>
          </a:p>
          <a:p>
            <a:r>
              <a:rPr lang="zh-CN" altLang="en-US" dirty="0"/>
              <a:t>信息时代，信息、数据成为资源（商务数据分析）</a:t>
            </a:r>
            <a:endParaRPr lang="en-US" altLang="zh-CN" dirty="0"/>
          </a:p>
          <a:p>
            <a:pPr lvl="1"/>
            <a:r>
              <a:rPr lang="zh-CN" altLang="en-US" dirty="0"/>
              <a:t>物质、能量、信息</a:t>
            </a:r>
            <a:r>
              <a:rPr lang="en-US" altLang="zh-CN" dirty="0"/>
              <a:t>-</a:t>
            </a:r>
            <a:r>
              <a:rPr lang="zh-CN" altLang="en-US" dirty="0"/>
              <a:t>降低熵</a:t>
            </a:r>
            <a:endParaRPr lang="en-US" altLang="zh-CN" dirty="0"/>
          </a:p>
          <a:p>
            <a:r>
              <a:rPr lang="zh-CN" altLang="en-US" dirty="0"/>
              <a:t>不同类型的企业，资源的重要性不同（人、品牌）</a:t>
            </a:r>
            <a:endParaRPr lang="en-US" altLang="zh-CN" dirty="0"/>
          </a:p>
          <a:p>
            <a:pPr lvl="1"/>
            <a:r>
              <a:rPr lang="zh-CN" altLang="en-US" dirty="0"/>
              <a:t>华为</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69295334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29A9D6-92C7-491C-9F38-13E7A6E55BF2}"/>
              </a:ext>
            </a:extLst>
          </p:cNvPr>
          <p:cNvSpPr>
            <a:spLocks noGrp="1"/>
          </p:cNvSpPr>
          <p:nvPr>
            <p:ph type="title"/>
          </p:nvPr>
        </p:nvSpPr>
        <p:spPr/>
        <p:txBody>
          <a:bodyPr/>
          <a:lstStyle/>
          <a:p>
            <a:r>
              <a:rPr lang="zh-CN" altLang="en-US" dirty="0"/>
              <a:t>资源观的背后是还原论的思想</a:t>
            </a:r>
          </a:p>
        </p:txBody>
      </p:sp>
      <p:sp>
        <p:nvSpPr>
          <p:cNvPr id="3" name="内容占位符 2">
            <a:extLst>
              <a:ext uri="{FF2B5EF4-FFF2-40B4-BE49-F238E27FC236}">
                <a16:creationId xmlns:a16="http://schemas.microsoft.com/office/drawing/2014/main" id="{6E2938CD-7A6B-4033-A10A-C05E46FC9CAB}"/>
              </a:ext>
            </a:extLst>
          </p:cNvPr>
          <p:cNvSpPr>
            <a:spLocks noGrp="1"/>
          </p:cNvSpPr>
          <p:nvPr>
            <p:ph idx="1"/>
          </p:nvPr>
        </p:nvSpPr>
        <p:spPr/>
        <p:txBody>
          <a:bodyPr/>
          <a:lstStyle/>
          <a:p>
            <a:r>
              <a:rPr lang="zh-CN" altLang="en-US" b="0" i="0" dirty="0">
                <a:effectLst/>
                <a:latin typeface="-apple-system"/>
              </a:rPr>
              <a:t>还原论（</a:t>
            </a:r>
            <a:r>
              <a:rPr lang="en-US" altLang="zh-CN" b="0" i="0" dirty="0">
                <a:effectLst/>
                <a:latin typeface="-apple-system"/>
              </a:rPr>
              <a:t>Reductionism</a:t>
            </a:r>
            <a:r>
              <a:rPr lang="zh-CN" altLang="en-US" b="0" i="0" dirty="0">
                <a:effectLst/>
                <a:latin typeface="-apple-system"/>
              </a:rPr>
              <a:t>）又译作简化论或还原主义，是一种哲学思想，认为复杂的系统、事物、现象等可以通过将其化解为各部分的组合的方法，对它们进行理解和描述。</a:t>
            </a:r>
            <a:endParaRPr lang="en-US" altLang="zh-CN" b="0" i="0" dirty="0">
              <a:effectLst/>
              <a:latin typeface="-apple-system"/>
            </a:endParaRPr>
          </a:p>
          <a:p>
            <a:endParaRPr lang="zh-CN" altLang="en-US" dirty="0"/>
          </a:p>
        </p:txBody>
      </p:sp>
    </p:spTree>
    <p:extLst>
      <p:ext uri="{BB962C8B-B14F-4D97-AF65-F5344CB8AC3E}">
        <p14:creationId xmlns:p14="http://schemas.microsoft.com/office/powerpoint/2010/main" val="49408090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2DE2FA-F0EA-9D45-BF64-DFE0F09AB2B8}"/>
              </a:ext>
            </a:extLst>
          </p:cNvPr>
          <p:cNvSpPr>
            <a:spLocks noGrp="1"/>
          </p:cNvSpPr>
          <p:nvPr>
            <p:ph type="title"/>
          </p:nvPr>
        </p:nvSpPr>
        <p:spPr/>
        <p:txBody>
          <a:bodyPr/>
          <a:lstStyle/>
          <a:p>
            <a:r>
              <a:rPr kumimoji="1" lang="zh-CN" altLang="en-US" dirty="0"/>
              <a:t>云南白药牙膏</a:t>
            </a:r>
          </a:p>
        </p:txBody>
      </p:sp>
      <p:sp>
        <p:nvSpPr>
          <p:cNvPr id="4" name="内容占位符 3">
            <a:extLst>
              <a:ext uri="{FF2B5EF4-FFF2-40B4-BE49-F238E27FC236}">
                <a16:creationId xmlns:a16="http://schemas.microsoft.com/office/drawing/2014/main" id="{C42CF149-7F12-D740-97A5-89E03BEC0BFA}"/>
              </a:ext>
            </a:extLst>
          </p:cNvPr>
          <p:cNvSpPr>
            <a:spLocks noGrp="1"/>
          </p:cNvSpPr>
          <p:nvPr>
            <p:ph idx="1"/>
          </p:nvPr>
        </p:nvSpPr>
        <p:spPr>
          <a:xfrm>
            <a:off x="2773599" y="1722783"/>
            <a:ext cx="7796540" cy="4327161"/>
          </a:xfrm>
        </p:spPr>
        <p:txBody>
          <a:bodyPr>
            <a:normAutofit fontScale="92500" lnSpcReduction="20000"/>
          </a:bodyPr>
          <a:lstStyle/>
          <a:p>
            <a:r>
              <a:rPr lang="zh-CN" altLang="en-US" dirty="0"/>
              <a:t>云南白药：止血，药物</a:t>
            </a:r>
            <a:endParaRPr lang="en-US" altLang="zh-CN" dirty="0"/>
          </a:p>
          <a:p>
            <a:r>
              <a:rPr lang="zh-CN" altLang="en-US" dirty="0"/>
              <a:t>日化市场，牙膏、美白、龋齿</a:t>
            </a:r>
            <a:endParaRPr lang="en-US" altLang="zh-CN" dirty="0"/>
          </a:p>
          <a:p>
            <a:r>
              <a:rPr lang="zh-CN" altLang="en-US" dirty="0"/>
              <a:t>成年人，牙周病，定位高端功能性牙膏，解决牙龈出血肿痛溃疡，</a:t>
            </a:r>
            <a:r>
              <a:rPr lang="en-US" altLang="zh-CN" dirty="0"/>
              <a:t>2005</a:t>
            </a:r>
            <a:r>
              <a:rPr lang="zh-CN" altLang="en-US" dirty="0"/>
              <a:t>年</a:t>
            </a:r>
            <a:r>
              <a:rPr lang="en-US" altLang="zh-CN" dirty="0"/>
              <a:t>120</a:t>
            </a:r>
            <a:r>
              <a:rPr lang="zh-CN" altLang="en-US" dirty="0"/>
              <a:t>克</a:t>
            </a:r>
            <a:r>
              <a:rPr lang="en-US" altLang="zh-CN" dirty="0"/>
              <a:t>22</a:t>
            </a:r>
            <a:r>
              <a:rPr lang="zh-CN" altLang="en-US" dirty="0"/>
              <a:t>元</a:t>
            </a:r>
            <a:endParaRPr lang="en-US" altLang="zh-CN" dirty="0"/>
          </a:p>
          <a:p>
            <a:r>
              <a:rPr lang="zh-CN" altLang="en-US" dirty="0"/>
              <a:t>药品名称冠名牙膏，</a:t>
            </a:r>
            <a:r>
              <a:rPr lang="zh-CN" altLang="en-US" dirty="0">
                <a:solidFill>
                  <a:srgbClr val="FF0000"/>
                </a:solidFill>
              </a:rPr>
              <a:t>借助品牌</a:t>
            </a:r>
            <a:endParaRPr lang="en-US" altLang="zh-CN" dirty="0">
              <a:solidFill>
                <a:srgbClr val="FF0000"/>
              </a:solidFill>
            </a:endParaRPr>
          </a:p>
          <a:p>
            <a:r>
              <a:rPr lang="zh-CN" altLang="en-US" dirty="0"/>
              <a:t>贡献</a:t>
            </a:r>
            <a:r>
              <a:rPr lang="en-US" altLang="zh-CN" dirty="0"/>
              <a:t>60%</a:t>
            </a:r>
            <a:r>
              <a:rPr lang="zh-CN" altLang="en-US" dirty="0"/>
              <a:t>的利润。</a:t>
            </a:r>
            <a:endParaRPr lang="en-US" altLang="zh-CN" dirty="0"/>
          </a:p>
          <a:p>
            <a:endParaRPr lang="en-US" altLang="zh-CN" dirty="0"/>
          </a:p>
          <a:p>
            <a:r>
              <a:rPr lang="zh-CN" altLang="en-US" dirty="0"/>
              <a:t>云南白药洗发水</a:t>
            </a:r>
            <a:r>
              <a:rPr lang="zh-CN" altLang="en-US" dirty="0">
                <a:sym typeface="Wingdings" pitchFamily="2" charset="2"/>
              </a:rPr>
              <a:t></a:t>
            </a:r>
            <a:endParaRPr lang="en-US" altLang="zh-CN" dirty="0"/>
          </a:p>
          <a:p>
            <a:endParaRPr lang="zh-CN" altLang="en-US" dirty="0"/>
          </a:p>
        </p:txBody>
      </p:sp>
    </p:spTree>
    <p:extLst>
      <p:ext uri="{BB962C8B-B14F-4D97-AF65-F5344CB8AC3E}">
        <p14:creationId xmlns:p14="http://schemas.microsoft.com/office/powerpoint/2010/main" val="308711526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能力</a:t>
            </a:r>
          </a:p>
        </p:txBody>
      </p:sp>
      <p:sp>
        <p:nvSpPr>
          <p:cNvPr id="3" name="内容占位符 2"/>
          <p:cNvSpPr>
            <a:spLocks noGrp="1"/>
          </p:cNvSpPr>
          <p:nvPr>
            <p:ph idx="1"/>
          </p:nvPr>
        </p:nvSpPr>
        <p:spPr>
          <a:xfrm>
            <a:off x="2773599" y="1787072"/>
            <a:ext cx="7796540" cy="4385127"/>
          </a:xfrm>
        </p:spPr>
        <p:txBody>
          <a:bodyPr>
            <a:normAutofit fontScale="85000" lnSpcReduction="20000"/>
          </a:bodyPr>
          <a:lstStyle/>
          <a:p>
            <a:r>
              <a:rPr kumimoji="1" lang="zh-CN" altLang="en-US" dirty="0"/>
              <a:t>公司协调资源并将其发挥作用的技能。这些技能存在于公司决策和管理其内部活动的过程中，是一种整体性</a:t>
            </a:r>
            <a:endParaRPr kumimoji="1" lang="en-US" altLang="zh-CN" dirty="0"/>
          </a:p>
          <a:p>
            <a:pPr lvl="1"/>
            <a:r>
              <a:rPr kumimoji="1" lang="zh-CN" altLang="en-US" dirty="0"/>
              <a:t>融资能力、资金利用能力</a:t>
            </a:r>
            <a:endParaRPr kumimoji="1" lang="en-US" altLang="zh-CN" dirty="0"/>
          </a:p>
          <a:p>
            <a:pPr lvl="1"/>
            <a:r>
              <a:rPr kumimoji="1" lang="zh-CN" altLang="en-US" dirty="0"/>
              <a:t>原料获取能力、设备利用能力</a:t>
            </a:r>
            <a:endParaRPr kumimoji="1" lang="en-US" altLang="zh-CN" dirty="0"/>
          </a:p>
          <a:p>
            <a:pPr lvl="1"/>
            <a:r>
              <a:rPr kumimoji="1" lang="zh-CN" altLang="en-US" dirty="0"/>
              <a:t>激发员工积极性的能力、员工团结和忠诚度</a:t>
            </a:r>
            <a:endParaRPr kumimoji="1" lang="en-US" altLang="zh-CN" dirty="0"/>
          </a:p>
          <a:p>
            <a:pPr lvl="2"/>
            <a:r>
              <a:rPr kumimoji="1" lang="zh-CN" altLang="en-US" dirty="0"/>
              <a:t>企业文化</a:t>
            </a:r>
            <a:endParaRPr kumimoji="1" lang="en-US" altLang="zh-CN" dirty="0"/>
          </a:p>
          <a:p>
            <a:pPr lvl="2"/>
            <a:r>
              <a:rPr kumimoji="1" lang="zh-CN" altLang="en-US" dirty="0"/>
              <a:t>良好的环境和有竞争力的薪酬福利和晋升空间等规章制度安排</a:t>
            </a:r>
            <a:endParaRPr kumimoji="1" lang="en-US" altLang="zh-CN" dirty="0"/>
          </a:p>
          <a:p>
            <a:pPr lvl="2"/>
            <a:r>
              <a:rPr kumimoji="1" lang="zh-CN" altLang="en-US" dirty="0"/>
              <a:t>拥有战略意识和广泛人际关系的</a:t>
            </a:r>
            <a:r>
              <a:rPr kumimoji="1" lang="en-US" altLang="zh-CN" dirty="0"/>
              <a:t>HR</a:t>
            </a:r>
            <a:r>
              <a:rPr kumimoji="1" lang="zh-CN" altLang="en-US" dirty="0"/>
              <a:t>经理</a:t>
            </a:r>
            <a:endParaRPr kumimoji="1" lang="en-US" altLang="zh-CN" dirty="0"/>
          </a:p>
          <a:p>
            <a:pPr lvl="2"/>
            <a:r>
              <a:rPr kumimoji="1" lang="zh-CN" altLang="en-US" dirty="0"/>
              <a:t>拥有卓越才能的</a:t>
            </a:r>
            <a:r>
              <a:rPr kumimoji="1" lang="en-US" altLang="zh-CN" dirty="0"/>
              <a:t>HR</a:t>
            </a:r>
            <a:r>
              <a:rPr kumimoji="1" lang="zh-CN" altLang="en-US" dirty="0"/>
              <a:t>工作人员</a:t>
            </a:r>
            <a:endParaRPr kumimoji="1" lang="en-US" altLang="zh-CN" dirty="0"/>
          </a:p>
          <a:p>
            <a:pPr lvl="1"/>
            <a:r>
              <a:rPr kumimoji="1" lang="zh-CN" altLang="en-US" dirty="0"/>
              <a:t>技术开发和产业化能力</a:t>
            </a:r>
            <a:endParaRPr kumimoji="1" lang="en-US" altLang="zh-CN" dirty="0"/>
          </a:p>
          <a:p>
            <a:pPr lvl="1"/>
            <a:r>
              <a:rPr kumimoji="1" lang="zh-CN" altLang="en-US" dirty="0"/>
              <a:t>营销、品牌维护和利用能力</a:t>
            </a:r>
            <a:endParaRPr kumimoji="1" lang="en-US" altLang="zh-CN" dirty="0"/>
          </a:p>
          <a:p>
            <a:pPr lvl="1"/>
            <a:r>
              <a:rPr kumimoji="1" lang="zh-CN" altLang="en-US" dirty="0"/>
              <a:t>关系维护能力</a:t>
            </a:r>
            <a:endParaRPr kumimoji="1" lang="en-US" altLang="zh-CN" dirty="0"/>
          </a:p>
        </p:txBody>
      </p:sp>
    </p:spTree>
    <p:extLst>
      <p:ext uri="{BB962C8B-B14F-4D97-AF65-F5344CB8AC3E}">
        <p14:creationId xmlns:p14="http://schemas.microsoft.com/office/powerpoint/2010/main" val="233966246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能力与企业管理活动密切相关</a:t>
            </a:r>
          </a:p>
        </p:txBody>
      </p:sp>
      <p:sp>
        <p:nvSpPr>
          <p:cNvPr id="3" name="内容占位符 2"/>
          <p:cNvSpPr>
            <a:spLocks noGrp="1"/>
          </p:cNvSpPr>
          <p:nvPr>
            <p:ph idx="1"/>
          </p:nvPr>
        </p:nvSpPr>
        <p:spPr/>
        <p:txBody>
          <a:bodyPr>
            <a:normAutofit/>
          </a:bodyPr>
          <a:lstStyle/>
          <a:p>
            <a:pPr lvl="1">
              <a:lnSpc>
                <a:spcPct val="110000"/>
              </a:lnSpc>
              <a:spcBef>
                <a:spcPts val="0"/>
              </a:spcBef>
              <a:spcAft>
                <a:spcPts val="0"/>
              </a:spcAft>
            </a:pPr>
            <a:r>
              <a:rPr kumimoji="1" lang="zh-CN" altLang="en-US" sz="2400" dirty="0"/>
              <a:t>专业管理能力</a:t>
            </a:r>
            <a:endParaRPr kumimoji="1" lang="en-US" altLang="zh-CN" sz="2400" dirty="0"/>
          </a:p>
          <a:p>
            <a:pPr lvl="2">
              <a:lnSpc>
                <a:spcPct val="110000"/>
              </a:lnSpc>
              <a:spcBef>
                <a:spcPts val="0"/>
              </a:spcBef>
              <a:spcAft>
                <a:spcPts val="0"/>
              </a:spcAft>
            </a:pPr>
            <a:r>
              <a:rPr kumimoji="1" lang="zh-CN" altLang="en-US" sz="2000" dirty="0"/>
              <a:t>研发、财务、人力资源、营销、运营、采购</a:t>
            </a:r>
            <a:endParaRPr kumimoji="1" lang="en-US" altLang="zh-CN" sz="2000" dirty="0"/>
          </a:p>
          <a:p>
            <a:pPr lvl="1">
              <a:lnSpc>
                <a:spcPct val="110000"/>
              </a:lnSpc>
              <a:spcBef>
                <a:spcPts val="0"/>
              </a:spcBef>
              <a:spcAft>
                <a:spcPts val="0"/>
              </a:spcAft>
            </a:pPr>
            <a:r>
              <a:rPr kumimoji="1" lang="zh-CN" altLang="en-US" sz="2400" dirty="0"/>
              <a:t>综合管理</a:t>
            </a:r>
            <a:endParaRPr kumimoji="1" lang="en-US" altLang="zh-CN" sz="2400" dirty="0"/>
          </a:p>
          <a:p>
            <a:pPr lvl="2">
              <a:lnSpc>
                <a:spcPct val="110000"/>
              </a:lnSpc>
              <a:spcBef>
                <a:spcPts val="0"/>
              </a:spcBef>
              <a:spcAft>
                <a:spcPts val="0"/>
              </a:spcAft>
            </a:pPr>
            <a:r>
              <a:rPr kumimoji="1" lang="zh-CN" altLang="en-US" sz="2000" dirty="0"/>
              <a:t>决策能力、组织协调能力</a:t>
            </a:r>
            <a:endParaRPr kumimoji="1" lang="en-US" altLang="zh-CN" sz="2000" dirty="0"/>
          </a:p>
          <a:p>
            <a:pPr lvl="2">
              <a:lnSpc>
                <a:spcPct val="110000"/>
              </a:lnSpc>
              <a:spcBef>
                <a:spcPts val="0"/>
              </a:spcBef>
              <a:spcAft>
                <a:spcPts val="0"/>
              </a:spcAft>
            </a:pPr>
            <a:r>
              <a:rPr kumimoji="1" lang="zh-CN" altLang="en-US" sz="2000" dirty="0"/>
              <a:t>三个和尚没水吃，与三个臭皮匠顶一个诸葛亮</a:t>
            </a:r>
            <a:endParaRPr kumimoji="1" lang="en-US" altLang="zh-CN" sz="2000" dirty="0"/>
          </a:p>
          <a:p>
            <a:pPr lvl="2">
              <a:lnSpc>
                <a:spcPct val="110000"/>
              </a:lnSpc>
              <a:spcBef>
                <a:spcPts val="0"/>
              </a:spcBef>
              <a:spcAft>
                <a:spcPts val="0"/>
              </a:spcAft>
            </a:pPr>
            <a:endParaRPr kumimoji="1" lang="en-US" altLang="zh-CN" sz="2000" dirty="0"/>
          </a:p>
          <a:p>
            <a:pPr lvl="2">
              <a:lnSpc>
                <a:spcPct val="110000"/>
              </a:lnSpc>
              <a:spcBef>
                <a:spcPts val="0"/>
              </a:spcBef>
              <a:spcAft>
                <a:spcPts val="0"/>
              </a:spcAft>
            </a:pPr>
            <a:r>
              <a:rPr kumimoji="1" lang="en-US" altLang="zh-CN" sz="2000" dirty="0" err="1"/>
              <a:t>Walmart</a:t>
            </a:r>
            <a:r>
              <a:rPr kumimoji="1" lang="zh-CN" altLang="en-US" sz="2000" dirty="0"/>
              <a:t>物流、配送、仓储</a:t>
            </a:r>
            <a:endParaRPr kumimoji="1" lang="en-US" altLang="zh-CN" sz="2000" dirty="0"/>
          </a:p>
          <a:p>
            <a:pPr lvl="2">
              <a:lnSpc>
                <a:spcPct val="110000"/>
              </a:lnSpc>
              <a:spcBef>
                <a:spcPts val="0"/>
              </a:spcBef>
              <a:spcAft>
                <a:spcPts val="0"/>
              </a:spcAft>
            </a:pPr>
            <a:r>
              <a:rPr kumimoji="1" lang="en-US" altLang="zh-CN" sz="2000" dirty="0"/>
              <a:t>Google</a:t>
            </a:r>
            <a:r>
              <a:rPr kumimoji="1" lang="zh-CN" altLang="en-US" sz="2000" dirty="0"/>
              <a:t>激励、授权、保留员工</a:t>
            </a:r>
            <a:endParaRPr kumimoji="1" lang="en-US" altLang="zh-CN" sz="2000" dirty="0"/>
          </a:p>
          <a:p>
            <a:pPr lvl="2">
              <a:lnSpc>
                <a:spcPct val="110000"/>
              </a:lnSpc>
              <a:spcBef>
                <a:spcPts val="0"/>
              </a:spcBef>
              <a:spcAft>
                <a:spcPts val="0"/>
              </a:spcAft>
            </a:pPr>
            <a:r>
              <a:rPr kumimoji="1" lang="en-US" altLang="zh-CN" sz="2000" dirty="0"/>
              <a:t>DELL</a:t>
            </a:r>
            <a:r>
              <a:rPr kumimoji="1" lang="zh-CN" altLang="en-US" sz="2000" dirty="0"/>
              <a:t>供应链</a:t>
            </a:r>
            <a:endParaRPr kumimoji="1" lang="en-US" altLang="zh-CN" sz="2000" dirty="0"/>
          </a:p>
          <a:p>
            <a:pPr lvl="2">
              <a:lnSpc>
                <a:spcPct val="110000"/>
              </a:lnSpc>
              <a:spcBef>
                <a:spcPts val="0"/>
              </a:spcBef>
              <a:spcAft>
                <a:spcPts val="0"/>
              </a:spcAft>
            </a:pPr>
            <a:r>
              <a:rPr kumimoji="1" lang="zh-CN" altLang="en-US" sz="2000" dirty="0"/>
              <a:t>丰田</a:t>
            </a:r>
            <a:r>
              <a:rPr kumimoji="1" lang="en-US" altLang="zh-CN" sz="2000" dirty="0"/>
              <a:t> </a:t>
            </a:r>
            <a:r>
              <a:rPr kumimoji="1" lang="zh-CN" altLang="en-US" sz="2000" dirty="0"/>
              <a:t>：</a:t>
            </a:r>
            <a:r>
              <a:rPr kumimoji="1" lang="en-US" altLang="zh-CN" sz="2000" dirty="0"/>
              <a:t>JIT</a:t>
            </a:r>
            <a:r>
              <a:rPr kumimoji="1" lang="zh-CN" altLang="en-US" sz="2000" dirty="0"/>
              <a:t>低成本高效率生产模式</a:t>
            </a:r>
            <a:endParaRPr kumimoji="1" lang="en-US" altLang="zh-CN" sz="2000" dirty="0"/>
          </a:p>
          <a:p>
            <a:pPr lvl="2">
              <a:lnSpc>
                <a:spcPct val="110000"/>
              </a:lnSpc>
              <a:spcBef>
                <a:spcPts val="0"/>
              </a:spcBef>
              <a:spcAft>
                <a:spcPts val="0"/>
              </a:spcAft>
            </a:pPr>
            <a:endParaRPr kumimoji="1" lang="zh-CN" altLang="en-US" sz="2000" dirty="0"/>
          </a:p>
        </p:txBody>
      </p:sp>
    </p:spTree>
    <p:extLst>
      <p:ext uri="{BB962C8B-B14F-4D97-AF65-F5344CB8AC3E}">
        <p14:creationId xmlns:p14="http://schemas.microsoft.com/office/powerpoint/2010/main" val="197839902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资源和能力的区分</a:t>
            </a:r>
          </a:p>
        </p:txBody>
      </p:sp>
      <p:sp>
        <p:nvSpPr>
          <p:cNvPr id="3" name="内容占位符 2"/>
          <p:cNvSpPr>
            <a:spLocks noGrp="1"/>
          </p:cNvSpPr>
          <p:nvPr>
            <p:ph idx="1"/>
          </p:nvPr>
        </p:nvSpPr>
        <p:spPr>
          <a:xfrm>
            <a:off x="2692703" y="1220275"/>
            <a:ext cx="7796540" cy="3997828"/>
          </a:xfrm>
        </p:spPr>
        <p:txBody>
          <a:bodyPr/>
          <a:lstStyle/>
          <a:p>
            <a:r>
              <a:rPr kumimoji="1" lang="zh-CN" altLang="en-US" dirty="0"/>
              <a:t>资源能否被有效利用取决于能力，独特而有价值的资源，须配合相应的能力才能创造出竞争优势</a:t>
            </a:r>
            <a:endParaRPr kumimoji="1" lang="en-US" altLang="zh-CN" dirty="0"/>
          </a:p>
          <a:p>
            <a:r>
              <a:rPr kumimoji="1" lang="zh-CN" altLang="en-US" dirty="0"/>
              <a:t>拥有独特能力，即使没有独特有价值的资源也可以培育出竞争优势</a:t>
            </a:r>
          </a:p>
        </p:txBody>
      </p:sp>
    </p:spTree>
    <p:extLst>
      <p:ext uri="{BB962C8B-B14F-4D97-AF65-F5344CB8AC3E}">
        <p14:creationId xmlns:p14="http://schemas.microsoft.com/office/powerpoint/2010/main" val="133243476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310733-64C3-430F-A055-3C0CD76D40D4}"/>
              </a:ext>
            </a:extLst>
          </p:cNvPr>
          <p:cNvSpPr>
            <a:spLocks noGrp="1"/>
          </p:cNvSpPr>
          <p:nvPr>
            <p:ph type="title"/>
          </p:nvPr>
        </p:nvSpPr>
        <p:spPr>
          <a:xfrm>
            <a:off x="2025569" y="758583"/>
            <a:ext cx="7958331" cy="1077229"/>
          </a:xfrm>
        </p:spPr>
        <p:txBody>
          <a:bodyPr/>
          <a:lstStyle/>
          <a:p>
            <a:r>
              <a:rPr lang="zh-CN" altLang="en-US" dirty="0"/>
              <a:t>系统论：关系联系，统一统合</a:t>
            </a:r>
          </a:p>
        </p:txBody>
      </p:sp>
      <p:sp>
        <p:nvSpPr>
          <p:cNvPr id="3" name="内容占位符 2">
            <a:extLst>
              <a:ext uri="{FF2B5EF4-FFF2-40B4-BE49-F238E27FC236}">
                <a16:creationId xmlns:a16="http://schemas.microsoft.com/office/drawing/2014/main" id="{978BA1FC-93D2-4E8C-B57D-6419814F165C}"/>
              </a:ext>
            </a:extLst>
          </p:cNvPr>
          <p:cNvSpPr>
            <a:spLocks noGrp="1"/>
          </p:cNvSpPr>
          <p:nvPr>
            <p:ph idx="1"/>
          </p:nvPr>
        </p:nvSpPr>
        <p:spPr>
          <a:xfrm>
            <a:off x="1965031" y="1369209"/>
            <a:ext cx="9074552" cy="4927419"/>
          </a:xfrm>
        </p:spPr>
        <p:txBody>
          <a:bodyPr>
            <a:normAutofit fontScale="70000" lnSpcReduction="20000"/>
          </a:bodyPr>
          <a:lstStyle/>
          <a:p>
            <a:r>
              <a:rPr lang="zh-CN" altLang="en-US" dirty="0">
                <a:solidFill>
                  <a:srgbClr val="FFC000"/>
                </a:solidFill>
              </a:rPr>
              <a:t>整体性和涌现性</a:t>
            </a:r>
            <a:endParaRPr lang="en-US" altLang="zh-CN" dirty="0">
              <a:solidFill>
                <a:srgbClr val="FFC000"/>
              </a:solidFill>
            </a:endParaRPr>
          </a:p>
          <a:p>
            <a:r>
              <a:rPr lang="zh-CN" altLang="en-US" dirty="0">
                <a:solidFill>
                  <a:srgbClr val="FFC000"/>
                </a:solidFill>
              </a:rPr>
              <a:t>组分和结构是系统的内在规定性，其中结构对于系统的整体涌现更重要一些，从结构的角度认识一个系统。</a:t>
            </a:r>
            <a:endParaRPr lang="en-US" altLang="zh-CN" dirty="0">
              <a:solidFill>
                <a:srgbClr val="FFC000"/>
              </a:solidFill>
            </a:endParaRPr>
          </a:p>
          <a:p>
            <a:pPr lvl="1"/>
            <a:r>
              <a:rPr lang="zh-CN" altLang="en-US" dirty="0"/>
              <a:t>石墨和金刚石</a:t>
            </a:r>
            <a:endParaRPr lang="en-US" altLang="zh-CN" dirty="0"/>
          </a:p>
          <a:p>
            <a:pPr lvl="1"/>
            <a:r>
              <a:rPr lang="zh-CN" altLang="en-US" dirty="0"/>
              <a:t>激活休克鱼</a:t>
            </a:r>
            <a:endParaRPr lang="en-US" altLang="zh-CN" dirty="0"/>
          </a:p>
          <a:p>
            <a:r>
              <a:rPr lang="zh-CN" altLang="en-US" dirty="0"/>
              <a:t>刻画结构：不同结构带来不同的整体涌现</a:t>
            </a:r>
            <a:endParaRPr lang="en-US" altLang="zh-CN" dirty="0"/>
          </a:p>
          <a:p>
            <a:pPr lvl="1"/>
            <a:r>
              <a:rPr lang="zh-CN" altLang="en-US" dirty="0"/>
              <a:t>大语言模型、知识图谱、</a:t>
            </a:r>
            <a:r>
              <a:rPr lang="en-US" altLang="zh-CN" dirty="0"/>
              <a:t>SCI</a:t>
            </a:r>
          </a:p>
          <a:p>
            <a:pPr lvl="1"/>
            <a:r>
              <a:rPr lang="zh-CN" altLang="en-US" dirty="0"/>
              <a:t>三个和尚和三个臭皮匠</a:t>
            </a:r>
            <a:endParaRPr lang="en-US" altLang="zh-CN" dirty="0"/>
          </a:p>
          <a:p>
            <a:pPr lvl="1"/>
            <a:r>
              <a:rPr lang="zh-CN" altLang="en-US" dirty="0"/>
              <a:t>系统思维的关键就是要发现（微妙的）联系</a:t>
            </a:r>
            <a:endParaRPr lang="en-US" altLang="zh-CN" dirty="0"/>
          </a:p>
          <a:p>
            <a:r>
              <a:rPr lang="zh-CN" altLang="en-US" dirty="0"/>
              <a:t>企业的资源观是静态的观点，好似企业不是“活”的，体现了还原论的方法论</a:t>
            </a:r>
            <a:endParaRPr lang="en-US" altLang="zh-CN" dirty="0"/>
          </a:p>
          <a:p>
            <a:r>
              <a:rPr lang="zh-CN" altLang="en-US" dirty="0"/>
              <a:t>能力是企业的功能，结构为体，功能为用，要进一步分析出产生能力的要素和结构</a:t>
            </a:r>
            <a:endParaRPr lang="en-US" altLang="zh-CN" dirty="0"/>
          </a:p>
          <a:p>
            <a:r>
              <a:rPr lang="zh-CN" altLang="en-US" dirty="0">
                <a:solidFill>
                  <a:srgbClr val="FFC000"/>
                </a:solidFill>
              </a:rPr>
              <a:t>环境是系统的外在规定性、演化观点，即过程观点，认知事物的历史现在与未来。</a:t>
            </a:r>
          </a:p>
        </p:txBody>
      </p:sp>
    </p:spTree>
    <p:extLst>
      <p:ext uri="{BB962C8B-B14F-4D97-AF65-F5344CB8AC3E}">
        <p14:creationId xmlns:p14="http://schemas.microsoft.com/office/powerpoint/2010/main" val="317774695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524000" y="415925"/>
            <a:ext cx="7380287" cy="1295400"/>
          </a:xfrm>
        </p:spPr>
        <p:txBody>
          <a:bodyPr>
            <a:normAutofit/>
          </a:bodyPr>
          <a:lstStyle/>
          <a:p>
            <a:pPr marL="54864">
              <a:defRPr/>
            </a:pPr>
            <a:r>
              <a:rPr lang="zh-CN" altLang="en-US" dirty="0">
                <a:solidFill>
                  <a:schemeClr val="tx2">
                    <a:tint val="100000"/>
                    <a:shade val="90000"/>
                    <a:satMod val="250000"/>
                    <a:alpha val="100000"/>
                  </a:schemeClr>
                </a:solidFill>
                <a:ea typeface="黑体" pitchFamily="2" charset="-122"/>
                <a:cs typeface="+mj-cs"/>
              </a:rPr>
              <a:t>核心能力的概念</a:t>
            </a:r>
            <a:br>
              <a:rPr lang="zh-CN" altLang="en-US" sz="4000" dirty="0">
                <a:solidFill>
                  <a:schemeClr val="tx2">
                    <a:tint val="100000"/>
                    <a:shade val="90000"/>
                    <a:satMod val="250000"/>
                    <a:alpha val="100000"/>
                  </a:schemeClr>
                </a:solidFill>
              </a:rPr>
            </a:br>
            <a:endParaRPr lang="zh-CN" altLang="en-US" sz="4000" dirty="0">
              <a:solidFill>
                <a:schemeClr val="tx2">
                  <a:tint val="100000"/>
                  <a:shade val="90000"/>
                  <a:satMod val="250000"/>
                  <a:alpha val="100000"/>
                </a:schemeClr>
              </a:solidFill>
            </a:endParaRPr>
          </a:p>
        </p:txBody>
      </p:sp>
      <p:sp>
        <p:nvSpPr>
          <p:cNvPr id="15363" name="Rectangle 3"/>
          <p:cNvSpPr>
            <a:spLocks noGrp="1" noChangeArrowheads="1"/>
          </p:cNvSpPr>
          <p:nvPr>
            <p:ph idx="1"/>
          </p:nvPr>
        </p:nvSpPr>
        <p:spPr>
          <a:xfrm>
            <a:off x="1524000" y="1295307"/>
            <a:ext cx="9144000" cy="4525962"/>
          </a:xfrm>
        </p:spPr>
        <p:txBody>
          <a:bodyPr>
            <a:normAutofit/>
          </a:bodyPr>
          <a:lstStyle/>
          <a:p>
            <a:pPr>
              <a:spcBef>
                <a:spcPts val="0"/>
              </a:spcBef>
              <a:buNone/>
              <a:defRPr/>
            </a:pPr>
            <a:r>
              <a:rPr lang="zh-CN" altLang="en-US" dirty="0">
                <a:cs typeface="+mn-cs"/>
              </a:rPr>
              <a:t>  </a:t>
            </a:r>
            <a:r>
              <a:rPr lang="zh-CN" altLang="en-US" b="1" dirty="0"/>
              <a:t>根据帕拉汉尔德和哈默的定义，</a:t>
            </a:r>
            <a:r>
              <a:rPr lang="zh-CN" altLang="en-US" b="1" dirty="0">
                <a:solidFill>
                  <a:srgbClr val="E8DC3C"/>
                </a:solidFill>
                <a:latin typeface="Garamond" pitchFamily="18" charset="0"/>
              </a:rPr>
              <a:t>“</a:t>
            </a:r>
            <a:r>
              <a:rPr lang="zh-CN" altLang="en-US" b="1" dirty="0">
                <a:solidFill>
                  <a:srgbClr val="E8DC3C"/>
                </a:solidFill>
              </a:rPr>
              <a:t>核心能力是组织中的</a:t>
            </a:r>
            <a:r>
              <a:rPr lang="zh-CN" altLang="en-US" b="1" dirty="0">
                <a:solidFill>
                  <a:srgbClr val="FF0000"/>
                </a:solidFill>
              </a:rPr>
              <a:t>积累性</a:t>
            </a:r>
            <a:r>
              <a:rPr lang="zh-CN" altLang="en-US" b="1" dirty="0">
                <a:solidFill>
                  <a:srgbClr val="E8DC3C"/>
                </a:solidFill>
              </a:rPr>
              <a:t>学识，特别是关于如何协调不同的生产技能和有机结合</a:t>
            </a:r>
            <a:r>
              <a:rPr lang="zh-CN" altLang="en-US" b="1" dirty="0">
                <a:solidFill>
                  <a:srgbClr val="FF0000"/>
                </a:solidFill>
              </a:rPr>
              <a:t>多种</a:t>
            </a:r>
            <a:r>
              <a:rPr lang="zh-CN" altLang="en-US" b="1" dirty="0">
                <a:solidFill>
                  <a:srgbClr val="E8DC3C"/>
                </a:solidFill>
              </a:rPr>
              <a:t>技术流的学识。</a:t>
            </a:r>
            <a:r>
              <a:rPr lang="zh-CN" altLang="en-US" b="1" dirty="0"/>
              <a:t>”具体说，核心能力是指提供企业在特定经营中的竞争能力和竞争优势基础的多方面技能、互补性资产和运行机制的有机融合，是不同技术系统、管理系统及技能的有机组合，是识别和提供竞争优势的知识体系。</a:t>
            </a:r>
            <a:endParaRPr lang="en-US" altLang="zh-CN" b="1" dirty="0"/>
          </a:p>
          <a:p>
            <a:pPr>
              <a:spcBef>
                <a:spcPts val="0"/>
              </a:spcBef>
              <a:buNone/>
              <a:defRPr/>
            </a:pPr>
            <a:r>
              <a:rPr lang="zh-CN" altLang="en-US" sz="3600" b="1" dirty="0"/>
              <a:t>大纲的定义：</a:t>
            </a:r>
            <a:r>
              <a:rPr lang="zh-CN" altLang="en-US" b="1" dirty="0"/>
              <a:t>核心能力是企业发展过程中逐步形成的、使之超越同类企业在竞争中取得可持续生存与发展的独特性能力，即配置相关资源的知识与经验。</a:t>
            </a:r>
            <a:endParaRPr lang="en-US" altLang="zh-CN" sz="3600" b="1" dirty="0"/>
          </a:p>
          <a:p>
            <a:pPr>
              <a:spcBef>
                <a:spcPts val="0"/>
              </a:spcBef>
              <a:buNone/>
              <a:defRPr/>
            </a:pPr>
            <a:endParaRPr lang="zh-CN" altLang="en-US" sz="3600" b="1" dirty="0"/>
          </a:p>
        </p:txBody>
      </p:sp>
    </p:spTree>
    <p:extLst>
      <p:ext uri="{BB962C8B-B14F-4D97-AF65-F5344CB8AC3E}">
        <p14:creationId xmlns:p14="http://schemas.microsoft.com/office/powerpoint/2010/main" val="2753530051"/>
      </p:ext>
    </p:extLst>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p:cNvSpPr>
            <a:spLocks noGrp="1" noChangeArrowheads="1"/>
          </p:cNvSpPr>
          <p:nvPr>
            <p:ph idx="1"/>
          </p:nvPr>
        </p:nvSpPr>
        <p:spPr>
          <a:xfrm>
            <a:off x="1577211" y="1534617"/>
            <a:ext cx="9635171" cy="4525962"/>
          </a:xfrm>
        </p:spPr>
        <p:txBody>
          <a:bodyPr>
            <a:noAutofit/>
          </a:bodyPr>
          <a:lstStyle/>
          <a:p>
            <a:pPr>
              <a:lnSpc>
                <a:spcPct val="100000"/>
              </a:lnSpc>
              <a:spcBef>
                <a:spcPts val="0"/>
              </a:spcBef>
              <a:spcAft>
                <a:spcPts val="0"/>
              </a:spcAft>
            </a:pPr>
            <a:r>
              <a:rPr lang="zh-CN" altLang="en-US" b="1" dirty="0"/>
              <a:t>杰恩．巴尼：</a:t>
            </a:r>
            <a:r>
              <a:rPr lang="en-US" altLang="zh-CN" b="1" dirty="0"/>
              <a:t>《</a:t>
            </a:r>
            <a:r>
              <a:rPr lang="zh-CN" altLang="en-US" b="1" dirty="0"/>
              <a:t>从内部寻求竞争优势</a:t>
            </a:r>
            <a:r>
              <a:rPr lang="en-US" altLang="zh-CN" b="1" dirty="0"/>
              <a:t>》1995</a:t>
            </a:r>
          </a:p>
          <a:p>
            <a:pPr lvl="1">
              <a:lnSpc>
                <a:spcPct val="100000"/>
              </a:lnSpc>
              <a:spcBef>
                <a:spcPts val="0"/>
              </a:spcBef>
              <a:spcAft>
                <a:spcPts val="0"/>
              </a:spcAft>
            </a:pPr>
            <a:endParaRPr lang="en-US" altLang="zh-CN" b="1" dirty="0"/>
          </a:p>
          <a:p>
            <a:pPr>
              <a:lnSpc>
                <a:spcPct val="100000"/>
              </a:lnSpc>
              <a:spcBef>
                <a:spcPts val="0"/>
              </a:spcBef>
              <a:spcAft>
                <a:spcPts val="0"/>
              </a:spcAft>
            </a:pPr>
            <a:r>
              <a:rPr lang="zh-CN" altLang="en-US" b="1" dirty="0"/>
              <a:t>有价值（</a:t>
            </a:r>
            <a:r>
              <a:rPr lang="en-US" altLang="zh-CN" b="1" dirty="0"/>
              <a:t>value</a:t>
            </a:r>
            <a:r>
              <a:rPr lang="zh-CN" altLang="en-US" b="1" dirty="0"/>
              <a:t>）：创造顾客价值、应对机会威胁、动态权变</a:t>
            </a:r>
            <a:endParaRPr lang="en-US" altLang="zh-CN" b="1" dirty="0"/>
          </a:p>
          <a:p>
            <a:pPr>
              <a:lnSpc>
                <a:spcPct val="100000"/>
              </a:lnSpc>
              <a:spcBef>
                <a:spcPts val="0"/>
              </a:spcBef>
              <a:spcAft>
                <a:spcPts val="0"/>
              </a:spcAft>
            </a:pPr>
            <a:r>
              <a:rPr lang="zh-CN" altLang="en-US" b="1" dirty="0"/>
              <a:t>稀有性（</a:t>
            </a:r>
            <a:r>
              <a:rPr lang="en-US" altLang="zh-CN" b="1" dirty="0"/>
              <a:t>rarity</a:t>
            </a:r>
            <a:r>
              <a:rPr lang="zh-CN" altLang="en-US" b="1" dirty="0"/>
              <a:t>）：独特性，其他企业不具备</a:t>
            </a:r>
            <a:endParaRPr lang="en-US" altLang="zh-CN" b="1" dirty="0"/>
          </a:p>
          <a:p>
            <a:pPr>
              <a:lnSpc>
                <a:spcPct val="100000"/>
              </a:lnSpc>
              <a:spcBef>
                <a:spcPts val="0"/>
              </a:spcBef>
              <a:spcAft>
                <a:spcPts val="0"/>
              </a:spcAft>
            </a:pPr>
            <a:r>
              <a:rPr lang="zh-CN" altLang="en-US" b="1" dirty="0"/>
              <a:t>不可模仿（</a:t>
            </a:r>
            <a:r>
              <a:rPr lang="en-US" altLang="zh-CN" b="1" dirty="0"/>
              <a:t>inimitability</a:t>
            </a:r>
            <a:r>
              <a:rPr lang="zh-CN" altLang="en-US" b="1" dirty="0"/>
              <a:t>）：学习复制很困难，存在模仿壁垒</a:t>
            </a:r>
            <a:endParaRPr lang="en-US" altLang="zh-CN" b="1" dirty="0"/>
          </a:p>
          <a:p>
            <a:pPr lvl="1">
              <a:lnSpc>
                <a:spcPct val="100000"/>
              </a:lnSpc>
              <a:spcBef>
                <a:spcPts val="0"/>
              </a:spcBef>
              <a:spcAft>
                <a:spcPts val="0"/>
              </a:spcAft>
            </a:pPr>
            <a:r>
              <a:rPr lang="zh-CN" altLang="en-US" b="1" dirty="0"/>
              <a:t>有形壁垒：如技术模仿的法律限制、资源专控或者排他性协定</a:t>
            </a:r>
            <a:endParaRPr lang="en-US" altLang="zh-CN" b="1" dirty="0"/>
          </a:p>
          <a:p>
            <a:pPr lvl="1">
              <a:lnSpc>
                <a:spcPct val="100000"/>
              </a:lnSpc>
              <a:spcBef>
                <a:spcPts val="0"/>
              </a:spcBef>
              <a:spcAft>
                <a:spcPts val="0"/>
              </a:spcAft>
            </a:pPr>
            <a:r>
              <a:rPr lang="zh-CN" altLang="en-US" b="1" dirty="0"/>
              <a:t>无形壁垒：企业在特定历史条件下获得这些资源和能力，成因模糊，综合原因、细节决定</a:t>
            </a:r>
            <a:endParaRPr lang="en-US" altLang="zh-CN" b="1" dirty="0"/>
          </a:p>
          <a:p>
            <a:pPr lvl="1">
              <a:lnSpc>
                <a:spcPct val="100000"/>
              </a:lnSpc>
              <a:spcBef>
                <a:spcPts val="0"/>
              </a:spcBef>
              <a:spcAft>
                <a:spcPts val="0"/>
              </a:spcAft>
            </a:pPr>
            <a:r>
              <a:rPr lang="zh-CN" altLang="en-US" b="1" dirty="0"/>
              <a:t>积累</a:t>
            </a:r>
            <a:r>
              <a:rPr lang="en-US" altLang="zh-CN" b="1" dirty="0"/>
              <a:t>-</a:t>
            </a:r>
            <a:r>
              <a:rPr lang="zh-CN" altLang="en-US" b="1" dirty="0"/>
              <a:t>长出来的（有机的活的），不是构成的</a:t>
            </a:r>
            <a:endParaRPr lang="en-US" altLang="zh-CN" b="1" dirty="0"/>
          </a:p>
          <a:p>
            <a:pPr>
              <a:lnSpc>
                <a:spcPct val="100000"/>
              </a:lnSpc>
              <a:spcBef>
                <a:spcPts val="0"/>
              </a:spcBef>
              <a:spcAft>
                <a:spcPts val="0"/>
              </a:spcAft>
            </a:pPr>
            <a:r>
              <a:rPr lang="zh-CN" altLang="en-US" b="1" dirty="0"/>
              <a:t>组织能力（</a:t>
            </a:r>
            <a:r>
              <a:rPr lang="en-US" altLang="zh-CN" b="1" dirty="0"/>
              <a:t>organization</a:t>
            </a:r>
            <a:r>
              <a:rPr lang="zh-CN" altLang="en-US" b="1" dirty="0"/>
              <a:t>）：组织具有充分利用资源和能力的组织能力</a:t>
            </a:r>
            <a:endParaRPr lang="en-US" altLang="zh-CN" b="1" dirty="0"/>
          </a:p>
          <a:p>
            <a:pPr>
              <a:lnSpc>
                <a:spcPct val="100000"/>
              </a:lnSpc>
              <a:spcBef>
                <a:spcPts val="0"/>
              </a:spcBef>
              <a:spcAft>
                <a:spcPts val="0"/>
              </a:spcAft>
            </a:pPr>
            <a:r>
              <a:rPr lang="zh-CN" altLang="en-US" b="1" dirty="0"/>
              <a:t>不可交易性</a:t>
            </a:r>
            <a:r>
              <a:rPr lang="zh-CN" altLang="zh-CN" b="1" dirty="0"/>
              <a:t>、</a:t>
            </a:r>
            <a:r>
              <a:rPr lang="zh-CN" altLang="en-US" b="1" dirty="0"/>
              <a:t>延展性</a:t>
            </a:r>
            <a:r>
              <a:rPr lang="zh-CN" altLang="zh-CN" b="1" dirty="0"/>
              <a:t>、</a:t>
            </a:r>
            <a:r>
              <a:rPr lang="zh-CN" altLang="en-US" b="1" dirty="0"/>
              <a:t>多样性</a:t>
            </a:r>
            <a:r>
              <a:rPr lang="zh-CN" altLang="zh-CN" b="1" dirty="0"/>
              <a:t>、</a:t>
            </a:r>
            <a:r>
              <a:rPr lang="zh-CN" altLang="en-US" b="1" dirty="0"/>
              <a:t>多态性</a:t>
            </a:r>
            <a:endParaRPr lang="en-US" altLang="zh-CN" b="1" dirty="0"/>
          </a:p>
          <a:p>
            <a:pPr>
              <a:lnSpc>
                <a:spcPct val="100000"/>
              </a:lnSpc>
              <a:spcBef>
                <a:spcPts val="0"/>
              </a:spcBef>
              <a:spcAft>
                <a:spcPts val="0"/>
              </a:spcAft>
            </a:pPr>
            <a:r>
              <a:rPr lang="zh-CN" altLang="en-US" b="1" dirty="0"/>
              <a:t>在环境动态情况下，资源</a:t>
            </a:r>
            <a:r>
              <a:rPr lang="en-US" altLang="zh-CN" b="1" dirty="0"/>
              <a:t>/</a:t>
            </a:r>
            <a:r>
              <a:rPr lang="zh-CN" altLang="en-US" b="1" dirty="0"/>
              <a:t>能力模型更为有效</a:t>
            </a:r>
            <a:endParaRPr lang="zh-CN" altLang="en-US" dirty="0"/>
          </a:p>
        </p:txBody>
      </p:sp>
      <p:sp>
        <p:nvSpPr>
          <p:cNvPr id="117762" name="Text Box 3"/>
          <p:cNvSpPr txBox="1">
            <a:spLocks noChangeArrowheads="1"/>
          </p:cNvSpPr>
          <p:nvPr/>
        </p:nvSpPr>
        <p:spPr bwMode="auto">
          <a:xfrm>
            <a:off x="3648075" y="333376"/>
            <a:ext cx="4895850" cy="366713"/>
          </a:xfrm>
          <a:prstGeom prst="rect">
            <a:avLst/>
          </a:prstGeom>
          <a:noFill/>
          <a:ln w="9525">
            <a:noFill/>
            <a:miter lim="800000"/>
            <a:headEnd/>
            <a:tailEnd/>
          </a:ln>
        </p:spPr>
        <p:txBody>
          <a:bodyPr>
            <a:spAutoFit/>
          </a:bodyPr>
          <a:lstStyle/>
          <a:p>
            <a:pPr>
              <a:spcBef>
                <a:spcPct val="50000"/>
              </a:spcBef>
            </a:pPr>
            <a:endParaRPr lang="zh-CN" altLang="en-US">
              <a:latin typeface="Garamond"/>
              <a:ea typeface="方正姚体"/>
            </a:endParaRPr>
          </a:p>
        </p:txBody>
      </p:sp>
      <p:sp>
        <p:nvSpPr>
          <p:cNvPr id="117763" name="Text Box 4"/>
          <p:cNvSpPr txBox="1">
            <a:spLocks noChangeArrowheads="1"/>
          </p:cNvSpPr>
          <p:nvPr/>
        </p:nvSpPr>
        <p:spPr bwMode="auto">
          <a:xfrm>
            <a:off x="2279577" y="549276"/>
            <a:ext cx="7200974" cy="769441"/>
          </a:xfrm>
          <a:prstGeom prst="rect">
            <a:avLst/>
          </a:prstGeom>
          <a:noFill/>
          <a:ln w="9525">
            <a:noFill/>
            <a:miter lim="800000"/>
            <a:headEnd/>
            <a:tailEnd/>
          </a:ln>
        </p:spPr>
        <p:txBody>
          <a:bodyPr wrap="square">
            <a:spAutoFit/>
          </a:bodyPr>
          <a:lstStyle/>
          <a:p>
            <a:pPr>
              <a:spcBef>
                <a:spcPct val="50000"/>
              </a:spcBef>
            </a:pPr>
            <a:r>
              <a:rPr lang="zh-CN" altLang="en-US" sz="4400" dirty="0">
                <a:solidFill>
                  <a:srgbClr val="FFFF00"/>
                </a:solidFill>
                <a:latin typeface="Rockwell"/>
                <a:ea typeface="黑体" pitchFamily="2" charset="-122"/>
              </a:rPr>
              <a:t>核心能力的特征－</a:t>
            </a:r>
            <a:r>
              <a:rPr lang="en-US" altLang="zh-CN" sz="4400" dirty="0" err="1">
                <a:solidFill>
                  <a:srgbClr val="FFFF00"/>
                </a:solidFill>
                <a:latin typeface="Rockwell"/>
                <a:ea typeface="黑体" pitchFamily="2" charset="-122"/>
              </a:rPr>
              <a:t>vrio</a:t>
            </a:r>
            <a:r>
              <a:rPr lang="zh-CN" altLang="en-US" sz="4400" dirty="0">
                <a:solidFill>
                  <a:srgbClr val="FFFF00"/>
                </a:solidFill>
                <a:latin typeface="Rockwell"/>
                <a:ea typeface="黑体" pitchFamily="2" charset="-122"/>
              </a:rPr>
              <a:t>模型</a:t>
            </a:r>
          </a:p>
        </p:txBody>
      </p:sp>
    </p:spTree>
    <p:extLst>
      <p:ext uri="{BB962C8B-B14F-4D97-AF65-F5344CB8AC3E}">
        <p14:creationId xmlns:p14="http://schemas.microsoft.com/office/powerpoint/2010/main" val="3449748309"/>
      </p:ext>
    </p:extLst>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案例：苹果 iPhone——核心能力的"综合涌现"</a:t>
            </a:r>
          </a:p>
        </p:txBody>
      </p:sp>
      <p:sp>
        <p:nvSpPr>
          <p:cNvPr id="3" name="Content Placeholder 2"/>
          <p:cNvSpPr>
            <a:spLocks noGrp="1"/>
          </p:cNvSpPr>
          <p:nvPr>
            <p:ph idx="1"/>
          </p:nvPr>
        </p:nvSpPr>
        <p:spPr>
          <a:xfrm>
            <a:off x="1783080" y="1847088"/>
            <a:ext cx="9326880" cy="4526280"/>
          </a:xfrm>
        </p:spPr>
        <p:txBody>
          <a:bodyPr wrap="square"/>
          <a:lstStyle/>
          <a:p>
            <a:pPr>
              <a:spcAft>
                <a:spcPts val="500"/>
              </a:spcAft>
            </a:pPr>
            <a:r>
              <a:rPr sz="1450" b="1" dirty="0" err="1">
                <a:solidFill>
                  <a:srgbClr val="30508C"/>
                </a:solidFill>
                <a:latin typeface="等线"/>
              </a:rPr>
              <a:t>回扣定义：核心能力不是任何一项单一技术，而是"协调不同生产技能、有机结合多种技术流"的积累性学识（Prahalad</a:t>
            </a:r>
            <a:r>
              <a:rPr sz="1450" b="1" dirty="0">
                <a:solidFill>
                  <a:srgbClr val="30508C"/>
                </a:solidFill>
                <a:latin typeface="等线"/>
              </a:rPr>
              <a:t> &amp; Hamel, 1990）</a:t>
            </a:r>
          </a:p>
          <a:p>
            <a:pPr lvl="1">
              <a:spcAft>
                <a:spcPts val="300"/>
              </a:spcAft>
            </a:pPr>
            <a:r>
              <a:rPr sz="1250" b="0" dirty="0">
                <a:solidFill>
                  <a:srgbClr val="262626"/>
                </a:solidFill>
                <a:latin typeface="等线"/>
              </a:rPr>
              <a:t>2007 年 iPhone </a:t>
            </a:r>
            <a:r>
              <a:rPr sz="1250" b="0" dirty="0" err="1">
                <a:solidFill>
                  <a:srgbClr val="262626"/>
                </a:solidFill>
                <a:latin typeface="等线"/>
              </a:rPr>
              <a:t>发布时，其零部件几乎没有一项是苹果原创：电容式多点触控（收购</a:t>
            </a:r>
            <a:r>
              <a:rPr sz="1250" b="0" dirty="0">
                <a:solidFill>
                  <a:srgbClr val="262626"/>
                </a:solidFill>
                <a:latin typeface="等线"/>
              </a:rPr>
              <a:t> </a:t>
            </a:r>
            <a:r>
              <a:rPr sz="1250" b="0" dirty="0" err="1">
                <a:solidFill>
                  <a:srgbClr val="262626"/>
                </a:solidFill>
                <a:latin typeface="等线"/>
              </a:rPr>
              <a:t>FingerWorks</a:t>
            </a:r>
            <a:r>
              <a:rPr sz="1250" b="0" dirty="0">
                <a:solidFill>
                  <a:srgbClr val="262626"/>
                </a:solidFill>
                <a:latin typeface="等线"/>
              </a:rPr>
              <a:t>）、ARM </a:t>
            </a:r>
            <a:r>
              <a:rPr sz="1250" b="0" dirty="0" err="1">
                <a:solidFill>
                  <a:srgbClr val="262626"/>
                </a:solidFill>
                <a:latin typeface="等线"/>
              </a:rPr>
              <a:t>架构芯片（授权</a:t>
            </a:r>
            <a:r>
              <a:rPr sz="1250" b="0" dirty="0">
                <a:solidFill>
                  <a:srgbClr val="262626"/>
                </a:solidFill>
                <a:latin typeface="等线"/>
              </a:rPr>
              <a:t>）、</a:t>
            </a:r>
            <a:r>
              <a:rPr sz="1250" b="0" dirty="0" err="1">
                <a:solidFill>
                  <a:srgbClr val="262626"/>
                </a:solidFill>
                <a:latin typeface="等线"/>
              </a:rPr>
              <a:t>闪存、GSM</a:t>
            </a:r>
            <a:r>
              <a:rPr sz="1250" b="0" dirty="0">
                <a:solidFill>
                  <a:srgbClr val="262626"/>
                </a:solidFill>
                <a:latin typeface="等线"/>
              </a:rPr>
              <a:t> </a:t>
            </a:r>
            <a:r>
              <a:rPr sz="1250" b="0" dirty="0" err="1">
                <a:solidFill>
                  <a:srgbClr val="262626"/>
                </a:solidFill>
                <a:latin typeface="等线"/>
              </a:rPr>
              <a:t>通信模块、音乐播放（iPod</a:t>
            </a:r>
            <a:r>
              <a:rPr sz="1250" b="0" dirty="0">
                <a:solidFill>
                  <a:srgbClr val="262626"/>
                </a:solidFill>
                <a:latin typeface="等线"/>
              </a:rPr>
              <a:t>）——</a:t>
            </a:r>
            <a:r>
              <a:rPr sz="1250" b="0" dirty="0" err="1">
                <a:solidFill>
                  <a:srgbClr val="262626"/>
                </a:solidFill>
                <a:latin typeface="等线"/>
              </a:rPr>
              <a:t>单项技术均可从市场获得</a:t>
            </a:r>
            <a:endParaRPr sz="1250" b="0" dirty="0">
              <a:solidFill>
                <a:srgbClr val="262626"/>
              </a:solidFill>
              <a:latin typeface="等线"/>
            </a:endParaRPr>
          </a:p>
          <a:p>
            <a:pPr lvl="1">
              <a:spcAft>
                <a:spcPts val="300"/>
              </a:spcAft>
            </a:pPr>
            <a:r>
              <a:rPr sz="1250" b="0" dirty="0">
                <a:solidFill>
                  <a:srgbClr val="262626"/>
                </a:solidFill>
                <a:latin typeface="等线"/>
              </a:rPr>
              <a:t>苹果做的不是"</a:t>
            </a:r>
            <a:r>
              <a:rPr sz="1250" b="0" dirty="0" err="1">
                <a:solidFill>
                  <a:srgbClr val="262626"/>
                </a:solidFill>
                <a:latin typeface="等线"/>
              </a:rPr>
              <a:t>发明</a:t>
            </a:r>
            <a:r>
              <a:rPr sz="1250" b="0" dirty="0">
                <a:solidFill>
                  <a:srgbClr val="262626"/>
                </a:solidFill>
                <a:latin typeface="等线"/>
              </a:rPr>
              <a:t>"，而是"</a:t>
            </a:r>
            <a:r>
              <a:rPr sz="1250" b="0" dirty="0" err="1">
                <a:solidFill>
                  <a:srgbClr val="262626"/>
                </a:solidFill>
                <a:latin typeface="等线"/>
              </a:rPr>
              <a:t>整合</a:t>
            </a:r>
            <a:r>
              <a:rPr sz="1250" b="0" dirty="0">
                <a:solidFill>
                  <a:srgbClr val="262626"/>
                </a:solidFill>
                <a:latin typeface="等线"/>
              </a:rPr>
              <a:t>"：Mac OS X </a:t>
            </a:r>
            <a:r>
              <a:rPr sz="1250" b="0" dirty="0" err="1">
                <a:solidFill>
                  <a:srgbClr val="262626"/>
                </a:solidFill>
                <a:latin typeface="等线"/>
              </a:rPr>
              <a:t>裁剪为</a:t>
            </a:r>
            <a:r>
              <a:rPr sz="1250" b="0" dirty="0">
                <a:solidFill>
                  <a:srgbClr val="262626"/>
                </a:solidFill>
                <a:latin typeface="等线"/>
              </a:rPr>
              <a:t> </a:t>
            </a:r>
            <a:r>
              <a:rPr sz="1250" b="0" dirty="0" err="1">
                <a:solidFill>
                  <a:srgbClr val="262626"/>
                </a:solidFill>
                <a:latin typeface="等线"/>
              </a:rPr>
              <a:t>iOS、工业设计语言、软硬件一体调校、iTunes</a:t>
            </a:r>
            <a:r>
              <a:rPr sz="1250" b="0" dirty="0">
                <a:solidFill>
                  <a:srgbClr val="262626"/>
                </a:solidFill>
                <a:latin typeface="等线"/>
              </a:rPr>
              <a:t>/App Store </a:t>
            </a:r>
            <a:r>
              <a:rPr sz="1250" b="0" dirty="0" err="1">
                <a:solidFill>
                  <a:srgbClr val="262626"/>
                </a:solidFill>
                <a:latin typeface="等线"/>
              </a:rPr>
              <a:t>分发生态</a:t>
            </a:r>
            <a:r>
              <a:rPr sz="1250" b="0" dirty="0">
                <a:solidFill>
                  <a:srgbClr val="262626"/>
                </a:solidFill>
                <a:latin typeface="等线"/>
              </a:rPr>
              <a:t>——</a:t>
            </a:r>
            <a:r>
              <a:rPr sz="1250" b="0" dirty="0" err="1">
                <a:solidFill>
                  <a:srgbClr val="262626"/>
                </a:solidFill>
                <a:latin typeface="等线"/>
              </a:rPr>
              <a:t>多个技术流与技能流被组织成一个系统</a:t>
            </a:r>
            <a:endParaRPr sz="1250" b="0" dirty="0">
              <a:solidFill>
                <a:srgbClr val="262626"/>
              </a:solidFill>
              <a:latin typeface="等线"/>
            </a:endParaRPr>
          </a:p>
          <a:p>
            <a:pPr>
              <a:spcAft>
                <a:spcPts val="500"/>
              </a:spcAft>
            </a:pPr>
            <a:r>
              <a:rPr sz="1450" b="1" dirty="0" err="1">
                <a:solidFill>
                  <a:srgbClr val="30508C"/>
                </a:solidFill>
                <a:latin typeface="等线"/>
              </a:rPr>
              <a:t>涌现：整体</a:t>
            </a:r>
            <a:r>
              <a:rPr sz="1450" b="1" dirty="0">
                <a:solidFill>
                  <a:srgbClr val="30508C"/>
                </a:solidFill>
                <a:latin typeface="等线"/>
              </a:rPr>
              <a:t> &gt; </a:t>
            </a:r>
            <a:r>
              <a:rPr sz="1450" b="1" dirty="0" err="1">
                <a:solidFill>
                  <a:srgbClr val="30508C"/>
                </a:solidFill>
                <a:latin typeface="等线"/>
              </a:rPr>
              <a:t>部分之和</a:t>
            </a:r>
            <a:endParaRPr sz="1450" b="1" dirty="0">
              <a:solidFill>
                <a:srgbClr val="30508C"/>
              </a:solidFill>
              <a:latin typeface="等线"/>
            </a:endParaRPr>
          </a:p>
          <a:p>
            <a:pPr lvl="1">
              <a:spcAft>
                <a:spcPts val="300"/>
              </a:spcAft>
            </a:pPr>
            <a:r>
              <a:rPr sz="1250" b="0" dirty="0">
                <a:solidFill>
                  <a:srgbClr val="262626"/>
                </a:solidFill>
                <a:latin typeface="等线"/>
              </a:rPr>
              <a:t>2007 </a:t>
            </a:r>
            <a:r>
              <a:rPr sz="1250" b="0" dirty="0" err="1">
                <a:solidFill>
                  <a:srgbClr val="262626"/>
                </a:solidFill>
                <a:latin typeface="等线"/>
              </a:rPr>
              <a:t>年发布会</a:t>
            </a:r>
            <a:r>
              <a:rPr sz="1250" b="0" dirty="0">
                <a:solidFill>
                  <a:srgbClr val="262626"/>
                </a:solidFill>
                <a:latin typeface="等线"/>
              </a:rPr>
              <a:t>："</a:t>
            </a:r>
            <a:r>
              <a:rPr sz="1250" b="0" dirty="0" err="1">
                <a:solidFill>
                  <a:srgbClr val="262626"/>
                </a:solidFill>
                <a:latin typeface="等线"/>
              </a:rPr>
              <a:t>一台</a:t>
            </a:r>
            <a:r>
              <a:rPr sz="1250" b="0" dirty="0">
                <a:solidFill>
                  <a:srgbClr val="262626"/>
                </a:solidFill>
                <a:latin typeface="等线"/>
              </a:rPr>
              <a:t> </a:t>
            </a:r>
            <a:r>
              <a:rPr sz="1250" b="0" dirty="0" err="1">
                <a:solidFill>
                  <a:srgbClr val="262626"/>
                </a:solidFill>
                <a:latin typeface="等线"/>
              </a:rPr>
              <a:t>iPod、一部手机、一台互联网终端</a:t>
            </a:r>
            <a:r>
              <a:rPr sz="1250" b="0" dirty="0">
                <a:solidFill>
                  <a:srgbClr val="262626"/>
                </a:solidFill>
                <a:latin typeface="等线"/>
              </a:rPr>
              <a:t>——</a:t>
            </a:r>
            <a:r>
              <a:rPr sz="1250" b="0" dirty="0" err="1">
                <a:solidFill>
                  <a:srgbClr val="262626"/>
                </a:solidFill>
                <a:latin typeface="等线"/>
              </a:rPr>
              <a:t>这不是三台设备，是一台</a:t>
            </a:r>
            <a:r>
              <a:rPr sz="1250" b="0" dirty="0">
                <a:solidFill>
                  <a:srgbClr val="262626"/>
                </a:solidFill>
                <a:latin typeface="等线"/>
              </a:rPr>
              <a:t>"——</a:t>
            </a:r>
            <a:r>
              <a:rPr sz="1250" b="0" dirty="0" err="1">
                <a:solidFill>
                  <a:srgbClr val="262626"/>
                </a:solidFill>
                <a:latin typeface="等线"/>
              </a:rPr>
              <a:t>三股技术流整合后涌现出"智能手机"新品类，创造了此前不存在的市场</a:t>
            </a:r>
            <a:endParaRPr sz="1250" b="0" dirty="0">
              <a:solidFill>
                <a:srgbClr val="262626"/>
              </a:solidFill>
              <a:latin typeface="等线"/>
            </a:endParaRPr>
          </a:p>
          <a:p>
            <a:pPr lvl="1">
              <a:spcAft>
                <a:spcPts val="300"/>
              </a:spcAft>
            </a:pPr>
            <a:r>
              <a:rPr sz="1250" b="0" dirty="0" err="1">
                <a:solidFill>
                  <a:srgbClr val="262626"/>
                </a:solidFill>
                <a:latin typeface="等线"/>
              </a:rPr>
              <a:t>涌现的持续繁衍：硬件-软件-服务一体化继续涌现出</a:t>
            </a:r>
            <a:r>
              <a:rPr sz="1250" b="0" dirty="0">
                <a:solidFill>
                  <a:srgbClr val="262626"/>
                </a:solidFill>
                <a:latin typeface="等线"/>
              </a:rPr>
              <a:t> App Store 平台经济（2008）、</a:t>
            </a:r>
            <a:r>
              <a:rPr sz="1250" b="0" dirty="0" err="1">
                <a:solidFill>
                  <a:srgbClr val="262626"/>
                </a:solidFill>
                <a:latin typeface="等线"/>
              </a:rPr>
              <a:t>自研</a:t>
            </a:r>
            <a:r>
              <a:rPr sz="1250" b="0" dirty="0">
                <a:solidFill>
                  <a:srgbClr val="262626"/>
                </a:solidFill>
                <a:latin typeface="等线"/>
              </a:rPr>
              <a:t> A/M 系列芯片（2020）——</a:t>
            </a:r>
            <a:r>
              <a:rPr sz="1250" b="0" dirty="0" err="1">
                <a:solidFill>
                  <a:srgbClr val="262626"/>
                </a:solidFill>
                <a:latin typeface="等线"/>
              </a:rPr>
              <a:t>核心能力不断"生出新"最终产品</a:t>
            </a:r>
            <a:endParaRPr sz="1250" b="0" dirty="0">
              <a:solidFill>
                <a:srgbClr val="262626"/>
              </a:solidFill>
              <a:latin typeface="等线"/>
            </a:endParaRPr>
          </a:p>
          <a:p>
            <a:pPr>
              <a:spcAft>
                <a:spcPts val="500"/>
              </a:spcAft>
            </a:pPr>
            <a:r>
              <a:rPr sz="1450" b="1" dirty="0" err="1">
                <a:solidFill>
                  <a:srgbClr val="30508C"/>
                </a:solidFill>
                <a:latin typeface="等线"/>
              </a:rPr>
              <a:t>对照哈默三判据</a:t>
            </a:r>
            <a:endParaRPr sz="1450" b="1" dirty="0">
              <a:solidFill>
                <a:srgbClr val="30508C"/>
              </a:solidFill>
              <a:latin typeface="等线"/>
            </a:endParaRPr>
          </a:p>
          <a:p>
            <a:pPr lvl="1">
              <a:spcAft>
                <a:spcPts val="300"/>
              </a:spcAft>
            </a:pPr>
            <a:r>
              <a:rPr sz="1250" b="0" dirty="0" err="1">
                <a:solidFill>
                  <a:srgbClr val="262626"/>
                </a:solidFill>
                <a:latin typeface="等线"/>
              </a:rPr>
              <a:t>延展性（广阔市场准入</a:t>
            </a:r>
            <a:r>
              <a:rPr sz="1250" b="0" dirty="0">
                <a:solidFill>
                  <a:srgbClr val="262626"/>
                </a:solidFill>
                <a:latin typeface="等线"/>
              </a:rPr>
              <a:t>）：</a:t>
            </a:r>
            <a:r>
              <a:rPr sz="1250" b="0" dirty="0" err="1">
                <a:solidFill>
                  <a:srgbClr val="262626"/>
                </a:solidFill>
                <a:latin typeface="等线"/>
              </a:rPr>
              <a:t>从手机延展至手表、耳机、平板、服务；顾客价值：交付的是"体验"而非功能堆叠</a:t>
            </a:r>
            <a:r>
              <a:rPr sz="1250" b="0" dirty="0">
                <a:solidFill>
                  <a:srgbClr val="262626"/>
                </a:solidFill>
                <a:latin typeface="等线"/>
              </a:rPr>
              <a:t>——</a:t>
            </a:r>
            <a:r>
              <a:rPr sz="1250" b="0" dirty="0" err="1">
                <a:solidFill>
                  <a:srgbClr val="262626"/>
                </a:solidFill>
                <a:latin typeface="等线"/>
              </a:rPr>
              <a:t>此前"智能手机"是商务人士的邮件工具，iPhone</a:t>
            </a:r>
            <a:r>
              <a:rPr sz="1250" b="0" dirty="0">
                <a:solidFill>
                  <a:srgbClr val="262626"/>
                </a:solidFill>
                <a:latin typeface="等线"/>
              </a:rPr>
              <a:t> </a:t>
            </a:r>
            <a:r>
              <a:rPr sz="1250" b="0" dirty="0" err="1">
                <a:solidFill>
                  <a:srgbClr val="262626"/>
                </a:solidFill>
                <a:latin typeface="等线"/>
              </a:rPr>
              <a:t>让普通人用上了移动互联网</a:t>
            </a:r>
            <a:endParaRPr sz="1250" b="0" dirty="0">
              <a:solidFill>
                <a:srgbClr val="262626"/>
              </a:solidFill>
              <a:latin typeface="等线"/>
            </a:endParaRPr>
          </a:p>
          <a:p>
            <a:pPr lvl="1">
              <a:spcAft>
                <a:spcPts val="300"/>
              </a:spcAft>
            </a:pPr>
            <a:r>
              <a:rPr sz="1250" b="0" dirty="0" err="1">
                <a:solidFill>
                  <a:srgbClr val="262626"/>
                </a:solidFill>
                <a:latin typeface="等线"/>
              </a:rPr>
              <a:t>难以模仿：对手能买到相同的零件，却买不到"整合的学识</a:t>
            </a:r>
            <a:r>
              <a:rPr sz="1250" b="0" dirty="0">
                <a:solidFill>
                  <a:srgbClr val="262626"/>
                </a:solidFill>
                <a:latin typeface="等线"/>
              </a:rPr>
              <a:t>"——</a:t>
            </a:r>
            <a:r>
              <a:rPr sz="1250" b="0" dirty="0" err="1">
                <a:solidFill>
                  <a:srgbClr val="262626"/>
                </a:solidFill>
                <a:latin typeface="等线"/>
              </a:rPr>
              <a:t>集体学习嵌入组织流程与惯例，成因模糊、不可交易（呼应前页</a:t>
            </a:r>
            <a:r>
              <a:rPr sz="1250" b="0" dirty="0">
                <a:solidFill>
                  <a:srgbClr val="262626"/>
                </a:solidFill>
                <a:latin typeface="等线"/>
              </a:rPr>
              <a:t> VRIO 的 inimitability）</a:t>
            </a:r>
          </a:p>
        </p:txBody>
      </p:sp>
      <p:sp>
        <p:nvSpPr>
          <p:cNvPr id="4" name="TextBox 3"/>
          <p:cNvSpPr txBox="1"/>
          <p:nvPr/>
        </p:nvSpPr>
        <p:spPr>
          <a:xfrm>
            <a:off x="1463040" y="6473952"/>
            <a:ext cx="9326880" cy="310896"/>
          </a:xfrm>
          <a:prstGeom prst="rect">
            <a:avLst/>
          </a:prstGeom>
          <a:noFill/>
        </p:spPr>
        <p:txBody>
          <a:bodyPr wrap="none">
            <a:spAutoFit/>
          </a:bodyPr>
          <a:lstStyle/>
          <a:p>
            <a:r>
              <a:rPr sz="1100" i="1">
                <a:solidFill>
                  <a:srgbClr val="7F7F7F"/>
                </a:solidFill>
                <a:latin typeface="等线"/>
              </a:rPr>
              <a:t>资料来源：Prahalad &amp; Hamel (1990) The Core Competence of the Corporation, HBR；Isaacson (2011)《史蒂夫·乔布斯传》；苹果 2007 年 Macworld 发布会实录</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2"/>
          <p:cNvSpPr txBox="1">
            <a:spLocks noChangeArrowheads="1"/>
          </p:cNvSpPr>
          <p:nvPr/>
        </p:nvSpPr>
        <p:spPr bwMode="auto">
          <a:xfrm>
            <a:off x="2133600" y="1066801"/>
            <a:ext cx="8642920" cy="5632311"/>
          </a:xfrm>
          <a:prstGeom prst="rect">
            <a:avLst/>
          </a:prstGeom>
          <a:noFill/>
          <a:ln w="9525">
            <a:noFill/>
            <a:miter lim="800000"/>
          </a:ln>
          <a:effectLst/>
        </p:spPr>
        <p:txBody>
          <a:bodyPr wrap="square">
            <a:spAutoFit/>
          </a:bodyPr>
          <a:lstStyle/>
          <a:p>
            <a:pPr>
              <a:spcBef>
                <a:spcPct val="50000"/>
              </a:spcBef>
              <a:defRPr/>
            </a:pPr>
            <a:r>
              <a:rPr kumimoji="1" lang="zh-CN" altLang="en-US" sz="2400" dirty="0">
                <a:latin typeface="Times New Roman" panose="02020603050405020304" pitchFamily="18" charset="0"/>
              </a:rPr>
              <a:t>  </a:t>
            </a:r>
            <a:r>
              <a:rPr kumimoji="1" lang="zh-CN" altLang="en-US" sz="2400" b="1" dirty="0">
                <a:solidFill>
                  <a:srgbClr val="00FFFF"/>
                </a:solidFill>
                <a:effectLst>
                  <a:outerShdw blurRad="38100" dist="38100" dir="2700000" algn="tl">
                    <a:srgbClr val="C0C0C0"/>
                  </a:outerShdw>
                </a:effectLst>
                <a:latin typeface="Times New Roman" panose="02020603050405020304" pitchFamily="18" charset="0"/>
              </a:rPr>
              <a:t>激光打引机   彩色复印机   传真机 细胞仪  摄像机</a:t>
            </a:r>
          </a:p>
          <a:p>
            <a:pPr>
              <a:spcBef>
                <a:spcPct val="50000"/>
              </a:spcBef>
              <a:defRPr/>
            </a:pPr>
            <a:endParaRPr kumimoji="1" lang="zh-CN" altLang="en-US" sz="2400" b="1" dirty="0">
              <a:solidFill>
                <a:srgbClr val="00FFFF"/>
              </a:solidFill>
              <a:effectLst>
                <a:outerShdw blurRad="38100" dist="38100" dir="2700000" algn="tl">
                  <a:srgbClr val="C0C0C0"/>
                </a:outerShdw>
              </a:effectLst>
              <a:latin typeface="Times New Roman" panose="02020603050405020304" pitchFamily="18" charset="0"/>
            </a:endParaRPr>
          </a:p>
          <a:p>
            <a:pPr>
              <a:spcBef>
                <a:spcPct val="50000"/>
              </a:spcBef>
              <a:defRPr/>
            </a:pPr>
            <a:endParaRPr kumimoji="1" lang="zh-CN" altLang="en-US" sz="2400" b="1" dirty="0">
              <a:effectLst>
                <a:outerShdw blurRad="38100" dist="38100" dir="2700000" algn="tl">
                  <a:srgbClr val="C0C0C0"/>
                </a:outerShdw>
              </a:effectLst>
              <a:latin typeface="Times New Roman" panose="02020603050405020304" pitchFamily="18" charset="0"/>
            </a:endParaRPr>
          </a:p>
          <a:p>
            <a:pPr>
              <a:spcBef>
                <a:spcPct val="50000"/>
              </a:spcBef>
              <a:defRPr/>
            </a:pPr>
            <a:endParaRPr kumimoji="1" lang="zh-CN" altLang="en-US" sz="2400" b="1" dirty="0">
              <a:effectLst>
                <a:outerShdw blurRad="38100" dist="38100" dir="2700000" algn="tl">
                  <a:srgbClr val="C0C0C0"/>
                </a:outerShdw>
              </a:effectLst>
              <a:latin typeface="Times New Roman" panose="02020603050405020304" pitchFamily="18" charset="0"/>
            </a:endParaRPr>
          </a:p>
          <a:p>
            <a:pPr>
              <a:spcBef>
                <a:spcPct val="50000"/>
              </a:spcBef>
              <a:defRPr/>
            </a:pPr>
            <a:r>
              <a:rPr kumimoji="1" lang="zh-CN" altLang="en-US" sz="2400" b="1" dirty="0">
                <a:effectLst>
                  <a:outerShdw blurRad="38100" dist="38100" dir="2700000" algn="tl">
                    <a:srgbClr val="C0C0C0"/>
                  </a:outerShdw>
                </a:effectLst>
                <a:latin typeface="Times New Roman" panose="02020603050405020304" pitchFamily="18" charset="0"/>
              </a:rPr>
              <a:t>       </a:t>
            </a:r>
            <a:r>
              <a:rPr kumimoji="1" lang="zh-CN" altLang="en-US" sz="3200" b="1" dirty="0">
                <a:solidFill>
                  <a:srgbClr val="FFFFFF"/>
                </a:solidFill>
                <a:effectLst>
                  <a:outerShdw blurRad="38100" dist="38100" dir="2700000" algn="tl">
                    <a:srgbClr val="C0C0C0"/>
                  </a:outerShdw>
                </a:effectLst>
                <a:latin typeface="Times New Roman" panose="02020603050405020304" pitchFamily="18" charset="0"/>
              </a:rPr>
              <a:t>激光工程       数字成像系统          照相机</a:t>
            </a:r>
          </a:p>
          <a:p>
            <a:pPr>
              <a:spcBef>
                <a:spcPct val="50000"/>
              </a:spcBef>
              <a:defRPr/>
            </a:pPr>
            <a:endParaRPr kumimoji="1" lang="zh-CN" altLang="en-US" sz="3200" b="1" dirty="0">
              <a:solidFill>
                <a:srgbClr val="FFFFFF"/>
              </a:solidFill>
              <a:effectLst>
                <a:outerShdw blurRad="38100" dist="38100" dir="2700000" algn="tl">
                  <a:srgbClr val="C0C0C0"/>
                </a:outerShdw>
              </a:effectLst>
              <a:latin typeface="Times New Roman" panose="02020603050405020304" pitchFamily="18" charset="0"/>
            </a:endParaRPr>
          </a:p>
          <a:p>
            <a:pPr>
              <a:spcBef>
                <a:spcPct val="50000"/>
              </a:spcBef>
              <a:defRPr/>
            </a:pPr>
            <a:endParaRPr kumimoji="1" lang="zh-CN" altLang="en-US" sz="3200" b="1" dirty="0">
              <a:solidFill>
                <a:srgbClr val="996600"/>
              </a:solidFill>
              <a:effectLst>
                <a:outerShdw blurRad="38100" dist="38100" dir="2700000" algn="tl">
                  <a:srgbClr val="C0C0C0"/>
                </a:outerShdw>
              </a:effectLst>
              <a:latin typeface="Times New Roman" panose="02020603050405020304" pitchFamily="18" charset="0"/>
            </a:endParaRPr>
          </a:p>
          <a:p>
            <a:pPr>
              <a:spcBef>
                <a:spcPct val="50000"/>
              </a:spcBef>
              <a:defRPr/>
            </a:pPr>
            <a:endParaRPr kumimoji="1" lang="zh-CN" altLang="en-US" sz="2400" b="1" dirty="0">
              <a:effectLst>
                <a:outerShdw blurRad="38100" dist="38100" dir="2700000" algn="tl">
                  <a:srgbClr val="C0C0C0"/>
                </a:outerShdw>
              </a:effectLst>
              <a:latin typeface="Times New Roman" panose="02020603050405020304" pitchFamily="18" charset="0"/>
            </a:endParaRPr>
          </a:p>
          <a:p>
            <a:pPr>
              <a:spcBef>
                <a:spcPct val="50000"/>
              </a:spcBef>
              <a:defRPr/>
            </a:pPr>
            <a:r>
              <a:rPr kumimoji="1" lang="zh-CN" altLang="en-US" sz="3200" b="1" dirty="0">
                <a:effectLst>
                  <a:outerShdw blurRad="38100" dist="38100" dir="2700000" algn="tl">
                    <a:srgbClr val="C0C0C0"/>
                  </a:outerShdw>
                </a:effectLst>
                <a:latin typeface="Times New Roman" panose="02020603050405020304" pitchFamily="18" charset="0"/>
              </a:rPr>
              <a:t>     </a:t>
            </a:r>
            <a:r>
              <a:rPr kumimoji="1" lang="zh-CN" altLang="en-US" sz="3200" b="1" dirty="0">
                <a:solidFill>
                  <a:srgbClr val="FFFF00"/>
                </a:solidFill>
                <a:effectLst>
                  <a:outerShdw blurRad="38100" dist="38100" dir="2700000" algn="tl">
                    <a:srgbClr val="C0C0C0"/>
                  </a:outerShdw>
                </a:effectLst>
                <a:latin typeface="Times New Roman" panose="02020603050405020304" pitchFamily="18" charset="0"/>
              </a:rPr>
              <a:t>精密机械      激光      微电子       精密光子</a:t>
            </a:r>
          </a:p>
        </p:txBody>
      </p:sp>
      <p:sp>
        <p:nvSpPr>
          <p:cNvPr id="119810" name="Line 3"/>
          <p:cNvSpPr>
            <a:spLocks noChangeShapeType="1"/>
          </p:cNvSpPr>
          <p:nvPr/>
        </p:nvSpPr>
        <p:spPr bwMode="auto">
          <a:xfrm flipH="1" flipV="1">
            <a:off x="2971800" y="1524000"/>
            <a:ext cx="685800" cy="1828800"/>
          </a:xfrm>
          <a:prstGeom prst="line">
            <a:avLst/>
          </a:prstGeom>
          <a:noFill/>
          <a:ln w="57150">
            <a:solidFill>
              <a:schemeClr val="tx1"/>
            </a:solidFill>
            <a:miter lim="800000"/>
            <a:tailEnd type="triangle" w="med" len="med"/>
          </a:ln>
        </p:spPr>
        <p:txBody>
          <a:bodyPr wrap="none"/>
          <a:lstStyle/>
          <a:p>
            <a:endParaRPr lang="zh-CN" altLang="en-US"/>
          </a:p>
        </p:txBody>
      </p:sp>
      <p:sp>
        <p:nvSpPr>
          <p:cNvPr id="119811" name="Line 4"/>
          <p:cNvSpPr>
            <a:spLocks noChangeShapeType="1"/>
          </p:cNvSpPr>
          <p:nvPr/>
        </p:nvSpPr>
        <p:spPr bwMode="auto">
          <a:xfrm flipV="1">
            <a:off x="3810000" y="1524000"/>
            <a:ext cx="1143000" cy="1828800"/>
          </a:xfrm>
          <a:prstGeom prst="line">
            <a:avLst/>
          </a:prstGeom>
          <a:noFill/>
          <a:ln w="57150">
            <a:solidFill>
              <a:schemeClr val="tx1"/>
            </a:solidFill>
            <a:miter lim="800000"/>
            <a:tailEnd type="triangle" w="med" len="med"/>
          </a:ln>
        </p:spPr>
        <p:txBody>
          <a:bodyPr wrap="none"/>
          <a:lstStyle/>
          <a:p>
            <a:endParaRPr lang="zh-CN" altLang="en-US"/>
          </a:p>
        </p:txBody>
      </p:sp>
      <p:sp>
        <p:nvSpPr>
          <p:cNvPr id="119812" name="Line 5"/>
          <p:cNvSpPr>
            <a:spLocks noChangeShapeType="1"/>
          </p:cNvSpPr>
          <p:nvPr/>
        </p:nvSpPr>
        <p:spPr bwMode="auto">
          <a:xfrm flipV="1">
            <a:off x="6400800" y="1524000"/>
            <a:ext cx="0" cy="1752600"/>
          </a:xfrm>
          <a:prstGeom prst="line">
            <a:avLst/>
          </a:prstGeom>
          <a:noFill/>
          <a:ln w="57150">
            <a:solidFill>
              <a:schemeClr val="tx1"/>
            </a:solidFill>
            <a:miter lim="800000"/>
            <a:tailEnd type="triangle" w="med" len="med"/>
          </a:ln>
        </p:spPr>
        <p:txBody>
          <a:bodyPr wrap="none"/>
          <a:lstStyle/>
          <a:p>
            <a:endParaRPr lang="zh-CN" altLang="en-US"/>
          </a:p>
        </p:txBody>
      </p:sp>
      <p:sp>
        <p:nvSpPr>
          <p:cNvPr id="119813" name="Line 6"/>
          <p:cNvSpPr>
            <a:spLocks noChangeShapeType="1"/>
          </p:cNvSpPr>
          <p:nvPr/>
        </p:nvSpPr>
        <p:spPr bwMode="auto">
          <a:xfrm flipV="1">
            <a:off x="6553200" y="1524000"/>
            <a:ext cx="914400" cy="1752600"/>
          </a:xfrm>
          <a:prstGeom prst="line">
            <a:avLst/>
          </a:prstGeom>
          <a:noFill/>
          <a:ln w="57150">
            <a:solidFill>
              <a:schemeClr val="tx1"/>
            </a:solidFill>
            <a:miter lim="800000"/>
            <a:tailEnd type="triangle" w="med" len="med"/>
          </a:ln>
        </p:spPr>
        <p:txBody>
          <a:bodyPr wrap="none"/>
          <a:lstStyle/>
          <a:p>
            <a:endParaRPr lang="zh-CN" altLang="en-US"/>
          </a:p>
        </p:txBody>
      </p:sp>
      <p:sp>
        <p:nvSpPr>
          <p:cNvPr id="119814" name="Line 7"/>
          <p:cNvSpPr>
            <a:spLocks noChangeShapeType="1"/>
          </p:cNvSpPr>
          <p:nvPr/>
        </p:nvSpPr>
        <p:spPr bwMode="auto">
          <a:xfrm flipV="1">
            <a:off x="6705600" y="1524000"/>
            <a:ext cx="1828800" cy="1828800"/>
          </a:xfrm>
          <a:prstGeom prst="line">
            <a:avLst/>
          </a:prstGeom>
          <a:noFill/>
          <a:ln w="57150">
            <a:solidFill>
              <a:schemeClr val="tx1"/>
            </a:solidFill>
            <a:miter lim="800000"/>
            <a:tailEnd type="triangle" w="med" len="med"/>
          </a:ln>
        </p:spPr>
        <p:txBody>
          <a:bodyPr wrap="none"/>
          <a:lstStyle/>
          <a:p>
            <a:endParaRPr lang="zh-CN" altLang="en-US"/>
          </a:p>
        </p:txBody>
      </p:sp>
      <p:sp>
        <p:nvSpPr>
          <p:cNvPr id="119815" name="Line 8"/>
          <p:cNvSpPr>
            <a:spLocks noChangeShapeType="1"/>
          </p:cNvSpPr>
          <p:nvPr/>
        </p:nvSpPr>
        <p:spPr bwMode="auto">
          <a:xfrm flipH="1" flipV="1">
            <a:off x="8686800" y="1435100"/>
            <a:ext cx="533400" cy="1917700"/>
          </a:xfrm>
          <a:prstGeom prst="line">
            <a:avLst/>
          </a:prstGeom>
          <a:noFill/>
          <a:ln w="57150">
            <a:solidFill>
              <a:schemeClr val="tx1"/>
            </a:solidFill>
            <a:miter lim="800000"/>
            <a:tailEnd type="triangle" w="med" len="med"/>
          </a:ln>
        </p:spPr>
        <p:txBody>
          <a:bodyPr wrap="none"/>
          <a:lstStyle/>
          <a:p>
            <a:endParaRPr lang="zh-CN" altLang="en-US"/>
          </a:p>
        </p:txBody>
      </p:sp>
      <p:sp>
        <p:nvSpPr>
          <p:cNvPr id="119816" name="Line 9"/>
          <p:cNvSpPr>
            <a:spLocks noChangeShapeType="1"/>
          </p:cNvSpPr>
          <p:nvPr/>
        </p:nvSpPr>
        <p:spPr bwMode="auto">
          <a:xfrm flipV="1">
            <a:off x="3581400" y="3886200"/>
            <a:ext cx="0" cy="2133600"/>
          </a:xfrm>
          <a:prstGeom prst="line">
            <a:avLst/>
          </a:prstGeom>
          <a:noFill/>
          <a:ln w="57150">
            <a:solidFill>
              <a:schemeClr val="tx1"/>
            </a:solidFill>
            <a:miter lim="800000"/>
            <a:tailEnd type="triangle" w="med" len="med"/>
          </a:ln>
        </p:spPr>
        <p:txBody>
          <a:bodyPr wrap="none"/>
          <a:lstStyle/>
          <a:p>
            <a:endParaRPr lang="zh-CN" altLang="en-US"/>
          </a:p>
        </p:txBody>
      </p:sp>
      <p:sp>
        <p:nvSpPr>
          <p:cNvPr id="119817" name="Line 10"/>
          <p:cNvSpPr>
            <a:spLocks noChangeShapeType="1"/>
          </p:cNvSpPr>
          <p:nvPr/>
        </p:nvSpPr>
        <p:spPr bwMode="auto">
          <a:xfrm flipH="1" flipV="1">
            <a:off x="3733800" y="3886200"/>
            <a:ext cx="1524000" cy="2057400"/>
          </a:xfrm>
          <a:prstGeom prst="line">
            <a:avLst/>
          </a:prstGeom>
          <a:noFill/>
          <a:ln w="57150">
            <a:solidFill>
              <a:schemeClr val="tx1"/>
            </a:solidFill>
            <a:miter lim="800000"/>
            <a:tailEnd type="triangle" w="med" len="med"/>
          </a:ln>
        </p:spPr>
        <p:txBody>
          <a:bodyPr wrap="none"/>
          <a:lstStyle/>
          <a:p>
            <a:endParaRPr lang="zh-CN" altLang="en-US"/>
          </a:p>
        </p:txBody>
      </p:sp>
      <p:sp>
        <p:nvSpPr>
          <p:cNvPr id="119818" name="Line 11"/>
          <p:cNvSpPr>
            <a:spLocks noChangeShapeType="1"/>
          </p:cNvSpPr>
          <p:nvPr/>
        </p:nvSpPr>
        <p:spPr bwMode="auto">
          <a:xfrm flipV="1">
            <a:off x="5410200" y="3886200"/>
            <a:ext cx="762000" cy="2057400"/>
          </a:xfrm>
          <a:prstGeom prst="line">
            <a:avLst/>
          </a:prstGeom>
          <a:noFill/>
          <a:ln w="57150">
            <a:solidFill>
              <a:schemeClr val="tx1"/>
            </a:solidFill>
            <a:miter lim="800000"/>
            <a:tailEnd type="triangle" w="med" len="med"/>
          </a:ln>
        </p:spPr>
        <p:txBody>
          <a:bodyPr wrap="none"/>
          <a:lstStyle/>
          <a:p>
            <a:endParaRPr lang="zh-CN" altLang="en-US"/>
          </a:p>
        </p:txBody>
      </p:sp>
      <p:sp>
        <p:nvSpPr>
          <p:cNvPr id="119819" name="Line 12"/>
          <p:cNvSpPr>
            <a:spLocks noChangeShapeType="1"/>
          </p:cNvSpPr>
          <p:nvPr/>
        </p:nvSpPr>
        <p:spPr bwMode="auto">
          <a:xfrm flipV="1">
            <a:off x="7010400" y="3810000"/>
            <a:ext cx="0" cy="2057400"/>
          </a:xfrm>
          <a:prstGeom prst="line">
            <a:avLst/>
          </a:prstGeom>
          <a:noFill/>
          <a:ln w="57150">
            <a:solidFill>
              <a:schemeClr val="tx1"/>
            </a:solidFill>
            <a:miter lim="800000"/>
            <a:tailEnd type="triangle" w="med" len="med"/>
          </a:ln>
        </p:spPr>
        <p:txBody>
          <a:bodyPr wrap="none"/>
          <a:lstStyle/>
          <a:p>
            <a:endParaRPr lang="zh-CN" altLang="en-US"/>
          </a:p>
        </p:txBody>
      </p:sp>
      <p:sp>
        <p:nvSpPr>
          <p:cNvPr id="119820" name="Line 13"/>
          <p:cNvSpPr>
            <a:spLocks noChangeShapeType="1"/>
          </p:cNvSpPr>
          <p:nvPr/>
        </p:nvSpPr>
        <p:spPr bwMode="auto">
          <a:xfrm flipH="1" flipV="1">
            <a:off x="7467600" y="3886200"/>
            <a:ext cx="1752600" cy="2133600"/>
          </a:xfrm>
          <a:prstGeom prst="line">
            <a:avLst/>
          </a:prstGeom>
          <a:noFill/>
          <a:ln w="57150">
            <a:solidFill>
              <a:schemeClr val="tx1"/>
            </a:solidFill>
            <a:miter lim="800000"/>
            <a:tailEnd type="triangle" w="med" len="med"/>
          </a:ln>
        </p:spPr>
        <p:txBody>
          <a:bodyPr wrap="none"/>
          <a:lstStyle/>
          <a:p>
            <a:endParaRPr lang="zh-CN" altLang="en-US"/>
          </a:p>
        </p:txBody>
      </p:sp>
      <p:sp>
        <p:nvSpPr>
          <p:cNvPr id="119821" name="Line 14"/>
          <p:cNvSpPr>
            <a:spLocks noChangeShapeType="1"/>
          </p:cNvSpPr>
          <p:nvPr/>
        </p:nvSpPr>
        <p:spPr bwMode="auto">
          <a:xfrm flipV="1">
            <a:off x="9448800" y="3886200"/>
            <a:ext cx="0" cy="2057400"/>
          </a:xfrm>
          <a:prstGeom prst="line">
            <a:avLst/>
          </a:prstGeom>
          <a:noFill/>
          <a:ln w="57150">
            <a:solidFill>
              <a:schemeClr val="tx1"/>
            </a:solidFill>
            <a:miter lim="800000"/>
            <a:tailEnd type="triangle" w="med" len="med"/>
          </a:ln>
        </p:spPr>
        <p:txBody>
          <a:bodyPr wrap="none"/>
          <a:lstStyle/>
          <a:p>
            <a:endParaRPr lang="zh-CN" altLang="en-US"/>
          </a:p>
        </p:txBody>
      </p:sp>
      <p:sp>
        <p:nvSpPr>
          <p:cNvPr id="119822" name="Line 15"/>
          <p:cNvSpPr>
            <a:spLocks noChangeShapeType="1"/>
          </p:cNvSpPr>
          <p:nvPr/>
        </p:nvSpPr>
        <p:spPr bwMode="auto">
          <a:xfrm flipV="1">
            <a:off x="3733800" y="3886200"/>
            <a:ext cx="5486400" cy="2057400"/>
          </a:xfrm>
          <a:prstGeom prst="line">
            <a:avLst/>
          </a:prstGeom>
          <a:noFill/>
          <a:ln w="57150">
            <a:solidFill>
              <a:schemeClr val="tx1"/>
            </a:solidFill>
            <a:miter lim="800000"/>
            <a:tailEnd type="triangle" w="med" len="med"/>
          </a:ln>
        </p:spPr>
        <p:txBody>
          <a:bodyPr wrap="none"/>
          <a:lstStyle/>
          <a:p>
            <a:endParaRPr lang="zh-CN" altLang="en-US"/>
          </a:p>
        </p:txBody>
      </p:sp>
      <p:sp>
        <p:nvSpPr>
          <p:cNvPr id="119823" name="Line 16"/>
          <p:cNvSpPr>
            <a:spLocks noChangeShapeType="1"/>
          </p:cNvSpPr>
          <p:nvPr/>
        </p:nvSpPr>
        <p:spPr bwMode="auto">
          <a:xfrm flipH="1" flipV="1">
            <a:off x="4191000" y="3886200"/>
            <a:ext cx="2590800" cy="1981200"/>
          </a:xfrm>
          <a:prstGeom prst="line">
            <a:avLst/>
          </a:prstGeom>
          <a:noFill/>
          <a:ln w="57150">
            <a:solidFill>
              <a:schemeClr val="tx1"/>
            </a:solidFill>
            <a:miter lim="800000"/>
            <a:tailEnd type="triangle" w="med" len="med"/>
          </a:ln>
        </p:spPr>
        <p:txBody>
          <a:bodyPr wrap="none"/>
          <a:lstStyle/>
          <a:p>
            <a:endParaRPr lang="zh-CN" altLang="en-US"/>
          </a:p>
        </p:txBody>
      </p:sp>
      <p:sp>
        <p:nvSpPr>
          <p:cNvPr id="119824" name="Text Box 17"/>
          <p:cNvSpPr txBox="1">
            <a:spLocks noChangeArrowheads="1"/>
          </p:cNvSpPr>
          <p:nvPr/>
        </p:nvSpPr>
        <p:spPr bwMode="auto">
          <a:xfrm>
            <a:off x="4079876" y="333376"/>
            <a:ext cx="3960813" cy="366713"/>
          </a:xfrm>
          <a:prstGeom prst="rect">
            <a:avLst/>
          </a:prstGeom>
          <a:noFill/>
          <a:ln w="9525">
            <a:noFill/>
            <a:miter lim="800000"/>
          </a:ln>
        </p:spPr>
        <p:txBody>
          <a:bodyPr>
            <a:spAutoFit/>
          </a:bodyPr>
          <a:lstStyle/>
          <a:p>
            <a:pPr>
              <a:spcBef>
                <a:spcPct val="50000"/>
              </a:spcBef>
            </a:pPr>
            <a:endParaRPr lang="zh-CN" altLang="en-US">
              <a:latin typeface="Garamond" panose="02020404030301010803"/>
              <a:ea typeface="方正姚体" panose="02010601030101010101" charset="-122"/>
            </a:endParaRPr>
          </a:p>
        </p:txBody>
      </p:sp>
      <p:sp>
        <p:nvSpPr>
          <p:cNvPr id="119825" name="Text Box 18"/>
          <p:cNvSpPr txBox="1">
            <a:spLocks noChangeArrowheads="1"/>
          </p:cNvSpPr>
          <p:nvPr/>
        </p:nvSpPr>
        <p:spPr bwMode="auto">
          <a:xfrm>
            <a:off x="4079876" y="260350"/>
            <a:ext cx="4824413" cy="641350"/>
          </a:xfrm>
          <a:prstGeom prst="rect">
            <a:avLst/>
          </a:prstGeom>
          <a:noFill/>
          <a:ln w="9525">
            <a:noFill/>
            <a:miter lim="800000"/>
          </a:ln>
        </p:spPr>
        <p:txBody>
          <a:bodyPr>
            <a:spAutoFit/>
          </a:bodyPr>
          <a:lstStyle/>
          <a:p>
            <a:pPr>
              <a:spcBef>
                <a:spcPct val="50000"/>
              </a:spcBef>
            </a:pPr>
            <a:r>
              <a:rPr lang="zh-CN" altLang="en-US" sz="3600" b="1">
                <a:latin typeface="Garamond" panose="02020404030301010803"/>
                <a:ea typeface="方正姚体" panose="02010601030101010101" charset="-122"/>
              </a:rPr>
              <a:t>佳能的核心能力</a:t>
            </a: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590800" y="691326"/>
            <a:ext cx="7010400" cy="1484313"/>
          </a:xfrm>
        </p:spPr>
        <p:txBody>
          <a:bodyPr/>
          <a:lstStyle/>
          <a:p>
            <a:pPr marL="54610">
              <a:defRPr/>
            </a:pPr>
            <a:r>
              <a:rPr lang="zh-CN" altLang="en-US" dirty="0">
                <a:solidFill>
                  <a:schemeClr val="tx2">
                    <a:tint val="100000"/>
                    <a:shade val="90000"/>
                    <a:satMod val="250000"/>
                    <a:alpha val="100000"/>
                  </a:schemeClr>
                </a:solidFill>
                <a:ea typeface="黑体" panose="02010609060101010101" pitchFamily="2" charset="-122"/>
                <a:cs typeface="+mj-cs"/>
              </a:rPr>
              <a:t>本田公司的产品扩展</a:t>
            </a:r>
          </a:p>
        </p:txBody>
      </p:sp>
      <p:sp>
        <p:nvSpPr>
          <p:cNvPr id="120834" name="Rectangle 3"/>
          <p:cNvSpPr>
            <a:spLocks noGrp="1" noChangeArrowheads="1"/>
          </p:cNvSpPr>
          <p:nvPr>
            <p:ph type="body" idx="1"/>
          </p:nvPr>
        </p:nvSpPr>
        <p:spPr/>
        <p:txBody>
          <a:bodyPr>
            <a:normAutofit/>
          </a:bodyPr>
          <a:lstStyle/>
          <a:p>
            <a:endParaRPr lang="zh-CN" altLang="en-US" sz="2800" b="1" dirty="0">
              <a:latin typeface="KaiTi" panose="02010609060101010101" pitchFamily="49" charset="-122"/>
              <a:ea typeface="KaiTi" panose="02010609060101010101" pitchFamily="49" charset="-122"/>
            </a:endParaRPr>
          </a:p>
        </p:txBody>
      </p:sp>
      <p:sp>
        <p:nvSpPr>
          <p:cNvPr id="120835" name="Oval 4"/>
          <p:cNvSpPr>
            <a:spLocks noChangeArrowheads="1"/>
          </p:cNvSpPr>
          <p:nvPr/>
        </p:nvSpPr>
        <p:spPr bwMode="auto">
          <a:xfrm>
            <a:off x="5375276" y="3429001"/>
            <a:ext cx="1584325" cy="1368425"/>
          </a:xfrm>
          <a:prstGeom prst="ellipse">
            <a:avLst/>
          </a:prstGeom>
          <a:solidFill>
            <a:schemeClr val="accent1"/>
          </a:solidFill>
          <a:ln w="9525">
            <a:solidFill>
              <a:schemeClr val="tx1"/>
            </a:solidFill>
            <a:round/>
          </a:ln>
        </p:spPr>
        <p:txBody>
          <a:bodyPr wrap="none" anchor="ctr"/>
          <a:lstStyle/>
          <a:p>
            <a:pPr algn="ctr"/>
            <a:r>
              <a:rPr lang="zh-CN" altLang="en-US" sz="2800" b="1">
                <a:latin typeface="KaiTi" panose="02010609060101010101" pitchFamily="49" charset="-122"/>
                <a:ea typeface="KaiTi" panose="02010609060101010101" pitchFamily="49" charset="-122"/>
              </a:rPr>
              <a:t>发动机</a:t>
            </a:r>
          </a:p>
          <a:p>
            <a:pPr algn="ctr"/>
            <a:r>
              <a:rPr lang="zh-CN" altLang="en-US" sz="2800" b="1">
                <a:latin typeface="KaiTi" panose="02010609060101010101" pitchFamily="49" charset="-122"/>
                <a:ea typeface="KaiTi" panose="02010609060101010101" pitchFamily="49" charset="-122"/>
              </a:rPr>
              <a:t>传动系统</a:t>
            </a:r>
          </a:p>
        </p:txBody>
      </p:sp>
      <p:sp>
        <p:nvSpPr>
          <p:cNvPr id="120836" name="Rectangle 5"/>
          <p:cNvSpPr>
            <a:spLocks noChangeArrowheads="1"/>
          </p:cNvSpPr>
          <p:nvPr/>
        </p:nvSpPr>
        <p:spPr bwMode="auto">
          <a:xfrm>
            <a:off x="5519739" y="1628776"/>
            <a:ext cx="1296987" cy="936625"/>
          </a:xfrm>
          <a:prstGeom prst="rect">
            <a:avLst/>
          </a:prstGeom>
          <a:solidFill>
            <a:schemeClr val="accent1"/>
          </a:solidFill>
          <a:ln w="9525">
            <a:solidFill>
              <a:schemeClr val="tx1"/>
            </a:solidFill>
            <a:miter lim="800000"/>
          </a:ln>
        </p:spPr>
        <p:txBody>
          <a:bodyPr wrap="none" anchor="ctr"/>
          <a:lstStyle/>
          <a:p>
            <a:pPr algn="ctr"/>
            <a:r>
              <a:rPr lang="zh-CN" altLang="en-US" sz="2800" b="1">
                <a:latin typeface="KaiTi" panose="02010609060101010101" pitchFamily="49" charset="-122"/>
                <a:ea typeface="KaiTi" panose="02010609060101010101" pitchFamily="49" charset="-122"/>
              </a:rPr>
              <a:t>摩托车</a:t>
            </a:r>
          </a:p>
        </p:txBody>
      </p:sp>
      <p:sp>
        <p:nvSpPr>
          <p:cNvPr id="120837" name="Line 6"/>
          <p:cNvSpPr>
            <a:spLocks noChangeShapeType="1"/>
          </p:cNvSpPr>
          <p:nvPr/>
        </p:nvSpPr>
        <p:spPr bwMode="auto">
          <a:xfrm flipV="1">
            <a:off x="6096000" y="2636839"/>
            <a:ext cx="0" cy="720725"/>
          </a:xfrm>
          <a:prstGeom prst="line">
            <a:avLst/>
          </a:prstGeom>
          <a:noFill/>
          <a:ln w="9525">
            <a:solidFill>
              <a:schemeClr val="tx1"/>
            </a:solidFill>
            <a:round/>
            <a:tailEnd type="triangle" w="med" len="med"/>
          </a:ln>
        </p:spPr>
        <p:txBody>
          <a:bodyPr/>
          <a:lstStyle/>
          <a:p>
            <a:endParaRPr lang="zh-CN" altLang="en-US" sz="2000" b="1">
              <a:latin typeface="KaiTi" panose="02010609060101010101" pitchFamily="49" charset="-122"/>
              <a:ea typeface="KaiTi" panose="02010609060101010101" pitchFamily="49" charset="-122"/>
            </a:endParaRPr>
          </a:p>
        </p:txBody>
      </p:sp>
      <p:sp>
        <p:nvSpPr>
          <p:cNvPr id="120838" name="Line 7"/>
          <p:cNvSpPr>
            <a:spLocks noChangeShapeType="1"/>
          </p:cNvSpPr>
          <p:nvPr/>
        </p:nvSpPr>
        <p:spPr bwMode="auto">
          <a:xfrm>
            <a:off x="6167438" y="4868863"/>
            <a:ext cx="0" cy="576262"/>
          </a:xfrm>
          <a:prstGeom prst="line">
            <a:avLst/>
          </a:prstGeom>
          <a:noFill/>
          <a:ln w="9525">
            <a:solidFill>
              <a:schemeClr val="tx1"/>
            </a:solidFill>
            <a:round/>
            <a:tailEnd type="triangle" w="med" len="med"/>
          </a:ln>
        </p:spPr>
        <p:txBody>
          <a:bodyPr/>
          <a:lstStyle/>
          <a:p>
            <a:endParaRPr lang="zh-CN" altLang="en-US" sz="2000" b="1">
              <a:latin typeface="KaiTi" panose="02010609060101010101" pitchFamily="49" charset="-122"/>
              <a:ea typeface="KaiTi" panose="02010609060101010101" pitchFamily="49" charset="-122"/>
            </a:endParaRPr>
          </a:p>
        </p:txBody>
      </p:sp>
      <p:sp>
        <p:nvSpPr>
          <p:cNvPr id="120839" name="Rectangle 8"/>
          <p:cNvSpPr>
            <a:spLocks noChangeArrowheads="1"/>
          </p:cNvSpPr>
          <p:nvPr/>
        </p:nvSpPr>
        <p:spPr bwMode="auto">
          <a:xfrm>
            <a:off x="5448301" y="5516564"/>
            <a:ext cx="1584325" cy="865187"/>
          </a:xfrm>
          <a:prstGeom prst="rect">
            <a:avLst/>
          </a:prstGeom>
          <a:solidFill>
            <a:schemeClr val="accent1"/>
          </a:solidFill>
          <a:ln w="9525">
            <a:solidFill>
              <a:schemeClr val="tx1"/>
            </a:solidFill>
            <a:miter lim="800000"/>
          </a:ln>
        </p:spPr>
        <p:txBody>
          <a:bodyPr wrap="none" anchor="ctr"/>
          <a:lstStyle/>
          <a:p>
            <a:pPr algn="ctr"/>
            <a:r>
              <a:rPr lang="zh-CN" altLang="en-US" sz="2800" b="1">
                <a:latin typeface="KaiTi" panose="02010609060101010101" pitchFamily="49" charset="-122"/>
                <a:ea typeface="KaiTi" panose="02010609060101010101" pitchFamily="49" charset="-122"/>
              </a:rPr>
              <a:t>小汽车</a:t>
            </a:r>
          </a:p>
        </p:txBody>
      </p:sp>
      <p:sp>
        <p:nvSpPr>
          <p:cNvPr id="120840" name="Line 9"/>
          <p:cNvSpPr>
            <a:spLocks noChangeShapeType="1"/>
          </p:cNvSpPr>
          <p:nvPr/>
        </p:nvSpPr>
        <p:spPr bwMode="auto">
          <a:xfrm flipH="1" flipV="1">
            <a:off x="4583113" y="2997200"/>
            <a:ext cx="1008062" cy="647700"/>
          </a:xfrm>
          <a:prstGeom prst="line">
            <a:avLst/>
          </a:prstGeom>
          <a:noFill/>
          <a:ln w="9525">
            <a:solidFill>
              <a:schemeClr val="tx1"/>
            </a:solidFill>
            <a:round/>
            <a:tailEnd type="triangle" w="med" len="med"/>
          </a:ln>
        </p:spPr>
        <p:txBody>
          <a:bodyPr/>
          <a:lstStyle/>
          <a:p>
            <a:endParaRPr lang="zh-CN" altLang="en-US" sz="2000" b="1">
              <a:latin typeface="KaiTi" panose="02010609060101010101" pitchFamily="49" charset="-122"/>
              <a:ea typeface="KaiTi" panose="02010609060101010101" pitchFamily="49" charset="-122"/>
            </a:endParaRPr>
          </a:p>
        </p:txBody>
      </p:sp>
      <p:sp>
        <p:nvSpPr>
          <p:cNvPr id="120841" name="Line 10"/>
          <p:cNvSpPr>
            <a:spLocks noChangeShapeType="1"/>
          </p:cNvSpPr>
          <p:nvPr/>
        </p:nvSpPr>
        <p:spPr bwMode="auto">
          <a:xfrm flipH="1" flipV="1">
            <a:off x="4367213" y="3716339"/>
            <a:ext cx="1008062" cy="288925"/>
          </a:xfrm>
          <a:prstGeom prst="line">
            <a:avLst/>
          </a:prstGeom>
          <a:noFill/>
          <a:ln w="9525">
            <a:solidFill>
              <a:schemeClr val="tx1"/>
            </a:solidFill>
            <a:round/>
            <a:tailEnd type="triangle" w="med" len="med"/>
          </a:ln>
        </p:spPr>
        <p:txBody>
          <a:bodyPr/>
          <a:lstStyle/>
          <a:p>
            <a:endParaRPr lang="zh-CN" altLang="en-US" sz="2000" b="1">
              <a:latin typeface="KaiTi" panose="02010609060101010101" pitchFamily="49" charset="-122"/>
              <a:ea typeface="KaiTi" panose="02010609060101010101" pitchFamily="49" charset="-122"/>
            </a:endParaRPr>
          </a:p>
        </p:txBody>
      </p:sp>
      <p:sp>
        <p:nvSpPr>
          <p:cNvPr id="120842" name="Line 11"/>
          <p:cNvSpPr>
            <a:spLocks noChangeShapeType="1"/>
          </p:cNvSpPr>
          <p:nvPr/>
        </p:nvSpPr>
        <p:spPr bwMode="auto">
          <a:xfrm flipH="1">
            <a:off x="4367807" y="4437112"/>
            <a:ext cx="1152128" cy="503932"/>
          </a:xfrm>
          <a:prstGeom prst="line">
            <a:avLst/>
          </a:prstGeom>
          <a:noFill/>
          <a:ln w="9525">
            <a:solidFill>
              <a:schemeClr val="tx1"/>
            </a:solidFill>
            <a:round/>
            <a:tailEnd type="triangle" w="med" len="med"/>
          </a:ln>
        </p:spPr>
        <p:txBody>
          <a:bodyPr/>
          <a:lstStyle/>
          <a:p>
            <a:endParaRPr lang="zh-CN" altLang="en-US" sz="2000" b="1">
              <a:latin typeface="KaiTi" panose="02010609060101010101" pitchFamily="49" charset="-122"/>
              <a:ea typeface="KaiTi" panose="02010609060101010101" pitchFamily="49" charset="-122"/>
            </a:endParaRPr>
          </a:p>
        </p:txBody>
      </p:sp>
      <p:sp>
        <p:nvSpPr>
          <p:cNvPr id="120844" name="Rectangle 13"/>
          <p:cNvSpPr>
            <a:spLocks noChangeArrowheads="1"/>
          </p:cNvSpPr>
          <p:nvPr/>
        </p:nvSpPr>
        <p:spPr bwMode="auto">
          <a:xfrm>
            <a:off x="3000375" y="2276476"/>
            <a:ext cx="1582738" cy="720725"/>
          </a:xfrm>
          <a:prstGeom prst="rect">
            <a:avLst/>
          </a:prstGeom>
          <a:solidFill>
            <a:schemeClr val="accent1"/>
          </a:solidFill>
          <a:ln w="9525">
            <a:solidFill>
              <a:schemeClr val="tx1"/>
            </a:solidFill>
            <a:miter lim="800000"/>
          </a:ln>
        </p:spPr>
        <p:txBody>
          <a:bodyPr wrap="none" anchor="ctr"/>
          <a:lstStyle/>
          <a:p>
            <a:pPr algn="ctr"/>
            <a:r>
              <a:rPr lang="zh-CN" altLang="en-US" sz="2000" b="1">
                <a:latin typeface="KaiTi" panose="02010609060101010101" pitchFamily="49" charset="-122"/>
                <a:ea typeface="KaiTi" panose="02010609060101010101" pitchFamily="49" charset="-122"/>
              </a:rPr>
              <a:t>外用发动机</a:t>
            </a:r>
          </a:p>
        </p:txBody>
      </p:sp>
      <p:sp>
        <p:nvSpPr>
          <p:cNvPr id="120845" name="Rectangle 14"/>
          <p:cNvSpPr>
            <a:spLocks noChangeArrowheads="1"/>
          </p:cNvSpPr>
          <p:nvPr/>
        </p:nvSpPr>
        <p:spPr bwMode="auto">
          <a:xfrm>
            <a:off x="2927351" y="3357563"/>
            <a:ext cx="1439863" cy="647700"/>
          </a:xfrm>
          <a:prstGeom prst="rect">
            <a:avLst/>
          </a:prstGeom>
          <a:solidFill>
            <a:schemeClr val="accent1"/>
          </a:solidFill>
          <a:ln w="9525">
            <a:solidFill>
              <a:schemeClr val="tx1"/>
            </a:solidFill>
            <a:miter lim="800000"/>
          </a:ln>
        </p:spPr>
        <p:txBody>
          <a:bodyPr wrap="none" anchor="ctr"/>
          <a:lstStyle/>
          <a:p>
            <a:pPr algn="ctr"/>
            <a:r>
              <a:rPr lang="zh-CN" altLang="en-US" sz="2000" b="1">
                <a:latin typeface="KaiTi" panose="02010609060101010101" pitchFamily="49" charset="-122"/>
                <a:ea typeface="KaiTi" panose="02010609060101010101" pitchFamily="49" charset="-122"/>
              </a:rPr>
              <a:t>扫雪车</a:t>
            </a:r>
          </a:p>
        </p:txBody>
      </p:sp>
      <p:sp>
        <p:nvSpPr>
          <p:cNvPr id="120846" name="Rectangle 15"/>
          <p:cNvSpPr>
            <a:spLocks noChangeArrowheads="1"/>
          </p:cNvSpPr>
          <p:nvPr/>
        </p:nvSpPr>
        <p:spPr bwMode="auto">
          <a:xfrm>
            <a:off x="2999657" y="4725144"/>
            <a:ext cx="1368425" cy="649288"/>
          </a:xfrm>
          <a:prstGeom prst="rect">
            <a:avLst/>
          </a:prstGeom>
          <a:solidFill>
            <a:schemeClr val="accent1"/>
          </a:solidFill>
          <a:ln w="9525">
            <a:solidFill>
              <a:schemeClr val="tx1"/>
            </a:solidFill>
            <a:miter lim="800000"/>
          </a:ln>
        </p:spPr>
        <p:txBody>
          <a:bodyPr wrap="none" anchor="ctr"/>
          <a:lstStyle/>
          <a:p>
            <a:pPr algn="ctr"/>
            <a:r>
              <a:rPr lang="zh-CN" altLang="en-US" sz="2000" b="1">
                <a:latin typeface="KaiTi" panose="02010609060101010101" pitchFamily="49" charset="-122"/>
                <a:ea typeface="KaiTi" panose="02010609060101010101" pitchFamily="49" charset="-122"/>
              </a:rPr>
              <a:t>雪地车</a:t>
            </a:r>
          </a:p>
        </p:txBody>
      </p:sp>
      <p:sp>
        <p:nvSpPr>
          <p:cNvPr id="120848" name="Line 17"/>
          <p:cNvSpPr>
            <a:spLocks noChangeShapeType="1"/>
          </p:cNvSpPr>
          <p:nvPr/>
        </p:nvSpPr>
        <p:spPr bwMode="auto">
          <a:xfrm flipV="1">
            <a:off x="6600825" y="2852738"/>
            <a:ext cx="1079500" cy="647700"/>
          </a:xfrm>
          <a:prstGeom prst="line">
            <a:avLst/>
          </a:prstGeom>
          <a:noFill/>
          <a:ln w="9525">
            <a:solidFill>
              <a:schemeClr val="tx1"/>
            </a:solidFill>
            <a:round/>
            <a:tailEnd type="triangle" w="med" len="med"/>
          </a:ln>
        </p:spPr>
        <p:txBody>
          <a:bodyPr/>
          <a:lstStyle/>
          <a:p>
            <a:endParaRPr lang="zh-CN" altLang="en-US" sz="2000" b="1">
              <a:latin typeface="KaiTi" panose="02010609060101010101" pitchFamily="49" charset="-122"/>
              <a:ea typeface="KaiTi" panose="02010609060101010101" pitchFamily="49" charset="-122"/>
            </a:endParaRPr>
          </a:p>
        </p:txBody>
      </p:sp>
      <p:sp>
        <p:nvSpPr>
          <p:cNvPr id="120849" name="Line 18"/>
          <p:cNvSpPr>
            <a:spLocks noChangeShapeType="1"/>
          </p:cNvSpPr>
          <p:nvPr/>
        </p:nvSpPr>
        <p:spPr bwMode="auto">
          <a:xfrm flipV="1">
            <a:off x="6888164" y="3716339"/>
            <a:ext cx="936625" cy="73025"/>
          </a:xfrm>
          <a:prstGeom prst="line">
            <a:avLst/>
          </a:prstGeom>
          <a:noFill/>
          <a:ln w="9525">
            <a:solidFill>
              <a:schemeClr val="tx1"/>
            </a:solidFill>
            <a:round/>
            <a:tailEnd type="triangle" w="med" len="med"/>
          </a:ln>
        </p:spPr>
        <p:txBody>
          <a:bodyPr/>
          <a:lstStyle/>
          <a:p>
            <a:endParaRPr lang="zh-CN" altLang="en-US" sz="2000" b="1">
              <a:latin typeface="KaiTi" panose="02010609060101010101" pitchFamily="49" charset="-122"/>
              <a:ea typeface="KaiTi" panose="02010609060101010101" pitchFamily="49" charset="-122"/>
            </a:endParaRPr>
          </a:p>
        </p:txBody>
      </p:sp>
      <p:sp>
        <p:nvSpPr>
          <p:cNvPr id="120851" name="Line 20"/>
          <p:cNvSpPr>
            <a:spLocks noChangeShapeType="1"/>
          </p:cNvSpPr>
          <p:nvPr/>
        </p:nvSpPr>
        <p:spPr bwMode="auto">
          <a:xfrm>
            <a:off x="6888164" y="4437063"/>
            <a:ext cx="936625" cy="647700"/>
          </a:xfrm>
          <a:prstGeom prst="line">
            <a:avLst/>
          </a:prstGeom>
          <a:noFill/>
          <a:ln w="9525">
            <a:solidFill>
              <a:schemeClr val="tx1"/>
            </a:solidFill>
            <a:round/>
            <a:tailEnd type="triangle" w="med" len="med"/>
          </a:ln>
        </p:spPr>
        <p:txBody>
          <a:bodyPr/>
          <a:lstStyle/>
          <a:p>
            <a:endParaRPr lang="zh-CN" altLang="en-US" sz="2000" b="1">
              <a:latin typeface="KaiTi" panose="02010609060101010101" pitchFamily="49" charset="-122"/>
              <a:ea typeface="KaiTi" panose="02010609060101010101" pitchFamily="49" charset="-122"/>
            </a:endParaRPr>
          </a:p>
        </p:txBody>
      </p:sp>
      <p:sp>
        <p:nvSpPr>
          <p:cNvPr id="120852" name="Rectangle 21"/>
          <p:cNvSpPr>
            <a:spLocks noChangeArrowheads="1"/>
          </p:cNvSpPr>
          <p:nvPr/>
        </p:nvSpPr>
        <p:spPr bwMode="auto">
          <a:xfrm>
            <a:off x="7680325" y="2060576"/>
            <a:ext cx="1295400" cy="790575"/>
          </a:xfrm>
          <a:prstGeom prst="rect">
            <a:avLst/>
          </a:prstGeom>
          <a:solidFill>
            <a:schemeClr val="accent1"/>
          </a:solidFill>
          <a:ln w="9525">
            <a:solidFill>
              <a:schemeClr val="tx1"/>
            </a:solidFill>
            <a:miter lim="800000"/>
          </a:ln>
        </p:spPr>
        <p:txBody>
          <a:bodyPr wrap="none" anchor="ctr"/>
          <a:lstStyle/>
          <a:p>
            <a:pPr algn="ctr"/>
            <a:r>
              <a:rPr lang="zh-CN" altLang="en-US" sz="2000" b="1">
                <a:latin typeface="KaiTi" panose="02010609060101010101" pitchFamily="49" charset="-122"/>
                <a:ea typeface="KaiTi" panose="02010609060101010101" pitchFamily="49" charset="-122"/>
              </a:rPr>
              <a:t>田间耕作机</a:t>
            </a:r>
          </a:p>
        </p:txBody>
      </p:sp>
      <p:sp>
        <p:nvSpPr>
          <p:cNvPr id="120853" name="Rectangle 22"/>
          <p:cNvSpPr>
            <a:spLocks noChangeArrowheads="1"/>
          </p:cNvSpPr>
          <p:nvPr/>
        </p:nvSpPr>
        <p:spPr bwMode="auto">
          <a:xfrm>
            <a:off x="7824789" y="3284539"/>
            <a:ext cx="1366837" cy="649287"/>
          </a:xfrm>
          <a:prstGeom prst="rect">
            <a:avLst/>
          </a:prstGeom>
          <a:solidFill>
            <a:schemeClr val="accent1"/>
          </a:solidFill>
          <a:ln w="9525">
            <a:solidFill>
              <a:schemeClr val="tx1"/>
            </a:solidFill>
            <a:miter lim="800000"/>
          </a:ln>
        </p:spPr>
        <p:txBody>
          <a:bodyPr wrap="none" anchor="ctr"/>
          <a:lstStyle/>
          <a:p>
            <a:pPr algn="ctr"/>
            <a:r>
              <a:rPr lang="zh-CN" altLang="en-US" sz="2000" b="1">
                <a:latin typeface="KaiTi" panose="02010609060101010101" pitchFamily="49" charset="-122"/>
                <a:ea typeface="KaiTi" panose="02010609060101010101" pitchFamily="49" charset="-122"/>
              </a:rPr>
              <a:t>割草机</a:t>
            </a:r>
          </a:p>
        </p:txBody>
      </p:sp>
      <p:sp>
        <p:nvSpPr>
          <p:cNvPr id="120855" name="Rectangle 24"/>
          <p:cNvSpPr>
            <a:spLocks noChangeArrowheads="1"/>
          </p:cNvSpPr>
          <p:nvPr/>
        </p:nvSpPr>
        <p:spPr bwMode="auto">
          <a:xfrm>
            <a:off x="7824788" y="5013325"/>
            <a:ext cx="1439862" cy="649288"/>
          </a:xfrm>
          <a:prstGeom prst="rect">
            <a:avLst/>
          </a:prstGeom>
          <a:solidFill>
            <a:schemeClr val="accent1"/>
          </a:solidFill>
          <a:ln w="9525">
            <a:solidFill>
              <a:schemeClr val="tx1"/>
            </a:solidFill>
            <a:miter lim="800000"/>
          </a:ln>
        </p:spPr>
        <p:txBody>
          <a:bodyPr wrap="none" anchor="ctr"/>
          <a:lstStyle/>
          <a:p>
            <a:pPr algn="ctr"/>
            <a:r>
              <a:rPr lang="zh-CN" altLang="en-US" sz="2000" b="1" dirty="0">
                <a:latin typeface="KaiTi" panose="02010609060101010101" pitchFamily="49" charset="-122"/>
                <a:ea typeface="KaiTi" panose="02010609060101010101" pitchFamily="49" charset="-122"/>
              </a:rPr>
              <a:t>节能车</a:t>
            </a: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3"/>
          <p:cNvSpPr>
            <a:spLocks noChangeArrowheads="1"/>
          </p:cNvSpPr>
          <p:nvPr/>
        </p:nvSpPr>
        <p:spPr bwMode="auto">
          <a:xfrm>
            <a:off x="2209800" y="990600"/>
            <a:ext cx="609600" cy="6858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anose="02020603050405020304" pitchFamily="18" charset="0"/>
                <a:ea typeface="方正姚体" panose="02010601030101010101" charset="-122"/>
              </a:rPr>
              <a:t>最终</a:t>
            </a:r>
          </a:p>
          <a:p>
            <a:pPr algn="ctr"/>
            <a:r>
              <a:rPr kumimoji="1" lang="zh-CN" altLang="en-US" b="1">
                <a:latin typeface="Times New Roman" panose="02020603050405020304" pitchFamily="18" charset="0"/>
                <a:ea typeface="方正姚体" panose="02010601030101010101" charset="-122"/>
              </a:rPr>
              <a:t>产品</a:t>
            </a:r>
            <a:r>
              <a:rPr kumimoji="1" lang="en-US" altLang="zh-CN" b="1">
                <a:latin typeface="Times New Roman" panose="02020603050405020304" pitchFamily="18" charset="0"/>
                <a:ea typeface="方正姚体" panose="02010601030101010101" charset="-122"/>
              </a:rPr>
              <a:t>1</a:t>
            </a:r>
          </a:p>
        </p:txBody>
      </p:sp>
      <p:sp>
        <p:nvSpPr>
          <p:cNvPr id="118786" name="Rectangle 4"/>
          <p:cNvSpPr>
            <a:spLocks noChangeArrowheads="1"/>
          </p:cNvSpPr>
          <p:nvPr/>
        </p:nvSpPr>
        <p:spPr bwMode="auto">
          <a:xfrm>
            <a:off x="2895600" y="990600"/>
            <a:ext cx="609600" cy="6858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anose="02020603050405020304" pitchFamily="18" charset="0"/>
                <a:ea typeface="方正姚体" panose="02010601030101010101" charset="-122"/>
              </a:rPr>
              <a:t>最终</a:t>
            </a:r>
          </a:p>
          <a:p>
            <a:pPr algn="ctr"/>
            <a:r>
              <a:rPr kumimoji="1" lang="zh-CN" altLang="en-US" b="1">
                <a:latin typeface="Times New Roman" panose="02020603050405020304" pitchFamily="18" charset="0"/>
                <a:ea typeface="方正姚体" panose="02010601030101010101" charset="-122"/>
              </a:rPr>
              <a:t>产品</a:t>
            </a:r>
            <a:r>
              <a:rPr kumimoji="1" lang="en-US" altLang="zh-CN" b="1">
                <a:latin typeface="Times New Roman" panose="02020603050405020304" pitchFamily="18" charset="0"/>
                <a:ea typeface="方正姚体" panose="02010601030101010101" charset="-122"/>
              </a:rPr>
              <a:t>2</a:t>
            </a:r>
          </a:p>
        </p:txBody>
      </p:sp>
      <p:sp>
        <p:nvSpPr>
          <p:cNvPr id="118787" name="Rectangle 5"/>
          <p:cNvSpPr>
            <a:spLocks noChangeArrowheads="1"/>
          </p:cNvSpPr>
          <p:nvPr/>
        </p:nvSpPr>
        <p:spPr bwMode="auto">
          <a:xfrm>
            <a:off x="3581400" y="990600"/>
            <a:ext cx="609600" cy="6858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anose="02020603050405020304" pitchFamily="18" charset="0"/>
                <a:ea typeface="方正姚体" panose="02010601030101010101" charset="-122"/>
              </a:rPr>
              <a:t>最终</a:t>
            </a:r>
          </a:p>
          <a:p>
            <a:pPr algn="ctr"/>
            <a:r>
              <a:rPr kumimoji="1" lang="zh-CN" altLang="en-US" b="1">
                <a:latin typeface="Times New Roman" panose="02020603050405020304" pitchFamily="18" charset="0"/>
                <a:ea typeface="方正姚体" panose="02010601030101010101" charset="-122"/>
              </a:rPr>
              <a:t>产品</a:t>
            </a:r>
            <a:r>
              <a:rPr kumimoji="1" lang="en-US" altLang="zh-CN" b="1">
                <a:latin typeface="Times New Roman" panose="02020603050405020304" pitchFamily="18" charset="0"/>
                <a:ea typeface="方正姚体" panose="02010601030101010101" charset="-122"/>
              </a:rPr>
              <a:t>3</a:t>
            </a:r>
          </a:p>
        </p:txBody>
      </p:sp>
      <p:sp>
        <p:nvSpPr>
          <p:cNvPr id="118788" name="Rectangle 6"/>
          <p:cNvSpPr>
            <a:spLocks noChangeArrowheads="1"/>
          </p:cNvSpPr>
          <p:nvPr/>
        </p:nvSpPr>
        <p:spPr bwMode="auto">
          <a:xfrm>
            <a:off x="4419600" y="990600"/>
            <a:ext cx="609600" cy="6858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anose="02020603050405020304" pitchFamily="18" charset="0"/>
                <a:ea typeface="方正姚体" panose="02010601030101010101" charset="-122"/>
              </a:rPr>
              <a:t>最终</a:t>
            </a:r>
          </a:p>
          <a:p>
            <a:pPr algn="ctr"/>
            <a:r>
              <a:rPr kumimoji="1" lang="zh-CN" altLang="en-US" b="1">
                <a:latin typeface="Times New Roman" panose="02020603050405020304" pitchFamily="18" charset="0"/>
                <a:ea typeface="方正姚体" panose="02010601030101010101" charset="-122"/>
              </a:rPr>
              <a:t>产品</a:t>
            </a:r>
            <a:r>
              <a:rPr kumimoji="1" lang="en-US" altLang="zh-CN" b="1">
                <a:latin typeface="Times New Roman" panose="02020603050405020304" pitchFamily="18" charset="0"/>
                <a:ea typeface="方正姚体" panose="02010601030101010101" charset="-122"/>
              </a:rPr>
              <a:t>4</a:t>
            </a:r>
          </a:p>
        </p:txBody>
      </p:sp>
      <p:sp>
        <p:nvSpPr>
          <p:cNvPr id="118789" name="Rectangle 7"/>
          <p:cNvSpPr>
            <a:spLocks noChangeArrowheads="1"/>
          </p:cNvSpPr>
          <p:nvPr/>
        </p:nvSpPr>
        <p:spPr bwMode="auto">
          <a:xfrm>
            <a:off x="5105400" y="990600"/>
            <a:ext cx="609600" cy="6858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anose="02020603050405020304" pitchFamily="18" charset="0"/>
                <a:ea typeface="方正姚体" panose="02010601030101010101" charset="-122"/>
              </a:rPr>
              <a:t>最终</a:t>
            </a:r>
          </a:p>
          <a:p>
            <a:pPr algn="ctr"/>
            <a:r>
              <a:rPr kumimoji="1" lang="zh-CN" altLang="en-US" b="1">
                <a:latin typeface="Times New Roman" panose="02020603050405020304" pitchFamily="18" charset="0"/>
                <a:ea typeface="方正姚体" panose="02010601030101010101" charset="-122"/>
              </a:rPr>
              <a:t>产品</a:t>
            </a:r>
            <a:r>
              <a:rPr kumimoji="1" lang="en-US" altLang="zh-CN" b="1">
                <a:latin typeface="Times New Roman" panose="02020603050405020304" pitchFamily="18" charset="0"/>
                <a:ea typeface="方正姚体" panose="02010601030101010101" charset="-122"/>
              </a:rPr>
              <a:t>5</a:t>
            </a:r>
          </a:p>
        </p:txBody>
      </p:sp>
      <p:sp>
        <p:nvSpPr>
          <p:cNvPr id="118790" name="Rectangle 8"/>
          <p:cNvSpPr>
            <a:spLocks noChangeArrowheads="1"/>
          </p:cNvSpPr>
          <p:nvPr/>
        </p:nvSpPr>
        <p:spPr bwMode="auto">
          <a:xfrm>
            <a:off x="5791200" y="990600"/>
            <a:ext cx="609600" cy="6858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anose="02020603050405020304" pitchFamily="18" charset="0"/>
                <a:ea typeface="方正姚体" panose="02010601030101010101" charset="-122"/>
              </a:rPr>
              <a:t>最终</a:t>
            </a:r>
          </a:p>
          <a:p>
            <a:pPr algn="ctr"/>
            <a:r>
              <a:rPr kumimoji="1" lang="zh-CN" altLang="en-US" b="1">
                <a:latin typeface="Times New Roman" panose="02020603050405020304" pitchFamily="18" charset="0"/>
                <a:ea typeface="方正姚体" panose="02010601030101010101" charset="-122"/>
              </a:rPr>
              <a:t>产品</a:t>
            </a:r>
            <a:r>
              <a:rPr kumimoji="1" lang="en-US" altLang="zh-CN" b="1">
                <a:latin typeface="Times New Roman" panose="02020603050405020304" pitchFamily="18" charset="0"/>
                <a:ea typeface="方正姚体" panose="02010601030101010101" charset="-122"/>
              </a:rPr>
              <a:t>6</a:t>
            </a:r>
          </a:p>
        </p:txBody>
      </p:sp>
      <p:sp>
        <p:nvSpPr>
          <p:cNvPr id="118791" name="Rectangle 9"/>
          <p:cNvSpPr>
            <a:spLocks noChangeArrowheads="1"/>
          </p:cNvSpPr>
          <p:nvPr/>
        </p:nvSpPr>
        <p:spPr bwMode="auto">
          <a:xfrm>
            <a:off x="6629400" y="990600"/>
            <a:ext cx="609600" cy="6858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anose="02020603050405020304" pitchFamily="18" charset="0"/>
                <a:ea typeface="方正姚体" panose="02010601030101010101" charset="-122"/>
              </a:rPr>
              <a:t>最终</a:t>
            </a:r>
          </a:p>
          <a:p>
            <a:pPr algn="ctr"/>
            <a:r>
              <a:rPr kumimoji="1" lang="zh-CN" altLang="en-US" b="1">
                <a:latin typeface="Times New Roman" panose="02020603050405020304" pitchFamily="18" charset="0"/>
                <a:ea typeface="方正姚体" panose="02010601030101010101" charset="-122"/>
              </a:rPr>
              <a:t>产品</a:t>
            </a:r>
            <a:r>
              <a:rPr kumimoji="1" lang="en-US" altLang="zh-CN" b="1">
                <a:latin typeface="Times New Roman" panose="02020603050405020304" pitchFamily="18" charset="0"/>
                <a:ea typeface="方正姚体" panose="02010601030101010101" charset="-122"/>
              </a:rPr>
              <a:t>7</a:t>
            </a:r>
          </a:p>
        </p:txBody>
      </p:sp>
      <p:sp>
        <p:nvSpPr>
          <p:cNvPr id="118792" name="Rectangle 10"/>
          <p:cNvSpPr>
            <a:spLocks noChangeArrowheads="1"/>
          </p:cNvSpPr>
          <p:nvPr/>
        </p:nvSpPr>
        <p:spPr bwMode="auto">
          <a:xfrm>
            <a:off x="7315200" y="990600"/>
            <a:ext cx="533400" cy="6858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anose="02020603050405020304" pitchFamily="18" charset="0"/>
                <a:ea typeface="方正姚体" panose="02010601030101010101" charset="-122"/>
              </a:rPr>
              <a:t>最终</a:t>
            </a:r>
          </a:p>
          <a:p>
            <a:pPr algn="ctr"/>
            <a:r>
              <a:rPr kumimoji="1" lang="zh-CN" altLang="en-US" b="1">
                <a:latin typeface="Times New Roman" panose="02020603050405020304" pitchFamily="18" charset="0"/>
                <a:ea typeface="方正姚体" panose="02010601030101010101" charset="-122"/>
              </a:rPr>
              <a:t>产品</a:t>
            </a:r>
            <a:r>
              <a:rPr kumimoji="1" lang="en-US" altLang="zh-CN" b="1">
                <a:latin typeface="Times New Roman" panose="02020603050405020304" pitchFamily="18" charset="0"/>
                <a:ea typeface="方正姚体" panose="02010601030101010101" charset="-122"/>
              </a:rPr>
              <a:t>8</a:t>
            </a:r>
          </a:p>
        </p:txBody>
      </p:sp>
      <p:sp>
        <p:nvSpPr>
          <p:cNvPr id="118793" name="Rectangle 11"/>
          <p:cNvSpPr>
            <a:spLocks noChangeArrowheads="1"/>
          </p:cNvSpPr>
          <p:nvPr/>
        </p:nvSpPr>
        <p:spPr bwMode="auto">
          <a:xfrm>
            <a:off x="7924800" y="990600"/>
            <a:ext cx="533400" cy="6858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anose="02020603050405020304" pitchFamily="18" charset="0"/>
                <a:ea typeface="方正姚体" panose="02010601030101010101" charset="-122"/>
              </a:rPr>
              <a:t>最终</a:t>
            </a:r>
          </a:p>
          <a:p>
            <a:pPr algn="ctr"/>
            <a:r>
              <a:rPr kumimoji="1" lang="zh-CN" altLang="en-US" b="1">
                <a:latin typeface="Times New Roman" panose="02020603050405020304" pitchFamily="18" charset="0"/>
                <a:ea typeface="方正姚体" panose="02010601030101010101" charset="-122"/>
              </a:rPr>
              <a:t>产品</a:t>
            </a:r>
            <a:r>
              <a:rPr kumimoji="1" lang="en-US" altLang="zh-CN" b="1">
                <a:latin typeface="Times New Roman" panose="02020603050405020304" pitchFamily="18" charset="0"/>
                <a:ea typeface="方正姚体" panose="02010601030101010101" charset="-122"/>
              </a:rPr>
              <a:t>9</a:t>
            </a:r>
          </a:p>
        </p:txBody>
      </p:sp>
      <p:sp>
        <p:nvSpPr>
          <p:cNvPr id="118794" name="Rectangle 12"/>
          <p:cNvSpPr>
            <a:spLocks noChangeArrowheads="1"/>
          </p:cNvSpPr>
          <p:nvPr/>
        </p:nvSpPr>
        <p:spPr bwMode="auto">
          <a:xfrm>
            <a:off x="8686800" y="990600"/>
            <a:ext cx="533400" cy="6858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b="1">
                <a:latin typeface="Times New Roman" panose="02020603050405020304" pitchFamily="18" charset="0"/>
                <a:ea typeface="方正姚体" panose="02010601030101010101" charset="-122"/>
              </a:rPr>
              <a:t>最终</a:t>
            </a:r>
          </a:p>
          <a:p>
            <a:pPr algn="ctr"/>
            <a:r>
              <a:rPr kumimoji="1" lang="zh-CN" altLang="en-US" b="1">
                <a:latin typeface="Times New Roman" panose="02020603050405020304" pitchFamily="18" charset="0"/>
                <a:ea typeface="方正姚体" panose="02010601030101010101" charset="-122"/>
              </a:rPr>
              <a:t>产品</a:t>
            </a:r>
            <a:r>
              <a:rPr kumimoji="1" lang="en-US" altLang="zh-CN" b="1">
                <a:latin typeface="Times New Roman" panose="02020603050405020304" pitchFamily="18" charset="0"/>
                <a:ea typeface="方正姚体" panose="02010601030101010101" charset="-122"/>
              </a:rPr>
              <a:t>10</a:t>
            </a:r>
          </a:p>
        </p:txBody>
      </p:sp>
      <p:sp>
        <p:nvSpPr>
          <p:cNvPr id="118795" name="Rectangle 13"/>
          <p:cNvSpPr>
            <a:spLocks noChangeArrowheads="1"/>
          </p:cNvSpPr>
          <p:nvPr/>
        </p:nvSpPr>
        <p:spPr bwMode="auto">
          <a:xfrm>
            <a:off x="9296400" y="990600"/>
            <a:ext cx="533400" cy="6858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1600" b="1">
                <a:latin typeface="Rockwell" panose="02060603020205020403"/>
                <a:ea typeface="方正姚体" panose="02010601030101010101" charset="-122"/>
              </a:rPr>
              <a:t>最终</a:t>
            </a:r>
          </a:p>
          <a:p>
            <a:pPr algn="ctr"/>
            <a:r>
              <a:rPr kumimoji="1" lang="zh-CN" altLang="en-US" sz="1600" b="1">
                <a:latin typeface="Rockwell" panose="02060603020205020403"/>
                <a:ea typeface="方正姚体" panose="02010601030101010101" charset="-122"/>
              </a:rPr>
              <a:t>产品</a:t>
            </a:r>
            <a:r>
              <a:rPr kumimoji="1" lang="en-US" altLang="zh-CN" sz="1600" b="1">
                <a:latin typeface="Rockwell" panose="02060603020205020403"/>
                <a:ea typeface="方正姚体" panose="02010601030101010101" charset="-122"/>
              </a:rPr>
              <a:t>11</a:t>
            </a:r>
          </a:p>
        </p:txBody>
      </p:sp>
      <p:sp>
        <p:nvSpPr>
          <p:cNvPr id="118796" name="Rectangle 14"/>
          <p:cNvSpPr>
            <a:spLocks noChangeArrowheads="1"/>
          </p:cNvSpPr>
          <p:nvPr/>
        </p:nvSpPr>
        <p:spPr bwMode="auto">
          <a:xfrm>
            <a:off x="10056813" y="908050"/>
            <a:ext cx="431800" cy="79375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1600" b="1">
                <a:latin typeface="Times New Roman" panose="02020603050405020304" pitchFamily="18" charset="0"/>
                <a:ea typeface="方正姚体" panose="02010601030101010101" charset="-122"/>
              </a:rPr>
              <a:t>最终</a:t>
            </a:r>
          </a:p>
          <a:p>
            <a:pPr algn="ctr"/>
            <a:r>
              <a:rPr kumimoji="1" lang="zh-CN" altLang="en-US" sz="1600" b="1">
                <a:latin typeface="Times New Roman" panose="02020603050405020304" pitchFamily="18" charset="0"/>
                <a:ea typeface="方正姚体" panose="02010601030101010101" charset="-122"/>
              </a:rPr>
              <a:t>产品</a:t>
            </a:r>
            <a:r>
              <a:rPr kumimoji="1" lang="en-US" altLang="zh-CN" sz="1600" b="1">
                <a:latin typeface="Times New Roman" panose="02020603050405020304" pitchFamily="18" charset="0"/>
                <a:ea typeface="方正姚体" panose="02010601030101010101" charset="-122"/>
              </a:rPr>
              <a:t>12</a:t>
            </a:r>
            <a:endParaRPr kumimoji="1" lang="en-US" altLang="zh-CN" sz="1600" b="1">
              <a:latin typeface="Rockwell" panose="02060603020205020403"/>
              <a:ea typeface="方正姚体" panose="02010601030101010101" charset="-122"/>
            </a:endParaRPr>
          </a:p>
          <a:p>
            <a:pPr algn="ctr"/>
            <a:endParaRPr kumimoji="1" lang="en-US" altLang="zh-CN" b="1">
              <a:latin typeface="Times New Roman" panose="02020603050405020304" pitchFamily="18" charset="0"/>
              <a:ea typeface="方正姚体" panose="02010601030101010101" charset="-122"/>
            </a:endParaRPr>
          </a:p>
        </p:txBody>
      </p:sp>
      <p:sp>
        <p:nvSpPr>
          <p:cNvPr id="118797" name="Line 15"/>
          <p:cNvSpPr>
            <a:spLocks noChangeShapeType="1"/>
          </p:cNvSpPr>
          <p:nvPr/>
        </p:nvSpPr>
        <p:spPr bwMode="auto">
          <a:xfrm>
            <a:off x="2514600" y="1676400"/>
            <a:ext cx="0" cy="304800"/>
          </a:xfrm>
          <a:prstGeom prst="line">
            <a:avLst/>
          </a:prstGeom>
          <a:noFill/>
          <a:ln w="57150">
            <a:solidFill>
              <a:schemeClr val="tx1"/>
            </a:solidFill>
            <a:miter lim="800000"/>
          </a:ln>
        </p:spPr>
        <p:txBody>
          <a:bodyPr wrap="none"/>
          <a:lstStyle/>
          <a:p>
            <a:endParaRPr lang="zh-CN" altLang="en-US"/>
          </a:p>
        </p:txBody>
      </p:sp>
      <p:sp>
        <p:nvSpPr>
          <p:cNvPr id="118798" name="Line 16"/>
          <p:cNvSpPr>
            <a:spLocks noChangeShapeType="1"/>
          </p:cNvSpPr>
          <p:nvPr/>
        </p:nvSpPr>
        <p:spPr bwMode="auto">
          <a:xfrm>
            <a:off x="3886200" y="1676400"/>
            <a:ext cx="0" cy="304800"/>
          </a:xfrm>
          <a:prstGeom prst="line">
            <a:avLst/>
          </a:prstGeom>
          <a:noFill/>
          <a:ln w="57150">
            <a:solidFill>
              <a:schemeClr val="tx1"/>
            </a:solidFill>
            <a:miter lim="800000"/>
          </a:ln>
        </p:spPr>
        <p:txBody>
          <a:bodyPr wrap="none"/>
          <a:lstStyle/>
          <a:p>
            <a:endParaRPr lang="zh-CN" altLang="en-US"/>
          </a:p>
        </p:txBody>
      </p:sp>
      <p:sp>
        <p:nvSpPr>
          <p:cNvPr id="118799" name="Line 17"/>
          <p:cNvSpPr>
            <a:spLocks noChangeShapeType="1"/>
          </p:cNvSpPr>
          <p:nvPr/>
        </p:nvSpPr>
        <p:spPr bwMode="auto">
          <a:xfrm>
            <a:off x="2514600" y="1981200"/>
            <a:ext cx="1371600" cy="0"/>
          </a:xfrm>
          <a:prstGeom prst="line">
            <a:avLst/>
          </a:prstGeom>
          <a:noFill/>
          <a:ln w="57150">
            <a:solidFill>
              <a:schemeClr val="tx1"/>
            </a:solidFill>
            <a:miter lim="800000"/>
          </a:ln>
        </p:spPr>
        <p:txBody>
          <a:bodyPr wrap="none"/>
          <a:lstStyle/>
          <a:p>
            <a:endParaRPr lang="zh-CN" altLang="en-US"/>
          </a:p>
        </p:txBody>
      </p:sp>
      <p:sp>
        <p:nvSpPr>
          <p:cNvPr id="118800" name="Line 18"/>
          <p:cNvSpPr>
            <a:spLocks noChangeShapeType="1"/>
          </p:cNvSpPr>
          <p:nvPr/>
        </p:nvSpPr>
        <p:spPr bwMode="auto">
          <a:xfrm>
            <a:off x="3200400" y="1676400"/>
            <a:ext cx="0" cy="762000"/>
          </a:xfrm>
          <a:prstGeom prst="line">
            <a:avLst/>
          </a:prstGeom>
          <a:noFill/>
          <a:ln w="57150">
            <a:solidFill>
              <a:schemeClr val="tx1"/>
            </a:solidFill>
            <a:miter lim="800000"/>
          </a:ln>
        </p:spPr>
        <p:txBody>
          <a:bodyPr wrap="none"/>
          <a:lstStyle/>
          <a:p>
            <a:endParaRPr lang="zh-CN" altLang="en-US"/>
          </a:p>
        </p:txBody>
      </p:sp>
      <p:sp>
        <p:nvSpPr>
          <p:cNvPr id="118801" name="Line 19"/>
          <p:cNvSpPr>
            <a:spLocks noChangeShapeType="1"/>
          </p:cNvSpPr>
          <p:nvPr/>
        </p:nvSpPr>
        <p:spPr bwMode="auto">
          <a:xfrm>
            <a:off x="4724400" y="1676400"/>
            <a:ext cx="0" cy="304800"/>
          </a:xfrm>
          <a:prstGeom prst="line">
            <a:avLst/>
          </a:prstGeom>
          <a:noFill/>
          <a:ln w="57150">
            <a:solidFill>
              <a:schemeClr val="tx1"/>
            </a:solidFill>
            <a:miter lim="800000"/>
          </a:ln>
        </p:spPr>
        <p:txBody>
          <a:bodyPr wrap="none"/>
          <a:lstStyle/>
          <a:p>
            <a:endParaRPr lang="zh-CN" altLang="en-US"/>
          </a:p>
        </p:txBody>
      </p:sp>
      <p:sp>
        <p:nvSpPr>
          <p:cNvPr id="118802" name="Line 20"/>
          <p:cNvSpPr>
            <a:spLocks noChangeShapeType="1"/>
          </p:cNvSpPr>
          <p:nvPr/>
        </p:nvSpPr>
        <p:spPr bwMode="auto">
          <a:xfrm>
            <a:off x="6096000" y="1676400"/>
            <a:ext cx="0" cy="304800"/>
          </a:xfrm>
          <a:prstGeom prst="line">
            <a:avLst/>
          </a:prstGeom>
          <a:noFill/>
          <a:ln w="57150">
            <a:solidFill>
              <a:schemeClr val="tx1"/>
            </a:solidFill>
            <a:miter lim="800000"/>
          </a:ln>
        </p:spPr>
        <p:txBody>
          <a:bodyPr wrap="none"/>
          <a:lstStyle/>
          <a:p>
            <a:endParaRPr lang="zh-CN" altLang="en-US"/>
          </a:p>
        </p:txBody>
      </p:sp>
      <p:sp>
        <p:nvSpPr>
          <p:cNvPr id="118803" name="Line 21"/>
          <p:cNvSpPr>
            <a:spLocks noChangeShapeType="1"/>
          </p:cNvSpPr>
          <p:nvPr/>
        </p:nvSpPr>
        <p:spPr bwMode="auto">
          <a:xfrm>
            <a:off x="4724400" y="1981200"/>
            <a:ext cx="1371600" cy="0"/>
          </a:xfrm>
          <a:prstGeom prst="line">
            <a:avLst/>
          </a:prstGeom>
          <a:noFill/>
          <a:ln w="57150">
            <a:solidFill>
              <a:schemeClr val="tx1"/>
            </a:solidFill>
            <a:miter lim="800000"/>
          </a:ln>
        </p:spPr>
        <p:txBody>
          <a:bodyPr wrap="none"/>
          <a:lstStyle/>
          <a:p>
            <a:endParaRPr lang="zh-CN" altLang="en-US"/>
          </a:p>
        </p:txBody>
      </p:sp>
      <p:sp>
        <p:nvSpPr>
          <p:cNvPr id="118804" name="Line 22"/>
          <p:cNvSpPr>
            <a:spLocks noChangeShapeType="1"/>
          </p:cNvSpPr>
          <p:nvPr/>
        </p:nvSpPr>
        <p:spPr bwMode="auto">
          <a:xfrm>
            <a:off x="5410200" y="1676400"/>
            <a:ext cx="0" cy="685800"/>
          </a:xfrm>
          <a:prstGeom prst="line">
            <a:avLst/>
          </a:prstGeom>
          <a:noFill/>
          <a:ln w="57150">
            <a:solidFill>
              <a:schemeClr val="tx1"/>
            </a:solidFill>
            <a:miter lim="800000"/>
          </a:ln>
        </p:spPr>
        <p:txBody>
          <a:bodyPr wrap="none"/>
          <a:lstStyle/>
          <a:p>
            <a:endParaRPr lang="zh-CN" altLang="en-US"/>
          </a:p>
        </p:txBody>
      </p:sp>
      <p:sp>
        <p:nvSpPr>
          <p:cNvPr id="118805" name="Line 23"/>
          <p:cNvSpPr>
            <a:spLocks noChangeShapeType="1"/>
          </p:cNvSpPr>
          <p:nvPr/>
        </p:nvSpPr>
        <p:spPr bwMode="auto">
          <a:xfrm>
            <a:off x="6934200" y="1676400"/>
            <a:ext cx="0" cy="304800"/>
          </a:xfrm>
          <a:prstGeom prst="line">
            <a:avLst/>
          </a:prstGeom>
          <a:noFill/>
          <a:ln w="57150">
            <a:solidFill>
              <a:schemeClr val="tx1"/>
            </a:solidFill>
            <a:miter lim="800000"/>
          </a:ln>
        </p:spPr>
        <p:txBody>
          <a:bodyPr wrap="none"/>
          <a:lstStyle/>
          <a:p>
            <a:endParaRPr lang="zh-CN" altLang="en-US"/>
          </a:p>
        </p:txBody>
      </p:sp>
      <p:sp>
        <p:nvSpPr>
          <p:cNvPr id="118806" name="Line 24"/>
          <p:cNvSpPr>
            <a:spLocks noChangeShapeType="1"/>
          </p:cNvSpPr>
          <p:nvPr/>
        </p:nvSpPr>
        <p:spPr bwMode="auto">
          <a:xfrm>
            <a:off x="8229600" y="1676400"/>
            <a:ext cx="0" cy="304800"/>
          </a:xfrm>
          <a:prstGeom prst="line">
            <a:avLst/>
          </a:prstGeom>
          <a:noFill/>
          <a:ln w="57150">
            <a:solidFill>
              <a:schemeClr val="tx1"/>
            </a:solidFill>
            <a:miter lim="800000"/>
          </a:ln>
        </p:spPr>
        <p:txBody>
          <a:bodyPr wrap="none"/>
          <a:lstStyle/>
          <a:p>
            <a:endParaRPr lang="zh-CN" altLang="en-US"/>
          </a:p>
        </p:txBody>
      </p:sp>
      <p:sp>
        <p:nvSpPr>
          <p:cNvPr id="118807" name="Line 25"/>
          <p:cNvSpPr>
            <a:spLocks noChangeShapeType="1"/>
          </p:cNvSpPr>
          <p:nvPr/>
        </p:nvSpPr>
        <p:spPr bwMode="auto">
          <a:xfrm>
            <a:off x="6934200" y="1981200"/>
            <a:ext cx="1295400" cy="0"/>
          </a:xfrm>
          <a:prstGeom prst="line">
            <a:avLst/>
          </a:prstGeom>
          <a:noFill/>
          <a:ln w="57150">
            <a:solidFill>
              <a:schemeClr val="tx1"/>
            </a:solidFill>
            <a:miter lim="800000"/>
          </a:ln>
        </p:spPr>
        <p:txBody>
          <a:bodyPr wrap="none"/>
          <a:lstStyle/>
          <a:p>
            <a:endParaRPr lang="zh-CN" altLang="en-US"/>
          </a:p>
        </p:txBody>
      </p:sp>
      <p:sp>
        <p:nvSpPr>
          <p:cNvPr id="118808" name="Line 26"/>
          <p:cNvSpPr>
            <a:spLocks noChangeShapeType="1"/>
          </p:cNvSpPr>
          <p:nvPr/>
        </p:nvSpPr>
        <p:spPr bwMode="auto">
          <a:xfrm>
            <a:off x="7620000" y="1676400"/>
            <a:ext cx="0" cy="609600"/>
          </a:xfrm>
          <a:prstGeom prst="line">
            <a:avLst/>
          </a:prstGeom>
          <a:noFill/>
          <a:ln w="57150">
            <a:solidFill>
              <a:schemeClr val="tx1"/>
            </a:solidFill>
            <a:miter lim="800000"/>
          </a:ln>
        </p:spPr>
        <p:txBody>
          <a:bodyPr wrap="none"/>
          <a:lstStyle/>
          <a:p>
            <a:endParaRPr lang="zh-CN" altLang="en-US"/>
          </a:p>
        </p:txBody>
      </p:sp>
      <p:sp>
        <p:nvSpPr>
          <p:cNvPr id="118809" name="Line 27"/>
          <p:cNvSpPr>
            <a:spLocks noChangeShapeType="1"/>
          </p:cNvSpPr>
          <p:nvPr/>
        </p:nvSpPr>
        <p:spPr bwMode="auto">
          <a:xfrm>
            <a:off x="8991600" y="1676400"/>
            <a:ext cx="0" cy="304800"/>
          </a:xfrm>
          <a:prstGeom prst="line">
            <a:avLst/>
          </a:prstGeom>
          <a:noFill/>
          <a:ln w="57150">
            <a:solidFill>
              <a:schemeClr val="tx1"/>
            </a:solidFill>
            <a:miter lim="800000"/>
          </a:ln>
        </p:spPr>
        <p:txBody>
          <a:bodyPr wrap="none"/>
          <a:lstStyle/>
          <a:p>
            <a:endParaRPr lang="zh-CN" altLang="en-US"/>
          </a:p>
        </p:txBody>
      </p:sp>
      <p:sp>
        <p:nvSpPr>
          <p:cNvPr id="118810" name="Line 28"/>
          <p:cNvSpPr>
            <a:spLocks noChangeShapeType="1"/>
          </p:cNvSpPr>
          <p:nvPr/>
        </p:nvSpPr>
        <p:spPr bwMode="auto">
          <a:xfrm>
            <a:off x="10134600" y="1676400"/>
            <a:ext cx="0" cy="304800"/>
          </a:xfrm>
          <a:prstGeom prst="line">
            <a:avLst/>
          </a:prstGeom>
          <a:noFill/>
          <a:ln w="57150">
            <a:solidFill>
              <a:schemeClr val="tx1"/>
            </a:solidFill>
            <a:miter lim="800000"/>
          </a:ln>
        </p:spPr>
        <p:txBody>
          <a:bodyPr wrap="none"/>
          <a:lstStyle/>
          <a:p>
            <a:endParaRPr lang="zh-CN" altLang="en-US"/>
          </a:p>
        </p:txBody>
      </p:sp>
      <p:sp>
        <p:nvSpPr>
          <p:cNvPr id="118811" name="Line 29"/>
          <p:cNvSpPr>
            <a:spLocks noChangeShapeType="1"/>
          </p:cNvSpPr>
          <p:nvPr/>
        </p:nvSpPr>
        <p:spPr bwMode="auto">
          <a:xfrm>
            <a:off x="8991600" y="1981200"/>
            <a:ext cx="1143000" cy="0"/>
          </a:xfrm>
          <a:prstGeom prst="line">
            <a:avLst/>
          </a:prstGeom>
          <a:noFill/>
          <a:ln w="57150">
            <a:solidFill>
              <a:schemeClr val="tx1"/>
            </a:solidFill>
            <a:miter lim="800000"/>
          </a:ln>
        </p:spPr>
        <p:txBody>
          <a:bodyPr wrap="none"/>
          <a:lstStyle/>
          <a:p>
            <a:endParaRPr lang="zh-CN" altLang="en-US"/>
          </a:p>
        </p:txBody>
      </p:sp>
      <p:sp>
        <p:nvSpPr>
          <p:cNvPr id="118812" name="Line 30"/>
          <p:cNvSpPr>
            <a:spLocks noChangeShapeType="1"/>
          </p:cNvSpPr>
          <p:nvPr/>
        </p:nvSpPr>
        <p:spPr bwMode="auto">
          <a:xfrm>
            <a:off x="9601200" y="1676400"/>
            <a:ext cx="0" cy="609600"/>
          </a:xfrm>
          <a:prstGeom prst="line">
            <a:avLst/>
          </a:prstGeom>
          <a:noFill/>
          <a:ln w="57150">
            <a:solidFill>
              <a:schemeClr val="tx1"/>
            </a:solidFill>
            <a:miter lim="800000"/>
          </a:ln>
        </p:spPr>
        <p:txBody>
          <a:bodyPr wrap="none"/>
          <a:lstStyle/>
          <a:p>
            <a:endParaRPr lang="zh-CN" altLang="en-US"/>
          </a:p>
        </p:txBody>
      </p:sp>
      <p:sp>
        <p:nvSpPr>
          <p:cNvPr id="118813" name="Rectangle 31"/>
          <p:cNvSpPr>
            <a:spLocks noChangeArrowheads="1"/>
          </p:cNvSpPr>
          <p:nvPr/>
        </p:nvSpPr>
        <p:spPr bwMode="auto">
          <a:xfrm>
            <a:off x="2819400" y="2362200"/>
            <a:ext cx="838200" cy="5334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2400" b="1">
                <a:latin typeface="Times New Roman" panose="02020603050405020304" pitchFamily="18" charset="0"/>
                <a:ea typeface="方正姚体" panose="02010601030101010101" charset="-122"/>
              </a:rPr>
              <a:t>事业</a:t>
            </a:r>
            <a:r>
              <a:rPr kumimoji="1" lang="en-US" altLang="zh-CN" sz="2400" b="1">
                <a:latin typeface="Times New Roman" panose="02020603050405020304" pitchFamily="18" charset="0"/>
                <a:ea typeface="方正姚体" panose="02010601030101010101" charset="-122"/>
              </a:rPr>
              <a:t>1</a:t>
            </a:r>
          </a:p>
        </p:txBody>
      </p:sp>
      <p:sp>
        <p:nvSpPr>
          <p:cNvPr id="118814" name="Rectangle 32"/>
          <p:cNvSpPr>
            <a:spLocks noChangeArrowheads="1"/>
          </p:cNvSpPr>
          <p:nvPr/>
        </p:nvSpPr>
        <p:spPr bwMode="auto">
          <a:xfrm>
            <a:off x="4953000" y="2362200"/>
            <a:ext cx="914400" cy="5334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2400" b="1">
                <a:latin typeface="Times New Roman" panose="02020603050405020304" pitchFamily="18" charset="0"/>
                <a:ea typeface="方正姚体" panose="02010601030101010101" charset="-122"/>
              </a:rPr>
              <a:t>事业</a:t>
            </a:r>
            <a:r>
              <a:rPr kumimoji="1" lang="en-US" altLang="zh-CN" sz="2400" b="1">
                <a:latin typeface="Times New Roman" panose="02020603050405020304" pitchFamily="18" charset="0"/>
                <a:ea typeface="方正姚体" panose="02010601030101010101" charset="-122"/>
              </a:rPr>
              <a:t>2</a:t>
            </a:r>
          </a:p>
        </p:txBody>
      </p:sp>
      <p:sp>
        <p:nvSpPr>
          <p:cNvPr id="118815" name="Rectangle 33"/>
          <p:cNvSpPr>
            <a:spLocks noChangeArrowheads="1"/>
          </p:cNvSpPr>
          <p:nvPr/>
        </p:nvSpPr>
        <p:spPr bwMode="auto">
          <a:xfrm>
            <a:off x="7239000" y="2286000"/>
            <a:ext cx="838200" cy="5334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2400" b="1">
                <a:latin typeface="Times New Roman" panose="02020603050405020304" pitchFamily="18" charset="0"/>
                <a:ea typeface="方正姚体" panose="02010601030101010101" charset="-122"/>
              </a:rPr>
              <a:t>事业</a:t>
            </a:r>
            <a:r>
              <a:rPr kumimoji="1" lang="en-US" altLang="zh-CN" sz="2400" b="1">
                <a:latin typeface="Times New Roman" panose="02020603050405020304" pitchFamily="18" charset="0"/>
                <a:ea typeface="方正姚体" panose="02010601030101010101" charset="-122"/>
              </a:rPr>
              <a:t>3</a:t>
            </a:r>
          </a:p>
        </p:txBody>
      </p:sp>
      <p:sp>
        <p:nvSpPr>
          <p:cNvPr id="118816" name="Rectangle 34"/>
          <p:cNvSpPr>
            <a:spLocks noChangeArrowheads="1"/>
          </p:cNvSpPr>
          <p:nvPr/>
        </p:nvSpPr>
        <p:spPr bwMode="auto">
          <a:xfrm>
            <a:off x="9220200" y="2286000"/>
            <a:ext cx="838200" cy="5334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2400" b="1">
                <a:latin typeface="Times New Roman" panose="02020603050405020304" pitchFamily="18" charset="0"/>
                <a:ea typeface="方正姚体" panose="02010601030101010101" charset="-122"/>
              </a:rPr>
              <a:t>事业</a:t>
            </a:r>
            <a:r>
              <a:rPr kumimoji="1" lang="en-US" altLang="zh-CN" sz="2400" b="1">
                <a:latin typeface="Times New Roman" panose="02020603050405020304" pitchFamily="18" charset="0"/>
                <a:ea typeface="方正姚体" panose="02010601030101010101" charset="-122"/>
              </a:rPr>
              <a:t>4</a:t>
            </a:r>
          </a:p>
        </p:txBody>
      </p:sp>
      <p:sp>
        <p:nvSpPr>
          <p:cNvPr id="118817" name="Line 35"/>
          <p:cNvSpPr>
            <a:spLocks noChangeShapeType="1"/>
          </p:cNvSpPr>
          <p:nvPr/>
        </p:nvSpPr>
        <p:spPr bwMode="auto">
          <a:xfrm>
            <a:off x="3200400" y="2895600"/>
            <a:ext cx="0" cy="304800"/>
          </a:xfrm>
          <a:prstGeom prst="line">
            <a:avLst/>
          </a:prstGeom>
          <a:noFill/>
          <a:ln w="57150">
            <a:solidFill>
              <a:schemeClr val="tx1"/>
            </a:solidFill>
            <a:miter lim="800000"/>
          </a:ln>
        </p:spPr>
        <p:txBody>
          <a:bodyPr wrap="none"/>
          <a:lstStyle/>
          <a:p>
            <a:endParaRPr lang="zh-CN" altLang="en-US"/>
          </a:p>
        </p:txBody>
      </p:sp>
      <p:sp>
        <p:nvSpPr>
          <p:cNvPr id="118818" name="Line 36"/>
          <p:cNvSpPr>
            <a:spLocks noChangeShapeType="1"/>
          </p:cNvSpPr>
          <p:nvPr/>
        </p:nvSpPr>
        <p:spPr bwMode="auto">
          <a:xfrm>
            <a:off x="5410200" y="2895600"/>
            <a:ext cx="0" cy="304800"/>
          </a:xfrm>
          <a:prstGeom prst="line">
            <a:avLst/>
          </a:prstGeom>
          <a:noFill/>
          <a:ln w="57150">
            <a:solidFill>
              <a:schemeClr val="tx1"/>
            </a:solidFill>
            <a:miter lim="800000"/>
          </a:ln>
        </p:spPr>
        <p:txBody>
          <a:bodyPr wrap="none"/>
          <a:lstStyle/>
          <a:p>
            <a:endParaRPr lang="zh-CN" altLang="en-US"/>
          </a:p>
        </p:txBody>
      </p:sp>
      <p:sp>
        <p:nvSpPr>
          <p:cNvPr id="118819" name="Line 37"/>
          <p:cNvSpPr>
            <a:spLocks noChangeShapeType="1"/>
          </p:cNvSpPr>
          <p:nvPr/>
        </p:nvSpPr>
        <p:spPr bwMode="auto">
          <a:xfrm>
            <a:off x="3200400" y="3200400"/>
            <a:ext cx="2209800" cy="0"/>
          </a:xfrm>
          <a:prstGeom prst="line">
            <a:avLst/>
          </a:prstGeom>
          <a:noFill/>
          <a:ln w="57150">
            <a:solidFill>
              <a:schemeClr val="tx1"/>
            </a:solidFill>
            <a:miter lim="800000"/>
          </a:ln>
        </p:spPr>
        <p:txBody>
          <a:bodyPr wrap="none"/>
          <a:lstStyle/>
          <a:p>
            <a:endParaRPr lang="zh-CN" altLang="en-US"/>
          </a:p>
        </p:txBody>
      </p:sp>
      <p:sp>
        <p:nvSpPr>
          <p:cNvPr id="118820" name="Line 38"/>
          <p:cNvSpPr>
            <a:spLocks noChangeShapeType="1"/>
          </p:cNvSpPr>
          <p:nvPr/>
        </p:nvSpPr>
        <p:spPr bwMode="auto">
          <a:xfrm>
            <a:off x="7696200" y="2819400"/>
            <a:ext cx="0" cy="304800"/>
          </a:xfrm>
          <a:prstGeom prst="line">
            <a:avLst/>
          </a:prstGeom>
          <a:noFill/>
          <a:ln w="57150">
            <a:solidFill>
              <a:schemeClr val="tx1"/>
            </a:solidFill>
            <a:miter lim="800000"/>
          </a:ln>
        </p:spPr>
        <p:txBody>
          <a:bodyPr wrap="none"/>
          <a:lstStyle/>
          <a:p>
            <a:endParaRPr lang="zh-CN" altLang="en-US"/>
          </a:p>
        </p:txBody>
      </p:sp>
      <p:sp>
        <p:nvSpPr>
          <p:cNvPr id="118821" name="Line 39"/>
          <p:cNvSpPr>
            <a:spLocks noChangeShapeType="1"/>
          </p:cNvSpPr>
          <p:nvPr/>
        </p:nvSpPr>
        <p:spPr bwMode="auto">
          <a:xfrm>
            <a:off x="9677400" y="2819400"/>
            <a:ext cx="0" cy="304800"/>
          </a:xfrm>
          <a:prstGeom prst="line">
            <a:avLst/>
          </a:prstGeom>
          <a:noFill/>
          <a:ln w="57150">
            <a:solidFill>
              <a:schemeClr val="tx1"/>
            </a:solidFill>
            <a:miter lim="800000"/>
          </a:ln>
        </p:spPr>
        <p:txBody>
          <a:bodyPr wrap="none"/>
          <a:lstStyle/>
          <a:p>
            <a:endParaRPr lang="zh-CN" altLang="en-US"/>
          </a:p>
        </p:txBody>
      </p:sp>
      <p:sp>
        <p:nvSpPr>
          <p:cNvPr id="118822" name="Line 40"/>
          <p:cNvSpPr>
            <a:spLocks noChangeShapeType="1"/>
          </p:cNvSpPr>
          <p:nvPr/>
        </p:nvSpPr>
        <p:spPr bwMode="auto">
          <a:xfrm>
            <a:off x="7696200" y="3124200"/>
            <a:ext cx="1981200" cy="0"/>
          </a:xfrm>
          <a:prstGeom prst="line">
            <a:avLst/>
          </a:prstGeom>
          <a:noFill/>
          <a:ln w="57150">
            <a:solidFill>
              <a:schemeClr val="tx1"/>
            </a:solidFill>
            <a:miter lim="800000"/>
          </a:ln>
        </p:spPr>
        <p:txBody>
          <a:bodyPr wrap="none"/>
          <a:lstStyle/>
          <a:p>
            <a:endParaRPr lang="zh-CN" altLang="en-US"/>
          </a:p>
        </p:txBody>
      </p:sp>
      <p:sp>
        <p:nvSpPr>
          <p:cNvPr id="118823" name="Line 41"/>
          <p:cNvSpPr>
            <a:spLocks noChangeShapeType="1"/>
          </p:cNvSpPr>
          <p:nvPr/>
        </p:nvSpPr>
        <p:spPr bwMode="auto">
          <a:xfrm>
            <a:off x="8610600" y="3124200"/>
            <a:ext cx="0" cy="381000"/>
          </a:xfrm>
          <a:prstGeom prst="line">
            <a:avLst/>
          </a:prstGeom>
          <a:noFill/>
          <a:ln w="57150">
            <a:solidFill>
              <a:schemeClr val="tx1"/>
            </a:solidFill>
            <a:miter lim="800000"/>
          </a:ln>
        </p:spPr>
        <p:txBody>
          <a:bodyPr wrap="none"/>
          <a:lstStyle/>
          <a:p>
            <a:endParaRPr lang="zh-CN" altLang="en-US"/>
          </a:p>
        </p:txBody>
      </p:sp>
      <p:sp>
        <p:nvSpPr>
          <p:cNvPr id="118824" name="Rectangle 42"/>
          <p:cNvSpPr>
            <a:spLocks noChangeArrowheads="1"/>
          </p:cNvSpPr>
          <p:nvPr/>
        </p:nvSpPr>
        <p:spPr bwMode="auto">
          <a:xfrm>
            <a:off x="7772400" y="3505200"/>
            <a:ext cx="1524000" cy="6096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2400" b="1">
                <a:solidFill>
                  <a:srgbClr val="E8DC3C"/>
                </a:solidFill>
                <a:latin typeface="Times New Roman" panose="02020603050405020304" pitchFamily="18" charset="0"/>
                <a:ea typeface="方正姚体" panose="02010601030101010101" charset="-122"/>
              </a:rPr>
              <a:t>核心产品</a:t>
            </a:r>
            <a:r>
              <a:rPr kumimoji="1" lang="en-US" altLang="zh-CN" sz="2400" b="1">
                <a:solidFill>
                  <a:srgbClr val="E8DC3C"/>
                </a:solidFill>
                <a:latin typeface="Times New Roman" panose="02020603050405020304" pitchFamily="18" charset="0"/>
                <a:ea typeface="方正姚体" panose="02010601030101010101" charset="-122"/>
              </a:rPr>
              <a:t>1</a:t>
            </a:r>
          </a:p>
        </p:txBody>
      </p:sp>
      <p:sp>
        <p:nvSpPr>
          <p:cNvPr id="118825" name="Rectangle 43"/>
          <p:cNvSpPr>
            <a:spLocks noChangeArrowheads="1"/>
          </p:cNvSpPr>
          <p:nvPr/>
        </p:nvSpPr>
        <p:spPr bwMode="auto">
          <a:xfrm>
            <a:off x="7772400" y="4343400"/>
            <a:ext cx="1524000" cy="533400"/>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kumimoji="1" lang="zh-CN" altLang="en-US" sz="2400" b="1" dirty="0">
                <a:solidFill>
                  <a:srgbClr val="E8DC3C"/>
                </a:solidFill>
                <a:latin typeface="Times New Roman" panose="02020603050405020304" pitchFamily="18" charset="0"/>
                <a:ea typeface="方正姚体" panose="02010601030101010101" charset="-122"/>
              </a:rPr>
              <a:t>核心产品</a:t>
            </a:r>
            <a:r>
              <a:rPr kumimoji="1" lang="en-US" altLang="zh-CN" sz="2400" b="1" dirty="0">
                <a:solidFill>
                  <a:srgbClr val="E8DC3C"/>
                </a:solidFill>
                <a:latin typeface="Times New Roman" panose="02020603050405020304" pitchFamily="18" charset="0"/>
                <a:ea typeface="方正姚体" panose="02010601030101010101" charset="-122"/>
              </a:rPr>
              <a:t>2</a:t>
            </a:r>
          </a:p>
        </p:txBody>
      </p:sp>
      <p:sp>
        <p:nvSpPr>
          <p:cNvPr id="118826" name="Line 44"/>
          <p:cNvSpPr>
            <a:spLocks noChangeShapeType="1"/>
          </p:cNvSpPr>
          <p:nvPr/>
        </p:nvSpPr>
        <p:spPr bwMode="auto">
          <a:xfrm>
            <a:off x="4267200" y="3200400"/>
            <a:ext cx="0" cy="1295400"/>
          </a:xfrm>
          <a:prstGeom prst="line">
            <a:avLst/>
          </a:prstGeom>
          <a:noFill/>
          <a:ln w="57150">
            <a:solidFill>
              <a:schemeClr val="tx1"/>
            </a:solidFill>
            <a:miter lim="800000"/>
          </a:ln>
        </p:spPr>
        <p:txBody>
          <a:bodyPr wrap="none"/>
          <a:lstStyle/>
          <a:p>
            <a:endParaRPr lang="zh-CN" altLang="en-US"/>
          </a:p>
        </p:txBody>
      </p:sp>
      <p:sp>
        <p:nvSpPr>
          <p:cNvPr id="118827" name="Line 45"/>
          <p:cNvSpPr>
            <a:spLocks noChangeShapeType="1"/>
          </p:cNvSpPr>
          <p:nvPr/>
        </p:nvSpPr>
        <p:spPr bwMode="auto">
          <a:xfrm>
            <a:off x="4267200" y="4495800"/>
            <a:ext cx="3505200" cy="0"/>
          </a:xfrm>
          <a:prstGeom prst="line">
            <a:avLst/>
          </a:prstGeom>
          <a:noFill/>
          <a:ln w="57150">
            <a:solidFill>
              <a:schemeClr val="tx1"/>
            </a:solidFill>
            <a:miter lim="800000"/>
          </a:ln>
        </p:spPr>
        <p:txBody>
          <a:bodyPr wrap="none"/>
          <a:lstStyle/>
          <a:p>
            <a:endParaRPr lang="zh-CN" altLang="en-US"/>
          </a:p>
        </p:txBody>
      </p:sp>
      <p:sp>
        <p:nvSpPr>
          <p:cNvPr id="118828" name="Line 46"/>
          <p:cNvSpPr>
            <a:spLocks noChangeShapeType="1"/>
          </p:cNvSpPr>
          <p:nvPr/>
        </p:nvSpPr>
        <p:spPr bwMode="auto">
          <a:xfrm flipH="1">
            <a:off x="6248400" y="3810000"/>
            <a:ext cx="1524000" cy="0"/>
          </a:xfrm>
          <a:prstGeom prst="line">
            <a:avLst/>
          </a:prstGeom>
          <a:noFill/>
          <a:ln w="57150">
            <a:solidFill>
              <a:schemeClr val="tx1"/>
            </a:solidFill>
            <a:miter lim="800000"/>
          </a:ln>
        </p:spPr>
        <p:txBody>
          <a:bodyPr wrap="none"/>
          <a:lstStyle/>
          <a:p>
            <a:endParaRPr lang="zh-CN" altLang="en-US"/>
          </a:p>
        </p:txBody>
      </p:sp>
      <p:sp>
        <p:nvSpPr>
          <p:cNvPr id="118829" name="Line 47"/>
          <p:cNvSpPr>
            <a:spLocks noChangeShapeType="1"/>
          </p:cNvSpPr>
          <p:nvPr/>
        </p:nvSpPr>
        <p:spPr bwMode="auto">
          <a:xfrm>
            <a:off x="6248400" y="3810000"/>
            <a:ext cx="0" cy="1371600"/>
          </a:xfrm>
          <a:prstGeom prst="line">
            <a:avLst/>
          </a:prstGeom>
          <a:noFill/>
          <a:ln w="57150">
            <a:solidFill>
              <a:schemeClr val="tx1"/>
            </a:solidFill>
            <a:miter lim="800000"/>
          </a:ln>
        </p:spPr>
        <p:txBody>
          <a:bodyPr wrap="none"/>
          <a:lstStyle/>
          <a:p>
            <a:endParaRPr lang="zh-CN" altLang="en-US"/>
          </a:p>
        </p:txBody>
      </p:sp>
      <p:sp>
        <p:nvSpPr>
          <p:cNvPr id="118830" name="Line 48"/>
          <p:cNvSpPr>
            <a:spLocks noChangeShapeType="1"/>
          </p:cNvSpPr>
          <p:nvPr/>
        </p:nvSpPr>
        <p:spPr bwMode="auto">
          <a:xfrm>
            <a:off x="9296400" y="3810000"/>
            <a:ext cx="685800" cy="0"/>
          </a:xfrm>
          <a:prstGeom prst="line">
            <a:avLst/>
          </a:prstGeom>
          <a:noFill/>
          <a:ln w="57150">
            <a:solidFill>
              <a:schemeClr val="tx1"/>
            </a:solidFill>
            <a:miter lim="800000"/>
          </a:ln>
        </p:spPr>
        <p:txBody>
          <a:bodyPr wrap="none"/>
          <a:lstStyle/>
          <a:p>
            <a:endParaRPr lang="zh-CN" altLang="en-US"/>
          </a:p>
        </p:txBody>
      </p:sp>
      <p:sp>
        <p:nvSpPr>
          <p:cNvPr id="118831" name="Line 49"/>
          <p:cNvSpPr>
            <a:spLocks noChangeShapeType="1"/>
          </p:cNvSpPr>
          <p:nvPr/>
        </p:nvSpPr>
        <p:spPr bwMode="auto">
          <a:xfrm>
            <a:off x="9982200" y="3810000"/>
            <a:ext cx="0" cy="1371600"/>
          </a:xfrm>
          <a:prstGeom prst="line">
            <a:avLst/>
          </a:prstGeom>
          <a:noFill/>
          <a:ln w="57150">
            <a:solidFill>
              <a:schemeClr val="tx1"/>
            </a:solidFill>
            <a:miter lim="800000"/>
          </a:ln>
        </p:spPr>
        <p:txBody>
          <a:bodyPr wrap="none"/>
          <a:lstStyle/>
          <a:p>
            <a:endParaRPr lang="zh-CN" altLang="en-US"/>
          </a:p>
        </p:txBody>
      </p:sp>
      <p:sp>
        <p:nvSpPr>
          <p:cNvPr id="118832" name="Line 50"/>
          <p:cNvSpPr>
            <a:spLocks noChangeShapeType="1"/>
          </p:cNvSpPr>
          <p:nvPr/>
        </p:nvSpPr>
        <p:spPr bwMode="auto">
          <a:xfrm flipH="1">
            <a:off x="4267200" y="4648200"/>
            <a:ext cx="3505200" cy="0"/>
          </a:xfrm>
          <a:prstGeom prst="line">
            <a:avLst/>
          </a:prstGeom>
          <a:noFill/>
          <a:ln w="57150">
            <a:solidFill>
              <a:schemeClr val="tx1"/>
            </a:solidFill>
            <a:miter lim="800000"/>
          </a:ln>
        </p:spPr>
        <p:txBody>
          <a:bodyPr wrap="none"/>
          <a:lstStyle/>
          <a:p>
            <a:endParaRPr lang="zh-CN" altLang="en-US"/>
          </a:p>
        </p:txBody>
      </p:sp>
      <p:sp>
        <p:nvSpPr>
          <p:cNvPr id="118833" name="Line 51"/>
          <p:cNvSpPr>
            <a:spLocks noChangeShapeType="1"/>
          </p:cNvSpPr>
          <p:nvPr/>
        </p:nvSpPr>
        <p:spPr bwMode="auto">
          <a:xfrm>
            <a:off x="4267200" y="4648200"/>
            <a:ext cx="0" cy="457200"/>
          </a:xfrm>
          <a:prstGeom prst="line">
            <a:avLst/>
          </a:prstGeom>
          <a:noFill/>
          <a:ln w="57150">
            <a:solidFill>
              <a:schemeClr val="tx1"/>
            </a:solidFill>
            <a:miter lim="800000"/>
          </a:ln>
        </p:spPr>
        <p:txBody>
          <a:bodyPr wrap="none"/>
          <a:lstStyle/>
          <a:p>
            <a:endParaRPr lang="zh-CN" altLang="en-US"/>
          </a:p>
        </p:txBody>
      </p:sp>
      <p:sp>
        <p:nvSpPr>
          <p:cNvPr id="118834" name="Line 52"/>
          <p:cNvSpPr>
            <a:spLocks noChangeShapeType="1"/>
          </p:cNvSpPr>
          <p:nvPr/>
        </p:nvSpPr>
        <p:spPr bwMode="auto">
          <a:xfrm>
            <a:off x="8458200" y="4876800"/>
            <a:ext cx="0" cy="533400"/>
          </a:xfrm>
          <a:prstGeom prst="line">
            <a:avLst/>
          </a:prstGeom>
          <a:noFill/>
          <a:ln w="57150">
            <a:solidFill>
              <a:schemeClr val="tx1"/>
            </a:solidFill>
            <a:miter lim="800000"/>
          </a:ln>
        </p:spPr>
        <p:txBody>
          <a:bodyPr wrap="none"/>
          <a:lstStyle/>
          <a:p>
            <a:endParaRPr lang="zh-CN" altLang="en-US"/>
          </a:p>
        </p:txBody>
      </p:sp>
      <p:sp>
        <p:nvSpPr>
          <p:cNvPr id="178229" name="Rectangle 53"/>
          <p:cNvSpPr>
            <a:spLocks noChangeArrowheads="1"/>
          </p:cNvSpPr>
          <p:nvPr/>
        </p:nvSpPr>
        <p:spPr bwMode="auto">
          <a:xfrm>
            <a:off x="3505200" y="5105400"/>
            <a:ext cx="1295400" cy="838200"/>
          </a:xfrm>
          <a:prstGeom prst="rect">
            <a:avLst/>
          </a:prstGeom>
          <a:solidFill>
            <a:schemeClr val="accent1"/>
          </a:solidFill>
          <a:ln w="9525">
            <a:noFill/>
            <a:miter lim="800000"/>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defRPr/>
            </a:pPr>
            <a:r>
              <a:rPr kumimoji="1" lang="zh-CN" altLang="en-US" sz="2000" b="1">
                <a:solidFill>
                  <a:srgbClr val="18398A"/>
                </a:solidFill>
                <a:effectLst>
                  <a:outerShdw blurRad="38100" dist="38100" dir="2700000" algn="tl">
                    <a:srgbClr val="000000"/>
                  </a:outerShdw>
                </a:effectLst>
                <a:latin typeface="Times New Roman" panose="02020603050405020304" pitchFamily="18" charset="0"/>
              </a:rPr>
              <a:t>核心能力</a:t>
            </a:r>
            <a:r>
              <a:rPr kumimoji="1" lang="en-US" altLang="zh-CN" sz="2000" b="1">
                <a:solidFill>
                  <a:srgbClr val="18398A"/>
                </a:solidFill>
                <a:effectLst>
                  <a:outerShdw blurRad="38100" dist="38100" dir="2700000" algn="tl">
                    <a:srgbClr val="000000"/>
                  </a:outerShdw>
                </a:effectLst>
                <a:latin typeface="Times New Roman" panose="02020603050405020304" pitchFamily="18" charset="0"/>
              </a:rPr>
              <a:t>1</a:t>
            </a:r>
          </a:p>
        </p:txBody>
      </p:sp>
      <p:sp>
        <p:nvSpPr>
          <p:cNvPr id="178230" name="Rectangle 54"/>
          <p:cNvSpPr>
            <a:spLocks noChangeArrowheads="1"/>
          </p:cNvSpPr>
          <p:nvPr/>
        </p:nvSpPr>
        <p:spPr bwMode="auto">
          <a:xfrm>
            <a:off x="5638800" y="5105400"/>
            <a:ext cx="1295400" cy="838200"/>
          </a:xfrm>
          <a:prstGeom prst="rect">
            <a:avLst/>
          </a:prstGeom>
          <a:solidFill>
            <a:schemeClr val="accent1"/>
          </a:solidFill>
          <a:ln w="9525">
            <a:miter lim="800000"/>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defRPr/>
            </a:pPr>
            <a:r>
              <a:rPr kumimoji="1" lang="zh-CN" altLang="en-US" sz="2000" b="1">
                <a:solidFill>
                  <a:srgbClr val="18398A"/>
                </a:solidFill>
                <a:effectLst>
                  <a:outerShdw blurRad="38100" dist="38100" dir="2700000" algn="tl">
                    <a:srgbClr val="000000"/>
                  </a:outerShdw>
                </a:effectLst>
                <a:latin typeface="Times New Roman" panose="02020603050405020304" pitchFamily="18" charset="0"/>
              </a:rPr>
              <a:t>核心能力</a:t>
            </a:r>
            <a:r>
              <a:rPr kumimoji="1" lang="en-US" altLang="zh-CN" sz="2000" b="1">
                <a:solidFill>
                  <a:srgbClr val="18398A"/>
                </a:solidFill>
                <a:effectLst>
                  <a:outerShdw blurRad="38100" dist="38100" dir="2700000" algn="tl">
                    <a:srgbClr val="000000"/>
                  </a:outerShdw>
                </a:effectLst>
                <a:latin typeface="Times New Roman" panose="02020603050405020304" pitchFamily="18" charset="0"/>
              </a:rPr>
              <a:t>2</a:t>
            </a:r>
          </a:p>
        </p:txBody>
      </p:sp>
      <p:sp>
        <p:nvSpPr>
          <p:cNvPr id="178231" name="Rectangle 55"/>
          <p:cNvSpPr>
            <a:spLocks noChangeArrowheads="1"/>
          </p:cNvSpPr>
          <p:nvPr/>
        </p:nvSpPr>
        <p:spPr bwMode="auto">
          <a:xfrm>
            <a:off x="7696200" y="5105400"/>
            <a:ext cx="1295400" cy="838200"/>
          </a:xfrm>
          <a:prstGeom prst="rect">
            <a:avLst/>
          </a:prstGeom>
          <a:solidFill>
            <a:schemeClr val="accent1"/>
          </a:solidFill>
          <a:ln w="9525">
            <a:miter lim="800000"/>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defRPr/>
            </a:pPr>
            <a:r>
              <a:rPr kumimoji="1" lang="zh-CN" altLang="en-US" sz="2000" b="1">
                <a:solidFill>
                  <a:srgbClr val="18398A"/>
                </a:solidFill>
                <a:effectLst>
                  <a:outerShdw blurRad="38100" dist="38100" dir="2700000" algn="tl">
                    <a:srgbClr val="000000"/>
                  </a:outerShdw>
                </a:effectLst>
                <a:latin typeface="Times New Roman" panose="02020603050405020304" pitchFamily="18" charset="0"/>
              </a:rPr>
              <a:t>核心能力</a:t>
            </a:r>
            <a:r>
              <a:rPr kumimoji="1" lang="en-US" altLang="zh-CN" sz="2000" b="1">
                <a:solidFill>
                  <a:srgbClr val="18398A"/>
                </a:solidFill>
                <a:effectLst>
                  <a:outerShdw blurRad="38100" dist="38100" dir="2700000" algn="tl">
                    <a:srgbClr val="000000"/>
                  </a:outerShdw>
                </a:effectLst>
                <a:latin typeface="Times New Roman" panose="02020603050405020304" pitchFamily="18" charset="0"/>
              </a:rPr>
              <a:t>3</a:t>
            </a:r>
          </a:p>
        </p:txBody>
      </p:sp>
      <p:sp>
        <p:nvSpPr>
          <p:cNvPr id="178232" name="Rectangle 56"/>
          <p:cNvSpPr>
            <a:spLocks noChangeArrowheads="1"/>
          </p:cNvSpPr>
          <p:nvPr/>
        </p:nvSpPr>
        <p:spPr bwMode="auto">
          <a:xfrm>
            <a:off x="9144000" y="5105400"/>
            <a:ext cx="1219200" cy="838200"/>
          </a:xfrm>
          <a:prstGeom prst="rect">
            <a:avLst/>
          </a:prstGeom>
          <a:solidFill>
            <a:schemeClr val="accent1"/>
          </a:solidFill>
          <a:ln w="9525">
            <a:miter lim="800000"/>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defRPr/>
            </a:pPr>
            <a:r>
              <a:rPr kumimoji="1" lang="zh-CN" altLang="en-US" sz="2000" b="1">
                <a:solidFill>
                  <a:srgbClr val="18398A"/>
                </a:solidFill>
                <a:effectLst>
                  <a:outerShdw blurRad="38100" dist="38100" dir="2700000" algn="tl">
                    <a:srgbClr val="000000"/>
                  </a:outerShdw>
                </a:effectLst>
                <a:latin typeface="Times New Roman" panose="02020603050405020304" pitchFamily="18" charset="0"/>
              </a:rPr>
              <a:t>核心能力</a:t>
            </a:r>
            <a:r>
              <a:rPr kumimoji="1" lang="en-US" altLang="zh-CN" sz="2000" b="1">
                <a:solidFill>
                  <a:srgbClr val="18398A"/>
                </a:solidFill>
                <a:effectLst>
                  <a:outerShdw blurRad="38100" dist="38100" dir="2700000" algn="tl">
                    <a:srgbClr val="000000"/>
                  </a:outerShdw>
                </a:effectLst>
                <a:latin typeface="Times New Roman" panose="02020603050405020304" pitchFamily="18" charset="0"/>
              </a:rPr>
              <a:t>4</a:t>
            </a:r>
          </a:p>
        </p:txBody>
      </p:sp>
      <p:sp>
        <p:nvSpPr>
          <p:cNvPr id="178233" name="Text Box 57"/>
          <p:cNvSpPr txBox="1">
            <a:spLocks noChangeArrowheads="1"/>
          </p:cNvSpPr>
          <p:nvPr/>
        </p:nvSpPr>
        <p:spPr bwMode="auto">
          <a:xfrm>
            <a:off x="2743200" y="6019800"/>
            <a:ext cx="6781800" cy="579438"/>
          </a:xfrm>
          <a:prstGeom prst="rect">
            <a:avLst/>
          </a:prstGeom>
          <a:noFill/>
          <a:ln w="9525">
            <a:noFill/>
            <a:miter lim="800000"/>
          </a:ln>
          <a:effectLst/>
        </p:spPr>
        <p:txBody>
          <a:bodyPr>
            <a:spAutoFit/>
          </a:bodyPr>
          <a:lstStyle/>
          <a:p>
            <a:pPr>
              <a:spcBef>
                <a:spcPct val="50000"/>
              </a:spcBef>
              <a:defRPr/>
            </a:pPr>
            <a:r>
              <a:rPr kumimoji="1" lang="zh-CN" altLang="en-US" sz="3200" b="1">
                <a:solidFill>
                  <a:srgbClr val="CC3314"/>
                </a:solidFill>
                <a:effectLst>
                  <a:outerShdw blurRad="38100" dist="38100" dir="2700000" algn="tl">
                    <a:srgbClr val="C0C0C0"/>
                  </a:outerShdw>
                </a:effectLst>
                <a:latin typeface="Times New Roman" panose="02020603050405020304" pitchFamily="18" charset="0"/>
              </a:rPr>
              <a:t>         </a:t>
            </a:r>
            <a:r>
              <a:rPr kumimoji="1" lang="zh-CN" altLang="en-US" sz="3200" b="1">
                <a:solidFill>
                  <a:srgbClr val="F92B4D"/>
                </a:solidFill>
                <a:effectLst>
                  <a:outerShdw blurRad="38100" dist="38100" dir="2700000" algn="tl">
                    <a:srgbClr val="C0C0C0"/>
                  </a:outerShdw>
                </a:effectLst>
                <a:latin typeface="Times New Roman" panose="02020603050405020304" pitchFamily="18" charset="0"/>
              </a:rPr>
              <a:t>竞争优势之源</a:t>
            </a:r>
            <a:r>
              <a:rPr kumimoji="1" lang="en-US" altLang="zh-CN" sz="3200" b="1">
                <a:solidFill>
                  <a:srgbClr val="F92B4D"/>
                </a:solidFill>
                <a:effectLst>
                  <a:outerShdw blurRad="38100" dist="38100" dir="2700000" algn="tl">
                    <a:srgbClr val="C0C0C0"/>
                  </a:outerShdw>
                </a:effectLst>
                <a:latin typeface="Times New Roman" panose="02020603050405020304" pitchFamily="18" charset="0"/>
              </a:rPr>
              <a:t>——</a:t>
            </a:r>
            <a:r>
              <a:rPr kumimoji="1" lang="zh-CN" altLang="en-US" sz="3200" b="1">
                <a:solidFill>
                  <a:srgbClr val="F92B4D"/>
                </a:solidFill>
                <a:effectLst>
                  <a:outerShdw blurRad="38100" dist="38100" dir="2700000" algn="tl">
                    <a:srgbClr val="C0C0C0"/>
                  </a:outerShdw>
                </a:effectLst>
                <a:latin typeface="Times New Roman" panose="02020603050405020304" pitchFamily="18" charset="0"/>
              </a:rPr>
              <a:t>核心竞争力</a:t>
            </a:r>
          </a:p>
        </p:txBody>
      </p:sp>
      <p:sp>
        <p:nvSpPr>
          <p:cNvPr id="118840" name="Rectangle 58"/>
          <p:cNvSpPr>
            <a:spLocks noChangeArrowheads="1"/>
          </p:cNvSpPr>
          <p:nvPr/>
        </p:nvSpPr>
        <p:spPr bwMode="auto">
          <a:xfrm>
            <a:off x="4953000" y="5562601"/>
            <a:ext cx="184150" cy="396875"/>
          </a:xfrm>
          <a:prstGeom prst="rect">
            <a:avLst/>
          </a:prstGeom>
          <a:noFill/>
          <a:ln w="9525">
            <a:noFill/>
            <a:miter lim="800000"/>
          </a:ln>
        </p:spPr>
        <p:txBody>
          <a:bodyPr wrap="none">
            <a:spAutoFit/>
          </a:bodyPr>
          <a:lstStyle/>
          <a:p>
            <a:endParaRPr kumimoji="1" lang="zh-CN" altLang="en-US" sz="2000" b="1">
              <a:solidFill>
                <a:srgbClr val="31059F"/>
              </a:solidFill>
              <a:latin typeface="Times New Roman" panose="02020603050405020304" pitchFamily="18" charset="0"/>
              <a:ea typeface="方正姚体" panose="02010601030101010101" charset="-122"/>
            </a:endParaRPr>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657600" y="1"/>
            <a:ext cx="7010400" cy="1052513"/>
          </a:xfrm>
        </p:spPr>
        <p:txBody>
          <a:bodyPr/>
          <a:lstStyle/>
          <a:p>
            <a:pPr marL="54610">
              <a:defRPr/>
            </a:pPr>
            <a:r>
              <a:rPr lang="zh-CN" altLang="en-US" dirty="0">
                <a:solidFill>
                  <a:schemeClr val="tx2">
                    <a:tint val="100000"/>
                    <a:shade val="90000"/>
                    <a:satMod val="250000"/>
                    <a:alpha val="100000"/>
                  </a:schemeClr>
                </a:solidFill>
                <a:ea typeface="黑体" panose="02010609060101010101" pitchFamily="2" charset="-122"/>
                <a:cs typeface="+mj-cs"/>
              </a:rPr>
              <a:t>               </a:t>
            </a:r>
            <a:endParaRPr lang="zh-CN" altLang="en-US" sz="5500" dirty="0">
              <a:solidFill>
                <a:schemeClr val="tx2">
                  <a:tint val="100000"/>
                  <a:shade val="90000"/>
                  <a:satMod val="250000"/>
                  <a:alpha val="100000"/>
                </a:schemeClr>
              </a:solidFill>
            </a:endParaRPr>
          </a:p>
        </p:txBody>
      </p:sp>
      <p:sp>
        <p:nvSpPr>
          <p:cNvPr id="121858" name="Rectangle 3"/>
          <p:cNvSpPr>
            <a:spLocks noGrp="1" noChangeArrowheads="1"/>
          </p:cNvSpPr>
          <p:nvPr>
            <p:ph type="body" idx="1"/>
          </p:nvPr>
        </p:nvSpPr>
        <p:spPr>
          <a:xfrm>
            <a:off x="1774825" y="1557338"/>
            <a:ext cx="8686800" cy="4525962"/>
          </a:xfrm>
        </p:spPr>
        <p:txBody>
          <a:bodyPr>
            <a:normAutofit lnSpcReduction="10000"/>
          </a:bodyPr>
          <a:lstStyle/>
          <a:p>
            <a:pPr>
              <a:lnSpc>
                <a:spcPct val="90000"/>
              </a:lnSpc>
              <a:buFont typeface="Wingdings" panose="05000000000000000000" pitchFamily="2" charset="2"/>
              <a:buNone/>
            </a:pPr>
            <a:r>
              <a:rPr lang="zh-CN" altLang="en-US" sz="4000" dirty="0"/>
              <a:t>       </a:t>
            </a:r>
            <a:r>
              <a:rPr lang="zh-CN" altLang="en-US" sz="4000" b="1" dirty="0"/>
              <a:t>核心能力是企业开拓市场的“引擎”。应将企业看成是一个核心能力的集合体，而不是产品的集合体。通过培育和发展核心能力，企业可以源源不断地繁衍出最终产品去创造市场、引导消费。因此，培育企业的核心能力是一种厚积薄发、有利于企业永续经营的战略选择。</a:t>
            </a:r>
          </a:p>
          <a:p>
            <a:pPr>
              <a:lnSpc>
                <a:spcPct val="90000"/>
              </a:lnSpc>
            </a:pPr>
            <a:endParaRPr lang="zh-CN" altLang="en-US" b="1" dirty="0"/>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508250" y="661987"/>
            <a:ext cx="7010400" cy="1052513"/>
          </a:xfrm>
        </p:spPr>
        <p:txBody>
          <a:bodyPr/>
          <a:lstStyle/>
          <a:p>
            <a:pPr marL="54610">
              <a:defRPr/>
            </a:pPr>
            <a:r>
              <a:rPr lang="zh-CN" altLang="en-US" dirty="0">
                <a:solidFill>
                  <a:schemeClr val="tx2">
                    <a:tint val="100000"/>
                    <a:shade val="90000"/>
                    <a:satMod val="250000"/>
                    <a:alpha val="100000"/>
                  </a:schemeClr>
                </a:solidFill>
                <a:ea typeface="黑体" panose="02010609060101010101" pitchFamily="2" charset="-122"/>
                <a:cs typeface="+mj-cs"/>
              </a:rPr>
              <a:t>核心竞争能力结构维度</a:t>
            </a:r>
          </a:p>
        </p:txBody>
      </p:sp>
      <p:sp>
        <p:nvSpPr>
          <p:cNvPr id="122882" name="Oval 4"/>
          <p:cNvSpPr>
            <a:spLocks noChangeArrowheads="1"/>
          </p:cNvSpPr>
          <p:nvPr/>
        </p:nvSpPr>
        <p:spPr bwMode="auto">
          <a:xfrm>
            <a:off x="5410200" y="2950517"/>
            <a:ext cx="1447800" cy="1447800"/>
          </a:xfrm>
          <a:prstGeom prst="ellipse">
            <a:avLst/>
          </a:prstGeom>
          <a:solidFill>
            <a:schemeClr val="accent1"/>
          </a:solidFill>
          <a:ln w="9525">
            <a:solidFill>
              <a:schemeClr val="tx1"/>
            </a:solidFill>
            <a:round/>
          </a:ln>
        </p:spPr>
        <p:txBody>
          <a:bodyPr wrap="none" anchor="ctr"/>
          <a:lstStyle/>
          <a:p>
            <a:pPr algn="ctr"/>
            <a:r>
              <a:rPr lang="zh-CN" altLang="en-US" sz="2800">
                <a:latin typeface="KaiTi" panose="02010609060101010101" pitchFamily="49" charset="-122"/>
                <a:ea typeface="KaiTi" panose="02010609060101010101" pitchFamily="49" charset="-122"/>
              </a:rPr>
              <a:t>核心竞争</a:t>
            </a:r>
          </a:p>
          <a:p>
            <a:pPr algn="ctr"/>
            <a:r>
              <a:rPr lang="zh-CN" altLang="en-US" sz="2800">
                <a:latin typeface="KaiTi" panose="02010609060101010101" pitchFamily="49" charset="-122"/>
                <a:ea typeface="KaiTi" panose="02010609060101010101" pitchFamily="49" charset="-122"/>
              </a:rPr>
              <a:t>能力</a:t>
            </a:r>
          </a:p>
        </p:txBody>
      </p:sp>
      <p:sp>
        <p:nvSpPr>
          <p:cNvPr id="122883" name="Rectangle 5"/>
          <p:cNvSpPr>
            <a:spLocks noChangeArrowheads="1"/>
          </p:cNvSpPr>
          <p:nvPr/>
        </p:nvSpPr>
        <p:spPr bwMode="auto">
          <a:xfrm>
            <a:off x="4953000" y="1578917"/>
            <a:ext cx="2286000" cy="609600"/>
          </a:xfrm>
          <a:prstGeom prst="rect">
            <a:avLst/>
          </a:prstGeom>
          <a:solidFill>
            <a:schemeClr val="accent1"/>
          </a:solidFill>
          <a:ln w="9525">
            <a:solidFill>
              <a:schemeClr val="tx1"/>
            </a:solidFill>
            <a:miter lim="800000"/>
          </a:ln>
        </p:spPr>
        <p:txBody>
          <a:bodyPr wrap="none" anchor="ctr"/>
          <a:lstStyle/>
          <a:p>
            <a:pPr algn="ctr"/>
            <a:r>
              <a:rPr lang="zh-CN" altLang="en-US" sz="3200">
                <a:latin typeface="KaiTi" panose="02010609060101010101" pitchFamily="49" charset="-122"/>
                <a:ea typeface="KaiTi" panose="02010609060101010101" pitchFamily="49" charset="-122"/>
              </a:rPr>
              <a:t>管理系统</a:t>
            </a:r>
          </a:p>
        </p:txBody>
      </p:sp>
      <p:sp>
        <p:nvSpPr>
          <p:cNvPr id="122884" name="Rectangle 6"/>
          <p:cNvSpPr>
            <a:spLocks noChangeArrowheads="1"/>
          </p:cNvSpPr>
          <p:nvPr/>
        </p:nvSpPr>
        <p:spPr bwMode="auto">
          <a:xfrm>
            <a:off x="5029200" y="4931717"/>
            <a:ext cx="2362200" cy="609600"/>
          </a:xfrm>
          <a:prstGeom prst="rect">
            <a:avLst/>
          </a:prstGeom>
          <a:solidFill>
            <a:schemeClr val="accent1"/>
          </a:solidFill>
          <a:ln w="9525">
            <a:solidFill>
              <a:schemeClr val="tx1"/>
            </a:solidFill>
            <a:miter lim="800000"/>
          </a:ln>
        </p:spPr>
        <p:txBody>
          <a:bodyPr wrap="none" anchor="ctr"/>
          <a:lstStyle/>
          <a:p>
            <a:pPr algn="ctr"/>
            <a:r>
              <a:rPr lang="zh-CN" altLang="en-US" sz="3200">
                <a:latin typeface="KaiTi" panose="02010609060101010101" pitchFamily="49" charset="-122"/>
                <a:ea typeface="KaiTi" panose="02010609060101010101" pitchFamily="49" charset="-122"/>
              </a:rPr>
              <a:t>价值和规范</a:t>
            </a:r>
          </a:p>
        </p:txBody>
      </p:sp>
      <p:sp>
        <p:nvSpPr>
          <p:cNvPr id="122885" name="Rectangle 7"/>
          <p:cNvSpPr>
            <a:spLocks noChangeArrowheads="1"/>
          </p:cNvSpPr>
          <p:nvPr/>
        </p:nvSpPr>
        <p:spPr bwMode="auto">
          <a:xfrm>
            <a:off x="2743200" y="3407717"/>
            <a:ext cx="1905000" cy="609600"/>
          </a:xfrm>
          <a:prstGeom prst="rect">
            <a:avLst/>
          </a:prstGeom>
          <a:solidFill>
            <a:schemeClr val="accent1"/>
          </a:solidFill>
          <a:ln w="9525">
            <a:solidFill>
              <a:schemeClr val="tx1"/>
            </a:solidFill>
            <a:miter lim="800000"/>
          </a:ln>
        </p:spPr>
        <p:txBody>
          <a:bodyPr wrap="none" anchor="ctr"/>
          <a:lstStyle/>
          <a:p>
            <a:pPr algn="ctr"/>
            <a:r>
              <a:rPr lang="zh-CN" altLang="en-US" sz="2400">
                <a:latin typeface="KaiTi" panose="02010609060101010101" pitchFamily="49" charset="-122"/>
                <a:ea typeface="KaiTi" panose="02010609060101010101" pitchFamily="49" charset="-122"/>
              </a:rPr>
              <a:t>物理技术系统</a:t>
            </a:r>
          </a:p>
        </p:txBody>
      </p:sp>
      <p:sp>
        <p:nvSpPr>
          <p:cNvPr id="122886" name="Rectangle 8"/>
          <p:cNvSpPr>
            <a:spLocks noChangeArrowheads="1"/>
          </p:cNvSpPr>
          <p:nvPr/>
        </p:nvSpPr>
        <p:spPr bwMode="auto">
          <a:xfrm>
            <a:off x="7772400" y="3255317"/>
            <a:ext cx="2133600" cy="762000"/>
          </a:xfrm>
          <a:prstGeom prst="rect">
            <a:avLst/>
          </a:prstGeom>
          <a:solidFill>
            <a:schemeClr val="accent1"/>
          </a:solidFill>
          <a:ln w="9525">
            <a:solidFill>
              <a:schemeClr val="tx1"/>
            </a:solidFill>
            <a:miter lim="800000"/>
          </a:ln>
        </p:spPr>
        <p:txBody>
          <a:bodyPr wrap="none" anchor="ctr"/>
          <a:lstStyle/>
          <a:p>
            <a:pPr algn="ctr"/>
            <a:r>
              <a:rPr lang="zh-CN" altLang="en-US" sz="2800">
                <a:latin typeface="KaiTi" panose="02010609060101010101" pitchFamily="49" charset="-122"/>
                <a:ea typeface="KaiTi" panose="02010609060101010101" pitchFamily="49" charset="-122"/>
              </a:rPr>
              <a:t>雇员知识技能</a:t>
            </a:r>
          </a:p>
        </p:txBody>
      </p:sp>
      <p:sp>
        <p:nvSpPr>
          <p:cNvPr id="122887" name="Line 9"/>
          <p:cNvSpPr>
            <a:spLocks noChangeShapeType="1"/>
          </p:cNvSpPr>
          <p:nvPr/>
        </p:nvSpPr>
        <p:spPr bwMode="auto">
          <a:xfrm>
            <a:off x="6172200" y="2188517"/>
            <a:ext cx="0" cy="685800"/>
          </a:xfrm>
          <a:prstGeom prst="line">
            <a:avLst/>
          </a:prstGeom>
          <a:noFill/>
          <a:ln w="9525">
            <a:solidFill>
              <a:schemeClr val="tx1"/>
            </a:solidFill>
            <a:round/>
            <a:tailEnd type="triangle" w="med" len="med"/>
          </a:ln>
        </p:spPr>
        <p:txBody>
          <a:bodyPr/>
          <a:lstStyle/>
          <a:p>
            <a:endParaRPr lang="zh-CN" altLang="en-US">
              <a:latin typeface="KaiTi" panose="02010609060101010101" pitchFamily="49" charset="-122"/>
              <a:ea typeface="KaiTi" panose="02010609060101010101" pitchFamily="49" charset="-122"/>
            </a:endParaRPr>
          </a:p>
        </p:txBody>
      </p:sp>
      <p:sp>
        <p:nvSpPr>
          <p:cNvPr id="122888" name="Line 10"/>
          <p:cNvSpPr>
            <a:spLocks noChangeShapeType="1"/>
          </p:cNvSpPr>
          <p:nvPr/>
        </p:nvSpPr>
        <p:spPr bwMode="auto">
          <a:xfrm flipV="1">
            <a:off x="6172200" y="4398317"/>
            <a:ext cx="0" cy="533400"/>
          </a:xfrm>
          <a:prstGeom prst="line">
            <a:avLst/>
          </a:prstGeom>
          <a:noFill/>
          <a:ln w="9525">
            <a:solidFill>
              <a:schemeClr val="tx1"/>
            </a:solidFill>
            <a:round/>
            <a:tailEnd type="triangle" w="med" len="med"/>
          </a:ln>
        </p:spPr>
        <p:txBody>
          <a:bodyPr/>
          <a:lstStyle/>
          <a:p>
            <a:endParaRPr lang="zh-CN" altLang="en-US">
              <a:latin typeface="KaiTi" panose="02010609060101010101" pitchFamily="49" charset="-122"/>
              <a:ea typeface="KaiTi" panose="02010609060101010101" pitchFamily="49" charset="-122"/>
            </a:endParaRPr>
          </a:p>
        </p:txBody>
      </p:sp>
      <p:sp>
        <p:nvSpPr>
          <p:cNvPr id="122889" name="Line 11"/>
          <p:cNvSpPr>
            <a:spLocks noChangeShapeType="1"/>
          </p:cNvSpPr>
          <p:nvPr/>
        </p:nvSpPr>
        <p:spPr bwMode="auto">
          <a:xfrm>
            <a:off x="4648200" y="3712517"/>
            <a:ext cx="762000" cy="0"/>
          </a:xfrm>
          <a:prstGeom prst="line">
            <a:avLst/>
          </a:prstGeom>
          <a:noFill/>
          <a:ln w="9525">
            <a:solidFill>
              <a:schemeClr val="tx1"/>
            </a:solidFill>
            <a:round/>
            <a:tailEnd type="triangle" w="med" len="med"/>
          </a:ln>
        </p:spPr>
        <p:txBody>
          <a:bodyPr/>
          <a:lstStyle/>
          <a:p>
            <a:endParaRPr lang="zh-CN" altLang="en-US">
              <a:latin typeface="KaiTi" panose="02010609060101010101" pitchFamily="49" charset="-122"/>
              <a:ea typeface="KaiTi" panose="02010609060101010101" pitchFamily="49" charset="-122"/>
            </a:endParaRPr>
          </a:p>
        </p:txBody>
      </p:sp>
      <p:sp>
        <p:nvSpPr>
          <p:cNvPr id="122890" name="Line 12"/>
          <p:cNvSpPr>
            <a:spLocks noChangeShapeType="1"/>
          </p:cNvSpPr>
          <p:nvPr/>
        </p:nvSpPr>
        <p:spPr bwMode="auto">
          <a:xfrm flipH="1">
            <a:off x="6858000" y="3636317"/>
            <a:ext cx="914400" cy="0"/>
          </a:xfrm>
          <a:prstGeom prst="line">
            <a:avLst/>
          </a:prstGeom>
          <a:noFill/>
          <a:ln w="9525">
            <a:solidFill>
              <a:schemeClr val="tx1"/>
            </a:solidFill>
            <a:round/>
            <a:tailEnd type="triangle" w="med" len="med"/>
          </a:ln>
        </p:spPr>
        <p:txBody>
          <a:bodyPr/>
          <a:lstStyle/>
          <a:p>
            <a:endParaRPr lang="zh-CN" altLang="en-US">
              <a:latin typeface="KaiTi" panose="02010609060101010101" pitchFamily="49" charset="-122"/>
              <a:ea typeface="KaiTi" panose="02010609060101010101" pitchFamily="49" charset="-122"/>
            </a:endParaRPr>
          </a:p>
        </p:txBody>
      </p:sp>
      <p:sp>
        <p:nvSpPr>
          <p:cNvPr id="122891" name="Line 13"/>
          <p:cNvSpPr>
            <a:spLocks noChangeShapeType="1"/>
          </p:cNvSpPr>
          <p:nvPr/>
        </p:nvSpPr>
        <p:spPr bwMode="auto">
          <a:xfrm flipV="1">
            <a:off x="3581400" y="1807517"/>
            <a:ext cx="1371600" cy="1600200"/>
          </a:xfrm>
          <a:prstGeom prst="line">
            <a:avLst/>
          </a:prstGeom>
          <a:noFill/>
          <a:ln w="9525">
            <a:solidFill>
              <a:schemeClr val="tx1"/>
            </a:solidFill>
            <a:round/>
          </a:ln>
        </p:spPr>
        <p:txBody>
          <a:bodyPr/>
          <a:lstStyle/>
          <a:p>
            <a:endParaRPr lang="zh-CN" altLang="en-US">
              <a:latin typeface="KaiTi" panose="02010609060101010101" pitchFamily="49" charset="-122"/>
              <a:ea typeface="KaiTi" panose="02010609060101010101" pitchFamily="49" charset="-122"/>
            </a:endParaRPr>
          </a:p>
        </p:txBody>
      </p:sp>
      <p:sp>
        <p:nvSpPr>
          <p:cNvPr id="122892" name="Line 14"/>
          <p:cNvSpPr>
            <a:spLocks noChangeShapeType="1"/>
          </p:cNvSpPr>
          <p:nvPr/>
        </p:nvSpPr>
        <p:spPr bwMode="auto">
          <a:xfrm>
            <a:off x="7239000" y="1807517"/>
            <a:ext cx="1752600" cy="1447800"/>
          </a:xfrm>
          <a:prstGeom prst="line">
            <a:avLst/>
          </a:prstGeom>
          <a:noFill/>
          <a:ln w="9525">
            <a:solidFill>
              <a:schemeClr val="tx1"/>
            </a:solidFill>
            <a:round/>
          </a:ln>
        </p:spPr>
        <p:txBody>
          <a:bodyPr/>
          <a:lstStyle/>
          <a:p>
            <a:endParaRPr lang="zh-CN" altLang="en-US">
              <a:latin typeface="KaiTi" panose="02010609060101010101" pitchFamily="49" charset="-122"/>
              <a:ea typeface="KaiTi" panose="02010609060101010101" pitchFamily="49" charset="-122"/>
            </a:endParaRPr>
          </a:p>
        </p:txBody>
      </p:sp>
      <p:sp>
        <p:nvSpPr>
          <p:cNvPr id="122893" name="Line 15"/>
          <p:cNvSpPr>
            <a:spLocks noChangeShapeType="1"/>
          </p:cNvSpPr>
          <p:nvPr/>
        </p:nvSpPr>
        <p:spPr bwMode="auto">
          <a:xfrm flipH="1">
            <a:off x="7391400" y="4017317"/>
            <a:ext cx="1676400" cy="1295400"/>
          </a:xfrm>
          <a:prstGeom prst="line">
            <a:avLst/>
          </a:prstGeom>
          <a:noFill/>
          <a:ln w="9525">
            <a:solidFill>
              <a:schemeClr val="tx1"/>
            </a:solidFill>
            <a:round/>
          </a:ln>
        </p:spPr>
        <p:txBody>
          <a:bodyPr/>
          <a:lstStyle/>
          <a:p>
            <a:endParaRPr lang="zh-CN" altLang="en-US">
              <a:latin typeface="KaiTi" panose="02010609060101010101" pitchFamily="49" charset="-122"/>
              <a:ea typeface="KaiTi" panose="02010609060101010101" pitchFamily="49" charset="-122"/>
            </a:endParaRPr>
          </a:p>
        </p:txBody>
      </p:sp>
      <p:sp>
        <p:nvSpPr>
          <p:cNvPr id="122894" name="Line 16"/>
          <p:cNvSpPr>
            <a:spLocks noChangeShapeType="1"/>
          </p:cNvSpPr>
          <p:nvPr/>
        </p:nvSpPr>
        <p:spPr bwMode="auto">
          <a:xfrm>
            <a:off x="3581400" y="4017317"/>
            <a:ext cx="1447800" cy="1219200"/>
          </a:xfrm>
          <a:prstGeom prst="line">
            <a:avLst/>
          </a:prstGeom>
          <a:noFill/>
          <a:ln w="9525">
            <a:solidFill>
              <a:schemeClr val="tx1"/>
            </a:solidFill>
            <a:round/>
          </a:ln>
        </p:spPr>
        <p:txBody>
          <a:bodyPr/>
          <a:lstStyle/>
          <a:p>
            <a:endParaRPr lang="zh-CN" altLang="en-US">
              <a:latin typeface="KaiTi" panose="02010609060101010101" pitchFamily="49" charset="-122"/>
              <a:ea typeface="KaiTi" panose="02010609060101010101" pitchFamily="49" charset="-122"/>
            </a:endParaRPr>
          </a:p>
        </p:txBody>
      </p:sp>
      <p:sp>
        <p:nvSpPr>
          <p:cNvPr id="122895" name="Text Box 17"/>
          <p:cNvSpPr txBox="1">
            <a:spLocks noChangeArrowheads="1"/>
          </p:cNvSpPr>
          <p:nvPr/>
        </p:nvSpPr>
        <p:spPr bwMode="auto">
          <a:xfrm>
            <a:off x="1537252" y="6015335"/>
            <a:ext cx="10018644" cy="461665"/>
          </a:xfrm>
          <a:prstGeom prst="rect">
            <a:avLst/>
          </a:prstGeom>
          <a:noFill/>
          <a:ln w="9525">
            <a:noFill/>
            <a:miter lim="800000"/>
          </a:ln>
        </p:spPr>
        <p:txBody>
          <a:bodyPr wrap="square">
            <a:spAutoFit/>
          </a:bodyPr>
          <a:lstStyle/>
          <a:p>
            <a:pPr>
              <a:spcBef>
                <a:spcPct val="50000"/>
              </a:spcBef>
            </a:pPr>
            <a:r>
              <a:rPr lang="zh-CN" altLang="en-US" sz="2400" b="1" dirty="0">
                <a:solidFill>
                  <a:srgbClr val="FFFFFF"/>
                </a:solidFill>
                <a:latin typeface="Garamond" panose="02020404030301010803"/>
                <a:ea typeface="方正姚体" panose="02010601030101010101" charset="-122"/>
              </a:rPr>
              <a:t>（摘自《新经济 新企业 新管理》，芮明杰 等著   上海人民出版社）</a:t>
            </a:r>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核心竞争力与个体素质的冰山模型</a:t>
            </a:r>
          </a:p>
        </p:txBody>
      </p:sp>
      <p:sp>
        <p:nvSpPr>
          <p:cNvPr id="3" name="内容占位符 2"/>
          <p:cNvSpPr>
            <a:spLocks noGrp="1"/>
          </p:cNvSpPr>
          <p:nvPr>
            <p:ph idx="1"/>
          </p:nvPr>
        </p:nvSpPr>
        <p:spPr>
          <a:xfrm>
            <a:off x="1159952" y="1769728"/>
            <a:ext cx="4555048" cy="4913460"/>
          </a:xfrm>
        </p:spPr>
        <p:txBody>
          <a:bodyPr>
            <a:normAutofit fontScale="77500" lnSpcReduction="20000"/>
          </a:bodyPr>
          <a:lstStyle/>
          <a:p>
            <a:r>
              <a:rPr lang="zh-CN" altLang="en-US" dirty="0"/>
              <a:t>冰山模型是</a:t>
            </a:r>
            <a:r>
              <a:rPr lang="zh-CN" altLang="en-US" dirty="0">
                <a:hlinkClick r:id="rId2"/>
              </a:rPr>
              <a:t>美国</a:t>
            </a:r>
            <a:r>
              <a:rPr lang="zh-CN" altLang="en-US" dirty="0"/>
              <a:t>著名</a:t>
            </a:r>
            <a:r>
              <a:rPr lang="zh-CN" altLang="en-US" dirty="0">
                <a:hlinkClick r:id="rId3"/>
              </a:rPr>
              <a:t>心理学家</a:t>
            </a:r>
            <a:r>
              <a:rPr lang="zh-CN" altLang="en-US" dirty="0"/>
              <a:t>麦克利兰于</a:t>
            </a:r>
            <a:r>
              <a:rPr lang="en-US" altLang="zh-CN" dirty="0"/>
              <a:t>1973</a:t>
            </a:r>
            <a:r>
              <a:rPr lang="zh-CN" altLang="en-US" dirty="0"/>
              <a:t>年提出了一个著名的模型，所谓“冰山模型”，就是将人员个体素质的不同表现表式划分为表面的“冰山以上部分”和深藏的“冰山以下部分”。“冰山以上部分”包括知识、</a:t>
            </a:r>
            <a:r>
              <a:rPr lang="zh-CN" altLang="en-US" dirty="0">
                <a:hlinkClick r:id="rId4"/>
              </a:rPr>
              <a:t>技能</a:t>
            </a:r>
            <a:r>
              <a:rPr lang="zh-CN" altLang="en-US" dirty="0"/>
              <a:t>，是外在表现，是容易了解与测量的部分，相对而言也比较容易通过培训来改变和发展。</a:t>
            </a:r>
          </a:p>
          <a:p>
            <a:r>
              <a:rPr lang="zh-CN" altLang="en-US" dirty="0"/>
              <a:t>而“冰山以下部分”包括态度、价值观、基于态度价值观的行为风格、特质和动机，是人内在的、难以测量的部分。它们不太容易通过外界的影响而得到改变，但却对人员的行为与表现起着关键性的作用。</a:t>
            </a:r>
          </a:p>
          <a:p>
            <a:endParaRPr lang="zh-CN" altLang="en-US" dirty="0"/>
          </a:p>
        </p:txBody>
      </p:sp>
      <p:pic>
        <p:nvPicPr>
          <p:cNvPr id="4" name="Picture 2" descr="https://bkimg.cdn.bcebos.com/pic/503d269759ee3d6d27910a5d49166d224e4aded5?x-bce-process=image/watermark,image_d2F0ZXIvYmFpa2U4MA==,g_7,xp_5,yp_5/format,f_aut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7129" y="1553323"/>
            <a:ext cx="5191125"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48008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类比－凝聚的力量</a:t>
            </a:r>
          </a:p>
        </p:txBody>
      </p:sp>
      <p:sp>
        <p:nvSpPr>
          <p:cNvPr id="3" name="内容占位符 2"/>
          <p:cNvSpPr>
            <a:spLocks noGrp="1"/>
          </p:cNvSpPr>
          <p:nvPr>
            <p:ph idx="1"/>
          </p:nvPr>
        </p:nvSpPr>
        <p:spPr/>
        <p:txBody>
          <a:bodyPr>
            <a:normAutofit fontScale="85000" lnSpcReduction="20000"/>
          </a:bodyPr>
          <a:lstStyle/>
          <a:p>
            <a:r>
              <a:rPr lang="zh-CN" altLang="en-US" dirty="0"/>
              <a:t>家国情怀</a:t>
            </a:r>
            <a:endParaRPr lang="en-US" altLang="zh-CN" dirty="0"/>
          </a:p>
          <a:p>
            <a:pPr lvl="1"/>
            <a:r>
              <a:rPr lang="zh-CN" altLang="en-US" dirty="0"/>
              <a:t>动机，发心</a:t>
            </a:r>
            <a:endParaRPr lang="en-US" altLang="zh-CN" dirty="0"/>
          </a:p>
          <a:p>
            <a:r>
              <a:rPr lang="zh-CN" altLang="en-US" dirty="0"/>
              <a:t>积极自信不断进取</a:t>
            </a:r>
            <a:endParaRPr lang="en-US" altLang="zh-CN" dirty="0"/>
          </a:p>
          <a:p>
            <a:pPr lvl="1"/>
            <a:r>
              <a:rPr lang="zh-CN" altLang="en-US" dirty="0"/>
              <a:t>信的力量，做饭、三分天下必有华为</a:t>
            </a:r>
            <a:endParaRPr lang="en-US" altLang="zh-CN" dirty="0"/>
          </a:p>
          <a:p>
            <a:pPr lvl="1"/>
            <a:r>
              <a:rPr lang="zh-CN" altLang="en-US" dirty="0"/>
              <a:t>成长成熟成功成就</a:t>
            </a:r>
            <a:endParaRPr lang="en-US" altLang="zh-CN" dirty="0"/>
          </a:p>
          <a:p>
            <a:r>
              <a:rPr lang="zh-CN" altLang="en-US" dirty="0"/>
              <a:t>学习型组织</a:t>
            </a:r>
            <a:endParaRPr lang="en-US" altLang="zh-CN" dirty="0"/>
          </a:p>
          <a:p>
            <a:pPr lvl="1"/>
            <a:r>
              <a:rPr lang="zh-CN" altLang="en-US" dirty="0"/>
              <a:t>不断学习、自省、开放的精神</a:t>
            </a:r>
            <a:endParaRPr lang="en-US" altLang="zh-CN" dirty="0"/>
          </a:p>
          <a:p>
            <a:r>
              <a:rPr lang="zh-CN" altLang="en-US" dirty="0"/>
              <a:t>企业文化</a:t>
            </a:r>
            <a:endParaRPr lang="en-US" altLang="zh-CN" dirty="0"/>
          </a:p>
          <a:p>
            <a:pPr lvl="1"/>
            <a:r>
              <a:rPr lang="zh-CN" altLang="en-US" dirty="0"/>
              <a:t>艰苦奋斗，坚韧不拔，不堕怠</a:t>
            </a:r>
            <a:endParaRPr lang="en-US" altLang="zh-CN" dirty="0"/>
          </a:p>
          <a:p>
            <a:endParaRPr lang="zh-CN" altLang="en-US" dirty="0"/>
          </a:p>
        </p:txBody>
      </p:sp>
    </p:spTree>
    <p:extLst>
      <p:ext uri="{BB962C8B-B14F-4D97-AF65-F5344CB8AC3E}">
        <p14:creationId xmlns:p14="http://schemas.microsoft.com/office/powerpoint/2010/main" val="5447637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483360" y="873760"/>
            <a:ext cx="9144000" cy="1295400"/>
          </a:xfrm>
        </p:spPr>
        <p:txBody>
          <a:bodyPr/>
          <a:lstStyle/>
          <a:p>
            <a:pPr marL="54864">
              <a:defRPr/>
            </a:pPr>
            <a:r>
              <a:rPr lang="zh-CN" altLang="en-US" sz="4000" dirty="0">
                <a:solidFill>
                  <a:schemeClr val="tx2">
                    <a:tint val="100000"/>
                    <a:shade val="90000"/>
                    <a:satMod val="250000"/>
                    <a:alpha val="100000"/>
                  </a:schemeClr>
                </a:solidFill>
                <a:ea typeface="黑体" pitchFamily="2" charset="-122"/>
              </a:rPr>
              <a:t>价值链分析</a:t>
            </a:r>
            <a:r>
              <a:rPr lang="zh-CN" altLang="en-US" sz="3200" dirty="0">
                <a:solidFill>
                  <a:schemeClr val="tx2">
                    <a:tint val="100000"/>
                    <a:shade val="90000"/>
                    <a:satMod val="250000"/>
                    <a:alpha val="100000"/>
                  </a:schemeClr>
                </a:solidFill>
                <a:ea typeface="黑体" pitchFamily="2" charset="-122"/>
              </a:rPr>
              <a:t>（</a:t>
            </a:r>
            <a:r>
              <a:rPr lang="en-US" altLang="zh-CN" sz="3200" dirty="0">
                <a:solidFill>
                  <a:schemeClr val="tx2">
                    <a:tint val="100000"/>
                    <a:shade val="90000"/>
                    <a:satMod val="250000"/>
                    <a:alpha val="100000"/>
                  </a:schemeClr>
                </a:solidFill>
                <a:ea typeface="黑体" pitchFamily="2" charset="-122"/>
              </a:rPr>
              <a:t>Value Chain Analysis</a:t>
            </a:r>
            <a:r>
              <a:rPr lang="zh-CN" altLang="en-US" sz="3200" dirty="0">
                <a:solidFill>
                  <a:schemeClr val="tx2">
                    <a:tint val="100000"/>
                    <a:shade val="90000"/>
                    <a:satMod val="250000"/>
                    <a:alpha val="100000"/>
                  </a:schemeClr>
                </a:solidFill>
                <a:ea typeface="黑体" pitchFamily="2" charset="-122"/>
              </a:rPr>
              <a:t>）</a:t>
            </a:r>
          </a:p>
        </p:txBody>
      </p:sp>
      <p:sp>
        <p:nvSpPr>
          <p:cNvPr id="94210" name="Rectangle 3"/>
          <p:cNvSpPr>
            <a:spLocks noGrp="1" noChangeArrowheads="1"/>
          </p:cNvSpPr>
          <p:nvPr>
            <p:ph idx="1"/>
          </p:nvPr>
        </p:nvSpPr>
        <p:spPr>
          <a:xfrm>
            <a:off x="1669774" y="1209883"/>
            <a:ext cx="9144000" cy="4968875"/>
          </a:xfrm>
        </p:spPr>
        <p:txBody>
          <a:bodyPr>
            <a:normAutofit fontScale="92500" lnSpcReduction="20000"/>
          </a:bodyPr>
          <a:lstStyle/>
          <a:p>
            <a:pPr>
              <a:buFont typeface="Wingdings" pitchFamily="2" charset="2"/>
              <a:buNone/>
            </a:pPr>
            <a:r>
              <a:rPr lang="zh-CN" altLang="en-US" sz="2800" b="1" dirty="0"/>
              <a:t>何谓价值链</a:t>
            </a:r>
          </a:p>
          <a:p>
            <a:r>
              <a:rPr lang="zh-CN" altLang="en-US" sz="2800" b="1" dirty="0"/>
              <a:t>是指企业所从事的各种活动：设计、生产、营销、储运及支持性活动的集合体。它由价值活动和利润两部分组成。   美国管理学家迈克尔</a:t>
            </a:r>
            <a:r>
              <a:rPr lang="en-US" altLang="zh-CN" sz="2800" b="1" dirty="0">
                <a:latin typeface="宋体" charset="-122"/>
              </a:rPr>
              <a:t>•</a:t>
            </a:r>
            <a:r>
              <a:rPr lang="zh-CN" altLang="en-US" sz="2800" b="1" dirty="0"/>
              <a:t>波特在</a:t>
            </a:r>
            <a:r>
              <a:rPr lang="en-US" altLang="zh-CN" sz="2800" b="1" dirty="0"/>
              <a:t>《</a:t>
            </a:r>
            <a:r>
              <a:rPr lang="zh-CN" altLang="en-US" sz="2800" b="1" dirty="0"/>
              <a:t>竞争战略</a:t>
            </a:r>
            <a:r>
              <a:rPr lang="en-US" altLang="zh-CN" sz="2800" b="1" dirty="0"/>
              <a:t>》</a:t>
            </a:r>
            <a:r>
              <a:rPr lang="zh-CN" altLang="en-US" sz="2800" b="1" dirty="0"/>
              <a:t>一书中，运用价值链分析法揭示出企业之间竞争力的差异在于各自的价值链不同。</a:t>
            </a:r>
            <a:endParaRPr lang="en-US" altLang="zh-CN" sz="2800" b="1" dirty="0"/>
          </a:p>
          <a:p>
            <a:r>
              <a:rPr lang="zh-CN" altLang="en-US" sz="2800" b="1" dirty="0"/>
              <a:t>比如理想和比亚迪</a:t>
            </a:r>
            <a:endParaRPr lang="en-US" altLang="zh-CN" sz="2800" b="1" dirty="0"/>
          </a:p>
          <a:p>
            <a:r>
              <a:rPr lang="zh-CN" altLang="en-US" sz="2800" b="1" dirty="0"/>
              <a:t>价值链分析，基于还原论，即分析分解的方法论，通过价值链分析在更具体细微的层面了解企业的优势和劣势。</a:t>
            </a:r>
            <a:endParaRPr lang="en-US" altLang="zh-CN" sz="2800" b="1" dirty="0"/>
          </a:p>
          <a:p>
            <a:pPr>
              <a:buNone/>
            </a:pPr>
            <a:r>
              <a:rPr lang="en-US" altLang="zh-CN" sz="2800" b="1" dirty="0"/>
              <a:t>	</a:t>
            </a:r>
            <a:endParaRPr lang="zh-CN" altLang="en-US" sz="2800" b="1" dirty="0"/>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4141789" y="589308"/>
            <a:ext cx="8229600" cy="1143000"/>
          </a:xfrm>
        </p:spPr>
        <p:txBody>
          <a:bodyPr/>
          <a:lstStyle/>
          <a:p>
            <a:pPr marL="54864" algn="l">
              <a:defRPr/>
            </a:pPr>
            <a:r>
              <a:rPr lang="zh-CN" altLang="en-US" dirty="0">
                <a:solidFill>
                  <a:schemeClr val="accent6">
                    <a:lumMod val="50000"/>
                  </a:schemeClr>
                </a:solidFill>
                <a:ea typeface="黑体" pitchFamily="2" charset="-122"/>
                <a:cs typeface="+mj-cs"/>
              </a:rPr>
              <a:t>价值链</a:t>
            </a:r>
          </a:p>
        </p:txBody>
      </p:sp>
      <p:grpSp>
        <p:nvGrpSpPr>
          <p:cNvPr id="2" name="组合 1">
            <a:extLst>
              <a:ext uri="{FF2B5EF4-FFF2-40B4-BE49-F238E27FC236}">
                <a16:creationId xmlns:a16="http://schemas.microsoft.com/office/drawing/2014/main" id="{E93D94FF-0F95-E24D-829D-48ED72E8384D}"/>
              </a:ext>
            </a:extLst>
          </p:cNvPr>
          <p:cNvGrpSpPr/>
          <p:nvPr/>
        </p:nvGrpSpPr>
        <p:grpSpPr>
          <a:xfrm>
            <a:off x="2424113" y="1289395"/>
            <a:ext cx="7559676" cy="4681538"/>
            <a:chOff x="2424113" y="1700213"/>
            <a:chExt cx="7559676" cy="4681538"/>
          </a:xfrm>
        </p:grpSpPr>
        <p:sp>
          <p:nvSpPr>
            <p:cNvPr id="97282" name="Line 4"/>
            <p:cNvSpPr>
              <a:spLocks noChangeShapeType="1"/>
            </p:cNvSpPr>
            <p:nvPr/>
          </p:nvSpPr>
          <p:spPr bwMode="auto">
            <a:xfrm>
              <a:off x="2424113" y="1700213"/>
              <a:ext cx="6767512" cy="0"/>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3" name="Line 5"/>
            <p:cNvSpPr>
              <a:spLocks noChangeShapeType="1"/>
            </p:cNvSpPr>
            <p:nvPr/>
          </p:nvSpPr>
          <p:spPr bwMode="auto">
            <a:xfrm>
              <a:off x="9191626" y="1700213"/>
              <a:ext cx="792163" cy="2233612"/>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4" name="Line 6"/>
            <p:cNvSpPr>
              <a:spLocks noChangeShapeType="1"/>
            </p:cNvSpPr>
            <p:nvPr/>
          </p:nvSpPr>
          <p:spPr bwMode="auto">
            <a:xfrm flipH="1">
              <a:off x="9264650" y="3933826"/>
              <a:ext cx="719138" cy="2447925"/>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5" name="Line 7"/>
            <p:cNvSpPr>
              <a:spLocks noChangeShapeType="1"/>
            </p:cNvSpPr>
            <p:nvPr/>
          </p:nvSpPr>
          <p:spPr bwMode="auto">
            <a:xfrm>
              <a:off x="2424113" y="1700214"/>
              <a:ext cx="0" cy="4681537"/>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6" name="Line 8"/>
            <p:cNvSpPr>
              <a:spLocks noChangeShapeType="1"/>
            </p:cNvSpPr>
            <p:nvPr/>
          </p:nvSpPr>
          <p:spPr bwMode="auto">
            <a:xfrm>
              <a:off x="2424114" y="6381750"/>
              <a:ext cx="6840537" cy="0"/>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7" name="Line 9"/>
            <p:cNvSpPr>
              <a:spLocks noChangeShapeType="1"/>
            </p:cNvSpPr>
            <p:nvPr/>
          </p:nvSpPr>
          <p:spPr bwMode="auto">
            <a:xfrm flipV="1">
              <a:off x="2424114" y="3933825"/>
              <a:ext cx="7559675" cy="0"/>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8" name="Line 10"/>
            <p:cNvSpPr>
              <a:spLocks noChangeShapeType="1"/>
            </p:cNvSpPr>
            <p:nvPr/>
          </p:nvSpPr>
          <p:spPr bwMode="auto">
            <a:xfrm>
              <a:off x="8759826" y="1700213"/>
              <a:ext cx="792163" cy="2233612"/>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9" name="Line 11"/>
            <p:cNvSpPr>
              <a:spLocks noChangeShapeType="1"/>
            </p:cNvSpPr>
            <p:nvPr/>
          </p:nvSpPr>
          <p:spPr bwMode="auto">
            <a:xfrm flipH="1">
              <a:off x="8832850" y="3933826"/>
              <a:ext cx="719138" cy="2447925"/>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90" name="Text Box 12"/>
            <p:cNvSpPr txBox="1">
              <a:spLocks noChangeArrowheads="1"/>
            </p:cNvSpPr>
            <p:nvPr/>
          </p:nvSpPr>
          <p:spPr bwMode="auto">
            <a:xfrm>
              <a:off x="9048751" y="2133601"/>
              <a:ext cx="576263" cy="830263"/>
            </a:xfrm>
            <a:prstGeom prst="rect">
              <a:avLst/>
            </a:prstGeom>
            <a:noFill/>
            <a:ln w="9525">
              <a:noFill/>
              <a:miter lim="800000"/>
              <a:headEnd/>
              <a:tailEnd/>
            </a:ln>
          </p:spPr>
          <p:txBody>
            <a:bodyPr>
              <a:spAutoFit/>
            </a:bodyPr>
            <a:lstStyle/>
            <a:p>
              <a:pPr>
                <a:spcBef>
                  <a:spcPct val="50000"/>
                </a:spcBef>
              </a:pPr>
              <a:r>
                <a:rPr lang="zh-CN" altLang="en-US" sz="2400" b="1">
                  <a:solidFill>
                    <a:schemeClr val="accent6">
                      <a:lumMod val="50000"/>
                    </a:schemeClr>
                  </a:solidFill>
                  <a:latin typeface="Garamond"/>
                  <a:ea typeface="KaiTi" panose="02010609060101010101" pitchFamily="49" charset="-122"/>
                </a:rPr>
                <a:t>利润</a:t>
              </a:r>
            </a:p>
          </p:txBody>
        </p:sp>
        <p:sp>
          <p:nvSpPr>
            <p:cNvPr id="97291" name="Text Box 13"/>
            <p:cNvSpPr txBox="1">
              <a:spLocks noChangeArrowheads="1"/>
            </p:cNvSpPr>
            <p:nvPr/>
          </p:nvSpPr>
          <p:spPr bwMode="auto">
            <a:xfrm>
              <a:off x="9120189" y="4724401"/>
              <a:ext cx="503237" cy="830263"/>
            </a:xfrm>
            <a:prstGeom prst="rect">
              <a:avLst/>
            </a:prstGeom>
            <a:noFill/>
            <a:ln w="9525">
              <a:noFill/>
              <a:miter lim="800000"/>
              <a:headEnd/>
              <a:tailEnd/>
            </a:ln>
          </p:spPr>
          <p:txBody>
            <a:bodyPr>
              <a:spAutoFit/>
            </a:bodyPr>
            <a:lstStyle/>
            <a:p>
              <a:pPr>
                <a:spcBef>
                  <a:spcPct val="50000"/>
                </a:spcBef>
              </a:pPr>
              <a:r>
                <a:rPr lang="zh-CN" altLang="en-US" sz="2400" b="1">
                  <a:solidFill>
                    <a:schemeClr val="accent6">
                      <a:lumMod val="50000"/>
                    </a:schemeClr>
                  </a:solidFill>
                  <a:latin typeface="Garamond"/>
                  <a:ea typeface="KaiTi" panose="02010609060101010101" pitchFamily="49" charset="-122"/>
                </a:rPr>
                <a:t>利润</a:t>
              </a:r>
            </a:p>
          </p:txBody>
        </p:sp>
        <p:sp>
          <p:nvSpPr>
            <p:cNvPr id="97292" name="Line 14"/>
            <p:cNvSpPr>
              <a:spLocks noChangeShapeType="1"/>
            </p:cNvSpPr>
            <p:nvPr/>
          </p:nvSpPr>
          <p:spPr bwMode="auto">
            <a:xfrm>
              <a:off x="2424114" y="2420939"/>
              <a:ext cx="6624637" cy="71437"/>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93" name="Line 15"/>
            <p:cNvSpPr>
              <a:spLocks noChangeShapeType="1"/>
            </p:cNvSpPr>
            <p:nvPr/>
          </p:nvSpPr>
          <p:spPr bwMode="auto">
            <a:xfrm>
              <a:off x="2424114" y="3213100"/>
              <a:ext cx="6840537" cy="0"/>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94" name="Line 16"/>
            <p:cNvSpPr>
              <a:spLocks noChangeShapeType="1"/>
            </p:cNvSpPr>
            <p:nvPr/>
          </p:nvSpPr>
          <p:spPr bwMode="auto">
            <a:xfrm>
              <a:off x="2424114" y="4652963"/>
              <a:ext cx="6911975" cy="0"/>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95" name="Line 17"/>
            <p:cNvSpPr>
              <a:spLocks noChangeShapeType="1"/>
            </p:cNvSpPr>
            <p:nvPr/>
          </p:nvSpPr>
          <p:spPr bwMode="auto">
            <a:xfrm>
              <a:off x="3648075" y="4652964"/>
              <a:ext cx="0" cy="720725"/>
            </a:xfrm>
            <a:prstGeom prst="line">
              <a:avLst/>
            </a:prstGeom>
            <a:noFill/>
            <a:ln w="9525">
              <a:solidFill>
                <a:schemeClr val="bg1"/>
              </a:solidFill>
              <a:prstDash val="dash"/>
              <a:round/>
              <a:headEnd/>
              <a:tailEnd/>
            </a:ln>
          </p:spPr>
          <p:txBody>
            <a:bodyPr/>
            <a:lstStyle/>
            <a:p>
              <a:endParaRPr lang="zh-CN" altLang="en-US">
                <a:solidFill>
                  <a:schemeClr val="accent6">
                    <a:lumMod val="50000"/>
                  </a:schemeClr>
                </a:solidFill>
              </a:endParaRPr>
            </a:p>
          </p:txBody>
        </p:sp>
        <p:sp>
          <p:nvSpPr>
            <p:cNvPr id="97296" name="Line 18"/>
            <p:cNvSpPr>
              <a:spLocks noChangeShapeType="1"/>
            </p:cNvSpPr>
            <p:nvPr/>
          </p:nvSpPr>
          <p:spPr bwMode="auto">
            <a:xfrm>
              <a:off x="5087938" y="4652964"/>
              <a:ext cx="0" cy="720725"/>
            </a:xfrm>
            <a:prstGeom prst="line">
              <a:avLst/>
            </a:prstGeom>
            <a:noFill/>
            <a:ln w="9525">
              <a:solidFill>
                <a:schemeClr val="bg1"/>
              </a:solidFill>
              <a:prstDash val="dash"/>
              <a:round/>
              <a:headEnd/>
              <a:tailEnd/>
            </a:ln>
          </p:spPr>
          <p:txBody>
            <a:bodyPr/>
            <a:lstStyle/>
            <a:p>
              <a:endParaRPr lang="zh-CN" altLang="en-US">
                <a:solidFill>
                  <a:schemeClr val="accent6">
                    <a:lumMod val="50000"/>
                  </a:schemeClr>
                </a:solidFill>
              </a:endParaRPr>
            </a:p>
          </p:txBody>
        </p:sp>
        <p:sp>
          <p:nvSpPr>
            <p:cNvPr id="97297" name="Line 19"/>
            <p:cNvSpPr>
              <a:spLocks noChangeShapeType="1"/>
            </p:cNvSpPr>
            <p:nvPr/>
          </p:nvSpPr>
          <p:spPr bwMode="auto">
            <a:xfrm>
              <a:off x="6527800" y="4652964"/>
              <a:ext cx="0" cy="720725"/>
            </a:xfrm>
            <a:prstGeom prst="line">
              <a:avLst/>
            </a:prstGeom>
            <a:noFill/>
            <a:ln w="9525">
              <a:solidFill>
                <a:schemeClr val="bg1"/>
              </a:solidFill>
              <a:prstDash val="dash"/>
              <a:round/>
              <a:headEnd/>
              <a:tailEnd/>
            </a:ln>
          </p:spPr>
          <p:txBody>
            <a:bodyPr/>
            <a:lstStyle/>
            <a:p>
              <a:endParaRPr lang="zh-CN" altLang="en-US">
                <a:solidFill>
                  <a:schemeClr val="accent6">
                    <a:lumMod val="50000"/>
                  </a:schemeClr>
                </a:solidFill>
              </a:endParaRPr>
            </a:p>
          </p:txBody>
        </p:sp>
        <p:sp>
          <p:nvSpPr>
            <p:cNvPr id="97298" name="Line 20"/>
            <p:cNvSpPr>
              <a:spLocks noChangeShapeType="1"/>
            </p:cNvSpPr>
            <p:nvPr/>
          </p:nvSpPr>
          <p:spPr bwMode="auto">
            <a:xfrm>
              <a:off x="7896225" y="4652964"/>
              <a:ext cx="0" cy="720725"/>
            </a:xfrm>
            <a:prstGeom prst="line">
              <a:avLst/>
            </a:prstGeom>
            <a:noFill/>
            <a:ln w="9525">
              <a:solidFill>
                <a:schemeClr val="bg1"/>
              </a:solidFill>
              <a:prstDash val="dash"/>
              <a:round/>
              <a:headEnd/>
              <a:tailEnd/>
            </a:ln>
          </p:spPr>
          <p:txBody>
            <a:bodyPr/>
            <a:lstStyle/>
            <a:p>
              <a:endParaRPr lang="zh-CN" altLang="en-US">
                <a:solidFill>
                  <a:schemeClr val="accent6">
                    <a:lumMod val="50000"/>
                  </a:schemeClr>
                </a:solidFill>
              </a:endParaRPr>
            </a:p>
          </p:txBody>
        </p:sp>
        <p:sp>
          <p:nvSpPr>
            <p:cNvPr id="67605" name="Text Box 21"/>
            <p:cNvSpPr txBox="1">
              <a:spLocks noChangeArrowheads="1"/>
            </p:cNvSpPr>
            <p:nvPr/>
          </p:nvSpPr>
          <p:spPr bwMode="auto">
            <a:xfrm>
              <a:off x="3863976" y="1773238"/>
              <a:ext cx="4392613" cy="519112"/>
            </a:xfrm>
            <a:prstGeom prst="rect">
              <a:avLst/>
            </a:prstGeom>
            <a:noFill/>
            <a:ln w="9525">
              <a:noFill/>
              <a:miter lim="800000"/>
              <a:headEnd/>
              <a:tailEnd/>
            </a:ln>
            <a:effectLst/>
          </p:spPr>
          <p:txBody>
            <a:bodyPr>
              <a:spAutoFit/>
            </a:bodyPr>
            <a:lstStyle/>
            <a:p>
              <a:pPr>
                <a:spcBef>
                  <a:spcPct val="50000"/>
                </a:spcBef>
                <a:defRPr/>
              </a:pPr>
              <a:r>
                <a:rPr lang="zh-CN" altLang="en-US" sz="2800" b="1" dirty="0">
                  <a:solidFill>
                    <a:schemeClr val="accent6">
                      <a:lumMod val="50000"/>
                    </a:schemeClr>
                  </a:solidFill>
                  <a:effectLst>
                    <a:outerShdw blurRad="38100" dist="38100" dir="2700000" algn="tl">
                      <a:srgbClr val="C0C0C0"/>
                    </a:outerShdw>
                  </a:effectLst>
                  <a:latin typeface="Garamond" pitchFamily="18" charset="0"/>
                </a:rPr>
                <a:t>  企业基础设施（管理）</a:t>
              </a:r>
            </a:p>
          </p:txBody>
        </p:sp>
        <p:sp>
          <p:nvSpPr>
            <p:cNvPr id="67606" name="Text Box 22"/>
            <p:cNvSpPr txBox="1">
              <a:spLocks noChangeArrowheads="1"/>
            </p:cNvSpPr>
            <p:nvPr/>
          </p:nvSpPr>
          <p:spPr bwMode="auto">
            <a:xfrm>
              <a:off x="3863976" y="2565401"/>
              <a:ext cx="5184775" cy="519113"/>
            </a:xfrm>
            <a:prstGeom prst="rect">
              <a:avLst/>
            </a:prstGeom>
            <a:noFill/>
            <a:ln w="9525">
              <a:noFill/>
              <a:miter lim="800000"/>
              <a:headEnd/>
              <a:tailEnd/>
            </a:ln>
            <a:effectLst/>
          </p:spPr>
          <p:txBody>
            <a:bodyPr>
              <a:spAutoFit/>
            </a:bodyPr>
            <a:lstStyle/>
            <a:p>
              <a:pPr>
                <a:spcBef>
                  <a:spcPct val="50000"/>
                </a:spcBef>
                <a:defRPr/>
              </a:pPr>
              <a:r>
                <a:rPr lang="zh-CN" altLang="en-US" sz="2800" b="1">
                  <a:solidFill>
                    <a:schemeClr val="accent6">
                      <a:lumMod val="50000"/>
                    </a:schemeClr>
                  </a:solidFill>
                  <a:effectLst>
                    <a:outerShdw blurRad="38100" dist="38100" dir="2700000" algn="tl">
                      <a:srgbClr val="C0C0C0"/>
                    </a:outerShdw>
                  </a:effectLst>
                  <a:latin typeface="Garamond" pitchFamily="18" charset="0"/>
                </a:rPr>
                <a:t>  人力资源管理</a:t>
              </a:r>
            </a:p>
          </p:txBody>
        </p:sp>
        <p:sp>
          <p:nvSpPr>
            <p:cNvPr id="67607" name="Text Box 23"/>
            <p:cNvSpPr txBox="1">
              <a:spLocks noChangeArrowheads="1"/>
            </p:cNvSpPr>
            <p:nvPr/>
          </p:nvSpPr>
          <p:spPr bwMode="auto">
            <a:xfrm>
              <a:off x="4079875" y="3357563"/>
              <a:ext cx="4248150" cy="519112"/>
            </a:xfrm>
            <a:prstGeom prst="rect">
              <a:avLst/>
            </a:prstGeom>
            <a:noFill/>
            <a:ln w="9525">
              <a:noFill/>
              <a:miter lim="800000"/>
              <a:headEnd/>
              <a:tailEnd/>
            </a:ln>
            <a:effectLst/>
          </p:spPr>
          <p:txBody>
            <a:bodyPr>
              <a:spAutoFit/>
            </a:bodyPr>
            <a:lstStyle/>
            <a:p>
              <a:pPr>
                <a:spcBef>
                  <a:spcPct val="50000"/>
                </a:spcBef>
                <a:defRPr/>
              </a:pPr>
              <a:r>
                <a:rPr lang="zh-CN" altLang="en-US" sz="2800" b="1">
                  <a:solidFill>
                    <a:schemeClr val="accent6">
                      <a:lumMod val="50000"/>
                    </a:schemeClr>
                  </a:solidFill>
                  <a:effectLst>
                    <a:outerShdw blurRad="38100" dist="38100" dir="2700000" algn="tl">
                      <a:srgbClr val="C0C0C0"/>
                    </a:outerShdw>
                  </a:effectLst>
                  <a:latin typeface="Garamond" pitchFamily="18" charset="0"/>
                </a:rPr>
                <a:t>  技术开发</a:t>
              </a:r>
            </a:p>
          </p:txBody>
        </p:sp>
        <p:sp>
          <p:nvSpPr>
            <p:cNvPr id="67608" name="Text Box 24"/>
            <p:cNvSpPr txBox="1">
              <a:spLocks noChangeArrowheads="1"/>
            </p:cNvSpPr>
            <p:nvPr/>
          </p:nvSpPr>
          <p:spPr bwMode="auto">
            <a:xfrm>
              <a:off x="4367213" y="4076701"/>
              <a:ext cx="5111750" cy="519113"/>
            </a:xfrm>
            <a:prstGeom prst="rect">
              <a:avLst/>
            </a:prstGeom>
            <a:noFill/>
            <a:ln w="9525">
              <a:noFill/>
              <a:miter lim="800000"/>
              <a:headEnd/>
              <a:tailEnd/>
            </a:ln>
            <a:effectLst/>
          </p:spPr>
          <p:txBody>
            <a:bodyPr>
              <a:spAutoFit/>
            </a:bodyPr>
            <a:lstStyle/>
            <a:p>
              <a:pPr>
                <a:spcBef>
                  <a:spcPct val="50000"/>
                </a:spcBef>
                <a:defRPr/>
              </a:pPr>
              <a:r>
                <a:rPr lang="zh-CN" altLang="en-US" sz="2800" b="1">
                  <a:solidFill>
                    <a:schemeClr val="accent6">
                      <a:lumMod val="50000"/>
                    </a:schemeClr>
                  </a:solidFill>
                  <a:effectLst>
                    <a:outerShdw blurRad="38100" dist="38100" dir="2700000" algn="tl">
                      <a:srgbClr val="C0C0C0"/>
                    </a:outerShdw>
                  </a:effectLst>
                  <a:latin typeface="Garamond" pitchFamily="18" charset="0"/>
                </a:rPr>
                <a:t>采  购</a:t>
              </a:r>
            </a:p>
          </p:txBody>
        </p:sp>
        <p:sp>
          <p:nvSpPr>
            <p:cNvPr id="97303" name="Text Box 25"/>
            <p:cNvSpPr txBox="1">
              <a:spLocks noChangeArrowheads="1"/>
            </p:cNvSpPr>
            <p:nvPr/>
          </p:nvSpPr>
          <p:spPr bwMode="auto">
            <a:xfrm>
              <a:off x="2566989" y="4797426"/>
              <a:ext cx="1368425" cy="1160463"/>
            </a:xfrm>
            <a:prstGeom prst="rect">
              <a:avLst/>
            </a:prstGeom>
            <a:noFill/>
            <a:ln w="9525">
              <a:noFill/>
              <a:miter lim="800000"/>
              <a:headEnd/>
              <a:tailEnd/>
            </a:ln>
          </p:spPr>
          <p:txBody>
            <a:bodyPr>
              <a:spAutoFit/>
            </a:bodyPr>
            <a:lstStyle/>
            <a:p>
              <a:pPr>
                <a:spcBef>
                  <a:spcPct val="50000"/>
                </a:spcBef>
              </a:pPr>
              <a:r>
                <a:rPr lang="zh-CN" altLang="en-US" sz="2800" b="1">
                  <a:solidFill>
                    <a:schemeClr val="accent6">
                      <a:lumMod val="50000"/>
                    </a:schemeClr>
                  </a:solidFill>
                  <a:latin typeface="Garamond"/>
                  <a:ea typeface="KaiTi" panose="02010609060101010101" pitchFamily="49" charset="-122"/>
                </a:rPr>
                <a:t>内部</a:t>
              </a:r>
            </a:p>
            <a:p>
              <a:pPr>
                <a:spcBef>
                  <a:spcPct val="50000"/>
                </a:spcBef>
              </a:pPr>
              <a:r>
                <a:rPr lang="zh-CN" altLang="en-US" sz="2800" b="1">
                  <a:solidFill>
                    <a:schemeClr val="accent6">
                      <a:lumMod val="50000"/>
                    </a:schemeClr>
                  </a:solidFill>
                  <a:latin typeface="Garamond"/>
                  <a:ea typeface="KaiTi" panose="02010609060101010101" pitchFamily="49" charset="-122"/>
                </a:rPr>
                <a:t>后勤</a:t>
              </a:r>
            </a:p>
          </p:txBody>
        </p:sp>
        <p:sp>
          <p:nvSpPr>
            <p:cNvPr id="97304" name="Text Box 26"/>
            <p:cNvSpPr txBox="1">
              <a:spLocks noChangeArrowheads="1"/>
            </p:cNvSpPr>
            <p:nvPr/>
          </p:nvSpPr>
          <p:spPr bwMode="auto">
            <a:xfrm>
              <a:off x="3935414" y="4868863"/>
              <a:ext cx="1081087" cy="1160462"/>
            </a:xfrm>
            <a:prstGeom prst="rect">
              <a:avLst/>
            </a:prstGeom>
            <a:noFill/>
            <a:ln w="9525">
              <a:noFill/>
              <a:miter lim="800000"/>
              <a:headEnd/>
              <a:tailEnd/>
            </a:ln>
          </p:spPr>
          <p:txBody>
            <a:bodyPr>
              <a:spAutoFit/>
            </a:bodyPr>
            <a:lstStyle/>
            <a:p>
              <a:pPr>
                <a:spcBef>
                  <a:spcPct val="50000"/>
                </a:spcBef>
              </a:pPr>
              <a:r>
                <a:rPr lang="zh-CN" altLang="en-US" sz="2800" b="1">
                  <a:solidFill>
                    <a:schemeClr val="accent6">
                      <a:lumMod val="50000"/>
                    </a:schemeClr>
                  </a:solidFill>
                  <a:latin typeface="Garamond"/>
                  <a:ea typeface="KaiTi" panose="02010609060101010101" pitchFamily="49" charset="-122"/>
                </a:rPr>
                <a:t>生产</a:t>
              </a:r>
            </a:p>
            <a:p>
              <a:pPr>
                <a:spcBef>
                  <a:spcPct val="50000"/>
                </a:spcBef>
              </a:pPr>
              <a:r>
                <a:rPr lang="zh-CN" altLang="en-US" sz="2800" b="1">
                  <a:solidFill>
                    <a:schemeClr val="accent6">
                      <a:lumMod val="50000"/>
                    </a:schemeClr>
                  </a:solidFill>
                  <a:latin typeface="Garamond"/>
                  <a:ea typeface="KaiTi" panose="02010609060101010101" pitchFamily="49" charset="-122"/>
                </a:rPr>
                <a:t>作业</a:t>
              </a:r>
            </a:p>
          </p:txBody>
        </p:sp>
        <p:sp>
          <p:nvSpPr>
            <p:cNvPr id="97305" name="Text Box 27"/>
            <p:cNvSpPr txBox="1">
              <a:spLocks noChangeArrowheads="1"/>
            </p:cNvSpPr>
            <p:nvPr/>
          </p:nvSpPr>
          <p:spPr bwMode="auto">
            <a:xfrm>
              <a:off x="6672263" y="4868863"/>
              <a:ext cx="1223962" cy="1160462"/>
            </a:xfrm>
            <a:prstGeom prst="rect">
              <a:avLst/>
            </a:prstGeom>
            <a:noFill/>
            <a:ln w="9525">
              <a:noFill/>
              <a:miter lim="800000"/>
              <a:headEnd/>
              <a:tailEnd/>
            </a:ln>
          </p:spPr>
          <p:txBody>
            <a:bodyPr>
              <a:spAutoFit/>
            </a:bodyPr>
            <a:lstStyle/>
            <a:p>
              <a:pPr>
                <a:spcBef>
                  <a:spcPct val="50000"/>
                </a:spcBef>
              </a:pPr>
              <a:r>
                <a:rPr lang="zh-CN" altLang="en-US" sz="2800" b="1">
                  <a:solidFill>
                    <a:schemeClr val="accent6">
                      <a:lumMod val="50000"/>
                    </a:schemeClr>
                  </a:solidFill>
                  <a:latin typeface="Garamond"/>
                  <a:ea typeface="KaiTi" panose="02010609060101010101" pitchFamily="49" charset="-122"/>
                </a:rPr>
                <a:t>市场</a:t>
              </a:r>
            </a:p>
            <a:p>
              <a:pPr>
                <a:spcBef>
                  <a:spcPct val="50000"/>
                </a:spcBef>
              </a:pPr>
              <a:r>
                <a:rPr lang="zh-CN" altLang="en-US" sz="2800" b="1">
                  <a:solidFill>
                    <a:schemeClr val="accent6">
                      <a:lumMod val="50000"/>
                    </a:schemeClr>
                  </a:solidFill>
                  <a:latin typeface="Garamond"/>
                  <a:ea typeface="KaiTi" panose="02010609060101010101" pitchFamily="49" charset="-122"/>
                </a:rPr>
                <a:t>营销</a:t>
              </a:r>
            </a:p>
          </p:txBody>
        </p:sp>
        <p:sp>
          <p:nvSpPr>
            <p:cNvPr id="97306" name="Text Box 29"/>
            <p:cNvSpPr txBox="1">
              <a:spLocks noChangeArrowheads="1"/>
            </p:cNvSpPr>
            <p:nvPr/>
          </p:nvSpPr>
          <p:spPr bwMode="auto">
            <a:xfrm>
              <a:off x="8112126" y="4797426"/>
              <a:ext cx="1008063" cy="1160463"/>
            </a:xfrm>
            <a:prstGeom prst="rect">
              <a:avLst/>
            </a:prstGeom>
            <a:noFill/>
            <a:ln w="9525">
              <a:noFill/>
              <a:miter lim="800000"/>
              <a:headEnd/>
              <a:tailEnd/>
            </a:ln>
          </p:spPr>
          <p:txBody>
            <a:bodyPr>
              <a:spAutoFit/>
            </a:bodyPr>
            <a:lstStyle/>
            <a:p>
              <a:pPr>
                <a:spcBef>
                  <a:spcPct val="50000"/>
                </a:spcBef>
              </a:pPr>
              <a:r>
                <a:rPr lang="zh-CN" altLang="en-US" sz="2800" b="1">
                  <a:solidFill>
                    <a:schemeClr val="accent6">
                      <a:lumMod val="50000"/>
                    </a:schemeClr>
                  </a:solidFill>
                  <a:latin typeface="Garamond"/>
                  <a:ea typeface="KaiTi" panose="02010609060101010101" pitchFamily="49" charset="-122"/>
                </a:rPr>
                <a:t>服</a:t>
              </a:r>
            </a:p>
            <a:p>
              <a:pPr>
                <a:spcBef>
                  <a:spcPct val="50000"/>
                </a:spcBef>
              </a:pPr>
              <a:r>
                <a:rPr lang="zh-CN" altLang="en-US" sz="2800" b="1">
                  <a:solidFill>
                    <a:schemeClr val="accent6">
                      <a:lumMod val="50000"/>
                    </a:schemeClr>
                  </a:solidFill>
                  <a:latin typeface="Garamond"/>
                  <a:ea typeface="KaiTi" panose="02010609060101010101" pitchFamily="49" charset="-122"/>
                </a:rPr>
                <a:t>务</a:t>
              </a:r>
            </a:p>
          </p:txBody>
        </p:sp>
        <p:sp>
          <p:nvSpPr>
            <p:cNvPr id="97307" name="Text Box 31"/>
            <p:cNvSpPr txBox="1">
              <a:spLocks noChangeArrowheads="1"/>
            </p:cNvSpPr>
            <p:nvPr/>
          </p:nvSpPr>
          <p:spPr bwMode="auto">
            <a:xfrm>
              <a:off x="5303838" y="4868863"/>
              <a:ext cx="1223962" cy="1160462"/>
            </a:xfrm>
            <a:prstGeom prst="rect">
              <a:avLst/>
            </a:prstGeom>
            <a:noFill/>
            <a:ln w="9525">
              <a:noFill/>
              <a:miter lim="800000"/>
              <a:headEnd/>
              <a:tailEnd/>
            </a:ln>
          </p:spPr>
          <p:txBody>
            <a:bodyPr>
              <a:spAutoFit/>
            </a:bodyPr>
            <a:lstStyle/>
            <a:p>
              <a:pPr>
                <a:spcBef>
                  <a:spcPct val="50000"/>
                </a:spcBef>
              </a:pPr>
              <a:r>
                <a:rPr lang="zh-CN" altLang="en-US" sz="2800" b="1">
                  <a:solidFill>
                    <a:schemeClr val="accent6">
                      <a:lumMod val="50000"/>
                    </a:schemeClr>
                  </a:solidFill>
                  <a:latin typeface="Garamond"/>
                  <a:ea typeface="KaiTi" panose="02010609060101010101" pitchFamily="49" charset="-122"/>
                </a:rPr>
                <a:t>外部</a:t>
              </a:r>
            </a:p>
            <a:p>
              <a:pPr>
                <a:spcBef>
                  <a:spcPct val="50000"/>
                </a:spcBef>
              </a:pPr>
              <a:r>
                <a:rPr lang="zh-CN" altLang="en-US" sz="2800" b="1">
                  <a:solidFill>
                    <a:schemeClr val="accent6">
                      <a:lumMod val="50000"/>
                    </a:schemeClr>
                  </a:solidFill>
                  <a:latin typeface="Garamond"/>
                  <a:ea typeface="KaiTi" panose="02010609060101010101" pitchFamily="49" charset="-122"/>
                </a:rPr>
                <a:t>后勤</a:t>
              </a:r>
            </a:p>
          </p:txBody>
        </p:sp>
      </p:grpSp>
    </p:spTree>
    <p:extLst>
      <p:ext uri="{BB962C8B-B14F-4D97-AF65-F5344CB8AC3E}">
        <p14:creationId xmlns:p14="http://schemas.microsoft.com/office/powerpoint/2010/main" val="1517879140"/>
      </p:ext>
    </p:extLst>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1480616"/>
            <a:ext cx="8229600" cy="1143000"/>
          </a:xfrm>
        </p:spPr>
        <p:txBody>
          <a:bodyPr/>
          <a:lstStyle/>
          <a:p>
            <a:pPr marL="54864">
              <a:defRPr/>
            </a:pPr>
            <a:r>
              <a:rPr lang="zh-CN" altLang="en-US" dirty="0">
                <a:solidFill>
                  <a:schemeClr val="tx2">
                    <a:tint val="100000"/>
                    <a:shade val="90000"/>
                    <a:satMod val="250000"/>
                    <a:alpha val="100000"/>
                  </a:schemeClr>
                </a:solidFill>
                <a:cs typeface="+mj-cs"/>
              </a:rPr>
              <a:t>价值链分析</a:t>
            </a:r>
          </a:p>
        </p:txBody>
      </p:sp>
      <p:sp>
        <p:nvSpPr>
          <p:cNvPr id="3" name="内容占位符 2"/>
          <p:cNvSpPr>
            <a:spLocks noGrp="1"/>
          </p:cNvSpPr>
          <p:nvPr>
            <p:ph idx="1"/>
          </p:nvPr>
        </p:nvSpPr>
        <p:spPr/>
        <p:txBody>
          <a:bodyPr>
            <a:normAutofit/>
          </a:bodyPr>
          <a:lstStyle/>
          <a:p>
            <a:pPr>
              <a:spcBef>
                <a:spcPts val="0"/>
              </a:spcBef>
              <a:defRPr/>
            </a:pPr>
            <a:r>
              <a:rPr lang="zh-CN" altLang="en-US" dirty="0">
                <a:cs typeface="+mn-cs"/>
              </a:rPr>
              <a:t>价值链分析的目的：分析企业内部条件，从而找出对顾客最有价值、企业最有优势的活动，对其加以改进提高，可以提供企业竞争力。</a:t>
            </a:r>
            <a:endParaRPr lang="en-US" altLang="zh-CN" dirty="0">
              <a:cs typeface="+mn-cs"/>
            </a:endParaRPr>
          </a:p>
          <a:p>
            <a:pPr>
              <a:spcBef>
                <a:spcPts val="0"/>
              </a:spcBef>
              <a:defRPr/>
            </a:pPr>
            <a:r>
              <a:rPr lang="zh-CN" altLang="en-US" dirty="0">
                <a:cs typeface="+mn-cs"/>
              </a:rPr>
              <a:t>要主要的问题：</a:t>
            </a:r>
            <a:endParaRPr lang="en-US" altLang="zh-CN" dirty="0">
              <a:cs typeface="+mn-cs"/>
            </a:endParaRPr>
          </a:p>
          <a:p>
            <a:pPr marL="640080" lvl="1">
              <a:defRPr/>
            </a:pPr>
            <a:r>
              <a:rPr lang="zh-CN" altLang="en-US" dirty="0">
                <a:cs typeface="+mn-cs"/>
              </a:rPr>
              <a:t>价值链分析的基础是价值</a:t>
            </a:r>
            <a:r>
              <a:rPr lang="en-US" altLang="zh-CN" dirty="0">
                <a:cs typeface="+mn-cs"/>
              </a:rPr>
              <a:t>-</a:t>
            </a:r>
            <a:r>
              <a:rPr lang="zh-CN" altLang="en-US" dirty="0">
                <a:cs typeface="+mn-cs"/>
              </a:rPr>
              <a:t>是否给客户带来价值及其成本</a:t>
            </a:r>
            <a:endParaRPr lang="en-US" altLang="zh-CN" dirty="0">
              <a:cs typeface="+mn-cs"/>
            </a:endParaRPr>
          </a:p>
          <a:p>
            <a:pPr marL="640080" lvl="1">
              <a:defRPr/>
            </a:pPr>
            <a:r>
              <a:rPr lang="zh-CN" altLang="en-US" dirty="0">
                <a:cs typeface="+mn-cs"/>
              </a:rPr>
              <a:t>基本价值链可以再分解</a:t>
            </a:r>
            <a:endParaRPr lang="en-US" altLang="zh-CN" dirty="0">
              <a:cs typeface="+mn-cs"/>
            </a:endParaRPr>
          </a:p>
          <a:p>
            <a:pPr marL="640080" lvl="1">
              <a:defRPr/>
            </a:pPr>
            <a:r>
              <a:rPr lang="zh-CN" altLang="en-US" dirty="0">
                <a:cs typeface="+mn-cs"/>
              </a:rPr>
              <a:t>产业内的企业有相似的价值链，但竞争对手的价值链常常不同</a:t>
            </a:r>
          </a:p>
        </p:txBody>
      </p:sp>
    </p:spTree>
    <p:extLst>
      <p:ext uri="{BB962C8B-B14F-4D97-AF65-F5344CB8AC3E}">
        <p14:creationId xmlns:p14="http://schemas.microsoft.com/office/powerpoint/2010/main" val="422864137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3827464" y="76200"/>
            <a:ext cx="6796087" cy="1049338"/>
          </a:xfrm>
        </p:spPr>
        <p:txBody>
          <a:bodyPr/>
          <a:lstStyle/>
          <a:p>
            <a:pPr marL="54864">
              <a:defRPr/>
            </a:pPr>
            <a:r>
              <a:rPr lang="zh-CN" altLang="en-US" dirty="0">
                <a:solidFill>
                  <a:schemeClr val="tx2">
                    <a:tint val="100000"/>
                    <a:shade val="90000"/>
                    <a:satMod val="250000"/>
                    <a:alpha val="100000"/>
                  </a:schemeClr>
                </a:solidFill>
                <a:ea typeface="黑体" pitchFamily="2" charset="-122"/>
                <a:cs typeface="+mj-cs"/>
              </a:rPr>
              <a:t>              </a:t>
            </a:r>
          </a:p>
        </p:txBody>
      </p:sp>
      <p:sp>
        <p:nvSpPr>
          <p:cNvPr id="100354" name="Rectangle 3"/>
          <p:cNvSpPr>
            <a:spLocks noGrp="1" noChangeArrowheads="1"/>
          </p:cNvSpPr>
          <p:nvPr>
            <p:ph idx="1"/>
          </p:nvPr>
        </p:nvSpPr>
        <p:spPr>
          <a:xfrm>
            <a:off x="1739106" y="669767"/>
            <a:ext cx="8713787" cy="5184775"/>
          </a:xfrm>
        </p:spPr>
        <p:txBody>
          <a:bodyPr>
            <a:normAutofit/>
          </a:bodyPr>
          <a:lstStyle/>
          <a:p>
            <a:pPr>
              <a:lnSpc>
                <a:spcPct val="90000"/>
              </a:lnSpc>
            </a:pPr>
            <a:endParaRPr lang="zh-CN" altLang="en-US" sz="1800" dirty="0"/>
          </a:p>
          <a:p>
            <a:pPr>
              <a:lnSpc>
                <a:spcPct val="90000"/>
              </a:lnSpc>
              <a:buFont typeface="Wingdings" pitchFamily="2" charset="2"/>
              <a:buNone/>
            </a:pPr>
            <a:r>
              <a:rPr lang="zh-CN" altLang="en-US" sz="1800" dirty="0"/>
              <a:t>            </a:t>
            </a:r>
            <a:r>
              <a:rPr lang="zh-CN" altLang="en-US" sz="3600" b="1" dirty="0"/>
              <a:t>企业的价值链体现在我称之为</a:t>
            </a:r>
            <a:r>
              <a:rPr lang="zh-CN" altLang="en-US" sz="3600" b="1" dirty="0">
                <a:solidFill>
                  <a:srgbClr val="F92B4D"/>
                </a:solidFill>
              </a:rPr>
              <a:t>价值系统</a:t>
            </a:r>
            <a:r>
              <a:rPr lang="zh-CN" altLang="en-US" sz="3600" b="1" dirty="0"/>
              <a:t>的更广泛的一连串活动之中。获取和保持竞争优势，不仅取决于对企业价值链的理解，而且取决于对企业如何适合于某个价值系统的理解。　　　　</a:t>
            </a:r>
          </a:p>
          <a:p>
            <a:pPr>
              <a:lnSpc>
                <a:spcPct val="90000"/>
              </a:lnSpc>
              <a:buFont typeface="Wingdings" pitchFamily="2" charset="2"/>
              <a:buNone/>
            </a:pPr>
            <a:r>
              <a:rPr lang="zh-CN" altLang="en-US" sz="3600" b="1" dirty="0"/>
              <a:t>             </a:t>
            </a:r>
            <a:r>
              <a:rPr lang="en-US" altLang="zh-CN" sz="3600" b="1" dirty="0"/>
              <a:t>——</a:t>
            </a:r>
            <a:r>
              <a:rPr lang="zh-CN" altLang="en-US" sz="3600" b="1" dirty="0"/>
              <a:t>迈克尔</a:t>
            </a:r>
            <a:r>
              <a:rPr lang="en-US" altLang="zh-CN" sz="3600" b="1" dirty="0">
                <a:latin typeface="宋体" charset="-122"/>
              </a:rPr>
              <a:t>•</a:t>
            </a:r>
            <a:r>
              <a:rPr lang="zh-CN" altLang="en-US" sz="3600" b="1" dirty="0"/>
              <a:t>波特</a:t>
            </a:r>
          </a:p>
        </p:txBody>
      </p:sp>
    </p:spTree>
    <p:extLst>
      <p:ext uri="{BB962C8B-B14F-4D97-AF65-F5344CB8AC3E}">
        <p14:creationId xmlns:p14="http://schemas.microsoft.com/office/powerpoint/2010/main" val="1992752962"/>
      </p:ext>
    </p:extLst>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657600" y="1"/>
            <a:ext cx="7010400" cy="1052513"/>
          </a:xfrm>
        </p:spPr>
        <p:txBody>
          <a:bodyPr/>
          <a:lstStyle/>
          <a:p>
            <a:pPr marL="54864">
              <a:defRPr/>
            </a:pPr>
            <a:r>
              <a:rPr lang="zh-CN" altLang="en-US" dirty="0">
                <a:solidFill>
                  <a:schemeClr val="tx2">
                    <a:tint val="100000"/>
                    <a:shade val="90000"/>
                    <a:satMod val="250000"/>
                    <a:alpha val="100000"/>
                  </a:schemeClr>
                </a:solidFill>
                <a:ea typeface="黑体" pitchFamily="2" charset="-122"/>
                <a:cs typeface="+mj-cs"/>
              </a:rPr>
              <a:t>             </a:t>
            </a:r>
          </a:p>
        </p:txBody>
      </p:sp>
      <p:sp>
        <p:nvSpPr>
          <p:cNvPr id="95234" name="Rectangle 3"/>
          <p:cNvSpPr>
            <a:spLocks noGrp="1" noChangeArrowheads="1"/>
          </p:cNvSpPr>
          <p:nvPr>
            <p:ph idx="1"/>
          </p:nvPr>
        </p:nvSpPr>
        <p:spPr>
          <a:xfrm>
            <a:off x="1524001" y="1412876"/>
            <a:ext cx="8893175" cy="5256213"/>
          </a:xfrm>
        </p:spPr>
        <p:txBody>
          <a:bodyPr/>
          <a:lstStyle/>
          <a:p>
            <a:pPr>
              <a:lnSpc>
                <a:spcPct val="90000"/>
              </a:lnSpc>
            </a:pPr>
            <a:endParaRPr lang="zh-CN" altLang="en-US" sz="2400" b="1" dirty="0"/>
          </a:p>
          <a:p>
            <a:pPr>
              <a:lnSpc>
                <a:spcPct val="90000"/>
              </a:lnSpc>
              <a:buFont typeface="Wingdings" pitchFamily="2" charset="2"/>
              <a:buNone/>
            </a:pPr>
            <a:r>
              <a:rPr lang="zh-CN" altLang="en-US" sz="2400" b="1" dirty="0"/>
              <a:t>             </a:t>
            </a:r>
            <a:r>
              <a:rPr lang="zh-CN" altLang="en-US" sz="4400" b="1" dirty="0"/>
              <a:t>一个企业的价值链和它所从事的单个活动的方式，反映了其历史、战略、推行战略的途径以及这些活动本身的经济效益。</a:t>
            </a:r>
          </a:p>
          <a:p>
            <a:pPr>
              <a:lnSpc>
                <a:spcPct val="90000"/>
              </a:lnSpc>
              <a:buFont typeface="Wingdings" pitchFamily="2" charset="2"/>
              <a:buNone/>
            </a:pPr>
            <a:r>
              <a:rPr lang="zh-CN" altLang="en-US" sz="3600" b="1" dirty="0"/>
              <a:t>　　　　　　　</a:t>
            </a:r>
          </a:p>
          <a:p>
            <a:pPr>
              <a:lnSpc>
                <a:spcPct val="90000"/>
              </a:lnSpc>
              <a:buFont typeface="Wingdings" pitchFamily="2" charset="2"/>
              <a:buNone/>
            </a:pPr>
            <a:r>
              <a:rPr lang="en-US" altLang="zh-CN" sz="3600" b="1" dirty="0"/>
              <a:t>                                    ——</a:t>
            </a:r>
            <a:r>
              <a:rPr lang="zh-CN" altLang="en-US" sz="3600" b="1" dirty="0"/>
              <a:t>迈克尔</a:t>
            </a:r>
            <a:r>
              <a:rPr lang="en-US" altLang="zh-CN" sz="3600" b="1" dirty="0">
                <a:latin typeface="宋体" charset="-122"/>
              </a:rPr>
              <a:t>•</a:t>
            </a:r>
            <a:r>
              <a:rPr lang="zh-CN" altLang="en-US" sz="3600" b="1" dirty="0"/>
              <a:t>波特 </a:t>
            </a:r>
          </a:p>
          <a:p>
            <a:pPr>
              <a:lnSpc>
                <a:spcPct val="90000"/>
              </a:lnSpc>
              <a:buFont typeface="Wingdings" pitchFamily="2" charset="2"/>
              <a:buNone/>
            </a:pPr>
            <a:r>
              <a:rPr lang="zh-CN" altLang="en-US" sz="3600" b="1" dirty="0"/>
              <a:t>　　　</a:t>
            </a:r>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92313" y="404813"/>
            <a:ext cx="8229600" cy="1143000"/>
          </a:xfrm>
        </p:spPr>
        <p:txBody>
          <a:bodyPr>
            <a:normAutofit/>
          </a:bodyPr>
          <a:lstStyle/>
          <a:p>
            <a:pPr marL="54864">
              <a:defRPr/>
            </a:pPr>
            <a:r>
              <a:rPr lang="zh-CN" altLang="en-US" dirty="0">
                <a:solidFill>
                  <a:schemeClr val="tx2">
                    <a:tint val="100000"/>
                    <a:shade val="90000"/>
                    <a:satMod val="250000"/>
                    <a:alpha val="100000"/>
                  </a:schemeClr>
                </a:solidFill>
                <a:ea typeface="黑体" pitchFamily="2" charset="-122"/>
                <a:cs typeface="+mj-cs"/>
              </a:rPr>
              <a:t>   价值链的两类活动</a:t>
            </a:r>
            <a:br>
              <a:rPr lang="zh-CN" altLang="en-US" dirty="0">
                <a:solidFill>
                  <a:schemeClr val="tx2">
                    <a:tint val="100000"/>
                    <a:shade val="90000"/>
                    <a:satMod val="250000"/>
                    <a:alpha val="100000"/>
                  </a:schemeClr>
                </a:solidFill>
                <a:ea typeface="黑体" pitchFamily="2" charset="-122"/>
                <a:cs typeface="+mj-cs"/>
              </a:rPr>
            </a:br>
            <a:endParaRPr lang="zh-CN" altLang="en-US" dirty="0">
              <a:solidFill>
                <a:schemeClr val="tx2">
                  <a:tint val="100000"/>
                  <a:shade val="90000"/>
                  <a:satMod val="250000"/>
                  <a:alpha val="100000"/>
                </a:schemeClr>
              </a:solidFill>
              <a:ea typeface="黑体" pitchFamily="2" charset="-122"/>
              <a:cs typeface="+mj-cs"/>
            </a:endParaRPr>
          </a:p>
        </p:txBody>
      </p:sp>
      <p:sp>
        <p:nvSpPr>
          <p:cNvPr id="96258" name="Rectangle 3"/>
          <p:cNvSpPr>
            <a:spLocks noGrp="1" noChangeArrowheads="1"/>
          </p:cNvSpPr>
          <p:nvPr>
            <p:ph idx="1"/>
          </p:nvPr>
        </p:nvSpPr>
        <p:spPr>
          <a:xfrm>
            <a:off x="1524000" y="1268413"/>
            <a:ext cx="9144000" cy="4525962"/>
          </a:xfrm>
        </p:spPr>
        <p:txBody>
          <a:bodyPr/>
          <a:lstStyle/>
          <a:p>
            <a:pPr marL="609600" indent="-609600">
              <a:lnSpc>
                <a:spcPct val="80000"/>
              </a:lnSpc>
              <a:buNone/>
            </a:pPr>
            <a:r>
              <a:rPr lang="zh-CN" altLang="en-US" b="1">
                <a:solidFill>
                  <a:srgbClr val="FF6600"/>
                </a:solidFill>
              </a:rPr>
              <a:t>        </a:t>
            </a:r>
            <a:r>
              <a:rPr lang="en-US" altLang="zh-CN" b="1">
                <a:solidFill>
                  <a:srgbClr val="E8DC3C"/>
                </a:solidFill>
              </a:rPr>
              <a:t>(1)</a:t>
            </a:r>
            <a:r>
              <a:rPr lang="en-US" altLang="zh-CN" sz="2400" b="1">
                <a:solidFill>
                  <a:srgbClr val="E8DC3C"/>
                </a:solidFill>
              </a:rPr>
              <a:t> </a:t>
            </a:r>
            <a:r>
              <a:rPr lang="zh-CN" altLang="en-US" b="1">
                <a:solidFill>
                  <a:srgbClr val="E8DC3C"/>
                </a:solidFill>
              </a:rPr>
              <a:t>基本活动</a:t>
            </a:r>
            <a:r>
              <a:rPr lang="zh-CN" altLang="en-US" b="1">
                <a:solidFill>
                  <a:srgbClr val="FF6600"/>
                </a:solidFill>
              </a:rPr>
              <a:t>：</a:t>
            </a:r>
            <a:r>
              <a:rPr lang="zh-CN" altLang="en-US" b="1"/>
              <a:t>主要涉及如何将企业的输入有效地转化为输出，这部分活动直接与顾客发生各种联系。</a:t>
            </a:r>
          </a:p>
          <a:p>
            <a:pPr marL="609600" indent="-609600">
              <a:lnSpc>
                <a:spcPct val="80000"/>
              </a:lnSpc>
            </a:pPr>
            <a:r>
              <a:rPr lang="zh-CN" altLang="en-US" b="1" u="sng">
                <a:solidFill>
                  <a:srgbClr val="E8DC3C"/>
                </a:solidFill>
              </a:rPr>
              <a:t>内部后勤</a:t>
            </a:r>
            <a:r>
              <a:rPr lang="zh-CN" altLang="en-US" b="1" u="sng">
                <a:solidFill>
                  <a:srgbClr val="18398A"/>
                </a:solidFill>
              </a:rPr>
              <a:t>：</a:t>
            </a:r>
            <a:r>
              <a:rPr lang="zh-CN" altLang="en-US" b="1"/>
              <a:t>包括资源接收、储存、分配活动，也包括材料处理、库存控制和运输等；</a:t>
            </a:r>
          </a:p>
          <a:p>
            <a:pPr marL="609600" indent="-609600">
              <a:lnSpc>
                <a:spcPct val="80000"/>
              </a:lnSpc>
            </a:pPr>
            <a:r>
              <a:rPr lang="zh-CN" altLang="en-US" b="1" u="sng">
                <a:solidFill>
                  <a:srgbClr val="E8DC3C"/>
                </a:solidFill>
              </a:rPr>
              <a:t>生产运营</a:t>
            </a:r>
            <a:r>
              <a:rPr lang="zh-CN" altLang="en-US" b="1" u="sng">
                <a:solidFill>
                  <a:srgbClr val="18398A"/>
                </a:solidFill>
              </a:rPr>
              <a:t>：</a:t>
            </a:r>
            <a:r>
              <a:rPr lang="zh-CN" altLang="en-US" b="1"/>
              <a:t>这一活动过程将各种输入转化为最终的产品和服务，如制造、工艺和测试等；</a:t>
            </a:r>
          </a:p>
          <a:p>
            <a:pPr marL="609600" indent="-609600">
              <a:lnSpc>
                <a:spcPct val="80000"/>
              </a:lnSpc>
            </a:pPr>
            <a:r>
              <a:rPr lang="zh-CN" altLang="en-US" b="1" u="sng">
                <a:solidFill>
                  <a:srgbClr val="E8DC3C"/>
                </a:solidFill>
              </a:rPr>
              <a:t>外部后勤</a:t>
            </a:r>
            <a:r>
              <a:rPr lang="zh-CN" altLang="en-US" b="1" u="sng">
                <a:solidFill>
                  <a:srgbClr val="18398A"/>
                </a:solidFill>
              </a:rPr>
              <a:t>：</a:t>
            </a:r>
            <a:r>
              <a:rPr lang="zh-CN" altLang="en-US" b="1"/>
              <a:t>包括产品接受、储存和分销活动；</a:t>
            </a:r>
          </a:p>
          <a:p>
            <a:pPr marL="609600" indent="-609600">
              <a:lnSpc>
                <a:spcPct val="80000"/>
              </a:lnSpc>
            </a:pPr>
            <a:r>
              <a:rPr lang="zh-CN" altLang="en-US" b="1" u="sng">
                <a:solidFill>
                  <a:srgbClr val="E8DC3C"/>
                </a:solidFill>
              </a:rPr>
              <a:t>营销</a:t>
            </a:r>
            <a:r>
              <a:rPr lang="zh-CN" altLang="en-US" b="1" u="sng">
                <a:solidFill>
                  <a:srgbClr val="18398A"/>
                </a:solidFill>
              </a:rPr>
              <a:t>：</a:t>
            </a:r>
            <a:r>
              <a:rPr lang="zh-CN" altLang="en-US" b="1"/>
              <a:t>包括消费行为研究、广告和促销活动；</a:t>
            </a:r>
          </a:p>
          <a:p>
            <a:pPr marL="609600" indent="-609600">
              <a:lnSpc>
                <a:spcPct val="80000"/>
              </a:lnSpc>
            </a:pPr>
            <a:r>
              <a:rPr lang="zh-CN" altLang="en-US" b="1" u="sng">
                <a:solidFill>
                  <a:srgbClr val="E8DC3C"/>
                </a:solidFill>
              </a:rPr>
              <a:t>商务支持与顾客服务</a:t>
            </a:r>
            <a:r>
              <a:rPr lang="zh-CN" altLang="en-US" b="1" u="sng">
                <a:solidFill>
                  <a:srgbClr val="18398A"/>
                </a:solidFill>
              </a:rPr>
              <a:t>：</a:t>
            </a:r>
            <a:r>
              <a:rPr lang="zh-CN" altLang="en-US" b="1"/>
              <a:t>包括安装、维修、培训和提供备件等。 </a:t>
            </a:r>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73760" y="1645921"/>
            <a:ext cx="7010400" cy="981075"/>
          </a:xfrm>
        </p:spPr>
        <p:txBody>
          <a:bodyPr/>
          <a:lstStyle/>
          <a:p>
            <a:pPr marL="54864">
              <a:defRPr/>
            </a:pPr>
            <a:r>
              <a:rPr lang="zh-CN" altLang="en-US" dirty="0">
                <a:solidFill>
                  <a:schemeClr val="tx2">
                    <a:tint val="100000"/>
                    <a:shade val="90000"/>
                    <a:satMod val="250000"/>
                    <a:alpha val="100000"/>
                  </a:schemeClr>
                </a:solidFill>
                <a:ea typeface="黑体" pitchFamily="2" charset="-122"/>
                <a:cs typeface="+mj-cs"/>
              </a:rPr>
              <a:t>      </a:t>
            </a:r>
            <a:r>
              <a:rPr lang="en-US" altLang="zh-CN" dirty="0">
                <a:solidFill>
                  <a:schemeClr val="tx2">
                    <a:tint val="100000"/>
                    <a:shade val="90000"/>
                    <a:satMod val="250000"/>
                    <a:alpha val="100000"/>
                  </a:schemeClr>
                </a:solidFill>
                <a:ea typeface="黑体" pitchFamily="2" charset="-122"/>
                <a:cs typeface="+mj-cs"/>
              </a:rPr>
              <a:t>(2) </a:t>
            </a:r>
            <a:r>
              <a:rPr lang="zh-CN" altLang="en-US" dirty="0">
                <a:solidFill>
                  <a:schemeClr val="tx2">
                    <a:tint val="100000"/>
                    <a:shade val="90000"/>
                    <a:satMod val="250000"/>
                    <a:alpha val="100000"/>
                  </a:schemeClr>
                </a:solidFill>
                <a:ea typeface="黑体" pitchFamily="2" charset="-122"/>
                <a:cs typeface="+mj-cs"/>
              </a:rPr>
              <a:t>支持性活动</a:t>
            </a:r>
          </a:p>
        </p:txBody>
      </p:sp>
      <p:sp>
        <p:nvSpPr>
          <p:cNvPr id="98306" name="Rectangle 3"/>
          <p:cNvSpPr>
            <a:spLocks noGrp="1" noChangeArrowheads="1"/>
          </p:cNvSpPr>
          <p:nvPr>
            <p:ph idx="1"/>
          </p:nvPr>
        </p:nvSpPr>
        <p:spPr>
          <a:xfrm>
            <a:off x="1524000" y="1484313"/>
            <a:ext cx="9144000" cy="4525962"/>
          </a:xfrm>
        </p:spPr>
        <p:txBody>
          <a:bodyPr/>
          <a:lstStyle/>
          <a:p>
            <a:pPr>
              <a:lnSpc>
                <a:spcPct val="90000"/>
              </a:lnSpc>
              <a:buFont typeface="Wingdings" pitchFamily="2" charset="2"/>
              <a:buNone/>
            </a:pPr>
            <a:r>
              <a:rPr lang="zh-CN" altLang="en-US"/>
              <a:t>         </a:t>
            </a:r>
            <a:r>
              <a:rPr lang="zh-CN" altLang="en-US" b="1"/>
              <a:t>主要体现为一些内部管理活动。支持性活动可以分为以下几个方面：</a:t>
            </a:r>
          </a:p>
          <a:p>
            <a:pPr>
              <a:lnSpc>
                <a:spcPct val="90000"/>
              </a:lnSpc>
            </a:pPr>
            <a:r>
              <a:rPr lang="zh-CN" altLang="en-US" b="1" u="sng">
                <a:solidFill>
                  <a:srgbClr val="E8DC3C"/>
                </a:solidFill>
              </a:rPr>
              <a:t>基础性活动</a:t>
            </a:r>
            <a:r>
              <a:rPr lang="zh-CN" altLang="en-US" b="1" u="sng">
                <a:solidFill>
                  <a:srgbClr val="18398A"/>
                </a:solidFill>
              </a:rPr>
              <a:t>：</a:t>
            </a:r>
            <a:r>
              <a:rPr lang="zh-CN" altLang="en-US" b="1"/>
              <a:t>计划、财务和质量控制及法律服务等；</a:t>
            </a:r>
          </a:p>
          <a:p>
            <a:pPr>
              <a:lnSpc>
                <a:spcPct val="90000"/>
              </a:lnSpc>
            </a:pPr>
            <a:r>
              <a:rPr lang="zh-CN" altLang="en-US" b="1" u="sng">
                <a:solidFill>
                  <a:srgbClr val="E8DC3C"/>
                </a:solidFill>
              </a:rPr>
              <a:t>技术活动</a:t>
            </a:r>
            <a:r>
              <a:rPr lang="zh-CN" altLang="en-US" b="1" u="sng">
                <a:solidFill>
                  <a:srgbClr val="18398A"/>
                </a:solidFill>
              </a:rPr>
              <a:t>：</a:t>
            </a:r>
            <a:r>
              <a:rPr lang="zh-CN" altLang="en-US" b="1"/>
              <a:t>技术开发、技术创新和发明等；</a:t>
            </a:r>
          </a:p>
          <a:p>
            <a:pPr>
              <a:lnSpc>
                <a:spcPct val="90000"/>
              </a:lnSpc>
            </a:pPr>
            <a:r>
              <a:rPr lang="zh-CN" altLang="en-US" b="1" u="sng">
                <a:solidFill>
                  <a:srgbClr val="E8DC3C"/>
                </a:solidFill>
              </a:rPr>
              <a:t>人力资源管理</a:t>
            </a:r>
            <a:r>
              <a:rPr lang="zh-CN" altLang="en-US" b="1" u="sng">
                <a:solidFill>
                  <a:srgbClr val="18398A"/>
                </a:solidFill>
              </a:rPr>
              <a:t>：</a:t>
            </a:r>
            <a:r>
              <a:rPr lang="zh-CN" altLang="en-US" b="1"/>
              <a:t>人员的招聘、选拔、培训、补偿及激励等。</a:t>
            </a:r>
          </a:p>
          <a:p>
            <a:pPr>
              <a:lnSpc>
                <a:spcPct val="90000"/>
              </a:lnSpc>
            </a:pPr>
            <a:r>
              <a:rPr lang="zh-CN" altLang="en-US" b="1" u="sng">
                <a:solidFill>
                  <a:srgbClr val="E8DC3C"/>
                </a:solidFill>
              </a:rPr>
              <a:t>采购</a:t>
            </a:r>
            <a:r>
              <a:rPr lang="en-US" altLang="zh-CN" b="1" u="sng">
                <a:solidFill>
                  <a:srgbClr val="18398A"/>
                </a:solidFill>
              </a:rPr>
              <a:t>:</a:t>
            </a:r>
            <a:r>
              <a:rPr lang="en-US" altLang="zh-CN" b="1"/>
              <a:t> </a:t>
            </a:r>
            <a:r>
              <a:rPr lang="zh-CN" altLang="en-US" b="1"/>
              <a:t>指购买用于价值链中的生产要素投入的这种职能活动。</a:t>
            </a:r>
            <a:endParaRPr lang="en-US" altLang="zh-CN" b="1"/>
          </a:p>
        </p:txBody>
      </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4141789" y="589308"/>
            <a:ext cx="8229600" cy="1143000"/>
          </a:xfrm>
        </p:spPr>
        <p:txBody>
          <a:bodyPr/>
          <a:lstStyle/>
          <a:p>
            <a:pPr marL="54864" algn="l">
              <a:defRPr/>
            </a:pPr>
            <a:r>
              <a:rPr lang="zh-CN" altLang="en-US" dirty="0">
                <a:solidFill>
                  <a:schemeClr val="accent6">
                    <a:lumMod val="50000"/>
                  </a:schemeClr>
                </a:solidFill>
                <a:ea typeface="黑体" pitchFamily="2" charset="-122"/>
                <a:cs typeface="+mj-cs"/>
              </a:rPr>
              <a:t>价值链</a:t>
            </a:r>
          </a:p>
        </p:txBody>
      </p:sp>
      <p:grpSp>
        <p:nvGrpSpPr>
          <p:cNvPr id="2" name="组合 1">
            <a:extLst>
              <a:ext uri="{FF2B5EF4-FFF2-40B4-BE49-F238E27FC236}">
                <a16:creationId xmlns:a16="http://schemas.microsoft.com/office/drawing/2014/main" id="{E93D94FF-0F95-E24D-829D-48ED72E8384D}"/>
              </a:ext>
            </a:extLst>
          </p:cNvPr>
          <p:cNvGrpSpPr/>
          <p:nvPr/>
        </p:nvGrpSpPr>
        <p:grpSpPr>
          <a:xfrm>
            <a:off x="2424113" y="1289395"/>
            <a:ext cx="7559676" cy="4681538"/>
            <a:chOff x="2424113" y="1700213"/>
            <a:chExt cx="7559676" cy="4681538"/>
          </a:xfrm>
        </p:grpSpPr>
        <p:sp>
          <p:nvSpPr>
            <p:cNvPr id="97282" name="Line 4"/>
            <p:cNvSpPr>
              <a:spLocks noChangeShapeType="1"/>
            </p:cNvSpPr>
            <p:nvPr/>
          </p:nvSpPr>
          <p:spPr bwMode="auto">
            <a:xfrm>
              <a:off x="2424113" y="1700213"/>
              <a:ext cx="6767512" cy="0"/>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3" name="Line 5"/>
            <p:cNvSpPr>
              <a:spLocks noChangeShapeType="1"/>
            </p:cNvSpPr>
            <p:nvPr/>
          </p:nvSpPr>
          <p:spPr bwMode="auto">
            <a:xfrm>
              <a:off x="9191626" y="1700213"/>
              <a:ext cx="792163" cy="2233612"/>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4" name="Line 6"/>
            <p:cNvSpPr>
              <a:spLocks noChangeShapeType="1"/>
            </p:cNvSpPr>
            <p:nvPr/>
          </p:nvSpPr>
          <p:spPr bwMode="auto">
            <a:xfrm flipH="1">
              <a:off x="9264650" y="3933826"/>
              <a:ext cx="719138" cy="2447925"/>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5" name="Line 7"/>
            <p:cNvSpPr>
              <a:spLocks noChangeShapeType="1"/>
            </p:cNvSpPr>
            <p:nvPr/>
          </p:nvSpPr>
          <p:spPr bwMode="auto">
            <a:xfrm>
              <a:off x="2424113" y="1700214"/>
              <a:ext cx="0" cy="4681537"/>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6" name="Line 8"/>
            <p:cNvSpPr>
              <a:spLocks noChangeShapeType="1"/>
            </p:cNvSpPr>
            <p:nvPr/>
          </p:nvSpPr>
          <p:spPr bwMode="auto">
            <a:xfrm>
              <a:off x="2424114" y="6381750"/>
              <a:ext cx="6840537" cy="0"/>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7" name="Line 9"/>
            <p:cNvSpPr>
              <a:spLocks noChangeShapeType="1"/>
            </p:cNvSpPr>
            <p:nvPr/>
          </p:nvSpPr>
          <p:spPr bwMode="auto">
            <a:xfrm flipV="1">
              <a:off x="2424114" y="3933825"/>
              <a:ext cx="7559675" cy="0"/>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8" name="Line 10"/>
            <p:cNvSpPr>
              <a:spLocks noChangeShapeType="1"/>
            </p:cNvSpPr>
            <p:nvPr/>
          </p:nvSpPr>
          <p:spPr bwMode="auto">
            <a:xfrm>
              <a:off x="8759826" y="1700213"/>
              <a:ext cx="792163" cy="2233612"/>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89" name="Line 11"/>
            <p:cNvSpPr>
              <a:spLocks noChangeShapeType="1"/>
            </p:cNvSpPr>
            <p:nvPr/>
          </p:nvSpPr>
          <p:spPr bwMode="auto">
            <a:xfrm flipH="1">
              <a:off x="8832850" y="3933826"/>
              <a:ext cx="719138" cy="2447925"/>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90" name="Text Box 12"/>
            <p:cNvSpPr txBox="1">
              <a:spLocks noChangeArrowheads="1"/>
            </p:cNvSpPr>
            <p:nvPr/>
          </p:nvSpPr>
          <p:spPr bwMode="auto">
            <a:xfrm>
              <a:off x="9048751" y="2133601"/>
              <a:ext cx="576263" cy="830263"/>
            </a:xfrm>
            <a:prstGeom prst="rect">
              <a:avLst/>
            </a:prstGeom>
            <a:noFill/>
            <a:ln w="9525">
              <a:noFill/>
              <a:miter lim="800000"/>
              <a:headEnd/>
              <a:tailEnd/>
            </a:ln>
          </p:spPr>
          <p:txBody>
            <a:bodyPr>
              <a:spAutoFit/>
            </a:bodyPr>
            <a:lstStyle/>
            <a:p>
              <a:pPr>
                <a:spcBef>
                  <a:spcPct val="50000"/>
                </a:spcBef>
              </a:pPr>
              <a:r>
                <a:rPr lang="zh-CN" altLang="en-US" sz="2400" b="1">
                  <a:solidFill>
                    <a:schemeClr val="accent6">
                      <a:lumMod val="50000"/>
                    </a:schemeClr>
                  </a:solidFill>
                  <a:latin typeface="Garamond"/>
                  <a:ea typeface="KaiTi" panose="02010609060101010101" pitchFamily="49" charset="-122"/>
                </a:rPr>
                <a:t>利润</a:t>
              </a:r>
            </a:p>
          </p:txBody>
        </p:sp>
        <p:sp>
          <p:nvSpPr>
            <p:cNvPr id="97291" name="Text Box 13"/>
            <p:cNvSpPr txBox="1">
              <a:spLocks noChangeArrowheads="1"/>
            </p:cNvSpPr>
            <p:nvPr/>
          </p:nvSpPr>
          <p:spPr bwMode="auto">
            <a:xfrm>
              <a:off x="9120189" y="4724401"/>
              <a:ext cx="503237" cy="830263"/>
            </a:xfrm>
            <a:prstGeom prst="rect">
              <a:avLst/>
            </a:prstGeom>
            <a:noFill/>
            <a:ln w="9525">
              <a:noFill/>
              <a:miter lim="800000"/>
              <a:headEnd/>
              <a:tailEnd/>
            </a:ln>
          </p:spPr>
          <p:txBody>
            <a:bodyPr>
              <a:spAutoFit/>
            </a:bodyPr>
            <a:lstStyle/>
            <a:p>
              <a:pPr>
                <a:spcBef>
                  <a:spcPct val="50000"/>
                </a:spcBef>
              </a:pPr>
              <a:r>
                <a:rPr lang="zh-CN" altLang="en-US" sz="2400" b="1">
                  <a:solidFill>
                    <a:schemeClr val="accent6">
                      <a:lumMod val="50000"/>
                    </a:schemeClr>
                  </a:solidFill>
                  <a:latin typeface="Garamond"/>
                  <a:ea typeface="KaiTi" panose="02010609060101010101" pitchFamily="49" charset="-122"/>
                </a:rPr>
                <a:t>利润</a:t>
              </a:r>
            </a:p>
          </p:txBody>
        </p:sp>
        <p:sp>
          <p:nvSpPr>
            <p:cNvPr id="97292" name="Line 14"/>
            <p:cNvSpPr>
              <a:spLocks noChangeShapeType="1"/>
            </p:cNvSpPr>
            <p:nvPr/>
          </p:nvSpPr>
          <p:spPr bwMode="auto">
            <a:xfrm>
              <a:off x="2424114" y="2420939"/>
              <a:ext cx="6624637" cy="71437"/>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93" name="Line 15"/>
            <p:cNvSpPr>
              <a:spLocks noChangeShapeType="1"/>
            </p:cNvSpPr>
            <p:nvPr/>
          </p:nvSpPr>
          <p:spPr bwMode="auto">
            <a:xfrm>
              <a:off x="2424114" y="3213100"/>
              <a:ext cx="6840537" cy="0"/>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94" name="Line 16"/>
            <p:cNvSpPr>
              <a:spLocks noChangeShapeType="1"/>
            </p:cNvSpPr>
            <p:nvPr/>
          </p:nvSpPr>
          <p:spPr bwMode="auto">
            <a:xfrm>
              <a:off x="2424114" y="4652963"/>
              <a:ext cx="6911975" cy="0"/>
            </a:xfrm>
            <a:prstGeom prst="line">
              <a:avLst/>
            </a:prstGeom>
            <a:noFill/>
            <a:ln w="9525">
              <a:solidFill>
                <a:schemeClr val="bg1"/>
              </a:solidFill>
              <a:round/>
              <a:headEnd/>
              <a:tailEnd/>
            </a:ln>
          </p:spPr>
          <p:txBody>
            <a:bodyPr/>
            <a:lstStyle/>
            <a:p>
              <a:endParaRPr lang="zh-CN" altLang="en-US">
                <a:solidFill>
                  <a:schemeClr val="accent6">
                    <a:lumMod val="50000"/>
                  </a:schemeClr>
                </a:solidFill>
              </a:endParaRPr>
            </a:p>
          </p:txBody>
        </p:sp>
        <p:sp>
          <p:nvSpPr>
            <p:cNvPr id="97295" name="Line 17"/>
            <p:cNvSpPr>
              <a:spLocks noChangeShapeType="1"/>
            </p:cNvSpPr>
            <p:nvPr/>
          </p:nvSpPr>
          <p:spPr bwMode="auto">
            <a:xfrm>
              <a:off x="3648075" y="4652964"/>
              <a:ext cx="0" cy="720725"/>
            </a:xfrm>
            <a:prstGeom prst="line">
              <a:avLst/>
            </a:prstGeom>
            <a:noFill/>
            <a:ln w="9525">
              <a:solidFill>
                <a:schemeClr val="bg1"/>
              </a:solidFill>
              <a:prstDash val="dash"/>
              <a:round/>
              <a:headEnd/>
              <a:tailEnd/>
            </a:ln>
          </p:spPr>
          <p:txBody>
            <a:bodyPr/>
            <a:lstStyle/>
            <a:p>
              <a:endParaRPr lang="zh-CN" altLang="en-US">
                <a:solidFill>
                  <a:schemeClr val="accent6">
                    <a:lumMod val="50000"/>
                  </a:schemeClr>
                </a:solidFill>
              </a:endParaRPr>
            </a:p>
          </p:txBody>
        </p:sp>
        <p:sp>
          <p:nvSpPr>
            <p:cNvPr id="97296" name="Line 18"/>
            <p:cNvSpPr>
              <a:spLocks noChangeShapeType="1"/>
            </p:cNvSpPr>
            <p:nvPr/>
          </p:nvSpPr>
          <p:spPr bwMode="auto">
            <a:xfrm>
              <a:off x="5087938" y="4652964"/>
              <a:ext cx="0" cy="720725"/>
            </a:xfrm>
            <a:prstGeom prst="line">
              <a:avLst/>
            </a:prstGeom>
            <a:noFill/>
            <a:ln w="9525">
              <a:solidFill>
                <a:schemeClr val="bg1"/>
              </a:solidFill>
              <a:prstDash val="dash"/>
              <a:round/>
              <a:headEnd/>
              <a:tailEnd/>
            </a:ln>
          </p:spPr>
          <p:txBody>
            <a:bodyPr/>
            <a:lstStyle/>
            <a:p>
              <a:endParaRPr lang="zh-CN" altLang="en-US">
                <a:solidFill>
                  <a:schemeClr val="accent6">
                    <a:lumMod val="50000"/>
                  </a:schemeClr>
                </a:solidFill>
              </a:endParaRPr>
            </a:p>
          </p:txBody>
        </p:sp>
        <p:sp>
          <p:nvSpPr>
            <p:cNvPr id="97297" name="Line 19"/>
            <p:cNvSpPr>
              <a:spLocks noChangeShapeType="1"/>
            </p:cNvSpPr>
            <p:nvPr/>
          </p:nvSpPr>
          <p:spPr bwMode="auto">
            <a:xfrm>
              <a:off x="6527800" y="4652964"/>
              <a:ext cx="0" cy="720725"/>
            </a:xfrm>
            <a:prstGeom prst="line">
              <a:avLst/>
            </a:prstGeom>
            <a:noFill/>
            <a:ln w="9525">
              <a:solidFill>
                <a:schemeClr val="bg1"/>
              </a:solidFill>
              <a:prstDash val="dash"/>
              <a:round/>
              <a:headEnd/>
              <a:tailEnd/>
            </a:ln>
          </p:spPr>
          <p:txBody>
            <a:bodyPr/>
            <a:lstStyle/>
            <a:p>
              <a:endParaRPr lang="zh-CN" altLang="en-US">
                <a:solidFill>
                  <a:schemeClr val="accent6">
                    <a:lumMod val="50000"/>
                  </a:schemeClr>
                </a:solidFill>
              </a:endParaRPr>
            </a:p>
          </p:txBody>
        </p:sp>
        <p:sp>
          <p:nvSpPr>
            <p:cNvPr id="97298" name="Line 20"/>
            <p:cNvSpPr>
              <a:spLocks noChangeShapeType="1"/>
            </p:cNvSpPr>
            <p:nvPr/>
          </p:nvSpPr>
          <p:spPr bwMode="auto">
            <a:xfrm>
              <a:off x="7896225" y="4652964"/>
              <a:ext cx="0" cy="720725"/>
            </a:xfrm>
            <a:prstGeom prst="line">
              <a:avLst/>
            </a:prstGeom>
            <a:noFill/>
            <a:ln w="9525">
              <a:solidFill>
                <a:schemeClr val="bg1"/>
              </a:solidFill>
              <a:prstDash val="dash"/>
              <a:round/>
              <a:headEnd/>
              <a:tailEnd/>
            </a:ln>
          </p:spPr>
          <p:txBody>
            <a:bodyPr/>
            <a:lstStyle/>
            <a:p>
              <a:endParaRPr lang="zh-CN" altLang="en-US">
                <a:solidFill>
                  <a:schemeClr val="accent6">
                    <a:lumMod val="50000"/>
                  </a:schemeClr>
                </a:solidFill>
              </a:endParaRPr>
            </a:p>
          </p:txBody>
        </p:sp>
        <p:sp>
          <p:nvSpPr>
            <p:cNvPr id="67605" name="Text Box 21"/>
            <p:cNvSpPr txBox="1">
              <a:spLocks noChangeArrowheads="1"/>
            </p:cNvSpPr>
            <p:nvPr/>
          </p:nvSpPr>
          <p:spPr bwMode="auto">
            <a:xfrm>
              <a:off x="3863976" y="1773238"/>
              <a:ext cx="4392613" cy="519112"/>
            </a:xfrm>
            <a:prstGeom prst="rect">
              <a:avLst/>
            </a:prstGeom>
            <a:noFill/>
            <a:ln w="9525">
              <a:noFill/>
              <a:miter lim="800000"/>
              <a:headEnd/>
              <a:tailEnd/>
            </a:ln>
            <a:effectLst/>
          </p:spPr>
          <p:txBody>
            <a:bodyPr>
              <a:spAutoFit/>
            </a:bodyPr>
            <a:lstStyle/>
            <a:p>
              <a:pPr>
                <a:spcBef>
                  <a:spcPct val="50000"/>
                </a:spcBef>
                <a:defRPr/>
              </a:pPr>
              <a:r>
                <a:rPr lang="zh-CN" altLang="en-US" sz="2800" b="1" dirty="0">
                  <a:solidFill>
                    <a:schemeClr val="accent6">
                      <a:lumMod val="50000"/>
                    </a:schemeClr>
                  </a:solidFill>
                  <a:effectLst>
                    <a:outerShdw blurRad="38100" dist="38100" dir="2700000" algn="tl">
                      <a:srgbClr val="C0C0C0"/>
                    </a:outerShdw>
                  </a:effectLst>
                  <a:latin typeface="Garamond" pitchFamily="18" charset="0"/>
                </a:rPr>
                <a:t>  企业基础设施（管理）</a:t>
              </a:r>
            </a:p>
          </p:txBody>
        </p:sp>
        <p:sp>
          <p:nvSpPr>
            <p:cNvPr id="67606" name="Text Box 22"/>
            <p:cNvSpPr txBox="1">
              <a:spLocks noChangeArrowheads="1"/>
            </p:cNvSpPr>
            <p:nvPr/>
          </p:nvSpPr>
          <p:spPr bwMode="auto">
            <a:xfrm>
              <a:off x="3863976" y="2565401"/>
              <a:ext cx="5184775" cy="519113"/>
            </a:xfrm>
            <a:prstGeom prst="rect">
              <a:avLst/>
            </a:prstGeom>
            <a:noFill/>
            <a:ln w="9525">
              <a:noFill/>
              <a:miter lim="800000"/>
              <a:headEnd/>
              <a:tailEnd/>
            </a:ln>
            <a:effectLst/>
          </p:spPr>
          <p:txBody>
            <a:bodyPr>
              <a:spAutoFit/>
            </a:bodyPr>
            <a:lstStyle/>
            <a:p>
              <a:pPr>
                <a:spcBef>
                  <a:spcPct val="50000"/>
                </a:spcBef>
                <a:defRPr/>
              </a:pPr>
              <a:r>
                <a:rPr lang="zh-CN" altLang="en-US" sz="2800" b="1">
                  <a:solidFill>
                    <a:schemeClr val="accent6">
                      <a:lumMod val="50000"/>
                    </a:schemeClr>
                  </a:solidFill>
                  <a:effectLst>
                    <a:outerShdw blurRad="38100" dist="38100" dir="2700000" algn="tl">
                      <a:srgbClr val="C0C0C0"/>
                    </a:outerShdw>
                  </a:effectLst>
                  <a:latin typeface="Garamond" pitchFamily="18" charset="0"/>
                </a:rPr>
                <a:t>  人力资源管理</a:t>
              </a:r>
            </a:p>
          </p:txBody>
        </p:sp>
        <p:sp>
          <p:nvSpPr>
            <p:cNvPr id="67607" name="Text Box 23"/>
            <p:cNvSpPr txBox="1">
              <a:spLocks noChangeArrowheads="1"/>
            </p:cNvSpPr>
            <p:nvPr/>
          </p:nvSpPr>
          <p:spPr bwMode="auto">
            <a:xfrm>
              <a:off x="4079875" y="3357563"/>
              <a:ext cx="4248150" cy="519112"/>
            </a:xfrm>
            <a:prstGeom prst="rect">
              <a:avLst/>
            </a:prstGeom>
            <a:noFill/>
            <a:ln w="9525">
              <a:noFill/>
              <a:miter lim="800000"/>
              <a:headEnd/>
              <a:tailEnd/>
            </a:ln>
            <a:effectLst/>
          </p:spPr>
          <p:txBody>
            <a:bodyPr>
              <a:spAutoFit/>
            </a:bodyPr>
            <a:lstStyle/>
            <a:p>
              <a:pPr>
                <a:spcBef>
                  <a:spcPct val="50000"/>
                </a:spcBef>
                <a:defRPr/>
              </a:pPr>
              <a:r>
                <a:rPr lang="zh-CN" altLang="en-US" sz="2800" b="1">
                  <a:solidFill>
                    <a:schemeClr val="accent6">
                      <a:lumMod val="50000"/>
                    </a:schemeClr>
                  </a:solidFill>
                  <a:effectLst>
                    <a:outerShdw blurRad="38100" dist="38100" dir="2700000" algn="tl">
                      <a:srgbClr val="C0C0C0"/>
                    </a:outerShdw>
                  </a:effectLst>
                  <a:latin typeface="Garamond" pitchFamily="18" charset="0"/>
                </a:rPr>
                <a:t>  技术开发</a:t>
              </a:r>
            </a:p>
          </p:txBody>
        </p:sp>
        <p:sp>
          <p:nvSpPr>
            <p:cNvPr id="67608" name="Text Box 24"/>
            <p:cNvSpPr txBox="1">
              <a:spLocks noChangeArrowheads="1"/>
            </p:cNvSpPr>
            <p:nvPr/>
          </p:nvSpPr>
          <p:spPr bwMode="auto">
            <a:xfrm>
              <a:off x="4367213" y="4076701"/>
              <a:ext cx="5111750" cy="519113"/>
            </a:xfrm>
            <a:prstGeom prst="rect">
              <a:avLst/>
            </a:prstGeom>
            <a:noFill/>
            <a:ln w="9525">
              <a:noFill/>
              <a:miter lim="800000"/>
              <a:headEnd/>
              <a:tailEnd/>
            </a:ln>
            <a:effectLst/>
          </p:spPr>
          <p:txBody>
            <a:bodyPr>
              <a:spAutoFit/>
            </a:bodyPr>
            <a:lstStyle/>
            <a:p>
              <a:pPr>
                <a:spcBef>
                  <a:spcPct val="50000"/>
                </a:spcBef>
                <a:defRPr/>
              </a:pPr>
              <a:r>
                <a:rPr lang="zh-CN" altLang="en-US" sz="2800" b="1">
                  <a:solidFill>
                    <a:schemeClr val="accent6">
                      <a:lumMod val="50000"/>
                    </a:schemeClr>
                  </a:solidFill>
                  <a:effectLst>
                    <a:outerShdw blurRad="38100" dist="38100" dir="2700000" algn="tl">
                      <a:srgbClr val="C0C0C0"/>
                    </a:outerShdw>
                  </a:effectLst>
                  <a:latin typeface="Garamond" pitchFamily="18" charset="0"/>
                </a:rPr>
                <a:t>采  购</a:t>
              </a:r>
            </a:p>
          </p:txBody>
        </p:sp>
        <p:sp>
          <p:nvSpPr>
            <p:cNvPr id="97303" name="Text Box 25"/>
            <p:cNvSpPr txBox="1">
              <a:spLocks noChangeArrowheads="1"/>
            </p:cNvSpPr>
            <p:nvPr/>
          </p:nvSpPr>
          <p:spPr bwMode="auto">
            <a:xfrm>
              <a:off x="2566989" y="4797426"/>
              <a:ext cx="1368425" cy="1160463"/>
            </a:xfrm>
            <a:prstGeom prst="rect">
              <a:avLst/>
            </a:prstGeom>
            <a:noFill/>
            <a:ln w="9525">
              <a:noFill/>
              <a:miter lim="800000"/>
              <a:headEnd/>
              <a:tailEnd/>
            </a:ln>
          </p:spPr>
          <p:txBody>
            <a:bodyPr>
              <a:spAutoFit/>
            </a:bodyPr>
            <a:lstStyle/>
            <a:p>
              <a:pPr>
                <a:spcBef>
                  <a:spcPct val="50000"/>
                </a:spcBef>
              </a:pPr>
              <a:r>
                <a:rPr lang="zh-CN" altLang="en-US" sz="2800" b="1">
                  <a:solidFill>
                    <a:schemeClr val="accent6">
                      <a:lumMod val="50000"/>
                    </a:schemeClr>
                  </a:solidFill>
                  <a:latin typeface="Garamond"/>
                  <a:ea typeface="KaiTi" panose="02010609060101010101" pitchFamily="49" charset="-122"/>
                </a:rPr>
                <a:t>内部</a:t>
              </a:r>
            </a:p>
            <a:p>
              <a:pPr>
                <a:spcBef>
                  <a:spcPct val="50000"/>
                </a:spcBef>
              </a:pPr>
              <a:r>
                <a:rPr lang="zh-CN" altLang="en-US" sz="2800" b="1">
                  <a:solidFill>
                    <a:schemeClr val="accent6">
                      <a:lumMod val="50000"/>
                    </a:schemeClr>
                  </a:solidFill>
                  <a:latin typeface="Garamond"/>
                  <a:ea typeface="KaiTi" panose="02010609060101010101" pitchFamily="49" charset="-122"/>
                </a:rPr>
                <a:t>后勤</a:t>
              </a:r>
            </a:p>
          </p:txBody>
        </p:sp>
        <p:sp>
          <p:nvSpPr>
            <p:cNvPr id="97304" name="Text Box 26"/>
            <p:cNvSpPr txBox="1">
              <a:spLocks noChangeArrowheads="1"/>
            </p:cNvSpPr>
            <p:nvPr/>
          </p:nvSpPr>
          <p:spPr bwMode="auto">
            <a:xfrm>
              <a:off x="3935414" y="4868863"/>
              <a:ext cx="1081087" cy="1160462"/>
            </a:xfrm>
            <a:prstGeom prst="rect">
              <a:avLst/>
            </a:prstGeom>
            <a:noFill/>
            <a:ln w="9525">
              <a:noFill/>
              <a:miter lim="800000"/>
              <a:headEnd/>
              <a:tailEnd/>
            </a:ln>
          </p:spPr>
          <p:txBody>
            <a:bodyPr>
              <a:spAutoFit/>
            </a:bodyPr>
            <a:lstStyle/>
            <a:p>
              <a:pPr>
                <a:spcBef>
                  <a:spcPct val="50000"/>
                </a:spcBef>
              </a:pPr>
              <a:r>
                <a:rPr lang="zh-CN" altLang="en-US" sz="2800" b="1">
                  <a:solidFill>
                    <a:schemeClr val="accent6">
                      <a:lumMod val="50000"/>
                    </a:schemeClr>
                  </a:solidFill>
                  <a:latin typeface="Garamond"/>
                  <a:ea typeface="KaiTi" panose="02010609060101010101" pitchFamily="49" charset="-122"/>
                </a:rPr>
                <a:t>生产</a:t>
              </a:r>
            </a:p>
            <a:p>
              <a:pPr>
                <a:spcBef>
                  <a:spcPct val="50000"/>
                </a:spcBef>
              </a:pPr>
              <a:r>
                <a:rPr lang="zh-CN" altLang="en-US" sz="2800" b="1">
                  <a:solidFill>
                    <a:schemeClr val="accent6">
                      <a:lumMod val="50000"/>
                    </a:schemeClr>
                  </a:solidFill>
                  <a:latin typeface="Garamond"/>
                  <a:ea typeface="KaiTi" panose="02010609060101010101" pitchFamily="49" charset="-122"/>
                </a:rPr>
                <a:t>作业</a:t>
              </a:r>
            </a:p>
          </p:txBody>
        </p:sp>
        <p:sp>
          <p:nvSpPr>
            <p:cNvPr id="97305" name="Text Box 27"/>
            <p:cNvSpPr txBox="1">
              <a:spLocks noChangeArrowheads="1"/>
            </p:cNvSpPr>
            <p:nvPr/>
          </p:nvSpPr>
          <p:spPr bwMode="auto">
            <a:xfrm>
              <a:off x="6672263" y="4868863"/>
              <a:ext cx="1223962" cy="1160462"/>
            </a:xfrm>
            <a:prstGeom prst="rect">
              <a:avLst/>
            </a:prstGeom>
            <a:noFill/>
            <a:ln w="9525">
              <a:noFill/>
              <a:miter lim="800000"/>
              <a:headEnd/>
              <a:tailEnd/>
            </a:ln>
          </p:spPr>
          <p:txBody>
            <a:bodyPr>
              <a:spAutoFit/>
            </a:bodyPr>
            <a:lstStyle/>
            <a:p>
              <a:pPr>
                <a:spcBef>
                  <a:spcPct val="50000"/>
                </a:spcBef>
              </a:pPr>
              <a:r>
                <a:rPr lang="zh-CN" altLang="en-US" sz="2800" b="1">
                  <a:solidFill>
                    <a:schemeClr val="accent6">
                      <a:lumMod val="50000"/>
                    </a:schemeClr>
                  </a:solidFill>
                  <a:latin typeface="Garamond"/>
                  <a:ea typeface="KaiTi" panose="02010609060101010101" pitchFamily="49" charset="-122"/>
                </a:rPr>
                <a:t>市场</a:t>
              </a:r>
            </a:p>
            <a:p>
              <a:pPr>
                <a:spcBef>
                  <a:spcPct val="50000"/>
                </a:spcBef>
              </a:pPr>
              <a:r>
                <a:rPr lang="zh-CN" altLang="en-US" sz="2800" b="1">
                  <a:solidFill>
                    <a:schemeClr val="accent6">
                      <a:lumMod val="50000"/>
                    </a:schemeClr>
                  </a:solidFill>
                  <a:latin typeface="Garamond"/>
                  <a:ea typeface="KaiTi" panose="02010609060101010101" pitchFamily="49" charset="-122"/>
                </a:rPr>
                <a:t>营销</a:t>
              </a:r>
            </a:p>
          </p:txBody>
        </p:sp>
        <p:sp>
          <p:nvSpPr>
            <p:cNvPr id="97306" name="Text Box 29"/>
            <p:cNvSpPr txBox="1">
              <a:spLocks noChangeArrowheads="1"/>
            </p:cNvSpPr>
            <p:nvPr/>
          </p:nvSpPr>
          <p:spPr bwMode="auto">
            <a:xfrm>
              <a:off x="8112126" y="4797426"/>
              <a:ext cx="1008063" cy="1160463"/>
            </a:xfrm>
            <a:prstGeom prst="rect">
              <a:avLst/>
            </a:prstGeom>
            <a:noFill/>
            <a:ln w="9525">
              <a:noFill/>
              <a:miter lim="800000"/>
              <a:headEnd/>
              <a:tailEnd/>
            </a:ln>
          </p:spPr>
          <p:txBody>
            <a:bodyPr>
              <a:spAutoFit/>
            </a:bodyPr>
            <a:lstStyle/>
            <a:p>
              <a:pPr>
                <a:spcBef>
                  <a:spcPct val="50000"/>
                </a:spcBef>
              </a:pPr>
              <a:r>
                <a:rPr lang="zh-CN" altLang="en-US" sz="2800" b="1">
                  <a:solidFill>
                    <a:schemeClr val="accent6">
                      <a:lumMod val="50000"/>
                    </a:schemeClr>
                  </a:solidFill>
                  <a:latin typeface="Garamond"/>
                  <a:ea typeface="KaiTi" panose="02010609060101010101" pitchFamily="49" charset="-122"/>
                </a:rPr>
                <a:t>服</a:t>
              </a:r>
            </a:p>
            <a:p>
              <a:pPr>
                <a:spcBef>
                  <a:spcPct val="50000"/>
                </a:spcBef>
              </a:pPr>
              <a:r>
                <a:rPr lang="zh-CN" altLang="en-US" sz="2800" b="1">
                  <a:solidFill>
                    <a:schemeClr val="accent6">
                      <a:lumMod val="50000"/>
                    </a:schemeClr>
                  </a:solidFill>
                  <a:latin typeface="Garamond"/>
                  <a:ea typeface="KaiTi" panose="02010609060101010101" pitchFamily="49" charset="-122"/>
                </a:rPr>
                <a:t>务</a:t>
              </a:r>
            </a:p>
          </p:txBody>
        </p:sp>
        <p:sp>
          <p:nvSpPr>
            <p:cNvPr id="97307" name="Text Box 31"/>
            <p:cNvSpPr txBox="1">
              <a:spLocks noChangeArrowheads="1"/>
            </p:cNvSpPr>
            <p:nvPr/>
          </p:nvSpPr>
          <p:spPr bwMode="auto">
            <a:xfrm>
              <a:off x="5303838" y="4868863"/>
              <a:ext cx="1223962" cy="1160462"/>
            </a:xfrm>
            <a:prstGeom prst="rect">
              <a:avLst/>
            </a:prstGeom>
            <a:noFill/>
            <a:ln w="9525">
              <a:noFill/>
              <a:miter lim="800000"/>
              <a:headEnd/>
              <a:tailEnd/>
            </a:ln>
          </p:spPr>
          <p:txBody>
            <a:bodyPr>
              <a:spAutoFit/>
            </a:bodyPr>
            <a:lstStyle/>
            <a:p>
              <a:pPr>
                <a:spcBef>
                  <a:spcPct val="50000"/>
                </a:spcBef>
              </a:pPr>
              <a:r>
                <a:rPr lang="zh-CN" altLang="en-US" sz="2800" b="1">
                  <a:solidFill>
                    <a:schemeClr val="accent6">
                      <a:lumMod val="50000"/>
                    </a:schemeClr>
                  </a:solidFill>
                  <a:latin typeface="Garamond"/>
                  <a:ea typeface="KaiTi" panose="02010609060101010101" pitchFamily="49" charset="-122"/>
                </a:rPr>
                <a:t>外部</a:t>
              </a:r>
            </a:p>
            <a:p>
              <a:pPr>
                <a:spcBef>
                  <a:spcPct val="50000"/>
                </a:spcBef>
              </a:pPr>
              <a:r>
                <a:rPr lang="zh-CN" altLang="en-US" sz="2800" b="1">
                  <a:solidFill>
                    <a:schemeClr val="accent6">
                      <a:lumMod val="50000"/>
                    </a:schemeClr>
                  </a:solidFill>
                  <a:latin typeface="Garamond"/>
                  <a:ea typeface="KaiTi" panose="02010609060101010101" pitchFamily="49" charset="-122"/>
                </a:rPr>
                <a:t>后勤</a:t>
              </a:r>
            </a:p>
          </p:txBody>
        </p:sp>
      </p:gr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F0FE3656-2053-6D4D-98CF-33CA26B301C0}"/>
              </a:ext>
            </a:extLst>
          </p:cNvPr>
          <p:cNvSpPr>
            <a:spLocks noGrp="1"/>
          </p:cNvSpPr>
          <p:nvPr>
            <p:ph type="title"/>
          </p:nvPr>
        </p:nvSpPr>
        <p:spPr/>
        <p:txBody>
          <a:bodyPr/>
          <a:lstStyle/>
          <a:p>
            <a:endParaRPr lang="zh-CN" altLang="en-US"/>
          </a:p>
        </p:txBody>
      </p:sp>
      <p:sp>
        <p:nvSpPr>
          <p:cNvPr id="3" name="内容占位符 2"/>
          <p:cNvSpPr>
            <a:spLocks noGrp="1"/>
          </p:cNvSpPr>
          <p:nvPr>
            <p:ph idx="1"/>
          </p:nvPr>
        </p:nvSpPr>
        <p:spPr>
          <a:xfrm>
            <a:off x="2692867" y="1553981"/>
            <a:ext cx="7796212" cy="3997325"/>
          </a:xfrm>
        </p:spPr>
        <p:txBody>
          <a:bodyPr/>
          <a:lstStyle/>
          <a:p>
            <a:r>
              <a:rPr lang="zh-CN" altLang="en-US" dirty="0"/>
              <a:t>企业通过完成一系列作业产生价值</a:t>
            </a:r>
            <a:endParaRPr lang="en-US" altLang="zh-CN" dirty="0"/>
          </a:p>
          <a:p>
            <a:r>
              <a:rPr lang="zh-CN" altLang="en-US" dirty="0"/>
              <a:t>企业产生的最终价值通过顾客愿意支付的货币量计量</a:t>
            </a:r>
            <a:endParaRPr lang="en-US" altLang="zh-CN" dirty="0"/>
          </a:p>
          <a:p>
            <a:r>
              <a:rPr lang="zh-CN" altLang="en-US" dirty="0"/>
              <a:t>如果顾客愿意支付的货币的价值超过了企业活动的总成本，则企业有利可图</a:t>
            </a:r>
            <a:endParaRPr lang="en-US" altLang="zh-CN" dirty="0"/>
          </a:p>
          <a:p>
            <a:r>
              <a:rPr lang="zh-CN" altLang="en-US" dirty="0"/>
              <a:t>企业与上下游各有其价值链，彼此相互关联，成为价值系统。</a:t>
            </a:r>
            <a:endParaRPr lang="en-US" altLang="zh-CN" dirty="0"/>
          </a:p>
          <a:p>
            <a:r>
              <a:rPr lang="zh-CN" altLang="en-US" dirty="0"/>
              <a:t>增加价值，减低成本</a:t>
            </a:r>
          </a:p>
        </p:txBody>
      </p:sp>
    </p:spTree>
    <p:extLst>
      <p:ext uri="{BB962C8B-B14F-4D97-AF65-F5344CB8AC3E}">
        <p14:creationId xmlns:p14="http://schemas.microsoft.com/office/powerpoint/2010/main" val="133949686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52469" y="963588"/>
            <a:ext cx="7958331" cy="1077229"/>
          </a:xfrm>
        </p:spPr>
        <p:txBody>
          <a:bodyPr/>
          <a:lstStyle/>
          <a:p>
            <a:r>
              <a:rPr kumimoji="1" lang="zh-CN" altLang="en-US" dirty="0"/>
              <a:t>价值链分析</a:t>
            </a:r>
          </a:p>
        </p:txBody>
      </p:sp>
      <p:sp>
        <p:nvSpPr>
          <p:cNvPr id="3" name="内容占位符 2"/>
          <p:cNvSpPr>
            <a:spLocks noGrp="1"/>
          </p:cNvSpPr>
          <p:nvPr>
            <p:ph idx="1"/>
          </p:nvPr>
        </p:nvSpPr>
        <p:spPr>
          <a:xfrm>
            <a:off x="1981200" y="1885285"/>
            <a:ext cx="8229600" cy="4525962"/>
          </a:xfrm>
        </p:spPr>
        <p:txBody>
          <a:bodyPr>
            <a:normAutofit/>
          </a:bodyPr>
          <a:lstStyle/>
          <a:p>
            <a:pPr>
              <a:spcAft>
                <a:spcPts val="0"/>
              </a:spcAft>
            </a:pPr>
            <a:r>
              <a:rPr kumimoji="1" lang="zh-CN" altLang="en-US" dirty="0"/>
              <a:t>确定引起价值增值的各项作业</a:t>
            </a:r>
            <a:endParaRPr kumimoji="1" lang="en-US" altLang="zh-CN" dirty="0"/>
          </a:p>
          <a:p>
            <a:pPr lvl="1">
              <a:spcAft>
                <a:spcPts val="0"/>
              </a:spcAft>
            </a:pPr>
            <a:r>
              <a:rPr kumimoji="1" lang="zh-CN" altLang="en-US" dirty="0"/>
              <a:t>将作业、成本、收入和资产建立联系（</a:t>
            </a:r>
            <a:r>
              <a:rPr kumimoji="1" lang="en-US" altLang="zh-CN" dirty="0"/>
              <a:t>ABC-activity</a:t>
            </a:r>
            <a:r>
              <a:rPr kumimoji="1" lang="zh-CN" altLang="en-US" dirty="0"/>
              <a:t> </a:t>
            </a:r>
            <a:r>
              <a:rPr kumimoji="1" lang="en-US" altLang="zh-CN" dirty="0"/>
              <a:t>based</a:t>
            </a:r>
            <a:r>
              <a:rPr kumimoji="1" lang="zh-CN" altLang="en-US" dirty="0"/>
              <a:t> </a:t>
            </a:r>
            <a:r>
              <a:rPr kumimoji="1" lang="en-US" altLang="zh-CN" dirty="0"/>
              <a:t>costing</a:t>
            </a:r>
            <a:r>
              <a:rPr kumimoji="1" lang="zh-CN" altLang="en-US" dirty="0"/>
              <a:t>）</a:t>
            </a:r>
            <a:endParaRPr kumimoji="1" lang="en-US" altLang="zh-CN" dirty="0"/>
          </a:p>
          <a:p>
            <a:pPr lvl="1">
              <a:spcAft>
                <a:spcPts val="0"/>
              </a:spcAft>
            </a:pPr>
            <a:r>
              <a:rPr kumimoji="1" lang="zh-CN" altLang="en-US" dirty="0"/>
              <a:t>分析作业成本，分析作业成本差异的原因（标杆管理）</a:t>
            </a:r>
            <a:endParaRPr kumimoji="1" lang="en-US" altLang="zh-CN" dirty="0"/>
          </a:p>
          <a:p>
            <a:pPr lvl="1">
              <a:spcAft>
                <a:spcPts val="0"/>
              </a:spcAft>
            </a:pPr>
            <a:r>
              <a:rPr kumimoji="1" lang="zh-CN" altLang="en-US" dirty="0"/>
              <a:t>是否有不增值的作业？日本企业的</a:t>
            </a:r>
            <a:r>
              <a:rPr kumimoji="1" lang="en-US" altLang="zh-CN" dirty="0"/>
              <a:t>JIT</a:t>
            </a:r>
            <a:r>
              <a:rPr kumimoji="1" lang="zh-CN" altLang="en-US" dirty="0"/>
              <a:t>管理与精益生产管理。</a:t>
            </a:r>
            <a:endParaRPr kumimoji="1" lang="en-US" altLang="zh-CN" dirty="0"/>
          </a:p>
          <a:p>
            <a:pPr lvl="1">
              <a:spcAft>
                <a:spcPts val="0"/>
              </a:spcAft>
            </a:pPr>
            <a:r>
              <a:rPr kumimoji="1" lang="zh-CN" altLang="en-US" dirty="0"/>
              <a:t>是否带来差异化</a:t>
            </a:r>
            <a:endParaRPr kumimoji="1" lang="en-US" altLang="zh-CN" dirty="0"/>
          </a:p>
          <a:p>
            <a:pPr>
              <a:spcAft>
                <a:spcPts val="0"/>
              </a:spcAft>
            </a:pPr>
            <a:r>
              <a:rPr kumimoji="1" lang="zh-CN" altLang="en-US" dirty="0"/>
              <a:t>与竞争对手成本的比较</a:t>
            </a:r>
            <a:endParaRPr kumimoji="1" lang="en-US" altLang="zh-CN" dirty="0"/>
          </a:p>
          <a:p>
            <a:pPr>
              <a:spcAft>
                <a:spcPts val="0"/>
              </a:spcAft>
            </a:pPr>
            <a:r>
              <a:rPr kumimoji="1" lang="zh-CN" altLang="en-US" dirty="0"/>
              <a:t>价值链的成本分析</a:t>
            </a:r>
            <a:endParaRPr kumimoji="1" lang="en-US" altLang="zh-CN" dirty="0"/>
          </a:p>
          <a:p>
            <a:pPr lvl="1">
              <a:spcAft>
                <a:spcPts val="0"/>
              </a:spcAft>
            </a:pPr>
            <a:r>
              <a:rPr kumimoji="1" lang="zh-CN" altLang="en-US" dirty="0"/>
              <a:t>供应链管理上的成本降低， 比如</a:t>
            </a:r>
            <a:r>
              <a:rPr kumimoji="1" lang="en-US" altLang="zh-CN" dirty="0" err="1"/>
              <a:t>vmi</a:t>
            </a:r>
            <a:endParaRPr kumimoji="1" lang="en-US" altLang="zh-CN" dirty="0"/>
          </a:p>
          <a:p>
            <a:pPr lvl="1">
              <a:spcAft>
                <a:spcPts val="0"/>
              </a:spcAft>
            </a:pPr>
            <a:r>
              <a:rPr kumimoji="1" lang="zh-CN" altLang="en-US" dirty="0"/>
              <a:t>一体化带来的成本降低</a:t>
            </a:r>
            <a:endParaRPr kumimoji="1" lang="en-US" altLang="zh-CN" dirty="0"/>
          </a:p>
          <a:p>
            <a:pPr lvl="1"/>
            <a:endParaRPr kumimoji="1" lang="en-US" altLang="zh-CN" dirty="0"/>
          </a:p>
          <a:p>
            <a:pPr lvl="1"/>
            <a:endParaRPr kumimoji="1" lang="zh-CN" altLang="en-US" dirty="0"/>
          </a:p>
        </p:txBody>
      </p:sp>
    </p:spTree>
    <p:extLst>
      <p:ext uri="{BB962C8B-B14F-4D97-AF65-F5344CB8AC3E}">
        <p14:creationId xmlns:p14="http://schemas.microsoft.com/office/powerpoint/2010/main" val="60936700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739106" y="1106833"/>
            <a:ext cx="8713787" cy="1143000"/>
          </a:xfrm>
        </p:spPr>
        <p:txBody>
          <a:bodyPr/>
          <a:lstStyle/>
          <a:p>
            <a:pPr marL="54864">
              <a:defRPr/>
            </a:pPr>
            <a:r>
              <a:rPr lang="zh-CN" altLang="en-US" dirty="0">
                <a:solidFill>
                  <a:schemeClr val="tx2">
                    <a:tint val="100000"/>
                    <a:shade val="90000"/>
                    <a:satMod val="250000"/>
                    <a:alpha val="100000"/>
                  </a:schemeClr>
                </a:solidFill>
                <a:ea typeface="黑体" pitchFamily="2" charset="-122"/>
                <a:cs typeface="+mj-cs"/>
              </a:rPr>
              <a:t>    价值链的应用</a:t>
            </a:r>
          </a:p>
        </p:txBody>
      </p:sp>
      <p:sp>
        <p:nvSpPr>
          <p:cNvPr id="102402" name="Rectangle 3"/>
          <p:cNvSpPr>
            <a:spLocks noGrp="1" noChangeArrowheads="1"/>
          </p:cNvSpPr>
          <p:nvPr>
            <p:ph idx="1"/>
          </p:nvPr>
        </p:nvSpPr>
        <p:spPr>
          <a:xfrm>
            <a:off x="1616766" y="765175"/>
            <a:ext cx="9144000" cy="5327650"/>
          </a:xfrm>
        </p:spPr>
        <p:txBody>
          <a:bodyPr/>
          <a:lstStyle/>
          <a:p>
            <a:pPr>
              <a:lnSpc>
                <a:spcPct val="90000"/>
              </a:lnSpc>
              <a:buFont typeface="Wingdings" pitchFamily="2" charset="2"/>
              <a:buNone/>
            </a:pPr>
            <a:endParaRPr lang="zh-CN" altLang="en-US" sz="2400" b="1" dirty="0"/>
          </a:p>
          <a:p>
            <a:pPr>
              <a:lnSpc>
                <a:spcPct val="90000"/>
              </a:lnSpc>
            </a:pPr>
            <a:r>
              <a:rPr lang="zh-CN" altLang="en-US" sz="3200" b="1" dirty="0"/>
              <a:t>竞争者价值链之间的差异是竞争优势的一个关键来源。</a:t>
            </a:r>
          </a:p>
          <a:p>
            <a:pPr>
              <a:lnSpc>
                <a:spcPct val="90000"/>
              </a:lnSpc>
            </a:pPr>
            <a:r>
              <a:rPr lang="zh-CN" altLang="en-US" sz="3200" b="1" dirty="0"/>
              <a:t>企业通过对每项价值活动的逐项分析，发现存在哪些优势、劣势。</a:t>
            </a:r>
          </a:p>
          <a:p>
            <a:pPr>
              <a:lnSpc>
                <a:spcPct val="90000"/>
              </a:lnSpc>
            </a:pPr>
            <a:r>
              <a:rPr lang="zh-CN" altLang="en-US" sz="3200" b="1" dirty="0"/>
              <a:t>分析价值链中各项活动的内部联系，这种联系以整体最优化和协同两种方式给企业带来哪些优势。</a:t>
            </a:r>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案例一：比亚迪——垂直整合的价值链</a:t>
            </a:r>
          </a:p>
        </p:txBody>
      </p:sp>
      <p:sp>
        <p:nvSpPr>
          <p:cNvPr id="3" name="Content Placeholder 2"/>
          <p:cNvSpPr>
            <a:spLocks noGrp="1"/>
          </p:cNvSpPr>
          <p:nvPr>
            <p:ph idx="1"/>
          </p:nvPr>
        </p:nvSpPr>
        <p:spPr>
          <a:xfrm>
            <a:off x="2331720" y="1847088"/>
            <a:ext cx="8778240" cy="4526280"/>
          </a:xfrm>
        </p:spPr>
        <p:txBody>
          <a:bodyPr wrap="square"/>
          <a:lstStyle/>
          <a:p>
            <a:pPr>
              <a:spcAft>
                <a:spcPts val="500"/>
              </a:spcAft>
            </a:pPr>
            <a:r>
              <a:rPr sz="1700" b="1">
                <a:solidFill>
                  <a:srgbClr val="30508C"/>
                </a:solidFill>
                <a:latin typeface="等线"/>
              </a:rPr>
              <a:t>基本活动的极致整合</a:t>
            </a:r>
          </a:p>
          <a:p>
            <a:pPr lvl="1">
              <a:spcAft>
                <a:spcPts val="300"/>
              </a:spcAft>
            </a:pPr>
            <a:r>
              <a:rPr sz="1500" b="0">
                <a:solidFill>
                  <a:srgbClr val="262626"/>
                </a:solidFill>
                <a:latin typeface="等线"/>
              </a:rPr>
              <a:t>内部后勤：上游布局锂矿与电池材料，关键物料自供，降低供应波动风险</a:t>
            </a:r>
          </a:p>
          <a:p>
            <a:pPr lvl="1">
              <a:spcAft>
                <a:spcPts val="300"/>
              </a:spcAft>
            </a:pPr>
            <a:r>
              <a:rPr sz="1500" b="0">
                <a:solidFill>
                  <a:srgbClr val="262626"/>
                </a:solidFill>
                <a:latin typeface="等线"/>
              </a:rPr>
              <a:t>生产运营：刀片电池、电机、电控、功率半导体（IGBT/SiC）自研自产——基本活动核心环节全部内化</a:t>
            </a:r>
          </a:p>
          <a:p>
            <a:pPr lvl="1">
              <a:spcAft>
                <a:spcPts val="300"/>
              </a:spcAft>
            </a:pPr>
            <a:r>
              <a:rPr sz="1500" b="0">
                <a:solidFill>
                  <a:srgbClr val="262626"/>
                </a:solidFill>
                <a:latin typeface="等线"/>
              </a:rPr>
              <a:t>规模基础：2024 年销量约 427 万辆，全球新能源汽车第一</a:t>
            </a:r>
          </a:p>
          <a:p>
            <a:pPr>
              <a:spcAft>
                <a:spcPts val="500"/>
              </a:spcAft>
            </a:pPr>
            <a:r>
              <a:rPr sz="1700" b="1">
                <a:solidFill>
                  <a:srgbClr val="30508C"/>
                </a:solidFill>
                <a:latin typeface="等线"/>
              </a:rPr>
              <a:t>支持性活动：2024 年研发投入约 542 亿元（超过当年净利润）</a:t>
            </a:r>
          </a:p>
          <a:p>
            <a:pPr lvl="1">
              <a:spcAft>
                <a:spcPts val="300"/>
              </a:spcAft>
            </a:pPr>
            <a:r>
              <a:rPr sz="1500" b="0">
                <a:solidFill>
                  <a:srgbClr val="262626"/>
                </a:solidFill>
                <a:latin typeface="等线"/>
              </a:rPr>
              <a:t>结果：整车成本结构性低于对手，支撑"电比油低"的价格战——成本领先战略的价值链基础</a:t>
            </a:r>
          </a:p>
          <a:p>
            <a:pPr>
              <a:spcAft>
                <a:spcPts val="500"/>
              </a:spcAft>
            </a:pPr>
            <a:r>
              <a:rPr sz="1700" b="1">
                <a:solidFill>
                  <a:srgbClr val="30508C"/>
                </a:solidFill>
                <a:latin typeface="等线"/>
              </a:rPr>
              <a:t>对照：特斯拉的"精简价值链"</a:t>
            </a:r>
          </a:p>
          <a:p>
            <a:pPr lvl="1">
              <a:spcAft>
                <a:spcPts val="300"/>
              </a:spcAft>
            </a:pPr>
            <a:r>
              <a:rPr sz="1500" b="0">
                <a:solidFill>
                  <a:srgbClr val="262626"/>
                </a:solidFill>
                <a:latin typeface="等线"/>
              </a:rPr>
              <a:t>少数车型聚焦 + 超级工厂一体化压铸（Giga Casting）重塑生产运营环节——另一种成本领先路径</a:t>
            </a:r>
          </a:p>
          <a:p>
            <a:pPr lvl="1">
              <a:spcAft>
                <a:spcPts val="300"/>
              </a:spcAft>
            </a:pPr>
            <a:r>
              <a:rPr sz="1500" b="0">
                <a:solidFill>
                  <a:srgbClr val="262626"/>
                </a:solidFill>
                <a:latin typeface="等线"/>
              </a:rPr>
              <a:t>教学要点：同一战略（成本领先），可以通过完全不同的价值链设计实现</a:t>
            </a:r>
          </a:p>
        </p:txBody>
      </p:sp>
      <p:sp>
        <p:nvSpPr>
          <p:cNvPr id="4" name="TextBox 3"/>
          <p:cNvSpPr txBox="1"/>
          <p:nvPr/>
        </p:nvSpPr>
        <p:spPr>
          <a:xfrm>
            <a:off x="1463040" y="6473952"/>
            <a:ext cx="9326880" cy="310896"/>
          </a:xfrm>
          <a:prstGeom prst="rect">
            <a:avLst/>
          </a:prstGeom>
          <a:noFill/>
        </p:spPr>
        <p:txBody>
          <a:bodyPr wrap="none">
            <a:spAutoFit/>
          </a:bodyPr>
          <a:lstStyle/>
          <a:p>
            <a:r>
              <a:rPr sz="1100" i="1">
                <a:solidFill>
                  <a:srgbClr val="7F7F7F"/>
                </a:solidFill>
                <a:latin typeface="等线"/>
              </a:rPr>
              <a:t>资料来源：比亚迪、特斯拉 2024 年年度报告及公开披露数据</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案例二：瑞幸咖啡——用支持性活动重构价值链</a:t>
            </a:r>
          </a:p>
        </p:txBody>
      </p:sp>
      <p:sp>
        <p:nvSpPr>
          <p:cNvPr id="3" name="Content Placeholder 2"/>
          <p:cNvSpPr>
            <a:spLocks noGrp="1"/>
          </p:cNvSpPr>
          <p:nvPr>
            <p:ph idx="1"/>
          </p:nvPr>
        </p:nvSpPr>
        <p:spPr>
          <a:xfrm>
            <a:off x="2331720" y="1847088"/>
            <a:ext cx="8778240" cy="4526280"/>
          </a:xfrm>
        </p:spPr>
        <p:txBody>
          <a:bodyPr wrap="square"/>
          <a:lstStyle/>
          <a:p>
            <a:pPr>
              <a:spcAft>
                <a:spcPts val="500"/>
              </a:spcAft>
            </a:pPr>
            <a:r>
              <a:rPr sz="1700" b="1">
                <a:solidFill>
                  <a:srgbClr val="30508C"/>
                </a:solidFill>
                <a:latin typeface="等线"/>
              </a:rPr>
              <a:t>数字化不是"锦上添花"，而是重构价值链的杠杆</a:t>
            </a:r>
          </a:p>
          <a:p>
            <a:pPr lvl="1">
              <a:spcAft>
                <a:spcPts val="300"/>
              </a:spcAft>
            </a:pPr>
            <a:r>
              <a:rPr sz="1500" b="0">
                <a:solidFill>
                  <a:srgbClr val="262626"/>
                </a:solidFill>
                <a:latin typeface="等线"/>
              </a:rPr>
              <a:t>技术开发（支持性活动）：全流程 APP 下单、智能选址与补货、自动化排班——渗透进每一项基本活动</a:t>
            </a:r>
          </a:p>
          <a:p>
            <a:pPr lvl="1">
              <a:spcAft>
                <a:spcPts val="300"/>
              </a:spcAft>
            </a:pPr>
            <a:r>
              <a:rPr sz="1500" b="0">
                <a:solidFill>
                  <a:srgbClr val="262626"/>
                </a:solidFill>
                <a:latin typeface="等线"/>
              </a:rPr>
              <a:t>内部后勤：大数据预测需求，供应链反向定制（云南、巴西咖啡豆基地直采）</a:t>
            </a:r>
          </a:p>
          <a:p>
            <a:pPr lvl="1">
              <a:spcAft>
                <a:spcPts val="300"/>
              </a:spcAft>
            </a:pPr>
            <a:r>
              <a:rPr sz="1500" b="0">
                <a:solidFill>
                  <a:srgbClr val="262626"/>
                </a:solidFill>
                <a:latin typeface="等线"/>
              </a:rPr>
              <a:t>外部后勤与营销：小店模型（快取店）砍掉堂食与高租金；私域运营＋爆品策略（生椰拿铁累计销量数亿杯）</a:t>
            </a:r>
          </a:p>
          <a:p>
            <a:pPr>
              <a:spcAft>
                <a:spcPts val="500"/>
              </a:spcAft>
            </a:pPr>
            <a:r>
              <a:rPr sz="1700" b="1">
                <a:solidFill>
                  <a:srgbClr val="30508C"/>
                </a:solidFill>
                <a:latin typeface="等线"/>
              </a:rPr>
              <a:t>结果</a:t>
            </a:r>
          </a:p>
          <a:p>
            <a:pPr lvl="1">
              <a:spcAft>
                <a:spcPts val="300"/>
              </a:spcAft>
            </a:pPr>
            <a:r>
              <a:rPr sz="1500" b="0">
                <a:solidFill>
                  <a:srgbClr val="262626"/>
                </a:solidFill>
                <a:latin typeface="等线"/>
              </a:rPr>
              <a:t>2023 年总净收入约 249 亿元，首次超过星巴克中国；2024 年底门店超过 2.2 万家</a:t>
            </a:r>
          </a:p>
          <a:p>
            <a:pPr>
              <a:spcAft>
                <a:spcPts val="500"/>
              </a:spcAft>
            </a:pPr>
            <a:r>
              <a:rPr sz="1700" b="1">
                <a:solidFill>
                  <a:srgbClr val="30508C"/>
                </a:solidFill>
                <a:latin typeface="等线"/>
              </a:rPr>
              <a:t>教学要点</a:t>
            </a:r>
          </a:p>
          <a:p>
            <a:pPr lvl="1">
              <a:spcAft>
                <a:spcPts val="300"/>
              </a:spcAft>
            </a:pPr>
            <a:r>
              <a:rPr sz="1500" b="0">
                <a:solidFill>
                  <a:srgbClr val="262626"/>
                </a:solidFill>
                <a:latin typeface="等线"/>
              </a:rPr>
              <a:t>价值链分析的目的不是"画图"，而是找出"用支持性活动放大基本活动价值"的杠杆点</a:t>
            </a:r>
          </a:p>
          <a:p>
            <a:pPr lvl="1">
              <a:spcAft>
                <a:spcPts val="300"/>
              </a:spcAft>
            </a:pPr>
            <a:r>
              <a:rPr sz="1500" b="0">
                <a:solidFill>
                  <a:srgbClr val="262626"/>
                </a:solidFill>
                <a:latin typeface="等线"/>
              </a:rPr>
              <a:t>对照星巴克"第三空间"：同一行业，两条完全不同的价值链——差异化的来源是活动配置方式不同</a:t>
            </a:r>
          </a:p>
        </p:txBody>
      </p:sp>
      <p:sp>
        <p:nvSpPr>
          <p:cNvPr id="4" name="TextBox 3"/>
          <p:cNvSpPr txBox="1"/>
          <p:nvPr/>
        </p:nvSpPr>
        <p:spPr>
          <a:xfrm>
            <a:off x="1463040" y="6473952"/>
            <a:ext cx="9326880" cy="310896"/>
          </a:xfrm>
          <a:prstGeom prst="rect">
            <a:avLst/>
          </a:prstGeom>
          <a:noFill/>
        </p:spPr>
        <p:txBody>
          <a:bodyPr wrap="none">
            <a:spAutoFit/>
          </a:bodyPr>
          <a:lstStyle/>
          <a:p>
            <a:r>
              <a:rPr sz="1100" i="1">
                <a:solidFill>
                  <a:srgbClr val="7F7F7F"/>
                </a:solidFill>
                <a:latin typeface="等线"/>
              </a:rPr>
              <a:t>资料来源：瑞幸咖啡（LKNCY）2023—2024 年度报告及公开披露数据</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案例三：京东与"微笑曲线"</a:t>
            </a:r>
          </a:p>
        </p:txBody>
      </p:sp>
      <p:sp>
        <p:nvSpPr>
          <p:cNvPr id="3" name="Content Placeholder 2"/>
          <p:cNvSpPr>
            <a:spLocks noGrp="1"/>
          </p:cNvSpPr>
          <p:nvPr>
            <p:ph idx="1"/>
          </p:nvPr>
        </p:nvSpPr>
        <p:spPr>
          <a:xfrm>
            <a:off x="2331720" y="1847088"/>
            <a:ext cx="8778240" cy="4526280"/>
          </a:xfrm>
        </p:spPr>
        <p:txBody>
          <a:bodyPr wrap="square"/>
          <a:lstStyle/>
          <a:p>
            <a:pPr>
              <a:spcAft>
                <a:spcPts val="500"/>
              </a:spcAft>
            </a:pPr>
            <a:r>
              <a:rPr sz="1700" b="1">
                <a:solidFill>
                  <a:srgbClr val="30508C"/>
                </a:solidFill>
                <a:latin typeface="等线"/>
              </a:rPr>
              <a:t>京东：把外部后勤从"成本项"变成"价值创造项"</a:t>
            </a:r>
          </a:p>
          <a:p>
            <a:pPr lvl="1">
              <a:spcAft>
                <a:spcPts val="300"/>
              </a:spcAft>
            </a:pPr>
            <a:r>
              <a:rPr sz="1500" b="0">
                <a:solidFill>
                  <a:srgbClr val="262626"/>
                </a:solidFill>
                <a:latin typeface="等线"/>
              </a:rPr>
              <a:t>2007 年自建物流、2010 年推出"211 限时达"、亚洲一号智能仓群</a:t>
            </a:r>
          </a:p>
          <a:p>
            <a:pPr lvl="1">
              <a:spcAft>
                <a:spcPts val="300"/>
              </a:spcAft>
            </a:pPr>
            <a:r>
              <a:rPr sz="1500" b="0">
                <a:solidFill>
                  <a:srgbClr val="262626"/>
                </a:solidFill>
                <a:latin typeface="等线"/>
              </a:rPr>
              <a:t>价值链视角：外部后勤（仓储+配送）投入巨大，但履约体验本身成为差异化来源——服务价值 &gt; 单纯成本节约</a:t>
            </a:r>
          </a:p>
          <a:p>
            <a:pPr lvl="1">
              <a:spcAft>
                <a:spcPts val="300"/>
              </a:spcAft>
            </a:pPr>
            <a:r>
              <a:rPr sz="1500" b="0">
                <a:solidFill>
                  <a:srgbClr val="262626"/>
                </a:solidFill>
                <a:latin typeface="等线"/>
              </a:rPr>
              <a:t>对照"轻资产"电商：拼多多等社交电商将履约交给第三方——价值链裁剪的另一种答案</a:t>
            </a:r>
          </a:p>
          <a:p>
            <a:pPr>
              <a:spcAft>
                <a:spcPts val="500"/>
              </a:spcAft>
            </a:pPr>
            <a:r>
              <a:rPr sz="1700" b="1">
                <a:solidFill>
                  <a:srgbClr val="30508C"/>
                </a:solidFill>
                <a:latin typeface="等线"/>
              </a:rPr>
              <a:t>微笑曲线（施振荣，1992）</a:t>
            </a:r>
          </a:p>
          <a:p>
            <a:pPr lvl="1">
              <a:spcAft>
                <a:spcPts val="300"/>
              </a:spcAft>
            </a:pPr>
            <a:r>
              <a:rPr sz="1500" b="0">
                <a:solidFill>
                  <a:srgbClr val="262626"/>
                </a:solidFill>
                <a:latin typeface="等线"/>
              </a:rPr>
              <a:t>研发与品牌营销两端附加值高，组装制造环节最低——中国制造"向两端攀升"的战略路径</a:t>
            </a:r>
          </a:p>
          <a:p>
            <a:pPr>
              <a:spcAft>
                <a:spcPts val="500"/>
              </a:spcAft>
            </a:pPr>
            <a:r>
              <a:rPr sz="1700" b="1">
                <a:solidFill>
                  <a:srgbClr val="30508C"/>
                </a:solidFill>
                <a:latin typeface="等线"/>
              </a:rPr>
              <a:t>讨论题</a:t>
            </a:r>
          </a:p>
          <a:p>
            <a:pPr lvl="1">
              <a:spcAft>
                <a:spcPts val="300"/>
              </a:spcAft>
            </a:pPr>
            <a:r>
              <a:rPr sz="1500" b="0">
                <a:solidFill>
                  <a:srgbClr val="262626"/>
                </a:solidFill>
                <a:latin typeface="等线"/>
              </a:rPr>
              <a:t>价值链上哪个环节最值得中国企业重资产投入？比亚迪选生产运营、京东选外部后勤、瑞幸选技术开发——同一分析工具，三种战略答案</a:t>
            </a:r>
          </a:p>
        </p:txBody>
      </p:sp>
      <p:sp>
        <p:nvSpPr>
          <p:cNvPr id="4" name="TextBox 3"/>
          <p:cNvSpPr txBox="1"/>
          <p:nvPr/>
        </p:nvSpPr>
        <p:spPr>
          <a:xfrm>
            <a:off x="1463040" y="6473952"/>
            <a:ext cx="9326880" cy="310896"/>
          </a:xfrm>
          <a:prstGeom prst="rect">
            <a:avLst/>
          </a:prstGeom>
          <a:noFill/>
        </p:spPr>
        <p:txBody>
          <a:bodyPr wrap="none">
            <a:spAutoFit/>
          </a:bodyPr>
          <a:lstStyle/>
          <a:p>
            <a:r>
              <a:rPr sz="1100" i="1">
                <a:solidFill>
                  <a:srgbClr val="7F7F7F"/>
                </a:solidFill>
                <a:latin typeface="等线"/>
              </a:rPr>
              <a:t>资料来源：京东集团、京东物流年报；施振荣"微笑曲线"（1992）</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40539" y="808056"/>
            <a:ext cx="8229600" cy="1143000"/>
          </a:xfrm>
        </p:spPr>
        <p:txBody>
          <a:bodyPr/>
          <a:lstStyle/>
          <a:p>
            <a:pPr marL="54864">
              <a:defRPr/>
            </a:pPr>
            <a:r>
              <a:rPr lang="zh-CN" altLang="en-US" dirty="0">
                <a:solidFill>
                  <a:schemeClr val="tx2">
                    <a:tint val="100000"/>
                    <a:shade val="90000"/>
                    <a:satMod val="250000"/>
                    <a:alpha val="100000"/>
                  </a:schemeClr>
                </a:solidFill>
                <a:cs typeface="+mj-cs"/>
              </a:rPr>
              <a:t>内部因素评价矩阵</a:t>
            </a:r>
          </a:p>
        </p:txBody>
      </p:sp>
      <p:sp>
        <p:nvSpPr>
          <p:cNvPr id="3" name="内容占位符 2"/>
          <p:cNvSpPr>
            <a:spLocks noGrp="1"/>
          </p:cNvSpPr>
          <p:nvPr>
            <p:ph idx="1"/>
          </p:nvPr>
        </p:nvSpPr>
        <p:spPr/>
        <p:txBody>
          <a:bodyPr>
            <a:normAutofit lnSpcReduction="10000"/>
          </a:bodyPr>
          <a:lstStyle/>
          <a:p>
            <a:pPr>
              <a:spcBef>
                <a:spcPts val="0"/>
              </a:spcBef>
              <a:defRPr/>
            </a:pPr>
            <a:r>
              <a:rPr lang="zh-CN" altLang="en-US" dirty="0">
                <a:cs typeface="+mn-cs"/>
              </a:rPr>
              <a:t>内部因素评价矩阵（</a:t>
            </a:r>
            <a:r>
              <a:rPr lang="en-US" altLang="zh-CN" dirty="0">
                <a:cs typeface="+mn-cs"/>
              </a:rPr>
              <a:t>Internal Factor Evaluation Matrix</a:t>
            </a:r>
            <a:r>
              <a:rPr lang="zh-CN" altLang="en-US" dirty="0">
                <a:cs typeface="+mn-cs"/>
              </a:rPr>
              <a:t>，</a:t>
            </a:r>
            <a:r>
              <a:rPr lang="en-US" altLang="zh-CN" dirty="0">
                <a:cs typeface="+mn-cs"/>
              </a:rPr>
              <a:t>IFE</a:t>
            </a:r>
            <a:r>
              <a:rPr lang="zh-CN" altLang="en-US" dirty="0">
                <a:cs typeface="+mn-cs"/>
              </a:rPr>
              <a:t>矩阵），是一种对内部因素进行分析的工具，其做法是从优势和劣势两个方面找出影响企业未来发展的关键因素，根据各个因素影响程度的大小确定权数，再按企业对各关键因素的有效反应程度对各关键因素进行评分，最后算出企业的总加权分数。通过</a:t>
            </a:r>
            <a:r>
              <a:rPr lang="en-US" altLang="zh-CN" dirty="0">
                <a:cs typeface="+mn-cs"/>
              </a:rPr>
              <a:t>IFE</a:t>
            </a:r>
            <a:r>
              <a:rPr lang="zh-CN" altLang="en-US" dirty="0">
                <a:cs typeface="+mn-cs"/>
              </a:rPr>
              <a:t>，企业就可以把自己所面临的优势与劣势汇总，来刻划出企业的全部引力。 </a:t>
            </a:r>
            <a:endParaRPr lang="en-US" altLang="zh-CN" dirty="0">
              <a:cs typeface="+mn-cs"/>
            </a:endParaRPr>
          </a:p>
          <a:p>
            <a:pPr>
              <a:spcBef>
                <a:spcPts val="0"/>
              </a:spcBef>
              <a:defRPr/>
            </a:pPr>
            <a:r>
              <a:rPr lang="en-US" altLang="zh-CN" dirty="0"/>
              <a:t>CIRCUS_CIRCUS</a:t>
            </a:r>
            <a:endParaRPr lang="zh-CN" altLang="en-US" dirty="0">
              <a:cs typeface="+mn-cs"/>
            </a:endParaRPr>
          </a:p>
          <a:p>
            <a:pPr>
              <a:spcBef>
                <a:spcPts val="0"/>
              </a:spcBef>
              <a:defRPr/>
            </a:pPr>
            <a:endParaRPr lang="zh-CN" altLang="en-US" dirty="0">
              <a:cs typeface="+mn-cs"/>
            </a:endParaRPr>
          </a:p>
          <a:p>
            <a:pPr>
              <a:spcBef>
                <a:spcPts val="0"/>
              </a:spcBef>
              <a:defRPr/>
            </a:pPr>
            <a:endParaRPr lang="zh-CN" altLang="en-US" dirty="0">
              <a:cs typeface="+mn-cs"/>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1524000" y="436563"/>
          <a:ext cx="8820472" cy="6117756"/>
        </p:xfrm>
        <a:graphic>
          <a:graphicData uri="http://schemas.openxmlformats.org/drawingml/2006/table">
            <a:tbl>
              <a:tblPr/>
              <a:tblGrid>
                <a:gridCol w="4211960">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179258">
                  <a:extLst>
                    <a:ext uri="{9D8B030D-6E8A-4147-A177-3AD203B41FA5}">
                      <a16:colId xmlns:a16="http://schemas.microsoft.com/office/drawing/2014/main" val="20002"/>
                    </a:ext>
                  </a:extLst>
                </a:gridCol>
                <a:gridCol w="2205118">
                  <a:extLst>
                    <a:ext uri="{9D8B030D-6E8A-4147-A177-3AD203B41FA5}">
                      <a16:colId xmlns:a16="http://schemas.microsoft.com/office/drawing/2014/main" val="20003"/>
                    </a:ext>
                  </a:extLst>
                </a:gridCol>
              </a:tblGrid>
              <a:tr h="127621">
                <a:tc>
                  <a:txBody>
                    <a:bodyPr/>
                    <a:lstStyle/>
                    <a:p>
                      <a:pPr marL="0"/>
                      <a:r>
                        <a:rPr lang="zh-CN" altLang="en-US" sz="1600" dirty="0">
                          <a:solidFill>
                            <a:srgbClr val="FF0000"/>
                          </a:solidFill>
                        </a:rPr>
                        <a:t>内部优势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a:solidFill>
                            <a:srgbClr val="FF0000"/>
                          </a:solidFill>
                        </a:rPr>
                        <a:t>权数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a:solidFill>
                            <a:srgbClr val="FF0000"/>
                          </a:solidFill>
                        </a:rPr>
                        <a:t>评分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a:solidFill>
                            <a:srgbClr val="FF0000"/>
                          </a:solidFill>
                        </a:rPr>
                        <a:t>加权分数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319053">
                <a:tc>
                  <a:txBody>
                    <a:bodyPr/>
                    <a:lstStyle/>
                    <a:p>
                      <a:pPr marL="0"/>
                      <a:r>
                        <a:rPr lang="en-US" altLang="zh-CN" sz="1600" dirty="0">
                          <a:solidFill>
                            <a:srgbClr val="FF0000"/>
                          </a:solidFill>
                        </a:rPr>
                        <a:t>1</a:t>
                      </a:r>
                      <a:r>
                        <a:rPr lang="zh-CN" altLang="en-US" sz="1600" dirty="0">
                          <a:solidFill>
                            <a:srgbClr val="FF0000"/>
                          </a:solidFill>
                        </a:rPr>
                        <a:t>、美国最大的赌场公司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4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0.20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510483">
                <a:tc>
                  <a:txBody>
                    <a:bodyPr/>
                    <a:lstStyle/>
                    <a:p>
                      <a:pPr marL="0"/>
                      <a:r>
                        <a:rPr lang="en-US" altLang="zh-CN" sz="1600" dirty="0">
                          <a:solidFill>
                            <a:srgbClr val="FF0000"/>
                          </a:solidFill>
                        </a:rPr>
                        <a:t>2</a:t>
                      </a:r>
                      <a:r>
                        <a:rPr lang="zh-CN" altLang="en-US" sz="1600" dirty="0">
                          <a:solidFill>
                            <a:srgbClr val="FF0000"/>
                          </a:solidFill>
                        </a:rPr>
                        <a:t>、拉斯维加斯的客房入住率达到</a:t>
                      </a:r>
                      <a:r>
                        <a:rPr lang="en-US" altLang="zh-CN" sz="1600" dirty="0">
                          <a:solidFill>
                            <a:srgbClr val="FF0000"/>
                          </a:solidFill>
                        </a:rPr>
                        <a:t>95%</a:t>
                      </a:r>
                      <a:r>
                        <a:rPr lang="zh-CN" altLang="en-US" sz="1600" dirty="0">
                          <a:solidFill>
                            <a:srgbClr val="FF0000"/>
                          </a:solidFill>
                        </a:rPr>
                        <a:t>以上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4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0.40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19053">
                <a:tc>
                  <a:txBody>
                    <a:bodyPr/>
                    <a:lstStyle/>
                    <a:p>
                      <a:pPr marL="0"/>
                      <a:r>
                        <a:rPr lang="en-US" altLang="zh-CN" sz="1600" dirty="0">
                          <a:solidFill>
                            <a:srgbClr val="FF0000"/>
                          </a:solidFill>
                        </a:rPr>
                        <a:t>3</a:t>
                      </a:r>
                      <a:r>
                        <a:rPr lang="zh-CN" altLang="en-US" sz="1600" dirty="0">
                          <a:solidFill>
                            <a:srgbClr val="FF0000"/>
                          </a:solidFill>
                        </a:rPr>
                        <a:t>、活动现金流增加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3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510483">
                <a:tc>
                  <a:txBody>
                    <a:bodyPr/>
                    <a:lstStyle/>
                    <a:p>
                      <a:pPr marL="0"/>
                      <a:r>
                        <a:rPr lang="en-US" altLang="zh-CN" sz="1600" dirty="0">
                          <a:solidFill>
                            <a:srgbClr val="FF0000"/>
                          </a:solidFill>
                        </a:rPr>
                        <a:t>4</a:t>
                      </a:r>
                      <a:r>
                        <a:rPr lang="zh-CN" altLang="en-US" sz="1600" dirty="0">
                          <a:solidFill>
                            <a:srgbClr val="FF0000"/>
                          </a:solidFill>
                        </a:rPr>
                        <a:t>、拥有拉斯维加斯狭长地带一英里的地产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4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0.60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319053">
                <a:tc>
                  <a:txBody>
                    <a:bodyPr/>
                    <a:lstStyle/>
                    <a:p>
                      <a:pPr marL="0"/>
                      <a:r>
                        <a:rPr lang="en-US" altLang="zh-CN" sz="1600" dirty="0">
                          <a:solidFill>
                            <a:srgbClr val="FF0000"/>
                          </a:solidFill>
                        </a:rPr>
                        <a:t>5</a:t>
                      </a:r>
                      <a:r>
                        <a:rPr lang="zh-CN" altLang="en-US" sz="1600" dirty="0">
                          <a:solidFill>
                            <a:srgbClr val="FF0000"/>
                          </a:solidFill>
                        </a:rPr>
                        <a:t>、强有力的管理队伍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3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r h="223337">
                <a:tc>
                  <a:txBody>
                    <a:bodyPr/>
                    <a:lstStyle/>
                    <a:p>
                      <a:pPr marL="0"/>
                      <a:r>
                        <a:rPr lang="en-US" altLang="zh-CN" sz="1600" dirty="0">
                          <a:solidFill>
                            <a:srgbClr val="FF0000"/>
                          </a:solidFill>
                        </a:rPr>
                        <a:t>6</a:t>
                      </a:r>
                      <a:r>
                        <a:rPr lang="zh-CN" altLang="en-US" sz="1600" dirty="0">
                          <a:solidFill>
                            <a:srgbClr val="FF0000"/>
                          </a:solidFill>
                        </a:rPr>
                        <a:t>、员工素质较高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3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319053">
                <a:tc>
                  <a:txBody>
                    <a:bodyPr/>
                    <a:lstStyle/>
                    <a:p>
                      <a:pPr marL="0"/>
                      <a:r>
                        <a:rPr lang="en-US" altLang="zh-CN" sz="1600">
                          <a:solidFill>
                            <a:srgbClr val="FF0000"/>
                          </a:solidFill>
                        </a:rPr>
                        <a:t>7</a:t>
                      </a:r>
                      <a:r>
                        <a:rPr lang="zh-CN" altLang="en-US" sz="1600">
                          <a:solidFill>
                            <a:srgbClr val="FF0000"/>
                          </a:solidFill>
                        </a:rPr>
                        <a:t>、大多数场所都有餐厅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3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7"/>
                  </a:ext>
                </a:extLst>
              </a:tr>
              <a:tr h="223337">
                <a:tc>
                  <a:txBody>
                    <a:bodyPr/>
                    <a:lstStyle/>
                    <a:p>
                      <a:pPr marL="0"/>
                      <a:r>
                        <a:rPr lang="en-US" altLang="zh-CN" sz="1600">
                          <a:solidFill>
                            <a:srgbClr val="FF0000"/>
                          </a:solidFill>
                        </a:rPr>
                        <a:t>8</a:t>
                      </a:r>
                      <a:r>
                        <a:rPr lang="zh-CN" altLang="en-US" sz="1600">
                          <a:solidFill>
                            <a:srgbClr val="FF0000"/>
                          </a:solidFill>
                        </a:rPr>
                        <a:t>、</a:t>
                      </a:r>
                      <a:r>
                        <a:rPr lang="zh-CN" altLang="en-US" sz="1600">
                          <a:solidFill>
                            <a:srgbClr val="FF0000"/>
                          </a:solidFill>
                          <a:hlinkClick r:id="rId2" action="ppaction://hlinkfile" tooltip="长期计划">
                            <a:extLst>
                              <a:ext uri="{A12FA001-AC4F-418D-AE19-62706E023703}">
                                <ahyp:hlinkClr xmlns:ahyp="http://schemas.microsoft.com/office/drawing/2018/hyperlinkcolor" val="tx"/>
                              </a:ext>
                            </a:extLst>
                          </a:hlinkClick>
                        </a:rPr>
                        <a:t>长期计划</a:t>
                      </a:r>
                      <a:r>
                        <a:rPr lang="zh-CN" altLang="en-US" sz="1600">
                          <a:solidFill>
                            <a:srgbClr val="FF0000"/>
                          </a:solidFill>
                        </a:rPr>
                        <a:t>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4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0.20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8"/>
                  </a:ext>
                </a:extLst>
              </a:tr>
              <a:tr h="319053">
                <a:tc>
                  <a:txBody>
                    <a:bodyPr/>
                    <a:lstStyle/>
                    <a:p>
                      <a:pPr marL="0"/>
                      <a:r>
                        <a:rPr lang="en-US" altLang="zh-CN" sz="1600">
                          <a:solidFill>
                            <a:srgbClr val="FF0000"/>
                          </a:solidFill>
                        </a:rPr>
                        <a:t>9</a:t>
                      </a:r>
                      <a:r>
                        <a:rPr lang="zh-CN" altLang="en-US" sz="1600">
                          <a:solidFill>
                            <a:srgbClr val="FF0000"/>
                          </a:solidFill>
                        </a:rPr>
                        <a:t>、热情待客的声誉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3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9"/>
                  </a:ext>
                </a:extLst>
              </a:tr>
              <a:tr h="223337">
                <a:tc>
                  <a:txBody>
                    <a:bodyPr/>
                    <a:lstStyle/>
                    <a:p>
                      <a:pPr marL="0"/>
                      <a:r>
                        <a:rPr lang="en-US" altLang="zh-CN" sz="1600">
                          <a:solidFill>
                            <a:srgbClr val="FF0000"/>
                          </a:solidFill>
                        </a:rPr>
                        <a:t>10</a:t>
                      </a:r>
                      <a:r>
                        <a:rPr lang="zh-CN" altLang="en-US" sz="1600">
                          <a:solidFill>
                            <a:srgbClr val="FF0000"/>
                          </a:solidFill>
                        </a:rPr>
                        <a:t>、</a:t>
                      </a:r>
                      <a:r>
                        <a:rPr lang="zh-CN" altLang="en-US" sz="1600">
                          <a:solidFill>
                            <a:srgbClr val="FF0000"/>
                          </a:solidFill>
                          <a:hlinkClick r:id="rId3" action="ppaction://hlinkfile" tooltip="财务比率">
                            <a:extLst>
                              <a:ext uri="{A12FA001-AC4F-418D-AE19-62706E023703}">
                                <ahyp:hlinkClr xmlns:ahyp="http://schemas.microsoft.com/office/drawing/2018/hyperlinkcolor" val="tx"/>
                              </a:ext>
                            </a:extLst>
                          </a:hlinkClick>
                        </a:rPr>
                        <a:t>财务比率</a:t>
                      </a:r>
                      <a:r>
                        <a:rPr lang="zh-CN" altLang="en-US" sz="1600">
                          <a:solidFill>
                            <a:srgbClr val="FF0000"/>
                          </a:solidFill>
                        </a:rPr>
                        <a:t>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3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0"/>
                  </a:ext>
                </a:extLst>
              </a:tr>
              <a:tr h="127621">
                <a:tc>
                  <a:txBody>
                    <a:bodyPr/>
                    <a:lstStyle/>
                    <a:p>
                      <a:pPr marL="0"/>
                      <a:r>
                        <a:rPr lang="zh-CN" altLang="en-US" sz="1600">
                          <a:solidFill>
                            <a:srgbClr val="FF0000"/>
                          </a:solidFill>
                        </a:rPr>
                        <a:t>内部弱点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a:solidFill>
                            <a:srgbClr val="FF0000"/>
                          </a:solidFill>
                        </a:rPr>
                        <a:t>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a:solidFill>
                            <a:srgbClr val="FF0000"/>
                          </a:solidFill>
                        </a:rPr>
                        <a:t>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dirty="0">
                          <a:solidFill>
                            <a:srgbClr val="FF0000"/>
                          </a:solidFill>
                        </a:rPr>
                        <a:t>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1"/>
                  </a:ext>
                </a:extLst>
              </a:tr>
              <a:tr h="414769">
                <a:tc>
                  <a:txBody>
                    <a:bodyPr/>
                    <a:lstStyle/>
                    <a:p>
                      <a:pPr marL="0"/>
                      <a:r>
                        <a:rPr lang="en-US" altLang="zh-CN" sz="1600">
                          <a:solidFill>
                            <a:srgbClr val="FF0000"/>
                          </a:solidFill>
                        </a:rPr>
                        <a:t>1</a:t>
                      </a:r>
                      <a:r>
                        <a:rPr lang="zh-CN" altLang="en-US" sz="1600">
                          <a:solidFill>
                            <a:srgbClr val="FF0000"/>
                          </a:solidFill>
                        </a:rPr>
                        <a:t>、绝大多数房产都位于拉斯维加斯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1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2"/>
                  </a:ext>
                </a:extLst>
              </a:tr>
              <a:tr h="319053">
                <a:tc>
                  <a:txBody>
                    <a:bodyPr/>
                    <a:lstStyle/>
                    <a:p>
                      <a:pPr marL="0"/>
                      <a:r>
                        <a:rPr lang="en-US" altLang="zh-CN" sz="1600">
                          <a:solidFill>
                            <a:srgbClr val="FF0000"/>
                          </a:solidFill>
                        </a:rPr>
                        <a:t>2</a:t>
                      </a:r>
                      <a:r>
                        <a:rPr lang="zh-CN" altLang="en-US" sz="1600">
                          <a:solidFill>
                            <a:srgbClr val="FF0000"/>
                          </a:solidFill>
                        </a:rPr>
                        <a:t>、缺乏多样性经营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2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3"/>
                  </a:ext>
                </a:extLst>
              </a:tr>
              <a:tr h="414769">
                <a:tc>
                  <a:txBody>
                    <a:bodyPr/>
                    <a:lstStyle/>
                    <a:p>
                      <a:pPr marL="0"/>
                      <a:r>
                        <a:rPr lang="en-US" altLang="zh-CN" sz="1600">
                          <a:solidFill>
                            <a:srgbClr val="FF0000"/>
                          </a:solidFill>
                        </a:rPr>
                        <a:t>3</a:t>
                      </a:r>
                      <a:r>
                        <a:rPr lang="zh-CN" altLang="en-US" sz="1600">
                          <a:solidFill>
                            <a:srgbClr val="FF0000"/>
                          </a:solidFill>
                        </a:rPr>
                        <a:t>、接待家庭游客，而不是赌客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0.05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2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4"/>
                  </a:ext>
                </a:extLst>
              </a:tr>
              <a:tr h="414769">
                <a:tc>
                  <a:txBody>
                    <a:bodyPr/>
                    <a:lstStyle/>
                    <a:p>
                      <a:pPr marL="0"/>
                      <a:r>
                        <a:rPr lang="en-US" altLang="zh-CN" sz="1600">
                          <a:solidFill>
                            <a:srgbClr val="FF0000"/>
                          </a:solidFill>
                        </a:rPr>
                        <a:t>4</a:t>
                      </a:r>
                      <a:r>
                        <a:rPr lang="zh-CN" altLang="en-US" sz="1600">
                          <a:solidFill>
                            <a:srgbClr val="FF0000"/>
                          </a:solidFill>
                        </a:rPr>
                        <a:t>、位于</a:t>
                      </a:r>
                      <a:r>
                        <a:rPr lang="en-US" sz="1600">
                          <a:solidFill>
                            <a:srgbClr val="FF0000"/>
                          </a:solidFill>
                        </a:rPr>
                        <a:t>Lauyhling</a:t>
                      </a:r>
                      <a:r>
                        <a:rPr lang="zh-CN" altLang="en-US" sz="1600">
                          <a:solidFill>
                            <a:srgbClr val="FF0000"/>
                          </a:solidFill>
                        </a:rPr>
                        <a:t>的房地产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1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5"/>
                  </a:ext>
                </a:extLst>
              </a:tr>
              <a:tr h="319053">
                <a:tc>
                  <a:txBody>
                    <a:bodyPr/>
                    <a:lstStyle/>
                    <a:p>
                      <a:pPr marL="0"/>
                      <a:r>
                        <a:rPr lang="en-US" altLang="zh-CN" sz="1600">
                          <a:solidFill>
                            <a:srgbClr val="FF0000"/>
                          </a:solidFill>
                        </a:rPr>
                        <a:t>5</a:t>
                      </a:r>
                      <a:r>
                        <a:rPr lang="zh-CN" altLang="en-US" sz="1600">
                          <a:solidFill>
                            <a:srgbClr val="FF0000"/>
                          </a:solidFill>
                        </a:rPr>
                        <a:t>、近期的合资经营亏损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1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0.10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6"/>
                  </a:ext>
                </a:extLst>
              </a:tr>
              <a:tr h="127621">
                <a:tc>
                  <a:txBody>
                    <a:bodyPr/>
                    <a:lstStyle/>
                    <a:p>
                      <a:pPr marL="0"/>
                      <a:r>
                        <a:rPr lang="zh-CN" altLang="en-US" sz="1600">
                          <a:solidFill>
                            <a:srgbClr val="FF0000"/>
                          </a:solidFill>
                        </a:rPr>
                        <a:t>总计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a:solidFill>
                            <a:srgbClr val="FF0000"/>
                          </a:solidFill>
                        </a:rPr>
                        <a:t>1.00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zh-CN" altLang="en-US" sz="1600">
                          <a:solidFill>
                            <a:srgbClr val="FF0000"/>
                          </a:solidFill>
                        </a:rPr>
                        <a:t>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tc>
                  <a:txBody>
                    <a:bodyPr/>
                    <a:lstStyle/>
                    <a:p>
                      <a:pPr marL="0"/>
                      <a:r>
                        <a:rPr lang="en-US" altLang="zh-CN" sz="1600" dirty="0">
                          <a:solidFill>
                            <a:srgbClr val="FF0000"/>
                          </a:solidFill>
                        </a:rPr>
                        <a:t>2.75 </a:t>
                      </a:r>
                    </a:p>
                  </a:txBody>
                  <a:tcPr marL="26011" marR="26011" marT="13006" marB="13006"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案例：比亚迪 IFE 矩阵（内部因素评价）</a:t>
            </a:r>
          </a:p>
        </p:txBody>
      </p:sp>
      <p:graphicFrame>
        <p:nvGraphicFramePr>
          <p:cNvPr id="3" name="Table 2"/>
          <p:cNvGraphicFramePr>
            <a:graphicFrameLocks noGrp="1"/>
          </p:cNvGraphicFramePr>
          <p:nvPr/>
        </p:nvGraphicFramePr>
        <p:xfrm>
          <a:off x="1325880" y="1719072"/>
          <a:ext cx="8961120" cy="4352544"/>
        </p:xfrm>
        <a:graphic>
          <a:graphicData uri="http://schemas.openxmlformats.org/drawingml/2006/table">
            <a:tbl>
              <a:tblPr firstRow="1">
                <a:tableStyleId>{5C22544A-7EE6-4342-B048-85BDC9FD1C3A}</a:tableStyleId>
              </a:tblPr>
              <a:tblGrid>
                <a:gridCol w="55778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10896">
                <a:tc>
                  <a:txBody>
                    <a:bodyPr/>
                    <a:lstStyle/>
                    <a:p>
                      <a:pPr algn="ctr"/>
                      <a:r>
                        <a:rPr sz="1200" b="1">
                          <a:solidFill>
                            <a:srgbClr val="FFFFFF"/>
                          </a:solidFill>
                          <a:latin typeface="等线"/>
                        </a:rPr>
                        <a:t>关键内部因素</a:t>
                      </a:r>
                    </a:p>
                  </a:txBody>
                  <a:tcPr marL="36576" marR="36576" marT="9144" marB="9144" anchor="ctr">
                    <a:solidFill>
                      <a:srgbClr val="4472C4"/>
                    </a:solidFill>
                  </a:tcPr>
                </a:tc>
                <a:tc>
                  <a:txBody>
                    <a:bodyPr/>
                    <a:lstStyle/>
                    <a:p>
                      <a:pPr algn="ctr"/>
                      <a:r>
                        <a:rPr sz="1200" b="1">
                          <a:solidFill>
                            <a:srgbClr val="FFFFFF"/>
                          </a:solidFill>
                          <a:latin typeface="等线"/>
                        </a:rPr>
                        <a:t>权重</a:t>
                      </a:r>
                    </a:p>
                  </a:txBody>
                  <a:tcPr marL="36576" marR="36576" marT="9144" marB="9144" anchor="ctr">
                    <a:solidFill>
                      <a:srgbClr val="4472C4"/>
                    </a:solidFill>
                  </a:tcPr>
                </a:tc>
                <a:tc>
                  <a:txBody>
                    <a:bodyPr/>
                    <a:lstStyle/>
                    <a:p>
                      <a:pPr algn="ctr"/>
                      <a:r>
                        <a:rPr sz="1200" b="1">
                          <a:solidFill>
                            <a:srgbClr val="FFFFFF"/>
                          </a:solidFill>
                          <a:latin typeface="等线"/>
                        </a:rPr>
                        <a:t>评分(1-4)</a:t>
                      </a:r>
                    </a:p>
                  </a:txBody>
                  <a:tcPr marL="36576" marR="36576" marT="9144" marB="9144" anchor="ctr">
                    <a:solidFill>
                      <a:srgbClr val="4472C4"/>
                    </a:solidFill>
                  </a:tcPr>
                </a:tc>
                <a:tc>
                  <a:txBody>
                    <a:bodyPr/>
                    <a:lstStyle/>
                    <a:p>
                      <a:pPr algn="ctr"/>
                      <a:r>
                        <a:rPr sz="1200" b="1">
                          <a:solidFill>
                            <a:srgbClr val="FFFFFF"/>
                          </a:solidFill>
                          <a:latin typeface="等线"/>
                        </a:rPr>
                        <a:t>加权分数</a:t>
                      </a:r>
                    </a:p>
                  </a:txBody>
                  <a:tcPr marL="36576" marR="36576" marT="9144" marB="9144" anchor="ctr">
                    <a:solidFill>
                      <a:srgbClr val="4472C4"/>
                    </a:solidFill>
                  </a:tcPr>
                </a:tc>
                <a:extLst>
                  <a:ext uri="{0D108BD9-81ED-4DB2-BD59-A6C34878D82A}">
                    <a16:rowId xmlns:a16="http://schemas.microsoft.com/office/drawing/2014/main" val="10000"/>
                  </a:ext>
                </a:extLst>
              </a:tr>
              <a:tr h="310896">
                <a:tc>
                  <a:txBody>
                    <a:bodyPr/>
                    <a:lstStyle/>
                    <a:p>
                      <a:pPr algn="l"/>
                      <a:r>
                        <a:rPr sz="1150" b="1">
                          <a:solidFill>
                            <a:srgbClr val="30508C"/>
                          </a:solidFill>
                          <a:latin typeface="等线"/>
                        </a:rPr>
                        <a:t>内部优势</a:t>
                      </a:r>
                    </a:p>
                  </a:txBody>
                  <a:tcPr marL="36576" marR="36576" marT="9144" marB="9144" anchor="ctr">
                    <a:solidFill>
                      <a:srgbClr val="EAF0F9"/>
                    </a:solidFill>
                  </a:tcPr>
                </a:tc>
                <a:tc>
                  <a:txBody>
                    <a:bodyPr/>
                    <a:lstStyle/>
                    <a:p>
                      <a:pPr algn="ctr"/>
                      <a:endParaRPr/>
                    </a:p>
                  </a:txBody>
                  <a:tcPr marL="36576" marR="36576" marT="9144" marB="9144" anchor="ctr">
                    <a:solidFill>
                      <a:srgbClr val="EAF0F9"/>
                    </a:solidFill>
                  </a:tcPr>
                </a:tc>
                <a:tc>
                  <a:txBody>
                    <a:bodyPr/>
                    <a:lstStyle/>
                    <a:p>
                      <a:pPr algn="ctr"/>
                      <a:endParaRPr/>
                    </a:p>
                  </a:txBody>
                  <a:tcPr marL="36576" marR="36576" marT="9144" marB="9144" anchor="ctr">
                    <a:solidFill>
                      <a:srgbClr val="EAF0F9"/>
                    </a:solidFill>
                  </a:tcPr>
                </a:tc>
                <a:tc>
                  <a:txBody>
                    <a:bodyPr/>
                    <a:lstStyle/>
                    <a:p>
                      <a:pPr algn="ctr"/>
                      <a:endParaRPr/>
                    </a:p>
                  </a:txBody>
                  <a:tcPr marL="36576" marR="36576" marT="9144" marB="9144" anchor="ctr">
                    <a:solidFill>
                      <a:srgbClr val="EAF0F9"/>
                    </a:solidFill>
                  </a:tcPr>
                </a:tc>
                <a:extLst>
                  <a:ext uri="{0D108BD9-81ED-4DB2-BD59-A6C34878D82A}">
                    <a16:rowId xmlns:a16="http://schemas.microsoft.com/office/drawing/2014/main" val="10001"/>
                  </a:ext>
                </a:extLst>
              </a:tr>
              <a:tr h="310896">
                <a:tc>
                  <a:txBody>
                    <a:bodyPr/>
                    <a:lstStyle/>
                    <a:p>
                      <a:pPr algn="l"/>
                      <a:r>
                        <a:rPr sz="1100" b="0">
                          <a:solidFill>
                            <a:srgbClr val="262626"/>
                          </a:solidFill>
                          <a:latin typeface="等线"/>
                        </a:rPr>
                        <a:t>S1 垂直整合与成本控制力（刀片电池、DM-i、IGBT 自产）</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tc>
                  <a:txBody>
                    <a:bodyPr/>
                    <a:lstStyle/>
                    <a:p>
                      <a:pPr algn="ctr"/>
                      <a:r>
                        <a:rPr sz="1100" b="0">
                          <a:solidFill>
                            <a:srgbClr val="262626"/>
                          </a:solidFill>
                          <a:latin typeface="等线"/>
                        </a:rPr>
                        <a:t>4</a:t>
                      </a:r>
                    </a:p>
                  </a:txBody>
                  <a:tcPr marL="36576" marR="36576" marT="9144" marB="9144" anchor="ctr"/>
                </a:tc>
                <a:tc>
                  <a:txBody>
                    <a:bodyPr/>
                    <a:lstStyle/>
                    <a:p>
                      <a:pPr algn="ctr"/>
                      <a:r>
                        <a:rPr sz="1100" b="0">
                          <a:solidFill>
                            <a:srgbClr val="262626"/>
                          </a:solidFill>
                          <a:latin typeface="等线"/>
                        </a:rPr>
                        <a:t>0.60</a:t>
                      </a:r>
                    </a:p>
                  </a:txBody>
                  <a:tcPr marL="36576" marR="36576" marT="9144" marB="9144" anchor="ctr"/>
                </a:tc>
                <a:extLst>
                  <a:ext uri="{0D108BD9-81ED-4DB2-BD59-A6C34878D82A}">
                    <a16:rowId xmlns:a16="http://schemas.microsoft.com/office/drawing/2014/main" val="10002"/>
                  </a:ext>
                </a:extLst>
              </a:tr>
              <a:tr h="310896">
                <a:tc>
                  <a:txBody>
                    <a:bodyPr/>
                    <a:lstStyle/>
                    <a:p>
                      <a:pPr algn="l"/>
                      <a:r>
                        <a:rPr sz="1100" b="0">
                          <a:solidFill>
                            <a:srgbClr val="262626"/>
                          </a:solidFill>
                          <a:latin typeface="等线"/>
                        </a:rPr>
                        <a:t>S2 规模效应：2024 年全球新能源销量第一（约427万辆）</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tc>
                  <a:txBody>
                    <a:bodyPr/>
                    <a:lstStyle/>
                    <a:p>
                      <a:pPr algn="ctr"/>
                      <a:r>
                        <a:rPr sz="1100" b="0">
                          <a:solidFill>
                            <a:srgbClr val="262626"/>
                          </a:solidFill>
                          <a:latin typeface="等线"/>
                        </a:rPr>
                        <a:t>4</a:t>
                      </a:r>
                    </a:p>
                  </a:txBody>
                  <a:tcPr marL="36576" marR="36576" marT="9144" marB="9144" anchor="ctr"/>
                </a:tc>
                <a:tc>
                  <a:txBody>
                    <a:bodyPr/>
                    <a:lstStyle/>
                    <a:p>
                      <a:pPr algn="ctr"/>
                      <a:r>
                        <a:rPr sz="1100" b="0">
                          <a:solidFill>
                            <a:srgbClr val="262626"/>
                          </a:solidFill>
                          <a:latin typeface="等线"/>
                        </a:rPr>
                        <a:t>0.60</a:t>
                      </a:r>
                    </a:p>
                  </a:txBody>
                  <a:tcPr marL="36576" marR="36576" marT="9144" marB="9144" anchor="ctr"/>
                </a:tc>
                <a:extLst>
                  <a:ext uri="{0D108BD9-81ED-4DB2-BD59-A6C34878D82A}">
                    <a16:rowId xmlns:a16="http://schemas.microsoft.com/office/drawing/2014/main" val="10003"/>
                  </a:ext>
                </a:extLst>
              </a:tr>
              <a:tr h="310896">
                <a:tc>
                  <a:txBody>
                    <a:bodyPr/>
                    <a:lstStyle/>
                    <a:p>
                      <a:pPr algn="l"/>
                      <a:r>
                        <a:rPr sz="1100" b="0">
                          <a:solidFill>
                            <a:srgbClr val="262626"/>
                          </a:solidFill>
                          <a:latin typeface="等线"/>
                        </a:rPr>
                        <a:t>S3 完整品牌矩阵（王朝海洋/腾势/方程豹/仰望）</a:t>
                      </a:r>
                    </a:p>
                  </a:txBody>
                  <a:tcPr marL="36576" marR="36576" marT="9144" marB="9144" anchor="ctr"/>
                </a:tc>
                <a:tc>
                  <a:txBody>
                    <a:bodyPr/>
                    <a:lstStyle/>
                    <a:p>
                      <a:pPr algn="ctr"/>
                      <a:r>
                        <a:rPr sz="1100" b="0">
                          <a:solidFill>
                            <a:srgbClr val="262626"/>
                          </a:solidFill>
                          <a:latin typeface="等线"/>
                        </a:rPr>
                        <a:t>0.10</a:t>
                      </a:r>
                    </a:p>
                  </a:txBody>
                  <a:tcPr marL="36576" marR="36576" marT="9144" marB="9144" anchor="ctr"/>
                </a:tc>
                <a:tc>
                  <a:txBody>
                    <a:bodyPr/>
                    <a:lstStyle/>
                    <a:p>
                      <a:pPr algn="ctr"/>
                      <a:r>
                        <a:rPr sz="1100" b="0">
                          <a:solidFill>
                            <a:srgbClr val="262626"/>
                          </a:solidFill>
                          <a:latin typeface="等线"/>
                        </a:rPr>
                        <a:t>4</a:t>
                      </a:r>
                    </a:p>
                  </a:txBody>
                  <a:tcPr marL="36576" marR="36576" marT="9144" marB="9144" anchor="ctr"/>
                </a:tc>
                <a:tc>
                  <a:txBody>
                    <a:bodyPr/>
                    <a:lstStyle/>
                    <a:p>
                      <a:pPr algn="ctr"/>
                      <a:r>
                        <a:rPr sz="1100" b="0">
                          <a:solidFill>
                            <a:srgbClr val="262626"/>
                          </a:solidFill>
                          <a:latin typeface="等线"/>
                        </a:rPr>
                        <a:t>0.40</a:t>
                      </a:r>
                    </a:p>
                  </a:txBody>
                  <a:tcPr marL="36576" marR="36576" marT="9144" marB="9144" anchor="ctr"/>
                </a:tc>
                <a:extLst>
                  <a:ext uri="{0D108BD9-81ED-4DB2-BD59-A6C34878D82A}">
                    <a16:rowId xmlns:a16="http://schemas.microsoft.com/office/drawing/2014/main" val="10004"/>
                  </a:ext>
                </a:extLst>
              </a:tr>
              <a:tr h="310896">
                <a:tc>
                  <a:txBody>
                    <a:bodyPr/>
                    <a:lstStyle/>
                    <a:p>
                      <a:pPr algn="l"/>
                      <a:r>
                        <a:rPr sz="1100" b="0">
                          <a:solidFill>
                            <a:srgbClr val="262626"/>
                          </a:solidFill>
                          <a:latin typeface="等线"/>
                        </a:rPr>
                        <a:t>S4 技术储备（第五代DM混动、易四方、e平台3.0）</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tc>
                  <a:txBody>
                    <a:bodyPr/>
                    <a:lstStyle/>
                    <a:p>
                      <a:pPr algn="ctr"/>
                      <a:r>
                        <a:rPr sz="1100" b="0">
                          <a:solidFill>
                            <a:srgbClr val="262626"/>
                          </a:solidFill>
                          <a:latin typeface="等线"/>
                        </a:rPr>
                        <a:t>4</a:t>
                      </a:r>
                    </a:p>
                  </a:txBody>
                  <a:tcPr marL="36576" marR="36576" marT="9144" marB="9144" anchor="ctr"/>
                </a:tc>
                <a:tc>
                  <a:txBody>
                    <a:bodyPr/>
                    <a:lstStyle/>
                    <a:p>
                      <a:pPr algn="ctr"/>
                      <a:r>
                        <a:rPr sz="1100" b="0">
                          <a:solidFill>
                            <a:srgbClr val="262626"/>
                          </a:solidFill>
                          <a:latin typeface="等线"/>
                        </a:rPr>
                        <a:t>0.60</a:t>
                      </a:r>
                    </a:p>
                  </a:txBody>
                  <a:tcPr marL="36576" marR="36576" marT="9144" marB="9144" anchor="ctr"/>
                </a:tc>
                <a:extLst>
                  <a:ext uri="{0D108BD9-81ED-4DB2-BD59-A6C34878D82A}">
                    <a16:rowId xmlns:a16="http://schemas.microsoft.com/office/drawing/2014/main" val="10005"/>
                  </a:ext>
                </a:extLst>
              </a:tr>
              <a:tr h="310896">
                <a:tc>
                  <a:txBody>
                    <a:bodyPr/>
                    <a:lstStyle/>
                    <a:p>
                      <a:pPr algn="l"/>
                      <a:r>
                        <a:rPr sz="1100" b="0">
                          <a:solidFill>
                            <a:srgbClr val="262626"/>
                          </a:solidFill>
                          <a:latin typeface="等线"/>
                        </a:rPr>
                        <a:t>S5 现金储备充裕、供应链话语权强</a:t>
                      </a:r>
                    </a:p>
                  </a:txBody>
                  <a:tcPr marL="36576" marR="36576" marT="9144" marB="9144" anchor="ctr"/>
                </a:tc>
                <a:tc>
                  <a:txBody>
                    <a:bodyPr/>
                    <a:lstStyle/>
                    <a:p>
                      <a:pPr algn="ctr"/>
                      <a:r>
                        <a:rPr sz="1100" b="0">
                          <a:solidFill>
                            <a:srgbClr val="262626"/>
                          </a:solidFill>
                          <a:latin typeface="等线"/>
                        </a:rPr>
                        <a:t>0.05</a:t>
                      </a:r>
                    </a:p>
                  </a:txBody>
                  <a:tcPr marL="36576" marR="36576" marT="9144" marB="9144" anchor="ctr"/>
                </a:tc>
                <a:tc>
                  <a:txBody>
                    <a:bodyPr/>
                    <a:lstStyle/>
                    <a:p>
                      <a:pPr algn="ctr"/>
                      <a:r>
                        <a:rPr sz="1100" b="0">
                          <a:solidFill>
                            <a:srgbClr val="262626"/>
                          </a:solidFill>
                          <a:latin typeface="等线"/>
                        </a:rPr>
                        <a:t>3</a:t>
                      </a:r>
                    </a:p>
                  </a:txBody>
                  <a:tcPr marL="36576" marR="36576" marT="9144" marB="9144" anchor="ctr"/>
                </a:tc>
                <a:tc>
                  <a:txBody>
                    <a:bodyPr/>
                    <a:lstStyle/>
                    <a:p>
                      <a:pPr algn="ctr"/>
                      <a:r>
                        <a:rPr sz="1100" b="0">
                          <a:solidFill>
                            <a:srgbClr val="262626"/>
                          </a:solidFill>
                          <a:latin typeface="等线"/>
                        </a:rPr>
                        <a:t>0.15</a:t>
                      </a:r>
                    </a:p>
                  </a:txBody>
                  <a:tcPr marL="36576" marR="36576" marT="9144" marB="9144" anchor="ctr"/>
                </a:tc>
                <a:extLst>
                  <a:ext uri="{0D108BD9-81ED-4DB2-BD59-A6C34878D82A}">
                    <a16:rowId xmlns:a16="http://schemas.microsoft.com/office/drawing/2014/main" val="10006"/>
                  </a:ext>
                </a:extLst>
              </a:tr>
              <a:tr h="310896">
                <a:tc>
                  <a:txBody>
                    <a:bodyPr/>
                    <a:lstStyle/>
                    <a:p>
                      <a:pPr algn="l"/>
                      <a:r>
                        <a:rPr sz="1150" b="1">
                          <a:solidFill>
                            <a:srgbClr val="30508C"/>
                          </a:solidFill>
                          <a:latin typeface="等线"/>
                        </a:rPr>
                        <a:t>内部劣势</a:t>
                      </a:r>
                    </a:p>
                  </a:txBody>
                  <a:tcPr marL="36576" marR="36576" marT="9144" marB="9144" anchor="ctr">
                    <a:solidFill>
                      <a:srgbClr val="EAF0F9"/>
                    </a:solidFill>
                  </a:tcPr>
                </a:tc>
                <a:tc>
                  <a:txBody>
                    <a:bodyPr/>
                    <a:lstStyle/>
                    <a:p>
                      <a:pPr algn="ctr"/>
                      <a:endParaRPr/>
                    </a:p>
                  </a:txBody>
                  <a:tcPr marL="36576" marR="36576" marT="9144" marB="9144" anchor="ctr">
                    <a:solidFill>
                      <a:srgbClr val="EAF0F9"/>
                    </a:solidFill>
                  </a:tcPr>
                </a:tc>
                <a:tc>
                  <a:txBody>
                    <a:bodyPr/>
                    <a:lstStyle/>
                    <a:p>
                      <a:pPr algn="ctr"/>
                      <a:endParaRPr/>
                    </a:p>
                  </a:txBody>
                  <a:tcPr marL="36576" marR="36576" marT="9144" marB="9144" anchor="ctr">
                    <a:solidFill>
                      <a:srgbClr val="EAF0F9"/>
                    </a:solidFill>
                  </a:tcPr>
                </a:tc>
                <a:tc>
                  <a:txBody>
                    <a:bodyPr/>
                    <a:lstStyle/>
                    <a:p>
                      <a:pPr algn="ctr"/>
                      <a:endParaRPr/>
                    </a:p>
                  </a:txBody>
                  <a:tcPr marL="36576" marR="36576" marT="9144" marB="9144" anchor="ctr">
                    <a:solidFill>
                      <a:srgbClr val="EAF0F9"/>
                    </a:solidFill>
                  </a:tcPr>
                </a:tc>
                <a:extLst>
                  <a:ext uri="{0D108BD9-81ED-4DB2-BD59-A6C34878D82A}">
                    <a16:rowId xmlns:a16="http://schemas.microsoft.com/office/drawing/2014/main" val="10007"/>
                  </a:ext>
                </a:extLst>
              </a:tr>
              <a:tr h="310896">
                <a:tc>
                  <a:txBody>
                    <a:bodyPr/>
                    <a:lstStyle/>
                    <a:p>
                      <a:pPr algn="l"/>
                      <a:r>
                        <a:rPr sz="1100" b="0">
                          <a:solidFill>
                            <a:srgbClr val="262626"/>
                          </a:solidFill>
                          <a:latin typeface="等线"/>
                        </a:rPr>
                        <a:t>W1 高端品牌溢价仍弱于BBA与特斯拉</a:t>
                      </a:r>
                    </a:p>
                  </a:txBody>
                  <a:tcPr marL="36576" marR="36576" marT="9144" marB="9144" anchor="ctr"/>
                </a:tc>
                <a:tc>
                  <a:txBody>
                    <a:bodyPr/>
                    <a:lstStyle/>
                    <a:p>
                      <a:pPr algn="ctr"/>
                      <a:r>
                        <a:rPr sz="1100" b="0">
                          <a:solidFill>
                            <a:srgbClr val="262626"/>
                          </a:solidFill>
                          <a:latin typeface="等线"/>
                        </a:rPr>
                        <a:t>0.05</a:t>
                      </a:r>
                    </a:p>
                  </a:txBody>
                  <a:tcPr marL="36576" marR="36576" marT="9144" marB="9144" anchor="ctr"/>
                </a:tc>
                <a:tc>
                  <a:txBody>
                    <a:bodyPr/>
                    <a:lstStyle/>
                    <a:p>
                      <a:pPr algn="ctr"/>
                      <a:r>
                        <a:rPr sz="1100" b="0">
                          <a:solidFill>
                            <a:srgbClr val="262626"/>
                          </a:solidFill>
                          <a:latin typeface="等线"/>
                        </a:rPr>
                        <a:t>2</a:t>
                      </a:r>
                    </a:p>
                  </a:txBody>
                  <a:tcPr marL="36576" marR="36576" marT="9144" marB="9144" anchor="ctr"/>
                </a:tc>
                <a:tc>
                  <a:txBody>
                    <a:bodyPr/>
                    <a:lstStyle/>
                    <a:p>
                      <a:pPr algn="ctr"/>
                      <a:r>
                        <a:rPr sz="1100" b="0">
                          <a:solidFill>
                            <a:srgbClr val="262626"/>
                          </a:solidFill>
                          <a:latin typeface="等线"/>
                        </a:rPr>
                        <a:t>0.10</a:t>
                      </a:r>
                    </a:p>
                  </a:txBody>
                  <a:tcPr marL="36576" marR="36576" marT="9144" marB="9144" anchor="ctr"/>
                </a:tc>
                <a:extLst>
                  <a:ext uri="{0D108BD9-81ED-4DB2-BD59-A6C34878D82A}">
                    <a16:rowId xmlns:a16="http://schemas.microsoft.com/office/drawing/2014/main" val="10008"/>
                  </a:ext>
                </a:extLst>
              </a:tr>
              <a:tr h="310896">
                <a:tc>
                  <a:txBody>
                    <a:bodyPr/>
                    <a:lstStyle/>
                    <a:p>
                      <a:pPr algn="l"/>
                      <a:r>
                        <a:rPr sz="1100" b="0">
                          <a:solidFill>
                            <a:srgbClr val="262626"/>
                          </a:solidFill>
                          <a:latin typeface="等线"/>
                        </a:rPr>
                        <a:t>W2 海外渠道、合规与本地化运营经验不足</a:t>
                      </a:r>
                    </a:p>
                  </a:txBody>
                  <a:tcPr marL="36576" marR="36576" marT="9144" marB="9144" anchor="ctr"/>
                </a:tc>
                <a:tc>
                  <a:txBody>
                    <a:bodyPr/>
                    <a:lstStyle/>
                    <a:p>
                      <a:pPr algn="ctr"/>
                      <a:r>
                        <a:rPr sz="1100" b="0">
                          <a:solidFill>
                            <a:srgbClr val="262626"/>
                          </a:solidFill>
                          <a:latin typeface="等线"/>
                        </a:rPr>
                        <a:t>0.10</a:t>
                      </a:r>
                    </a:p>
                  </a:txBody>
                  <a:tcPr marL="36576" marR="36576" marT="9144" marB="9144" anchor="ctr"/>
                </a:tc>
                <a:tc>
                  <a:txBody>
                    <a:bodyPr/>
                    <a:lstStyle/>
                    <a:p>
                      <a:pPr algn="ctr"/>
                      <a:r>
                        <a:rPr sz="1100" b="0">
                          <a:solidFill>
                            <a:srgbClr val="262626"/>
                          </a:solidFill>
                          <a:latin typeface="等线"/>
                        </a:rPr>
                        <a:t>2</a:t>
                      </a:r>
                    </a:p>
                  </a:txBody>
                  <a:tcPr marL="36576" marR="36576" marT="9144" marB="9144" anchor="ctr"/>
                </a:tc>
                <a:tc>
                  <a:txBody>
                    <a:bodyPr/>
                    <a:lstStyle/>
                    <a:p>
                      <a:pPr algn="ctr"/>
                      <a:r>
                        <a:rPr sz="1100" b="0">
                          <a:solidFill>
                            <a:srgbClr val="262626"/>
                          </a:solidFill>
                          <a:latin typeface="等线"/>
                        </a:rPr>
                        <a:t>0.20</a:t>
                      </a:r>
                    </a:p>
                  </a:txBody>
                  <a:tcPr marL="36576" marR="36576" marT="9144" marB="9144" anchor="ctr"/>
                </a:tc>
                <a:extLst>
                  <a:ext uri="{0D108BD9-81ED-4DB2-BD59-A6C34878D82A}">
                    <a16:rowId xmlns:a16="http://schemas.microsoft.com/office/drawing/2014/main" val="10009"/>
                  </a:ext>
                </a:extLst>
              </a:tr>
              <a:tr h="310896">
                <a:tc>
                  <a:txBody>
                    <a:bodyPr/>
                    <a:lstStyle/>
                    <a:p>
                      <a:pPr algn="l"/>
                      <a:r>
                        <a:rPr sz="1100" b="0">
                          <a:solidFill>
                            <a:srgbClr val="262626"/>
                          </a:solidFill>
                          <a:latin typeface="等线"/>
                        </a:rPr>
                        <a:t>W3 智能驾驶进展相对滞后（对比华为系/特斯拉FSD）</a:t>
                      </a:r>
                    </a:p>
                  </a:txBody>
                  <a:tcPr marL="36576" marR="36576" marT="9144" marB="9144" anchor="ctr"/>
                </a:tc>
                <a:tc>
                  <a:txBody>
                    <a:bodyPr/>
                    <a:lstStyle/>
                    <a:p>
                      <a:pPr algn="ctr"/>
                      <a:r>
                        <a:rPr sz="1100" b="0">
                          <a:solidFill>
                            <a:srgbClr val="262626"/>
                          </a:solidFill>
                          <a:latin typeface="等线"/>
                        </a:rPr>
                        <a:t>0.10</a:t>
                      </a:r>
                    </a:p>
                  </a:txBody>
                  <a:tcPr marL="36576" marR="36576" marT="9144" marB="9144" anchor="ctr"/>
                </a:tc>
                <a:tc>
                  <a:txBody>
                    <a:bodyPr/>
                    <a:lstStyle/>
                    <a:p>
                      <a:pPr algn="ctr"/>
                      <a:r>
                        <a:rPr sz="1100" b="0">
                          <a:solidFill>
                            <a:srgbClr val="262626"/>
                          </a:solidFill>
                          <a:latin typeface="等线"/>
                        </a:rPr>
                        <a:t>2</a:t>
                      </a:r>
                    </a:p>
                  </a:txBody>
                  <a:tcPr marL="36576" marR="36576" marT="9144" marB="9144" anchor="ctr"/>
                </a:tc>
                <a:tc>
                  <a:txBody>
                    <a:bodyPr/>
                    <a:lstStyle/>
                    <a:p>
                      <a:pPr algn="ctr"/>
                      <a:r>
                        <a:rPr sz="1100" b="0">
                          <a:solidFill>
                            <a:srgbClr val="262626"/>
                          </a:solidFill>
                          <a:latin typeface="等线"/>
                        </a:rPr>
                        <a:t>0.20</a:t>
                      </a:r>
                    </a:p>
                  </a:txBody>
                  <a:tcPr marL="36576" marR="36576" marT="9144" marB="9144" anchor="ctr"/>
                </a:tc>
                <a:extLst>
                  <a:ext uri="{0D108BD9-81ED-4DB2-BD59-A6C34878D82A}">
                    <a16:rowId xmlns:a16="http://schemas.microsoft.com/office/drawing/2014/main" val="10010"/>
                  </a:ext>
                </a:extLst>
              </a:tr>
              <a:tr h="310896">
                <a:tc>
                  <a:txBody>
                    <a:bodyPr/>
                    <a:lstStyle/>
                    <a:p>
                      <a:pPr algn="l"/>
                      <a:r>
                        <a:rPr sz="1100" b="0">
                          <a:solidFill>
                            <a:srgbClr val="262626"/>
                          </a:solidFill>
                          <a:latin typeface="等线"/>
                        </a:rPr>
                        <a:t>W4 产能与管理半径快速扩张带来组织复杂度</a:t>
                      </a:r>
                    </a:p>
                  </a:txBody>
                  <a:tcPr marL="36576" marR="36576" marT="9144" marB="9144" anchor="ctr"/>
                </a:tc>
                <a:tc>
                  <a:txBody>
                    <a:bodyPr/>
                    <a:lstStyle/>
                    <a:p>
                      <a:pPr algn="ctr"/>
                      <a:r>
                        <a:rPr sz="1100" b="0">
                          <a:solidFill>
                            <a:srgbClr val="262626"/>
                          </a:solidFill>
                          <a:latin typeface="等线"/>
                        </a:rPr>
                        <a:t>0.05</a:t>
                      </a:r>
                    </a:p>
                  </a:txBody>
                  <a:tcPr marL="36576" marR="36576" marT="9144" marB="9144" anchor="ctr"/>
                </a:tc>
                <a:tc>
                  <a:txBody>
                    <a:bodyPr/>
                    <a:lstStyle/>
                    <a:p>
                      <a:pPr algn="ctr"/>
                      <a:r>
                        <a:rPr sz="1100" b="0">
                          <a:solidFill>
                            <a:srgbClr val="262626"/>
                          </a:solidFill>
                          <a:latin typeface="等线"/>
                        </a:rPr>
                        <a:t>2</a:t>
                      </a:r>
                    </a:p>
                  </a:txBody>
                  <a:tcPr marL="36576" marR="36576" marT="9144" marB="9144" anchor="ctr"/>
                </a:tc>
                <a:tc>
                  <a:txBody>
                    <a:bodyPr/>
                    <a:lstStyle/>
                    <a:p>
                      <a:pPr algn="ctr"/>
                      <a:r>
                        <a:rPr sz="1100" b="0">
                          <a:solidFill>
                            <a:srgbClr val="262626"/>
                          </a:solidFill>
                          <a:latin typeface="等线"/>
                        </a:rPr>
                        <a:t>0.10</a:t>
                      </a:r>
                    </a:p>
                  </a:txBody>
                  <a:tcPr marL="36576" marR="36576" marT="9144" marB="9144" anchor="ctr"/>
                </a:tc>
                <a:extLst>
                  <a:ext uri="{0D108BD9-81ED-4DB2-BD59-A6C34878D82A}">
                    <a16:rowId xmlns:a16="http://schemas.microsoft.com/office/drawing/2014/main" val="10011"/>
                  </a:ext>
                </a:extLst>
              </a:tr>
              <a:tr h="310896">
                <a:tc>
                  <a:txBody>
                    <a:bodyPr/>
                    <a:lstStyle/>
                    <a:p>
                      <a:pPr algn="l"/>
                      <a:r>
                        <a:rPr sz="1100" b="0">
                          <a:solidFill>
                            <a:srgbClr val="262626"/>
                          </a:solidFill>
                          <a:latin typeface="等线"/>
                        </a:rPr>
                        <a:t>W5 价格战下汽车业务毛利率承压</a:t>
                      </a:r>
                    </a:p>
                  </a:txBody>
                  <a:tcPr marL="36576" marR="36576" marT="9144" marB="9144" anchor="ctr"/>
                </a:tc>
                <a:tc>
                  <a:txBody>
                    <a:bodyPr/>
                    <a:lstStyle/>
                    <a:p>
                      <a:pPr algn="ctr"/>
                      <a:r>
                        <a:rPr sz="1100" b="0">
                          <a:solidFill>
                            <a:srgbClr val="262626"/>
                          </a:solidFill>
                          <a:latin typeface="等线"/>
                        </a:rPr>
                        <a:t>0.10</a:t>
                      </a:r>
                    </a:p>
                  </a:txBody>
                  <a:tcPr marL="36576" marR="36576" marT="9144" marB="9144" anchor="ctr"/>
                </a:tc>
                <a:tc>
                  <a:txBody>
                    <a:bodyPr/>
                    <a:lstStyle/>
                    <a:p>
                      <a:pPr algn="ctr"/>
                      <a:r>
                        <a:rPr sz="1100" b="0">
                          <a:solidFill>
                            <a:srgbClr val="262626"/>
                          </a:solidFill>
                          <a:latin typeface="等线"/>
                        </a:rPr>
                        <a:t>2</a:t>
                      </a:r>
                    </a:p>
                  </a:txBody>
                  <a:tcPr marL="36576" marR="36576" marT="9144" marB="9144" anchor="ctr"/>
                </a:tc>
                <a:tc>
                  <a:txBody>
                    <a:bodyPr/>
                    <a:lstStyle/>
                    <a:p>
                      <a:pPr algn="ctr"/>
                      <a:r>
                        <a:rPr sz="1100" b="0">
                          <a:solidFill>
                            <a:srgbClr val="262626"/>
                          </a:solidFill>
                          <a:latin typeface="等线"/>
                        </a:rPr>
                        <a:t>0.20</a:t>
                      </a:r>
                    </a:p>
                  </a:txBody>
                  <a:tcPr marL="36576" marR="36576" marT="9144" marB="9144" anchor="ctr"/>
                </a:tc>
                <a:extLst>
                  <a:ext uri="{0D108BD9-81ED-4DB2-BD59-A6C34878D82A}">
                    <a16:rowId xmlns:a16="http://schemas.microsoft.com/office/drawing/2014/main" val="10012"/>
                  </a:ext>
                </a:extLst>
              </a:tr>
              <a:tr h="310896">
                <a:tc>
                  <a:txBody>
                    <a:bodyPr/>
                    <a:lstStyle/>
                    <a:p>
                      <a:pPr algn="l"/>
                      <a:r>
                        <a:rPr sz="1200" b="1">
                          <a:solidFill>
                            <a:srgbClr val="30508C"/>
                          </a:solidFill>
                          <a:latin typeface="等线"/>
                        </a:rPr>
                        <a:t>总计</a:t>
                      </a:r>
                    </a:p>
                  </a:txBody>
                  <a:tcPr marL="36576" marR="36576" marT="9144" marB="9144" anchor="ctr">
                    <a:solidFill>
                      <a:srgbClr val="F2F2F2"/>
                    </a:solidFill>
                  </a:tcPr>
                </a:tc>
                <a:tc>
                  <a:txBody>
                    <a:bodyPr/>
                    <a:lstStyle/>
                    <a:p>
                      <a:pPr algn="ctr"/>
                      <a:r>
                        <a:rPr sz="1200" b="1">
                          <a:solidFill>
                            <a:srgbClr val="30508C"/>
                          </a:solidFill>
                          <a:latin typeface="等线"/>
                        </a:rPr>
                        <a:t>1.00</a:t>
                      </a:r>
                    </a:p>
                  </a:txBody>
                  <a:tcPr marL="36576" marR="36576" marT="9144" marB="9144" anchor="ctr">
                    <a:solidFill>
                      <a:srgbClr val="F2F2F2"/>
                    </a:solidFill>
                  </a:tcPr>
                </a:tc>
                <a:tc>
                  <a:txBody>
                    <a:bodyPr/>
                    <a:lstStyle/>
                    <a:p>
                      <a:pPr algn="ctr"/>
                      <a:endParaRPr/>
                    </a:p>
                  </a:txBody>
                  <a:tcPr marL="36576" marR="36576" marT="9144" marB="9144" anchor="ctr">
                    <a:solidFill>
                      <a:srgbClr val="F2F2F2"/>
                    </a:solidFill>
                  </a:tcPr>
                </a:tc>
                <a:tc>
                  <a:txBody>
                    <a:bodyPr/>
                    <a:lstStyle/>
                    <a:p>
                      <a:pPr algn="ctr"/>
                      <a:r>
                        <a:rPr sz="1200" b="1">
                          <a:solidFill>
                            <a:srgbClr val="30508C"/>
                          </a:solidFill>
                          <a:latin typeface="等线"/>
                        </a:rPr>
                        <a:t>3.15</a:t>
                      </a:r>
                    </a:p>
                  </a:txBody>
                  <a:tcPr marL="36576" marR="36576" marT="9144" marB="9144" anchor="ctr">
                    <a:solidFill>
                      <a:srgbClr val="F2F2F2"/>
                    </a:solidFill>
                  </a:tcPr>
                </a:tc>
                <a:extLst>
                  <a:ext uri="{0D108BD9-81ED-4DB2-BD59-A6C34878D82A}">
                    <a16:rowId xmlns:a16="http://schemas.microsoft.com/office/drawing/2014/main" val="10013"/>
                  </a:ext>
                </a:extLst>
              </a:tr>
            </a:tbl>
          </a:graphicData>
        </a:graphic>
      </p:graphicFrame>
      <p:sp>
        <p:nvSpPr>
          <p:cNvPr id="4" name="TextBox 3"/>
          <p:cNvSpPr txBox="1"/>
          <p:nvPr/>
        </p:nvSpPr>
        <p:spPr>
          <a:xfrm>
            <a:off x="1325880" y="6163056"/>
            <a:ext cx="8961119" cy="640080"/>
          </a:xfrm>
          <a:prstGeom prst="rect">
            <a:avLst/>
          </a:prstGeom>
          <a:noFill/>
        </p:spPr>
        <p:txBody>
          <a:bodyPr wrap="square">
            <a:spAutoFit/>
          </a:bodyPr>
          <a:lstStyle/>
          <a:p>
            <a:r>
              <a:rPr sz="1200" b="1">
                <a:solidFill>
                  <a:srgbClr val="30508C"/>
                </a:solidFill>
                <a:latin typeface="等线"/>
              </a:rPr>
              <a:t>解读：总分 3.15 高于平均水平 2.50——内部总体强势，短板集中于智能化（W3）与全球化（W2）。评分：4=主要优势，3=次要优势，2=次要劣势，1=主要劣势；权重之和恒为1.00。可与前页教科书示例（博彩酒店公司 IFE=2.75）对照。</a:t>
            </a:r>
          </a:p>
          <a:p>
            <a:r>
              <a:rPr sz="1100" i="1">
                <a:solidFill>
                  <a:srgbClr val="7F7F7F"/>
                </a:solidFill>
                <a:latin typeface="等线"/>
              </a:rPr>
              <a:t>编制方法：Fred R. David《战略管理：概念与案例》第13版 第4章；依据公司年报及公开资料课堂演练赋分</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2397760" y="828376"/>
            <a:ext cx="7010400" cy="981075"/>
          </a:xfrm>
        </p:spPr>
        <p:txBody>
          <a:bodyPr/>
          <a:lstStyle/>
          <a:p>
            <a:pPr marL="54864">
              <a:defRPr/>
            </a:pPr>
            <a:r>
              <a:rPr lang="zh-CN" altLang="en-US" dirty="0">
                <a:solidFill>
                  <a:schemeClr val="tx2">
                    <a:tint val="100000"/>
                    <a:shade val="90000"/>
                    <a:satMod val="250000"/>
                    <a:alpha val="100000"/>
                  </a:schemeClr>
                </a:solidFill>
                <a:ea typeface="黑体" pitchFamily="2" charset="-122"/>
                <a:cs typeface="+mj-cs"/>
              </a:rPr>
              <a:t>     何谓</a:t>
            </a:r>
            <a:r>
              <a:rPr lang="en-US" altLang="zh-CN" dirty="0">
                <a:solidFill>
                  <a:schemeClr val="tx2">
                    <a:tint val="100000"/>
                    <a:shade val="90000"/>
                    <a:satMod val="250000"/>
                    <a:alpha val="100000"/>
                  </a:schemeClr>
                </a:solidFill>
                <a:ea typeface="黑体" pitchFamily="2" charset="-122"/>
                <a:cs typeface="+mj-cs"/>
              </a:rPr>
              <a:t>SWOT</a:t>
            </a:r>
            <a:r>
              <a:rPr lang="zh-CN" altLang="en-US" dirty="0">
                <a:solidFill>
                  <a:schemeClr val="tx2">
                    <a:tint val="100000"/>
                    <a:shade val="90000"/>
                    <a:satMod val="250000"/>
                    <a:alpha val="100000"/>
                  </a:schemeClr>
                </a:solidFill>
                <a:ea typeface="黑体" pitchFamily="2" charset="-122"/>
                <a:cs typeface="+mj-cs"/>
              </a:rPr>
              <a:t>分析？</a:t>
            </a:r>
          </a:p>
        </p:txBody>
      </p:sp>
      <p:sp>
        <p:nvSpPr>
          <p:cNvPr id="107522" name="Rectangle 3"/>
          <p:cNvSpPr>
            <a:spLocks noGrp="1" noChangeArrowheads="1"/>
          </p:cNvSpPr>
          <p:nvPr>
            <p:ph idx="1"/>
          </p:nvPr>
        </p:nvSpPr>
        <p:spPr/>
        <p:txBody>
          <a:bodyPr>
            <a:normAutofit fontScale="92500" lnSpcReduction="10000"/>
          </a:bodyPr>
          <a:lstStyle/>
          <a:p>
            <a:r>
              <a:rPr lang="en-US" altLang="zh-CN" sz="2000" dirty="0"/>
              <a:t> </a:t>
            </a:r>
            <a:r>
              <a:rPr lang="en-US" altLang="zh-CN" b="1" dirty="0"/>
              <a:t>SWOT</a:t>
            </a:r>
            <a:r>
              <a:rPr lang="zh-CN" altLang="en-US" b="1" dirty="0"/>
              <a:t>分析就是系统地确认企业面临的优势（</a:t>
            </a:r>
            <a:r>
              <a:rPr lang="en-US" altLang="zh-CN" b="1" dirty="0"/>
              <a:t>Strength</a:t>
            </a:r>
            <a:r>
              <a:rPr lang="zh-CN" altLang="en-US" b="1" dirty="0"/>
              <a:t>）和劣势（</a:t>
            </a:r>
            <a:r>
              <a:rPr lang="en-US" altLang="zh-CN" b="1" dirty="0"/>
              <a:t>Weakness</a:t>
            </a:r>
            <a:r>
              <a:rPr lang="zh-CN" altLang="en-US" b="1" dirty="0"/>
              <a:t>）、机会（</a:t>
            </a:r>
            <a:r>
              <a:rPr lang="en-US" altLang="zh-CN" b="1" dirty="0"/>
              <a:t>Opportunity</a:t>
            </a:r>
            <a:r>
              <a:rPr lang="zh-CN" altLang="en-US" b="1" dirty="0"/>
              <a:t>）和威胁</a:t>
            </a:r>
            <a:r>
              <a:rPr lang="en-US" altLang="zh-CN" b="1" dirty="0"/>
              <a:t>(Threat)</a:t>
            </a:r>
            <a:r>
              <a:rPr lang="zh-CN" altLang="en-US" b="1" dirty="0"/>
              <a:t>，并据此提出企业战略的一种有效方法。</a:t>
            </a:r>
            <a:endParaRPr lang="en-US" altLang="zh-CN" b="1" dirty="0"/>
          </a:p>
          <a:p>
            <a:r>
              <a:rPr lang="zh-CN" altLang="en-US" b="1" dirty="0"/>
              <a:t>决策准则</a:t>
            </a:r>
            <a:endParaRPr lang="en-US" altLang="zh-CN" b="1" dirty="0"/>
          </a:p>
          <a:p>
            <a:pPr lvl="1"/>
            <a:r>
              <a:rPr lang="zh-CN" altLang="en-US" sz="2200" b="1" dirty="0"/>
              <a:t>发挥优势</a:t>
            </a:r>
            <a:endParaRPr lang="en-US" altLang="zh-CN" sz="2200" b="1" dirty="0"/>
          </a:p>
          <a:p>
            <a:pPr lvl="1"/>
            <a:r>
              <a:rPr lang="zh-CN" altLang="en-US" sz="2200" b="1" dirty="0"/>
              <a:t>弥补劣势</a:t>
            </a:r>
            <a:endParaRPr lang="en-US" altLang="zh-CN" sz="2200" b="1" dirty="0"/>
          </a:p>
          <a:p>
            <a:pPr lvl="1"/>
            <a:r>
              <a:rPr lang="zh-CN" altLang="en-US" sz="2200" b="1" dirty="0"/>
              <a:t>抓住机遇</a:t>
            </a:r>
            <a:endParaRPr lang="en-US" altLang="zh-CN" sz="2200" b="1" dirty="0"/>
          </a:p>
          <a:p>
            <a:pPr lvl="1"/>
            <a:r>
              <a:rPr lang="zh-CN" altLang="en-US" sz="2200" b="1" dirty="0"/>
              <a:t>规避威胁</a:t>
            </a:r>
          </a:p>
          <a:p>
            <a:pPr algn="just">
              <a:buFont typeface="Wingdings" pitchFamily="2" charset="2"/>
              <a:buNone/>
            </a:pPr>
            <a:endParaRPr lang="zh-CN" altLang="en-US" sz="4400" b="1" dirty="0"/>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endParaRPr lang="zh-CN" altLang="en-US" dirty="0">
              <a:latin typeface="Calibri" charset="0"/>
              <a:ea typeface="宋体" charset="0"/>
            </a:endParaRPr>
          </a:p>
        </p:txBody>
      </p:sp>
      <p:pic>
        <p:nvPicPr>
          <p:cNvPr id="33795" name="内容占位符 3" descr="91452c91jw1dzjok34qb6j.jp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2381250" y="0"/>
            <a:ext cx="6205538" cy="6858000"/>
          </a:xfrm>
        </p:spPr>
      </p:pic>
    </p:spTree>
    <p:extLst>
      <p:ext uri="{BB962C8B-B14F-4D97-AF65-F5344CB8AC3E}">
        <p14:creationId xmlns:p14="http://schemas.microsoft.com/office/powerpoint/2010/main" val="13061170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703389" y="765175"/>
            <a:ext cx="7543800" cy="1295400"/>
          </a:xfrm>
        </p:spPr>
        <p:txBody>
          <a:bodyPr/>
          <a:lstStyle/>
          <a:p>
            <a:pPr marL="54864">
              <a:defRPr/>
            </a:pPr>
            <a:r>
              <a:rPr lang="en-US" altLang="zh-CN" dirty="0">
                <a:solidFill>
                  <a:schemeClr val="tx2">
                    <a:tint val="100000"/>
                    <a:shade val="90000"/>
                    <a:satMod val="250000"/>
                    <a:alpha val="100000"/>
                  </a:schemeClr>
                </a:solidFill>
                <a:ea typeface="黑体" pitchFamily="2" charset="-122"/>
                <a:cs typeface="+mj-cs"/>
              </a:rPr>
              <a:t>SWOT</a:t>
            </a:r>
            <a:r>
              <a:rPr lang="zh-CN" altLang="en-US" dirty="0">
                <a:solidFill>
                  <a:schemeClr val="tx2">
                    <a:tint val="100000"/>
                    <a:shade val="90000"/>
                    <a:satMod val="250000"/>
                    <a:alpha val="100000"/>
                  </a:schemeClr>
                </a:solidFill>
                <a:ea typeface="黑体" pitchFamily="2" charset="-122"/>
                <a:cs typeface="+mj-cs"/>
              </a:rPr>
              <a:t>矩阵框架</a:t>
            </a:r>
          </a:p>
        </p:txBody>
      </p:sp>
      <p:sp>
        <p:nvSpPr>
          <p:cNvPr id="108546" name="Rectangle 3"/>
          <p:cNvSpPr>
            <a:spLocks noGrp="1" noChangeArrowheads="1"/>
          </p:cNvSpPr>
          <p:nvPr>
            <p:ph idx="1"/>
          </p:nvPr>
        </p:nvSpPr>
        <p:spPr>
          <a:xfrm>
            <a:off x="1703389" y="1412875"/>
            <a:ext cx="8569325" cy="4997450"/>
          </a:xfrm>
        </p:spPr>
        <p:txBody>
          <a:bodyPr>
            <a:normAutofit fontScale="92500"/>
          </a:bodyPr>
          <a:lstStyle/>
          <a:p>
            <a:pPr>
              <a:lnSpc>
                <a:spcPct val="90000"/>
              </a:lnSpc>
            </a:pPr>
            <a:r>
              <a:rPr lang="en-US" altLang="zh-CN" sz="4100" b="1" dirty="0"/>
              <a:t>SWOT</a:t>
            </a:r>
            <a:r>
              <a:rPr lang="zh-CN" altLang="en-US" sz="4100" b="1" dirty="0"/>
              <a:t>分析可以作为企业战略制定的一种方法，它提供了四种可选的战略。</a:t>
            </a:r>
          </a:p>
          <a:p>
            <a:pPr lvl="1">
              <a:lnSpc>
                <a:spcPct val="90000"/>
              </a:lnSpc>
            </a:pPr>
            <a:r>
              <a:rPr lang="en-US" altLang="zh-CN" sz="3200" b="1" dirty="0"/>
              <a:t>SO</a:t>
            </a:r>
            <a:r>
              <a:rPr lang="zh-CN" altLang="en-US" sz="3200" b="1" dirty="0"/>
              <a:t>战略：利用企业内部优势去抓住外部机会的战略。</a:t>
            </a:r>
          </a:p>
          <a:p>
            <a:pPr lvl="1">
              <a:lnSpc>
                <a:spcPct val="90000"/>
              </a:lnSpc>
            </a:pPr>
            <a:r>
              <a:rPr lang="en-US" altLang="zh-CN" sz="3200" b="1" dirty="0"/>
              <a:t>WO</a:t>
            </a:r>
            <a:r>
              <a:rPr lang="zh-CN" altLang="en-US" sz="3200" b="1" dirty="0"/>
              <a:t>战略：改进内部劣势利用外部机会的战略。</a:t>
            </a:r>
          </a:p>
          <a:p>
            <a:pPr lvl="1">
              <a:lnSpc>
                <a:spcPct val="90000"/>
              </a:lnSpc>
            </a:pPr>
            <a:r>
              <a:rPr lang="en-US" altLang="zh-CN" sz="3200" b="1" dirty="0"/>
              <a:t>ST</a:t>
            </a:r>
            <a:r>
              <a:rPr lang="zh-CN" altLang="en-US" sz="3200" b="1" dirty="0"/>
              <a:t>战略：利用企业的优势去避免或减轻外部威胁打击的战略。</a:t>
            </a:r>
          </a:p>
          <a:p>
            <a:pPr lvl="1">
              <a:lnSpc>
                <a:spcPct val="90000"/>
              </a:lnSpc>
            </a:pPr>
            <a:r>
              <a:rPr lang="en-US" altLang="zh-CN" sz="3200" b="1" dirty="0"/>
              <a:t>WT</a:t>
            </a:r>
            <a:r>
              <a:rPr lang="zh-CN" altLang="en-US" sz="3200" b="1" dirty="0"/>
              <a:t>战略：直接克服内部劣势和避免外部威胁的战略。</a:t>
            </a:r>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DCB98C8F-8357-6640-B73A-603D8A9E431D}"/>
              </a:ext>
            </a:extLst>
          </p:cNvPr>
          <p:cNvPicPr>
            <a:picLocks noGrp="1" noChangeAspect="1"/>
          </p:cNvPicPr>
          <p:nvPr>
            <p:ph idx="1"/>
          </p:nvPr>
        </p:nvPicPr>
        <p:blipFill>
          <a:blip r:embed="rId2"/>
          <a:stretch>
            <a:fillRect/>
          </a:stretch>
        </p:blipFill>
        <p:spPr>
          <a:xfrm>
            <a:off x="2345636" y="0"/>
            <a:ext cx="7364308" cy="6858000"/>
          </a:xfrm>
        </p:spPr>
      </p:pic>
    </p:spTree>
    <p:extLst>
      <p:ext uri="{BB962C8B-B14F-4D97-AF65-F5344CB8AC3E}">
        <p14:creationId xmlns:p14="http://schemas.microsoft.com/office/powerpoint/2010/main" val="270735094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案例－蔚来汽车</a:t>
            </a:r>
          </a:p>
        </p:txBody>
      </p:sp>
      <p:graphicFrame>
        <p:nvGraphicFramePr>
          <p:cNvPr id="6" name="内容占位符 5"/>
          <p:cNvGraphicFramePr>
            <a:graphicFrameLocks noGrp="1"/>
          </p:cNvGraphicFramePr>
          <p:nvPr>
            <p:ph idx="1"/>
            <p:extLst>
              <p:ext uri="{D42A27DB-BD31-4B8C-83A1-F6EECF244321}">
                <p14:modId xmlns:p14="http://schemas.microsoft.com/office/powerpoint/2010/main" val="1498918811"/>
              </p:ext>
            </p:extLst>
          </p:nvPr>
        </p:nvGraphicFramePr>
        <p:xfrm>
          <a:off x="2057399" y="1559858"/>
          <a:ext cx="8512176" cy="4516140"/>
        </p:xfrm>
        <a:graphic>
          <a:graphicData uri="http://schemas.openxmlformats.org/drawingml/2006/table">
            <a:tbl>
              <a:tblPr firstRow="1" bandRow="1">
                <a:tableStyleId>{5C22544A-7EE6-4342-B048-85BDC9FD1C3A}</a:tableStyleId>
              </a:tblPr>
              <a:tblGrid>
                <a:gridCol w="4256088">
                  <a:extLst>
                    <a:ext uri="{9D8B030D-6E8A-4147-A177-3AD203B41FA5}">
                      <a16:colId xmlns:a16="http://schemas.microsoft.com/office/drawing/2014/main" val="1372139157"/>
                    </a:ext>
                  </a:extLst>
                </a:gridCol>
                <a:gridCol w="4256088">
                  <a:extLst>
                    <a:ext uri="{9D8B030D-6E8A-4147-A177-3AD203B41FA5}">
                      <a16:colId xmlns:a16="http://schemas.microsoft.com/office/drawing/2014/main" val="3299173617"/>
                    </a:ext>
                  </a:extLst>
                </a:gridCol>
              </a:tblGrid>
              <a:tr h="2258070">
                <a:tc>
                  <a:txBody>
                    <a:bodyPr/>
                    <a:lstStyle/>
                    <a:p>
                      <a:r>
                        <a:rPr lang="zh-CN" altLang="en-US" dirty="0"/>
                        <a:t>优势：</a:t>
                      </a:r>
                      <a:endParaRPr lang="en-US" altLang="zh-CN" dirty="0"/>
                    </a:p>
                    <a:p>
                      <a:pPr marL="285750" indent="-285750">
                        <a:buFont typeface="Arial" panose="020B0604020202020204" pitchFamily="34" charset="0"/>
                        <a:buChar char="•"/>
                      </a:pPr>
                      <a:r>
                        <a:rPr lang="zh-CN" altLang="en-US" dirty="0"/>
                        <a:t>研发能力，几十亿研发投入，近５０００项专利</a:t>
                      </a:r>
                      <a:endParaRPr lang="en-US" altLang="zh-CN" dirty="0"/>
                    </a:p>
                    <a:p>
                      <a:pPr marL="285750" indent="-285750">
                        <a:buFont typeface="Arial" panose="020B0604020202020204" pitchFamily="34" charset="0"/>
                        <a:buChar char="•"/>
                      </a:pPr>
                      <a:r>
                        <a:rPr lang="zh-CN" altLang="en-US" dirty="0"/>
                        <a:t>服务（直营销售，服务体系）</a:t>
                      </a:r>
                      <a:endParaRPr lang="en-US" altLang="zh-CN" dirty="0"/>
                    </a:p>
                    <a:p>
                      <a:pPr marL="285750" indent="-285750">
                        <a:buFont typeface="Arial" panose="020B0604020202020204" pitchFamily="34" charset="0"/>
                        <a:buChar char="•"/>
                      </a:pPr>
                      <a:r>
                        <a:rPr lang="zh-CN" altLang="en-US" dirty="0"/>
                        <a:t>品牌价值及用户忠诚度</a:t>
                      </a:r>
                      <a:endParaRPr lang="en-US" altLang="zh-CN" dirty="0"/>
                    </a:p>
                    <a:p>
                      <a:pPr marL="285750" indent="-285750">
                        <a:buFont typeface="Arial" panose="020B0604020202020204" pitchFamily="34" charset="0"/>
                        <a:buChar char="•"/>
                      </a:pPr>
                      <a:r>
                        <a:rPr lang="zh-CN" altLang="en-US" dirty="0"/>
                        <a:t>生态圈建设（换电系统）</a:t>
                      </a:r>
                      <a:endParaRPr lang="en-US" altLang="zh-CN" dirty="0"/>
                    </a:p>
                  </a:txBody>
                  <a:tcPr/>
                </a:tc>
                <a:tc>
                  <a:txBody>
                    <a:bodyPr/>
                    <a:lstStyle/>
                    <a:p>
                      <a:r>
                        <a:rPr lang="zh-CN" altLang="en-US" dirty="0"/>
                        <a:t>劣势：</a:t>
                      </a:r>
                      <a:endParaRPr lang="en-US" altLang="zh-CN" dirty="0"/>
                    </a:p>
                    <a:p>
                      <a:pPr marL="285750" indent="-285750">
                        <a:buFont typeface="Arial" panose="020B0604020202020204" pitchFamily="34" charset="0"/>
                        <a:buChar char="•"/>
                      </a:pPr>
                      <a:r>
                        <a:rPr lang="zh-CN" altLang="en-US" dirty="0"/>
                        <a:t>产品矩阵不完善－高端中大型</a:t>
                      </a:r>
                      <a:r>
                        <a:rPr lang="en-US" altLang="zh-CN" dirty="0"/>
                        <a:t>SUV</a:t>
                      </a:r>
                      <a:r>
                        <a:rPr lang="zh-CN" altLang="en-US" dirty="0"/>
                        <a:t>，无法走量</a:t>
                      </a:r>
                      <a:endParaRPr lang="en-US" altLang="zh-CN" dirty="0"/>
                    </a:p>
                    <a:p>
                      <a:pPr marL="285750" indent="-285750">
                        <a:buFont typeface="Arial" panose="020B0604020202020204" pitchFamily="34" charset="0"/>
                        <a:buChar char="•"/>
                      </a:pPr>
                      <a:r>
                        <a:rPr lang="zh-CN" altLang="en-US" dirty="0"/>
                        <a:t>研发和销售费用高</a:t>
                      </a:r>
                      <a:endParaRPr lang="en-US" altLang="zh-CN" dirty="0"/>
                    </a:p>
                    <a:p>
                      <a:pPr marL="285750" indent="-285750">
                        <a:buFont typeface="Arial" panose="020B0604020202020204" pitchFamily="34" charset="0"/>
                        <a:buChar char="•"/>
                      </a:pPr>
                      <a:r>
                        <a:rPr lang="zh-CN" altLang="en-US" dirty="0"/>
                        <a:t>运营费用高（换电站成本高）</a:t>
                      </a:r>
                      <a:endParaRPr lang="en-US" altLang="zh-CN" dirty="0"/>
                    </a:p>
                    <a:p>
                      <a:pPr marL="285750" indent="-285750">
                        <a:buFont typeface="Arial" panose="020B0604020202020204" pitchFamily="34" charset="0"/>
                        <a:buChar char="•"/>
                      </a:pPr>
                      <a:r>
                        <a:rPr lang="zh-CN" altLang="en-US" dirty="0"/>
                        <a:t>生产产能布局落后（江淮代工）</a:t>
                      </a:r>
                      <a:endParaRPr lang="en-US" altLang="zh-CN" dirty="0"/>
                    </a:p>
                    <a:p>
                      <a:pPr marL="285750" indent="-285750">
                        <a:buFont typeface="Arial" panose="020B0604020202020204" pitchFamily="34" charset="0"/>
                        <a:buChar char="•"/>
                      </a:pPr>
                      <a:endParaRPr lang="zh-CN" altLang="en-US" dirty="0"/>
                    </a:p>
                  </a:txBody>
                  <a:tcPr/>
                </a:tc>
                <a:extLst>
                  <a:ext uri="{0D108BD9-81ED-4DB2-BD59-A6C34878D82A}">
                    <a16:rowId xmlns:a16="http://schemas.microsoft.com/office/drawing/2014/main" val="1217478280"/>
                  </a:ext>
                </a:extLst>
              </a:tr>
              <a:tr h="2258070">
                <a:tc>
                  <a:txBody>
                    <a:bodyPr/>
                    <a:lstStyle/>
                    <a:p>
                      <a:r>
                        <a:rPr lang="zh-CN" altLang="en-US" dirty="0"/>
                        <a:t>机会：</a:t>
                      </a:r>
                      <a:endParaRPr lang="en-US" altLang="zh-CN" dirty="0"/>
                    </a:p>
                    <a:p>
                      <a:pPr marL="285750" indent="-285750">
                        <a:buFont typeface="Arial" panose="020B0604020202020204" pitchFamily="34" charset="0"/>
                        <a:buChar char="•"/>
                      </a:pPr>
                      <a:r>
                        <a:rPr lang="zh-CN" altLang="en-US" dirty="0"/>
                        <a:t>政策：碳达峰碳中和，补贴</a:t>
                      </a:r>
                      <a:endParaRPr lang="en-US" altLang="zh-CN" dirty="0"/>
                    </a:p>
                    <a:p>
                      <a:pPr marL="285750" indent="-285750">
                        <a:buFont typeface="Arial" panose="020B0604020202020204" pitchFamily="34" charset="0"/>
                        <a:buChar char="•"/>
                      </a:pPr>
                      <a:r>
                        <a:rPr lang="zh-CN" altLang="en-US" dirty="0"/>
                        <a:t>海外市场</a:t>
                      </a:r>
                      <a:endParaRPr lang="en-US" altLang="zh-CN" dirty="0"/>
                    </a:p>
                    <a:p>
                      <a:pPr marL="285750" indent="-285750">
                        <a:buFont typeface="Arial" panose="020B0604020202020204" pitchFamily="34" charset="0"/>
                        <a:buChar char="•"/>
                      </a:pPr>
                      <a:r>
                        <a:rPr lang="zh-CN" altLang="en-US" dirty="0"/>
                        <a:t>消费者对新能源的认知认可度的提高</a:t>
                      </a:r>
                      <a:endParaRPr lang="en-US" altLang="zh-CN" dirty="0"/>
                    </a:p>
                    <a:p>
                      <a:pPr marL="285750" indent="-285750">
                        <a:buFont typeface="Arial" panose="020B0604020202020204" pitchFamily="34" charset="0"/>
                        <a:buChar char="•"/>
                      </a:pPr>
                      <a:endParaRPr lang="zh-CN" altLang="en-US" dirty="0"/>
                    </a:p>
                  </a:txBody>
                  <a:tcPr/>
                </a:tc>
                <a:tc>
                  <a:txBody>
                    <a:bodyPr/>
                    <a:lstStyle/>
                    <a:p>
                      <a:r>
                        <a:rPr lang="zh-CN" altLang="en-US" dirty="0"/>
                        <a:t>威胁：</a:t>
                      </a:r>
                      <a:endParaRPr lang="en-US" altLang="zh-CN" dirty="0"/>
                    </a:p>
                    <a:p>
                      <a:pPr marL="285750" indent="-285750">
                        <a:buFont typeface="Arial" panose="020B0604020202020204" pitchFamily="34" charset="0"/>
                        <a:buChar char="•"/>
                      </a:pPr>
                      <a:r>
                        <a:rPr lang="en-US" altLang="zh-CN" dirty="0"/>
                        <a:t>BBA</a:t>
                      </a:r>
                      <a:r>
                        <a:rPr lang="zh-CN" altLang="en-US" dirty="0"/>
                        <a:t>进入新能源领域</a:t>
                      </a:r>
                      <a:endParaRPr lang="en-US" altLang="zh-CN" dirty="0"/>
                    </a:p>
                    <a:p>
                      <a:pPr marL="285750" indent="-285750">
                        <a:buFont typeface="Arial" panose="020B0604020202020204" pitchFamily="34" charset="0"/>
                        <a:buChar char="•"/>
                      </a:pPr>
                      <a:r>
                        <a:rPr lang="zh-CN" altLang="en-US" dirty="0"/>
                        <a:t>国内头部车企布局进入高端车市场（小鹏、</a:t>
                      </a:r>
                      <a:r>
                        <a:rPr lang="en-US" altLang="zh-CN" dirty="0"/>
                        <a:t>BYD</a:t>
                      </a:r>
                      <a:r>
                        <a:rPr lang="zh-CN" altLang="en-US" dirty="0"/>
                        <a:t>）</a:t>
                      </a:r>
                      <a:endParaRPr lang="en-US" altLang="zh-CN" dirty="0"/>
                    </a:p>
                    <a:p>
                      <a:pPr marL="285750" indent="-285750">
                        <a:buFont typeface="Arial" panose="020B0604020202020204" pitchFamily="34" charset="0"/>
                        <a:buChar char="•"/>
                      </a:pPr>
                      <a:r>
                        <a:rPr lang="zh-CN" altLang="en-US" dirty="0"/>
                        <a:t>供应链</a:t>
                      </a:r>
                      <a:endParaRPr lang="en-US" altLang="zh-CN" dirty="0"/>
                    </a:p>
                    <a:p>
                      <a:pPr marL="285750" indent="-285750">
                        <a:buFont typeface="Arial" panose="020B0604020202020204" pitchFamily="34" charset="0"/>
                        <a:buChar char="•"/>
                      </a:pPr>
                      <a:r>
                        <a:rPr lang="zh-CN" altLang="en-US" dirty="0"/>
                        <a:t>８００Ｖ高压快充对换电的冲击</a:t>
                      </a:r>
                      <a:endParaRPr lang="en-US" altLang="zh-CN" dirty="0"/>
                    </a:p>
                    <a:p>
                      <a:pPr marL="285750" indent="-285750">
                        <a:buFont typeface="Arial" panose="020B0604020202020204" pitchFamily="34" charset="0"/>
                        <a:buChar char="•"/>
                      </a:pPr>
                      <a:endParaRPr lang="zh-CN" altLang="en-US" dirty="0"/>
                    </a:p>
                  </a:txBody>
                  <a:tcPr/>
                </a:tc>
                <a:extLst>
                  <a:ext uri="{0D108BD9-81ED-4DB2-BD59-A6C34878D82A}">
                    <a16:rowId xmlns:a16="http://schemas.microsoft.com/office/drawing/2014/main" val="2488065553"/>
                  </a:ext>
                </a:extLst>
              </a:tr>
            </a:tbl>
          </a:graphicData>
        </a:graphic>
      </p:graphicFrame>
    </p:spTree>
    <p:extLst>
      <p:ext uri="{BB962C8B-B14F-4D97-AF65-F5344CB8AC3E}">
        <p14:creationId xmlns:p14="http://schemas.microsoft.com/office/powerpoint/2010/main" val="279607394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战略</a:t>
            </a:r>
          </a:p>
        </p:txBody>
      </p:sp>
      <p:sp>
        <p:nvSpPr>
          <p:cNvPr id="3" name="内容占位符 2"/>
          <p:cNvSpPr>
            <a:spLocks noGrp="1"/>
          </p:cNvSpPr>
          <p:nvPr>
            <p:ph idx="1"/>
          </p:nvPr>
        </p:nvSpPr>
        <p:spPr/>
        <p:txBody>
          <a:bodyPr>
            <a:normAutofit lnSpcReduction="10000"/>
          </a:bodyPr>
          <a:lstStyle/>
          <a:p>
            <a:r>
              <a:rPr lang="en-US" altLang="zh-CN" dirty="0"/>
              <a:t>SO</a:t>
            </a:r>
          </a:p>
          <a:p>
            <a:pPr lvl="1"/>
            <a:r>
              <a:rPr lang="zh-CN" altLang="en-US" dirty="0"/>
              <a:t>夯实研发，进一步巩固并发展高端市场和高端品牌形象</a:t>
            </a:r>
            <a:endParaRPr lang="en-US" altLang="zh-CN" dirty="0"/>
          </a:p>
          <a:p>
            <a:pPr lvl="1"/>
            <a:r>
              <a:rPr lang="zh-CN" altLang="en-US" dirty="0"/>
              <a:t>进一步加强换电站建设，优化客户体验</a:t>
            </a:r>
            <a:endParaRPr lang="en-US" altLang="zh-CN" dirty="0"/>
          </a:p>
          <a:p>
            <a:pPr lvl="1"/>
            <a:r>
              <a:rPr lang="zh-CN" altLang="en-US" dirty="0"/>
              <a:t>利用政策支持，开发海外市场</a:t>
            </a:r>
            <a:endParaRPr lang="en-US" altLang="zh-CN" dirty="0"/>
          </a:p>
          <a:p>
            <a:r>
              <a:rPr lang="en-US" altLang="zh-CN" dirty="0"/>
              <a:t>WO</a:t>
            </a:r>
          </a:p>
          <a:p>
            <a:pPr lvl="1"/>
            <a:r>
              <a:rPr lang="zh-CN" altLang="en-US" dirty="0"/>
              <a:t>拓宽产品矩阵</a:t>
            </a:r>
            <a:endParaRPr lang="en-US" altLang="zh-CN" dirty="0"/>
          </a:p>
          <a:p>
            <a:pPr lvl="1"/>
            <a:r>
              <a:rPr lang="zh-CN" altLang="en-US" dirty="0"/>
              <a:t>提升生产环节的能力：产能、品控等方面</a:t>
            </a:r>
            <a:endParaRPr lang="en-US" altLang="zh-CN" dirty="0"/>
          </a:p>
          <a:p>
            <a:pPr lvl="1"/>
            <a:r>
              <a:rPr lang="zh-CN" altLang="en-US" dirty="0"/>
              <a:t>降低运营成本</a:t>
            </a:r>
            <a:endParaRPr lang="en-US" altLang="zh-CN" dirty="0"/>
          </a:p>
          <a:p>
            <a:pPr marL="457200" lvl="1" indent="0">
              <a:buNone/>
            </a:pPr>
            <a:endParaRPr lang="zh-CN" altLang="en-US" dirty="0"/>
          </a:p>
        </p:txBody>
      </p:sp>
    </p:spTree>
    <p:extLst>
      <p:ext uri="{BB962C8B-B14F-4D97-AF65-F5344CB8AC3E}">
        <p14:creationId xmlns:p14="http://schemas.microsoft.com/office/powerpoint/2010/main" val="406797231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3780" y="740664"/>
            <a:ext cx="8484439" cy="1005840"/>
          </a:xfrm>
        </p:spPr>
        <p:txBody>
          <a:bodyPr/>
          <a:lstStyle/>
          <a:p>
            <a:r>
              <a:rPr sz="3000" b="1" dirty="0" err="1">
                <a:solidFill>
                  <a:srgbClr val="262626"/>
                </a:solidFill>
                <a:latin typeface="等线"/>
              </a:rPr>
              <a:t>案例一：华为</a:t>
            </a:r>
            <a:r>
              <a:rPr sz="3000" b="1" dirty="0">
                <a:solidFill>
                  <a:srgbClr val="262626"/>
                </a:solidFill>
                <a:latin typeface="等线"/>
              </a:rPr>
              <a:t>——</a:t>
            </a:r>
            <a:r>
              <a:rPr sz="3000" b="1" dirty="0" err="1">
                <a:solidFill>
                  <a:srgbClr val="262626"/>
                </a:solidFill>
                <a:latin typeface="等线"/>
              </a:rPr>
              <a:t>绝境中的</a:t>
            </a:r>
            <a:r>
              <a:rPr sz="3000" b="1" dirty="0">
                <a:solidFill>
                  <a:srgbClr val="262626"/>
                </a:solidFill>
                <a:latin typeface="等线"/>
              </a:rPr>
              <a:t> SWOT 与 TOWS </a:t>
            </a:r>
            <a:r>
              <a:rPr sz="3000" b="1" dirty="0" err="1">
                <a:solidFill>
                  <a:srgbClr val="262626"/>
                </a:solidFill>
                <a:latin typeface="等线"/>
              </a:rPr>
              <a:t>推导</a:t>
            </a:r>
            <a:endParaRPr sz="3000" b="1" dirty="0">
              <a:solidFill>
                <a:srgbClr val="262626"/>
              </a:solidFill>
              <a:latin typeface="等线"/>
            </a:endParaRPr>
          </a:p>
        </p:txBody>
      </p:sp>
      <p:sp>
        <p:nvSpPr>
          <p:cNvPr id="3" name="Content Placeholder 2"/>
          <p:cNvSpPr>
            <a:spLocks noGrp="1"/>
          </p:cNvSpPr>
          <p:nvPr>
            <p:ph idx="1"/>
          </p:nvPr>
        </p:nvSpPr>
        <p:spPr>
          <a:xfrm>
            <a:off x="2331720" y="1847088"/>
            <a:ext cx="8778240" cy="4526280"/>
          </a:xfrm>
        </p:spPr>
        <p:txBody>
          <a:bodyPr wrap="square"/>
          <a:lstStyle/>
          <a:p>
            <a:pPr>
              <a:spcAft>
                <a:spcPts val="500"/>
              </a:spcAft>
            </a:pPr>
            <a:r>
              <a:rPr sz="1700" b="0">
                <a:solidFill>
                  <a:srgbClr val="262626"/>
                </a:solidFill>
                <a:latin typeface="等线"/>
              </a:rPr>
              <a:t>S：2024 年研发投入 1797 亿元；有效授权专利超 15 万件；5G 标准必要专利份额领先</a:t>
            </a:r>
          </a:p>
          <a:p>
            <a:pPr>
              <a:spcAft>
                <a:spcPts val="500"/>
              </a:spcAft>
            </a:pPr>
            <a:r>
              <a:rPr sz="1700" b="0">
                <a:solidFill>
                  <a:srgbClr val="262626"/>
                </a:solidFill>
                <a:latin typeface="等线"/>
              </a:rPr>
              <a:t>W：先进制程芯片受限；海外消费者业务收缩</a:t>
            </a:r>
          </a:p>
          <a:p>
            <a:pPr>
              <a:spcAft>
                <a:spcPts val="500"/>
              </a:spcAft>
            </a:pPr>
            <a:r>
              <a:rPr sz="1700" b="0">
                <a:solidFill>
                  <a:srgbClr val="262626"/>
                </a:solidFill>
                <a:latin typeface="等线"/>
              </a:rPr>
              <a:t>O：智能汽车解决方案（BU）、昇腾AI算力、政企数字化</a:t>
            </a:r>
          </a:p>
          <a:p>
            <a:pPr>
              <a:spcAft>
                <a:spcPts val="500"/>
              </a:spcAft>
            </a:pPr>
            <a:r>
              <a:rPr sz="1700" b="0">
                <a:solidFill>
                  <a:srgbClr val="262626"/>
                </a:solidFill>
                <a:latin typeface="等线"/>
              </a:rPr>
              <a:t>T：出口管制持续加码、技术脱钩风险</a:t>
            </a:r>
          </a:p>
          <a:p>
            <a:pPr>
              <a:spcAft>
                <a:spcPts val="500"/>
              </a:spcAft>
            </a:pPr>
            <a:r>
              <a:rPr sz="1700" b="1">
                <a:solidFill>
                  <a:srgbClr val="30508C"/>
                </a:solidFill>
                <a:latin typeface="等线"/>
              </a:rPr>
              <a:t>TOWS 矩阵推导</a:t>
            </a:r>
          </a:p>
          <a:p>
            <a:pPr lvl="1">
              <a:spcAft>
                <a:spcPts val="300"/>
              </a:spcAft>
            </a:pPr>
            <a:r>
              <a:rPr sz="1500" b="0">
                <a:solidFill>
                  <a:srgbClr val="262626"/>
                </a:solidFill>
                <a:latin typeface="等线"/>
              </a:rPr>
              <a:t>SO：鸿蒙生态（设备数超10亿）＋智驾技术放大研发优势，构建自主生态</a:t>
            </a:r>
          </a:p>
          <a:p>
            <a:pPr lvl="1">
              <a:spcAft>
                <a:spcPts val="300"/>
              </a:spcAft>
            </a:pPr>
            <a:r>
              <a:rPr sz="1500" b="0">
                <a:solidFill>
                  <a:srgbClr val="262626"/>
                </a:solidFill>
                <a:latin typeface="等线"/>
              </a:rPr>
              <a:t>WO：以 HI 模式/问界借力车企整车能力，弥补终端硬件与渠道短板</a:t>
            </a:r>
          </a:p>
          <a:p>
            <a:pPr lvl="1">
              <a:spcAft>
                <a:spcPts val="300"/>
              </a:spcAft>
            </a:pPr>
            <a:r>
              <a:rPr sz="1500" b="0">
                <a:solidFill>
                  <a:srgbClr val="262626"/>
                </a:solidFill>
                <a:latin typeface="等线"/>
              </a:rPr>
              <a:t>ST：海思自研＋国产供应链替代，把制裁压力转化为产业链协同创新</a:t>
            </a:r>
          </a:p>
          <a:p>
            <a:pPr lvl="1">
              <a:spcAft>
                <a:spcPts val="300"/>
              </a:spcAft>
            </a:pPr>
            <a:r>
              <a:rPr sz="1500" b="0">
                <a:solidFill>
                  <a:srgbClr val="262626"/>
                </a:solidFill>
                <a:latin typeface="等线"/>
              </a:rPr>
              <a:t>WT：2020 年出售荣耀聚焦主航道——"求生存"阶段的战略收缩</a:t>
            </a:r>
          </a:p>
          <a:p>
            <a:pPr>
              <a:spcAft>
                <a:spcPts val="500"/>
              </a:spcAft>
            </a:pPr>
            <a:r>
              <a:rPr sz="1700" b="1">
                <a:solidFill>
                  <a:srgbClr val="30508C"/>
                </a:solidFill>
                <a:latin typeface="等线"/>
              </a:rPr>
              <a:t>启示：SWOT 的价值不在罗列四个象限，而在交叉推导出情境化的战略选项</a:t>
            </a:r>
          </a:p>
        </p:txBody>
      </p:sp>
      <p:sp>
        <p:nvSpPr>
          <p:cNvPr id="4" name="TextBox 3"/>
          <p:cNvSpPr txBox="1"/>
          <p:nvPr/>
        </p:nvSpPr>
        <p:spPr>
          <a:xfrm>
            <a:off x="1463040" y="6473952"/>
            <a:ext cx="9326880" cy="310896"/>
          </a:xfrm>
          <a:prstGeom prst="rect">
            <a:avLst/>
          </a:prstGeom>
          <a:noFill/>
        </p:spPr>
        <p:txBody>
          <a:bodyPr wrap="none">
            <a:spAutoFit/>
          </a:bodyPr>
          <a:lstStyle/>
          <a:p>
            <a:r>
              <a:rPr sz="1100" i="1">
                <a:solidFill>
                  <a:srgbClr val="7F7F7F"/>
                </a:solidFill>
                <a:latin typeface="等线"/>
              </a:rPr>
              <a:t>资料来源：华为 2020—2024 年年度报告及公开披露数据</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案例二：瑞幸咖啡——从危机到逆转</a:t>
            </a:r>
          </a:p>
        </p:txBody>
      </p:sp>
      <p:sp>
        <p:nvSpPr>
          <p:cNvPr id="3" name="Content Placeholder 2"/>
          <p:cNvSpPr>
            <a:spLocks noGrp="1"/>
          </p:cNvSpPr>
          <p:nvPr>
            <p:ph idx="1"/>
          </p:nvPr>
        </p:nvSpPr>
        <p:spPr>
          <a:xfrm>
            <a:off x="2331720" y="1847088"/>
            <a:ext cx="8778240" cy="4526280"/>
          </a:xfrm>
        </p:spPr>
        <p:txBody>
          <a:bodyPr wrap="square"/>
          <a:lstStyle/>
          <a:p>
            <a:pPr>
              <a:spcAft>
                <a:spcPts val="500"/>
              </a:spcAft>
            </a:pPr>
            <a:r>
              <a:rPr sz="1700" b="0">
                <a:solidFill>
                  <a:srgbClr val="262626"/>
                </a:solidFill>
                <a:latin typeface="等线"/>
              </a:rPr>
              <a:t>背景：2020 年财务造假、Nasdaq 退市、管理层更迭——典型 WT 危局</a:t>
            </a:r>
          </a:p>
          <a:p>
            <a:pPr>
              <a:spcAft>
                <a:spcPts val="500"/>
              </a:spcAft>
            </a:pPr>
            <a:r>
              <a:rPr sz="1700" b="0">
                <a:solidFill>
                  <a:srgbClr val="262626"/>
                </a:solidFill>
                <a:latin typeface="等线"/>
              </a:rPr>
              <a:t>S：数字化运营能力、爆品与私域能力、供应链规模</a:t>
            </a:r>
          </a:p>
          <a:p>
            <a:pPr>
              <a:spcAft>
                <a:spcPts val="500"/>
              </a:spcAft>
            </a:pPr>
            <a:r>
              <a:rPr sz="1700" b="0">
                <a:solidFill>
                  <a:srgbClr val="262626"/>
                </a:solidFill>
                <a:latin typeface="等线"/>
              </a:rPr>
              <a:t>W：品牌信任崩塌、加盟品控压力、单杯利润薄</a:t>
            </a:r>
          </a:p>
          <a:p>
            <a:pPr>
              <a:spcAft>
                <a:spcPts val="500"/>
              </a:spcAft>
            </a:pPr>
            <a:r>
              <a:rPr sz="1700" b="0">
                <a:solidFill>
                  <a:srgbClr val="262626"/>
                </a:solidFill>
                <a:latin typeface="等线"/>
              </a:rPr>
              <a:t>O：中国现磨咖啡高增长（人均年饮用杯量仍远低于成熟市场）</a:t>
            </a:r>
          </a:p>
          <a:p>
            <a:pPr>
              <a:spcAft>
                <a:spcPts val="500"/>
              </a:spcAft>
            </a:pPr>
            <a:r>
              <a:rPr sz="1700" b="0">
                <a:solidFill>
                  <a:srgbClr val="262626"/>
                </a:solidFill>
                <a:latin typeface="等线"/>
              </a:rPr>
              <a:t>T：星巴克下沉＋库迪"9.9元"价格战</a:t>
            </a:r>
          </a:p>
          <a:p>
            <a:pPr>
              <a:spcAft>
                <a:spcPts val="500"/>
              </a:spcAft>
            </a:pPr>
            <a:r>
              <a:rPr sz="1700" b="1">
                <a:solidFill>
                  <a:srgbClr val="30508C"/>
                </a:solidFill>
                <a:latin typeface="等线"/>
              </a:rPr>
              <a:t>WO 战略：用最强的数字化与规模优势，补最弱的信任短板</a:t>
            </a:r>
          </a:p>
          <a:p>
            <a:pPr lvl="1">
              <a:spcAft>
                <a:spcPts val="300"/>
              </a:spcAft>
            </a:pPr>
            <a:r>
              <a:rPr sz="1500" b="0">
                <a:solidFill>
                  <a:srgbClr val="262626"/>
                </a:solidFill>
                <a:latin typeface="等线"/>
              </a:rPr>
              <a:t>联营模式财务透明化、实时经营数据、爆品高频迭代（酱香拿铁等联名破圈）</a:t>
            </a:r>
          </a:p>
          <a:p>
            <a:pPr lvl="1">
              <a:spcAft>
                <a:spcPts val="300"/>
              </a:spcAft>
            </a:pPr>
            <a:r>
              <a:rPr sz="1500" b="0">
                <a:solidFill>
                  <a:srgbClr val="262626"/>
                </a:solidFill>
                <a:latin typeface="等线"/>
              </a:rPr>
              <a:t>结果：2023 年营收约 249 亿元反超星巴克中国，门店超 2.2 万家，完成逆转</a:t>
            </a:r>
          </a:p>
          <a:p>
            <a:pPr>
              <a:spcAft>
                <a:spcPts val="500"/>
              </a:spcAft>
            </a:pPr>
            <a:r>
              <a:rPr sz="1700" b="1">
                <a:solidFill>
                  <a:srgbClr val="30508C"/>
                </a:solidFill>
                <a:latin typeface="等线"/>
              </a:rPr>
              <a:t>启示：劣势×机会象限往往藏着"翻身路径"——用存量优势改造致命劣势</a:t>
            </a:r>
          </a:p>
        </p:txBody>
      </p:sp>
      <p:sp>
        <p:nvSpPr>
          <p:cNvPr id="4" name="TextBox 3"/>
          <p:cNvSpPr txBox="1"/>
          <p:nvPr/>
        </p:nvSpPr>
        <p:spPr>
          <a:xfrm>
            <a:off x="1463040" y="6473952"/>
            <a:ext cx="9326880" cy="310896"/>
          </a:xfrm>
          <a:prstGeom prst="rect">
            <a:avLst/>
          </a:prstGeom>
          <a:noFill/>
        </p:spPr>
        <p:txBody>
          <a:bodyPr wrap="none">
            <a:spAutoFit/>
          </a:bodyPr>
          <a:lstStyle/>
          <a:p>
            <a:r>
              <a:rPr sz="1100" i="1">
                <a:solidFill>
                  <a:srgbClr val="7F7F7F"/>
                </a:solidFill>
                <a:latin typeface="等线"/>
              </a:rPr>
              <a:t>资料来源：瑞幸咖啡（LKNCY）2021—2024 年度报告及公开披露数据</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案例三：大疆——制裁威胁下的 ST 战略</a:t>
            </a:r>
          </a:p>
        </p:txBody>
      </p:sp>
      <p:sp>
        <p:nvSpPr>
          <p:cNvPr id="3" name="Content Placeholder 2"/>
          <p:cNvSpPr>
            <a:spLocks noGrp="1"/>
          </p:cNvSpPr>
          <p:nvPr>
            <p:ph idx="1"/>
          </p:nvPr>
        </p:nvSpPr>
        <p:spPr>
          <a:xfrm>
            <a:off x="2331720" y="1847088"/>
            <a:ext cx="8778240" cy="4526280"/>
          </a:xfrm>
        </p:spPr>
        <p:txBody>
          <a:bodyPr wrap="square"/>
          <a:lstStyle/>
          <a:p>
            <a:pPr>
              <a:spcAft>
                <a:spcPts val="500"/>
              </a:spcAft>
            </a:pPr>
            <a:r>
              <a:rPr sz="1700" b="0">
                <a:solidFill>
                  <a:srgbClr val="262626"/>
                </a:solidFill>
                <a:latin typeface="等线"/>
              </a:rPr>
              <a:t>S：全球消费级无人机约七成份额、技术代差与专利墙、全产业链成本优势</a:t>
            </a:r>
          </a:p>
          <a:p>
            <a:pPr>
              <a:spcAft>
                <a:spcPts val="500"/>
              </a:spcAft>
            </a:pPr>
            <a:r>
              <a:rPr sz="1700" b="0">
                <a:solidFill>
                  <a:srgbClr val="262626"/>
                </a:solidFill>
                <a:latin typeface="等线"/>
              </a:rPr>
              <a:t>W：消费级市场渐见天花板、品类相对单一</a:t>
            </a:r>
          </a:p>
          <a:p>
            <a:pPr>
              <a:spcAft>
                <a:spcPts val="500"/>
              </a:spcAft>
            </a:pPr>
            <a:r>
              <a:rPr sz="1700" b="0">
                <a:solidFill>
                  <a:srgbClr val="262626"/>
                </a:solidFill>
                <a:latin typeface="等线"/>
              </a:rPr>
              <a:t>O：行业级应用（农业植保、测绘、应急、影视）</a:t>
            </a:r>
          </a:p>
          <a:p>
            <a:pPr>
              <a:spcAft>
                <a:spcPts val="500"/>
              </a:spcAft>
            </a:pPr>
            <a:r>
              <a:rPr sz="1700" b="0">
                <a:solidFill>
                  <a:srgbClr val="262626"/>
                </a:solidFill>
                <a:latin typeface="等线"/>
              </a:rPr>
              <a:t>T：美国出口管制/实体清单风险、地缘政治不确定</a:t>
            </a:r>
          </a:p>
          <a:p>
            <a:pPr>
              <a:spcAft>
                <a:spcPts val="500"/>
              </a:spcAft>
            </a:pPr>
            <a:r>
              <a:rPr sz="1700" b="1">
                <a:solidFill>
                  <a:srgbClr val="30508C"/>
                </a:solidFill>
                <a:latin typeface="等线"/>
              </a:rPr>
              <a:t>ST 战略：以技术代差和全产业链成本优势消化关税与制裁</a:t>
            </a:r>
          </a:p>
          <a:p>
            <a:pPr lvl="1">
              <a:spcAft>
                <a:spcPts val="300"/>
              </a:spcAft>
            </a:pPr>
            <a:r>
              <a:rPr sz="1500" b="0">
                <a:solidFill>
                  <a:srgbClr val="262626"/>
                </a:solidFill>
                <a:latin typeface="等线"/>
              </a:rPr>
              <a:t>"不可替代性"是最好的对冲——当产品领先对手一代以上时，买方承担的替代成本远高于关税</a:t>
            </a:r>
          </a:p>
          <a:p>
            <a:pPr lvl="1">
              <a:spcAft>
                <a:spcPts val="300"/>
              </a:spcAft>
            </a:pPr>
            <a:r>
              <a:rPr sz="1500" b="0">
                <a:solidFill>
                  <a:srgbClr val="262626"/>
                </a:solidFill>
                <a:latin typeface="等线"/>
              </a:rPr>
              <a:t>产品多元化对冲单一品类风险：Osmo、Ronin、RoboMaster、车载与行业解决方案</a:t>
            </a:r>
          </a:p>
          <a:p>
            <a:pPr>
              <a:spcAft>
                <a:spcPts val="500"/>
              </a:spcAft>
            </a:pPr>
            <a:r>
              <a:rPr sz="1700" b="1">
                <a:solidFill>
                  <a:srgbClr val="30508C"/>
                </a:solidFill>
                <a:latin typeface="等线"/>
              </a:rPr>
              <a:t>启示：当威胁不可消除时，战略目标是"让威胁变得不重要"</a:t>
            </a:r>
          </a:p>
        </p:txBody>
      </p:sp>
      <p:sp>
        <p:nvSpPr>
          <p:cNvPr id="4" name="TextBox 3"/>
          <p:cNvSpPr txBox="1"/>
          <p:nvPr/>
        </p:nvSpPr>
        <p:spPr>
          <a:xfrm>
            <a:off x="1463040" y="6473952"/>
            <a:ext cx="9326880" cy="310896"/>
          </a:xfrm>
          <a:prstGeom prst="rect">
            <a:avLst/>
          </a:prstGeom>
          <a:noFill/>
        </p:spPr>
        <p:txBody>
          <a:bodyPr wrap="none">
            <a:spAutoFit/>
          </a:bodyPr>
          <a:lstStyle/>
          <a:p>
            <a:r>
              <a:rPr sz="1100" i="1">
                <a:solidFill>
                  <a:srgbClr val="7F7F7F"/>
                </a:solidFill>
                <a:latin typeface="等线"/>
              </a:rPr>
              <a:t>资料来源：公开行业研究及企业公开资料（市场份额为行业机构普遍估计值）</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a:t>成长与发展</a:t>
            </a:r>
          </a:p>
        </p:txBody>
      </p:sp>
      <p:sp>
        <p:nvSpPr>
          <p:cNvPr id="4" name="内容占位符 3"/>
          <p:cNvSpPr>
            <a:spLocks noGrp="1"/>
          </p:cNvSpPr>
          <p:nvPr>
            <p:ph idx="1"/>
          </p:nvPr>
        </p:nvSpPr>
        <p:spPr/>
        <p:txBody>
          <a:bodyPr>
            <a:normAutofit lnSpcReduction="10000"/>
          </a:bodyPr>
          <a:lstStyle/>
          <a:p>
            <a:r>
              <a:rPr kumimoji="1" lang="zh-CN" altLang="en-US" dirty="0"/>
              <a:t>公司成长轨迹</a:t>
            </a:r>
            <a:endParaRPr kumimoji="1" lang="en-US" altLang="zh-CN" dirty="0"/>
          </a:p>
          <a:p>
            <a:pPr lvl="1"/>
            <a:r>
              <a:rPr kumimoji="1" lang="zh-CN" altLang="en-US" dirty="0"/>
              <a:t>小公司，单一产品单一市场</a:t>
            </a:r>
            <a:endParaRPr kumimoji="1" lang="en-US" altLang="zh-CN" dirty="0"/>
          </a:p>
          <a:p>
            <a:pPr lvl="1"/>
            <a:r>
              <a:rPr kumimoji="1" lang="zh-CN" altLang="en-US" dirty="0"/>
              <a:t>扩展市场：市场开发</a:t>
            </a:r>
            <a:endParaRPr kumimoji="1" lang="en-US" altLang="zh-CN" dirty="0"/>
          </a:p>
          <a:p>
            <a:pPr lvl="1"/>
            <a:r>
              <a:rPr kumimoji="1" lang="zh-CN" altLang="en-US" dirty="0"/>
              <a:t>完善增加产品：产品开发</a:t>
            </a:r>
            <a:endParaRPr kumimoji="1" lang="en-US" altLang="zh-CN" dirty="0"/>
          </a:p>
          <a:p>
            <a:pPr lvl="1"/>
            <a:r>
              <a:rPr kumimoji="1" lang="zh-CN" altLang="en-US" dirty="0"/>
              <a:t>继续扩大规模，纵向一体化、横向一体化</a:t>
            </a:r>
            <a:endParaRPr kumimoji="1" lang="en-US" altLang="zh-CN" dirty="0"/>
          </a:p>
          <a:p>
            <a:pPr lvl="1"/>
            <a:r>
              <a:rPr kumimoji="1" lang="zh-CN" altLang="en-US" dirty="0"/>
              <a:t>以上三种</a:t>
            </a:r>
            <a:r>
              <a:rPr kumimoji="1" lang="zh-CN" altLang="en-US" dirty="0">
                <a:solidFill>
                  <a:srgbClr val="FF0000"/>
                </a:solidFill>
              </a:rPr>
              <a:t>专业化发展战略</a:t>
            </a:r>
            <a:endParaRPr kumimoji="1" lang="en-US" altLang="zh-CN" dirty="0">
              <a:solidFill>
                <a:srgbClr val="FF0000"/>
              </a:solidFill>
            </a:endParaRPr>
          </a:p>
          <a:p>
            <a:pPr lvl="1"/>
            <a:endParaRPr kumimoji="1" lang="en-US" altLang="zh-CN" dirty="0"/>
          </a:p>
          <a:p>
            <a:pPr lvl="1"/>
            <a:r>
              <a:rPr kumimoji="1" lang="zh-CN" altLang="en-US" dirty="0"/>
              <a:t>行业有周期，风险大，或者看到新的战略机会，进入新的行业领域，开始新一轮的发展，</a:t>
            </a:r>
            <a:r>
              <a:rPr kumimoji="1" lang="zh-CN" altLang="en-US" dirty="0">
                <a:solidFill>
                  <a:srgbClr val="FF0000"/>
                </a:solidFill>
              </a:rPr>
              <a:t>多元化发展战略</a:t>
            </a:r>
            <a:r>
              <a:rPr kumimoji="1" lang="zh-CN" altLang="en-US" dirty="0"/>
              <a:t>，相关多元化，非相关多元化</a:t>
            </a:r>
            <a:endParaRPr kumimoji="1" lang="en-US" altLang="zh-CN" dirty="0"/>
          </a:p>
          <a:p>
            <a:pPr lvl="1"/>
            <a:endParaRPr kumimoji="1" lang="zh-CN" altLang="en-US" dirty="0"/>
          </a:p>
        </p:txBody>
      </p:sp>
    </p:spTree>
    <p:extLst>
      <p:ext uri="{BB962C8B-B14F-4D97-AF65-F5344CB8AC3E}">
        <p14:creationId xmlns:p14="http://schemas.microsoft.com/office/powerpoint/2010/main" val="8880591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564979" y="788987"/>
            <a:ext cx="7884368" cy="1484313"/>
          </a:xfrm>
        </p:spPr>
        <p:txBody>
          <a:bodyPr/>
          <a:lstStyle/>
          <a:p>
            <a:pPr eaLnBrk="1" hangingPunct="1"/>
            <a:r>
              <a:rPr lang="zh-CN" altLang="en-AU" sz="3200" b="1" dirty="0"/>
              <a:t>在此过程中还需要作出许多艰难的选择...</a:t>
            </a:r>
            <a:endParaRPr lang="en-US" altLang="zh-CN" sz="3200" b="1" dirty="0"/>
          </a:p>
        </p:txBody>
      </p:sp>
      <p:sp>
        <p:nvSpPr>
          <p:cNvPr id="1218563" name="AutoShape 3"/>
          <p:cNvSpPr>
            <a:spLocks noChangeArrowheads="1"/>
          </p:cNvSpPr>
          <p:nvPr/>
        </p:nvSpPr>
        <p:spPr bwMode="auto">
          <a:xfrm rot="10800000" flipH="1">
            <a:off x="3414713" y="5295900"/>
            <a:ext cx="6134100" cy="234950"/>
          </a:xfrm>
          <a:prstGeom prst="triangle">
            <a:avLst>
              <a:gd name="adj" fmla="val 49995"/>
            </a:avLst>
          </a:prstGeom>
          <a:gradFill rotWithShape="0">
            <a:gsLst>
              <a:gs pos="0">
                <a:schemeClr val="folHlink">
                  <a:gamma/>
                  <a:shade val="46275"/>
                  <a:invGamma/>
                </a:schemeClr>
              </a:gs>
              <a:gs pos="100000">
                <a:schemeClr val="folHlink"/>
              </a:gs>
            </a:gsLst>
            <a:lin ang="5400000" scaled="1"/>
          </a:gradFill>
          <a:ln w="12700">
            <a:solidFill>
              <a:schemeClr val="folHlink"/>
            </a:solidFill>
            <a:miter lim="800000"/>
            <a:headEnd/>
            <a:tailEnd/>
          </a:ln>
          <a:effectLst/>
        </p:spPr>
        <p:txBody>
          <a:bodyPr wrap="none" anchor="ctr"/>
          <a:lstStyle/>
          <a:p>
            <a:pPr>
              <a:defRPr/>
            </a:pPr>
            <a:endParaRPr lang="zh-CN" altLang="en-US"/>
          </a:p>
        </p:txBody>
      </p:sp>
      <p:sp>
        <p:nvSpPr>
          <p:cNvPr id="1218564" name="Rectangle 4"/>
          <p:cNvSpPr>
            <a:spLocks noChangeArrowheads="1"/>
          </p:cNvSpPr>
          <p:nvPr/>
        </p:nvSpPr>
        <p:spPr bwMode="auto">
          <a:xfrm>
            <a:off x="2936876" y="5651500"/>
            <a:ext cx="7142163" cy="901700"/>
          </a:xfrm>
          <a:prstGeom prst="rect">
            <a:avLst/>
          </a:prstGeom>
          <a:gradFill rotWithShape="0">
            <a:gsLst>
              <a:gs pos="0">
                <a:schemeClr val="bg1">
                  <a:gamma/>
                  <a:shade val="36078"/>
                  <a:invGamma/>
                </a:schemeClr>
              </a:gs>
              <a:gs pos="50000">
                <a:schemeClr val="bg1"/>
              </a:gs>
              <a:gs pos="100000">
                <a:schemeClr val="bg1">
                  <a:gamma/>
                  <a:shade val="36078"/>
                  <a:invGamma/>
                </a:schemeClr>
              </a:gs>
            </a:gsLst>
            <a:lin ang="2700000" scaled="1"/>
          </a:gradFill>
          <a:ln w="12700">
            <a:solidFill>
              <a:schemeClr val="tx1"/>
            </a:solidFill>
            <a:miter lim="800000"/>
            <a:headEnd/>
            <a:tailEnd/>
          </a:ln>
          <a:effectLst/>
        </p:spPr>
        <p:txBody>
          <a:bodyPr wrap="none" anchor="ctr"/>
          <a:lstStyle/>
          <a:p>
            <a:pPr>
              <a:defRPr/>
            </a:pPr>
            <a:endParaRPr lang="zh-CN" altLang="en-US"/>
          </a:p>
        </p:txBody>
      </p:sp>
      <p:sp>
        <p:nvSpPr>
          <p:cNvPr id="17413" name="Freeform 5"/>
          <p:cNvSpPr>
            <a:spLocks/>
          </p:cNvSpPr>
          <p:nvPr/>
        </p:nvSpPr>
        <p:spPr bwMode="auto">
          <a:xfrm>
            <a:off x="3721101" y="5776914"/>
            <a:ext cx="5402263" cy="433387"/>
          </a:xfrm>
          <a:custGeom>
            <a:avLst/>
            <a:gdLst>
              <a:gd name="T0" fmla="*/ 0 w 3775"/>
              <a:gd name="T1" fmla="*/ 272 h 273"/>
              <a:gd name="T2" fmla="*/ 0 w 3775"/>
              <a:gd name="T3" fmla="*/ 0 h 273"/>
              <a:gd name="T4" fmla="*/ 3774 w 3775"/>
              <a:gd name="T5" fmla="*/ 0 h 273"/>
              <a:gd name="T6" fmla="*/ 3774 w 3775"/>
              <a:gd name="T7" fmla="*/ 248 h 273"/>
              <a:gd name="T8" fmla="*/ 0 60000 65536"/>
              <a:gd name="T9" fmla="*/ 0 60000 65536"/>
              <a:gd name="T10" fmla="*/ 0 60000 65536"/>
              <a:gd name="T11" fmla="*/ 0 60000 65536"/>
              <a:gd name="T12" fmla="*/ 0 w 3775"/>
              <a:gd name="T13" fmla="*/ 0 h 273"/>
              <a:gd name="T14" fmla="*/ 3775 w 3775"/>
              <a:gd name="T15" fmla="*/ 273 h 273"/>
            </a:gdLst>
            <a:ahLst/>
            <a:cxnLst>
              <a:cxn ang="T8">
                <a:pos x="T0" y="T1"/>
              </a:cxn>
              <a:cxn ang="T9">
                <a:pos x="T2" y="T3"/>
              </a:cxn>
              <a:cxn ang="T10">
                <a:pos x="T4" y="T5"/>
              </a:cxn>
              <a:cxn ang="T11">
                <a:pos x="T6" y="T7"/>
              </a:cxn>
            </a:cxnLst>
            <a:rect l="T12" t="T13" r="T14" b="T15"/>
            <a:pathLst>
              <a:path w="3775" h="273">
                <a:moveTo>
                  <a:pt x="0" y="272"/>
                </a:moveTo>
                <a:lnTo>
                  <a:pt x="0" y="0"/>
                </a:lnTo>
                <a:lnTo>
                  <a:pt x="3774" y="0"/>
                </a:lnTo>
                <a:lnTo>
                  <a:pt x="3774" y="248"/>
                </a:lnTo>
              </a:path>
            </a:pathLst>
          </a:custGeom>
          <a:noFill/>
          <a:ln w="12700" cap="rnd" cmpd="sng">
            <a:solidFill>
              <a:schemeClr val="tx1"/>
            </a:solidFill>
            <a:prstDash val="solid"/>
            <a:round/>
            <a:headEnd type="none" w="med" len="med"/>
            <a:tailEnd type="none" w="med" len="med"/>
          </a:ln>
        </p:spPr>
        <p:txBody>
          <a:bodyPr/>
          <a:lstStyle/>
          <a:p>
            <a:endParaRPr lang="zh-CN" altLang="en-US"/>
          </a:p>
        </p:txBody>
      </p:sp>
      <p:sp>
        <p:nvSpPr>
          <p:cNvPr id="1218567" name="Rectangle 7"/>
          <p:cNvSpPr>
            <a:spLocks noChangeArrowheads="1"/>
          </p:cNvSpPr>
          <p:nvPr/>
        </p:nvSpPr>
        <p:spPr bwMode="auto">
          <a:xfrm>
            <a:off x="8305801" y="5899150"/>
            <a:ext cx="1662113" cy="48260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12700">
            <a:noFill/>
            <a:miter lim="800000"/>
            <a:headEnd/>
            <a:tailEnd/>
          </a:ln>
          <a:effectLst/>
        </p:spPr>
        <p:txBody>
          <a:bodyPr lIns="90488" tIns="44450" rIns="90488" bIns="44450" anchor="ctr" anchorCtr="1"/>
          <a:lstStyle/>
          <a:p>
            <a:pPr eaLnBrk="0" hangingPunct="0">
              <a:lnSpc>
                <a:spcPct val="90000"/>
              </a:lnSpc>
              <a:tabLst>
                <a:tab pos="1028700" algn="l"/>
                <a:tab pos="8001000" algn="r"/>
              </a:tabLst>
              <a:defRPr/>
            </a:pPr>
            <a:r>
              <a:rPr lang="zh-CN" altLang="en-US" sz="1400" b="1">
                <a:effectLst>
                  <a:outerShdw blurRad="38100" dist="38100" dir="2700000" algn="tl">
                    <a:srgbClr val="FFFFFF"/>
                  </a:outerShdw>
                </a:effectLst>
                <a:ea typeface="楷体" pitchFamily="2" charset="-122"/>
              </a:rPr>
              <a:t>战略联盟</a:t>
            </a:r>
          </a:p>
        </p:txBody>
      </p:sp>
      <p:sp>
        <p:nvSpPr>
          <p:cNvPr id="1218570" name="Rectangle 10"/>
          <p:cNvSpPr>
            <a:spLocks noChangeArrowheads="1"/>
          </p:cNvSpPr>
          <p:nvPr/>
        </p:nvSpPr>
        <p:spPr bwMode="auto">
          <a:xfrm>
            <a:off x="5664201" y="5949950"/>
            <a:ext cx="1419225" cy="48260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12700">
            <a:noFill/>
            <a:miter lim="800000"/>
            <a:headEnd/>
            <a:tailEnd/>
          </a:ln>
          <a:effectLst/>
        </p:spPr>
        <p:txBody>
          <a:bodyPr lIns="90488" tIns="44450" rIns="90488" bIns="44450" anchor="ctr" anchorCtr="1"/>
          <a:lstStyle/>
          <a:p>
            <a:pPr marL="388938" indent="-388938" eaLnBrk="0" hangingPunct="0">
              <a:lnSpc>
                <a:spcPct val="90000"/>
              </a:lnSpc>
              <a:tabLst>
                <a:tab pos="1028700" algn="l"/>
                <a:tab pos="8001000" algn="r"/>
              </a:tabLst>
              <a:defRPr/>
            </a:pPr>
            <a:r>
              <a:rPr lang="zh-CN" altLang="en-US" sz="1400" b="1" dirty="0">
                <a:effectLst>
                  <a:outerShdw blurRad="38100" dist="38100" dir="2700000" algn="tl">
                    <a:srgbClr val="FFFFFF"/>
                  </a:outerShdw>
                </a:effectLst>
                <a:ea typeface="楷体" pitchFamily="2" charset="-122"/>
              </a:rPr>
              <a:t>自我发展</a:t>
            </a:r>
          </a:p>
        </p:txBody>
      </p:sp>
      <p:sp>
        <p:nvSpPr>
          <p:cNvPr id="1218571" name="Rectangle 11"/>
          <p:cNvSpPr>
            <a:spLocks noChangeArrowheads="1"/>
          </p:cNvSpPr>
          <p:nvPr/>
        </p:nvSpPr>
        <p:spPr bwMode="auto">
          <a:xfrm>
            <a:off x="3216275" y="5949950"/>
            <a:ext cx="1416050" cy="48260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12700">
            <a:noFill/>
            <a:miter lim="800000"/>
            <a:headEnd/>
            <a:tailEnd/>
          </a:ln>
          <a:effectLst/>
        </p:spPr>
        <p:txBody>
          <a:bodyPr lIns="90488" tIns="44450" rIns="90488" bIns="44450" anchor="ctr" anchorCtr="1"/>
          <a:lstStyle/>
          <a:p>
            <a:pPr eaLnBrk="0" hangingPunct="0">
              <a:lnSpc>
                <a:spcPct val="90000"/>
              </a:lnSpc>
              <a:tabLst>
                <a:tab pos="1028700" algn="l"/>
                <a:tab pos="8001000" algn="r"/>
              </a:tabLst>
              <a:defRPr/>
            </a:pPr>
            <a:r>
              <a:rPr lang="zh-CN" altLang="en-US" sz="1400" b="1">
                <a:effectLst>
                  <a:outerShdw blurRad="38100" dist="38100" dir="2700000" algn="tl">
                    <a:srgbClr val="FFFFFF"/>
                  </a:outerShdw>
                </a:effectLst>
                <a:ea typeface="楷体" pitchFamily="2" charset="-122"/>
              </a:rPr>
              <a:t>合并收购</a:t>
            </a:r>
          </a:p>
        </p:txBody>
      </p:sp>
      <p:sp>
        <p:nvSpPr>
          <p:cNvPr id="1218572" name="Rectangle 12"/>
          <p:cNvSpPr>
            <a:spLocks noChangeArrowheads="1"/>
          </p:cNvSpPr>
          <p:nvPr/>
        </p:nvSpPr>
        <p:spPr bwMode="auto">
          <a:xfrm>
            <a:off x="2930526" y="1790700"/>
            <a:ext cx="7153275" cy="341630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18900000" scaled="1"/>
          </a:gradFill>
          <a:ln w="12700">
            <a:solidFill>
              <a:schemeClr val="tx1"/>
            </a:solidFill>
            <a:miter lim="800000"/>
            <a:headEnd/>
            <a:tailEnd/>
          </a:ln>
          <a:effectLst/>
        </p:spPr>
        <p:txBody>
          <a:bodyPr wrap="none" anchor="ctr"/>
          <a:lstStyle/>
          <a:p>
            <a:pPr>
              <a:defRPr/>
            </a:pPr>
            <a:endParaRPr lang="zh-CN" altLang="en-US"/>
          </a:p>
        </p:txBody>
      </p:sp>
      <p:sp>
        <p:nvSpPr>
          <p:cNvPr id="17418" name="Rectangle 13"/>
          <p:cNvSpPr>
            <a:spLocks noChangeArrowheads="1"/>
          </p:cNvSpPr>
          <p:nvPr/>
        </p:nvSpPr>
        <p:spPr bwMode="auto">
          <a:xfrm>
            <a:off x="1735139" y="3249614"/>
            <a:ext cx="903287" cy="473075"/>
          </a:xfrm>
          <a:prstGeom prst="rect">
            <a:avLst/>
          </a:prstGeom>
          <a:noFill/>
          <a:ln w="12700">
            <a:noFill/>
            <a:miter lim="800000"/>
            <a:headEnd/>
            <a:tailEnd/>
          </a:ln>
        </p:spPr>
        <p:txBody>
          <a:bodyPr lIns="90488" tIns="44450" rIns="90488" bIns="44450" anchor="ctr" anchorCtr="1"/>
          <a:lstStyle/>
          <a:p>
            <a:pPr>
              <a:lnSpc>
                <a:spcPts val="1500"/>
              </a:lnSpc>
              <a:spcBef>
                <a:spcPts val="300"/>
              </a:spcBef>
              <a:buClr>
                <a:schemeClr val="folHlink"/>
              </a:buClr>
              <a:tabLst>
                <a:tab pos="1028700" algn="l"/>
              </a:tabLst>
            </a:pPr>
            <a:r>
              <a:rPr lang="zh-CN" altLang="en-US" sz="2000" b="1">
                <a:latin typeface="Arial" pitchFamily="34" charset="0"/>
                <a:ea typeface="宋体" pitchFamily="2" charset="-122"/>
              </a:rPr>
              <a:t>增长模式</a:t>
            </a:r>
          </a:p>
        </p:txBody>
      </p:sp>
      <p:sp>
        <p:nvSpPr>
          <p:cNvPr id="17419" name="Rectangle 14"/>
          <p:cNvSpPr>
            <a:spLocks noChangeArrowheads="1"/>
          </p:cNvSpPr>
          <p:nvPr/>
        </p:nvSpPr>
        <p:spPr bwMode="auto">
          <a:xfrm>
            <a:off x="1774826" y="5816600"/>
            <a:ext cx="1008063" cy="571500"/>
          </a:xfrm>
          <a:prstGeom prst="rect">
            <a:avLst/>
          </a:prstGeom>
          <a:noFill/>
          <a:ln w="12700">
            <a:noFill/>
            <a:miter lim="800000"/>
            <a:headEnd/>
            <a:tailEnd/>
          </a:ln>
        </p:spPr>
        <p:txBody>
          <a:bodyPr lIns="90488" tIns="44450" rIns="90488" bIns="44450" anchor="ctr" anchorCtr="1"/>
          <a:lstStyle/>
          <a:p>
            <a:pPr eaLnBrk="0" hangingPunct="0">
              <a:lnSpc>
                <a:spcPts val="1500"/>
              </a:lnSpc>
              <a:spcBef>
                <a:spcPts val="300"/>
              </a:spcBef>
              <a:tabLst>
                <a:tab pos="1028700" algn="l"/>
              </a:tabLst>
            </a:pPr>
            <a:r>
              <a:rPr lang="zh-CN" altLang="en-US" sz="1600" b="1">
                <a:ea typeface="楷体" pitchFamily="2" charset="-122"/>
              </a:rPr>
              <a:t>增长方法</a:t>
            </a:r>
          </a:p>
        </p:txBody>
      </p:sp>
      <p:sp>
        <p:nvSpPr>
          <p:cNvPr id="17420" name="Freeform 15"/>
          <p:cNvSpPr>
            <a:spLocks/>
          </p:cNvSpPr>
          <p:nvPr/>
        </p:nvSpPr>
        <p:spPr bwMode="auto">
          <a:xfrm>
            <a:off x="7485063" y="3656014"/>
            <a:ext cx="1725612" cy="496887"/>
          </a:xfrm>
          <a:custGeom>
            <a:avLst/>
            <a:gdLst>
              <a:gd name="T0" fmla="*/ 0 w 1177"/>
              <a:gd name="T1" fmla="*/ 312 h 313"/>
              <a:gd name="T2" fmla="*/ 0 w 1177"/>
              <a:gd name="T3" fmla="*/ 0 h 313"/>
              <a:gd name="T4" fmla="*/ 1176 w 1177"/>
              <a:gd name="T5" fmla="*/ 0 h 313"/>
              <a:gd name="T6" fmla="*/ 1176 w 1177"/>
              <a:gd name="T7" fmla="*/ 280 h 313"/>
              <a:gd name="T8" fmla="*/ 0 60000 65536"/>
              <a:gd name="T9" fmla="*/ 0 60000 65536"/>
              <a:gd name="T10" fmla="*/ 0 60000 65536"/>
              <a:gd name="T11" fmla="*/ 0 60000 65536"/>
              <a:gd name="T12" fmla="*/ 0 w 1177"/>
              <a:gd name="T13" fmla="*/ 0 h 313"/>
              <a:gd name="T14" fmla="*/ 1177 w 1177"/>
              <a:gd name="T15" fmla="*/ 313 h 313"/>
            </a:gdLst>
            <a:ahLst/>
            <a:cxnLst>
              <a:cxn ang="T8">
                <a:pos x="T0" y="T1"/>
              </a:cxn>
              <a:cxn ang="T9">
                <a:pos x="T2" y="T3"/>
              </a:cxn>
              <a:cxn ang="T10">
                <a:pos x="T4" y="T5"/>
              </a:cxn>
              <a:cxn ang="T11">
                <a:pos x="T6" y="T7"/>
              </a:cxn>
            </a:cxnLst>
            <a:rect l="T12" t="T13" r="T14" b="T15"/>
            <a:pathLst>
              <a:path w="1177" h="313">
                <a:moveTo>
                  <a:pt x="0" y="312"/>
                </a:moveTo>
                <a:lnTo>
                  <a:pt x="0" y="0"/>
                </a:lnTo>
                <a:lnTo>
                  <a:pt x="1176" y="0"/>
                </a:lnTo>
                <a:lnTo>
                  <a:pt x="1176" y="280"/>
                </a:lnTo>
              </a:path>
            </a:pathLst>
          </a:custGeom>
          <a:noFill/>
          <a:ln w="12700" cap="rnd" cmpd="sng">
            <a:solidFill>
              <a:schemeClr val="tx1"/>
            </a:solidFill>
            <a:prstDash val="solid"/>
            <a:round/>
            <a:headEnd type="none" w="med" len="med"/>
            <a:tailEnd type="none" w="med" len="med"/>
          </a:ln>
        </p:spPr>
        <p:txBody>
          <a:bodyPr/>
          <a:lstStyle/>
          <a:p>
            <a:endParaRPr lang="zh-CN" altLang="en-US"/>
          </a:p>
        </p:txBody>
      </p:sp>
      <p:sp>
        <p:nvSpPr>
          <p:cNvPr id="17421" name="Freeform 16"/>
          <p:cNvSpPr>
            <a:spLocks/>
          </p:cNvSpPr>
          <p:nvPr/>
        </p:nvSpPr>
        <p:spPr bwMode="auto">
          <a:xfrm>
            <a:off x="3768726" y="3656014"/>
            <a:ext cx="1724025" cy="496887"/>
          </a:xfrm>
          <a:custGeom>
            <a:avLst/>
            <a:gdLst>
              <a:gd name="T0" fmla="*/ 0 w 1177"/>
              <a:gd name="T1" fmla="*/ 312 h 313"/>
              <a:gd name="T2" fmla="*/ 0 w 1177"/>
              <a:gd name="T3" fmla="*/ 0 h 313"/>
              <a:gd name="T4" fmla="*/ 1176 w 1177"/>
              <a:gd name="T5" fmla="*/ 0 h 313"/>
              <a:gd name="T6" fmla="*/ 1176 w 1177"/>
              <a:gd name="T7" fmla="*/ 280 h 313"/>
              <a:gd name="T8" fmla="*/ 0 60000 65536"/>
              <a:gd name="T9" fmla="*/ 0 60000 65536"/>
              <a:gd name="T10" fmla="*/ 0 60000 65536"/>
              <a:gd name="T11" fmla="*/ 0 60000 65536"/>
              <a:gd name="T12" fmla="*/ 0 w 1177"/>
              <a:gd name="T13" fmla="*/ 0 h 313"/>
              <a:gd name="T14" fmla="*/ 1177 w 1177"/>
              <a:gd name="T15" fmla="*/ 313 h 313"/>
            </a:gdLst>
            <a:ahLst/>
            <a:cxnLst>
              <a:cxn ang="T8">
                <a:pos x="T0" y="T1"/>
              </a:cxn>
              <a:cxn ang="T9">
                <a:pos x="T2" y="T3"/>
              </a:cxn>
              <a:cxn ang="T10">
                <a:pos x="T4" y="T5"/>
              </a:cxn>
              <a:cxn ang="T11">
                <a:pos x="T6" y="T7"/>
              </a:cxn>
            </a:cxnLst>
            <a:rect l="T12" t="T13" r="T14" b="T15"/>
            <a:pathLst>
              <a:path w="1177" h="313">
                <a:moveTo>
                  <a:pt x="0" y="312"/>
                </a:moveTo>
                <a:lnTo>
                  <a:pt x="0" y="0"/>
                </a:lnTo>
                <a:lnTo>
                  <a:pt x="1176" y="0"/>
                </a:lnTo>
                <a:lnTo>
                  <a:pt x="1176" y="280"/>
                </a:lnTo>
              </a:path>
            </a:pathLst>
          </a:custGeom>
          <a:noFill/>
          <a:ln w="12700" cap="rnd" cmpd="sng">
            <a:solidFill>
              <a:schemeClr val="tx1"/>
            </a:solidFill>
            <a:prstDash val="solid"/>
            <a:round/>
            <a:headEnd type="none" w="med" len="med"/>
            <a:tailEnd type="none" w="med" len="med"/>
          </a:ln>
        </p:spPr>
        <p:txBody>
          <a:bodyPr/>
          <a:lstStyle/>
          <a:p>
            <a:endParaRPr lang="zh-CN" altLang="en-US"/>
          </a:p>
        </p:txBody>
      </p:sp>
      <p:sp>
        <p:nvSpPr>
          <p:cNvPr id="17422" name="Freeform 17"/>
          <p:cNvSpPr>
            <a:spLocks/>
          </p:cNvSpPr>
          <p:nvPr/>
        </p:nvSpPr>
        <p:spPr bwMode="auto">
          <a:xfrm>
            <a:off x="4624388" y="2717800"/>
            <a:ext cx="3719512" cy="2084388"/>
          </a:xfrm>
          <a:custGeom>
            <a:avLst/>
            <a:gdLst>
              <a:gd name="T0" fmla="*/ 0 w 2537"/>
              <a:gd name="T1" fmla="*/ 1584 h 1593"/>
              <a:gd name="T2" fmla="*/ 0 w 2537"/>
              <a:gd name="T3" fmla="*/ 0 h 1593"/>
              <a:gd name="T4" fmla="*/ 2536 w 2537"/>
              <a:gd name="T5" fmla="*/ 0 h 1593"/>
              <a:gd name="T6" fmla="*/ 2536 w 2537"/>
              <a:gd name="T7" fmla="*/ 1592 h 1593"/>
              <a:gd name="T8" fmla="*/ 0 60000 65536"/>
              <a:gd name="T9" fmla="*/ 0 60000 65536"/>
              <a:gd name="T10" fmla="*/ 0 60000 65536"/>
              <a:gd name="T11" fmla="*/ 0 60000 65536"/>
              <a:gd name="T12" fmla="*/ 0 w 2537"/>
              <a:gd name="T13" fmla="*/ 0 h 1593"/>
              <a:gd name="T14" fmla="*/ 2537 w 2537"/>
              <a:gd name="T15" fmla="*/ 1593 h 1593"/>
            </a:gdLst>
            <a:ahLst/>
            <a:cxnLst>
              <a:cxn ang="T8">
                <a:pos x="T0" y="T1"/>
              </a:cxn>
              <a:cxn ang="T9">
                <a:pos x="T2" y="T3"/>
              </a:cxn>
              <a:cxn ang="T10">
                <a:pos x="T4" y="T5"/>
              </a:cxn>
              <a:cxn ang="T11">
                <a:pos x="T6" y="T7"/>
              </a:cxn>
            </a:cxnLst>
            <a:rect l="T12" t="T13" r="T14" b="T15"/>
            <a:pathLst>
              <a:path w="2537" h="1593">
                <a:moveTo>
                  <a:pt x="0" y="1584"/>
                </a:moveTo>
                <a:lnTo>
                  <a:pt x="0" y="0"/>
                </a:lnTo>
                <a:lnTo>
                  <a:pt x="2536" y="0"/>
                </a:lnTo>
                <a:lnTo>
                  <a:pt x="2536" y="1592"/>
                </a:lnTo>
              </a:path>
            </a:pathLst>
          </a:custGeom>
          <a:noFill/>
          <a:ln w="12700" cap="rnd" cmpd="sng">
            <a:solidFill>
              <a:schemeClr val="tx1"/>
            </a:solidFill>
            <a:prstDash val="solid"/>
            <a:round/>
            <a:headEnd type="none" w="med" len="med"/>
            <a:tailEnd type="none" w="med" len="med"/>
          </a:ln>
        </p:spPr>
        <p:txBody>
          <a:bodyPr/>
          <a:lstStyle/>
          <a:p>
            <a:endParaRPr lang="zh-CN" altLang="en-US"/>
          </a:p>
        </p:txBody>
      </p:sp>
      <p:sp>
        <p:nvSpPr>
          <p:cNvPr id="1218578" name="Rectangle 18"/>
          <p:cNvSpPr>
            <a:spLocks noChangeArrowheads="1"/>
          </p:cNvSpPr>
          <p:nvPr/>
        </p:nvSpPr>
        <p:spPr bwMode="auto">
          <a:xfrm>
            <a:off x="3944939" y="2959100"/>
            <a:ext cx="1373187"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lstStyle/>
          <a:p>
            <a:pPr marL="388938" indent="-388938" eaLnBrk="0" hangingPunct="0">
              <a:lnSpc>
                <a:spcPct val="90000"/>
              </a:lnSpc>
              <a:tabLst>
                <a:tab pos="1028700" algn="l"/>
                <a:tab pos="8001000" algn="r"/>
              </a:tabLst>
              <a:defRPr/>
            </a:pPr>
            <a:r>
              <a:rPr lang="zh-CN" altLang="en-US" sz="1400" b="1">
                <a:effectLst>
                  <a:outerShdw blurRad="38100" dist="38100" dir="2700000" algn="tl">
                    <a:srgbClr val="FFFFFF"/>
                  </a:outerShdw>
                </a:effectLst>
                <a:ea typeface="楷体" pitchFamily="2" charset="-122"/>
              </a:rPr>
              <a:t>增长现有业务</a:t>
            </a:r>
          </a:p>
        </p:txBody>
      </p:sp>
      <p:sp>
        <p:nvSpPr>
          <p:cNvPr id="1218579" name="Rectangle 19"/>
          <p:cNvSpPr>
            <a:spLocks noChangeArrowheads="1"/>
          </p:cNvSpPr>
          <p:nvPr/>
        </p:nvSpPr>
        <p:spPr bwMode="auto">
          <a:xfrm>
            <a:off x="3078163" y="37846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eaLnBrk="0" hangingPunct="0">
              <a:lnSpc>
                <a:spcPct val="90000"/>
              </a:lnSpc>
              <a:tabLst>
                <a:tab pos="1028700" algn="l"/>
                <a:tab pos="8001000" algn="r"/>
              </a:tabLst>
              <a:defRPr/>
            </a:pPr>
            <a:r>
              <a:rPr lang="zh-CN" altLang="en-US" sz="1400" b="1">
                <a:effectLst>
                  <a:outerShdw blurRad="38100" dist="38100" dir="2700000" algn="tl">
                    <a:srgbClr val="FFFFFF"/>
                  </a:outerShdw>
                </a:effectLst>
                <a:ea typeface="楷体" pitchFamily="2" charset="-122"/>
              </a:rPr>
              <a:t>增加市场份额</a:t>
            </a:r>
          </a:p>
        </p:txBody>
      </p:sp>
      <p:sp>
        <p:nvSpPr>
          <p:cNvPr id="1218580" name="Rectangle 20"/>
          <p:cNvSpPr>
            <a:spLocks noChangeArrowheads="1"/>
          </p:cNvSpPr>
          <p:nvPr/>
        </p:nvSpPr>
        <p:spPr bwMode="auto">
          <a:xfrm>
            <a:off x="3944939" y="4508500"/>
            <a:ext cx="1373187"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eaLnBrk="0" hangingPunct="0">
              <a:lnSpc>
                <a:spcPct val="90000"/>
              </a:lnSpc>
              <a:tabLst>
                <a:tab pos="1028700" algn="l"/>
                <a:tab pos="8001000" algn="r"/>
              </a:tabLst>
              <a:defRPr/>
            </a:pPr>
            <a:r>
              <a:rPr lang="zh-CN" altLang="en-US" sz="1400" b="1">
                <a:effectLst>
                  <a:outerShdw blurRad="38100" dist="38100" dir="2700000" algn="tl">
                    <a:srgbClr val="FFFFFF"/>
                  </a:outerShdw>
                </a:effectLst>
                <a:ea typeface="楷体" pitchFamily="2" charset="-122"/>
              </a:rPr>
              <a:t>随市场而增长</a:t>
            </a:r>
          </a:p>
        </p:txBody>
      </p:sp>
      <p:sp>
        <p:nvSpPr>
          <p:cNvPr id="1218581" name="Rectangle 21"/>
          <p:cNvSpPr>
            <a:spLocks noChangeArrowheads="1"/>
          </p:cNvSpPr>
          <p:nvPr/>
        </p:nvSpPr>
        <p:spPr bwMode="auto">
          <a:xfrm>
            <a:off x="7662863" y="29591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eaLnBrk="0" hangingPunct="0">
              <a:lnSpc>
                <a:spcPct val="90000"/>
              </a:lnSpc>
              <a:tabLst>
                <a:tab pos="1028700" algn="l"/>
                <a:tab pos="8001000" algn="r"/>
              </a:tabLst>
              <a:defRPr/>
            </a:pPr>
            <a:r>
              <a:rPr lang="zh-CN" altLang="en-US" sz="1400" b="1">
                <a:effectLst>
                  <a:outerShdw blurRad="38100" dist="38100" dir="2700000" algn="tl">
                    <a:srgbClr val="FFFFFF"/>
                  </a:outerShdw>
                </a:effectLst>
                <a:ea typeface="楷体" pitchFamily="2" charset="-122"/>
              </a:rPr>
              <a:t>发展新业务</a:t>
            </a:r>
          </a:p>
        </p:txBody>
      </p:sp>
      <p:sp>
        <p:nvSpPr>
          <p:cNvPr id="1218582" name="Rectangle 22"/>
          <p:cNvSpPr>
            <a:spLocks noChangeArrowheads="1"/>
          </p:cNvSpPr>
          <p:nvPr/>
        </p:nvSpPr>
        <p:spPr bwMode="auto">
          <a:xfrm>
            <a:off x="7662863" y="45085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eaLnBrk="0" hangingPunct="0">
              <a:lnSpc>
                <a:spcPct val="90000"/>
              </a:lnSpc>
              <a:tabLst>
                <a:tab pos="1028700" algn="l"/>
                <a:tab pos="8001000" algn="r"/>
              </a:tabLst>
              <a:defRPr/>
            </a:pPr>
            <a:r>
              <a:rPr lang="zh-CN" altLang="en-US" sz="1400" b="1" dirty="0">
                <a:effectLst>
                  <a:outerShdw blurRad="38100" dist="38100" dir="2700000" algn="tl">
                    <a:srgbClr val="FFFFFF"/>
                  </a:outerShdw>
                </a:effectLst>
                <a:ea typeface="楷体" pitchFamily="2" charset="-122"/>
              </a:rPr>
              <a:t>垂直一体化</a:t>
            </a:r>
          </a:p>
        </p:txBody>
      </p:sp>
      <p:sp>
        <p:nvSpPr>
          <p:cNvPr id="1218583" name="Rectangle 23"/>
          <p:cNvSpPr>
            <a:spLocks noChangeArrowheads="1"/>
          </p:cNvSpPr>
          <p:nvPr/>
        </p:nvSpPr>
        <p:spPr bwMode="auto">
          <a:xfrm>
            <a:off x="8513763" y="37846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marL="388938" indent="-388938" eaLnBrk="0" hangingPunct="0">
              <a:lnSpc>
                <a:spcPct val="90000"/>
              </a:lnSpc>
              <a:tabLst>
                <a:tab pos="1028700" algn="l"/>
                <a:tab pos="8001000" algn="r"/>
              </a:tabLst>
              <a:defRPr/>
            </a:pPr>
            <a:r>
              <a:rPr lang="zh-CN" altLang="en-US" sz="1400" b="1">
                <a:effectLst>
                  <a:outerShdw blurRad="38100" dist="38100" dir="2700000" algn="tl">
                    <a:srgbClr val="FFFFFF"/>
                  </a:outerShdw>
                </a:effectLst>
                <a:ea typeface="楷体" pitchFamily="2" charset="-122"/>
              </a:rPr>
              <a:t>多元化</a:t>
            </a:r>
          </a:p>
        </p:txBody>
      </p:sp>
      <p:sp>
        <p:nvSpPr>
          <p:cNvPr id="17429" name="Line 24"/>
          <p:cNvSpPr>
            <a:spLocks noChangeShapeType="1"/>
          </p:cNvSpPr>
          <p:nvPr/>
        </p:nvSpPr>
        <p:spPr bwMode="auto">
          <a:xfrm>
            <a:off x="6483350" y="2146300"/>
            <a:ext cx="0" cy="584200"/>
          </a:xfrm>
          <a:prstGeom prst="line">
            <a:avLst/>
          </a:prstGeom>
          <a:noFill/>
          <a:ln w="12700">
            <a:solidFill>
              <a:schemeClr val="tx1"/>
            </a:solidFill>
            <a:round/>
            <a:headEnd/>
            <a:tailEnd/>
          </a:ln>
        </p:spPr>
        <p:txBody>
          <a:bodyPr wrap="none" anchor="ctr"/>
          <a:lstStyle/>
          <a:p>
            <a:endParaRPr lang="zh-CN" altLang="en-US"/>
          </a:p>
        </p:txBody>
      </p:sp>
      <p:sp>
        <p:nvSpPr>
          <p:cNvPr id="1218585" name="Rectangle 25"/>
          <p:cNvSpPr>
            <a:spLocks noChangeArrowheads="1"/>
          </p:cNvSpPr>
          <p:nvPr/>
        </p:nvSpPr>
        <p:spPr bwMode="auto">
          <a:xfrm>
            <a:off x="5797550" y="19304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marL="388938" indent="-388938" eaLnBrk="0" hangingPunct="0">
              <a:lnSpc>
                <a:spcPct val="90000"/>
              </a:lnSpc>
              <a:tabLst>
                <a:tab pos="1028700" algn="l"/>
                <a:tab pos="8001000" algn="r"/>
              </a:tabLst>
              <a:defRPr/>
            </a:pPr>
            <a:r>
              <a:rPr lang="zh-CN" altLang="en-US" sz="1400" b="1">
                <a:effectLst>
                  <a:outerShdw blurRad="38100" dist="38100" dir="2700000" algn="tl">
                    <a:srgbClr val="FFFFFF"/>
                  </a:outerShdw>
                </a:effectLst>
                <a:ea typeface="楷体" pitchFamily="2" charset="-122"/>
              </a:rPr>
              <a:t>企业增长</a:t>
            </a:r>
          </a:p>
        </p:txBody>
      </p:sp>
      <p:sp>
        <p:nvSpPr>
          <p:cNvPr id="1218586" name="Rectangle 26"/>
          <p:cNvSpPr>
            <a:spLocks noChangeArrowheads="1"/>
          </p:cNvSpPr>
          <p:nvPr/>
        </p:nvSpPr>
        <p:spPr bwMode="auto">
          <a:xfrm>
            <a:off x="4872038" y="37846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eaLnBrk="0" hangingPunct="0">
              <a:lnSpc>
                <a:spcPct val="90000"/>
              </a:lnSpc>
              <a:tabLst>
                <a:tab pos="1028700" algn="l"/>
                <a:tab pos="8001000" algn="r"/>
              </a:tabLst>
              <a:defRPr/>
            </a:pPr>
            <a:r>
              <a:rPr lang="zh-CN" altLang="en-US" sz="1400" b="1">
                <a:effectLst>
                  <a:outerShdw blurRad="38100" dist="38100" dir="2700000" algn="tl">
                    <a:srgbClr val="FFFFFF"/>
                  </a:outerShdw>
                </a:effectLst>
                <a:ea typeface="楷体" pitchFamily="2" charset="-122"/>
              </a:rPr>
              <a:t>地域性扩张</a:t>
            </a:r>
          </a:p>
        </p:txBody>
      </p:sp>
      <p:sp>
        <p:nvSpPr>
          <p:cNvPr id="1218587" name="Rectangle 27"/>
          <p:cNvSpPr>
            <a:spLocks noChangeArrowheads="1"/>
          </p:cNvSpPr>
          <p:nvPr/>
        </p:nvSpPr>
        <p:spPr bwMode="auto">
          <a:xfrm>
            <a:off x="6807200" y="37846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eaLnBrk="0" hangingPunct="0">
              <a:lnSpc>
                <a:spcPct val="90000"/>
              </a:lnSpc>
              <a:tabLst>
                <a:tab pos="1028700" algn="l"/>
                <a:tab pos="8001000" algn="r"/>
              </a:tabLst>
              <a:defRPr/>
            </a:pPr>
            <a:r>
              <a:rPr lang="zh-CN" altLang="en-US" sz="1400" b="1">
                <a:effectLst>
                  <a:outerShdw blurRad="38100" dist="38100" dir="2700000" algn="tl">
                    <a:srgbClr val="FFFFFF"/>
                  </a:outerShdw>
                </a:effectLst>
                <a:ea typeface="楷体" pitchFamily="2" charset="-122"/>
              </a:rPr>
              <a:t>与自身能力相关的扩张</a:t>
            </a:r>
          </a:p>
        </p:txBody>
      </p:sp>
      <p:sp>
        <p:nvSpPr>
          <p:cNvPr id="17433" name="AutoShape 28"/>
          <p:cNvSpPr>
            <a:spLocks/>
          </p:cNvSpPr>
          <p:nvPr/>
        </p:nvSpPr>
        <p:spPr bwMode="auto">
          <a:xfrm>
            <a:off x="2686051" y="1765300"/>
            <a:ext cx="163513" cy="3416300"/>
          </a:xfrm>
          <a:prstGeom prst="leftBrace">
            <a:avLst>
              <a:gd name="adj1" fmla="val 174109"/>
              <a:gd name="adj2" fmla="val 50370"/>
            </a:avLst>
          </a:prstGeom>
          <a:noFill/>
          <a:ln w="28575">
            <a:solidFill>
              <a:srgbClr val="FF0000"/>
            </a:solidFill>
            <a:round/>
            <a:headEnd type="none" w="lg" len="med"/>
            <a:tailEnd/>
          </a:ln>
        </p:spPr>
        <p:txBody>
          <a:bodyPr wrap="none" anchor="ctr"/>
          <a:lstStyle/>
          <a:p>
            <a:endParaRPr lang="zh-CN" altLang="en-US"/>
          </a:p>
        </p:txBody>
      </p:sp>
      <p:sp>
        <p:nvSpPr>
          <p:cNvPr id="17434" name="AutoShape 29"/>
          <p:cNvSpPr>
            <a:spLocks/>
          </p:cNvSpPr>
          <p:nvPr/>
        </p:nvSpPr>
        <p:spPr bwMode="auto">
          <a:xfrm>
            <a:off x="2686051" y="5664200"/>
            <a:ext cx="163513" cy="863600"/>
          </a:xfrm>
          <a:prstGeom prst="leftBrace">
            <a:avLst>
              <a:gd name="adj1" fmla="val 44013"/>
              <a:gd name="adj2" fmla="val 50370"/>
            </a:avLst>
          </a:prstGeom>
          <a:noFill/>
          <a:ln w="28575">
            <a:solidFill>
              <a:srgbClr val="FF0000"/>
            </a:solidFill>
            <a:round/>
            <a:headEnd type="none" w="lg" len="med"/>
            <a:tailEnd/>
          </a:ln>
        </p:spPr>
        <p:txBody>
          <a:bodyPr wrap="none" anchor="ctr"/>
          <a:lstStyle/>
          <a:p>
            <a:endParaRPr lang="zh-CN" altLang="en-US"/>
          </a:p>
        </p:txBody>
      </p:sp>
      <p:sp>
        <p:nvSpPr>
          <p:cNvPr id="17435" name="Line 30"/>
          <p:cNvSpPr>
            <a:spLocks noChangeShapeType="1"/>
          </p:cNvSpPr>
          <p:nvPr/>
        </p:nvSpPr>
        <p:spPr bwMode="auto">
          <a:xfrm>
            <a:off x="6311900" y="5805488"/>
            <a:ext cx="0" cy="144462"/>
          </a:xfrm>
          <a:prstGeom prst="line">
            <a:avLst/>
          </a:prstGeom>
          <a:noFill/>
          <a:ln w="9525">
            <a:solidFill>
              <a:schemeClr val="tx1"/>
            </a:solidFill>
            <a:round/>
            <a:headEnd/>
            <a:tailEnd/>
          </a:ln>
        </p:spPr>
        <p:txBody>
          <a:bodyPr wrap="none"/>
          <a:lstStyle/>
          <a:p>
            <a:endParaRPr lang="zh-CN" altLang="en-US"/>
          </a:p>
        </p:txBody>
      </p:sp>
    </p:spTree>
  </p:cSld>
  <p:clrMapOvr>
    <a:masterClrMapping/>
  </p:clrMapOvr>
  <p:transition>
    <p:random/>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公司发展战略的思考维度</a:t>
            </a:r>
          </a:p>
        </p:txBody>
      </p:sp>
      <p:sp>
        <p:nvSpPr>
          <p:cNvPr id="3" name="内容占位符 2"/>
          <p:cNvSpPr>
            <a:spLocks noGrp="1"/>
          </p:cNvSpPr>
          <p:nvPr>
            <p:ph idx="1"/>
          </p:nvPr>
        </p:nvSpPr>
        <p:spPr>
          <a:xfrm>
            <a:off x="2611808" y="1430086"/>
            <a:ext cx="7796540" cy="3997828"/>
          </a:xfrm>
        </p:spPr>
        <p:txBody>
          <a:bodyPr/>
          <a:lstStyle/>
          <a:p>
            <a:r>
              <a:rPr lang="zh-CN" altLang="en-US" dirty="0"/>
              <a:t>产业维度</a:t>
            </a:r>
            <a:endParaRPr lang="en-US" altLang="zh-CN" dirty="0"/>
          </a:p>
          <a:p>
            <a:pPr lvl="1"/>
            <a:r>
              <a:rPr lang="zh-CN" altLang="en-US" dirty="0"/>
              <a:t>考虑业务范围的宽窄，形成专业化和多元化两种主要的产业发展战略</a:t>
            </a:r>
            <a:endParaRPr lang="en-US" altLang="zh-CN" dirty="0"/>
          </a:p>
          <a:p>
            <a:r>
              <a:rPr lang="zh-CN" altLang="en-US" dirty="0"/>
              <a:t>空间维度</a:t>
            </a:r>
            <a:endParaRPr lang="en-US" altLang="zh-CN" dirty="0"/>
          </a:p>
          <a:p>
            <a:pPr lvl="1"/>
            <a:r>
              <a:rPr lang="zh-CN" altLang="en-US" dirty="0"/>
              <a:t>考虑涉足空间范围的大小，形成国内战略和国际化战略</a:t>
            </a:r>
          </a:p>
        </p:txBody>
      </p:sp>
    </p:spTree>
    <p:extLst>
      <p:ext uri="{BB962C8B-B14F-4D97-AF65-F5344CB8AC3E}">
        <p14:creationId xmlns:p14="http://schemas.microsoft.com/office/powerpoint/2010/main" val="90302055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70000" lnSpcReduction="20000"/>
          </a:bodyPr>
          <a:lstStyle/>
          <a:p>
            <a:r>
              <a:rPr lang="zh-CN" altLang="en-US" dirty="0"/>
              <a:t>专业化战略</a:t>
            </a:r>
            <a:endParaRPr lang="en-US" altLang="zh-CN" dirty="0"/>
          </a:p>
          <a:p>
            <a:pPr lvl="1"/>
            <a:r>
              <a:rPr lang="zh-CN" altLang="en-US" dirty="0"/>
              <a:t>企业把所有资源和能力集中从事某种核心业务，通过核心业务的发展，建立竞争优势和市场地位。</a:t>
            </a:r>
            <a:endParaRPr lang="en-US" altLang="zh-CN" dirty="0"/>
          </a:p>
          <a:p>
            <a:r>
              <a:rPr lang="zh-CN" altLang="en-US" dirty="0"/>
              <a:t>专业化率（</a:t>
            </a:r>
            <a:r>
              <a:rPr lang="en-US" altLang="zh-CN" dirty="0"/>
              <a:t>SR</a:t>
            </a:r>
            <a:r>
              <a:rPr lang="zh-CN" altLang="en-US" dirty="0"/>
              <a:t>）</a:t>
            </a:r>
            <a:r>
              <a:rPr lang="en-US" altLang="zh-CN" dirty="0"/>
              <a:t>=</a:t>
            </a:r>
            <a:r>
              <a:rPr lang="zh-CN" altLang="en-US" dirty="0"/>
              <a:t>企业最大一种产品的销售额</a:t>
            </a:r>
            <a:r>
              <a:rPr lang="en-US" altLang="zh-CN" dirty="0"/>
              <a:t>/</a:t>
            </a:r>
            <a:r>
              <a:rPr lang="zh-CN" altLang="en-US" dirty="0"/>
              <a:t>企业的销售总额</a:t>
            </a:r>
            <a:endParaRPr lang="en-US" altLang="zh-CN" dirty="0"/>
          </a:p>
          <a:p>
            <a:r>
              <a:rPr lang="zh-CN" altLang="en-US" dirty="0"/>
              <a:t>相关联率（</a:t>
            </a:r>
            <a:r>
              <a:rPr lang="en-US" altLang="zh-CN" dirty="0"/>
              <a:t>RR</a:t>
            </a:r>
            <a:r>
              <a:rPr lang="zh-CN" altLang="en-US" dirty="0"/>
              <a:t>）</a:t>
            </a:r>
            <a:r>
              <a:rPr lang="en-US" altLang="zh-CN" dirty="0"/>
              <a:t>=</a:t>
            </a:r>
            <a:r>
              <a:rPr lang="zh-CN" altLang="en-US" dirty="0"/>
              <a:t>企业最大一组以某种方式相关联的业务的销售额</a:t>
            </a:r>
            <a:r>
              <a:rPr lang="en-US" altLang="zh-CN" dirty="0"/>
              <a:t>/</a:t>
            </a:r>
            <a:r>
              <a:rPr lang="zh-CN" altLang="en-US" dirty="0"/>
              <a:t>企业总销售额</a:t>
            </a:r>
            <a:endParaRPr lang="en-US" altLang="zh-CN" dirty="0"/>
          </a:p>
          <a:p>
            <a:r>
              <a:rPr lang="en-US" altLang="zh-CN" dirty="0"/>
              <a:t>SR&gt;=95% </a:t>
            </a:r>
            <a:r>
              <a:rPr lang="zh-CN" altLang="en-US" dirty="0"/>
              <a:t>单一产品型，高度专业化</a:t>
            </a:r>
            <a:endParaRPr lang="en-US" altLang="zh-CN" dirty="0"/>
          </a:p>
          <a:p>
            <a:r>
              <a:rPr lang="en-US" altLang="zh-CN" dirty="0"/>
              <a:t>70%&lt;=SR&lt;95% </a:t>
            </a:r>
            <a:r>
              <a:rPr lang="zh-CN" altLang="en-US" dirty="0"/>
              <a:t>主导产品型，中度专业化</a:t>
            </a:r>
            <a:endParaRPr lang="en-US" altLang="zh-CN" dirty="0"/>
          </a:p>
          <a:p>
            <a:r>
              <a:rPr lang="en-US" altLang="zh-CN" dirty="0"/>
              <a:t>SR&lt;70%  </a:t>
            </a:r>
            <a:r>
              <a:rPr lang="zh-CN" altLang="en-US" dirty="0"/>
              <a:t>低度专业化，高度多元化</a:t>
            </a:r>
            <a:endParaRPr lang="en-US" altLang="zh-CN" dirty="0"/>
          </a:p>
          <a:p>
            <a:r>
              <a:rPr lang="en-US" altLang="zh-CN" dirty="0"/>
              <a:t>RR&gt;=70%,</a:t>
            </a:r>
            <a:r>
              <a:rPr lang="zh-CN" altLang="en-US" dirty="0"/>
              <a:t>相关多元化，</a:t>
            </a:r>
            <a:r>
              <a:rPr lang="en-US" altLang="zh-CN" dirty="0"/>
              <a:t>RR&lt;70%,</a:t>
            </a:r>
            <a:r>
              <a:rPr lang="zh-CN" altLang="en-US" dirty="0"/>
              <a:t>非相关多元化</a:t>
            </a:r>
            <a:endParaRPr lang="en-US" altLang="zh-CN" dirty="0"/>
          </a:p>
          <a:p>
            <a:endParaRPr lang="en-US" altLang="zh-CN" dirty="0"/>
          </a:p>
          <a:p>
            <a:pPr lvl="1"/>
            <a:endParaRPr lang="en-US" altLang="zh-CN" dirty="0"/>
          </a:p>
          <a:p>
            <a:pPr lvl="1"/>
            <a:endParaRPr lang="zh-CN" altLang="en-US" dirty="0"/>
          </a:p>
        </p:txBody>
      </p:sp>
    </p:spTree>
    <p:extLst>
      <p:ext uri="{BB962C8B-B14F-4D97-AF65-F5344CB8AC3E}">
        <p14:creationId xmlns:p14="http://schemas.microsoft.com/office/powerpoint/2010/main" val="122753165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案例：专业化与多元化程度的四格对照</a:t>
            </a:r>
          </a:p>
        </p:txBody>
      </p:sp>
      <p:sp>
        <p:nvSpPr>
          <p:cNvPr id="3" name="Rectangle 2"/>
          <p:cNvSpPr/>
          <p:nvPr/>
        </p:nvSpPr>
        <p:spPr>
          <a:xfrm>
            <a:off x="1234440" y="1737360"/>
            <a:ext cx="4800600" cy="457200"/>
          </a:xfrm>
          <a:prstGeom prst="rect">
            <a:avLst/>
          </a:prstGeom>
          <a:solidFill>
            <a:srgbClr val="3050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等线"/>
              </a:rPr>
              <a:t>高度专业化（单一产品型）SR≥95%</a:t>
            </a:r>
          </a:p>
        </p:txBody>
      </p:sp>
      <p:sp>
        <p:nvSpPr>
          <p:cNvPr id="4" name="Rectangle 3"/>
          <p:cNvSpPr/>
          <p:nvPr/>
        </p:nvSpPr>
        <p:spPr>
          <a:xfrm>
            <a:off x="1234440" y="2194560"/>
            <a:ext cx="4800600" cy="1600200"/>
          </a:xfrm>
          <a:prstGeom prst="rect">
            <a:avLst/>
          </a:prstGeom>
          <a:solidFill>
            <a:srgbClr val="EAF0F9"/>
          </a:solidFill>
          <a:ln w="9525">
            <a:solidFill>
              <a:srgbClr val="30508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300"/>
              </a:spcAft>
            </a:pPr>
            <a:r>
              <a:rPr sz="1350" b="1">
                <a:solidFill>
                  <a:srgbClr val="262626"/>
                </a:solidFill>
                <a:latin typeface="等线"/>
              </a:rPr>
              <a:t>台积电（TSMC）</a:t>
            </a:r>
          </a:p>
          <a:p>
            <a:pPr>
              <a:spcAft>
                <a:spcPts val="300"/>
              </a:spcAft>
            </a:pPr>
            <a:r>
              <a:rPr sz="1200" b="0">
                <a:solidFill>
                  <a:srgbClr val="404040"/>
                </a:solidFill>
                <a:latin typeface="等线"/>
              </a:rPr>
              <a:t>2024 年营收约 900 亿美元，几乎 100% 来自晶圆代工</a:t>
            </a:r>
          </a:p>
          <a:p>
            <a:pPr>
              <a:spcAft>
                <a:spcPts val="300"/>
              </a:spcAft>
            </a:pPr>
            <a:r>
              <a:rPr sz="1200" b="0">
                <a:solidFill>
                  <a:srgbClr val="404040"/>
                </a:solidFill>
                <a:latin typeface="等线"/>
              </a:rPr>
              <a:t>只做"替别人造芯片"：不做设计、不做自有品牌——业务模式单一</a:t>
            </a:r>
          </a:p>
          <a:p>
            <a:pPr>
              <a:spcAft>
                <a:spcPts val="300"/>
              </a:spcAft>
            </a:pPr>
            <a:r>
              <a:rPr sz="1200" b="0">
                <a:solidFill>
                  <a:srgbClr val="404040"/>
                </a:solidFill>
                <a:latin typeface="等线"/>
              </a:rPr>
              <a:t>极致专业化＋持续资本开支 → 工艺与客户信任的双重壁垒</a:t>
            </a:r>
          </a:p>
        </p:txBody>
      </p:sp>
      <p:sp>
        <p:nvSpPr>
          <p:cNvPr id="5" name="Rectangle 4"/>
          <p:cNvSpPr/>
          <p:nvPr/>
        </p:nvSpPr>
        <p:spPr>
          <a:xfrm>
            <a:off x="6172200" y="1737360"/>
            <a:ext cx="4800600" cy="45720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等线"/>
              </a:rPr>
              <a:t>中度专业化（主导产品型）70%≤SR&lt;95%</a:t>
            </a:r>
          </a:p>
        </p:txBody>
      </p:sp>
      <p:sp>
        <p:nvSpPr>
          <p:cNvPr id="6" name="Rectangle 5"/>
          <p:cNvSpPr/>
          <p:nvPr/>
        </p:nvSpPr>
        <p:spPr>
          <a:xfrm>
            <a:off x="6172200" y="2194560"/>
            <a:ext cx="4800600" cy="1600200"/>
          </a:xfrm>
          <a:prstGeom prst="rect">
            <a:avLst/>
          </a:prstGeom>
          <a:solidFill>
            <a:srgbClr val="EAF0F9"/>
          </a:solidFill>
          <a:ln w="952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300"/>
              </a:spcAft>
            </a:pPr>
            <a:r>
              <a:rPr sz="1350" b="1">
                <a:solidFill>
                  <a:srgbClr val="262626"/>
                </a:solidFill>
                <a:latin typeface="等线"/>
              </a:rPr>
              <a:t>格力电器</a:t>
            </a:r>
          </a:p>
          <a:p>
            <a:pPr>
              <a:spcAft>
                <a:spcPts val="300"/>
              </a:spcAft>
            </a:pPr>
            <a:r>
              <a:rPr sz="1200" b="0">
                <a:solidFill>
                  <a:srgbClr val="404040"/>
                </a:solidFill>
                <a:latin typeface="等线"/>
              </a:rPr>
              <a:t>2024 年营收约 1900 亿元，空调约占 74%</a:t>
            </a:r>
          </a:p>
          <a:p>
            <a:pPr>
              <a:spcAft>
                <a:spcPts val="300"/>
              </a:spcAft>
            </a:pPr>
            <a:r>
              <a:rPr sz="1200" b="0">
                <a:solidFill>
                  <a:srgbClr val="404040"/>
                </a:solidFill>
                <a:latin typeface="等线"/>
              </a:rPr>
              <a:t>一主多辅：工业制品、装备等辅业是压缩机技术的溢出</a:t>
            </a:r>
          </a:p>
          <a:p>
            <a:pPr>
              <a:spcAft>
                <a:spcPts val="300"/>
              </a:spcAft>
            </a:pPr>
            <a:r>
              <a:rPr sz="1200" b="0">
                <a:solidFill>
                  <a:srgbClr val="404040"/>
                </a:solidFill>
                <a:latin typeface="等线"/>
              </a:rPr>
              <a:t>早年空调占比曾达 95%+——专业化程度是动态的，会在区间间移动</a:t>
            </a:r>
          </a:p>
        </p:txBody>
      </p:sp>
      <p:sp>
        <p:nvSpPr>
          <p:cNvPr id="7" name="Rectangle 6"/>
          <p:cNvSpPr/>
          <p:nvPr/>
        </p:nvSpPr>
        <p:spPr>
          <a:xfrm>
            <a:off x="1234440" y="3913632"/>
            <a:ext cx="4800600" cy="457200"/>
          </a:xfrm>
          <a:prstGeom prst="rect">
            <a:avLst/>
          </a:prstGeom>
          <a:solidFill>
            <a:srgbClr val="6C8F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等线"/>
              </a:rPr>
              <a:t>相关多元化  SR&lt;70% 且 RR≥70%</a:t>
            </a:r>
          </a:p>
        </p:txBody>
      </p:sp>
      <p:sp>
        <p:nvSpPr>
          <p:cNvPr id="8" name="Rectangle 7"/>
          <p:cNvSpPr/>
          <p:nvPr/>
        </p:nvSpPr>
        <p:spPr>
          <a:xfrm>
            <a:off x="1234440" y="4370832"/>
            <a:ext cx="4800600" cy="1600200"/>
          </a:xfrm>
          <a:prstGeom prst="rect">
            <a:avLst/>
          </a:prstGeom>
          <a:solidFill>
            <a:srgbClr val="EAF0F9"/>
          </a:solidFill>
          <a:ln w="9525">
            <a:solidFill>
              <a:srgbClr val="6C8FC8"/>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300"/>
              </a:spcAft>
            </a:pPr>
            <a:r>
              <a:rPr sz="1350" b="1">
                <a:solidFill>
                  <a:srgbClr val="262626"/>
                </a:solidFill>
                <a:latin typeface="等线"/>
              </a:rPr>
              <a:t>美的集团</a:t>
            </a:r>
          </a:p>
          <a:p>
            <a:pPr>
              <a:spcAft>
                <a:spcPts val="300"/>
              </a:spcAft>
            </a:pPr>
            <a:r>
              <a:rPr sz="1200" b="0">
                <a:solidFill>
                  <a:srgbClr val="404040"/>
                </a:solidFill>
                <a:latin typeface="等线"/>
              </a:rPr>
              <a:t>2024 年营收约 4100 亿元：暖通空调 1/3 强、消费电器与机器人及工业各约 1/4</a:t>
            </a:r>
          </a:p>
          <a:p>
            <a:pPr>
              <a:spcAft>
                <a:spcPts val="300"/>
              </a:spcAft>
            </a:pPr>
            <a:r>
              <a:rPr sz="1200" b="0">
                <a:solidFill>
                  <a:srgbClr val="404040"/>
                </a:solidFill>
                <a:latin typeface="等线"/>
              </a:rPr>
              <a:t>"相关"的实质是共用：品牌、渠道、供应链、制造管理体系</a:t>
            </a:r>
          </a:p>
          <a:p>
            <a:pPr>
              <a:spcAft>
                <a:spcPts val="300"/>
              </a:spcAft>
            </a:pPr>
            <a:r>
              <a:rPr sz="1200" b="0">
                <a:solidFill>
                  <a:srgbClr val="404040"/>
                </a:solidFill>
                <a:latin typeface="等线"/>
              </a:rPr>
              <a:t>课堂争论点：库卡机器人算不算"相关"？（反哺家电制造？）</a:t>
            </a:r>
          </a:p>
        </p:txBody>
      </p:sp>
      <p:sp>
        <p:nvSpPr>
          <p:cNvPr id="9" name="Rectangle 8"/>
          <p:cNvSpPr/>
          <p:nvPr/>
        </p:nvSpPr>
        <p:spPr>
          <a:xfrm>
            <a:off x="6172200" y="3913632"/>
            <a:ext cx="4800600" cy="45720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等线"/>
              </a:rPr>
              <a:t>非相关多元化  RR&lt;70%</a:t>
            </a:r>
          </a:p>
        </p:txBody>
      </p:sp>
      <p:sp>
        <p:nvSpPr>
          <p:cNvPr id="10" name="Rectangle 9"/>
          <p:cNvSpPr/>
          <p:nvPr/>
        </p:nvSpPr>
        <p:spPr>
          <a:xfrm>
            <a:off x="6172200" y="4370832"/>
            <a:ext cx="4800600" cy="1600200"/>
          </a:xfrm>
          <a:prstGeom prst="rect">
            <a:avLst/>
          </a:prstGeom>
          <a:solidFill>
            <a:srgbClr val="EAF0F9"/>
          </a:solidFill>
          <a:ln w="9525">
            <a:solidFill>
              <a:srgbClr val="8FAADC"/>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300"/>
              </a:spcAft>
            </a:pPr>
            <a:r>
              <a:rPr sz="1350" b="1">
                <a:solidFill>
                  <a:srgbClr val="262626"/>
                </a:solidFill>
                <a:latin typeface="等线"/>
              </a:rPr>
              <a:t>复星国际</a:t>
            </a:r>
          </a:p>
          <a:p>
            <a:pPr>
              <a:spcAft>
                <a:spcPts val="300"/>
              </a:spcAft>
            </a:pPr>
            <a:r>
              <a:rPr sz="1200" b="0">
                <a:solidFill>
                  <a:srgbClr val="404040"/>
                </a:solidFill>
                <a:latin typeface="等线"/>
              </a:rPr>
              <a:t>健康约 50%、快乐（旅游/珠宝）约 30%、富足（保险）约 20%——最大关联组 RR&lt;70%</a:t>
            </a:r>
          </a:p>
          <a:p>
            <a:pPr>
              <a:spcAft>
                <a:spcPts val="300"/>
              </a:spcAft>
            </a:pPr>
            <a:r>
              <a:rPr sz="1200" b="0">
                <a:solidFill>
                  <a:srgbClr val="404040"/>
                </a:solidFill>
                <a:latin typeface="等线"/>
              </a:rPr>
              <a:t>板块间不共享技术、渠道、品牌，驱动是资本与财务协同（投资组合逻辑）</a:t>
            </a:r>
          </a:p>
          <a:p>
            <a:pPr>
              <a:spcAft>
                <a:spcPts val="300"/>
              </a:spcAft>
            </a:pPr>
            <a:r>
              <a:rPr sz="1200" b="0">
                <a:solidFill>
                  <a:srgbClr val="404040"/>
                </a:solidFill>
                <a:latin typeface="等线"/>
              </a:rPr>
              <a:t>历史注脚：GE"航空+医疗+能源+金融"的非相关多元最终拆分为三家公司</a:t>
            </a:r>
          </a:p>
        </p:txBody>
      </p:sp>
      <p:sp>
        <p:nvSpPr>
          <p:cNvPr id="11" name="TextBox 10"/>
          <p:cNvSpPr txBox="1"/>
          <p:nvPr/>
        </p:nvSpPr>
        <p:spPr>
          <a:xfrm>
            <a:off x="1234440" y="6053328"/>
            <a:ext cx="9738360" cy="384048"/>
          </a:xfrm>
          <a:prstGeom prst="rect">
            <a:avLst/>
          </a:prstGeom>
          <a:noFill/>
        </p:spPr>
        <p:txBody>
          <a:bodyPr wrap="square">
            <a:spAutoFit/>
          </a:bodyPr>
          <a:lstStyle/>
          <a:p>
            <a:r>
              <a:rPr sz="1250" b="1">
                <a:solidFill>
                  <a:srgbClr val="30508C"/>
                </a:solidFill>
                <a:latin typeface="等线"/>
              </a:rPr>
              <a:t>一条主线：台积电（专一业务）→ 格力（一主多辅）→ 美的（能力复用）→ 复星（资本配置）——SR 由 ~100% 递减，竞争优势的来源从"技术深耕"变为"能力复用"再变为"资本配置"。</a:t>
            </a:r>
          </a:p>
        </p:txBody>
      </p:sp>
      <p:sp>
        <p:nvSpPr>
          <p:cNvPr id="12" name="TextBox 11"/>
          <p:cNvSpPr txBox="1"/>
          <p:nvPr/>
        </p:nvSpPr>
        <p:spPr>
          <a:xfrm>
            <a:off x="1463040" y="6473952"/>
            <a:ext cx="9326880" cy="310896"/>
          </a:xfrm>
          <a:prstGeom prst="rect">
            <a:avLst/>
          </a:prstGeom>
          <a:noFill/>
        </p:spPr>
        <p:txBody>
          <a:bodyPr wrap="none">
            <a:spAutoFit/>
          </a:bodyPr>
          <a:lstStyle/>
          <a:p>
            <a:r>
              <a:rPr sz="1100" i="1">
                <a:solidFill>
                  <a:srgbClr val="7F7F7F"/>
                </a:solidFill>
                <a:latin typeface="等线"/>
              </a:rPr>
              <a:t>资料来源：各公司 2024 年年报；SR/RR 为按分部收入估算的约值（课堂口径）；分类框架参见 Rumelt (1974)《战略、结构与经济绩效》</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057400" y="533400"/>
            <a:ext cx="5813425" cy="1143000"/>
          </a:xfrm>
          <a:noFill/>
        </p:spPr>
        <p:txBody>
          <a:bodyPr/>
          <a:lstStyle/>
          <a:p>
            <a:pPr algn="l" eaLnBrk="1" hangingPunct="1"/>
            <a:r>
              <a:rPr lang="zh-CN" altLang="en-AU" dirty="0">
                <a:solidFill>
                  <a:srgbClr val="FFFF66"/>
                </a:solidFill>
              </a:rPr>
              <a:t>发展</a:t>
            </a:r>
            <a:r>
              <a:rPr lang="zh-CN" altLang="en-US" dirty="0">
                <a:solidFill>
                  <a:srgbClr val="FFFF66"/>
                </a:solidFill>
              </a:rPr>
              <a:t>战略的分类</a:t>
            </a:r>
            <a:endParaRPr lang="zh-CN" altLang="en-AU" dirty="0">
              <a:solidFill>
                <a:srgbClr val="FFFF66"/>
              </a:solidFill>
            </a:endParaRPr>
          </a:p>
        </p:txBody>
      </p:sp>
      <p:sp>
        <p:nvSpPr>
          <p:cNvPr id="1290243" name="Rectangle 3"/>
          <p:cNvSpPr>
            <a:spLocks noChangeArrowheads="1"/>
          </p:cNvSpPr>
          <p:nvPr/>
        </p:nvSpPr>
        <p:spPr bwMode="auto">
          <a:xfrm>
            <a:off x="2743200" y="2133600"/>
            <a:ext cx="6934200" cy="4038600"/>
          </a:xfrm>
          <a:prstGeom prst="rect">
            <a:avLst/>
          </a:prstGeom>
          <a:solidFill>
            <a:schemeClr val="accent1">
              <a:lumMod val="75000"/>
            </a:schemeClr>
          </a:solidFill>
          <a:ln w="12700">
            <a:solidFill>
              <a:srgbClr val="800000"/>
            </a:solidFill>
            <a:miter lim="800000"/>
            <a:headEnd type="none" w="sm" len="sm"/>
            <a:tailEnd type="none" w="sm" len="sm"/>
          </a:ln>
        </p:spPr>
        <p:txBody>
          <a:bodyPr/>
          <a:lstStyle/>
          <a:p>
            <a:pPr marL="952500" indent="-279400">
              <a:buSzPct val="80000"/>
            </a:pPr>
            <a:r>
              <a:rPr lang="zh-CN" altLang="en-US" sz="3600" dirty="0">
                <a:latin typeface="+mn-ea"/>
              </a:rPr>
              <a:t>单一化战略        系列化战略 </a:t>
            </a:r>
          </a:p>
          <a:p>
            <a:pPr marL="952500" indent="-279400">
              <a:buSzPct val="80000"/>
            </a:pPr>
            <a:r>
              <a:rPr lang="zh-CN" altLang="en-US" sz="3600" dirty="0">
                <a:latin typeface="+mn-ea"/>
              </a:rPr>
              <a:t>市场渗透             产品开发</a:t>
            </a:r>
          </a:p>
          <a:p>
            <a:pPr marL="952500" indent="-279400">
              <a:buSzPct val="80000"/>
            </a:pPr>
            <a:endParaRPr lang="zh-CN" altLang="en-US" sz="3600" dirty="0">
              <a:latin typeface="+mn-ea"/>
            </a:endParaRPr>
          </a:p>
          <a:p>
            <a:pPr marL="952500" indent="-279400">
              <a:buSzPct val="80000"/>
            </a:pPr>
            <a:endParaRPr lang="zh-CN" altLang="en-US" sz="3600" dirty="0">
              <a:latin typeface="+mn-ea"/>
            </a:endParaRPr>
          </a:p>
          <a:p>
            <a:pPr marL="952500" indent="-279400">
              <a:buSzPct val="80000"/>
            </a:pPr>
            <a:r>
              <a:rPr lang="zh-CN" altLang="en-US" sz="3600" dirty="0">
                <a:latin typeface="+mn-ea"/>
              </a:rPr>
              <a:t>一体化                 多元化</a:t>
            </a:r>
            <a:endParaRPr lang="en-US" altLang="zh-CN" sz="3600" dirty="0">
              <a:latin typeface="+mn-ea"/>
            </a:endParaRPr>
          </a:p>
          <a:p>
            <a:pPr marL="952500" indent="-279400">
              <a:buSzPct val="80000"/>
            </a:pPr>
            <a:r>
              <a:rPr lang="zh-CN" altLang="en-US" sz="3600" dirty="0">
                <a:latin typeface="+mn-ea"/>
              </a:rPr>
              <a:t>市场开发             </a:t>
            </a:r>
            <a:r>
              <a:rPr lang="zh-CN" altLang="en-US" sz="3200" dirty="0">
                <a:latin typeface="+mn-ea"/>
              </a:rPr>
              <a:t>多样化</a:t>
            </a:r>
          </a:p>
        </p:txBody>
      </p:sp>
      <p:sp>
        <p:nvSpPr>
          <p:cNvPr id="18436" name="Line 4"/>
          <p:cNvSpPr>
            <a:spLocks noChangeShapeType="1"/>
          </p:cNvSpPr>
          <p:nvPr/>
        </p:nvSpPr>
        <p:spPr bwMode="auto">
          <a:xfrm>
            <a:off x="6172200" y="2133600"/>
            <a:ext cx="0" cy="4038600"/>
          </a:xfrm>
          <a:prstGeom prst="line">
            <a:avLst/>
          </a:prstGeom>
          <a:noFill/>
          <a:ln w="9525">
            <a:solidFill>
              <a:schemeClr val="tx1"/>
            </a:solidFill>
            <a:round/>
            <a:headEnd/>
            <a:tailEnd/>
          </a:ln>
        </p:spPr>
        <p:txBody>
          <a:bodyPr wrap="none"/>
          <a:lstStyle/>
          <a:p>
            <a:endParaRPr lang="zh-CN" altLang="en-US">
              <a:latin typeface="+mn-ea"/>
            </a:endParaRPr>
          </a:p>
        </p:txBody>
      </p:sp>
      <p:sp>
        <p:nvSpPr>
          <p:cNvPr id="18437" name="Line 5"/>
          <p:cNvSpPr>
            <a:spLocks noChangeShapeType="1"/>
          </p:cNvSpPr>
          <p:nvPr/>
        </p:nvSpPr>
        <p:spPr bwMode="auto">
          <a:xfrm>
            <a:off x="2743200" y="4191000"/>
            <a:ext cx="6934200" cy="0"/>
          </a:xfrm>
          <a:prstGeom prst="line">
            <a:avLst/>
          </a:prstGeom>
          <a:noFill/>
          <a:ln w="9525">
            <a:solidFill>
              <a:schemeClr val="tx1"/>
            </a:solidFill>
            <a:round/>
            <a:headEnd/>
            <a:tailEnd/>
          </a:ln>
        </p:spPr>
        <p:txBody>
          <a:bodyPr wrap="none"/>
          <a:lstStyle/>
          <a:p>
            <a:endParaRPr lang="zh-CN" altLang="en-US">
              <a:latin typeface="+mn-ea"/>
            </a:endParaRPr>
          </a:p>
        </p:txBody>
      </p:sp>
      <p:sp>
        <p:nvSpPr>
          <p:cNvPr id="18438" name="Rectangle 6"/>
          <p:cNvSpPr>
            <a:spLocks noChangeArrowheads="1"/>
          </p:cNvSpPr>
          <p:nvPr/>
        </p:nvSpPr>
        <p:spPr bwMode="auto">
          <a:xfrm>
            <a:off x="3657600" y="1600200"/>
            <a:ext cx="2209800" cy="457200"/>
          </a:xfrm>
          <a:prstGeom prst="rect">
            <a:avLst/>
          </a:prstGeom>
          <a:noFill/>
          <a:ln w="9525">
            <a:noFill/>
            <a:miter lim="800000"/>
            <a:headEnd/>
            <a:tailEnd/>
          </a:ln>
        </p:spPr>
        <p:txBody>
          <a:bodyPr wrap="none" anchor="ctr"/>
          <a:lstStyle/>
          <a:p>
            <a:r>
              <a:rPr lang="zh-CN" altLang="en-US" sz="3200">
                <a:latin typeface="+mn-ea"/>
              </a:rPr>
              <a:t>单品种</a:t>
            </a:r>
          </a:p>
        </p:txBody>
      </p:sp>
      <p:sp>
        <p:nvSpPr>
          <p:cNvPr id="18439" name="Rectangle 7"/>
          <p:cNvSpPr>
            <a:spLocks noChangeArrowheads="1"/>
          </p:cNvSpPr>
          <p:nvPr/>
        </p:nvSpPr>
        <p:spPr bwMode="auto">
          <a:xfrm>
            <a:off x="6629400" y="1600200"/>
            <a:ext cx="2209800" cy="457200"/>
          </a:xfrm>
          <a:prstGeom prst="rect">
            <a:avLst/>
          </a:prstGeom>
          <a:noFill/>
          <a:ln w="9525">
            <a:noFill/>
            <a:miter lim="800000"/>
            <a:headEnd/>
            <a:tailEnd/>
          </a:ln>
        </p:spPr>
        <p:txBody>
          <a:bodyPr wrap="none" anchor="ctr"/>
          <a:lstStyle/>
          <a:p>
            <a:r>
              <a:rPr lang="zh-CN" altLang="en-US" sz="3200">
                <a:latin typeface="+mn-ea"/>
              </a:rPr>
              <a:t>多品种</a:t>
            </a:r>
          </a:p>
        </p:txBody>
      </p:sp>
      <p:sp>
        <p:nvSpPr>
          <p:cNvPr id="18440" name="Rectangle 8"/>
          <p:cNvSpPr>
            <a:spLocks noChangeArrowheads="1"/>
          </p:cNvSpPr>
          <p:nvPr/>
        </p:nvSpPr>
        <p:spPr bwMode="auto">
          <a:xfrm>
            <a:off x="1689652" y="2166730"/>
            <a:ext cx="1003852" cy="1828800"/>
          </a:xfrm>
          <a:prstGeom prst="rect">
            <a:avLst/>
          </a:prstGeom>
          <a:noFill/>
          <a:ln w="9525">
            <a:noFill/>
            <a:miter lim="800000"/>
            <a:headEnd/>
            <a:tailEnd/>
          </a:ln>
        </p:spPr>
        <p:txBody>
          <a:bodyPr wrap="none" anchor="ctr"/>
          <a:lstStyle/>
          <a:p>
            <a:endParaRPr lang="zh-CN" altLang="en-US" sz="3200" dirty="0">
              <a:latin typeface="+mn-ea"/>
            </a:endParaRPr>
          </a:p>
          <a:p>
            <a:r>
              <a:rPr lang="zh-CN" altLang="en-US" sz="3200" dirty="0">
                <a:latin typeface="+mn-ea"/>
              </a:rPr>
              <a:t>单单</a:t>
            </a:r>
          </a:p>
          <a:p>
            <a:r>
              <a:rPr lang="zh-CN" altLang="en-US" sz="3200" dirty="0">
                <a:latin typeface="+mn-ea"/>
              </a:rPr>
              <a:t>行市</a:t>
            </a:r>
          </a:p>
          <a:p>
            <a:r>
              <a:rPr lang="zh-CN" altLang="en-US" sz="3200" dirty="0">
                <a:latin typeface="+mn-ea"/>
              </a:rPr>
              <a:t>业场</a:t>
            </a:r>
          </a:p>
          <a:p>
            <a:endParaRPr lang="en-US" altLang="zh-CN" sz="3200" dirty="0">
              <a:latin typeface="+mn-ea"/>
            </a:endParaRPr>
          </a:p>
        </p:txBody>
      </p:sp>
      <p:sp>
        <p:nvSpPr>
          <p:cNvPr id="18441" name="Rectangle 9"/>
          <p:cNvSpPr>
            <a:spLocks noChangeArrowheads="1"/>
          </p:cNvSpPr>
          <p:nvPr/>
        </p:nvSpPr>
        <p:spPr bwMode="auto">
          <a:xfrm>
            <a:off x="1643270" y="4343400"/>
            <a:ext cx="871330" cy="1828800"/>
          </a:xfrm>
          <a:prstGeom prst="rect">
            <a:avLst/>
          </a:prstGeom>
          <a:noFill/>
          <a:ln w="9525">
            <a:noFill/>
            <a:miter lim="800000"/>
            <a:headEnd/>
            <a:tailEnd/>
          </a:ln>
        </p:spPr>
        <p:txBody>
          <a:bodyPr wrap="none" anchor="ctr"/>
          <a:lstStyle/>
          <a:p>
            <a:r>
              <a:rPr lang="zh-CN" altLang="en-US" sz="3200" dirty="0">
                <a:latin typeface="+mn-ea"/>
              </a:rPr>
              <a:t>多多</a:t>
            </a:r>
            <a:endParaRPr lang="en-US" altLang="zh-CN" sz="3200" dirty="0">
              <a:latin typeface="+mn-ea"/>
            </a:endParaRPr>
          </a:p>
          <a:p>
            <a:r>
              <a:rPr lang="zh-CN" altLang="en-US" sz="3200" dirty="0">
                <a:latin typeface="+mn-ea"/>
              </a:rPr>
              <a:t>行市</a:t>
            </a:r>
          </a:p>
          <a:p>
            <a:r>
              <a:rPr lang="zh-CN" altLang="en-US" sz="3200" dirty="0">
                <a:latin typeface="+mn-ea"/>
              </a:rPr>
              <a:t>业场</a:t>
            </a:r>
          </a:p>
          <a:p>
            <a:endParaRPr lang="en-US" altLang="zh-CN" sz="3200" dirty="0">
              <a:latin typeface="+mn-ea"/>
            </a:endParaRP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90243"/>
                                        </p:tgtEl>
                                        <p:attrNameLst>
                                          <p:attrName>style.visibility</p:attrName>
                                        </p:attrNameLst>
                                      </p:cBhvr>
                                      <p:to>
                                        <p:strVal val="visible"/>
                                      </p:to>
                                    </p:set>
                                    <p:animEffect transition="in" filter="dissolve">
                                      <p:cBhvr>
                                        <p:cTn id="7" dur="500"/>
                                        <p:tgtEl>
                                          <p:spTgt spid="129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43" grpId="0" animBg="1"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专业化战略分类</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96443724"/>
              </p:ext>
            </p:extLst>
          </p:nvPr>
        </p:nvGraphicFramePr>
        <p:xfrm>
          <a:off x="2063552" y="1916832"/>
          <a:ext cx="7704856" cy="1112520"/>
        </p:xfrm>
        <a:graphic>
          <a:graphicData uri="http://schemas.openxmlformats.org/drawingml/2006/table">
            <a:tbl>
              <a:tblPr firstRow="1" bandRow="1">
                <a:tableStyleId>{5C22544A-7EE6-4342-B048-85BDC9FD1C3A}</a:tableStyleId>
              </a:tblPr>
              <a:tblGrid>
                <a:gridCol w="1872208">
                  <a:extLst>
                    <a:ext uri="{9D8B030D-6E8A-4147-A177-3AD203B41FA5}">
                      <a16:colId xmlns:a16="http://schemas.microsoft.com/office/drawing/2014/main" val="20000"/>
                    </a:ext>
                  </a:extLst>
                </a:gridCol>
                <a:gridCol w="2952328">
                  <a:extLst>
                    <a:ext uri="{9D8B030D-6E8A-4147-A177-3AD203B41FA5}">
                      <a16:colId xmlns:a16="http://schemas.microsoft.com/office/drawing/2014/main" val="20001"/>
                    </a:ext>
                  </a:extLst>
                </a:gridCol>
                <a:gridCol w="2880320">
                  <a:extLst>
                    <a:ext uri="{9D8B030D-6E8A-4147-A177-3AD203B41FA5}">
                      <a16:colId xmlns:a16="http://schemas.microsoft.com/office/drawing/2014/main" val="20002"/>
                    </a:ext>
                  </a:extLst>
                </a:gridCol>
              </a:tblGrid>
              <a:tr h="370840">
                <a:tc>
                  <a:txBody>
                    <a:bodyPr/>
                    <a:lstStyle/>
                    <a:p>
                      <a:endParaRPr lang="zh-CN" altLang="en-US" dirty="0"/>
                    </a:p>
                  </a:txBody>
                  <a:tcPr/>
                </a:tc>
                <a:tc>
                  <a:txBody>
                    <a:bodyPr/>
                    <a:lstStyle/>
                    <a:p>
                      <a:r>
                        <a:rPr lang="zh-CN" altLang="en-US" dirty="0"/>
                        <a:t>单品种</a:t>
                      </a:r>
                    </a:p>
                  </a:txBody>
                  <a:tcPr/>
                </a:tc>
                <a:tc>
                  <a:txBody>
                    <a:bodyPr/>
                    <a:lstStyle/>
                    <a:p>
                      <a:r>
                        <a:rPr lang="zh-CN" altLang="en-US" dirty="0"/>
                        <a:t>多品种</a:t>
                      </a:r>
                    </a:p>
                  </a:txBody>
                  <a:tcPr/>
                </a:tc>
                <a:extLst>
                  <a:ext uri="{0D108BD9-81ED-4DB2-BD59-A6C34878D82A}">
                    <a16:rowId xmlns:a16="http://schemas.microsoft.com/office/drawing/2014/main" val="10000"/>
                  </a:ext>
                </a:extLst>
              </a:tr>
              <a:tr h="370840">
                <a:tc>
                  <a:txBody>
                    <a:bodyPr/>
                    <a:lstStyle/>
                    <a:p>
                      <a:r>
                        <a:rPr lang="zh-CN" altLang="en-US" dirty="0"/>
                        <a:t>单行业（市场）</a:t>
                      </a:r>
                    </a:p>
                  </a:txBody>
                  <a:tcPr/>
                </a:tc>
                <a:tc>
                  <a:txBody>
                    <a:bodyPr/>
                    <a:lstStyle/>
                    <a:p>
                      <a:r>
                        <a:rPr lang="zh-CN" altLang="en-US" dirty="0"/>
                        <a:t>单一化战略（市场渗透）</a:t>
                      </a:r>
                    </a:p>
                  </a:txBody>
                  <a:tcPr>
                    <a:solidFill>
                      <a:srgbClr val="FFFF00"/>
                    </a:solidFill>
                  </a:tcPr>
                </a:tc>
                <a:tc>
                  <a:txBody>
                    <a:bodyPr/>
                    <a:lstStyle/>
                    <a:p>
                      <a:r>
                        <a:rPr lang="zh-CN" altLang="en-US" dirty="0"/>
                        <a:t>系列化战略（产品开发）</a:t>
                      </a:r>
                    </a:p>
                  </a:txBody>
                  <a:tcPr>
                    <a:solidFill>
                      <a:srgbClr val="FFFF00"/>
                    </a:solidFill>
                  </a:tcPr>
                </a:tc>
                <a:extLst>
                  <a:ext uri="{0D108BD9-81ED-4DB2-BD59-A6C34878D82A}">
                    <a16:rowId xmlns:a16="http://schemas.microsoft.com/office/drawing/2014/main" val="10001"/>
                  </a:ext>
                </a:extLst>
              </a:tr>
              <a:tr h="370840">
                <a:tc>
                  <a:txBody>
                    <a:bodyPr/>
                    <a:lstStyle/>
                    <a:p>
                      <a:r>
                        <a:rPr lang="zh-CN" altLang="en-US" dirty="0"/>
                        <a:t>多行业（市场）</a:t>
                      </a:r>
                    </a:p>
                  </a:txBody>
                  <a:tcPr/>
                </a:tc>
                <a:tc>
                  <a:txBody>
                    <a:bodyPr/>
                    <a:lstStyle/>
                    <a:p>
                      <a:r>
                        <a:rPr lang="zh-CN" altLang="en-US" dirty="0"/>
                        <a:t>一体化战略（市场开发）</a:t>
                      </a:r>
                    </a:p>
                  </a:txBody>
                  <a:tcPr>
                    <a:solidFill>
                      <a:srgbClr val="FFFF00"/>
                    </a:solidFill>
                  </a:tcPr>
                </a:tc>
                <a:tc>
                  <a:txBody>
                    <a:bodyPr/>
                    <a:lstStyle/>
                    <a:p>
                      <a:r>
                        <a:rPr lang="zh-CN" altLang="en-US" dirty="0"/>
                        <a:t>多元化（多样化）</a:t>
                      </a:r>
                    </a:p>
                  </a:txBody>
                  <a:tcPr/>
                </a:tc>
                <a:extLst>
                  <a:ext uri="{0D108BD9-81ED-4DB2-BD59-A6C34878D82A}">
                    <a16:rowId xmlns:a16="http://schemas.microsoft.com/office/drawing/2014/main" val="10002"/>
                  </a:ext>
                </a:extLst>
              </a:tr>
            </a:tbl>
          </a:graphicData>
        </a:graphic>
      </p:graphicFrame>
      <p:sp>
        <p:nvSpPr>
          <p:cNvPr id="5" name="TextBox 4"/>
          <p:cNvSpPr txBox="1"/>
          <p:nvPr/>
        </p:nvSpPr>
        <p:spPr>
          <a:xfrm>
            <a:off x="2639617" y="3573016"/>
            <a:ext cx="7571303" cy="923330"/>
          </a:xfrm>
          <a:prstGeom prst="rect">
            <a:avLst/>
          </a:prstGeom>
          <a:noFill/>
        </p:spPr>
        <p:txBody>
          <a:bodyPr wrap="none" rtlCol="0">
            <a:spAutoFit/>
          </a:bodyPr>
          <a:lstStyle/>
          <a:p>
            <a:r>
              <a:rPr lang="zh-CN" altLang="en-US" dirty="0"/>
              <a:t>专业化战略：单一化、系列化、一体化战略</a:t>
            </a:r>
            <a:endParaRPr lang="en-US" altLang="zh-CN" dirty="0"/>
          </a:p>
          <a:p>
            <a:r>
              <a:rPr lang="zh-CN" altLang="en-US" dirty="0"/>
              <a:t>横向一体化</a:t>
            </a:r>
            <a:endParaRPr lang="en-US" altLang="zh-CN" dirty="0"/>
          </a:p>
          <a:p>
            <a:r>
              <a:rPr lang="zh-CN" altLang="en-US" dirty="0"/>
              <a:t>纵向一体化：前向一体化（下游，客户）；后向一体化（上游，供应商）</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290" name="Rectangle 2"/>
          <p:cNvSpPr>
            <a:spLocks noChangeArrowheads="1"/>
          </p:cNvSpPr>
          <p:nvPr/>
        </p:nvSpPr>
        <p:spPr bwMode="auto">
          <a:xfrm>
            <a:off x="1524001" y="1441450"/>
            <a:ext cx="4022725" cy="2514600"/>
          </a:xfrm>
          <a:prstGeom prst="rect">
            <a:avLst/>
          </a:prstGeom>
          <a:gradFill rotWithShape="0">
            <a:gsLst>
              <a:gs pos="0">
                <a:srgbClr val="FFCC99"/>
              </a:gs>
              <a:gs pos="100000">
                <a:srgbClr val="FFCC99">
                  <a:gamma/>
                  <a:tint val="63529"/>
                  <a:invGamma/>
                </a:srgbClr>
              </a:gs>
            </a:gsLst>
            <a:path path="shape">
              <a:fillToRect l="50000" t="50000" r="50000" b="50000"/>
            </a:path>
          </a:gradFill>
          <a:ln w="9525">
            <a:solidFill>
              <a:srgbClr val="800000"/>
            </a:solidFill>
            <a:miter lim="800000"/>
            <a:headEnd/>
            <a:tailEnd/>
          </a:ln>
          <a:effectLst/>
        </p:spPr>
        <p:txBody>
          <a:bodyPr lIns="92075" tIns="46038" rIns="92075" bIns="46038" anchor="ctr"/>
          <a:lstStyle/>
          <a:p>
            <a:pPr algn="l">
              <a:lnSpc>
                <a:spcPct val="85000"/>
              </a:lnSpc>
              <a:spcAft>
                <a:spcPct val="15000"/>
              </a:spcAft>
              <a:defRPr/>
            </a:pPr>
            <a:r>
              <a:rPr lang="zh-CN" altLang="en-US" sz="2800" u="sng">
                <a:solidFill>
                  <a:srgbClr val="003366"/>
                </a:solidFill>
                <a:latin typeface="+mj-ea"/>
                <a:ea typeface="+mj-ea"/>
              </a:rPr>
              <a:t>定义</a:t>
            </a:r>
          </a:p>
          <a:p>
            <a:pPr algn="l">
              <a:lnSpc>
                <a:spcPct val="85000"/>
              </a:lnSpc>
              <a:spcAft>
                <a:spcPct val="15000"/>
              </a:spcAft>
              <a:defRPr/>
            </a:pPr>
            <a:endParaRPr lang="zh-CN" altLang="en-US" sz="2800" b="1" u="sng">
              <a:solidFill>
                <a:srgbClr val="003366"/>
              </a:solidFill>
              <a:effectLst>
                <a:outerShdw blurRad="38100" dist="38100" dir="2700000" algn="tl">
                  <a:srgbClr val="000000"/>
                </a:outerShdw>
              </a:effectLst>
              <a:latin typeface="+mj-ea"/>
              <a:ea typeface="+mj-ea"/>
            </a:endParaRPr>
          </a:p>
          <a:p>
            <a:pPr algn="l">
              <a:lnSpc>
                <a:spcPct val="85000"/>
              </a:lnSpc>
              <a:buSzPct val="80000"/>
              <a:defRPr/>
            </a:pPr>
            <a:r>
              <a:rPr lang="zh-CN" altLang="en-US" sz="2600">
                <a:solidFill>
                  <a:srgbClr val="003366"/>
                </a:solidFill>
                <a:latin typeface="+mj-ea"/>
                <a:ea typeface="+mj-ea"/>
              </a:rPr>
              <a:t>企业通过市场营销管理将现有产品在现有市场上进行销售来追寻增加的市场份额</a:t>
            </a:r>
          </a:p>
        </p:txBody>
      </p:sp>
      <p:sp>
        <p:nvSpPr>
          <p:cNvPr id="1292291" name="Rectangle 3"/>
          <p:cNvSpPr>
            <a:spLocks noChangeArrowheads="1"/>
          </p:cNvSpPr>
          <p:nvPr/>
        </p:nvSpPr>
        <p:spPr bwMode="auto">
          <a:xfrm>
            <a:off x="6324600" y="1458913"/>
            <a:ext cx="4222750" cy="2519362"/>
          </a:xfrm>
          <a:prstGeom prst="rect">
            <a:avLst/>
          </a:prstGeom>
          <a:gradFill rotWithShape="0">
            <a:gsLst>
              <a:gs pos="0">
                <a:srgbClr val="FFCC99"/>
              </a:gs>
              <a:gs pos="100000">
                <a:srgbClr val="FFE9D4"/>
              </a:gs>
            </a:gsLst>
            <a:path path="shape">
              <a:fillToRect l="50000" t="50000" r="50000" b="50000"/>
            </a:path>
          </a:gradFill>
          <a:ln w="9525">
            <a:solidFill>
              <a:srgbClr val="800000"/>
            </a:solidFill>
            <a:miter lim="800000"/>
            <a:headEnd/>
            <a:tailEnd/>
          </a:ln>
        </p:spPr>
        <p:txBody>
          <a:bodyPr lIns="92075" tIns="46038" rIns="92075" bIns="46038" anchor="ctr" anchorCtr="1"/>
          <a:lstStyle/>
          <a:p>
            <a:pPr algn="l">
              <a:lnSpc>
                <a:spcPct val="85000"/>
              </a:lnSpc>
              <a:spcAft>
                <a:spcPct val="15000"/>
              </a:spcAft>
            </a:pPr>
            <a:r>
              <a:rPr lang="zh-CN" altLang="en-US" sz="2800" u="sng" dirty="0">
                <a:solidFill>
                  <a:srgbClr val="003366"/>
                </a:solidFill>
                <a:latin typeface="+mj-ea"/>
                <a:ea typeface="+mj-ea"/>
              </a:rPr>
              <a:t>例子</a:t>
            </a:r>
          </a:p>
          <a:p>
            <a:pPr algn="l">
              <a:lnSpc>
                <a:spcPct val="85000"/>
              </a:lnSpc>
              <a:spcAft>
                <a:spcPct val="15000"/>
              </a:spcAft>
            </a:pPr>
            <a:endParaRPr lang="zh-CN" altLang="en-US" sz="2800" u="sng" dirty="0">
              <a:solidFill>
                <a:srgbClr val="003366"/>
              </a:solidFill>
              <a:latin typeface="+mj-ea"/>
              <a:ea typeface="+mj-ea"/>
            </a:endParaRPr>
          </a:p>
          <a:p>
            <a:pPr algn="l">
              <a:lnSpc>
                <a:spcPct val="85000"/>
              </a:lnSpc>
              <a:spcAft>
                <a:spcPct val="15000"/>
              </a:spcAft>
            </a:pPr>
            <a:r>
              <a:rPr lang="zh-CN" altLang="en-US" sz="2400" dirty="0">
                <a:solidFill>
                  <a:srgbClr val="003366"/>
                </a:solidFill>
                <a:latin typeface="+mj-ea"/>
                <a:ea typeface="+mj-ea"/>
              </a:rPr>
              <a:t>销售量</a:t>
            </a:r>
            <a:r>
              <a:rPr lang="en-US" altLang="zh-CN" sz="2400" dirty="0">
                <a:solidFill>
                  <a:srgbClr val="003366"/>
                </a:solidFill>
                <a:latin typeface="+mj-ea"/>
                <a:ea typeface="+mj-ea"/>
              </a:rPr>
              <a:t>=</a:t>
            </a:r>
            <a:r>
              <a:rPr lang="zh-CN" altLang="en-US" sz="2400" dirty="0">
                <a:solidFill>
                  <a:srgbClr val="003366"/>
                </a:solidFill>
                <a:latin typeface="+mj-ea"/>
                <a:ea typeface="+mj-ea"/>
              </a:rPr>
              <a:t>产品使用人的数量</a:t>
            </a:r>
            <a:r>
              <a:rPr lang="en-US" altLang="zh-CN" sz="2400" dirty="0">
                <a:solidFill>
                  <a:srgbClr val="003366"/>
                </a:solidFill>
                <a:latin typeface="+mj-ea"/>
                <a:ea typeface="+mj-ea"/>
              </a:rPr>
              <a:t>x</a:t>
            </a:r>
            <a:r>
              <a:rPr lang="zh-CN" altLang="en-US" sz="2400" dirty="0">
                <a:solidFill>
                  <a:srgbClr val="003366"/>
                </a:solidFill>
                <a:latin typeface="+mj-ea"/>
                <a:ea typeface="+mj-ea"/>
              </a:rPr>
              <a:t>每个使用人的使用频率</a:t>
            </a:r>
          </a:p>
          <a:p>
            <a:pPr algn="l">
              <a:lnSpc>
                <a:spcPct val="85000"/>
              </a:lnSpc>
              <a:spcAft>
                <a:spcPct val="15000"/>
              </a:spcAft>
            </a:pPr>
            <a:r>
              <a:rPr lang="zh-CN" altLang="en-US" sz="2400" dirty="0">
                <a:solidFill>
                  <a:srgbClr val="003366"/>
                </a:solidFill>
                <a:latin typeface="+mj-ea"/>
                <a:ea typeface="+mj-ea"/>
              </a:rPr>
              <a:t>（日常用品的例子）</a:t>
            </a:r>
            <a:endParaRPr lang="en-US" altLang="zh-CN" sz="2400" dirty="0">
              <a:solidFill>
                <a:srgbClr val="003366"/>
              </a:solidFill>
              <a:latin typeface="+mj-ea"/>
              <a:ea typeface="+mj-ea"/>
            </a:endParaRPr>
          </a:p>
          <a:p>
            <a:pPr algn="l">
              <a:lnSpc>
                <a:spcPct val="85000"/>
              </a:lnSpc>
              <a:spcAft>
                <a:spcPct val="15000"/>
              </a:spcAft>
            </a:pPr>
            <a:r>
              <a:rPr lang="zh-CN" altLang="en-US" sz="2400" dirty="0">
                <a:solidFill>
                  <a:srgbClr val="003366"/>
                </a:solidFill>
                <a:latin typeface="+mj-ea"/>
                <a:ea typeface="+mj-ea"/>
              </a:rPr>
              <a:t>（大宝、牙膏、香油）</a:t>
            </a:r>
          </a:p>
          <a:p>
            <a:pPr algn="l">
              <a:lnSpc>
                <a:spcPct val="85000"/>
              </a:lnSpc>
              <a:buSzPct val="80000"/>
            </a:pPr>
            <a:endParaRPr lang="en-US" altLang="zh-CN" sz="2400" b="1" dirty="0">
              <a:solidFill>
                <a:srgbClr val="003366"/>
              </a:solidFill>
              <a:latin typeface="+mj-ea"/>
              <a:ea typeface="+mj-ea"/>
            </a:endParaRPr>
          </a:p>
        </p:txBody>
      </p:sp>
      <p:sp>
        <p:nvSpPr>
          <p:cNvPr id="20484" name="Rectangle 4"/>
          <p:cNvSpPr>
            <a:spLocks noGrp="1" noChangeArrowheads="1"/>
          </p:cNvSpPr>
          <p:nvPr>
            <p:ph type="title"/>
          </p:nvPr>
        </p:nvSpPr>
        <p:spPr>
          <a:xfrm>
            <a:off x="1524001" y="430530"/>
            <a:ext cx="6718300" cy="838200"/>
          </a:xfrm>
          <a:noFill/>
        </p:spPr>
        <p:txBody>
          <a:bodyPr/>
          <a:lstStyle/>
          <a:p>
            <a:pPr algn="l" eaLnBrk="1" hangingPunct="1"/>
            <a:r>
              <a:rPr lang="zh-CN" altLang="en-AU" dirty="0">
                <a:solidFill>
                  <a:srgbClr val="FFFF66"/>
                </a:solidFill>
              </a:rPr>
              <a:t>市场渗透</a:t>
            </a:r>
          </a:p>
        </p:txBody>
      </p:sp>
      <p:sp>
        <p:nvSpPr>
          <p:cNvPr id="1292293" name="Line 5"/>
          <p:cNvSpPr>
            <a:spLocks noChangeShapeType="1"/>
          </p:cNvSpPr>
          <p:nvPr/>
        </p:nvSpPr>
        <p:spPr bwMode="auto">
          <a:xfrm>
            <a:off x="5519738" y="2420938"/>
            <a:ext cx="804862" cy="17462"/>
          </a:xfrm>
          <a:prstGeom prst="line">
            <a:avLst/>
          </a:prstGeom>
          <a:noFill/>
          <a:ln w="76200">
            <a:solidFill>
              <a:srgbClr val="993300"/>
            </a:solidFill>
            <a:round/>
            <a:headEnd type="none" w="sm" len="sm"/>
            <a:tailEnd type="stealth" w="med" len="med"/>
          </a:ln>
        </p:spPr>
        <p:txBody>
          <a:bodyPr/>
          <a:lstStyle/>
          <a:p>
            <a:endParaRPr lang="zh-CN" altLang="en-US">
              <a:latin typeface="+mj-ea"/>
              <a:ea typeface="+mj-ea"/>
            </a:endParaRPr>
          </a:p>
        </p:txBody>
      </p:sp>
      <p:sp>
        <p:nvSpPr>
          <p:cNvPr id="1292294" name="Rectangle 6"/>
          <p:cNvSpPr>
            <a:spLocks noChangeArrowheads="1"/>
          </p:cNvSpPr>
          <p:nvPr/>
        </p:nvSpPr>
        <p:spPr bwMode="auto">
          <a:xfrm>
            <a:off x="2351089" y="4149725"/>
            <a:ext cx="7007225" cy="2362200"/>
          </a:xfrm>
          <a:prstGeom prst="rect">
            <a:avLst/>
          </a:prstGeom>
          <a:solidFill>
            <a:srgbClr val="DBCBC7"/>
          </a:solidFill>
          <a:ln w="12700">
            <a:solidFill>
              <a:srgbClr val="800000"/>
            </a:solidFill>
            <a:miter lim="800000"/>
            <a:headEnd/>
            <a:tailEnd/>
          </a:ln>
        </p:spPr>
        <p:txBody>
          <a:bodyPr lIns="92075" tIns="46038" rIns="92075" bIns="46038"/>
          <a:lstStyle/>
          <a:p>
            <a:pPr marL="342900" indent="-342900">
              <a:lnSpc>
                <a:spcPct val="80000"/>
              </a:lnSpc>
              <a:spcBef>
                <a:spcPct val="15000"/>
              </a:spcBef>
              <a:buClr>
                <a:schemeClr val="folHlink"/>
              </a:buClr>
              <a:buSzPct val="80000"/>
              <a:buFont typeface="Wingdings" pitchFamily="2" charset="2"/>
              <a:buChar char="ü"/>
            </a:pPr>
            <a:r>
              <a:rPr lang="zh-CN" altLang="en-US" sz="2400">
                <a:solidFill>
                  <a:srgbClr val="003366"/>
                </a:solidFill>
                <a:latin typeface="+mj-ea"/>
                <a:ea typeface="+mj-ea"/>
              </a:rPr>
              <a:t>现有市场没有饱和</a:t>
            </a:r>
          </a:p>
          <a:p>
            <a:pPr marL="342900" indent="-342900">
              <a:lnSpc>
                <a:spcPct val="80000"/>
              </a:lnSpc>
              <a:spcBef>
                <a:spcPct val="15000"/>
              </a:spcBef>
              <a:buClr>
                <a:schemeClr val="folHlink"/>
              </a:buClr>
              <a:buSzPct val="80000"/>
              <a:buFont typeface="Wingdings" pitchFamily="2" charset="2"/>
              <a:buChar char="ü"/>
            </a:pPr>
            <a:r>
              <a:rPr lang="zh-CN" altLang="en-US" sz="2400">
                <a:solidFill>
                  <a:srgbClr val="003366"/>
                </a:solidFill>
                <a:latin typeface="+mj-ea"/>
                <a:ea typeface="+mj-ea"/>
              </a:rPr>
              <a:t>现有顾客的产品使用率还可大幅度的增加</a:t>
            </a:r>
          </a:p>
          <a:p>
            <a:pPr marL="342900" indent="-342900">
              <a:lnSpc>
                <a:spcPct val="80000"/>
              </a:lnSpc>
              <a:spcBef>
                <a:spcPct val="15000"/>
              </a:spcBef>
              <a:buClr>
                <a:schemeClr val="folHlink"/>
              </a:buClr>
              <a:buSzPct val="80000"/>
              <a:buFont typeface="Wingdings" pitchFamily="2" charset="2"/>
              <a:buChar char="ü"/>
            </a:pPr>
            <a:r>
              <a:rPr lang="zh-CN" altLang="en-US" sz="2400">
                <a:solidFill>
                  <a:srgbClr val="003366"/>
                </a:solidFill>
                <a:latin typeface="+mj-ea"/>
                <a:ea typeface="+mj-ea"/>
              </a:rPr>
              <a:t>行业总体市场稳定，竞争对手的市场份额下降</a:t>
            </a:r>
          </a:p>
          <a:p>
            <a:pPr marL="342900" indent="-342900">
              <a:lnSpc>
                <a:spcPct val="80000"/>
              </a:lnSpc>
              <a:spcBef>
                <a:spcPct val="15000"/>
              </a:spcBef>
              <a:buClr>
                <a:schemeClr val="folHlink"/>
              </a:buClr>
              <a:buSzPct val="80000"/>
              <a:buFont typeface="Wingdings" pitchFamily="2" charset="2"/>
              <a:buChar char="ü"/>
            </a:pPr>
            <a:r>
              <a:rPr lang="zh-CN" altLang="en-US" sz="2400">
                <a:solidFill>
                  <a:srgbClr val="003366"/>
                </a:solidFill>
                <a:latin typeface="+mj-ea"/>
                <a:ea typeface="+mj-ea"/>
              </a:rPr>
              <a:t>规模经济支持了更多的竞争优势</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92290"/>
                                        </p:tgtEl>
                                        <p:attrNameLst>
                                          <p:attrName>style.visibility</p:attrName>
                                        </p:attrNameLst>
                                      </p:cBhvr>
                                      <p:to>
                                        <p:strVal val="visible"/>
                                      </p:to>
                                    </p:set>
                                    <p:anim calcmode="lin" valueType="num">
                                      <p:cBhvr additive="base">
                                        <p:cTn id="7" dur="500" fill="hold"/>
                                        <p:tgtEl>
                                          <p:spTgt spid="1292290"/>
                                        </p:tgtEl>
                                        <p:attrNameLst>
                                          <p:attrName>ppt_x</p:attrName>
                                        </p:attrNameLst>
                                      </p:cBhvr>
                                      <p:tavLst>
                                        <p:tav tm="0">
                                          <p:val>
                                            <p:strVal val="0-#ppt_w/2"/>
                                          </p:val>
                                        </p:tav>
                                        <p:tav tm="100000">
                                          <p:val>
                                            <p:strVal val="#ppt_x"/>
                                          </p:val>
                                        </p:tav>
                                      </p:tavLst>
                                    </p:anim>
                                    <p:anim calcmode="lin" valueType="num">
                                      <p:cBhvr additive="base">
                                        <p:cTn id="8" dur="500" fill="hold"/>
                                        <p:tgtEl>
                                          <p:spTgt spid="12922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292293"/>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292291"/>
                                        </p:tgtEl>
                                        <p:attrNameLst>
                                          <p:attrName>style.visibility</p:attrName>
                                        </p:attrNameLst>
                                      </p:cBhvr>
                                      <p:to>
                                        <p:strVal val="visible"/>
                                      </p:to>
                                    </p:set>
                                    <p:anim calcmode="lin" valueType="num">
                                      <p:cBhvr additive="base">
                                        <p:cTn id="16" dur="500" fill="hold"/>
                                        <p:tgtEl>
                                          <p:spTgt spid="1292291"/>
                                        </p:tgtEl>
                                        <p:attrNameLst>
                                          <p:attrName>ppt_x</p:attrName>
                                        </p:attrNameLst>
                                      </p:cBhvr>
                                      <p:tavLst>
                                        <p:tav tm="0">
                                          <p:val>
                                            <p:strVal val="0-#ppt_w/2"/>
                                          </p:val>
                                        </p:tav>
                                        <p:tav tm="100000">
                                          <p:val>
                                            <p:strVal val="#ppt_x"/>
                                          </p:val>
                                        </p:tav>
                                      </p:tavLst>
                                    </p:anim>
                                    <p:anim calcmode="lin" valueType="num">
                                      <p:cBhvr additive="base">
                                        <p:cTn id="17" dur="500" fill="hold"/>
                                        <p:tgtEl>
                                          <p:spTgt spid="1292291"/>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292294"/>
                                        </p:tgtEl>
                                        <p:attrNameLst>
                                          <p:attrName>style.visibility</p:attrName>
                                        </p:attrNameLst>
                                      </p:cBhvr>
                                      <p:to>
                                        <p:strVal val="visible"/>
                                      </p:to>
                                    </p:set>
                                    <p:anim calcmode="lin" valueType="num">
                                      <p:cBhvr additive="base">
                                        <p:cTn id="22" dur="500" fill="hold"/>
                                        <p:tgtEl>
                                          <p:spTgt spid="1292294"/>
                                        </p:tgtEl>
                                        <p:attrNameLst>
                                          <p:attrName>ppt_x</p:attrName>
                                        </p:attrNameLst>
                                      </p:cBhvr>
                                      <p:tavLst>
                                        <p:tav tm="0">
                                          <p:val>
                                            <p:strVal val="0-#ppt_w/2"/>
                                          </p:val>
                                        </p:tav>
                                        <p:tav tm="100000">
                                          <p:val>
                                            <p:strVal val="#ppt_x"/>
                                          </p:val>
                                        </p:tav>
                                      </p:tavLst>
                                    </p:anim>
                                    <p:anim calcmode="lin" valueType="num">
                                      <p:cBhvr additive="base">
                                        <p:cTn id="23" dur="500" fill="hold"/>
                                        <p:tgtEl>
                                          <p:spTgt spid="12922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2290" grpId="0" animBg="1" autoUpdateAnimBg="0"/>
      <p:bldP spid="1292291" grpId="0" animBg="1" autoUpdateAnimBg="0"/>
      <p:bldP spid="1292293" grpId="0" animBg="1"/>
      <p:bldP spid="1292294" grpId="0" animBg="1" autoUpdateAnimBg="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4338" name="Rectangle 2"/>
          <p:cNvSpPr>
            <a:spLocks noChangeArrowheads="1"/>
          </p:cNvSpPr>
          <p:nvPr/>
        </p:nvSpPr>
        <p:spPr bwMode="auto">
          <a:xfrm>
            <a:off x="1524001" y="1455738"/>
            <a:ext cx="3794125" cy="2138362"/>
          </a:xfrm>
          <a:prstGeom prst="rect">
            <a:avLst/>
          </a:prstGeom>
          <a:gradFill rotWithShape="0">
            <a:gsLst>
              <a:gs pos="0">
                <a:srgbClr val="FFCC99"/>
              </a:gs>
              <a:gs pos="100000">
                <a:srgbClr val="FFCC99">
                  <a:gamma/>
                  <a:tint val="63529"/>
                  <a:invGamma/>
                </a:srgbClr>
              </a:gs>
            </a:gsLst>
            <a:path path="shape">
              <a:fillToRect l="50000" t="50000" r="50000" b="50000"/>
            </a:path>
          </a:gradFill>
          <a:ln w="9525">
            <a:solidFill>
              <a:srgbClr val="800000"/>
            </a:solidFill>
            <a:miter lim="800000"/>
            <a:headEnd/>
            <a:tailEnd/>
          </a:ln>
          <a:effectLst/>
        </p:spPr>
        <p:txBody>
          <a:bodyPr lIns="92075" tIns="46038" rIns="92075" bIns="46038"/>
          <a:lstStyle/>
          <a:p>
            <a:pPr algn="l">
              <a:lnSpc>
                <a:spcPct val="85000"/>
              </a:lnSpc>
              <a:spcAft>
                <a:spcPct val="15000"/>
              </a:spcAft>
              <a:defRPr/>
            </a:pPr>
            <a:r>
              <a:rPr lang="zh-CN" altLang="en-US" sz="2800" u="sng">
                <a:solidFill>
                  <a:srgbClr val="003366"/>
                </a:solidFill>
                <a:latin typeface="+mj-ea"/>
                <a:ea typeface="+mj-ea"/>
              </a:rPr>
              <a:t>定义</a:t>
            </a:r>
          </a:p>
          <a:p>
            <a:pPr algn="l">
              <a:lnSpc>
                <a:spcPct val="85000"/>
              </a:lnSpc>
              <a:spcAft>
                <a:spcPct val="15000"/>
              </a:spcAft>
              <a:defRPr/>
            </a:pPr>
            <a:endParaRPr lang="zh-CN" altLang="en-US" sz="2800" b="1" u="sng">
              <a:solidFill>
                <a:srgbClr val="003366"/>
              </a:solidFill>
              <a:effectLst>
                <a:outerShdw blurRad="38100" dist="38100" dir="2700000" algn="tl">
                  <a:srgbClr val="000000"/>
                </a:outerShdw>
              </a:effectLst>
              <a:latin typeface="+mj-ea"/>
              <a:ea typeface="+mj-ea"/>
            </a:endParaRPr>
          </a:p>
          <a:p>
            <a:pPr algn="l">
              <a:lnSpc>
                <a:spcPct val="85000"/>
              </a:lnSpc>
              <a:spcAft>
                <a:spcPct val="15000"/>
              </a:spcAft>
              <a:defRPr/>
            </a:pPr>
            <a:r>
              <a:rPr lang="zh-CN" altLang="en-US" sz="2400">
                <a:solidFill>
                  <a:srgbClr val="003366"/>
                </a:solidFill>
                <a:latin typeface="+mj-ea"/>
                <a:ea typeface="+mj-ea"/>
              </a:rPr>
              <a:t>将现有的产品或服务引入到新的市场中</a:t>
            </a:r>
          </a:p>
        </p:txBody>
      </p:sp>
      <p:sp>
        <p:nvSpPr>
          <p:cNvPr id="1294339" name="Rectangle 3"/>
          <p:cNvSpPr>
            <a:spLocks noChangeArrowheads="1"/>
          </p:cNvSpPr>
          <p:nvPr/>
        </p:nvSpPr>
        <p:spPr bwMode="auto">
          <a:xfrm>
            <a:off x="6737350" y="1484313"/>
            <a:ext cx="3930650" cy="2087562"/>
          </a:xfrm>
          <a:prstGeom prst="rect">
            <a:avLst/>
          </a:prstGeom>
          <a:gradFill rotWithShape="0">
            <a:gsLst>
              <a:gs pos="0">
                <a:srgbClr val="FFCC99"/>
              </a:gs>
              <a:gs pos="100000">
                <a:srgbClr val="FFE9D4"/>
              </a:gs>
            </a:gsLst>
            <a:path path="shape">
              <a:fillToRect l="50000" t="50000" r="50000" b="50000"/>
            </a:path>
          </a:gradFill>
          <a:ln w="9525">
            <a:solidFill>
              <a:srgbClr val="800000"/>
            </a:solidFill>
            <a:miter lim="800000"/>
            <a:headEnd/>
            <a:tailEnd/>
          </a:ln>
        </p:spPr>
        <p:txBody>
          <a:bodyPr lIns="92075" tIns="46038" rIns="92075" bIns="46038"/>
          <a:lstStyle/>
          <a:p>
            <a:pPr algn="l">
              <a:lnSpc>
                <a:spcPct val="85000"/>
              </a:lnSpc>
              <a:spcAft>
                <a:spcPct val="15000"/>
              </a:spcAft>
            </a:pPr>
            <a:r>
              <a:rPr lang="zh-CN" altLang="en-US" sz="2800" u="sng">
                <a:solidFill>
                  <a:srgbClr val="003366"/>
                </a:solidFill>
                <a:latin typeface="+mj-ea"/>
                <a:ea typeface="+mj-ea"/>
              </a:rPr>
              <a:t>例子</a:t>
            </a:r>
          </a:p>
          <a:p>
            <a:pPr algn="l">
              <a:lnSpc>
                <a:spcPct val="85000"/>
              </a:lnSpc>
              <a:spcAft>
                <a:spcPct val="15000"/>
              </a:spcAft>
            </a:pPr>
            <a:endParaRPr lang="zh-CN" altLang="en-US" sz="2800" u="sng">
              <a:solidFill>
                <a:srgbClr val="003366"/>
              </a:solidFill>
              <a:latin typeface="+mj-ea"/>
              <a:ea typeface="+mj-ea"/>
            </a:endParaRPr>
          </a:p>
          <a:p>
            <a:pPr algn="l">
              <a:lnSpc>
                <a:spcPct val="85000"/>
              </a:lnSpc>
              <a:buSzPct val="80000"/>
            </a:pPr>
            <a:r>
              <a:rPr lang="en-US" altLang="zh-CN" sz="2400">
                <a:solidFill>
                  <a:srgbClr val="003366"/>
                </a:solidFill>
                <a:latin typeface="+mj-ea"/>
                <a:ea typeface="+mj-ea"/>
              </a:rPr>
              <a:t>1 </a:t>
            </a:r>
            <a:r>
              <a:rPr lang="zh-CN" altLang="en-US" sz="2400">
                <a:solidFill>
                  <a:srgbClr val="003366"/>
                </a:solidFill>
                <a:latin typeface="+mj-ea"/>
                <a:ea typeface="+mj-ea"/>
              </a:rPr>
              <a:t>扩大新的适用范围</a:t>
            </a:r>
          </a:p>
          <a:p>
            <a:pPr algn="l">
              <a:lnSpc>
                <a:spcPct val="85000"/>
              </a:lnSpc>
              <a:buSzPct val="80000"/>
            </a:pPr>
            <a:r>
              <a:rPr lang="en-US" altLang="zh-CN" sz="2400">
                <a:solidFill>
                  <a:srgbClr val="003366"/>
                </a:solidFill>
                <a:latin typeface="+mj-ea"/>
                <a:ea typeface="+mj-ea"/>
              </a:rPr>
              <a:t>2 </a:t>
            </a:r>
            <a:r>
              <a:rPr lang="zh-CN" altLang="en-US" sz="2400">
                <a:solidFill>
                  <a:srgbClr val="003366"/>
                </a:solidFill>
                <a:latin typeface="+mj-ea"/>
                <a:ea typeface="+mj-ea"/>
              </a:rPr>
              <a:t>在新市场寻找潜在的用户</a:t>
            </a:r>
          </a:p>
          <a:p>
            <a:pPr algn="l">
              <a:lnSpc>
                <a:spcPct val="85000"/>
              </a:lnSpc>
              <a:buSzPct val="80000"/>
            </a:pPr>
            <a:r>
              <a:rPr lang="en-US" altLang="zh-CN" sz="2400">
                <a:solidFill>
                  <a:srgbClr val="003366"/>
                </a:solidFill>
                <a:latin typeface="+mj-ea"/>
                <a:ea typeface="+mj-ea"/>
              </a:rPr>
              <a:t>3 </a:t>
            </a:r>
            <a:r>
              <a:rPr lang="zh-CN" altLang="en-US" sz="2400">
                <a:solidFill>
                  <a:srgbClr val="003366"/>
                </a:solidFill>
                <a:latin typeface="+mj-ea"/>
                <a:ea typeface="+mj-ea"/>
              </a:rPr>
              <a:t>增加新的销售渠道</a:t>
            </a:r>
          </a:p>
        </p:txBody>
      </p:sp>
      <p:sp>
        <p:nvSpPr>
          <p:cNvPr id="21508" name="Rectangle 4"/>
          <p:cNvSpPr>
            <a:spLocks noGrp="1" noChangeArrowheads="1"/>
          </p:cNvSpPr>
          <p:nvPr>
            <p:ph type="title"/>
          </p:nvPr>
        </p:nvSpPr>
        <p:spPr>
          <a:xfrm>
            <a:off x="1341120" y="584518"/>
            <a:ext cx="6718300" cy="838200"/>
          </a:xfrm>
          <a:noFill/>
        </p:spPr>
        <p:txBody>
          <a:bodyPr/>
          <a:lstStyle/>
          <a:p>
            <a:pPr algn="l" eaLnBrk="1" hangingPunct="1"/>
            <a:r>
              <a:rPr lang="zh-CN" altLang="en-AU" dirty="0">
                <a:solidFill>
                  <a:srgbClr val="FFFF66"/>
                </a:solidFill>
              </a:rPr>
              <a:t>市场开发</a:t>
            </a:r>
          </a:p>
        </p:txBody>
      </p:sp>
      <p:sp>
        <p:nvSpPr>
          <p:cNvPr id="1294341" name="Line 5"/>
          <p:cNvSpPr>
            <a:spLocks noChangeShapeType="1"/>
          </p:cNvSpPr>
          <p:nvPr/>
        </p:nvSpPr>
        <p:spPr bwMode="auto">
          <a:xfrm>
            <a:off x="5303838" y="2420938"/>
            <a:ext cx="1249362" cy="17462"/>
          </a:xfrm>
          <a:prstGeom prst="line">
            <a:avLst/>
          </a:prstGeom>
          <a:noFill/>
          <a:ln w="76200">
            <a:solidFill>
              <a:srgbClr val="993300"/>
            </a:solidFill>
            <a:round/>
            <a:headEnd type="none" w="sm" len="sm"/>
            <a:tailEnd type="stealth" w="med" len="med"/>
          </a:ln>
        </p:spPr>
        <p:txBody>
          <a:bodyPr/>
          <a:lstStyle/>
          <a:p>
            <a:endParaRPr lang="zh-CN" altLang="en-US">
              <a:latin typeface="+mj-ea"/>
              <a:ea typeface="+mj-ea"/>
            </a:endParaRPr>
          </a:p>
        </p:txBody>
      </p:sp>
      <p:sp>
        <p:nvSpPr>
          <p:cNvPr id="1294342" name="Rectangle 6"/>
          <p:cNvSpPr>
            <a:spLocks noChangeArrowheads="1"/>
          </p:cNvSpPr>
          <p:nvPr/>
        </p:nvSpPr>
        <p:spPr bwMode="auto">
          <a:xfrm>
            <a:off x="2351088" y="3860800"/>
            <a:ext cx="7345362" cy="2641600"/>
          </a:xfrm>
          <a:prstGeom prst="rect">
            <a:avLst/>
          </a:prstGeom>
          <a:solidFill>
            <a:srgbClr val="DBCBC7"/>
          </a:solidFill>
          <a:ln w="12700">
            <a:solidFill>
              <a:srgbClr val="800000"/>
            </a:solidFill>
            <a:miter lim="800000"/>
            <a:headEnd/>
            <a:tailEnd/>
          </a:ln>
        </p:spPr>
        <p:txBody>
          <a:bodyPr lIns="92075" tIns="46038" rIns="92075" bIns="46038"/>
          <a:lstStyle/>
          <a:p>
            <a:pPr marL="342900" indent="-342900">
              <a:lnSpc>
                <a:spcPct val="80000"/>
              </a:lnSpc>
              <a:spcBef>
                <a:spcPct val="10000"/>
              </a:spcBef>
              <a:buClr>
                <a:schemeClr val="folHlink"/>
              </a:buClr>
              <a:buSzPct val="80000"/>
              <a:buFont typeface="Wingdings" pitchFamily="2" charset="2"/>
              <a:buChar char="ü"/>
            </a:pPr>
            <a:r>
              <a:rPr lang="zh-CN" altLang="en-US" sz="2400" dirty="0">
                <a:solidFill>
                  <a:srgbClr val="003366"/>
                </a:solidFill>
                <a:latin typeface="+mj-ea"/>
                <a:ea typeface="+mj-ea"/>
              </a:rPr>
              <a:t>具有可靠、便捷以及高质量的新分销渠道</a:t>
            </a:r>
          </a:p>
          <a:p>
            <a:pPr marL="342900" indent="-342900">
              <a:lnSpc>
                <a:spcPct val="80000"/>
              </a:lnSpc>
              <a:spcBef>
                <a:spcPct val="10000"/>
              </a:spcBef>
              <a:buClr>
                <a:schemeClr val="folHlink"/>
              </a:buClr>
              <a:buSzPct val="80000"/>
              <a:buFont typeface="Wingdings" pitchFamily="2" charset="2"/>
              <a:buChar char="ü"/>
            </a:pPr>
            <a:r>
              <a:rPr lang="zh-CN" altLang="en-US" sz="2400" dirty="0">
                <a:solidFill>
                  <a:srgbClr val="003366"/>
                </a:solidFill>
                <a:latin typeface="+mj-ea"/>
                <a:ea typeface="+mj-ea"/>
              </a:rPr>
              <a:t>未开发的或未饱和的市场</a:t>
            </a:r>
          </a:p>
          <a:p>
            <a:pPr marL="342900" indent="-342900">
              <a:lnSpc>
                <a:spcPct val="80000"/>
              </a:lnSpc>
              <a:spcBef>
                <a:spcPct val="10000"/>
              </a:spcBef>
              <a:buClr>
                <a:schemeClr val="folHlink"/>
              </a:buClr>
              <a:buSzPct val="80000"/>
              <a:buFont typeface="Wingdings" pitchFamily="2" charset="2"/>
              <a:buChar char="ü"/>
            </a:pPr>
            <a:r>
              <a:rPr lang="zh-CN" altLang="en-US" sz="2400" dirty="0">
                <a:solidFill>
                  <a:srgbClr val="003366"/>
                </a:solidFill>
                <a:latin typeface="+mj-ea"/>
                <a:ea typeface="+mj-ea"/>
              </a:rPr>
              <a:t>生产能力过剩</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94338"/>
                                        </p:tgtEl>
                                        <p:attrNameLst>
                                          <p:attrName>style.visibility</p:attrName>
                                        </p:attrNameLst>
                                      </p:cBhvr>
                                      <p:to>
                                        <p:strVal val="visible"/>
                                      </p:to>
                                    </p:set>
                                    <p:anim calcmode="lin" valueType="num">
                                      <p:cBhvr additive="base">
                                        <p:cTn id="7" dur="500" fill="hold"/>
                                        <p:tgtEl>
                                          <p:spTgt spid="1294338"/>
                                        </p:tgtEl>
                                        <p:attrNameLst>
                                          <p:attrName>ppt_x</p:attrName>
                                        </p:attrNameLst>
                                      </p:cBhvr>
                                      <p:tavLst>
                                        <p:tav tm="0">
                                          <p:val>
                                            <p:strVal val="0-#ppt_w/2"/>
                                          </p:val>
                                        </p:tav>
                                        <p:tav tm="100000">
                                          <p:val>
                                            <p:strVal val="#ppt_x"/>
                                          </p:val>
                                        </p:tav>
                                      </p:tavLst>
                                    </p:anim>
                                    <p:anim calcmode="lin" valueType="num">
                                      <p:cBhvr additive="base">
                                        <p:cTn id="8" dur="500" fill="hold"/>
                                        <p:tgtEl>
                                          <p:spTgt spid="12943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294341"/>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294339"/>
                                        </p:tgtEl>
                                        <p:attrNameLst>
                                          <p:attrName>style.visibility</p:attrName>
                                        </p:attrNameLst>
                                      </p:cBhvr>
                                      <p:to>
                                        <p:strVal val="visible"/>
                                      </p:to>
                                    </p:set>
                                    <p:anim calcmode="lin" valueType="num">
                                      <p:cBhvr additive="base">
                                        <p:cTn id="16" dur="500" fill="hold"/>
                                        <p:tgtEl>
                                          <p:spTgt spid="1294339"/>
                                        </p:tgtEl>
                                        <p:attrNameLst>
                                          <p:attrName>ppt_x</p:attrName>
                                        </p:attrNameLst>
                                      </p:cBhvr>
                                      <p:tavLst>
                                        <p:tav tm="0">
                                          <p:val>
                                            <p:strVal val="0-#ppt_w/2"/>
                                          </p:val>
                                        </p:tav>
                                        <p:tav tm="100000">
                                          <p:val>
                                            <p:strVal val="#ppt_x"/>
                                          </p:val>
                                        </p:tav>
                                      </p:tavLst>
                                    </p:anim>
                                    <p:anim calcmode="lin" valueType="num">
                                      <p:cBhvr additive="base">
                                        <p:cTn id="17" dur="500" fill="hold"/>
                                        <p:tgtEl>
                                          <p:spTgt spid="1294339"/>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294342"/>
                                        </p:tgtEl>
                                        <p:attrNameLst>
                                          <p:attrName>style.visibility</p:attrName>
                                        </p:attrNameLst>
                                      </p:cBhvr>
                                      <p:to>
                                        <p:strVal val="visible"/>
                                      </p:to>
                                    </p:set>
                                    <p:anim calcmode="lin" valueType="num">
                                      <p:cBhvr additive="base">
                                        <p:cTn id="22" dur="500" fill="hold"/>
                                        <p:tgtEl>
                                          <p:spTgt spid="1294342"/>
                                        </p:tgtEl>
                                        <p:attrNameLst>
                                          <p:attrName>ppt_x</p:attrName>
                                        </p:attrNameLst>
                                      </p:cBhvr>
                                      <p:tavLst>
                                        <p:tav tm="0">
                                          <p:val>
                                            <p:strVal val="0-#ppt_w/2"/>
                                          </p:val>
                                        </p:tav>
                                        <p:tav tm="100000">
                                          <p:val>
                                            <p:strVal val="#ppt_x"/>
                                          </p:val>
                                        </p:tav>
                                      </p:tavLst>
                                    </p:anim>
                                    <p:anim calcmode="lin" valueType="num">
                                      <p:cBhvr additive="base">
                                        <p:cTn id="23" dur="500" fill="hold"/>
                                        <p:tgtEl>
                                          <p:spTgt spid="12943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4338" grpId="0" animBg="1" autoUpdateAnimBg="0"/>
      <p:bldP spid="1294339" grpId="0" animBg="1" autoUpdateAnimBg="0"/>
      <p:bldP spid="1294341" grpId="0" animBg="1"/>
      <p:bldP spid="1294342" grpId="0" animBg="1" autoUpdateAnimBg="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6386" name="Rectangle 1026"/>
          <p:cNvSpPr>
            <a:spLocks noChangeArrowheads="1"/>
          </p:cNvSpPr>
          <p:nvPr/>
        </p:nvSpPr>
        <p:spPr bwMode="auto">
          <a:xfrm>
            <a:off x="1524001" y="1412875"/>
            <a:ext cx="3794125" cy="2159000"/>
          </a:xfrm>
          <a:prstGeom prst="rect">
            <a:avLst/>
          </a:prstGeom>
          <a:gradFill rotWithShape="0">
            <a:gsLst>
              <a:gs pos="0">
                <a:srgbClr val="FFCC99"/>
              </a:gs>
              <a:gs pos="100000">
                <a:srgbClr val="FFCC99">
                  <a:gamma/>
                  <a:tint val="63529"/>
                  <a:invGamma/>
                </a:srgbClr>
              </a:gs>
            </a:gsLst>
            <a:path path="shape">
              <a:fillToRect l="50000" t="50000" r="50000" b="50000"/>
            </a:path>
          </a:gradFill>
          <a:ln w="9525">
            <a:solidFill>
              <a:srgbClr val="800000"/>
            </a:solidFill>
            <a:miter lim="800000"/>
            <a:headEnd/>
            <a:tailEnd/>
          </a:ln>
          <a:effectLst/>
        </p:spPr>
        <p:txBody>
          <a:bodyPr lIns="92075" tIns="46038" rIns="92075" bIns="46038"/>
          <a:lstStyle/>
          <a:p>
            <a:pPr algn="l">
              <a:lnSpc>
                <a:spcPct val="85000"/>
              </a:lnSpc>
              <a:spcAft>
                <a:spcPct val="15000"/>
              </a:spcAft>
              <a:defRPr/>
            </a:pPr>
            <a:r>
              <a:rPr lang="zh-CN" altLang="en-US" sz="2800" u="sng">
                <a:solidFill>
                  <a:srgbClr val="003366"/>
                </a:solidFill>
                <a:latin typeface="+mj-ea"/>
                <a:ea typeface="+mj-ea"/>
              </a:rPr>
              <a:t>定义</a:t>
            </a:r>
          </a:p>
          <a:p>
            <a:pPr algn="l">
              <a:lnSpc>
                <a:spcPct val="85000"/>
              </a:lnSpc>
              <a:spcAft>
                <a:spcPct val="15000"/>
              </a:spcAft>
              <a:defRPr/>
            </a:pPr>
            <a:endParaRPr lang="zh-CN" altLang="en-US" sz="2800" b="1" u="sng">
              <a:solidFill>
                <a:srgbClr val="003366"/>
              </a:solidFill>
              <a:effectLst>
                <a:outerShdw blurRad="38100" dist="38100" dir="2700000" algn="tl">
                  <a:srgbClr val="000000"/>
                </a:outerShdw>
              </a:effectLst>
              <a:latin typeface="+mj-ea"/>
              <a:ea typeface="+mj-ea"/>
            </a:endParaRPr>
          </a:p>
          <a:p>
            <a:pPr algn="l">
              <a:lnSpc>
                <a:spcPct val="85000"/>
              </a:lnSpc>
              <a:buSzPct val="80000"/>
              <a:defRPr/>
            </a:pPr>
            <a:r>
              <a:rPr lang="zh-CN" altLang="en-US" sz="2400">
                <a:solidFill>
                  <a:srgbClr val="003366"/>
                </a:solidFill>
                <a:latin typeface="+mj-ea"/>
                <a:ea typeface="+mj-ea"/>
              </a:rPr>
              <a:t>改善现有的产品或提供新产品来促进销售的增长</a:t>
            </a:r>
            <a:r>
              <a:rPr lang="zh-CN" altLang="en-US" sz="2800">
                <a:solidFill>
                  <a:srgbClr val="003366"/>
                </a:solidFill>
                <a:latin typeface="+mj-ea"/>
                <a:ea typeface="+mj-ea"/>
              </a:rPr>
              <a:t> </a:t>
            </a:r>
          </a:p>
        </p:txBody>
      </p:sp>
      <p:sp>
        <p:nvSpPr>
          <p:cNvPr id="1296387" name="Rectangle 1027"/>
          <p:cNvSpPr>
            <a:spLocks noChangeArrowheads="1"/>
          </p:cNvSpPr>
          <p:nvPr/>
        </p:nvSpPr>
        <p:spPr bwMode="auto">
          <a:xfrm>
            <a:off x="6638926" y="1484313"/>
            <a:ext cx="4029075" cy="2087562"/>
          </a:xfrm>
          <a:prstGeom prst="rect">
            <a:avLst/>
          </a:prstGeom>
          <a:gradFill rotWithShape="0">
            <a:gsLst>
              <a:gs pos="0">
                <a:srgbClr val="FFCC99"/>
              </a:gs>
              <a:gs pos="100000">
                <a:srgbClr val="FFE9D4"/>
              </a:gs>
            </a:gsLst>
            <a:path path="shape">
              <a:fillToRect l="50000" t="50000" r="50000" b="50000"/>
            </a:path>
          </a:gradFill>
          <a:ln w="9525">
            <a:solidFill>
              <a:srgbClr val="800000"/>
            </a:solidFill>
            <a:miter lim="800000"/>
            <a:headEnd/>
            <a:tailEnd/>
          </a:ln>
        </p:spPr>
        <p:txBody>
          <a:bodyPr lIns="92075" tIns="46038" rIns="92075" bIns="46038"/>
          <a:lstStyle/>
          <a:p>
            <a:pPr algn="l">
              <a:lnSpc>
                <a:spcPct val="85000"/>
              </a:lnSpc>
              <a:spcAft>
                <a:spcPct val="15000"/>
              </a:spcAft>
            </a:pPr>
            <a:r>
              <a:rPr lang="zh-CN" altLang="en-US" sz="2800" u="sng">
                <a:solidFill>
                  <a:srgbClr val="003366"/>
                </a:solidFill>
                <a:latin typeface="+mj-ea"/>
                <a:ea typeface="+mj-ea"/>
              </a:rPr>
              <a:t>例子</a:t>
            </a:r>
          </a:p>
          <a:p>
            <a:pPr algn="l">
              <a:lnSpc>
                <a:spcPct val="85000"/>
              </a:lnSpc>
              <a:spcAft>
                <a:spcPct val="15000"/>
              </a:spcAft>
            </a:pPr>
            <a:endParaRPr lang="zh-CN" altLang="en-US" sz="2800">
              <a:solidFill>
                <a:srgbClr val="003366"/>
              </a:solidFill>
              <a:latin typeface="+mj-ea"/>
              <a:ea typeface="+mj-ea"/>
            </a:endParaRPr>
          </a:p>
          <a:p>
            <a:pPr algn="l">
              <a:lnSpc>
                <a:spcPct val="85000"/>
              </a:lnSpc>
              <a:buSzPct val="80000"/>
            </a:pPr>
            <a:r>
              <a:rPr lang="zh-CN" altLang="en-US" sz="2400">
                <a:solidFill>
                  <a:srgbClr val="003366"/>
                </a:solidFill>
                <a:latin typeface="+mj-ea"/>
                <a:ea typeface="+mj-ea"/>
              </a:rPr>
              <a:t>计算机产品</a:t>
            </a:r>
          </a:p>
          <a:p>
            <a:pPr algn="l">
              <a:lnSpc>
                <a:spcPct val="85000"/>
              </a:lnSpc>
              <a:buSzPct val="80000"/>
            </a:pPr>
            <a:r>
              <a:rPr lang="zh-CN" altLang="en-US" sz="2400">
                <a:solidFill>
                  <a:srgbClr val="003366"/>
                </a:solidFill>
                <a:latin typeface="+mj-ea"/>
                <a:ea typeface="+mj-ea"/>
              </a:rPr>
              <a:t>电子产品等</a:t>
            </a:r>
          </a:p>
        </p:txBody>
      </p:sp>
      <p:sp>
        <p:nvSpPr>
          <p:cNvPr id="22532" name="Rectangle 1028"/>
          <p:cNvSpPr>
            <a:spLocks noGrp="1" noChangeArrowheads="1"/>
          </p:cNvSpPr>
          <p:nvPr>
            <p:ph type="title"/>
          </p:nvPr>
        </p:nvSpPr>
        <p:spPr>
          <a:xfrm>
            <a:off x="1045210" y="704850"/>
            <a:ext cx="6718300" cy="838200"/>
          </a:xfrm>
          <a:noFill/>
        </p:spPr>
        <p:txBody>
          <a:bodyPr/>
          <a:lstStyle/>
          <a:p>
            <a:pPr algn="l" eaLnBrk="1" hangingPunct="1"/>
            <a:r>
              <a:rPr lang="zh-CN" altLang="en-AU" dirty="0">
                <a:solidFill>
                  <a:srgbClr val="FFFF66"/>
                </a:solidFill>
              </a:rPr>
              <a:t>产品开发</a:t>
            </a:r>
          </a:p>
        </p:txBody>
      </p:sp>
      <p:sp>
        <p:nvSpPr>
          <p:cNvPr id="1296389" name="Line 1029"/>
          <p:cNvSpPr>
            <a:spLocks noChangeShapeType="1"/>
          </p:cNvSpPr>
          <p:nvPr/>
        </p:nvSpPr>
        <p:spPr bwMode="auto">
          <a:xfrm>
            <a:off x="5375276" y="2420938"/>
            <a:ext cx="1177925" cy="17462"/>
          </a:xfrm>
          <a:prstGeom prst="line">
            <a:avLst/>
          </a:prstGeom>
          <a:noFill/>
          <a:ln w="76200">
            <a:solidFill>
              <a:srgbClr val="993300"/>
            </a:solidFill>
            <a:round/>
            <a:headEnd type="none" w="sm" len="sm"/>
            <a:tailEnd type="stealth" w="med" len="med"/>
          </a:ln>
        </p:spPr>
        <p:txBody>
          <a:bodyPr/>
          <a:lstStyle/>
          <a:p>
            <a:endParaRPr lang="zh-CN" altLang="en-US">
              <a:latin typeface="+mj-ea"/>
              <a:ea typeface="+mj-ea"/>
            </a:endParaRPr>
          </a:p>
        </p:txBody>
      </p:sp>
      <p:sp>
        <p:nvSpPr>
          <p:cNvPr id="1296390" name="Rectangle 1030"/>
          <p:cNvSpPr>
            <a:spLocks noChangeArrowheads="1"/>
          </p:cNvSpPr>
          <p:nvPr/>
        </p:nvSpPr>
        <p:spPr bwMode="auto">
          <a:xfrm>
            <a:off x="2495550" y="3860800"/>
            <a:ext cx="6719888" cy="2089150"/>
          </a:xfrm>
          <a:prstGeom prst="rect">
            <a:avLst/>
          </a:prstGeom>
          <a:solidFill>
            <a:srgbClr val="DBCBC7"/>
          </a:solidFill>
          <a:ln w="12700">
            <a:solidFill>
              <a:srgbClr val="800000"/>
            </a:solidFill>
            <a:miter lim="800000"/>
            <a:headEnd/>
            <a:tailEnd/>
          </a:ln>
        </p:spPr>
        <p:txBody>
          <a:bodyPr lIns="92075" tIns="46038" rIns="92075" bIns="46038"/>
          <a:lstStyle/>
          <a:p>
            <a:pPr marL="342900" indent="-342900">
              <a:lnSpc>
                <a:spcPct val="80000"/>
              </a:lnSpc>
              <a:spcBef>
                <a:spcPct val="30000"/>
              </a:spcBef>
              <a:buClr>
                <a:schemeClr val="folHlink"/>
              </a:buClr>
              <a:buSzPct val="80000"/>
              <a:buFont typeface="Wingdings" pitchFamily="2" charset="2"/>
              <a:buChar char="ü"/>
            </a:pPr>
            <a:r>
              <a:rPr lang="zh-CN" altLang="en-US" sz="2400">
                <a:solidFill>
                  <a:srgbClr val="003366"/>
                </a:solidFill>
                <a:latin typeface="+mj-ea"/>
                <a:ea typeface="+mj-ea"/>
              </a:rPr>
              <a:t>产品处于生命周期的成熟期</a:t>
            </a:r>
          </a:p>
          <a:p>
            <a:pPr marL="342900" indent="-342900">
              <a:lnSpc>
                <a:spcPct val="80000"/>
              </a:lnSpc>
              <a:spcBef>
                <a:spcPct val="30000"/>
              </a:spcBef>
              <a:buClr>
                <a:schemeClr val="folHlink"/>
              </a:buClr>
              <a:buSzPct val="80000"/>
              <a:buFont typeface="Wingdings" pitchFamily="2" charset="2"/>
              <a:buChar char="ü"/>
            </a:pPr>
            <a:r>
              <a:rPr lang="zh-CN" altLang="en-US" sz="2400">
                <a:solidFill>
                  <a:srgbClr val="003366"/>
                </a:solidFill>
                <a:latin typeface="+mj-ea"/>
                <a:ea typeface="+mj-ea"/>
              </a:rPr>
              <a:t>在技术快速变革的行业中进行竞争</a:t>
            </a:r>
          </a:p>
          <a:p>
            <a:pPr marL="342900" indent="-342900">
              <a:lnSpc>
                <a:spcPct val="80000"/>
              </a:lnSpc>
              <a:spcBef>
                <a:spcPct val="30000"/>
              </a:spcBef>
              <a:buClr>
                <a:schemeClr val="folHlink"/>
              </a:buClr>
              <a:buSzPct val="80000"/>
              <a:buFont typeface="Wingdings" pitchFamily="2" charset="2"/>
              <a:buChar char="ü"/>
            </a:pPr>
            <a:r>
              <a:rPr lang="zh-CN" altLang="en-US" sz="2400">
                <a:solidFill>
                  <a:srgbClr val="003366"/>
                </a:solidFill>
                <a:latin typeface="+mj-ea"/>
                <a:ea typeface="+mj-ea"/>
              </a:rPr>
              <a:t>在同等价格下，竞争者提供质量更好的产品</a:t>
            </a:r>
          </a:p>
          <a:p>
            <a:pPr marL="342900" indent="-342900">
              <a:lnSpc>
                <a:spcPct val="80000"/>
              </a:lnSpc>
              <a:spcBef>
                <a:spcPct val="30000"/>
              </a:spcBef>
              <a:buClr>
                <a:schemeClr val="folHlink"/>
              </a:buClr>
              <a:buSzPct val="80000"/>
              <a:buFont typeface="Wingdings" pitchFamily="2" charset="2"/>
              <a:buChar char="ü"/>
            </a:pPr>
            <a:r>
              <a:rPr lang="zh-CN" altLang="en-US" sz="2400">
                <a:solidFill>
                  <a:srgbClr val="003366"/>
                </a:solidFill>
                <a:latin typeface="+mj-ea"/>
                <a:ea typeface="+mj-ea"/>
              </a:rPr>
              <a:t>在高增长率的行业中进行竞争</a:t>
            </a:r>
          </a:p>
          <a:p>
            <a:pPr marL="342900" indent="-342900">
              <a:lnSpc>
                <a:spcPct val="80000"/>
              </a:lnSpc>
              <a:spcBef>
                <a:spcPct val="30000"/>
              </a:spcBef>
              <a:buClr>
                <a:schemeClr val="folHlink"/>
              </a:buClr>
              <a:buSzPct val="80000"/>
              <a:buFont typeface="Wingdings" pitchFamily="2" charset="2"/>
              <a:buChar char="ü"/>
            </a:pPr>
            <a:r>
              <a:rPr lang="zh-CN" altLang="en-US" sz="2400">
                <a:solidFill>
                  <a:srgbClr val="003366"/>
                </a:solidFill>
                <a:latin typeface="+mj-ea"/>
                <a:ea typeface="+mj-ea"/>
              </a:rPr>
              <a:t>具有很好的研发能力</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96386"/>
                                        </p:tgtEl>
                                        <p:attrNameLst>
                                          <p:attrName>style.visibility</p:attrName>
                                        </p:attrNameLst>
                                      </p:cBhvr>
                                      <p:to>
                                        <p:strVal val="visible"/>
                                      </p:to>
                                    </p:set>
                                    <p:anim calcmode="lin" valueType="num">
                                      <p:cBhvr additive="base">
                                        <p:cTn id="7" dur="500" fill="hold"/>
                                        <p:tgtEl>
                                          <p:spTgt spid="1296386"/>
                                        </p:tgtEl>
                                        <p:attrNameLst>
                                          <p:attrName>ppt_x</p:attrName>
                                        </p:attrNameLst>
                                      </p:cBhvr>
                                      <p:tavLst>
                                        <p:tav tm="0">
                                          <p:val>
                                            <p:strVal val="0-#ppt_w/2"/>
                                          </p:val>
                                        </p:tav>
                                        <p:tav tm="100000">
                                          <p:val>
                                            <p:strVal val="#ppt_x"/>
                                          </p:val>
                                        </p:tav>
                                      </p:tavLst>
                                    </p:anim>
                                    <p:anim calcmode="lin" valueType="num">
                                      <p:cBhvr additive="base">
                                        <p:cTn id="8" dur="500" fill="hold"/>
                                        <p:tgtEl>
                                          <p:spTgt spid="12963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296389"/>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296387"/>
                                        </p:tgtEl>
                                        <p:attrNameLst>
                                          <p:attrName>style.visibility</p:attrName>
                                        </p:attrNameLst>
                                      </p:cBhvr>
                                      <p:to>
                                        <p:strVal val="visible"/>
                                      </p:to>
                                    </p:set>
                                    <p:anim calcmode="lin" valueType="num">
                                      <p:cBhvr additive="base">
                                        <p:cTn id="16" dur="500" fill="hold"/>
                                        <p:tgtEl>
                                          <p:spTgt spid="1296387"/>
                                        </p:tgtEl>
                                        <p:attrNameLst>
                                          <p:attrName>ppt_x</p:attrName>
                                        </p:attrNameLst>
                                      </p:cBhvr>
                                      <p:tavLst>
                                        <p:tav tm="0">
                                          <p:val>
                                            <p:strVal val="0-#ppt_w/2"/>
                                          </p:val>
                                        </p:tav>
                                        <p:tav tm="100000">
                                          <p:val>
                                            <p:strVal val="#ppt_x"/>
                                          </p:val>
                                        </p:tav>
                                      </p:tavLst>
                                    </p:anim>
                                    <p:anim calcmode="lin" valueType="num">
                                      <p:cBhvr additive="base">
                                        <p:cTn id="17" dur="500" fill="hold"/>
                                        <p:tgtEl>
                                          <p:spTgt spid="129638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296390"/>
                                        </p:tgtEl>
                                        <p:attrNameLst>
                                          <p:attrName>style.visibility</p:attrName>
                                        </p:attrNameLst>
                                      </p:cBhvr>
                                      <p:to>
                                        <p:strVal val="visible"/>
                                      </p:to>
                                    </p:set>
                                    <p:anim calcmode="lin" valueType="num">
                                      <p:cBhvr additive="base">
                                        <p:cTn id="22" dur="500" fill="hold"/>
                                        <p:tgtEl>
                                          <p:spTgt spid="1296390"/>
                                        </p:tgtEl>
                                        <p:attrNameLst>
                                          <p:attrName>ppt_x</p:attrName>
                                        </p:attrNameLst>
                                      </p:cBhvr>
                                      <p:tavLst>
                                        <p:tav tm="0">
                                          <p:val>
                                            <p:strVal val="0-#ppt_w/2"/>
                                          </p:val>
                                        </p:tav>
                                        <p:tav tm="100000">
                                          <p:val>
                                            <p:strVal val="#ppt_x"/>
                                          </p:val>
                                        </p:tav>
                                      </p:tavLst>
                                    </p:anim>
                                    <p:anim calcmode="lin" valueType="num">
                                      <p:cBhvr additive="base">
                                        <p:cTn id="23" dur="500" fill="hold"/>
                                        <p:tgtEl>
                                          <p:spTgt spid="12963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6386" grpId="0" animBg="1" autoUpdateAnimBg="0"/>
      <p:bldP spid="1296387" grpId="0" animBg="1" autoUpdateAnimBg="0"/>
      <p:bldP spid="1296389" grpId="0" animBg="1"/>
      <p:bldP spid="1296390" grpId="0" animBg="1" autoUpdateAnimBg="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54093" y="837507"/>
            <a:ext cx="7958331" cy="1077229"/>
          </a:xfrm>
        </p:spPr>
        <p:txBody>
          <a:bodyPr/>
          <a:lstStyle/>
          <a:p>
            <a:r>
              <a:rPr lang="zh-CN" altLang="en-US" dirty="0"/>
              <a:t>一体化战略</a:t>
            </a:r>
          </a:p>
        </p:txBody>
      </p:sp>
      <p:sp>
        <p:nvSpPr>
          <p:cNvPr id="3" name="内容占位符 2"/>
          <p:cNvSpPr>
            <a:spLocks noGrp="1"/>
          </p:cNvSpPr>
          <p:nvPr>
            <p:ph idx="1"/>
          </p:nvPr>
        </p:nvSpPr>
        <p:spPr>
          <a:xfrm>
            <a:off x="2135560" y="1412777"/>
            <a:ext cx="8229600" cy="1728192"/>
          </a:xfrm>
        </p:spPr>
        <p:txBody>
          <a:bodyPr>
            <a:normAutofit lnSpcReduction="10000"/>
          </a:bodyPr>
          <a:lstStyle/>
          <a:p>
            <a:r>
              <a:rPr lang="zh-CN" altLang="en-US" dirty="0"/>
              <a:t>纵向一体化（前向一体化，后向一体化）</a:t>
            </a:r>
            <a:endParaRPr lang="en-US" altLang="zh-CN" dirty="0"/>
          </a:p>
          <a:p>
            <a:r>
              <a:rPr lang="zh-CN" altLang="en-US" dirty="0"/>
              <a:t>横向一体化</a:t>
            </a:r>
            <a:endParaRPr lang="en-US" altLang="zh-CN" dirty="0"/>
          </a:p>
          <a:p>
            <a:r>
              <a:rPr lang="zh-CN" altLang="en-US" dirty="0"/>
              <a:t>一体化模型图</a:t>
            </a:r>
          </a:p>
        </p:txBody>
      </p:sp>
      <p:sp>
        <p:nvSpPr>
          <p:cNvPr id="4" name="矩形 3"/>
          <p:cNvSpPr/>
          <p:nvPr/>
        </p:nvSpPr>
        <p:spPr>
          <a:xfrm>
            <a:off x="2308900" y="3356992"/>
            <a:ext cx="1296144"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lumMod val="95000"/>
                    <a:lumOff val="5000"/>
                  </a:schemeClr>
                </a:solidFill>
              </a:rPr>
              <a:t>原材料</a:t>
            </a:r>
          </a:p>
        </p:txBody>
      </p:sp>
      <p:cxnSp>
        <p:nvCxnSpPr>
          <p:cNvPr id="6" name="直接箭头连接符 5"/>
          <p:cNvCxnSpPr>
            <a:stCxn id="4" idx="3"/>
          </p:cNvCxnSpPr>
          <p:nvPr/>
        </p:nvCxnSpPr>
        <p:spPr>
          <a:xfrm>
            <a:off x="3605044" y="3645024"/>
            <a:ext cx="648072" cy="1588"/>
          </a:xfrm>
          <a:prstGeom prst="straightConnector1">
            <a:avLst/>
          </a:prstGeom>
          <a:ln>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253116" y="3356992"/>
            <a:ext cx="1296144"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lumMod val="95000"/>
                    <a:lumOff val="5000"/>
                  </a:schemeClr>
                </a:solidFill>
              </a:rPr>
              <a:t>制造商</a:t>
            </a:r>
          </a:p>
        </p:txBody>
      </p:sp>
      <p:cxnSp>
        <p:nvCxnSpPr>
          <p:cNvPr id="8" name="直接箭头连接符 7"/>
          <p:cNvCxnSpPr>
            <a:stCxn id="7" idx="3"/>
          </p:cNvCxnSpPr>
          <p:nvPr/>
        </p:nvCxnSpPr>
        <p:spPr>
          <a:xfrm>
            <a:off x="5549260" y="3645024"/>
            <a:ext cx="648072" cy="1588"/>
          </a:xfrm>
          <a:prstGeom prst="straightConnector1">
            <a:avLst/>
          </a:prstGeom>
          <a:ln>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197332" y="4221088"/>
            <a:ext cx="1296144"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lumMod val="95000"/>
                    <a:lumOff val="5000"/>
                  </a:schemeClr>
                </a:solidFill>
              </a:rPr>
              <a:t>配销</a:t>
            </a:r>
          </a:p>
        </p:txBody>
      </p:sp>
      <p:cxnSp>
        <p:nvCxnSpPr>
          <p:cNvPr id="10" name="直接箭头连接符 9"/>
          <p:cNvCxnSpPr>
            <a:stCxn id="9" idx="3"/>
          </p:cNvCxnSpPr>
          <p:nvPr/>
        </p:nvCxnSpPr>
        <p:spPr>
          <a:xfrm>
            <a:off x="7493476" y="4509120"/>
            <a:ext cx="648072" cy="1588"/>
          </a:xfrm>
          <a:prstGeom prst="straightConnector1">
            <a:avLst/>
          </a:prstGeom>
          <a:ln>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197332" y="3356992"/>
            <a:ext cx="1296144"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lumMod val="95000"/>
                    <a:lumOff val="5000"/>
                  </a:schemeClr>
                </a:solidFill>
              </a:rPr>
              <a:t>企业</a:t>
            </a:r>
          </a:p>
        </p:txBody>
      </p:sp>
      <p:sp>
        <p:nvSpPr>
          <p:cNvPr id="12" name="矩形 11"/>
          <p:cNvSpPr/>
          <p:nvPr/>
        </p:nvSpPr>
        <p:spPr>
          <a:xfrm>
            <a:off x="8141548" y="4221088"/>
            <a:ext cx="1296144"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lumMod val="95000"/>
                    <a:lumOff val="5000"/>
                  </a:schemeClr>
                </a:solidFill>
              </a:rPr>
              <a:t>终端客户</a:t>
            </a:r>
          </a:p>
        </p:txBody>
      </p:sp>
      <p:cxnSp>
        <p:nvCxnSpPr>
          <p:cNvPr id="14" name="直接箭头连接符 13"/>
          <p:cNvCxnSpPr>
            <a:stCxn id="11" idx="2"/>
            <a:endCxn id="9" idx="0"/>
          </p:cNvCxnSpPr>
          <p:nvPr/>
        </p:nvCxnSpPr>
        <p:spPr>
          <a:xfrm rot="5400000">
            <a:off x="6701388" y="4077072"/>
            <a:ext cx="288032" cy="1588"/>
          </a:xfrm>
          <a:prstGeom prst="straightConnector1">
            <a:avLst/>
          </a:prstGeom>
          <a:ln>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9" idx="2"/>
          </p:cNvCxnSpPr>
          <p:nvPr/>
        </p:nvCxnSpPr>
        <p:spPr>
          <a:xfrm rot="5400000">
            <a:off x="6701388" y="4941168"/>
            <a:ext cx="288032"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4037092" y="5085184"/>
            <a:ext cx="5472608" cy="1588"/>
          </a:xfrm>
          <a:prstGeom prst="straightConnector1">
            <a:avLst/>
          </a:prstGeom>
          <a:ln>
            <a:solidFill>
              <a:srgbClr val="FFFF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893076" y="5373216"/>
            <a:ext cx="1338828" cy="369332"/>
          </a:xfrm>
          <a:prstGeom prst="rect">
            <a:avLst/>
          </a:prstGeom>
          <a:noFill/>
        </p:spPr>
        <p:txBody>
          <a:bodyPr wrap="none" rtlCol="0">
            <a:spAutoFit/>
          </a:bodyPr>
          <a:lstStyle/>
          <a:p>
            <a:r>
              <a:rPr lang="zh-CN" altLang="en-US" dirty="0"/>
              <a:t>后向一体化</a:t>
            </a:r>
          </a:p>
        </p:txBody>
      </p:sp>
      <p:sp>
        <p:nvSpPr>
          <p:cNvPr id="20" name="TextBox 19"/>
          <p:cNvSpPr txBox="1"/>
          <p:nvPr/>
        </p:nvSpPr>
        <p:spPr>
          <a:xfrm>
            <a:off x="8573596" y="5373216"/>
            <a:ext cx="1338828" cy="369332"/>
          </a:xfrm>
          <a:prstGeom prst="rect">
            <a:avLst/>
          </a:prstGeom>
          <a:noFill/>
        </p:spPr>
        <p:txBody>
          <a:bodyPr wrap="none" rtlCol="0">
            <a:spAutoFit/>
          </a:bodyPr>
          <a:lstStyle/>
          <a:p>
            <a:r>
              <a:rPr lang="zh-CN" altLang="en-US" dirty="0"/>
              <a:t>前向一体化</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1522" name="Rectangle 1026"/>
          <p:cNvSpPr>
            <a:spLocks noChangeArrowheads="1"/>
          </p:cNvSpPr>
          <p:nvPr/>
        </p:nvSpPr>
        <p:spPr bwMode="auto">
          <a:xfrm>
            <a:off x="1524000" y="1457325"/>
            <a:ext cx="4038600" cy="1900238"/>
          </a:xfrm>
          <a:prstGeom prst="rect">
            <a:avLst/>
          </a:prstGeom>
          <a:gradFill rotWithShape="0">
            <a:gsLst>
              <a:gs pos="0">
                <a:srgbClr val="FFCC99"/>
              </a:gs>
              <a:gs pos="100000">
                <a:srgbClr val="FFCC99">
                  <a:gamma/>
                  <a:tint val="63529"/>
                  <a:invGamma/>
                </a:srgbClr>
              </a:gs>
            </a:gsLst>
            <a:path path="shape">
              <a:fillToRect l="50000" t="50000" r="50000" b="50000"/>
            </a:path>
          </a:gradFill>
          <a:ln w="9525">
            <a:solidFill>
              <a:srgbClr val="800000"/>
            </a:solidFill>
            <a:miter lim="800000"/>
            <a:headEnd/>
            <a:tailEnd/>
          </a:ln>
          <a:effectLst/>
        </p:spPr>
        <p:txBody>
          <a:bodyPr lIns="92075" tIns="46038" rIns="92075" bIns="46038" anchor="ctr"/>
          <a:lstStyle/>
          <a:p>
            <a:pPr algn="l">
              <a:lnSpc>
                <a:spcPct val="85000"/>
              </a:lnSpc>
              <a:spcAft>
                <a:spcPct val="15000"/>
              </a:spcAft>
              <a:defRPr/>
            </a:pPr>
            <a:r>
              <a:rPr lang="zh-CN" altLang="en-US" sz="2800" u="sng">
                <a:solidFill>
                  <a:srgbClr val="003366"/>
                </a:solidFill>
                <a:effectLst>
                  <a:outerShdw blurRad="38100" dist="38100" dir="2700000" algn="tl">
                    <a:srgbClr val="000000"/>
                  </a:outerShdw>
                </a:effectLst>
                <a:latin typeface="+mn-ea"/>
              </a:rPr>
              <a:t>定义</a:t>
            </a:r>
          </a:p>
          <a:p>
            <a:pPr algn="l">
              <a:lnSpc>
                <a:spcPct val="85000"/>
              </a:lnSpc>
              <a:spcAft>
                <a:spcPct val="15000"/>
              </a:spcAft>
              <a:defRPr/>
            </a:pPr>
            <a:endParaRPr lang="zh-CN" altLang="en-US" sz="2800" u="sng">
              <a:solidFill>
                <a:srgbClr val="003366"/>
              </a:solidFill>
              <a:effectLst>
                <a:outerShdw blurRad="38100" dist="38100" dir="2700000" algn="tl">
                  <a:srgbClr val="000000"/>
                </a:outerShdw>
              </a:effectLst>
              <a:latin typeface="+mn-ea"/>
            </a:endParaRPr>
          </a:p>
          <a:p>
            <a:pPr algn="l">
              <a:lnSpc>
                <a:spcPct val="85000"/>
              </a:lnSpc>
              <a:buSzPct val="80000"/>
              <a:defRPr/>
            </a:pPr>
            <a:r>
              <a:rPr lang="zh-CN" altLang="en-US" sz="2400">
                <a:solidFill>
                  <a:srgbClr val="003366"/>
                </a:solidFill>
                <a:latin typeface="+mn-ea"/>
              </a:rPr>
              <a:t>在渠道、销售方面赢得所有权或增加控制</a:t>
            </a:r>
          </a:p>
        </p:txBody>
      </p:sp>
      <p:sp>
        <p:nvSpPr>
          <p:cNvPr id="1131523" name="Rectangle 1027"/>
          <p:cNvSpPr>
            <a:spLocks noChangeArrowheads="1"/>
          </p:cNvSpPr>
          <p:nvPr/>
        </p:nvSpPr>
        <p:spPr bwMode="auto">
          <a:xfrm>
            <a:off x="6597650" y="1474789"/>
            <a:ext cx="4070350" cy="1882775"/>
          </a:xfrm>
          <a:prstGeom prst="rect">
            <a:avLst/>
          </a:prstGeom>
          <a:gradFill rotWithShape="0">
            <a:gsLst>
              <a:gs pos="0">
                <a:srgbClr val="FFCC99"/>
              </a:gs>
              <a:gs pos="100000">
                <a:srgbClr val="FFE9D4"/>
              </a:gs>
            </a:gsLst>
            <a:path path="shape">
              <a:fillToRect l="50000" t="50000" r="50000" b="50000"/>
            </a:path>
          </a:gradFill>
          <a:ln w="9525">
            <a:solidFill>
              <a:srgbClr val="800000"/>
            </a:solidFill>
            <a:miter lim="800000"/>
            <a:headEnd/>
            <a:tailEnd/>
          </a:ln>
        </p:spPr>
        <p:txBody>
          <a:bodyPr lIns="92075" tIns="46038" rIns="92075" bIns="46038" anchor="ctr" anchorCtr="1"/>
          <a:lstStyle/>
          <a:p>
            <a:pPr algn="l">
              <a:lnSpc>
                <a:spcPct val="85000"/>
              </a:lnSpc>
              <a:spcAft>
                <a:spcPct val="15000"/>
              </a:spcAft>
            </a:pPr>
            <a:r>
              <a:rPr lang="zh-CN" altLang="en-US" sz="2800" u="sng" dirty="0">
                <a:solidFill>
                  <a:srgbClr val="003366"/>
                </a:solidFill>
                <a:latin typeface="+mn-ea"/>
              </a:rPr>
              <a:t>例子</a:t>
            </a:r>
            <a:endParaRPr lang="zh-CN" altLang="en-US" sz="2800" dirty="0">
              <a:solidFill>
                <a:srgbClr val="003366"/>
              </a:solidFill>
              <a:latin typeface="+mn-ea"/>
            </a:endParaRPr>
          </a:p>
          <a:p>
            <a:pPr algn="l">
              <a:lnSpc>
                <a:spcPct val="85000"/>
              </a:lnSpc>
              <a:buSzPct val="80000"/>
            </a:pPr>
            <a:r>
              <a:rPr lang="zh-CN" altLang="en-US" sz="2400" dirty="0">
                <a:solidFill>
                  <a:srgbClr val="003366"/>
                </a:solidFill>
                <a:latin typeface="+mn-ea"/>
              </a:rPr>
              <a:t>格力电器自营销售渠道、小米开设立小米之家</a:t>
            </a:r>
          </a:p>
        </p:txBody>
      </p:sp>
      <p:sp>
        <p:nvSpPr>
          <p:cNvPr id="24580" name="Rectangle 1028"/>
          <p:cNvSpPr>
            <a:spLocks noGrp="1" noChangeArrowheads="1"/>
          </p:cNvSpPr>
          <p:nvPr>
            <p:ph type="title"/>
          </p:nvPr>
        </p:nvSpPr>
        <p:spPr>
          <a:xfrm>
            <a:off x="1346201" y="420211"/>
            <a:ext cx="5207000" cy="838200"/>
          </a:xfrm>
          <a:noFill/>
        </p:spPr>
        <p:txBody>
          <a:bodyPr/>
          <a:lstStyle/>
          <a:p>
            <a:pPr algn="l"/>
            <a:r>
              <a:rPr lang="zh-CN" altLang="en-US" dirty="0">
                <a:solidFill>
                  <a:srgbClr val="FFFF66"/>
                </a:solidFill>
              </a:rPr>
              <a:t>前向一体化</a:t>
            </a:r>
            <a:endParaRPr lang="zh-CN" altLang="en-AU" dirty="0">
              <a:solidFill>
                <a:srgbClr val="FFFF66"/>
              </a:solidFill>
            </a:endParaRPr>
          </a:p>
        </p:txBody>
      </p:sp>
      <p:sp>
        <p:nvSpPr>
          <p:cNvPr id="1131525" name="Line 1029"/>
          <p:cNvSpPr>
            <a:spLocks noChangeShapeType="1"/>
          </p:cNvSpPr>
          <p:nvPr/>
        </p:nvSpPr>
        <p:spPr bwMode="auto">
          <a:xfrm>
            <a:off x="5635626" y="2438400"/>
            <a:ext cx="917575" cy="0"/>
          </a:xfrm>
          <a:prstGeom prst="line">
            <a:avLst/>
          </a:prstGeom>
          <a:noFill/>
          <a:ln w="76200">
            <a:solidFill>
              <a:srgbClr val="993300"/>
            </a:solidFill>
            <a:round/>
            <a:headEnd type="none" w="sm" len="sm"/>
            <a:tailEnd type="stealth" w="med" len="med"/>
          </a:ln>
        </p:spPr>
        <p:txBody>
          <a:bodyPr/>
          <a:lstStyle/>
          <a:p>
            <a:endParaRPr lang="zh-CN" altLang="en-US">
              <a:latin typeface="+mn-ea"/>
            </a:endParaRPr>
          </a:p>
        </p:txBody>
      </p:sp>
      <p:sp>
        <p:nvSpPr>
          <p:cNvPr id="1131526" name="Rectangle 1030"/>
          <p:cNvSpPr>
            <a:spLocks noChangeArrowheads="1"/>
          </p:cNvSpPr>
          <p:nvPr/>
        </p:nvSpPr>
        <p:spPr bwMode="auto">
          <a:xfrm>
            <a:off x="2063750" y="3716339"/>
            <a:ext cx="7367588" cy="2071687"/>
          </a:xfrm>
          <a:prstGeom prst="rect">
            <a:avLst/>
          </a:prstGeom>
          <a:solidFill>
            <a:srgbClr val="DBCBC7"/>
          </a:solidFill>
          <a:ln w="12700">
            <a:solidFill>
              <a:srgbClr val="800000"/>
            </a:solidFill>
            <a:miter lim="800000"/>
            <a:headEnd/>
            <a:tailEnd/>
          </a:ln>
        </p:spPr>
        <p:txBody>
          <a:bodyPr lIns="92075" tIns="46038" rIns="92075" bIns="46038"/>
          <a:lstStyle/>
          <a:p>
            <a:pPr marL="342900" indent="-342900">
              <a:lnSpc>
                <a:spcPct val="80000"/>
              </a:lnSpc>
              <a:spcBef>
                <a:spcPct val="30000"/>
              </a:spcBef>
              <a:buClr>
                <a:schemeClr val="folHlink"/>
              </a:buClr>
              <a:buSzPct val="80000"/>
              <a:buFont typeface="Wingdings" pitchFamily="2" charset="2"/>
              <a:buChar char="ü"/>
            </a:pPr>
            <a:r>
              <a:rPr lang="zh-CN" altLang="en-US" sz="2400">
                <a:solidFill>
                  <a:srgbClr val="003366"/>
                </a:solidFill>
                <a:latin typeface="+mn-ea"/>
              </a:rPr>
              <a:t>现有的渠道昂贵、不可靠，不能满足公司的需求</a:t>
            </a:r>
          </a:p>
          <a:p>
            <a:pPr marL="342900" indent="-342900">
              <a:lnSpc>
                <a:spcPct val="80000"/>
              </a:lnSpc>
              <a:spcBef>
                <a:spcPct val="30000"/>
              </a:spcBef>
              <a:buClr>
                <a:schemeClr val="folHlink"/>
              </a:buClr>
              <a:buSzPct val="80000"/>
              <a:buFont typeface="Wingdings" pitchFamily="2" charset="2"/>
              <a:buChar char="ü"/>
            </a:pPr>
            <a:r>
              <a:rPr lang="zh-CN" altLang="en-US" sz="2400">
                <a:solidFill>
                  <a:srgbClr val="003366"/>
                </a:solidFill>
                <a:latin typeface="+mn-ea"/>
              </a:rPr>
              <a:t>高质量的渠道可用性有限</a:t>
            </a:r>
          </a:p>
          <a:p>
            <a:pPr marL="342900" indent="-342900">
              <a:lnSpc>
                <a:spcPct val="80000"/>
              </a:lnSpc>
              <a:spcBef>
                <a:spcPct val="30000"/>
              </a:spcBef>
              <a:buClr>
                <a:schemeClr val="folHlink"/>
              </a:buClr>
              <a:buSzPct val="80000"/>
              <a:buFont typeface="Wingdings" pitchFamily="2" charset="2"/>
              <a:buChar char="ü"/>
            </a:pPr>
            <a:r>
              <a:rPr lang="zh-CN" altLang="en-US" sz="2400">
                <a:solidFill>
                  <a:srgbClr val="003366"/>
                </a:solidFill>
                <a:latin typeface="+mn-ea"/>
              </a:rPr>
              <a:t>公司所在的行业成长显著</a:t>
            </a:r>
          </a:p>
          <a:p>
            <a:pPr marL="342900" indent="-342900">
              <a:lnSpc>
                <a:spcPct val="80000"/>
              </a:lnSpc>
              <a:spcBef>
                <a:spcPct val="30000"/>
              </a:spcBef>
              <a:buClr>
                <a:schemeClr val="folHlink"/>
              </a:buClr>
              <a:buSzPct val="80000"/>
              <a:buFont typeface="Wingdings" pitchFamily="2" charset="2"/>
              <a:buChar char="ü"/>
            </a:pPr>
            <a:r>
              <a:rPr lang="zh-CN" altLang="en-US" sz="2400">
                <a:solidFill>
                  <a:srgbClr val="003366"/>
                </a:solidFill>
                <a:latin typeface="+mn-ea"/>
              </a:rPr>
              <a:t>现有的渠道具有高的边际收益</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31522"/>
                                        </p:tgtEl>
                                        <p:attrNameLst>
                                          <p:attrName>style.visibility</p:attrName>
                                        </p:attrNameLst>
                                      </p:cBhvr>
                                      <p:to>
                                        <p:strVal val="visible"/>
                                      </p:to>
                                    </p:set>
                                    <p:anim calcmode="lin" valueType="num">
                                      <p:cBhvr additive="base">
                                        <p:cTn id="7" dur="500" fill="hold"/>
                                        <p:tgtEl>
                                          <p:spTgt spid="1131522"/>
                                        </p:tgtEl>
                                        <p:attrNameLst>
                                          <p:attrName>ppt_x</p:attrName>
                                        </p:attrNameLst>
                                      </p:cBhvr>
                                      <p:tavLst>
                                        <p:tav tm="0">
                                          <p:val>
                                            <p:strVal val="0-#ppt_w/2"/>
                                          </p:val>
                                        </p:tav>
                                        <p:tav tm="100000">
                                          <p:val>
                                            <p:strVal val="#ppt_x"/>
                                          </p:val>
                                        </p:tav>
                                      </p:tavLst>
                                    </p:anim>
                                    <p:anim calcmode="lin" valueType="num">
                                      <p:cBhvr additive="base">
                                        <p:cTn id="8" dur="500" fill="hold"/>
                                        <p:tgtEl>
                                          <p:spTgt spid="11315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131525"/>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131523"/>
                                        </p:tgtEl>
                                        <p:attrNameLst>
                                          <p:attrName>style.visibility</p:attrName>
                                        </p:attrNameLst>
                                      </p:cBhvr>
                                      <p:to>
                                        <p:strVal val="visible"/>
                                      </p:to>
                                    </p:set>
                                    <p:anim calcmode="lin" valueType="num">
                                      <p:cBhvr additive="base">
                                        <p:cTn id="16" dur="500" fill="hold"/>
                                        <p:tgtEl>
                                          <p:spTgt spid="1131523"/>
                                        </p:tgtEl>
                                        <p:attrNameLst>
                                          <p:attrName>ppt_x</p:attrName>
                                        </p:attrNameLst>
                                      </p:cBhvr>
                                      <p:tavLst>
                                        <p:tav tm="0">
                                          <p:val>
                                            <p:strVal val="0-#ppt_w/2"/>
                                          </p:val>
                                        </p:tav>
                                        <p:tav tm="100000">
                                          <p:val>
                                            <p:strVal val="#ppt_x"/>
                                          </p:val>
                                        </p:tav>
                                      </p:tavLst>
                                    </p:anim>
                                    <p:anim calcmode="lin" valueType="num">
                                      <p:cBhvr additive="base">
                                        <p:cTn id="17" dur="500" fill="hold"/>
                                        <p:tgtEl>
                                          <p:spTgt spid="1131523"/>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131526"/>
                                        </p:tgtEl>
                                        <p:attrNameLst>
                                          <p:attrName>style.visibility</p:attrName>
                                        </p:attrNameLst>
                                      </p:cBhvr>
                                      <p:to>
                                        <p:strVal val="visible"/>
                                      </p:to>
                                    </p:set>
                                    <p:anim calcmode="lin" valueType="num">
                                      <p:cBhvr additive="base">
                                        <p:cTn id="22" dur="500" fill="hold"/>
                                        <p:tgtEl>
                                          <p:spTgt spid="1131526"/>
                                        </p:tgtEl>
                                        <p:attrNameLst>
                                          <p:attrName>ppt_x</p:attrName>
                                        </p:attrNameLst>
                                      </p:cBhvr>
                                      <p:tavLst>
                                        <p:tav tm="0">
                                          <p:val>
                                            <p:strVal val="0-#ppt_w/2"/>
                                          </p:val>
                                        </p:tav>
                                        <p:tav tm="100000">
                                          <p:val>
                                            <p:strVal val="#ppt_x"/>
                                          </p:val>
                                        </p:tav>
                                      </p:tavLst>
                                    </p:anim>
                                    <p:anim calcmode="lin" valueType="num">
                                      <p:cBhvr additive="base">
                                        <p:cTn id="23" dur="500" fill="hold"/>
                                        <p:tgtEl>
                                          <p:spTgt spid="11315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1522" grpId="0" animBg="1" autoUpdateAnimBg="0"/>
      <p:bldP spid="1131523" grpId="0" animBg="1" autoUpdateAnimBg="0"/>
      <p:bldP spid="1131525" grpId="0" animBg="1"/>
      <p:bldP spid="1131526" grpId="0" animBg="1" autoUpdateAnimBg="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3570" name="Rectangle 2"/>
          <p:cNvSpPr>
            <a:spLocks noChangeArrowheads="1"/>
          </p:cNvSpPr>
          <p:nvPr/>
        </p:nvSpPr>
        <p:spPr bwMode="auto">
          <a:xfrm>
            <a:off x="1524001" y="1412875"/>
            <a:ext cx="3794125" cy="1728788"/>
          </a:xfrm>
          <a:prstGeom prst="rect">
            <a:avLst/>
          </a:prstGeom>
          <a:gradFill rotWithShape="0">
            <a:gsLst>
              <a:gs pos="0">
                <a:srgbClr val="FFCC99"/>
              </a:gs>
              <a:gs pos="100000">
                <a:srgbClr val="FFCC99">
                  <a:gamma/>
                  <a:tint val="63529"/>
                  <a:invGamma/>
                </a:srgbClr>
              </a:gs>
            </a:gsLst>
            <a:path path="shape">
              <a:fillToRect l="50000" t="50000" r="50000" b="50000"/>
            </a:path>
          </a:gradFill>
          <a:ln w="9525">
            <a:solidFill>
              <a:srgbClr val="800000"/>
            </a:solidFill>
            <a:miter lim="800000"/>
            <a:headEnd/>
            <a:tailEnd/>
          </a:ln>
          <a:effectLst/>
        </p:spPr>
        <p:txBody>
          <a:bodyPr lIns="92075" tIns="46038" rIns="92075" bIns="46038" anchor="ctr"/>
          <a:lstStyle/>
          <a:p>
            <a:pPr algn="l">
              <a:lnSpc>
                <a:spcPct val="85000"/>
              </a:lnSpc>
              <a:spcAft>
                <a:spcPct val="15000"/>
              </a:spcAft>
              <a:defRPr/>
            </a:pPr>
            <a:r>
              <a:rPr lang="zh-CN" altLang="en-US" sz="2800" u="sng">
                <a:solidFill>
                  <a:srgbClr val="003366"/>
                </a:solidFill>
                <a:effectLst>
                  <a:outerShdw blurRad="38100" dist="38100" dir="2700000" algn="tl">
                    <a:srgbClr val="000000"/>
                  </a:outerShdw>
                </a:effectLst>
                <a:latin typeface="+mn-ea"/>
              </a:rPr>
              <a:t>定义</a:t>
            </a:r>
          </a:p>
          <a:p>
            <a:pPr algn="l">
              <a:lnSpc>
                <a:spcPct val="85000"/>
              </a:lnSpc>
              <a:spcAft>
                <a:spcPct val="15000"/>
              </a:spcAft>
              <a:defRPr/>
            </a:pPr>
            <a:endParaRPr lang="zh-CN" altLang="en-US" sz="2800" u="sng">
              <a:solidFill>
                <a:srgbClr val="003366"/>
              </a:solidFill>
              <a:effectLst>
                <a:outerShdw blurRad="38100" dist="38100" dir="2700000" algn="tl">
                  <a:srgbClr val="000000"/>
                </a:outerShdw>
              </a:effectLst>
              <a:latin typeface="+mn-ea"/>
            </a:endParaRPr>
          </a:p>
          <a:p>
            <a:pPr algn="l">
              <a:lnSpc>
                <a:spcPct val="85000"/>
              </a:lnSpc>
              <a:buSzPct val="80000"/>
              <a:defRPr/>
            </a:pPr>
            <a:r>
              <a:rPr lang="zh-CN" altLang="en-US" sz="2400">
                <a:solidFill>
                  <a:srgbClr val="003366"/>
                </a:solidFill>
                <a:latin typeface="+mn-ea"/>
              </a:rPr>
              <a:t>在公司的供应方面取得所有权或增加控制</a:t>
            </a:r>
          </a:p>
        </p:txBody>
      </p:sp>
      <p:sp>
        <p:nvSpPr>
          <p:cNvPr id="1133571" name="Rectangle 3"/>
          <p:cNvSpPr>
            <a:spLocks noChangeArrowheads="1"/>
          </p:cNvSpPr>
          <p:nvPr/>
        </p:nvSpPr>
        <p:spPr bwMode="auto">
          <a:xfrm>
            <a:off x="7042150" y="1443038"/>
            <a:ext cx="3625850" cy="1676400"/>
          </a:xfrm>
          <a:prstGeom prst="rect">
            <a:avLst/>
          </a:prstGeom>
          <a:gradFill rotWithShape="0">
            <a:gsLst>
              <a:gs pos="0">
                <a:srgbClr val="FFCC99"/>
              </a:gs>
              <a:gs pos="100000">
                <a:srgbClr val="FFE9D4"/>
              </a:gs>
            </a:gsLst>
            <a:path path="shape">
              <a:fillToRect l="50000" t="50000" r="50000" b="50000"/>
            </a:path>
          </a:gradFill>
          <a:ln w="9525">
            <a:solidFill>
              <a:srgbClr val="800000"/>
            </a:solidFill>
            <a:miter lim="800000"/>
            <a:headEnd/>
            <a:tailEnd/>
          </a:ln>
        </p:spPr>
        <p:txBody>
          <a:bodyPr lIns="92075" tIns="46038" rIns="92075" bIns="46038" anchor="ctr" anchorCtr="1"/>
          <a:lstStyle/>
          <a:p>
            <a:pPr algn="l">
              <a:lnSpc>
                <a:spcPct val="85000"/>
              </a:lnSpc>
              <a:spcAft>
                <a:spcPct val="15000"/>
              </a:spcAft>
            </a:pPr>
            <a:endParaRPr lang="en-US" altLang="zh-CN" sz="2800" u="sng" dirty="0">
              <a:solidFill>
                <a:srgbClr val="003366"/>
              </a:solidFill>
              <a:latin typeface="+mn-ea"/>
            </a:endParaRPr>
          </a:p>
          <a:p>
            <a:pPr algn="l">
              <a:lnSpc>
                <a:spcPct val="85000"/>
              </a:lnSpc>
              <a:spcAft>
                <a:spcPct val="15000"/>
              </a:spcAft>
            </a:pPr>
            <a:r>
              <a:rPr lang="zh-CN" altLang="en-US" sz="2800" u="sng" dirty="0">
                <a:solidFill>
                  <a:srgbClr val="003366"/>
                </a:solidFill>
                <a:latin typeface="+mn-ea"/>
              </a:rPr>
              <a:t>例子</a:t>
            </a:r>
          </a:p>
          <a:p>
            <a:pPr algn="l">
              <a:lnSpc>
                <a:spcPct val="85000"/>
              </a:lnSpc>
              <a:spcAft>
                <a:spcPct val="15000"/>
              </a:spcAft>
            </a:pPr>
            <a:r>
              <a:rPr lang="zh-CN" altLang="en-US" sz="2400" dirty="0">
                <a:solidFill>
                  <a:srgbClr val="003366"/>
                </a:solidFill>
                <a:latin typeface="+mn-ea"/>
              </a:rPr>
              <a:t>汽车厂与橡胶厂进行联合</a:t>
            </a:r>
            <a:endParaRPr lang="en-US" altLang="zh-CN" sz="2400" dirty="0">
              <a:solidFill>
                <a:srgbClr val="003366"/>
              </a:solidFill>
              <a:latin typeface="+mn-ea"/>
            </a:endParaRPr>
          </a:p>
          <a:p>
            <a:pPr algn="l">
              <a:lnSpc>
                <a:spcPct val="85000"/>
              </a:lnSpc>
              <a:spcAft>
                <a:spcPct val="15000"/>
              </a:spcAft>
            </a:pPr>
            <a:r>
              <a:rPr lang="zh-CN" altLang="en-US" sz="2400" dirty="0">
                <a:solidFill>
                  <a:srgbClr val="003366"/>
                </a:solidFill>
                <a:latin typeface="+mn-ea"/>
              </a:rPr>
              <a:t>肯德基自建养鸡场</a:t>
            </a:r>
            <a:endParaRPr lang="en-US" altLang="zh-CN" sz="2400" dirty="0">
              <a:solidFill>
                <a:srgbClr val="003366"/>
              </a:solidFill>
              <a:latin typeface="+mn-ea"/>
            </a:endParaRPr>
          </a:p>
          <a:p>
            <a:pPr algn="l">
              <a:lnSpc>
                <a:spcPct val="85000"/>
              </a:lnSpc>
              <a:spcAft>
                <a:spcPct val="15000"/>
              </a:spcAft>
            </a:pPr>
            <a:r>
              <a:rPr lang="zh-CN" altLang="en-US" sz="2400" dirty="0">
                <a:solidFill>
                  <a:srgbClr val="003366"/>
                </a:solidFill>
                <a:latin typeface="+mn-ea"/>
              </a:rPr>
              <a:t>春秋国旅建立春秋航空</a:t>
            </a:r>
          </a:p>
          <a:p>
            <a:pPr algn="l">
              <a:lnSpc>
                <a:spcPct val="85000"/>
              </a:lnSpc>
              <a:buSzPct val="80000"/>
            </a:pPr>
            <a:endParaRPr lang="en-US" altLang="zh-CN" sz="2800" b="1" dirty="0">
              <a:solidFill>
                <a:srgbClr val="003366"/>
              </a:solidFill>
              <a:latin typeface="+mn-ea"/>
            </a:endParaRPr>
          </a:p>
        </p:txBody>
      </p:sp>
      <p:sp>
        <p:nvSpPr>
          <p:cNvPr id="25604" name="Rectangle 4"/>
          <p:cNvSpPr>
            <a:spLocks noGrp="1" noChangeArrowheads="1"/>
          </p:cNvSpPr>
          <p:nvPr>
            <p:ph type="title"/>
          </p:nvPr>
        </p:nvSpPr>
        <p:spPr>
          <a:xfrm>
            <a:off x="1187450" y="411957"/>
            <a:ext cx="6718300" cy="838200"/>
          </a:xfrm>
          <a:noFill/>
        </p:spPr>
        <p:txBody>
          <a:bodyPr/>
          <a:lstStyle/>
          <a:p>
            <a:pPr algn="l"/>
            <a:r>
              <a:rPr lang="zh-CN" altLang="en-AU" dirty="0">
                <a:solidFill>
                  <a:srgbClr val="FFFF66"/>
                </a:solidFill>
              </a:rPr>
              <a:t>后向一体化</a:t>
            </a:r>
          </a:p>
        </p:txBody>
      </p:sp>
      <p:sp>
        <p:nvSpPr>
          <p:cNvPr id="1133573" name="Line 5"/>
          <p:cNvSpPr>
            <a:spLocks noChangeShapeType="1"/>
          </p:cNvSpPr>
          <p:nvPr/>
        </p:nvSpPr>
        <p:spPr bwMode="auto">
          <a:xfrm>
            <a:off x="5303838" y="2349500"/>
            <a:ext cx="1655762" cy="0"/>
          </a:xfrm>
          <a:prstGeom prst="line">
            <a:avLst/>
          </a:prstGeom>
          <a:noFill/>
          <a:ln w="76200">
            <a:solidFill>
              <a:srgbClr val="993300"/>
            </a:solidFill>
            <a:round/>
            <a:headEnd type="none" w="sm" len="sm"/>
            <a:tailEnd type="stealth" w="med" len="med"/>
          </a:ln>
        </p:spPr>
        <p:txBody>
          <a:bodyPr/>
          <a:lstStyle/>
          <a:p>
            <a:endParaRPr lang="zh-CN" altLang="en-US">
              <a:latin typeface="+mn-ea"/>
            </a:endParaRPr>
          </a:p>
        </p:txBody>
      </p:sp>
      <p:sp>
        <p:nvSpPr>
          <p:cNvPr id="1133574" name="Rectangle 6"/>
          <p:cNvSpPr>
            <a:spLocks noChangeArrowheads="1"/>
          </p:cNvSpPr>
          <p:nvPr/>
        </p:nvSpPr>
        <p:spPr bwMode="auto">
          <a:xfrm>
            <a:off x="1774825" y="3573464"/>
            <a:ext cx="7583488" cy="2105025"/>
          </a:xfrm>
          <a:prstGeom prst="rect">
            <a:avLst/>
          </a:prstGeom>
          <a:solidFill>
            <a:srgbClr val="DBCBC7"/>
          </a:solidFill>
          <a:ln w="12700">
            <a:solidFill>
              <a:srgbClr val="800000"/>
            </a:solidFill>
            <a:miter lim="800000"/>
            <a:headEnd/>
            <a:tailEnd/>
          </a:ln>
        </p:spPr>
        <p:txBody>
          <a:bodyPr lIns="92075" tIns="46038" rIns="92075" bIns="46038"/>
          <a:lstStyle/>
          <a:p>
            <a:pPr marL="342900" indent="-342900">
              <a:lnSpc>
                <a:spcPct val="85000"/>
              </a:lnSpc>
              <a:spcBef>
                <a:spcPct val="15000"/>
              </a:spcBef>
              <a:buClr>
                <a:schemeClr val="folHlink"/>
              </a:buClr>
              <a:buSzPct val="80000"/>
              <a:buFont typeface="Wingdings" pitchFamily="2" charset="2"/>
              <a:buChar char="ü"/>
            </a:pPr>
            <a:r>
              <a:rPr lang="zh-CN" altLang="en-US" sz="2400" dirty="0">
                <a:solidFill>
                  <a:srgbClr val="003366"/>
                </a:solidFill>
                <a:latin typeface="+mn-ea"/>
              </a:rPr>
              <a:t>现有的供应商费用高、不可靠，不能满足公司的需求</a:t>
            </a:r>
          </a:p>
          <a:p>
            <a:pPr marL="342900" indent="-342900">
              <a:lnSpc>
                <a:spcPct val="85000"/>
              </a:lnSpc>
              <a:spcBef>
                <a:spcPct val="15000"/>
              </a:spcBef>
              <a:buClr>
                <a:schemeClr val="folHlink"/>
              </a:buClr>
              <a:buSzPct val="80000"/>
              <a:buFont typeface="Wingdings" pitchFamily="2" charset="2"/>
              <a:buChar char="ü"/>
            </a:pPr>
            <a:r>
              <a:rPr lang="zh-CN" altLang="en-US" sz="2400" dirty="0">
                <a:solidFill>
                  <a:srgbClr val="003366"/>
                </a:solidFill>
                <a:latin typeface="+mn-ea"/>
              </a:rPr>
              <a:t>供应商的数目少，竞争者的数目多</a:t>
            </a:r>
          </a:p>
          <a:p>
            <a:pPr marL="342900" indent="-342900">
              <a:lnSpc>
                <a:spcPct val="85000"/>
              </a:lnSpc>
              <a:spcBef>
                <a:spcPct val="15000"/>
              </a:spcBef>
              <a:buClr>
                <a:schemeClr val="folHlink"/>
              </a:buClr>
              <a:buSzPct val="80000"/>
              <a:buFont typeface="Wingdings" pitchFamily="2" charset="2"/>
              <a:buChar char="ü"/>
            </a:pPr>
            <a:r>
              <a:rPr lang="zh-CN" altLang="en-US" sz="2400" dirty="0">
                <a:solidFill>
                  <a:srgbClr val="003366"/>
                </a:solidFill>
                <a:latin typeface="+mn-ea"/>
              </a:rPr>
              <a:t>行业的某个部分高速度增长</a:t>
            </a:r>
          </a:p>
          <a:p>
            <a:pPr marL="342900" indent="-342900">
              <a:lnSpc>
                <a:spcPct val="85000"/>
              </a:lnSpc>
              <a:spcBef>
                <a:spcPct val="15000"/>
              </a:spcBef>
              <a:buClr>
                <a:schemeClr val="folHlink"/>
              </a:buClr>
              <a:buSzPct val="80000"/>
              <a:buFont typeface="Wingdings" pitchFamily="2" charset="2"/>
              <a:buChar char="ü"/>
            </a:pPr>
            <a:r>
              <a:rPr lang="zh-CN" altLang="en-US" sz="2400" dirty="0">
                <a:solidFill>
                  <a:srgbClr val="003366"/>
                </a:solidFill>
                <a:latin typeface="+mn-ea"/>
              </a:rPr>
              <a:t>公司具有足够的资本和人力资源来管理新的企业</a:t>
            </a:r>
          </a:p>
          <a:p>
            <a:pPr marL="342900" indent="-342900">
              <a:lnSpc>
                <a:spcPct val="85000"/>
              </a:lnSpc>
              <a:spcBef>
                <a:spcPct val="15000"/>
              </a:spcBef>
              <a:buClr>
                <a:schemeClr val="folHlink"/>
              </a:buClr>
              <a:buSzPct val="80000"/>
              <a:buFont typeface="Wingdings" pitchFamily="2" charset="2"/>
              <a:buChar char="ü"/>
            </a:pPr>
            <a:r>
              <a:rPr lang="zh-CN" altLang="en-US" sz="2400" dirty="0">
                <a:solidFill>
                  <a:srgbClr val="003366"/>
                </a:solidFill>
                <a:latin typeface="+mn-ea"/>
              </a:rPr>
              <a:t>现有供应商具有很高的边际收益</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33570"/>
                                        </p:tgtEl>
                                        <p:attrNameLst>
                                          <p:attrName>style.visibility</p:attrName>
                                        </p:attrNameLst>
                                      </p:cBhvr>
                                      <p:to>
                                        <p:strVal val="visible"/>
                                      </p:to>
                                    </p:set>
                                    <p:anim calcmode="lin" valueType="num">
                                      <p:cBhvr additive="base">
                                        <p:cTn id="7" dur="500" fill="hold"/>
                                        <p:tgtEl>
                                          <p:spTgt spid="1133570"/>
                                        </p:tgtEl>
                                        <p:attrNameLst>
                                          <p:attrName>ppt_x</p:attrName>
                                        </p:attrNameLst>
                                      </p:cBhvr>
                                      <p:tavLst>
                                        <p:tav tm="0">
                                          <p:val>
                                            <p:strVal val="0-#ppt_w/2"/>
                                          </p:val>
                                        </p:tav>
                                        <p:tav tm="100000">
                                          <p:val>
                                            <p:strVal val="#ppt_x"/>
                                          </p:val>
                                        </p:tav>
                                      </p:tavLst>
                                    </p:anim>
                                    <p:anim calcmode="lin" valueType="num">
                                      <p:cBhvr additive="base">
                                        <p:cTn id="8" dur="500" fill="hold"/>
                                        <p:tgtEl>
                                          <p:spTgt spid="11335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133573"/>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133571"/>
                                        </p:tgtEl>
                                        <p:attrNameLst>
                                          <p:attrName>style.visibility</p:attrName>
                                        </p:attrNameLst>
                                      </p:cBhvr>
                                      <p:to>
                                        <p:strVal val="visible"/>
                                      </p:to>
                                    </p:set>
                                    <p:anim calcmode="lin" valueType="num">
                                      <p:cBhvr additive="base">
                                        <p:cTn id="16" dur="500" fill="hold"/>
                                        <p:tgtEl>
                                          <p:spTgt spid="1133571"/>
                                        </p:tgtEl>
                                        <p:attrNameLst>
                                          <p:attrName>ppt_x</p:attrName>
                                        </p:attrNameLst>
                                      </p:cBhvr>
                                      <p:tavLst>
                                        <p:tav tm="0">
                                          <p:val>
                                            <p:strVal val="0-#ppt_w/2"/>
                                          </p:val>
                                        </p:tav>
                                        <p:tav tm="100000">
                                          <p:val>
                                            <p:strVal val="#ppt_x"/>
                                          </p:val>
                                        </p:tav>
                                      </p:tavLst>
                                    </p:anim>
                                    <p:anim calcmode="lin" valueType="num">
                                      <p:cBhvr additive="base">
                                        <p:cTn id="17" dur="500" fill="hold"/>
                                        <p:tgtEl>
                                          <p:spTgt spid="1133571"/>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133574"/>
                                        </p:tgtEl>
                                        <p:attrNameLst>
                                          <p:attrName>style.visibility</p:attrName>
                                        </p:attrNameLst>
                                      </p:cBhvr>
                                      <p:to>
                                        <p:strVal val="visible"/>
                                      </p:to>
                                    </p:set>
                                    <p:anim calcmode="lin" valueType="num">
                                      <p:cBhvr additive="base">
                                        <p:cTn id="22" dur="500" fill="hold"/>
                                        <p:tgtEl>
                                          <p:spTgt spid="1133574"/>
                                        </p:tgtEl>
                                        <p:attrNameLst>
                                          <p:attrName>ppt_x</p:attrName>
                                        </p:attrNameLst>
                                      </p:cBhvr>
                                      <p:tavLst>
                                        <p:tav tm="0">
                                          <p:val>
                                            <p:strVal val="0-#ppt_w/2"/>
                                          </p:val>
                                        </p:tav>
                                        <p:tav tm="100000">
                                          <p:val>
                                            <p:strVal val="#ppt_x"/>
                                          </p:val>
                                        </p:tav>
                                      </p:tavLst>
                                    </p:anim>
                                    <p:anim calcmode="lin" valueType="num">
                                      <p:cBhvr additive="base">
                                        <p:cTn id="23" dur="500" fill="hold"/>
                                        <p:tgtEl>
                                          <p:spTgt spid="11335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3570" grpId="0" animBg="1" autoUpdateAnimBg="0"/>
      <p:bldP spid="1133571" grpId="0" animBg="1" autoUpdateAnimBg="0"/>
      <p:bldP spid="1133573" grpId="0" animBg="1"/>
      <p:bldP spid="1133574" grpId="0" animBg="1" autoUpdateAnimBg="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618" name="Rectangle 2"/>
          <p:cNvSpPr>
            <a:spLocks noChangeArrowheads="1"/>
          </p:cNvSpPr>
          <p:nvPr/>
        </p:nvSpPr>
        <p:spPr bwMode="auto">
          <a:xfrm>
            <a:off x="1524001" y="1441450"/>
            <a:ext cx="3794125" cy="1676400"/>
          </a:xfrm>
          <a:prstGeom prst="rect">
            <a:avLst/>
          </a:prstGeom>
          <a:gradFill rotWithShape="0">
            <a:gsLst>
              <a:gs pos="0">
                <a:srgbClr val="FFCC99"/>
              </a:gs>
              <a:gs pos="100000">
                <a:srgbClr val="FFCC99">
                  <a:gamma/>
                  <a:tint val="63529"/>
                  <a:invGamma/>
                </a:srgbClr>
              </a:gs>
            </a:gsLst>
            <a:path path="shape">
              <a:fillToRect l="50000" t="50000" r="50000" b="50000"/>
            </a:path>
          </a:gradFill>
          <a:ln w="9525">
            <a:solidFill>
              <a:srgbClr val="800000"/>
            </a:solidFill>
            <a:miter lim="800000"/>
            <a:headEnd/>
            <a:tailEnd/>
          </a:ln>
          <a:effectLst/>
        </p:spPr>
        <p:txBody>
          <a:bodyPr lIns="92075" tIns="46038" rIns="92075" bIns="46038" anchor="ctr"/>
          <a:lstStyle/>
          <a:p>
            <a:pPr algn="l">
              <a:lnSpc>
                <a:spcPct val="85000"/>
              </a:lnSpc>
              <a:spcAft>
                <a:spcPct val="15000"/>
              </a:spcAft>
              <a:defRPr/>
            </a:pPr>
            <a:r>
              <a:rPr lang="zh-CN" altLang="en-US" sz="2800" u="sng">
                <a:solidFill>
                  <a:srgbClr val="003366"/>
                </a:solidFill>
                <a:latin typeface="+mn-ea"/>
              </a:rPr>
              <a:t>定义</a:t>
            </a:r>
          </a:p>
          <a:p>
            <a:pPr algn="l">
              <a:lnSpc>
                <a:spcPct val="85000"/>
              </a:lnSpc>
              <a:spcAft>
                <a:spcPct val="15000"/>
              </a:spcAft>
              <a:defRPr/>
            </a:pPr>
            <a:endParaRPr lang="zh-CN" altLang="en-US" sz="2800" b="1" u="sng">
              <a:solidFill>
                <a:srgbClr val="003366"/>
              </a:solidFill>
              <a:effectLst>
                <a:outerShdw blurRad="38100" dist="38100" dir="2700000" algn="tl">
                  <a:srgbClr val="000000"/>
                </a:outerShdw>
              </a:effectLst>
              <a:latin typeface="+mn-ea"/>
            </a:endParaRPr>
          </a:p>
          <a:p>
            <a:pPr algn="l">
              <a:lnSpc>
                <a:spcPct val="85000"/>
              </a:lnSpc>
              <a:buSzPct val="80000"/>
              <a:defRPr/>
            </a:pPr>
            <a:r>
              <a:rPr lang="zh-CN" altLang="en-US" sz="2400">
                <a:solidFill>
                  <a:srgbClr val="003366"/>
                </a:solidFill>
                <a:latin typeface="+mn-ea"/>
              </a:rPr>
              <a:t>拥有竞争者的所有权或增加对其的控制</a:t>
            </a:r>
          </a:p>
        </p:txBody>
      </p:sp>
      <p:sp>
        <p:nvSpPr>
          <p:cNvPr id="1135619" name="Rectangle 3"/>
          <p:cNvSpPr>
            <a:spLocks noChangeArrowheads="1"/>
          </p:cNvSpPr>
          <p:nvPr/>
        </p:nvSpPr>
        <p:spPr bwMode="auto">
          <a:xfrm>
            <a:off x="6600826" y="1441450"/>
            <a:ext cx="4067175" cy="1657350"/>
          </a:xfrm>
          <a:prstGeom prst="rect">
            <a:avLst/>
          </a:prstGeom>
          <a:gradFill rotWithShape="0">
            <a:gsLst>
              <a:gs pos="0">
                <a:srgbClr val="FFCC99"/>
              </a:gs>
              <a:gs pos="100000">
                <a:srgbClr val="FFE9D4"/>
              </a:gs>
            </a:gsLst>
            <a:path path="shape">
              <a:fillToRect l="50000" t="50000" r="50000" b="50000"/>
            </a:path>
          </a:gradFill>
          <a:ln w="9525">
            <a:solidFill>
              <a:srgbClr val="800000"/>
            </a:solidFill>
            <a:miter lim="800000"/>
            <a:headEnd/>
            <a:tailEnd/>
          </a:ln>
        </p:spPr>
        <p:txBody>
          <a:bodyPr lIns="92075" tIns="46038" rIns="92075" bIns="46038" anchor="ctr" anchorCtr="1"/>
          <a:lstStyle/>
          <a:p>
            <a:pPr algn="l">
              <a:lnSpc>
                <a:spcPct val="85000"/>
              </a:lnSpc>
              <a:spcAft>
                <a:spcPct val="15000"/>
              </a:spcAft>
            </a:pPr>
            <a:r>
              <a:rPr lang="zh-CN" altLang="en-US" sz="2800" u="sng">
                <a:solidFill>
                  <a:srgbClr val="003366"/>
                </a:solidFill>
                <a:latin typeface="+mn-ea"/>
              </a:rPr>
              <a:t>例子</a:t>
            </a:r>
          </a:p>
          <a:p>
            <a:pPr algn="l">
              <a:lnSpc>
                <a:spcPct val="85000"/>
              </a:lnSpc>
              <a:buSzPct val="80000"/>
            </a:pPr>
            <a:r>
              <a:rPr lang="zh-CN" altLang="en-US" sz="2400">
                <a:solidFill>
                  <a:srgbClr val="003366"/>
                </a:solidFill>
                <a:latin typeface="+mn-ea"/>
              </a:rPr>
              <a:t>海尔集团收购合肥黄山电子集团，为了扩大彩电的生产规模</a:t>
            </a:r>
          </a:p>
        </p:txBody>
      </p:sp>
      <p:sp>
        <p:nvSpPr>
          <p:cNvPr id="26628" name="Rectangle 4"/>
          <p:cNvSpPr>
            <a:spLocks noGrp="1" noChangeArrowheads="1"/>
          </p:cNvSpPr>
          <p:nvPr>
            <p:ph type="title"/>
          </p:nvPr>
        </p:nvSpPr>
        <p:spPr>
          <a:xfrm>
            <a:off x="1250951" y="495300"/>
            <a:ext cx="5349875" cy="838200"/>
          </a:xfrm>
          <a:noFill/>
        </p:spPr>
        <p:txBody>
          <a:bodyPr/>
          <a:lstStyle/>
          <a:p>
            <a:pPr algn="l" eaLnBrk="1" hangingPunct="1"/>
            <a:r>
              <a:rPr lang="zh-CN" altLang="en-US" dirty="0">
                <a:solidFill>
                  <a:srgbClr val="FFFF66"/>
                </a:solidFill>
              </a:rPr>
              <a:t>横向</a:t>
            </a:r>
            <a:r>
              <a:rPr lang="zh-CN" altLang="en-AU" dirty="0">
                <a:solidFill>
                  <a:srgbClr val="FFFF66"/>
                </a:solidFill>
              </a:rPr>
              <a:t>一体化</a:t>
            </a:r>
          </a:p>
        </p:txBody>
      </p:sp>
      <p:sp>
        <p:nvSpPr>
          <p:cNvPr id="1135621" name="Line 5"/>
          <p:cNvSpPr>
            <a:spLocks noChangeShapeType="1"/>
          </p:cNvSpPr>
          <p:nvPr/>
        </p:nvSpPr>
        <p:spPr bwMode="auto">
          <a:xfrm>
            <a:off x="5303839" y="2349500"/>
            <a:ext cx="1133475" cy="0"/>
          </a:xfrm>
          <a:prstGeom prst="line">
            <a:avLst/>
          </a:prstGeom>
          <a:noFill/>
          <a:ln w="76200">
            <a:solidFill>
              <a:srgbClr val="993300"/>
            </a:solidFill>
            <a:round/>
            <a:headEnd type="none" w="sm" len="sm"/>
            <a:tailEnd type="stealth" w="med" len="med"/>
          </a:ln>
        </p:spPr>
        <p:txBody>
          <a:bodyPr/>
          <a:lstStyle/>
          <a:p>
            <a:endParaRPr lang="zh-CN" altLang="en-US">
              <a:latin typeface="+mn-ea"/>
            </a:endParaRPr>
          </a:p>
        </p:txBody>
      </p:sp>
      <p:sp>
        <p:nvSpPr>
          <p:cNvPr id="1135622" name="Rectangle 6"/>
          <p:cNvSpPr>
            <a:spLocks noChangeArrowheads="1"/>
          </p:cNvSpPr>
          <p:nvPr/>
        </p:nvSpPr>
        <p:spPr bwMode="auto">
          <a:xfrm>
            <a:off x="1992313" y="3644900"/>
            <a:ext cx="6864350" cy="2160588"/>
          </a:xfrm>
          <a:prstGeom prst="rect">
            <a:avLst/>
          </a:prstGeom>
          <a:solidFill>
            <a:srgbClr val="DBCBC7"/>
          </a:solidFill>
          <a:ln w="12700">
            <a:solidFill>
              <a:srgbClr val="800000"/>
            </a:solidFill>
            <a:miter lim="800000"/>
            <a:headEnd/>
            <a:tailEnd/>
          </a:ln>
        </p:spPr>
        <p:txBody>
          <a:bodyPr lIns="92075" tIns="46038" rIns="92075" bIns="46038"/>
          <a:lstStyle/>
          <a:p>
            <a:pPr marL="342900" indent="-342900">
              <a:lnSpc>
                <a:spcPct val="85000"/>
              </a:lnSpc>
              <a:spcBef>
                <a:spcPct val="60000"/>
              </a:spcBef>
              <a:buClr>
                <a:schemeClr val="folHlink"/>
              </a:buClr>
              <a:buSzPct val="80000"/>
              <a:buFont typeface="Wingdings" pitchFamily="2" charset="2"/>
              <a:buChar char="ü"/>
            </a:pPr>
            <a:r>
              <a:rPr lang="zh-CN" altLang="en-US" sz="2400">
                <a:solidFill>
                  <a:srgbClr val="003366"/>
                </a:solidFill>
                <a:latin typeface="+mn-ea"/>
              </a:rPr>
              <a:t>在法律框架下，可以赢得行业的垄断</a:t>
            </a:r>
          </a:p>
          <a:p>
            <a:pPr marL="342900" indent="-342900">
              <a:lnSpc>
                <a:spcPct val="85000"/>
              </a:lnSpc>
              <a:spcBef>
                <a:spcPct val="60000"/>
              </a:spcBef>
              <a:buClr>
                <a:schemeClr val="folHlink"/>
              </a:buClr>
              <a:buSzPct val="80000"/>
              <a:buFont typeface="Wingdings" pitchFamily="2" charset="2"/>
              <a:buChar char="ü"/>
            </a:pPr>
            <a:r>
              <a:rPr lang="zh-CN" altLang="en-US" sz="2400">
                <a:solidFill>
                  <a:srgbClr val="003366"/>
                </a:solidFill>
                <a:latin typeface="+mn-ea"/>
              </a:rPr>
              <a:t>在高速增长行业中竞争</a:t>
            </a:r>
          </a:p>
          <a:p>
            <a:pPr marL="342900" indent="-342900">
              <a:lnSpc>
                <a:spcPct val="85000"/>
              </a:lnSpc>
              <a:spcBef>
                <a:spcPct val="60000"/>
              </a:spcBef>
              <a:buClr>
                <a:schemeClr val="folHlink"/>
              </a:buClr>
              <a:buSzPct val="80000"/>
              <a:buFont typeface="Wingdings" pitchFamily="2" charset="2"/>
              <a:buChar char="ü"/>
            </a:pPr>
            <a:r>
              <a:rPr lang="zh-CN" altLang="en-US" sz="2400">
                <a:solidFill>
                  <a:srgbClr val="003366"/>
                </a:solidFill>
                <a:latin typeface="+mn-ea"/>
              </a:rPr>
              <a:t>增加经济规模可以提供主要的竞争优势</a:t>
            </a:r>
          </a:p>
          <a:p>
            <a:pPr marL="342900" indent="-342900">
              <a:lnSpc>
                <a:spcPct val="85000"/>
              </a:lnSpc>
              <a:spcBef>
                <a:spcPct val="60000"/>
              </a:spcBef>
              <a:buClr>
                <a:schemeClr val="folHlink"/>
              </a:buClr>
              <a:buSzPct val="80000"/>
              <a:buFont typeface="Wingdings" pitchFamily="2" charset="2"/>
              <a:buChar char="ü"/>
            </a:pPr>
            <a:r>
              <a:rPr lang="zh-CN" altLang="en-US" sz="2400">
                <a:solidFill>
                  <a:srgbClr val="003366"/>
                </a:solidFill>
                <a:latin typeface="+mn-ea"/>
              </a:rPr>
              <a:t>本企业缺少管理专家或特殊的资源</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35618"/>
                                        </p:tgtEl>
                                        <p:attrNameLst>
                                          <p:attrName>style.visibility</p:attrName>
                                        </p:attrNameLst>
                                      </p:cBhvr>
                                      <p:to>
                                        <p:strVal val="visible"/>
                                      </p:to>
                                    </p:set>
                                    <p:anim calcmode="lin" valueType="num">
                                      <p:cBhvr additive="base">
                                        <p:cTn id="7" dur="500" fill="hold"/>
                                        <p:tgtEl>
                                          <p:spTgt spid="1135618"/>
                                        </p:tgtEl>
                                        <p:attrNameLst>
                                          <p:attrName>ppt_x</p:attrName>
                                        </p:attrNameLst>
                                      </p:cBhvr>
                                      <p:tavLst>
                                        <p:tav tm="0">
                                          <p:val>
                                            <p:strVal val="0-#ppt_w/2"/>
                                          </p:val>
                                        </p:tav>
                                        <p:tav tm="100000">
                                          <p:val>
                                            <p:strVal val="#ppt_x"/>
                                          </p:val>
                                        </p:tav>
                                      </p:tavLst>
                                    </p:anim>
                                    <p:anim calcmode="lin" valueType="num">
                                      <p:cBhvr additive="base">
                                        <p:cTn id="8" dur="500" fill="hold"/>
                                        <p:tgtEl>
                                          <p:spTgt spid="11356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135621"/>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135619"/>
                                        </p:tgtEl>
                                        <p:attrNameLst>
                                          <p:attrName>style.visibility</p:attrName>
                                        </p:attrNameLst>
                                      </p:cBhvr>
                                      <p:to>
                                        <p:strVal val="visible"/>
                                      </p:to>
                                    </p:set>
                                    <p:anim calcmode="lin" valueType="num">
                                      <p:cBhvr additive="base">
                                        <p:cTn id="16" dur="500" fill="hold"/>
                                        <p:tgtEl>
                                          <p:spTgt spid="1135619"/>
                                        </p:tgtEl>
                                        <p:attrNameLst>
                                          <p:attrName>ppt_x</p:attrName>
                                        </p:attrNameLst>
                                      </p:cBhvr>
                                      <p:tavLst>
                                        <p:tav tm="0">
                                          <p:val>
                                            <p:strVal val="0-#ppt_w/2"/>
                                          </p:val>
                                        </p:tav>
                                        <p:tav tm="100000">
                                          <p:val>
                                            <p:strVal val="#ppt_x"/>
                                          </p:val>
                                        </p:tav>
                                      </p:tavLst>
                                    </p:anim>
                                    <p:anim calcmode="lin" valueType="num">
                                      <p:cBhvr additive="base">
                                        <p:cTn id="17" dur="500" fill="hold"/>
                                        <p:tgtEl>
                                          <p:spTgt spid="1135619"/>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135622"/>
                                        </p:tgtEl>
                                        <p:attrNameLst>
                                          <p:attrName>style.visibility</p:attrName>
                                        </p:attrNameLst>
                                      </p:cBhvr>
                                      <p:to>
                                        <p:strVal val="visible"/>
                                      </p:to>
                                    </p:set>
                                    <p:anim calcmode="lin" valueType="num">
                                      <p:cBhvr additive="base">
                                        <p:cTn id="22" dur="500" fill="hold"/>
                                        <p:tgtEl>
                                          <p:spTgt spid="1135622"/>
                                        </p:tgtEl>
                                        <p:attrNameLst>
                                          <p:attrName>ppt_x</p:attrName>
                                        </p:attrNameLst>
                                      </p:cBhvr>
                                      <p:tavLst>
                                        <p:tav tm="0">
                                          <p:val>
                                            <p:strVal val="0-#ppt_w/2"/>
                                          </p:val>
                                        </p:tav>
                                        <p:tav tm="100000">
                                          <p:val>
                                            <p:strVal val="#ppt_x"/>
                                          </p:val>
                                        </p:tav>
                                      </p:tavLst>
                                    </p:anim>
                                    <p:anim calcmode="lin" valueType="num">
                                      <p:cBhvr additive="base">
                                        <p:cTn id="23" dur="500" fill="hold"/>
                                        <p:tgtEl>
                                          <p:spTgt spid="11356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5618" grpId="0" animBg="1" autoUpdateAnimBg="0"/>
      <p:bldP spid="1135619" grpId="0" animBg="1" autoUpdateAnimBg="0"/>
      <p:bldP spid="1135621" grpId="0" animBg="1"/>
      <p:bldP spid="1135622" grpId="0" animBg="1" autoUpdateAnimBg="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专业化战略的优势和劣势</a:t>
            </a:r>
          </a:p>
        </p:txBody>
      </p:sp>
      <p:sp>
        <p:nvSpPr>
          <p:cNvPr id="3" name="内容占位符 2"/>
          <p:cNvSpPr>
            <a:spLocks noGrp="1"/>
          </p:cNvSpPr>
          <p:nvPr>
            <p:ph idx="1"/>
          </p:nvPr>
        </p:nvSpPr>
        <p:spPr>
          <a:xfrm>
            <a:off x="2773599" y="1686356"/>
            <a:ext cx="7796540" cy="3997828"/>
          </a:xfrm>
        </p:spPr>
        <p:txBody>
          <a:bodyPr/>
          <a:lstStyle/>
          <a:p>
            <a:r>
              <a:rPr lang="zh-CN" altLang="en-US" dirty="0"/>
              <a:t>优势</a:t>
            </a:r>
            <a:endParaRPr lang="en-US" altLang="zh-CN" dirty="0"/>
          </a:p>
          <a:p>
            <a:pPr lvl="1">
              <a:lnSpc>
                <a:spcPct val="100000"/>
              </a:lnSpc>
              <a:spcBef>
                <a:spcPts val="0"/>
              </a:spcBef>
              <a:spcAft>
                <a:spcPts val="0"/>
              </a:spcAft>
            </a:pPr>
            <a:r>
              <a:rPr lang="zh-CN" altLang="en-US" sz="2400" dirty="0"/>
              <a:t>专注于核心业务的发展，围绕核心业务建立核心竞争力，是企业成长的最基本战略</a:t>
            </a:r>
            <a:endParaRPr lang="en-US" altLang="zh-CN" sz="2400" dirty="0"/>
          </a:p>
          <a:p>
            <a:pPr lvl="1">
              <a:lnSpc>
                <a:spcPct val="100000"/>
              </a:lnSpc>
              <a:spcBef>
                <a:spcPts val="0"/>
              </a:spcBef>
              <a:spcAft>
                <a:spcPts val="0"/>
              </a:spcAft>
            </a:pPr>
            <a:r>
              <a:rPr lang="zh-CN" altLang="en-US" sz="2400" dirty="0"/>
              <a:t>定位清晰</a:t>
            </a:r>
            <a:endParaRPr lang="en-US" altLang="zh-CN" sz="2400" dirty="0"/>
          </a:p>
          <a:p>
            <a:pPr lvl="1">
              <a:lnSpc>
                <a:spcPct val="100000"/>
              </a:lnSpc>
              <a:spcBef>
                <a:spcPts val="0"/>
              </a:spcBef>
              <a:spcAft>
                <a:spcPts val="0"/>
              </a:spcAft>
            </a:pPr>
            <a:r>
              <a:rPr lang="zh-CN" altLang="en-US" sz="2400" dirty="0"/>
              <a:t>容易对行业技术和需求变化做出反应，更可能开发出具有竞争力的产品</a:t>
            </a:r>
            <a:endParaRPr lang="en-US" altLang="zh-CN" sz="2400" dirty="0"/>
          </a:p>
          <a:p>
            <a:pPr lvl="1">
              <a:lnSpc>
                <a:spcPct val="100000"/>
              </a:lnSpc>
              <a:spcBef>
                <a:spcPts val="0"/>
              </a:spcBef>
              <a:spcAft>
                <a:spcPts val="0"/>
              </a:spcAft>
            </a:pPr>
            <a:r>
              <a:rPr lang="zh-CN" altLang="en-US" sz="2400" dirty="0"/>
              <a:t>更可能在差异化和成本方面建立优势</a:t>
            </a:r>
            <a:endParaRPr lang="en-US" altLang="zh-CN" sz="2400" dirty="0"/>
          </a:p>
          <a:p>
            <a:pPr lvl="1">
              <a:lnSpc>
                <a:spcPct val="100000"/>
              </a:lnSpc>
              <a:spcBef>
                <a:spcPts val="0"/>
              </a:spcBef>
              <a:spcAft>
                <a:spcPts val="0"/>
              </a:spcAft>
            </a:pPr>
            <a:r>
              <a:rPr lang="zh-CN" altLang="en-US" sz="2400" dirty="0"/>
              <a:t>方便高层对核心业务直接管理</a:t>
            </a:r>
            <a:endParaRPr lang="en-US" altLang="zh-CN" sz="2400" dirty="0"/>
          </a:p>
          <a:p>
            <a:pPr lvl="1">
              <a:lnSpc>
                <a:spcPct val="100000"/>
              </a:lnSpc>
              <a:spcBef>
                <a:spcPts val="0"/>
              </a:spcBef>
              <a:spcAft>
                <a:spcPts val="0"/>
              </a:spcAft>
            </a:pPr>
            <a:r>
              <a:rPr lang="zh-CN" altLang="en-US" sz="2400" dirty="0"/>
              <a:t>易提升企业的品牌形象</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2692703" y="1430086"/>
            <a:ext cx="7796540" cy="3997828"/>
          </a:xfrm>
        </p:spPr>
        <p:txBody>
          <a:bodyPr/>
          <a:lstStyle/>
          <a:p>
            <a:r>
              <a:rPr lang="zh-CN" altLang="en-US" dirty="0"/>
              <a:t>劣势</a:t>
            </a:r>
            <a:endParaRPr lang="en-US" altLang="zh-CN" dirty="0"/>
          </a:p>
          <a:p>
            <a:pPr lvl="1">
              <a:lnSpc>
                <a:spcPct val="100000"/>
              </a:lnSpc>
              <a:spcBef>
                <a:spcPts val="0"/>
              </a:spcBef>
              <a:spcAft>
                <a:spcPts val="0"/>
              </a:spcAft>
            </a:pPr>
            <a:r>
              <a:rPr lang="zh-CN" altLang="en-US" sz="2400" dirty="0"/>
              <a:t>不易分散行业风险</a:t>
            </a:r>
            <a:endParaRPr lang="en-US" altLang="zh-CN" sz="2400" dirty="0"/>
          </a:p>
          <a:p>
            <a:pPr lvl="1">
              <a:lnSpc>
                <a:spcPct val="100000"/>
              </a:lnSpc>
              <a:spcBef>
                <a:spcPts val="0"/>
              </a:spcBef>
              <a:spcAft>
                <a:spcPts val="0"/>
              </a:spcAft>
            </a:pPr>
            <a:r>
              <a:rPr lang="zh-CN" altLang="en-US" sz="2400" dirty="0"/>
              <a:t>限制企业进一步发展</a:t>
            </a:r>
            <a:endParaRPr lang="en-US" altLang="zh-CN" sz="2400" dirty="0"/>
          </a:p>
          <a:p>
            <a:pPr lvl="1">
              <a:lnSpc>
                <a:spcPct val="100000"/>
              </a:lnSpc>
              <a:spcBef>
                <a:spcPts val="0"/>
              </a:spcBef>
              <a:spcAft>
                <a:spcPts val="0"/>
              </a:spcAft>
            </a:pPr>
            <a:r>
              <a:rPr lang="zh-CN" altLang="en-US" sz="2400" dirty="0"/>
              <a:t>无法预料的某些市场变化导致产品竞争力下降</a:t>
            </a:r>
            <a:endParaRPr lang="en-US" altLang="zh-CN" sz="2400" dirty="0"/>
          </a:p>
          <a:p>
            <a:pPr lvl="1">
              <a:lnSpc>
                <a:spcPct val="100000"/>
              </a:lnSpc>
              <a:spcBef>
                <a:spcPts val="0"/>
              </a:spcBef>
              <a:spcAft>
                <a:spcPts val="0"/>
              </a:spcAft>
            </a:pPr>
            <a:r>
              <a:rPr lang="zh-CN" altLang="en-US" sz="2400" dirty="0"/>
              <a:t>由于行业竞争程度加剧而难以创造出核心产品</a:t>
            </a:r>
            <a:endParaRPr lang="en-US" altLang="zh-CN" sz="2400" dirty="0"/>
          </a:p>
          <a:p>
            <a:pPr lvl="1">
              <a:lnSpc>
                <a:spcPct val="100000"/>
              </a:lnSpc>
              <a:spcBef>
                <a:spcPts val="0"/>
              </a:spcBef>
              <a:spcAft>
                <a:spcPts val="0"/>
              </a:spcAft>
            </a:pPr>
            <a:r>
              <a:rPr lang="zh-CN" altLang="en-US" sz="2400" dirty="0"/>
              <a:t>难以退出</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多元化战略的定义</a:t>
            </a:r>
          </a:p>
        </p:txBody>
      </p:sp>
      <p:sp>
        <p:nvSpPr>
          <p:cNvPr id="3" name="内容占位符 2"/>
          <p:cNvSpPr>
            <a:spLocks noGrp="1"/>
          </p:cNvSpPr>
          <p:nvPr>
            <p:ph idx="1"/>
          </p:nvPr>
        </p:nvSpPr>
        <p:spPr>
          <a:xfrm>
            <a:off x="2773599" y="1220275"/>
            <a:ext cx="7796540" cy="3997828"/>
          </a:xfrm>
        </p:spPr>
        <p:txBody>
          <a:bodyPr/>
          <a:lstStyle/>
          <a:p>
            <a:r>
              <a:rPr lang="zh-CN" altLang="en-US" dirty="0"/>
              <a:t>企业同时在两个以上的行业从事生产经营活动，并向市场提供多种经济用途不同的产品或服务的企业发展战略。</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波士顿矩阵</a:t>
            </a:r>
          </a:p>
        </p:txBody>
      </p:sp>
      <p:sp>
        <p:nvSpPr>
          <p:cNvPr id="3" name="内容占位符 2"/>
          <p:cNvSpPr>
            <a:spLocks noGrp="1"/>
          </p:cNvSpPr>
          <p:nvPr>
            <p:ph idx="1"/>
          </p:nvPr>
        </p:nvSpPr>
        <p:spPr>
          <a:xfrm>
            <a:off x="2692703" y="1430086"/>
            <a:ext cx="7796540" cy="3997828"/>
          </a:xfrm>
        </p:spPr>
        <p:txBody>
          <a:bodyPr/>
          <a:lstStyle/>
          <a:p>
            <a:r>
              <a:rPr lang="zh-CN" altLang="en-US" dirty="0"/>
              <a:t>波士顿矩阵简介</a:t>
            </a:r>
            <a:endParaRPr lang="en-US" altLang="zh-CN" dirty="0"/>
          </a:p>
          <a:p>
            <a:r>
              <a:rPr lang="zh-CN" altLang="en-US" dirty="0"/>
              <a:t>波士顿矩阵的前提</a:t>
            </a:r>
            <a:endParaRPr lang="en-US" altLang="zh-CN" dirty="0"/>
          </a:p>
          <a:p>
            <a:r>
              <a:rPr lang="zh-CN" altLang="en-US" dirty="0"/>
              <a:t>矩阵构图</a:t>
            </a:r>
            <a:endParaRPr lang="en-US" altLang="zh-CN" dirty="0"/>
          </a:p>
          <a:p>
            <a:pPr lvl="1">
              <a:lnSpc>
                <a:spcPct val="100000"/>
              </a:lnSpc>
              <a:spcBef>
                <a:spcPts val="0"/>
              </a:spcBef>
              <a:spcAft>
                <a:spcPts val="0"/>
              </a:spcAft>
            </a:pPr>
            <a:r>
              <a:rPr lang="zh-CN" altLang="en-US" sz="2400" dirty="0"/>
              <a:t>相对市场占有率</a:t>
            </a:r>
            <a:r>
              <a:rPr lang="en-US" altLang="zh-CN" sz="2400" dirty="0"/>
              <a:t>=</a:t>
            </a:r>
            <a:r>
              <a:rPr lang="zh-CN" altLang="en-US" sz="2400" dirty="0"/>
              <a:t>经营单位的年销售量</a:t>
            </a:r>
            <a:r>
              <a:rPr lang="en-US" altLang="zh-CN" sz="2400" dirty="0"/>
              <a:t>/</a:t>
            </a:r>
            <a:r>
              <a:rPr lang="zh-CN" altLang="en-US" sz="2400" dirty="0"/>
              <a:t>产业内最大竞争公司的销售量</a:t>
            </a:r>
            <a:r>
              <a:rPr lang="en-US" altLang="zh-CN" sz="2400" dirty="0"/>
              <a:t>×100%</a:t>
            </a:r>
          </a:p>
          <a:p>
            <a:pPr lvl="1">
              <a:lnSpc>
                <a:spcPct val="100000"/>
              </a:lnSpc>
              <a:spcBef>
                <a:spcPts val="0"/>
              </a:spcBef>
              <a:spcAft>
                <a:spcPts val="0"/>
              </a:spcAft>
            </a:pPr>
            <a:r>
              <a:rPr lang="zh-CN" altLang="en-US" sz="2400" dirty="0"/>
              <a:t>业务增长率</a:t>
            </a:r>
            <a:r>
              <a:rPr lang="en-US" altLang="zh-CN" sz="2400" dirty="0"/>
              <a:t>=(</a:t>
            </a:r>
            <a:r>
              <a:rPr lang="zh-CN" altLang="en-US" sz="2400" dirty="0"/>
              <a:t>当年市场需求</a:t>
            </a:r>
            <a:r>
              <a:rPr lang="en-US" altLang="zh-CN" sz="2400" dirty="0"/>
              <a:t>-</a:t>
            </a:r>
            <a:r>
              <a:rPr lang="zh-CN" altLang="en-US" sz="2400" dirty="0"/>
              <a:t>上年市场需求</a:t>
            </a:r>
            <a:r>
              <a:rPr lang="en-US" altLang="zh-CN" sz="2400" dirty="0"/>
              <a:t>)/</a:t>
            </a:r>
            <a:r>
              <a:rPr lang="zh-CN" altLang="en-US" sz="2400" dirty="0"/>
              <a:t>上年市场需求</a:t>
            </a:r>
            <a:r>
              <a:rPr lang="en-US" altLang="zh-CN" sz="2400" dirty="0"/>
              <a:t>×100%</a:t>
            </a:r>
          </a:p>
          <a:p>
            <a:pPr lvl="1">
              <a:lnSpc>
                <a:spcPct val="100000"/>
              </a:lnSpc>
              <a:spcBef>
                <a:spcPts val="0"/>
              </a:spcBef>
              <a:spcAft>
                <a:spcPts val="0"/>
              </a:spcAft>
            </a:pPr>
            <a:r>
              <a:rPr lang="zh-CN" altLang="en-US" sz="2400" dirty="0"/>
              <a:t>相对规模</a:t>
            </a:r>
            <a:r>
              <a:rPr lang="en-US" altLang="zh-CN" sz="2400" dirty="0"/>
              <a:t>=</a:t>
            </a:r>
            <a:r>
              <a:rPr lang="zh-CN" altLang="en-US" sz="2400" dirty="0"/>
              <a:t>经营单位的销售额</a:t>
            </a:r>
            <a:r>
              <a:rPr lang="en-US" altLang="zh-CN" sz="2400" dirty="0"/>
              <a:t>/</a:t>
            </a:r>
            <a:r>
              <a:rPr lang="zh-CN" altLang="en-US" sz="2400" dirty="0"/>
              <a:t>公司总销售额</a:t>
            </a:r>
            <a:r>
              <a:rPr lang="en-US" altLang="zh-CN" sz="2400" dirty="0"/>
              <a:t>×100%</a:t>
            </a:r>
            <a:endParaRPr lang="zh-CN" altLang="en-US" sz="2400" dirty="0"/>
          </a:p>
        </p:txBody>
      </p:sp>
    </p:spTree>
    <p:extLst>
      <p:ext uri="{BB962C8B-B14F-4D97-AF65-F5344CB8AC3E}">
        <p14:creationId xmlns:p14="http://schemas.microsoft.com/office/powerpoint/2010/main" val="62945040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a:grpSpLocks/>
          </p:cNvGrpSpPr>
          <p:nvPr/>
        </p:nvGrpSpPr>
        <p:grpSpPr bwMode="auto">
          <a:xfrm>
            <a:off x="2566988" y="1628775"/>
            <a:ext cx="7110412" cy="3816350"/>
            <a:chOff x="816" y="1248"/>
            <a:chExt cx="4416" cy="2160"/>
          </a:xfrm>
        </p:grpSpPr>
        <p:sp>
          <p:nvSpPr>
            <p:cNvPr id="42011" name="Rectangle 4"/>
            <p:cNvSpPr>
              <a:spLocks noChangeArrowheads="1"/>
            </p:cNvSpPr>
            <p:nvPr/>
          </p:nvSpPr>
          <p:spPr bwMode="auto">
            <a:xfrm>
              <a:off x="816" y="1248"/>
              <a:ext cx="4416" cy="2160"/>
            </a:xfrm>
            <a:prstGeom prst="rect">
              <a:avLst/>
            </a:prstGeom>
            <a:gradFill rotWithShape="1">
              <a:gsLst>
                <a:gs pos="0">
                  <a:srgbClr val="FFCC99"/>
                </a:gs>
                <a:gs pos="100000">
                  <a:srgbClr val="FFDAB5"/>
                </a:gs>
              </a:gsLst>
              <a:path path="shape">
                <a:fillToRect l="50000" t="50000" r="50000" b="50000"/>
              </a:path>
            </a:gradFill>
            <a:ln w="12700" cap="sq">
              <a:solidFill>
                <a:schemeClr val="tx1"/>
              </a:solidFill>
              <a:miter lim="800000"/>
              <a:headEnd type="none" w="sm" len="sm"/>
              <a:tailEnd type="none" w="sm" len="sm"/>
            </a:ln>
          </p:spPr>
          <p:txBody>
            <a:bodyPr wrap="none" anchor="ctr"/>
            <a:lstStyle/>
            <a:p>
              <a:endParaRPr lang="zh-CN" altLang="en-US"/>
            </a:p>
          </p:txBody>
        </p:sp>
        <p:grpSp>
          <p:nvGrpSpPr>
            <p:cNvPr id="4" name="Group 5"/>
            <p:cNvGrpSpPr>
              <a:grpSpLocks/>
            </p:cNvGrpSpPr>
            <p:nvPr/>
          </p:nvGrpSpPr>
          <p:grpSpPr bwMode="auto">
            <a:xfrm>
              <a:off x="2035" y="1947"/>
              <a:ext cx="2845" cy="1280"/>
              <a:chOff x="2035" y="1947"/>
              <a:chExt cx="2845" cy="1280"/>
            </a:xfrm>
          </p:grpSpPr>
          <p:grpSp>
            <p:nvGrpSpPr>
              <p:cNvPr id="5" name="Group 6"/>
              <p:cNvGrpSpPr>
                <a:grpSpLocks/>
              </p:cNvGrpSpPr>
              <p:nvPr/>
            </p:nvGrpSpPr>
            <p:grpSpPr bwMode="auto">
              <a:xfrm>
                <a:off x="2035" y="1947"/>
                <a:ext cx="2845" cy="1264"/>
                <a:chOff x="2035" y="1947"/>
                <a:chExt cx="2845" cy="1264"/>
              </a:xfrm>
            </p:grpSpPr>
            <p:sp>
              <p:nvSpPr>
                <p:cNvPr id="42015" name="Rectangle 7"/>
                <p:cNvSpPr>
                  <a:spLocks noChangeArrowheads="1"/>
                </p:cNvSpPr>
                <p:nvPr/>
              </p:nvSpPr>
              <p:spPr bwMode="auto">
                <a:xfrm>
                  <a:off x="2035" y="1947"/>
                  <a:ext cx="2845" cy="1264"/>
                </a:xfrm>
                <a:prstGeom prst="rect">
                  <a:avLst/>
                </a:prstGeom>
                <a:gradFill rotWithShape="1">
                  <a:gsLst>
                    <a:gs pos="0">
                      <a:srgbClr val="FFCC99"/>
                    </a:gs>
                    <a:gs pos="100000">
                      <a:srgbClr val="FFDAB5"/>
                    </a:gs>
                  </a:gsLst>
                  <a:path path="shape">
                    <a:fillToRect l="50000" t="50000" r="50000" b="50000"/>
                  </a:path>
                </a:gradFill>
                <a:ln w="9525">
                  <a:solidFill>
                    <a:schemeClr val="tx1"/>
                  </a:solidFill>
                  <a:miter lim="800000"/>
                  <a:headEnd/>
                  <a:tailEnd/>
                </a:ln>
              </p:spPr>
              <p:txBody>
                <a:bodyPr/>
                <a:lstStyle/>
                <a:p>
                  <a:endParaRPr lang="zh-CN" altLang="en-US"/>
                </a:p>
              </p:txBody>
            </p:sp>
            <p:sp>
              <p:nvSpPr>
                <p:cNvPr id="42016" name="Line 8"/>
                <p:cNvSpPr>
                  <a:spLocks noChangeShapeType="1"/>
                </p:cNvSpPr>
                <p:nvPr/>
              </p:nvSpPr>
              <p:spPr bwMode="auto">
                <a:xfrm>
                  <a:off x="2035" y="2592"/>
                  <a:ext cx="2845" cy="0"/>
                </a:xfrm>
                <a:prstGeom prst="line">
                  <a:avLst/>
                </a:prstGeom>
                <a:noFill/>
                <a:ln w="9525">
                  <a:solidFill>
                    <a:schemeClr val="tx1"/>
                  </a:solidFill>
                  <a:round/>
                  <a:headEnd/>
                  <a:tailEnd/>
                </a:ln>
              </p:spPr>
              <p:txBody>
                <a:bodyPr/>
                <a:lstStyle/>
                <a:p>
                  <a:endParaRPr lang="zh-CN" altLang="en-US"/>
                </a:p>
              </p:txBody>
            </p:sp>
          </p:grpSp>
          <p:sp>
            <p:nvSpPr>
              <p:cNvPr id="42014" name="Line 9"/>
              <p:cNvSpPr>
                <a:spLocks noChangeShapeType="1"/>
              </p:cNvSpPr>
              <p:nvPr/>
            </p:nvSpPr>
            <p:spPr bwMode="auto">
              <a:xfrm>
                <a:off x="3458" y="1947"/>
                <a:ext cx="0" cy="1280"/>
              </a:xfrm>
              <a:prstGeom prst="line">
                <a:avLst/>
              </a:prstGeom>
              <a:noFill/>
              <a:ln w="9525">
                <a:solidFill>
                  <a:schemeClr val="tx1"/>
                </a:solidFill>
                <a:round/>
                <a:headEnd/>
                <a:tailEnd/>
              </a:ln>
            </p:spPr>
            <p:txBody>
              <a:bodyPr/>
              <a:lstStyle/>
              <a:p>
                <a:endParaRPr lang="zh-CN" altLang="en-US"/>
              </a:p>
            </p:txBody>
          </p:sp>
        </p:grpSp>
      </p:grpSp>
      <p:sp>
        <p:nvSpPr>
          <p:cNvPr id="41987" name="Rectangle 15"/>
          <p:cNvSpPr>
            <a:spLocks noGrp="1" noChangeArrowheads="1"/>
          </p:cNvSpPr>
          <p:nvPr>
            <p:ph type="body" idx="1"/>
          </p:nvPr>
        </p:nvSpPr>
        <p:spPr>
          <a:xfrm>
            <a:off x="2590801" y="5486400"/>
            <a:ext cx="6983413" cy="960438"/>
          </a:xfrm>
        </p:spPr>
        <p:txBody>
          <a:bodyPr>
            <a:normAutofit fontScale="92500" lnSpcReduction="10000"/>
          </a:bodyPr>
          <a:lstStyle/>
          <a:p>
            <a:pPr algn="ctr" eaLnBrk="1" hangingPunct="1">
              <a:buFont typeface="Wingdings" pitchFamily="2" charset="2"/>
              <a:buNone/>
            </a:pPr>
            <a:r>
              <a:rPr lang="zh-CN" altLang="en-US" sz="2800">
                <a:latin typeface="隶书" pitchFamily="49" charset="-122"/>
              </a:rPr>
              <a:t>关键在于各部分业务组合的有机匹配与长短期盈利性的平衡。</a:t>
            </a:r>
            <a:r>
              <a:rPr lang="zh-CN" altLang="en-US" b="1">
                <a:ea typeface="黑体" pitchFamily="2" charset="-122"/>
              </a:rPr>
              <a:t> </a:t>
            </a:r>
          </a:p>
        </p:txBody>
      </p:sp>
      <p:sp>
        <p:nvSpPr>
          <p:cNvPr id="41988" name="Text Box 16"/>
          <p:cNvSpPr txBox="1">
            <a:spLocks noChangeArrowheads="1"/>
          </p:cNvSpPr>
          <p:nvPr/>
        </p:nvSpPr>
        <p:spPr bwMode="auto">
          <a:xfrm>
            <a:off x="4871864" y="3212976"/>
            <a:ext cx="1789112" cy="406400"/>
          </a:xfrm>
          <a:prstGeom prst="rect">
            <a:avLst/>
          </a:prstGeom>
          <a:noFill/>
          <a:ln w="6350">
            <a:noFill/>
            <a:miter lim="800000"/>
            <a:headEnd/>
            <a:tailEnd/>
          </a:ln>
        </p:spPr>
        <p:txBody>
          <a:bodyPr lIns="0" tIns="7200" rIns="0" bIns="0"/>
          <a:lstStyle/>
          <a:p>
            <a:pPr eaLnBrk="0" hangingPunct="0"/>
            <a:r>
              <a:rPr lang="zh-CN" altLang="en-US" sz="2400" dirty="0">
                <a:solidFill>
                  <a:srgbClr val="0000CC"/>
                </a:solidFill>
                <a:latin typeface="隶书" pitchFamily="49" charset="-122"/>
              </a:rPr>
              <a:t>明星</a:t>
            </a:r>
          </a:p>
        </p:txBody>
      </p:sp>
      <p:sp>
        <p:nvSpPr>
          <p:cNvPr id="41989" name="Text Box 17"/>
          <p:cNvSpPr txBox="1">
            <a:spLocks noChangeArrowheads="1"/>
          </p:cNvSpPr>
          <p:nvPr/>
        </p:nvSpPr>
        <p:spPr bwMode="auto">
          <a:xfrm>
            <a:off x="6959601" y="3213101"/>
            <a:ext cx="2081213" cy="434975"/>
          </a:xfrm>
          <a:prstGeom prst="rect">
            <a:avLst/>
          </a:prstGeom>
          <a:noFill/>
          <a:ln w="6350">
            <a:noFill/>
            <a:miter lim="800000"/>
            <a:headEnd/>
            <a:tailEnd/>
          </a:ln>
        </p:spPr>
        <p:txBody>
          <a:bodyPr lIns="0" tIns="7200" rIns="0" bIns="0"/>
          <a:lstStyle/>
          <a:p>
            <a:pPr eaLnBrk="0" hangingPunct="0"/>
            <a:r>
              <a:rPr lang="zh-CN" altLang="en-US" sz="2400">
                <a:solidFill>
                  <a:srgbClr val="0000CC"/>
                </a:solidFill>
                <a:latin typeface="隶书" pitchFamily="49" charset="-122"/>
              </a:rPr>
              <a:t>问题</a:t>
            </a:r>
          </a:p>
        </p:txBody>
      </p:sp>
      <p:sp>
        <p:nvSpPr>
          <p:cNvPr id="41990" name="Text Box 18"/>
          <p:cNvSpPr txBox="1">
            <a:spLocks noChangeArrowheads="1"/>
          </p:cNvSpPr>
          <p:nvPr/>
        </p:nvSpPr>
        <p:spPr bwMode="auto">
          <a:xfrm>
            <a:off x="6948488" y="4321176"/>
            <a:ext cx="2081212" cy="493713"/>
          </a:xfrm>
          <a:prstGeom prst="rect">
            <a:avLst/>
          </a:prstGeom>
          <a:noFill/>
          <a:ln w="6350">
            <a:noFill/>
            <a:miter lim="800000"/>
            <a:headEnd/>
            <a:tailEnd/>
          </a:ln>
        </p:spPr>
        <p:txBody>
          <a:bodyPr lIns="0" tIns="7200" rIns="0" bIns="0"/>
          <a:lstStyle/>
          <a:p>
            <a:pPr eaLnBrk="0" hangingPunct="0"/>
            <a:r>
              <a:rPr lang="zh-CN" altLang="en-US" sz="2400">
                <a:solidFill>
                  <a:srgbClr val="0000CC"/>
                </a:solidFill>
                <a:latin typeface="隶书" pitchFamily="49" charset="-122"/>
              </a:rPr>
              <a:t>瘦狗</a:t>
            </a:r>
          </a:p>
        </p:txBody>
      </p:sp>
      <p:sp>
        <p:nvSpPr>
          <p:cNvPr id="41991" name="Text Box 19"/>
          <p:cNvSpPr txBox="1">
            <a:spLocks noChangeArrowheads="1"/>
          </p:cNvSpPr>
          <p:nvPr/>
        </p:nvSpPr>
        <p:spPr bwMode="auto">
          <a:xfrm>
            <a:off x="4871865" y="4293096"/>
            <a:ext cx="1817687" cy="319088"/>
          </a:xfrm>
          <a:prstGeom prst="rect">
            <a:avLst/>
          </a:prstGeom>
          <a:noFill/>
          <a:ln w="6350">
            <a:noFill/>
            <a:miter lim="800000"/>
            <a:headEnd/>
            <a:tailEnd/>
          </a:ln>
        </p:spPr>
        <p:txBody>
          <a:bodyPr lIns="0" tIns="7200" rIns="0" bIns="0"/>
          <a:lstStyle/>
          <a:p>
            <a:pPr eaLnBrk="0" hangingPunct="0"/>
            <a:r>
              <a:rPr lang="zh-CN" altLang="en-US" sz="2400" dirty="0">
                <a:solidFill>
                  <a:srgbClr val="0000CC"/>
                </a:solidFill>
                <a:latin typeface="隶书" pitchFamily="49" charset="-122"/>
              </a:rPr>
              <a:t>金牛</a:t>
            </a:r>
          </a:p>
        </p:txBody>
      </p:sp>
      <p:grpSp>
        <p:nvGrpSpPr>
          <p:cNvPr id="6" name="Group 20"/>
          <p:cNvGrpSpPr>
            <a:grpSpLocks/>
          </p:cNvGrpSpPr>
          <p:nvPr/>
        </p:nvGrpSpPr>
        <p:grpSpPr bwMode="auto">
          <a:xfrm>
            <a:off x="3071814" y="2636838"/>
            <a:ext cx="1641475" cy="2235200"/>
            <a:chOff x="996" y="1952"/>
            <a:chExt cx="1034" cy="1408"/>
          </a:xfrm>
        </p:grpSpPr>
        <p:sp>
          <p:nvSpPr>
            <p:cNvPr id="42002" name="Text Box 21"/>
            <p:cNvSpPr txBox="1">
              <a:spLocks noChangeArrowheads="1"/>
            </p:cNvSpPr>
            <p:nvPr/>
          </p:nvSpPr>
          <p:spPr bwMode="auto">
            <a:xfrm>
              <a:off x="996" y="1952"/>
              <a:ext cx="240" cy="1371"/>
            </a:xfrm>
            <a:prstGeom prst="rect">
              <a:avLst/>
            </a:prstGeom>
            <a:noFill/>
            <a:ln w="9525">
              <a:noFill/>
              <a:miter lim="800000"/>
              <a:headEnd/>
              <a:tailEnd/>
            </a:ln>
          </p:spPr>
          <p:txBody>
            <a:bodyPr vert="eaVert" lIns="0" tIns="0" rIns="0" bIns="0"/>
            <a:lstStyle/>
            <a:p>
              <a:pPr eaLnBrk="0" hangingPunct="0"/>
              <a:r>
                <a:rPr lang="zh-CN" altLang="en-US" sz="2400">
                  <a:solidFill>
                    <a:srgbClr val="003366"/>
                  </a:solidFill>
                  <a:latin typeface="隶书" pitchFamily="49" charset="-122"/>
                </a:rPr>
                <a:t>行业销售增长率</a:t>
              </a:r>
            </a:p>
          </p:txBody>
        </p:sp>
        <p:sp>
          <p:nvSpPr>
            <p:cNvPr id="42003" name="Text Box 22"/>
            <p:cNvSpPr txBox="1">
              <a:spLocks noChangeArrowheads="1"/>
            </p:cNvSpPr>
            <p:nvPr/>
          </p:nvSpPr>
          <p:spPr bwMode="auto">
            <a:xfrm>
              <a:off x="1347" y="1970"/>
              <a:ext cx="665" cy="238"/>
            </a:xfrm>
            <a:prstGeom prst="rect">
              <a:avLst/>
            </a:prstGeom>
            <a:noFill/>
            <a:ln w="6350">
              <a:noFill/>
              <a:miter lim="800000"/>
              <a:headEnd/>
              <a:tailEnd/>
            </a:ln>
          </p:spPr>
          <p:txBody>
            <a:bodyPr lIns="0" tIns="7200" rIns="0" bIns="0"/>
            <a:lstStyle/>
            <a:p>
              <a:pPr algn="just" eaLnBrk="0" hangingPunct="0"/>
              <a:r>
                <a:rPr lang="zh-CN" altLang="en-US" sz="2400">
                  <a:solidFill>
                    <a:srgbClr val="0000CC"/>
                  </a:solidFill>
                  <a:latin typeface="隶书" pitchFamily="49" charset="-122"/>
                </a:rPr>
                <a:t>高 </a:t>
              </a:r>
              <a:r>
                <a:rPr lang="en-US" altLang="zh-CN" sz="2400">
                  <a:solidFill>
                    <a:srgbClr val="0000CC"/>
                  </a:solidFill>
                  <a:latin typeface="隶书" pitchFamily="49" charset="-122"/>
                </a:rPr>
                <a:t>+20%</a:t>
              </a:r>
            </a:p>
          </p:txBody>
        </p:sp>
        <p:sp>
          <p:nvSpPr>
            <p:cNvPr id="42004" name="Text Box 23"/>
            <p:cNvSpPr txBox="1">
              <a:spLocks noChangeArrowheads="1"/>
            </p:cNvSpPr>
            <p:nvPr/>
          </p:nvSpPr>
          <p:spPr bwMode="auto">
            <a:xfrm>
              <a:off x="1223" y="2537"/>
              <a:ext cx="807" cy="238"/>
            </a:xfrm>
            <a:prstGeom prst="rect">
              <a:avLst/>
            </a:prstGeom>
            <a:noFill/>
            <a:ln w="6350">
              <a:noFill/>
              <a:miter lim="800000"/>
              <a:headEnd/>
              <a:tailEnd/>
            </a:ln>
          </p:spPr>
          <p:txBody>
            <a:bodyPr lIns="0" tIns="7200" rIns="0" bIns="0"/>
            <a:lstStyle/>
            <a:p>
              <a:pPr algn="just" eaLnBrk="0" hangingPunct="0"/>
              <a:r>
                <a:rPr lang="zh-CN" altLang="en-US" sz="2400" dirty="0">
                  <a:solidFill>
                    <a:srgbClr val="0000CC"/>
                  </a:solidFill>
                  <a:latin typeface="隶书" pitchFamily="49" charset="-122"/>
                </a:rPr>
                <a:t>中    </a:t>
              </a:r>
            </a:p>
            <a:p>
              <a:pPr algn="just" eaLnBrk="0" hangingPunct="0"/>
              <a:r>
                <a:rPr lang="en-US" altLang="zh-CN" sz="2400" dirty="0">
                  <a:solidFill>
                    <a:srgbClr val="0000CC"/>
                  </a:solidFill>
                  <a:latin typeface="隶书" pitchFamily="49" charset="-122"/>
                </a:rPr>
                <a:t> 10%</a:t>
              </a:r>
            </a:p>
          </p:txBody>
        </p:sp>
        <p:sp>
          <p:nvSpPr>
            <p:cNvPr id="42005" name="Text Box 24"/>
            <p:cNvSpPr txBox="1">
              <a:spLocks noChangeArrowheads="1"/>
            </p:cNvSpPr>
            <p:nvPr/>
          </p:nvSpPr>
          <p:spPr bwMode="auto">
            <a:xfrm>
              <a:off x="1365" y="3122"/>
              <a:ext cx="665" cy="238"/>
            </a:xfrm>
            <a:prstGeom prst="rect">
              <a:avLst/>
            </a:prstGeom>
            <a:noFill/>
            <a:ln w="6350">
              <a:noFill/>
              <a:miter lim="800000"/>
              <a:headEnd/>
              <a:tailEnd/>
            </a:ln>
          </p:spPr>
          <p:txBody>
            <a:bodyPr lIns="0" tIns="7200" rIns="0" bIns="0"/>
            <a:lstStyle/>
            <a:p>
              <a:pPr algn="just" eaLnBrk="0" hangingPunct="0"/>
              <a:r>
                <a:rPr lang="zh-CN" altLang="en-US" sz="2400" dirty="0">
                  <a:solidFill>
                    <a:srgbClr val="0000CC"/>
                  </a:solidFill>
                  <a:latin typeface="隶书" pitchFamily="49" charset="-122"/>
                </a:rPr>
                <a:t>低 </a:t>
              </a:r>
            </a:p>
            <a:p>
              <a:pPr algn="just" eaLnBrk="0" hangingPunct="0"/>
              <a:r>
                <a:rPr lang="en-US" altLang="zh-CN" sz="2400" dirty="0">
                  <a:solidFill>
                    <a:srgbClr val="0000CC"/>
                  </a:solidFill>
                  <a:latin typeface="隶书" pitchFamily="49" charset="-122"/>
                </a:rPr>
                <a:t>0%</a:t>
              </a:r>
            </a:p>
          </p:txBody>
        </p:sp>
      </p:grpSp>
      <p:grpSp>
        <p:nvGrpSpPr>
          <p:cNvPr id="7" name="Group 25"/>
          <p:cNvGrpSpPr>
            <a:grpSpLocks/>
          </p:cNvGrpSpPr>
          <p:nvPr/>
        </p:nvGrpSpPr>
        <p:grpSpPr bwMode="auto">
          <a:xfrm>
            <a:off x="4308476" y="1938338"/>
            <a:ext cx="5102225" cy="957262"/>
            <a:chOff x="1790" y="1404"/>
            <a:chExt cx="3214" cy="603"/>
          </a:xfrm>
        </p:grpSpPr>
        <p:sp>
          <p:nvSpPr>
            <p:cNvPr id="41998" name="Text Box 26"/>
            <p:cNvSpPr txBox="1">
              <a:spLocks noChangeArrowheads="1"/>
            </p:cNvSpPr>
            <p:nvPr/>
          </p:nvSpPr>
          <p:spPr bwMode="auto">
            <a:xfrm>
              <a:off x="1790" y="1404"/>
              <a:ext cx="3214" cy="238"/>
            </a:xfrm>
            <a:prstGeom prst="rect">
              <a:avLst/>
            </a:prstGeom>
            <a:noFill/>
            <a:ln w="6350">
              <a:noFill/>
              <a:miter lim="800000"/>
              <a:headEnd/>
              <a:tailEnd/>
            </a:ln>
          </p:spPr>
          <p:txBody>
            <a:bodyPr lIns="0" tIns="7200" rIns="0" bIns="0"/>
            <a:lstStyle/>
            <a:p>
              <a:pPr eaLnBrk="0" hangingPunct="0"/>
              <a:r>
                <a:rPr lang="zh-CN" altLang="en-US" sz="2400">
                  <a:solidFill>
                    <a:srgbClr val="003366"/>
                  </a:solidFill>
                  <a:latin typeface="隶书" pitchFamily="49" charset="-122"/>
                </a:rPr>
                <a:t>在行业中相对市场份额地位</a:t>
              </a:r>
            </a:p>
          </p:txBody>
        </p:sp>
        <p:sp>
          <p:nvSpPr>
            <p:cNvPr id="41999" name="Text Box 27"/>
            <p:cNvSpPr txBox="1">
              <a:spLocks noChangeArrowheads="1"/>
            </p:cNvSpPr>
            <p:nvPr/>
          </p:nvSpPr>
          <p:spPr bwMode="auto">
            <a:xfrm>
              <a:off x="1901" y="1623"/>
              <a:ext cx="388" cy="384"/>
            </a:xfrm>
            <a:prstGeom prst="rect">
              <a:avLst/>
            </a:prstGeom>
            <a:noFill/>
            <a:ln w="6350">
              <a:noFill/>
              <a:miter lim="800000"/>
              <a:headEnd/>
              <a:tailEnd/>
            </a:ln>
          </p:spPr>
          <p:txBody>
            <a:bodyPr lIns="0" tIns="7200" rIns="0" bIns="0"/>
            <a:lstStyle/>
            <a:p>
              <a:pPr eaLnBrk="0" hangingPunct="0"/>
              <a:r>
                <a:rPr lang="zh-CN" altLang="en-US" sz="2400" dirty="0">
                  <a:solidFill>
                    <a:srgbClr val="0000CC"/>
                  </a:solidFill>
                  <a:latin typeface="隶书" pitchFamily="49" charset="-122"/>
                </a:rPr>
                <a:t>高</a:t>
              </a:r>
            </a:p>
            <a:p>
              <a:pPr eaLnBrk="0" hangingPunct="0"/>
              <a:r>
                <a:rPr lang="en-US" altLang="zh-CN" sz="2400" dirty="0">
                  <a:solidFill>
                    <a:srgbClr val="0000CC"/>
                  </a:solidFill>
                  <a:latin typeface="隶书" pitchFamily="49" charset="-122"/>
                </a:rPr>
                <a:t>2</a:t>
              </a:r>
            </a:p>
          </p:txBody>
        </p:sp>
        <p:sp>
          <p:nvSpPr>
            <p:cNvPr id="42000" name="Text Box 28"/>
            <p:cNvSpPr txBox="1">
              <a:spLocks noChangeArrowheads="1"/>
            </p:cNvSpPr>
            <p:nvPr/>
          </p:nvSpPr>
          <p:spPr bwMode="auto">
            <a:xfrm>
              <a:off x="3213" y="1623"/>
              <a:ext cx="387" cy="384"/>
            </a:xfrm>
            <a:prstGeom prst="rect">
              <a:avLst/>
            </a:prstGeom>
            <a:noFill/>
            <a:ln w="6350">
              <a:noFill/>
              <a:miter lim="800000"/>
              <a:headEnd/>
              <a:tailEnd/>
            </a:ln>
          </p:spPr>
          <p:txBody>
            <a:bodyPr lIns="0" tIns="7200" rIns="0" bIns="0"/>
            <a:lstStyle/>
            <a:p>
              <a:pPr eaLnBrk="0" hangingPunct="0"/>
              <a:r>
                <a:rPr lang="zh-CN" altLang="en-US" sz="2400" dirty="0">
                  <a:solidFill>
                    <a:srgbClr val="0000CC"/>
                  </a:solidFill>
                  <a:latin typeface="隶书" pitchFamily="49" charset="-122"/>
                </a:rPr>
                <a:t>中</a:t>
              </a:r>
            </a:p>
            <a:p>
              <a:pPr eaLnBrk="0" hangingPunct="0"/>
              <a:r>
                <a:rPr lang="en-US" altLang="zh-CN" sz="2400" dirty="0">
                  <a:solidFill>
                    <a:srgbClr val="0000CC"/>
                  </a:solidFill>
                  <a:latin typeface="隶书" pitchFamily="49" charset="-122"/>
                </a:rPr>
                <a:t>1.0</a:t>
              </a:r>
            </a:p>
          </p:txBody>
        </p:sp>
        <p:sp>
          <p:nvSpPr>
            <p:cNvPr id="42001" name="Text Box 29"/>
            <p:cNvSpPr txBox="1">
              <a:spLocks noChangeArrowheads="1"/>
            </p:cNvSpPr>
            <p:nvPr/>
          </p:nvSpPr>
          <p:spPr bwMode="auto">
            <a:xfrm>
              <a:off x="4487" y="1623"/>
              <a:ext cx="388" cy="384"/>
            </a:xfrm>
            <a:prstGeom prst="rect">
              <a:avLst/>
            </a:prstGeom>
            <a:noFill/>
            <a:ln w="6350">
              <a:noFill/>
              <a:miter lim="800000"/>
              <a:headEnd/>
              <a:tailEnd/>
            </a:ln>
          </p:spPr>
          <p:txBody>
            <a:bodyPr lIns="0" tIns="7200" rIns="0" bIns="0"/>
            <a:lstStyle/>
            <a:p>
              <a:pPr eaLnBrk="0" hangingPunct="0"/>
              <a:r>
                <a:rPr lang="zh-CN" altLang="en-US" sz="2400" dirty="0">
                  <a:solidFill>
                    <a:srgbClr val="0000CC"/>
                  </a:solidFill>
                  <a:latin typeface="隶书" pitchFamily="49" charset="-122"/>
                </a:rPr>
                <a:t>低</a:t>
              </a:r>
            </a:p>
            <a:p>
              <a:pPr eaLnBrk="0" hangingPunct="0"/>
              <a:r>
                <a:rPr lang="en-US" altLang="zh-CN" sz="2400" dirty="0">
                  <a:solidFill>
                    <a:srgbClr val="0000CC"/>
                  </a:solidFill>
                  <a:latin typeface="隶书" pitchFamily="49" charset="-122"/>
                </a:rPr>
                <a:t>0</a:t>
              </a:r>
            </a:p>
          </p:txBody>
        </p:sp>
      </p:grpSp>
      <p:sp>
        <p:nvSpPr>
          <p:cNvPr id="41994" name="Line 30"/>
          <p:cNvSpPr>
            <a:spLocks noChangeShapeType="1"/>
          </p:cNvSpPr>
          <p:nvPr/>
        </p:nvSpPr>
        <p:spPr bwMode="auto">
          <a:xfrm flipH="1">
            <a:off x="6086475" y="3505200"/>
            <a:ext cx="1219200" cy="0"/>
          </a:xfrm>
          <a:prstGeom prst="line">
            <a:avLst/>
          </a:prstGeom>
          <a:noFill/>
          <a:ln w="25400" cap="sq">
            <a:solidFill>
              <a:schemeClr val="tx1"/>
            </a:solidFill>
            <a:round/>
            <a:headEnd type="none" w="sm" len="sm"/>
            <a:tailEnd type="triangle" w="sm" len="sm"/>
          </a:ln>
        </p:spPr>
        <p:txBody>
          <a:bodyPr/>
          <a:lstStyle/>
          <a:p>
            <a:endParaRPr lang="zh-CN" altLang="en-US"/>
          </a:p>
        </p:txBody>
      </p:sp>
      <p:sp>
        <p:nvSpPr>
          <p:cNvPr id="41995" name="Line 31"/>
          <p:cNvSpPr>
            <a:spLocks noChangeShapeType="1"/>
          </p:cNvSpPr>
          <p:nvPr/>
        </p:nvSpPr>
        <p:spPr bwMode="auto">
          <a:xfrm>
            <a:off x="5629275" y="3735388"/>
            <a:ext cx="0" cy="608012"/>
          </a:xfrm>
          <a:prstGeom prst="line">
            <a:avLst/>
          </a:prstGeom>
          <a:noFill/>
          <a:ln w="25400" cap="sq">
            <a:solidFill>
              <a:schemeClr val="tx1"/>
            </a:solidFill>
            <a:round/>
            <a:headEnd type="none" w="sm" len="sm"/>
            <a:tailEnd type="triangle" w="sm" len="sm"/>
          </a:ln>
        </p:spPr>
        <p:txBody>
          <a:bodyPr/>
          <a:lstStyle/>
          <a:p>
            <a:endParaRPr lang="zh-CN" altLang="en-US"/>
          </a:p>
        </p:txBody>
      </p:sp>
      <p:sp>
        <p:nvSpPr>
          <p:cNvPr id="41996" name="Line 32"/>
          <p:cNvSpPr>
            <a:spLocks noChangeShapeType="1"/>
          </p:cNvSpPr>
          <p:nvPr/>
        </p:nvSpPr>
        <p:spPr bwMode="auto">
          <a:xfrm flipV="1">
            <a:off x="6086475" y="3733800"/>
            <a:ext cx="1371600" cy="685800"/>
          </a:xfrm>
          <a:prstGeom prst="line">
            <a:avLst/>
          </a:prstGeom>
          <a:noFill/>
          <a:ln w="25400" cap="sq">
            <a:solidFill>
              <a:schemeClr val="tx1"/>
            </a:solidFill>
            <a:round/>
            <a:headEnd type="none" w="sm" len="sm"/>
            <a:tailEnd type="triangle" w="sm" len="sm"/>
          </a:ln>
        </p:spPr>
        <p:txBody>
          <a:bodyPr/>
          <a:lstStyle/>
          <a:p>
            <a:endParaRPr lang="zh-CN" altLang="en-US"/>
          </a:p>
        </p:txBody>
      </p:sp>
      <p:sp>
        <p:nvSpPr>
          <p:cNvPr id="41997" name="Rectangle 33"/>
          <p:cNvSpPr>
            <a:spLocks noChangeArrowheads="1"/>
          </p:cNvSpPr>
          <p:nvPr/>
        </p:nvSpPr>
        <p:spPr bwMode="auto">
          <a:xfrm>
            <a:off x="2566989" y="188913"/>
            <a:ext cx="7058025" cy="838200"/>
          </a:xfrm>
          <a:prstGeom prst="rect">
            <a:avLst/>
          </a:prstGeom>
          <a:noFill/>
          <a:ln w="9525">
            <a:noFill/>
            <a:miter lim="800000"/>
            <a:headEnd/>
            <a:tailEnd/>
          </a:ln>
        </p:spPr>
        <p:txBody>
          <a:bodyPr anchor="ctr"/>
          <a:lstStyle/>
          <a:p>
            <a:r>
              <a:rPr lang="zh-CN" altLang="en-US" sz="3200">
                <a:solidFill>
                  <a:srgbClr val="FFFF66"/>
                </a:solidFill>
                <a:latin typeface="隶书" pitchFamily="49" charset="-122"/>
                <a:ea typeface="宋体" pitchFamily="2" charset="-122"/>
              </a:rPr>
              <a:t>业务组合分析</a:t>
            </a:r>
            <a:br>
              <a:rPr lang="zh-CN" altLang="en-US" sz="3200">
                <a:solidFill>
                  <a:srgbClr val="FFFF66"/>
                </a:solidFill>
                <a:latin typeface="隶书" pitchFamily="49" charset="-122"/>
                <a:ea typeface="宋体" pitchFamily="2" charset="-122"/>
              </a:rPr>
            </a:br>
            <a:r>
              <a:rPr lang="en-US" altLang="zh-CN" sz="3200">
                <a:solidFill>
                  <a:srgbClr val="FFFF66"/>
                </a:solidFill>
                <a:latin typeface="Arial" pitchFamily="34" charset="0"/>
                <a:ea typeface="宋体" pitchFamily="2" charset="-122"/>
              </a:rPr>
              <a:t>——</a:t>
            </a:r>
            <a:r>
              <a:rPr lang="en-US" altLang="zh-CN" sz="3200">
                <a:solidFill>
                  <a:srgbClr val="FFFF66"/>
                </a:solidFill>
                <a:latin typeface="隶书" pitchFamily="49" charset="-122"/>
                <a:ea typeface="宋体" pitchFamily="2" charset="-122"/>
              </a:rPr>
              <a:t>BCG</a:t>
            </a:r>
            <a:r>
              <a:rPr lang="zh-CN" altLang="en-US" sz="3200">
                <a:solidFill>
                  <a:srgbClr val="FFFF66"/>
                </a:solidFill>
                <a:latin typeface="隶书" pitchFamily="49" charset="-122"/>
                <a:ea typeface="宋体" pitchFamily="2" charset="-122"/>
              </a:rPr>
              <a:t>组合矩阵基本框架</a:t>
            </a:r>
            <a:endParaRPr lang="zh-CN" altLang="en-AU" sz="3200">
              <a:solidFill>
                <a:srgbClr val="FFFF66"/>
              </a:solidFill>
              <a:latin typeface="隶书" pitchFamily="49" charset="-122"/>
              <a:ea typeface="宋体" pitchFamily="2" charset="-122"/>
            </a:endParaRPr>
          </a:p>
        </p:txBody>
      </p:sp>
    </p:spTree>
    <p:extLst>
      <p:ext uri="{BB962C8B-B14F-4D97-AF65-F5344CB8AC3E}">
        <p14:creationId xmlns:p14="http://schemas.microsoft.com/office/powerpoint/2010/main" val="3762097088"/>
      </p:ext>
    </p:extLst>
  </p:cSld>
  <p:clrMapOvr>
    <a:masterClrMapping/>
  </p:clrMapOvr>
  <p:transition spd="me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a:xfrm>
            <a:off x="2057400" y="1676400"/>
            <a:ext cx="8231188" cy="1036638"/>
          </a:xfrm>
        </p:spPr>
        <p:txBody>
          <a:bodyPr/>
          <a:lstStyle/>
          <a:p>
            <a:pPr eaLnBrk="1" hangingPunct="1">
              <a:lnSpc>
                <a:spcPct val="80000"/>
              </a:lnSpc>
              <a:buFont typeface="Wingdings" pitchFamily="2" charset="2"/>
              <a:buNone/>
            </a:pPr>
            <a:endParaRPr lang="en-US" altLang="zh-CN" sz="2000">
              <a:latin typeface="+mj-ea"/>
              <a:ea typeface="+mj-ea"/>
            </a:endParaRPr>
          </a:p>
          <a:p>
            <a:pPr eaLnBrk="1" hangingPunct="1">
              <a:lnSpc>
                <a:spcPct val="80000"/>
              </a:lnSpc>
            </a:pPr>
            <a:endParaRPr lang="en-US" altLang="zh-CN" sz="3600">
              <a:latin typeface="+mj-ea"/>
              <a:ea typeface="+mj-ea"/>
            </a:endParaRPr>
          </a:p>
        </p:txBody>
      </p:sp>
      <p:graphicFrame>
        <p:nvGraphicFramePr>
          <p:cNvPr id="1026" name="Object 2"/>
          <p:cNvGraphicFramePr>
            <a:graphicFrameLocks/>
          </p:cNvGraphicFramePr>
          <p:nvPr/>
        </p:nvGraphicFramePr>
        <p:xfrm>
          <a:off x="2208213" y="2924175"/>
          <a:ext cx="7632700" cy="3409950"/>
        </p:xfrm>
        <a:graphic>
          <a:graphicData uri="http://schemas.openxmlformats.org/presentationml/2006/ole">
            <mc:AlternateContent xmlns:mc="http://schemas.openxmlformats.org/markup-compatibility/2006">
              <mc:Choice xmlns:v="urn:schemas-microsoft-com:vml" Requires="v">
                <p:oleObj spid="_x0000_s1117" name="文档" r:id="rId3" imgW="6092362" imgH="3914850" progId="Word.Document.8">
                  <p:embed/>
                </p:oleObj>
              </mc:Choice>
              <mc:Fallback>
                <p:oleObj name="文档" r:id="rId3" imgW="6092362" imgH="3914850" progId="Word.Document.8">
                  <p:embed/>
                  <p:pic>
                    <p:nvPicPr>
                      <p:cNvPr id="1026" name="Object 2"/>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213" y="2924175"/>
                        <a:ext cx="7632700" cy="3409950"/>
                      </a:xfrm>
                      <a:prstGeom prst="rect">
                        <a:avLst/>
                      </a:prstGeom>
                      <a:gradFill rotWithShape="1">
                        <a:gsLst>
                          <a:gs pos="0">
                            <a:srgbClr val="FFCC99"/>
                          </a:gs>
                          <a:gs pos="100000">
                            <a:srgbClr val="FFCC99">
                              <a:gamma/>
                              <a:tint val="66667"/>
                              <a:invGamma/>
                            </a:srgbClr>
                          </a:gs>
                        </a:gsLst>
                        <a:path path="shape">
                          <a:fillToRect l="50000" t="50000" r="50000" b="50000"/>
                        </a:path>
                      </a:gradFill>
                      <a:ln w="9525">
                        <a:solidFill>
                          <a:srgbClr val="800000"/>
                        </a:solidFill>
                        <a:miter lim="800000"/>
                        <a:headEnd/>
                        <a:tailEnd/>
                      </a:ln>
                    </p:spPr>
                  </p:pic>
                </p:oleObj>
              </mc:Fallback>
            </mc:AlternateContent>
          </a:graphicData>
        </a:graphic>
      </p:graphicFrame>
      <p:sp>
        <p:nvSpPr>
          <p:cNvPr id="1387525" name="Rectangle 5"/>
          <p:cNvSpPr>
            <a:spLocks noChangeArrowheads="1"/>
          </p:cNvSpPr>
          <p:nvPr/>
        </p:nvSpPr>
        <p:spPr bwMode="auto">
          <a:xfrm>
            <a:off x="2208213" y="1700214"/>
            <a:ext cx="7632700" cy="936625"/>
          </a:xfrm>
          <a:prstGeom prst="rect">
            <a:avLst/>
          </a:prstGeom>
          <a:noFill/>
          <a:ln w="12700">
            <a:noFill/>
            <a:miter lim="800000"/>
            <a:headEnd/>
            <a:tailEnd/>
          </a:ln>
        </p:spPr>
        <p:txBody>
          <a:bodyPr lIns="92075" tIns="46038" rIns="92075" bIns="46038"/>
          <a:lstStyle/>
          <a:p>
            <a:pPr marL="342900" indent="-342900">
              <a:buClr>
                <a:schemeClr val="folHlink"/>
              </a:buClr>
            </a:pPr>
            <a:r>
              <a:rPr lang="en-US" altLang="zh-CN" sz="2400" dirty="0">
                <a:solidFill>
                  <a:schemeClr val="bg1"/>
                </a:solidFill>
                <a:latin typeface="+mj-ea"/>
                <a:ea typeface="+mj-ea"/>
              </a:rPr>
              <a:t>    </a:t>
            </a:r>
            <a:r>
              <a:rPr lang="zh-CN" altLang="en-US" sz="2400" dirty="0">
                <a:latin typeface="+mj-ea"/>
                <a:ea typeface="+mj-ea"/>
              </a:rPr>
              <a:t>三个经营领域为普通自行车、山地自行车和玩具自行车，数据如下：</a:t>
            </a:r>
          </a:p>
        </p:txBody>
      </p:sp>
      <p:sp>
        <p:nvSpPr>
          <p:cNvPr id="1029" name="Rectangle 6"/>
          <p:cNvSpPr>
            <a:spLocks noChangeArrowheads="1"/>
          </p:cNvSpPr>
          <p:nvPr/>
        </p:nvSpPr>
        <p:spPr bwMode="auto">
          <a:xfrm>
            <a:off x="2208213" y="188913"/>
            <a:ext cx="7632700" cy="838200"/>
          </a:xfrm>
          <a:prstGeom prst="rect">
            <a:avLst/>
          </a:prstGeom>
          <a:noFill/>
          <a:ln w="9525">
            <a:noFill/>
            <a:miter lim="800000"/>
            <a:headEnd/>
            <a:tailEnd/>
          </a:ln>
        </p:spPr>
        <p:txBody>
          <a:bodyPr anchor="ctr"/>
          <a:lstStyle/>
          <a:p>
            <a:r>
              <a:rPr lang="zh-CN" altLang="en-US" sz="3600">
                <a:solidFill>
                  <a:srgbClr val="FFFF66"/>
                </a:solidFill>
                <a:latin typeface="+mj-ea"/>
                <a:ea typeface="+mj-ea"/>
              </a:rPr>
              <a:t>例：一家自行车公司</a:t>
            </a:r>
            <a:endParaRPr lang="zh-CN" altLang="en-AU" sz="3600">
              <a:solidFill>
                <a:srgbClr val="FFFF66"/>
              </a:solidFill>
              <a:latin typeface="+mj-ea"/>
              <a:ea typeface="+mj-ea"/>
            </a:endParaRPr>
          </a:p>
        </p:txBody>
      </p:sp>
      <p:pic>
        <p:nvPicPr>
          <p:cNvPr id="1030" name="Picture 8" descr="06"/>
          <p:cNvPicPr>
            <a:picLocks noChangeAspect="1" noChangeArrowheads="1"/>
          </p:cNvPicPr>
          <p:nvPr/>
        </p:nvPicPr>
        <p:blipFill>
          <a:blip r:embed="rId5" cstate="print"/>
          <a:srcRect/>
          <a:stretch>
            <a:fillRect/>
          </a:stretch>
        </p:blipFill>
        <p:spPr bwMode="auto">
          <a:xfrm>
            <a:off x="8328026" y="0"/>
            <a:ext cx="1584325" cy="1238250"/>
          </a:xfrm>
          <a:prstGeom prst="rect">
            <a:avLst/>
          </a:prstGeom>
          <a:noFill/>
          <a:ln w="9525">
            <a:noFill/>
            <a:miter lim="800000"/>
            <a:headEnd/>
            <a:tailEnd/>
          </a:ln>
        </p:spPr>
      </p:pic>
    </p:spTree>
    <p:extLst>
      <p:ext uri="{BB962C8B-B14F-4D97-AF65-F5344CB8AC3E}">
        <p14:creationId xmlns:p14="http://schemas.microsoft.com/office/powerpoint/2010/main" val="12598426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87525"/>
                                        </p:tgtEl>
                                        <p:attrNameLst>
                                          <p:attrName>style.visibility</p:attrName>
                                        </p:attrNameLst>
                                      </p:cBhvr>
                                      <p:to>
                                        <p:strVal val="visible"/>
                                      </p:to>
                                    </p:set>
                                    <p:anim calcmode="lin" valueType="num">
                                      <p:cBhvr additive="base">
                                        <p:cTn id="7" dur="500" fill="hold"/>
                                        <p:tgtEl>
                                          <p:spTgt spid="1387525"/>
                                        </p:tgtEl>
                                        <p:attrNameLst>
                                          <p:attrName>ppt_x</p:attrName>
                                        </p:attrNameLst>
                                      </p:cBhvr>
                                      <p:tavLst>
                                        <p:tav tm="0">
                                          <p:val>
                                            <p:strVal val="0-#ppt_w/2"/>
                                          </p:val>
                                        </p:tav>
                                        <p:tav tm="100000">
                                          <p:val>
                                            <p:strVal val="#ppt_x"/>
                                          </p:val>
                                        </p:tav>
                                      </p:tavLst>
                                    </p:anim>
                                    <p:anim calcmode="lin" valueType="num">
                                      <p:cBhvr additive="base">
                                        <p:cTn id="8" dur="500" fill="hold"/>
                                        <p:tgtEl>
                                          <p:spTgt spid="13875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7525"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3935414" y="2349500"/>
            <a:ext cx="6135687" cy="4191000"/>
          </a:xfrm>
          <a:prstGeom prst="rect">
            <a:avLst/>
          </a:prstGeom>
          <a:solidFill>
            <a:schemeClr val="accent1"/>
          </a:solidFill>
          <a:ln w="9525">
            <a:solidFill>
              <a:schemeClr val="tx1"/>
            </a:solidFill>
            <a:miter lim="800000"/>
            <a:headEnd/>
            <a:tailEnd/>
          </a:ln>
        </p:spPr>
        <p:txBody>
          <a:bodyPr wrap="none" anchor="ctr"/>
          <a:lstStyle/>
          <a:p>
            <a:endParaRPr lang="zh-CN" altLang="en-US">
              <a:latin typeface="+mj-ea"/>
              <a:ea typeface="+mj-ea"/>
            </a:endParaRPr>
          </a:p>
        </p:txBody>
      </p:sp>
      <p:sp>
        <p:nvSpPr>
          <p:cNvPr id="43011" name="Line 3"/>
          <p:cNvSpPr>
            <a:spLocks noChangeShapeType="1"/>
          </p:cNvSpPr>
          <p:nvPr/>
        </p:nvSpPr>
        <p:spPr bwMode="auto">
          <a:xfrm>
            <a:off x="4151313" y="4508500"/>
            <a:ext cx="6119812" cy="0"/>
          </a:xfrm>
          <a:prstGeom prst="line">
            <a:avLst/>
          </a:prstGeom>
          <a:noFill/>
          <a:ln w="9525">
            <a:solidFill>
              <a:schemeClr val="tx1"/>
            </a:solidFill>
            <a:round/>
            <a:headEnd/>
            <a:tailEnd/>
          </a:ln>
        </p:spPr>
        <p:txBody>
          <a:bodyPr wrap="none" anchor="ctr"/>
          <a:lstStyle/>
          <a:p>
            <a:endParaRPr lang="zh-CN" altLang="en-US">
              <a:latin typeface="+mj-ea"/>
              <a:ea typeface="+mj-ea"/>
            </a:endParaRPr>
          </a:p>
        </p:txBody>
      </p:sp>
      <p:sp>
        <p:nvSpPr>
          <p:cNvPr id="43012" name="Line 4"/>
          <p:cNvSpPr>
            <a:spLocks noChangeShapeType="1"/>
          </p:cNvSpPr>
          <p:nvPr/>
        </p:nvSpPr>
        <p:spPr bwMode="auto">
          <a:xfrm>
            <a:off x="7319963" y="2349500"/>
            <a:ext cx="0" cy="4191000"/>
          </a:xfrm>
          <a:prstGeom prst="line">
            <a:avLst/>
          </a:prstGeom>
          <a:noFill/>
          <a:ln w="9525">
            <a:solidFill>
              <a:schemeClr val="tx1"/>
            </a:solidFill>
            <a:round/>
            <a:headEnd/>
            <a:tailEnd/>
          </a:ln>
        </p:spPr>
        <p:txBody>
          <a:bodyPr wrap="none" anchor="ctr"/>
          <a:lstStyle/>
          <a:p>
            <a:endParaRPr lang="zh-CN" altLang="en-US">
              <a:latin typeface="+mj-ea"/>
              <a:ea typeface="+mj-ea"/>
            </a:endParaRPr>
          </a:p>
        </p:txBody>
      </p:sp>
      <p:sp>
        <p:nvSpPr>
          <p:cNvPr id="43013" name="Oval 5"/>
          <p:cNvSpPr>
            <a:spLocks noChangeArrowheads="1"/>
          </p:cNvSpPr>
          <p:nvPr/>
        </p:nvSpPr>
        <p:spPr bwMode="auto">
          <a:xfrm>
            <a:off x="5880100" y="5229225"/>
            <a:ext cx="1295400" cy="1219200"/>
          </a:xfrm>
          <a:prstGeom prst="ellipse">
            <a:avLst/>
          </a:prstGeom>
          <a:solidFill>
            <a:srgbClr val="CC99FF"/>
          </a:solidFill>
          <a:ln w="9525">
            <a:solidFill>
              <a:schemeClr val="tx1"/>
            </a:solidFill>
            <a:round/>
            <a:headEnd/>
            <a:tailEnd/>
          </a:ln>
        </p:spPr>
        <p:txBody>
          <a:bodyPr wrap="none" anchor="ctr"/>
          <a:lstStyle/>
          <a:p>
            <a:r>
              <a:rPr lang="zh-CN" altLang="en-US" sz="2400">
                <a:latin typeface="+mj-ea"/>
                <a:ea typeface="+mj-ea"/>
              </a:rPr>
              <a:t>普通</a:t>
            </a:r>
          </a:p>
        </p:txBody>
      </p:sp>
      <p:sp>
        <p:nvSpPr>
          <p:cNvPr id="43014" name="Oval 6"/>
          <p:cNvSpPr>
            <a:spLocks noChangeArrowheads="1"/>
          </p:cNvSpPr>
          <p:nvPr/>
        </p:nvSpPr>
        <p:spPr bwMode="auto">
          <a:xfrm>
            <a:off x="7848600" y="2743200"/>
            <a:ext cx="609600" cy="609600"/>
          </a:xfrm>
          <a:prstGeom prst="ellipse">
            <a:avLst/>
          </a:prstGeom>
          <a:solidFill>
            <a:srgbClr val="CC99FF"/>
          </a:solidFill>
          <a:ln w="9525">
            <a:solidFill>
              <a:schemeClr val="tx1"/>
            </a:solidFill>
            <a:round/>
            <a:headEnd/>
            <a:tailEnd/>
          </a:ln>
        </p:spPr>
        <p:txBody>
          <a:bodyPr wrap="none" anchor="ctr"/>
          <a:lstStyle/>
          <a:p>
            <a:endParaRPr lang="zh-CN" altLang="en-US">
              <a:latin typeface="+mj-ea"/>
              <a:ea typeface="+mj-ea"/>
            </a:endParaRPr>
          </a:p>
        </p:txBody>
      </p:sp>
      <p:sp>
        <p:nvSpPr>
          <p:cNvPr id="43015" name="Oval 7"/>
          <p:cNvSpPr>
            <a:spLocks noChangeArrowheads="1"/>
          </p:cNvSpPr>
          <p:nvPr/>
        </p:nvSpPr>
        <p:spPr bwMode="auto">
          <a:xfrm>
            <a:off x="9372600" y="3962400"/>
            <a:ext cx="381000" cy="381000"/>
          </a:xfrm>
          <a:prstGeom prst="ellipse">
            <a:avLst/>
          </a:prstGeom>
          <a:solidFill>
            <a:srgbClr val="CC99FF"/>
          </a:solidFill>
          <a:ln w="9525">
            <a:solidFill>
              <a:schemeClr val="tx1"/>
            </a:solidFill>
            <a:round/>
            <a:headEnd/>
            <a:tailEnd/>
          </a:ln>
        </p:spPr>
        <p:txBody>
          <a:bodyPr wrap="none" anchor="ctr"/>
          <a:lstStyle/>
          <a:p>
            <a:endParaRPr lang="zh-CN" altLang="en-US">
              <a:latin typeface="+mj-ea"/>
              <a:ea typeface="+mj-ea"/>
            </a:endParaRPr>
          </a:p>
        </p:txBody>
      </p:sp>
      <p:sp>
        <p:nvSpPr>
          <p:cNvPr id="43016" name="Text Box 9"/>
          <p:cNvSpPr txBox="1">
            <a:spLocks noChangeArrowheads="1"/>
          </p:cNvSpPr>
          <p:nvPr/>
        </p:nvSpPr>
        <p:spPr bwMode="auto">
          <a:xfrm>
            <a:off x="4224338" y="1341439"/>
            <a:ext cx="6019800" cy="1015663"/>
          </a:xfrm>
          <a:prstGeom prst="rect">
            <a:avLst/>
          </a:prstGeom>
          <a:noFill/>
          <a:ln w="9525">
            <a:noFill/>
            <a:miter lim="800000"/>
            <a:headEnd/>
            <a:tailEnd/>
          </a:ln>
        </p:spPr>
        <p:txBody>
          <a:bodyPr>
            <a:spAutoFit/>
          </a:bodyPr>
          <a:lstStyle/>
          <a:p>
            <a:pPr eaLnBrk="0" hangingPunct="0">
              <a:spcBef>
                <a:spcPct val="50000"/>
              </a:spcBef>
            </a:pPr>
            <a:r>
              <a:rPr lang="zh-CN" altLang="en-US" sz="2400" dirty="0">
                <a:latin typeface="+mj-ea"/>
                <a:ea typeface="+mj-ea"/>
              </a:rPr>
              <a:t>相对市场份额</a:t>
            </a:r>
          </a:p>
          <a:p>
            <a:pPr eaLnBrk="0" hangingPunct="0">
              <a:spcBef>
                <a:spcPct val="50000"/>
              </a:spcBef>
            </a:pPr>
            <a:r>
              <a:rPr lang="zh-CN" altLang="en-US" sz="2400" dirty="0">
                <a:latin typeface="+mj-ea"/>
                <a:ea typeface="+mj-ea"/>
              </a:rPr>
              <a:t>高                                          低</a:t>
            </a:r>
          </a:p>
        </p:txBody>
      </p:sp>
      <p:sp>
        <p:nvSpPr>
          <p:cNvPr id="43017" name="Text Box 10"/>
          <p:cNvSpPr txBox="1">
            <a:spLocks noChangeArrowheads="1"/>
          </p:cNvSpPr>
          <p:nvPr/>
        </p:nvSpPr>
        <p:spPr bwMode="auto">
          <a:xfrm>
            <a:off x="2438400" y="3263900"/>
            <a:ext cx="685800" cy="1938992"/>
          </a:xfrm>
          <a:prstGeom prst="rect">
            <a:avLst/>
          </a:prstGeom>
          <a:noFill/>
          <a:ln w="9525">
            <a:noFill/>
            <a:miter lim="800000"/>
            <a:headEnd/>
            <a:tailEnd/>
          </a:ln>
        </p:spPr>
        <p:txBody>
          <a:bodyPr>
            <a:spAutoFit/>
          </a:bodyPr>
          <a:lstStyle/>
          <a:p>
            <a:pPr algn="l" eaLnBrk="0" hangingPunct="0">
              <a:spcBef>
                <a:spcPct val="50000"/>
              </a:spcBef>
            </a:pPr>
            <a:r>
              <a:rPr lang="zh-CN" altLang="en-US" sz="2400">
                <a:latin typeface="+mj-ea"/>
                <a:ea typeface="+mj-ea"/>
              </a:rPr>
              <a:t>市场增长率</a:t>
            </a:r>
          </a:p>
        </p:txBody>
      </p:sp>
      <p:sp>
        <p:nvSpPr>
          <p:cNvPr id="43018" name="Text Box 11"/>
          <p:cNvSpPr txBox="1">
            <a:spLocks noChangeArrowheads="1"/>
          </p:cNvSpPr>
          <p:nvPr/>
        </p:nvSpPr>
        <p:spPr bwMode="auto">
          <a:xfrm>
            <a:off x="3287713" y="3357563"/>
            <a:ext cx="838200" cy="1938992"/>
          </a:xfrm>
          <a:prstGeom prst="rect">
            <a:avLst/>
          </a:prstGeom>
          <a:noFill/>
          <a:ln w="9525">
            <a:noFill/>
            <a:miter lim="800000"/>
            <a:headEnd/>
            <a:tailEnd/>
          </a:ln>
        </p:spPr>
        <p:txBody>
          <a:bodyPr>
            <a:spAutoFit/>
          </a:bodyPr>
          <a:lstStyle/>
          <a:p>
            <a:pPr algn="l" eaLnBrk="0" hangingPunct="0"/>
            <a:r>
              <a:rPr lang="zh-CN" altLang="en-US" sz="2400">
                <a:latin typeface="+mj-ea"/>
                <a:ea typeface="+mj-ea"/>
              </a:rPr>
              <a:t>高</a:t>
            </a:r>
          </a:p>
          <a:p>
            <a:pPr algn="l" eaLnBrk="0" hangingPunct="0"/>
            <a:endParaRPr lang="zh-CN" altLang="en-US" sz="2400">
              <a:latin typeface="+mj-ea"/>
              <a:ea typeface="+mj-ea"/>
            </a:endParaRPr>
          </a:p>
          <a:p>
            <a:pPr algn="l" eaLnBrk="0" hangingPunct="0"/>
            <a:endParaRPr lang="zh-CN" altLang="en-US" sz="2400">
              <a:latin typeface="+mj-ea"/>
              <a:ea typeface="+mj-ea"/>
            </a:endParaRPr>
          </a:p>
          <a:p>
            <a:pPr algn="l" eaLnBrk="0" hangingPunct="0"/>
            <a:endParaRPr lang="zh-CN" altLang="en-US" sz="2400">
              <a:latin typeface="+mj-ea"/>
              <a:ea typeface="+mj-ea"/>
            </a:endParaRPr>
          </a:p>
          <a:p>
            <a:pPr algn="l" eaLnBrk="0" hangingPunct="0"/>
            <a:r>
              <a:rPr lang="zh-CN" altLang="en-US" sz="2400">
                <a:latin typeface="+mj-ea"/>
                <a:ea typeface="+mj-ea"/>
              </a:rPr>
              <a:t>低</a:t>
            </a:r>
          </a:p>
        </p:txBody>
      </p:sp>
      <p:sp>
        <p:nvSpPr>
          <p:cNvPr id="43019" name="Text Box 12"/>
          <p:cNvSpPr txBox="1">
            <a:spLocks noChangeArrowheads="1"/>
          </p:cNvSpPr>
          <p:nvPr/>
        </p:nvSpPr>
        <p:spPr bwMode="auto">
          <a:xfrm>
            <a:off x="5181600" y="2362200"/>
            <a:ext cx="1524000" cy="457200"/>
          </a:xfrm>
          <a:prstGeom prst="rect">
            <a:avLst/>
          </a:prstGeom>
          <a:noFill/>
          <a:ln w="9525">
            <a:noFill/>
            <a:miter lim="800000"/>
            <a:headEnd/>
            <a:tailEnd/>
          </a:ln>
        </p:spPr>
        <p:txBody>
          <a:bodyPr>
            <a:spAutoFit/>
          </a:bodyPr>
          <a:lstStyle/>
          <a:p>
            <a:pPr algn="l" eaLnBrk="0" hangingPunct="0"/>
            <a:r>
              <a:rPr lang="zh-CN" altLang="en-US" sz="2400">
                <a:latin typeface="+mj-ea"/>
                <a:ea typeface="+mj-ea"/>
              </a:rPr>
              <a:t>明星</a:t>
            </a:r>
            <a:endParaRPr lang="zh-CN" altLang="en-US" sz="3600">
              <a:latin typeface="+mj-ea"/>
              <a:ea typeface="+mj-ea"/>
            </a:endParaRPr>
          </a:p>
        </p:txBody>
      </p:sp>
      <p:sp>
        <p:nvSpPr>
          <p:cNvPr id="43020" name="Text Box 13"/>
          <p:cNvSpPr txBox="1">
            <a:spLocks noChangeArrowheads="1"/>
          </p:cNvSpPr>
          <p:nvPr/>
        </p:nvSpPr>
        <p:spPr bwMode="auto">
          <a:xfrm>
            <a:off x="7848600" y="2362200"/>
            <a:ext cx="2362200" cy="457200"/>
          </a:xfrm>
          <a:prstGeom prst="rect">
            <a:avLst/>
          </a:prstGeom>
          <a:noFill/>
          <a:ln w="9525">
            <a:noFill/>
            <a:miter lim="800000"/>
            <a:headEnd/>
            <a:tailEnd/>
          </a:ln>
        </p:spPr>
        <p:txBody>
          <a:bodyPr>
            <a:spAutoFit/>
          </a:bodyPr>
          <a:lstStyle/>
          <a:p>
            <a:pPr algn="l" eaLnBrk="0" hangingPunct="0">
              <a:spcBef>
                <a:spcPct val="50000"/>
              </a:spcBef>
            </a:pPr>
            <a:r>
              <a:rPr lang="zh-CN" altLang="en-US" sz="2400">
                <a:latin typeface="+mj-ea"/>
                <a:ea typeface="+mj-ea"/>
              </a:rPr>
              <a:t>问号</a:t>
            </a:r>
          </a:p>
        </p:txBody>
      </p:sp>
      <p:sp>
        <p:nvSpPr>
          <p:cNvPr id="43021" name="Text Box 14"/>
          <p:cNvSpPr txBox="1">
            <a:spLocks noChangeArrowheads="1"/>
          </p:cNvSpPr>
          <p:nvPr/>
        </p:nvSpPr>
        <p:spPr bwMode="auto">
          <a:xfrm>
            <a:off x="4511675" y="5949950"/>
            <a:ext cx="1676400" cy="457200"/>
          </a:xfrm>
          <a:prstGeom prst="rect">
            <a:avLst/>
          </a:prstGeom>
          <a:noFill/>
          <a:ln w="9525">
            <a:noFill/>
            <a:miter lim="800000"/>
            <a:headEnd/>
            <a:tailEnd/>
          </a:ln>
        </p:spPr>
        <p:txBody>
          <a:bodyPr>
            <a:spAutoFit/>
          </a:bodyPr>
          <a:lstStyle/>
          <a:p>
            <a:pPr algn="l" eaLnBrk="0" hangingPunct="0">
              <a:spcBef>
                <a:spcPct val="50000"/>
              </a:spcBef>
            </a:pPr>
            <a:r>
              <a:rPr lang="zh-CN" altLang="en-US" sz="2400">
                <a:latin typeface="+mj-ea"/>
                <a:ea typeface="+mj-ea"/>
              </a:rPr>
              <a:t>现金牛</a:t>
            </a:r>
          </a:p>
        </p:txBody>
      </p:sp>
      <p:sp>
        <p:nvSpPr>
          <p:cNvPr id="43022" name="Text Box 15"/>
          <p:cNvSpPr txBox="1">
            <a:spLocks noChangeArrowheads="1"/>
          </p:cNvSpPr>
          <p:nvPr/>
        </p:nvSpPr>
        <p:spPr bwMode="auto">
          <a:xfrm>
            <a:off x="8153400" y="5943600"/>
            <a:ext cx="990600" cy="457200"/>
          </a:xfrm>
          <a:prstGeom prst="rect">
            <a:avLst/>
          </a:prstGeom>
          <a:noFill/>
          <a:ln w="9525">
            <a:noFill/>
            <a:miter lim="800000"/>
            <a:headEnd/>
            <a:tailEnd/>
          </a:ln>
        </p:spPr>
        <p:txBody>
          <a:bodyPr>
            <a:spAutoFit/>
          </a:bodyPr>
          <a:lstStyle/>
          <a:p>
            <a:pPr algn="l" eaLnBrk="0" hangingPunct="0"/>
            <a:r>
              <a:rPr lang="zh-CN" altLang="en-US" sz="2400">
                <a:latin typeface="+mj-ea"/>
                <a:ea typeface="+mj-ea"/>
              </a:rPr>
              <a:t>狗</a:t>
            </a:r>
          </a:p>
        </p:txBody>
      </p:sp>
      <p:sp>
        <p:nvSpPr>
          <p:cNvPr id="43023" name="AutoShape 16"/>
          <p:cNvSpPr>
            <a:spLocks noChangeArrowheads="1"/>
          </p:cNvSpPr>
          <p:nvPr/>
        </p:nvSpPr>
        <p:spPr bwMode="auto">
          <a:xfrm>
            <a:off x="9601200" y="2895600"/>
            <a:ext cx="457200" cy="1066800"/>
          </a:xfrm>
          <a:prstGeom prst="wedgeRoundRectCallout">
            <a:avLst>
              <a:gd name="adj1" fmla="val -43750"/>
              <a:gd name="adj2" fmla="val 62796"/>
              <a:gd name="adj3" fmla="val 16667"/>
            </a:avLst>
          </a:prstGeom>
          <a:solidFill>
            <a:schemeClr val="accent1"/>
          </a:solidFill>
          <a:ln w="9525">
            <a:solidFill>
              <a:schemeClr val="tx1"/>
            </a:solidFill>
            <a:miter lim="800000"/>
            <a:headEnd/>
            <a:tailEnd/>
          </a:ln>
        </p:spPr>
        <p:txBody>
          <a:bodyPr wrap="none" anchor="ctr"/>
          <a:lstStyle/>
          <a:p>
            <a:r>
              <a:rPr lang="zh-CN" altLang="en-US" sz="2400">
                <a:latin typeface="+mj-ea"/>
                <a:ea typeface="+mj-ea"/>
              </a:rPr>
              <a:t>玩</a:t>
            </a:r>
          </a:p>
          <a:p>
            <a:r>
              <a:rPr lang="zh-CN" altLang="en-US" sz="2400">
                <a:latin typeface="+mj-ea"/>
                <a:ea typeface="+mj-ea"/>
              </a:rPr>
              <a:t>具</a:t>
            </a:r>
          </a:p>
        </p:txBody>
      </p:sp>
      <p:sp>
        <p:nvSpPr>
          <p:cNvPr id="43024" name="AutoShape 17"/>
          <p:cNvSpPr>
            <a:spLocks noChangeArrowheads="1"/>
          </p:cNvSpPr>
          <p:nvPr/>
        </p:nvSpPr>
        <p:spPr bwMode="auto">
          <a:xfrm rot="10800000">
            <a:off x="6858000" y="3200400"/>
            <a:ext cx="990600" cy="381000"/>
          </a:xfrm>
          <a:prstGeom prst="wedgeRoundRectCallout">
            <a:avLst>
              <a:gd name="adj1" fmla="val -43750"/>
              <a:gd name="adj2" fmla="val 70000"/>
              <a:gd name="adj3" fmla="val 16667"/>
            </a:avLst>
          </a:prstGeom>
          <a:solidFill>
            <a:schemeClr val="accent1"/>
          </a:solidFill>
          <a:ln w="9525">
            <a:solidFill>
              <a:schemeClr val="tx1"/>
            </a:solidFill>
            <a:miter lim="800000"/>
            <a:headEnd/>
            <a:tailEnd/>
          </a:ln>
        </p:spPr>
        <p:txBody>
          <a:bodyPr rot="10800000" wrap="none" anchor="ctr"/>
          <a:lstStyle/>
          <a:p>
            <a:endParaRPr lang="zh-CN" altLang="zh-CN" sz="2400">
              <a:latin typeface="+mj-ea"/>
              <a:ea typeface="+mj-ea"/>
            </a:endParaRPr>
          </a:p>
        </p:txBody>
      </p:sp>
      <p:sp>
        <p:nvSpPr>
          <p:cNvPr id="43025" name="Text Box 18"/>
          <p:cNvSpPr txBox="1">
            <a:spLocks noChangeArrowheads="1"/>
          </p:cNvSpPr>
          <p:nvPr/>
        </p:nvSpPr>
        <p:spPr bwMode="auto">
          <a:xfrm>
            <a:off x="6918325" y="3113088"/>
            <a:ext cx="793750" cy="457200"/>
          </a:xfrm>
          <a:prstGeom prst="rect">
            <a:avLst/>
          </a:prstGeom>
          <a:noFill/>
          <a:ln w="9525">
            <a:noFill/>
            <a:miter lim="800000"/>
            <a:headEnd/>
            <a:tailEnd/>
          </a:ln>
        </p:spPr>
        <p:txBody>
          <a:bodyPr wrap="none">
            <a:spAutoFit/>
          </a:bodyPr>
          <a:lstStyle/>
          <a:p>
            <a:pPr algn="l"/>
            <a:r>
              <a:rPr lang="zh-CN" altLang="en-US" sz="2400">
                <a:latin typeface="+mj-ea"/>
                <a:ea typeface="+mj-ea"/>
              </a:rPr>
              <a:t>山地</a:t>
            </a:r>
          </a:p>
        </p:txBody>
      </p:sp>
      <p:sp>
        <p:nvSpPr>
          <p:cNvPr id="43026" name="Rectangle 19"/>
          <p:cNvSpPr>
            <a:spLocks noChangeArrowheads="1"/>
          </p:cNvSpPr>
          <p:nvPr/>
        </p:nvSpPr>
        <p:spPr bwMode="auto">
          <a:xfrm>
            <a:off x="3503614" y="188913"/>
            <a:ext cx="6264275" cy="838200"/>
          </a:xfrm>
          <a:prstGeom prst="rect">
            <a:avLst/>
          </a:prstGeom>
          <a:noFill/>
          <a:ln w="9525">
            <a:noFill/>
            <a:miter lim="800000"/>
            <a:headEnd/>
            <a:tailEnd/>
          </a:ln>
        </p:spPr>
        <p:txBody>
          <a:bodyPr anchor="ctr"/>
          <a:lstStyle/>
          <a:p>
            <a:r>
              <a:rPr lang="zh-CN" altLang="en-US" sz="3600" dirty="0">
                <a:latin typeface="+mj-ea"/>
                <a:ea typeface="+mj-ea"/>
              </a:rPr>
              <a:t>自行车公司的增长</a:t>
            </a:r>
            <a:r>
              <a:rPr lang="en-US" altLang="zh-CN" sz="3600" dirty="0">
                <a:latin typeface="+mj-ea"/>
                <a:ea typeface="+mj-ea"/>
              </a:rPr>
              <a:t>-</a:t>
            </a:r>
            <a:r>
              <a:rPr lang="zh-CN" altLang="en-US" sz="3600" dirty="0">
                <a:latin typeface="+mj-ea"/>
                <a:ea typeface="+mj-ea"/>
              </a:rPr>
              <a:t>份额矩阵</a:t>
            </a:r>
            <a:endParaRPr lang="zh-CN" altLang="en-AU" sz="3600" dirty="0">
              <a:latin typeface="+mj-ea"/>
              <a:ea typeface="+mj-ea"/>
            </a:endParaRPr>
          </a:p>
        </p:txBody>
      </p:sp>
    </p:spTree>
    <p:extLst>
      <p:ext uri="{BB962C8B-B14F-4D97-AF65-F5344CB8AC3E}">
        <p14:creationId xmlns:p14="http://schemas.microsoft.com/office/powerpoint/2010/main" val="2864698472"/>
      </p:ext>
    </p:extLst>
  </p:cSld>
  <p:clrMapOvr>
    <a:masterClrMapping/>
  </p:clrMapOvr>
  <p:transition>
    <p:fade thruBlk="1"/>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600" dirty="0"/>
              <a:t>不同经营单位的特点及应采取的战略</a:t>
            </a:r>
          </a:p>
        </p:txBody>
      </p:sp>
      <p:graphicFrame>
        <p:nvGraphicFramePr>
          <p:cNvPr id="4" name="内容占位符 3"/>
          <p:cNvGraphicFramePr>
            <a:graphicFrameLocks noGrp="1"/>
          </p:cNvGraphicFramePr>
          <p:nvPr>
            <p:ph idx="1"/>
          </p:nvPr>
        </p:nvGraphicFramePr>
        <p:xfrm>
          <a:off x="1981201" y="1646238"/>
          <a:ext cx="8229603" cy="1854200"/>
        </p:xfrm>
        <a:graphic>
          <a:graphicData uri="http://schemas.openxmlformats.org/drawingml/2006/table">
            <a:tbl>
              <a:tblPr firstRow="1" bandRow="1">
                <a:tableStyleId>{5C22544A-7EE6-4342-B048-85BDC9FD1C3A}</a:tableStyleId>
              </a:tblPr>
              <a:tblGrid>
                <a:gridCol w="658416">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1183001">
                  <a:extLst>
                    <a:ext uri="{9D8B030D-6E8A-4147-A177-3AD203B41FA5}">
                      <a16:colId xmlns:a16="http://schemas.microsoft.com/office/drawing/2014/main" val="20002"/>
                    </a:ext>
                  </a:extLst>
                </a:gridCol>
                <a:gridCol w="1337279">
                  <a:extLst>
                    <a:ext uri="{9D8B030D-6E8A-4147-A177-3AD203B41FA5}">
                      <a16:colId xmlns:a16="http://schemas.microsoft.com/office/drawing/2014/main" val="20003"/>
                    </a:ext>
                  </a:extLst>
                </a:gridCol>
                <a:gridCol w="1954563">
                  <a:extLst>
                    <a:ext uri="{9D8B030D-6E8A-4147-A177-3AD203B41FA5}">
                      <a16:colId xmlns:a16="http://schemas.microsoft.com/office/drawing/2014/main" val="20004"/>
                    </a:ext>
                  </a:extLst>
                </a:gridCol>
              </a:tblGrid>
              <a:tr h="370840">
                <a:tc>
                  <a:txBody>
                    <a:bodyPr/>
                    <a:lstStyle/>
                    <a:p>
                      <a:r>
                        <a:rPr lang="zh-CN" altLang="en-US" dirty="0"/>
                        <a:t>区域</a:t>
                      </a:r>
                    </a:p>
                  </a:txBody>
                  <a:tcPr/>
                </a:tc>
                <a:tc>
                  <a:txBody>
                    <a:bodyPr/>
                    <a:lstStyle/>
                    <a:p>
                      <a:r>
                        <a:rPr lang="zh-CN" altLang="en-US" dirty="0"/>
                        <a:t>战略选择</a:t>
                      </a:r>
                    </a:p>
                  </a:txBody>
                  <a:tcPr/>
                </a:tc>
                <a:tc>
                  <a:txBody>
                    <a:bodyPr/>
                    <a:lstStyle/>
                    <a:p>
                      <a:r>
                        <a:rPr lang="zh-CN" altLang="en-US" dirty="0"/>
                        <a:t>盈利能力</a:t>
                      </a:r>
                    </a:p>
                  </a:txBody>
                  <a:tcPr/>
                </a:tc>
                <a:tc>
                  <a:txBody>
                    <a:bodyPr/>
                    <a:lstStyle/>
                    <a:p>
                      <a:r>
                        <a:rPr lang="zh-CN" altLang="en-US" dirty="0"/>
                        <a:t>投资需要</a:t>
                      </a:r>
                    </a:p>
                  </a:txBody>
                  <a:tcPr/>
                </a:tc>
                <a:tc>
                  <a:txBody>
                    <a:bodyPr/>
                    <a:lstStyle/>
                    <a:p>
                      <a:r>
                        <a:rPr lang="zh-CN" altLang="en-US" dirty="0"/>
                        <a:t>净现金流</a:t>
                      </a:r>
                    </a:p>
                  </a:txBody>
                  <a:tcPr/>
                </a:tc>
                <a:extLst>
                  <a:ext uri="{0D108BD9-81ED-4DB2-BD59-A6C34878D82A}">
                    <a16:rowId xmlns:a16="http://schemas.microsoft.com/office/drawing/2014/main" val="10000"/>
                  </a:ext>
                </a:extLst>
              </a:tr>
              <a:tr h="370840">
                <a:tc>
                  <a:txBody>
                    <a:bodyPr/>
                    <a:lstStyle/>
                    <a:p>
                      <a:r>
                        <a:rPr lang="zh-CN" altLang="en-US" dirty="0"/>
                        <a:t>明星</a:t>
                      </a:r>
                    </a:p>
                  </a:txBody>
                  <a:tcPr/>
                </a:tc>
                <a:tc>
                  <a:txBody>
                    <a:bodyPr/>
                    <a:lstStyle/>
                    <a:p>
                      <a:r>
                        <a:rPr lang="zh-CN" altLang="en-US" dirty="0"/>
                        <a:t>维护或扩大市场占有率战略</a:t>
                      </a:r>
                    </a:p>
                  </a:txBody>
                  <a:tcPr/>
                </a:tc>
                <a:tc>
                  <a:txBody>
                    <a:bodyPr/>
                    <a:lstStyle/>
                    <a:p>
                      <a:r>
                        <a:rPr lang="zh-CN" altLang="en-US" dirty="0"/>
                        <a:t>高</a:t>
                      </a:r>
                    </a:p>
                  </a:txBody>
                  <a:tcPr/>
                </a:tc>
                <a:tc>
                  <a:txBody>
                    <a:bodyPr/>
                    <a:lstStyle/>
                    <a:p>
                      <a:r>
                        <a:rPr lang="zh-CN" altLang="en-US" dirty="0"/>
                        <a:t>高</a:t>
                      </a:r>
                    </a:p>
                  </a:txBody>
                  <a:tcPr/>
                </a:tc>
                <a:tc>
                  <a:txBody>
                    <a:bodyPr/>
                    <a:lstStyle/>
                    <a:p>
                      <a:r>
                        <a:rPr lang="en-US" altLang="zh-CN" dirty="0"/>
                        <a:t>0 </a:t>
                      </a:r>
                      <a:r>
                        <a:rPr lang="zh-CN" altLang="en-US" dirty="0"/>
                        <a:t>或微负</a:t>
                      </a:r>
                    </a:p>
                  </a:txBody>
                  <a:tcPr/>
                </a:tc>
                <a:extLst>
                  <a:ext uri="{0D108BD9-81ED-4DB2-BD59-A6C34878D82A}">
                    <a16:rowId xmlns:a16="http://schemas.microsoft.com/office/drawing/2014/main" val="10001"/>
                  </a:ext>
                </a:extLst>
              </a:tr>
              <a:tr h="370840">
                <a:tc>
                  <a:txBody>
                    <a:bodyPr/>
                    <a:lstStyle/>
                    <a:p>
                      <a:r>
                        <a:rPr lang="zh-CN" altLang="en-US" dirty="0"/>
                        <a:t>问号</a:t>
                      </a:r>
                    </a:p>
                  </a:txBody>
                  <a:tcPr/>
                </a:tc>
                <a:tc>
                  <a:txBody>
                    <a:bodyPr/>
                    <a:lstStyle/>
                    <a:p>
                      <a:r>
                        <a:rPr lang="zh-CN" altLang="en-US" dirty="0"/>
                        <a:t>扩大市场占有率或放弃战略</a:t>
                      </a:r>
                    </a:p>
                  </a:txBody>
                  <a:tcPr/>
                </a:tc>
                <a:tc>
                  <a:txBody>
                    <a:bodyPr/>
                    <a:lstStyle/>
                    <a:p>
                      <a:r>
                        <a:rPr lang="zh-CN" altLang="en-US" dirty="0"/>
                        <a:t>低或亏损</a:t>
                      </a:r>
                    </a:p>
                  </a:txBody>
                  <a:tcPr/>
                </a:tc>
                <a:tc>
                  <a:txBody>
                    <a:bodyPr/>
                    <a:lstStyle/>
                    <a:p>
                      <a:r>
                        <a:rPr lang="zh-CN" altLang="en-US" dirty="0"/>
                        <a:t>高或回收</a:t>
                      </a:r>
                    </a:p>
                  </a:txBody>
                  <a:tcPr/>
                </a:tc>
                <a:tc>
                  <a:txBody>
                    <a:bodyPr/>
                    <a:lstStyle/>
                    <a:p>
                      <a:r>
                        <a:rPr lang="zh-CN" altLang="en-US" dirty="0"/>
                        <a:t>大负数或小正数</a:t>
                      </a:r>
                    </a:p>
                  </a:txBody>
                  <a:tcPr/>
                </a:tc>
                <a:extLst>
                  <a:ext uri="{0D108BD9-81ED-4DB2-BD59-A6C34878D82A}">
                    <a16:rowId xmlns:a16="http://schemas.microsoft.com/office/drawing/2014/main" val="10002"/>
                  </a:ext>
                </a:extLst>
              </a:tr>
              <a:tr h="370840">
                <a:tc>
                  <a:txBody>
                    <a:bodyPr/>
                    <a:lstStyle/>
                    <a:p>
                      <a:r>
                        <a:rPr lang="zh-CN" altLang="en-US" dirty="0"/>
                        <a:t>金牛</a:t>
                      </a:r>
                    </a:p>
                  </a:txBody>
                  <a:tcPr/>
                </a:tc>
                <a:tc>
                  <a:txBody>
                    <a:bodyPr/>
                    <a:lstStyle/>
                    <a:p>
                      <a:r>
                        <a:rPr lang="zh-CN" altLang="en-US" dirty="0"/>
                        <a:t>维护或收获战略</a:t>
                      </a:r>
                    </a:p>
                  </a:txBody>
                  <a:tcPr/>
                </a:tc>
                <a:tc>
                  <a:txBody>
                    <a:bodyPr/>
                    <a:lstStyle/>
                    <a:p>
                      <a:r>
                        <a:rPr lang="zh-CN" altLang="en-US" dirty="0"/>
                        <a:t>高</a:t>
                      </a:r>
                    </a:p>
                  </a:txBody>
                  <a:tcPr/>
                </a:tc>
                <a:tc>
                  <a:txBody>
                    <a:bodyPr/>
                    <a:lstStyle/>
                    <a:p>
                      <a:r>
                        <a:rPr lang="zh-CN" altLang="en-US" dirty="0"/>
                        <a:t>低</a:t>
                      </a:r>
                    </a:p>
                  </a:txBody>
                  <a:tcPr/>
                </a:tc>
                <a:tc>
                  <a:txBody>
                    <a:bodyPr/>
                    <a:lstStyle/>
                    <a:p>
                      <a:r>
                        <a:rPr lang="zh-CN" altLang="en-US" dirty="0"/>
                        <a:t>大正数</a:t>
                      </a:r>
                    </a:p>
                  </a:txBody>
                  <a:tcPr/>
                </a:tc>
                <a:extLst>
                  <a:ext uri="{0D108BD9-81ED-4DB2-BD59-A6C34878D82A}">
                    <a16:rowId xmlns:a16="http://schemas.microsoft.com/office/drawing/2014/main" val="10003"/>
                  </a:ext>
                </a:extLst>
              </a:tr>
              <a:tr h="370840">
                <a:tc>
                  <a:txBody>
                    <a:bodyPr/>
                    <a:lstStyle/>
                    <a:p>
                      <a:r>
                        <a:rPr lang="zh-CN" altLang="en-US" dirty="0"/>
                        <a:t>瘦狗</a:t>
                      </a:r>
                    </a:p>
                  </a:txBody>
                  <a:tcPr/>
                </a:tc>
                <a:tc>
                  <a:txBody>
                    <a:bodyPr/>
                    <a:lstStyle/>
                    <a:p>
                      <a:r>
                        <a:rPr lang="zh-CN" altLang="en-US" dirty="0"/>
                        <a:t>放弃或清算战略</a:t>
                      </a:r>
                    </a:p>
                  </a:txBody>
                  <a:tcPr/>
                </a:tc>
                <a:tc>
                  <a:txBody>
                    <a:bodyPr/>
                    <a:lstStyle/>
                    <a:p>
                      <a:r>
                        <a:rPr lang="zh-CN" altLang="en-US" dirty="0"/>
                        <a:t>低或亏损</a:t>
                      </a:r>
                    </a:p>
                  </a:txBody>
                  <a:tcPr/>
                </a:tc>
                <a:tc>
                  <a:txBody>
                    <a:bodyPr/>
                    <a:lstStyle/>
                    <a:p>
                      <a:r>
                        <a:rPr lang="zh-CN" altLang="en-US" dirty="0"/>
                        <a:t>回收</a:t>
                      </a:r>
                    </a:p>
                  </a:txBody>
                  <a:tcPr/>
                </a:tc>
                <a:tc>
                  <a:txBody>
                    <a:bodyPr/>
                    <a:lstStyle/>
                    <a:p>
                      <a:r>
                        <a:rPr lang="zh-CN" altLang="en-US" dirty="0"/>
                        <a:t>正数</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5865424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ChangeArrowheads="1"/>
          </p:cNvSpPr>
          <p:nvPr/>
        </p:nvSpPr>
        <p:spPr bwMode="auto">
          <a:xfrm>
            <a:off x="2208214" y="188913"/>
            <a:ext cx="7343775" cy="838200"/>
          </a:xfrm>
          <a:prstGeom prst="rect">
            <a:avLst/>
          </a:prstGeom>
          <a:noFill/>
          <a:ln w="9525">
            <a:noFill/>
            <a:miter lim="800000"/>
            <a:headEnd/>
            <a:tailEnd/>
          </a:ln>
        </p:spPr>
        <p:txBody>
          <a:bodyPr anchor="ctr"/>
          <a:lstStyle/>
          <a:p>
            <a:r>
              <a:rPr lang="zh-CN" altLang="en-US" sz="4000">
                <a:solidFill>
                  <a:srgbClr val="FFFF00"/>
                </a:solidFill>
                <a:latin typeface="+mn-ea"/>
              </a:rPr>
              <a:t>方法的特点</a:t>
            </a:r>
            <a:endParaRPr lang="zh-CN" altLang="en-AU" sz="4000">
              <a:solidFill>
                <a:srgbClr val="FFFF00"/>
              </a:solidFill>
              <a:latin typeface="+mn-ea"/>
            </a:endParaRPr>
          </a:p>
        </p:txBody>
      </p:sp>
      <p:sp>
        <p:nvSpPr>
          <p:cNvPr id="1389573" name="Rectangle 5"/>
          <p:cNvSpPr>
            <a:spLocks noChangeArrowheads="1"/>
          </p:cNvSpPr>
          <p:nvPr/>
        </p:nvSpPr>
        <p:spPr bwMode="auto">
          <a:xfrm>
            <a:off x="1992314" y="1484313"/>
            <a:ext cx="8135937" cy="4824412"/>
          </a:xfrm>
          <a:prstGeom prst="rect">
            <a:avLst/>
          </a:prstGeom>
          <a:noFill/>
          <a:ln w="12700">
            <a:noFill/>
            <a:miter lim="800000"/>
            <a:headEnd/>
            <a:tailEnd/>
          </a:ln>
        </p:spPr>
        <p:txBody>
          <a:bodyPr lIns="92075" tIns="46038" rIns="92075" bIns="46038"/>
          <a:lstStyle/>
          <a:p>
            <a:pPr marL="342900" indent="-342900">
              <a:spcBef>
                <a:spcPct val="20000"/>
              </a:spcBef>
              <a:buClr>
                <a:schemeClr val="folHlink"/>
              </a:buClr>
              <a:buFont typeface="Wingdings" pitchFamily="2" charset="2"/>
              <a:buChar char="l"/>
            </a:pPr>
            <a:r>
              <a:rPr lang="zh-CN" altLang="en-US" sz="2800" dirty="0">
                <a:latin typeface="+mn-ea"/>
              </a:rPr>
              <a:t>强调不同类型业务的财务（特别是现金流）特征 </a:t>
            </a:r>
          </a:p>
          <a:p>
            <a:pPr marL="342900" indent="-342900">
              <a:spcBef>
                <a:spcPct val="20000"/>
              </a:spcBef>
              <a:buClr>
                <a:schemeClr val="folHlink"/>
              </a:buClr>
              <a:buFont typeface="Wingdings" pitchFamily="2" charset="2"/>
              <a:buChar char="l"/>
            </a:pPr>
            <a:r>
              <a:rPr lang="zh-CN" altLang="en-US" sz="2800" dirty="0">
                <a:latin typeface="+mn-ea"/>
              </a:rPr>
              <a:t>把多样化的企业看成了一组现金流入和现金流出的关系</a:t>
            </a:r>
          </a:p>
          <a:p>
            <a:pPr marL="342900" indent="-342900">
              <a:spcBef>
                <a:spcPct val="20000"/>
              </a:spcBef>
              <a:buClr>
                <a:schemeClr val="folHlink"/>
              </a:buClr>
              <a:buFont typeface="Wingdings" pitchFamily="2" charset="2"/>
              <a:buChar char="l"/>
            </a:pPr>
            <a:r>
              <a:rPr lang="zh-CN" altLang="en-US" sz="2800" dirty="0">
                <a:latin typeface="+mn-ea"/>
              </a:rPr>
              <a:t>解释了为什么企业在配置资源时要给不同的领域以不同的优先权。</a:t>
            </a:r>
          </a:p>
          <a:p>
            <a:pPr marL="342900" indent="-342900">
              <a:spcBef>
                <a:spcPct val="20000"/>
              </a:spcBef>
              <a:buClr>
                <a:schemeClr val="folHlink"/>
              </a:buClr>
              <a:buFont typeface="Wingdings" pitchFamily="2" charset="2"/>
              <a:buChar char="l"/>
            </a:pPr>
            <a:r>
              <a:rPr lang="zh-CN" altLang="en-US" sz="2800" dirty="0">
                <a:latin typeface="+mn-ea"/>
              </a:rPr>
              <a:t>胜利的结局</a:t>
            </a:r>
            <a:r>
              <a:rPr lang="en-US" altLang="zh-CN" sz="2800" dirty="0">
                <a:latin typeface="+mn-ea"/>
              </a:rPr>
              <a:t>--</a:t>
            </a:r>
            <a:r>
              <a:rPr lang="zh-CN" altLang="en-US" sz="2800" dirty="0">
                <a:latin typeface="+mn-ea"/>
              </a:rPr>
              <a:t>问题产品改造成新星，而后变成金牛</a:t>
            </a:r>
          </a:p>
          <a:p>
            <a:pPr marL="342900" indent="-342900">
              <a:spcBef>
                <a:spcPct val="20000"/>
              </a:spcBef>
              <a:buClr>
                <a:schemeClr val="folHlink"/>
              </a:buClr>
              <a:buFont typeface="Wingdings" pitchFamily="2" charset="2"/>
              <a:buChar char="l"/>
            </a:pPr>
            <a:r>
              <a:rPr lang="zh-CN" altLang="en-US" sz="2800" dirty="0">
                <a:latin typeface="+mn-ea"/>
              </a:rPr>
              <a:t>两种灾难性的结局</a:t>
            </a:r>
          </a:p>
          <a:p>
            <a:pPr marL="342900" indent="-342900">
              <a:spcBef>
                <a:spcPct val="20000"/>
              </a:spcBef>
              <a:buClr>
                <a:schemeClr val="folHlink"/>
              </a:buClr>
            </a:pPr>
            <a:r>
              <a:rPr lang="zh-CN" altLang="en-US" sz="2800" dirty="0">
                <a:latin typeface="+mn-ea"/>
              </a:rPr>
              <a:t>    </a:t>
            </a:r>
            <a:r>
              <a:rPr lang="en-US" altLang="zh-CN" sz="2800" dirty="0">
                <a:latin typeface="+mn-ea"/>
              </a:rPr>
              <a:t>--</a:t>
            </a:r>
            <a:r>
              <a:rPr lang="zh-CN" altLang="en-US" sz="2800" dirty="0">
                <a:latin typeface="+mn-ea"/>
              </a:rPr>
              <a:t>明星产品演化成了问题产品并堕落成了 </a:t>
            </a:r>
            <a:r>
              <a:rPr lang="en-US" altLang="zh-CN" sz="2800" dirty="0">
                <a:latin typeface="+mn-ea"/>
              </a:rPr>
              <a:t>dog</a:t>
            </a:r>
          </a:p>
          <a:p>
            <a:pPr marL="342900" indent="-342900">
              <a:spcBef>
                <a:spcPct val="20000"/>
              </a:spcBef>
              <a:buClr>
                <a:schemeClr val="folHlink"/>
              </a:buClr>
            </a:pPr>
            <a:r>
              <a:rPr lang="en-US" altLang="zh-CN" sz="2800" dirty="0">
                <a:latin typeface="+mn-ea"/>
              </a:rPr>
              <a:t>    --</a:t>
            </a:r>
            <a:r>
              <a:rPr lang="zh-CN" altLang="en-US" sz="2800" dirty="0">
                <a:latin typeface="+mn-ea"/>
              </a:rPr>
              <a:t>牛失去了地位而进入狗舍</a:t>
            </a:r>
          </a:p>
        </p:txBody>
      </p:sp>
    </p:spTree>
    <p:extLst>
      <p:ext uri="{BB962C8B-B14F-4D97-AF65-F5344CB8AC3E}">
        <p14:creationId xmlns:p14="http://schemas.microsoft.com/office/powerpoint/2010/main" val="216236547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89573"/>
                                        </p:tgtEl>
                                        <p:attrNameLst>
                                          <p:attrName>style.visibility</p:attrName>
                                        </p:attrNameLst>
                                      </p:cBhvr>
                                      <p:to>
                                        <p:strVal val="visible"/>
                                      </p:to>
                                    </p:set>
                                    <p:anim calcmode="lin" valueType="num">
                                      <p:cBhvr additive="base">
                                        <p:cTn id="7" dur="500" fill="hold"/>
                                        <p:tgtEl>
                                          <p:spTgt spid="1389573"/>
                                        </p:tgtEl>
                                        <p:attrNameLst>
                                          <p:attrName>ppt_x</p:attrName>
                                        </p:attrNameLst>
                                      </p:cBhvr>
                                      <p:tavLst>
                                        <p:tav tm="0">
                                          <p:val>
                                            <p:strVal val="0-#ppt_w/2"/>
                                          </p:val>
                                        </p:tav>
                                        <p:tav tm="100000">
                                          <p:val>
                                            <p:strVal val="#ppt_x"/>
                                          </p:val>
                                        </p:tav>
                                      </p:tavLst>
                                    </p:anim>
                                    <p:anim calcmode="lin" valueType="num">
                                      <p:cBhvr additive="base">
                                        <p:cTn id="8" dur="500" fill="hold"/>
                                        <p:tgtEl>
                                          <p:spTgt spid="13895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9573" grpId="0"/>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847851" y="228600"/>
            <a:ext cx="8424863" cy="838200"/>
          </a:xfrm>
          <a:noFill/>
        </p:spPr>
        <p:txBody>
          <a:bodyPr/>
          <a:lstStyle/>
          <a:p>
            <a:pPr algn="l" eaLnBrk="1" hangingPunct="1"/>
            <a:r>
              <a:rPr lang="zh-CN" altLang="en-AU" dirty="0">
                <a:solidFill>
                  <a:srgbClr val="FFFF66"/>
                </a:solidFill>
              </a:rPr>
              <a:t>多元化战略</a:t>
            </a:r>
            <a:r>
              <a:rPr lang="zh-CN" altLang="en-US" dirty="0">
                <a:solidFill>
                  <a:srgbClr val="FFFF66"/>
                </a:solidFill>
              </a:rPr>
              <a:t>的分类</a:t>
            </a:r>
            <a:endParaRPr lang="zh-CN" altLang="en-AU" dirty="0">
              <a:solidFill>
                <a:srgbClr val="FFFF66"/>
              </a:solidFill>
            </a:endParaRPr>
          </a:p>
        </p:txBody>
      </p:sp>
      <p:sp>
        <p:nvSpPr>
          <p:cNvPr id="1378307" name="Rectangle 3"/>
          <p:cNvSpPr>
            <a:spLocks noChangeArrowheads="1"/>
          </p:cNvSpPr>
          <p:nvPr/>
        </p:nvSpPr>
        <p:spPr bwMode="auto">
          <a:xfrm>
            <a:off x="1847850" y="1447800"/>
            <a:ext cx="8534400" cy="4286250"/>
          </a:xfrm>
          <a:prstGeom prst="rect">
            <a:avLst/>
          </a:prstGeom>
          <a:noFill/>
          <a:ln w="12700">
            <a:noFill/>
            <a:miter lim="800000"/>
            <a:headEnd/>
            <a:tailEnd/>
          </a:ln>
        </p:spPr>
        <p:txBody>
          <a:bodyPr lIns="92075" tIns="46038" rIns="92075" bIns="46038"/>
          <a:lstStyle/>
          <a:p>
            <a:pPr marL="342900" indent="-342900">
              <a:lnSpc>
                <a:spcPct val="105000"/>
              </a:lnSpc>
              <a:spcBef>
                <a:spcPct val="30000"/>
              </a:spcBef>
              <a:buClr>
                <a:schemeClr val="tx1"/>
              </a:buClr>
              <a:buFont typeface="Arial" pitchFamily="34" charset="0"/>
              <a:buChar char="•"/>
            </a:pPr>
            <a:r>
              <a:rPr lang="zh-CN" altLang="en-US" sz="2800" dirty="0">
                <a:latin typeface="+mj-ea"/>
                <a:ea typeface="+mj-ea"/>
              </a:rPr>
              <a:t>相关多元化：公司进入与现有的业务在价值链上拥有战略匹配关系的新业务</a:t>
            </a:r>
            <a:endParaRPr lang="en-US" altLang="zh-CN" sz="2800" dirty="0">
              <a:latin typeface="+mj-ea"/>
              <a:ea typeface="+mj-ea"/>
            </a:endParaRPr>
          </a:p>
          <a:p>
            <a:pPr marL="800100" lvl="1" indent="-342900">
              <a:lnSpc>
                <a:spcPct val="105000"/>
              </a:lnSpc>
              <a:spcBef>
                <a:spcPct val="30000"/>
              </a:spcBef>
              <a:buClr>
                <a:schemeClr val="tx1"/>
              </a:buClr>
              <a:buFont typeface="Arial" pitchFamily="34" charset="0"/>
              <a:buChar char="•"/>
            </a:pPr>
            <a:r>
              <a:rPr lang="zh-CN" altLang="en-US" sz="2800" dirty="0">
                <a:latin typeface="+mj-ea"/>
                <a:ea typeface="+mj-ea"/>
              </a:rPr>
              <a:t>范围经济：一个公司内部经营两种或多种业务可以达到成本节约的效果，经营的总成本小于各项业务独立经营的成本之和。</a:t>
            </a:r>
            <a:endParaRPr lang="en-US" altLang="zh-CN" sz="2800" dirty="0">
              <a:latin typeface="+mj-ea"/>
              <a:ea typeface="+mj-ea"/>
            </a:endParaRPr>
          </a:p>
          <a:p>
            <a:pPr marL="800100" lvl="1" indent="-342900">
              <a:lnSpc>
                <a:spcPct val="105000"/>
              </a:lnSpc>
              <a:spcBef>
                <a:spcPct val="30000"/>
              </a:spcBef>
              <a:buClr>
                <a:schemeClr val="tx1"/>
              </a:buClr>
              <a:buFont typeface="Arial" pitchFamily="34" charset="0"/>
              <a:buChar char="•"/>
            </a:pPr>
            <a:r>
              <a:rPr lang="zh-CN" altLang="en-US" sz="2800" dirty="0">
                <a:latin typeface="+mj-ea"/>
                <a:ea typeface="+mj-ea"/>
              </a:rPr>
              <a:t>共享技术开发、品牌和渠道</a:t>
            </a:r>
          </a:p>
          <a:p>
            <a:pPr marL="342900" indent="-342900">
              <a:lnSpc>
                <a:spcPct val="105000"/>
              </a:lnSpc>
              <a:spcBef>
                <a:spcPct val="30000"/>
              </a:spcBef>
              <a:buClr>
                <a:schemeClr val="tx1"/>
              </a:buClr>
              <a:buFont typeface="Arial" pitchFamily="34" charset="0"/>
              <a:buChar char="•"/>
            </a:pPr>
            <a:r>
              <a:rPr lang="zh-CN" altLang="en-US" sz="2800" dirty="0">
                <a:latin typeface="+mj-ea"/>
                <a:ea typeface="+mj-ea"/>
              </a:rPr>
              <a:t>非相关多元化：公司增加与现有的产品或服务、技术或市场都没有直接或间接联系的大不相同的新产品或服务</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78307"/>
                                        </p:tgtEl>
                                        <p:attrNameLst>
                                          <p:attrName>style.visibility</p:attrName>
                                        </p:attrNameLst>
                                      </p:cBhvr>
                                      <p:to>
                                        <p:strVal val="visible"/>
                                      </p:to>
                                    </p:set>
                                    <p:anim calcmode="lin" valueType="num">
                                      <p:cBhvr additive="base">
                                        <p:cTn id="7" dur="500" fill="hold"/>
                                        <p:tgtEl>
                                          <p:spTgt spid="1378307"/>
                                        </p:tgtEl>
                                        <p:attrNameLst>
                                          <p:attrName>ppt_x</p:attrName>
                                        </p:attrNameLst>
                                      </p:cBhvr>
                                      <p:tavLst>
                                        <p:tav tm="0">
                                          <p:val>
                                            <p:strVal val="0-#ppt_w/2"/>
                                          </p:val>
                                        </p:tav>
                                        <p:tav tm="100000">
                                          <p:val>
                                            <p:strVal val="#ppt_x"/>
                                          </p:val>
                                        </p:tav>
                                      </p:tavLst>
                                    </p:anim>
                                    <p:anim calcmode="lin" valueType="num">
                                      <p:cBhvr additive="base">
                                        <p:cTn id="8" dur="500" fill="hold"/>
                                        <p:tgtEl>
                                          <p:spTgt spid="13783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07"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97408" y="828376"/>
            <a:ext cx="7958331" cy="1077229"/>
          </a:xfrm>
        </p:spPr>
        <p:txBody>
          <a:bodyPr/>
          <a:lstStyle/>
          <a:p>
            <a:r>
              <a:rPr lang="zh-CN" altLang="en-US" dirty="0"/>
              <a:t>多元化战略的动机</a:t>
            </a:r>
          </a:p>
        </p:txBody>
      </p:sp>
      <p:graphicFrame>
        <p:nvGraphicFramePr>
          <p:cNvPr id="4" name="内容占位符 3"/>
          <p:cNvGraphicFramePr>
            <a:graphicFrameLocks noGrp="1"/>
          </p:cNvGraphicFramePr>
          <p:nvPr>
            <p:ph idx="1"/>
          </p:nvPr>
        </p:nvGraphicFramePr>
        <p:xfrm>
          <a:off x="1847529" y="1646238"/>
          <a:ext cx="8496945" cy="3627120"/>
        </p:xfrm>
        <a:graphic>
          <a:graphicData uri="http://schemas.openxmlformats.org/drawingml/2006/table">
            <a:tbl>
              <a:tblPr firstRow="1" bandRow="1">
                <a:tableStyleId>{5C22544A-7EE6-4342-B048-85BDC9FD1C3A}</a:tableStyleId>
              </a:tblPr>
              <a:tblGrid>
                <a:gridCol w="3096344">
                  <a:extLst>
                    <a:ext uri="{9D8B030D-6E8A-4147-A177-3AD203B41FA5}">
                      <a16:colId xmlns:a16="http://schemas.microsoft.com/office/drawing/2014/main" val="20000"/>
                    </a:ext>
                  </a:extLst>
                </a:gridCol>
                <a:gridCol w="5400601">
                  <a:extLst>
                    <a:ext uri="{9D8B030D-6E8A-4147-A177-3AD203B41FA5}">
                      <a16:colId xmlns:a16="http://schemas.microsoft.com/office/drawing/2014/main" val="20001"/>
                    </a:ext>
                  </a:extLst>
                </a:gridCol>
              </a:tblGrid>
              <a:tr h="370840">
                <a:tc>
                  <a:txBody>
                    <a:bodyPr/>
                    <a:lstStyle/>
                    <a:p>
                      <a:r>
                        <a:rPr lang="zh-CN" altLang="en-US" sz="2800" dirty="0"/>
                        <a:t>战略目标</a:t>
                      </a:r>
                    </a:p>
                  </a:txBody>
                  <a:tcPr/>
                </a:tc>
                <a:tc>
                  <a:txBody>
                    <a:bodyPr/>
                    <a:lstStyle/>
                    <a:p>
                      <a:r>
                        <a:rPr lang="zh-CN" altLang="en-US" sz="2800" dirty="0"/>
                        <a:t>关键性条件</a:t>
                      </a:r>
                    </a:p>
                  </a:txBody>
                  <a:tcPr/>
                </a:tc>
                <a:extLst>
                  <a:ext uri="{0D108BD9-81ED-4DB2-BD59-A6C34878D82A}">
                    <a16:rowId xmlns:a16="http://schemas.microsoft.com/office/drawing/2014/main" val="10000"/>
                  </a:ext>
                </a:extLst>
              </a:tr>
              <a:tr h="370840">
                <a:tc>
                  <a:txBody>
                    <a:bodyPr/>
                    <a:lstStyle/>
                    <a:p>
                      <a:r>
                        <a:rPr lang="zh-CN" altLang="en-US" sz="2800" dirty="0"/>
                        <a:t>战略性的行业转移</a:t>
                      </a:r>
                    </a:p>
                  </a:txBody>
                  <a:tcPr/>
                </a:tc>
                <a:tc>
                  <a:txBody>
                    <a:bodyPr/>
                    <a:lstStyle/>
                    <a:p>
                      <a:r>
                        <a:rPr lang="zh-CN" altLang="en-US" sz="2800" dirty="0"/>
                        <a:t>现有行业逐步衰退</a:t>
                      </a:r>
                    </a:p>
                  </a:txBody>
                  <a:tcPr/>
                </a:tc>
                <a:extLst>
                  <a:ext uri="{0D108BD9-81ED-4DB2-BD59-A6C34878D82A}">
                    <a16:rowId xmlns:a16="http://schemas.microsoft.com/office/drawing/2014/main" val="10001"/>
                  </a:ext>
                </a:extLst>
              </a:tr>
              <a:tr h="370840">
                <a:tc>
                  <a:txBody>
                    <a:bodyPr/>
                    <a:lstStyle/>
                    <a:p>
                      <a:r>
                        <a:rPr lang="zh-CN" altLang="en-US" sz="2800" dirty="0"/>
                        <a:t>战术性的发展</a:t>
                      </a:r>
                    </a:p>
                  </a:txBody>
                  <a:tcPr/>
                </a:tc>
                <a:tc>
                  <a:txBody>
                    <a:bodyPr/>
                    <a:lstStyle/>
                    <a:p>
                      <a:r>
                        <a:rPr lang="zh-CN" altLang="en-US" sz="2800" dirty="0"/>
                        <a:t>新行业吸引力较大</a:t>
                      </a:r>
                    </a:p>
                  </a:txBody>
                  <a:tcPr/>
                </a:tc>
                <a:extLst>
                  <a:ext uri="{0D108BD9-81ED-4DB2-BD59-A6C34878D82A}">
                    <a16:rowId xmlns:a16="http://schemas.microsoft.com/office/drawing/2014/main" val="10002"/>
                  </a:ext>
                </a:extLst>
              </a:tr>
              <a:tr h="370840">
                <a:tc>
                  <a:txBody>
                    <a:bodyPr/>
                    <a:lstStyle/>
                    <a:p>
                      <a:r>
                        <a:rPr lang="zh-CN" altLang="en-US" sz="2800" dirty="0"/>
                        <a:t>范围经济</a:t>
                      </a:r>
                    </a:p>
                  </a:txBody>
                  <a:tcPr/>
                </a:tc>
                <a:tc>
                  <a:txBody>
                    <a:bodyPr/>
                    <a:lstStyle/>
                    <a:p>
                      <a:r>
                        <a:rPr lang="zh-CN" altLang="en-US" sz="2800" dirty="0"/>
                        <a:t>少量投入就可进入新行业</a:t>
                      </a:r>
                    </a:p>
                  </a:txBody>
                  <a:tcPr/>
                </a:tc>
                <a:extLst>
                  <a:ext uri="{0D108BD9-81ED-4DB2-BD59-A6C34878D82A}">
                    <a16:rowId xmlns:a16="http://schemas.microsoft.com/office/drawing/2014/main" val="10003"/>
                  </a:ext>
                </a:extLst>
              </a:tr>
              <a:tr h="370840">
                <a:tc>
                  <a:txBody>
                    <a:bodyPr/>
                    <a:lstStyle/>
                    <a:p>
                      <a:r>
                        <a:rPr lang="zh-CN" altLang="en-US" sz="2800" dirty="0"/>
                        <a:t>提高获取核心能力</a:t>
                      </a:r>
                    </a:p>
                  </a:txBody>
                  <a:tcPr/>
                </a:tc>
                <a:tc>
                  <a:txBody>
                    <a:bodyPr/>
                    <a:lstStyle/>
                    <a:p>
                      <a:r>
                        <a:rPr lang="zh-CN" altLang="en-US" sz="2800" dirty="0"/>
                        <a:t>拥有核心能力技术</a:t>
                      </a:r>
                      <a:r>
                        <a:rPr lang="en-US" altLang="zh-CN" sz="2800" dirty="0"/>
                        <a:t>/</a:t>
                      </a:r>
                      <a:r>
                        <a:rPr lang="zh-CN" altLang="en-US" sz="2800" dirty="0"/>
                        <a:t>市场相关度高</a:t>
                      </a:r>
                    </a:p>
                  </a:txBody>
                  <a:tcPr/>
                </a:tc>
                <a:extLst>
                  <a:ext uri="{0D108BD9-81ED-4DB2-BD59-A6C34878D82A}">
                    <a16:rowId xmlns:a16="http://schemas.microsoft.com/office/drawing/2014/main" val="10004"/>
                  </a:ext>
                </a:extLst>
              </a:tr>
              <a:tr h="370840">
                <a:tc>
                  <a:txBody>
                    <a:bodyPr/>
                    <a:lstStyle/>
                    <a:p>
                      <a:r>
                        <a:rPr lang="zh-CN" altLang="en-US" sz="2800" dirty="0"/>
                        <a:t>分散风险</a:t>
                      </a:r>
                    </a:p>
                  </a:txBody>
                  <a:tcPr/>
                </a:tc>
                <a:tc>
                  <a:txBody>
                    <a:bodyPr/>
                    <a:lstStyle/>
                    <a:p>
                      <a:r>
                        <a:rPr lang="zh-CN" altLang="en-US" sz="2800" dirty="0"/>
                        <a:t>现有行业市场</a:t>
                      </a:r>
                      <a:r>
                        <a:rPr lang="en-US" altLang="zh-CN" sz="2800" dirty="0"/>
                        <a:t>/</a:t>
                      </a:r>
                      <a:r>
                        <a:rPr lang="zh-CN" altLang="en-US" sz="2800" dirty="0"/>
                        <a:t>技术变化大</a:t>
                      </a:r>
                    </a:p>
                  </a:txBody>
                  <a:tcPr/>
                </a:tc>
                <a:extLst>
                  <a:ext uri="{0D108BD9-81ED-4DB2-BD59-A6C34878D82A}">
                    <a16:rowId xmlns:a16="http://schemas.microsoft.com/office/drawing/2014/main" val="10005"/>
                  </a:ext>
                </a:extLst>
              </a:tr>
              <a:tr h="370840">
                <a:tc>
                  <a:txBody>
                    <a:bodyPr/>
                    <a:lstStyle/>
                    <a:p>
                      <a:r>
                        <a:rPr lang="zh-CN" altLang="en-US" sz="2800" dirty="0"/>
                        <a:t>追求成长</a:t>
                      </a:r>
                    </a:p>
                  </a:txBody>
                  <a:tcPr/>
                </a:tc>
                <a:tc>
                  <a:txBody>
                    <a:bodyPr/>
                    <a:lstStyle/>
                    <a:p>
                      <a:r>
                        <a:rPr lang="zh-CN" altLang="en-US" sz="2800" dirty="0"/>
                        <a:t>现有市场饱和</a:t>
                      </a:r>
                      <a:r>
                        <a:rPr lang="en-US" altLang="zh-CN" sz="2800" dirty="0"/>
                        <a:t>/</a:t>
                      </a:r>
                      <a:r>
                        <a:rPr lang="zh-CN" altLang="en-US" sz="2800" dirty="0"/>
                        <a:t>产品竞争力低</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48" y="749808"/>
            <a:ext cx="8229600" cy="1005840"/>
          </a:xfrm>
        </p:spPr>
        <p:txBody>
          <a:bodyPr/>
          <a:lstStyle/>
          <a:p>
            <a:r>
              <a:rPr sz="3000" b="1">
                <a:solidFill>
                  <a:srgbClr val="262626"/>
                </a:solidFill>
                <a:latin typeface="等线"/>
              </a:rPr>
              <a:t>案例：多元化战略动机的企业实例对照</a:t>
            </a:r>
          </a:p>
        </p:txBody>
      </p:sp>
      <p:graphicFrame>
        <p:nvGraphicFramePr>
          <p:cNvPr id="3" name="Table 2"/>
          <p:cNvGraphicFramePr>
            <a:graphicFrameLocks noGrp="1"/>
          </p:cNvGraphicFramePr>
          <p:nvPr>
            <p:extLst>
              <p:ext uri="{D42A27DB-BD31-4B8C-83A1-F6EECF244321}">
                <p14:modId xmlns:p14="http://schemas.microsoft.com/office/powerpoint/2010/main" val="3080361551"/>
              </p:ext>
            </p:extLst>
          </p:nvPr>
        </p:nvGraphicFramePr>
        <p:xfrm>
          <a:off x="1325880" y="1719072"/>
          <a:ext cx="9875520" cy="4352544"/>
        </p:xfrm>
        <a:graphic>
          <a:graphicData uri="http://schemas.openxmlformats.org/drawingml/2006/table">
            <a:tbl>
              <a:tblPr firstRow="1">
                <a:tableStyleId>{5C22544A-7EE6-4342-B048-85BDC9FD1C3A}</a:tableStyleId>
              </a:tblPr>
              <a:tblGrid>
                <a:gridCol w="2240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6537960">
                  <a:extLst>
                    <a:ext uri="{9D8B030D-6E8A-4147-A177-3AD203B41FA5}">
                      <a16:colId xmlns:a16="http://schemas.microsoft.com/office/drawing/2014/main" val="20002"/>
                    </a:ext>
                  </a:extLst>
                </a:gridCol>
              </a:tblGrid>
              <a:tr h="621792">
                <a:tc>
                  <a:txBody>
                    <a:bodyPr/>
                    <a:lstStyle/>
                    <a:p>
                      <a:pPr algn="ctr"/>
                      <a:r>
                        <a:rPr sz="1200" b="1">
                          <a:solidFill>
                            <a:srgbClr val="FFFFFF"/>
                          </a:solidFill>
                          <a:latin typeface="等线"/>
                        </a:rPr>
                        <a:t>动机（关键性条件）</a:t>
                      </a:r>
                    </a:p>
                  </a:txBody>
                  <a:tcPr marL="36576" marR="36576" marT="9144" marB="9144" anchor="ctr">
                    <a:solidFill>
                      <a:srgbClr val="4472C4"/>
                    </a:solidFill>
                  </a:tcPr>
                </a:tc>
                <a:tc>
                  <a:txBody>
                    <a:bodyPr/>
                    <a:lstStyle/>
                    <a:p>
                      <a:pPr algn="ctr"/>
                      <a:r>
                        <a:rPr sz="1200" b="1">
                          <a:solidFill>
                            <a:srgbClr val="FFFFFF"/>
                          </a:solidFill>
                          <a:latin typeface="等线"/>
                        </a:rPr>
                        <a:t>案例</a:t>
                      </a:r>
                    </a:p>
                  </a:txBody>
                  <a:tcPr marL="36576" marR="36576" marT="9144" marB="9144" anchor="ctr">
                    <a:solidFill>
                      <a:srgbClr val="4472C4"/>
                    </a:solidFill>
                  </a:tcPr>
                </a:tc>
                <a:tc>
                  <a:txBody>
                    <a:bodyPr/>
                    <a:lstStyle/>
                    <a:p>
                      <a:pPr algn="ctr"/>
                      <a:r>
                        <a:rPr sz="1200" b="1">
                          <a:solidFill>
                            <a:srgbClr val="FFFFFF"/>
                          </a:solidFill>
                          <a:latin typeface="等线"/>
                        </a:rPr>
                        <a:t>事实与战略解读</a:t>
                      </a:r>
                    </a:p>
                  </a:txBody>
                  <a:tcPr marL="36576" marR="36576" marT="9144" marB="9144" anchor="ctr">
                    <a:solidFill>
                      <a:srgbClr val="4472C4"/>
                    </a:solidFill>
                  </a:tcPr>
                </a:tc>
                <a:extLst>
                  <a:ext uri="{0D108BD9-81ED-4DB2-BD59-A6C34878D82A}">
                    <a16:rowId xmlns:a16="http://schemas.microsoft.com/office/drawing/2014/main" val="10000"/>
                  </a:ext>
                </a:extLst>
              </a:tr>
              <a:tr h="621792">
                <a:tc>
                  <a:txBody>
                    <a:bodyPr/>
                    <a:lstStyle/>
                    <a:p>
                      <a:pPr algn="l"/>
                      <a:r>
                        <a:rPr sz="1100" b="0">
                          <a:solidFill>
                            <a:srgbClr val="262626"/>
                          </a:solidFill>
                          <a:latin typeface="等线"/>
                        </a:rPr>
                        <a:t>战略性的行业转移</a:t>
                      </a:r>
                    </a:p>
                    <a:p>
                      <a:r>
                        <a:t>（现有行业衰退）</a:t>
                      </a:r>
                    </a:p>
                  </a:txBody>
                  <a:tcPr marL="36576" marR="36576" marT="9144" marB="9144" anchor="ctr"/>
                </a:tc>
                <a:tc>
                  <a:txBody>
                    <a:bodyPr/>
                    <a:lstStyle/>
                    <a:p>
                      <a:pPr algn="ctr"/>
                      <a:r>
                        <a:rPr sz="1100" b="0">
                          <a:solidFill>
                            <a:srgbClr val="262626"/>
                          </a:solidFill>
                          <a:latin typeface="等线"/>
                        </a:rPr>
                        <a:t>IBM</a:t>
                      </a:r>
                    </a:p>
                  </a:txBody>
                  <a:tcPr marL="36576" marR="36576" marT="9144" marB="9144" anchor="ctr"/>
                </a:tc>
                <a:tc>
                  <a:txBody>
                    <a:bodyPr/>
                    <a:lstStyle/>
                    <a:p>
                      <a:pPr algn="ctr"/>
                      <a:r>
                        <a:rPr sz="1100" b="0">
                          <a:solidFill>
                            <a:srgbClr val="262626"/>
                          </a:solidFill>
                          <a:latin typeface="等线"/>
                        </a:rPr>
                        <a:t>大型机与硬件业增长见顶，战略重心转向软件与服务：2002年收购普华永道咨询、2004年将PC业务以12.5亿美元售予联想、2019年340亿美元收购红帽——"卖掉昨天，买入明天"</a:t>
                      </a:r>
                    </a:p>
                  </a:txBody>
                  <a:tcPr marL="36576" marR="36576" marT="9144" marB="9144" anchor="ctr"/>
                </a:tc>
                <a:extLst>
                  <a:ext uri="{0D108BD9-81ED-4DB2-BD59-A6C34878D82A}">
                    <a16:rowId xmlns:a16="http://schemas.microsoft.com/office/drawing/2014/main" val="10001"/>
                  </a:ext>
                </a:extLst>
              </a:tr>
              <a:tr h="621792">
                <a:tc>
                  <a:txBody>
                    <a:bodyPr/>
                    <a:lstStyle/>
                    <a:p>
                      <a:pPr algn="l"/>
                      <a:r>
                        <a:rPr sz="1100" b="0">
                          <a:solidFill>
                            <a:srgbClr val="262626"/>
                          </a:solidFill>
                          <a:latin typeface="等线"/>
                        </a:rPr>
                        <a:t>战术性的发展</a:t>
                      </a:r>
                    </a:p>
                    <a:p>
                      <a:r>
                        <a:t>（行业吸引力大）</a:t>
                      </a:r>
                    </a:p>
                  </a:txBody>
                  <a:tcPr marL="36576" marR="36576" marT="9144" marB="9144" anchor="ctr"/>
                </a:tc>
                <a:tc>
                  <a:txBody>
                    <a:bodyPr/>
                    <a:lstStyle/>
                    <a:p>
                      <a:pPr algn="ctr"/>
                      <a:r>
                        <a:rPr sz="1100" b="0">
                          <a:solidFill>
                            <a:srgbClr val="262626"/>
                          </a:solidFill>
                          <a:latin typeface="等线"/>
                        </a:rPr>
                        <a:t>小米</a:t>
                      </a:r>
                    </a:p>
                  </a:txBody>
                  <a:tcPr marL="36576" marR="36576" marT="9144" marB="9144" anchor="ctr"/>
                </a:tc>
                <a:tc>
                  <a:txBody>
                    <a:bodyPr/>
                    <a:lstStyle/>
                    <a:p>
                      <a:pPr algn="ctr"/>
                      <a:r>
                        <a:rPr sz="1100" b="0">
                          <a:solidFill>
                            <a:srgbClr val="262626"/>
                          </a:solidFill>
                          <a:latin typeface="等线"/>
                        </a:rPr>
                        <a:t>2021年宣布造车（雷军称"最后一次创业"）——智能电动车渗透率快速提升、行业吸引力大；SU7上市9个月首年交付13.7万辆，2024年汽车业务收入328亿元（仍净亏损62亿元：吸引力≠立即盈利）</a:t>
                      </a:r>
                    </a:p>
                  </a:txBody>
                  <a:tcPr marL="36576" marR="36576" marT="9144" marB="9144" anchor="ctr"/>
                </a:tc>
                <a:extLst>
                  <a:ext uri="{0D108BD9-81ED-4DB2-BD59-A6C34878D82A}">
                    <a16:rowId xmlns:a16="http://schemas.microsoft.com/office/drawing/2014/main" val="10002"/>
                  </a:ext>
                </a:extLst>
              </a:tr>
              <a:tr h="621792">
                <a:tc>
                  <a:txBody>
                    <a:bodyPr/>
                    <a:lstStyle/>
                    <a:p>
                      <a:pPr algn="l"/>
                      <a:r>
                        <a:rPr sz="1100" b="0">
                          <a:solidFill>
                            <a:srgbClr val="262626"/>
                          </a:solidFill>
                          <a:latin typeface="等线"/>
                        </a:rPr>
                        <a:t>范围经济</a:t>
                      </a:r>
                    </a:p>
                    <a:p>
                      <a:r>
                        <a:t>（少量投入进入）</a:t>
                      </a:r>
                    </a:p>
                  </a:txBody>
                  <a:tcPr marL="36576" marR="36576" marT="9144" marB="9144" anchor="ctr"/>
                </a:tc>
                <a:tc>
                  <a:txBody>
                    <a:bodyPr/>
                    <a:lstStyle/>
                    <a:p>
                      <a:pPr algn="ctr"/>
                      <a:r>
                        <a:rPr sz="1100" b="0">
                          <a:solidFill>
                            <a:srgbClr val="262626"/>
                          </a:solidFill>
                          <a:latin typeface="等线"/>
                        </a:rPr>
                        <a:t>云南白药</a:t>
                      </a:r>
                    </a:p>
                  </a:txBody>
                  <a:tcPr marL="36576" marR="36576" marT="9144" marB="9144" anchor="ctr"/>
                </a:tc>
                <a:tc>
                  <a:txBody>
                    <a:bodyPr/>
                    <a:lstStyle/>
                    <a:p>
                      <a:pPr algn="ctr"/>
                      <a:r>
                        <a:rPr sz="1100" b="0" dirty="0">
                          <a:solidFill>
                            <a:srgbClr val="262626"/>
                          </a:solidFill>
                          <a:latin typeface="等线"/>
                        </a:rPr>
                        <a:t>借"</a:t>
                      </a:r>
                      <a:r>
                        <a:rPr lang="zh-CN" altLang="en-US" sz="1100" b="0" dirty="0">
                          <a:solidFill>
                            <a:srgbClr val="262626"/>
                          </a:solidFill>
                          <a:latin typeface="等线"/>
                        </a:rPr>
                        <a:t>云南白药、</a:t>
                      </a:r>
                      <a:r>
                        <a:rPr sz="1100" b="0" dirty="0" err="1">
                          <a:solidFill>
                            <a:srgbClr val="262626"/>
                          </a:solidFill>
                          <a:latin typeface="等线"/>
                        </a:rPr>
                        <a:t>止血护龈"品牌</a:t>
                      </a:r>
                      <a:r>
                        <a:rPr lang="zh-CN" altLang="en-US" sz="1100" b="0" dirty="0">
                          <a:solidFill>
                            <a:srgbClr val="262626"/>
                          </a:solidFill>
                          <a:latin typeface="等线"/>
                        </a:rPr>
                        <a:t>，</a:t>
                      </a:r>
                      <a:r>
                        <a:rPr sz="1100" b="0" dirty="0">
                          <a:solidFill>
                            <a:srgbClr val="262626"/>
                          </a:solidFill>
                          <a:latin typeface="等线"/>
                        </a:rPr>
                        <a:t>与药店、商超渠道延伸进牙膏：2005年推出后快速登顶，2024年稳居国内全渠道牙膏份额第一，健康品事业群收入65亿元——</a:t>
                      </a:r>
                      <a:r>
                        <a:rPr sz="1100" b="0" dirty="0" err="1">
                          <a:solidFill>
                            <a:srgbClr val="262626"/>
                          </a:solidFill>
                          <a:latin typeface="等线"/>
                        </a:rPr>
                        <a:t>品牌与渠道复用，进入成本远低于新建品牌</a:t>
                      </a:r>
                      <a:endParaRPr sz="1100" b="0" dirty="0">
                        <a:solidFill>
                          <a:srgbClr val="262626"/>
                        </a:solidFill>
                        <a:latin typeface="等线"/>
                      </a:endParaRPr>
                    </a:p>
                  </a:txBody>
                  <a:tcPr marL="36576" marR="36576" marT="9144" marB="9144" anchor="ctr"/>
                </a:tc>
                <a:extLst>
                  <a:ext uri="{0D108BD9-81ED-4DB2-BD59-A6C34878D82A}">
                    <a16:rowId xmlns:a16="http://schemas.microsoft.com/office/drawing/2014/main" val="10003"/>
                  </a:ext>
                </a:extLst>
              </a:tr>
              <a:tr h="621792">
                <a:tc>
                  <a:txBody>
                    <a:bodyPr/>
                    <a:lstStyle/>
                    <a:p>
                      <a:pPr algn="l"/>
                      <a:r>
                        <a:rPr sz="1100" b="0">
                          <a:solidFill>
                            <a:srgbClr val="262626"/>
                          </a:solidFill>
                          <a:latin typeface="等线"/>
                        </a:rPr>
                        <a:t>提高获取核心能力</a:t>
                      </a:r>
                    </a:p>
                    <a:p>
                      <a:r>
                        <a:t>（技术/市场相关）</a:t>
                      </a:r>
                    </a:p>
                  </a:txBody>
                  <a:tcPr marL="36576" marR="36576" marT="9144" marB="9144" anchor="ctr"/>
                </a:tc>
                <a:tc>
                  <a:txBody>
                    <a:bodyPr/>
                    <a:lstStyle/>
                    <a:p>
                      <a:pPr algn="ctr"/>
                      <a:r>
                        <a:rPr sz="1100" b="0">
                          <a:solidFill>
                            <a:srgbClr val="262626"/>
                          </a:solidFill>
                          <a:latin typeface="等线"/>
                        </a:rPr>
                        <a:t>吉利</a:t>
                      </a:r>
                    </a:p>
                  </a:txBody>
                  <a:tcPr marL="36576" marR="36576" marT="9144" marB="9144" anchor="ctr"/>
                </a:tc>
                <a:tc>
                  <a:txBody>
                    <a:bodyPr/>
                    <a:lstStyle/>
                    <a:p>
                      <a:pPr algn="ctr"/>
                      <a:r>
                        <a:rPr sz="1100" b="0">
                          <a:solidFill>
                            <a:srgbClr val="262626"/>
                          </a:solidFill>
                          <a:latin typeface="等线"/>
                        </a:rPr>
                        <a:t>2010年以18亿美元收购沃尔沃100%股权：获取整车平台与安全技术；双方联合开发CMA架构反哺领克与吉利主品牌——"买能力"而非"买产能"</a:t>
                      </a:r>
                    </a:p>
                  </a:txBody>
                  <a:tcPr marL="36576" marR="36576" marT="9144" marB="9144" anchor="ctr"/>
                </a:tc>
                <a:extLst>
                  <a:ext uri="{0D108BD9-81ED-4DB2-BD59-A6C34878D82A}">
                    <a16:rowId xmlns:a16="http://schemas.microsoft.com/office/drawing/2014/main" val="10004"/>
                  </a:ext>
                </a:extLst>
              </a:tr>
              <a:tr h="621792">
                <a:tc>
                  <a:txBody>
                    <a:bodyPr/>
                    <a:lstStyle/>
                    <a:p>
                      <a:pPr algn="l"/>
                      <a:r>
                        <a:rPr sz="1100" b="0">
                          <a:solidFill>
                            <a:srgbClr val="262626"/>
                          </a:solidFill>
                          <a:latin typeface="等线"/>
                        </a:rPr>
                        <a:t>分散风险</a:t>
                      </a:r>
                    </a:p>
                    <a:p>
                      <a:r>
                        <a:t>（行业变化大）</a:t>
                      </a:r>
                    </a:p>
                  </a:txBody>
                  <a:tcPr marL="36576" marR="36576" marT="9144" marB="9144" anchor="ctr"/>
                </a:tc>
                <a:tc>
                  <a:txBody>
                    <a:bodyPr/>
                    <a:lstStyle/>
                    <a:p>
                      <a:pPr algn="ctr"/>
                      <a:r>
                        <a:rPr sz="1100" b="0">
                          <a:solidFill>
                            <a:srgbClr val="262626"/>
                          </a:solidFill>
                          <a:latin typeface="等线"/>
                        </a:rPr>
                        <a:t>和记黄埔</a:t>
                      </a:r>
                    </a:p>
                  </a:txBody>
                  <a:tcPr marL="36576" marR="36576" marT="9144" marB="9144" anchor="ctr"/>
                </a:tc>
                <a:tc>
                  <a:txBody>
                    <a:bodyPr/>
                    <a:lstStyle/>
                    <a:p>
                      <a:pPr algn="ctr"/>
                      <a:r>
                        <a:rPr sz="1100" b="0">
                          <a:solidFill>
                            <a:srgbClr val="262626"/>
                          </a:solidFill>
                          <a:latin typeface="等线"/>
                        </a:rPr>
                        <a:t>港口、零售（屈臣氏）、基建、能源、电信多板块组合：周期与地域错位，平滑单一行业的现金流波动——典型的财务协同型（非相关）多元化</a:t>
                      </a:r>
                    </a:p>
                  </a:txBody>
                  <a:tcPr marL="36576" marR="36576" marT="9144" marB="9144" anchor="ctr"/>
                </a:tc>
                <a:extLst>
                  <a:ext uri="{0D108BD9-81ED-4DB2-BD59-A6C34878D82A}">
                    <a16:rowId xmlns:a16="http://schemas.microsoft.com/office/drawing/2014/main" val="10005"/>
                  </a:ext>
                </a:extLst>
              </a:tr>
              <a:tr h="621792">
                <a:tc>
                  <a:txBody>
                    <a:bodyPr/>
                    <a:lstStyle/>
                    <a:p>
                      <a:pPr algn="l"/>
                      <a:r>
                        <a:rPr sz="1100" b="0">
                          <a:solidFill>
                            <a:srgbClr val="262626"/>
                          </a:solidFill>
                          <a:latin typeface="等线"/>
                        </a:rPr>
                        <a:t>追求成长</a:t>
                      </a:r>
                    </a:p>
                    <a:p>
                      <a:r>
                        <a:t>（现有市场饱和）</a:t>
                      </a:r>
                    </a:p>
                  </a:txBody>
                  <a:tcPr marL="36576" marR="36576" marT="9144" marB="9144" anchor="ctr"/>
                </a:tc>
                <a:tc>
                  <a:txBody>
                    <a:bodyPr/>
                    <a:lstStyle/>
                    <a:p>
                      <a:pPr algn="ctr"/>
                      <a:r>
                        <a:rPr sz="1100" b="0">
                          <a:solidFill>
                            <a:srgbClr val="262626"/>
                          </a:solidFill>
                          <a:latin typeface="等线"/>
                        </a:rPr>
                        <a:t>伊利</a:t>
                      </a:r>
                    </a:p>
                  </a:txBody>
                  <a:tcPr marL="36576" marR="36576" marT="9144" marB="9144" anchor="ctr"/>
                </a:tc>
                <a:tc>
                  <a:txBody>
                    <a:bodyPr/>
                    <a:lstStyle/>
                    <a:p>
                      <a:pPr algn="ctr"/>
                      <a:r>
                        <a:rPr sz="1100" b="0" dirty="0">
                          <a:solidFill>
                            <a:srgbClr val="262626"/>
                          </a:solidFill>
                          <a:latin typeface="等线"/>
                        </a:rPr>
                        <a:t>液态奶渗透率见顶、增速放缓：2021年以62.45亿港元收购澳优34.33%股权成为第一大股东，进军婴幼儿奶粉（佳贝艾特羊奶粉市占率第一）——</a:t>
                      </a:r>
                      <a:r>
                        <a:rPr sz="1100" b="0" dirty="0" err="1">
                          <a:solidFill>
                            <a:srgbClr val="262626"/>
                          </a:solidFill>
                          <a:latin typeface="等线"/>
                        </a:rPr>
                        <a:t>在存量市场之外寻找第二增长曲线</a:t>
                      </a:r>
                      <a:endParaRPr sz="1100" b="0" dirty="0">
                        <a:solidFill>
                          <a:srgbClr val="262626"/>
                        </a:solidFill>
                        <a:latin typeface="等线"/>
                      </a:endParaRPr>
                    </a:p>
                  </a:txBody>
                  <a:tcPr marL="36576" marR="36576" marT="9144" marB="9144" anchor="ctr"/>
                </a:tc>
                <a:extLst>
                  <a:ext uri="{0D108BD9-81ED-4DB2-BD59-A6C34878D82A}">
                    <a16:rowId xmlns:a16="http://schemas.microsoft.com/office/drawing/2014/main" val="10006"/>
                  </a:ext>
                </a:extLst>
              </a:tr>
            </a:tbl>
          </a:graphicData>
        </a:graphic>
      </p:graphicFrame>
      <p:sp>
        <p:nvSpPr>
          <p:cNvPr id="4" name="TextBox 3"/>
          <p:cNvSpPr txBox="1"/>
          <p:nvPr/>
        </p:nvSpPr>
        <p:spPr>
          <a:xfrm>
            <a:off x="1325880" y="6163056"/>
            <a:ext cx="9875520" cy="640080"/>
          </a:xfrm>
          <a:prstGeom prst="rect">
            <a:avLst/>
          </a:prstGeom>
          <a:noFill/>
        </p:spPr>
        <p:txBody>
          <a:bodyPr wrap="square">
            <a:spAutoFit/>
          </a:bodyPr>
          <a:lstStyle/>
          <a:p>
            <a:r>
              <a:rPr sz="1200" b="1">
                <a:solidFill>
                  <a:srgbClr val="30508C"/>
                </a:solidFill>
                <a:latin typeface="等线"/>
              </a:rPr>
              <a:t>判别主线：范围经济与核心能力导向 → 相关多元化（云南白药、吉利）；分散风险与追求成长 → 易滑向非相关（和黄）。反面警示：恒大冰泉（战术性发展＋追求成长，但无战略匹配）累计亏损近40亿元、2016年27亿元出售——动机≠正当性，判据仍是战略匹配。</a:t>
            </a:r>
          </a:p>
          <a:p>
            <a:r>
              <a:rPr sz="1100" i="1">
                <a:solidFill>
                  <a:srgbClr val="7F7F7F"/>
                </a:solidFill>
                <a:latin typeface="等线"/>
              </a:rPr>
              <a:t>资料来源：各公司年报、公告及公开披露（尼尔森零售研究、小米集团2024年报、恒大2016年出售公告）；动机框架对应前页"多元化战略的动机"</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567816" y="646114"/>
            <a:ext cx="6480175" cy="838200"/>
          </a:xfrm>
          <a:noFill/>
        </p:spPr>
        <p:txBody>
          <a:bodyPr/>
          <a:lstStyle/>
          <a:p>
            <a:pPr algn="l" eaLnBrk="1" hangingPunct="1"/>
            <a:r>
              <a:rPr lang="zh-CN" altLang="en-AU" dirty="0">
                <a:solidFill>
                  <a:srgbClr val="FFFF66"/>
                </a:solidFill>
              </a:rPr>
              <a:t>多元化战略的优势</a:t>
            </a:r>
          </a:p>
        </p:txBody>
      </p:sp>
      <p:sp>
        <p:nvSpPr>
          <p:cNvPr id="1354755" name="Rectangle 3"/>
          <p:cNvSpPr>
            <a:spLocks noChangeArrowheads="1"/>
          </p:cNvSpPr>
          <p:nvPr/>
        </p:nvSpPr>
        <p:spPr bwMode="auto">
          <a:xfrm>
            <a:off x="1847850" y="1484314"/>
            <a:ext cx="8534400" cy="4370387"/>
          </a:xfrm>
          <a:prstGeom prst="rect">
            <a:avLst/>
          </a:prstGeom>
          <a:noFill/>
          <a:ln w="12700">
            <a:noFill/>
            <a:miter lim="800000"/>
            <a:headEnd/>
            <a:tailEnd/>
          </a:ln>
        </p:spPr>
        <p:txBody>
          <a:bodyPr lIns="92075" tIns="46038" rIns="92075" bIns="46038"/>
          <a:lstStyle/>
          <a:p>
            <a:pPr marL="342900" indent="-342900">
              <a:lnSpc>
                <a:spcPct val="105000"/>
              </a:lnSpc>
              <a:spcBef>
                <a:spcPct val="30000"/>
              </a:spcBef>
              <a:buClr>
                <a:schemeClr val="tx1"/>
              </a:buClr>
            </a:pPr>
            <a:r>
              <a:rPr lang="zh-CN" altLang="en-US" sz="2800" dirty="0">
                <a:latin typeface="+mn-ea"/>
              </a:rPr>
              <a:t>相关多元化：</a:t>
            </a:r>
          </a:p>
          <a:p>
            <a:pPr marL="457200" indent="-457200">
              <a:lnSpc>
                <a:spcPct val="105000"/>
              </a:lnSpc>
              <a:spcBef>
                <a:spcPct val="30000"/>
              </a:spcBef>
              <a:buClr>
                <a:schemeClr val="tx1"/>
              </a:buClr>
              <a:buSzPct val="80000"/>
              <a:buFont typeface="Wingdings" pitchFamily="2" charset="2"/>
              <a:buChar char="l"/>
            </a:pPr>
            <a:r>
              <a:rPr lang="zh-CN" altLang="en-US" sz="2800" dirty="0">
                <a:latin typeface="+mn-ea"/>
              </a:rPr>
              <a:t>将专有技能、关键技能由一种经营业务转移到另一经营业务中</a:t>
            </a:r>
          </a:p>
          <a:p>
            <a:pPr marL="457200" indent="-457200">
              <a:lnSpc>
                <a:spcPct val="105000"/>
              </a:lnSpc>
              <a:spcBef>
                <a:spcPct val="30000"/>
              </a:spcBef>
              <a:buClr>
                <a:schemeClr val="tx1"/>
              </a:buClr>
              <a:buSzPct val="80000"/>
              <a:buFont typeface="Wingdings" pitchFamily="2" charset="2"/>
              <a:buChar char="l"/>
            </a:pPr>
            <a:r>
              <a:rPr lang="zh-CN" altLang="en-US" sz="2800" dirty="0">
                <a:latin typeface="+mn-ea"/>
              </a:rPr>
              <a:t>将不同经营业务的相关活动合并在一起，降低成本</a:t>
            </a:r>
          </a:p>
          <a:p>
            <a:pPr marL="457200" indent="-457200">
              <a:lnSpc>
                <a:spcPct val="105000"/>
              </a:lnSpc>
              <a:spcBef>
                <a:spcPct val="30000"/>
              </a:spcBef>
              <a:buClr>
                <a:schemeClr val="tx1"/>
              </a:buClr>
              <a:buSzPct val="80000"/>
              <a:buFont typeface="Wingdings" pitchFamily="2" charset="2"/>
              <a:buChar char="l"/>
            </a:pPr>
            <a:r>
              <a:rPr lang="zh-CN" altLang="en-US" sz="2800" dirty="0">
                <a:latin typeface="+mn-ea"/>
              </a:rPr>
              <a:t> 在新的经营业务中借用公司品牌的信誉</a:t>
            </a:r>
          </a:p>
          <a:p>
            <a:pPr marL="457200" indent="-457200">
              <a:lnSpc>
                <a:spcPct val="105000"/>
              </a:lnSpc>
              <a:spcBef>
                <a:spcPct val="30000"/>
              </a:spcBef>
              <a:buClr>
                <a:schemeClr val="tx1"/>
              </a:buClr>
              <a:buSzPct val="80000"/>
              <a:buFont typeface="Wingdings" pitchFamily="2" charset="2"/>
              <a:buChar char="l"/>
            </a:pPr>
            <a:r>
              <a:rPr lang="zh-CN" altLang="en-US" sz="2800" dirty="0">
                <a:latin typeface="+mn-ea"/>
              </a:rPr>
              <a:t>以能够创造有价值的竞争能力的协作方式实施相关的价值链活动</a:t>
            </a:r>
          </a:p>
          <a:p>
            <a:pPr marL="342900" indent="-342900">
              <a:lnSpc>
                <a:spcPct val="105000"/>
              </a:lnSpc>
              <a:spcBef>
                <a:spcPct val="30000"/>
              </a:spcBef>
              <a:buClr>
                <a:schemeClr val="tx1"/>
              </a:buClr>
              <a:buFont typeface="Wingdings" pitchFamily="2" charset="2"/>
              <a:buChar char="l"/>
            </a:pPr>
            <a:endParaRPr lang="en-US" altLang="zh-CN" sz="2800" dirty="0">
              <a:solidFill>
                <a:srgbClr val="000066"/>
              </a:solidFill>
              <a:latin typeface="Arial" pitchFamily="34" charset="0"/>
              <a:ea typeface="宋体" pitchFamily="2" charset="-122"/>
            </a:endParaRP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54755"/>
                                        </p:tgtEl>
                                        <p:attrNameLst>
                                          <p:attrName>style.visibility</p:attrName>
                                        </p:attrNameLst>
                                      </p:cBhvr>
                                      <p:to>
                                        <p:strVal val="visible"/>
                                      </p:to>
                                    </p:set>
                                    <p:anim calcmode="lin" valueType="num">
                                      <p:cBhvr additive="base">
                                        <p:cTn id="7" dur="500" fill="hold"/>
                                        <p:tgtEl>
                                          <p:spTgt spid="1354755"/>
                                        </p:tgtEl>
                                        <p:attrNameLst>
                                          <p:attrName>ppt_x</p:attrName>
                                        </p:attrNameLst>
                                      </p:cBhvr>
                                      <p:tavLst>
                                        <p:tav tm="0">
                                          <p:val>
                                            <p:strVal val="0-#ppt_w/2"/>
                                          </p:val>
                                        </p:tav>
                                        <p:tav tm="100000">
                                          <p:val>
                                            <p:strVal val="#ppt_x"/>
                                          </p:val>
                                        </p:tav>
                                      </p:tavLst>
                                    </p:anim>
                                    <p:anim calcmode="lin" valueType="num">
                                      <p:cBhvr additive="base">
                                        <p:cTn id="8" dur="500" fill="hold"/>
                                        <p:tgtEl>
                                          <p:spTgt spid="13547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4755"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774825" y="391160"/>
            <a:ext cx="6840537" cy="838200"/>
          </a:xfrm>
          <a:noFill/>
        </p:spPr>
        <p:txBody>
          <a:bodyPr/>
          <a:lstStyle/>
          <a:p>
            <a:pPr algn="l" eaLnBrk="1" hangingPunct="1"/>
            <a:r>
              <a:rPr lang="zh-CN" altLang="en-AU" dirty="0">
                <a:solidFill>
                  <a:srgbClr val="FFFF66"/>
                </a:solidFill>
              </a:rPr>
              <a:t>多元化战略的优势</a:t>
            </a:r>
          </a:p>
        </p:txBody>
      </p:sp>
      <p:sp>
        <p:nvSpPr>
          <p:cNvPr id="1382403" name="Rectangle 3"/>
          <p:cNvSpPr>
            <a:spLocks noChangeArrowheads="1"/>
          </p:cNvSpPr>
          <p:nvPr/>
        </p:nvSpPr>
        <p:spPr bwMode="auto">
          <a:xfrm>
            <a:off x="1774825" y="1484314"/>
            <a:ext cx="8534400" cy="4370387"/>
          </a:xfrm>
          <a:prstGeom prst="rect">
            <a:avLst/>
          </a:prstGeom>
          <a:noFill/>
          <a:ln w="12700">
            <a:noFill/>
            <a:miter lim="800000"/>
            <a:headEnd/>
            <a:tailEnd/>
          </a:ln>
        </p:spPr>
        <p:txBody>
          <a:bodyPr lIns="92075" tIns="46038" rIns="92075" bIns="46038"/>
          <a:lstStyle/>
          <a:p>
            <a:pPr marL="342900" indent="-342900">
              <a:lnSpc>
                <a:spcPct val="105000"/>
              </a:lnSpc>
              <a:spcBef>
                <a:spcPct val="30000"/>
              </a:spcBef>
              <a:buClr>
                <a:schemeClr val="tx1"/>
              </a:buClr>
            </a:pPr>
            <a:r>
              <a:rPr lang="zh-CN" altLang="en-US" sz="2800" dirty="0">
                <a:latin typeface="+mn-ea"/>
              </a:rPr>
              <a:t>非相关多元化：</a:t>
            </a:r>
          </a:p>
          <a:p>
            <a:pPr marL="342900" indent="-342900">
              <a:lnSpc>
                <a:spcPct val="105000"/>
              </a:lnSpc>
              <a:spcBef>
                <a:spcPct val="30000"/>
              </a:spcBef>
              <a:buClr>
                <a:schemeClr val="tx1"/>
              </a:buClr>
              <a:buSzPct val="60000"/>
              <a:buFont typeface="Wingdings" pitchFamily="2" charset="2"/>
              <a:buChar char="l"/>
            </a:pPr>
            <a:r>
              <a:rPr lang="zh-CN" altLang="en-US" sz="2800" dirty="0">
                <a:latin typeface="+mn-ea"/>
              </a:rPr>
              <a:t>公司可向几个不同的市场提供产品或服务，以分散经营风险</a:t>
            </a:r>
          </a:p>
          <a:p>
            <a:pPr marL="342900" indent="-342900">
              <a:lnSpc>
                <a:spcPct val="105000"/>
              </a:lnSpc>
              <a:spcBef>
                <a:spcPct val="30000"/>
              </a:spcBef>
              <a:buClr>
                <a:schemeClr val="tx1"/>
              </a:buClr>
              <a:buSzPct val="60000"/>
              <a:buFont typeface="Wingdings" pitchFamily="2" charset="2"/>
              <a:buChar char="l"/>
            </a:pPr>
            <a:r>
              <a:rPr lang="zh-CN" altLang="en-US" sz="2800" dirty="0">
                <a:latin typeface="+mn-ea"/>
              </a:rPr>
              <a:t>多个部门单位在一个公司内经营时，可以产生协同作用</a:t>
            </a:r>
          </a:p>
          <a:p>
            <a:pPr marL="342900" indent="-342900">
              <a:lnSpc>
                <a:spcPct val="105000"/>
              </a:lnSpc>
              <a:spcBef>
                <a:spcPct val="30000"/>
              </a:spcBef>
              <a:buClr>
                <a:schemeClr val="tx1"/>
              </a:buClr>
              <a:buSzPct val="60000"/>
              <a:buFont typeface="Wingdings" pitchFamily="2" charset="2"/>
              <a:buChar char="l"/>
            </a:pPr>
            <a:r>
              <a:rPr lang="zh-CN" altLang="en-US" sz="2800" dirty="0">
                <a:latin typeface="+mn-ea"/>
              </a:rPr>
              <a:t>可对公司内的各个经营单位进行平衡</a:t>
            </a:r>
          </a:p>
          <a:p>
            <a:pPr marL="342900" indent="-342900">
              <a:lnSpc>
                <a:spcPct val="105000"/>
              </a:lnSpc>
              <a:spcBef>
                <a:spcPct val="30000"/>
              </a:spcBef>
              <a:buClr>
                <a:schemeClr val="tx1"/>
              </a:buClr>
              <a:buSzPct val="60000"/>
              <a:buFont typeface="Wingdings" pitchFamily="2" charset="2"/>
              <a:buChar char="l"/>
            </a:pPr>
            <a:r>
              <a:rPr lang="zh-CN" altLang="en-US" sz="2800" dirty="0">
                <a:latin typeface="+mn-ea"/>
              </a:rPr>
              <a:t>公司向具有更优经济特征的行业转移，以改善公司的整体盈利能力</a:t>
            </a:r>
          </a:p>
          <a:p>
            <a:pPr marL="342900" indent="-342900">
              <a:lnSpc>
                <a:spcPct val="105000"/>
              </a:lnSpc>
              <a:spcBef>
                <a:spcPct val="30000"/>
              </a:spcBef>
              <a:buClr>
                <a:schemeClr val="tx1"/>
              </a:buClr>
              <a:buFont typeface="Wingdings" pitchFamily="2" charset="2"/>
              <a:buChar char="l"/>
            </a:pPr>
            <a:endParaRPr lang="en-US" altLang="zh-CN" sz="2800" dirty="0">
              <a:latin typeface="Arial" pitchFamily="34" charset="0"/>
              <a:ea typeface="宋体" pitchFamily="2" charset="-122"/>
            </a:endParaRP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82403"/>
                                        </p:tgtEl>
                                        <p:attrNameLst>
                                          <p:attrName>style.visibility</p:attrName>
                                        </p:attrNameLst>
                                      </p:cBhvr>
                                      <p:to>
                                        <p:strVal val="visible"/>
                                      </p:to>
                                    </p:set>
                                    <p:anim calcmode="lin" valueType="num">
                                      <p:cBhvr additive="base">
                                        <p:cTn id="7" dur="500" fill="hold"/>
                                        <p:tgtEl>
                                          <p:spTgt spid="1382403"/>
                                        </p:tgtEl>
                                        <p:attrNameLst>
                                          <p:attrName>ppt_x</p:attrName>
                                        </p:attrNameLst>
                                      </p:cBhvr>
                                      <p:tavLst>
                                        <p:tav tm="0">
                                          <p:val>
                                            <p:strVal val="0-#ppt_w/2"/>
                                          </p:val>
                                        </p:tav>
                                        <p:tav tm="100000">
                                          <p:val>
                                            <p:strVal val="#ppt_x"/>
                                          </p:val>
                                        </p:tav>
                                      </p:tavLst>
                                    </p:anim>
                                    <p:anim calcmode="lin" valueType="num">
                                      <p:cBhvr additive="base">
                                        <p:cTn id="8" dur="500" fill="hold"/>
                                        <p:tgtEl>
                                          <p:spTgt spid="13824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03"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AU" dirty="0"/>
              <a:t>多元化战略的</a:t>
            </a:r>
            <a:r>
              <a:rPr lang="zh-CN" altLang="en-US" dirty="0"/>
              <a:t>劣势</a:t>
            </a:r>
          </a:p>
        </p:txBody>
      </p:sp>
      <p:sp>
        <p:nvSpPr>
          <p:cNvPr id="3" name="内容占位符 2"/>
          <p:cNvSpPr>
            <a:spLocks noGrp="1"/>
          </p:cNvSpPr>
          <p:nvPr>
            <p:ph idx="1"/>
          </p:nvPr>
        </p:nvSpPr>
        <p:spPr>
          <a:xfrm>
            <a:off x="2773599" y="974888"/>
            <a:ext cx="7796540" cy="3997828"/>
          </a:xfrm>
        </p:spPr>
        <p:txBody>
          <a:bodyPr/>
          <a:lstStyle/>
          <a:p>
            <a:r>
              <a:rPr lang="zh-CN" altLang="en-US" dirty="0"/>
              <a:t>管理难度增大</a:t>
            </a:r>
            <a:endParaRPr lang="en-US" altLang="zh-CN" dirty="0"/>
          </a:p>
          <a:p>
            <a:r>
              <a:rPr lang="zh-CN" altLang="en-US" dirty="0"/>
              <a:t>资源分散</a:t>
            </a:r>
            <a:endParaRPr lang="en-US" altLang="zh-CN" dirty="0"/>
          </a:p>
          <a:p>
            <a:r>
              <a:rPr lang="zh-CN" altLang="en-US" dirty="0"/>
              <a:t>影响核心竞争力的培养</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基本竞争战略</a:t>
            </a:r>
          </a:p>
        </p:txBody>
      </p:sp>
      <p:sp>
        <p:nvSpPr>
          <p:cNvPr id="3" name="内容占位符 2"/>
          <p:cNvSpPr>
            <a:spLocks noGrp="1"/>
          </p:cNvSpPr>
          <p:nvPr>
            <p:ph idx="1"/>
          </p:nvPr>
        </p:nvSpPr>
        <p:spPr>
          <a:xfrm>
            <a:off x="2692703" y="974888"/>
            <a:ext cx="7796540" cy="3997828"/>
          </a:xfrm>
        </p:spPr>
        <p:txBody>
          <a:bodyPr/>
          <a:lstStyle/>
          <a:p>
            <a:r>
              <a:rPr lang="zh-CN" altLang="en-US" dirty="0"/>
              <a:t>成本领先</a:t>
            </a:r>
            <a:endParaRPr lang="en-US" altLang="zh-CN" dirty="0"/>
          </a:p>
          <a:p>
            <a:r>
              <a:rPr lang="zh-CN" altLang="en-US" dirty="0"/>
              <a:t>差异化</a:t>
            </a:r>
            <a:endParaRPr lang="en-US" altLang="zh-CN" dirty="0"/>
          </a:p>
          <a:p>
            <a:r>
              <a:rPr lang="zh-CN" altLang="en-US" dirty="0"/>
              <a:t>目标集中</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E2E06D-6F09-8D41-8928-46CF9E511450}"/>
              </a:ext>
            </a:extLst>
          </p:cNvPr>
          <p:cNvSpPr>
            <a:spLocks noGrp="1"/>
          </p:cNvSpPr>
          <p:nvPr>
            <p:ph type="title"/>
          </p:nvPr>
        </p:nvSpPr>
        <p:spPr/>
        <p:txBody>
          <a:bodyPr/>
          <a:lstStyle/>
          <a:p>
            <a:r>
              <a:rPr kumimoji="1" lang="zh-CN" altLang="en-US" dirty="0"/>
              <a:t>成本领先</a:t>
            </a:r>
          </a:p>
        </p:txBody>
      </p:sp>
      <p:sp>
        <p:nvSpPr>
          <p:cNvPr id="3" name="内容占位符 2">
            <a:extLst>
              <a:ext uri="{FF2B5EF4-FFF2-40B4-BE49-F238E27FC236}">
                <a16:creationId xmlns:a16="http://schemas.microsoft.com/office/drawing/2014/main" id="{A1B2C1B3-BCB6-454C-8F82-A21E24118C0C}"/>
              </a:ext>
            </a:extLst>
          </p:cNvPr>
          <p:cNvSpPr>
            <a:spLocks noGrp="1"/>
          </p:cNvSpPr>
          <p:nvPr>
            <p:ph idx="1"/>
          </p:nvPr>
        </p:nvSpPr>
        <p:spPr/>
        <p:txBody>
          <a:bodyPr/>
          <a:lstStyle/>
          <a:p>
            <a:r>
              <a:rPr kumimoji="1" lang="zh-CN" altLang="en-US" dirty="0"/>
              <a:t>春秋航空，来源于春秋旅行社，以散客为主，旅游行业第一。</a:t>
            </a:r>
            <a:r>
              <a:rPr kumimoji="1" lang="en-US" altLang="zh-CN" dirty="0"/>
              <a:t>2004</a:t>
            </a:r>
            <a:r>
              <a:rPr kumimoji="1" lang="zh-CN" altLang="en-US" dirty="0"/>
              <a:t>年成立航空。民营航空。低价（无饮食、小瓶饮用水；远机位，摆渡车；时间不好，高客座率、高飞机利用率，低管理费（低</a:t>
            </a:r>
            <a:r>
              <a:rPr kumimoji="1" lang="en-US" altLang="zh-CN" dirty="0"/>
              <a:t>30-40%</a:t>
            </a:r>
            <a:r>
              <a:rPr kumimoji="1" lang="zh-CN" altLang="en-US" dirty="0"/>
              <a:t>，单一机型），低营销费用（</a:t>
            </a:r>
            <a:r>
              <a:rPr kumimoji="1" lang="en-US" altLang="zh-CN" dirty="0"/>
              <a:t>2%</a:t>
            </a:r>
            <a:r>
              <a:rPr kumimoji="1" lang="zh-CN" altLang="en-US" dirty="0"/>
              <a:t>，独立的销售系统，而非加入中航信）；机组人员自己清洁飞机）；国内二线城市到日本直飞的航线；机舱销售提高收入。</a:t>
            </a:r>
            <a:endParaRPr kumimoji="1" lang="en-US" altLang="zh-CN" dirty="0"/>
          </a:p>
          <a:p>
            <a:pPr marL="0" indent="0">
              <a:buNone/>
            </a:pPr>
            <a:endParaRPr kumimoji="1" lang="zh-CN" altLang="en-US" dirty="0"/>
          </a:p>
        </p:txBody>
      </p:sp>
    </p:spTree>
    <p:extLst>
      <p:ext uri="{BB962C8B-B14F-4D97-AF65-F5344CB8AC3E}">
        <p14:creationId xmlns:p14="http://schemas.microsoft.com/office/powerpoint/2010/main" val="369768472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2412CA-8270-2848-B800-9E35D45490D4}"/>
              </a:ext>
            </a:extLst>
          </p:cNvPr>
          <p:cNvSpPr>
            <a:spLocks noGrp="1"/>
          </p:cNvSpPr>
          <p:nvPr>
            <p:ph type="title"/>
          </p:nvPr>
        </p:nvSpPr>
        <p:spPr/>
        <p:txBody>
          <a:bodyPr/>
          <a:lstStyle/>
          <a:p>
            <a:r>
              <a:rPr kumimoji="1" lang="zh-CN" altLang="en-US" dirty="0"/>
              <a:t>差异化：星巴克</a:t>
            </a:r>
          </a:p>
        </p:txBody>
      </p:sp>
      <p:sp>
        <p:nvSpPr>
          <p:cNvPr id="3" name="内容占位符 2">
            <a:extLst>
              <a:ext uri="{FF2B5EF4-FFF2-40B4-BE49-F238E27FC236}">
                <a16:creationId xmlns:a16="http://schemas.microsoft.com/office/drawing/2014/main" id="{E821E240-B680-5C4F-B76D-812E3D5CE3CE}"/>
              </a:ext>
            </a:extLst>
          </p:cNvPr>
          <p:cNvSpPr>
            <a:spLocks noGrp="1"/>
          </p:cNvSpPr>
          <p:nvPr>
            <p:ph idx="1"/>
          </p:nvPr>
        </p:nvSpPr>
        <p:spPr/>
        <p:txBody>
          <a:bodyPr>
            <a:normAutofit fontScale="92500"/>
          </a:bodyPr>
          <a:lstStyle/>
          <a:p>
            <a:r>
              <a:rPr kumimoji="1" lang="zh-CN" altLang="en-US" dirty="0"/>
              <a:t>文艺形象，第三空间（咖啡馆是公共场所），二位老师一位作家创建，顾客会觉得自己有文化</a:t>
            </a:r>
            <a:endParaRPr kumimoji="1" lang="en-US" altLang="zh-CN" dirty="0"/>
          </a:p>
          <a:p>
            <a:r>
              <a:rPr kumimoji="1" lang="zh-CN" altLang="en-US" dirty="0"/>
              <a:t>与麦咖啡口味上，盲测，据说测不出区别</a:t>
            </a:r>
            <a:endParaRPr kumimoji="1" lang="en-US" altLang="zh-CN" dirty="0"/>
          </a:p>
          <a:p>
            <a:r>
              <a:rPr kumimoji="1" lang="zh-CN" altLang="en-US" dirty="0"/>
              <a:t>强调品质，允许顾客倒掉不满意的咖啡，必须区别于麦当劳</a:t>
            </a:r>
            <a:endParaRPr kumimoji="1" lang="en-US" altLang="zh-CN" dirty="0"/>
          </a:p>
          <a:p>
            <a:r>
              <a:rPr kumimoji="1" lang="zh-CN" altLang="en-US" dirty="0"/>
              <a:t>强调体验，综合的，音乐、气氛、香味；服务包，咖啡文化</a:t>
            </a:r>
            <a:r>
              <a:rPr kumimoji="1" lang="en-US" altLang="zh-CN" dirty="0"/>
              <a:t>+</a:t>
            </a:r>
            <a:r>
              <a:rPr kumimoji="1" lang="zh-CN" altLang="en-US" dirty="0"/>
              <a:t>人与人之间的关系</a:t>
            </a:r>
            <a:endParaRPr kumimoji="1" lang="en-US" altLang="zh-CN" dirty="0"/>
          </a:p>
          <a:p>
            <a:r>
              <a:rPr kumimoji="1" lang="zh-CN" altLang="en-US" dirty="0"/>
              <a:t>高品质的服务依赖于高质量的员工。企业文化与员工激励 。</a:t>
            </a:r>
            <a:endParaRPr kumimoji="1" lang="en-US" altLang="zh-CN" dirty="0"/>
          </a:p>
          <a:p>
            <a:endParaRPr kumimoji="1" lang="en-US" altLang="zh-CN" dirty="0"/>
          </a:p>
          <a:p>
            <a:endParaRPr kumimoji="1" lang="zh-CN" altLang="en-US" dirty="0"/>
          </a:p>
        </p:txBody>
      </p:sp>
    </p:spTree>
    <p:extLst>
      <p:ext uri="{BB962C8B-B14F-4D97-AF65-F5344CB8AC3E}">
        <p14:creationId xmlns:p14="http://schemas.microsoft.com/office/powerpoint/2010/main" val="308666088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0368" y="726776"/>
            <a:ext cx="7958331" cy="1077229"/>
          </a:xfrm>
        </p:spPr>
        <p:txBody>
          <a:bodyPr/>
          <a:lstStyle/>
          <a:p>
            <a:r>
              <a:rPr lang="zh-CN" altLang="en-US" dirty="0"/>
              <a:t>三种基本竞争战略的比较</a:t>
            </a:r>
          </a:p>
        </p:txBody>
      </p:sp>
      <p:graphicFrame>
        <p:nvGraphicFramePr>
          <p:cNvPr id="4" name="内容占位符 3"/>
          <p:cNvGraphicFramePr>
            <a:graphicFrameLocks noGrp="1"/>
          </p:cNvGraphicFramePr>
          <p:nvPr>
            <p:ph idx="1"/>
          </p:nvPr>
        </p:nvGraphicFramePr>
        <p:xfrm>
          <a:off x="1775520" y="1556792"/>
          <a:ext cx="8507288" cy="4856480"/>
        </p:xfrm>
        <a:graphic>
          <a:graphicData uri="http://schemas.openxmlformats.org/drawingml/2006/table">
            <a:tbl>
              <a:tblPr firstRow="1" bandRow="1">
                <a:tableStyleId>{5C22544A-7EE6-4342-B048-85BDC9FD1C3A}</a:tableStyleId>
              </a:tblPr>
              <a:tblGrid>
                <a:gridCol w="2126822">
                  <a:extLst>
                    <a:ext uri="{9D8B030D-6E8A-4147-A177-3AD203B41FA5}">
                      <a16:colId xmlns:a16="http://schemas.microsoft.com/office/drawing/2014/main" val="20000"/>
                    </a:ext>
                  </a:extLst>
                </a:gridCol>
                <a:gridCol w="2126822">
                  <a:extLst>
                    <a:ext uri="{9D8B030D-6E8A-4147-A177-3AD203B41FA5}">
                      <a16:colId xmlns:a16="http://schemas.microsoft.com/office/drawing/2014/main" val="20001"/>
                    </a:ext>
                  </a:extLst>
                </a:gridCol>
                <a:gridCol w="2126822">
                  <a:extLst>
                    <a:ext uri="{9D8B030D-6E8A-4147-A177-3AD203B41FA5}">
                      <a16:colId xmlns:a16="http://schemas.microsoft.com/office/drawing/2014/main" val="20002"/>
                    </a:ext>
                  </a:extLst>
                </a:gridCol>
                <a:gridCol w="2126822">
                  <a:extLst>
                    <a:ext uri="{9D8B030D-6E8A-4147-A177-3AD203B41FA5}">
                      <a16:colId xmlns:a16="http://schemas.microsoft.com/office/drawing/2014/main" val="20003"/>
                    </a:ext>
                  </a:extLst>
                </a:gridCol>
              </a:tblGrid>
              <a:tr h="370840">
                <a:tc>
                  <a:txBody>
                    <a:bodyPr/>
                    <a:lstStyle/>
                    <a:p>
                      <a:endParaRPr lang="zh-CN" altLang="en-US" dirty="0"/>
                    </a:p>
                  </a:txBody>
                  <a:tcPr/>
                </a:tc>
                <a:tc>
                  <a:txBody>
                    <a:bodyPr/>
                    <a:lstStyle/>
                    <a:p>
                      <a:r>
                        <a:rPr lang="zh-CN" altLang="en-US" dirty="0"/>
                        <a:t>成本领先战略</a:t>
                      </a:r>
                    </a:p>
                  </a:txBody>
                  <a:tcPr/>
                </a:tc>
                <a:tc>
                  <a:txBody>
                    <a:bodyPr/>
                    <a:lstStyle/>
                    <a:p>
                      <a:r>
                        <a:rPr lang="zh-CN" altLang="en-US" dirty="0"/>
                        <a:t>差异化战略</a:t>
                      </a:r>
                    </a:p>
                  </a:txBody>
                  <a:tcPr/>
                </a:tc>
                <a:tc>
                  <a:txBody>
                    <a:bodyPr/>
                    <a:lstStyle/>
                    <a:p>
                      <a:r>
                        <a:rPr lang="zh-CN" altLang="en-US" dirty="0"/>
                        <a:t>目标集中战略</a:t>
                      </a:r>
                    </a:p>
                  </a:txBody>
                  <a:tcPr/>
                </a:tc>
                <a:extLst>
                  <a:ext uri="{0D108BD9-81ED-4DB2-BD59-A6C34878D82A}">
                    <a16:rowId xmlns:a16="http://schemas.microsoft.com/office/drawing/2014/main" val="10000"/>
                  </a:ext>
                </a:extLst>
              </a:tr>
              <a:tr h="370840">
                <a:tc>
                  <a:txBody>
                    <a:bodyPr/>
                    <a:lstStyle/>
                    <a:p>
                      <a:r>
                        <a:rPr lang="zh-CN" altLang="en-US" sz="1600" dirty="0"/>
                        <a:t>目标市场</a:t>
                      </a:r>
                    </a:p>
                  </a:txBody>
                  <a:tcPr/>
                </a:tc>
                <a:tc>
                  <a:txBody>
                    <a:bodyPr/>
                    <a:lstStyle/>
                    <a:p>
                      <a:r>
                        <a:rPr lang="zh-CN" altLang="en-US" sz="1600" dirty="0"/>
                        <a:t>全行业市场</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dirty="0"/>
                        <a:t>全行业市场</a:t>
                      </a:r>
                    </a:p>
                  </a:txBody>
                  <a:tcPr/>
                </a:tc>
                <a:tc>
                  <a:txBody>
                    <a:bodyPr/>
                    <a:lstStyle/>
                    <a:p>
                      <a:r>
                        <a:rPr lang="zh-CN" altLang="en-US" sz="1600" dirty="0"/>
                        <a:t>特定细分市场</a:t>
                      </a:r>
                    </a:p>
                  </a:txBody>
                  <a:tcPr/>
                </a:tc>
                <a:extLst>
                  <a:ext uri="{0D108BD9-81ED-4DB2-BD59-A6C34878D82A}">
                    <a16:rowId xmlns:a16="http://schemas.microsoft.com/office/drawing/2014/main" val="10001"/>
                  </a:ext>
                </a:extLst>
              </a:tr>
              <a:tr h="370840">
                <a:tc>
                  <a:txBody>
                    <a:bodyPr/>
                    <a:lstStyle/>
                    <a:p>
                      <a:r>
                        <a:rPr lang="zh-CN" altLang="en-US" sz="1600" dirty="0"/>
                        <a:t>竞争重点</a:t>
                      </a:r>
                    </a:p>
                  </a:txBody>
                  <a:tcPr/>
                </a:tc>
                <a:tc>
                  <a:txBody>
                    <a:bodyPr/>
                    <a:lstStyle/>
                    <a:p>
                      <a:r>
                        <a:rPr lang="zh-CN" altLang="en-US" sz="1600" dirty="0"/>
                        <a:t>低于竞争对手的成本</a:t>
                      </a:r>
                    </a:p>
                  </a:txBody>
                  <a:tcPr/>
                </a:tc>
                <a:tc>
                  <a:txBody>
                    <a:bodyPr/>
                    <a:lstStyle/>
                    <a:p>
                      <a:r>
                        <a:rPr lang="zh-CN" altLang="en-US" sz="1600" dirty="0"/>
                        <a:t>不同于竞争对手的质量、特点、性能</a:t>
                      </a:r>
                    </a:p>
                  </a:txBody>
                  <a:tcPr/>
                </a:tc>
                <a:tc>
                  <a:txBody>
                    <a:bodyPr/>
                    <a:lstStyle/>
                    <a:p>
                      <a:r>
                        <a:rPr lang="zh-CN" altLang="en-US" sz="1600" dirty="0"/>
                        <a:t>细分市场的低成本或细分市场的差异化</a:t>
                      </a:r>
                    </a:p>
                  </a:txBody>
                  <a:tcPr/>
                </a:tc>
                <a:extLst>
                  <a:ext uri="{0D108BD9-81ED-4DB2-BD59-A6C34878D82A}">
                    <a16:rowId xmlns:a16="http://schemas.microsoft.com/office/drawing/2014/main" val="10002"/>
                  </a:ext>
                </a:extLst>
              </a:tr>
              <a:tr h="370840">
                <a:tc>
                  <a:txBody>
                    <a:bodyPr/>
                    <a:lstStyle/>
                    <a:p>
                      <a:r>
                        <a:rPr lang="zh-CN" altLang="en-US" sz="1600" dirty="0"/>
                        <a:t>生产开发重点</a:t>
                      </a:r>
                    </a:p>
                  </a:txBody>
                  <a:tcPr/>
                </a:tc>
                <a:tc>
                  <a:txBody>
                    <a:bodyPr/>
                    <a:lstStyle/>
                    <a:p>
                      <a:r>
                        <a:rPr lang="zh-CN" altLang="en-US" sz="1600" dirty="0"/>
                        <a:t>在保证质量的前提下不断寻求成本降低</a:t>
                      </a:r>
                    </a:p>
                  </a:txBody>
                  <a:tcPr/>
                </a:tc>
                <a:tc>
                  <a:txBody>
                    <a:bodyPr/>
                    <a:lstStyle/>
                    <a:p>
                      <a:r>
                        <a:rPr lang="zh-CN" altLang="en-US" sz="1600" dirty="0"/>
                        <a:t>不断寻求能被顾客认同的产品差异</a:t>
                      </a:r>
                    </a:p>
                  </a:txBody>
                  <a:tcPr/>
                </a:tc>
                <a:tc>
                  <a:txBody>
                    <a:bodyPr/>
                    <a:lstStyle/>
                    <a:p>
                      <a:r>
                        <a:rPr lang="zh-CN" altLang="en-US" sz="1600" dirty="0"/>
                        <a:t>开发细分市场中顾客的特殊需求</a:t>
                      </a:r>
                    </a:p>
                  </a:txBody>
                  <a:tcPr/>
                </a:tc>
                <a:extLst>
                  <a:ext uri="{0D108BD9-81ED-4DB2-BD59-A6C34878D82A}">
                    <a16:rowId xmlns:a16="http://schemas.microsoft.com/office/drawing/2014/main" val="10003"/>
                  </a:ext>
                </a:extLst>
              </a:tr>
              <a:tr h="370840">
                <a:tc>
                  <a:txBody>
                    <a:bodyPr/>
                    <a:lstStyle/>
                    <a:p>
                      <a:r>
                        <a:rPr lang="zh-CN" altLang="en-US" sz="1600" dirty="0"/>
                        <a:t>产品特点</a:t>
                      </a:r>
                    </a:p>
                  </a:txBody>
                  <a:tcPr/>
                </a:tc>
                <a:tc>
                  <a:txBody>
                    <a:bodyPr/>
                    <a:lstStyle/>
                    <a:p>
                      <a:r>
                        <a:rPr lang="zh-CN" altLang="en-US" sz="1600" dirty="0"/>
                        <a:t>特色不多，质量有保证的产品</a:t>
                      </a:r>
                    </a:p>
                  </a:txBody>
                  <a:tcPr/>
                </a:tc>
                <a:tc>
                  <a:txBody>
                    <a:bodyPr/>
                    <a:lstStyle/>
                    <a:p>
                      <a:r>
                        <a:rPr lang="zh-CN" altLang="en-US" sz="1600" dirty="0"/>
                        <a:t>产品型号多，选择余地大，强调产品差异化特色</a:t>
                      </a:r>
                    </a:p>
                  </a:txBody>
                  <a:tcPr/>
                </a:tc>
                <a:tc>
                  <a:txBody>
                    <a:bodyPr/>
                    <a:lstStyle/>
                    <a:p>
                      <a:r>
                        <a:rPr lang="zh-CN" altLang="en-US" sz="1600" dirty="0"/>
                        <a:t>按照目标顾客的特殊需要提供产品和服务</a:t>
                      </a:r>
                    </a:p>
                  </a:txBody>
                  <a:tcPr/>
                </a:tc>
                <a:extLst>
                  <a:ext uri="{0D108BD9-81ED-4DB2-BD59-A6C34878D82A}">
                    <a16:rowId xmlns:a16="http://schemas.microsoft.com/office/drawing/2014/main" val="10004"/>
                  </a:ext>
                </a:extLst>
              </a:tr>
              <a:tr h="370840">
                <a:tc>
                  <a:txBody>
                    <a:bodyPr/>
                    <a:lstStyle/>
                    <a:p>
                      <a:r>
                        <a:rPr lang="zh-CN" altLang="en-US" sz="1600" dirty="0"/>
                        <a:t>市场营销重点</a:t>
                      </a:r>
                    </a:p>
                  </a:txBody>
                  <a:tcPr/>
                </a:tc>
                <a:tc>
                  <a:txBody>
                    <a:bodyPr/>
                    <a:lstStyle/>
                    <a:p>
                      <a:r>
                        <a:rPr lang="zh-CN" altLang="en-US" sz="1600" dirty="0"/>
                        <a:t>低成本的特色营销</a:t>
                      </a:r>
                    </a:p>
                  </a:txBody>
                  <a:tcPr/>
                </a:tc>
                <a:tc>
                  <a:txBody>
                    <a:bodyPr/>
                    <a:lstStyle/>
                    <a:p>
                      <a:r>
                        <a:rPr lang="zh-CN" altLang="en-US" sz="1600" dirty="0"/>
                        <a:t>建立顾客愿意支付的特色营销，收取高价补偿因寻求差异化而承担的高额成本</a:t>
                      </a:r>
                    </a:p>
                  </a:txBody>
                  <a:tcPr/>
                </a:tc>
                <a:tc>
                  <a:txBody>
                    <a:bodyPr/>
                    <a:lstStyle/>
                    <a:p>
                      <a:r>
                        <a:rPr lang="zh-CN" altLang="en-US" sz="1600" dirty="0"/>
                        <a:t>传播本企业有哪些能够满足购买者特殊需求的能力</a:t>
                      </a:r>
                    </a:p>
                  </a:txBody>
                  <a:tcPr/>
                </a:tc>
                <a:extLst>
                  <a:ext uri="{0D108BD9-81ED-4DB2-BD59-A6C34878D82A}">
                    <a16:rowId xmlns:a16="http://schemas.microsoft.com/office/drawing/2014/main" val="10005"/>
                  </a:ext>
                </a:extLst>
              </a:tr>
              <a:tr h="370840">
                <a:tc>
                  <a:txBody>
                    <a:bodyPr/>
                    <a:lstStyle/>
                    <a:p>
                      <a:r>
                        <a:rPr lang="zh-CN" altLang="en-US" sz="1600" dirty="0"/>
                        <a:t>战略的维持途径</a:t>
                      </a:r>
                    </a:p>
                  </a:txBody>
                  <a:tcPr/>
                </a:tc>
                <a:tc>
                  <a:txBody>
                    <a:bodyPr/>
                    <a:lstStyle/>
                    <a:p>
                      <a:r>
                        <a:rPr lang="zh-CN" altLang="en-US" sz="1600" dirty="0"/>
                        <a:t>以获取成本优势为目的，不断挖掘降低成本的潜力</a:t>
                      </a:r>
                    </a:p>
                  </a:txBody>
                  <a:tcPr/>
                </a:tc>
                <a:tc>
                  <a:txBody>
                    <a:bodyPr/>
                    <a:lstStyle/>
                    <a:p>
                      <a:r>
                        <a:rPr lang="zh-CN" altLang="en-US" sz="1600" dirty="0"/>
                        <a:t>不断改善和革新产品的差异性，走在竞争对手的前面</a:t>
                      </a:r>
                    </a:p>
                  </a:txBody>
                  <a:tcPr/>
                </a:tc>
                <a:tc>
                  <a:txBody>
                    <a:bodyPr/>
                    <a:lstStyle/>
                    <a:p>
                      <a:r>
                        <a:rPr lang="zh-CN" altLang="en-US" sz="1600" dirty="0"/>
                        <a:t>比竞争对手更好地为特定细分市场提供低成本的产品或者差异化的产品</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830541" y="1781175"/>
            <a:ext cx="6491287" cy="1143000"/>
          </a:xfrm>
          <a:noFill/>
        </p:spPr>
        <p:txBody>
          <a:bodyPr/>
          <a:lstStyle/>
          <a:p>
            <a:pPr eaLnBrk="1" hangingPunct="1"/>
            <a:r>
              <a:rPr lang="en-US" altLang="zh-CN" dirty="0">
                <a:solidFill>
                  <a:srgbClr val="800000"/>
                </a:solidFill>
              </a:rPr>
              <a:t> </a:t>
            </a:r>
            <a:r>
              <a:rPr lang="zh-CN" altLang="en-US" dirty="0">
                <a:solidFill>
                  <a:srgbClr val="FFFF66"/>
                </a:solidFill>
              </a:rPr>
              <a:t>发展战略的方式选择</a:t>
            </a:r>
            <a:endParaRPr lang="zh-CN" altLang="en-AU" b="1" dirty="0">
              <a:solidFill>
                <a:srgbClr val="FFFF66"/>
              </a:solidFill>
            </a:endParaRPr>
          </a:p>
        </p:txBody>
      </p:sp>
      <p:sp>
        <p:nvSpPr>
          <p:cNvPr id="1298435" name="Rectangle 3"/>
          <p:cNvSpPr>
            <a:spLocks noChangeArrowheads="1"/>
          </p:cNvSpPr>
          <p:nvPr/>
        </p:nvSpPr>
        <p:spPr bwMode="auto">
          <a:xfrm>
            <a:off x="3260449" y="2924175"/>
            <a:ext cx="5329238" cy="2736850"/>
          </a:xfrm>
          <a:prstGeom prst="rect">
            <a:avLst/>
          </a:prstGeom>
          <a:gradFill rotWithShape="0">
            <a:gsLst>
              <a:gs pos="0">
                <a:srgbClr val="FFCC99"/>
              </a:gs>
              <a:gs pos="100000">
                <a:srgbClr val="FFECDA"/>
              </a:gs>
            </a:gsLst>
            <a:path path="shape">
              <a:fillToRect l="50000" t="50000" r="50000" b="50000"/>
            </a:path>
          </a:gradFill>
          <a:ln w="12700">
            <a:solidFill>
              <a:srgbClr val="800000"/>
            </a:solidFill>
            <a:miter lim="800000"/>
            <a:headEnd type="none" w="sm" len="sm"/>
            <a:tailEnd type="none" w="sm" len="sm"/>
          </a:ln>
        </p:spPr>
        <p:txBody>
          <a:bodyPr anchor="ctr"/>
          <a:lstStyle/>
          <a:p>
            <a:pPr marL="952500" indent="-279400">
              <a:spcBef>
                <a:spcPct val="50000"/>
              </a:spcBef>
              <a:buSzPct val="80000"/>
              <a:buFontTx/>
              <a:buChar char="•"/>
            </a:pPr>
            <a:r>
              <a:rPr lang="zh-CN" altLang="en-US" sz="3600" dirty="0">
                <a:solidFill>
                  <a:srgbClr val="003366"/>
                </a:solidFill>
                <a:latin typeface="KaiTi" panose="02010609060101010101" pitchFamily="49" charset="-122"/>
                <a:ea typeface="KaiTi" panose="02010609060101010101" pitchFamily="49" charset="-122"/>
              </a:rPr>
              <a:t>兼并收购</a:t>
            </a:r>
          </a:p>
          <a:p>
            <a:pPr marL="952500" indent="-279400">
              <a:spcBef>
                <a:spcPct val="50000"/>
              </a:spcBef>
              <a:buSzPct val="80000"/>
              <a:buFontTx/>
              <a:buChar char="•"/>
            </a:pPr>
            <a:r>
              <a:rPr lang="zh-CN" altLang="en-US" sz="3600" dirty="0">
                <a:solidFill>
                  <a:srgbClr val="003366"/>
                </a:solidFill>
                <a:latin typeface="KaiTi" panose="02010609060101010101" pitchFamily="49" charset="-122"/>
                <a:ea typeface="KaiTi" panose="02010609060101010101" pitchFamily="49" charset="-122"/>
              </a:rPr>
              <a:t>战略联盟</a:t>
            </a:r>
          </a:p>
          <a:p>
            <a:pPr marL="952500" indent="-279400">
              <a:spcBef>
                <a:spcPct val="50000"/>
              </a:spcBef>
              <a:buSzPct val="80000"/>
              <a:buFontTx/>
              <a:buChar char="•"/>
            </a:pPr>
            <a:r>
              <a:rPr lang="zh-CN" altLang="en-US" sz="3600" dirty="0">
                <a:solidFill>
                  <a:srgbClr val="003366"/>
                </a:solidFill>
                <a:latin typeface="KaiTi" panose="02010609060101010101" pitchFamily="49" charset="-122"/>
                <a:ea typeface="KaiTi" panose="02010609060101010101" pitchFamily="49" charset="-122"/>
              </a:rPr>
              <a:t>自我发展</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98435"/>
                                        </p:tgtEl>
                                        <p:attrNameLst>
                                          <p:attrName>style.visibility</p:attrName>
                                        </p:attrNameLst>
                                      </p:cBhvr>
                                      <p:to>
                                        <p:strVal val="visible"/>
                                      </p:to>
                                    </p:set>
                                    <p:animEffect transition="in" filter="dissolve">
                                      <p:cBhvr>
                                        <p:cTn id="7" dur="500"/>
                                        <p:tgtEl>
                                          <p:spTgt spid="1298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8435" grpId="0" animBg="1" autoUpdateAnimBg="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2896419" y="867698"/>
            <a:ext cx="7056437" cy="1143000"/>
          </a:xfrm>
          <a:noFill/>
        </p:spPr>
        <p:txBody>
          <a:bodyPr/>
          <a:lstStyle/>
          <a:p>
            <a:pPr algn="l" eaLnBrk="1" hangingPunct="1"/>
            <a:r>
              <a:rPr lang="en-US" altLang="zh-CN" dirty="0">
                <a:solidFill>
                  <a:srgbClr val="800000"/>
                </a:solidFill>
              </a:rPr>
              <a:t> </a:t>
            </a:r>
            <a:r>
              <a:rPr lang="zh-CN" altLang="en-US" dirty="0">
                <a:solidFill>
                  <a:srgbClr val="FFFF66"/>
                </a:solidFill>
                <a:latin typeface="宋体" pitchFamily="2" charset="-122"/>
              </a:rPr>
              <a:t>自我发展</a:t>
            </a:r>
            <a:endParaRPr lang="zh-CN" altLang="en-AU" dirty="0">
              <a:solidFill>
                <a:srgbClr val="FFFF66"/>
              </a:solidFill>
              <a:latin typeface="宋体" pitchFamily="2" charset="-122"/>
            </a:endParaRPr>
          </a:p>
        </p:txBody>
      </p:sp>
      <p:sp>
        <p:nvSpPr>
          <p:cNvPr id="1331203" name="Rectangle 3"/>
          <p:cNvSpPr>
            <a:spLocks noChangeArrowheads="1"/>
          </p:cNvSpPr>
          <p:nvPr/>
        </p:nvSpPr>
        <p:spPr bwMode="auto">
          <a:xfrm>
            <a:off x="3719736" y="2636912"/>
            <a:ext cx="6551612" cy="3600450"/>
          </a:xfrm>
          <a:prstGeom prst="rect">
            <a:avLst/>
          </a:prstGeom>
          <a:gradFill rotWithShape="0">
            <a:gsLst>
              <a:gs pos="0">
                <a:srgbClr val="FFCC99"/>
              </a:gs>
              <a:gs pos="100000">
                <a:srgbClr val="FFECDA"/>
              </a:gs>
            </a:gsLst>
            <a:path path="shape">
              <a:fillToRect l="50000" t="50000" r="50000" b="50000"/>
            </a:path>
          </a:gradFill>
          <a:ln w="12700">
            <a:solidFill>
              <a:srgbClr val="800000"/>
            </a:solidFill>
            <a:miter lim="800000"/>
            <a:headEnd type="none" w="sm" len="sm"/>
            <a:tailEnd type="none" w="sm" len="sm"/>
          </a:ln>
        </p:spPr>
        <p:txBody>
          <a:bodyPr/>
          <a:lstStyle/>
          <a:p>
            <a:pPr marL="952500" indent="-279400">
              <a:spcBef>
                <a:spcPct val="50000"/>
              </a:spcBef>
              <a:buSzPct val="80000"/>
            </a:pPr>
            <a:r>
              <a:rPr lang="zh-CN" altLang="en-US" sz="2000" dirty="0">
                <a:solidFill>
                  <a:srgbClr val="003366"/>
                </a:solidFill>
                <a:latin typeface="KaiTi" panose="02010609060101010101" pitchFamily="49" charset="-122"/>
                <a:ea typeface="KaiTi" panose="02010609060101010101" pitchFamily="49" charset="-122"/>
              </a:rPr>
              <a:t>适宜情形：</a:t>
            </a:r>
            <a:endParaRPr lang="en-US" altLang="zh-CN" sz="2000" dirty="0">
              <a:solidFill>
                <a:srgbClr val="003366"/>
              </a:solidFill>
              <a:latin typeface="KaiTi" panose="02010609060101010101" pitchFamily="49" charset="-122"/>
              <a:ea typeface="KaiTi" panose="02010609060101010101" pitchFamily="49" charset="-122"/>
            </a:endParaRPr>
          </a:p>
          <a:p>
            <a:pPr marL="952500" indent="-279400">
              <a:spcBef>
                <a:spcPct val="50000"/>
              </a:spcBef>
              <a:buSzPct val="80000"/>
              <a:buFont typeface="Arial" pitchFamily="34" charset="0"/>
              <a:buChar char="•"/>
            </a:pPr>
            <a:r>
              <a:rPr lang="zh-CN" altLang="en-US" sz="2000" dirty="0">
                <a:solidFill>
                  <a:srgbClr val="003366"/>
                </a:solidFill>
                <a:latin typeface="KaiTi" panose="02010609060101010101" pitchFamily="49" charset="-122"/>
                <a:ea typeface="KaiTi" panose="02010609060101010101" pitchFamily="49" charset="-122"/>
              </a:rPr>
              <a:t>有足够的时间从头发展新业务</a:t>
            </a:r>
            <a:endParaRPr lang="en-US" altLang="zh-CN" sz="2000" dirty="0">
              <a:solidFill>
                <a:srgbClr val="003366"/>
              </a:solidFill>
              <a:latin typeface="KaiTi" panose="02010609060101010101" pitchFamily="49" charset="-122"/>
              <a:ea typeface="KaiTi" panose="02010609060101010101" pitchFamily="49" charset="-122"/>
            </a:endParaRPr>
          </a:p>
          <a:p>
            <a:pPr marL="952500" indent="-279400">
              <a:spcBef>
                <a:spcPct val="50000"/>
              </a:spcBef>
              <a:buSzPct val="80000"/>
              <a:buFontTx/>
              <a:buChar char="•"/>
            </a:pPr>
            <a:r>
              <a:rPr lang="zh-CN" altLang="en-US" sz="2000" dirty="0">
                <a:solidFill>
                  <a:srgbClr val="003366"/>
                </a:solidFill>
                <a:latin typeface="KaiTi" panose="02010609060101010101" pitchFamily="49" charset="-122"/>
                <a:ea typeface="KaiTi" panose="02010609060101010101" pitchFamily="49" charset="-122"/>
              </a:rPr>
              <a:t>现有企业对新进入者反应迟钝，不会有激烈反抗</a:t>
            </a:r>
            <a:endParaRPr lang="en-US" altLang="zh-CN" sz="2000" dirty="0">
              <a:solidFill>
                <a:srgbClr val="003366"/>
              </a:solidFill>
              <a:latin typeface="KaiTi" panose="02010609060101010101" pitchFamily="49" charset="-122"/>
              <a:ea typeface="KaiTi" panose="02010609060101010101" pitchFamily="49" charset="-122"/>
            </a:endParaRPr>
          </a:p>
          <a:p>
            <a:pPr marL="952500" indent="-279400">
              <a:spcBef>
                <a:spcPct val="50000"/>
              </a:spcBef>
              <a:buSzPct val="80000"/>
              <a:buFontTx/>
              <a:buChar char="•"/>
            </a:pPr>
            <a:r>
              <a:rPr lang="zh-CN" altLang="en-US" sz="2000" dirty="0">
                <a:solidFill>
                  <a:srgbClr val="003366"/>
                </a:solidFill>
                <a:latin typeface="KaiTi" panose="02010609060101010101" pitchFamily="49" charset="-122"/>
                <a:ea typeface="KaiTi" panose="02010609060101010101" pitchFamily="49" charset="-122"/>
              </a:rPr>
              <a:t>自我发展比并购成本低</a:t>
            </a:r>
            <a:endParaRPr lang="en-US" altLang="zh-CN" sz="2000" dirty="0">
              <a:solidFill>
                <a:srgbClr val="003366"/>
              </a:solidFill>
              <a:latin typeface="KaiTi" panose="02010609060101010101" pitchFamily="49" charset="-122"/>
              <a:ea typeface="KaiTi" panose="02010609060101010101" pitchFamily="49" charset="-122"/>
            </a:endParaRPr>
          </a:p>
          <a:p>
            <a:pPr marL="952500" indent="-279400">
              <a:spcBef>
                <a:spcPct val="50000"/>
              </a:spcBef>
              <a:buSzPct val="80000"/>
              <a:buFontTx/>
              <a:buChar char="•"/>
            </a:pPr>
            <a:r>
              <a:rPr lang="zh-CN" altLang="en-US" sz="2000" dirty="0">
                <a:solidFill>
                  <a:srgbClr val="003366"/>
                </a:solidFill>
                <a:latin typeface="KaiTi" panose="02010609060101010101" pitchFamily="49" charset="-122"/>
                <a:ea typeface="KaiTi" panose="02010609060101010101" pitchFamily="49" charset="-122"/>
              </a:rPr>
              <a:t>企业具备所需的资源和能力</a:t>
            </a:r>
          </a:p>
          <a:p>
            <a:pPr marL="952500" indent="-279400">
              <a:spcBef>
                <a:spcPct val="50000"/>
              </a:spcBef>
              <a:buSzPct val="80000"/>
              <a:buFontTx/>
              <a:buChar char="•"/>
            </a:pPr>
            <a:r>
              <a:rPr lang="zh-CN" altLang="en-US" sz="2000" dirty="0">
                <a:solidFill>
                  <a:srgbClr val="003366"/>
                </a:solidFill>
                <a:latin typeface="KaiTi" panose="02010609060101010101" pitchFamily="49" charset="-122"/>
                <a:ea typeface="KaiTi" panose="02010609060101010101" pitchFamily="49" charset="-122"/>
              </a:rPr>
              <a:t>在市场上增加额外的生产能力不会对行业供求产生明显的负面影响</a:t>
            </a:r>
            <a:endParaRPr lang="en-US" altLang="zh-CN" sz="2000" dirty="0">
              <a:solidFill>
                <a:srgbClr val="003366"/>
              </a:solidFill>
              <a:latin typeface="KaiTi" panose="02010609060101010101" pitchFamily="49" charset="-122"/>
              <a:ea typeface="KaiTi" panose="02010609060101010101" pitchFamily="49" charset="-122"/>
            </a:endParaRPr>
          </a:p>
        </p:txBody>
      </p:sp>
      <p:sp>
        <p:nvSpPr>
          <p:cNvPr id="1331257" name="Sound"/>
          <p:cNvSpPr>
            <a:spLocks noEditPoints="1" noChangeArrowheads="1"/>
          </p:cNvSpPr>
          <p:nvPr/>
        </p:nvSpPr>
        <p:spPr bwMode="auto">
          <a:xfrm>
            <a:off x="1991544" y="3573016"/>
            <a:ext cx="1809750" cy="1809750"/>
          </a:xfrm>
          <a:custGeom>
            <a:avLst/>
            <a:gdLst>
              <a:gd name="T0" fmla="*/ 11164 w 21600"/>
              <a:gd name="T1" fmla="*/ 21159 h 21600"/>
              <a:gd name="T2" fmla="*/ 11164 w 21600"/>
              <a:gd name="T3" fmla="*/ 0 h 21600"/>
              <a:gd name="T4" fmla="*/ 0 w 21600"/>
              <a:gd name="T5" fmla="*/ 10800 h 21600"/>
              <a:gd name="T6" fmla="*/ 21600 w 21600"/>
              <a:gd name="T7" fmla="*/ 10800 h 21600"/>
              <a:gd name="T8" fmla="*/ 761 w 21600"/>
              <a:gd name="T9" fmla="*/ 22454 h 21600"/>
              <a:gd name="T10" fmla="*/ 21069 w 21600"/>
              <a:gd name="T11" fmla="*/ 28282 h 21600"/>
            </a:gdLst>
            <a:ahLst/>
            <a:cxnLst>
              <a:cxn ang="0">
                <a:pos x="T0" y="T1"/>
              </a:cxn>
              <a:cxn ang="0">
                <a:pos x="T2" y="T3"/>
              </a:cxn>
              <a:cxn ang="0">
                <a:pos x="T4" y="T5"/>
              </a:cxn>
              <a:cxn ang="0">
                <a:pos x="T6" y="T7"/>
              </a:cxn>
            </a:cxnLst>
            <a:rect l="T8" t="T9" r="T10" b="T11"/>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pPr>
              <a:defRPr/>
            </a:pPr>
            <a:endParaRPr lang="zh-CN" altLang="en-US"/>
          </a:p>
        </p:txBody>
      </p:sp>
      <p:sp>
        <p:nvSpPr>
          <p:cNvPr id="5" name="TextBox 4"/>
          <p:cNvSpPr txBox="1"/>
          <p:nvPr/>
        </p:nvSpPr>
        <p:spPr>
          <a:xfrm>
            <a:off x="3071814" y="1907250"/>
            <a:ext cx="7366119" cy="523220"/>
          </a:xfrm>
          <a:prstGeom prst="rect">
            <a:avLst/>
          </a:prstGeom>
          <a:noFill/>
        </p:spPr>
        <p:txBody>
          <a:bodyPr wrap="none" rtlCol="0">
            <a:spAutoFit/>
          </a:bodyPr>
          <a:lstStyle/>
          <a:p>
            <a:r>
              <a:rPr lang="zh-CN" altLang="en-US" sz="2800" dirty="0"/>
              <a:t>企业依靠自己的力量进入新业务或新地区市场</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1203"/>
                                        </p:tgtEl>
                                        <p:attrNameLst>
                                          <p:attrName>style.visibility</p:attrName>
                                        </p:attrNameLst>
                                      </p:cBhvr>
                                      <p:to>
                                        <p:strVal val="visible"/>
                                      </p:to>
                                    </p:set>
                                    <p:animEffect transition="in" filter="dissolve">
                                      <p:cBhvr>
                                        <p:cTn id="7" dur="500"/>
                                        <p:tgtEl>
                                          <p:spTgt spid="133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03" grpId="0" animBg="1" autoUpdateAnimBg="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自我发展的优势和风险</a:t>
            </a:r>
          </a:p>
        </p:txBody>
      </p:sp>
      <p:sp>
        <p:nvSpPr>
          <p:cNvPr id="3" name="内容占位符 2"/>
          <p:cNvSpPr>
            <a:spLocks noGrp="1"/>
          </p:cNvSpPr>
          <p:nvPr>
            <p:ph idx="1"/>
          </p:nvPr>
        </p:nvSpPr>
        <p:spPr/>
        <p:txBody>
          <a:bodyPr>
            <a:normAutofit lnSpcReduction="10000"/>
          </a:bodyPr>
          <a:lstStyle/>
          <a:p>
            <a:r>
              <a:rPr lang="zh-CN" altLang="en-US" dirty="0"/>
              <a:t>优势</a:t>
            </a:r>
            <a:endParaRPr lang="en-US" altLang="zh-CN" dirty="0"/>
          </a:p>
          <a:p>
            <a:pPr lvl="1"/>
            <a:r>
              <a:rPr lang="zh-CN" altLang="en-US" dirty="0"/>
              <a:t>成本低</a:t>
            </a:r>
            <a:endParaRPr lang="en-US" altLang="zh-CN" dirty="0"/>
          </a:p>
          <a:p>
            <a:pPr lvl="1"/>
            <a:r>
              <a:rPr lang="zh-CN" altLang="en-US" dirty="0"/>
              <a:t>有利于积累必要的知识、技能和经验</a:t>
            </a:r>
            <a:endParaRPr lang="en-US" altLang="zh-CN" dirty="0"/>
          </a:p>
          <a:p>
            <a:pPr lvl="1"/>
            <a:r>
              <a:rPr lang="zh-CN" altLang="en-US" dirty="0"/>
              <a:t>股票市场更看重自我发展带来的有机增长，而不是并购增长</a:t>
            </a:r>
            <a:endParaRPr lang="en-US" altLang="zh-CN" dirty="0"/>
          </a:p>
          <a:p>
            <a:pPr lvl="1"/>
            <a:r>
              <a:rPr lang="zh-CN" altLang="en-US" dirty="0"/>
              <a:t>自我发展能避免并购和联盟过程中所产生的利益冲突和文化传统</a:t>
            </a:r>
            <a:endParaRPr lang="en-US" altLang="zh-CN" dirty="0"/>
          </a:p>
          <a:p>
            <a:r>
              <a:rPr lang="zh-CN" altLang="en-US" dirty="0"/>
              <a:t>风险</a:t>
            </a:r>
            <a:endParaRPr lang="en-US" altLang="zh-CN" dirty="0"/>
          </a:p>
          <a:p>
            <a:pPr lvl="1"/>
            <a:r>
              <a:rPr lang="zh-CN" altLang="en-US" dirty="0"/>
              <a:t>自己承担风险</a:t>
            </a:r>
            <a:endParaRPr lang="en-US" altLang="zh-CN" dirty="0"/>
          </a:p>
          <a:p>
            <a:pPr lvl="1"/>
            <a:r>
              <a:rPr lang="zh-CN" altLang="en-US" dirty="0"/>
              <a:t>开发新产品或进入新市场的速度慢</a:t>
            </a:r>
            <a:endParaRPr lang="en-US" altLang="zh-CN" dirty="0"/>
          </a:p>
          <a:p>
            <a:pPr lvl="1"/>
            <a:endParaRPr lang="en-US" altLang="zh-CN" dirty="0"/>
          </a:p>
          <a:p>
            <a:endParaRPr lang="zh-CN" altLang="en-US"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战略联盟的定义及分类</a:t>
            </a:r>
          </a:p>
        </p:txBody>
      </p:sp>
      <p:sp>
        <p:nvSpPr>
          <p:cNvPr id="3" name="内容占位符 2"/>
          <p:cNvSpPr>
            <a:spLocks noGrp="1"/>
          </p:cNvSpPr>
          <p:nvPr>
            <p:ph idx="1"/>
          </p:nvPr>
        </p:nvSpPr>
        <p:spPr>
          <a:xfrm>
            <a:off x="2482051" y="1430086"/>
            <a:ext cx="7796540" cy="3997828"/>
          </a:xfrm>
        </p:spPr>
        <p:txBody>
          <a:bodyPr/>
          <a:lstStyle/>
          <a:p>
            <a:r>
              <a:rPr lang="zh-CN" altLang="en-US" dirty="0"/>
              <a:t>战略联盟</a:t>
            </a:r>
            <a:endParaRPr lang="en-US" altLang="zh-CN" dirty="0"/>
          </a:p>
          <a:p>
            <a:pPr lvl="1"/>
            <a:r>
              <a:rPr lang="zh-CN" altLang="en-US" dirty="0"/>
              <a:t>两个或多个企业为了实现特定的战略目标而采取的任何股权或非股权形式的共担风险、共享利益的联合行动</a:t>
            </a:r>
            <a:endParaRPr lang="en-US" altLang="zh-CN" dirty="0"/>
          </a:p>
          <a:p>
            <a:r>
              <a:rPr lang="zh-CN" altLang="en-US" dirty="0"/>
              <a:t>分类</a:t>
            </a:r>
            <a:endParaRPr lang="en-US" altLang="zh-CN" dirty="0"/>
          </a:p>
          <a:p>
            <a:pPr lvl="1"/>
            <a:r>
              <a:rPr lang="zh-CN" altLang="en-US" dirty="0"/>
              <a:t>合资、共同研究与开发、贴牌生产、特许经营、相互持股、战略外包</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适合战略联盟的情形</a:t>
            </a:r>
          </a:p>
        </p:txBody>
      </p:sp>
      <p:sp>
        <p:nvSpPr>
          <p:cNvPr id="3" name="内容占位符 2"/>
          <p:cNvSpPr>
            <a:spLocks noGrp="1"/>
          </p:cNvSpPr>
          <p:nvPr>
            <p:ph idx="1"/>
          </p:nvPr>
        </p:nvSpPr>
        <p:spPr>
          <a:xfrm>
            <a:off x="2508555" y="1430086"/>
            <a:ext cx="7796540" cy="3997828"/>
          </a:xfrm>
        </p:spPr>
        <p:txBody>
          <a:bodyPr/>
          <a:lstStyle/>
          <a:p>
            <a:r>
              <a:rPr lang="zh-CN" altLang="en-US" dirty="0"/>
              <a:t>自我发展经济上不可行，风险较大</a:t>
            </a:r>
            <a:endParaRPr lang="en-US" altLang="zh-CN" dirty="0"/>
          </a:p>
          <a:p>
            <a:r>
              <a:rPr lang="zh-CN" altLang="en-US" dirty="0"/>
              <a:t>合作伙伴间的竞争能力合并可以产生更大的竞争力</a:t>
            </a:r>
            <a:endParaRPr lang="en-US" altLang="zh-CN" dirty="0"/>
          </a:p>
          <a:p>
            <a:r>
              <a:rPr lang="zh-CN" altLang="en-US" dirty="0"/>
              <a:t>利用国外合作伙伴，可以越过进口配额限制、高关税、国家主义的政治利益及文化障碍等因素对企业发展的影响</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C21DA2C-1BB5-C643-9612-6F3DAFA42972}"/>
              </a:ext>
            </a:extLst>
          </p:cNvPr>
          <p:cNvPicPr>
            <a:picLocks noChangeAspect="1"/>
          </p:cNvPicPr>
          <p:nvPr/>
        </p:nvPicPr>
        <p:blipFill>
          <a:blip r:embed="rId2"/>
          <a:stretch>
            <a:fillRect/>
          </a:stretch>
        </p:blipFill>
        <p:spPr>
          <a:xfrm>
            <a:off x="2063552" y="476250"/>
            <a:ext cx="8064896" cy="5905500"/>
          </a:xfrm>
          <a:prstGeom prst="rect">
            <a:avLst/>
          </a:prstGeom>
          <a:solidFill>
            <a:schemeClr val="tx1"/>
          </a:solidFill>
        </p:spPr>
      </p:pic>
    </p:spTree>
    <p:extLst>
      <p:ext uri="{BB962C8B-B14F-4D97-AF65-F5344CB8AC3E}">
        <p14:creationId xmlns:p14="http://schemas.microsoft.com/office/powerpoint/2010/main" val="326127454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1026"/>
          <p:cNvSpPr>
            <a:spLocks noGrp="1" noChangeArrowheads="1"/>
          </p:cNvSpPr>
          <p:nvPr>
            <p:ph type="title"/>
          </p:nvPr>
        </p:nvSpPr>
        <p:spPr>
          <a:xfrm>
            <a:off x="2180466" y="758285"/>
            <a:ext cx="7958331" cy="1077229"/>
          </a:xfrm>
          <a:noFill/>
        </p:spPr>
        <p:txBody>
          <a:bodyPr/>
          <a:lstStyle/>
          <a:p>
            <a:pPr eaLnBrk="1" hangingPunct="1"/>
            <a:r>
              <a:rPr lang="zh-CN" altLang="en-AU" dirty="0">
                <a:solidFill>
                  <a:srgbClr val="FFFF66"/>
                </a:solidFill>
              </a:rPr>
              <a:t>战略联盟</a:t>
            </a:r>
          </a:p>
        </p:txBody>
      </p:sp>
      <p:sp>
        <p:nvSpPr>
          <p:cNvPr id="1369091" name="Rectangle 1027"/>
          <p:cNvSpPr>
            <a:spLocks noChangeArrowheads="1"/>
          </p:cNvSpPr>
          <p:nvPr/>
        </p:nvSpPr>
        <p:spPr bwMode="auto">
          <a:xfrm>
            <a:off x="2180466" y="1575766"/>
            <a:ext cx="8534400" cy="5410200"/>
          </a:xfrm>
          <a:prstGeom prst="rect">
            <a:avLst/>
          </a:prstGeom>
          <a:noFill/>
          <a:ln w="12700">
            <a:noFill/>
            <a:miter lim="800000"/>
            <a:headEnd/>
            <a:tailEnd/>
          </a:ln>
        </p:spPr>
        <p:txBody>
          <a:bodyPr lIns="92075" tIns="46038" rIns="92075" bIns="46038"/>
          <a:lstStyle/>
          <a:p>
            <a:pPr marL="457200" indent="-457200">
              <a:spcBef>
                <a:spcPct val="30000"/>
              </a:spcBef>
              <a:buClr>
                <a:schemeClr val="tx1"/>
              </a:buClr>
              <a:buFont typeface="Wingdings" pitchFamily="2" charset="2"/>
              <a:buChar char="Ø"/>
            </a:pPr>
            <a:r>
              <a:rPr lang="zh-CN" altLang="en-US" sz="3200" dirty="0">
                <a:latin typeface="KaiTi" panose="02010609060101010101" pitchFamily="49" charset="-122"/>
                <a:ea typeface="KaiTi" panose="02010609060101010101" pitchFamily="49" charset="-122"/>
              </a:rPr>
              <a:t>可口可乐、麦当劳与</a:t>
            </a:r>
            <a:r>
              <a:rPr lang="en-US" altLang="zh-CN" sz="3200" dirty="0">
                <a:latin typeface="KaiTi" panose="02010609060101010101" pitchFamily="49" charset="-122"/>
                <a:ea typeface="KaiTi" panose="02010609060101010101" pitchFamily="49" charset="-122"/>
              </a:rPr>
              <a:t>DISNEYLAND</a:t>
            </a:r>
            <a:r>
              <a:rPr lang="zh-CN" altLang="en-US" sz="3200" dirty="0">
                <a:latin typeface="KaiTi" panose="02010609060101010101" pitchFamily="49" charset="-122"/>
                <a:ea typeface="KaiTi" panose="02010609060101010101" pitchFamily="49" charset="-122"/>
              </a:rPr>
              <a:t>的全球联盟</a:t>
            </a:r>
          </a:p>
          <a:p>
            <a:pPr marL="457200" indent="-457200">
              <a:spcBef>
                <a:spcPct val="30000"/>
              </a:spcBef>
              <a:buClr>
                <a:schemeClr val="tx1"/>
              </a:buClr>
              <a:buFont typeface="Wingdings" pitchFamily="2" charset="2"/>
              <a:buChar char="Ø"/>
            </a:pPr>
            <a:r>
              <a:rPr lang="zh-CN" altLang="en-US" sz="3200" dirty="0">
                <a:latin typeface="KaiTi" panose="02010609060101010101" pitchFamily="49" charset="-122"/>
                <a:ea typeface="KaiTi" panose="02010609060101010101" pitchFamily="49" charset="-122"/>
              </a:rPr>
              <a:t>未来的竞争将是联盟与联盟之间的竞争</a:t>
            </a:r>
          </a:p>
        </p:txBody>
      </p:sp>
      <p:graphicFrame>
        <p:nvGraphicFramePr>
          <p:cNvPr id="2050" name="Object 1028"/>
          <p:cNvGraphicFramePr>
            <a:graphicFrameLocks noGrp="1" noChangeAspect="1"/>
          </p:cNvGraphicFramePr>
          <p:nvPr>
            <p:ph idx="1"/>
            <p:extLst>
              <p:ext uri="{D42A27DB-BD31-4B8C-83A1-F6EECF244321}">
                <p14:modId xmlns:p14="http://schemas.microsoft.com/office/powerpoint/2010/main" val="3002792564"/>
              </p:ext>
            </p:extLst>
          </p:nvPr>
        </p:nvGraphicFramePr>
        <p:xfrm>
          <a:off x="4229861" y="3172491"/>
          <a:ext cx="3455987" cy="1800225"/>
        </p:xfrm>
        <a:graphic>
          <a:graphicData uri="http://schemas.openxmlformats.org/presentationml/2006/ole">
            <mc:AlternateContent xmlns:mc="http://schemas.openxmlformats.org/markup-compatibility/2006">
              <mc:Choice xmlns:v="urn:schemas-microsoft-com:vml" Requires="v">
                <p:oleObj spid="_x0000_s2095" name="绘图" r:id="rId4" imgW="1497600" imgH="568800" progId="">
                  <p:embed/>
                </p:oleObj>
              </mc:Choice>
              <mc:Fallback>
                <p:oleObj name="绘图" r:id="rId4" imgW="1497600" imgH="568800" progId="">
                  <p:embed/>
                  <p:pic>
                    <p:nvPicPr>
                      <p:cNvPr id="2050" name="Object 10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9861" y="3172491"/>
                        <a:ext cx="3455987" cy="1800225"/>
                      </a:xfrm>
                      <a:prstGeom prst="rect">
                        <a:avLst/>
                      </a:prstGeom>
                      <a:noFill/>
                      <a:ln>
                        <a:noFill/>
                      </a:ln>
                      <a:effectLst/>
                      <a:extLst>
                        <a:ext uri="{909E8E84-426E-40dd-AFC4-6F175D3DCCD1}">
                          <a14:hiddenFill xmlns:a14="http://schemas.microsoft.com/office/drawing/2010/main" xmlns="">
                            <a:solidFill>
                              <a:srgbClr val="F2F8C4"/>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69091"/>
                                        </p:tgtEl>
                                        <p:attrNameLst>
                                          <p:attrName>style.visibility</p:attrName>
                                        </p:attrNameLst>
                                      </p:cBhvr>
                                      <p:to>
                                        <p:strVal val="visible"/>
                                      </p:to>
                                    </p:set>
                                    <p:anim calcmode="lin" valueType="num">
                                      <p:cBhvr additive="base">
                                        <p:cTn id="7" dur="500" fill="hold"/>
                                        <p:tgtEl>
                                          <p:spTgt spid="1369091"/>
                                        </p:tgtEl>
                                        <p:attrNameLst>
                                          <p:attrName>ppt_x</p:attrName>
                                        </p:attrNameLst>
                                      </p:cBhvr>
                                      <p:tavLst>
                                        <p:tav tm="0">
                                          <p:val>
                                            <p:strVal val="0-#ppt_w/2"/>
                                          </p:val>
                                        </p:tav>
                                        <p:tav tm="100000">
                                          <p:val>
                                            <p:strVal val="#ppt_x"/>
                                          </p:val>
                                        </p:tav>
                                      </p:tavLst>
                                    </p:anim>
                                    <p:anim calcmode="lin" valueType="num">
                                      <p:cBhvr additive="base">
                                        <p:cTn id="8" dur="500" fill="hold"/>
                                        <p:tgtEl>
                                          <p:spTgt spid="13690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9091"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战略联盟的优势和劣势</a:t>
            </a:r>
          </a:p>
        </p:txBody>
      </p:sp>
      <p:sp>
        <p:nvSpPr>
          <p:cNvPr id="3" name="内容占位符 2"/>
          <p:cNvSpPr>
            <a:spLocks noGrp="1"/>
          </p:cNvSpPr>
          <p:nvPr>
            <p:ph idx="1"/>
          </p:nvPr>
        </p:nvSpPr>
        <p:spPr>
          <a:xfrm>
            <a:off x="2692703" y="1885285"/>
            <a:ext cx="7796540" cy="3997828"/>
          </a:xfrm>
        </p:spPr>
        <p:txBody>
          <a:bodyPr>
            <a:normAutofit fontScale="85000" lnSpcReduction="10000"/>
          </a:bodyPr>
          <a:lstStyle/>
          <a:p>
            <a:pPr>
              <a:spcAft>
                <a:spcPts val="0"/>
              </a:spcAft>
            </a:pPr>
            <a:r>
              <a:rPr lang="zh-CN" altLang="en-US" sz="2800" dirty="0"/>
              <a:t>优势</a:t>
            </a:r>
            <a:endParaRPr lang="en-US" altLang="zh-CN" sz="2800" dirty="0"/>
          </a:p>
          <a:p>
            <a:pPr lvl="1">
              <a:spcAft>
                <a:spcPts val="0"/>
              </a:spcAft>
            </a:pPr>
            <a:r>
              <a:rPr lang="zh-CN" altLang="en-US" sz="2000" dirty="0"/>
              <a:t>能获得生产和营销上的规模经济性</a:t>
            </a:r>
            <a:endParaRPr lang="en-US" altLang="zh-CN" sz="2000" dirty="0"/>
          </a:p>
          <a:p>
            <a:pPr lvl="1">
              <a:spcAft>
                <a:spcPts val="0"/>
              </a:spcAft>
            </a:pPr>
            <a:r>
              <a:rPr lang="zh-CN" altLang="en-US" sz="2000" dirty="0"/>
              <a:t>弥补技术技能和有关当地市场知识方面的不足</a:t>
            </a:r>
            <a:endParaRPr lang="en-US" altLang="zh-CN" sz="2000" dirty="0"/>
          </a:p>
          <a:p>
            <a:pPr lvl="1">
              <a:spcAft>
                <a:spcPts val="0"/>
              </a:spcAft>
            </a:pPr>
            <a:r>
              <a:rPr lang="zh-CN" altLang="en-US" sz="2000" dirty="0"/>
              <a:t>分享销售设施和销售网络</a:t>
            </a:r>
            <a:endParaRPr lang="en-US" altLang="zh-CN" sz="2000" dirty="0"/>
          </a:p>
          <a:p>
            <a:pPr lvl="1">
              <a:spcAft>
                <a:spcPts val="0"/>
              </a:spcAft>
            </a:pPr>
            <a:r>
              <a:rPr lang="zh-CN" altLang="en-US" sz="2000" dirty="0"/>
              <a:t>结合力量对付共同的对手</a:t>
            </a:r>
            <a:endParaRPr lang="en-US" altLang="zh-CN" sz="2000" dirty="0"/>
          </a:p>
          <a:p>
            <a:pPr>
              <a:spcAft>
                <a:spcPts val="0"/>
              </a:spcAft>
            </a:pPr>
            <a:r>
              <a:rPr lang="zh-CN" altLang="en-US" sz="2800" dirty="0"/>
              <a:t>劣势</a:t>
            </a:r>
            <a:endParaRPr lang="en-US" altLang="zh-CN" sz="2800" dirty="0"/>
          </a:p>
          <a:p>
            <a:pPr lvl="1">
              <a:spcAft>
                <a:spcPts val="0"/>
              </a:spcAft>
            </a:pPr>
            <a:r>
              <a:rPr lang="zh-CN" altLang="en-US" sz="2000" dirty="0"/>
              <a:t>容易产生职责分工和有效控制的问题</a:t>
            </a:r>
            <a:endParaRPr lang="en-US" altLang="zh-CN" sz="2000" dirty="0"/>
          </a:p>
          <a:p>
            <a:pPr lvl="1">
              <a:spcAft>
                <a:spcPts val="0"/>
              </a:spcAft>
            </a:pPr>
            <a:r>
              <a:rPr lang="zh-CN" altLang="en-US" sz="2000" dirty="0"/>
              <a:t>联盟各方由于动机和目的不同，在战略的长期方向、如何从事经营、如何控制现金流和利润、如何保持个性和文化等方面存在冲突</a:t>
            </a:r>
            <a:endParaRPr lang="en-US" altLang="zh-CN" sz="2000" dirty="0"/>
          </a:p>
          <a:p>
            <a:pPr lvl="1">
              <a:spcAft>
                <a:spcPts val="0"/>
              </a:spcAft>
            </a:pPr>
            <a:r>
              <a:rPr lang="zh-CN" altLang="en-US" sz="2000" dirty="0"/>
              <a:t>在必要的技能上长期过于依赖另一家企业</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22" name="AutoShape 2"/>
          <p:cNvSpPr>
            <a:spLocks noChangeArrowheads="1"/>
          </p:cNvSpPr>
          <p:nvPr/>
        </p:nvSpPr>
        <p:spPr bwMode="auto">
          <a:xfrm>
            <a:off x="1992314" y="152400"/>
            <a:ext cx="8351837" cy="635000"/>
          </a:xfrm>
          <a:prstGeom prst="roundRect">
            <a:avLst>
              <a:gd name="adj" fmla="val 12477"/>
            </a:avLst>
          </a:prstGeom>
          <a:noFill/>
          <a:ln w="12700">
            <a:noFill/>
            <a:round/>
            <a:headEnd/>
            <a:tailEnd/>
          </a:ln>
          <a:effectLst>
            <a:outerShdw dist="53882" dir="2700000" algn="ctr" rotWithShape="0">
              <a:srgbClr val="919191"/>
            </a:outerShdw>
          </a:effectLst>
        </p:spPr>
        <p:txBody>
          <a:bodyPr wrap="none" anchor="ctr"/>
          <a:lstStyle/>
          <a:p>
            <a:pPr>
              <a:defRPr/>
            </a:pPr>
            <a:endParaRPr lang="zh-CN" altLang="en-US"/>
          </a:p>
        </p:txBody>
      </p:sp>
      <p:sp>
        <p:nvSpPr>
          <p:cNvPr id="1413123" name="Rectangle 3"/>
          <p:cNvSpPr>
            <a:spLocks noChangeArrowheads="1"/>
          </p:cNvSpPr>
          <p:nvPr/>
        </p:nvSpPr>
        <p:spPr bwMode="auto">
          <a:xfrm>
            <a:off x="3635375" y="685799"/>
            <a:ext cx="4992687" cy="698500"/>
          </a:xfrm>
          <a:prstGeom prst="rect">
            <a:avLst/>
          </a:prstGeom>
          <a:noFill/>
          <a:ln w="12700">
            <a:noFill/>
            <a:miter lim="800000"/>
            <a:headEnd/>
            <a:tailEnd/>
          </a:ln>
          <a:effectLst/>
        </p:spPr>
        <p:txBody>
          <a:bodyPr lIns="90488" tIns="44450" rIns="90488" bIns="44450">
            <a:spAutoFit/>
          </a:bodyPr>
          <a:lstStyle/>
          <a:p>
            <a:pPr eaLnBrk="0" hangingPunct="0">
              <a:defRPr/>
            </a:pPr>
            <a:r>
              <a:rPr lang="zh-CN" altLang="en-US" sz="4000" dirty="0">
                <a:solidFill>
                  <a:srgbClr val="FFFF66"/>
                </a:solidFill>
                <a:effectLst>
                  <a:outerShdw blurRad="38100" dist="38100" dir="2700000" algn="tl">
                    <a:srgbClr val="C0C0C0"/>
                  </a:outerShdw>
                </a:effectLst>
                <a:latin typeface="KaiTi" panose="02010609060101010101" pitchFamily="49" charset="-122"/>
                <a:ea typeface="KaiTi" panose="02010609060101010101" pitchFamily="49" charset="-122"/>
              </a:rPr>
              <a:t>兼</a:t>
            </a:r>
            <a:r>
              <a:rPr lang="zh-CN" altLang="en-NZ" sz="4000" dirty="0">
                <a:solidFill>
                  <a:srgbClr val="FFFF66"/>
                </a:solidFill>
                <a:effectLst>
                  <a:outerShdw blurRad="38100" dist="38100" dir="2700000" algn="tl">
                    <a:srgbClr val="C0C0C0"/>
                  </a:outerShdw>
                </a:effectLst>
                <a:latin typeface="KaiTi" panose="02010609060101010101" pitchFamily="49" charset="-122"/>
                <a:ea typeface="KaiTi" panose="02010609060101010101" pitchFamily="49" charset="-122"/>
              </a:rPr>
              <a:t>并与收购</a:t>
            </a:r>
          </a:p>
        </p:txBody>
      </p:sp>
      <p:sp>
        <p:nvSpPr>
          <p:cNvPr id="1413126" name="AutoShape 6"/>
          <p:cNvSpPr>
            <a:spLocks noChangeArrowheads="1"/>
          </p:cNvSpPr>
          <p:nvPr/>
        </p:nvSpPr>
        <p:spPr bwMode="auto">
          <a:xfrm>
            <a:off x="1774825" y="1844676"/>
            <a:ext cx="8675688" cy="1655763"/>
          </a:xfrm>
          <a:prstGeom prst="roundRect">
            <a:avLst>
              <a:gd name="adj" fmla="val 12477"/>
            </a:avLst>
          </a:prstGeom>
          <a:solidFill>
            <a:schemeClr val="accent2"/>
          </a:solidFill>
          <a:ln w="12700">
            <a:noFill/>
            <a:round/>
            <a:headEnd/>
            <a:tailEnd/>
          </a:ln>
          <a:effectLst>
            <a:outerShdw dist="53882" dir="2700000" algn="ctr" rotWithShape="0">
              <a:srgbClr val="919191"/>
            </a:outerShdw>
          </a:effectLst>
        </p:spPr>
        <p:txBody>
          <a:bodyPr wrap="none" anchor="ctr"/>
          <a:lstStyle/>
          <a:p>
            <a:pPr>
              <a:defRPr/>
            </a:pPr>
            <a:endParaRPr lang="zh-CN" altLang="en-US"/>
          </a:p>
        </p:txBody>
      </p:sp>
      <p:sp>
        <p:nvSpPr>
          <p:cNvPr id="1413127" name="Rectangle 7"/>
          <p:cNvSpPr>
            <a:spLocks noChangeArrowheads="1"/>
          </p:cNvSpPr>
          <p:nvPr/>
        </p:nvSpPr>
        <p:spPr bwMode="auto">
          <a:xfrm>
            <a:off x="1992314" y="1989139"/>
            <a:ext cx="8353425" cy="1345497"/>
          </a:xfrm>
          <a:prstGeom prst="rect">
            <a:avLst/>
          </a:prstGeom>
          <a:solidFill>
            <a:srgbClr val="FFFF00"/>
          </a:solidFill>
          <a:ln w="12700">
            <a:noFill/>
            <a:miter lim="800000"/>
            <a:headEnd/>
            <a:tailEnd/>
          </a:ln>
        </p:spPr>
        <p:txBody>
          <a:bodyPr lIns="90488" tIns="44450" rIns="90488" bIns="44450">
            <a:spAutoFit/>
          </a:bodyPr>
          <a:lstStyle/>
          <a:p>
            <a:pPr algn="l" eaLnBrk="0" hangingPunct="0">
              <a:lnSpc>
                <a:spcPct val="85000"/>
              </a:lnSpc>
            </a:pPr>
            <a:r>
              <a:rPr lang="zh-CN" altLang="en-US" sz="3200" dirty="0">
                <a:solidFill>
                  <a:schemeClr val="bg1"/>
                </a:solidFill>
                <a:latin typeface="KaiTi" panose="02010609060101010101" pitchFamily="49" charset="-122"/>
                <a:ea typeface="KaiTi" panose="02010609060101010101" pitchFamily="49" charset="-122"/>
              </a:rPr>
              <a:t>兼并：</a:t>
            </a:r>
            <a:r>
              <a:rPr lang="en-US" altLang="zh-CN" sz="3200" dirty="0">
                <a:solidFill>
                  <a:schemeClr val="bg1"/>
                </a:solidFill>
                <a:latin typeface="KaiTi" panose="02010609060101010101" pitchFamily="49" charset="-122"/>
                <a:ea typeface="KaiTi" panose="02010609060101010101" pitchFamily="49" charset="-122"/>
              </a:rPr>
              <a:t>A+B=C</a:t>
            </a:r>
          </a:p>
          <a:p>
            <a:pPr algn="l" eaLnBrk="0" hangingPunct="0">
              <a:lnSpc>
                <a:spcPct val="85000"/>
              </a:lnSpc>
            </a:pPr>
            <a:r>
              <a:rPr lang="zh-CN" altLang="en-US" sz="3200" dirty="0">
                <a:solidFill>
                  <a:schemeClr val="bg1"/>
                </a:solidFill>
                <a:latin typeface="KaiTi" panose="02010609060101010101" pitchFamily="49" charset="-122"/>
                <a:ea typeface="KaiTi" panose="02010609060101010101" pitchFamily="49" charset="-122"/>
              </a:rPr>
              <a:t>收购：</a:t>
            </a:r>
            <a:r>
              <a:rPr lang="en-US" altLang="zh-CN" sz="3200" dirty="0">
                <a:solidFill>
                  <a:schemeClr val="bg1"/>
                </a:solidFill>
                <a:latin typeface="KaiTi" panose="02010609060101010101" pitchFamily="49" charset="-122"/>
                <a:ea typeface="KaiTi" panose="02010609060101010101" pitchFamily="49" charset="-122"/>
              </a:rPr>
              <a:t>A+B=A</a:t>
            </a:r>
          </a:p>
          <a:p>
            <a:pPr algn="l" eaLnBrk="0" hangingPunct="0">
              <a:lnSpc>
                <a:spcPct val="85000"/>
              </a:lnSpc>
            </a:pPr>
            <a:r>
              <a:rPr lang="zh-CN" altLang="en-US" sz="3200" dirty="0">
                <a:solidFill>
                  <a:schemeClr val="bg1"/>
                </a:solidFill>
                <a:latin typeface="KaiTi" panose="02010609060101010101" pitchFamily="49" charset="-122"/>
                <a:ea typeface="KaiTi" panose="02010609060101010101" pitchFamily="49" charset="-122"/>
              </a:rPr>
              <a:t>分类：横向并购、纵向并购、混合并购</a:t>
            </a:r>
            <a:endParaRPr lang="en-NZ" altLang="zh-CN" sz="3200" dirty="0">
              <a:solidFill>
                <a:schemeClr val="bg1"/>
              </a:solidFill>
              <a:latin typeface="KaiTi" panose="02010609060101010101" pitchFamily="49" charset="-122"/>
              <a:ea typeface="KaiTi" panose="02010609060101010101" pitchFamily="49" charset="-122"/>
            </a:endParaRPr>
          </a:p>
        </p:txBody>
      </p:sp>
      <p:sp>
        <p:nvSpPr>
          <p:cNvPr id="53254" name="AutoShape 8"/>
          <p:cNvSpPr>
            <a:spLocks noChangeArrowheads="1"/>
          </p:cNvSpPr>
          <p:nvPr/>
        </p:nvSpPr>
        <p:spPr bwMode="auto">
          <a:xfrm>
            <a:off x="1919288" y="3573464"/>
            <a:ext cx="8424862" cy="2598737"/>
          </a:xfrm>
          <a:prstGeom prst="horizontalScroll">
            <a:avLst>
              <a:gd name="adj" fmla="val 12500"/>
            </a:avLst>
          </a:prstGeom>
          <a:solidFill>
            <a:srgbClr val="FFCCFF"/>
          </a:solidFill>
          <a:ln w="9525">
            <a:solidFill>
              <a:schemeClr val="tx1"/>
            </a:solidFill>
            <a:round/>
            <a:headEnd/>
            <a:tailEnd/>
          </a:ln>
        </p:spPr>
        <p:txBody>
          <a:bodyPr wrap="none" anchor="ctr"/>
          <a:lstStyle/>
          <a:p>
            <a:r>
              <a:rPr lang="zh-CN" altLang="en-US" sz="2800" b="1" dirty="0">
                <a:solidFill>
                  <a:schemeClr val="bg1"/>
                </a:solidFill>
                <a:latin typeface="KaiTi" panose="02010609060101010101" pitchFamily="49" charset="-122"/>
                <a:ea typeface="KaiTi" panose="02010609060101010101" pitchFamily="49" charset="-122"/>
              </a:rPr>
              <a:t>没有一个美国大公司不是通过某种程度、</a:t>
            </a:r>
          </a:p>
          <a:p>
            <a:r>
              <a:rPr lang="zh-CN" altLang="en-US" sz="2800" b="1" dirty="0">
                <a:solidFill>
                  <a:schemeClr val="bg1"/>
                </a:solidFill>
                <a:latin typeface="KaiTi" panose="02010609060101010101" pitchFamily="49" charset="-122"/>
                <a:ea typeface="KaiTi" panose="02010609060101010101" pitchFamily="49" charset="-122"/>
              </a:rPr>
              <a:t>某种方式的兼并而成长起来的，几乎没</a:t>
            </a:r>
          </a:p>
          <a:p>
            <a:r>
              <a:rPr lang="zh-CN" altLang="en-US" sz="2800" b="1" dirty="0">
                <a:solidFill>
                  <a:schemeClr val="bg1"/>
                </a:solidFill>
                <a:latin typeface="KaiTi" panose="02010609060101010101" pitchFamily="49" charset="-122"/>
                <a:ea typeface="KaiTi" panose="02010609060101010101" pitchFamily="49" charset="-122"/>
              </a:rPr>
              <a:t>有一家大公司主要靠内部扩张成长起来。</a:t>
            </a:r>
          </a:p>
          <a:p>
            <a:r>
              <a:rPr lang="zh-CN" altLang="en-US" sz="2800" b="1" dirty="0">
                <a:solidFill>
                  <a:schemeClr val="bg1"/>
                </a:solidFill>
                <a:latin typeface="Arial" pitchFamily="34" charset="0"/>
                <a:ea typeface="宋体" pitchFamily="2" charset="-122"/>
              </a:rPr>
              <a:t>                                                     </a:t>
            </a:r>
            <a:endParaRPr lang="en-US" altLang="zh-CN" b="1" dirty="0">
              <a:latin typeface="Arial" pitchFamily="34" charset="0"/>
              <a:ea typeface="宋体" pitchFamily="2" charset="-122"/>
            </a:endParaRPr>
          </a:p>
        </p:txBody>
      </p:sp>
      <p:sp>
        <p:nvSpPr>
          <p:cNvPr id="2" name="矩形 1"/>
          <p:cNvSpPr/>
          <p:nvPr/>
        </p:nvSpPr>
        <p:spPr>
          <a:xfrm>
            <a:off x="6528048" y="5373216"/>
            <a:ext cx="3272358" cy="523220"/>
          </a:xfrm>
          <a:prstGeom prst="rect">
            <a:avLst/>
          </a:prstGeom>
        </p:spPr>
        <p:txBody>
          <a:bodyPr wrap="square">
            <a:spAutoFit/>
          </a:bodyPr>
          <a:lstStyle/>
          <a:p>
            <a:pPr lvl="0"/>
            <a:r>
              <a:rPr lang="en-US" altLang="zh-CN" sz="2800" b="1" dirty="0">
                <a:solidFill>
                  <a:prstClr val="black"/>
                </a:solidFill>
                <a:latin typeface="KaiTi" panose="02010609060101010101" pitchFamily="49" charset="-122"/>
                <a:ea typeface="KaiTi" panose="02010609060101010101" pitchFamily="49" charset="-122"/>
              </a:rPr>
              <a:t>——</a:t>
            </a:r>
            <a:r>
              <a:rPr lang="zh-CN" altLang="en-US" sz="2800" b="1" dirty="0">
                <a:solidFill>
                  <a:prstClr val="black"/>
                </a:solidFill>
                <a:latin typeface="KaiTi" panose="02010609060101010101" pitchFamily="49" charset="-122"/>
                <a:ea typeface="KaiTi" panose="02010609060101010101" pitchFamily="49" charset="-122"/>
              </a:rPr>
              <a:t>乔治</a:t>
            </a:r>
            <a:r>
              <a:rPr lang="zh-CN" altLang="en-US" sz="2800" b="1" dirty="0">
                <a:solidFill>
                  <a:prstClr val="black"/>
                </a:solidFill>
                <a:latin typeface="KaiTi" panose="02010609060101010101" pitchFamily="49" charset="-122"/>
                <a:ea typeface="KaiTi" panose="02010609060101010101" pitchFamily="49" charset="-122"/>
                <a:sym typeface="Symbol" pitchFamily="18" charset="2"/>
              </a:rPr>
              <a:t>斯蒂格勒</a:t>
            </a:r>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13126"/>
                                        </p:tgtEl>
                                        <p:attrNameLst>
                                          <p:attrName>style.visibility</p:attrName>
                                        </p:attrNameLst>
                                      </p:cBhvr>
                                      <p:to>
                                        <p:strVal val="visible"/>
                                      </p:to>
                                    </p:set>
                                    <p:animEffect transition="in" filter="wipe(up)">
                                      <p:cBhvr>
                                        <p:cTn id="7" dur="500"/>
                                        <p:tgtEl>
                                          <p:spTgt spid="141312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413127"/>
                                        </p:tgtEl>
                                        <p:attrNameLst>
                                          <p:attrName>style.visibility</p:attrName>
                                        </p:attrNameLst>
                                      </p:cBhvr>
                                      <p:to>
                                        <p:strVal val="visible"/>
                                      </p:to>
                                    </p:set>
                                    <p:animEffect transition="in" filter="wipe(up)">
                                      <p:cBhvr>
                                        <p:cTn id="11" dur="500"/>
                                        <p:tgtEl>
                                          <p:spTgt spid="1413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26" grpId="0" animBg="1"/>
      <p:bldP spid="1413127" grpId="0" animBg="1" autoUpdateAnimBg="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2230094" y="516836"/>
            <a:ext cx="6335713" cy="1089025"/>
          </a:xfrm>
          <a:noFill/>
        </p:spPr>
        <p:txBody>
          <a:bodyPr/>
          <a:lstStyle/>
          <a:p>
            <a:pPr eaLnBrk="1" hangingPunct="1"/>
            <a:r>
              <a:rPr lang="zh-CN" altLang="en-US" sz="4800" dirty="0">
                <a:solidFill>
                  <a:srgbClr val="FFFF66"/>
                </a:solidFill>
              </a:rPr>
              <a:t>并</a:t>
            </a:r>
            <a:r>
              <a:rPr lang="zh-CN" altLang="en-AU" sz="4800" dirty="0">
                <a:solidFill>
                  <a:srgbClr val="FFFF66"/>
                </a:solidFill>
              </a:rPr>
              <a:t>购</a:t>
            </a:r>
            <a:r>
              <a:rPr lang="zh-CN" altLang="en-US" sz="4800" dirty="0">
                <a:solidFill>
                  <a:srgbClr val="FFFF66"/>
                </a:solidFill>
              </a:rPr>
              <a:t>战略的优势</a:t>
            </a:r>
            <a:endParaRPr lang="zh-CN" altLang="en-AU" sz="4800" dirty="0">
              <a:solidFill>
                <a:srgbClr val="FFFF66"/>
              </a:solidFill>
            </a:endParaRPr>
          </a:p>
        </p:txBody>
      </p:sp>
      <p:sp>
        <p:nvSpPr>
          <p:cNvPr id="1415171" name="Rectangle 3"/>
          <p:cNvSpPr>
            <a:spLocks noChangeArrowheads="1"/>
          </p:cNvSpPr>
          <p:nvPr/>
        </p:nvSpPr>
        <p:spPr bwMode="auto">
          <a:xfrm>
            <a:off x="1919288" y="1700214"/>
            <a:ext cx="8534400" cy="4370387"/>
          </a:xfrm>
          <a:prstGeom prst="rect">
            <a:avLst/>
          </a:prstGeom>
          <a:noFill/>
          <a:ln w="12700">
            <a:noFill/>
            <a:miter lim="800000"/>
            <a:headEnd/>
            <a:tailEnd/>
          </a:ln>
        </p:spPr>
        <p:txBody>
          <a:bodyPr lIns="92075" tIns="46038" rIns="92075" bIns="46038"/>
          <a:lstStyle/>
          <a:p>
            <a:pPr marL="457200" indent="-457200">
              <a:spcBef>
                <a:spcPct val="20000"/>
              </a:spcBef>
              <a:buClr>
                <a:schemeClr val="tx1"/>
              </a:buClr>
              <a:buFont typeface="Arial" panose="020B0604020202020204" pitchFamily="34" charset="0"/>
              <a:buChar char="•"/>
            </a:pPr>
            <a:r>
              <a:rPr lang="zh-CN" altLang="en-US" sz="3200" dirty="0">
                <a:latin typeface="KaiTi" panose="02010609060101010101" pitchFamily="49" charset="-122"/>
                <a:ea typeface="KaiTi" panose="02010609060101010101" pitchFamily="49" charset="-122"/>
              </a:rPr>
              <a:t>企业为何要通过收购实现增长战略？</a:t>
            </a:r>
          </a:p>
          <a:p>
            <a:pPr marL="914400" lvl="1" indent="-457200">
              <a:spcBef>
                <a:spcPct val="20000"/>
              </a:spcBef>
              <a:buClr>
                <a:schemeClr val="tx1"/>
              </a:buClr>
              <a:buSzPct val="85000"/>
              <a:buFont typeface="Arial" panose="020B0604020202020204" pitchFamily="34" charset="0"/>
              <a:buChar char="•"/>
            </a:pPr>
            <a:r>
              <a:rPr lang="zh-CN" altLang="en-US" sz="2800" dirty="0">
                <a:latin typeface="KaiTi" panose="02010609060101010101" pitchFamily="49" charset="-122"/>
                <a:ea typeface="KaiTi" panose="02010609060101010101" pitchFamily="49" charset="-122"/>
              </a:rPr>
              <a:t>速度更快地进入新的产品和市场领域</a:t>
            </a:r>
            <a:endParaRPr lang="en-US" altLang="zh-CN" sz="2800" dirty="0">
              <a:latin typeface="KaiTi" panose="02010609060101010101" pitchFamily="49" charset="-122"/>
              <a:ea typeface="KaiTi" panose="02010609060101010101" pitchFamily="49" charset="-122"/>
            </a:endParaRPr>
          </a:p>
          <a:p>
            <a:pPr marL="914400" lvl="1" indent="-457200">
              <a:spcBef>
                <a:spcPct val="20000"/>
              </a:spcBef>
              <a:buClr>
                <a:schemeClr val="tx1"/>
              </a:buClr>
              <a:buSzPct val="85000"/>
              <a:buFont typeface="Arial" panose="020B0604020202020204" pitchFamily="34" charset="0"/>
              <a:buChar char="•"/>
            </a:pPr>
            <a:r>
              <a:rPr lang="zh-CN" altLang="en-US" sz="2800" dirty="0">
                <a:latin typeface="KaiTi" panose="02010609060101010101" pitchFamily="49" charset="-122"/>
                <a:ea typeface="KaiTi" panose="02010609060101010101" pitchFamily="49" charset="-122"/>
              </a:rPr>
              <a:t>对行业内现有企业或国外市场上的现有企业进行并购，能帮助企业越过壁垒，促进跨行业或跨国发展</a:t>
            </a:r>
            <a:endParaRPr lang="en-US" altLang="zh-CN" sz="2800" dirty="0">
              <a:latin typeface="KaiTi" panose="02010609060101010101" pitchFamily="49" charset="-122"/>
              <a:ea typeface="KaiTi" panose="02010609060101010101" pitchFamily="49" charset="-122"/>
            </a:endParaRPr>
          </a:p>
          <a:p>
            <a:pPr marL="914400" lvl="1" indent="-457200">
              <a:spcBef>
                <a:spcPct val="20000"/>
              </a:spcBef>
              <a:buClr>
                <a:schemeClr val="tx1"/>
              </a:buClr>
              <a:buSzPct val="85000"/>
              <a:buFont typeface="Arial" panose="020B0604020202020204" pitchFamily="34" charset="0"/>
              <a:buChar char="•"/>
            </a:pPr>
            <a:r>
              <a:rPr lang="zh-CN" altLang="en-US" sz="2800" dirty="0">
                <a:latin typeface="KaiTi" panose="02010609060101010101" pitchFamily="49" charset="-122"/>
                <a:ea typeface="KaiTi" panose="02010609060101010101" pitchFamily="49" charset="-122"/>
              </a:rPr>
              <a:t>发挥协同效应，创造生产经营协同、财务协同、资源协同及技术协同等方面的利益</a:t>
            </a:r>
            <a:endParaRPr lang="en-US" altLang="zh-CN" sz="2800" dirty="0">
              <a:latin typeface="KaiTi" panose="02010609060101010101" pitchFamily="49" charset="-122"/>
              <a:ea typeface="KaiTi" panose="02010609060101010101" pitchFamily="49" charset="-122"/>
            </a:endParaRPr>
          </a:p>
          <a:p>
            <a:pPr marL="914400" lvl="1" indent="-457200">
              <a:spcBef>
                <a:spcPct val="20000"/>
              </a:spcBef>
              <a:buClr>
                <a:schemeClr val="tx1"/>
              </a:buClr>
              <a:buSzPct val="85000"/>
              <a:buFont typeface="Arial" panose="020B0604020202020204" pitchFamily="34" charset="0"/>
              <a:buChar char="•"/>
            </a:pPr>
            <a:r>
              <a:rPr lang="zh-CN" altLang="en-US" sz="2800" dirty="0">
                <a:latin typeface="KaiTi" panose="02010609060101010101" pitchFamily="49" charset="-122"/>
                <a:ea typeface="KaiTi" panose="02010609060101010101" pitchFamily="49" charset="-122"/>
              </a:rPr>
              <a:t>提高生产和经营规模，获得效率和成本优势，提高企业对市场的控制能力</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15171"/>
                                        </p:tgtEl>
                                        <p:attrNameLst>
                                          <p:attrName>style.visibility</p:attrName>
                                        </p:attrNameLst>
                                      </p:cBhvr>
                                      <p:to>
                                        <p:strVal val="visible"/>
                                      </p:to>
                                    </p:set>
                                    <p:anim calcmode="lin" valueType="num">
                                      <p:cBhvr additive="base">
                                        <p:cTn id="7" dur="500" fill="hold"/>
                                        <p:tgtEl>
                                          <p:spTgt spid="1415171"/>
                                        </p:tgtEl>
                                        <p:attrNameLst>
                                          <p:attrName>ppt_x</p:attrName>
                                        </p:attrNameLst>
                                      </p:cBhvr>
                                      <p:tavLst>
                                        <p:tav tm="0">
                                          <p:val>
                                            <p:strVal val="0-#ppt_w/2"/>
                                          </p:val>
                                        </p:tav>
                                        <p:tav tm="100000">
                                          <p:val>
                                            <p:strVal val="#ppt_x"/>
                                          </p:val>
                                        </p:tav>
                                      </p:tavLst>
                                    </p:anim>
                                    <p:anim calcmode="lin" valueType="num">
                                      <p:cBhvr additive="base">
                                        <p:cTn id="8" dur="500" fill="hold"/>
                                        <p:tgtEl>
                                          <p:spTgt spid="14151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5171"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878371" y="609601"/>
            <a:ext cx="5919788" cy="1089025"/>
          </a:xfrm>
          <a:noFill/>
        </p:spPr>
        <p:txBody>
          <a:bodyPr/>
          <a:lstStyle/>
          <a:p>
            <a:pPr eaLnBrk="1" hangingPunct="1"/>
            <a:r>
              <a:rPr lang="zh-CN" altLang="en-US" sz="4800" dirty="0">
                <a:solidFill>
                  <a:srgbClr val="FFFF66"/>
                </a:solidFill>
              </a:rPr>
              <a:t>并</a:t>
            </a:r>
            <a:r>
              <a:rPr lang="zh-CN" altLang="en-AU" sz="4800" dirty="0">
                <a:solidFill>
                  <a:srgbClr val="FFFF66"/>
                </a:solidFill>
              </a:rPr>
              <a:t>购</a:t>
            </a:r>
            <a:r>
              <a:rPr lang="zh-CN" altLang="en-US" sz="4800" dirty="0">
                <a:solidFill>
                  <a:srgbClr val="FFFF66"/>
                </a:solidFill>
              </a:rPr>
              <a:t>面临的问题</a:t>
            </a:r>
            <a:endParaRPr lang="zh-CN" altLang="en-AU" sz="4800" dirty="0">
              <a:solidFill>
                <a:srgbClr val="FFFF66"/>
              </a:solidFill>
            </a:endParaRPr>
          </a:p>
        </p:txBody>
      </p:sp>
      <p:sp>
        <p:nvSpPr>
          <p:cNvPr id="1360899" name="Rectangle 3"/>
          <p:cNvSpPr>
            <a:spLocks noChangeArrowheads="1"/>
          </p:cNvSpPr>
          <p:nvPr/>
        </p:nvSpPr>
        <p:spPr bwMode="auto">
          <a:xfrm>
            <a:off x="1847851" y="1557339"/>
            <a:ext cx="8443913" cy="4586287"/>
          </a:xfrm>
          <a:prstGeom prst="rect">
            <a:avLst/>
          </a:prstGeom>
          <a:noFill/>
          <a:ln w="12700">
            <a:noFill/>
            <a:miter lim="800000"/>
            <a:headEnd/>
            <a:tailEnd/>
          </a:ln>
        </p:spPr>
        <p:txBody>
          <a:bodyPr lIns="92075" tIns="46038" rIns="92075" bIns="46038"/>
          <a:lstStyle/>
          <a:p>
            <a:pPr marL="457200" indent="-457200">
              <a:spcBef>
                <a:spcPct val="30000"/>
              </a:spcBef>
              <a:buClr>
                <a:schemeClr val="tx1"/>
              </a:buClr>
              <a:buFont typeface="Arial" panose="020B0604020202020204" pitchFamily="34" charset="0"/>
              <a:buChar char="•"/>
            </a:pPr>
            <a:r>
              <a:rPr lang="zh-CN" altLang="en-US" sz="2800" dirty="0">
                <a:latin typeface="KaiTi" panose="02010609060101010101" pitchFamily="49" charset="-122"/>
                <a:ea typeface="KaiTi" panose="02010609060101010101" pitchFamily="49" charset="-122"/>
              </a:rPr>
              <a:t>并购面临的问题</a:t>
            </a:r>
          </a:p>
          <a:p>
            <a:pPr marL="800100" lvl="1" indent="-342900">
              <a:spcBef>
                <a:spcPct val="30000"/>
              </a:spcBef>
              <a:buClr>
                <a:schemeClr val="tx1"/>
              </a:buClr>
              <a:buSzPct val="85000"/>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对象难找、时间长、谈判繁琐、自主性不定</a:t>
            </a:r>
          </a:p>
          <a:p>
            <a:pPr marL="800100" lvl="1" indent="-342900">
              <a:spcBef>
                <a:spcPct val="30000"/>
              </a:spcBef>
              <a:buClr>
                <a:schemeClr val="tx1"/>
              </a:buClr>
              <a:buSzPct val="85000"/>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新旧企业的文化差异</a:t>
            </a:r>
          </a:p>
          <a:p>
            <a:pPr marL="800100" lvl="1" indent="-342900">
              <a:spcBef>
                <a:spcPct val="30000"/>
              </a:spcBef>
              <a:buClr>
                <a:schemeClr val="tx1"/>
              </a:buClr>
              <a:buSzPct val="85000"/>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负债过大或过度</a:t>
            </a:r>
            <a:endParaRPr lang="en-NZ" sz="2400" dirty="0">
              <a:latin typeface="KaiTi" panose="02010609060101010101" pitchFamily="49" charset="-122"/>
              <a:ea typeface="KaiTi" panose="02010609060101010101" pitchFamily="49" charset="-122"/>
            </a:endParaRPr>
          </a:p>
          <a:p>
            <a:pPr marL="800100" lvl="1" indent="-342900">
              <a:spcBef>
                <a:spcPct val="30000"/>
              </a:spcBef>
              <a:buClr>
                <a:schemeClr val="tx1"/>
              </a:buClr>
              <a:buSzPct val="85000"/>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对目标企业的评价不充分</a:t>
            </a:r>
          </a:p>
          <a:p>
            <a:pPr marL="800100" lvl="1" indent="-342900">
              <a:spcBef>
                <a:spcPct val="30000"/>
              </a:spcBef>
              <a:buClr>
                <a:schemeClr val="tx1"/>
              </a:buClr>
              <a:buSzPct val="85000"/>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经理过分关注购并业务</a:t>
            </a:r>
          </a:p>
          <a:p>
            <a:pPr marL="800100" lvl="1" indent="-342900">
              <a:spcBef>
                <a:spcPct val="30000"/>
              </a:spcBef>
              <a:buClr>
                <a:schemeClr val="tx1"/>
              </a:buClr>
              <a:buSzPct val="85000"/>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名字都可能成问题</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60899"/>
                                        </p:tgtEl>
                                        <p:attrNameLst>
                                          <p:attrName>style.visibility</p:attrName>
                                        </p:attrNameLst>
                                      </p:cBhvr>
                                      <p:to>
                                        <p:strVal val="visible"/>
                                      </p:to>
                                    </p:set>
                                    <p:anim calcmode="lin" valueType="num">
                                      <p:cBhvr additive="base">
                                        <p:cTn id="7" dur="500" fill="hold"/>
                                        <p:tgtEl>
                                          <p:spTgt spid="1360899"/>
                                        </p:tgtEl>
                                        <p:attrNameLst>
                                          <p:attrName>ppt_x</p:attrName>
                                        </p:attrNameLst>
                                      </p:cBhvr>
                                      <p:tavLst>
                                        <p:tav tm="0">
                                          <p:val>
                                            <p:strVal val="0-#ppt_w/2"/>
                                          </p:val>
                                        </p:tav>
                                        <p:tav tm="100000">
                                          <p:val>
                                            <p:strVal val="#ppt_x"/>
                                          </p:val>
                                        </p:tav>
                                      </p:tavLst>
                                    </p:anim>
                                    <p:anim calcmode="lin" valueType="num">
                                      <p:cBhvr additive="base">
                                        <p:cTn id="8" dur="500" fill="hold"/>
                                        <p:tgtEl>
                                          <p:spTgt spid="13608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0899"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重组战略</a:t>
            </a:r>
          </a:p>
        </p:txBody>
      </p:sp>
      <p:sp>
        <p:nvSpPr>
          <p:cNvPr id="3" name="内容占位符 2"/>
          <p:cNvSpPr>
            <a:spLocks noGrp="1"/>
          </p:cNvSpPr>
          <p:nvPr>
            <p:ph idx="1"/>
          </p:nvPr>
        </p:nvSpPr>
        <p:spPr>
          <a:xfrm>
            <a:off x="2508556" y="1601543"/>
            <a:ext cx="7796540" cy="3997828"/>
          </a:xfrm>
        </p:spPr>
        <p:txBody>
          <a:bodyPr>
            <a:normAutofit lnSpcReduction="10000"/>
          </a:bodyPr>
          <a:lstStyle/>
          <a:p>
            <a:r>
              <a:rPr lang="zh-CN" altLang="en-US" dirty="0"/>
              <a:t>重组：公司对其业务架构和财务系统进行改变的战略</a:t>
            </a:r>
            <a:endParaRPr lang="en-US" altLang="zh-CN" dirty="0"/>
          </a:p>
          <a:p>
            <a:r>
              <a:rPr lang="zh-CN" altLang="en-US" dirty="0"/>
              <a:t>重组</a:t>
            </a:r>
            <a:endParaRPr lang="en-US" altLang="zh-CN" dirty="0"/>
          </a:p>
          <a:p>
            <a:pPr lvl="1"/>
            <a:r>
              <a:rPr lang="zh-CN" altLang="en-US" dirty="0"/>
              <a:t>精简：减少费用和成本</a:t>
            </a:r>
            <a:endParaRPr lang="en-US" altLang="zh-CN" dirty="0"/>
          </a:p>
          <a:p>
            <a:pPr lvl="1"/>
            <a:r>
              <a:rPr lang="zh-CN" altLang="en-US" dirty="0"/>
              <a:t>收缩：剥离一部分业务</a:t>
            </a:r>
            <a:endParaRPr lang="en-US" altLang="zh-CN" dirty="0"/>
          </a:p>
          <a:p>
            <a:pPr lvl="1"/>
            <a:r>
              <a:rPr lang="zh-CN" altLang="en-US" dirty="0"/>
              <a:t>杠杆并购：一方为了将公司私有化而买下公司全部资产的一种重组战略</a:t>
            </a:r>
            <a:endParaRPr lang="en-US" altLang="zh-CN" dirty="0"/>
          </a:p>
          <a:p>
            <a:pPr lvl="3"/>
            <a:r>
              <a:rPr lang="zh-CN" altLang="en-US" dirty="0"/>
              <a:t>管理层并购</a:t>
            </a:r>
            <a:endParaRPr lang="en-US" altLang="zh-CN" dirty="0"/>
          </a:p>
          <a:p>
            <a:pPr lvl="3"/>
            <a:r>
              <a:rPr lang="zh-CN" altLang="en-US" dirty="0"/>
              <a:t>职工并购</a:t>
            </a:r>
            <a:endParaRPr lang="en-US" altLang="zh-CN" dirty="0"/>
          </a:p>
          <a:p>
            <a:pPr lvl="3"/>
            <a:r>
              <a:rPr lang="zh-CN" altLang="en-US" dirty="0"/>
              <a:t>公司整体并购</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重组战略及其结果</a:t>
            </a:r>
          </a:p>
        </p:txBody>
      </p:sp>
      <p:sp>
        <p:nvSpPr>
          <p:cNvPr id="6" name="矩形 5"/>
          <p:cNvSpPr/>
          <p:nvPr/>
        </p:nvSpPr>
        <p:spPr>
          <a:xfrm>
            <a:off x="2567608" y="2204864"/>
            <a:ext cx="1584176"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精简</a:t>
            </a:r>
          </a:p>
        </p:txBody>
      </p:sp>
      <p:sp>
        <p:nvSpPr>
          <p:cNvPr id="7" name="矩形 6"/>
          <p:cNvSpPr/>
          <p:nvPr/>
        </p:nvSpPr>
        <p:spPr>
          <a:xfrm>
            <a:off x="2567608" y="3284984"/>
            <a:ext cx="1584176"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收缩</a:t>
            </a:r>
          </a:p>
        </p:txBody>
      </p:sp>
      <p:sp>
        <p:nvSpPr>
          <p:cNvPr id="8" name="矩形 7"/>
          <p:cNvSpPr/>
          <p:nvPr/>
        </p:nvSpPr>
        <p:spPr>
          <a:xfrm>
            <a:off x="2567608" y="4365104"/>
            <a:ext cx="1584176"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杠杆并购</a:t>
            </a:r>
          </a:p>
        </p:txBody>
      </p:sp>
      <p:sp>
        <p:nvSpPr>
          <p:cNvPr id="9" name="矩形 8"/>
          <p:cNvSpPr/>
          <p:nvPr/>
        </p:nvSpPr>
        <p:spPr>
          <a:xfrm>
            <a:off x="4943872" y="1772816"/>
            <a:ext cx="1584176" cy="86409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劳动力成本降低</a:t>
            </a:r>
          </a:p>
        </p:txBody>
      </p:sp>
      <p:sp>
        <p:nvSpPr>
          <p:cNvPr id="10" name="矩形 9"/>
          <p:cNvSpPr/>
          <p:nvPr/>
        </p:nvSpPr>
        <p:spPr>
          <a:xfrm>
            <a:off x="4943872" y="2852936"/>
            <a:ext cx="1584176" cy="86409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债务成本降低</a:t>
            </a:r>
          </a:p>
        </p:txBody>
      </p:sp>
      <p:sp>
        <p:nvSpPr>
          <p:cNvPr id="11" name="矩形 10"/>
          <p:cNvSpPr/>
          <p:nvPr/>
        </p:nvSpPr>
        <p:spPr>
          <a:xfrm>
            <a:off x="4943872" y="3933056"/>
            <a:ext cx="1584176" cy="86409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强调战略性控制</a:t>
            </a:r>
          </a:p>
        </p:txBody>
      </p:sp>
      <p:sp>
        <p:nvSpPr>
          <p:cNvPr id="12" name="矩形 11"/>
          <p:cNvSpPr/>
          <p:nvPr/>
        </p:nvSpPr>
        <p:spPr>
          <a:xfrm>
            <a:off x="4943872" y="5013176"/>
            <a:ext cx="1584176" cy="86409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高昂的债务成本</a:t>
            </a:r>
          </a:p>
        </p:txBody>
      </p:sp>
      <p:sp>
        <p:nvSpPr>
          <p:cNvPr id="13" name="矩形 12"/>
          <p:cNvSpPr/>
          <p:nvPr/>
        </p:nvSpPr>
        <p:spPr>
          <a:xfrm>
            <a:off x="7536160" y="1772816"/>
            <a:ext cx="1584176" cy="86409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人力资本损失</a:t>
            </a:r>
          </a:p>
        </p:txBody>
      </p:sp>
      <p:sp>
        <p:nvSpPr>
          <p:cNvPr id="14" name="矩形 13"/>
          <p:cNvSpPr/>
          <p:nvPr/>
        </p:nvSpPr>
        <p:spPr>
          <a:xfrm>
            <a:off x="7536160" y="2852936"/>
            <a:ext cx="1584176" cy="86409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经营业绩滑坡</a:t>
            </a:r>
          </a:p>
        </p:txBody>
      </p:sp>
      <p:sp>
        <p:nvSpPr>
          <p:cNvPr id="15" name="矩形 14"/>
          <p:cNvSpPr/>
          <p:nvPr/>
        </p:nvSpPr>
        <p:spPr>
          <a:xfrm>
            <a:off x="7536160" y="3933056"/>
            <a:ext cx="1584176" cy="86409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经营业绩改善</a:t>
            </a:r>
          </a:p>
        </p:txBody>
      </p:sp>
      <p:sp>
        <p:nvSpPr>
          <p:cNvPr id="16" name="矩形 15"/>
          <p:cNvSpPr/>
          <p:nvPr/>
        </p:nvSpPr>
        <p:spPr>
          <a:xfrm>
            <a:off x="7536160" y="5013176"/>
            <a:ext cx="1584176" cy="86409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更大的风险</a:t>
            </a:r>
          </a:p>
        </p:txBody>
      </p:sp>
      <p:cxnSp>
        <p:nvCxnSpPr>
          <p:cNvPr id="20" name="直接箭头连接符 19"/>
          <p:cNvCxnSpPr>
            <a:stCxn id="6" idx="3"/>
            <a:endCxn id="9" idx="1"/>
          </p:cNvCxnSpPr>
          <p:nvPr/>
        </p:nvCxnSpPr>
        <p:spPr>
          <a:xfrm flipV="1">
            <a:off x="4151784" y="2204864"/>
            <a:ext cx="792088" cy="43204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V="1">
            <a:off x="4151784" y="3284984"/>
            <a:ext cx="792088" cy="43204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V="1">
            <a:off x="4151784" y="4437112"/>
            <a:ext cx="792088" cy="43204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7" idx="3"/>
          </p:cNvCxnSpPr>
          <p:nvPr/>
        </p:nvCxnSpPr>
        <p:spPr>
          <a:xfrm>
            <a:off x="4151784" y="3717032"/>
            <a:ext cx="864096" cy="7200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4151784" y="4941168"/>
            <a:ext cx="864096" cy="7200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13" idx="1"/>
          </p:cNvCxnSpPr>
          <p:nvPr/>
        </p:nvCxnSpPr>
        <p:spPr>
          <a:xfrm flipV="1">
            <a:off x="6528048" y="2204864"/>
            <a:ext cx="1008112" cy="7200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endCxn id="14" idx="1"/>
          </p:cNvCxnSpPr>
          <p:nvPr/>
        </p:nvCxnSpPr>
        <p:spPr>
          <a:xfrm rot="16200000" flipH="1">
            <a:off x="6528048" y="2276872"/>
            <a:ext cx="1008112" cy="10081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1" idx="3"/>
          </p:cNvCxnSpPr>
          <p:nvPr/>
        </p:nvCxnSpPr>
        <p:spPr>
          <a:xfrm>
            <a:off x="6528048" y="4365104"/>
            <a:ext cx="1008112" cy="7200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rot="16200000" flipH="1">
            <a:off x="6528048" y="3429000"/>
            <a:ext cx="1008112" cy="10081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6528048" y="5445224"/>
            <a:ext cx="1008112" cy="7200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国际化战略的动因</a:t>
            </a:r>
          </a:p>
        </p:txBody>
      </p:sp>
      <p:sp>
        <p:nvSpPr>
          <p:cNvPr id="3" name="内容占位符 2"/>
          <p:cNvSpPr>
            <a:spLocks noGrp="1"/>
          </p:cNvSpPr>
          <p:nvPr>
            <p:ph idx="1"/>
          </p:nvPr>
        </p:nvSpPr>
        <p:spPr>
          <a:xfrm>
            <a:off x="2773599" y="1588290"/>
            <a:ext cx="7796540" cy="3997828"/>
          </a:xfrm>
        </p:spPr>
        <p:txBody>
          <a:bodyPr>
            <a:normAutofit lnSpcReduction="10000"/>
          </a:bodyPr>
          <a:lstStyle/>
          <a:p>
            <a:r>
              <a:rPr lang="zh-CN" altLang="en-US" sz="2800" dirty="0"/>
              <a:t>本国政策的限制和国外政策的吸引</a:t>
            </a:r>
            <a:endParaRPr lang="en-US" altLang="zh-CN" sz="2800" dirty="0"/>
          </a:p>
          <a:p>
            <a:r>
              <a:rPr lang="zh-CN" altLang="en-US" sz="2800" dirty="0"/>
              <a:t>国内市场需求的减缓及国外市场需求的发展</a:t>
            </a:r>
            <a:endParaRPr lang="en-US" altLang="zh-CN" sz="2800" dirty="0"/>
          </a:p>
          <a:p>
            <a:r>
              <a:rPr lang="zh-CN" altLang="en-US" sz="2800" dirty="0"/>
              <a:t>高研发投入需要更大的市场以获得规模经济性</a:t>
            </a:r>
            <a:endParaRPr lang="en-US" altLang="zh-CN" sz="2800" dirty="0"/>
          </a:p>
          <a:p>
            <a:r>
              <a:rPr lang="zh-CN" altLang="en-US" sz="2800" dirty="0"/>
              <a:t>获得更多客户、更多资源</a:t>
            </a:r>
            <a:endParaRPr lang="en-US" altLang="zh-CN" sz="2800" dirty="0"/>
          </a:p>
          <a:p>
            <a:r>
              <a:rPr lang="zh-CN" altLang="en-US" sz="2800" dirty="0"/>
              <a:t>发挥现有资源和能力优势</a:t>
            </a:r>
            <a:endParaRPr lang="en-US" altLang="zh-CN" sz="2800" dirty="0"/>
          </a:p>
          <a:p>
            <a:r>
              <a:rPr lang="zh-CN" altLang="en-US" sz="2800" dirty="0"/>
              <a:t>分散市场风险</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34821" y="688787"/>
            <a:ext cx="7958331" cy="1077229"/>
          </a:xfrm>
        </p:spPr>
        <p:txBody>
          <a:bodyPr/>
          <a:lstStyle/>
          <a:p>
            <a:r>
              <a:rPr lang="zh-CN" altLang="en-US" dirty="0"/>
              <a:t>国际化战略的条件和分类</a:t>
            </a:r>
          </a:p>
        </p:txBody>
      </p:sp>
      <p:sp>
        <p:nvSpPr>
          <p:cNvPr id="3" name="内容占位符 2"/>
          <p:cNvSpPr>
            <a:spLocks noGrp="1"/>
          </p:cNvSpPr>
          <p:nvPr>
            <p:ph idx="1"/>
          </p:nvPr>
        </p:nvSpPr>
        <p:spPr>
          <a:xfrm>
            <a:off x="2063552" y="1412776"/>
            <a:ext cx="8229600" cy="4526280"/>
          </a:xfrm>
        </p:spPr>
        <p:txBody>
          <a:bodyPr>
            <a:normAutofit fontScale="85000" lnSpcReduction="20000"/>
          </a:bodyPr>
          <a:lstStyle/>
          <a:p>
            <a:r>
              <a:rPr lang="zh-CN" altLang="en-US" dirty="0"/>
              <a:t>分类</a:t>
            </a:r>
            <a:endParaRPr lang="en-US" altLang="zh-CN" dirty="0"/>
          </a:p>
          <a:p>
            <a:pPr lvl="1"/>
            <a:r>
              <a:rPr lang="zh-CN" altLang="en-US" sz="2000" dirty="0"/>
              <a:t>多国战略</a:t>
            </a:r>
            <a:endParaRPr lang="en-US" altLang="zh-CN" sz="2000" dirty="0"/>
          </a:p>
          <a:p>
            <a:pPr lvl="1"/>
            <a:r>
              <a:rPr lang="zh-CN" altLang="en-US" sz="2000" dirty="0"/>
              <a:t>全球战略</a:t>
            </a:r>
            <a:endParaRPr lang="en-US" altLang="zh-CN" sz="2000" dirty="0"/>
          </a:p>
          <a:p>
            <a:r>
              <a:rPr lang="zh-CN" altLang="en-US" dirty="0"/>
              <a:t>多国战略的条件</a:t>
            </a:r>
            <a:endParaRPr lang="en-US" altLang="zh-CN" dirty="0"/>
          </a:p>
          <a:p>
            <a:pPr lvl="1"/>
            <a:r>
              <a:rPr lang="zh-CN" altLang="en-US" sz="2000" dirty="0"/>
              <a:t>在不同的国家市场上存在不同的顾客需求，一国的市场竞争与其他国家的竞争没有联系，竞争对手也不相同，不存在统一的国际市场，只是国家市场的集合。目标是争取各国国内市场的领导地位</a:t>
            </a:r>
            <a:endParaRPr lang="en-US" altLang="zh-CN" sz="2000" dirty="0"/>
          </a:p>
          <a:p>
            <a:r>
              <a:rPr lang="zh-CN" altLang="en-US" dirty="0"/>
              <a:t>全球战略的条件</a:t>
            </a:r>
            <a:endParaRPr lang="en-US" altLang="zh-CN" dirty="0"/>
          </a:p>
          <a:p>
            <a:pPr lvl="1"/>
            <a:r>
              <a:rPr lang="zh-CN" altLang="en-US" sz="2000" dirty="0"/>
              <a:t>各国的市场竞争条件联系紧密，参与竞争的对手相似，存在一个统一的国际市场，企业在一国的竞争地位受到它在其他国家的竞争地位的影响，企业的总体竞争优势建立在世界范围的经营基础之上。企业在各个国家采取的是大致相同的战略，目标是争夺世界领导地位</a:t>
            </a:r>
            <a:endParaRPr lang="en-US" altLang="zh-CN" sz="2000" dirty="0"/>
          </a:p>
          <a:p>
            <a:pPr lvl="1"/>
            <a:endParaRPr lang="zh-CN" altLang="en-US"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实施国际化战略的途径</a:t>
            </a:r>
          </a:p>
        </p:txBody>
      </p:sp>
      <p:sp>
        <p:nvSpPr>
          <p:cNvPr id="3" name="内容占位符 2"/>
          <p:cNvSpPr>
            <a:spLocks noGrp="1"/>
          </p:cNvSpPr>
          <p:nvPr>
            <p:ph idx="1"/>
          </p:nvPr>
        </p:nvSpPr>
        <p:spPr>
          <a:xfrm>
            <a:off x="2773599" y="1203977"/>
            <a:ext cx="7796540" cy="3997828"/>
          </a:xfrm>
        </p:spPr>
        <p:txBody>
          <a:bodyPr/>
          <a:lstStyle/>
          <a:p>
            <a:r>
              <a:rPr lang="zh-CN" altLang="en-US" dirty="0"/>
              <a:t>在各国之间布局活动，实现较低的成本和较高的产品差异化程度</a:t>
            </a:r>
            <a:endParaRPr lang="en-US" altLang="zh-CN" dirty="0"/>
          </a:p>
          <a:p>
            <a:r>
              <a:rPr lang="zh-CN" altLang="en-US" dirty="0"/>
              <a:t>在各国的经营单位间有效转移具有竞争价值的资源和能力</a:t>
            </a:r>
            <a:endParaRPr lang="en-US" altLang="zh-CN" dirty="0"/>
          </a:p>
          <a:p>
            <a:r>
              <a:rPr lang="zh-CN" altLang="en-US" dirty="0"/>
              <a:t>以国内企业所不具备的方式协调各种分散的活动</a:t>
            </a:r>
            <a:endParaRPr lang="en-US" altLang="zh-CN"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3"/>
          <p:cNvSpPr txBox="1">
            <a:spLocks noGrp="1"/>
          </p:cNvSpPr>
          <p:nvPr/>
        </p:nvSpPr>
        <p:spPr bwMode="auto">
          <a:xfrm>
            <a:off x="10006014" y="6573838"/>
            <a:ext cx="661987"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4000">
                <a:solidFill>
                  <a:schemeClr val="tx1"/>
                </a:solidFill>
                <a:latin typeface="Arial" charset="0"/>
                <a:ea typeface="黑体" charset="0"/>
                <a:cs typeface="黑体" charset="0"/>
              </a:defRPr>
            </a:lvl1pPr>
            <a:lvl2pPr marL="742950" indent="-285750" eaLnBrk="0" hangingPunct="0">
              <a:defRPr sz="4000">
                <a:solidFill>
                  <a:schemeClr val="tx1"/>
                </a:solidFill>
                <a:latin typeface="Arial" charset="0"/>
                <a:ea typeface="黑体" charset="0"/>
                <a:cs typeface="黑体" charset="0"/>
              </a:defRPr>
            </a:lvl2pPr>
            <a:lvl3pPr marL="1143000" indent="-228600" eaLnBrk="0" hangingPunct="0">
              <a:defRPr sz="4000">
                <a:solidFill>
                  <a:schemeClr val="tx1"/>
                </a:solidFill>
                <a:latin typeface="Arial" charset="0"/>
                <a:ea typeface="黑体" charset="0"/>
                <a:cs typeface="黑体" charset="0"/>
              </a:defRPr>
            </a:lvl3pPr>
            <a:lvl4pPr marL="1600200" indent="-228600" eaLnBrk="0" hangingPunct="0">
              <a:defRPr sz="4000">
                <a:solidFill>
                  <a:schemeClr val="tx1"/>
                </a:solidFill>
                <a:latin typeface="Arial" charset="0"/>
                <a:ea typeface="黑体" charset="0"/>
                <a:cs typeface="黑体" charset="0"/>
              </a:defRPr>
            </a:lvl4pPr>
            <a:lvl5pPr marL="2057400" indent="-228600" eaLnBrk="0" hangingPunct="0">
              <a:defRPr sz="4000">
                <a:solidFill>
                  <a:schemeClr val="tx1"/>
                </a:solidFill>
                <a:latin typeface="Arial" charset="0"/>
                <a:ea typeface="黑体" charset="0"/>
                <a:cs typeface="黑体" charset="0"/>
              </a:defRPr>
            </a:lvl5pPr>
            <a:lvl6pPr marL="2514600" indent="-228600" algn="ctr" eaLnBrk="0" fontAlgn="base" hangingPunct="0">
              <a:spcBef>
                <a:spcPct val="0"/>
              </a:spcBef>
              <a:spcAft>
                <a:spcPct val="0"/>
              </a:spcAft>
              <a:defRPr sz="4000">
                <a:solidFill>
                  <a:schemeClr val="tx1"/>
                </a:solidFill>
                <a:latin typeface="Arial" charset="0"/>
                <a:ea typeface="黑体" charset="0"/>
                <a:cs typeface="黑体" charset="0"/>
              </a:defRPr>
            </a:lvl6pPr>
            <a:lvl7pPr marL="2971800" indent="-228600" algn="ctr" eaLnBrk="0" fontAlgn="base" hangingPunct="0">
              <a:spcBef>
                <a:spcPct val="0"/>
              </a:spcBef>
              <a:spcAft>
                <a:spcPct val="0"/>
              </a:spcAft>
              <a:defRPr sz="4000">
                <a:solidFill>
                  <a:schemeClr val="tx1"/>
                </a:solidFill>
                <a:latin typeface="Arial" charset="0"/>
                <a:ea typeface="黑体" charset="0"/>
                <a:cs typeface="黑体" charset="0"/>
              </a:defRPr>
            </a:lvl7pPr>
            <a:lvl8pPr marL="3429000" indent="-228600" algn="ctr" eaLnBrk="0" fontAlgn="base" hangingPunct="0">
              <a:spcBef>
                <a:spcPct val="0"/>
              </a:spcBef>
              <a:spcAft>
                <a:spcPct val="0"/>
              </a:spcAft>
              <a:defRPr sz="4000">
                <a:solidFill>
                  <a:schemeClr val="tx1"/>
                </a:solidFill>
                <a:latin typeface="Arial" charset="0"/>
                <a:ea typeface="黑体" charset="0"/>
                <a:cs typeface="黑体" charset="0"/>
              </a:defRPr>
            </a:lvl8pPr>
            <a:lvl9pPr marL="3886200" indent="-228600" algn="ctr" eaLnBrk="0" fontAlgn="base" hangingPunct="0">
              <a:spcBef>
                <a:spcPct val="0"/>
              </a:spcBef>
              <a:spcAft>
                <a:spcPct val="0"/>
              </a:spcAft>
              <a:defRPr sz="4000">
                <a:solidFill>
                  <a:schemeClr val="tx1"/>
                </a:solidFill>
                <a:latin typeface="Arial" charset="0"/>
                <a:ea typeface="黑体" charset="0"/>
                <a:cs typeface="黑体" charset="0"/>
              </a:defRPr>
            </a:lvl9pPr>
          </a:lstStyle>
          <a:p>
            <a:pPr algn="r" eaLnBrk="1" hangingPunct="1"/>
            <a:fld id="{024522F6-E90B-524B-8DBC-958372C00C64}" type="slidenum">
              <a:rPr lang="zh-CN" altLang="en-US" sz="1600" b="1">
                <a:ea typeface="宋体" charset="0"/>
                <a:cs typeface="宋体" charset="0"/>
              </a:rPr>
              <a:pPr algn="r" eaLnBrk="1" hangingPunct="1"/>
              <a:t>208</a:t>
            </a:fld>
            <a:endParaRPr lang="en-US" altLang="zh-CN" sz="1600" b="1">
              <a:ea typeface="宋体" charset="0"/>
              <a:cs typeface="宋体" charset="0"/>
            </a:endParaRPr>
          </a:p>
        </p:txBody>
      </p:sp>
      <p:sp>
        <p:nvSpPr>
          <p:cNvPr id="115715" name="Text Box 31"/>
          <p:cNvSpPr txBox="1">
            <a:spLocks noChangeArrowheads="1"/>
          </p:cNvSpPr>
          <p:nvPr/>
        </p:nvSpPr>
        <p:spPr bwMode="auto">
          <a:xfrm>
            <a:off x="2703514" y="455614"/>
            <a:ext cx="7624762"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lIns="0" rIns="0">
            <a:spAutoFit/>
          </a:bodyPr>
          <a:lstStyle>
            <a:lvl1pPr eaLnBrk="0" hangingPunct="0">
              <a:defRPr sz="4000">
                <a:solidFill>
                  <a:schemeClr val="tx1"/>
                </a:solidFill>
                <a:latin typeface="Arial" charset="0"/>
                <a:ea typeface="黑体" charset="0"/>
                <a:cs typeface="黑体" charset="0"/>
              </a:defRPr>
            </a:lvl1pPr>
            <a:lvl2pPr marL="742950" indent="-285750" eaLnBrk="0" hangingPunct="0">
              <a:defRPr sz="4000">
                <a:solidFill>
                  <a:schemeClr val="tx1"/>
                </a:solidFill>
                <a:latin typeface="Arial" charset="0"/>
                <a:ea typeface="黑体" charset="0"/>
                <a:cs typeface="黑体" charset="0"/>
              </a:defRPr>
            </a:lvl2pPr>
            <a:lvl3pPr marL="1143000" indent="-228600" eaLnBrk="0" hangingPunct="0">
              <a:defRPr sz="4000">
                <a:solidFill>
                  <a:schemeClr val="tx1"/>
                </a:solidFill>
                <a:latin typeface="Arial" charset="0"/>
                <a:ea typeface="黑体" charset="0"/>
                <a:cs typeface="黑体" charset="0"/>
              </a:defRPr>
            </a:lvl3pPr>
            <a:lvl4pPr marL="1600200" indent="-228600" eaLnBrk="0" hangingPunct="0">
              <a:defRPr sz="4000">
                <a:solidFill>
                  <a:schemeClr val="tx1"/>
                </a:solidFill>
                <a:latin typeface="Arial" charset="0"/>
                <a:ea typeface="黑体" charset="0"/>
                <a:cs typeface="黑体" charset="0"/>
              </a:defRPr>
            </a:lvl4pPr>
            <a:lvl5pPr marL="2057400" indent="-228600" eaLnBrk="0" hangingPunct="0">
              <a:defRPr sz="4000">
                <a:solidFill>
                  <a:schemeClr val="tx1"/>
                </a:solidFill>
                <a:latin typeface="Arial" charset="0"/>
                <a:ea typeface="黑体" charset="0"/>
                <a:cs typeface="黑体" charset="0"/>
              </a:defRPr>
            </a:lvl5pPr>
            <a:lvl6pPr marL="2514600" indent="-228600" algn="ctr" eaLnBrk="0" fontAlgn="base" hangingPunct="0">
              <a:spcBef>
                <a:spcPct val="0"/>
              </a:spcBef>
              <a:spcAft>
                <a:spcPct val="0"/>
              </a:spcAft>
              <a:defRPr sz="4000">
                <a:solidFill>
                  <a:schemeClr val="tx1"/>
                </a:solidFill>
                <a:latin typeface="Arial" charset="0"/>
                <a:ea typeface="黑体" charset="0"/>
                <a:cs typeface="黑体" charset="0"/>
              </a:defRPr>
            </a:lvl6pPr>
            <a:lvl7pPr marL="2971800" indent="-228600" algn="ctr" eaLnBrk="0" fontAlgn="base" hangingPunct="0">
              <a:spcBef>
                <a:spcPct val="0"/>
              </a:spcBef>
              <a:spcAft>
                <a:spcPct val="0"/>
              </a:spcAft>
              <a:defRPr sz="4000">
                <a:solidFill>
                  <a:schemeClr val="tx1"/>
                </a:solidFill>
                <a:latin typeface="Arial" charset="0"/>
                <a:ea typeface="黑体" charset="0"/>
                <a:cs typeface="黑体" charset="0"/>
              </a:defRPr>
            </a:lvl7pPr>
            <a:lvl8pPr marL="3429000" indent="-228600" algn="ctr" eaLnBrk="0" fontAlgn="base" hangingPunct="0">
              <a:spcBef>
                <a:spcPct val="0"/>
              </a:spcBef>
              <a:spcAft>
                <a:spcPct val="0"/>
              </a:spcAft>
              <a:defRPr sz="4000">
                <a:solidFill>
                  <a:schemeClr val="tx1"/>
                </a:solidFill>
                <a:latin typeface="Arial" charset="0"/>
                <a:ea typeface="黑体" charset="0"/>
                <a:cs typeface="黑体" charset="0"/>
              </a:defRPr>
            </a:lvl8pPr>
            <a:lvl9pPr marL="3886200" indent="-228600" algn="ctr" eaLnBrk="0" fontAlgn="base" hangingPunct="0">
              <a:spcBef>
                <a:spcPct val="0"/>
              </a:spcBef>
              <a:spcAft>
                <a:spcPct val="0"/>
              </a:spcAft>
              <a:defRPr sz="4000">
                <a:solidFill>
                  <a:schemeClr val="tx1"/>
                </a:solidFill>
                <a:latin typeface="Arial" charset="0"/>
                <a:ea typeface="黑体" charset="0"/>
                <a:cs typeface="黑体" charset="0"/>
              </a:defRPr>
            </a:lvl9pPr>
          </a:lstStyle>
          <a:p>
            <a:pPr eaLnBrk="1" hangingPunct="1"/>
            <a:r>
              <a:rPr lang="zh-CN" altLang="en-US" b="1" dirty="0">
                <a:solidFill>
                  <a:schemeClr val="tx2"/>
                </a:solidFill>
                <a:latin typeface="KaiTi" panose="02010609060101010101" pitchFamily="49" charset="-122"/>
                <a:ea typeface="KaiTi" panose="02010609060101010101" pitchFamily="49" charset="-122"/>
                <a:cs typeface="宋体" charset="0"/>
              </a:rPr>
              <a:t>产品生命周期理论</a:t>
            </a:r>
            <a:endParaRPr lang="zh-CN" altLang="en-US" dirty="0">
              <a:latin typeface="KaiTi" panose="02010609060101010101" pitchFamily="49" charset="-122"/>
              <a:ea typeface="KaiTi" panose="02010609060101010101" pitchFamily="49" charset="-122"/>
            </a:endParaRPr>
          </a:p>
        </p:txBody>
      </p:sp>
      <p:sp>
        <p:nvSpPr>
          <p:cNvPr id="115716" name="Rectangle 4"/>
          <p:cNvSpPr>
            <a:spLocks noChangeArrowheads="1"/>
          </p:cNvSpPr>
          <p:nvPr/>
        </p:nvSpPr>
        <p:spPr bwMode="auto">
          <a:xfrm>
            <a:off x="2703514" y="1485901"/>
            <a:ext cx="5494337" cy="2227263"/>
          </a:xfrm>
          <a:prstGeom prst="rect">
            <a:avLst/>
          </a:prstGeom>
          <a:noFill/>
          <a:ln>
            <a:noFill/>
          </a:ln>
          <a:effectLst>
            <a:prstShdw prst="shdw12">
              <a:srgbClr val="080808">
                <a:alpha val="50000"/>
              </a:srgbClr>
            </a:prst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FFFFFF"/>
                </a:solidFill>
                <a:miter lim="800000"/>
                <a:headEnd/>
                <a:tailEnd/>
              </a14:hiddenLine>
            </a:ext>
          </a:extLst>
        </p:spPr>
        <p:txBody>
          <a:bodyPr anchor="ctr">
            <a:spAutoFit/>
          </a:bodyPr>
          <a:lstStyle/>
          <a:p>
            <a:pPr algn="l" eaLnBrk="0" hangingPunct="0"/>
            <a:r>
              <a:rPr lang="zh-CN" altLang="en-US" sz="2800"/>
              <a:t>        产品生命周期理论</a:t>
            </a:r>
            <a:r>
              <a:rPr lang="zh-CN" altLang="en-US" sz="2800">
                <a:solidFill>
                  <a:srgbClr val="FF0000"/>
                </a:solidFill>
              </a:rPr>
              <a:t>（</a:t>
            </a:r>
            <a:r>
              <a:rPr lang="en-US" altLang="zh-CN" sz="2800">
                <a:solidFill>
                  <a:srgbClr val="FF0000"/>
                </a:solidFill>
              </a:rPr>
              <a:t>Product Life Cycle Theory)</a:t>
            </a:r>
            <a:r>
              <a:rPr lang="zh-CN" altLang="en-US" sz="2800"/>
              <a:t>是由美国经济学家弗农（</a:t>
            </a:r>
            <a:r>
              <a:rPr lang="en-US" altLang="zh-CN" sz="2800"/>
              <a:t>Vernon.R)</a:t>
            </a:r>
            <a:r>
              <a:rPr lang="zh-CN" altLang="en-US" sz="2800"/>
              <a:t>于</a:t>
            </a:r>
            <a:r>
              <a:rPr lang="en-US" altLang="zh-CN" sz="2800"/>
              <a:t>1966</a:t>
            </a:r>
            <a:r>
              <a:rPr lang="zh-CN" altLang="en-US" sz="2800"/>
              <a:t>年在他的</a:t>
            </a:r>
            <a:r>
              <a:rPr lang="en-US" altLang="zh-CN" sz="2800"/>
              <a:t>《</a:t>
            </a:r>
            <a:r>
              <a:rPr lang="zh-CN" altLang="en-US" sz="2800"/>
              <a:t>产品周期中的国际投资与国际贸易</a:t>
            </a:r>
            <a:r>
              <a:rPr lang="en-US" altLang="zh-CN" sz="2800"/>
              <a:t>》</a:t>
            </a:r>
            <a:r>
              <a:rPr lang="zh-CN" altLang="en-US" sz="2800"/>
              <a:t>一文中首先提出。</a:t>
            </a:r>
            <a:r>
              <a:rPr lang="zh-CN" altLang="en-US" sz="2400"/>
              <a:t>       </a:t>
            </a:r>
            <a:endParaRPr lang="zh-CN" altLang="en-US"/>
          </a:p>
        </p:txBody>
      </p:sp>
      <p:pic>
        <p:nvPicPr>
          <p:cNvPr id="11571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4075" y="1157289"/>
            <a:ext cx="1906588" cy="2713037"/>
          </a:xfrm>
          <a:prstGeom prst="rect">
            <a:avLst/>
          </a:prstGeom>
          <a:noFill/>
          <a:effectLst>
            <a:outerShdw blurRad="63500" dist="107763" dir="18900000" algn="ctr" rotWithShape="0">
              <a:srgbClr val="000000">
                <a:alpha val="50000"/>
              </a:srgbClr>
            </a:outerShdw>
          </a:effectLst>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47635634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img-2.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066801"/>
            <a:ext cx="9144000" cy="4701953"/>
          </a:xfrm>
          <a:prstGeom prst="rect">
            <a:avLst/>
          </a:prstGeom>
        </p:spPr>
      </p:pic>
    </p:spTree>
    <p:extLst>
      <p:ext uri="{BB962C8B-B14F-4D97-AF65-F5344CB8AC3E}">
        <p14:creationId xmlns:p14="http://schemas.microsoft.com/office/powerpoint/2010/main" val="160243377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5"/>
          <p:cNvSpPr>
            <a:spLocks noChangeArrowheads="1"/>
          </p:cNvSpPr>
          <p:nvPr/>
        </p:nvSpPr>
        <p:spPr bwMode="auto">
          <a:xfrm>
            <a:off x="2649538" y="1271588"/>
            <a:ext cx="2578100" cy="4468812"/>
          </a:xfrm>
          <a:prstGeom prst="rect">
            <a:avLst/>
          </a:prstGeom>
          <a:gradFill rotWithShape="1">
            <a:gsLst>
              <a:gs pos="0">
                <a:srgbClr val="F2B5A2"/>
              </a:gs>
              <a:gs pos="100000">
                <a:srgbClr val="F1B19D">
                  <a:alpha val="39998"/>
                </a:srgbClr>
              </a:gs>
            </a:gsLst>
            <a:lin ang="27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algn="l" latinLnBrk="1"/>
            <a:endParaRPr kumimoji="1" lang="zh-CN" altLang="en-US" i="1">
              <a:latin typeface="KaiTi" panose="02010609060101010101" pitchFamily="49" charset="-122"/>
              <a:ea typeface="KaiTi" panose="02010609060101010101" pitchFamily="49" charset="-122"/>
              <a:cs typeface="Gulim" charset="0"/>
            </a:endParaRPr>
          </a:p>
        </p:txBody>
      </p:sp>
      <p:sp>
        <p:nvSpPr>
          <p:cNvPr id="117763" name="灯片编号占位符 3"/>
          <p:cNvSpPr txBox="1">
            <a:spLocks noGrp="1"/>
          </p:cNvSpPr>
          <p:nvPr/>
        </p:nvSpPr>
        <p:spPr bwMode="auto">
          <a:xfrm>
            <a:off x="10006014" y="6573838"/>
            <a:ext cx="661987"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4000">
                <a:solidFill>
                  <a:schemeClr val="tx1"/>
                </a:solidFill>
                <a:latin typeface="Arial" charset="0"/>
                <a:ea typeface="黑体" charset="0"/>
                <a:cs typeface="黑体" charset="0"/>
              </a:defRPr>
            </a:lvl1pPr>
            <a:lvl2pPr marL="742950" indent="-285750" eaLnBrk="0" hangingPunct="0">
              <a:defRPr sz="4000">
                <a:solidFill>
                  <a:schemeClr val="tx1"/>
                </a:solidFill>
                <a:latin typeface="Arial" charset="0"/>
                <a:ea typeface="黑体" charset="0"/>
                <a:cs typeface="黑体" charset="0"/>
              </a:defRPr>
            </a:lvl2pPr>
            <a:lvl3pPr marL="1143000" indent="-228600" eaLnBrk="0" hangingPunct="0">
              <a:defRPr sz="4000">
                <a:solidFill>
                  <a:schemeClr val="tx1"/>
                </a:solidFill>
                <a:latin typeface="Arial" charset="0"/>
                <a:ea typeface="黑体" charset="0"/>
                <a:cs typeface="黑体" charset="0"/>
              </a:defRPr>
            </a:lvl3pPr>
            <a:lvl4pPr marL="1600200" indent="-228600" eaLnBrk="0" hangingPunct="0">
              <a:defRPr sz="4000">
                <a:solidFill>
                  <a:schemeClr val="tx1"/>
                </a:solidFill>
                <a:latin typeface="Arial" charset="0"/>
                <a:ea typeface="黑体" charset="0"/>
                <a:cs typeface="黑体" charset="0"/>
              </a:defRPr>
            </a:lvl4pPr>
            <a:lvl5pPr marL="2057400" indent="-228600" eaLnBrk="0" hangingPunct="0">
              <a:defRPr sz="4000">
                <a:solidFill>
                  <a:schemeClr val="tx1"/>
                </a:solidFill>
                <a:latin typeface="Arial" charset="0"/>
                <a:ea typeface="黑体" charset="0"/>
                <a:cs typeface="黑体" charset="0"/>
              </a:defRPr>
            </a:lvl5pPr>
            <a:lvl6pPr marL="2514600" indent="-228600" algn="ctr" eaLnBrk="0" fontAlgn="base" hangingPunct="0">
              <a:spcBef>
                <a:spcPct val="0"/>
              </a:spcBef>
              <a:spcAft>
                <a:spcPct val="0"/>
              </a:spcAft>
              <a:defRPr sz="4000">
                <a:solidFill>
                  <a:schemeClr val="tx1"/>
                </a:solidFill>
                <a:latin typeface="Arial" charset="0"/>
                <a:ea typeface="黑体" charset="0"/>
                <a:cs typeface="黑体" charset="0"/>
              </a:defRPr>
            </a:lvl6pPr>
            <a:lvl7pPr marL="2971800" indent="-228600" algn="ctr" eaLnBrk="0" fontAlgn="base" hangingPunct="0">
              <a:spcBef>
                <a:spcPct val="0"/>
              </a:spcBef>
              <a:spcAft>
                <a:spcPct val="0"/>
              </a:spcAft>
              <a:defRPr sz="4000">
                <a:solidFill>
                  <a:schemeClr val="tx1"/>
                </a:solidFill>
                <a:latin typeface="Arial" charset="0"/>
                <a:ea typeface="黑体" charset="0"/>
                <a:cs typeface="黑体" charset="0"/>
              </a:defRPr>
            </a:lvl7pPr>
            <a:lvl8pPr marL="3429000" indent="-228600" algn="ctr" eaLnBrk="0" fontAlgn="base" hangingPunct="0">
              <a:spcBef>
                <a:spcPct val="0"/>
              </a:spcBef>
              <a:spcAft>
                <a:spcPct val="0"/>
              </a:spcAft>
              <a:defRPr sz="4000">
                <a:solidFill>
                  <a:schemeClr val="tx1"/>
                </a:solidFill>
                <a:latin typeface="Arial" charset="0"/>
                <a:ea typeface="黑体" charset="0"/>
                <a:cs typeface="黑体" charset="0"/>
              </a:defRPr>
            </a:lvl8pPr>
            <a:lvl9pPr marL="3886200" indent="-228600" algn="ctr" eaLnBrk="0" fontAlgn="base" hangingPunct="0">
              <a:spcBef>
                <a:spcPct val="0"/>
              </a:spcBef>
              <a:spcAft>
                <a:spcPct val="0"/>
              </a:spcAft>
              <a:defRPr sz="4000">
                <a:solidFill>
                  <a:schemeClr val="tx1"/>
                </a:solidFill>
                <a:latin typeface="Arial" charset="0"/>
                <a:ea typeface="黑体" charset="0"/>
                <a:cs typeface="黑体" charset="0"/>
              </a:defRPr>
            </a:lvl9pPr>
          </a:lstStyle>
          <a:p>
            <a:pPr algn="r" eaLnBrk="1" hangingPunct="1"/>
            <a:fld id="{0E6D52A5-88FD-FE47-AFBC-C471E8EE438B}" type="slidenum">
              <a:rPr lang="zh-CN" altLang="en-US" sz="1600" b="1">
                <a:latin typeface="KaiTi" panose="02010609060101010101" pitchFamily="49" charset="-122"/>
                <a:ea typeface="KaiTi" panose="02010609060101010101" pitchFamily="49" charset="-122"/>
                <a:cs typeface="宋体" charset="0"/>
              </a:rPr>
              <a:pPr algn="r" eaLnBrk="1" hangingPunct="1"/>
              <a:t>210</a:t>
            </a:fld>
            <a:endParaRPr lang="en-US" altLang="zh-CN" sz="1600" b="1">
              <a:latin typeface="KaiTi" panose="02010609060101010101" pitchFamily="49" charset="-122"/>
              <a:ea typeface="KaiTi" panose="02010609060101010101" pitchFamily="49" charset="-122"/>
              <a:cs typeface="宋体" charset="0"/>
            </a:endParaRPr>
          </a:p>
        </p:txBody>
      </p:sp>
      <p:sp>
        <p:nvSpPr>
          <p:cNvPr id="117765" name="Rectangle 5"/>
          <p:cNvSpPr>
            <a:spLocks noChangeArrowheads="1"/>
          </p:cNvSpPr>
          <p:nvPr/>
        </p:nvSpPr>
        <p:spPr bwMode="auto">
          <a:xfrm>
            <a:off x="2160104" y="351960"/>
            <a:ext cx="8865705" cy="523220"/>
          </a:xfrm>
          <a:prstGeom prst="rect">
            <a:avLst/>
          </a:prstGeom>
          <a:noFill/>
          <a:ln>
            <a:noFill/>
          </a:ln>
          <a:effectLst>
            <a:prstShdw prst="shdw12">
              <a:srgbClr val="080808">
                <a:alpha val="50000"/>
              </a:srgbClr>
            </a:prst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FFFFFF"/>
                </a:solidFill>
                <a:miter lim="800000"/>
                <a:headEnd/>
                <a:tailEnd/>
              </a14:hiddenLine>
            </a:ext>
          </a:extLst>
        </p:spPr>
        <p:txBody>
          <a:bodyPr wrap="square" anchor="ctr">
            <a:spAutoFit/>
          </a:bodyPr>
          <a:lstStyle/>
          <a:p>
            <a:pPr algn="l" eaLnBrk="0" hangingPunct="0"/>
            <a:r>
              <a:rPr lang="zh-CN" altLang="en-US" sz="2800" b="1" dirty="0">
                <a:latin typeface="KaiTi" panose="02010609060101010101" pitchFamily="49" charset="-122"/>
                <a:ea typeface="KaiTi" panose="02010609060101010101" pitchFamily="49" charset="-122"/>
              </a:rPr>
              <a:t>产品创新阶段，引入期</a:t>
            </a:r>
            <a:r>
              <a:rPr lang="en-US" altLang="zh-CN" sz="2800" b="1" dirty="0">
                <a:latin typeface="KaiTi" panose="02010609060101010101" pitchFamily="49" charset="-122"/>
                <a:ea typeface="KaiTi" panose="02010609060101010101" pitchFamily="49" charset="-122"/>
              </a:rPr>
              <a:t>(The Phase of Introduction)</a:t>
            </a:r>
          </a:p>
        </p:txBody>
      </p:sp>
      <p:graphicFrame>
        <p:nvGraphicFramePr>
          <p:cNvPr id="117766" name="Group 6"/>
          <p:cNvGraphicFramePr>
            <a:graphicFrameLocks noGrp="1"/>
          </p:cNvGraphicFramePr>
          <p:nvPr>
            <p:extLst>
              <p:ext uri="{D42A27DB-BD31-4B8C-83A1-F6EECF244321}">
                <p14:modId xmlns:p14="http://schemas.microsoft.com/office/powerpoint/2010/main" val="3797222970"/>
              </p:ext>
            </p:extLst>
          </p:nvPr>
        </p:nvGraphicFramePr>
        <p:xfrm>
          <a:off x="2681288" y="1250951"/>
          <a:ext cx="7677150" cy="4509135"/>
        </p:xfrm>
        <a:graphic>
          <a:graphicData uri="http://schemas.openxmlformats.org/drawingml/2006/table">
            <a:tbl>
              <a:tblPr/>
              <a:tblGrid>
                <a:gridCol w="2398712">
                  <a:extLst>
                    <a:ext uri="{9D8B030D-6E8A-4147-A177-3AD203B41FA5}">
                      <a16:colId xmlns:a16="http://schemas.microsoft.com/office/drawing/2014/main" val="20000"/>
                    </a:ext>
                  </a:extLst>
                </a:gridCol>
                <a:gridCol w="5278438">
                  <a:extLst>
                    <a:ext uri="{9D8B030D-6E8A-4147-A177-3AD203B41FA5}">
                      <a16:colId xmlns:a16="http://schemas.microsoft.com/office/drawing/2014/main" val="20001"/>
                    </a:ext>
                  </a:extLst>
                </a:gridCol>
              </a:tblGrid>
              <a:tr h="508000">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技术特性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创新者发明并垄断技术、技术尚需改进、工艺流程尚未定型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7467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生产特性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单件小批量生产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86677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产品要素特性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chemeClr val="tx1"/>
                          </a:solidFill>
                          <a:effectLst/>
                          <a:latin typeface="KaiTi" panose="02010609060101010101" pitchFamily="49" charset="-122"/>
                          <a:ea typeface="KaiTi" panose="02010609060101010101" pitchFamily="49" charset="-122"/>
                          <a:cs typeface="宋体" charset="0"/>
                        </a:rPr>
                        <a:t>需要科学家、工程师等高度技术熟练工人的大量劳动，是技术密集型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60007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成本特性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chemeClr val="tx1"/>
                          </a:solidFill>
                          <a:effectLst/>
                          <a:latin typeface="KaiTi" panose="02010609060101010101" pitchFamily="49" charset="-122"/>
                          <a:ea typeface="KaiTi" panose="02010609060101010101" pitchFamily="49" charset="-122"/>
                          <a:cs typeface="宋体" charset="0"/>
                        </a:rPr>
                        <a:t>对于企业来说不是最重要的问题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69532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价格特性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chemeClr val="tx1"/>
                          </a:solidFill>
                          <a:effectLst/>
                          <a:latin typeface="KaiTi" panose="02010609060101010101" pitchFamily="49" charset="-122"/>
                          <a:ea typeface="KaiTi" panose="02010609060101010101" pitchFamily="49" charset="-122"/>
                          <a:cs typeface="宋体" charset="0"/>
                        </a:rPr>
                        <a:t>价格比较高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94932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财务特性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亏损</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7632130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灯片编号占位符 3"/>
          <p:cNvSpPr txBox="1">
            <a:spLocks noGrp="1"/>
          </p:cNvSpPr>
          <p:nvPr/>
        </p:nvSpPr>
        <p:spPr bwMode="auto">
          <a:xfrm>
            <a:off x="10006014" y="6573838"/>
            <a:ext cx="661987"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4000">
                <a:solidFill>
                  <a:schemeClr val="tx1"/>
                </a:solidFill>
                <a:latin typeface="Arial" charset="0"/>
                <a:ea typeface="黑体" charset="0"/>
                <a:cs typeface="黑体" charset="0"/>
              </a:defRPr>
            </a:lvl1pPr>
            <a:lvl2pPr marL="742950" indent="-285750" eaLnBrk="0" hangingPunct="0">
              <a:defRPr sz="4000">
                <a:solidFill>
                  <a:schemeClr val="tx1"/>
                </a:solidFill>
                <a:latin typeface="Arial" charset="0"/>
                <a:ea typeface="黑体" charset="0"/>
                <a:cs typeface="黑体" charset="0"/>
              </a:defRPr>
            </a:lvl2pPr>
            <a:lvl3pPr marL="1143000" indent="-228600" eaLnBrk="0" hangingPunct="0">
              <a:defRPr sz="4000">
                <a:solidFill>
                  <a:schemeClr val="tx1"/>
                </a:solidFill>
                <a:latin typeface="Arial" charset="0"/>
                <a:ea typeface="黑体" charset="0"/>
                <a:cs typeface="黑体" charset="0"/>
              </a:defRPr>
            </a:lvl3pPr>
            <a:lvl4pPr marL="1600200" indent="-228600" eaLnBrk="0" hangingPunct="0">
              <a:defRPr sz="4000">
                <a:solidFill>
                  <a:schemeClr val="tx1"/>
                </a:solidFill>
                <a:latin typeface="Arial" charset="0"/>
                <a:ea typeface="黑体" charset="0"/>
                <a:cs typeface="黑体" charset="0"/>
              </a:defRPr>
            </a:lvl4pPr>
            <a:lvl5pPr marL="2057400" indent="-228600" eaLnBrk="0" hangingPunct="0">
              <a:defRPr sz="4000">
                <a:solidFill>
                  <a:schemeClr val="tx1"/>
                </a:solidFill>
                <a:latin typeface="Arial" charset="0"/>
                <a:ea typeface="黑体" charset="0"/>
                <a:cs typeface="黑体" charset="0"/>
              </a:defRPr>
            </a:lvl5pPr>
            <a:lvl6pPr marL="2514600" indent="-228600" algn="ctr" eaLnBrk="0" fontAlgn="base" hangingPunct="0">
              <a:spcBef>
                <a:spcPct val="0"/>
              </a:spcBef>
              <a:spcAft>
                <a:spcPct val="0"/>
              </a:spcAft>
              <a:defRPr sz="4000">
                <a:solidFill>
                  <a:schemeClr val="tx1"/>
                </a:solidFill>
                <a:latin typeface="Arial" charset="0"/>
                <a:ea typeface="黑体" charset="0"/>
                <a:cs typeface="黑体" charset="0"/>
              </a:defRPr>
            </a:lvl6pPr>
            <a:lvl7pPr marL="2971800" indent="-228600" algn="ctr" eaLnBrk="0" fontAlgn="base" hangingPunct="0">
              <a:spcBef>
                <a:spcPct val="0"/>
              </a:spcBef>
              <a:spcAft>
                <a:spcPct val="0"/>
              </a:spcAft>
              <a:defRPr sz="4000">
                <a:solidFill>
                  <a:schemeClr val="tx1"/>
                </a:solidFill>
                <a:latin typeface="Arial" charset="0"/>
                <a:ea typeface="黑体" charset="0"/>
                <a:cs typeface="黑体" charset="0"/>
              </a:defRPr>
            </a:lvl7pPr>
            <a:lvl8pPr marL="3429000" indent="-228600" algn="ctr" eaLnBrk="0" fontAlgn="base" hangingPunct="0">
              <a:spcBef>
                <a:spcPct val="0"/>
              </a:spcBef>
              <a:spcAft>
                <a:spcPct val="0"/>
              </a:spcAft>
              <a:defRPr sz="4000">
                <a:solidFill>
                  <a:schemeClr val="tx1"/>
                </a:solidFill>
                <a:latin typeface="Arial" charset="0"/>
                <a:ea typeface="黑体" charset="0"/>
                <a:cs typeface="黑体" charset="0"/>
              </a:defRPr>
            </a:lvl8pPr>
            <a:lvl9pPr marL="3886200" indent="-228600" algn="ctr" eaLnBrk="0" fontAlgn="base" hangingPunct="0">
              <a:spcBef>
                <a:spcPct val="0"/>
              </a:spcBef>
              <a:spcAft>
                <a:spcPct val="0"/>
              </a:spcAft>
              <a:defRPr sz="4000">
                <a:solidFill>
                  <a:schemeClr val="tx1"/>
                </a:solidFill>
                <a:latin typeface="Arial" charset="0"/>
                <a:ea typeface="黑体" charset="0"/>
                <a:cs typeface="黑体" charset="0"/>
              </a:defRPr>
            </a:lvl9pPr>
          </a:lstStyle>
          <a:p>
            <a:pPr algn="r" eaLnBrk="1" hangingPunct="1"/>
            <a:fld id="{36CCAFA8-2227-A345-A2A4-31A34F632E3D}" type="slidenum">
              <a:rPr lang="zh-CN" altLang="en-US" sz="1600" b="1">
                <a:ea typeface="宋体" charset="0"/>
                <a:cs typeface="宋体" charset="0"/>
              </a:rPr>
              <a:pPr algn="r" eaLnBrk="1" hangingPunct="1"/>
              <a:t>211</a:t>
            </a:fld>
            <a:endParaRPr lang="en-US" altLang="zh-CN" sz="1600" b="1">
              <a:ea typeface="宋体" charset="0"/>
              <a:cs typeface="宋体" charset="0"/>
            </a:endParaRPr>
          </a:p>
        </p:txBody>
      </p:sp>
      <p:sp>
        <p:nvSpPr>
          <p:cNvPr id="118789" name="Rectangle 5"/>
          <p:cNvSpPr>
            <a:spLocks noChangeArrowheads="1"/>
          </p:cNvSpPr>
          <p:nvPr/>
        </p:nvSpPr>
        <p:spPr bwMode="auto">
          <a:xfrm>
            <a:off x="2566989" y="381001"/>
            <a:ext cx="7780337" cy="519113"/>
          </a:xfrm>
          <a:prstGeom prst="rect">
            <a:avLst/>
          </a:prstGeom>
          <a:noFill/>
          <a:ln>
            <a:noFill/>
          </a:ln>
          <a:effectLst>
            <a:prstShdw prst="shdw12">
              <a:srgbClr val="080808">
                <a:alpha val="50000"/>
              </a:srgbClr>
            </a:prst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FFFFFF"/>
                </a:solidFill>
                <a:miter lim="800000"/>
                <a:headEnd/>
                <a:tailEnd/>
              </a14:hiddenLine>
            </a:ext>
          </a:extLst>
        </p:spPr>
        <p:txBody>
          <a:bodyPr anchor="ctr">
            <a:spAutoFit/>
          </a:bodyPr>
          <a:lstStyle/>
          <a:p>
            <a:pPr algn="l" eaLnBrk="0" hangingPunct="0"/>
            <a:r>
              <a:rPr lang="en-US" altLang="zh-CN" sz="2800" b="1" dirty="0"/>
              <a:t>2</a:t>
            </a:r>
            <a:r>
              <a:rPr lang="zh-CN" altLang="en-US" sz="2800" b="1" dirty="0"/>
              <a:t>、产品发展阶段，成长期</a:t>
            </a:r>
            <a:endParaRPr lang="en-US" altLang="zh-CN" sz="2800" b="1" dirty="0"/>
          </a:p>
        </p:txBody>
      </p:sp>
      <p:graphicFrame>
        <p:nvGraphicFramePr>
          <p:cNvPr id="118790" name="Group 6"/>
          <p:cNvGraphicFramePr>
            <a:graphicFrameLocks noGrp="1"/>
          </p:cNvGraphicFramePr>
          <p:nvPr>
            <p:extLst>
              <p:ext uri="{D42A27DB-BD31-4B8C-83A1-F6EECF244321}">
                <p14:modId xmlns:p14="http://schemas.microsoft.com/office/powerpoint/2010/main" val="2565769834"/>
              </p:ext>
            </p:extLst>
          </p:nvPr>
        </p:nvGraphicFramePr>
        <p:xfrm>
          <a:off x="2567607" y="1412777"/>
          <a:ext cx="8100393" cy="4232911"/>
        </p:xfrm>
        <a:graphic>
          <a:graphicData uri="http://schemas.openxmlformats.org/drawingml/2006/table">
            <a:tbl>
              <a:tblPr/>
              <a:tblGrid>
                <a:gridCol w="2579530">
                  <a:extLst>
                    <a:ext uri="{9D8B030D-6E8A-4147-A177-3AD203B41FA5}">
                      <a16:colId xmlns:a16="http://schemas.microsoft.com/office/drawing/2014/main" val="20000"/>
                    </a:ext>
                  </a:extLst>
                </a:gridCol>
                <a:gridCol w="5520863">
                  <a:extLst>
                    <a:ext uri="{9D8B030D-6E8A-4147-A177-3AD203B41FA5}">
                      <a16:colId xmlns:a16="http://schemas.microsoft.com/office/drawing/2014/main" val="20001"/>
                    </a:ext>
                  </a:extLst>
                </a:gridCol>
              </a:tblGrid>
              <a:tr h="508000">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FFFFFF"/>
                          </a:solidFill>
                          <a:effectLst/>
                          <a:latin typeface="KaiTi" panose="02010609060101010101" pitchFamily="49" charset="-122"/>
                          <a:ea typeface="KaiTi" panose="02010609060101010101" pitchFamily="49" charset="-122"/>
                          <a:cs typeface="宋体" charset="0"/>
                        </a:rPr>
                        <a:t>技术特性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accent6">
                              <a:lumMod val="75000"/>
                            </a:schemeClr>
                          </a:solidFill>
                          <a:effectLst/>
                          <a:latin typeface="KaiTi" panose="02010609060101010101" pitchFamily="49" charset="-122"/>
                          <a:ea typeface="KaiTi" panose="02010609060101010101" pitchFamily="49" charset="-122"/>
                          <a:cs typeface="宋体" charset="0"/>
                        </a:rPr>
                        <a:t>生产技术定型，技术诀窍扩散竞争开始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544513">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FFFFFF"/>
                          </a:solidFill>
                          <a:effectLst/>
                          <a:latin typeface="KaiTi" panose="02010609060101010101" pitchFamily="49" charset="-122"/>
                          <a:ea typeface="KaiTi" panose="02010609060101010101" pitchFamily="49" charset="-122"/>
                          <a:cs typeface="宋体" charset="0"/>
                        </a:rPr>
                        <a:t>生产特性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accent6">
                              <a:lumMod val="75000"/>
                            </a:schemeClr>
                          </a:solidFill>
                          <a:effectLst/>
                          <a:latin typeface="KaiTi" panose="02010609060101010101" pitchFamily="49" charset="-122"/>
                          <a:ea typeface="KaiTi" panose="02010609060101010101" pitchFamily="49" charset="-122"/>
                          <a:cs typeface="宋体" charset="0"/>
                        </a:rPr>
                        <a:t>批量生产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82232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FFFFFF"/>
                          </a:solidFill>
                          <a:effectLst/>
                          <a:latin typeface="KaiTi" panose="02010609060101010101" pitchFamily="49" charset="-122"/>
                          <a:ea typeface="KaiTi" panose="02010609060101010101" pitchFamily="49" charset="-122"/>
                          <a:cs typeface="宋体" charset="0"/>
                        </a:rPr>
                        <a:t>产品要素特性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accent6">
                              <a:lumMod val="75000"/>
                            </a:schemeClr>
                          </a:solidFill>
                          <a:effectLst/>
                          <a:latin typeface="KaiTi" panose="02010609060101010101" pitchFamily="49" charset="-122"/>
                          <a:ea typeface="KaiTi" panose="02010609060101010101" pitchFamily="49" charset="-122"/>
                          <a:cs typeface="宋体" charset="0"/>
                        </a:rPr>
                        <a:t>半熟练劳动力，产品由技术密集型转变为资本密集型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6832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FFFFFF"/>
                          </a:solidFill>
                          <a:effectLst/>
                          <a:latin typeface="KaiTi" panose="02010609060101010101" pitchFamily="49" charset="-122"/>
                          <a:ea typeface="KaiTi" panose="02010609060101010101" pitchFamily="49" charset="-122"/>
                          <a:cs typeface="宋体" charset="0"/>
                        </a:rPr>
                        <a:t>成本特性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accent6">
                              <a:lumMod val="75000"/>
                            </a:schemeClr>
                          </a:solidFill>
                          <a:effectLst/>
                          <a:latin typeface="KaiTi" panose="02010609060101010101" pitchFamily="49" charset="-122"/>
                          <a:ea typeface="KaiTi" panose="02010609060101010101" pitchFamily="49" charset="-122"/>
                          <a:cs typeface="宋体" charset="0"/>
                        </a:rPr>
                        <a:t>成本大幅度降低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658813">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FFFFFF"/>
                          </a:solidFill>
                          <a:effectLst/>
                          <a:latin typeface="KaiTi" panose="02010609060101010101" pitchFamily="49" charset="-122"/>
                          <a:ea typeface="KaiTi" panose="02010609060101010101" pitchFamily="49" charset="-122"/>
                          <a:cs typeface="宋体" charset="0"/>
                        </a:rPr>
                        <a:t>价格特性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accent6">
                              <a:lumMod val="75000"/>
                            </a:schemeClr>
                          </a:solidFill>
                          <a:effectLst/>
                          <a:latin typeface="KaiTi" panose="02010609060101010101" pitchFamily="49" charset="-122"/>
                          <a:ea typeface="KaiTi" panose="02010609060101010101" pitchFamily="49" charset="-122"/>
                          <a:cs typeface="宋体" charset="0"/>
                        </a:rPr>
                        <a:t>降低价格扩大销路</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1130300">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FFFFFF"/>
                          </a:solidFill>
                          <a:effectLst/>
                          <a:latin typeface="KaiTi" panose="02010609060101010101" pitchFamily="49" charset="-122"/>
                          <a:ea typeface="KaiTi" panose="02010609060101010101" pitchFamily="49" charset="-122"/>
                          <a:cs typeface="宋体" charset="0"/>
                        </a:rPr>
                        <a:t>财务特性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accent6">
                              <a:lumMod val="75000"/>
                            </a:schemeClr>
                          </a:solidFill>
                          <a:effectLst/>
                          <a:latin typeface="KaiTi" panose="02010609060101010101" pitchFamily="49" charset="-122"/>
                          <a:ea typeface="KaiTi" panose="02010609060101010101" pitchFamily="49" charset="-122"/>
                          <a:cs typeface="宋体" charset="0"/>
                        </a:rPr>
                        <a:t>开始盈利</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6396666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灯片编号占位符 3"/>
          <p:cNvSpPr txBox="1">
            <a:spLocks noGrp="1"/>
          </p:cNvSpPr>
          <p:nvPr/>
        </p:nvSpPr>
        <p:spPr bwMode="auto">
          <a:xfrm>
            <a:off x="10006014" y="6573838"/>
            <a:ext cx="661987"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4000">
                <a:solidFill>
                  <a:schemeClr val="tx1"/>
                </a:solidFill>
                <a:latin typeface="Arial" charset="0"/>
                <a:ea typeface="黑体" charset="0"/>
                <a:cs typeface="黑体" charset="0"/>
              </a:defRPr>
            </a:lvl1pPr>
            <a:lvl2pPr marL="742950" indent="-285750" eaLnBrk="0" hangingPunct="0">
              <a:defRPr sz="4000">
                <a:solidFill>
                  <a:schemeClr val="tx1"/>
                </a:solidFill>
                <a:latin typeface="Arial" charset="0"/>
                <a:ea typeface="黑体" charset="0"/>
                <a:cs typeface="黑体" charset="0"/>
              </a:defRPr>
            </a:lvl2pPr>
            <a:lvl3pPr marL="1143000" indent="-228600" eaLnBrk="0" hangingPunct="0">
              <a:defRPr sz="4000">
                <a:solidFill>
                  <a:schemeClr val="tx1"/>
                </a:solidFill>
                <a:latin typeface="Arial" charset="0"/>
                <a:ea typeface="黑体" charset="0"/>
                <a:cs typeface="黑体" charset="0"/>
              </a:defRPr>
            </a:lvl3pPr>
            <a:lvl4pPr marL="1600200" indent="-228600" eaLnBrk="0" hangingPunct="0">
              <a:defRPr sz="4000">
                <a:solidFill>
                  <a:schemeClr val="tx1"/>
                </a:solidFill>
                <a:latin typeface="Arial" charset="0"/>
                <a:ea typeface="黑体" charset="0"/>
                <a:cs typeface="黑体" charset="0"/>
              </a:defRPr>
            </a:lvl4pPr>
            <a:lvl5pPr marL="2057400" indent="-228600" eaLnBrk="0" hangingPunct="0">
              <a:defRPr sz="4000">
                <a:solidFill>
                  <a:schemeClr val="tx1"/>
                </a:solidFill>
                <a:latin typeface="Arial" charset="0"/>
                <a:ea typeface="黑体" charset="0"/>
                <a:cs typeface="黑体" charset="0"/>
              </a:defRPr>
            </a:lvl5pPr>
            <a:lvl6pPr marL="2514600" indent="-228600" algn="ctr" eaLnBrk="0" fontAlgn="base" hangingPunct="0">
              <a:spcBef>
                <a:spcPct val="0"/>
              </a:spcBef>
              <a:spcAft>
                <a:spcPct val="0"/>
              </a:spcAft>
              <a:defRPr sz="4000">
                <a:solidFill>
                  <a:schemeClr val="tx1"/>
                </a:solidFill>
                <a:latin typeface="Arial" charset="0"/>
                <a:ea typeface="黑体" charset="0"/>
                <a:cs typeface="黑体" charset="0"/>
              </a:defRPr>
            </a:lvl6pPr>
            <a:lvl7pPr marL="2971800" indent="-228600" algn="ctr" eaLnBrk="0" fontAlgn="base" hangingPunct="0">
              <a:spcBef>
                <a:spcPct val="0"/>
              </a:spcBef>
              <a:spcAft>
                <a:spcPct val="0"/>
              </a:spcAft>
              <a:defRPr sz="4000">
                <a:solidFill>
                  <a:schemeClr val="tx1"/>
                </a:solidFill>
                <a:latin typeface="Arial" charset="0"/>
                <a:ea typeface="黑体" charset="0"/>
                <a:cs typeface="黑体" charset="0"/>
              </a:defRPr>
            </a:lvl7pPr>
            <a:lvl8pPr marL="3429000" indent="-228600" algn="ctr" eaLnBrk="0" fontAlgn="base" hangingPunct="0">
              <a:spcBef>
                <a:spcPct val="0"/>
              </a:spcBef>
              <a:spcAft>
                <a:spcPct val="0"/>
              </a:spcAft>
              <a:defRPr sz="4000">
                <a:solidFill>
                  <a:schemeClr val="tx1"/>
                </a:solidFill>
                <a:latin typeface="Arial" charset="0"/>
                <a:ea typeface="黑体" charset="0"/>
                <a:cs typeface="黑体" charset="0"/>
              </a:defRPr>
            </a:lvl8pPr>
            <a:lvl9pPr marL="3886200" indent="-228600" algn="ctr" eaLnBrk="0" fontAlgn="base" hangingPunct="0">
              <a:spcBef>
                <a:spcPct val="0"/>
              </a:spcBef>
              <a:spcAft>
                <a:spcPct val="0"/>
              </a:spcAft>
              <a:defRPr sz="4000">
                <a:solidFill>
                  <a:schemeClr val="tx1"/>
                </a:solidFill>
                <a:latin typeface="Arial" charset="0"/>
                <a:ea typeface="黑体" charset="0"/>
                <a:cs typeface="黑体" charset="0"/>
              </a:defRPr>
            </a:lvl9pPr>
          </a:lstStyle>
          <a:p>
            <a:pPr algn="r" eaLnBrk="1" hangingPunct="1"/>
            <a:fld id="{3B6788B6-D528-8B46-8900-AB59E43A9041}" type="slidenum">
              <a:rPr lang="zh-CN" altLang="en-US" sz="1600" b="1">
                <a:ea typeface="宋体" charset="0"/>
                <a:cs typeface="宋体" charset="0"/>
              </a:rPr>
              <a:pPr algn="r" eaLnBrk="1" hangingPunct="1"/>
              <a:t>212</a:t>
            </a:fld>
            <a:endParaRPr lang="en-US" altLang="zh-CN" sz="1600" b="1">
              <a:ea typeface="宋体" charset="0"/>
              <a:cs typeface="宋体" charset="0"/>
            </a:endParaRPr>
          </a:p>
        </p:txBody>
      </p:sp>
      <p:sp>
        <p:nvSpPr>
          <p:cNvPr id="119813" name="Rectangle 5"/>
          <p:cNvSpPr>
            <a:spLocks noChangeArrowheads="1"/>
          </p:cNvSpPr>
          <p:nvPr/>
        </p:nvSpPr>
        <p:spPr bwMode="auto">
          <a:xfrm>
            <a:off x="1577008" y="457252"/>
            <a:ext cx="9554817" cy="523220"/>
          </a:xfrm>
          <a:prstGeom prst="rect">
            <a:avLst/>
          </a:prstGeom>
          <a:noFill/>
          <a:ln>
            <a:noFill/>
          </a:ln>
          <a:effectLst>
            <a:prstShdw prst="shdw12">
              <a:srgbClr val="080808">
                <a:alpha val="50000"/>
              </a:srgbClr>
            </a:prst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FFFFFF"/>
                </a:solidFill>
                <a:miter lim="800000"/>
                <a:headEnd/>
                <a:tailEnd/>
              </a14:hiddenLine>
            </a:ext>
          </a:extLst>
        </p:spPr>
        <p:txBody>
          <a:bodyPr wrap="square" anchor="ctr">
            <a:spAutoFit/>
          </a:bodyPr>
          <a:lstStyle/>
          <a:p>
            <a:pPr algn="l" eaLnBrk="0" hangingPunct="0"/>
            <a:r>
              <a:rPr lang="en-US" altLang="zh-CN" sz="2800" b="1" dirty="0"/>
              <a:t>3</a:t>
            </a:r>
            <a:r>
              <a:rPr lang="zh-CN" altLang="en-US" sz="2800" b="1" dirty="0"/>
              <a:t>、产品标准化阶段 </a:t>
            </a:r>
            <a:r>
              <a:rPr lang="en-US" altLang="zh-CN" sz="2800" b="1" dirty="0"/>
              <a:t>(The Phase of Standardization</a:t>
            </a:r>
            <a:r>
              <a:rPr lang="zh-CN" altLang="en-US" sz="2800" b="1" dirty="0"/>
              <a:t>，成熟期</a:t>
            </a:r>
            <a:r>
              <a:rPr lang="en-US" altLang="zh-CN" sz="2800" b="1" dirty="0"/>
              <a:t>)</a:t>
            </a:r>
          </a:p>
        </p:txBody>
      </p:sp>
      <p:graphicFrame>
        <p:nvGraphicFramePr>
          <p:cNvPr id="119814" name="Group 6"/>
          <p:cNvGraphicFramePr>
            <a:graphicFrameLocks noGrp="1"/>
          </p:cNvGraphicFramePr>
          <p:nvPr>
            <p:extLst>
              <p:ext uri="{D42A27DB-BD31-4B8C-83A1-F6EECF244321}">
                <p14:modId xmlns:p14="http://schemas.microsoft.com/office/powerpoint/2010/main" val="3144220524"/>
              </p:ext>
            </p:extLst>
          </p:nvPr>
        </p:nvGraphicFramePr>
        <p:xfrm>
          <a:off x="2638425" y="1431926"/>
          <a:ext cx="7721600" cy="3971925"/>
        </p:xfrm>
        <a:graphic>
          <a:graphicData uri="http://schemas.openxmlformats.org/drawingml/2006/table">
            <a:tbl>
              <a:tblPr/>
              <a:tblGrid>
                <a:gridCol w="2398713">
                  <a:extLst>
                    <a:ext uri="{9D8B030D-6E8A-4147-A177-3AD203B41FA5}">
                      <a16:colId xmlns:a16="http://schemas.microsoft.com/office/drawing/2014/main" val="20000"/>
                    </a:ext>
                  </a:extLst>
                </a:gridCol>
                <a:gridCol w="5322887">
                  <a:extLst>
                    <a:ext uri="{9D8B030D-6E8A-4147-A177-3AD203B41FA5}">
                      <a16:colId xmlns:a16="http://schemas.microsoft.com/office/drawing/2014/main" val="20001"/>
                    </a:ext>
                  </a:extLst>
                </a:gridCol>
              </a:tblGrid>
              <a:tr h="508000">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技术特性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CF6868"/>
                          </a:solidFill>
                          <a:effectLst/>
                          <a:latin typeface="KaiTi" panose="02010609060101010101" pitchFamily="49" charset="-122"/>
                          <a:ea typeface="KaiTi" panose="02010609060101010101" pitchFamily="49" charset="-122"/>
                          <a:cs typeface="宋体" charset="0"/>
                        </a:rPr>
                        <a:t>产品已完全标准化，完全掌握技术</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57467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生产特性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CF6868"/>
                          </a:solidFill>
                          <a:effectLst/>
                          <a:latin typeface="KaiTi" panose="02010609060101010101" pitchFamily="49" charset="-122"/>
                          <a:ea typeface="KaiTi" panose="02010609060101010101" pitchFamily="49" charset="-122"/>
                          <a:cs typeface="宋体" charset="0"/>
                        </a:rPr>
                        <a:t>大批量生产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654050">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产品要素特性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sz="2400" b="1" i="0" u="none" strike="noStrike" cap="none" normalizeH="0" baseline="0" dirty="0">
                          <a:ln>
                            <a:noFill/>
                          </a:ln>
                          <a:solidFill>
                            <a:srgbClr val="CF6868"/>
                          </a:solidFill>
                          <a:effectLst/>
                          <a:latin typeface="KaiTi" panose="02010609060101010101" pitchFamily="49" charset="-122"/>
                          <a:ea typeface="KaiTi" panose="02010609060101010101" pitchFamily="49" charset="-122"/>
                          <a:cs typeface="宋体" charset="0"/>
                        </a:rPr>
                        <a:t>劳动密集型产品</a:t>
                      </a:r>
                      <a:r>
                        <a:rPr kumimoji="0" lang="zh-CN" altLang="en-US" sz="2400" b="1" i="0" u="none" strike="noStrike" cap="none" normalizeH="0" baseline="0" dirty="0">
                          <a:ln>
                            <a:noFill/>
                          </a:ln>
                          <a:solidFill>
                            <a:srgbClr val="CF6868"/>
                          </a:solidFill>
                          <a:effectLst/>
                          <a:latin typeface="KaiTi" panose="02010609060101010101" pitchFamily="49" charset="-122"/>
                          <a:ea typeface="KaiTi" panose="02010609060101010101" pitchFamily="49" charset="-122"/>
                          <a:cs typeface="宋体"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2"/>
                  </a:ext>
                </a:extLst>
              </a:tr>
              <a:tr h="60007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成本特性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rgbClr val="CF6868"/>
                          </a:solidFill>
                          <a:effectLst/>
                          <a:latin typeface="KaiTi" panose="02010609060101010101" pitchFamily="49" charset="-122"/>
                          <a:ea typeface="KaiTi" panose="02010609060101010101" pitchFamily="49" charset="-122"/>
                          <a:cs typeface="宋体" charset="0"/>
                        </a:rPr>
                        <a:t>产品成本开始下降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3"/>
                  </a:ext>
                </a:extLst>
              </a:tr>
              <a:tr h="711200">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价格特性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CF6868"/>
                          </a:solidFill>
                          <a:effectLst/>
                          <a:latin typeface="KaiTi" panose="02010609060101010101" pitchFamily="49" charset="-122"/>
                          <a:ea typeface="KaiTi" panose="02010609060101010101" pitchFamily="49" charset="-122"/>
                          <a:cs typeface="宋体" charset="0"/>
                        </a:rPr>
                        <a:t>价格大众化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4"/>
                  </a:ext>
                </a:extLst>
              </a:tr>
              <a:tr h="92392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KaiTi" panose="02010609060101010101" pitchFamily="49" charset="-122"/>
                          <a:ea typeface="KaiTi" panose="02010609060101010101" pitchFamily="49" charset="-122"/>
                          <a:cs typeface="宋体" charset="0"/>
                        </a:rPr>
                        <a:t>财务特性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CF6868"/>
                          </a:solidFill>
                          <a:effectLst/>
                          <a:latin typeface="KaiTi" panose="02010609060101010101" pitchFamily="49" charset="-122"/>
                          <a:ea typeface="KaiTi" panose="02010609060101010101" pitchFamily="49" charset="-122"/>
                          <a:cs typeface="宋体" charset="0"/>
                        </a:rPr>
                        <a:t>盈利</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9587311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2135560" y="584448"/>
            <a:ext cx="8229600" cy="1143000"/>
          </a:xfrm>
        </p:spPr>
        <p:txBody>
          <a:bodyPr/>
          <a:lstStyle/>
          <a:p>
            <a:r>
              <a:rPr lang="zh-CN" altLang="en-US" sz="3600" dirty="0">
                <a:latin typeface="华文细黑" pitchFamily="2" charset="-122"/>
                <a:ea typeface="华文细黑" pitchFamily="2" charset="-122"/>
              </a:rPr>
              <a:t>引入期市场策略</a:t>
            </a:r>
          </a:p>
        </p:txBody>
      </p:sp>
      <p:sp>
        <p:nvSpPr>
          <p:cNvPr id="46083" name="Rectangle 3"/>
          <p:cNvSpPr>
            <a:spLocks noGrp="1" noChangeArrowheads="1"/>
          </p:cNvSpPr>
          <p:nvPr>
            <p:ph type="body" idx="1"/>
          </p:nvPr>
        </p:nvSpPr>
        <p:spPr>
          <a:xfrm>
            <a:off x="2135560" y="1628801"/>
            <a:ext cx="8229600" cy="4525963"/>
          </a:xfrm>
        </p:spPr>
        <p:txBody>
          <a:bodyPr/>
          <a:lstStyle/>
          <a:p>
            <a:pPr>
              <a:lnSpc>
                <a:spcPct val="90000"/>
              </a:lnSpc>
            </a:pPr>
            <a:r>
              <a:rPr lang="zh-CN" altLang="en-US" u="sng" dirty="0">
                <a:solidFill>
                  <a:srgbClr val="FF0000"/>
                </a:solidFill>
              </a:rPr>
              <a:t>引入期</a:t>
            </a:r>
            <a:r>
              <a:rPr lang="zh-CN" altLang="en-US" dirty="0"/>
              <a:t>：产品刚刚投入市场，不稳定，需改进，生产量小，成本高，损耗大，消费者对产品仍有待适应。</a:t>
            </a:r>
          </a:p>
          <a:p>
            <a:pPr>
              <a:lnSpc>
                <a:spcPct val="90000"/>
              </a:lnSpc>
            </a:pPr>
            <a:endParaRPr lang="zh-CN" altLang="en-US" dirty="0"/>
          </a:p>
          <a:p>
            <a:pPr>
              <a:lnSpc>
                <a:spcPct val="90000"/>
              </a:lnSpc>
            </a:pPr>
            <a:r>
              <a:rPr lang="zh-CN" altLang="en-US" dirty="0"/>
              <a:t>市场策略：</a:t>
            </a:r>
            <a:r>
              <a:rPr lang="en-US" altLang="zh-CN" dirty="0">
                <a:latin typeface="华文细黑" pitchFamily="2" charset="-122"/>
                <a:ea typeface="华文细黑" pitchFamily="2" charset="-122"/>
              </a:rPr>
              <a:t>——</a:t>
            </a:r>
            <a:r>
              <a:rPr lang="zh-CN" altLang="en-US" dirty="0">
                <a:solidFill>
                  <a:srgbClr val="FF0000"/>
                </a:solidFill>
                <a:latin typeface="华文细黑" pitchFamily="2" charset="-122"/>
                <a:ea typeface="华文细黑" pitchFamily="2" charset="-122"/>
              </a:rPr>
              <a:t>快</a:t>
            </a:r>
            <a:endParaRPr lang="zh-CN" altLang="en-US" dirty="0">
              <a:solidFill>
                <a:srgbClr val="FF0000"/>
              </a:solidFill>
            </a:endParaRPr>
          </a:p>
          <a:p>
            <a:pPr lvl="1">
              <a:lnSpc>
                <a:spcPct val="90000"/>
              </a:lnSpc>
            </a:pPr>
            <a:r>
              <a:rPr lang="zh-CN" altLang="en-US" dirty="0"/>
              <a:t>高价快速策略。（采取高价格的同时，配合大量的宣传推销活动，把新产品推入市场。 ）</a:t>
            </a:r>
          </a:p>
          <a:p>
            <a:pPr lvl="1">
              <a:lnSpc>
                <a:spcPct val="90000"/>
              </a:lnSpc>
            </a:pPr>
            <a:r>
              <a:rPr lang="zh-CN" altLang="en-US" dirty="0"/>
              <a:t>选择渗透战略。 （在采用高价格的同时，只用很少的促销努力。 ）</a:t>
            </a:r>
          </a:p>
          <a:p>
            <a:pPr lvl="1">
              <a:lnSpc>
                <a:spcPct val="90000"/>
              </a:lnSpc>
            </a:pPr>
            <a:r>
              <a:rPr lang="zh-CN" altLang="en-US" dirty="0"/>
              <a:t>低价快速策略 。（在采用低价格的同时做出巨大的促销努力。 ）</a:t>
            </a:r>
          </a:p>
          <a:p>
            <a:pPr lvl="1">
              <a:lnSpc>
                <a:spcPct val="90000"/>
              </a:lnSpc>
            </a:pPr>
            <a:r>
              <a:rPr lang="zh-CN" altLang="en-US" dirty="0"/>
              <a:t>缓慢渗透策略。（在新产品进入市场时采取低价格，同时不做大的促销努力。 ）</a:t>
            </a:r>
          </a:p>
          <a:p>
            <a:pPr>
              <a:lnSpc>
                <a:spcPct val="90000"/>
              </a:lnSpc>
            </a:pPr>
            <a:r>
              <a:rPr lang="zh-CN" altLang="en-US" dirty="0"/>
              <a:t>常用的是宣传、介绍、快速进入市场并站稳脚跟。</a:t>
            </a:r>
          </a:p>
          <a:p>
            <a:pPr>
              <a:lnSpc>
                <a:spcPct val="90000"/>
              </a:lnSpc>
            </a:pPr>
            <a:endParaRPr lang="en-US" altLang="zh-CN" dirty="0"/>
          </a:p>
        </p:txBody>
      </p:sp>
    </p:spTree>
    <p:extLst>
      <p:ext uri="{BB962C8B-B14F-4D97-AF65-F5344CB8AC3E}">
        <p14:creationId xmlns:p14="http://schemas.microsoft.com/office/powerpoint/2010/main" val="3793401076"/>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981200" y="724474"/>
            <a:ext cx="8229600" cy="1143000"/>
          </a:xfrm>
        </p:spPr>
        <p:txBody>
          <a:bodyPr>
            <a:normAutofit/>
          </a:bodyPr>
          <a:lstStyle/>
          <a:p>
            <a:r>
              <a:rPr lang="zh-CN" altLang="en-US" sz="3200" dirty="0">
                <a:latin typeface="KaiTi" panose="02010609060101010101" pitchFamily="49" charset="-122"/>
                <a:ea typeface="KaiTi" panose="02010609060101010101" pitchFamily="49" charset="-122"/>
              </a:rPr>
              <a:t>成长期策略</a:t>
            </a:r>
            <a:endParaRPr lang="zh-CN" altLang="en-US" sz="3200" dirty="0">
              <a:solidFill>
                <a:srgbClr val="000000"/>
              </a:solidFill>
              <a:latin typeface="KaiTi" panose="02010609060101010101" pitchFamily="49" charset="-122"/>
              <a:ea typeface="KaiTi" panose="02010609060101010101" pitchFamily="49" charset="-122"/>
            </a:endParaRPr>
          </a:p>
        </p:txBody>
      </p:sp>
      <p:sp>
        <p:nvSpPr>
          <p:cNvPr id="50179" name="Rectangle 3"/>
          <p:cNvSpPr>
            <a:spLocks noGrp="1" noChangeArrowheads="1"/>
          </p:cNvSpPr>
          <p:nvPr>
            <p:ph type="body" idx="1"/>
          </p:nvPr>
        </p:nvSpPr>
        <p:spPr>
          <a:xfrm>
            <a:off x="1981200" y="1556792"/>
            <a:ext cx="8229600" cy="5018112"/>
          </a:xfrm>
        </p:spPr>
        <p:txBody>
          <a:bodyPr>
            <a:normAutofit/>
          </a:bodyPr>
          <a:lstStyle/>
          <a:p>
            <a:pPr>
              <a:lnSpc>
                <a:spcPct val="100000"/>
              </a:lnSpc>
              <a:spcAft>
                <a:spcPts val="0"/>
              </a:spcAft>
            </a:pPr>
            <a:r>
              <a:rPr lang="zh-CN" altLang="en-US" sz="3200" dirty="0">
                <a:solidFill>
                  <a:srgbClr val="FF0000"/>
                </a:solidFill>
                <a:latin typeface="KaiTi" panose="02010609060101010101" pitchFamily="49" charset="-122"/>
                <a:ea typeface="KaiTi" panose="02010609060101010101" pitchFamily="49" charset="-122"/>
              </a:rPr>
              <a:t>成长期</a:t>
            </a:r>
            <a:r>
              <a:rPr lang="zh-CN" altLang="en-US" dirty="0">
                <a:latin typeface="KaiTi" panose="02010609060101010101" pitchFamily="49" charset="-122"/>
                <a:ea typeface="KaiTi" panose="02010609060101010101" pitchFamily="49" charset="-122"/>
              </a:rPr>
              <a:t>：产品定型，销量显著上升，利润增加，竞争者较少但逐渐增加。</a:t>
            </a:r>
          </a:p>
          <a:p>
            <a:pPr>
              <a:lnSpc>
                <a:spcPct val="100000"/>
              </a:lnSpc>
              <a:spcAft>
                <a:spcPts val="0"/>
              </a:spcAft>
            </a:pPr>
            <a:r>
              <a:rPr lang="zh-CN" altLang="en-US" dirty="0">
                <a:latin typeface="KaiTi" panose="02010609060101010101" pitchFamily="49" charset="-122"/>
                <a:ea typeface="KaiTi" panose="02010609060101010101" pitchFamily="49" charset="-122"/>
              </a:rPr>
              <a:t>市场策略：</a:t>
            </a:r>
            <a:r>
              <a:rPr lang="en-US" dirty="0">
                <a:latin typeface="KaiTi" panose="02010609060101010101" pitchFamily="49" charset="-122"/>
                <a:ea typeface="KaiTi" panose="02010609060101010101" pitchFamily="49" charset="-122"/>
              </a:rPr>
              <a:t>——</a:t>
            </a:r>
            <a:r>
              <a:rPr lang="zh-CN" altLang="en-US" sz="3200" dirty="0">
                <a:solidFill>
                  <a:srgbClr val="FF0000"/>
                </a:solidFill>
                <a:latin typeface="KaiTi" panose="02010609060101010101" pitchFamily="49" charset="-122"/>
                <a:ea typeface="KaiTi" panose="02010609060101010101" pitchFamily="49" charset="-122"/>
              </a:rPr>
              <a:t>优</a:t>
            </a:r>
            <a:endParaRPr lang="zh-CN" altLang="en-US" dirty="0">
              <a:solidFill>
                <a:srgbClr val="FF0000"/>
              </a:solidFill>
              <a:latin typeface="KaiTi" panose="02010609060101010101" pitchFamily="49" charset="-122"/>
              <a:ea typeface="KaiTi" panose="02010609060101010101" pitchFamily="49" charset="-122"/>
            </a:endParaRPr>
          </a:p>
          <a:p>
            <a:pPr lvl="1">
              <a:lnSpc>
                <a:spcPct val="100000"/>
              </a:lnSpc>
              <a:spcAft>
                <a:spcPts val="0"/>
              </a:spcAft>
            </a:pPr>
            <a:r>
              <a:rPr lang="zh-CN" altLang="en-US" sz="2000" dirty="0">
                <a:latin typeface="KaiTi" panose="02010609060101010101" pitchFamily="49" charset="-122"/>
                <a:ea typeface="KaiTi" panose="02010609060101010101" pitchFamily="49" charset="-122"/>
              </a:rPr>
              <a:t>加大基本建设或技术改造，迅速增加或者扩大生产批量。</a:t>
            </a:r>
          </a:p>
          <a:p>
            <a:pPr lvl="1">
              <a:lnSpc>
                <a:spcPct val="100000"/>
              </a:lnSpc>
              <a:spcAft>
                <a:spcPts val="0"/>
              </a:spcAft>
            </a:pPr>
            <a:r>
              <a:rPr lang="zh-CN" altLang="en-US" sz="2000" dirty="0">
                <a:latin typeface="KaiTi" panose="02010609060101010101" pitchFamily="49" charset="-122"/>
                <a:ea typeface="KaiTi" panose="02010609060101010101" pitchFamily="49" charset="-122"/>
              </a:rPr>
              <a:t>改进商品质量，增加商品特色或功能。</a:t>
            </a:r>
          </a:p>
          <a:p>
            <a:pPr lvl="1">
              <a:lnSpc>
                <a:spcPct val="100000"/>
              </a:lnSpc>
              <a:spcAft>
                <a:spcPts val="0"/>
              </a:spcAft>
            </a:pPr>
            <a:r>
              <a:rPr lang="zh-CN" altLang="en-US" sz="2000" dirty="0">
                <a:latin typeface="KaiTi" panose="02010609060101010101" pitchFamily="49" charset="-122"/>
                <a:ea typeface="KaiTi" panose="02010609060101010101" pitchFamily="49" charset="-122"/>
              </a:rPr>
              <a:t>加大市场细分力度，开拓新市场、新用户。</a:t>
            </a:r>
          </a:p>
          <a:p>
            <a:pPr lvl="1">
              <a:lnSpc>
                <a:spcPct val="100000"/>
              </a:lnSpc>
              <a:spcAft>
                <a:spcPts val="0"/>
              </a:spcAft>
            </a:pPr>
            <a:r>
              <a:rPr lang="zh-CN" altLang="en-US" sz="2000" dirty="0">
                <a:latin typeface="KaiTi" panose="02010609060101010101" pitchFamily="49" charset="-122"/>
                <a:ea typeface="KaiTi" panose="02010609060101010101" pitchFamily="49" charset="-122"/>
              </a:rPr>
              <a:t>加大企业品牌形象的宣传力度。</a:t>
            </a:r>
          </a:p>
          <a:p>
            <a:pPr lvl="1">
              <a:lnSpc>
                <a:spcPct val="100000"/>
              </a:lnSpc>
              <a:spcAft>
                <a:spcPts val="0"/>
              </a:spcAft>
            </a:pPr>
            <a:r>
              <a:rPr lang="zh-CN" altLang="en-US" sz="2000" dirty="0">
                <a:latin typeface="KaiTi" panose="02010609060101010101" pitchFamily="49" charset="-122"/>
                <a:ea typeface="KaiTi" panose="02010609060101010101" pitchFamily="49" charset="-122"/>
              </a:rPr>
              <a:t>适当采取保守的价格策略。</a:t>
            </a:r>
          </a:p>
          <a:p>
            <a:pPr>
              <a:lnSpc>
                <a:spcPct val="100000"/>
              </a:lnSpc>
              <a:spcAft>
                <a:spcPts val="0"/>
              </a:spcAft>
            </a:pPr>
            <a:r>
              <a:rPr lang="zh-CN" altLang="en-US" dirty="0">
                <a:latin typeface="KaiTi" panose="02010609060101010101" pitchFamily="49" charset="-122"/>
                <a:ea typeface="KaiTi" panose="02010609060101010101" pitchFamily="49" charset="-122"/>
              </a:rPr>
              <a:t>常见策略，是要巩固产品销量上升趋势，并加强自身实力形象，为未来的竞争做好准备。</a:t>
            </a:r>
          </a:p>
        </p:txBody>
      </p:sp>
    </p:spTree>
    <p:extLst>
      <p:ext uri="{BB962C8B-B14F-4D97-AF65-F5344CB8AC3E}">
        <p14:creationId xmlns:p14="http://schemas.microsoft.com/office/powerpoint/2010/main" val="404259964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1"/>
          </p:nvPr>
        </p:nvSpPr>
        <p:spPr>
          <a:xfrm>
            <a:off x="2077081" y="1484785"/>
            <a:ext cx="8229600" cy="4525963"/>
          </a:xfrm>
        </p:spPr>
        <p:txBody>
          <a:bodyPr>
            <a:normAutofit/>
          </a:bodyPr>
          <a:lstStyle/>
          <a:p>
            <a:pPr>
              <a:lnSpc>
                <a:spcPct val="100000"/>
              </a:lnSpc>
              <a:spcAft>
                <a:spcPts val="0"/>
              </a:spcAft>
            </a:pPr>
            <a:r>
              <a:rPr lang="zh-CN" altLang="en-US" sz="3600" dirty="0"/>
              <a:t>成熟期</a:t>
            </a:r>
            <a:r>
              <a:rPr lang="zh-CN" altLang="en-US" sz="2800" dirty="0"/>
              <a:t>：生产量大，销售量大，时间持续长，竞争最激烈。</a:t>
            </a:r>
          </a:p>
          <a:p>
            <a:pPr>
              <a:lnSpc>
                <a:spcPct val="100000"/>
              </a:lnSpc>
              <a:spcAft>
                <a:spcPts val="0"/>
              </a:spcAft>
            </a:pPr>
            <a:r>
              <a:rPr lang="zh-CN" altLang="en-US" sz="2800" dirty="0"/>
              <a:t>市场策略：</a:t>
            </a:r>
            <a:r>
              <a:rPr lang="en-US" sz="2800" dirty="0"/>
              <a:t>——</a:t>
            </a:r>
            <a:r>
              <a:rPr lang="zh-CN" altLang="en-US" sz="2800" dirty="0">
                <a:solidFill>
                  <a:srgbClr val="FF0000"/>
                </a:solidFill>
              </a:rPr>
              <a:t>长</a:t>
            </a:r>
          </a:p>
          <a:p>
            <a:pPr lvl="1">
              <a:lnSpc>
                <a:spcPct val="100000"/>
              </a:lnSpc>
              <a:spcAft>
                <a:spcPts val="0"/>
              </a:spcAft>
            </a:pPr>
            <a:r>
              <a:rPr lang="zh-CN" altLang="en-US" sz="2200" dirty="0"/>
              <a:t>市场修正策略。（开发新市场，寻找新市场、新客户。）</a:t>
            </a:r>
          </a:p>
          <a:p>
            <a:pPr lvl="1">
              <a:lnSpc>
                <a:spcPct val="100000"/>
              </a:lnSpc>
              <a:spcAft>
                <a:spcPts val="0"/>
              </a:spcAft>
            </a:pPr>
            <a:r>
              <a:rPr lang="zh-CN" altLang="en-US" sz="2200" dirty="0"/>
              <a:t>产品改良策略。（改进产品的质量、特性或式样，提高销量。）</a:t>
            </a:r>
          </a:p>
          <a:p>
            <a:pPr lvl="1">
              <a:lnSpc>
                <a:spcPct val="100000"/>
              </a:lnSpc>
              <a:spcAft>
                <a:spcPts val="0"/>
              </a:spcAft>
            </a:pPr>
            <a:r>
              <a:rPr lang="zh-CN" altLang="en-US" sz="2200" dirty="0"/>
              <a:t>营销组合策略</a:t>
            </a:r>
          </a:p>
          <a:p>
            <a:pPr>
              <a:lnSpc>
                <a:spcPct val="100000"/>
              </a:lnSpc>
              <a:spcAft>
                <a:spcPts val="0"/>
              </a:spcAft>
            </a:pPr>
            <a:r>
              <a:rPr lang="zh-CN" altLang="en-US" sz="2800" dirty="0"/>
              <a:t>总的来说，就是要想尽办法，施展各方面的营销策略，打一场持久战。</a:t>
            </a:r>
          </a:p>
        </p:txBody>
      </p:sp>
      <p:sp>
        <p:nvSpPr>
          <p:cNvPr id="6" name="Rectangle 2">
            <a:extLst>
              <a:ext uri="{FF2B5EF4-FFF2-40B4-BE49-F238E27FC236}">
                <a16:creationId xmlns:a16="http://schemas.microsoft.com/office/drawing/2014/main" id="{7628370A-F3FC-ED48-B6AB-0D1D46BCDC7E}"/>
              </a:ext>
            </a:extLst>
          </p:cNvPr>
          <p:cNvSpPr txBox="1">
            <a:spLocks noChangeArrowheads="1"/>
          </p:cNvSpPr>
          <p:nvPr/>
        </p:nvSpPr>
        <p:spPr>
          <a:xfrm>
            <a:off x="1981200" y="275753"/>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lvl1pPr marL="54864" algn="r" rtl="0" eaLnBrk="1" latinLnBrk="0" hangingPunct="1">
              <a:spcBef>
                <a:spcPct val="0"/>
              </a:spcBef>
              <a:buNone/>
              <a:defRPr kumimoji="0" sz="4600" kern="120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defRPr>
            </a:lvl1pPr>
            <a:extLst/>
          </a:lstStyle>
          <a:p>
            <a:pPr algn="l"/>
            <a:r>
              <a:rPr lang="zh-CN" altLang="en-US" sz="3600" dirty="0">
                <a:solidFill>
                  <a:schemeClr val="tx1"/>
                </a:solidFill>
                <a:latin typeface="KaiTi" panose="02010609060101010101" pitchFamily="49" charset="-122"/>
                <a:ea typeface="KaiTi" panose="02010609060101010101" pitchFamily="49" charset="-122"/>
              </a:rPr>
              <a:t>成熟期策略</a:t>
            </a:r>
            <a:endParaRPr lang="zh-CN" altLang="en-US" sz="3600" dirty="0">
              <a:solidFill>
                <a:srgbClr val="00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623972509"/>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type="body" idx="1"/>
          </p:nvPr>
        </p:nvSpPr>
        <p:spPr>
          <a:xfrm>
            <a:off x="1981200" y="1371601"/>
            <a:ext cx="8229600" cy="4525963"/>
          </a:xfrm>
        </p:spPr>
        <p:txBody>
          <a:bodyPr>
            <a:normAutofit/>
          </a:bodyPr>
          <a:lstStyle/>
          <a:p>
            <a:pPr>
              <a:lnSpc>
                <a:spcPct val="110000"/>
              </a:lnSpc>
              <a:spcAft>
                <a:spcPts val="0"/>
              </a:spcAft>
            </a:pPr>
            <a:r>
              <a:rPr lang="zh-CN" altLang="en-US" sz="3600" dirty="0"/>
              <a:t>衰退期</a:t>
            </a:r>
            <a:r>
              <a:rPr lang="zh-CN" altLang="en-US" sz="2800" dirty="0"/>
              <a:t>：商品逐渐老化，转入商品更新换代的时期 。销售成本增加，利润减少，竞争减少。</a:t>
            </a:r>
            <a:endParaRPr lang="en-US" sz="2800" dirty="0"/>
          </a:p>
          <a:p>
            <a:pPr>
              <a:lnSpc>
                <a:spcPct val="110000"/>
              </a:lnSpc>
              <a:spcAft>
                <a:spcPts val="0"/>
              </a:spcAft>
            </a:pPr>
            <a:r>
              <a:rPr lang="zh-CN" altLang="en-US" sz="2800" dirty="0"/>
              <a:t>市场策略</a:t>
            </a:r>
            <a:r>
              <a:rPr lang="en-US" sz="2800" dirty="0"/>
              <a:t>——</a:t>
            </a:r>
            <a:r>
              <a:rPr lang="zh-CN" altLang="en-US" sz="2800" dirty="0">
                <a:solidFill>
                  <a:srgbClr val="FF0000"/>
                </a:solidFill>
              </a:rPr>
              <a:t>转</a:t>
            </a:r>
          </a:p>
          <a:p>
            <a:pPr lvl="1">
              <a:lnSpc>
                <a:spcPct val="110000"/>
              </a:lnSpc>
              <a:spcAft>
                <a:spcPts val="0"/>
              </a:spcAft>
            </a:pPr>
            <a:r>
              <a:rPr lang="zh-CN" altLang="en-US" sz="2200" dirty="0"/>
              <a:t>维持。维持现有产品销售并在各方面做出改进，利用竞争者减少的机会，促进销售。</a:t>
            </a:r>
          </a:p>
          <a:p>
            <a:pPr lvl="1">
              <a:lnSpc>
                <a:spcPct val="110000"/>
              </a:lnSpc>
              <a:spcAft>
                <a:spcPts val="0"/>
              </a:spcAft>
            </a:pPr>
            <a:r>
              <a:rPr lang="zh-CN" altLang="en-US" sz="2200" dirty="0"/>
              <a:t>缩减。停止市场扩张，将目标停留在目标市场或少数几个细分市场。</a:t>
            </a:r>
          </a:p>
          <a:p>
            <a:pPr lvl="1">
              <a:lnSpc>
                <a:spcPct val="110000"/>
              </a:lnSpc>
              <a:spcAft>
                <a:spcPts val="0"/>
              </a:spcAft>
            </a:pPr>
            <a:r>
              <a:rPr lang="zh-CN" altLang="en-US" sz="2200" dirty="0"/>
              <a:t>撤退。考虑转入新产品市场，原有产品及资源的转让和出卖，保留原有产品的售后服务资源。</a:t>
            </a:r>
          </a:p>
        </p:txBody>
      </p:sp>
      <p:sp>
        <p:nvSpPr>
          <p:cNvPr id="6" name="Rectangle 2">
            <a:extLst>
              <a:ext uri="{FF2B5EF4-FFF2-40B4-BE49-F238E27FC236}">
                <a16:creationId xmlns:a16="http://schemas.microsoft.com/office/drawing/2014/main" id="{3256641B-E8AB-5549-BC9C-7E0649E26F13}"/>
              </a:ext>
            </a:extLst>
          </p:cNvPr>
          <p:cNvSpPr txBox="1">
            <a:spLocks noChangeArrowheads="1"/>
          </p:cNvSpPr>
          <p:nvPr/>
        </p:nvSpPr>
        <p:spPr>
          <a:xfrm>
            <a:off x="1981200" y="275753"/>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lvl1pPr marL="54864" algn="r" rtl="0" eaLnBrk="1" latinLnBrk="0" hangingPunct="1">
              <a:spcBef>
                <a:spcPct val="0"/>
              </a:spcBef>
              <a:buNone/>
              <a:defRPr kumimoji="0" sz="4600" kern="120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defRPr>
            </a:lvl1pPr>
            <a:extLst/>
          </a:lstStyle>
          <a:p>
            <a:pPr algn="l"/>
            <a:r>
              <a:rPr lang="zh-CN" altLang="en-US" sz="3600" dirty="0">
                <a:solidFill>
                  <a:schemeClr val="tx1"/>
                </a:solidFill>
                <a:latin typeface="KaiTi" panose="02010609060101010101" pitchFamily="49" charset="-122"/>
                <a:ea typeface="KaiTi" panose="02010609060101010101" pitchFamily="49" charset="-122"/>
              </a:rPr>
              <a:t>衰退期策略</a:t>
            </a:r>
            <a:endParaRPr lang="zh-CN" altLang="en-US" sz="3600" dirty="0">
              <a:solidFill>
                <a:srgbClr val="00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84570767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AB1EC5-0ADF-9E43-9005-BF637534F50D}"/>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E9FD0137-3D83-7C41-82C9-981B1494234B}"/>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D6507E3D-21D7-D84E-98BD-A9484DEB081E}"/>
              </a:ext>
            </a:extLst>
          </p:cNvPr>
          <p:cNvPicPr/>
          <p:nvPr/>
        </p:nvPicPr>
        <p:blipFill>
          <a:blip r:embed="rId2"/>
          <a:stretch>
            <a:fillRect/>
          </a:stretch>
        </p:blipFill>
        <p:spPr>
          <a:xfrm rot="10800000">
            <a:off x="259080" y="-2"/>
            <a:ext cx="11658600" cy="6644639"/>
          </a:xfrm>
          <a:prstGeom prst="rect">
            <a:avLst/>
          </a:prstGeom>
        </p:spPr>
      </p:pic>
    </p:spTree>
    <p:extLst>
      <p:ext uri="{BB962C8B-B14F-4D97-AF65-F5344CB8AC3E}">
        <p14:creationId xmlns:p14="http://schemas.microsoft.com/office/powerpoint/2010/main" val="47730744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7E7B6D-3C84-6244-ABA3-0907B97C9DC3}"/>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4FBAAC27-50D6-D14E-94D6-C5AEA3FED57D}"/>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7D660CC3-3848-E542-856F-3DFEE577D097}"/>
              </a:ext>
            </a:extLst>
          </p:cNvPr>
          <p:cNvPicPr/>
          <p:nvPr/>
        </p:nvPicPr>
        <p:blipFill>
          <a:blip r:embed="rId2"/>
          <a:stretch>
            <a:fillRect/>
          </a:stretch>
        </p:blipFill>
        <p:spPr>
          <a:xfrm>
            <a:off x="838200" y="365125"/>
            <a:ext cx="10927080" cy="6324600"/>
          </a:xfrm>
          <a:prstGeom prst="rect">
            <a:avLst/>
          </a:prstGeom>
        </p:spPr>
      </p:pic>
    </p:spTree>
    <p:extLst>
      <p:ext uri="{BB962C8B-B14F-4D97-AF65-F5344CB8AC3E}">
        <p14:creationId xmlns:p14="http://schemas.microsoft.com/office/powerpoint/2010/main" val="997840272"/>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zh-CN" altLang="en-US"/>
              <a:t>战略实施</a:t>
            </a:r>
          </a:p>
        </p:txBody>
      </p:sp>
      <p:graphicFrame>
        <p:nvGraphicFramePr>
          <p:cNvPr id="132127" name="Group 31"/>
          <p:cNvGraphicFramePr>
            <a:graphicFrameLocks noGrp="1"/>
          </p:cNvGraphicFramePr>
          <p:nvPr>
            <p:extLst>
              <p:ext uri="{D42A27DB-BD31-4B8C-83A1-F6EECF244321}">
                <p14:modId xmlns:p14="http://schemas.microsoft.com/office/powerpoint/2010/main" val="1897866625"/>
              </p:ext>
            </p:extLst>
          </p:nvPr>
        </p:nvGraphicFramePr>
        <p:xfrm>
          <a:off x="2611808" y="1885285"/>
          <a:ext cx="7696200" cy="3134044"/>
        </p:xfrm>
        <a:graphic>
          <a:graphicData uri="http://schemas.openxmlformats.org/drawingml/2006/table">
            <a:tbl>
              <a:tblPr/>
              <a:tblGrid>
                <a:gridCol w="3848100">
                  <a:extLst>
                    <a:ext uri="{9D8B030D-6E8A-4147-A177-3AD203B41FA5}">
                      <a16:colId xmlns:a16="http://schemas.microsoft.com/office/drawing/2014/main" val="20000"/>
                    </a:ext>
                  </a:extLst>
                </a:gridCol>
                <a:gridCol w="3848100">
                  <a:extLst>
                    <a:ext uri="{9D8B030D-6E8A-4147-A177-3AD203B41FA5}">
                      <a16:colId xmlns:a16="http://schemas.microsoft.com/office/drawing/2014/main" val="20001"/>
                    </a:ext>
                  </a:extLst>
                </a:gridCol>
              </a:tblGrid>
              <a:tr h="52863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mj-ea"/>
                          <a:ea typeface="+mj-ea"/>
                        </a:rPr>
                        <a:t>战略制定是</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a:ln>
                            <a:noFill/>
                          </a:ln>
                          <a:solidFill>
                            <a:srgbClr val="FFFF00"/>
                          </a:solidFill>
                          <a:effectLst/>
                          <a:latin typeface="+mj-ea"/>
                          <a:ea typeface="+mj-ea"/>
                        </a:rPr>
                        <a:t>战略实施是</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863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mj-ea"/>
                          <a:ea typeface="+mj-ea"/>
                        </a:rPr>
                        <a:t>行动前部署力量</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a:ln>
                            <a:noFill/>
                          </a:ln>
                          <a:solidFill>
                            <a:srgbClr val="FFFF00"/>
                          </a:solidFill>
                          <a:effectLst/>
                          <a:latin typeface="+mj-ea"/>
                          <a:ea typeface="+mj-ea"/>
                        </a:rPr>
                        <a:t>行动中管理和运用力量</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325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mj-ea"/>
                          <a:ea typeface="+mj-ea"/>
                        </a:rPr>
                        <a:t>注重效能</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mj-ea"/>
                          <a:ea typeface="+mj-ea"/>
                        </a:rPr>
                        <a:t>注重效率</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8638">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a:ln>
                            <a:noFill/>
                          </a:ln>
                          <a:solidFill>
                            <a:srgbClr val="FFFF00"/>
                          </a:solidFill>
                          <a:effectLst/>
                          <a:latin typeface="+mj-ea"/>
                          <a:ea typeface="+mj-ea"/>
                        </a:rPr>
                        <a:t>思维过程</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mj-ea"/>
                          <a:ea typeface="+mj-ea"/>
                        </a:rPr>
                        <a:t>行动过程</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mj-ea"/>
                          <a:ea typeface="+mj-ea"/>
                        </a:rPr>
                        <a:t>需要好的直觉与分析技能，对几个人协调</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zh-CN" altLang="en-US" sz="2800" b="0" i="0" u="none" strike="noStrike" cap="none" normalizeH="0" baseline="0" dirty="0">
                          <a:ln>
                            <a:noFill/>
                          </a:ln>
                          <a:solidFill>
                            <a:srgbClr val="FFFF00"/>
                          </a:solidFill>
                          <a:effectLst/>
                          <a:latin typeface="+mj-ea"/>
                          <a:ea typeface="+mj-ea"/>
                        </a:rPr>
                        <a:t>领导与激励技能，对众多人协调</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zh-CN" altLang="en-US"/>
              <a:t>战略实施包括的管理问题</a:t>
            </a:r>
          </a:p>
        </p:txBody>
      </p:sp>
      <p:sp>
        <p:nvSpPr>
          <p:cNvPr id="133123" name="Rectangle 3"/>
          <p:cNvSpPr>
            <a:spLocks noGrp="1" noChangeArrowheads="1"/>
          </p:cNvSpPr>
          <p:nvPr>
            <p:ph type="body" idx="1"/>
          </p:nvPr>
        </p:nvSpPr>
        <p:spPr>
          <a:xfrm>
            <a:off x="2541376" y="1430086"/>
            <a:ext cx="7796540" cy="3997828"/>
          </a:xfrm>
        </p:spPr>
        <p:txBody>
          <a:bodyPr/>
          <a:lstStyle/>
          <a:p>
            <a:r>
              <a:rPr lang="zh-CN" altLang="en-US" dirty="0"/>
              <a:t>制定分阶段目标，如年度目标；制定政策；配置资源；调整现行组织结构；企业改组和流程再造；调整奖励和激励计划；减小变革阻力；通过培训、沟通使各层管理者适应新的战略；培育支持新战略的企业文化；调整生产作业过程；发展有效的人力资源功能等</a:t>
            </a:r>
          </a:p>
        </p:txBody>
      </p:sp>
    </p:spTree>
  </p:cSld>
  <p:clrMapOvr>
    <a:masterClrMapping/>
  </p:clrMapOvr>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zh-CN" altLang="en-US"/>
              <a:t>建立分阶段目标</a:t>
            </a:r>
          </a:p>
        </p:txBody>
      </p:sp>
      <p:sp>
        <p:nvSpPr>
          <p:cNvPr id="134147" name="Rectangle 3"/>
          <p:cNvSpPr>
            <a:spLocks noGrp="1" noChangeArrowheads="1"/>
          </p:cNvSpPr>
          <p:nvPr>
            <p:ph type="body" idx="1"/>
          </p:nvPr>
        </p:nvSpPr>
        <p:spPr/>
        <p:txBody>
          <a:bodyPr>
            <a:normAutofit fontScale="77500" lnSpcReduction="20000"/>
          </a:bodyPr>
          <a:lstStyle/>
          <a:p>
            <a:r>
              <a:rPr lang="zh-CN" altLang="en-US" sz="2800"/>
              <a:t>配置资源的基础</a:t>
            </a:r>
          </a:p>
          <a:p>
            <a:r>
              <a:rPr lang="zh-CN" altLang="en-US" sz="2800"/>
              <a:t>评价管理者的主要尺度</a:t>
            </a:r>
          </a:p>
          <a:p>
            <a:r>
              <a:rPr lang="zh-CN" altLang="en-US" sz="2800"/>
              <a:t>监测运作过程，实现企业长期目标的工具</a:t>
            </a:r>
          </a:p>
          <a:p>
            <a:r>
              <a:rPr lang="zh-CN" altLang="en-US" sz="2800"/>
              <a:t>突出公司、分部和各职能部门的工作重点</a:t>
            </a:r>
          </a:p>
          <a:p>
            <a:endParaRPr lang="zh-CN" altLang="en-US" sz="2800"/>
          </a:p>
          <a:p>
            <a:r>
              <a:rPr lang="zh-CN" altLang="en-US" sz="2800"/>
              <a:t>目标的横向一致性和纵向一致性</a:t>
            </a:r>
          </a:p>
          <a:p>
            <a:r>
              <a:rPr lang="zh-CN" altLang="en-US" sz="2800"/>
              <a:t>可度量、协调一致、合理、有挑战性、明确、有合理的时间要求、附以相应的奖惩规定</a:t>
            </a:r>
          </a:p>
        </p:txBody>
      </p:sp>
    </p:spTree>
  </p:cSld>
  <p:clrMapOvr>
    <a:masterClrMapping/>
  </p:clrMapOvr>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lang="zh-CN" altLang="en-US"/>
              <a:t>制定政策</a:t>
            </a:r>
          </a:p>
        </p:txBody>
      </p:sp>
      <p:sp>
        <p:nvSpPr>
          <p:cNvPr id="135171" name="Rectangle 3"/>
          <p:cNvSpPr>
            <a:spLocks noGrp="1" noChangeArrowheads="1"/>
          </p:cNvSpPr>
          <p:nvPr>
            <p:ph type="body" idx="1"/>
          </p:nvPr>
        </p:nvSpPr>
        <p:spPr/>
        <p:txBody>
          <a:bodyPr/>
          <a:lstStyle/>
          <a:p>
            <a:r>
              <a:rPr lang="zh-CN" altLang="en-US"/>
              <a:t>政策：实施战略和实现目标的工具，做法</a:t>
            </a:r>
          </a:p>
          <a:p>
            <a:r>
              <a:rPr lang="zh-CN" altLang="en-US"/>
              <a:t>大量的培训还是少量的关键培训</a:t>
            </a:r>
          </a:p>
          <a:p>
            <a:r>
              <a:rPr lang="zh-CN" altLang="en-US"/>
              <a:t>提拔人员是根据业绩还是根据资历</a:t>
            </a:r>
          </a:p>
          <a:p>
            <a:r>
              <a:rPr lang="zh-CN" altLang="en-US"/>
              <a:t>购买设备还是租用设备</a:t>
            </a:r>
          </a:p>
          <a:p>
            <a:r>
              <a:rPr lang="zh-CN" altLang="en-US"/>
              <a:t>高水平库存还是低水平库存</a:t>
            </a:r>
          </a:p>
          <a:p>
            <a:endParaRPr lang="en-US" altLang="zh-CN"/>
          </a:p>
        </p:txBody>
      </p:sp>
    </p:spTree>
  </p:cSld>
  <p:clrMapOvr>
    <a:masterClrMapping/>
  </p:clrMapOvr>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r>
              <a:rPr lang="zh-CN" altLang="en-US"/>
              <a:t>资源配置</a:t>
            </a:r>
          </a:p>
        </p:txBody>
      </p:sp>
      <p:sp>
        <p:nvSpPr>
          <p:cNvPr id="136195" name="Rectangle 3"/>
          <p:cNvSpPr>
            <a:spLocks noGrp="1" noChangeArrowheads="1"/>
          </p:cNvSpPr>
          <p:nvPr>
            <p:ph type="body" idx="1"/>
          </p:nvPr>
        </p:nvSpPr>
        <p:spPr/>
        <p:txBody>
          <a:bodyPr/>
          <a:lstStyle/>
          <a:p>
            <a:pPr>
              <a:lnSpc>
                <a:spcPct val="90000"/>
              </a:lnSpc>
            </a:pPr>
            <a:r>
              <a:rPr lang="zh-CN" altLang="en-US"/>
              <a:t>战略管理有时也被称为“资源配置的过程”</a:t>
            </a:r>
          </a:p>
          <a:p>
            <a:pPr>
              <a:lnSpc>
                <a:spcPct val="90000"/>
              </a:lnSpc>
            </a:pPr>
            <a:r>
              <a:rPr lang="zh-CN" altLang="en-US"/>
              <a:t>按阶段目标所确定的优先顺序配置资源</a:t>
            </a:r>
          </a:p>
          <a:p>
            <a:pPr>
              <a:lnSpc>
                <a:spcPct val="90000"/>
              </a:lnSpc>
            </a:pPr>
            <a:r>
              <a:rPr lang="zh-CN" altLang="en-US"/>
              <a:t>财力</a:t>
            </a:r>
          </a:p>
          <a:p>
            <a:pPr>
              <a:lnSpc>
                <a:spcPct val="90000"/>
              </a:lnSpc>
            </a:pPr>
            <a:r>
              <a:rPr lang="zh-CN" altLang="en-US"/>
              <a:t>人力</a:t>
            </a:r>
          </a:p>
          <a:p>
            <a:pPr>
              <a:lnSpc>
                <a:spcPct val="90000"/>
              </a:lnSpc>
            </a:pPr>
            <a:r>
              <a:rPr lang="zh-CN" altLang="en-US"/>
              <a:t>物力</a:t>
            </a:r>
          </a:p>
          <a:p>
            <a:pPr>
              <a:lnSpc>
                <a:spcPct val="90000"/>
              </a:lnSpc>
            </a:pPr>
            <a:endParaRPr lang="zh-CN" altLang="en-US"/>
          </a:p>
          <a:p>
            <a:pPr>
              <a:lnSpc>
                <a:spcPct val="90000"/>
              </a:lnSpc>
            </a:pPr>
            <a:r>
              <a:rPr lang="zh-CN" altLang="en-US"/>
              <a:t>妨碍因素：保护资源、战略目标不明确、企业内政治、过于强调短期财务目标</a:t>
            </a:r>
          </a:p>
        </p:txBody>
      </p:sp>
    </p:spTree>
  </p:cSld>
  <p:clrMapOvr>
    <a:masterClrMapping/>
  </p:clrMapOvr>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zh-CN" altLang="en-US"/>
              <a:t>战略实施与资源配置</a:t>
            </a:r>
          </a:p>
        </p:txBody>
      </p:sp>
      <p:sp>
        <p:nvSpPr>
          <p:cNvPr id="82947" name="Rectangle 3"/>
          <p:cNvSpPr>
            <a:spLocks noGrp="1" noChangeArrowheads="1"/>
          </p:cNvSpPr>
          <p:nvPr>
            <p:ph type="body" idx="1"/>
          </p:nvPr>
        </p:nvSpPr>
        <p:spPr>
          <a:xfrm>
            <a:off x="2773599" y="1430086"/>
            <a:ext cx="7796540" cy="3997828"/>
          </a:xfrm>
        </p:spPr>
        <p:txBody>
          <a:bodyPr/>
          <a:lstStyle/>
          <a:p>
            <a:r>
              <a:rPr lang="zh-CN" altLang="en-US" dirty="0"/>
              <a:t>战略与资源的关系：</a:t>
            </a:r>
          </a:p>
          <a:p>
            <a:r>
              <a:rPr lang="zh-CN" altLang="en-US" dirty="0"/>
              <a:t>1、资源对战略的保证作用</a:t>
            </a:r>
          </a:p>
          <a:p>
            <a:r>
              <a:rPr lang="zh-CN" altLang="en-US" dirty="0"/>
              <a:t>2、战略促使资源的有效利用</a:t>
            </a:r>
          </a:p>
          <a:p>
            <a:r>
              <a:rPr lang="zh-CN" altLang="en-US" dirty="0"/>
              <a:t>3、战略可促使资源的有效储备</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344612" y="1309689"/>
            <a:ext cx="7235825" cy="1628775"/>
          </a:xfrm>
        </p:spPr>
        <p:txBody>
          <a:bodyPr/>
          <a:lstStyle/>
          <a:p>
            <a:r>
              <a:rPr lang="zh-CN" altLang="en-US" b="1" dirty="0">
                <a:effectLst>
                  <a:outerShdw blurRad="38100" dist="38100" dir="2700000" algn="tl">
                    <a:srgbClr val="C0C0C0"/>
                  </a:outerShdw>
                </a:effectLst>
              </a:rPr>
              <a:t>组织结构与战略匹配</a:t>
            </a:r>
          </a:p>
        </p:txBody>
      </p:sp>
      <p:sp>
        <p:nvSpPr>
          <p:cNvPr id="37891" name="Rectangle 3"/>
          <p:cNvSpPr>
            <a:spLocks noGrp="1" noChangeArrowheads="1"/>
          </p:cNvSpPr>
          <p:nvPr>
            <p:ph type="body" idx="1"/>
          </p:nvPr>
        </p:nvSpPr>
        <p:spPr>
          <a:xfrm>
            <a:off x="1524000" y="2205039"/>
            <a:ext cx="6877050" cy="3887787"/>
          </a:xfrm>
        </p:spPr>
        <p:txBody>
          <a:bodyPr>
            <a:normAutofit/>
          </a:bodyPr>
          <a:lstStyle/>
          <a:p>
            <a:pPr>
              <a:lnSpc>
                <a:spcPct val="90000"/>
              </a:lnSpc>
              <a:buFont typeface="Wingdings" pitchFamily="2" charset="2"/>
              <a:buNone/>
            </a:pPr>
            <a:r>
              <a:rPr lang="en-US" altLang="zh-CN" b="1" dirty="0"/>
              <a:t>      </a:t>
            </a:r>
            <a:r>
              <a:rPr lang="zh-CN" altLang="en-US" b="1" dirty="0"/>
              <a:t>美国学者钱德勒（</a:t>
            </a:r>
            <a:r>
              <a:rPr lang="en-US" altLang="zh-CN" b="1" dirty="0" err="1"/>
              <a:t>A.D.Chandler</a:t>
            </a:r>
            <a:r>
              <a:rPr lang="zh-CN" altLang="en-US" b="1" dirty="0"/>
              <a:t>）在</a:t>
            </a:r>
            <a:r>
              <a:rPr lang="en-US" altLang="zh-CN" b="1" dirty="0"/>
              <a:t>1962</a:t>
            </a:r>
            <a:r>
              <a:rPr lang="zh-CN" altLang="en-US" b="1" dirty="0"/>
              <a:t>年发表的</a:t>
            </a:r>
            <a:r>
              <a:rPr lang="en-US" altLang="zh-CN" b="1" dirty="0"/>
              <a:t>《</a:t>
            </a:r>
            <a:r>
              <a:rPr lang="zh-CN" altLang="en-US" b="1" dirty="0"/>
              <a:t>战略与结构：美国工业企业历史的篇章</a:t>
            </a:r>
            <a:r>
              <a:rPr lang="en-US" altLang="zh-CN" b="1" dirty="0"/>
              <a:t>》</a:t>
            </a:r>
            <a:r>
              <a:rPr lang="zh-CN" altLang="en-US" b="1" dirty="0"/>
              <a:t>一书中指出：战略与结构关系的基本原则是组织的结构要服从于组织的战略。</a:t>
            </a:r>
          </a:p>
          <a:p>
            <a:pPr>
              <a:lnSpc>
                <a:spcPct val="90000"/>
              </a:lnSpc>
              <a:buFont typeface="Wingdings" pitchFamily="2" charset="2"/>
              <a:buNone/>
            </a:pPr>
            <a:endParaRPr lang="zh-CN" altLang="en-US" b="1" dirty="0"/>
          </a:p>
          <a:p>
            <a:pPr>
              <a:lnSpc>
                <a:spcPct val="90000"/>
              </a:lnSpc>
              <a:buFont typeface="Wingdings" pitchFamily="2" charset="2"/>
              <a:buNone/>
            </a:pPr>
            <a:r>
              <a:rPr lang="zh-CN" altLang="en-US" b="1" dirty="0"/>
              <a:t>       战略的制定基于外部环境的要求及竞争性考虑</a:t>
            </a:r>
          </a:p>
        </p:txBody>
      </p:sp>
      <p:pic>
        <p:nvPicPr>
          <p:cNvPr id="37892" name="Picture 4" descr="战略与结构一书"/>
          <p:cNvPicPr>
            <a:picLocks noChangeAspect="1" noChangeArrowheads="1"/>
          </p:cNvPicPr>
          <p:nvPr/>
        </p:nvPicPr>
        <p:blipFill>
          <a:blip r:embed="rId2" cstate="print"/>
          <a:srcRect/>
          <a:stretch>
            <a:fillRect/>
          </a:stretch>
        </p:blipFill>
        <p:spPr bwMode="auto">
          <a:xfrm>
            <a:off x="8401050" y="2587307"/>
            <a:ext cx="2201862" cy="2951163"/>
          </a:xfrm>
          <a:prstGeom prst="rect">
            <a:avLst/>
          </a:prstGeom>
          <a:noFill/>
        </p:spPr>
      </p:pic>
    </p:spTree>
  </p:cSld>
  <p:clrMapOvr>
    <a:masterClrMapping/>
  </p:clrMapOvr>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2611808" y="1742776"/>
            <a:ext cx="7958331" cy="1077229"/>
          </a:xfrm>
        </p:spPr>
        <p:txBody>
          <a:bodyPr/>
          <a:lstStyle/>
          <a:p>
            <a:r>
              <a:rPr lang="zh-CN" altLang="en-US" dirty="0"/>
              <a:t>改组、流程再造</a:t>
            </a:r>
          </a:p>
        </p:txBody>
      </p:sp>
      <p:sp>
        <p:nvSpPr>
          <p:cNvPr id="139267" name="Rectangle 3"/>
          <p:cNvSpPr>
            <a:spLocks noGrp="1" noChangeArrowheads="1"/>
          </p:cNvSpPr>
          <p:nvPr>
            <p:ph type="body" idx="1"/>
          </p:nvPr>
        </p:nvSpPr>
        <p:spPr/>
        <p:txBody>
          <a:bodyPr/>
          <a:lstStyle/>
          <a:p>
            <a:r>
              <a:rPr lang="zh-CN" altLang="en-US"/>
              <a:t>改组：也称为精简，规模适度化或减少组织层次，战略决策</a:t>
            </a:r>
          </a:p>
          <a:p>
            <a:r>
              <a:rPr lang="zh-CN" altLang="en-US"/>
              <a:t>流程再造：对工作、岗位、生产过程的重新设计和重新构造，以降低成本、提高质量、提升服务水平等</a:t>
            </a:r>
          </a:p>
          <a:p>
            <a:pPr lvl="1"/>
            <a:r>
              <a:rPr lang="zh-CN" altLang="en-US"/>
              <a:t>战术决策</a:t>
            </a:r>
          </a:p>
        </p:txBody>
      </p:sp>
    </p:spTree>
  </p:cSld>
  <p:clrMapOvr>
    <a:masterClrMapping/>
  </p:clrMapOvr>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zh-CN" altLang="en-US"/>
              <a:t>将业绩与报酬挂钩</a:t>
            </a:r>
          </a:p>
        </p:txBody>
      </p:sp>
      <p:sp>
        <p:nvSpPr>
          <p:cNvPr id="140291" name="Rectangle 3"/>
          <p:cNvSpPr>
            <a:spLocks noGrp="1" noChangeArrowheads="1"/>
          </p:cNvSpPr>
          <p:nvPr>
            <p:ph type="body" idx="1"/>
          </p:nvPr>
        </p:nvSpPr>
        <p:spPr/>
        <p:txBody>
          <a:bodyPr>
            <a:normAutofit fontScale="92500" lnSpcReduction="10000"/>
          </a:bodyPr>
          <a:lstStyle/>
          <a:p>
            <a:pPr>
              <a:lnSpc>
                <a:spcPct val="90000"/>
              </a:lnSpc>
            </a:pPr>
            <a:r>
              <a:rPr lang="zh-CN" altLang="en-US" sz="2800"/>
              <a:t>业绩奖计划有效性的提问式检验</a:t>
            </a:r>
          </a:p>
          <a:p>
            <a:pPr lvl="1">
              <a:lnSpc>
                <a:spcPct val="90000"/>
              </a:lnSpc>
            </a:pPr>
            <a:r>
              <a:rPr lang="zh-CN" altLang="en-US" sz="2400"/>
              <a:t>计划是否引起了人们的注意，人们是否更多地谈论他们的工作并对计划的初步成功感到骄傲</a:t>
            </a:r>
          </a:p>
          <a:p>
            <a:pPr lvl="1">
              <a:lnSpc>
                <a:spcPct val="90000"/>
              </a:lnSpc>
            </a:pPr>
            <a:r>
              <a:rPr lang="zh-CN" altLang="en-US" sz="2400"/>
              <a:t>雇员们是否理解该计划，参与者能否解释计划设计原理，并是否知道为了挣得奖金，他们需要做什么？</a:t>
            </a:r>
          </a:p>
          <a:p>
            <a:pPr lvl="1">
              <a:lnSpc>
                <a:spcPct val="90000"/>
              </a:lnSpc>
            </a:pPr>
            <a:r>
              <a:rPr lang="zh-CN" altLang="en-US" sz="2400"/>
              <a:t>计划是否会促进沟通？雇员对企业任务、计划与目标是否比过去有了更多的了解？</a:t>
            </a:r>
          </a:p>
          <a:p>
            <a:pPr lvl="1">
              <a:lnSpc>
                <a:spcPct val="90000"/>
              </a:lnSpc>
            </a:pPr>
            <a:r>
              <a:rPr lang="zh-CN" altLang="en-US" sz="2400"/>
              <a:t>奖励是否已按计划实施？为了达到预定结果是否已采取各种奖励措施？在目标未达到时，又是否取消了奖励</a:t>
            </a:r>
          </a:p>
          <a:p>
            <a:pPr lvl="1">
              <a:lnSpc>
                <a:spcPct val="90000"/>
              </a:lnSpc>
            </a:pPr>
            <a:r>
              <a:rPr lang="zh-CN" altLang="en-US" sz="2400"/>
              <a:t>公司的绩效是否更佳？利润是否有所增长，市场份额是否得到提高？各种收益又是否部分地由激励措施所致</a:t>
            </a:r>
          </a:p>
          <a:p>
            <a:pPr lvl="1">
              <a:lnSpc>
                <a:spcPct val="90000"/>
              </a:lnSpc>
            </a:pPr>
            <a:endParaRPr lang="zh-CN" altLang="en-US" sz="2400"/>
          </a:p>
          <a:p>
            <a:pPr lvl="1">
              <a:lnSpc>
                <a:spcPct val="90000"/>
              </a:lnSpc>
            </a:pPr>
            <a:endParaRPr lang="zh-CN" altLang="en-US" sz="2400"/>
          </a:p>
          <a:p>
            <a:pPr lvl="1">
              <a:lnSpc>
                <a:spcPct val="90000"/>
              </a:lnSpc>
            </a:pPr>
            <a:endParaRPr lang="en-US" altLang="zh-CN" sz="2400"/>
          </a:p>
        </p:txBody>
      </p:sp>
    </p:spTree>
  </p:cSld>
  <p:clrMapOvr>
    <a:masterClrMapping/>
  </p:clrMapOvr>
  <p:transition/>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2611808" y="1336376"/>
            <a:ext cx="7958331" cy="1077229"/>
          </a:xfrm>
        </p:spPr>
        <p:txBody>
          <a:bodyPr/>
          <a:lstStyle/>
          <a:p>
            <a:r>
              <a:rPr lang="zh-CN" altLang="en-US" dirty="0"/>
              <a:t>克服变革阻力</a:t>
            </a:r>
          </a:p>
        </p:txBody>
      </p:sp>
      <p:sp>
        <p:nvSpPr>
          <p:cNvPr id="141315" name="Rectangle 3"/>
          <p:cNvSpPr>
            <a:spLocks noGrp="1" noChangeArrowheads="1"/>
          </p:cNvSpPr>
          <p:nvPr>
            <p:ph type="body" idx="1"/>
          </p:nvPr>
        </p:nvSpPr>
        <p:spPr/>
        <p:txBody>
          <a:bodyPr/>
          <a:lstStyle/>
          <a:p>
            <a:r>
              <a:rPr lang="zh-CN" altLang="en-US"/>
              <a:t>变革使人忧虑</a:t>
            </a:r>
            <a:r>
              <a:rPr lang="en-US" altLang="zh-CN"/>
              <a:t>-</a:t>
            </a:r>
            <a:r>
              <a:rPr lang="zh-CN" altLang="en-US"/>
              <a:t>可能的利益损失、不方便性、不确定性、关系的破坏</a:t>
            </a:r>
          </a:p>
          <a:p>
            <a:r>
              <a:rPr lang="zh-CN" altLang="en-US"/>
              <a:t>变革阻力是成功实施战略的最大威胁</a:t>
            </a:r>
          </a:p>
          <a:p>
            <a:r>
              <a:rPr lang="zh-CN" altLang="en-US"/>
              <a:t>变革必须被管理者看作是机会而不是威胁</a:t>
            </a:r>
          </a:p>
          <a:p>
            <a:endParaRPr lang="en-US" altLang="zh-CN"/>
          </a:p>
        </p:txBody>
      </p:sp>
    </p:spTree>
  </p:cSld>
  <p:clrMapOvr>
    <a:masterClrMapping/>
  </p:clrMapOvr>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zh-CN" altLang="en-US"/>
              <a:t>三种变革战略</a:t>
            </a:r>
          </a:p>
        </p:txBody>
      </p:sp>
      <p:sp>
        <p:nvSpPr>
          <p:cNvPr id="142339" name="Rectangle 3"/>
          <p:cNvSpPr>
            <a:spLocks noGrp="1" noChangeArrowheads="1"/>
          </p:cNvSpPr>
          <p:nvPr>
            <p:ph type="body" idx="1"/>
          </p:nvPr>
        </p:nvSpPr>
        <p:spPr>
          <a:xfrm>
            <a:off x="2773599" y="1584756"/>
            <a:ext cx="7796540" cy="3997828"/>
          </a:xfrm>
        </p:spPr>
        <p:txBody>
          <a:bodyPr/>
          <a:lstStyle/>
          <a:p>
            <a:r>
              <a:rPr lang="zh-CN" altLang="en-US" dirty="0"/>
              <a:t>强制变革战略</a:t>
            </a:r>
          </a:p>
          <a:p>
            <a:r>
              <a:rPr lang="zh-CN" altLang="en-US" dirty="0"/>
              <a:t>教育变革战略</a:t>
            </a:r>
          </a:p>
          <a:p>
            <a:r>
              <a:rPr lang="zh-CN" altLang="en-US" dirty="0"/>
              <a:t>理性或自利变革战略，四步：</a:t>
            </a:r>
          </a:p>
          <a:p>
            <a:pPr lvl="1"/>
            <a:r>
              <a:rPr lang="zh-CN" altLang="en-US" dirty="0"/>
              <a:t>邀请员工参加变革和具体的转变过程</a:t>
            </a:r>
          </a:p>
          <a:p>
            <a:pPr lvl="1"/>
            <a:r>
              <a:rPr lang="zh-CN" altLang="en-US" dirty="0"/>
              <a:t>提供推动变革的激励</a:t>
            </a:r>
          </a:p>
          <a:p>
            <a:pPr lvl="1"/>
            <a:r>
              <a:rPr lang="zh-CN" altLang="en-US" dirty="0"/>
              <a:t>耐心的宣传和沟通，使人们了解变革的目的</a:t>
            </a:r>
          </a:p>
          <a:p>
            <a:pPr lvl="1"/>
            <a:r>
              <a:rPr lang="zh-CN" altLang="en-US" dirty="0"/>
              <a:t>发出和接受反馈</a:t>
            </a:r>
          </a:p>
          <a:p>
            <a:pPr lvl="1"/>
            <a:endParaRPr lang="en-US" altLang="zh-CN" dirty="0"/>
          </a:p>
        </p:txBody>
      </p:sp>
    </p:spTree>
  </p:cSld>
  <p:clrMapOvr>
    <a:masterClrMapping/>
  </p:clrMapOvr>
  <p:transition/>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zh-CN" altLang="en-US"/>
              <a:t>安索夫：克服变革阻力</a:t>
            </a:r>
          </a:p>
        </p:txBody>
      </p:sp>
      <p:sp>
        <p:nvSpPr>
          <p:cNvPr id="143363" name="Rectangle 3"/>
          <p:cNvSpPr>
            <a:spLocks noGrp="1" noChangeArrowheads="1"/>
          </p:cNvSpPr>
          <p:nvPr>
            <p:ph type="body" idx="1"/>
          </p:nvPr>
        </p:nvSpPr>
        <p:spPr>
          <a:xfrm>
            <a:off x="2773599" y="1758890"/>
            <a:ext cx="7796540" cy="3997828"/>
          </a:xfrm>
        </p:spPr>
        <p:txBody>
          <a:bodyPr/>
          <a:lstStyle/>
          <a:p>
            <a:r>
              <a:rPr lang="zh-CN" altLang="en-US" dirty="0"/>
              <a:t>对历史上从一种思想观念转变到另一种思想观念的观察表明：如果不积极采取措施以促进这一转变过程，这一过程将变得 充满矛盾、进展迟缓并要耗费大量的人力和财力。对变革阻力的管理包括：第一，预测阻力的中心和强度；第二，消除由误解和不确定性而导致的不必要的阻力；第三，集中力量，确保对变革的支持；最后，在变革过程中对阻力进行监视和控制</a:t>
            </a:r>
          </a:p>
        </p:txBody>
      </p:sp>
    </p:spTree>
  </p:cSld>
  <p:clrMapOvr>
    <a:masterClrMapping/>
  </p:clrMapOvr>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2489888" y="1346670"/>
            <a:ext cx="7958331" cy="1077229"/>
          </a:xfrm>
        </p:spPr>
        <p:txBody>
          <a:bodyPr/>
          <a:lstStyle/>
          <a:p>
            <a:r>
              <a:rPr lang="zh-CN" altLang="en-US" dirty="0"/>
              <a:t>管理变化</a:t>
            </a:r>
          </a:p>
        </p:txBody>
      </p:sp>
      <p:sp>
        <p:nvSpPr>
          <p:cNvPr id="144387" name="Rectangle 3"/>
          <p:cNvSpPr>
            <a:spLocks noGrp="1" noChangeArrowheads="1"/>
          </p:cNvSpPr>
          <p:nvPr>
            <p:ph type="body" idx="1"/>
          </p:nvPr>
        </p:nvSpPr>
        <p:spPr>
          <a:xfrm>
            <a:off x="2936159" y="1346670"/>
            <a:ext cx="7796540" cy="3997828"/>
          </a:xfrm>
        </p:spPr>
        <p:txBody>
          <a:bodyPr/>
          <a:lstStyle/>
          <a:p>
            <a:r>
              <a:rPr lang="zh-CN" altLang="en-US" dirty="0"/>
              <a:t>适应变化</a:t>
            </a:r>
            <a:r>
              <a:rPr lang="en-US" altLang="zh-CN" dirty="0"/>
              <a:t>-</a:t>
            </a:r>
            <a:r>
              <a:rPr lang="zh-CN" altLang="en-US" dirty="0"/>
              <a:t>预测变化</a:t>
            </a:r>
            <a:r>
              <a:rPr lang="en-US" altLang="zh-CN" dirty="0"/>
              <a:t>-</a:t>
            </a:r>
            <a:r>
              <a:rPr lang="zh-CN" altLang="en-US" dirty="0"/>
              <a:t>创造变化</a:t>
            </a:r>
          </a:p>
          <a:p>
            <a:r>
              <a:rPr lang="zh-CN" altLang="en-US" dirty="0"/>
              <a:t>持续的变化</a:t>
            </a:r>
          </a:p>
          <a:p>
            <a:r>
              <a:rPr lang="zh-CN" altLang="en-US" dirty="0"/>
              <a:t>首先变化</a:t>
            </a:r>
          </a:p>
        </p:txBody>
      </p:sp>
    </p:spTree>
  </p:cSld>
  <p:clrMapOvr>
    <a:masterClrMapping/>
  </p:clrMapOvr>
  <p:transition/>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zh-CN" altLang="en-US"/>
              <a:t>其他</a:t>
            </a:r>
          </a:p>
        </p:txBody>
      </p:sp>
      <p:sp>
        <p:nvSpPr>
          <p:cNvPr id="147459" name="Rectangle 3"/>
          <p:cNvSpPr>
            <a:spLocks noGrp="1" noChangeArrowheads="1"/>
          </p:cNvSpPr>
          <p:nvPr>
            <p:ph type="body" idx="1"/>
          </p:nvPr>
        </p:nvSpPr>
        <p:spPr>
          <a:xfrm>
            <a:off x="2773599" y="808056"/>
            <a:ext cx="7796540" cy="3997828"/>
          </a:xfrm>
        </p:spPr>
        <p:txBody>
          <a:bodyPr/>
          <a:lstStyle/>
          <a:p>
            <a:r>
              <a:rPr lang="zh-CN" altLang="en-US" dirty="0"/>
              <a:t>培育支持企业战略的文化</a:t>
            </a:r>
          </a:p>
          <a:p>
            <a:r>
              <a:rPr lang="zh-CN" altLang="en-US" dirty="0"/>
              <a:t>战略实施中的生产运作问题</a:t>
            </a:r>
          </a:p>
          <a:p>
            <a:r>
              <a:rPr lang="zh-CN" altLang="en-US" dirty="0"/>
              <a:t>战略实施中的人力资源问题</a:t>
            </a:r>
          </a:p>
        </p:txBody>
      </p:sp>
    </p:spTree>
  </p:cSld>
  <p:clrMapOvr>
    <a:masterClrMapping/>
  </p:clrMapOvr>
  <p:transition/>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347914" y="915035"/>
            <a:ext cx="7724775" cy="922338"/>
          </a:xfrm>
        </p:spPr>
        <p:txBody>
          <a:bodyPr>
            <a:normAutofit fontScale="90000"/>
          </a:bodyPr>
          <a:lstStyle/>
          <a:p>
            <a:r>
              <a:rPr lang="zh-CN" altLang="en-US" b="1" dirty="0">
                <a:ea typeface="幼圆" pitchFamily="49" charset="-122"/>
              </a:rPr>
              <a:t>战略实施的相关变量</a:t>
            </a:r>
            <a:br>
              <a:rPr lang="zh-CN" altLang="en-US" b="1" i="1" dirty="0">
                <a:solidFill>
                  <a:srgbClr val="0000FF"/>
                </a:solidFill>
                <a:ea typeface="幼圆" pitchFamily="49" charset="-122"/>
              </a:rPr>
            </a:br>
            <a:endParaRPr lang="zh-CN" altLang="en-US" b="1" i="1" dirty="0">
              <a:solidFill>
                <a:srgbClr val="0000FF"/>
              </a:solidFill>
              <a:ea typeface="幼圆" pitchFamily="49" charset="-122"/>
            </a:endParaRPr>
          </a:p>
        </p:txBody>
      </p:sp>
      <p:sp>
        <p:nvSpPr>
          <p:cNvPr id="3075" name="Rectangle 3"/>
          <p:cNvSpPr>
            <a:spLocks noGrp="1" noChangeArrowheads="1"/>
          </p:cNvSpPr>
          <p:nvPr>
            <p:ph type="body" idx="1"/>
          </p:nvPr>
        </p:nvSpPr>
        <p:spPr>
          <a:xfrm>
            <a:off x="623888" y="1628775"/>
            <a:ext cx="9448801" cy="4876800"/>
          </a:xfrm>
        </p:spPr>
        <p:txBody>
          <a:bodyPr>
            <a:normAutofit fontScale="92500" lnSpcReduction="10000"/>
          </a:bodyPr>
          <a:lstStyle/>
          <a:p>
            <a:pPr lvl="4">
              <a:buFontTx/>
              <a:buNone/>
            </a:pPr>
            <a:r>
              <a:rPr lang="zh-CN" altLang="en-US" sz="3600" b="1" dirty="0">
                <a:solidFill>
                  <a:srgbClr val="FF6600"/>
                </a:solidFill>
                <a:effectLst>
                  <a:outerShdw blurRad="38100" dist="38100" dir="2700000" algn="tl">
                    <a:srgbClr val="C0C0C0"/>
                  </a:outerShdw>
                </a:effectLst>
                <a:latin typeface="宋体" charset="-122"/>
              </a:rPr>
              <a:t>麦肯锡</a:t>
            </a:r>
            <a:r>
              <a:rPr lang="zh-CN" altLang="en-US" sz="3600" b="1" dirty="0">
                <a:solidFill>
                  <a:srgbClr val="FF6600"/>
                </a:solidFill>
                <a:effectLst>
                  <a:outerShdw blurRad="38100" dist="38100" dir="2700000" algn="tl">
                    <a:srgbClr val="C0C0C0"/>
                  </a:outerShdw>
                </a:effectLst>
                <a:cs typeface="Arial" charset="0"/>
              </a:rPr>
              <a:t>  </a:t>
            </a:r>
            <a:r>
              <a:rPr lang="en-US" altLang="zh-CN" sz="3600" b="1" dirty="0">
                <a:solidFill>
                  <a:srgbClr val="FF6600"/>
                </a:solidFill>
                <a:effectLst>
                  <a:outerShdw blurRad="38100" dist="38100" dir="2700000" algn="tl">
                    <a:srgbClr val="C0C0C0"/>
                  </a:outerShdw>
                </a:effectLst>
                <a:cs typeface="Arial" charset="0"/>
              </a:rPr>
              <a:t>7</a:t>
            </a:r>
            <a:r>
              <a:rPr lang="en-US" altLang="zh-CN" sz="3600" b="1" dirty="0">
                <a:solidFill>
                  <a:srgbClr val="FF6600"/>
                </a:solidFill>
                <a:effectLst>
                  <a:outerShdw blurRad="38100" dist="38100" dir="2700000" algn="tl">
                    <a:srgbClr val="C0C0C0"/>
                  </a:outerShdw>
                </a:effectLst>
              </a:rPr>
              <a:t>—</a:t>
            </a:r>
            <a:r>
              <a:rPr lang="en-US" altLang="zh-CN" sz="3600" b="1" dirty="0">
                <a:solidFill>
                  <a:srgbClr val="FF6600"/>
                </a:solidFill>
                <a:effectLst>
                  <a:outerShdw blurRad="38100" dist="38100" dir="2700000" algn="tl">
                    <a:srgbClr val="C0C0C0"/>
                  </a:outerShdw>
                </a:effectLst>
                <a:cs typeface="Arial" charset="0"/>
              </a:rPr>
              <a:t>S </a:t>
            </a:r>
            <a:r>
              <a:rPr lang="zh-CN" altLang="en-US" sz="3600" b="1" dirty="0">
                <a:solidFill>
                  <a:srgbClr val="FF6600"/>
                </a:solidFill>
                <a:effectLst>
                  <a:outerShdw blurRad="38100" dist="38100" dir="2700000" algn="tl">
                    <a:srgbClr val="C0C0C0"/>
                  </a:outerShdw>
                </a:effectLst>
                <a:latin typeface="宋体" charset="-122"/>
              </a:rPr>
              <a:t>模式</a:t>
            </a:r>
            <a:r>
              <a:rPr lang="en-US" altLang="zh-CN" sz="3600" dirty="0">
                <a:solidFill>
                  <a:srgbClr val="FF6600"/>
                </a:solidFill>
                <a:effectLst>
                  <a:outerShdw blurRad="38100" dist="38100" dir="2700000" algn="tl">
                    <a:srgbClr val="C0C0C0"/>
                  </a:outerShdw>
                </a:effectLst>
                <a:latin typeface="宋体" charset="-122"/>
              </a:rPr>
              <a:t>-Peters &amp; Waterman</a:t>
            </a:r>
            <a:endParaRPr lang="en-US" altLang="zh-CN" sz="2800" dirty="0">
              <a:latin typeface="宋体" charset="-122"/>
            </a:endParaRPr>
          </a:p>
          <a:p>
            <a:pPr lvl="4"/>
            <a:r>
              <a:rPr lang="zh-CN" altLang="en-US" sz="2800" b="1" dirty="0">
                <a:latin typeface="宋体" charset="-122"/>
              </a:rPr>
              <a:t>战略（</a:t>
            </a:r>
            <a:r>
              <a:rPr lang="en-US" altLang="zh-CN" sz="2800" b="1" dirty="0">
                <a:cs typeface="Arial" charset="0"/>
              </a:rPr>
              <a:t>Strategy</a:t>
            </a:r>
            <a:r>
              <a:rPr lang="zh-CN" altLang="en-US" sz="2800" b="1" dirty="0">
                <a:latin typeface="宋体" charset="-122"/>
              </a:rPr>
              <a:t>）</a:t>
            </a:r>
          </a:p>
          <a:p>
            <a:pPr lvl="4"/>
            <a:r>
              <a:rPr lang="zh-CN" altLang="en-US" sz="2800" b="1" dirty="0">
                <a:latin typeface="宋体" charset="-122"/>
              </a:rPr>
              <a:t>结构（</a:t>
            </a:r>
            <a:r>
              <a:rPr lang="en-US" altLang="zh-CN" sz="2800" b="1" dirty="0">
                <a:cs typeface="Arial" charset="0"/>
              </a:rPr>
              <a:t>Structure</a:t>
            </a:r>
            <a:r>
              <a:rPr lang="zh-CN" altLang="en-US" sz="2800" b="1" dirty="0">
                <a:latin typeface="宋体" charset="-122"/>
              </a:rPr>
              <a:t>）</a:t>
            </a:r>
          </a:p>
          <a:p>
            <a:pPr lvl="4"/>
            <a:r>
              <a:rPr lang="zh-CN" altLang="en-US" sz="2800" b="1" dirty="0">
                <a:latin typeface="宋体" charset="-122"/>
              </a:rPr>
              <a:t>体制（</a:t>
            </a:r>
            <a:r>
              <a:rPr lang="en-US" altLang="zh-CN" sz="2800" b="1" dirty="0">
                <a:cs typeface="Arial" charset="0"/>
              </a:rPr>
              <a:t>System</a:t>
            </a:r>
            <a:r>
              <a:rPr lang="zh-CN" altLang="en-US" sz="2800" b="1" dirty="0">
                <a:latin typeface="宋体" charset="-122"/>
              </a:rPr>
              <a:t>）</a:t>
            </a:r>
          </a:p>
          <a:p>
            <a:pPr lvl="4"/>
            <a:r>
              <a:rPr lang="zh-CN" altLang="en-US" sz="2800" b="1" dirty="0">
                <a:latin typeface="宋体" charset="-122"/>
              </a:rPr>
              <a:t>风格（</a:t>
            </a:r>
            <a:r>
              <a:rPr lang="en-US" altLang="zh-CN" sz="2800" b="1" dirty="0">
                <a:cs typeface="Arial" charset="0"/>
              </a:rPr>
              <a:t>Style</a:t>
            </a:r>
            <a:r>
              <a:rPr lang="zh-CN" altLang="en-US" sz="2800" b="1" dirty="0">
                <a:latin typeface="宋体" charset="-122"/>
              </a:rPr>
              <a:t>）</a:t>
            </a:r>
          </a:p>
          <a:p>
            <a:pPr lvl="4"/>
            <a:r>
              <a:rPr lang="zh-CN" altLang="en-US" sz="2800" b="1" dirty="0">
                <a:latin typeface="宋体" charset="-122"/>
              </a:rPr>
              <a:t>人员（</a:t>
            </a:r>
            <a:r>
              <a:rPr lang="en-US" altLang="zh-CN" sz="2800" b="1" dirty="0">
                <a:cs typeface="Arial" charset="0"/>
              </a:rPr>
              <a:t>Staff</a:t>
            </a:r>
            <a:r>
              <a:rPr lang="zh-CN" altLang="en-US" sz="2800" b="1" dirty="0">
                <a:latin typeface="宋体" charset="-122"/>
              </a:rPr>
              <a:t>）</a:t>
            </a:r>
          </a:p>
          <a:p>
            <a:pPr lvl="4"/>
            <a:r>
              <a:rPr lang="zh-CN" altLang="en-US" sz="2800" b="1" dirty="0">
                <a:latin typeface="宋体" charset="-122"/>
              </a:rPr>
              <a:t>技能（</a:t>
            </a:r>
            <a:r>
              <a:rPr lang="en-US" altLang="zh-CN" sz="2800" b="1" dirty="0">
                <a:cs typeface="Arial" charset="0"/>
              </a:rPr>
              <a:t>Skills</a:t>
            </a:r>
            <a:r>
              <a:rPr lang="zh-CN" altLang="en-US" sz="2800" b="1" dirty="0">
                <a:latin typeface="宋体" charset="-122"/>
              </a:rPr>
              <a:t>）</a:t>
            </a:r>
          </a:p>
          <a:p>
            <a:pPr lvl="4"/>
            <a:r>
              <a:rPr lang="zh-CN" altLang="en-US" sz="2800" b="1" dirty="0">
                <a:latin typeface="宋体" charset="-122"/>
              </a:rPr>
              <a:t>共同价值观（</a:t>
            </a:r>
            <a:r>
              <a:rPr lang="en-US" altLang="zh-CN" sz="2800" b="1" dirty="0">
                <a:cs typeface="Arial" charset="0"/>
              </a:rPr>
              <a:t>Shared Values</a:t>
            </a:r>
            <a:r>
              <a:rPr lang="zh-CN" altLang="en-US" sz="2800" b="1" dirty="0">
                <a:latin typeface="宋体" charset="-122"/>
              </a:rPr>
              <a:t>）</a:t>
            </a:r>
          </a:p>
        </p:txBody>
      </p:sp>
    </p:spTree>
  </p:cSld>
  <p:clrMapOvr>
    <a:masterClrMapping/>
  </p:clrMapOvr>
  <p:transition/>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Oval 4"/>
          <p:cNvSpPr>
            <a:spLocks noChangeArrowheads="1"/>
          </p:cNvSpPr>
          <p:nvPr/>
        </p:nvSpPr>
        <p:spPr bwMode="auto">
          <a:xfrm>
            <a:off x="4739640" y="2722880"/>
            <a:ext cx="1143000" cy="11430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lgn="ctr">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 </a:t>
            </a:r>
            <a:r>
              <a:rPr lang="en-US" altLang="zh-CN" sz="2000">
                <a:solidFill>
                  <a:srgbClr val="FFFF00"/>
                </a:solidFill>
              </a:rPr>
              <a:t>Shared </a:t>
            </a:r>
          </a:p>
          <a:p>
            <a:pPr algn="ctr"/>
            <a:r>
              <a:rPr lang="en-US" altLang="zh-CN" sz="2000">
                <a:solidFill>
                  <a:srgbClr val="FFFF00"/>
                </a:solidFill>
              </a:rPr>
              <a:t>Values</a:t>
            </a:r>
          </a:p>
        </p:txBody>
      </p:sp>
      <p:sp>
        <p:nvSpPr>
          <p:cNvPr id="113669" name="Oval 5"/>
          <p:cNvSpPr>
            <a:spLocks noChangeArrowheads="1"/>
          </p:cNvSpPr>
          <p:nvPr/>
        </p:nvSpPr>
        <p:spPr bwMode="auto">
          <a:xfrm>
            <a:off x="6492240" y="2037080"/>
            <a:ext cx="1066800" cy="9906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lgn="ctr">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system</a:t>
            </a:r>
          </a:p>
        </p:txBody>
      </p:sp>
      <p:sp>
        <p:nvSpPr>
          <p:cNvPr id="113670" name="Oval 6"/>
          <p:cNvSpPr>
            <a:spLocks noChangeArrowheads="1"/>
          </p:cNvSpPr>
          <p:nvPr/>
        </p:nvSpPr>
        <p:spPr bwMode="auto">
          <a:xfrm>
            <a:off x="6568440" y="3561080"/>
            <a:ext cx="1066800" cy="9906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style</a:t>
            </a:r>
          </a:p>
        </p:txBody>
      </p:sp>
      <p:sp>
        <p:nvSpPr>
          <p:cNvPr id="113671" name="Oval 7"/>
          <p:cNvSpPr>
            <a:spLocks noChangeArrowheads="1"/>
          </p:cNvSpPr>
          <p:nvPr/>
        </p:nvSpPr>
        <p:spPr bwMode="auto">
          <a:xfrm>
            <a:off x="4815840" y="4475480"/>
            <a:ext cx="1066800" cy="9906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lgn="ctr">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staff</a:t>
            </a:r>
          </a:p>
        </p:txBody>
      </p:sp>
      <p:sp>
        <p:nvSpPr>
          <p:cNvPr id="113672" name="Oval 8"/>
          <p:cNvSpPr>
            <a:spLocks noChangeArrowheads="1"/>
          </p:cNvSpPr>
          <p:nvPr/>
        </p:nvSpPr>
        <p:spPr bwMode="auto">
          <a:xfrm>
            <a:off x="3063240" y="3637280"/>
            <a:ext cx="1066800" cy="9906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lgn="ctr">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skill</a:t>
            </a:r>
          </a:p>
        </p:txBody>
      </p:sp>
      <p:sp>
        <p:nvSpPr>
          <p:cNvPr id="113673" name="Oval 9"/>
          <p:cNvSpPr>
            <a:spLocks noChangeArrowheads="1"/>
          </p:cNvSpPr>
          <p:nvPr/>
        </p:nvSpPr>
        <p:spPr bwMode="auto">
          <a:xfrm>
            <a:off x="3215640" y="2113280"/>
            <a:ext cx="1066800" cy="9906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lgn="ctr">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strategy</a:t>
            </a:r>
          </a:p>
        </p:txBody>
      </p:sp>
      <p:sp>
        <p:nvSpPr>
          <p:cNvPr id="113674" name="Oval 10"/>
          <p:cNvSpPr>
            <a:spLocks noChangeArrowheads="1"/>
          </p:cNvSpPr>
          <p:nvPr/>
        </p:nvSpPr>
        <p:spPr bwMode="auto">
          <a:xfrm>
            <a:off x="4815840" y="1122680"/>
            <a:ext cx="1066800" cy="1066800"/>
          </a:xfrm>
          <a:prstGeom prst="ellipse">
            <a:avLst/>
          </a:prstGeom>
          <a:gradFill rotWithShape="1">
            <a:gsLst>
              <a:gs pos="0">
                <a:srgbClr val="0000FF"/>
              </a:gs>
              <a:gs pos="100000">
                <a:srgbClr val="0000FF">
                  <a:gamma/>
                  <a:shade val="46275"/>
                  <a:invGamma/>
                </a:srgbClr>
              </a:gs>
            </a:gsLst>
            <a:path path="shape">
              <a:fillToRect l="50000" t="50000" r="50000" b="50000"/>
            </a:path>
          </a:gradFill>
          <a:ln w="12700" cap="sq" algn="ctr">
            <a:miter lim="800000"/>
            <a:headEnd type="none" w="sm" len="sm"/>
            <a:tailEnd type="none" w="sm" len="sm"/>
          </a:ln>
          <a:effectLst/>
          <a:scene3d>
            <a:camera prst="legacyPerspectiveTopRight"/>
            <a:lightRig rig="legacyFlat3" dir="b"/>
          </a:scene3d>
          <a:sp3d extrusionH="887400" prstMaterial="legacyMatte">
            <a:bevelT w="13500" h="13500" prst="angle"/>
            <a:bevelB w="13500" h="13500" prst="angle"/>
            <a:extrusionClr>
              <a:srgbClr val="0000FF"/>
            </a:extrusionClr>
          </a:sp3d>
        </p:spPr>
        <p:txBody>
          <a:bodyPr wrap="none" anchor="ctr">
            <a:flatTx/>
          </a:bodyPr>
          <a:lstStyle/>
          <a:p>
            <a:pPr algn="ctr"/>
            <a:r>
              <a:rPr kumimoji="1" lang="en-US" altLang="zh-CN" sz="2400">
                <a:solidFill>
                  <a:srgbClr val="FFFF00"/>
                </a:solidFill>
                <a:latin typeface="Times New Roman" pitchFamily="18" charset="0"/>
              </a:rPr>
              <a:t>structure</a:t>
            </a:r>
          </a:p>
        </p:txBody>
      </p:sp>
      <p:sp>
        <p:nvSpPr>
          <p:cNvPr id="113675" name="Line 11"/>
          <p:cNvSpPr>
            <a:spLocks noChangeShapeType="1"/>
          </p:cNvSpPr>
          <p:nvPr/>
        </p:nvSpPr>
        <p:spPr bwMode="auto">
          <a:xfrm flipH="1">
            <a:off x="4282440" y="1808480"/>
            <a:ext cx="533400" cy="3810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76" name="Line 12"/>
          <p:cNvSpPr>
            <a:spLocks noChangeShapeType="1"/>
          </p:cNvSpPr>
          <p:nvPr/>
        </p:nvSpPr>
        <p:spPr bwMode="auto">
          <a:xfrm>
            <a:off x="5882640" y="1732280"/>
            <a:ext cx="685800" cy="5334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77" name="Line 13"/>
          <p:cNvSpPr>
            <a:spLocks noChangeShapeType="1"/>
          </p:cNvSpPr>
          <p:nvPr/>
        </p:nvSpPr>
        <p:spPr bwMode="auto">
          <a:xfrm>
            <a:off x="7025640" y="3027680"/>
            <a:ext cx="0" cy="5334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78" name="Line 14"/>
          <p:cNvSpPr>
            <a:spLocks noChangeShapeType="1"/>
          </p:cNvSpPr>
          <p:nvPr/>
        </p:nvSpPr>
        <p:spPr bwMode="auto">
          <a:xfrm flipH="1">
            <a:off x="5958840" y="4399280"/>
            <a:ext cx="762000" cy="3810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79" name="Line 15"/>
          <p:cNvSpPr>
            <a:spLocks noChangeShapeType="1"/>
          </p:cNvSpPr>
          <p:nvPr/>
        </p:nvSpPr>
        <p:spPr bwMode="auto">
          <a:xfrm>
            <a:off x="4053840" y="4399280"/>
            <a:ext cx="762000" cy="4572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0" name="Line 16"/>
          <p:cNvSpPr>
            <a:spLocks noChangeShapeType="1"/>
          </p:cNvSpPr>
          <p:nvPr/>
        </p:nvSpPr>
        <p:spPr bwMode="auto">
          <a:xfrm>
            <a:off x="3672840" y="3103880"/>
            <a:ext cx="0" cy="4572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1" name="Line 17"/>
          <p:cNvSpPr>
            <a:spLocks noChangeShapeType="1"/>
          </p:cNvSpPr>
          <p:nvPr/>
        </p:nvSpPr>
        <p:spPr bwMode="auto">
          <a:xfrm flipH="1">
            <a:off x="5958840" y="2722880"/>
            <a:ext cx="609600" cy="2286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2" name="Line 18"/>
          <p:cNvSpPr>
            <a:spLocks noChangeShapeType="1"/>
          </p:cNvSpPr>
          <p:nvPr/>
        </p:nvSpPr>
        <p:spPr bwMode="auto">
          <a:xfrm>
            <a:off x="5349240" y="2189480"/>
            <a:ext cx="0" cy="5334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3" name="Line 19"/>
          <p:cNvSpPr>
            <a:spLocks noChangeShapeType="1"/>
          </p:cNvSpPr>
          <p:nvPr/>
        </p:nvSpPr>
        <p:spPr bwMode="auto">
          <a:xfrm>
            <a:off x="5349240" y="3865880"/>
            <a:ext cx="0" cy="6096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4" name="Line 20"/>
          <p:cNvSpPr>
            <a:spLocks noChangeShapeType="1"/>
          </p:cNvSpPr>
          <p:nvPr/>
        </p:nvSpPr>
        <p:spPr bwMode="auto">
          <a:xfrm>
            <a:off x="4206240" y="2875280"/>
            <a:ext cx="609600" cy="2286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5" name="Line 21"/>
          <p:cNvSpPr>
            <a:spLocks noChangeShapeType="1"/>
          </p:cNvSpPr>
          <p:nvPr/>
        </p:nvSpPr>
        <p:spPr bwMode="auto">
          <a:xfrm flipV="1">
            <a:off x="4053840" y="3484880"/>
            <a:ext cx="762000" cy="3810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6" name="Line 22"/>
          <p:cNvSpPr>
            <a:spLocks noChangeShapeType="1"/>
          </p:cNvSpPr>
          <p:nvPr/>
        </p:nvSpPr>
        <p:spPr bwMode="auto">
          <a:xfrm>
            <a:off x="5806440" y="3484880"/>
            <a:ext cx="838200" cy="3810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7" name="Line 23"/>
          <p:cNvSpPr>
            <a:spLocks noChangeShapeType="1"/>
          </p:cNvSpPr>
          <p:nvPr/>
        </p:nvSpPr>
        <p:spPr bwMode="auto">
          <a:xfrm>
            <a:off x="4282440" y="2494280"/>
            <a:ext cx="2209800" cy="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8" name="Line 24"/>
          <p:cNvSpPr>
            <a:spLocks noChangeShapeType="1"/>
          </p:cNvSpPr>
          <p:nvPr/>
        </p:nvSpPr>
        <p:spPr bwMode="auto">
          <a:xfrm>
            <a:off x="5730240" y="2037080"/>
            <a:ext cx="1066800" cy="16002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89" name="Line 25"/>
          <p:cNvSpPr>
            <a:spLocks noChangeShapeType="1"/>
          </p:cNvSpPr>
          <p:nvPr/>
        </p:nvSpPr>
        <p:spPr bwMode="auto">
          <a:xfrm>
            <a:off x="4130040" y="4094480"/>
            <a:ext cx="2438400" cy="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
        <p:nvSpPr>
          <p:cNvPr id="113690" name="Line 26"/>
          <p:cNvSpPr>
            <a:spLocks noChangeShapeType="1"/>
          </p:cNvSpPr>
          <p:nvPr/>
        </p:nvSpPr>
        <p:spPr bwMode="auto">
          <a:xfrm flipH="1">
            <a:off x="3901440" y="2113280"/>
            <a:ext cx="1143000" cy="1600200"/>
          </a:xfrm>
          <a:prstGeom prst="line">
            <a:avLst/>
          </a:prstGeom>
          <a:noFill/>
          <a:ln w="12700" cap="sq">
            <a:solidFill>
              <a:schemeClr val="tx1"/>
            </a:solidFill>
            <a:miter lim="800000"/>
            <a:headEnd type="none" w="sm" len="sm"/>
            <a:tailEnd type="none" w="sm" len="sm"/>
          </a:ln>
          <a:effectLst/>
        </p:spPr>
        <p:txBody>
          <a:bodyPr wrap="none"/>
          <a:lstStyle/>
          <a:p>
            <a:endParaRPr lang="zh-CN" altLang="en-US"/>
          </a:p>
        </p:txBody>
      </p:sp>
    </p:spTree>
  </p:cSld>
  <p:clrMapOvr>
    <a:masterClrMapping/>
  </p:clrMapOvr>
  <p:transition/>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1981200" y="304800"/>
            <a:ext cx="7467600" cy="762000"/>
          </a:xfrm>
        </p:spPr>
        <p:txBody>
          <a:bodyPr>
            <a:normAutofit/>
          </a:bodyPr>
          <a:lstStyle/>
          <a:p>
            <a:r>
              <a:rPr lang="zh-CN" altLang="en-US"/>
              <a:t>7</a:t>
            </a:r>
            <a:r>
              <a:rPr lang="en-US" altLang="zh-CN"/>
              <a:t>S</a:t>
            </a:r>
            <a:r>
              <a:rPr lang="zh-CN" altLang="en-US"/>
              <a:t>的涵义</a:t>
            </a:r>
          </a:p>
        </p:txBody>
      </p:sp>
      <p:sp>
        <p:nvSpPr>
          <p:cNvPr id="77827" name="Rectangle 3"/>
          <p:cNvSpPr>
            <a:spLocks noGrp="1" noChangeArrowheads="1"/>
          </p:cNvSpPr>
          <p:nvPr>
            <p:ph type="body" idx="1"/>
          </p:nvPr>
        </p:nvSpPr>
        <p:spPr>
          <a:xfrm>
            <a:off x="1752600" y="1295400"/>
            <a:ext cx="8591872" cy="4800600"/>
          </a:xfrm>
        </p:spPr>
        <p:txBody>
          <a:bodyPr>
            <a:normAutofit fontScale="85000" lnSpcReduction="10000"/>
          </a:bodyPr>
          <a:lstStyle/>
          <a:p>
            <a:pPr>
              <a:lnSpc>
                <a:spcPct val="90000"/>
              </a:lnSpc>
            </a:pPr>
            <a:r>
              <a:rPr lang="zh-CN" altLang="en-US" dirty="0"/>
              <a:t>战略（</a:t>
            </a:r>
            <a:r>
              <a:rPr lang="en-US" altLang="zh-CN" dirty="0"/>
              <a:t>Strategy）：</a:t>
            </a:r>
            <a:r>
              <a:rPr lang="zh-CN" altLang="en-US" dirty="0"/>
              <a:t>旨在获得超过竞争对手的持续优势的一组紧密联系的活动</a:t>
            </a:r>
          </a:p>
          <a:p>
            <a:pPr>
              <a:lnSpc>
                <a:spcPct val="90000"/>
              </a:lnSpc>
            </a:pPr>
            <a:r>
              <a:rPr lang="zh-CN" altLang="en-US" dirty="0"/>
              <a:t>结构（</a:t>
            </a:r>
            <a:r>
              <a:rPr lang="en-US" altLang="zh-CN" dirty="0"/>
              <a:t>Structure）：</a:t>
            </a:r>
            <a:r>
              <a:rPr lang="zh-CN" altLang="en-US" dirty="0"/>
              <a:t>指组织结构图及其相应的部分，它表明报告传递者及接受者，任务的分工及整合</a:t>
            </a:r>
          </a:p>
          <a:p>
            <a:pPr>
              <a:lnSpc>
                <a:spcPct val="90000"/>
              </a:lnSpc>
            </a:pPr>
            <a:r>
              <a:rPr lang="zh-CN" altLang="en-US" dirty="0"/>
              <a:t>体制（</a:t>
            </a:r>
            <a:r>
              <a:rPr lang="en-US" altLang="zh-CN" dirty="0"/>
              <a:t>System）：</a:t>
            </a:r>
            <a:r>
              <a:rPr lang="zh-CN" altLang="en-US" dirty="0"/>
              <a:t>指表明使日常工作完成的过程及流程，包括信息系统、资本预算系统、制造过程、质量控制系统、绩效度量系统等</a:t>
            </a:r>
          </a:p>
          <a:p>
            <a:pPr>
              <a:lnSpc>
                <a:spcPct val="90000"/>
              </a:lnSpc>
            </a:pPr>
            <a:r>
              <a:rPr lang="zh-CN" altLang="en-US" dirty="0"/>
              <a:t>作风（</a:t>
            </a:r>
            <a:r>
              <a:rPr lang="en-US" altLang="zh-CN" dirty="0"/>
              <a:t>Style）：</a:t>
            </a:r>
            <a:r>
              <a:rPr lang="zh-CN" altLang="en-US" dirty="0"/>
              <a:t>通过集体管理人员所花费时间和精力的方式，以及他们所采用的代表性的行为方式所表现出的例证</a:t>
            </a:r>
          </a:p>
          <a:p>
            <a:pPr>
              <a:lnSpc>
                <a:spcPct val="90000"/>
              </a:lnSpc>
            </a:pPr>
            <a:r>
              <a:rPr lang="zh-CN" altLang="en-US" dirty="0"/>
              <a:t>人员（</a:t>
            </a:r>
            <a:r>
              <a:rPr lang="en-US" altLang="zh-CN" dirty="0"/>
              <a:t>Staff）：</a:t>
            </a:r>
            <a:r>
              <a:rPr lang="zh-CN" altLang="en-US" dirty="0"/>
              <a:t>企业中的所有人，更重要的是指企业中的人员分布状况</a:t>
            </a:r>
          </a:p>
          <a:p>
            <a:pPr>
              <a:lnSpc>
                <a:spcPct val="90000"/>
              </a:lnSpc>
            </a:pPr>
            <a:r>
              <a:rPr lang="zh-CN" altLang="en-US" dirty="0"/>
              <a:t>共同的价值观（</a:t>
            </a:r>
            <a:r>
              <a:rPr lang="en-US" altLang="zh-CN" dirty="0"/>
              <a:t>Shared Values）：</a:t>
            </a:r>
            <a:r>
              <a:rPr lang="zh-CN" altLang="en-US" dirty="0"/>
              <a:t>它不是指企业正式宣布的目的或目标，而是指使企业保持团结和一体的那些具有指导性的观念、愿望等，也即是企业的哲学或文化</a:t>
            </a:r>
          </a:p>
          <a:p>
            <a:pPr>
              <a:lnSpc>
                <a:spcPct val="90000"/>
              </a:lnSpc>
            </a:pPr>
            <a:r>
              <a:rPr lang="zh-CN" altLang="en-US" dirty="0"/>
              <a:t>技能（</a:t>
            </a:r>
            <a:r>
              <a:rPr lang="en-US" altLang="zh-CN" dirty="0"/>
              <a:t>Skills）：</a:t>
            </a:r>
            <a:r>
              <a:rPr lang="zh-CN" altLang="en-US" dirty="0"/>
              <a:t>指企业做为一个整体所具备的能力</a:t>
            </a:r>
          </a:p>
          <a:p>
            <a:pPr>
              <a:lnSpc>
                <a:spcPct val="90000"/>
              </a:lnSpc>
            </a:pPr>
            <a:endParaRPr lang="zh-CN" altLang="en-US" sz="200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26"/>
          <p:cNvSpPr>
            <a:spLocks noGrp="1" noChangeArrowheads="1"/>
          </p:cNvSpPr>
          <p:nvPr>
            <p:ph type="title"/>
          </p:nvPr>
        </p:nvSpPr>
        <p:spPr/>
        <p:txBody>
          <a:bodyPr/>
          <a:lstStyle/>
          <a:p>
            <a:r>
              <a:rPr lang="zh-CN" altLang="en-US"/>
              <a:t>7</a:t>
            </a:r>
            <a:r>
              <a:rPr lang="en-US" altLang="zh-CN"/>
              <a:t>S</a:t>
            </a:r>
            <a:r>
              <a:rPr lang="zh-CN" altLang="en-US"/>
              <a:t>模型的启示</a:t>
            </a:r>
          </a:p>
        </p:txBody>
      </p:sp>
      <p:sp>
        <p:nvSpPr>
          <p:cNvPr id="78851" name="Rectangle 1027"/>
          <p:cNvSpPr>
            <a:spLocks noGrp="1" noChangeArrowheads="1"/>
          </p:cNvSpPr>
          <p:nvPr>
            <p:ph type="body" idx="1"/>
          </p:nvPr>
        </p:nvSpPr>
        <p:spPr>
          <a:xfrm>
            <a:off x="2773599" y="1346670"/>
            <a:ext cx="7796540" cy="3997828"/>
          </a:xfrm>
        </p:spPr>
        <p:txBody>
          <a:bodyPr/>
          <a:lstStyle/>
          <a:p>
            <a:r>
              <a:rPr lang="zh-CN" altLang="en-US" dirty="0"/>
              <a:t>当这些因素相互适应和匹配时，企业即可实施一项战略；</a:t>
            </a:r>
          </a:p>
          <a:p>
            <a:r>
              <a:rPr lang="zh-CN" altLang="en-US" dirty="0"/>
              <a:t>反之，当这七个因素不互相融洽时，战略实施将不可能成功。</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r>
              <a:rPr lang="en-US" altLang="zh-CN"/>
              <a:t>    </a:t>
            </a:r>
            <a:r>
              <a:rPr lang="zh-CN" altLang="en-US" b="1">
                <a:effectLst>
                  <a:outerShdw blurRad="38100" dist="38100" dir="2700000" algn="tl">
                    <a:srgbClr val="C0C0C0"/>
                  </a:outerShdw>
                </a:effectLst>
              </a:rPr>
              <a:t>几个关键相关变量</a:t>
            </a:r>
          </a:p>
        </p:txBody>
      </p:sp>
      <p:sp>
        <p:nvSpPr>
          <p:cNvPr id="1027" name="Rectangle 3"/>
          <p:cNvSpPr>
            <a:spLocks noGrp="1" noChangeArrowheads="1"/>
          </p:cNvSpPr>
          <p:nvPr>
            <p:ph type="body" idx="1"/>
          </p:nvPr>
        </p:nvSpPr>
        <p:spPr/>
        <p:txBody>
          <a:bodyPr/>
          <a:lstStyle/>
          <a:p>
            <a:r>
              <a:rPr lang="zh-CN" altLang="en-US" sz="4000" b="1"/>
              <a:t>战略实施与组织结构</a:t>
            </a:r>
          </a:p>
          <a:p>
            <a:r>
              <a:rPr lang="zh-CN" altLang="en-US" sz="4000" b="1"/>
              <a:t>战略实施与公司文化</a:t>
            </a:r>
          </a:p>
          <a:p>
            <a:r>
              <a:rPr lang="zh-CN" altLang="en-US" sz="4000" b="1"/>
              <a:t>战略实施与领导</a:t>
            </a:r>
          </a:p>
          <a:p>
            <a:endParaRPr lang="en-US" altLang="zh-CN" sz="4000" b="1"/>
          </a:p>
        </p:txBody>
      </p:sp>
    </p:spTree>
  </p:cSld>
  <p:clrMapOvr>
    <a:masterClrMapping/>
  </p:clrMapOvr>
  <p:transition/>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p:txBody>
          <a:bodyPr anchor="t">
            <a:noAutofit/>
          </a:bodyPr>
          <a:lstStyle/>
          <a:p>
            <a:pPr algn="l"/>
            <a:r>
              <a:rPr lang="zh-CN" altLang="en-US" dirty="0">
                <a:ea typeface="华文楷体" pitchFamily="2" charset="-122"/>
              </a:rPr>
              <a:t>常见的组织设计</a:t>
            </a:r>
          </a:p>
        </p:txBody>
      </p:sp>
      <p:sp>
        <p:nvSpPr>
          <p:cNvPr id="53251" name="内容占位符 2"/>
          <p:cNvSpPr>
            <a:spLocks noGrp="1"/>
          </p:cNvSpPr>
          <p:nvPr>
            <p:ph idx="4294967295"/>
          </p:nvPr>
        </p:nvSpPr>
        <p:spPr>
          <a:xfrm>
            <a:off x="2795260" y="1799530"/>
            <a:ext cx="7796540" cy="3997828"/>
          </a:xfrm>
        </p:spPr>
        <p:txBody>
          <a:bodyPr/>
          <a:lstStyle/>
          <a:p>
            <a:r>
              <a:rPr lang="zh-CN" altLang="en-US" dirty="0"/>
              <a:t>传统的组织设计</a:t>
            </a:r>
            <a:endParaRPr lang="en-US" altLang="zh-CN" dirty="0"/>
          </a:p>
          <a:p>
            <a:pPr lvl="1"/>
            <a:r>
              <a:rPr lang="zh-CN" altLang="en-US" dirty="0"/>
              <a:t>简单结构</a:t>
            </a:r>
            <a:endParaRPr lang="en-US" altLang="zh-CN" dirty="0"/>
          </a:p>
          <a:p>
            <a:pPr lvl="1"/>
            <a:r>
              <a:rPr lang="zh-CN" altLang="en-US" dirty="0"/>
              <a:t>职能型结构</a:t>
            </a:r>
            <a:endParaRPr lang="en-US" altLang="zh-CN" dirty="0"/>
          </a:p>
          <a:p>
            <a:pPr lvl="1"/>
            <a:r>
              <a:rPr lang="zh-CN" altLang="en-US" dirty="0"/>
              <a:t>事业部型结构</a:t>
            </a:r>
            <a:endParaRPr lang="en-US" altLang="zh-CN" dirty="0"/>
          </a:p>
          <a:p>
            <a:r>
              <a:rPr lang="zh-CN" altLang="en-US" dirty="0"/>
              <a:t>现代的组织设计</a:t>
            </a:r>
            <a:endParaRPr lang="en-US" altLang="zh-CN" dirty="0"/>
          </a:p>
          <a:p>
            <a:pPr lvl="1"/>
            <a:r>
              <a:rPr lang="zh-CN" altLang="en-US" dirty="0"/>
              <a:t>团队结构</a:t>
            </a:r>
            <a:endParaRPr lang="en-US" altLang="zh-CN" dirty="0"/>
          </a:p>
          <a:p>
            <a:pPr lvl="1"/>
            <a:r>
              <a:rPr lang="zh-CN" altLang="en-US" dirty="0"/>
              <a:t>矩阵型和项目型结构</a:t>
            </a:r>
            <a:endParaRPr lang="en-US" altLang="zh-CN" dirty="0"/>
          </a:p>
          <a:p>
            <a:pPr lvl="1"/>
            <a:r>
              <a:rPr lang="zh-CN" altLang="en-US" dirty="0"/>
              <a:t>无边界组织（虚拟组织、网络组织）</a:t>
            </a:r>
          </a:p>
        </p:txBody>
      </p:sp>
      <p:sp>
        <p:nvSpPr>
          <p:cNvPr id="53252" name="页脚占位符 3"/>
          <p:cNvSpPr>
            <a:spLocks noGrp="1"/>
          </p:cNvSpPr>
          <p:nvPr>
            <p:ph type="ftr" sz="quarter" idx="11"/>
          </p:nvPr>
        </p:nvSpPr>
        <p:spPr bwMode="auto">
          <a:xfrm>
            <a:off x="2438400" y="6416676"/>
            <a:ext cx="5562600" cy="365125"/>
          </a:xfrm>
          <a:noFill/>
          <a:ln>
            <a:miter lim="800000"/>
            <a:headEnd/>
            <a:tailEnd/>
          </a:ln>
        </p:spPr>
        <p:txBody>
          <a:bodyPr wrap="square" numCol="1" anchor="b" anchorCtr="0" compatLnSpc="1">
            <a:prstTxWarp prst="textNoShape">
              <a:avLst/>
            </a:prstTxWarp>
          </a:bodyPr>
          <a:lstStyle/>
          <a:p>
            <a:pPr algn="r" eaLnBrk="1" hangingPunct="1"/>
            <a:r>
              <a:rPr lang="en-US" altLang="en-US" sz="1100">
                <a:solidFill>
                  <a:schemeClr val="tx2"/>
                </a:solidFill>
              </a:rPr>
              <a:t>10-</a:t>
            </a:r>
            <a:endParaRPr lang="en-US" altLang="en-US" sz="1100">
              <a:solidFill>
                <a:schemeClr val="tx1"/>
              </a:solidFill>
            </a:endParaRPr>
          </a:p>
        </p:txBody>
      </p:sp>
      <p:sp>
        <p:nvSpPr>
          <p:cNvPr id="53253" name="灯片编号占位符 4"/>
          <p:cNvSpPr>
            <a:spLocks noGrp="1"/>
          </p:cNvSpPr>
          <p:nvPr>
            <p:ph type="sldNum" sz="quarter" idx="12"/>
          </p:nvPr>
        </p:nvSpPr>
        <p:spPr bwMode="auto">
          <a:xfrm>
            <a:off x="10134600" y="6416676"/>
            <a:ext cx="457200" cy="365125"/>
          </a:xfrm>
          <a:noFill/>
          <a:ln>
            <a:miter lim="800000"/>
            <a:headEnd/>
            <a:tailEnd/>
          </a:ln>
        </p:spPr>
        <p:txBody>
          <a:bodyPr wrap="square" numCol="1" anchor="b" anchorCtr="0" compatLnSpc="1">
            <a:prstTxWarp prst="textNoShape">
              <a:avLst/>
            </a:prstTxWarp>
          </a:bodyPr>
          <a:lstStyle/>
          <a:p>
            <a:pPr algn="l" eaLnBrk="1" hangingPunct="1"/>
            <a:fld id="{8D782D0F-567A-4B6A-9F9C-13190F99B97F}" type="slidenum">
              <a:rPr lang="en-US" altLang="en-US">
                <a:solidFill>
                  <a:schemeClr val="tx2"/>
                </a:solidFill>
              </a:rPr>
              <a:pPr algn="l" eaLnBrk="1" hangingPunct="1"/>
              <a:t>238</a:t>
            </a:fld>
            <a:endParaRPr lang="en-US" altLang="en-US" sz="1400">
              <a:solidFill>
                <a:schemeClr val="tx1"/>
              </a:solidFill>
            </a:endParaRPr>
          </a:p>
        </p:txBody>
      </p:sp>
    </p:spTree>
  </p:cSld>
  <p:clrMapOvr>
    <a:masterClrMapping/>
  </p:clrMapOvr>
  <p:transition/>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46244" y="808056"/>
            <a:ext cx="8229600" cy="1143000"/>
          </a:xfrm>
        </p:spPr>
        <p:txBody>
          <a:bodyPr/>
          <a:lstStyle/>
          <a:p>
            <a:pPr marL="54610">
              <a:defRPr/>
            </a:pPr>
            <a:r>
              <a:rPr lang="zh-CN" altLang="en-US" dirty="0">
                <a:solidFill>
                  <a:schemeClr val="tx2">
                    <a:tint val="100000"/>
                    <a:shade val="90000"/>
                    <a:satMod val="250000"/>
                    <a:alpha val="100000"/>
                  </a:schemeClr>
                </a:solidFill>
                <a:cs typeface="+mj-cs"/>
              </a:rPr>
              <a:t>企业战略和企业文化的关系</a:t>
            </a:r>
          </a:p>
        </p:txBody>
      </p:sp>
      <p:sp>
        <p:nvSpPr>
          <p:cNvPr id="90114" name="内容占位符 2"/>
          <p:cNvSpPr>
            <a:spLocks noGrp="1"/>
          </p:cNvSpPr>
          <p:nvPr>
            <p:ph idx="1"/>
          </p:nvPr>
        </p:nvSpPr>
        <p:spPr/>
        <p:txBody>
          <a:bodyPr/>
          <a:lstStyle/>
          <a:p>
            <a:r>
              <a:rPr lang="zh-CN" altLang="en-US"/>
              <a:t>企业文化是企业战略成功制定的重要条件</a:t>
            </a:r>
            <a:endParaRPr lang="en-US" altLang="zh-CN"/>
          </a:p>
          <a:p>
            <a:r>
              <a:rPr lang="zh-CN" altLang="en-US"/>
              <a:t>企业文化是企业战略实施的重要手段</a:t>
            </a:r>
            <a:endParaRPr lang="en-US" altLang="zh-CN"/>
          </a:p>
          <a:p>
            <a:r>
              <a:rPr lang="zh-CN" altLang="en-US"/>
              <a:t>企业文化与企业战略必须相互适应与协调</a:t>
            </a:r>
            <a:endParaRPr lang="en-US" altLang="zh-CN"/>
          </a:p>
          <a:p>
            <a:pPr lvl="1"/>
            <a:endParaRPr lang="zh-CN" altLang="en-US"/>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FA29DC4B-B43B-F745-A223-0D8FC7ADCF98}"/>
              </a:ext>
            </a:extLst>
          </p:cNvPr>
          <p:cNvSpPr>
            <a:spLocks noGrp="1"/>
          </p:cNvSpPr>
          <p:nvPr>
            <p:ph type="title" idx="4294967295"/>
          </p:nvPr>
        </p:nvSpPr>
        <p:spPr>
          <a:xfrm>
            <a:off x="1981200" y="731836"/>
            <a:ext cx="8229600" cy="1143000"/>
          </a:xfrm>
        </p:spPr>
        <p:txBody>
          <a:bodyPr/>
          <a:lstStyle/>
          <a:p>
            <a:pPr algn="l" eaLnBrk="1" hangingPunct="1"/>
            <a:r>
              <a:rPr lang="zh-CN" altLang="en-US" dirty="0"/>
              <a:t>组织文化</a:t>
            </a:r>
          </a:p>
        </p:txBody>
      </p:sp>
      <p:sp>
        <p:nvSpPr>
          <p:cNvPr id="11267" name="内容占位符 2">
            <a:extLst>
              <a:ext uri="{FF2B5EF4-FFF2-40B4-BE49-F238E27FC236}">
                <a16:creationId xmlns:a16="http://schemas.microsoft.com/office/drawing/2014/main" id="{B06E0602-9767-9F42-9213-6CEF4D6C0B59}"/>
              </a:ext>
            </a:extLst>
          </p:cNvPr>
          <p:cNvSpPr>
            <a:spLocks noGrp="1"/>
          </p:cNvSpPr>
          <p:nvPr>
            <p:ph idx="4294967295"/>
          </p:nvPr>
        </p:nvSpPr>
        <p:spPr>
          <a:xfrm>
            <a:off x="1981199" y="1600201"/>
            <a:ext cx="8594035" cy="4525963"/>
          </a:xfrm>
        </p:spPr>
        <p:txBody>
          <a:bodyPr/>
          <a:lstStyle/>
          <a:p>
            <a:pPr eaLnBrk="1" hangingPunct="1"/>
            <a:r>
              <a:rPr lang="zh-CN" altLang="en-US" sz="2400" dirty="0"/>
              <a:t>组织文化：组织成员共同拥有的价值观、行为准则、传统和做事的方式</a:t>
            </a:r>
            <a:endParaRPr lang="en-US" altLang="zh-CN" sz="2400" dirty="0"/>
          </a:p>
          <a:p>
            <a:pPr lvl="1"/>
            <a:r>
              <a:rPr lang="en-US" altLang="zh-CN" sz="2000" dirty="0"/>
              <a:t>IBM</a:t>
            </a:r>
          </a:p>
          <a:p>
            <a:pPr lvl="1"/>
            <a:r>
              <a:rPr lang="zh-CN" altLang="en-US" sz="2000" dirty="0"/>
              <a:t>华为</a:t>
            </a:r>
            <a:endParaRPr lang="en-US" altLang="zh-CN" sz="2000" dirty="0"/>
          </a:p>
          <a:p>
            <a:pPr lvl="1"/>
            <a:r>
              <a:rPr lang="en-US" altLang="zh-CN" sz="2000" dirty="0"/>
              <a:t>google</a:t>
            </a:r>
          </a:p>
          <a:p>
            <a:pPr eaLnBrk="1" hangingPunct="1"/>
            <a:endParaRPr lang="en-US" altLang="zh-CN" dirty="0"/>
          </a:p>
          <a:p>
            <a:pPr eaLnBrk="1" hangingPunct="1"/>
            <a:endParaRPr lang="zh-CN" altLang="en-US"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B36ECDF9-A5CB-9449-8246-D43A446FBA9B}"/>
              </a:ext>
            </a:extLst>
          </p:cNvPr>
          <p:cNvSpPr>
            <a:spLocks noGrp="1"/>
          </p:cNvSpPr>
          <p:nvPr>
            <p:ph type="title" idx="4294967295"/>
          </p:nvPr>
        </p:nvSpPr>
        <p:spPr>
          <a:xfrm>
            <a:off x="1981200" y="457201"/>
            <a:ext cx="8229600" cy="1143000"/>
          </a:xfrm>
        </p:spPr>
        <p:txBody>
          <a:bodyPr/>
          <a:lstStyle/>
          <a:p>
            <a:pPr algn="l" eaLnBrk="1" hangingPunct="1"/>
            <a:r>
              <a:rPr lang="zh-CN" altLang="en-US" dirty="0"/>
              <a:t>创新的文化</a:t>
            </a:r>
          </a:p>
        </p:txBody>
      </p:sp>
      <p:sp>
        <p:nvSpPr>
          <p:cNvPr id="24579" name="内容占位符 2">
            <a:extLst>
              <a:ext uri="{FF2B5EF4-FFF2-40B4-BE49-F238E27FC236}">
                <a16:creationId xmlns:a16="http://schemas.microsoft.com/office/drawing/2014/main" id="{B4D80E54-8A14-FB40-BA53-B52587B1DF9A}"/>
              </a:ext>
            </a:extLst>
          </p:cNvPr>
          <p:cNvSpPr>
            <a:spLocks noGrp="1"/>
          </p:cNvSpPr>
          <p:nvPr>
            <p:ph idx="4294967295"/>
          </p:nvPr>
        </p:nvSpPr>
        <p:spPr>
          <a:xfrm>
            <a:off x="1981200" y="1600201"/>
            <a:ext cx="8229600" cy="4525963"/>
          </a:xfrm>
        </p:spPr>
        <p:txBody>
          <a:bodyPr>
            <a:normAutofit fontScale="92500" lnSpcReduction="10000"/>
          </a:bodyPr>
          <a:lstStyle/>
          <a:p>
            <a:pPr eaLnBrk="1" hangingPunct="1">
              <a:lnSpc>
                <a:spcPct val="90000"/>
              </a:lnSpc>
            </a:pPr>
            <a:r>
              <a:rPr lang="zh-CN" altLang="en-US" sz="3000" dirty="0"/>
              <a:t>瑞典学者戈兰</a:t>
            </a:r>
            <a:r>
              <a:rPr lang="en-US" altLang="zh-CN" sz="3000" dirty="0"/>
              <a:t>-</a:t>
            </a:r>
            <a:r>
              <a:rPr lang="zh-CN" altLang="en-US" sz="3000" dirty="0"/>
              <a:t>埃克瓦尔的观点，创新文化有如下特点：</a:t>
            </a:r>
            <a:endParaRPr lang="en-US" altLang="zh-CN" sz="2600" dirty="0"/>
          </a:p>
          <a:p>
            <a:pPr lvl="1" eaLnBrk="1" hangingPunct="1">
              <a:lnSpc>
                <a:spcPct val="90000"/>
              </a:lnSpc>
            </a:pPr>
            <a:r>
              <a:rPr lang="zh-CN" altLang="en-US" sz="2600" dirty="0"/>
              <a:t>挑战和参与</a:t>
            </a:r>
            <a:endParaRPr lang="en-US" altLang="zh-CN" sz="2000" dirty="0"/>
          </a:p>
          <a:p>
            <a:pPr lvl="1" eaLnBrk="1" hangingPunct="1">
              <a:lnSpc>
                <a:spcPct val="90000"/>
              </a:lnSpc>
            </a:pPr>
            <a:r>
              <a:rPr lang="zh-CN" altLang="en-US" sz="2600" dirty="0"/>
              <a:t>自由</a:t>
            </a:r>
            <a:endParaRPr lang="en-US" altLang="zh-CN" sz="2000" dirty="0"/>
          </a:p>
          <a:p>
            <a:pPr lvl="1" eaLnBrk="1" hangingPunct="1">
              <a:lnSpc>
                <a:spcPct val="90000"/>
              </a:lnSpc>
            </a:pPr>
            <a:r>
              <a:rPr lang="zh-CN" altLang="en-US" sz="2600" dirty="0"/>
              <a:t>信任</a:t>
            </a:r>
            <a:endParaRPr lang="en-US" altLang="zh-CN" sz="2000" dirty="0"/>
          </a:p>
          <a:p>
            <a:pPr lvl="1" eaLnBrk="1" hangingPunct="1">
              <a:lnSpc>
                <a:spcPct val="90000"/>
              </a:lnSpc>
            </a:pPr>
            <a:r>
              <a:rPr lang="zh-CN" altLang="en-US" sz="2600" dirty="0"/>
              <a:t>幽默</a:t>
            </a:r>
            <a:endParaRPr lang="en-US" altLang="zh-CN" sz="2000" dirty="0"/>
          </a:p>
          <a:p>
            <a:pPr lvl="1" eaLnBrk="1" hangingPunct="1">
              <a:lnSpc>
                <a:spcPct val="90000"/>
              </a:lnSpc>
            </a:pPr>
            <a:r>
              <a:rPr lang="zh-CN" altLang="en-US" sz="2600" dirty="0"/>
              <a:t>讨论</a:t>
            </a:r>
            <a:endParaRPr lang="en-US" altLang="zh-CN" sz="2000" dirty="0"/>
          </a:p>
          <a:p>
            <a:pPr lvl="1" eaLnBrk="1" hangingPunct="1">
              <a:lnSpc>
                <a:spcPct val="90000"/>
              </a:lnSpc>
            </a:pPr>
            <a:r>
              <a:rPr lang="zh-CN" altLang="en-US" sz="2600" dirty="0"/>
              <a:t>冒险</a:t>
            </a:r>
            <a:endParaRPr lang="en-US" altLang="zh-CN" sz="2000" dirty="0"/>
          </a:p>
          <a:p>
            <a:pPr lvl="1" eaLnBrk="1" hangingPunct="1">
              <a:lnSpc>
                <a:spcPct val="90000"/>
              </a:lnSpc>
            </a:pPr>
            <a:r>
              <a:rPr lang="zh-CN" altLang="en-US" sz="2600" dirty="0"/>
              <a:t>冲突解决</a:t>
            </a:r>
          </a:p>
          <a:p>
            <a:pPr eaLnBrk="1" hangingPunct="1">
              <a:lnSpc>
                <a:spcPct val="90000"/>
              </a:lnSpc>
            </a:pPr>
            <a:r>
              <a:rPr lang="zh-CN" altLang="en-US" sz="2900" dirty="0"/>
              <a:t>google</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B56F0343-253D-0C40-9013-ECE2BD8E9BDF}"/>
              </a:ext>
            </a:extLst>
          </p:cNvPr>
          <p:cNvSpPr>
            <a:spLocks noGrp="1" noChangeArrowheads="1"/>
          </p:cNvSpPr>
          <p:nvPr>
            <p:ph type="title" idx="4294967295"/>
          </p:nvPr>
        </p:nvSpPr>
        <p:spPr>
          <a:xfrm>
            <a:off x="2063751" y="380931"/>
            <a:ext cx="5829300" cy="1143000"/>
          </a:xfrm>
        </p:spPr>
        <p:txBody>
          <a:bodyPr/>
          <a:lstStyle/>
          <a:p>
            <a:pPr algn="l" eaLnBrk="1" hangingPunct="1">
              <a:defRPr/>
            </a:pPr>
            <a:r>
              <a:rPr lang="zh-CN" altLang="en-US" dirty="0">
                <a:effectLst>
                  <a:outerShdw blurRad="38100" dist="38100" dir="2700000" algn="tl">
                    <a:srgbClr val="C0C0C0"/>
                  </a:outerShdw>
                </a:effectLst>
              </a:rPr>
              <a:t>案例：</a:t>
            </a:r>
            <a:r>
              <a:rPr lang="en-US" altLang="zh-CN" dirty="0">
                <a:effectLst>
                  <a:outerShdw blurRad="38100" dist="38100" dir="2700000" algn="tl">
                    <a:srgbClr val="C0C0C0"/>
                  </a:outerShdw>
                </a:effectLst>
              </a:rPr>
              <a:t>Google</a:t>
            </a:r>
            <a:endParaRPr lang="zh-CN" altLang="en-US" dirty="0">
              <a:effectLst>
                <a:outerShdw blurRad="38100" dist="38100" dir="2700000" algn="tl">
                  <a:srgbClr val="C0C0C0"/>
                </a:outerShdw>
              </a:effectLst>
            </a:endParaRPr>
          </a:p>
        </p:txBody>
      </p:sp>
      <p:sp>
        <p:nvSpPr>
          <p:cNvPr id="48131" name="内容占位符 2">
            <a:extLst>
              <a:ext uri="{FF2B5EF4-FFF2-40B4-BE49-F238E27FC236}">
                <a16:creationId xmlns:a16="http://schemas.microsoft.com/office/drawing/2014/main" id="{884EC297-E327-C049-905F-1871EF4AB43F}"/>
              </a:ext>
            </a:extLst>
          </p:cNvPr>
          <p:cNvSpPr>
            <a:spLocks noGrp="1" noChangeArrowheads="1"/>
          </p:cNvSpPr>
          <p:nvPr>
            <p:ph idx="4294967295"/>
          </p:nvPr>
        </p:nvSpPr>
        <p:spPr>
          <a:xfrm>
            <a:off x="2063751" y="1125538"/>
            <a:ext cx="8424863" cy="4679950"/>
          </a:xfrm>
        </p:spPr>
        <p:txBody>
          <a:bodyPr>
            <a:normAutofit lnSpcReduction="10000"/>
          </a:bodyPr>
          <a:lstStyle/>
          <a:p>
            <a:pPr eaLnBrk="1" hangingPunct="1"/>
            <a:r>
              <a:rPr lang="zh-CN" altLang="en-US" dirty="0">
                <a:effectLst>
                  <a:outerShdw blurRad="38100" dist="38100" dir="2700000" algn="tl">
                    <a:srgbClr val="C0C0C0"/>
                  </a:outerShdw>
                </a:effectLst>
              </a:rPr>
              <a:t>创新的文化</a:t>
            </a:r>
            <a:endParaRPr lang="en-US" altLang="zh-CN" dirty="0">
              <a:effectLst>
                <a:outerShdw blurRad="38100" dist="38100" dir="2700000" algn="tl">
                  <a:srgbClr val="C0C0C0"/>
                </a:outerShdw>
              </a:effectLst>
            </a:endParaRPr>
          </a:p>
          <a:p>
            <a:pPr lvl="1" eaLnBrk="1" hangingPunct="1"/>
            <a:r>
              <a:rPr lang="en-US" altLang="zh-CN" sz="2000" dirty="0">
                <a:effectLst>
                  <a:outerShdw blurRad="38100" dist="38100" dir="2700000" algn="tl">
                    <a:srgbClr val="C0C0C0"/>
                  </a:outerShdw>
                </a:effectLst>
              </a:rPr>
              <a:t>Google</a:t>
            </a:r>
            <a:r>
              <a:rPr lang="zh-CN" altLang="en-US" sz="2000" dirty="0">
                <a:effectLst>
                  <a:outerShdw blurRad="38100" dist="38100" dir="2700000" algn="tl">
                    <a:srgbClr val="C0C0C0"/>
                  </a:outerShdw>
                </a:effectLst>
              </a:rPr>
              <a:t>的办公室</a:t>
            </a:r>
            <a:endParaRPr lang="en-US" altLang="zh-CN" sz="2000" dirty="0">
              <a:effectLst>
                <a:outerShdw blurRad="38100" dist="38100" dir="2700000" algn="tl">
                  <a:srgbClr val="C0C0C0"/>
                </a:outerShdw>
              </a:effectLst>
            </a:endParaRPr>
          </a:p>
          <a:p>
            <a:pPr lvl="1" eaLnBrk="1" hangingPunct="1"/>
            <a:r>
              <a:rPr lang="zh-CN" altLang="en-US" sz="2000" dirty="0">
                <a:effectLst>
                  <a:outerShdw blurRad="38100" dist="38100" dir="2700000" algn="tl">
                    <a:srgbClr val="C0C0C0"/>
                  </a:outerShdw>
                </a:effectLst>
              </a:rPr>
              <a:t>拥挤出成绩</a:t>
            </a:r>
            <a:endParaRPr lang="en-US" altLang="zh-CN" sz="2000" dirty="0">
              <a:effectLst>
                <a:outerShdw blurRad="38100" dist="38100" dir="2700000" algn="tl">
                  <a:srgbClr val="C0C0C0"/>
                </a:outerShdw>
              </a:effectLst>
            </a:endParaRPr>
          </a:p>
          <a:p>
            <a:pPr lvl="2" eaLnBrk="1" hangingPunct="1"/>
            <a:r>
              <a:rPr lang="zh-CN" altLang="en-US" dirty="0">
                <a:effectLst>
                  <a:outerShdw blurRad="38100" dist="38100" dir="2700000" algn="tl">
                    <a:srgbClr val="C0C0C0"/>
                  </a:outerShdw>
                </a:effectLst>
              </a:rPr>
              <a:t>激发活力鼓励交流，而不是制造阻隔强调地位</a:t>
            </a:r>
            <a:endParaRPr lang="en-US" altLang="zh-CN" dirty="0">
              <a:effectLst>
                <a:outerShdw blurRad="38100" dist="38100" dir="2700000" algn="tl">
                  <a:srgbClr val="C0C0C0"/>
                </a:outerShdw>
              </a:effectLst>
            </a:endParaRPr>
          </a:p>
          <a:p>
            <a:pPr lvl="1" eaLnBrk="1" hangingPunct="1"/>
            <a:r>
              <a:rPr lang="zh-CN" altLang="en-US" sz="2000" dirty="0">
                <a:effectLst>
                  <a:outerShdw blurRad="38100" dist="38100" dir="2700000" algn="tl">
                    <a:srgbClr val="C0C0C0"/>
                  </a:outerShdw>
                </a:effectLst>
              </a:rPr>
              <a:t>一起吃住一起工作，不同职能的团队在一起</a:t>
            </a:r>
            <a:endParaRPr lang="en-US" altLang="zh-CN" sz="2000" dirty="0">
              <a:effectLst>
                <a:outerShdw blurRad="38100" dist="38100" dir="2700000" algn="tl">
                  <a:srgbClr val="C0C0C0"/>
                </a:outerShdw>
              </a:effectLst>
            </a:endParaRPr>
          </a:p>
          <a:p>
            <a:pPr lvl="1" eaLnBrk="1" hangingPunct="1"/>
            <a:r>
              <a:rPr lang="zh-CN" altLang="en-US" sz="2000" dirty="0">
                <a:effectLst>
                  <a:outerShdw blurRad="38100" dist="38100" dir="2700000" algn="tl">
                    <a:srgbClr val="C0C0C0"/>
                  </a:outerShdw>
                </a:effectLst>
              </a:rPr>
              <a:t>杂乱是种美德：混乱往往是自我表达和创新的衍生品</a:t>
            </a:r>
            <a:endParaRPr lang="en-US" altLang="zh-CN" sz="2000" dirty="0">
              <a:effectLst>
                <a:outerShdw blurRad="38100" dist="38100" dir="2700000" algn="tl">
                  <a:srgbClr val="C0C0C0"/>
                </a:outerShdw>
              </a:effectLst>
            </a:endParaRPr>
          </a:p>
          <a:p>
            <a:pPr lvl="1" eaLnBrk="1" hangingPunct="1"/>
            <a:r>
              <a:rPr lang="zh-CN" altLang="en-US" sz="2000" dirty="0">
                <a:effectLst>
                  <a:outerShdw blurRad="38100" dist="38100" dir="2700000" algn="tl">
                    <a:srgbClr val="C0C0C0"/>
                  </a:outerShdw>
                </a:effectLst>
              </a:rPr>
              <a:t>别听“河马”的话</a:t>
            </a:r>
            <a:endParaRPr lang="en-US" altLang="zh-CN" sz="2000" dirty="0">
              <a:effectLst>
                <a:outerShdw blurRad="38100" dist="38100" dir="2700000" algn="tl">
                  <a:srgbClr val="C0C0C0"/>
                </a:outerShdw>
              </a:effectLst>
            </a:endParaRPr>
          </a:p>
          <a:p>
            <a:pPr lvl="2" eaLnBrk="1" hangingPunct="1"/>
            <a:r>
              <a:rPr lang="zh-CN" altLang="en-US" dirty="0">
                <a:effectLst>
                  <a:outerShdw blurRad="38100" dist="38100" dir="2700000" algn="tl">
                    <a:srgbClr val="C0C0C0"/>
                  </a:outerShdw>
                </a:effectLst>
              </a:rPr>
              <a:t>强调“质疑”，每个员工都觉得受重视且有自主权，不看身份地位只看工作成绩</a:t>
            </a:r>
            <a:endParaRPr lang="en-US" altLang="zh-CN" dirty="0">
              <a:effectLst>
                <a:outerShdw blurRad="38100" dist="38100" dir="2700000" algn="tl">
                  <a:srgbClr val="C0C0C0"/>
                </a:outerShdw>
              </a:effectLst>
            </a:endParaRPr>
          </a:p>
          <a:p>
            <a:pPr lvl="1" eaLnBrk="1" hangingPunct="1"/>
            <a:r>
              <a:rPr lang="zh-CN" altLang="en-US" dirty="0">
                <a:effectLst>
                  <a:outerShdw blurRad="38100" dist="38100" dir="2700000" algn="tl">
                    <a:srgbClr val="C0C0C0"/>
                  </a:outerShdw>
                </a:effectLst>
              </a:rPr>
              <a:t>扁平化，赋予员工更多自由</a:t>
            </a:r>
            <a:endParaRPr lang="en-US" altLang="zh-CN" dirty="0">
              <a:effectLst>
                <a:outerShdw blurRad="38100" dist="38100" dir="2700000" algn="tl">
                  <a:srgbClr val="C0C0C0"/>
                </a:outerShdw>
              </a:effectLst>
            </a:endParaRPr>
          </a:p>
          <a:p>
            <a:pPr lvl="1" eaLnBrk="1" hangingPunct="1"/>
            <a:endParaRPr lang="zh-CN" altLang="en-US" dirty="0">
              <a:effectLst>
                <a:outerShdw blurRad="38100" dist="38100" dir="2700000" algn="tl">
                  <a:srgbClr val="C0C0C0"/>
                </a:outerShdw>
              </a:effectLst>
            </a:endParaRPr>
          </a:p>
        </p:txBody>
      </p:sp>
    </p:spTree>
  </p:cSld>
  <p:clrMapOvr>
    <a:masterClrMapping/>
  </p:clrMapOvr>
  <p:transition/>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内容占位符 2">
            <a:extLst>
              <a:ext uri="{FF2B5EF4-FFF2-40B4-BE49-F238E27FC236}">
                <a16:creationId xmlns:a16="http://schemas.microsoft.com/office/drawing/2014/main" id="{CC4FEE4D-8064-7844-A685-26356957763A}"/>
              </a:ext>
            </a:extLst>
          </p:cNvPr>
          <p:cNvSpPr>
            <a:spLocks noGrp="1" noChangeArrowheads="1"/>
          </p:cNvSpPr>
          <p:nvPr>
            <p:ph idx="4294967295"/>
          </p:nvPr>
        </p:nvSpPr>
        <p:spPr>
          <a:xfrm>
            <a:off x="1775619" y="1371600"/>
            <a:ext cx="8640762" cy="4114800"/>
          </a:xfrm>
        </p:spPr>
        <p:txBody>
          <a:bodyPr>
            <a:normAutofit fontScale="62500" lnSpcReduction="20000"/>
          </a:bodyPr>
          <a:lstStyle/>
          <a:p>
            <a:pPr lvl="1" eaLnBrk="1" hangingPunct="1">
              <a:spcBef>
                <a:spcPts val="0"/>
              </a:spcBef>
              <a:spcAft>
                <a:spcPts val="0"/>
              </a:spcAft>
            </a:pPr>
            <a:r>
              <a:rPr lang="zh-CN" altLang="en-US" sz="2800" dirty="0">
                <a:effectLst>
                  <a:outerShdw blurRad="38100" dist="38100" dir="2700000" algn="tl">
                    <a:srgbClr val="C0C0C0"/>
                  </a:outerShdw>
                </a:effectLst>
              </a:rPr>
              <a:t>切莫自扫门前雪</a:t>
            </a:r>
            <a:endParaRPr lang="en-US" altLang="zh-CN" sz="2800" dirty="0">
              <a:effectLst>
                <a:outerShdw blurRad="38100" dist="38100" dir="2700000" algn="tl">
                  <a:srgbClr val="C0C0C0"/>
                </a:outerShdw>
              </a:effectLst>
            </a:endParaRPr>
          </a:p>
          <a:p>
            <a:pPr lvl="1" eaLnBrk="1" hangingPunct="1">
              <a:spcBef>
                <a:spcPts val="0"/>
              </a:spcBef>
              <a:spcAft>
                <a:spcPts val="0"/>
              </a:spcAft>
            </a:pPr>
            <a:r>
              <a:rPr lang="zh-CN" altLang="en-US" sz="2800" dirty="0">
                <a:effectLst>
                  <a:outerShdw blurRad="38100" dist="38100" dir="2700000" algn="tl">
                    <a:srgbClr val="C0C0C0"/>
                  </a:outerShdw>
                </a:effectLst>
              </a:rPr>
              <a:t>“两个披萨”原则</a:t>
            </a:r>
            <a:endParaRPr lang="en-US" altLang="zh-CN" sz="2800" dirty="0">
              <a:effectLst>
                <a:outerShdw blurRad="38100" dist="38100" dir="2700000" algn="tl">
                  <a:srgbClr val="C0C0C0"/>
                </a:outerShdw>
              </a:effectLst>
            </a:endParaRPr>
          </a:p>
          <a:p>
            <a:pPr lvl="1" eaLnBrk="1" hangingPunct="1">
              <a:spcBef>
                <a:spcPts val="0"/>
              </a:spcBef>
              <a:spcAft>
                <a:spcPts val="0"/>
              </a:spcAft>
            </a:pPr>
            <a:r>
              <a:rPr lang="zh-CN" altLang="en-US" sz="2800" dirty="0">
                <a:effectLst>
                  <a:outerShdw blurRad="38100" dist="38100" dir="2700000" algn="tl">
                    <a:srgbClr val="C0C0C0"/>
                  </a:outerShdw>
                </a:effectLst>
              </a:rPr>
              <a:t>组织以最有影响力的人物为中心</a:t>
            </a:r>
            <a:endParaRPr lang="en-US" altLang="zh-CN" sz="2800" dirty="0">
              <a:effectLst>
                <a:outerShdw blurRad="38100" dist="38100" dir="2700000" algn="tl">
                  <a:srgbClr val="C0C0C0"/>
                </a:outerShdw>
              </a:effectLst>
            </a:endParaRPr>
          </a:p>
          <a:p>
            <a:pPr lvl="2" eaLnBrk="1" hangingPunct="1">
              <a:spcBef>
                <a:spcPts val="0"/>
              </a:spcBef>
              <a:spcAft>
                <a:spcPts val="0"/>
              </a:spcAft>
            </a:pPr>
            <a:r>
              <a:rPr lang="zh-CN" altLang="en-US" sz="2500" dirty="0">
                <a:effectLst>
                  <a:outerShdw blurRad="38100" dist="38100" dir="2700000" algn="tl">
                    <a:srgbClr val="C0C0C0"/>
                  </a:outerShdw>
                </a:effectLst>
              </a:rPr>
              <a:t>热情主动，有大局观，以客户为中心</a:t>
            </a:r>
            <a:endParaRPr lang="en-US" altLang="zh-CN" sz="2500" dirty="0">
              <a:effectLst>
                <a:outerShdw blurRad="38100" dist="38100" dir="2700000" algn="tl">
                  <a:srgbClr val="C0C0C0"/>
                </a:outerShdw>
              </a:effectLst>
            </a:endParaRPr>
          </a:p>
          <a:p>
            <a:pPr lvl="2" eaLnBrk="1" hangingPunct="1">
              <a:spcBef>
                <a:spcPts val="0"/>
              </a:spcBef>
              <a:spcAft>
                <a:spcPts val="0"/>
              </a:spcAft>
            </a:pPr>
            <a:r>
              <a:rPr lang="zh-CN" altLang="en-US" sz="2500" dirty="0">
                <a:effectLst>
                  <a:outerShdw blurRad="38100" dist="38100" dir="2700000" algn="tl">
                    <a:srgbClr val="C0C0C0"/>
                  </a:outerShdw>
                </a:effectLst>
              </a:rPr>
              <a:t>“你的头衔可以让你成为管理者，但让你成为领导者的是你的员工”</a:t>
            </a:r>
            <a:endParaRPr lang="en-US" altLang="zh-CN" sz="2500" dirty="0">
              <a:effectLst>
                <a:outerShdw blurRad="38100" dist="38100" dir="2700000" algn="tl">
                  <a:srgbClr val="C0C0C0"/>
                </a:outerShdw>
              </a:effectLst>
            </a:endParaRPr>
          </a:p>
          <a:p>
            <a:pPr lvl="2" eaLnBrk="1" hangingPunct="1">
              <a:spcBef>
                <a:spcPts val="0"/>
              </a:spcBef>
              <a:spcAft>
                <a:spcPts val="0"/>
              </a:spcAft>
            </a:pPr>
            <a:r>
              <a:rPr lang="zh-CN" altLang="en-US" sz="2500" dirty="0">
                <a:effectLst>
                  <a:outerShdw blurRad="38100" dist="38100" dir="2700000" algn="tl">
                    <a:srgbClr val="C0C0C0"/>
                  </a:outerShdw>
                </a:effectLst>
              </a:rPr>
              <a:t>“那些无论你是否批准都按照自己想法做事的人，才值得你投资“</a:t>
            </a:r>
            <a:endParaRPr lang="en-US" altLang="zh-CN" sz="2500" dirty="0">
              <a:effectLst>
                <a:outerShdw blurRad="38100" dist="38100" dir="2700000" algn="tl">
                  <a:srgbClr val="C0C0C0"/>
                </a:outerShdw>
              </a:effectLst>
            </a:endParaRPr>
          </a:p>
          <a:p>
            <a:pPr lvl="1" eaLnBrk="1" hangingPunct="1">
              <a:spcBef>
                <a:spcPts val="0"/>
              </a:spcBef>
              <a:spcAft>
                <a:spcPts val="0"/>
              </a:spcAft>
            </a:pPr>
            <a:r>
              <a:rPr lang="zh-CN" altLang="en-US" sz="2800" dirty="0">
                <a:effectLst>
                  <a:outerShdw blurRad="38100" dist="38100" dir="2700000" algn="tl">
                    <a:srgbClr val="C0C0C0"/>
                  </a:outerShdw>
                </a:effectLst>
              </a:rPr>
              <a:t>驱逐恶棍，保护明星</a:t>
            </a:r>
            <a:endParaRPr lang="en-US" altLang="zh-CN" sz="2800" dirty="0">
              <a:effectLst>
                <a:outerShdw blurRad="38100" dist="38100" dir="2700000" algn="tl">
                  <a:srgbClr val="C0C0C0"/>
                </a:outerShdw>
              </a:effectLst>
            </a:endParaRPr>
          </a:p>
          <a:p>
            <a:pPr lvl="2" eaLnBrk="1" hangingPunct="1">
              <a:spcBef>
                <a:spcPts val="0"/>
              </a:spcBef>
              <a:spcAft>
                <a:spcPts val="0"/>
              </a:spcAft>
            </a:pPr>
            <a:r>
              <a:rPr lang="zh-CN" altLang="en-US" sz="2500" dirty="0">
                <a:effectLst>
                  <a:outerShdw blurRad="38100" dist="38100" dir="2700000" algn="tl">
                    <a:srgbClr val="C0C0C0"/>
                  </a:outerShdw>
                </a:effectLst>
              </a:rPr>
              <a:t>恶棍</a:t>
            </a:r>
            <a:r>
              <a:rPr lang="en-US" altLang="zh-CN" sz="2500" dirty="0">
                <a:effectLst>
                  <a:outerShdw blurRad="38100" dist="38100" dir="2700000" algn="tl">
                    <a:srgbClr val="C0C0C0"/>
                  </a:outerShdw>
                </a:effectLst>
              </a:rPr>
              <a:t>-</a:t>
            </a:r>
            <a:r>
              <a:rPr lang="zh-CN" altLang="en-US" sz="2500" dirty="0">
                <a:effectLst>
                  <a:outerShdw blurRad="38100" dist="38100" dir="2700000" algn="tl">
                    <a:srgbClr val="C0C0C0"/>
                  </a:outerShdw>
                </a:effectLst>
              </a:rPr>
              <a:t>品行不端自私自利的人</a:t>
            </a:r>
            <a:endParaRPr lang="en-US" altLang="zh-CN" sz="2500" dirty="0">
              <a:effectLst>
                <a:outerShdw blurRad="38100" dist="38100" dir="2700000" algn="tl">
                  <a:srgbClr val="C0C0C0"/>
                </a:outerShdw>
              </a:effectLst>
            </a:endParaRPr>
          </a:p>
          <a:p>
            <a:pPr lvl="1" eaLnBrk="1" hangingPunct="1">
              <a:spcBef>
                <a:spcPts val="0"/>
              </a:spcBef>
              <a:spcAft>
                <a:spcPts val="0"/>
              </a:spcAft>
            </a:pPr>
            <a:r>
              <a:rPr lang="zh-CN" altLang="en-US" sz="2800" dirty="0">
                <a:effectLst>
                  <a:outerShdw blurRad="38100" dist="38100" dir="2700000" algn="tl">
                    <a:srgbClr val="C0C0C0"/>
                  </a:outerShdw>
                </a:effectLst>
              </a:rPr>
              <a:t>快乐工作，幽默感</a:t>
            </a:r>
            <a:endParaRPr lang="en-US" altLang="zh-CN" sz="2800" dirty="0">
              <a:effectLst>
                <a:outerShdw blurRad="38100" dist="38100" dir="2700000" algn="tl">
                  <a:srgbClr val="C0C0C0"/>
                </a:outerShdw>
              </a:effectLst>
            </a:endParaRPr>
          </a:p>
          <a:p>
            <a:pPr lvl="2" eaLnBrk="1" hangingPunct="1">
              <a:spcBef>
                <a:spcPts val="0"/>
              </a:spcBef>
              <a:spcAft>
                <a:spcPts val="0"/>
              </a:spcAft>
            </a:pPr>
            <a:r>
              <a:rPr lang="zh-CN" altLang="en-US" sz="2500" dirty="0">
                <a:effectLst>
                  <a:outerShdw blurRad="38100" dist="38100" dir="2700000" algn="tl">
                    <a:srgbClr val="C0C0C0"/>
                  </a:outerShdw>
                </a:effectLst>
              </a:rPr>
              <a:t>对未来成功的憧憬会令人振奋，但更多的乐趣却来自同事间的欢声笑语幽默调侃</a:t>
            </a:r>
            <a:endParaRPr lang="en-US" altLang="zh-CN" sz="2500" dirty="0">
              <a:effectLst>
                <a:outerShdw blurRad="38100" dist="38100" dir="2700000" algn="tl">
                  <a:srgbClr val="C0C0C0"/>
                </a:outerShdw>
              </a:effectLst>
            </a:endParaRPr>
          </a:p>
          <a:p>
            <a:pPr lvl="1" eaLnBrk="1" hangingPunct="1">
              <a:spcBef>
                <a:spcPts val="0"/>
              </a:spcBef>
              <a:spcAft>
                <a:spcPts val="0"/>
              </a:spcAft>
            </a:pPr>
            <a:r>
              <a:rPr lang="zh-CN" altLang="en-US" sz="2800" dirty="0">
                <a:effectLst>
                  <a:outerShdw blurRad="38100" dist="38100" dir="2700000" algn="tl">
                    <a:srgbClr val="C0C0C0"/>
                  </a:outerShdw>
                </a:effectLst>
              </a:rPr>
              <a:t>营造说“好”的企业文化</a:t>
            </a:r>
            <a:endParaRPr lang="en-US" altLang="zh-CN" sz="2800" dirty="0">
              <a:effectLst>
                <a:outerShdw blurRad="38100" dist="38100" dir="2700000" algn="tl">
                  <a:srgbClr val="C0C0C0"/>
                </a:outerShdw>
              </a:effectLst>
            </a:endParaRPr>
          </a:p>
          <a:p>
            <a:pPr lvl="1" eaLnBrk="1" hangingPunct="1">
              <a:spcBef>
                <a:spcPts val="0"/>
              </a:spcBef>
              <a:spcAft>
                <a:spcPts val="0"/>
              </a:spcAft>
            </a:pPr>
            <a:r>
              <a:rPr lang="en-US" altLang="zh-CN" sz="2800" dirty="0" err="1">
                <a:effectLst>
                  <a:outerShdw blurRad="38100" dist="38100" dir="2700000" algn="tl">
                    <a:srgbClr val="C0C0C0"/>
                  </a:outerShdw>
                </a:effectLst>
              </a:rPr>
              <a:t>Memegen</a:t>
            </a:r>
            <a:r>
              <a:rPr lang="zh-CN" altLang="en-US" sz="2800" dirty="0">
                <a:effectLst>
                  <a:outerShdw blurRad="38100" dist="38100" dir="2700000" algn="tl">
                    <a:srgbClr val="C0C0C0"/>
                  </a:outerShdw>
                </a:effectLst>
              </a:rPr>
              <a:t>吐糟网站</a:t>
            </a:r>
            <a:endParaRPr lang="en-US" altLang="zh-CN" sz="2800" dirty="0">
              <a:effectLst>
                <a:outerShdw blurRad="38100" dist="38100" dir="2700000" algn="tl">
                  <a:srgbClr val="C0C0C0"/>
                </a:outerShdw>
              </a:effectLst>
            </a:endParaRPr>
          </a:p>
          <a:p>
            <a:pPr lvl="1" eaLnBrk="1" hangingPunct="1">
              <a:spcBef>
                <a:spcPts val="0"/>
              </a:spcBef>
              <a:spcAft>
                <a:spcPts val="0"/>
              </a:spcAft>
            </a:pPr>
            <a:r>
              <a:rPr lang="zh-CN" altLang="en-US" sz="2800" dirty="0">
                <a:effectLst>
                  <a:outerShdw blurRad="38100" dist="38100" dir="2700000" algn="tl">
                    <a:srgbClr val="C0C0C0"/>
                  </a:outerShdw>
                </a:effectLst>
              </a:rPr>
              <a:t>跟我来</a:t>
            </a:r>
            <a:endParaRPr lang="en-US" altLang="zh-CN" sz="2800" dirty="0">
              <a:effectLst>
                <a:outerShdw blurRad="38100" dist="38100" dir="2700000" algn="tl">
                  <a:srgbClr val="C0C0C0"/>
                </a:outerShdw>
              </a:effectLst>
            </a:endParaRPr>
          </a:p>
          <a:p>
            <a:pPr lvl="1" eaLnBrk="1" hangingPunct="1">
              <a:spcBef>
                <a:spcPts val="0"/>
              </a:spcBef>
              <a:spcAft>
                <a:spcPts val="0"/>
              </a:spcAft>
            </a:pPr>
            <a:r>
              <a:rPr lang="zh-CN" altLang="en-US" sz="2800" dirty="0">
                <a:effectLst>
                  <a:outerShdw blurRad="38100" dist="38100" dir="2700000" algn="tl">
                    <a:srgbClr val="C0C0C0"/>
                  </a:outerShdw>
                </a:effectLst>
              </a:rPr>
              <a:t>别光着身体就行</a:t>
            </a:r>
            <a:endParaRPr lang="en-US" altLang="zh-CN" sz="2800" dirty="0">
              <a:effectLst>
                <a:outerShdw blurRad="38100" dist="38100" dir="2700000" algn="tl">
                  <a:srgbClr val="C0C0C0"/>
                </a:outerShdw>
              </a:effectLst>
            </a:endParaRPr>
          </a:p>
          <a:p>
            <a:pPr eaLnBrk="1" hangingPunct="1"/>
            <a:endParaRPr lang="zh-CN" altLang="en-US" dirty="0">
              <a:effectLst>
                <a:outerShdw blurRad="38100" dist="38100" dir="2700000" algn="tl">
                  <a:srgbClr val="C0C0C0"/>
                </a:outerShdw>
              </a:effectLst>
            </a:endParaRPr>
          </a:p>
        </p:txBody>
      </p:sp>
    </p:spTree>
  </p:cSld>
  <p:clrMapOvr>
    <a:masterClrMapping/>
  </p:clrMapOvr>
  <p:transition/>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590800" y="641350"/>
            <a:ext cx="7772400" cy="1143000"/>
          </a:xfrm>
        </p:spPr>
        <p:txBody>
          <a:bodyPr/>
          <a:lstStyle/>
          <a:p>
            <a:r>
              <a:rPr lang="zh-CN" altLang="en-US" b="1" dirty="0">
                <a:latin typeface="KaiTi" panose="02010609060101010101" pitchFamily="49" charset="-122"/>
                <a:ea typeface="KaiTi" panose="02010609060101010101" pitchFamily="49" charset="-122"/>
              </a:rPr>
              <a:t>企业战略与企业文化</a:t>
            </a:r>
          </a:p>
        </p:txBody>
      </p:sp>
      <p:sp>
        <p:nvSpPr>
          <p:cNvPr id="3075" name="Rectangle 3"/>
          <p:cNvSpPr>
            <a:spLocks noGrp="1" noChangeArrowheads="1"/>
          </p:cNvSpPr>
          <p:nvPr>
            <p:ph type="body" idx="1"/>
          </p:nvPr>
        </p:nvSpPr>
        <p:spPr>
          <a:xfrm>
            <a:off x="1676400" y="1524000"/>
            <a:ext cx="8839200" cy="4692650"/>
          </a:xfrm>
        </p:spPr>
        <p:txBody>
          <a:bodyPr>
            <a:normAutofit lnSpcReduction="10000"/>
          </a:bodyPr>
          <a:lstStyle/>
          <a:p>
            <a:pPr>
              <a:lnSpc>
                <a:spcPct val="90000"/>
              </a:lnSpc>
            </a:pPr>
            <a:r>
              <a:rPr lang="zh-CN" altLang="en-US" b="1" dirty="0">
                <a:latin typeface="KaiTi" panose="02010609060101010101" pitchFamily="49" charset="-122"/>
                <a:ea typeface="KaiTi" panose="02010609060101010101" pitchFamily="49" charset="-122"/>
              </a:rPr>
              <a:t>在战略管理中，企业战略与企业文化的关系主要表现在以下三个方面：</a:t>
            </a:r>
          </a:p>
          <a:p>
            <a:pPr lvl="1">
              <a:lnSpc>
                <a:spcPct val="90000"/>
              </a:lnSpc>
            </a:pPr>
            <a:r>
              <a:rPr lang="zh-CN" altLang="en-US" b="1" dirty="0">
                <a:latin typeface="KaiTi" panose="02010609060101010101" pitchFamily="49" charset="-122"/>
                <a:ea typeface="KaiTi" panose="02010609060101010101" pitchFamily="49" charset="-122"/>
              </a:rPr>
              <a:t>优秀的企业文化是企业战略制订获得成功的重要条件。优秀的文化能够突出企业的特色，形成企业成员共同的价值观念，而且企业文化具有鲜明的个性，有利于企业制定处与众不同的、克敌制胜的战略。</a:t>
            </a:r>
          </a:p>
          <a:p>
            <a:pPr lvl="1">
              <a:lnSpc>
                <a:spcPct val="90000"/>
              </a:lnSpc>
            </a:pPr>
            <a:r>
              <a:rPr lang="zh-CN" altLang="en-US" b="1" dirty="0">
                <a:latin typeface="KaiTi" panose="02010609060101010101" pitchFamily="49" charset="-122"/>
                <a:ea typeface="KaiTi" panose="02010609060101010101" pitchFamily="49" charset="-122"/>
              </a:rPr>
              <a:t>企业文化使战略实施的重要手段。企业战略制订以后，需要全体成员积极有效的贯彻实施，正是企业文化的导向、约束、凝聚、激励等作用，激发了员工的热情，统一了员工的意志及欲望，激励员工为实现企业的目标而努力奋斗。</a:t>
            </a:r>
            <a:endParaRPr lang="en-US" altLang="zh-CN" b="1" dirty="0">
              <a:latin typeface="KaiTi" panose="02010609060101010101" pitchFamily="49" charset="-122"/>
              <a:ea typeface="KaiTi" panose="02010609060101010101" pitchFamily="49" charset="-122"/>
            </a:endParaRPr>
          </a:p>
          <a:p>
            <a:pPr lvl="1">
              <a:lnSpc>
                <a:spcPct val="90000"/>
              </a:lnSpc>
            </a:pPr>
            <a:r>
              <a:rPr lang="zh-CN" altLang="en-US" b="1" dirty="0">
                <a:latin typeface="KaiTi" panose="02010609060101010101" pitchFamily="49" charset="-122"/>
                <a:ea typeface="KaiTi" panose="02010609060101010101" pitchFamily="49" charset="-122"/>
              </a:rPr>
              <a:t>企业文化与企业战略必须相互适应和相互协调。严格的讲，当战略制订之后，企业文化应该随着新战略的制订而有所变化。但是，一个企业的文化一旦形成以后，要对企业文化进行变革难度很大，也就是说企业文化具有较大的刚性，而且它还具有一定的持续性，会在企业发展过程中又逐渐强化的趋势。因此从战略实施的角度来看，企业文化要为实施企业战略服务，又会制约企业战略的实施。当企业制定了新的战略要求企业文化与之相配合时，企业的原有文化变革速度非常慢，很难马上对新战略做出反应，使企业原有的文化就有可能成为实施新战略的阻力，因此在战略管理的过程中，企业内部新旧文化的更替和协调是战略实施获得成功的保证。</a:t>
            </a:r>
          </a:p>
        </p:txBody>
      </p:sp>
    </p:spTree>
  </p:cSld>
  <p:clrMapOvr>
    <a:masterClrMapping/>
  </p:clrMapOvr>
  <p:transition/>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32991" y="696081"/>
            <a:ext cx="8229600" cy="1143000"/>
          </a:xfrm>
        </p:spPr>
        <p:txBody>
          <a:bodyPr>
            <a:normAutofit/>
          </a:bodyPr>
          <a:lstStyle/>
          <a:p>
            <a:pPr marL="54610">
              <a:defRPr/>
            </a:pPr>
            <a:r>
              <a:rPr lang="zh-CN" altLang="en-US" dirty="0">
                <a:solidFill>
                  <a:schemeClr val="tx2">
                    <a:tint val="100000"/>
                    <a:shade val="90000"/>
                    <a:satMod val="250000"/>
                    <a:alpha val="100000"/>
                  </a:schemeClr>
                </a:solidFill>
                <a:cs typeface="+mj-cs"/>
              </a:rPr>
              <a:t>企业战略与企业文化相适应的关系形式</a:t>
            </a:r>
          </a:p>
        </p:txBody>
      </p:sp>
      <p:graphicFrame>
        <p:nvGraphicFramePr>
          <p:cNvPr id="4" name="内容占位符 3"/>
          <p:cNvGraphicFramePr>
            <a:graphicFrameLocks noGrp="1"/>
          </p:cNvGraphicFramePr>
          <p:nvPr>
            <p:ph idx="1"/>
          </p:nvPr>
        </p:nvGraphicFramePr>
        <p:xfrm>
          <a:off x="3575050" y="2019300"/>
          <a:ext cx="5760640" cy="257485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gridCol w="2880320">
                  <a:extLst>
                    <a:ext uri="{9D8B030D-6E8A-4147-A177-3AD203B41FA5}">
                      <a16:colId xmlns:a16="http://schemas.microsoft.com/office/drawing/2014/main" val="20001"/>
                    </a:ext>
                  </a:extLst>
                </a:gridCol>
              </a:tblGrid>
              <a:tr h="1287425">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新战略的战略要素发生很大变化，但这些变化与企业原有的文化相一致</a:t>
                      </a:r>
                    </a:p>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新战略的战略要素发生很大变化，且这些变化与企业原有的文化不一致</a:t>
                      </a:r>
                    </a:p>
                    <a:p>
                      <a:endParaRPr lang="zh-CN" altLang="en-US" dirty="0"/>
                    </a:p>
                  </a:txBody>
                  <a:tcPr/>
                </a:tc>
                <a:extLst>
                  <a:ext uri="{0D108BD9-81ED-4DB2-BD59-A6C34878D82A}">
                    <a16:rowId xmlns:a16="http://schemas.microsoft.com/office/drawing/2014/main" val="10000"/>
                  </a:ext>
                </a:extLst>
              </a:tr>
              <a:tr h="1287425">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新战略要素变化不大，且这些变化与企业原有的文化相一致</a:t>
                      </a:r>
                    </a:p>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新战略要素变化不大，但这些变化与企业原有的文化不一致</a:t>
                      </a:r>
                    </a:p>
                    <a:p>
                      <a:endParaRPr lang="zh-CN" altLang="en-US" dirty="0"/>
                    </a:p>
                  </a:txBody>
                  <a:tcPr/>
                </a:tc>
                <a:extLst>
                  <a:ext uri="{0D108BD9-81ED-4DB2-BD59-A6C34878D82A}">
                    <a16:rowId xmlns:a16="http://schemas.microsoft.com/office/drawing/2014/main" val="10001"/>
                  </a:ext>
                </a:extLst>
              </a:tr>
            </a:tbl>
          </a:graphicData>
        </a:graphic>
      </p:graphicFrame>
      <p:sp>
        <p:nvSpPr>
          <p:cNvPr id="91149" name="TextBox 4"/>
          <p:cNvSpPr txBox="1">
            <a:spLocks noChangeArrowheads="1"/>
          </p:cNvSpPr>
          <p:nvPr/>
        </p:nvSpPr>
        <p:spPr bwMode="auto">
          <a:xfrm>
            <a:off x="1807240" y="2106396"/>
            <a:ext cx="1631216" cy="2400657"/>
          </a:xfrm>
          <a:prstGeom prst="rect">
            <a:avLst/>
          </a:prstGeom>
          <a:noFill/>
          <a:ln w="9525">
            <a:noFill/>
            <a:miter lim="800000"/>
          </a:ln>
        </p:spPr>
        <p:txBody>
          <a:bodyPr vert="eaVert" wrap="none">
            <a:spAutoFit/>
          </a:bodyPr>
          <a:lstStyle/>
          <a:p>
            <a:r>
              <a:rPr lang="zh-CN" altLang="en-US" sz="2000" dirty="0">
                <a:latin typeface="Rockwell" panose="02060603020205020403"/>
                <a:ea typeface="方正姚体" panose="02010601030101010101" charset="-122"/>
              </a:rPr>
              <a:t>大              小</a:t>
            </a:r>
            <a:endParaRPr lang="en-US" altLang="zh-CN" sz="2000" dirty="0">
              <a:latin typeface="Rockwell" panose="02060603020205020403"/>
              <a:ea typeface="方正姚体" panose="02010601030101010101" charset="-122"/>
            </a:endParaRPr>
          </a:p>
          <a:p>
            <a:r>
              <a:rPr lang="zh-CN" altLang="en-US" sz="2000" dirty="0">
                <a:latin typeface="KaiTi" panose="02010609060101010101" pitchFamily="49" charset="-122"/>
                <a:ea typeface="KaiTi" panose="02010609060101010101" pitchFamily="49" charset="-122"/>
              </a:rPr>
              <a:t>企业战略要素的变化</a:t>
            </a:r>
            <a:endParaRPr lang="en-US" altLang="zh-CN" sz="2000" dirty="0">
              <a:latin typeface="KaiTi" panose="02010609060101010101" pitchFamily="49" charset="-122"/>
              <a:ea typeface="KaiTi" panose="02010609060101010101" pitchFamily="49" charset="-122"/>
            </a:endParaRPr>
          </a:p>
          <a:p>
            <a:endParaRPr lang="en-US" altLang="zh-CN" dirty="0">
              <a:latin typeface="Rockwell" panose="02060603020205020403"/>
              <a:ea typeface="方正姚体" panose="02010601030101010101" charset="-122"/>
            </a:endParaRPr>
          </a:p>
          <a:p>
            <a:endParaRPr lang="en-US" altLang="zh-CN" dirty="0">
              <a:latin typeface="Rockwell" panose="02060603020205020403"/>
              <a:ea typeface="方正姚体" panose="02010601030101010101" charset="-122"/>
            </a:endParaRPr>
          </a:p>
          <a:p>
            <a:endParaRPr lang="zh-CN" altLang="en-US" dirty="0">
              <a:latin typeface="Rockwell" panose="02060603020205020403"/>
              <a:ea typeface="方正姚体" panose="02010601030101010101" charset="-122"/>
            </a:endParaRPr>
          </a:p>
        </p:txBody>
      </p:sp>
      <p:sp>
        <p:nvSpPr>
          <p:cNvPr id="91150" name="TextBox 5"/>
          <p:cNvSpPr txBox="1">
            <a:spLocks noChangeArrowheads="1"/>
          </p:cNvSpPr>
          <p:nvPr/>
        </p:nvSpPr>
        <p:spPr bwMode="auto">
          <a:xfrm>
            <a:off x="4367214" y="4954588"/>
            <a:ext cx="2781531" cy="923330"/>
          </a:xfrm>
          <a:prstGeom prst="rect">
            <a:avLst/>
          </a:prstGeom>
          <a:noFill/>
          <a:ln w="9525">
            <a:noFill/>
            <a:miter lim="800000"/>
          </a:ln>
        </p:spPr>
        <p:txBody>
          <a:bodyPr wrap="none">
            <a:spAutoFit/>
          </a:bodyPr>
          <a:lstStyle/>
          <a:p>
            <a:r>
              <a:rPr lang="zh-CN" altLang="en-US" dirty="0">
                <a:latin typeface="Rockwell" panose="02060603020205020403"/>
                <a:ea typeface="方正姚体" panose="02010601030101010101" charset="-122"/>
              </a:rPr>
              <a:t>小                                     大</a:t>
            </a:r>
            <a:endParaRPr lang="en-US" altLang="zh-CN" dirty="0">
              <a:latin typeface="Rockwell" panose="02060603020205020403"/>
              <a:ea typeface="方正姚体" panose="02010601030101010101" charset="-122"/>
            </a:endParaRPr>
          </a:p>
          <a:p>
            <a:endParaRPr lang="en-US" altLang="zh-CN" dirty="0">
              <a:latin typeface="KaiTi" panose="02010609060101010101" pitchFamily="49" charset="-122"/>
              <a:ea typeface="KaiTi" panose="02010609060101010101" pitchFamily="49" charset="-122"/>
            </a:endParaRPr>
          </a:p>
          <a:p>
            <a:r>
              <a:rPr lang="zh-CN" altLang="en-US" dirty="0">
                <a:latin typeface="KaiTi" panose="02010609060101010101" pitchFamily="49" charset="-122"/>
                <a:ea typeface="KaiTi" panose="02010609060101010101" pitchFamily="49" charset="-122"/>
              </a:rPr>
              <a:t>企业文化的变化</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zh-CN" sz="3000" b="1" dirty="0">
                <a:solidFill>
                  <a:srgbClr val="A11203"/>
                </a:solidFill>
                <a:latin typeface="KaiTi" panose="02010609060101010101" pitchFamily="49" charset="-122"/>
                <a:ea typeface="KaiTi" panose="02010609060101010101" pitchFamily="49" charset="-122"/>
              </a:rPr>
              <a:t> </a:t>
            </a:r>
            <a:r>
              <a:rPr lang="en-US" altLang="zh-CN" b="1" dirty="0">
                <a:latin typeface="KaiTi" panose="02010609060101010101" pitchFamily="49" charset="-122"/>
                <a:ea typeface="KaiTi" panose="02010609060101010101" pitchFamily="49" charset="-122"/>
              </a:rPr>
              <a:t> </a:t>
            </a:r>
            <a:r>
              <a:rPr lang="zh-CN" altLang="en-US" b="1" dirty="0">
                <a:latin typeface="KaiTi" panose="02010609060101010101" pitchFamily="49" charset="-122"/>
                <a:ea typeface="KaiTi" panose="02010609060101010101" pitchFamily="49" charset="-122"/>
              </a:rPr>
              <a:t>企业战略与企业文化</a:t>
            </a:r>
          </a:p>
        </p:txBody>
      </p:sp>
      <p:sp>
        <p:nvSpPr>
          <p:cNvPr id="6147" name="Rectangle 3"/>
          <p:cNvSpPr>
            <a:spLocks noGrp="1" noChangeArrowheads="1"/>
          </p:cNvSpPr>
          <p:nvPr>
            <p:ph type="body" idx="1"/>
          </p:nvPr>
        </p:nvSpPr>
        <p:spPr>
          <a:xfrm>
            <a:off x="2773599" y="1430086"/>
            <a:ext cx="7796540" cy="3997828"/>
          </a:xfrm>
        </p:spPr>
        <p:txBody>
          <a:bodyPr/>
          <a:lstStyle/>
          <a:p>
            <a:r>
              <a:rPr lang="zh-CN" altLang="en-US" b="1" dirty="0">
                <a:latin typeface="KaiTi" panose="02010609060101010101" pitchFamily="49" charset="-122"/>
                <a:ea typeface="KaiTi" panose="02010609060101010101" pitchFamily="49" charset="-122"/>
              </a:rPr>
              <a:t>图中左下象限是指企业实施一个新战略，企业组织要素变化不大，而且这种变化与企业原有文化一致。在这种情况下，高层管理者主要考虑两个问题：</a:t>
            </a:r>
          </a:p>
          <a:p>
            <a:pPr lvl="1"/>
            <a:r>
              <a:rPr lang="zh-CN" altLang="en-US" b="1" dirty="0">
                <a:latin typeface="KaiTi" panose="02010609060101010101" pitchFamily="49" charset="-122"/>
                <a:ea typeface="KaiTi" panose="02010609060101010101" pitchFamily="49" charset="-122"/>
              </a:rPr>
              <a:t>利用目前的有利条件，巩固和加强企业自己的企业文化；</a:t>
            </a:r>
          </a:p>
          <a:p>
            <a:pPr lvl="1"/>
            <a:r>
              <a:rPr lang="zh-CN" altLang="en-US" b="1" dirty="0">
                <a:latin typeface="KaiTi" panose="02010609060101010101" pitchFamily="49" charset="-122"/>
                <a:ea typeface="KaiTi" panose="02010609060101010101" pitchFamily="49" charset="-122"/>
              </a:rPr>
              <a:t>利用企业文化相对稳定及持续性的特点，充分发挥企业文化对企业战略的实施的促进作用。</a:t>
            </a:r>
          </a:p>
        </p:txBody>
      </p:sp>
    </p:spTree>
  </p:cSld>
  <p:clrMapOvr>
    <a:masterClrMapping/>
  </p:clrMapOvr>
  <p:transition/>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492538" y="383986"/>
            <a:ext cx="7958331" cy="1077229"/>
          </a:xfrm>
        </p:spPr>
        <p:txBody>
          <a:bodyPr/>
          <a:lstStyle/>
          <a:p>
            <a:r>
              <a:rPr lang="en-US" altLang="zh-CN" sz="3000" b="1" dirty="0">
                <a:solidFill>
                  <a:srgbClr val="A11203"/>
                </a:solidFill>
                <a:latin typeface="KaiTi" panose="02010609060101010101" pitchFamily="49" charset="-122"/>
                <a:ea typeface="KaiTi" panose="02010609060101010101" pitchFamily="49" charset="-122"/>
              </a:rPr>
              <a:t> </a:t>
            </a:r>
            <a:r>
              <a:rPr lang="zh-CN" altLang="en-US" b="1" dirty="0">
                <a:latin typeface="KaiTi" panose="02010609060101010101" pitchFamily="49" charset="-122"/>
                <a:ea typeface="KaiTi" panose="02010609060101010101" pitchFamily="49" charset="-122"/>
              </a:rPr>
              <a:t>企业战略与企业文化</a:t>
            </a:r>
          </a:p>
        </p:txBody>
      </p:sp>
      <p:sp>
        <p:nvSpPr>
          <p:cNvPr id="7171" name="Rectangle 3"/>
          <p:cNvSpPr>
            <a:spLocks noGrp="1" noChangeArrowheads="1"/>
          </p:cNvSpPr>
          <p:nvPr>
            <p:ph type="body" idx="1"/>
          </p:nvPr>
        </p:nvSpPr>
        <p:spPr>
          <a:xfrm>
            <a:off x="2305878" y="1298713"/>
            <a:ext cx="8627165" cy="5559287"/>
          </a:xfrm>
        </p:spPr>
        <p:txBody>
          <a:bodyPr>
            <a:normAutofit fontScale="85000" lnSpcReduction="20000"/>
          </a:bodyPr>
          <a:lstStyle/>
          <a:p>
            <a:r>
              <a:rPr lang="zh-CN" altLang="en-US" b="1" dirty="0">
                <a:latin typeface="KaiTi" panose="02010609060101010101" pitchFamily="49" charset="-122"/>
                <a:ea typeface="KaiTi" panose="02010609060101010101" pitchFamily="49" charset="-122"/>
              </a:rPr>
              <a:t>图中左上象限是指企业实施一个新战略，企业的组织要素会发生很大的变化，但这些变化与企业的原有文化有潜在的一致性。这种情况大多是以往企业的效益就比较好，他们根据自己的实力，寻找可以利用的机会，以求得更大的发展，或者他们总是试图扩大自己的主要产品和市场，以求得发展。总之，这种企业处于一种非常有前途的地位，他们可以在企业原有文化的大力支持下，实施新的战略。</a:t>
            </a:r>
            <a:endParaRPr lang="en-US" altLang="zh-CN" b="1" dirty="0">
              <a:latin typeface="KaiTi" panose="02010609060101010101" pitchFamily="49" charset="-122"/>
              <a:ea typeface="KaiTi" panose="02010609060101010101" pitchFamily="49" charset="-122"/>
            </a:endParaRPr>
          </a:p>
          <a:p>
            <a:r>
              <a:rPr lang="zh-CN" altLang="en-US" sz="2000" b="1" dirty="0">
                <a:latin typeface="KaiTi" panose="02010609060101010101" pitchFamily="49" charset="-122"/>
                <a:ea typeface="KaiTi" panose="02010609060101010101" pitchFamily="49" charset="-122"/>
              </a:rPr>
              <a:t>在上述情况下，企业处理战略与企业文化关系的重点是：</a:t>
            </a:r>
          </a:p>
          <a:p>
            <a:r>
              <a:rPr lang="zh-CN" altLang="en-US" sz="2000" b="1" dirty="0">
                <a:latin typeface="KaiTi" panose="02010609060101010101" pitchFamily="49" charset="-122"/>
                <a:ea typeface="KaiTi" panose="02010609060101010101" pitchFamily="49" charset="-122"/>
              </a:rPr>
              <a:t>企业进行重大的变革时，必须考虑与企业的基本性质与地位的关系问题，即企业的基本性质与地位是确定企业文化的基础。高层管理人员在处理战略与企业文化关系的过程中，一定要注意到企业的任务可以发生变化，但这里战略的变化并没有从根本上改变企业的基本性质和地位，因而仍然与企业原有文化保持着和谐一致。</a:t>
            </a:r>
          </a:p>
          <a:p>
            <a:r>
              <a:rPr lang="zh-CN" altLang="en-US" sz="2000" b="1" dirty="0">
                <a:latin typeface="KaiTi" panose="02010609060101010101" pitchFamily="49" charset="-122"/>
                <a:ea typeface="KaiTi" panose="02010609060101010101" pitchFamily="49" charset="-122"/>
              </a:rPr>
              <a:t>要发挥企业现有人员的作用，由于这些人员保持着企业原有的价值观念和行为准则，这样可以保证企业在原有文化一致的条件下实施变革。</a:t>
            </a:r>
            <a:endParaRPr lang="en-US" altLang="zh-CN" sz="2000" b="1" dirty="0">
              <a:latin typeface="KaiTi" panose="02010609060101010101" pitchFamily="49" charset="-122"/>
              <a:ea typeface="KaiTi" panose="02010609060101010101" pitchFamily="49" charset="-122"/>
            </a:endParaRPr>
          </a:p>
          <a:p>
            <a:pPr>
              <a:lnSpc>
                <a:spcPct val="90000"/>
              </a:lnSpc>
            </a:pPr>
            <a:r>
              <a:rPr lang="zh-CN" altLang="en-US" sz="2000" b="1" dirty="0">
                <a:latin typeface="KaiTi" panose="02010609060101010101" pitchFamily="49" charset="-122"/>
                <a:ea typeface="KaiTi" panose="02010609060101010101" pitchFamily="49" charset="-122"/>
              </a:rPr>
              <a:t>在必须调整企业奖惩制度的时候，要注意与目前企业的奖励措施相连接。</a:t>
            </a:r>
          </a:p>
          <a:p>
            <a:pPr>
              <a:lnSpc>
                <a:spcPct val="90000"/>
              </a:lnSpc>
            </a:pPr>
            <a:r>
              <a:rPr lang="zh-CN" altLang="en-US" sz="2000" b="1" dirty="0">
                <a:latin typeface="KaiTi" panose="02010609060101010101" pitchFamily="49" charset="-122"/>
                <a:ea typeface="KaiTi" panose="02010609060101010101" pitchFamily="49" charset="-122"/>
              </a:rPr>
              <a:t>企业高层管理者要着重考虑与企业原有文化相适应的变革，不要破坏企业已经形成的行为准则。</a:t>
            </a:r>
          </a:p>
          <a:p>
            <a:pPr lvl="1"/>
            <a:endParaRPr lang="zh-CN" altLang="en-US" b="1" dirty="0">
              <a:latin typeface="KaiTi" panose="02010609060101010101" pitchFamily="49" charset="-122"/>
              <a:ea typeface="KaiTi" panose="02010609060101010101" pitchFamily="49" charset="-122"/>
            </a:endParaRPr>
          </a:p>
        </p:txBody>
      </p:sp>
    </p:spTree>
  </p:cSld>
  <p:clrMapOvr>
    <a:masterClrMapping/>
  </p:clrMapOvr>
  <p:transition/>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47971" y="1192370"/>
            <a:ext cx="7958331" cy="1077229"/>
          </a:xfrm>
        </p:spPr>
        <p:txBody>
          <a:bodyPr/>
          <a:lstStyle/>
          <a:p>
            <a:r>
              <a:rPr lang="zh-CN" altLang="en-US" b="1">
                <a:latin typeface="KaiTi" panose="02010609060101010101" pitchFamily="49" charset="-122"/>
                <a:ea typeface="KaiTi" panose="02010609060101010101" pitchFamily="49" charset="-122"/>
              </a:rPr>
              <a:t>企业战略与企业文化</a:t>
            </a:r>
          </a:p>
        </p:txBody>
      </p:sp>
      <p:sp>
        <p:nvSpPr>
          <p:cNvPr id="9219" name="Rectangle 3"/>
          <p:cNvSpPr>
            <a:spLocks noGrp="1" noChangeArrowheads="1"/>
          </p:cNvSpPr>
          <p:nvPr>
            <p:ph type="body" idx="1"/>
          </p:nvPr>
        </p:nvSpPr>
        <p:spPr>
          <a:xfrm>
            <a:off x="2247971" y="1730984"/>
            <a:ext cx="7796540" cy="3997828"/>
          </a:xfrm>
        </p:spPr>
        <p:txBody>
          <a:bodyPr/>
          <a:lstStyle/>
          <a:p>
            <a:pPr>
              <a:lnSpc>
                <a:spcPct val="90000"/>
              </a:lnSpc>
            </a:pPr>
            <a:r>
              <a:rPr lang="zh-CN" altLang="en-US" b="1" dirty="0">
                <a:latin typeface="KaiTi" panose="02010609060101010101" pitchFamily="49" charset="-122"/>
                <a:ea typeface="KaiTi" panose="02010609060101010101" pitchFamily="49" charset="-122"/>
              </a:rPr>
              <a:t>图中右下象限是指企业实施一个新的战略，企业的组 织要素变化不太大，但这些要素的变化却与企业原有的文化不太协调。在这种情况下，企业的高层管理者往往在生产经营中，在不影响企业总体文化一致的前提下，对某种经营业务实施不同的文化管理，但同时要注意加强全局性协调。因此，企业要对于企业文化密切相关的因素进行变革时，根据文化的不同要求进行分别管理是一个重要手段</a:t>
            </a:r>
            <a:r>
              <a:rPr lang="zh-CN" altLang="en-US" sz="2000" b="1" dirty="0">
                <a:latin typeface="KaiTi" panose="02010609060101010101" pitchFamily="49" charset="-122"/>
                <a:ea typeface="KaiTi" panose="02010609060101010101" pitchFamily="49" charset="-122"/>
              </a:rPr>
              <a:t>。</a:t>
            </a:r>
          </a:p>
        </p:txBody>
      </p:sp>
    </p:spTree>
  </p:cSld>
  <p:clrMapOvr>
    <a:masterClrMapping/>
  </p:clrMapOvr>
  <p:transition/>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498035" y="641350"/>
            <a:ext cx="7772400" cy="1143000"/>
          </a:xfrm>
        </p:spPr>
        <p:txBody>
          <a:bodyPr/>
          <a:lstStyle/>
          <a:p>
            <a:r>
              <a:rPr lang="zh-CN" altLang="en-US" b="1" dirty="0">
                <a:latin typeface="KaiTi" panose="02010609060101010101" pitchFamily="49" charset="-122"/>
                <a:ea typeface="KaiTi" panose="02010609060101010101" pitchFamily="49" charset="-122"/>
              </a:rPr>
              <a:t>企业战略与企业文化</a:t>
            </a:r>
          </a:p>
        </p:txBody>
      </p:sp>
      <p:sp>
        <p:nvSpPr>
          <p:cNvPr id="10243" name="Rectangle 3"/>
          <p:cNvSpPr>
            <a:spLocks noGrp="1" noChangeArrowheads="1"/>
          </p:cNvSpPr>
          <p:nvPr>
            <p:ph type="body" idx="1"/>
          </p:nvPr>
        </p:nvSpPr>
        <p:spPr>
          <a:xfrm>
            <a:off x="2207568" y="1600200"/>
            <a:ext cx="8155632" cy="4616450"/>
          </a:xfrm>
        </p:spPr>
        <p:txBody>
          <a:bodyPr>
            <a:normAutofit/>
          </a:bodyPr>
          <a:lstStyle/>
          <a:p>
            <a:pPr>
              <a:lnSpc>
                <a:spcPct val="90000"/>
              </a:lnSpc>
            </a:pPr>
            <a:r>
              <a:rPr lang="zh-CN" altLang="en-US" b="1" dirty="0">
                <a:latin typeface="KaiTi" panose="02010609060101010101" pitchFamily="49" charset="-122"/>
                <a:ea typeface="KaiTi" panose="02010609060101010101" pitchFamily="49" charset="-122"/>
              </a:rPr>
              <a:t>图中右上象限是指企业实施一个新的战略，企业的组织要素发生了很大的变化，而这些变化与企业原有的文化很不一致。在这种情况下，企业就必须考虑采取以下四方面的措施：</a:t>
            </a:r>
          </a:p>
          <a:p>
            <a:pPr lvl="1">
              <a:lnSpc>
                <a:spcPct val="90000"/>
              </a:lnSpc>
            </a:pPr>
            <a:r>
              <a:rPr lang="zh-CN" altLang="en-US" b="1" dirty="0">
                <a:latin typeface="KaiTi" panose="02010609060101010101" pitchFamily="49" charset="-122"/>
                <a:ea typeface="KaiTi" panose="02010609060101010101" pitchFamily="49" charset="-122"/>
              </a:rPr>
              <a:t>企业的高层管理层要下定决心进行变革，并向全体员工讲明变革企业文化的意义。</a:t>
            </a:r>
          </a:p>
          <a:p>
            <a:pPr lvl="1">
              <a:lnSpc>
                <a:spcPct val="90000"/>
              </a:lnSpc>
            </a:pPr>
            <a:r>
              <a:rPr lang="zh-CN" altLang="en-US" b="1" dirty="0">
                <a:latin typeface="KaiTi" panose="02010609060101010101" pitchFamily="49" charset="-122"/>
                <a:ea typeface="KaiTi" panose="02010609060101010101" pitchFamily="49" charset="-122"/>
              </a:rPr>
              <a:t>为形成新的企业文化，企业要招聘一批具有新的企业文化意识的人员，或在企业内部提拔一批与新企业文化相符的人员。</a:t>
            </a:r>
          </a:p>
          <a:p>
            <a:pPr lvl="1">
              <a:lnSpc>
                <a:spcPct val="90000"/>
              </a:lnSpc>
            </a:pPr>
            <a:r>
              <a:rPr lang="zh-CN" altLang="en-US" b="1" dirty="0">
                <a:latin typeface="KaiTi" panose="02010609060101010101" pitchFamily="49" charset="-122"/>
                <a:ea typeface="KaiTi" panose="02010609060101010101" pitchFamily="49" charset="-122"/>
              </a:rPr>
              <a:t>企业要奖励具有新企业文化意识的分部或个人，以促进企业文化的转变。</a:t>
            </a:r>
          </a:p>
          <a:p>
            <a:pPr lvl="1">
              <a:lnSpc>
                <a:spcPct val="90000"/>
              </a:lnSpc>
            </a:pPr>
            <a:r>
              <a:rPr lang="zh-CN" altLang="en-US" b="1" dirty="0">
                <a:latin typeface="KaiTi" panose="02010609060101010101" pitchFamily="49" charset="-122"/>
                <a:ea typeface="KaiTi" panose="02010609060101010101" pitchFamily="49" charset="-122"/>
              </a:rPr>
              <a:t>要让全体职工明确新企业文化所需要的行为，要求企业职工按照变革的要求工作。</a:t>
            </a:r>
          </a:p>
        </p:txBody>
      </p:sp>
    </p:spTree>
  </p:cSld>
  <p:clrMapOvr>
    <a:masterClrMapping/>
  </p:clrMapOvr>
  <p:transition/>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438400" y="808383"/>
            <a:ext cx="7772400" cy="1143000"/>
          </a:xfrm>
        </p:spPr>
        <p:txBody>
          <a:bodyPr/>
          <a:lstStyle/>
          <a:p>
            <a:r>
              <a:rPr lang="en-US" altLang="zh-CN" sz="3000" b="1" dirty="0">
                <a:solidFill>
                  <a:srgbClr val="A11203"/>
                </a:solidFill>
                <a:ea typeface="楷体_GB2312" pitchFamily="49" charset="-122"/>
              </a:rPr>
              <a:t> </a:t>
            </a:r>
            <a:r>
              <a:rPr lang="zh-CN" altLang="en-US" b="1" dirty="0">
                <a:ea typeface="楷体_GB2312" pitchFamily="49" charset="-122"/>
              </a:rPr>
              <a:t>企业战略与企业文化</a:t>
            </a:r>
          </a:p>
        </p:txBody>
      </p:sp>
      <p:sp>
        <p:nvSpPr>
          <p:cNvPr id="11267" name="Rectangle 3"/>
          <p:cNvSpPr>
            <a:spLocks noGrp="1" noChangeArrowheads="1"/>
          </p:cNvSpPr>
          <p:nvPr>
            <p:ph type="body" idx="1"/>
          </p:nvPr>
        </p:nvSpPr>
        <p:spPr>
          <a:xfrm>
            <a:off x="2590800" y="1844824"/>
            <a:ext cx="7772400" cy="4371826"/>
          </a:xfrm>
        </p:spPr>
        <p:txBody>
          <a:bodyPr/>
          <a:lstStyle/>
          <a:p>
            <a:pPr>
              <a:lnSpc>
                <a:spcPct val="90000"/>
              </a:lnSpc>
            </a:pPr>
            <a:r>
              <a:rPr lang="zh-CN" altLang="en-US" sz="2000" b="1" dirty="0">
                <a:latin typeface="KaiTi" panose="02010609060101010101" pitchFamily="49" charset="-122"/>
                <a:ea typeface="KaiTi" panose="02010609060101010101" pitchFamily="49" charset="-122"/>
              </a:rPr>
              <a:t>企业高层管理这应该认识到改变企业文化的难度是相当大的。原有企业文化持续时间越久，则企业文化变革就越困难；企业规模越大、越复杂，则企业文化的变革就越困难；原有企业文化越深入人心，则企业文化变革就越困难。但不管改变企业文化的难度如何，如果实施的战略与原有的文化不相匹配，就要必须考虑对策，企业高层管理这应该认识到，急剧的、全面的改变企业文化在多数情况下难以办到，但逐步的调整也不是不可能的，当然，这是一个费时费力的过程。因此有人主张，改变企业文化的最方便的办法是更换人员，甚至是更换企业高层管理者，即当企业确有必要实行新的战略，而渐进式的改变企业文化的措施又不能立即取得预期的效果，这是企业只能作重大的人事变动，更换领导人员，聘用新的工作人员，并对他们灌输新的价值观念。对企业职工要加强教育和培训，抓住每一个机会不断使职工理解实施新战略的必要性及重大意义，最终使新战略与职工的价值观念达成一致，从而实现企业文化的变革。</a:t>
            </a:r>
          </a:p>
        </p:txBody>
      </p:sp>
    </p:spTree>
  </p:cSld>
  <p:clrMapOvr>
    <a:masterClrMapping/>
  </p:clrMapOvr>
  <p:transition/>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麦迪逊">
  <a:themeElements>
    <a:clrScheme name="麦迪逊">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麦迪逊">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麦迪逊">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themeOverride>
</file>

<file path=ppt/theme/themeOverride2.xml><?xml version="1.0" encoding="utf-8"?>
<a:themeOverride xmlns:a="http://schemas.openxmlformats.org/drawingml/2006/main">
  <a:clrScheme name="麦迪逊">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themeOverride>
</file>

<file path=ppt/theme/themeOverride3.xml><?xml version="1.0" encoding="utf-8"?>
<a:themeOverride xmlns:a="http://schemas.openxmlformats.org/drawingml/2006/main">
  <a:clrScheme name="麦迪逊">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themeOverride>
</file>

<file path=ppt/theme/themeOverride4.xml><?xml version="1.0" encoding="utf-8"?>
<a:themeOverride xmlns:a="http://schemas.openxmlformats.org/drawingml/2006/main">
  <a:clrScheme name="麦迪逊">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themeOverride>
</file>

<file path=ppt/theme/themeOverride5.xml><?xml version="1.0" encoding="utf-8"?>
<a:themeOverride xmlns:a="http://schemas.openxmlformats.org/drawingml/2006/main">
  <a:clrScheme name="麦迪逊">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themeOverride>
</file>

<file path=ppt/theme/themeOverride6.xml><?xml version="1.0" encoding="utf-8"?>
<a:themeOverride xmlns:a="http://schemas.openxmlformats.org/drawingml/2006/main">
  <a:clrScheme name="麦迪逊">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themeOverride>
</file>

<file path=ppt/theme/themeOverride7.xml><?xml version="1.0" encoding="utf-8"?>
<a:themeOverride xmlns:a="http://schemas.openxmlformats.org/drawingml/2006/main">
  <a:clrScheme name="麦迪逊">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themeOverride>
</file>

<file path=ppt/theme/themeOverride8.xml><?xml version="1.0" encoding="utf-8"?>
<a:themeOverride xmlns:a="http://schemas.openxmlformats.org/drawingml/2006/main">
  <a:clrScheme name="麦迪逊">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themeOverride>
</file>

<file path=docProps/app.xml><?xml version="1.0" encoding="utf-8"?>
<Properties xmlns="http://schemas.openxmlformats.org/officeDocument/2006/extended-properties" xmlns:vt="http://schemas.openxmlformats.org/officeDocument/2006/docPropsVTypes">
  <TotalTime>10622</TotalTime>
  <Words>20971</Words>
  <Application>Microsoft Office PowerPoint</Application>
  <PresentationFormat>宽屏</PresentationFormat>
  <Paragraphs>2335</Paragraphs>
  <Slides>250</Slides>
  <Notes>31</Notes>
  <HiddenSlides>2</HiddenSlides>
  <MMClips>0</MMClips>
  <ScaleCrop>false</ScaleCrop>
  <HeadingPairs>
    <vt:vector size="8" baseType="variant">
      <vt:variant>
        <vt:lpstr>已用的字体</vt:lpstr>
      </vt:variant>
      <vt:variant>
        <vt:i4>27</vt:i4>
      </vt:variant>
      <vt:variant>
        <vt:lpstr>主题</vt:lpstr>
      </vt:variant>
      <vt:variant>
        <vt:i4>2</vt:i4>
      </vt:variant>
      <vt:variant>
        <vt:lpstr>嵌入 OLE 服务器</vt:lpstr>
      </vt:variant>
      <vt:variant>
        <vt:i4>2</vt:i4>
      </vt:variant>
      <vt:variant>
        <vt:lpstr>幻灯片标题</vt:lpstr>
      </vt:variant>
      <vt:variant>
        <vt:i4>250</vt:i4>
      </vt:variant>
    </vt:vector>
  </HeadingPairs>
  <TitlesOfParts>
    <vt:vector size="281" baseType="lpstr">
      <vt:lpstr>-apple-system</vt:lpstr>
      <vt:lpstr>Gulim</vt:lpstr>
      <vt:lpstr>KaiTi</vt:lpstr>
      <vt:lpstr>等线</vt:lpstr>
      <vt:lpstr>等线 Light</vt:lpstr>
      <vt:lpstr>方正姚体</vt:lpstr>
      <vt:lpstr>黑体</vt:lpstr>
      <vt:lpstr>华文仿宋</vt:lpstr>
      <vt:lpstr>华文楷体</vt:lpstr>
      <vt:lpstr>华文细黑</vt:lpstr>
      <vt:lpstr>楷体</vt:lpstr>
      <vt:lpstr>楷体_GB2312</vt:lpstr>
      <vt:lpstr>隶书</vt:lpstr>
      <vt:lpstr>宋体</vt:lpstr>
      <vt:lpstr>Microsoft YaHei</vt:lpstr>
      <vt:lpstr>幼圆</vt:lpstr>
      <vt:lpstr>Arial</vt:lpstr>
      <vt:lpstr>Calibri</vt:lpstr>
      <vt:lpstr>Corbel</vt:lpstr>
      <vt:lpstr>Garamond</vt:lpstr>
      <vt:lpstr>MS Shell Dlg 2</vt:lpstr>
      <vt:lpstr>Rockwell</vt:lpstr>
      <vt:lpstr>Symbol</vt:lpstr>
      <vt:lpstr>Times New Roman</vt:lpstr>
      <vt:lpstr>Wingdings</vt:lpstr>
      <vt:lpstr>Wingdings 2</vt:lpstr>
      <vt:lpstr>Wingdings 3</vt:lpstr>
      <vt:lpstr>Office 主题​​</vt:lpstr>
      <vt:lpstr>麦迪逊</vt:lpstr>
      <vt:lpstr>文档</vt:lpstr>
      <vt:lpstr>绘图</vt:lpstr>
      <vt:lpstr>战略管理</vt:lpstr>
      <vt:lpstr>战略管理概述-why</vt:lpstr>
      <vt:lpstr>战略管理概述-环境变化</vt:lpstr>
      <vt:lpstr>Netflix</vt:lpstr>
      <vt:lpstr>战略管理概述-what</vt:lpstr>
      <vt:lpstr>PowerPoint 演示文稿</vt:lpstr>
      <vt:lpstr>PowerPoint 演示文稿</vt:lpstr>
      <vt:lpstr>PowerPoint 演示文稿</vt:lpstr>
      <vt:lpstr>PowerPoint 演示文稿</vt:lpstr>
      <vt:lpstr>明茨伯格（H.Mintzberg）的战略5Ps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战略是计划（plan）</vt:lpstr>
      <vt:lpstr>观念（perspective） 是指战略观念。它关注的是企业内部对战略的看法和认知，企业战略与企业文化、价值观的关系。Perspective强调企业应建立一种全局性的、前瞻性的战略观念，以便指导企业的未来发展。它更注重对企业主观认知和理解的表述。  </vt:lpstr>
      <vt:lpstr>互联网时代的战略管理 </vt:lpstr>
      <vt:lpstr>战略是一种行为模式（pattern）</vt:lpstr>
      <vt:lpstr>战略是一种策略（plot）</vt:lpstr>
      <vt:lpstr>战略是定位（position）</vt:lpstr>
      <vt:lpstr>企业战略的构成要素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万科</vt:lpstr>
      <vt:lpstr>企业战略的层次</vt:lpstr>
      <vt:lpstr>竞争战略和职能战略</vt:lpstr>
      <vt:lpstr>华为的人力资源战略</vt:lpstr>
      <vt:lpstr>战略管理50年</vt:lpstr>
      <vt:lpstr>PowerPoint 演示文稿</vt:lpstr>
      <vt:lpstr>钱德勒</vt:lpstr>
      <vt:lpstr>安索夫-共同经营主线</vt:lpstr>
      <vt:lpstr>Netflix</vt:lpstr>
      <vt:lpstr>安索夫-战略构成四要素</vt:lpstr>
      <vt:lpstr>产品市场组合矩阵</vt:lpstr>
      <vt:lpstr>安德鲁斯</vt:lpstr>
      <vt:lpstr>安德鲁斯的观点</vt:lpstr>
      <vt:lpstr>战略管理50年</vt:lpstr>
      <vt:lpstr>PowerPoint 演示文稿</vt:lpstr>
      <vt:lpstr>战略管理过程</vt:lpstr>
      <vt:lpstr>PowerPoint 演示文稿</vt:lpstr>
      <vt:lpstr>使命</vt:lpstr>
      <vt:lpstr>  实例分析：松下公司使命</vt:lpstr>
      <vt:lpstr>是谁？</vt:lpstr>
      <vt:lpstr>确定企业的经营领域</vt:lpstr>
      <vt:lpstr>用市场导向观念确定企业经营领域</vt:lpstr>
      <vt:lpstr>         一首歌谣</vt:lpstr>
      <vt:lpstr>愿景</vt:lpstr>
      <vt:lpstr>战略目标</vt:lpstr>
      <vt:lpstr>战略目标的性质</vt:lpstr>
      <vt:lpstr>战略目标的内容</vt:lpstr>
      <vt:lpstr>★ ★ ★集团主要目标</vt:lpstr>
      <vt:lpstr>战略管理概述-why</vt:lpstr>
      <vt:lpstr>Netflix</vt:lpstr>
      <vt:lpstr>PowerPoint 演示文稿</vt:lpstr>
      <vt:lpstr>明茨伯格（H.Mintzberg）的战略5Ps</vt:lpstr>
      <vt:lpstr>企业战略的构成要素</vt:lpstr>
      <vt:lpstr>PowerPoint 演示文稿</vt:lpstr>
      <vt:lpstr>战略管理过程</vt:lpstr>
      <vt:lpstr>PowerPoint 演示文稿</vt:lpstr>
      <vt:lpstr>是谁？</vt:lpstr>
      <vt:lpstr>组织的外部环境分析</vt:lpstr>
      <vt:lpstr>组织的宏观环境分析</vt:lpstr>
      <vt:lpstr>宏观环境分析</vt:lpstr>
      <vt:lpstr>行业结构分析</vt:lpstr>
      <vt:lpstr>  迈克尔·波特对于管理理论的贡献</vt:lpstr>
      <vt:lpstr>行业竞争力量模型</vt:lpstr>
      <vt:lpstr>五种力分析模型</vt:lpstr>
      <vt:lpstr>PowerPoint 演示文稿</vt:lpstr>
      <vt:lpstr>现有竞争者分析</vt:lpstr>
      <vt:lpstr>主要竞争者分析</vt:lpstr>
      <vt:lpstr>潜在进入者</vt:lpstr>
      <vt:lpstr>替代品</vt:lpstr>
      <vt:lpstr>供应商分析</vt:lpstr>
      <vt:lpstr>买方分析</vt:lpstr>
      <vt:lpstr>五种力量会导致的竞争结果 </vt:lpstr>
      <vt:lpstr>行业吸引力</vt:lpstr>
      <vt:lpstr>供应商档案卡：全球四大铁矿石矿山（背景速览）</vt:lpstr>
      <vt:lpstr>案例：中国钢铁业的波特五力分析（一）——五种力量的结构画像</vt:lpstr>
      <vt:lpstr>案例：中国钢铁业的波特五力分析（二）——退出壁垒与战略应对</vt:lpstr>
      <vt:lpstr>行业市场集中度</vt:lpstr>
      <vt:lpstr>洛伦茨曲线</vt:lpstr>
      <vt:lpstr>相对集中度</vt:lpstr>
      <vt:lpstr>案例一：中国新能源汽车市场的集中度演变</vt:lpstr>
      <vt:lpstr>案例二：不同行业的洛伦茨曲线形态对比</vt:lpstr>
      <vt:lpstr>行业集中度指标 CR3 / CR5：定义、判定标准与应用</vt:lpstr>
      <vt:lpstr>外部因素评价矩阵</vt:lpstr>
      <vt:lpstr>PowerPoint 演示文稿</vt:lpstr>
      <vt:lpstr>案例：比亚迪 EFE 矩阵（外部因素评价）</vt:lpstr>
      <vt:lpstr>竞争态势矩阵</vt:lpstr>
      <vt:lpstr>PowerPoint 演示文稿</vt:lpstr>
      <vt:lpstr>PowerPoint 演示文稿</vt:lpstr>
      <vt:lpstr>案例：比亚迪 vs 特斯拉 vs 吉利（CPM 竞争态势矩阵）</vt:lpstr>
      <vt:lpstr>企业资源观</vt:lpstr>
      <vt:lpstr>组织的资源和能力分析</vt:lpstr>
      <vt:lpstr>企业资源观的核心观点</vt:lpstr>
      <vt:lpstr>企业资源的概念与分类</vt:lpstr>
      <vt:lpstr>资源观的背后是还原论的思想</vt:lpstr>
      <vt:lpstr>云南白药牙膏</vt:lpstr>
      <vt:lpstr>能力</vt:lpstr>
      <vt:lpstr>能力与企业管理活动密切相关</vt:lpstr>
      <vt:lpstr>资源和能力的区分</vt:lpstr>
      <vt:lpstr>系统论：关系联系，统一统合</vt:lpstr>
      <vt:lpstr>核心能力的概念 </vt:lpstr>
      <vt:lpstr>PowerPoint 演示文稿</vt:lpstr>
      <vt:lpstr>案例：苹果 iPhone——核心能力的"综合涌现"</vt:lpstr>
      <vt:lpstr>PowerPoint 演示文稿</vt:lpstr>
      <vt:lpstr>本田公司的产品扩展</vt:lpstr>
      <vt:lpstr>PowerPoint 演示文稿</vt:lpstr>
      <vt:lpstr>               </vt:lpstr>
      <vt:lpstr>核心竞争能力结构维度</vt:lpstr>
      <vt:lpstr>核心竞争力与个体素质的冰山模型</vt:lpstr>
      <vt:lpstr>类比－凝聚的力量</vt:lpstr>
      <vt:lpstr>价值链分析（Value Chain Analysis）</vt:lpstr>
      <vt:lpstr>价值链</vt:lpstr>
      <vt:lpstr>价值链分析</vt:lpstr>
      <vt:lpstr>              </vt:lpstr>
      <vt:lpstr>             </vt:lpstr>
      <vt:lpstr>   价值链的两类活动 </vt:lpstr>
      <vt:lpstr>      (2) 支持性活动</vt:lpstr>
      <vt:lpstr>价值链</vt:lpstr>
      <vt:lpstr>PowerPoint 演示文稿</vt:lpstr>
      <vt:lpstr>价值链分析</vt:lpstr>
      <vt:lpstr>    价值链的应用</vt:lpstr>
      <vt:lpstr>案例一：比亚迪——垂直整合的价值链</vt:lpstr>
      <vt:lpstr>案例二：瑞幸咖啡——用支持性活动重构价值链</vt:lpstr>
      <vt:lpstr>案例三：京东与"微笑曲线"</vt:lpstr>
      <vt:lpstr>内部因素评价矩阵</vt:lpstr>
      <vt:lpstr>PowerPoint 演示文稿</vt:lpstr>
      <vt:lpstr>案例：比亚迪 IFE 矩阵（内部因素评价）</vt:lpstr>
      <vt:lpstr>     何谓SWOT分析？</vt:lpstr>
      <vt:lpstr>PowerPoint 演示文稿</vt:lpstr>
      <vt:lpstr>SWOT矩阵框架</vt:lpstr>
      <vt:lpstr>PowerPoint 演示文稿</vt:lpstr>
      <vt:lpstr>案例－蔚来汽车</vt:lpstr>
      <vt:lpstr>战略</vt:lpstr>
      <vt:lpstr>案例一：华为——绝境中的 SWOT 与 TOWS 推导</vt:lpstr>
      <vt:lpstr>案例二：瑞幸咖啡——从危机到逆转</vt:lpstr>
      <vt:lpstr>案例三：大疆——制裁威胁下的 ST 战略</vt:lpstr>
      <vt:lpstr>成长与发展</vt:lpstr>
      <vt:lpstr>在此过程中还需要作出许多艰难的选择...</vt:lpstr>
      <vt:lpstr>公司发展战略的思考维度</vt:lpstr>
      <vt:lpstr>PowerPoint 演示文稿</vt:lpstr>
      <vt:lpstr>案例：专业化与多元化程度的四格对照</vt:lpstr>
      <vt:lpstr>发展战略的分类</vt:lpstr>
      <vt:lpstr>专业化战略分类</vt:lpstr>
      <vt:lpstr>市场渗透</vt:lpstr>
      <vt:lpstr>市场开发</vt:lpstr>
      <vt:lpstr>产品开发</vt:lpstr>
      <vt:lpstr>一体化战略</vt:lpstr>
      <vt:lpstr>前向一体化</vt:lpstr>
      <vt:lpstr>后向一体化</vt:lpstr>
      <vt:lpstr>横向一体化</vt:lpstr>
      <vt:lpstr>专业化战略的优势和劣势</vt:lpstr>
      <vt:lpstr>PowerPoint 演示文稿</vt:lpstr>
      <vt:lpstr>多元化战略的定义</vt:lpstr>
      <vt:lpstr>波士顿矩阵</vt:lpstr>
      <vt:lpstr>PowerPoint 演示文稿</vt:lpstr>
      <vt:lpstr>PowerPoint 演示文稿</vt:lpstr>
      <vt:lpstr>PowerPoint 演示文稿</vt:lpstr>
      <vt:lpstr>不同经营单位的特点及应采取的战略</vt:lpstr>
      <vt:lpstr>PowerPoint 演示文稿</vt:lpstr>
      <vt:lpstr>多元化战略的分类</vt:lpstr>
      <vt:lpstr>多元化战略的动机</vt:lpstr>
      <vt:lpstr>案例：多元化战略动机的企业实例对照</vt:lpstr>
      <vt:lpstr>多元化战略的优势</vt:lpstr>
      <vt:lpstr>多元化战略的优势</vt:lpstr>
      <vt:lpstr>多元化战略的劣势</vt:lpstr>
      <vt:lpstr>基本竞争战略</vt:lpstr>
      <vt:lpstr>成本领先</vt:lpstr>
      <vt:lpstr>差异化：星巴克</vt:lpstr>
      <vt:lpstr>三种基本竞争战略的比较</vt:lpstr>
      <vt:lpstr> 发展战略的方式选择</vt:lpstr>
      <vt:lpstr> 自我发展</vt:lpstr>
      <vt:lpstr>自我发展的优势和风险</vt:lpstr>
      <vt:lpstr>战略联盟的定义及分类</vt:lpstr>
      <vt:lpstr>适合战略联盟的情形</vt:lpstr>
      <vt:lpstr>PowerPoint 演示文稿</vt:lpstr>
      <vt:lpstr>战略联盟</vt:lpstr>
      <vt:lpstr>战略联盟的优势和劣势</vt:lpstr>
      <vt:lpstr>PowerPoint 演示文稿</vt:lpstr>
      <vt:lpstr>并购战略的优势</vt:lpstr>
      <vt:lpstr>并购面临的问题</vt:lpstr>
      <vt:lpstr>重组战略</vt:lpstr>
      <vt:lpstr>重组战略及其结果</vt:lpstr>
      <vt:lpstr>国际化战略的动因</vt:lpstr>
      <vt:lpstr>国际化战略的条件和分类</vt:lpstr>
      <vt:lpstr>实施国际化战略的途径</vt:lpstr>
      <vt:lpstr>PowerPoint 演示文稿</vt:lpstr>
      <vt:lpstr>PowerPoint 演示文稿</vt:lpstr>
      <vt:lpstr>PowerPoint 演示文稿</vt:lpstr>
      <vt:lpstr>PowerPoint 演示文稿</vt:lpstr>
      <vt:lpstr>PowerPoint 演示文稿</vt:lpstr>
      <vt:lpstr>引入期市场策略</vt:lpstr>
      <vt:lpstr>成长期策略</vt:lpstr>
      <vt:lpstr>PowerPoint 演示文稿</vt:lpstr>
      <vt:lpstr>PowerPoint 演示文稿</vt:lpstr>
      <vt:lpstr>PowerPoint 演示文稿</vt:lpstr>
      <vt:lpstr>PowerPoint 演示文稿</vt:lpstr>
      <vt:lpstr>战略实施</vt:lpstr>
      <vt:lpstr>战略实施包括的管理问题</vt:lpstr>
      <vt:lpstr>建立分阶段目标</vt:lpstr>
      <vt:lpstr>制定政策</vt:lpstr>
      <vt:lpstr>资源配置</vt:lpstr>
      <vt:lpstr>战略实施与资源配置</vt:lpstr>
      <vt:lpstr>组织结构与战略匹配</vt:lpstr>
      <vt:lpstr>改组、流程再造</vt:lpstr>
      <vt:lpstr>将业绩与报酬挂钩</vt:lpstr>
      <vt:lpstr>克服变革阻力</vt:lpstr>
      <vt:lpstr>三种变革战略</vt:lpstr>
      <vt:lpstr>安索夫：克服变革阻力</vt:lpstr>
      <vt:lpstr>管理变化</vt:lpstr>
      <vt:lpstr>其他</vt:lpstr>
      <vt:lpstr>战略实施的相关变量 </vt:lpstr>
      <vt:lpstr>PowerPoint 演示文稿</vt:lpstr>
      <vt:lpstr>7S的涵义</vt:lpstr>
      <vt:lpstr>7S模型的启示</vt:lpstr>
      <vt:lpstr>    几个关键相关变量</vt:lpstr>
      <vt:lpstr>常见的组织设计</vt:lpstr>
      <vt:lpstr>企业战略和企业文化的关系</vt:lpstr>
      <vt:lpstr>组织文化</vt:lpstr>
      <vt:lpstr>创新的文化</vt:lpstr>
      <vt:lpstr>案例：Google</vt:lpstr>
      <vt:lpstr>PowerPoint 演示文稿</vt:lpstr>
      <vt:lpstr>企业战略与企业文化</vt:lpstr>
      <vt:lpstr>企业战略与企业文化相适应的关系形式</vt:lpstr>
      <vt:lpstr>  企业战略与企业文化</vt:lpstr>
      <vt:lpstr> 企业战略与企业文化</vt:lpstr>
      <vt:lpstr>企业战略与企业文化</vt:lpstr>
      <vt:lpstr>企业战略与企业文化</vt:lpstr>
      <vt:lpstr> 企业战略与企业文化</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战略管理复习</dc:title>
  <dc:creator>zhongjg@ruc.edu.cn</dc:creator>
  <cp:lastModifiedBy>Administrator</cp:lastModifiedBy>
  <cp:revision>117</cp:revision>
  <dcterms:created xsi:type="dcterms:W3CDTF">2021-04-09T06:06:29Z</dcterms:created>
  <dcterms:modified xsi:type="dcterms:W3CDTF">2026-10-11T01:04:10Z</dcterms:modified>
</cp:coreProperties>
</file>