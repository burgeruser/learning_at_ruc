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74"/>
  </p:notesMasterIdLst>
  <p:sldIdLst>
    <p:sldId id="256" r:id="rId2"/>
    <p:sldId id="385" r:id="rId3"/>
    <p:sldId id="459" r:id="rId4"/>
    <p:sldId id="447" r:id="rId5"/>
    <p:sldId id="386" r:id="rId6"/>
    <p:sldId id="392" r:id="rId7"/>
    <p:sldId id="402" r:id="rId8"/>
    <p:sldId id="404" r:id="rId9"/>
    <p:sldId id="405" r:id="rId10"/>
    <p:sldId id="406" r:id="rId11"/>
    <p:sldId id="407" r:id="rId12"/>
    <p:sldId id="408" r:id="rId13"/>
    <p:sldId id="410" r:id="rId14"/>
    <p:sldId id="411" r:id="rId15"/>
    <p:sldId id="412" r:id="rId16"/>
    <p:sldId id="413" r:id="rId17"/>
    <p:sldId id="414" r:id="rId18"/>
    <p:sldId id="415" r:id="rId19"/>
    <p:sldId id="416" r:id="rId20"/>
    <p:sldId id="417" r:id="rId21"/>
    <p:sldId id="418" r:id="rId22"/>
    <p:sldId id="419" r:id="rId23"/>
    <p:sldId id="403" r:id="rId24"/>
    <p:sldId id="387" r:id="rId25"/>
    <p:sldId id="257" r:id="rId26"/>
    <p:sldId id="388" r:id="rId27"/>
    <p:sldId id="258" r:id="rId28"/>
    <p:sldId id="259" r:id="rId29"/>
    <p:sldId id="389" r:id="rId30"/>
    <p:sldId id="260" r:id="rId31"/>
    <p:sldId id="261" r:id="rId32"/>
    <p:sldId id="272" r:id="rId33"/>
    <p:sldId id="262" r:id="rId34"/>
    <p:sldId id="263" r:id="rId35"/>
    <p:sldId id="393" r:id="rId36"/>
    <p:sldId id="394" r:id="rId37"/>
    <p:sldId id="395" r:id="rId38"/>
    <p:sldId id="396" r:id="rId39"/>
    <p:sldId id="448" r:id="rId40"/>
    <p:sldId id="273" r:id="rId41"/>
    <p:sldId id="264" r:id="rId42"/>
    <p:sldId id="265" r:id="rId43"/>
    <p:sldId id="269" r:id="rId44"/>
    <p:sldId id="270" r:id="rId45"/>
    <p:sldId id="267" r:id="rId46"/>
    <p:sldId id="271" r:id="rId47"/>
    <p:sldId id="376" r:id="rId48"/>
    <p:sldId id="377" r:id="rId49"/>
    <p:sldId id="378" r:id="rId50"/>
    <p:sldId id="379" r:id="rId51"/>
    <p:sldId id="380" r:id="rId52"/>
    <p:sldId id="381" r:id="rId53"/>
    <p:sldId id="382" r:id="rId54"/>
    <p:sldId id="383" r:id="rId55"/>
    <p:sldId id="384" r:id="rId56"/>
    <p:sldId id="274" r:id="rId57"/>
    <p:sldId id="275" r:id="rId58"/>
    <p:sldId id="283" r:id="rId59"/>
    <p:sldId id="276" r:id="rId60"/>
    <p:sldId id="277" r:id="rId61"/>
    <p:sldId id="278" r:id="rId62"/>
    <p:sldId id="279" r:id="rId63"/>
    <p:sldId id="281" r:id="rId64"/>
    <p:sldId id="397" r:id="rId65"/>
    <p:sldId id="398" r:id="rId66"/>
    <p:sldId id="399" r:id="rId67"/>
    <p:sldId id="400" r:id="rId68"/>
    <p:sldId id="292" r:id="rId69"/>
    <p:sldId id="293" r:id="rId70"/>
    <p:sldId id="294" r:id="rId71"/>
    <p:sldId id="295" r:id="rId72"/>
    <p:sldId id="298" r:id="rId73"/>
    <p:sldId id="287" r:id="rId74"/>
    <p:sldId id="296" r:id="rId75"/>
    <p:sldId id="297" r:id="rId76"/>
    <p:sldId id="299" r:id="rId77"/>
    <p:sldId id="300" r:id="rId78"/>
    <p:sldId id="301" r:id="rId79"/>
    <p:sldId id="302" r:id="rId80"/>
    <p:sldId id="422" r:id="rId81"/>
    <p:sldId id="423" r:id="rId82"/>
    <p:sldId id="424" r:id="rId83"/>
    <p:sldId id="305" r:id="rId84"/>
    <p:sldId id="429" r:id="rId85"/>
    <p:sldId id="425" r:id="rId86"/>
    <p:sldId id="426" r:id="rId87"/>
    <p:sldId id="427" r:id="rId88"/>
    <p:sldId id="428" r:id="rId89"/>
    <p:sldId id="303" r:id="rId90"/>
    <p:sldId id="304" r:id="rId91"/>
    <p:sldId id="307" r:id="rId92"/>
    <p:sldId id="308" r:id="rId93"/>
    <p:sldId id="309" r:id="rId94"/>
    <p:sldId id="310" r:id="rId95"/>
    <p:sldId id="311" r:id="rId96"/>
    <p:sldId id="312" r:id="rId97"/>
    <p:sldId id="314" r:id="rId98"/>
    <p:sldId id="315" r:id="rId99"/>
    <p:sldId id="316" r:id="rId100"/>
    <p:sldId id="430" r:id="rId101"/>
    <p:sldId id="317" r:id="rId102"/>
    <p:sldId id="318" r:id="rId103"/>
    <p:sldId id="321" r:id="rId104"/>
    <p:sldId id="319" r:id="rId105"/>
    <p:sldId id="320" r:id="rId106"/>
    <p:sldId id="322" r:id="rId107"/>
    <p:sldId id="323" r:id="rId108"/>
    <p:sldId id="324" r:id="rId109"/>
    <p:sldId id="465" r:id="rId110"/>
    <p:sldId id="443" r:id="rId111"/>
    <p:sldId id="372" r:id="rId112"/>
    <p:sldId id="326" r:id="rId113"/>
    <p:sldId id="373" r:id="rId114"/>
    <p:sldId id="444" r:id="rId115"/>
    <p:sldId id="445" r:id="rId116"/>
    <p:sldId id="446" r:id="rId117"/>
    <p:sldId id="433" r:id="rId118"/>
    <p:sldId id="917" r:id="rId119"/>
    <p:sldId id="918" r:id="rId120"/>
    <p:sldId id="919" r:id="rId121"/>
    <p:sldId id="920" r:id="rId122"/>
    <p:sldId id="434" r:id="rId123"/>
    <p:sldId id="921" r:id="rId124"/>
    <p:sldId id="922" r:id="rId125"/>
    <p:sldId id="923" r:id="rId126"/>
    <p:sldId id="466" r:id="rId127"/>
    <p:sldId id="435" r:id="rId128"/>
    <p:sldId id="436" r:id="rId129"/>
    <p:sldId id="437" r:id="rId130"/>
    <p:sldId id="438" r:id="rId131"/>
    <p:sldId id="439" r:id="rId132"/>
    <p:sldId id="440" r:id="rId133"/>
    <p:sldId id="441" r:id="rId134"/>
    <p:sldId id="442" r:id="rId135"/>
    <p:sldId id="327" r:id="rId136"/>
    <p:sldId id="328" r:id="rId137"/>
    <p:sldId id="329" r:id="rId138"/>
    <p:sldId id="330" r:id="rId139"/>
    <p:sldId id="331" r:id="rId140"/>
    <p:sldId id="374" r:id="rId141"/>
    <p:sldId id="913" r:id="rId142"/>
    <p:sldId id="914" r:id="rId143"/>
    <p:sldId id="333" r:id="rId144"/>
    <p:sldId id="334" r:id="rId145"/>
    <p:sldId id="335" r:id="rId146"/>
    <p:sldId id="340" r:id="rId147"/>
    <p:sldId id="341" r:id="rId148"/>
    <p:sldId id="343" r:id="rId149"/>
    <p:sldId id="344" r:id="rId150"/>
    <p:sldId id="345" r:id="rId151"/>
    <p:sldId id="346" r:id="rId152"/>
    <p:sldId id="347" r:id="rId153"/>
    <p:sldId id="348" r:id="rId154"/>
    <p:sldId id="349" r:id="rId155"/>
    <p:sldId id="337" r:id="rId156"/>
    <p:sldId id="915" r:id="rId157"/>
    <p:sldId id="421" r:id="rId158"/>
    <p:sldId id="460" r:id="rId159"/>
    <p:sldId id="461" r:id="rId160"/>
    <p:sldId id="462" r:id="rId161"/>
    <p:sldId id="339" r:id="rId162"/>
    <p:sldId id="925" r:id="rId163"/>
    <p:sldId id="449" r:id="rId164"/>
    <p:sldId id="431" r:id="rId165"/>
    <p:sldId id="450" r:id="rId166"/>
    <p:sldId id="432" r:id="rId167"/>
    <p:sldId id="453" r:id="rId168"/>
    <p:sldId id="454" r:id="rId169"/>
    <p:sldId id="455" r:id="rId170"/>
    <p:sldId id="456" r:id="rId171"/>
    <p:sldId id="457" r:id="rId172"/>
    <p:sldId id="458" r:id="rId173"/>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charset="-122"/>
        <a:cs typeface="方正姚体"/>
      </a:defRPr>
    </a:lvl1pPr>
    <a:lvl2pPr marL="457200" algn="l" rtl="0" fontAlgn="base">
      <a:spcBef>
        <a:spcPct val="0"/>
      </a:spcBef>
      <a:spcAft>
        <a:spcPct val="0"/>
      </a:spcAft>
      <a:defRPr kern="1200">
        <a:solidFill>
          <a:schemeClr val="tx1"/>
        </a:solidFill>
        <a:latin typeface="Arial" charset="0"/>
        <a:ea typeface="宋体" charset="-122"/>
        <a:cs typeface="方正姚体"/>
      </a:defRPr>
    </a:lvl2pPr>
    <a:lvl3pPr marL="914400" algn="l" rtl="0" fontAlgn="base">
      <a:spcBef>
        <a:spcPct val="0"/>
      </a:spcBef>
      <a:spcAft>
        <a:spcPct val="0"/>
      </a:spcAft>
      <a:defRPr kern="1200">
        <a:solidFill>
          <a:schemeClr val="tx1"/>
        </a:solidFill>
        <a:latin typeface="Arial" charset="0"/>
        <a:ea typeface="宋体" charset="-122"/>
        <a:cs typeface="方正姚体"/>
      </a:defRPr>
    </a:lvl3pPr>
    <a:lvl4pPr marL="1371600" algn="l" rtl="0" fontAlgn="base">
      <a:spcBef>
        <a:spcPct val="0"/>
      </a:spcBef>
      <a:spcAft>
        <a:spcPct val="0"/>
      </a:spcAft>
      <a:defRPr kern="1200">
        <a:solidFill>
          <a:schemeClr val="tx1"/>
        </a:solidFill>
        <a:latin typeface="Arial" charset="0"/>
        <a:ea typeface="宋体" charset="-122"/>
        <a:cs typeface="方正姚体"/>
      </a:defRPr>
    </a:lvl4pPr>
    <a:lvl5pPr marL="1828800" algn="l" rtl="0" fontAlgn="base">
      <a:spcBef>
        <a:spcPct val="0"/>
      </a:spcBef>
      <a:spcAft>
        <a:spcPct val="0"/>
      </a:spcAft>
      <a:defRPr kern="1200">
        <a:solidFill>
          <a:schemeClr val="tx1"/>
        </a:solidFill>
        <a:latin typeface="Arial" charset="0"/>
        <a:ea typeface="宋体" charset="-122"/>
        <a:cs typeface="方正姚体"/>
      </a:defRPr>
    </a:lvl5pPr>
    <a:lvl6pPr marL="2286000" algn="l" defTabSz="914400" rtl="0" eaLnBrk="1" latinLnBrk="0" hangingPunct="1">
      <a:defRPr kern="1200">
        <a:solidFill>
          <a:schemeClr val="tx1"/>
        </a:solidFill>
        <a:latin typeface="Arial" charset="0"/>
        <a:ea typeface="宋体" charset="-122"/>
        <a:cs typeface="方正姚体"/>
      </a:defRPr>
    </a:lvl6pPr>
    <a:lvl7pPr marL="2743200" algn="l" defTabSz="914400" rtl="0" eaLnBrk="1" latinLnBrk="0" hangingPunct="1">
      <a:defRPr kern="1200">
        <a:solidFill>
          <a:schemeClr val="tx1"/>
        </a:solidFill>
        <a:latin typeface="Arial" charset="0"/>
        <a:ea typeface="宋体" charset="-122"/>
        <a:cs typeface="方正姚体"/>
      </a:defRPr>
    </a:lvl7pPr>
    <a:lvl8pPr marL="3200400" algn="l" defTabSz="914400" rtl="0" eaLnBrk="1" latinLnBrk="0" hangingPunct="1">
      <a:defRPr kern="1200">
        <a:solidFill>
          <a:schemeClr val="tx1"/>
        </a:solidFill>
        <a:latin typeface="Arial" charset="0"/>
        <a:ea typeface="宋体" charset="-122"/>
        <a:cs typeface="方正姚体"/>
      </a:defRPr>
    </a:lvl8pPr>
    <a:lvl9pPr marL="3657600" algn="l" defTabSz="914400" rtl="0" eaLnBrk="1" latinLnBrk="0" hangingPunct="1">
      <a:defRPr kern="1200">
        <a:solidFill>
          <a:schemeClr val="tx1"/>
        </a:solidFill>
        <a:latin typeface="Arial" charset="0"/>
        <a:ea typeface="宋体" charset="-122"/>
        <a:cs typeface="方正姚体"/>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98" autoAdjust="0"/>
    <p:restoredTop sz="92681" autoAdjust="0"/>
  </p:normalViewPr>
  <p:slideViewPr>
    <p:cSldViewPr>
      <p:cViewPr varScale="1">
        <p:scale>
          <a:sx n="89" d="100"/>
          <a:sy n="89" d="100"/>
        </p:scale>
        <p:origin x="808" y="176"/>
      </p:cViewPr>
      <p:guideLst>
        <p:guide orient="horz" pos="2160"/>
        <p:guide pos="2880"/>
      </p:guideLst>
    </p:cSldViewPr>
  </p:slideViewPr>
  <p:notesTextViewPr>
    <p:cViewPr>
      <p:scale>
        <a:sx n="100" d="100"/>
        <a:sy n="100" d="100"/>
      </p:scale>
      <p:origin x="0" y="0"/>
    </p:cViewPr>
  </p:notesTextViewPr>
  <p:sorterViewPr>
    <p:cViewPr>
      <p:scale>
        <a:sx n="188" d="100"/>
        <a:sy n="188" d="100"/>
      </p:scale>
      <p:origin x="0" y="80216"/>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theme" Target="theme/theme1.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presProps" Target="pres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viewProps" Target="viewProp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cs typeface="+mn-cs"/>
              </a:defRPr>
            </a:lvl1pPr>
          </a:lstStyle>
          <a:p>
            <a:pPr>
              <a:defRPr/>
            </a:pPr>
            <a:fld id="{604A734C-7B92-46C8-884A-3104D786BB23}" type="datetimeFigureOut">
              <a:rPr lang="zh-CN" altLang="en-US"/>
              <a:pPr>
                <a:defRPr/>
              </a:pPr>
              <a:t>2019/10/19</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cs typeface="+mn-cs"/>
              </a:defRPr>
            </a:lvl1pPr>
          </a:lstStyle>
          <a:p>
            <a:pPr>
              <a:defRPr/>
            </a:pPr>
            <a:fld id="{696C0217-0445-4F53-9C61-91A7F4A55FA5}" type="slidenum">
              <a:rPr lang="zh-CN" altLang="en-US"/>
              <a:pPr>
                <a:defRPr/>
              </a:pPr>
              <a:t>‹#›</a:t>
            </a:fld>
            <a:endParaRPr lang="zh-CN" altLang="en-US"/>
          </a:p>
        </p:txBody>
      </p:sp>
    </p:spTree>
    <p:extLst>
      <p:ext uri="{BB962C8B-B14F-4D97-AF65-F5344CB8AC3E}">
        <p14:creationId xmlns:p14="http://schemas.microsoft.com/office/powerpoint/2010/main" val="322092110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584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Calibri" charset="0"/>
                <a:ea typeface="宋体" charset="0"/>
              </a:rPr>
              <a:t>大家觉得，</a:t>
            </a:r>
            <a:r>
              <a:rPr lang="en-US" altLang="zh-CN">
                <a:latin typeface="Calibri" charset="0"/>
                <a:ea typeface="宋体" charset="0"/>
              </a:rPr>
              <a:t>borders</a:t>
            </a:r>
            <a:r>
              <a:rPr lang="zh-CN" altLang="en-US">
                <a:latin typeface="Calibri" charset="0"/>
                <a:ea typeface="宋体" charset="0"/>
              </a:rPr>
              <a:t>败在哪里？没有适应外部环境的变化？组织需要对外部环境的变化做出响应。</a:t>
            </a:r>
            <a:endParaRPr lang="en-US" altLang="zh-CN">
              <a:latin typeface="Calibri" charset="0"/>
              <a:ea typeface="宋体" charset="0"/>
            </a:endParaRPr>
          </a:p>
          <a:p>
            <a:pPr eaLnBrk="1" hangingPunct="1"/>
            <a:r>
              <a:rPr lang="zh-CN" altLang="en-US">
                <a:latin typeface="Calibri" charset="0"/>
                <a:ea typeface="宋体" charset="0"/>
              </a:rPr>
              <a:t>企业是一个系统，是一个开放系统，从外部环境，</a:t>
            </a:r>
          </a:p>
        </p:txBody>
      </p:sp>
      <p:sp>
        <p:nvSpPr>
          <p:cNvPr id="3584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cs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fld id="{B577B635-B617-5A44-BEDE-150E6FD537D1}" type="slidenum">
              <a:rPr lang="zh-CN" altLang="en-US"/>
              <a:pPr eaLnBrk="1" hangingPunct="1"/>
              <a:t>4</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a:defRPr/>
            </a:pPr>
            <a:fld id="{696C0217-0445-4F53-9C61-91A7F4A55FA5}" type="slidenum">
              <a:rPr lang="zh-CN" altLang="en-US" smtClean="0"/>
              <a:pPr>
                <a:defRPr/>
              </a:pPr>
              <a:t>5</a:t>
            </a:fld>
            <a:endParaRPr lang="zh-CN" altLang="en-US"/>
          </a:p>
        </p:txBody>
      </p:sp>
    </p:spTree>
    <p:extLst>
      <p:ext uri="{BB962C8B-B14F-4D97-AF65-F5344CB8AC3E}">
        <p14:creationId xmlns:p14="http://schemas.microsoft.com/office/powerpoint/2010/main" val="30361468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a:defRPr/>
            </a:pPr>
            <a:fld id="{696C0217-0445-4F53-9C61-91A7F4A55FA5}" type="slidenum">
              <a:rPr lang="zh-CN" altLang="en-US" smtClean="0"/>
              <a:pPr>
                <a:defRPr/>
              </a:pPr>
              <a:t>29</a:t>
            </a:fld>
            <a:endParaRPr lang="zh-CN" altLang="en-US"/>
          </a:p>
        </p:txBody>
      </p:sp>
    </p:spTree>
    <p:extLst>
      <p:ext uri="{BB962C8B-B14F-4D97-AF65-F5344CB8AC3E}">
        <p14:creationId xmlns:p14="http://schemas.microsoft.com/office/powerpoint/2010/main" val="16474516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幻灯片图像占位符 1"/>
          <p:cNvSpPr>
            <a:spLocks noGrp="1" noRot="1" noChangeAspect="1"/>
          </p:cNvSpPr>
          <p:nvPr>
            <p:ph type="sldImg"/>
          </p:nvPr>
        </p:nvSpPr>
        <p:spPr bwMode="auto">
          <a:noFill/>
          <a:ln>
            <a:solidFill>
              <a:srgbClr val="000000"/>
            </a:solidFill>
            <a:miter lim="800000"/>
            <a:headEnd/>
            <a:tailEnd/>
          </a:ln>
        </p:spPr>
      </p:sp>
      <p:sp>
        <p:nvSpPr>
          <p:cNvPr id="78850"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zh-CN" altLang="en-US"/>
              <a:t>了解每个竞争对手可能采取的战略行动及获得成功的可能性，各竞争对手对其他企业在战略范围内的行动可能做出的反应，以及各竞争对手对可能发生的产业变迁和对环境变化可能做出的反应等</a:t>
            </a:r>
            <a:endParaRPr lang="en-US" altLang="zh-CN"/>
          </a:p>
          <a:p>
            <a:pPr>
              <a:spcBef>
                <a:spcPct val="0"/>
              </a:spcBef>
            </a:pPr>
            <a:r>
              <a:rPr lang="en-US" altLang="zh-CN"/>
              <a:t>-</a:t>
            </a:r>
            <a:r>
              <a:rPr lang="zh-CN" altLang="en-US"/>
              <a:t>预测竞争对手的反击行为</a:t>
            </a:r>
            <a:endParaRPr lang="en-US" altLang="zh-CN"/>
          </a:p>
          <a:p>
            <a:pPr>
              <a:spcBef>
                <a:spcPct val="0"/>
              </a:spcBef>
            </a:pPr>
            <a:r>
              <a:rPr lang="en-US" altLang="zh-CN"/>
              <a:t>-</a:t>
            </a:r>
            <a:r>
              <a:rPr lang="zh-CN" altLang="en-US"/>
              <a:t>预测竞争对手的防御能力</a:t>
            </a:r>
            <a:endParaRPr lang="en-US" altLang="zh-CN"/>
          </a:p>
          <a:p>
            <a:pPr>
              <a:spcBef>
                <a:spcPct val="0"/>
              </a:spcBef>
            </a:pPr>
            <a:r>
              <a:rPr lang="en-US" altLang="zh-CN"/>
              <a:t>-</a:t>
            </a:r>
            <a:r>
              <a:rPr lang="zh-CN" altLang="en-US"/>
              <a:t>选择战场</a:t>
            </a:r>
          </a:p>
        </p:txBody>
      </p:sp>
      <p:sp>
        <p:nvSpPr>
          <p:cNvPr id="78851"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9B5FC050-52E5-4325-A190-F650604A26F3}" type="slidenum">
              <a:rPr lang="zh-CN" altLang="en-US">
                <a:cs typeface="方正姚体"/>
              </a:rPr>
              <a:pPr fontAlgn="base">
                <a:spcBef>
                  <a:spcPct val="0"/>
                </a:spcBef>
                <a:spcAft>
                  <a:spcPct val="0"/>
                </a:spcAft>
              </a:pPr>
              <a:t>100</a:t>
            </a:fld>
            <a:endParaRPr lang="en-US" altLang="zh-CN">
              <a:cs typeface="方正姚体"/>
            </a:endParaRPr>
          </a:p>
        </p:txBody>
      </p:sp>
    </p:spTree>
    <p:extLst>
      <p:ext uri="{BB962C8B-B14F-4D97-AF65-F5344CB8AC3E}">
        <p14:creationId xmlns:p14="http://schemas.microsoft.com/office/powerpoint/2010/main" val="15517601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C35ADCF1-70DF-44AB-A3DA-4D3B0421775E}" type="slidenum">
              <a:rPr lang="zh-CN" altLang="en-US">
                <a:cs typeface="方正姚体"/>
              </a:rPr>
              <a:pPr fontAlgn="base">
                <a:spcBef>
                  <a:spcPct val="0"/>
                </a:spcBef>
                <a:spcAft>
                  <a:spcPct val="0"/>
                </a:spcAft>
              </a:pPr>
              <a:t>133</a:t>
            </a:fld>
            <a:endParaRPr lang="en-US" altLang="zh-CN">
              <a:cs typeface="方正姚体"/>
            </a:endParaRPr>
          </a:p>
        </p:txBody>
      </p:sp>
      <p:sp>
        <p:nvSpPr>
          <p:cNvPr id="12595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2595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zh-CN" altLang="en-US" sz="2400"/>
              <a:t>中国企业核心竞争力要素实证研究（余伟萍 陈维政，任佩瑜 </a:t>
            </a:r>
            <a:r>
              <a:rPr lang="en-US" altLang="zh-CN" sz="2400"/>
              <a:t>F31,2004</a:t>
            </a:r>
            <a:r>
              <a:rPr lang="zh-CN" altLang="en-US" sz="2400"/>
              <a:t>第</a:t>
            </a:r>
            <a:r>
              <a:rPr lang="en-US" altLang="zh-CN" sz="2400"/>
              <a:t>1</a:t>
            </a:r>
            <a:r>
              <a:rPr lang="zh-CN" altLang="en-US" sz="2400"/>
              <a:t>期）</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DCC818EC-5AA5-420A-A2A3-6C8A20F2FF43}" type="slidenum">
              <a:rPr lang="zh-CN" altLang="en-US">
                <a:cs typeface="方正姚体"/>
              </a:rPr>
              <a:pPr fontAlgn="base">
                <a:spcBef>
                  <a:spcPct val="0"/>
                </a:spcBef>
                <a:spcAft>
                  <a:spcPct val="0"/>
                </a:spcAft>
              </a:pPr>
              <a:t>134</a:t>
            </a:fld>
            <a:endParaRPr lang="en-US" altLang="zh-CN">
              <a:cs typeface="方正姚体"/>
            </a:endParaRPr>
          </a:p>
        </p:txBody>
      </p:sp>
      <p:sp>
        <p:nvSpPr>
          <p:cNvPr id="12800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2800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zh-CN" altLang="en-US" sz="2400"/>
              <a:t>中国企业核心竞争力要素实证研究（余伟萍 陈维政，任佩瑜 </a:t>
            </a:r>
            <a:r>
              <a:rPr lang="en-US" altLang="zh-CN" sz="2400"/>
              <a:t>F31,2004</a:t>
            </a:r>
            <a:r>
              <a:rPr lang="zh-CN" altLang="en-US" sz="2400"/>
              <a:t>第</a:t>
            </a:r>
            <a:r>
              <a:rPr lang="en-US" altLang="zh-CN" sz="2400"/>
              <a:t>1</a:t>
            </a:r>
            <a:r>
              <a:rPr lang="zh-CN" altLang="en-US" sz="2400"/>
              <a:t>期）</a:t>
            </a:r>
          </a:p>
          <a:p>
            <a:pPr>
              <a:spcBef>
                <a:spcPct val="0"/>
              </a:spcBef>
            </a:pPr>
            <a:endParaRPr lang="zh-CN" altLang="en-US" sz="24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403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zh-CN" altLang="en-US">
              <a:latin typeface="Calibri" charset="0"/>
              <a:ea typeface="宋体" charset="0"/>
            </a:endParaRPr>
          </a:p>
        </p:txBody>
      </p:sp>
      <p:sp>
        <p:nvSpPr>
          <p:cNvPr id="4403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cs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fld id="{6EF003E3-52D7-6349-B058-5582903BE963}" type="slidenum">
              <a:rPr lang="zh-CN" altLang="en-US"/>
              <a:pPr eaLnBrk="1" hangingPunct="1"/>
              <a:t>157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对角圆角矩形 6"/>
          <p:cNvSpPr/>
          <p:nvPr/>
        </p:nvSpPr>
        <p:spPr>
          <a:xfrm>
            <a:off x="164592" y="146304"/>
            <a:ext cx="8814816" cy="2505456"/>
          </a:xfrm>
          <a:prstGeom prst="round2DiagRect">
            <a:avLst>
              <a:gd name="adj1" fmla="val 11807"/>
              <a:gd name="adj2" fmla="val 0"/>
            </a:avLst>
          </a:prstGeom>
          <a:solidFill>
            <a:schemeClr val="bg2">
              <a:tint val="85000"/>
              <a:shade val="90000"/>
              <a:satMod val="150000"/>
              <a:alpha val="65000"/>
            </a:schemeClr>
          </a:solidFill>
          <a:ln w="11000" cap="rnd" cmpd="sng" algn="ctr">
            <a:solidFill>
              <a:schemeClr val="bg2">
                <a:tint val="78000"/>
                <a:satMod val="180000"/>
                <a:alpha val="88000"/>
              </a:schemeClr>
            </a:solidFill>
            <a:prstDash val="solid"/>
          </a:ln>
          <a:effectLst>
            <a:innerShdw blurRad="114300">
              <a:srgbClr val="000000">
                <a:alpha val="10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标题 7"/>
          <p:cNvSpPr>
            <a:spLocks noGrp="1"/>
          </p:cNvSpPr>
          <p:nvPr>
            <p:ph type="ctrTitle"/>
          </p:nvPr>
        </p:nvSpPr>
        <p:spPr>
          <a:xfrm>
            <a:off x="464234" y="381001"/>
            <a:ext cx="8229600" cy="2209800"/>
          </a:xfrm>
        </p:spPr>
        <p:txBody>
          <a:bodyPr lIns="45720" rIns="228600"/>
          <a:lstStyle>
            <a:lvl1pPr marL="0" algn="r">
              <a:defRPr sz="4800"/>
            </a:lvl1pPr>
            <a:extLst/>
          </a:lstStyle>
          <a:p>
            <a:r>
              <a:rPr lang="zh-CN" altLang="en-US"/>
              <a:t>单击此处编辑母版标题样式</a:t>
            </a:r>
            <a:endParaRPr lang="en-US"/>
          </a:p>
        </p:txBody>
      </p:sp>
      <p:sp>
        <p:nvSpPr>
          <p:cNvPr id="9" name="副标题 8"/>
          <p:cNvSpPr>
            <a:spLocks noGrp="1"/>
          </p:cNvSpPr>
          <p:nvPr>
            <p:ph type="subTitle" idx="1"/>
          </p:nvPr>
        </p:nvSpPr>
        <p:spPr>
          <a:xfrm>
            <a:off x="2133600" y="2819400"/>
            <a:ext cx="6560234" cy="1752600"/>
          </a:xfrm>
        </p:spPr>
        <p:txBody>
          <a:bodyPr lIns="45720" rIns="246888"/>
          <a:lstStyle>
            <a:lvl1pPr marL="0" indent="0" algn="r">
              <a:spcBef>
                <a:spcPts val="0"/>
              </a:spcBef>
              <a:buNone/>
              <a:defRPr>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zh-CN" altLang="en-US"/>
              <a:t>单击此处编辑母版副标题样式</a:t>
            </a:r>
            <a:endParaRPr lang="en-US"/>
          </a:p>
        </p:txBody>
      </p:sp>
      <p:sp>
        <p:nvSpPr>
          <p:cNvPr id="5" name="日期占位符 9"/>
          <p:cNvSpPr>
            <a:spLocks noGrp="1"/>
          </p:cNvSpPr>
          <p:nvPr>
            <p:ph type="dt" sz="half" idx="10"/>
          </p:nvPr>
        </p:nvSpPr>
        <p:spPr>
          <a:xfrm>
            <a:off x="5562600" y="6508750"/>
            <a:ext cx="3001963" cy="274638"/>
          </a:xfrm>
        </p:spPr>
        <p:txBody>
          <a:bodyPr vert="horz" rtlCol="0"/>
          <a:lstStyle>
            <a:lvl1pPr>
              <a:defRPr/>
            </a:lvl1pPr>
            <a:extLst/>
          </a:lstStyle>
          <a:p>
            <a:pPr>
              <a:defRPr/>
            </a:pPr>
            <a:fld id="{B7A96E64-5028-4EF3-A125-F7F2221A5ACE}" type="datetimeFigureOut">
              <a:rPr lang="zh-CN" altLang="en-US"/>
              <a:pPr>
                <a:defRPr/>
              </a:pPr>
              <a:t>2019/10/19</a:t>
            </a:fld>
            <a:endParaRPr lang="zh-CN" altLang="en-US"/>
          </a:p>
        </p:txBody>
      </p:sp>
      <p:sp>
        <p:nvSpPr>
          <p:cNvPr id="6" name="灯片编号占位符 10"/>
          <p:cNvSpPr>
            <a:spLocks noGrp="1"/>
          </p:cNvSpPr>
          <p:nvPr>
            <p:ph type="sldNum" sz="quarter" idx="11"/>
          </p:nvPr>
        </p:nvSpPr>
        <p:spPr>
          <a:xfrm>
            <a:off x="8639175" y="6508750"/>
            <a:ext cx="463550" cy="274638"/>
          </a:xfrm>
        </p:spPr>
        <p:txBody>
          <a:bodyPr vert="horz" rtlCol="0"/>
          <a:lstStyle>
            <a:lvl1pPr>
              <a:defRPr smtClean="0">
                <a:solidFill>
                  <a:schemeClr val="tx2">
                    <a:shade val="90000"/>
                  </a:schemeClr>
                </a:solidFill>
              </a:defRPr>
            </a:lvl1pPr>
            <a:extLst/>
          </a:lstStyle>
          <a:p>
            <a:pPr>
              <a:defRPr/>
            </a:pPr>
            <a:fld id="{AA47654D-A2B6-4E1D-8051-275D51BE5E55}" type="slidenum">
              <a:rPr lang="zh-CN" altLang="en-US"/>
              <a:pPr>
                <a:defRPr/>
              </a:pPr>
              <a:t>‹#›</a:t>
            </a:fld>
            <a:endParaRPr lang="zh-CN" altLang="en-US"/>
          </a:p>
        </p:txBody>
      </p:sp>
      <p:sp>
        <p:nvSpPr>
          <p:cNvPr id="7" name="页脚占位符 11"/>
          <p:cNvSpPr>
            <a:spLocks noGrp="1"/>
          </p:cNvSpPr>
          <p:nvPr>
            <p:ph type="ftr" sz="quarter" idx="12"/>
          </p:nvPr>
        </p:nvSpPr>
        <p:spPr>
          <a:xfrm>
            <a:off x="1600200" y="6508750"/>
            <a:ext cx="3906838" cy="274638"/>
          </a:xfrm>
        </p:spPr>
        <p:txBody>
          <a:bodyPr vert="horz" rtlCol="0"/>
          <a:lstStyle>
            <a:lvl1pPr>
              <a:defRPr/>
            </a:lvl1pPr>
            <a:extLst/>
          </a:lstStyle>
          <a:p>
            <a:pPr>
              <a:defRPr/>
            </a:pP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矩形 6"/>
          <p:cNvSpPr/>
          <p:nvPr/>
        </p:nvSpPr>
        <p:spPr>
          <a:xfrm>
            <a:off x="588963" y="1423988"/>
            <a:ext cx="8001000" cy="9525"/>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3"/>
          <p:cNvSpPr>
            <a:spLocks noGrp="1"/>
          </p:cNvSpPr>
          <p:nvPr>
            <p:ph type="dt" sz="half" idx="10"/>
          </p:nvPr>
        </p:nvSpPr>
        <p:spPr/>
        <p:txBody>
          <a:bodyPr/>
          <a:lstStyle>
            <a:lvl1pPr>
              <a:defRPr/>
            </a:lvl1pPr>
            <a:extLst/>
          </a:lstStyle>
          <a:p>
            <a:pPr>
              <a:defRPr/>
            </a:pPr>
            <a:fld id="{AC5D77E2-EC47-4777-9F40-1FEE89ECEEFD}" type="datetimeFigureOut">
              <a:rPr lang="zh-CN" altLang="en-US"/>
              <a:pPr>
                <a:defRPr/>
              </a:pPr>
              <a:t>2019/10/19</a:t>
            </a:fld>
            <a:endParaRPr lang="zh-CN" altLang="en-US"/>
          </a:p>
        </p:txBody>
      </p:sp>
      <p:sp>
        <p:nvSpPr>
          <p:cNvPr id="6" name="页脚占位符 4"/>
          <p:cNvSpPr>
            <a:spLocks noGrp="1"/>
          </p:cNvSpPr>
          <p:nvPr>
            <p:ph type="ftr" sz="quarter" idx="11"/>
          </p:nvPr>
        </p:nvSpPr>
        <p:spPr/>
        <p:txBody>
          <a:bodyPr/>
          <a:lstStyle>
            <a:lvl1pPr>
              <a:defRPr/>
            </a:lvl1pPr>
            <a:extLst/>
          </a:lstStyle>
          <a:p>
            <a:pPr>
              <a:defRPr/>
            </a:pPr>
            <a:endParaRPr lang="zh-CN" altLang="en-US"/>
          </a:p>
        </p:txBody>
      </p:sp>
      <p:sp>
        <p:nvSpPr>
          <p:cNvPr id="7" name="灯片编号占位符 5"/>
          <p:cNvSpPr>
            <a:spLocks noGrp="1"/>
          </p:cNvSpPr>
          <p:nvPr>
            <p:ph type="sldNum" sz="quarter" idx="12"/>
          </p:nvPr>
        </p:nvSpPr>
        <p:spPr/>
        <p:txBody>
          <a:bodyPr/>
          <a:lstStyle>
            <a:lvl1pPr>
              <a:defRPr/>
            </a:lvl1pPr>
            <a:extLst/>
          </a:lstStyle>
          <a:p>
            <a:pPr>
              <a:defRPr/>
            </a:pPr>
            <a:fld id="{8BF915ED-FD9A-4E54-82B3-A295A7FED351}" type="slidenum">
              <a:rPr lang="zh-CN" altLang="en-US"/>
              <a:pPr>
                <a:defRPr/>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1">
        <a:schemeClr val="bg2"/>
      </p:bgRef>
    </p:bg>
    <p:spTree>
      <p:nvGrpSpPr>
        <p:cNvPr id="1" name=""/>
        <p:cNvGrpSpPr/>
        <p:nvPr/>
      </p:nvGrpSpPr>
      <p:grpSpPr>
        <a:xfrm>
          <a:off x="0" y="0"/>
          <a:ext cx="0" cy="0"/>
          <a:chOff x="0" y="0"/>
          <a:chExt cx="0" cy="0"/>
        </a:xfrm>
      </p:grpSpPr>
      <p:sp>
        <p:nvSpPr>
          <p:cNvPr id="4" name="矩形 6"/>
          <p:cNvSpPr/>
          <p:nvPr/>
        </p:nvSpPr>
        <p:spPr>
          <a:xfrm>
            <a:off x="1000125" y="3267075"/>
            <a:ext cx="7407275" cy="9525"/>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标题 1"/>
          <p:cNvSpPr>
            <a:spLocks noGrp="1"/>
          </p:cNvSpPr>
          <p:nvPr>
            <p:ph type="title"/>
          </p:nvPr>
        </p:nvSpPr>
        <p:spPr>
          <a:xfrm>
            <a:off x="722376" y="498230"/>
            <a:ext cx="7772400" cy="2731008"/>
          </a:xfrm>
        </p:spPr>
        <p:txBody>
          <a:bodyPr rIns="100584"/>
          <a:lstStyle>
            <a:lvl1pPr algn="r">
              <a:buNone/>
              <a:defRPr sz="4000" b="1" cap="none">
                <a:solidFill>
                  <a:schemeClr val="accent1">
                    <a:tint val="95000"/>
                    <a:satMod val="200000"/>
                  </a:schemeClr>
                </a:solidFill>
              </a:defRPr>
            </a:lvl1pPr>
            <a:extLst/>
          </a:lstStyle>
          <a:p>
            <a:r>
              <a:rPr lang="zh-CN" altLang="en-US"/>
              <a:t>单击此处编辑母版标题样式</a:t>
            </a:r>
            <a:endParaRPr lang="en-US"/>
          </a:p>
        </p:txBody>
      </p:sp>
      <p:sp>
        <p:nvSpPr>
          <p:cNvPr id="3" name="文本占位符 2"/>
          <p:cNvSpPr>
            <a:spLocks noGrp="1"/>
          </p:cNvSpPr>
          <p:nvPr>
            <p:ph type="body" idx="1"/>
          </p:nvPr>
        </p:nvSpPr>
        <p:spPr>
          <a:xfrm>
            <a:off x="722313" y="3287713"/>
            <a:ext cx="7772400" cy="1509712"/>
          </a:xfrm>
        </p:spPr>
        <p:txBody>
          <a:bodyPr rIns="128016"/>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zh-CN" altLang="en-US"/>
              <a:t>单击此处编辑母版文本样式</a:t>
            </a:r>
          </a:p>
        </p:txBody>
      </p:sp>
      <p:sp>
        <p:nvSpPr>
          <p:cNvPr id="5" name="日期占位符 7"/>
          <p:cNvSpPr>
            <a:spLocks noGrp="1"/>
          </p:cNvSpPr>
          <p:nvPr>
            <p:ph type="dt" sz="half" idx="10"/>
          </p:nvPr>
        </p:nvSpPr>
        <p:spPr>
          <a:xfrm>
            <a:off x="5562600" y="6513513"/>
            <a:ext cx="3001963" cy="274637"/>
          </a:xfrm>
        </p:spPr>
        <p:txBody>
          <a:bodyPr vert="horz" rtlCol="0"/>
          <a:lstStyle>
            <a:lvl1pPr>
              <a:defRPr/>
            </a:lvl1pPr>
            <a:extLst/>
          </a:lstStyle>
          <a:p>
            <a:pPr>
              <a:defRPr/>
            </a:pPr>
            <a:fld id="{836659B1-F4C4-4B14-9221-8B3FA6CD1743}" type="datetimeFigureOut">
              <a:rPr lang="zh-CN" altLang="en-US"/>
              <a:pPr>
                <a:defRPr/>
              </a:pPr>
              <a:t>2019/10/19</a:t>
            </a:fld>
            <a:endParaRPr lang="zh-CN" altLang="en-US"/>
          </a:p>
        </p:txBody>
      </p:sp>
      <p:sp>
        <p:nvSpPr>
          <p:cNvPr id="6" name="灯片编号占位符 8"/>
          <p:cNvSpPr>
            <a:spLocks noGrp="1"/>
          </p:cNvSpPr>
          <p:nvPr>
            <p:ph type="sldNum" sz="quarter" idx="11"/>
          </p:nvPr>
        </p:nvSpPr>
        <p:spPr>
          <a:xfrm>
            <a:off x="8639175" y="6513513"/>
            <a:ext cx="463550" cy="274637"/>
          </a:xfrm>
        </p:spPr>
        <p:txBody>
          <a:bodyPr vert="horz" rtlCol="0"/>
          <a:lstStyle>
            <a:lvl1pPr>
              <a:defRPr smtClean="0">
                <a:solidFill>
                  <a:schemeClr val="tx2">
                    <a:shade val="90000"/>
                  </a:schemeClr>
                </a:solidFill>
              </a:defRPr>
            </a:lvl1pPr>
            <a:extLst/>
          </a:lstStyle>
          <a:p>
            <a:pPr>
              <a:defRPr/>
            </a:pPr>
            <a:fld id="{A806197D-8F88-496B-8511-699BA0D7BBE4}" type="slidenum">
              <a:rPr lang="zh-CN" altLang="en-US"/>
              <a:pPr>
                <a:defRPr/>
              </a:pPr>
              <a:t>‹#›</a:t>
            </a:fld>
            <a:endParaRPr lang="zh-CN" altLang="en-US"/>
          </a:p>
        </p:txBody>
      </p:sp>
      <p:sp>
        <p:nvSpPr>
          <p:cNvPr id="7" name="页脚占位符 9"/>
          <p:cNvSpPr>
            <a:spLocks noGrp="1"/>
          </p:cNvSpPr>
          <p:nvPr>
            <p:ph type="ftr" sz="quarter" idx="12"/>
          </p:nvPr>
        </p:nvSpPr>
        <p:spPr>
          <a:xfrm>
            <a:off x="1600200" y="6513513"/>
            <a:ext cx="3906838" cy="274637"/>
          </a:xfrm>
        </p:spPr>
        <p:txBody>
          <a:bodyPr vert="horz" rtlCol="0"/>
          <a:lstStyle>
            <a:lvl1pPr>
              <a:defRPr/>
            </a:lvl1pPr>
            <a:extLst/>
          </a:lstStyle>
          <a:p>
            <a:pPr>
              <a:defRPr/>
            </a:pPr>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矩形 9"/>
          <p:cNvSpPr/>
          <p:nvPr/>
        </p:nvSpPr>
        <p:spPr>
          <a:xfrm>
            <a:off x="588963" y="1423988"/>
            <a:ext cx="8001000" cy="9525"/>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457200" y="1645920"/>
            <a:ext cx="4038600" cy="4526280"/>
          </a:xfrm>
        </p:spPr>
        <p:txBody>
          <a:bodyPr/>
          <a:lstStyle>
            <a:lvl1pPr>
              <a:defRPr sz="2800"/>
            </a:lvl1pPr>
            <a:lvl2pPr>
              <a:defRPr sz="2400"/>
            </a:lvl2pPr>
            <a:lvl3pPr>
              <a:defRPr sz="2000"/>
            </a:lvl3pPr>
            <a:lvl4pPr>
              <a:defRPr sz="1800"/>
            </a:lvl4pPr>
            <a:lvl5pPr>
              <a:defRPr sz="1800"/>
            </a:lvl5pPr>
            <a:extLs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p:cNvSpPr>
            <a:spLocks noGrp="1"/>
          </p:cNvSpPr>
          <p:nvPr>
            <p:ph sz="half" idx="2"/>
          </p:nvPr>
        </p:nvSpPr>
        <p:spPr>
          <a:xfrm>
            <a:off x="4648200" y="1645920"/>
            <a:ext cx="4038600" cy="4526280"/>
          </a:xfrm>
        </p:spPr>
        <p:txBody>
          <a:bodyPr/>
          <a:lstStyle>
            <a:lvl1pPr>
              <a:defRPr sz="2800"/>
            </a:lvl1pPr>
            <a:lvl2pPr>
              <a:defRPr sz="2400"/>
            </a:lvl2pPr>
            <a:lvl3pPr>
              <a:defRPr sz="2000"/>
            </a:lvl3pPr>
            <a:lvl4pPr>
              <a:defRPr sz="1800"/>
            </a:lvl4pPr>
            <a:lvl5pPr>
              <a:defRPr sz="1800"/>
            </a:lvl5pPr>
            <a:extLs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日期占位符 4"/>
          <p:cNvSpPr>
            <a:spLocks noGrp="1"/>
          </p:cNvSpPr>
          <p:nvPr>
            <p:ph type="dt" sz="half" idx="10"/>
          </p:nvPr>
        </p:nvSpPr>
        <p:spPr/>
        <p:txBody>
          <a:bodyPr/>
          <a:lstStyle>
            <a:lvl1pPr>
              <a:defRPr/>
            </a:lvl1pPr>
            <a:extLst/>
          </a:lstStyle>
          <a:p>
            <a:pPr>
              <a:defRPr/>
            </a:pPr>
            <a:fld id="{72EDD6C6-4B6A-4215-A24A-3AE9FFEAA0BC}" type="datetimeFigureOut">
              <a:rPr lang="zh-CN" altLang="en-US"/>
              <a:pPr>
                <a:defRPr/>
              </a:pPr>
              <a:t>2019/10/19</a:t>
            </a:fld>
            <a:endParaRPr lang="zh-CN" altLang="en-US"/>
          </a:p>
        </p:txBody>
      </p:sp>
      <p:sp>
        <p:nvSpPr>
          <p:cNvPr id="7" name="页脚占位符 5"/>
          <p:cNvSpPr>
            <a:spLocks noGrp="1"/>
          </p:cNvSpPr>
          <p:nvPr>
            <p:ph type="ftr" sz="quarter" idx="11"/>
          </p:nvPr>
        </p:nvSpPr>
        <p:spPr/>
        <p:txBody>
          <a:bodyPr/>
          <a:lstStyle>
            <a:lvl1pPr>
              <a:defRPr/>
            </a:lvl1pPr>
            <a:extLst/>
          </a:lstStyle>
          <a:p>
            <a:pPr>
              <a:defRPr/>
            </a:pPr>
            <a:endParaRPr lang="zh-CN" altLang="en-US"/>
          </a:p>
        </p:txBody>
      </p:sp>
      <p:sp>
        <p:nvSpPr>
          <p:cNvPr id="8" name="灯片编号占位符 6"/>
          <p:cNvSpPr>
            <a:spLocks noGrp="1"/>
          </p:cNvSpPr>
          <p:nvPr>
            <p:ph type="sldNum" sz="quarter" idx="12"/>
          </p:nvPr>
        </p:nvSpPr>
        <p:spPr>
          <a:xfrm>
            <a:off x="8640763" y="6515100"/>
            <a:ext cx="465137" cy="273050"/>
          </a:xfrm>
        </p:spPr>
        <p:txBody>
          <a:bodyPr/>
          <a:lstStyle>
            <a:lvl1pPr>
              <a:defRPr/>
            </a:lvl1pPr>
            <a:extLst/>
          </a:lstStyle>
          <a:p>
            <a:pPr>
              <a:defRPr/>
            </a:pPr>
            <a:fld id="{A707D509-38B8-4A3A-B556-42F7F4E24506}" type="slidenum">
              <a:rPr lang="zh-CN" altLang="en-US"/>
              <a:pPr>
                <a:defRPr/>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矩形 9"/>
          <p:cNvSpPr/>
          <p:nvPr/>
        </p:nvSpPr>
        <p:spPr>
          <a:xfrm>
            <a:off x="617538" y="2165350"/>
            <a:ext cx="3748087" cy="9525"/>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b"/>
          <a:lstStyle/>
          <a:p>
            <a:pPr algn="ctr" fontAlgn="auto">
              <a:spcBef>
                <a:spcPts val="0"/>
              </a:spcBef>
              <a:spcAft>
                <a:spcPts val="0"/>
              </a:spcAft>
              <a:defRPr/>
            </a:pPr>
            <a:endParaRPr lang="en-US"/>
          </a:p>
        </p:txBody>
      </p:sp>
      <p:sp>
        <p:nvSpPr>
          <p:cNvPr id="8" name="矩形 10"/>
          <p:cNvSpPr/>
          <p:nvPr/>
        </p:nvSpPr>
        <p:spPr>
          <a:xfrm>
            <a:off x="4800600" y="2165350"/>
            <a:ext cx="3749675" cy="9525"/>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b"/>
          <a:lstStyle/>
          <a:p>
            <a:pPr algn="ctr" fontAlgn="auto">
              <a:spcBef>
                <a:spcPts val="0"/>
              </a:spcBef>
              <a:spcAft>
                <a:spcPts val="0"/>
              </a:spcAft>
              <a:defRPr/>
            </a:pPr>
            <a:endParaRPr lang="en-US"/>
          </a:p>
        </p:txBody>
      </p:sp>
      <p:sp>
        <p:nvSpPr>
          <p:cNvPr id="2" name="标题 1"/>
          <p:cNvSpPr>
            <a:spLocks noGrp="1"/>
          </p:cNvSpPr>
          <p:nvPr>
            <p:ph type="title"/>
          </p:nvPr>
        </p:nvSpPr>
        <p:spPr>
          <a:xfrm>
            <a:off x="457200" y="251948"/>
            <a:ext cx="8229600" cy="1143000"/>
          </a:xfrm>
        </p:spPr>
        <p:txBody>
          <a:bodyPr/>
          <a:lstStyle>
            <a:lvl1pPr>
              <a:defRPr/>
            </a:lvl1pPr>
            <a:extLst/>
          </a:lstStyle>
          <a:p>
            <a:r>
              <a:rPr lang="zh-CN" altLang="en-US"/>
              <a:t>单击此处编辑母版标题样式</a:t>
            </a:r>
            <a:endParaRPr lang="en-US"/>
          </a:p>
        </p:txBody>
      </p:sp>
      <p:sp>
        <p:nvSpPr>
          <p:cNvPr id="3" name="文本占位符 2"/>
          <p:cNvSpPr>
            <a:spLocks noGrp="1"/>
          </p:cNvSpPr>
          <p:nvPr>
            <p:ph type="body" idx="1"/>
          </p:nvPr>
        </p:nvSpPr>
        <p:spPr>
          <a:xfrm>
            <a:off x="457200" y="1535113"/>
            <a:ext cx="4040188" cy="639762"/>
          </a:xfrm>
        </p:spPr>
        <p:txBody>
          <a:bodyPr anchor="b">
            <a:noAutofit/>
          </a:bodyPr>
          <a:lstStyle>
            <a:lvl1pPr marL="91440" indent="0" algn="l">
              <a:spcBef>
                <a:spcPts val="0"/>
              </a:spcBef>
              <a:buNone/>
              <a:defRPr sz="2200" b="0" cap="all" baseline="0"/>
            </a:lvl1pPr>
            <a:lvl2pPr>
              <a:buNone/>
              <a:defRPr sz="2000" b="1"/>
            </a:lvl2pPr>
            <a:lvl3pPr>
              <a:buNone/>
              <a:defRPr sz="1800" b="1"/>
            </a:lvl3pPr>
            <a:lvl4pPr>
              <a:buNone/>
              <a:defRPr sz="1600" b="1"/>
            </a:lvl4pPr>
            <a:lvl5pPr>
              <a:buNone/>
              <a:defRPr sz="1600" b="1"/>
            </a:lvl5pPr>
            <a:extLst/>
          </a:lstStyle>
          <a:p>
            <a:pPr lvl="0"/>
            <a:r>
              <a:rPr lang="zh-CN" altLang="en-US"/>
              <a:t>单击此处编辑母版文本样式</a:t>
            </a:r>
          </a:p>
        </p:txBody>
      </p:sp>
      <p:sp>
        <p:nvSpPr>
          <p:cNvPr id="4" name="文本占位符 3"/>
          <p:cNvSpPr>
            <a:spLocks noGrp="1"/>
          </p:cNvSpPr>
          <p:nvPr>
            <p:ph type="body" sz="half" idx="3"/>
          </p:nvPr>
        </p:nvSpPr>
        <p:spPr>
          <a:xfrm>
            <a:off x="4645025" y="1535113"/>
            <a:ext cx="4041775" cy="639762"/>
          </a:xfrm>
        </p:spPr>
        <p:txBody>
          <a:bodyPr anchor="b">
            <a:noAutofit/>
          </a:bodyPr>
          <a:lstStyle>
            <a:lvl1pPr marL="91440" indent="0" algn="l">
              <a:spcBef>
                <a:spcPts val="0"/>
              </a:spcBef>
              <a:buNone/>
              <a:defRPr sz="2200" b="0" cap="all" baseline="0"/>
            </a:lvl1pPr>
            <a:lvl2pPr>
              <a:buNone/>
              <a:defRPr sz="2000" b="1"/>
            </a:lvl2pPr>
            <a:lvl3pPr>
              <a:buNone/>
              <a:defRPr sz="1800" b="1"/>
            </a:lvl3pPr>
            <a:lvl4pPr>
              <a:buNone/>
              <a:defRPr sz="1600" b="1"/>
            </a:lvl4pPr>
            <a:lvl5pPr>
              <a:buNone/>
              <a:defRPr sz="1600" b="1"/>
            </a:lvl5pPr>
            <a:extLst/>
          </a:lstStyle>
          <a:p>
            <a:pPr lvl="0"/>
            <a:r>
              <a:rPr lang="zh-CN" altLang="en-US"/>
              <a:t>单击此处编辑母版文本样式</a:t>
            </a:r>
          </a:p>
        </p:txBody>
      </p:sp>
      <p:sp>
        <p:nvSpPr>
          <p:cNvPr id="5" name="内容占位符 4"/>
          <p:cNvSpPr>
            <a:spLocks noGrp="1"/>
          </p:cNvSpPr>
          <p:nvPr>
            <p:ph sz="quarter" idx="2"/>
          </p:nvPr>
        </p:nvSpPr>
        <p:spPr>
          <a:xfrm>
            <a:off x="457200" y="2362200"/>
            <a:ext cx="4040188" cy="3941763"/>
          </a:xfrm>
        </p:spPr>
        <p:txBody>
          <a:bodyPr/>
          <a:lstStyle>
            <a:lvl1pPr>
              <a:defRPr sz="2200"/>
            </a:lvl1pPr>
            <a:lvl2pPr>
              <a:defRPr sz="2000"/>
            </a:lvl2pPr>
            <a:lvl3pPr>
              <a:defRPr sz="1800"/>
            </a:lvl3pPr>
            <a:lvl4pPr>
              <a:defRPr sz="1600"/>
            </a:lvl4pPr>
            <a:lvl5pPr>
              <a:defRPr sz="1600"/>
            </a:lvl5pPr>
            <a:extLs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内容占位符 5"/>
          <p:cNvSpPr>
            <a:spLocks noGrp="1"/>
          </p:cNvSpPr>
          <p:nvPr>
            <p:ph sz="quarter" idx="4"/>
          </p:nvPr>
        </p:nvSpPr>
        <p:spPr>
          <a:xfrm>
            <a:off x="4645025" y="2362200"/>
            <a:ext cx="4041775" cy="3941763"/>
          </a:xfrm>
        </p:spPr>
        <p:txBody>
          <a:bodyPr/>
          <a:lstStyle>
            <a:lvl1pPr>
              <a:defRPr sz="2200"/>
            </a:lvl1pPr>
            <a:lvl2pPr>
              <a:defRPr sz="2000"/>
            </a:lvl2pPr>
            <a:lvl3pPr>
              <a:defRPr sz="1800"/>
            </a:lvl3pPr>
            <a:lvl4pPr>
              <a:defRPr sz="1600"/>
            </a:lvl4pPr>
            <a:lvl5pPr>
              <a:defRPr sz="1600"/>
            </a:lvl5pPr>
            <a:extLs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9" name="日期占位符 6"/>
          <p:cNvSpPr>
            <a:spLocks noGrp="1"/>
          </p:cNvSpPr>
          <p:nvPr>
            <p:ph type="dt" sz="half" idx="10"/>
          </p:nvPr>
        </p:nvSpPr>
        <p:spPr/>
        <p:txBody>
          <a:bodyPr/>
          <a:lstStyle>
            <a:lvl1pPr>
              <a:defRPr/>
            </a:lvl1pPr>
            <a:extLst/>
          </a:lstStyle>
          <a:p>
            <a:pPr>
              <a:defRPr/>
            </a:pPr>
            <a:fld id="{7DF50744-718D-4A7F-BB96-BC8FBF96B941}" type="datetimeFigureOut">
              <a:rPr lang="zh-CN" altLang="en-US"/>
              <a:pPr>
                <a:defRPr/>
              </a:pPr>
              <a:t>2019/10/19</a:t>
            </a:fld>
            <a:endParaRPr lang="zh-CN" altLang="en-US"/>
          </a:p>
        </p:txBody>
      </p:sp>
      <p:sp>
        <p:nvSpPr>
          <p:cNvPr id="10" name="页脚占位符 7"/>
          <p:cNvSpPr>
            <a:spLocks noGrp="1"/>
          </p:cNvSpPr>
          <p:nvPr>
            <p:ph type="ftr" sz="quarter" idx="11"/>
          </p:nvPr>
        </p:nvSpPr>
        <p:spPr/>
        <p:txBody>
          <a:bodyPr/>
          <a:lstStyle>
            <a:lvl1pPr>
              <a:defRPr/>
            </a:lvl1pPr>
            <a:extLst/>
          </a:lstStyle>
          <a:p>
            <a:pPr>
              <a:defRPr/>
            </a:pPr>
            <a:endParaRPr lang="zh-CN" altLang="en-US"/>
          </a:p>
        </p:txBody>
      </p:sp>
      <p:sp>
        <p:nvSpPr>
          <p:cNvPr id="11" name="灯片编号占位符 8"/>
          <p:cNvSpPr>
            <a:spLocks noGrp="1"/>
          </p:cNvSpPr>
          <p:nvPr>
            <p:ph type="sldNum" sz="quarter" idx="12"/>
          </p:nvPr>
        </p:nvSpPr>
        <p:spPr>
          <a:xfrm>
            <a:off x="8640763" y="6515100"/>
            <a:ext cx="465137" cy="273050"/>
          </a:xfrm>
        </p:spPr>
        <p:txBody>
          <a:bodyPr/>
          <a:lstStyle>
            <a:lvl1pPr>
              <a:defRPr/>
            </a:lvl1pPr>
            <a:extLst/>
          </a:lstStyle>
          <a:p>
            <a:pPr>
              <a:defRPr/>
            </a:pPr>
            <a:fld id="{18E2CC15-6AAA-417A-9E5A-6FE2CF4C8500}" type="slidenum">
              <a:rPr lang="zh-CN" altLang="en-US"/>
              <a:pPr>
                <a:defRPr/>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矩形 6"/>
          <p:cNvSpPr/>
          <p:nvPr/>
        </p:nvSpPr>
        <p:spPr>
          <a:xfrm>
            <a:off x="588963" y="1423988"/>
            <a:ext cx="8001000" cy="9525"/>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标题 1"/>
          <p:cNvSpPr>
            <a:spLocks noGrp="1"/>
          </p:cNvSpPr>
          <p:nvPr>
            <p:ph type="title"/>
          </p:nvPr>
        </p:nvSpPr>
        <p:spPr>
          <a:xfrm>
            <a:off x="457200" y="253218"/>
            <a:ext cx="8229600" cy="1143000"/>
          </a:xfrm>
        </p:spPr>
        <p:txBody>
          <a:bodyPr/>
          <a:lstStyle/>
          <a:p>
            <a:r>
              <a:rPr lang="zh-CN" altLang="en-US"/>
              <a:t>单击此处编辑母版标题样式</a:t>
            </a:r>
            <a:endParaRPr lang="en-US"/>
          </a:p>
        </p:txBody>
      </p:sp>
      <p:sp>
        <p:nvSpPr>
          <p:cNvPr id="4" name="日期占位符 2"/>
          <p:cNvSpPr>
            <a:spLocks noGrp="1"/>
          </p:cNvSpPr>
          <p:nvPr>
            <p:ph type="dt" sz="half" idx="10"/>
          </p:nvPr>
        </p:nvSpPr>
        <p:spPr/>
        <p:txBody>
          <a:bodyPr/>
          <a:lstStyle>
            <a:lvl1pPr>
              <a:defRPr/>
            </a:lvl1pPr>
            <a:extLst/>
          </a:lstStyle>
          <a:p>
            <a:pPr>
              <a:defRPr/>
            </a:pPr>
            <a:fld id="{C382DC40-E05F-4FDF-92BD-813D14F24841}" type="datetimeFigureOut">
              <a:rPr lang="zh-CN" altLang="en-US"/>
              <a:pPr>
                <a:defRPr/>
              </a:pPr>
              <a:t>2019/10/19</a:t>
            </a:fld>
            <a:endParaRPr lang="zh-CN" altLang="en-US"/>
          </a:p>
        </p:txBody>
      </p:sp>
      <p:sp>
        <p:nvSpPr>
          <p:cNvPr id="5" name="页脚占位符 3"/>
          <p:cNvSpPr>
            <a:spLocks noGrp="1"/>
          </p:cNvSpPr>
          <p:nvPr>
            <p:ph type="ftr" sz="quarter" idx="11"/>
          </p:nvPr>
        </p:nvSpPr>
        <p:spPr/>
        <p:txBody>
          <a:bodyPr/>
          <a:lstStyle>
            <a:lvl1pPr>
              <a:defRPr/>
            </a:lvl1pPr>
            <a:extLst/>
          </a:lstStyle>
          <a:p>
            <a:pPr>
              <a:defRPr/>
            </a:pPr>
            <a:endParaRPr lang="zh-CN" altLang="en-US"/>
          </a:p>
        </p:txBody>
      </p:sp>
      <p:sp>
        <p:nvSpPr>
          <p:cNvPr id="6" name="灯片编号占位符 4"/>
          <p:cNvSpPr>
            <a:spLocks noGrp="1"/>
          </p:cNvSpPr>
          <p:nvPr>
            <p:ph type="sldNum" sz="quarter" idx="12"/>
          </p:nvPr>
        </p:nvSpPr>
        <p:spPr/>
        <p:txBody>
          <a:bodyPr/>
          <a:lstStyle>
            <a:lvl1pPr>
              <a:defRPr/>
            </a:lvl1pPr>
            <a:extLst/>
          </a:lstStyle>
          <a:p>
            <a:pPr>
              <a:defRPr/>
            </a:pPr>
            <a:fld id="{559016BC-C5DD-4D72-8075-44C1BDF55170}" type="slidenum">
              <a:rPr lang="zh-CN" altLang="en-US"/>
              <a:pPr>
                <a:defRPr/>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2"/>
          <p:cNvSpPr>
            <a:spLocks noGrp="1"/>
          </p:cNvSpPr>
          <p:nvPr>
            <p:ph type="ftr" sz="quarter" idx="10"/>
          </p:nvPr>
        </p:nvSpPr>
        <p:spPr/>
        <p:txBody>
          <a:bodyPr/>
          <a:lstStyle>
            <a:lvl1pPr>
              <a:defRPr/>
            </a:lvl1pPr>
          </a:lstStyle>
          <a:p>
            <a:pPr>
              <a:defRPr/>
            </a:pPr>
            <a:endParaRPr lang="zh-CN" altLang="en-US"/>
          </a:p>
        </p:txBody>
      </p:sp>
      <p:sp>
        <p:nvSpPr>
          <p:cNvPr id="3" name="日期占位符 13"/>
          <p:cNvSpPr>
            <a:spLocks noGrp="1"/>
          </p:cNvSpPr>
          <p:nvPr>
            <p:ph type="dt" sz="half" idx="11"/>
          </p:nvPr>
        </p:nvSpPr>
        <p:spPr/>
        <p:txBody>
          <a:bodyPr/>
          <a:lstStyle>
            <a:lvl1pPr>
              <a:defRPr/>
            </a:lvl1pPr>
          </a:lstStyle>
          <a:p>
            <a:pPr>
              <a:defRPr/>
            </a:pPr>
            <a:fld id="{2D4BAFC0-5498-4313-BB40-B5A164ADEDC0}" type="datetimeFigureOut">
              <a:rPr lang="zh-CN" altLang="en-US"/>
              <a:pPr>
                <a:defRPr/>
              </a:pPr>
              <a:t>2019/10/19</a:t>
            </a:fld>
            <a:endParaRPr lang="zh-CN" altLang="en-US"/>
          </a:p>
        </p:txBody>
      </p:sp>
      <p:sp>
        <p:nvSpPr>
          <p:cNvPr id="4" name="灯片编号占位符 22"/>
          <p:cNvSpPr>
            <a:spLocks noGrp="1"/>
          </p:cNvSpPr>
          <p:nvPr>
            <p:ph type="sldNum" sz="quarter" idx="12"/>
          </p:nvPr>
        </p:nvSpPr>
        <p:spPr/>
        <p:txBody>
          <a:bodyPr/>
          <a:lstStyle>
            <a:lvl1pPr>
              <a:defRPr/>
            </a:lvl1pPr>
          </a:lstStyle>
          <a:p>
            <a:pPr>
              <a:defRPr/>
            </a:pPr>
            <a:fld id="{468CD362-E0E4-4082-A33B-306102B98CEB}" type="slidenum">
              <a:rPr lang="zh-CN" altLang="en-US"/>
              <a:pPr>
                <a:defRPr/>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Ref idx="1001">
        <a:schemeClr val="bg2"/>
      </p:bgRef>
    </p:bg>
    <p:spTree>
      <p:nvGrpSpPr>
        <p:cNvPr id="1" name=""/>
        <p:cNvGrpSpPr/>
        <p:nvPr/>
      </p:nvGrpSpPr>
      <p:grpSpPr>
        <a:xfrm>
          <a:off x="0" y="0"/>
          <a:ext cx="0" cy="0"/>
          <a:chOff x="0" y="0"/>
          <a:chExt cx="0" cy="0"/>
        </a:xfrm>
      </p:grpSpPr>
      <p:sp>
        <p:nvSpPr>
          <p:cNvPr id="5" name="矩形 7"/>
          <p:cNvSpPr/>
          <p:nvPr/>
        </p:nvSpPr>
        <p:spPr>
          <a:xfrm>
            <a:off x="5057775" y="1057275"/>
            <a:ext cx="3748088" cy="9525"/>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标题 1"/>
          <p:cNvSpPr>
            <a:spLocks noGrp="1"/>
          </p:cNvSpPr>
          <p:nvPr>
            <p:ph type="title"/>
          </p:nvPr>
        </p:nvSpPr>
        <p:spPr>
          <a:xfrm>
            <a:off x="4963136" y="304800"/>
            <a:ext cx="3931920" cy="762000"/>
          </a:xfrm>
        </p:spPr>
        <p:txBody>
          <a:bodyPr/>
          <a:lstStyle>
            <a:lvl1pPr marL="0" algn="r">
              <a:buNone/>
              <a:defRPr sz="2000" b="1"/>
            </a:lvl1pPr>
            <a:extLst/>
          </a:lstStyle>
          <a:p>
            <a:r>
              <a:rPr lang="zh-CN" altLang="en-US"/>
              <a:t>单击此处编辑母版标题样式</a:t>
            </a:r>
            <a:endParaRPr lang="en-US"/>
          </a:p>
        </p:txBody>
      </p:sp>
      <p:sp>
        <p:nvSpPr>
          <p:cNvPr id="3" name="文本占位符 2"/>
          <p:cNvSpPr>
            <a:spLocks noGrp="1"/>
          </p:cNvSpPr>
          <p:nvPr>
            <p:ph type="body" idx="2"/>
          </p:nvPr>
        </p:nvSpPr>
        <p:spPr>
          <a:xfrm>
            <a:off x="4963136" y="1107560"/>
            <a:ext cx="3931920" cy="1066800"/>
          </a:xfrm>
        </p:spPr>
        <p:txBody>
          <a:bodyPr/>
          <a:lstStyle>
            <a:lvl1pPr marL="0" indent="0" algn="r">
              <a:spcBef>
                <a:spcPts val="0"/>
              </a:spcBef>
              <a:buNone/>
              <a:defRPr sz="1400"/>
            </a:lvl1pPr>
            <a:lvl2pPr>
              <a:buNone/>
              <a:defRPr sz="1200"/>
            </a:lvl2pPr>
            <a:lvl3pPr>
              <a:buNone/>
              <a:defRPr sz="1000"/>
            </a:lvl3pPr>
            <a:lvl4pPr>
              <a:buNone/>
              <a:defRPr sz="900"/>
            </a:lvl4pPr>
            <a:lvl5pPr>
              <a:buNone/>
              <a:defRPr sz="900"/>
            </a:lvl5pPr>
            <a:extLst/>
          </a:lstStyle>
          <a:p>
            <a:pPr lvl="0"/>
            <a:r>
              <a:rPr lang="zh-CN" altLang="en-US"/>
              <a:t>单击此处编辑母版文本样式</a:t>
            </a:r>
          </a:p>
        </p:txBody>
      </p:sp>
      <p:sp>
        <p:nvSpPr>
          <p:cNvPr id="4" name="内容占位符 3"/>
          <p:cNvSpPr>
            <a:spLocks noGrp="1"/>
          </p:cNvSpPr>
          <p:nvPr>
            <p:ph sz="half" idx="1"/>
          </p:nvPr>
        </p:nvSpPr>
        <p:spPr>
          <a:xfrm>
            <a:off x="228600" y="2209800"/>
            <a:ext cx="8666456" cy="3977640"/>
          </a:xfrm>
        </p:spPr>
        <p:txBody>
          <a:bodyPr/>
          <a:lstStyle>
            <a:lvl1pPr marL="292608">
              <a:defRPr sz="3200"/>
            </a:lvl1pPr>
            <a:lvl2pPr marL="594360">
              <a:defRPr sz="2800"/>
            </a:lvl2pPr>
            <a:lvl3pPr marL="822960">
              <a:defRPr sz="2400"/>
            </a:lvl3pPr>
            <a:lvl4pPr marL="1051560">
              <a:defRPr sz="2000"/>
            </a:lvl4pPr>
            <a:lvl5pPr marL="1261872">
              <a:defRPr sz="2000"/>
            </a:lvl5pPr>
            <a:extLs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日期占位符 8"/>
          <p:cNvSpPr>
            <a:spLocks noGrp="1"/>
          </p:cNvSpPr>
          <p:nvPr>
            <p:ph type="dt" sz="half" idx="10"/>
          </p:nvPr>
        </p:nvSpPr>
        <p:spPr>
          <a:xfrm>
            <a:off x="5562600" y="6513513"/>
            <a:ext cx="3001963" cy="274637"/>
          </a:xfrm>
        </p:spPr>
        <p:txBody>
          <a:bodyPr vert="horz" rtlCol="0"/>
          <a:lstStyle>
            <a:lvl1pPr>
              <a:defRPr/>
            </a:lvl1pPr>
            <a:extLst/>
          </a:lstStyle>
          <a:p>
            <a:pPr>
              <a:defRPr/>
            </a:pPr>
            <a:fld id="{DD615F9C-050F-4891-8BA2-CD8C39A05033}" type="datetimeFigureOut">
              <a:rPr lang="zh-CN" altLang="en-US"/>
              <a:pPr>
                <a:defRPr/>
              </a:pPr>
              <a:t>2019/10/19</a:t>
            </a:fld>
            <a:endParaRPr lang="zh-CN" altLang="en-US"/>
          </a:p>
        </p:txBody>
      </p:sp>
      <p:sp>
        <p:nvSpPr>
          <p:cNvPr id="7" name="灯片编号占位符 9"/>
          <p:cNvSpPr>
            <a:spLocks noGrp="1"/>
          </p:cNvSpPr>
          <p:nvPr>
            <p:ph type="sldNum" sz="quarter" idx="11"/>
          </p:nvPr>
        </p:nvSpPr>
        <p:spPr>
          <a:xfrm>
            <a:off x="8639175" y="6513513"/>
            <a:ext cx="463550" cy="274637"/>
          </a:xfrm>
        </p:spPr>
        <p:txBody>
          <a:bodyPr vert="horz" rtlCol="0"/>
          <a:lstStyle>
            <a:lvl1pPr>
              <a:defRPr smtClean="0">
                <a:solidFill>
                  <a:schemeClr val="tx2">
                    <a:shade val="90000"/>
                  </a:schemeClr>
                </a:solidFill>
              </a:defRPr>
            </a:lvl1pPr>
            <a:extLst/>
          </a:lstStyle>
          <a:p>
            <a:pPr>
              <a:defRPr/>
            </a:pPr>
            <a:fld id="{3124FE37-2EA7-467F-8E2A-6928179E0C9E}" type="slidenum">
              <a:rPr lang="zh-CN" altLang="en-US"/>
              <a:pPr>
                <a:defRPr/>
              </a:pPr>
              <a:t>‹#›</a:t>
            </a:fld>
            <a:endParaRPr lang="zh-CN" altLang="en-US"/>
          </a:p>
        </p:txBody>
      </p:sp>
      <p:sp>
        <p:nvSpPr>
          <p:cNvPr id="8" name="页脚占位符 10"/>
          <p:cNvSpPr>
            <a:spLocks noGrp="1"/>
          </p:cNvSpPr>
          <p:nvPr>
            <p:ph type="ftr" sz="quarter" idx="12"/>
          </p:nvPr>
        </p:nvSpPr>
        <p:spPr>
          <a:xfrm>
            <a:off x="1600200" y="6513513"/>
            <a:ext cx="3906838" cy="274637"/>
          </a:xfrm>
        </p:spPr>
        <p:txBody>
          <a:bodyPr vert="horz" rtlCol="0"/>
          <a:lstStyle>
            <a:lvl1pPr>
              <a:defRPr/>
            </a:lvl1pPr>
            <a:extLst/>
          </a:lstStyle>
          <a:p>
            <a:pPr>
              <a:defRPr/>
            </a:pPr>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3040443" y="4724400"/>
            <a:ext cx="5486400" cy="664536"/>
          </a:xfrm>
        </p:spPr>
        <p:txBody>
          <a:bodyPr/>
          <a:lstStyle>
            <a:lvl1pPr marL="0" algn="r">
              <a:buNone/>
              <a:defRPr sz="2000" b="1"/>
            </a:lvl1pPr>
            <a:extLst/>
          </a:lstStyle>
          <a:p>
            <a:r>
              <a:rPr lang="zh-CN" altLang="en-US"/>
              <a:t>单击此处编辑母版标题样式</a:t>
            </a:r>
            <a:endParaRPr lang="en-US"/>
          </a:p>
        </p:txBody>
      </p:sp>
      <p:sp>
        <p:nvSpPr>
          <p:cNvPr id="4" name="文本占位符 3"/>
          <p:cNvSpPr>
            <a:spLocks noGrp="1"/>
          </p:cNvSpPr>
          <p:nvPr>
            <p:ph type="body" sz="half" idx="2"/>
          </p:nvPr>
        </p:nvSpPr>
        <p:spPr>
          <a:xfrm>
            <a:off x="3040443" y="5388936"/>
            <a:ext cx="5486400" cy="912255"/>
          </a:xfrm>
        </p:spPr>
        <p:txBody>
          <a:bodyPr/>
          <a:lstStyle>
            <a:lvl1pPr marL="0" indent="0" algn="r">
              <a:spcBef>
                <a:spcPts val="0"/>
              </a:spcBef>
              <a:buNone/>
              <a:defRPr sz="1400"/>
            </a:lvl1pPr>
            <a:lvl2pPr>
              <a:defRPr sz="1200"/>
            </a:lvl2pPr>
            <a:lvl3pPr>
              <a:defRPr sz="1000"/>
            </a:lvl3pPr>
            <a:lvl4pPr>
              <a:defRPr sz="900"/>
            </a:lvl4pPr>
            <a:lvl5pPr>
              <a:defRPr sz="900"/>
            </a:lvl5pPr>
            <a:extLst/>
          </a:lstStyle>
          <a:p>
            <a:pPr lvl="0"/>
            <a:r>
              <a:rPr lang="zh-CN" altLang="en-US"/>
              <a:t>单击此处编辑母版文本样式</a:t>
            </a:r>
          </a:p>
        </p:txBody>
      </p:sp>
      <p:sp>
        <p:nvSpPr>
          <p:cNvPr id="13" name="图片占位符 12"/>
          <p:cNvSpPr>
            <a:spLocks noGrp="1"/>
          </p:cNvSpPr>
          <p:nvPr>
            <p:ph type="pic" idx="1"/>
          </p:nvPr>
        </p:nvSpPr>
        <p:spPr>
          <a:xfrm>
            <a:off x="304800" y="249864"/>
            <a:ext cx="8534400" cy="4343400"/>
          </a:xfrm>
          <a:prstGeom prst="round2DiagRect">
            <a:avLst>
              <a:gd name="adj1" fmla="val 11403"/>
              <a:gd name="adj2" fmla="val 0"/>
            </a:avLst>
          </a:prstGeom>
          <a:solidFill>
            <a:schemeClr val="bg2">
              <a:tint val="85000"/>
              <a:shade val="90000"/>
              <a:satMod val="150000"/>
              <a:alpha val="65000"/>
            </a:schemeClr>
          </a:solidFill>
          <a:ln w="11000" cap="rnd" cmpd="sng" algn="ctr">
            <a:solidFill>
              <a:schemeClr val="bg2">
                <a:tint val="78000"/>
                <a:satMod val="180000"/>
                <a:alpha val="88000"/>
              </a:schemeClr>
            </a:solidFill>
            <a:prstDash val="solid"/>
          </a:ln>
          <a:effectLst>
            <a:innerShdw blurRad="114300">
              <a:srgbClr val="000000">
                <a:alpha val="100000"/>
              </a:srgbClr>
            </a:innerShdw>
          </a:effectLst>
        </p:spPr>
        <p:style>
          <a:lnRef idx="3">
            <a:schemeClr val="lt1"/>
          </a:lnRef>
          <a:fillRef idx="1">
            <a:schemeClr val="accent1"/>
          </a:fillRef>
          <a:effectRef idx="1">
            <a:schemeClr val="accent1"/>
          </a:effectRef>
          <a:fontRef idx="minor">
            <a:schemeClr val="lt1"/>
          </a:fontRef>
        </p:style>
        <p:txBody>
          <a:bodyPr>
            <a:normAutofit/>
          </a:bodyPr>
          <a:lstStyle>
            <a:lvl1pPr indent="0">
              <a:buNone/>
              <a:defRPr sz="3200"/>
            </a:lvl1pPr>
            <a:extLst/>
          </a:lstStyle>
          <a:p>
            <a:pPr lvl="0"/>
            <a:r>
              <a:rPr lang="zh-CN" altLang="en-US" noProof="0"/>
              <a:t>单击图标添加图片</a:t>
            </a:r>
            <a:endParaRPr lang="en-US" noProof="0" dirty="0"/>
          </a:p>
        </p:txBody>
      </p:sp>
      <p:sp>
        <p:nvSpPr>
          <p:cNvPr id="5" name="日期占位符 7"/>
          <p:cNvSpPr>
            <a:spLocks noGrp="1"/>
          </p:cNvSpPr>
          <p:nvPr>
            <p:ph type="dt" sz="half" idx="10"/>
          </p:nvPr>
        </p:nvSpPr>
        <p:spPr>
          <a:xfrm>
            <a:off x="5562600" y="6508750"/>
            <a:ext cx="3001963" cy="274638"/>
          </a:xfrm>
        </p:spPr>
        <p:txBody>
          <a:bodyPr vert="horz" rtlCol="0"/>
          <a:lstStyle>
            <a:lvl1pPr>
              <a:defRPr/>
            </a:lvl1pPr>
            <a:extLst/>
          </a:lstStyle>
          <a:p>
            <a:pPr>
              <a:defRPr/>
            </a:pPr>
            <a:fld id="{3502BD55-7958-4CE4-B5DF-AADA53E5A1FC}" type="datetimeFigureOut">
              <a:rPr lang="zh-CN" altLang="en-US"/>
              <a:pPr>
                <a:defRPr/>
              </a:pPr>
              <a:t>2019/10/19</a:t>
            </a:fld>
            <a:endParaRPr lang="zh-CN" altLang="en-US"/>
          </a:p>
        </p:txBody>
      </p:sp>
      <p:sp>
        <p:nvSpPr>
          <p:cNvPr id="6" name="灯片编号占位符 8"/>
          <p:cNvSpPr>
            <a:spLocks noGrp="1"/>
          </p:cNvSpPr>
          <p:nvPr>
            <p:ph type="sldNum" sz="quarter" idx="11"/>
          </p:nvPr>
        </p:nvSpPr>
        <p:spPr>
          <a:xfrm>
            <a:off x="8639175" y="6508750"/>
            <a:ext cx="463550" cy="274638"/>
          </a:xfrm>
        </p:spPr>
        <p:txBody>
          <a:bodyPr vert="horz" rtlCol="0"/>
          <a:lstStyle>
            <a:lvl1pPr>
              <a:defRPr smtClean="0">
                <a:solidFill>
                  <a:schemeClr val="tx2">
                    <a:shade val="90000"/>
                  </a:schemeClr>
                </a:solidFill>
              </a:defRPr>
            </a:lvl1pPr>
            <a:extLst/>
          </a:lstStyle>
          <a:p>
            <a:pPr>
              <a:defRPr/>
            </a:pPr>
            <a:fld id="{3CC38F6B-0C63-470E-BF12-9F668C5AF625}" type="slidenum">
              <a:rPr lang="zh-CN" altLang="en-US"/>
              <a:pPr>
                <a:defRPr/>
              </a:pPr>
              <a:t>‹#›</a:t>
            </a:fld>
            <a:endParaRPr lang="zh-CN" altLang="en-US"/>
          </a:p>
        </p:txBody>
      </p:sp>
      <p:sp>
        <p:nvSpPr>
          <p:cNvPr id="7" name="页脚占位符 9"/>
          <p:cNvSpPr>
            <a:spLocks noGrp="1"/>
          </p:cNvSpPr>
          <p:nvPr>
            <p:ph type="ftr" sz="quarter" idx="12"/>
          </p:nvPr>
        </p:nvSpPr>
        <p:spPr>
          <a:xfrm>
            <a:off x="1600200" y="6508750"/>
            <a:ext cx="3906838" cy="274638"/>
          </a:xfrm>
        </p:spPr>
        <p:txBody>
          <a:bodyPr vert="horz" rtlCol="0"/>
          <a:lstStyle>
            <a:lvl1pPr>
              <a:defRPr/>
            </a:lvl1pPr>
            <a:extLst/>
          </a:lstStyle>
          <a:p>
            <a:pPr>
              <a:defRPr/>
            </a:pP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页脚占位符 2"/>
          <p:cNvSpPr>
            <a:spLocks noGrp="1"/>
          </p:cNvSpPr>
          <p:nvPr>
            <p:ph type="ftr" sz="quarter" idx="10"/>
          </p:nvPr>
        </p:nvSpPr>
        <p:spPr/>
        <p:txBody>
          <a:bodyPr/>
          <a:lstStyle>
            <a:lvl1pPr>
              <a:defRPr/>
            </a:lvl1pPr>
          </a:lstStyle>
          <a:p>
            <a:pPr>
              <a:defRPr/>
            </a:pPr>
            <a:endParaRPr lang="zh-CN" altLang="en-US"/>
          </a:p>
        </p:txBody>
      </p:sp>
      <p:sp>
        <p:nvSpPr>
          <p:cNvPr id="5" name="日期占位符 13"/>
          <p:cNvSpPr>
            <a:spLocks noGrp="1"/>
          </p:cNvSpPr>
          <p:nvPr>
            <p:ph type="dt" sz="half" idx="11"/>
          </p:nvPr>
        </p:nvSpPr>
        <p:spPr/>
        <p:txBody>
          <a:bodyPr/>
          <a:lstStyle>
            <a:lvl1pPr>
              <a:defRPr/>
            </a:lvl1pPr>
          </a:lstStyle>
          <a:p>
            <a:pPr>
              <a:defRPr/>
            </a:pPr>
            <a:fld id="{990510AA-DB96-48A2-849F-81AB42484D4B}" type="datetimeFigureOut">
              <a:rPr lang="zh-CN" altLang="en-US"/>
              <a:pPr>
                <a:defRPr/>
              </a:pPr>
              <a:t>2019/10/19</a:t>
            </a:fld>
            <a:endParaRPr lang="zh-CN" altLang="en-US"/>
          </a:p>
        </p:txBody>
      </p:sp>
      <p:sp>
        <p:nvSpPr>
          <p:cNvPr id="6" name="灯片编号占位符 22"/>
          <p:cNvSpPr>
            <a:spLocks noGrp="1"/>
          </p:cNvSpPr>
          <p:nvPr>
            <p:ph type="sldNum" sz="quarter" idx="12"/>
          </p:nvPr>
        </p:nvSpPr>
        <p:spPr/>
        <p:txBody>
          <a:bodyPr/>
          <a:lstStyle>
            <a:lvl1pPr>
              <a:defRPr/>
            </a:lvl1pPr>
          </a:lstStyle>
          <a:p>
            <a:pPr>
              <a:defRPr/>
            </a:pPr>
            <a:fld id="{9988F770-1746-416C-8B01-65AE8A626B19}" type="slidenum">
              <a:rPr lang="zh-CN" altLang="en-US"/>
              <a:pPr>
                <a:defRPr/>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lvl1pPr algn="l">
              <a:defRPr/>
            </a:lvl1pPr>
            <a:extLs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页脚占位符 2"/>
          <p:cNvSpPr>
            <a:spLocks noGrp="1"/>
          </p:cNvSpPr>
          <p:nvPr>
            <p:ph type="ftr" sz="quarter" idx="10"/>
          </p:nvPr>
        </p:nvSpPr>
        <p:spPr/>
        <p:txBody>
          <a:bodyPr/>
          <a:lstStyle>
            <a:lvl1pPr>
              <a:defRPr/>
            </a:lvl1pPr>
          </a:lstStyle>
          <a:p>
            <a:pPr>
              <a:defRPr/>
            </a:pPr>
            <a:endParaRPr lang="zh-CN" altLang="en-US"/>
          </a:p>
        </p:txBody>
      </p:sp>
      <p:sp>
        <p:nvSpPr>
          <p:cNvPr id="5" name="日期占位符 13"/>
          <p:cNvSpPr>
            <a:spLocks noGrp="1"/>
          </p:cNvSpPr>
          <p:nvPr>
            <p:ph type="dt" sz="half" idx="11"/>
          </p:nvPr>
        </p:nvSpPr>
        <p:spPr/>
        <p:txBody>
          <a:bodyPr/>
          <a:lstStyle>
            <a:lvl1pPr>
              <a:defRPr/>
            </a:lvl1pPr>
          </a:lstStyle>
          <a:p>
            <a:pPr>
              <a:defRPr/>
            </a:pPr>
            <a:fld id="{3EF04B0E-13B3-4E21-A54D-79D5AD08B2C9}" type="datetimeFigureOut">
              <a:rPr lang="zh-CN" altLang="en-US"/>
              <a:pPr>
                <a:defRPr/>
              </a:pPr>
              <a:t>2019/10/19</a:t>
            </a:fld>
            <a:endParaRPr lang="zh-CN" altLang="en-US"/>
          </a:p>
        </p:txBody>
      </p:sp>
      <p:sp>
        <p:nvSpPr>
          <p:cNvPr id="6" name="灯片编号占位符 22"/>
          <p:cNvSpPr>
            <a:spLocks noGrp="1"/>
          </p:cNvSpPr>
          <p:nvPr>
            <p:ph type="sldNum" sz="quarter" idx="12"/>
          </p:nvPr>
        </p:nvSpPr>
        <p:spPr/>
        <p:txBody>
          <a:bodyPr/>
          <a:lstStyle>
            <a:lvl1pPr>
              <a:defRPr/>
            </a:lvl1pPr>
          </a:lstStyle>
          <a:p>
            <a:pPr>
              <a:defRPr/>
            </a:pPr>
            <a:fld id="{12DA4C31-5048-4B29-A6B3-23331B4B37BB}" type="slidenum">
              <a:rPr lang="zh-CN" altLang="en-US"/>
              <a:pPr>
                <a:defRPr/>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533400" y="0"/>
            <a:ext cx="8610600" cy="62023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randomBar dir="vert"/>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chart">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2133600" y="0"/>
            <a:ext cx="7010400" cy="1484313"/>
          </a:xfrm>
        </p:spPr>
        <p:txBody>
          <a:bodyPr/>
          <a:lstStyle/>
          <a:p>
            <a:r>
              <a:rPr lang="zh-CN" altLang="en-US"/>
              <a:t>单击此处编辑母版标题样式</a:t>
            </a:r>
          </a:p>
        </p:txBody>
      </p:sp>
      <p:sp>
        <p:nvSpPr>
          <p:cNvPr id="3" name="图表占位符 2"/>
          <p:cNvSpPr>
            <a:spLocks noGrp="1"/>
          </p:cNvSpPr>
          <p:nvPr>
            <p:ph type="chart" idx="1"/>
          </p:nvPr>
        </p:nvSpPr>
        <p:spPr>
          <a:xfrm>
            <a:off x="533400" y="1676400"/>
            <a:ext cx="8229600" cy="4525963"/>
          </a:xfrm>
        </p:spPr>
        <p:txBody>
          <a:bodyPr>
            <a:normAutofit/>
          </a:bodyPr>
          <a:lstStyle/>
          <a:p>
            <a:pPr lvl="0"/>
            <a:endParaRPr lang="zh-CN" altLang="en-US" noProof="0"/>
          </a:p>
        </p:txBody>
      </p:sp>
    </p:spTree>
  </p:cSld>
  <p:clrMapOvr>
    <a:masterClrMapping/>
  </p:clrMapOvr>
  <p:transition spd="med">
    <p:randomBar dir="vert"/>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2133600" y="0"/>
            <a:ext cx="7010400" cy="1484313"/>
          </a:xfrm>
        </p:spPr>
        <p:txBody>
          <a:bodyPr/>
          <a:lstStyle/>
          <a:p>
            <a:r>
              <a:rPr lang="zh-CN" altLang="en-US"/>
              <a:t>单击此处编辑母版标题样式</a:t>
            </a:r>
          </a:p>
        </p:txBody>
      </p:sp>
      <p:sp>
        <p:nvSpPr>
          <p:cNvPr id="3" name="表格占位符 2"/>
          <p:cNvSpPr>
            <a:spLocks noGrp="1"/>
          </p:cNvSpPr>
          <p:nvPr>
            <p:ph type="tbl" idx="1"/>
          </p:nvPr>
        </p:nvSpPr>
        <p:spPr>
          <a:xfrm>
            <a:off x="533400" y="1676400"/>
            <a:ext cx="8229600" cy="4525963"/>
          </a:xfrm>
        </p:spPr>
        <p:txBody>
          <a:bodyPr>
            <a:normAutofit/>
          </a:bodyPr>
          <a:lstStyle/>
          <a:p>
            <a:pPr lvl="0"/>
            <a:endParaRPr lang="zh-CN" altLang="en-US" noProof="0"/>
          </a:p>
        </p:txBody>
      </p:sp>
    </p:spTree>
  </p:cSld>
  <p:clrMapOvr>
    <a:masterClrMapping/>
  </p:clrMapOvr>
  <p:transition spd="med">
    <p:randomBar dir="vert"/>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133600" y="0"/>
            <a:ext cx="7010400" cy="1484313"/>
          </a:xfrm>
        </p:spPr>
        <p:txBody>
          <a:bodyPr/>
          <a:lstStyle/>
          <a:p>
            <a:r>
              <a:rPr lang="zh-CN" altLang="en-US"/>
              <a:t>单击此处编辑母版标题样式</a:t>
            </a:r>
          </a:p>
        </p:txBody>
      </p:sp>
      <p:sp>
        <p:nvSpPr>
          <p:cNvPr id="3" name="文本占位符 2"/>
          <p:cNvSpPr>
            <a:spLocks noGrp="1"/>
          </p:cNvSpPr>
          <p:nvPr>
            <p:ph type="body" sz="half" idx="1"/>
          </p:nvPr>
        </p:nvSpPr>
        <p:spPr>
          <a:xfrm>
            <a:off x="533400" y="16764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24400" y="16764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randomBar dir="vert"/>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xAndTwoObj">
  <p:cSld name="标题、文本和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2596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quarter" idx="2"/>
          </p:nvPr>
        </p:nvSpPr>
        <p:spPr>
          <a:xfrm>
            <a:off x="4648200" y="1600200"/>
            <a:ext cx="4038600" cy="21859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内容占位符 4"/>
          <p:cNvSpPr>
            <a:spLocks noGrp="1"/>
          </p:cNvSpPr>
          <p:nvPr>
            <p:ph sz="quarter" idx="3"/>
          </p:nvPr>
        </p:nvSpPr>
        <p:spPr>
          <a:xfrm>
            <a:off x="4648200" y="3938588"/>
            <a:ext cx="4038600" cy="218757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日期占位符 5"/>
          <p:cNvSpPr>
            <a:spLocks noGrp="1"/>
          </p:cNvSpPr>
          <p:nvPr>
            <p:ph type="dt" sz="half" idx="10"/>
          </p:nvPr>
        </p:nvSpPr>
        <p:spPr>
          <a:xfrm>
            <a:off x="457200" y="6245225"/>
            <a:ext cx="2133600" cy="476250"/>
          </a:xfrm>
        </p:spPr>
        <p:txBody>
          <a:bodyPr/>
          <a:lstStyle>
            <a:lvl1pPr>
              <a:defRPr/>
            </a:lvl1pPr>
          </a:lstStyle>
          <a:p>
            <a:endParaRPr lang="en-US" altLang="zh-CN"/>
          </a:p>
        </p:txBody>
      </p:sp>
      <p:sp>
        <p:nvSpPr>
          <p:cNvPr id="7" name="页脚占位符 6"/>
          <p:cNvSpPr>
            <a:spLocks noGrp="1"/>
          </p:cNvSpPr>
          <p:nvPr>
            <p:ph type="ftr" sz="quarter" idx="11"/>
          </p:nvPr>
        </p:nvSpPr>
        <p:spPr>
          <a:xfrm>
            <a:off x="3124200" y="6245225"/>
            <a:ext cx="2895600" cy="476250"/>
          </a:xfrm>
        </p:spPr>
        <p:txBody>
          <a:bodyPr/>
          <a:lstStyle>
            <a:lvl1pPr>
              <a:defRPr/>
            </a:lvl1pPr>
          </a:lstStyle>
          <a:p>
            <a:endParaRPr lang="en-US" altLang="zh-CN"/>
          </a:p>
        </p:txBody>
      </p:sp>
      <p:sp>
        <p:nvSpPr>
          <p:cNvPr id="8" name="幻灯片编号占位符 7"/>
          <p:cNvSpPr>
            <a:spLocks noGrp="1"/>
          </p:cNvSpPr>
          <p:nvPr>
            <p:ph type="sldNum" sz="quarter" idx="12"/>
          </p:nvPr>
        </p:nvSpPr>
        <p:spPr>
          <a:xfrm>
            <a:off x="6553200" y="6245225"/>
            <a:ext cx="2133600" cy="476250"/>
          </a:xfrm>
        </p:spPr>
        <p:txBody>
          <a:bodyPr/>
          <a:lstStyle>
            <a:lvl1pPr>
              <a:defRPr/>
            </a:lvl1pPr>
          </a:lstStyle>
          <a:p>
            <a:fld id="{8244A901-F596-CC44-985B-B2B8A1E29E08}" type="slidenum">
              <a:rPr lang="en-US" altLang="zh-CN"/>
              <a:pPr/>
              <a:t>‹#›</a:t>
            </a:fld>
            <a:endParaRPr lang="en-US" altLang="zh-CN"/>
          </a:p>
        </p:txBody>
      </p:sp>
    </p:spTree>
    <p:extLst>
      <p:ext uri="{BB962C8B-B14F-4D97-AF65-F5344CB8AC3E}">
        <p14:creationId xmlns:p14="http://schemas.microsoft.com/office/powerpoint/2010/main" val="40664423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对角圆角矩形 6"/>
          <p:cNvSpPr/>
          <p:nvPr/>
        </p:nvSpPr>
        <p:spPr>
          <a:xfrm>
            <a:off x="164592" y="147085"/>
            <a:ext cx="8810846" cy="6565392"/>
          </a:xfrm>
          <a:prstGeom prst="round2DiagRect">
            <a:avLst>
              <a:gd name="adj1" fmla="val 11807"/>
              <a:gd name="adj2" fmla="val 0"/>
            </a:avLst>
          </a:prstGeom>
          <a:solidFill>
            <a:schemeClr val="bg2">
              <a:tint val="85000"/>
              <a:shade val="90000"/>
              <a:satMod val="150000"/>
              <a:alpha val="65000"/>
            </a:schemeClr>
          </a:solidFill>
          <a:ln w="11000" cap="rnd" cmpd="sng" algn="ctr">
            <a:solidFill>
              <a:schemeClr val="bg2">
                <a:tint val="78000"/>
                <a:satMod val="180000"/>
                <a:alpha val="88000"/>
              </a:schemeClr>
            </a:solidFill>
            <a:prstDash val="solid"/>
          </a:ln>
          <a:effectLst>
            <a:innerShdw blurRad="114300">
              <a:srgbClr val="000000">
                <a:alpha val="10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页脚占位符 2"/>
          <p:cNvSpPr>
            <a:spLocks noGrp="1"/>
          </p:cNvSpPr>
          <p:nvPr>
            <p:ph type="ftr" sz="quarter" idx="3"/>
          </p:nvPr>
        </p:nvSpPr>
        <p:spPr>
          <a:xfrm>
            <a:off x="1295400" y="6400800"/>
            <a:ext cx="4211638" cy="274638"/>
          </a:xfrm>
          <a:prstGeom prst="rect">
            <a:avLst/>
          </a:prstGeom>
        </p:spPr>
        <p:txBody>
          <a:bodyPr/>
          <a:lstStyle>
            <a:lvl1pPr algn="r" eaLnBrk="1" fontAlgn="auto" latinLnBrk="0" hangingPunct="1">
              <a:spcBef>
                <a:spcPts val="0"/>
              </a:spcBef>
              <a:spcAft>
                <a:spcPts val="0"/>
              </a:spcAft>
              <a:defRPr kumimoji="0" sz="1300">
                <a:solidFill>
                  <a:schemeClr val="bg2">
                    <a:tint val="60000"/>
                    <a:satMod val="155000"/>
                  </a:schemeClr>
                </a:solidFill>
                <a:latin typeface="+mn-lt"/>
                <a:ea typeface="+mn-ea"/>
                <a:cs typeface="+mn-cs"/>
              </a:defRPr>
            </a:lvl1pPr>
            <a:extLst/>
          </a:lstStyle>
          <a:p>
            <a:pPr>
              <a:defRPr/>
            </a:pPr>
            <a:endParaRPr lang="zh-CN" altLang="en-US"/>
          </a:p>
        </p:txBody>
      </p:sp>
      <p:sp>
        <p:nvSpPr>
          <p:cNvPr id="14" name="日期占位符 13"/>
          <p:cNvSpPr>
            <a:spLocks noGrp="1"/>
          </p:cNvSpPr>
          <p:nvPr>
            <p:ph type="dt" sz="half" idx="2"/>
          </p:nvPr>
        </p:nvSpPr>
        <p:spPr>
          <a:xfrm>
            <a:off x="5562600" y="6400800"/>
            <a:ext cx="3001963" cy="274638"/>
          </a:xfrm>
          <a:prstGeom prst="rect">
            <a:avLst/>
          </a:prstGeom>
        </p:spPr>
        <p:txBody>
          <a:bodyPr/>
          <a:lstStyle>
            <a:lvl1pPr algn="l" eaLnBrk="1" fontAlgn="auto" latinLnBrk="0" hangingPunct="1">
              <a:spcBef>
                <a:spcPts val="0"/>
              </a:spcBef>
              <a:spcAft>
                <a:spcPts val="0"/>
              </a:spcAft>
              <a:defRPr kumimoji="0" sz="1300" smtClean="0">
                <a:solidFill>
                  <a:schemeClr val="bg2">
                    <a:tint val="60000"/>
                    <a:satMod val="155000"/>
                  </a:schemeClr>
                </a:solidFill>
                <a:latin typeface="+mn-lt"/>
                <a:ea typeface="+mn-ea"/>
                <a:cs typeface="+mn-cs"/>
              </a:defRPr>
            </a:lvl1pPr>
            <a:extLst/>
          </a:lstStyle>
          <a:p>
            <a:pPr>
              <a:defRPr/>
            </a:pPr>
            <a:fld id="{0EB12EA1-4542-4585-83F0-1AFA4A74099F}" type="datetimeFigureOut">
              <a:rPr lang="zh-CN" altLang="en-US"/>
              <a:pPr>
                <a:defRPr/>
              </a:pPr>
              <a:t>2019/10/19</a:t>
            </a:fld>
            <a:endParaRPr lang="zh-CN" altLang="en-US"/>
          </a:p>
        </p:txBody>
      </p:sp>
      <p:sp>
        <p:nvSpPr>
          <p:cNvPr id="23" name="灯片编号占位符 22"/>
          <p:cNvSpPr>
            <a:spLocks noGrp="1"/>
          </p:cNvSpPr>
          <p:nvPr>
            <p:ph type="sldNum" sz="quarter" idx="4"/>
          </p:nvPr>
        </p:nvSpPr>
        <p:spPr>
          <a:xfrm>
            <a:off x="8639175" y="6515100"/>
            <a:ext cx="463550" cy="273050"/>
          </a:xfrm>
          <a:prstGeom prst="rect">
            <a:avLst/>
          </a:prstGeom>
        </p:spPr>
        <p:txBody>
          <a:bodyPr anchor="ctr"/>
          <a:lstStyle>
            <a:lvl1pPr algn="r" eaLnBrk="1" fontAlgn="auto" latinLnBrk="0" hangingPunct="1">
              <a:spcBef>
                <a:spcPts val="0"/>
              </a:spcBef>
              <a:spcAft>
                <a:spcPts val="0"/>
              </a:spcAft>
              <a:defRPr kumimoji="0" sz="1600" smtClean="0">
                <a:solidFill>
                  <a:schemeClr val="tx2">
                    <a:shade val="90000"/>
                  </a:schemeClr>
                </a:solidFill>
                <a:effectLst/>
                <a:latin typeface="+mn-lt"/>
                <a:ea typeface="+mn-ea"/>
                <a:cs typeface="+mn-cs"/>
              </a:defRPr>
            </a:lvl1pPr>
            <a:extLst/>
          </a:lstStyle>
          <a:p>
            <a:pPr>
              <a:defRPr/>
            </a:pPr>
            <a:fld id="{79410C71-666E-4129-8C14-E56ED69F2666}" type="slidenum">
              <a:rPr lang="zh-CN" altLang="en-US"/>
              <a:pPr>
                <a:defRPr/>
              </a:pPr>
              <a:t>‹#›</a:t>
            </a:fld>
            <a:endParaRPr lang="zh-CN" altLang="en-US"/>
          </a:p>
        </p:txBody>
      </p:sp>
      <p:sp>
        <p:nvSpPr>
          <p:cNvPr id="22" name="标题占位符 21"/>
          <p:cNvSpPr>
            <a:spLocks noGrp="1"/>
          </p:cNvSpPr>
          <p:nvPr>
            <p:ph type="title"/>
          </p:nvPr>
        </p:nvSpPr>
        <p:spPr>
          <a:xfrm>
            <a:off x="457200" y="254000"/>
            <a:ext cx="8229600" cy="1143000"/>
          </a:xfrm>
          <a:prstGeom prst="rect">
            <a:avLst/>
          </a:prstGeom>
        </p:spPr>
        <p:txBody>
          <a:bodyPr rIns="91440" anchor="b">
            <a:normAutofit/>
            <a:scene3d>
              <a:camera prst="orthographicFront"/>
              <a:lightRig rig="soft" dir="t">
                <a:rot lat="0" lon="0" rev="2400000"/>
              </a:lightRig>
            </a:scene3d>
            <a:sp3d>
              <a:bevelT w="19050" h="12700"/>
            </a:sp3d>
          </a:bodyPr>
          <a:lstStyle/>
          <a:p>
            <a:r>
              <a:rPr lang="zh-CN" altLang="en-US"/>
              <a:t>单击此处编辑母版标题样式</a:t>
            </a:r>
            <a:endParaRPr lang="en-US"/>
          </a:p>
        </p:txBody>
      </p:sp>
      <p:sp>
        <p:nvSpPr>
          <p:cNvPr id="1033" name="文本占位符 12"/>
          <p:cNvSpPr>
            <a:spLocks noGrp="1"/>
          </p:cNvSpPr>
          <p:nvPr>
            <p:ph type="body" idx="1"/>
          </p:nvPr>
        </p:nvSpPr>
        <p:spPr bwMode="auto">
          <a:xfrm>
            <a:off x="457200" y="1646238"/>
            <a:ext cx="82296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Tree>
  </p:cSld>
  <p:clrMap bg1="dk1" tx1="lt1" bg2="dk2" tx2="lt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76" r:id="rId7"/>
    <p:sldLayoutId id="2147483683" r:id="rId8"/>
    <p:sldLayoutId id="2147483684" r:id="rId9"/>
    <p:sldLayoutId id="2147483675" r:id="rId10"/>
    <p:sldLayoutId id="2147483674" r:id="rId11"/>
    <p:sldLayoutId id="2147483685" r:id="rId12"/>
    <p:sldLayoutId id="2147483686" r:id="rId13"/>
    <p:sldLayoutId id="2147483687" r:id="rId14"/>
    <p:sldLayoutId id="2147483688" r:id="rId15"/>
    <p:sldLayoutId id="2147483689" r:id="rId16"/>
  </p:sldLayoutIdLst>
  <p:txStyles>
    <p:titleStyle>
      <a:lvl1pPr marL="53975" indent="-53975" algn="r" rtl="0" fontAlgn="base">
        <a:spcBef>
          <a:spcPct val="0"/>
        </a:spcBef>
        <a:spcAft>
          <a:spcPct val="0"/>
        </a:spcAft>
        <a:defRPr sz="4600" kern="1200">
          <a:solidFill>
            <a:srgbClr val="C0F7FF"/>
          </a:solidFill>
          <a:effectLst>
            <a:outerShdw blurRad="38100" dist="25500" dir="5400000" algn="tl" rotWithShape="0">
              <a:srgbClr val="000000">
                <a:satMod val="180000"/>
                <a:alpha val="75000"/>
              </a:srgbClr>
            </a:outerShdw>
          </a:effectLst>
          <a:latin typeface="+mj-lt"/>
          <a:ea typeface="+mj-ea"/>
          <a:cs typeface="方正姚体"/>
        </a:defRPr>
      </a:lvl1pPr>
      <a:lvl2pPr marL="53975" indent="-53975" algn="r" rtl="0" fontAlgn="base">
        <a:spcBef>
          <a:spcPct val="0"/>
        </a:spcBef>
        <a:spcAft>
          <a:spcPct val="0"/>
        </a:spcAft>
        <a:defRPr sz="4600">
          <a:solidFill>
            <a:srgbClr val="C0F7FF"/>
          </a:solidFill>
          <a:latin typeface="Rockwell"/>
          <a:ea typeface="方正姚体"/>
          <a:cs typeface="方正姚体"/>
        </a:defRPr>
      </a:lvl2pPr>
      <a:lvl3pPr marL="53975" indent="-53975" algn="r" rtl="0" fontAlgn="base">
        <a:spcBef>
          <a:spcPct val="0"/>
        </a:spcBef>
        <a:spcAft>
          <a:spcPct val="0"/>
        </a:spcAft>
        <a:defRPr sz="4600">
          <a:solidFill>
            <a:srgbClr val="C0F7FF"/>
          </a:solidFill>
          <a:latin typeface="Rockwell"/>
          <a:ea typeface="方正姚体"/>
          <a:cs typeface="方正姚体"/>
        </a:defRPr>
      </a:lvl3pPr>
      <a:lvl4pPr marL="53975" indent="-53975" algn="r" rtl="0" fontAlgn="base">
        <a:spcBef>
          <a:spcPct val="0"/>
        </a:spcBef>
        <a:spcAft>
          <a:spcPct val="0"/>
        </a:spcAft>
        <a:defRPr sz="4600">
          <a:solidFill>
            <a:srgbClr val="C0F7FF"/>
          </a:solidFill>
          <a:latin typeface="Rockwell"/>
          <a:ea typeface="方正姚体"/>
          <a:cs typeface="方正姚体"/>
        </a:defRPr>
      </a:lvl4pPr>
      <a:lvl5pPr marL="53975" indent="-53975" algn="r" rtl="0" fontAlgn="base">
        <a:spcBef>
          <a:spcPct val="0"/>
        </a:spcBef>
        <a:spcAft>
          <a:spcPct val="0"/>
        </a:spcAft>
        <a:defRPr sz="4600">
          <a:solidFill>
            <a:srgbClr val="C0F7FF"/>
          </a:solidFill>
          <a:latin typeface="Rockwell"/>
          <a:ea typeface="方正姚体"/>
          <a:cs typeface="方正姚体"/>
        </a:defRPr>
      </a:lvl5pPr>
      <a:lvl6pPr marL="511175" indent="-53975" algn="r" rtl="0" fontAlgn="base">
        <a:spcBef>
          <a:spcPct val="0"/>
        </a:spcBef>
        <a:spcAft>
          <a:spcPct val="0"/>
        </a:spcAft>
        <a:defRPr sz="4600">
          <a:solidFill>
            <a:srgbClr val="C0F7FF"/>
          </a:solidFill>
          <a:latin typeface="Rockwell"/>
          <a:ea typeface="方正姚体"/>
          <a:cs typeface="方正姚体"/>
        </a:defRPr>
      </a:lvl6pPr>
      <a:lvl7pPr marL="968375" indent="-53975" algn="r" rtl="0" fontAlgn="base">
        <a:spcBef>
          <a:spcPct val="0"/>
        </a:spcBef>
        <a:spcAft>
          <a:spcPct val="0"/>
        </a:spcAft>
        <a:defRPr sz="4600">
          <a:solidFill>
            <a:srgbClr val="C0F7FF"/>
          </a:solidFill>
          <a:latin typeface="Rockwell"/>
          <a:ea typeface="方正姚体"/>
          <a:cs typeface="方正姚体"/>
        </a:defRPr>
      </a:lvl7pPr>
      <a:lvl8pPr marL="1425575" indent="-53975" algn="r" rtl="0" fontAlgn="base">
        <a:spcBef>
          <a:spcPct val="0"/>
        </a:spcBef>
        <a:spcAft>
          <a:spcPct val="0"/>
        </a:spcAft>
        <a:defRPr sz="4600">
          <a:solidFill>
            <a:srgbClr val="C0F7FF"/>
          </a:solidFill>
          <a:latin typeface="Rockwell"/>
          <a:ea typeface="方正姚体"/>
          <a:cs typeface="方正姚体"/>
        </a:defRPr>
      </a:lvl8pPr>
      <a:lvl9pPr marL="1882775" indent="-53975" algn="r" rtl="0" fontAlgn="base">
        <a:spcBef>
          <a:spcPct val="0"/>
        </a:spcBef>
        <a:spcAft>
          <a:spcPct val="0"/>
        </a:spcAft>
        <a:defRPr sz="4600">
          <a:solidFill>
            <a:srgbClr val="C0F7FF"/>
          </a:solidFill>
          <a:latin typeface="Rockwell"/>
          <a:ea typeface="方正姚体"/>
          <a:cs typeface="方正姚体"/>
        </a:defRPr>
      </a:lvl9pPr>
      <a:extLst/>
    </p:titleStyle>
    <p:bodyStyle>
      <a:lvl1pPr marL="292100" indent="-292100" algn="l" rtl="0" fontAlgn="base">
        <a:spcBef>
          <a:spcPct val="0"/>
        </a:spcBef>
        <a:spcAft>
          <a:spcPct val="0"/>
        </a:spcAft>
        <a:buClr>
          <a:schemeClr val="accent1"/>
        </a:buClr>
        <a:buSzPct val="70000"/>
        <a:buFont typeface="Wingdings 2"/>
        <a:buChar char=""/>
        <a:defRPr sz="3200" kern="1200">
          <a:solidFill>
            <a:schemeClr val="tx1"/>
          </a:solidFill>
          <a:latin typeface="+mn-lt"/>
          <a:ea typeface="+mn-ea"/>
          <a:cs typeface="方正姚体"/>
        </a:defRPr>
      </a:lvl1pPr>
      <a:lvl2pPr marL="639763" indent="-228600" algn="l" rtl="0" fontAlgn="base">
        <a:spcBef>
          <a:spcPts val="400"/>
        </a:spcBef>
        <a:spcAft>
          <a:spcPct val="0"/>
        </a:spcAft>
        <a:buClr>
          <a:schemeClr val="accent2"/>
        </a:buClr>
        <a:buSzPct val="90000"/>
        <a:buChar char="•"/>
        <a:defRPr sz="2600" kern="1200">
          <a:solidFill>
            <a:schemeClr val="tx1"/>
          </a:solidFill>
          <a:latin typeface="+mn-lt"/>
          <a:ea typeface="+mn-ea"/>
          <a:cs typeface="方正姚体"/>
        </a:defRPr>
      </a:lvl2pPr>
      <a:lvl3pPr marL="822325" indent="-190500" algn="l" rtl="0" fontAlgn="base">
        <a:spcBef>
          <a:spcPts val="400"/>
        </a:spcBef>
        <a:spcAft>
          <a:spcPct val="0"/>
        </a:spcAft>
        <a:buClr>
          <a:srgbClr val="EB641B"/>
        </a:buClr>
        <a:buSzPct val="100000"/>
        <a:buFont typeface="Wingdings 2"/>
        <a:buChar char=""/>
        <a:defRPr sz="2300" kern="1200">
          <a:solidFill>
            <a:schemeClr val="tx1"/>
          </a:solidFill>
          <a:latin typeface="+mn-lt"/>
          <a:ea typeface="+mn-ea"/>
          <a:cs typeface="方正姚体"/>
        </a:defRPr>
      </a:lvl3pPr>
      <a:lvl4pPr marL="1004888" indent="-182563" algn="l" rtl="0" fontAlgn="base">
        <a:spcBef>
          <a:spcPts val="400"/>
        </a:spcBef>
        <a:spcAft>
          <a:spcPct val="0"/>
        </a:spcAft>
        <a:buClr>
          <a:srgbClr val="EB641B"/>
        </a:buClr>
        <a:buSzPct val="100000"/>
        <a:buFont typeface="Wingdings 2"/>
        <a:buChar char=""/>
        <a:defRPr sz="2000" kern="1200">
          <a:solidFill>
            <a:schemeClr val="tx1"/>
          </a:solidFill>
          <a:latin typeface="+mn-lt"/>
          <a:ea typeface="+mn-ea"/>
          <a:cs typeface="方正姚体"/>
        </a:defRPr>
      </a:lvl4pPr>
      <a:lvl5pPr marL="1187450" indent="-182563" algn="l" rtl="0" fontAlgn="base">
        <a:spcBef>
          <a:spcPts val="400"/>
        </a:spcBef>
        <a:spcAft>
          <a:spcPct val="0"/>
        </a:spcAft>
        <a:buClr>
          <a:srgbClr val="EB641B"/>
        </a:buClr>
        <a:buSzPct val="100000"/>
        <a:buFont typeface="Wingdings 2"/>
        <a:buChar char=""/>
        <a:defRPr sz="1900" kern="1200">
          <a:solidFill>
            <a:schemeClr val="tx1"/>
          </a:solidFill>
          <a:latin typeface="+mn-lt"/>
          <a:ea typeface="+mn-ea"/>
          <a:cs typeface="方正姚体"/>
        </a:defRPr>
      </a:lvl5pPr>
      <a:lvl6pPr marL="1371600" indent="-173736" algn="l" rtl="0" eaLnBrk="1" latinLnBrk="0" hangingPunct="1">
        <a:spcBef>
          <a:spcPts val="400"/>
        </a:spcBef>
        <a:buClr>
          <a:schemeClr val="accent4"/>
        </a:buClr>
        <a:buFont typeface="Wingdings 2"/>
        <a:buChar char=""/>
        <a:defRPr kumimoji="0" sz="1800" kern="1200" baseline="0">
          <a:solidFill>
            <a:schemeClr val="tx1"/>
          </a:solidFill>
          <a:latin typeface="+mn-lt"/>
          <a:ea typeface="+mn-ea"/>
          <a:cs typeface="+mn-cs"/>
        </a:defRPr>
      </a:lvl6pPr>
      <a:lvl7pPr marL="155448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7pPr>
      <a:lvl8pPr marL="173736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8pPr>
      <a:lvl9pPr marL="192024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slide" Target="slide90.xml"/><Relationship Id="rId2" Type="http://schemas.openxmlformats.org/officeDocument/2006/relationships/slide" Target="slide78.xml"/><Relationship Id="rId1" Type="http://schemas.openxmlformats.org/officeDocument/2006/relationships/slideLayout" Target="../slideLayouts/slideLayout13.xml"/><Relationship Id="rId4" Type="http://schemas.openxmlformats.org/officeDocument/2006/relationships/slide" Target="slide8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slide" Target="slide5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hyperlink" Target="http://www.alibaba.com/about/sc/AboutOurCompany/cul_val.html" TargetMode="Externa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jpe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1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hyperlink" Target="http://tupian.hudong.com/s/%E6%B4%9B%E4%BC%A6%E8%8C%A8%E6%9B%B2%E7%BA%BF/xgtupian/1/1" TargetMode="Externa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hyperlink" Target="http://www.hudong.com/wiki/%E5%9F%BA%E5%B0%BC%E7%B3%BB%E6%95%B0" TargetMode="External"/><Relationship Id="rId2" Type="http://schemas.openxmlformats.org/officeDocument/2006/relationships/hyperlink" Target="http://www.hudong.com/wiki/%E6%B4%9B%E4%BC%A6%E8%8C%A8%E6%9B%B2%E7%BA%BF" TargetMode="Externa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hyperlink" Target="https://wiki.mbalib.com/wiki/%E8%B4%A2%E5%8A%A1%E8%B5%84%E6%BA%90" TargetMode="External"/><Relationship Id="rId2" Type="http://schemas.openxmlformats.org/officeDocument/2006/relationships/hyperlink" Target="https://wiki.mbalib.com/wiki/%E4%BA%BA%E5%8A%9B%E8%B5%84%E6%BA%90" TargetMode="External"/><Relationship Id="rId1" Type="http://schemas.openxmlformats.org/officeDocument/2006/relationships/slideLayout" Target="../slideLayouts/slideLayout2.xml"/><Relationship Id="rId5" Type="http://schemas.openxmlformats.org/officeDocument/2006/relationships/hyperlink" Target="https://wiki.mbalib.com/wiki/%E4%BC%81%E4%B8%9A%E6%96%87%E5%8C%96" TargetMode="External"/><Relationship Id="rId4" Type="http://schemas.openxmlformats.org/officeDocument/2006/relationships/hyperlink" Target="https://wiki.mbalib.com/wiki/%E5%93%81%E7%89%8C%E8%B5%84%E6%BA%90" TargetMode="External"/></Relationships>
</file>

<file path=ppt/slides/_rels/slide119.xml.rels><?xml version="1.0" encoding="UTF-8" standalone="yes"?>
<Relationships xmlns="http://schemas.openxmlformats.org/package/2006/relationships"><Relationship Id="rId3" Type="http://schemas.openxmlformats.org/officeDocument/2006/relationships/hyperlink" Target="https://wiki.mbalib.com/wiki/%E6%99%AE%E6%8B%89%E5%93%88%E6%8B%89%E5%BE%B7" TargetMode="External"/><Relationship Id="rId7" Type="http://schemas.openxmlformats.org/officeDocument/2006/relationships/hyperlink" Target="https://wiki.mbalib.com/wiki/%E7%AB%9E%E4%BA%89%E4%BC%98%E5%8A%BF" TargetMode="External"/><Relationship Id="rId2" Type="http://schemas.openxmlformats.org/officeDocument/2006/relationships/hyperlink" Target="https://wiki.mbalib.com/wiki/%E5%93%88%E9%BB%98%E5%B0%94" TargetMode="External"/><Relationship Id="rId1" Type="http://schemas.openxmlformats.org/officeDocument/2006/relationships/slideLayout" Target="../slideLayouts/slideLayout2.xml"/><Relationship Id="rId6" Type="http://schemas.openxmlformats.org/officeDocument/2006/relationships/hyperlink" Target="https://wiki.mbalib.com/wiki/%E4%BC%81%E4%B8%9A%E6%88%98%E7%95%A5%E7%A0%94%E7%A9%B6" TargetMode="External"/><Relationship Id="rId5" Type="http://schemas.openxmlformats.org/officeDocument/2006/relationships/hyperlink" Target="https://wiki.mbalib.com/wiki/%E4%BC%81%E4%B8%9A%E8%83%BD%E5%8A%9B%E7%90%86%E8%AE%BA" TargetMode="External"/><Relationship Id="rId4" Type="http://schemas.openxmlformats.org/officeDocument/2006/relationships/hyperlink" Target="https://wiki.mbalib.com/wiki/%E5%93%88%E4%BD%9B%E5%95%86%E4%B8%9A%E8%AF%84%E8%AE%BA" TargetMode="External"/></Relationships>
</file>

<file path=ppt/slides/_rels/slide120.xml.rels><?xml version="1.0" encoding="UTF-8" standalone="yes"?>
<Relationships xmlns="http://schemas.openxmlformats.org/package/2006/relationships"><Relationship Id="rId3" Type="http://schemas.openxmlformats.org/officeDocument/2006/relationships/hyperlink" Target="https://wiki.mbalib.com/wiki/%E5%88%9B%E9%80%A0%E6%80%A7" TargetMode="External"/><Relationship Id="rId2" Type="http://schemas.openxmlformats.org/officeDocument/2006/relationships/hyperlink" Target="https://wiki.mbalib.com/wiki/%E9%BA%A6%E8%82%AF%E9%94%A1%E5%92%A8%E8%AF%A2%E5%85%AC%E5%8F%B8" TargetMode="External"/><Relationship Id="rId1" Type="http://schemas.openxmlformats.org/officeDocument/2006/relationships/slideLayout" Target="../slideLayouts/slideLayout2.xml"/><Relationship Id="rId5" Type="http://schemas.openxmlformats.org/officeDocument/2006/relationships/hyperlink" Target="https://wiki.mbalib.com/wiki/%E5%B7%A5%E4%BD%9C%E8%B4%A8%E9%87%8F" TargetMode="External"/><Relationship Id="rId4" Type="http://schemas.openxmlformats.org/officeDocument/2006/relationships/hyperlink" Target="https://wiki.mbalib.com/wiki/%E6%9C%80%E7%BB%88%E4%BA%A7%E5%93%81" TargetMode="External"/></Relationships>
</file>

<file path=ppt/slides/_rels/slide121.xml.rels><?xml version="1.0" encoding="UTF-8" standalone="yes"?>
<Relationships xmlns="http://schemas.openxmlformats.org/package/2006/relationships"><Relationship Id="rId3" Type="http://schemas.openxmlformats.org/officeDocument/2006/relationships/hyperlink" Target="https://wiki.mbalib.com/wiki/%E5%87%9D%E8%81%9A%E5%8A%9B" TargetMode="External"/><Relationship Id="rId2" Type="http://schemas.openxmlformats.org/officeDocument/2006/relationships/hyperlink" Target="https://wiki.mbalib.com/wiki/%E7%AE%A1%E7%90%86" TargetMode="Externa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hyperlink" Target="https://wiki.mbalib.com/wiki/%E8%B5%84%E4%BA%A7%E4%B8%93%E7%94%A8%E6%80%A7" TargetMode="External"/><Relationship Id="rId7" Type="http://schemas.openxmlformats.org/officeDocument/2006/relationships/hyperlink" Target="https://wiki.mbalib.com/wiki/%E9%80%80%E5%87%BA%E5%A3%81%E5%9E%92" TargetMode="External"/><Relationship Id="rId2" Type="http://schemas.openxmlformats.org/officeDocument/2006/relationships/hyperlink" Target="https://wiki.mbalib.com/wiki/%E4%B8%93%E7%94%A8%E6%80%A7%E8%B5%84%E4%BA%A7" TargetMode="External"/><Relationship Id="rId1" Type="http://schemas.openxmlformats.org/officeDocument/2006/relationships/slideLayout" Target="../slideLayouts/slideLayout2.xml"/><Relationship Id="rId6" Type="http://schemas.openxmlformats.org/officeDocument/2006/relationships/hyperlink" Target="https://wiki.mbalib.com/wiki/%E5%9E%84%E6%96%AD%E5%88%A9%E6%B6%A6" TargetMode="External"/><Relationship Id="rId5" Type="http://schemas.openxmlformats.org/officeDocument/2006/relationships/hyperlink" Target="https://wiki.mbalib.com/wiki/%E8%BF%9B%E5%85%A5%E5%A3%81%E5%9E%92" TargetMode="External"/><Relationship Id="rId4" Type="http://schemas.openxmlformats.org/officeDocument/2006/relationships/hyperlink" Target="https://wiki.mbalib.com/wiki/%E6%BD%9C%E5%9C%A8%E8%BF%9B%E5%85%A5%E8%80%85" TargetMode="External"/></Relationships>
</file>

<file path=ppt/slides/_rels/slide125.xml.rels><?xml version="1.0" encoding="UTF-8" standalone="yes"?>
<Relationships xmlns="http://schemas.openxmlformats.org/package/2006/relationships"><Relationship Id="rId2" Type="http://schemas.openxmlformats.org/officeDocument/2006/relationships/hyperlink" Target="https://wiki.mbalib.com/wiki/%E6%98%BE%E6%80%A7%E7%9F%A5%E8%AF%86" TargetMode="Externa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hyperlink" Target="http://wiki.mbalib.com/wiki/%E8%B4%A2%E5%8A%A1%E6%AF%94%E7%8E%87" TargetMode="External"/><Relationship Id="rId2" Type="http://schemas.openxmlformats.org/officeDocument/2006/relationships/hyperlink" Target="http://wiki.mbalib.com/wiki/%E9%95%BF%E6%9C%9F%E8%AE%A1%E5%88%92" TargetMode="Externa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hyperlink" Target="http://wiki.mbalib.com/wiki/%E5%A4%96%E9%83%A8%E5%9B%A0%E7%B4%A0%E8%AF%84%E4%BB%B7%E7%9F%A9%E9%98%B5" TargetMode="External"/><Relationship Id="rId2" Type="http://schemas.openxmlformats.org/officeDocument/2006/relationships/hyperlink" Target="http://wiki.mbalib.com/wiki/%E7%AB%9E%E4%BA%89%E5%AF%B9%E6%89%8B" TargetMode="External"/><Relationship Id="rId1" Type="http://schemas.openxmlformats.org/officeDocument/2006/relationships/slideLayout" Target="../slideLayouts/slideLayout2.xml"/><Relationship Id="rId4" Type="http://schemas.openxmlformats.org/officeDocument/2006/relationships/hyperlink" Target="http://wiki.mbalib.com/wiki/%E6%9D%83%E9%87%8D" TargetMode="External"/></Relationships>
</file>

<file path=ppt/slides/_rels/slide150.xml.rels><?xml version="1.0" encoding="UTF-8" standalone="yes"?>
<Relationships xmlns="http://schemas.openxmlformats.org/package/2006/relationships"><Relationship Id="rId2" Type="http://schemas.openxmlformats.org/officeDocument/2006/relationships/hyperlink" Target="http://wiki.mbalib.com/wiki/%E7%BB%8F%E8%90%A5" TargetMode="Externa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hyperlink" Target="http://wiki.mbalib.com/wiki/%E6%88%98%E7%95%A5%E4%BF%A1%E6%81%AF" TargetMode="External"/><Relationship Id="rId2" Type="http://schemas.openxmlformats.org/officeDocument/2006/relationships/hyperlink" Target="http://wiki.mbalib.com/wiki/%E5%85%AC%E5%8F%B8" TargetMode="Externa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hyperlink" Target="http://wiki.mbalib.com/wiki/%E8%B4%A2%E5%8A%A1%E7%8A%B6%E5%86%B5" TargetMode="External"/><Relationship Id="rId2" Type="http://schemas.openxmlformats.org/officeDocument/2006/relationships/hyperlink" Target="http://wiki.mbalib.com/wiki/%E4%BB%B7%E6%A0%BC%E7%AB%9E%E4%BA%89%E5%8A%9B" TargetMode="External"/><Relationship Id="rId1" Type="http://schemas.openxmlformats.org/officeDocument/2006/relationships/slideLayout" Target="../slideLayouts/slideLayout2.xml"/><Relationship Id="rId5" Type="http://schemas.openxmlformats.org/officeDocument/2006/relationships/hyperlink" Target="http://wiki.mbalib.com/wiki/%E7%94%A8%E6%88%B7%E5%BF%A0%E8%AF%9A%E5%BA%A6" TargetMode="External"/><Relationship Id="rId4" Type="http://schemas.openxmlformats.org/officeDocument/2006/relationships/hyperlink" Target="http://wiki.mbalib.com/wiki/%E4%BA%A7%E5%93%81%E8%B4%A8%E9%87%8F" TargetMode="External"/></Relationships>
</file>

<file path=ppt/slides/_rels/slide154.xml.rels><?xml version="1.0" encoding="UTF-8" standalone="yes"?>
<Relationships xmlns="http://schemas.openxmlformats.org/package/2006/relationships"><Relationship Id="rId8" Type="http://schemas.openxmlformats.org/officeDocument/2006/relationships/hyperlink" Target="http://wiki.mbalib.com/wiki/%E4%BA%BA%E5%91%98%E6%8E%A8%E5%B9%BF" TargetMode="External"/><Relationship Id="rId3" Type="http://schemas.openxmlformats.org/officeDocument/2006/relationships/hyperlink" Target="http://wiki.mbalib.com/wiki/TCL" TargetMode="External"/><Relationship Id="rId7" Type="http://schemas.openxmlformats.org/officeDocument/2006/relationships/hyperlink" Target="http://wiki.mbalib.com/wiki/%E6%BB%A1%E6%84%8F%E5%BA%A6" TargetMode="External"/><Relationship Id="rId2" Type="http://schemas.openxmlformats.org/officeDocument/2006/relationships/hyperlink" Target="http://wiki.mbalib.com/wiki/Nokia" TargetMode="External"/><Relationship Id="rId1" Type="http://schemas.openxmlformats.org/officeDocument/2006/relationships/slideLayout" Target="../slideLayouts/slideLayout2.xml"/><Relationship Id="rId6" Type="http://schemas.openxmlformats.org/officeDocument/2006/relationships/hyperlink" Target="http://wiki.mbalib.com/wiki/%E9%A1%BE%E5%AE%A2" TargetMode="External"/><Relationship Id="rId5" Type="http://schemas.openxmlformats.org/officeDocument/2006/relationships/hyperlink" Target="http://wiki.mbalib.com/wiki/%E6%B8%A0%E9%81%93%E6%88%90%E5%91%98" TargetMode="External"/><Relationship Id="rId4" Type="http://schemas.openxmlformats.org/officeDocument/2006/relationships/hyperlink" Target="http://wiki.mbalib.com/wiki/%E5%B8%82%E5%9C%BA" TargetMode="Externa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http://wiki.mbalib.com/w/images/f/ff/SWOT%E5%88%86%E6%9E%90%E6%A8%A1%E5%9E%8B3.gif" TargetMode="External"/><Relationship Id="rId2" Type="http://schemas.openxmlformats.org/officeDocument/2006/relationships/image" Target="../media/image22.gif"/><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http://wiki.mbalib.com/w/images/f/f6/SWOT%E5%88%86%E6%9E%90%E6%A8%A1%E5%9E%8B2.gif" TargetMode="External"/><Relationship Id="rId2" Type="http://schemas.openxmlformats.org/officeDocument/2006/relationships/image" Target="../media/image23.gif"/><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indent="0" fontAlgn="auto">
              <a:spcAft>
                <a:spcPts val="0"/>
              </a:spcAft>
              <a:defRPr/>
            </a:pPr>
            <a:r>
              <a:rPr lang="zh-CN" altLang="en-US" dirty="0">
                <a:solidFill>
                  <a:schemeClr val="tx2">
                    <a:tint val="100000"/>
                    <a:shade val="90000"/>
                    <a:satMod val="250000"/>
                    <a:alpha val="100000"/>
                  </a:schemeClr>
                </a:solidFill>
                <a:cs typeface="+mj-cs"/>
              </a:rPr>
              <a:t>战略管理</a:t>
            </a:r>
          </a:p>
        </p:txBody>
      </p:sp>
      <p:sp>
        <p:nvSpPr>
          <p:cNvPr id="18434" name="副标题 2"/>
          <p:cNvSpPr>
            <a:spLocks noGrp="1"/>
          </p:cNvSpPr>
          <p:nvPr>
            <p:ph type="subTitle" idx="1"/>
          </p:nvPr>
        </p:nvSpPr>
        <p:spPr>
          <a:xfrm>
            <a:off x="2133600" y="2819400"/>
            <a:ext cx="6559550" cy="1752600"/>
          </a:xfrm>
        </p:spPr>
        <p:txBody>
          <a:bodyPr/>
          <a:lstStyle/>
          <a:p>
            <a:pPr>
              <a:spcBef>
                <a:spcPct val="0"/>
              </a:spcBef>
            </a:pPr>
            <a:r>
              <a:rPr lang="zh-CN" altLang="en-US" dirty="0"/>
              <a:t>钟佳桂</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战略管理概述</a:t>
            </a:r>
          </a:p>
        </p:txBody>
      </p:sp>
      <p:sp>
        <p:nvSpPr>
          <p:cNvPr id="3" name="内容占位符 2"/>
          <p:cNvSpPr>
            <a:spLocks noGrp="1"/>
          </p:cNvSpPr>
          <p:nvPr>
            <p:ph idx="1"/>
          </p:nvPr>
        </p:nvSpPr>
        <p:spPr/>
        <p:txBody>
          <a:bodyPr/>
          <a:lstStyle/>
          <a:p>
            <a:r>
              <a:rPr kumimoji="1" lang="zh-CN" altLang="en-US" dirty="0"/>
              <a:t>从管理说起。。</a:t>
            </a:r>
            <a:endParaRPr kumimoji="1" lang="en-US" altLang="zh-CN" dirty="0"/>
          </a:p>
          <a:p>
            <a:pPr lvl="1"/>
            <a:r>
              <a:rPr kumimoji="1" lang="zh-CN" altLang="en-US" dirty="0"/>
              <a:t>两个词</a:t>
            </a:r>
            <a:endParaRPr kumimoji="1" lang="en-US" altLang="zh-CN" dirty="0"/>
          </a:p>
          <a:p>
            <a:pPr lvl="2"/>
            <a:r>
              <a:rPr kumimoji="1" lang="zh-CN" altLang="en-US" dirty="0"/>
              <a:t>效果</a:t>
            </a:r>
            <a:r>
              <a:rPr kumimoji="1" lang="en-US" altLang="zh-CN" dirty="0"/>
              <a:t>effectiveness</a:t>
            </a:r>
            <a:r>
              <a:rPr kumimoji="1" lang="zh-CN" altLang="en-US" dirty="0"/>
              <a:t>，做正确的事</a:t>
            </a:r>
            <a:r>
              <a:rPr kumimoji="1" lang="en-US" altLang="zh-CN" dirty="0"/>
              <a:t>,</a:t>
            </a:r>
            <a:r>
              <a:rPr kumimoji="1" lang="zh-CN" altLang="en-US" dirty="0"/>
              <a:t>目的、使命；</a:t>
            </a:r>
            <a:endParaRPr kumimoji="1" lang="en-US" altLang="zh-CN" dirty="0"/>
          </a:p>
          <a:p>
            <a:pPr lvl="2"/>
            <a:r>
              <a:rPr kumimoji="1" lang="zh-CN" altLang="en-US" dirty="0"/>
              <a:t>效率</a:t>
            </a:r>
            <a:r>
              <a:rPr kumimoji="1" lang="en-US" altLang="zh-CN" dirty="0"/>
              <a:t>efficiency</a:t>
            </a:r>
            <a:r>
              <a:rPr kumimoji="1" lang="zh-CN" altLang="en-US" dirty="0"/>
              <a:t>，正确的做事，投入产出</a:t>
            </a:r>
            <a:endParaRPr kumimoji="1" lang="en-US" altLang="zh-CN" dirty="0"/>
          </a:p>
          <a:p>
            <a:pPr lvl="1"/>
            <a:r>
              <a:rPr kumimoji="1" lang="zh-CN" altLang="en-US" dirty="0"/>
              <a:t>四个词</a:t>
            </a:r>
            <a:endParaRPr kumimoji="1" lang="en-US" altLang="zh-CN" dirty="0"/>
          </a:p>
          <a:p>
            <a:pPr lvl="2"/>
            <a:r>
              <a:rPr kumimoji="1" lang="zh-CN" altLang="en-US" dirty="0"/>
              <a:t>计划组织领导控制</a:t>
            </a:r>
            <a:endParaRPr kumimoji="1" lang="en-US" altLang="zh-CN" dirty="0"/>
          </a:p>
          <a:p>
            <a:pPr lvl="2"/>
            <a:r>
              <a:rPr kumimoji="1" lang="zh-CN" altLang="en-US" dirty="0"/>
              <a:t>首先的属性是计划，理性学派，稳定环境</a:t>
            </a:r>
            <a:endParaRPr kumimoji="1" lang="en-US" altLang="zh-CN" dirty="0"/>
          </a:p>
          <a:p>
            <a:pPr lvl="1"/>
            <a:endParaRPr kumimoji="1" lang="zh-CN" altLang="en-US" dirty="0"/>
          </a:p>
        </p:txBody>
      </p:sp>
    </p:spTree>
    <p:extLst>
      <p:ext uri="{BB962C8B-B14F-4D97-AF65-F5344CB8AC3E}">
        <p14:creationId xmlns:p14="http://schemas.microsoft.com/office/powerpoint/2010/main" val="18725337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580A9E-3A11-124C-9172-AAF771C5F122}"/>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F1370882-EE1C-6B49-A3D2-93C0565EF0EE}"/>
              </a:ext>
            </a:extLst>
          </p:cNvPr>
          <p:cNvSpPr>
            <a:spLocks noGrp="1"/>
          </p:cNvSpPr>
          <p:nvPr>
            <p:ph idx="1"/>
          </p:nvPr>
        </p:nvSpPr>
        <p:spPr/>
        <p:txBody>
          <a:bodyPr/>
          <a:lstStyle/>
          <a:p>
            <a:r>
              <a:rPr kumimoji="1" lang="zh-CN" altLang="en-US" dirty="0"/>
              <a:t>战略管理被人为分割为战略制定</a:t>
            </a:r>
            <a:r>
              <a:rPr kumimoji="1" lang="zh-CN" altLang="zh-CN" dirty="0"/>
              <a:t>、</a:t>
            </a:r>
            <a:r>
              <a:rPr kumimoji="1" lang="zh-CN" altLang="en-US" dirty="0"/>
              <a:t>战略实施</a:t>
            </a:r>
            <a:endParaRPr kumimoji="1" lang="en-US" altLang="zh-CN" dirty="0"/>
          </a:p>
          <a:p>
            <a:pPr lvl="1"/>
            <a:r>
              <a:rPr kumimoji="1" lang="zh-CN" altLang="en-US" dirty="0"/>
              <a:t>战略制定－做正确的事－战略洞察力，计划</a:t>
            </a:r>
            <a:endParaRPr kumimoji="1" lang="en-US" altLang="zh-CN" dirty="0"/>
          </a:p>
          <a:p>
            <a:pPr lvl="1"/>
            <a:r>
              <a:rPr kumimoji="1" lang="zh-CN" altLang="en-US" dirty="0"/>
              <a:t>战略实施－正确的做事－战略执行力，组织，领导，控制</a:t>
            </a:r>
            <a:endParaRPr kumimoji="1" lang="en-US" altLang="zh-CN" dirty="0"/>
          </a:p>
          <a:p>
            <a:pPr lvl="1"/>
            <a:endParaRPr kumimoji="1" lang="en-US" altLang="zh-CN" dirty="0"/>
          </a:p>
          <a:p>
            <a:pPr lvl="1"/>
            <a:r>
              <a:rPr kumimoji="1" lang="zh-CN" altLang="en-US" dirty="0"/>
              <a:t>知识网络</a:t>
            </a:r>
            <a:endParaRPr kumimoji="1" lang="en-US" altLang="zh-CN" dirty="0"/>
          </a:p>
          <a:p>
            <a:pPr lvl="1"/>
            <a:endParaRPr kumimoji="1" lang="en-US" altLang="zh-CN" dirty="0"/>
          </a:p>
          <a:p>
            <a:endParaRPr kumimoji="1" lang="zh-CN" altLang="en-US" dirty="0"/>
          </a:p>
        </p:txBody>
      </p:sp>
    </p:spTree>
    <p:extLst>
      <p:ext uri="{BB962C8B-B14F-4D97-AF65-F5344CB8AC3E}">
        <p14:creationId xmlns:p14="http://schemas.microsoft.com/office/powerpoint/2010/main" val="8184890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title"/>
          </p:nvPr>
        </p:nvSpPr>
        <p:spPr/>
        <p:txBody>
          <a:bodyPr/>
          <a:lstStyle/>
          <a:p>
            <a:endParaRPr lang="zh-CN" altLang="en-US">
              <a:latin typeface="Calibri" charset="0"/>
              <a:ea typeface="宋体" charset="0"/>
            </a:endParaRPr>
          </a:p>
        </p:txBody>
      </p:sp>
      <p:sp>
        <p:nvSpPr>
          <p:cNvPr id="4099" name="内容占位符 2"/>
          <p:cNvSpPr>
            <a:spLocks noGrp="1"/>
          </p:cNvSpPr>
          <p:nvPr>
            <p:ph idx="1"/>
          </p:nvPr>
        </p:nvSpPr>
        <p:spPr>
          <a:xfrm>
            <a:off x="457200" y="980728"/>
            <a:ext cx="8507288" cy="4525962"/>
          </a:xfrm>
        </p:spPr>
        <p:txBody>
          <a:bodyPr/>
          <a:lstStyle/>
          <a:p>
            <a:r>
              <a:rPr lang="en-US" altLang="zh-CN" dirty="0">
                <a:latin typeface="Calibri" charset="0"/>
                <a:ea typeface="宋体" charset="0"/>
              </a:rPr>
              <a:t>Borders</a:t>
            </a:r>
            <a:r>
              <a:rPr lang="zh-CN" altLang="en-US" dirty="0">
                <a:latin typeface="Calibri" charset="0"/>
                <a:ea typeface="宋体" charset="0"/>
              </a:rPr>
              <a:t>连锁书店</a:t>
            </a:r>
            <a:endParaRPr lang="en-US" altLang="zh-CN" dirty="0">
              <a:latin typeface="Calibri" charset="0"/>
              <a:ea typeface="宋体" charset="0"/>
            </a:endParaRPr>
          </a:p>
          <a:p>
            <a:r>
              <a:rPr lang="zh-CN" altLang="en-US" dirty="0">
                <a:latin typeface="Calibri" charset="0"/>
                <a:ea typeface="宋体" charset="0"/>
              </a:rPr>
              <a:t>柯达</a:t>
            </a:r>
            <a:endParaRPr lang="en-US" altLang="zh-CN" dirty="0">
              <a:latin typeface="Calibri" charset="0"/>
              <a:ea typeface="宋体" charset="0"/>
            </a:endParaRPr>
          </a:p>
          <a:p>
            <a:r>
              <a:rPr lang="en-US" altLang="zh-CN" dirty="0">
                <a:latin typeface="Calibri" charset="0"/>
                <a:ea typeface="宋体" charset="0"/>
              </a:rPr>
              <a:t>Nokia</a:t>
            </a:r>
          </a:p>
          <a:p>
            <a:endParaRPr lang="en-US" altLang="zh-CN" dirty="0">
              <a:latin typeface="Calibri" charset="0"/>
              <a:ea typeface="宋体" charset="0"/>
            </a:endParaRPr>
          </a:p>
          <a:p>
            <a:r>
              <a:rPr lang="zh-CN" altLang="en-US" dirty="0">
                <a:latin typeface="Calibri" charset="0"/>
                <a:ea typeface="宋体" charset="0"/>
              </a:rPr>
              <a:t>佳能</a:t>
            </a:r>
            <a:endParaRPr lang="en-US" altLang="zh-CN" dirty="0">
              <a:latin typeface="Calibri" charset="0"/>
              <a:ea typeface="宋体" charset="0"/>
            </a:endParaRPr>
          </a:p>
          <a:p>
            <a:r>
              <a:rPr lang="zh-CN" altLang="en-US" dirty="0">
                <a:latin typeface="Calibri" charset="0"/>
                <a:ea typeface="宋体" charset="0"/>
              </a:rPr>
              <a:t>苹果</a:t>
            </a:r>
            <a:endParaRPr lang="en-US" altLang="zh-CN" dirty="0">
              <a:latin typeface="Calibri" charset="0"/>
              <a:ea typeface="宋体" charset="0"/>
            </a:endParaRPr>
          </a:p>
          <a:p>
            <a:r>
              <a:rPr lang="en-US" altLang="zh-CN" dirty="0">
                <a:latin typeface="Calibri" charset="0"/>
                <a:ea typeface="宋体" charset="0"/>
              </a:rPr>
              <a:t>Amazon</a:t>
            </a:r>
          </a:p>
          <a:p>
            <a:endParaRPr lang="en-US" altLang="zh-CN" dirty="0">
              <a:latin typeface="Calibri" charset="0"/>
              <a:ea typeface="宋体" charset="0"/>
            </a:endParaRPr>
          </a:p>
          <a:p>
            <a:r>
              <a:rPr lang="zh-CN" altLang="en-US" sz="2800" dirty="0">
                <a:latin typeface="Calibri" charset="0"/>
                <a:ea typeface="宋体" charset="0"/>
              </a:rPr>
              <a:t>唯一不变的是变化，技术进步、全球化、竞争</a:t>
            </a:r>
            <a:endParaRPr lang="en-US" altLang="zh-CN" sz="2800" dirty="0">
              <a:latin typeface="Calibri" charset="0"/>
              <a:ea typeface="宋体" charset="0"/>
            </a:endParaRPr>
          </a:p>
          <a:p>
            <a:r>
              <a:rPr lang="zh-CN" altLang="en-US" sz="2800" dirty="0">
                <a:latin typeface="Calibri" charset="0"/>
                <a:ea typeface="宋体" charset="0"/>
              </a:rPr>
              <a:t>战略管理的内容也要变化</a:t>
            </a:r>
          </a:p>
        </p:txBody>
      </p:sp>
    </p:spTree>
    <p:extLst>
      <p:ext uri="{BB962C8B-B14F-4D97-AF65-F5344CB8AC3E}">
        <p14:creationId xmlns:p14="http://schemas.microsoft.com/office/powerpoint/2010/main" val="4293395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0"/>
            <a:ext cx="8229600" cy="1143000"/>
          </a:xfrm>
        </p:spPr>
        <p:txBody>
          <a:bodyPr/>
          <a:lstStyle/>
          <a:p>
            <a:r>
              <a:rPr kumimoji="1" lang="zh-CN" altLang="en-US" dirty="0"/>
              <a:t>战略管理概述</a:t>
            </a:r>
          </a:p>
        </p:txBody>
      </p:sp>
      <p:sp>
        <p:nvSpPr>
          <p:cNvPr id="3" name="内容占位符 2"/>
          <p:cNvSpPr>
            <a:spLocks noGrp="1"/>
          </p:cNvSpPr>
          <p:nvPr>
            <p:ph idx="1"/>
          </p:nvPr>
        </p:nvSpPr>
        <p:spPr>
          <a:xfrm>
            <a:off x="467544" y="1412776"/>
            <a:ext cx="8229600" cy="4525962"/>
          </a:xfrm>
        </p:spPr>
        <p:txBody>
          <a:bodyPr/>
          <a:lstStyle/>
          <a:p>
            <a:r>
              <a:rPr kumimoji="1" lang="zh-CN" altLang="en-US" sz="2800" dirty="0">
                <a:solidFill>
                  <a:srgbClr val="FF0000"/>
                </a:solidFill>
              </a:rPr>
              <a:t>活的好，活的长，自然长大</a:t>
            </a:r>
            <a:endParaRPr kumimoji="1" lang="en-US" altLang="zh-CN" sz="2800" dirty="0">
              <a:solidFill>
                <a:srgbClr val="FF0000"/>
              </a:solidFill>
            </a:endParaRPr>
          </a:p>
          <a:p>
            <a:pPr lvl="1"/>
            <a:r>
              <a:rPr kumimoji="1" lang="zh-CN" altLang="en-US" sz="2400" dirty="0"/>
              <a:t>获得超出平均水平的利润</a:t>
            </a:r>
            <a:endParaRPr kumimoji="1" lang="en-US" altLang="zh-CN" sz="2400" dirty="0"/>
          </a:p>
          <a:p>
            <a:pPr lvl="1"/>
            <a:r>
              <a:rPr kumimoji="1" lang="zh-CN" altLang="en-US" sz="2400" dirty="0"/>
              <a:t>基业长青，百年老店</a:t>
            </a:r>
            <a:endParaRPr kumimoji="1" lang="en-US" altLang="zh-CN" sz="2400" dirty="0"/>
          </a:p>
          <a:p>
            <a:r>
              <a:rPr kumimoji="1" lang="zh-CN" altLang="en-US" sz="2800" dirty="0"/>
              <a:t>找一个好行业，好位置</a:t>
            </a:r>
            <a:endParaRPr kumimoji="1" lang="en-US" altLang="zh-CN" sz="2800" dirty="0"/>
          </a:p>
          <a:p>
            <a:pPr lvl="1"/>
            <a:r>
              <a:rPr kumimoji="1" lang="zh-CN" altLang="en-US" sz="2400" dirty="0"/>
              <a:t>行业平均利润率高</a:t>
            </a:r>
            <a:endParaRPr kumimoji="1" lang="en-US" altLang="zh-CN" sz="2400" dirty="0"/>
          </a:p>
          <a:p>
            <a:pPr lvl="1"/>
            <a:r>
              <a:rPr kumimoji="1" lang="zh-CN" altLang="en-US" sz="2400" dirty="0"/>
              <a:t>快速成长的行业</a:t>
            </a:r>
            <a:endParaRPr kumimoji="1" lang="en-US" altLang="zh-CN" sz="2400" dirty="0"/>
          </a:p>
          <a:p>
            <a:r>
              <a:rPr kumimoji="1" lang="zh-CN" altLang="en-US" sz="2800" dirty="0"/>
              <a:t>在成本、质量、交货、服务、个性化等方面建立竞争优势</a:t>
            </a:r>
            <a:endParaRPr kumimoji="1" lang="en-US" altLang="zh-CN" sz="2800" dirty="0"/>
          </a:p>
          <a:p>
            <a:r>
              <a:rPr kumimoji="1" lang="zh-CN" altLang="en-US" sz="2800" dirty="0"/>
              <a:t>成长方向，规模（市场、产能、一体化）、协同</a:t>
            </a:r>
            <a:endParaRPr kumimoji="1" lang="en-US" altLang="zh-CN" sz="2800" dirty="0"/>
          </a:p>
          <a:p>
            <a:r>
              <a:rPr kumimoji="1" lang="zh-CN" altLang="en-US" sz="2800" dirty="0"/>
              <a:t>凝聚、效率</a:t>
            </a:r>
            <a:endParaRPr kumimoji="1" lang="en-US" altLang="zh-CN" sz="2800" dirty="0"/>
          </a:p>
          <a:p>
            <a:r>
              <a:rPr kumimoji="1" lang="zh-CN" altLang="en-US" sz="2800" dirty="0"/>
              <a:t>形成自己的核心竞争力、建立动态能力</a:t>
            </a:r>
            <a:endParaRPr kumimoji="1" lang="en-US" altLang="zh-CN" sz="2800" dirty="0"/>
          </a:p>
          <a:p>
            <a:pPr lvl="2"/>
            <a:endParaRPr kumimoji="1" lang="en-US" altLang="zh-CN" dirty="0"/>
          </a:p>
          <a:p>
            <a:pPr lvl="1"/>
            <a:endParaRPr kumimoji="1" lang="zh-CN" altLang="en-US" dirty="0"/>
          </a:p>
        </p:txBody>
      </p:sp>
    </p:spTree>
    <p:extLst>
      <p:ext uri="{BB962C8B-B14F-4D97-AF65-F5344CB8AC3E}">
        <p14:creationId xmlns:p14="http://schemas.microsoft.com/office/powerpoint/2010/main" val="2201414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内容占位符 1"/>
          <p:cNvSpPr>
            <a:spLocks noGrp="1"/>
          </p:cNvSpPr>
          <p:nvPr>
            <p:ph/>
          </p:nvPr>
        </p:nvSpPr>
        <p:spPr>
          <a:xfrm>
            <a:off x="533400" y="1052513"/>
            <a:ext cx="8610600" cy="5149850"/>
          </a:xfrm>
        </p:spPr>
        <p:txBody>
          <a:bodyPr/>
          <a:lstStyle/>
          <a:p>
            <a:r>
              <a:rPr lang="zh-CN" altLang="en-US">
                <a:solidFill>
                  <a:srgbClr val="FFFF00"/>
                </a:solidFill>
              </a:rPr>
              <a:t>企业战略是企业面对激烈变化、严峻挑战的环境，为求得长期生存和不断发展而进行的总体性谋划</a:t>
            </a:r>
          </a:p>
        </p:txBody>
      </p:sp>
    </p:spTree>
    <p:extLst>
      <p:ext uri="{BB962C8B-B14F-4D97-AF65-F5344CB8AC3E}">
        <p14:creationId xmlns:p14="http://schemas.microsoft.com/office/powerpoint/2010/main" val="77288980"/>
      </p:ext>
    </p:extLst>
  </p:cSld>
  <p:clrMapOvr>
    <a:masterClrMapping/>
  </p:clrMapOvr>
  <p:transition spd="med">
    <p:randomBar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260648"/>
            <a:ext cx="8308975" cy="1143000"/>
          </a:xfrm>
        </p:spPr>
        <p:txBody>
          <a:bodyPr/>
          <a:lstStyle/>
          <a:p>
            <a:r>
              <a:rPr kumimoji="1" lang="zh-CN" altLang="en-US" dirty="0"/>
              <a:t>系统思维</a:t>
            </a:r>
          </a:p>
        </p:txBody>
      </p:sp>
      <p:sp>
        <p:nvSpPr>
          <p:cNvPr id="3" name="内容占位符 2"/>
          <p:cNvSpPr>
            <a:spLocks noGrp="1"/>
          </p:cNvSpPr>
          <p:nvPr>
            <p:ph idx="1"/>
          </p:nvPr>
        </p:nvSpPr>
        <p:spPr>
          <a:xfrm>
            <a:off x="415925" y="1484784"/>
            <a:ext cx="8308975" cy="4911564"/>
          </a:xfrm>
        </p:spPr>
        <p:txBody>
          <a:bodyPr>
            <a:normAutofit fontScale="92500" lnSpcReduction="20000"/>
          </a:bodyPr>
          <a:lstStyle/>
          <a:p>
            <a:r>
              <a:rPr kumimoji="1" lang="zh-CN" altLang="en-US" b="1" dirty="0"/>
              <a:t>系统，一个实体，通过结构维持。。</a:t>
            </a:r>
            <a:endParaRPr kumimoji="1" lang="en-US" altLang="zh-CN" b="1" dirty="0"/>
          </a:p>
          <a:p>
            <a:pPr lvl="1"/>
            <a:r>
              <a:rPr kumimoji="1" lang="zh-CN" altLang="en-US" b="1" dirty="0"/>
              <a:t>整体涌现性，整体大于部分之和</a:t>
            </a:r>
            <a:endParaRPr kumimoji="1" lang="en-US" altLang="zh-CN" b="1" dirty="0"/>
          </a:p>
          <a:p>
            <a:pPr lvl="2"/>
            <a:r>
              <a:rPr kumimoji="1" lang="zh-CN" altLang="en-US" b="1" dirty="0"/>
              <a:t>吴冠中：笔墨等于零</a:t>
            </a:r>
            <a:endParaRPr kumimoji="1" lang="en-US" altLang="zh-CN" b="1" dirty="0"/>
          </a:p>
          <a:p>
            <a:pPr lvl="2"/>
            <a:r>
              <a:rPr kumimoji="1" lang="zh-CN" altLang="en-US" b="1" dirty="0"/>
              <a:t>泰戈尔：采摘花瓣，你将无法得到一朵美丽的鲜花</a:t>
            </a:r>
            <a:endParaRPr kumimoji="1" lang="en-US" altLang="zh-CN" b="1" dirty="0"/>
          </a:p>
          <a:p>
            <a:pPr lvl="2"/>
            <a:endParaRPr kumimoji="1" lang="en-US" altLang="zh-CN" b="1" dirty="0"/>
          </a:p>
          <a:p>
            <a:r>
              <a:rPr kumimoji="1" lang="zh-CN" altLang="en-US" b="1" dirty="0"/>
              <a:t>元素和结构是系统的内在规定性</a:t>
            </a:r>
            <a:endParaRPr kumimoji="1" lang="en-US" altLang="zh-CN" b="1" dirty="0"/>
          </a:p>
          <a:p>
            <a:r>
              <a:rPr kumimoji="1" lang="zh-CN" altLang="en-US" b="1" dirty="0"/>
              <a:t>环境是系统的外在规定性，主体</a:t>
            </a:r>
            <a:endParaRPr kumimoji="1" lang="en-US" altLang="zh-CN" b="1" dirty="0"/>
          </a:p>
          <a:p>
            <a:r>
              <a:rPr kumimoji="1" lang="zh-CN" altLang="en-US" b="1" dirty="0"/>
              <a:t>开放系统才能持存与发展</a:t>
            </a:r>
            <a:endParaRPr kumimoji="1" lang="en-US" altLang="zh-CN" b="1" dirty="0"/>
          </a:p>
          <a:p>
            <a:r>
              <a:rPr kumimoji="1" lang="zh-CN" altLang="en-US" b="1" dirty="0"/>
              <a:t>系统是动态演化</a:t>
            </a:r>
            <a:endParaRPr kumimoji="1" lang="en-US" altLang="zh-CN" b="1" dirty="0"/>
          </a:p>
          <a:p>
            <a:r>
              <a:rPr kumimoji="1" lang="zh-CN" altLang="en-US" b="1" dirty="0"/>
              <a:t>系统的层次性、等级性</a:t>
            </a:r>
            <a:endParaRPr kumimoji="1" lang="en-US" altLang="zh-CN" b="1" dirty="0"/>
          </a:p>
          <a:p>
            <a:pPr lvl="1"/>
            <a:r>
              <a:rPr kumimoji="1" lang="zh-CN" altLang="en-US" b="1" dirty="0"/>
              <a:t>人体、组织、社会</a:t>
            </a:r>
            <a:endParaRPr kumimoji="1" lang="en-US" altLang="zh-CN" b="1" dirty="0"/>
          </a:p>
          <a:p>
            <a:pPr lvl="1"/>
            <a:r>
              <a:rPr kumimoji="1" lang="zh-CN" altLang="en-US" b="1" dirty="0"/>
              <a:t>层次涌现性</a:t>
            </a:r>
            <a:endParaRPr kumimoji="1" lang="en-US" altLang="zh-CN" b="1" dirty="0"/>
          </a:p>
          <a:p>
            <a:pPr lvl="1"/>
            <a:r>
              <a:rPr kumimoji="1" lang="zh-CN" altLang="en-US" b="1" dirty="0"/>
              <a:t>微观动机与宏观行为</a:t>
            </a:r>
          </a:p>
        </p:txBody>
      </p:sp>
    </p:spTree>
    <p:extLst>
      <p:ext uri="{BB962C8B-B14F-4D97-AF65-F5344CB8AC3E}">
        <p14:creationId xmlns:p14="http://schemas.microsoft.com/office/powerpoint/2010/main" val="2888803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zh-CN" altLang="en-US">
                <a:latin typeface="Arial" charset="0"/>
                <a:ea typeface="宋体" charset="0"/>
                <a:cs typeface="宋体" charset="0"/>
              </a:rPr>
              <a:t>什么是结构</a:t>
            </a:r>
          </a:p>
        </p:txBody>
      </p:sp>
      <p:sp>
        <p:nvSpPr>
          <p:cNvPr id="10243" name="Rectangle 3"/>
          <p:cNvSpPr>
            <a:spLocks noGrp="1" noChangeArrowheads="1"/>
          </p:cNvSpPr>
          <p:nvPr>
            <p:ph idx="1"/>
          </p:nvPr>
        </p:nvSpPr>
        <p:spPr/>
        <p:txBody>
          <a:bodyPr/>
          <a:lstStyle/>
          <a:p>
            <a:pPr>
              <a:lnSpc>
                <a:spcPct val="90000"/>
              </a:lnSpc>
            </a:pPr>
            <a:r>
              <a:rPr lang="zh-CN" altLang="en-US" dirty="0">
                <a:latin typeface="Arial" charset="0"/>
                <a:ea typeface="宋体" charset="0"/>
                <a:cs typeface="宋体" charset="0"/>
              </a:rPr>
              <a:t>结构</a:t>
            </a:r>
          </a:p>
          <a:p>
            <a:pPr lvl="1">
              <a:lnSpc>
                <a:spcPct val="90000"/>
              </a:lnSpc>
            </a:pPr>
            <a:r>
              <a:rPr lang="zh-CN" altLang="en-US" dirty="0">
                <a:latin typeface="Arial" charset="0"/>
                <a:ea typeface="宋体" charset="0"/>
              </a:rPr>
              <a:t>系统中元素或部分的组织方式、整合方式、相互作用方式</a:t>
            </a:r>
          </a:p>
          <a:p>
            <a:pPr lvl="2">
              <a:lnSpc>
                <a:spcPct val="90000"/>
              </a:lnSpc>
            </a:pPr>
            <a:r>
              <a:rPr lang="zh-CN" altLang="en-US" dirty="0">
                <a:latin typeface="Arial" charset="0"/>
                <a:ea typeface="宋体" charset="0"/>
              </a:rPr>
              <a:t>文章和人</a:t>
            </a:r>
          </a:p>
          <a:p>
            <a:pPr lvl="2">
              <a:lnSpc>
                <a:spcPct val="90000"/>
              </a:lnSpc>
            </a:pPr>
            <a:r>
              <a:rPr lang="zh-CN" altLang="en-US" dirty="0">
                <a:latin typeface="Arial" charset="0"/>
                <a:ea typeface="宋体" charset="0"/>
              </a:rPr>
              <a:t>企业的结构（隐性的核心能力）</a:t>
            </a:r>
            <a:endParaRPr lang="en-US" altLang="zh-CN" dirty="0">
              <a:latin typeface="Arial" charset="0"/>
              <a:ea typeface="宋体" charset="0"/>
            </a:endParaRPr>
          </a:p>
          <a:p>
            <a:pPr lvl="3">
              <a:lnSpc>
                <a:spcPct val="90000"/>
              </a:lnSpc>
            </a:pPr>
            <a:r>
              <a:rPr lang="zh-CN" altLang="en-US" dirty="0">
                <a:latin typeface="Arial" charset="0"/>
                <a:ea typeface="宋体" charset="0"/>
              </a:rPr>
              <a:t>组织结构</a:t>
            </a:r>
            <a:endParaRPr lang="en-US" altLang="zh-CN" dirty="0">
              <a:latin typeface="Arial" charset="0"/>
              <a:ea typeface="宋体" charset="0"/>
            </a:endParaRPr>
          </a:p>
          <a:p>
            <a:pPr lvl="3">
              <a:lnSpc>
                <a:spcPct val="90000"/>
              </a:lnSpc>
            </a:pPr>
            <a:r>
              <a:rPr lang="zh-CN" altLang="en-US" dirty="0">
                <a:latin typeface="Arial" charset="0"/>
                <a:ea typeface="宋体" charset="0"/>
              </a:rPr>
              <a:t>规章制度</a:t>
            </a:r>
            <a:endParaRPr lang="en-US" altLang="zh-CN" dirty="0">
              <a:latin typeface="Arial" charset="0"/>
              <a:ea typeface="宋体" charset="0"/>
            </a:endParaRPr>
          </a:p>
          <a:p>
            <a:pPr lvl="3">
              <a:lnSpc>
                <a:spcPct val="90000"/>
              </a:lnSpc>
            </a:pPr>
            <a:r>
              <a:rPr lang="zh-CN" altLang="en-US" dirty="0">
                <a:latin typeface="Arial" charset="0"/>
                <a:ea typeface="宋体" charset="0"/>
              </a:rPr>
              <a:t>流程</a:t>
            </a:r>
            <a:endParaRPr lang="en-US" altLang="zh-CN" dirty="0">
              <a:latin typeface="Arial" charset="0"/>
              <a:ea typeface="宋体" charset="0"/>
            </a:endParaRPr>
          </a:p>
          <a:p>
            <a:pPr lvl="3">
              <a:lnSpc>
                <a:spcPct val="90000"/>
              </a:lnSpc>
            </a:pPr>
            <a:r>
              <a:rPr lang="zh-CN" altLang="en-US" dirty="0">
                <a:latin typeface="Arial" charset="0"/>
                <a:ea typeface="宋体" charset="0"/>
              </a:rPr>
              <a:t>文化</a:t>
            </a:r>
            <a:endParaRPr lang="en-US" altLang="zh-CN" dirty="0">
              <a:latin typeface="Arial" charset="0"/>
              <a:ea typeface="宋体" charset="0"/>
            </a:endParaRPr>
          </a:p>
          <a:p>
            <a:pPr lvl="3">
              <a:lnSpc>
                <a:spcPct val="90000"/>
              </a:lnSpc>
            </a:pPr>
            <a:r>
              <a:rPr lang="zh-CN" altLang="en-US" dirty="0">
                <a:latin typeface="Arial" charset="0"/>
                <a:ea typeface="宋体" charset="0"/>
              </a:rPr>
              <a:t>信息系统</a:t>
            </a:r>
          </a:p>
          <a:p>
            <a:pPr lvl="2">
              <a:lnSpc>
                <a:spcPct val="90000"/>
              </a:lnSpc>
            </a:pPr>
            <a:r>
              <a:rPr lang="zh-CN" altLang="en-US" dirty="0">
                <a:latin typeface="Arial" charset="0"/>
                <a:ea typeface="宋体" charset="0"/>
              </a:rPr>
              <a:t>行业的结构（</a:t>
            </a:r>
            <a:r>
              <a:rPr lang="en-US" altLang="zh-CN" dirty="0">
                <a:latin typeface="Arial" charset="0"/>
                <a:ea typeface="宋体" charset="0"/>
              </a:rPr>
              <a:t>SCP</a:t>
            </a:r>
            <a:r>
              <a:rPr lang="zh-CN" altLang="en-US" dirty="0">
                <a:latin typeface="Arial" charset="0"/>
                <a:ea typeface="宋体" charset="0"/>
              </a:rPr>
              <a:t>）</a:t>
            </a:r>
          </a:p>
          <a:p>
            <a:pPr lvl="1">
              <a:lnSpc>
                <a:spcPct val="90000"/>
              </a:lnSpc>
            </a:pPr>
            <a:r>
              <a:rPr lang="zh-CN" altLang="en-US" dirty="0">
                <a:latin typeface="Arial" charset="0"/>
                <a:ea typeface="宋体" charset="0"/>
              </a:rPr>
              <a:t>中心边缘结构</a:t>
            </a:r>
          </a:p>
          <a:p>
            <a:pPr marL="411163" lvl="1" indent="0">
              <a:lnSpc>
                <a:spcPct val="90000"/>
              </a:lnSpc>
              <a:buNone/>
            </a:pPr>
            <a:endParaRPr lang="zh-CN" altLang="en-US" dirty="0">
              <a:latin typeface="Arial" charset="0"/>
              <a:ea typeface="宋体" charset="0"/>
            </a:endParaRPr>
          </a:p>
          <a:p>
            <a:pPr lvl="2">
              <a:lnSpc>
                <a:spcPct val="90000"/>
              </a:lnSpc>
            </a:pPr>
            <a:endParaRPr lang="zh-CN" altLang="en-US" dirty="0">
              <a:latin typeface="Arial" charset="0"/>
              <a:ea typeface="宋体" charset="0"/>
            </a:endParaRPr>
          </a:p>
        </p:txBody>
      </p:sp>
    </p:spTree>
    <p:extLst>
      <p:ext uri="{BB962C8B-B14F-4D97-AF65-F5344CB8AC3E}">
        <p14:creationId xmlns:p14="http://schemas.microsoft.com/office/powerpoint/2010/main" val="2296011234"/>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zh-CN" altLang="en-US">
                <a:latin typeface="Arial" charset="0"/>
                <a:ea typeface="宋体" charset="0"/>
                <a:cs typeface="宋体" charset="0"/>
              </a:rPr>
              <a:t>系统的内部规定性</a:t>
            </a:r>
          </a:p>
        </p:txBody>
      </p:sp>
      <p:sp>
        <p:nvSpPr>
          <p:cNvPr id="13315" name="Rectangle 3"/>
          <p:cNvSpPr>
            <a:spLocks noGrp="1" noChangeArrowheads="1"/>
          </p:cNvSpPr>
          <p:nvPr>
            <p:ph idx="1"/>
          </p:nvPr>
        </p:nvSpPr>
        <p:spPr/>
        <p:txBody>
          <a:bodyPr/>
          <a:lstStyle/>
          <a:p>
            <a:r>
              <a:rPr lang="zh-CN" altLang="en-US" sz="2800" dirty="0">
                <a:latin typeface="Arial" charset="0"/>
                <a:ea typeface="宋体" charset="0"/>
                <a:cs typeface="宋体" charset="0"/>
              </a:rPr>
              <a:t>系统整体的特性、状态、行为、功能，不仅与元素有关，而且与元素之间的关联方式即系统的结构有关，</a:t>
            </a:r>
            <a:r>
              <a:rPr lang="zh-CN" altLang="en-US" sz="2800" dirty="0">
                <a:solidFill>
                  <a:schemeClr val="hlink"/>
                </a:solidFill>
                <a:latin typeface="Arial" charset="0"/>
                <a:ea typeface="宋体" charset="0"/>
                <a:cs typeface="宋体" charset="0"/>
              </a:rPr>
              <a:t>元素和结构一起规定系统</a:t>
            </a:r>
            <a:r>
              <a:rPr lang="zh-CN" altLang="en-US" sz="2800" dirty="0">
                <a:latin typeface="Arial" charset="0"/>
                <a:ea typeface="宋体" charset="0"/>
                <a:cs typeface="宋体" charset="0"/>
              </a:rPr>
              <a:t>。</a:t>
            </a:r>
          </a:p>
          <a:p>
            <a:pPr lvl="1"/>
            <a:r>
              <a:rPr lang="zh-CN" altLang="en-US" sz="2400" dirty="0">
                <a:latin typeface="Arial" charset="0"/>
                <a:ea typeface="宋体" charset="0"/>
              </a:rPr>
              <a:t>政治与经济体制</a:t>
            </a:r>
          </a:p>
          <a:p>
            <a:pPr lvl="1"/>
            <a:r>
              <a:rPr lang="zh-CN" altLang="en-US" sz="2400" dirty="0">
                <a:latin typeface="Arial" charset="0"/>
                <a:ea typeface="宋体" charset="0"/>
              </a:rPr>
              <a:t>石墨和金刚石</a:t>
            </a:r>
          </a:p>
          <a:p>
            <a:pPr lvl="1"/>
            <a:r>
              <a:rPr lang="zh-CN" altLang="en-US" sz="2400" dirty="0">
                <a:latin typeface="Arial" charset="0"/>
                <a:ea typeface="宋体" charset="0"/>
              </a:rPr>
              <a:t>不同组织结构、流程、管理制度与企业文化的企业</a:t>
            </a:r>
          </a:p>
          <a:p>
            <a:r>
              <a:rPr lang="zh-CN" altLang="en-US" sz="2800" dirty="0">
                <a:latin typeface="Arial" charset="0"/>
                <a:ea typeface="宋体" charset="0"/>
                <a:cs typeface="宋体" charset="0"/>
              </a:rPr>
              <a:t>结构是内在于系统的</a:t>
            </a:r>
          </a:p>
          <a:p>
            <a:pPr lvl="1"/>
            <a:r>
              <a:rPr lang="zh-CN" altLang="en-US" sz="2400" dirty="0">
                <a:latin typeface="Arial" charset="0"/>
                <a:ea typeface="宋体" charset="0"/>
              </a:rPr>
              <a:t>观察</a:t>
            </a:r>
            <a:endParaRPr lang="en-US" altLang="zh-CN" sz="2400" dirty="0">
              <a:latin typeface="Arial" charset="0"/>
              <a:ea typeface="宋体" charset="0"/>
            </a:endParaRPr>
          </a:p>
          <a:p>
            <a:pPr lvl="1"/>
            <a:r>
              <a:rPr lang="zh-CN" altLang="en-US" sz="2400" dirty="0">
                <a:latin typeface="Arial" charset="0"/>
                <a:ea typeface="宋体" charset="0"/>
              </a:rPr>
              <a:t>系统思维的艺术在于能够看清复杂而微妙的结构</a:t>
            </a:r>
            <a:r>
              <a:rPr lang="en-US" altLang="zh-CN" sz="2400" dirty="0">
                <a:latin typeface="Arial" charset="0"/>
                <a:ea typeface="宋体" charset="0"/>
              </a:rPr>
              <a:t>         -</a:t>
            </a:r>
            <a:r>
              <a:rPr lang="zh-CN" altLang="en-US" sz="2400" dirty="0">
                <a:latin typeface="Arial" charset="0"/>
                <a:ea typeface="宋体" charset="0"/>
              </a:rPr>
              <a:t>圣吉</a:t>
            </a:r>
            <a:r>
              <a:rPr lang="en-US" altLang="zh-CN" sz="2400" dirty="0">
                <a:latin typeface="Arial" charset="0"/>
                <a:ea typeface="宋体" charset="0"/>
              </a:rPr>
              <a:t>.</a:t>
            </a:r>
            <a:r>
              <a:rPr lang="zh-CN" altLang="en-US" sz="2400" dirty="0">
                <a:latin typeface="Arial" charset="0"/>
                <a:ea typeface="宋体" charset="0"/>
              </a:rPr>
              <a:t>彼得</a:t>
            </a:r>
          </a:p>
        </p:txBody>
      </p:sp>
    </p:spTree>
    <p:extLst>
      <p:ext uri="{BB962C8B-B14F-4D97-AF65-F5344CB8AC3E}">
        <p14:creationId xmlns:p14="http://schemas.microsoft.com/office/powerpoint/2010/main" val="1235338007"/>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zh-CN" altLang="en-US">
                <a:latin typeface="Arial" charset="0"/>
                <a:ea typeface="宋体" charset="0"/>
                <a:cs typeface="宋体" charset="0"/>
              </a:rPr>
              <a:t>结构与功能</a:t>
            </a:r>
          </a:p>
        </p:txBody>
      </p:sp>
      <p:sp>
        <p:nvSpPr>
          <p:cNvPr id="15363" name="Rectangle 3"/>
          <p:cNvSpPr>
            <a:spLocks noGrp="1" noChangeArrowheads="1"/>
          </p:cNvSpPr>
          <p:nvPr>
            <p:ph idx="1"/>
          </p:nvPr>
        </p:nvSpPr>
        <p:spPr/>
        <p:txBody>
          <a:bodyPr/>
          <a:lstStyle/>
          <a:p>
            <a:r>
              <a:rPr lang="zh-CN" altLang="en-US" dirty="0">
                <a:latin typeface="Arial" charset="0"/>
                <a:ea typeface="宋体" charset="0"/>
                <a:cs typeface="宋体" charset="0"/>
              </a:rPr>
              <a:t>系统具有结构，结构产生功能</a:t>
            </a:r>
          </a:p>
          <a:p>
            <a:r>
              <a:rPr lang="zh-CN" altLang="en-US" dirty="0">
                <a:latin typeface="Arial" charset="0"/>
                <a:ea typeface="宋体" charset="0"/>
                <a:cs typeface="宋体" charset="0"/>
              </a:rPr>
              <a:t>结构是“体”，是内在的、静态的、主动的“质”</a:t>
            </a:r>
          </a:p>
          <a:p>
            <a:r>
              <a:rPr lang="zh-CN" altLang="en-US" dirty="0">
                <a:latin typeface="Arial" charset="0"/>
                <a:ea typeface="宋体" charset="0"/>
                <a:cs typeface="宋体" charset="0"/>
              </a:rPr>
              <a:t>功能是“用”，是外表的、动态的、被动的“能”</a:t>
            </a:r>
          </a:p>
          <a:p>
            <a:pPr lvl="1">
              <a:buFont typeface="Wingdings" charset="0"/>
              <a:buNone/>
            </a:pPr>
            <a:endParaRPr lang="zh-CN" altLang="en-US" dirty="0">
              <a:latin typeface="Arial" charset="0"/>
              <a:ea typeface="宋体" charset="0"/>
            </a:endParaRPr>
          </a:p>
        </p:txBody>
      </p:sp>
    </p:spTree>
    <p:extLst>
      <p:ext uri="{BB962C8B-B14F-4D97-AF65-F5344CB8AC3E}">
        <p14:creationId xmlns:p14="http://schemas.microsoft.com/office/powerpoint/2010/main" val="1642454787"/>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zh-CN" altLang="en-US" dirty="0">
                <a:latin typeface="Arial" charset="0"/>
                <a:ea typeface="宋体" charset="0"/>
                <a:cs typeface="宋体" charset="0"/>
              </a:rPr>
              <a:t>系统的结构分析</a:t>
            </a:r>
          </a:p>
        </p:txBody>
      </p:sp>
      <p:sp>
        <p:nvSpPr>
          <p:cNvPr id="8195" name="Rectangle 3"/>
          <p:cNvSpPr>
            <a:spLocks noGrp="1" noChangeArrowheads="1"/>
          </p:cNvSpPr>
          <p:nvPr>
            <p:ph idx="1"/>
          </p:nvPr>
        </p:nvSpPr>
        <p:spPr/>
        <p:txBody>
          <a:bodyPr/>
          <a:lstStyle/>
          <a:p>
            <a:pPr>
              <a:lnSpc>
                <a:spcPct val="90000"/>
              </a:lnSpc>
            </a:pPr>
            <a:r>
              <a:rPr lang="zh-CN" altLang="en-US" dirty="0">
                <a:latin typeface="Arial" charset="0"/>
                <a:ea typeface="宋体" charset="0"/>
                <a:cs typeface="宋体" charset="0"/>
              </a:rPr>
              <a:t>框架结构与运行结构</a:t>
            </a:r>
          </a:p>
          <a:p>
            <a:pPr>
              <a:lnSpc>
                <a:spcPct val="90000"/>
              </a:lnSpc>
            </a:pPr>
            <a:r>
              <a:rPr lang="zh-CN" altLang="en-US" dirty="0">
                <a:latin typeface="Arial" charset="0"/>
                <a:ea typeface="宋体" charset="0"/>
                <a:cs typeface="宋体" charset="0"/>
              </a:rPr>
              <a:t>硬结构与软结构</a:t>
            </a:r>
          </a:p>
          <a:p>
            <a:pPr>
              <a:lnSpc>
                <a:spcPct val="90000"/>
              </a:lnSpc>
            </a:pPr>
            <a:r>
              <a:rPr lang="zh-CN" altLang="en-US" dirty="0">
                <a:latin typeface="Arial" charset="0"/>
                <a:ea typeface="宋体" charset="0"/>
                <a:cs typeface="宋体" charset="0"/>
              </a:rPr>
              <a:t>深层结构与表层结构</a:t>
            </a:r>
          </a:p>
          <a:p>
            <a:pPr>
              <a:lnSpc>
                <a:spcPct val="90000"/>
              </a:lnSpc>
            </a:pPr>
            <a:r>
              <a:rPr lang="zh-CN" altLang="en-US" dirty="0">
                <a:latin typeface="Arial" charset="0"/>
                <a:ea typeface="宋体" charset="0"/>
                <a:cs typeface="宋体" charset="0"/>
              </a:rPr>
              <a:t>显结构与隐结构</a:t>
            </a:r>
          </a:p>
          <a:p>
            <a:pPr>
              <a:lnSpc>
                <a:spcPct val="90000"/>
              </a:lnSpc>
            </a:pPr>
            <a:endParaRPr lang="zh-CN" altLang="en-US" dirty="0">
              <a:latin typeface="Arial" charset="0"/>
              <a:ea typeface="宋体" charset="0"/>
              <a:cs typeface="宋体" charset="0"/>
            </a:endParaRPr>
          </a:p>
        </p:txBody>
      </p:sp>
    </p:spTree>
    <p:extLst>
      <p:ext uri="{BB962C8B-B14F-4D97-AF65-F5344CB8AC3E}">
        <p14:creationId xmlns:p14="http://schemas.microsoft.com/office/powerpoint/2010/main" val="2065454002"/>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a:defRPr/>
            </a:pPr>
            <a:r>
              <a:rPr kumimoji="0" lang="zh-CN" altLang="en-US" dirty="0"/>
              <a:t>环境观点－系统的外在规定性</a:t>
            </a:r>
          </a:p>
        </p:txBody>
      </p:sp>
      <p:sp>
        <p:nvSpPr>
          <p:cNvPr id="24579" name="Rectangle 3"/>
          <p:cNvSpPr>
            <a:spLocks noGrp="1" noChangeArrowheads="1"/>
          </p:cNvSpPr>
          <p:nvPr>
            <p:ph type="body" idx="1"/>
          </p:nvPr>
        </p:nvSpPr>
        <p:spPr>
          <a:xfrm>
            <a:off x="457200" y="1646238"/>
            <a:ext cx="8229600" cy="5211762"/>
          </a:xfrm>
        </p:spPr>
        <p:txBody>
          <a:bodyPr/>
          <a:lstStyle/>
          <a:p>
            <a:pPr>
              <a:lnSpc>
                <a:spcPct val="80000"/>
              </a:lnSpc>
              <a:defRPr/>
            </a:pPr>
            <a:r>
              <a:rPr kumimoji="0" lang="zh-CN" altLang="en-US" sz="2800" dirty="0"/>
              <a:t>每个具体的系统都是从普遍联系的客观事物之网中相对地划分出来的，与外部事物有千丝万缕的联系。</a:t>
            </a:r>
            <a:endParaRPr kumimoji="0" lang="en-US" altLang="zh-CN" sz="2800" dirty="0"/>
          </a:p>
          <a:p>
            <a:pPr>
              <a:lnSpc>
                <a:spcPct val="80000"/>
              </a:lnSpc>
              <a:defRPr/>
            </a:pPr>
            <a:r>
              <a:rPr kumimoji="0" lang="zh-CN" altLang="en-US" sz="2800" dirty="0"/>
              <a:t>这种联系对于形成系统特有的规定性是必要的而且重要的。</a:t>
            </a:r>
            <a:endParaRPr kumimoji="0" lang="en-US" altLang="zh-CN" sz="2800" dirty="0"/>
          </a:p>
          <a:p>
            <a:pPr>
              <a:lnSpc>
                <a:spcPct val="80000"/>
              </a:lnSpc>
              <a:defRPr/>
            </a:pPr>
            <a:r>
              <a:rPr kumimoji="0" lang="zh-CN" altLang="en-US" sz="2800" dirty="0"/>
              <a:t>外部的变化或多或少会影响到系统，改变系统与外部事物的联系方式，往往还会改变系统内部组分的联系方式，甚至会改变组分本身，包括增加或减少某些组分。</a:t>
            </a:r>
            <a:endParaRPr kumimoji="0" lang="en-US" altLang="zh-CN" sz="2800" dirty="0"/>
          </a:p>
          <a:p>
            <a:pPr lvl="1">
              <a:lnSpc>
                <a:spcPct val="80000"/>
              </a:lnSpc>
              <a:defRPr/>
            </a:pPr>
            <a:r>
              <a:rPr kumimoji="0" lang="zh-CN" altLang="en-US" sz="2400" dirty="0"/>
              <a:t>市场变化导致企业变化</a:t>
            </a:r>
            <a:endParaRPr kumimoji="0" lang="en-US" altLang="zh-CN" sz="2400" dirty="0"/>
          </a:p>
          <a:p>
            <a:pPr lvl="1">
              <a:lnSpc>
                <a:spcPct val="80000"/>
              </a:lnSpc>
              <a:defRPr/>
            </a:pPr>
            <a:r>
              <a:rPr kumimoji="0" lang="zh-CN" altLang="en-US" sz="2400" dirty="0"/>
              <a:t>环境变化导致人的健康状况的变化</a:t>
            </a:r>
            <a:endParaRPr kumimoji="0" lang="en-US" altLang="zh-CN" sz="2400" dirty="0"/>
          </a:p>
          <a:p>
            <a:pPr lvl="1">
              <a:lnSpc>
                <a:spcPct val="80000"/>
              </a:lnSpc>
              <a:defRPr/>
            </a:pPr>
            <a:r>
              <a:rPr kumimoji="0" lang="zh-CN" altLang="en-US" sz="2400" dirty="0"/>
              <a:t>时势造英雄</a:t>
            </a:r>
            <a:endParaRPr kumimoji="0" lang="en-US" altLang="zh-CN" sz="2400" dirty="0"/>
          </a:p>
          <a:p>
            <a:pPr lvl="1">
              <a:lnSpc>
                <a:spcPct val="80000"/>
              </a:lnSpc>
              <a:defRPr/>
            </a:pPr>
            <a:r>
              <a:rPr kumimoji="0" lang="zh-CN" altLang="en-US" sz="2400" dirty="0"/>
              <a:t>桔生淮北而为枳</a:t>
            </a:r>
            <a:endParaRPr kumimoji="0" lang="en-US" altLang="zh-CN" sz="2400" dirty="0"/>
          </a:p>
        </p:txBody>
      </p:sp>
    </p:spTree>
    <p:extLst>
      <p:ext uri="{BB962C8B-B14F-4D97-AF65-F5344CB8AC3E}">
        <p14:creationId xmlns:p14="http://schemas.microsoft.com/office/powerpoint/2010/main" val="3474737012"/>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defRPr/>
            </a:pPr>
            <a:endParaRPr kumimoji="0" lang="zh-CN" altLang="en-US"/>
          </a:p>
        </p:txBody>
      </p:sp>
      <p:sp>
        <p:nvSpPr>
          <p:cNvPr id="30723" name="Rectangle 3"/>
          <p:cNvSpPr>
            <a:spLocks noGrp="1" noChangeArrowheads="1"/>
          </p:cNvSpPr>
          <p:nvPr>
            <p:ph type="body" idx="1"/>
          </p:nvPr>
        </p:nvSpPr>
        <p:spPr/>
        <p:txBody>
          <a:bodyPr/>
          <a:lstStyle/>
          <a:p>
            <a:pPr>
              <a:defRPr/>
            </a:pPr>
            <a:r>
              <a:rPr kumimoji="0" lang="zh-CN" altLang="en-US" dirty="0"/>
              <a:t>联系环境看问题，环境分析</a:t>
            </a:r>
            <a:endParaRPr kumimoji="0" lang="en-US" altLang="zh-CN" dirty="0"/>
          </a:p>
          <a:p>
            <a:pPr>
              <a:defRPr/>
            </a:pPr>
            <a:r>
              <a:rPr kumimoji="0" lang="zh-CN" altLang="en-US" dirty="0"/>
              <a:t>同一系统的不同部分的环境也不相同</a:t>
            </a:r>
            <a:endParaRPr kumimoji="0" lang="en-US" altLang="zh-CN" dirty="0"/>
          </a:p>
          <a:p>
            <a:pPr lvl="1">
              <a:defRPr/>
            </a:pPr>
            <a:r>
              <a:rPr kumimoji="0" lang="zh-CN" altLang="en-US" dirty="0"/>
              <a:t>一树春风有两般，南枝向暖北枝寒</a:t>
            </a:r>
            <a:endParaRPr kumimoji="0" lang="en-US" altLang="zh-CN" dirty="0"/>
          </a:p>
          <a:p>
            <a:pPr lvl="1">
              <a:defRPr/>
            </a:pPr>
            <a:r>
              <a:rPr kumimoji="0" lang="zh-CN" altLang="en-US" dirty="0"/>
              <a:t>人民大学的不同学院</a:t>
            </a:r>
            <a:endParaRPr kumimoji="0" lang="en-US" altLang="zh-CN" dirty="0"/>
          </a:p>
          <a:p>
            <a:pPr lvl="1">
              <a:defRPr/>
            </a:pPr>
            <a:r>
              <a:rPr lang="zh-CN" altLang="en-US" dirty="0"/>
              <a:t>战略组</a:t>
            </a:r>
            <a:endParaRPr kumimoji="0" lang="en-US" altLang="zh-CN" dirty="0"/>
          </a:p>
        </p:txBody>
      </p:sp>
    </p:spTree>
    <p:extLst>
      <p:ext uri="{BB962C8B-B14F-4D97-AF65-F5344CB8AC3E}">
        <p14:creationId xmlns:p14="http://schemas.microsoft.com/office/powerpoint/2010/main" val="3876802811"/>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a:defRPr/>
            </a:pPr>
            <a:r>
              <a:rPr kumimoji="0" lang="zh-CN" altLang="en-US" dirty="0"/>
              <a:t>环境意识</a:t>
            </a:r>
          </a:p>
        </p:txBody>
      </p:sp>
      <p:sp>
        <p:nvSpPr>
          <p:cNvPr id="36867" name="Rectangle 3"/>
          <p:cNvSpPr>
            <a:spLocks noGrp="1" noChangeArrowheads="1"/>
          </p:cNvSpPr>
          <p:nvPr>
            <p:ph type="body" idx="1"/>
          </p:nvPr>
        </p:nvSpPr>
        <p:spPr/>
        <p:txBody>
          <a:bodyPr/>
          <a:lstStyle/>
          <a:p>
            <a:pPr>
              <a:defRPr/>
            </a:pPr>
            <a:r>
              <a:rPr kumimoji="0" lang="zh-CN" altLang="en-US" sz="3600" dirty="0"/>
              <a:t>战略研究</a:t>
            </a:r>
            <a:endParaRPr kumimoji="0" lang="en-US" altLang="zh-CN" sz="3600" dirty="0"/>
          </a:p>
          <a:p>
            <a:pPr>
              <a:defRPr/>
            </a:pPr>
            <a:r>
              <a:rPr kumimoji="0" lang="zh-CN" altLang="en-US" sz="3600" dirty="0"/>
              <a:t>李约瑟难题</a:t>
            </a:r>
            <a:endParaRPr kumimoji="0" lang="en-US" altLang="zh-CN" sz="3600" dirty="0"/>
          </a:p>
          <a:p>
            <a:pPr>
              <a:defRPr/>
            </a:pPr>
            <a:r>
              <a:rPr kumimoji="0" lang="zh-CN" altLang="en-US" sz="3600" dirty="0"/>
              <a:t>钱学森之问</a:t>
            </a:r>
            <a:endParaRPr kumimoji="0" lang="en-US" altLang="zh-CN" sz="3600" dirty="0"/>
          </a:p>
          <a:p>
            <a:pPr>
              <a:defRPr/>
            </a:pPr>
            <a:r>
              <a:rPr kumimoji="0" lang="zh-CN" altLang="en-US" sz="3600" dirty="0"/>
              <a:t>硅谷为什么创新</a:t>
            </a:r>
          </a:p>
        </p:txBody>
      </p:sp>
      <p:pic>
        <p:nvPicPr>
          <p:cNvPr id="20483" name="Picture 5" descr="U209P60T4D51235F49DT200403261517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4163" y="2420938"/>
            <a:ext cx="3233737" cy="320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23713037"/>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a:defRPr/>
            </a:pPr>
            <a:r>
              <a:rPr kumimoji="0" lang="zh-CN" altLang="en-US"/>
              <a:t>系统与环境互塑共生原理</a:t>
            </a:r>
          </a:p>
        </p:txBody>
      </p:sp>
      <p:sp>
        <p:nvSpPr>
          <p:cNvPr id="38915" name="Rectangle 3"/>
          <p:cNvSpPr>
            <a:spLocks noGrp="1" noChangeArrowheads="1"/>
          </p:cNvSpPr>
          <p:nvPr>
            <p:ph type="body" idx="1"/>
          </p:nvPr>
        </p:nvSpPr>
        <p:spPr/>
        <p:txBody>
          <a:bodyPr/>
          <a:lstStyle/>
          <a:p>
            <a:pPr>
              <a:defRPr/>
            </a:pPr>
            <a:r>
              <a:rPr kumimoji="0" lang="zh-CN" altLang="en-US" sz="2800" dirty="0"/>
              <a:t>环境对系统</a:t>
            </a:r>
            <a:endParaRPr kumimoji="0" lang="en-US" altLang="zh-CN" sz="2800" dirty="0"/>
          </a:p>
          <a:p>
            <a:pPr lvl="1">
              <a:defRPr/>
            </a:pPr>
            <a:r>
              <a:rPr kumimoji="0" lang="zh-CN" altLang="en-US" sz="2400" dirty="0"/>
              <a:t>资源：积极的作用、有利的输入</a:t>
            </a:r>
            <a:endParaRPr kumimoji="0" lang="en-US" altLang="zh-CN" sz="2400" dirty="0"/>
          </a:p>
          <a:p>
            <a:pPr lvl="1">
              <a:defRPr/>
            </a:pPr>
            <a:r>
              <a:rPr kumimoji="0" lang="zh-CN" altLang="en-US" sz="2400" dirty="0"/>
              <a:t>约束、扰动、压力：消极的作用、不利的输入</a:t>
            </a:r>
            <a:endParaRPr kumimoji="0" lang="en-US" altLang="zh-CN" sz="2400" dirty="0"/>
          </a:p>
          <a:p>
            <a:pPr lvl="1">
              <a:defRPr/>
            </a:pPr>
            <a:r>
              <a:rPr kumimoji="0" lang="zh-CN" altLang="en-US" sz="2400" dirty="0"/>
              <a:t>环境的烙印</a:t>
            </a:r>
            <a:endParaRPr kumimoji="0" lang="en-US" altLang="zh-CN" sz="2400" dirty="0"/>
          </a:p>
          <a:p>
            <a:pPr lvl="2">
              <a:defRPr/>
            </a:pPr>
            <a:r>
              <a:rPr kumimoji="0" lang="zh-CN" altLang="en-US" sz="2000" dirty="0"/>
              <a:t>一方水土养一方人</a:t>
            </a:r>
            <a:endParaRPr kumimoji="0" lang="en-US" altLang="zh-CN" sz="2000" dirty="0"/>
          </a:p>
          <a:p>
            <a:pPr lvl="2">
              <a:defRPr/>
            </a:pPr>
            <a:r>
              <a:rPr kumimoji="0" lang="zh-CN" altLang="en-US" sz="2000" dirty="0"/>
              <a:t>近朱者赤，近墨者黑</a:t>
            </a:r>
            <a:endParaRPr kumimoji="0" lang="en-US" altLang="zh-CN" sz="2000" dirty="0"/>
          </a:p>
          <a:p>
            <a:pPr>
              <a:defRPr/>
            </a:pPr>
            <a:r>
              <a:rPr kumimoji="0" lang="zh-CN" altLang="en-US" sz="2800" dirty="0"/>
              <a:t>系统对环境</a:t>
            </a:r>
            <a:endParaRPr kumimoji="0" lang="en-US" altLang="zh-CN" sz="2800" dirty="0"/>
          </a:p>
          <a:p>
            <a:pPr lvl="1">
              <a:defRPr/>
            </a:pPr>
            <a:r>
              <a:rPr kumimoji="0" lang="zh-CN" altLang="en-US" sz="2400" dirty="0"/>
              <a:t>功能：积极的作用、有利的输出</a:t>
            </a:r>
            <a:endParaRPr kumimoji="0" lang="en-US" altLang="zh-CN" sz="2400" dirty="0"/>
          </a:p>
          <a:p>
            <a:pPr lvl="1">
              <a:defRPr/>
            </a:pPr>
            <a:r>
              <a:rPr kumimoji="0" lang="zh-CN" altLang="en-US" sz="2400" dirty="0"/>
              <a:t>污染：有破坏环境作用的不利的输出</a:t>
            </a:r>
            <a:endParaRPr kumimoji="0" lang="en-US" altLang="zh-CN" sz="2400" dirty="0"/>
          </a:p>
          <a:p>
            <a:pPr lvl="1">
              <a:defRPr/>
            </a:pPr>
            <a:endParaRPr kumimoji="0" lang="en-US" altLang="zh-CN" sz="2400" dirty="0"/>
          </a:p>
          <a:p>
            <a:pPr lvl="1">
              <a:defRPr/>
            </a:pPr>
            <a:endParaRPr kumimoji="0" lang="zh-CN" altLang="en-US" sz="2400" dirty="0"/>
          </a:p>
        </p:txBody>
      </p:sp>
    </p:spTree>
    <p:extLst>
      <p:ext uri="{BB962C8B-B14F-4D97-AF65-F5344CB8AC3E}">
        <p14:creationId xmlns:p14="http://schemas.microsoft.com/office/powerpoint/2010/main" val="2095685598"/>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a:defRPr/>
            </a:pPr>
            <a:endParaRPr kumimoji="0" lang="zh-CN" altLang="en-US"/>
          </a:p>
        </p:txBody>
      </p:sp>
      <p:sp>
        <p:nvSpPr>
          <p:cNvPr id="39939" name="Rectangle 3"/>
          <p:cNvSpPr>
            <a:spLocks noGrp="1" noChangeArrowheads="1"/>
          </p:cNvSpPr>
          <p:nvPr>
            <p:ph type="body" idx="1"/>
          </p:nvPr>
        </p:nvSpPr>
        <p:spPr/>
        <p:txBody>
          <a:bodyPr/>
          <a:lstStyle/>
          <a:p>
            <a:pPr>
              <a:lnSpc>
                <a:spcPct val="90000"/>
              </a:lnSpc>
              <a:defRPr/>
            </a:pPr>
            <a:r>
              <a:rPr kumimoji="0" lang="zh-CN" altLang="en-US" sz="2800" dirty="0"/>
              <a:t>同一环境中不同系统互为环境</a:t>
            </a:r>
            <a:endParaRPr kumimoji="0" lang="en-US" altLang="zh-CN" sz="2800" dirty="0"/>
          </a:p>
          <a:p>
            <a:pPr lvl="1">
              <a:lnSpc>
                <a:spcPct val="90000"/>
              </a:lnSpc>
              <a:defRPr/>
            </a:pPr>
            <a:r>
              <a:rPr kumimoji="0" lang="zh-CN" altLang="en-US" sz="2400" dirty="0"/>
              <a:t>不同企业互为行业环境</a:t>
            </a:r>
            <a:endParaRPr kumimoji="0" lang="en-US" altLang="zh-CN" sz="2400" dirty="0"/>
          </a:p>
          <a:p>
            <a:pPr lvl="1">
              <a:lnSpc>
                <a:spcPct val="90000"/>
              </a:lnSpc>
              <a:defRPr/>
            </a:pPr>
            <a:r>
              <a:rPr kumimoji="0" lang="zh-CN" altLang="en-US" sz="2400" dirty="0"/>
              <a:t>不同句子互为语境</a:t>
            </a:r>
            <a:endParaRPr kumimoji="0" lang="en-US" altLang="zh-CN" sz="2400" dirty="0"/>
          </a:p>
          <a:p>
            <a:pPr lvl="1">
              <a:lnSpc>
                <a:spcPct val="90000"/>
              </a:lnSpc>
              <a:defRPr/>
            </a:pPr>
            <a:r>
              <a:rPr kumimoji="0" lang="zh-CN" altLang="en-US" sz="2400" dirty="0"/>
              <a:t>不同国家互为环境</a:t>
            </a:r>
            <a:endParaRPr kumimoji="0" lang="en-US" altLang="zh-CN" sz="2400" dirty="0"/>
          </a:p>
          <a:p>
            <a:pPr lvl="1">
              <a:lnSpc>
                <a:spcPct val="90000"/>
              </a:lnSpc>
              <a:defRPr/>
            </a:pPr>
            <a:endParaRPr kumimoji="0" lang="en-US" altLang="zh-CN" sz="2400" dirty="0"/>
          </a:p>
          <a:p>
            <a:pPr>
              <a:lnSpc>
                <a:spcPct val="90000"/>
              </a:lnSpc>
              <a:defRPr/>
            </a:pPr>
            <a:r>
              <a:rPr kumimoji="0" lang="zh-CN" altLang="en-US" sz="2800" dirty="0"/>
              <a:t>系统的存在本身就是对其环境的影响和制约因素。</a:t>
            </a:r>
            <a:endParaRPr kumimoji="0" lang="en-US" altLang="zh-CN" sz="2800" dirty="0"/>
          </a:p>
          <a:p>
            <a:pPr>
              <a:lnSpc>
                <a:spcPct val="90000"/>
              </a:lnSpc>
              <a:defRPr/>
            </a:pPr>
            <a:r>
              <a:rPr kumimoji="0" lang="zh-CN" altLang="en-US" sz="2800" dirty="0"/>
              <a:t>系统的运行、演化必然会影响环境，留下其痕迹。</a:t>
            </a:r>
            <a:endParaRPr kumimoji="0" lang="en-US" altLang="zh-CN" sz="2800" dirty="0"/>
          </a:p>
          <a:p>
            <a:pPr>
              <a:lnSpc>
                <a:spcPct val="90000"/>
              </a:lnSpc>
              <a:defRPr/>
            </a:pPr>
            <a:r>
              <a:rPr kumimoji="0" lang="zh-CN" altLang="en-US" sz="2800" dirty="0"/>
              <a:t>系统不存在了，环境或多或少有变化，有时甚至是巨大变化。</a:t>
            </a:r>
            <a:endParaRPr kumimoji="0" lang="en-US" altLang="zh-CN" sz="2800" dirty="0"/>
          </a:p>
          <a:p>
            <a:pPr>
              <a:lnSpc>
                <a:spcPct val="90000"/>
              </a:lnSpc>
              <a:defRPr/>
            </a:pPr>
            <a:endParaRPr kumimoji="0" lang="zh-CN" altLang="en-US" sz="2800" dirty="0"/>
          </a:p>
        </p:txBody>
      </p:sp>
    </p:spTree>
    <p:extLst>
      <p:ext uri="{BB962C8B-B14F-4D97-AF65-F5344CB8AC3E}">
        <p14:creationId xmlns:p14="http://schemas.microsoft.com/office/powerpoint/2010/main" val="1406608968"/>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a:defRPr/>
            </a:pPr>
            <a:endParaRPr kumimoji="0" lang="zh-CN" altLang="en-US"/>
          </a:p>
        </p:txBody>
      </p:sp>
      <p:sp>
        <p:nvSpPr>
          <p:cNvPr id="40963" name="Rectangle 3"/>
          <p:cNvSpPr>
            <a:spLocks noGrp="1" noChangeArrowheads="1"/>
          </p:cNvSpPr>
          <p:nvPr>
            <p:ph type="body" idx="1"/>
          </p:nvPr>
        </p:nvSpPr>
        <p:spPr/>
        <p:txBody>
          <a:bodyPr/>
          <a:lstStyle/>
          <a:p>
            <a:pPr>
              <a:defRPr/>
            </a:pPr>
            <a:r>
              <a:rPr kumimoji="0" lang="zh-CN" altLang="en-US" sz="2800" dirty="0"/>
              <a:t>活系统对环境的影响</a:t>
            </a:r>
            <a:endParaRPr kumimoji="0" lang="en-US" altLang="zh-CN" sz="2800" dirty="0"/>
          </a:p>
          <a:p>
            <a:pPr lvl="1">
              <a:defRPr/>
            </a:pPr>
            <a:r>
              <a:rPr kumimoji="0" lang="zh-CN" altLang="en-US" sz="2400" dirty="0"/>
              <a:t>高级活系统，能够改变环境</a:t>
            </a:r>
            <a:endParaRPr kumimoji="0" lang="en-US" altLang="zh-CN" sz="2400" dirty="0"/>
          </a:p>
          <a:p>
            <a:pPr lvl="2">
              <a:defRPr/>
            </a:pPr>
            <a:r>
              <a:rPr kumimoji="0" lang="zh-CN" altLang="en-US" sz="2000" dirty="0"/>
              <a:t>大企业对产业；国家对国际政治经济秩序的影响</a:t>
            </a:r>
            <a:endParaRPr kumimoji="0" lang="en-US" altLang="zh-CN" sz="2000" dirty="0"/>
          </a:p>
          <a:p>
            <a:pPr lvl="1">
              <a:defRPr/>
            </a:pPr>
            <a:r>
              <a:rPr kumimoji="0" lang="zh-CN" altLang="en-US" sz="2400" dirty="0"/>
              <a:t>影响环境，改变环境，保护环境，建设环境</a:t>
            </a:r>
            <a:endParaRPr kumimoji="0" lang="en-US" altLang="zh-CN" sz="2400" dirty="0"/>
          </a:p>
          <a:p>
            <a:pPr>
              <a:defRPr/>
            </a:pPr>
            <a:r>
              <a:rPr kumimoji="0" lang="zh-CN" altLang="en-US" sz="2800" dirty="0"/>
              <a:t>认识了系统对环境的塑造作用，使得小到个人行为，中到工程设计和公司行为，大到国家政策制定都有变化。</a:t>
            </a:r>
          </a:p>
        </p:txBody>
      </p:sp>
    </p:spTree>
    <p:extLst>
      <p:ext uri="{BB962C8B-B14F-4D97-AF65-F5344CB8AC3E}">
        <p14:creationId xmlns:p14="http://schemas.microsoft.com/office/powerpoint/2010/main" val="609745549"/>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a:defRPr/>
            </a:pPr>
            <a:endParaRPr kumimoji="0" lang="zh-CN" altLang="en-US"/>
          </a:p>
        </p:txBody>
      </p:sp>
      <p:sp>
        <p:nvSpPr>
          <p:cNvPr id="34819" name="Rectangle 3"/>
          <p:cNvSpPr>
            <a:spLocks noGrp="1" noChangeArrowheads="1"/>
          </p:cNvSpPr>
          <p:nvPr>
            <p:ph type="body" idx="1"/>
          </p:nvPr>
        </p:nvSpPr>
        <p:spPr/>
        <p:txBody>
          <a:bodyPr/>
          <a:lstStyle/>
          <a:p>
            <a:pPr>
              <a:defRPr/>
            </a:pPr>
            <a:r>
              <a:rPr kumimoji="0" lang="zh-CN" altLang="en-US" dirty="0"/>
              <a:t>大环境与小环境</a:t>
            </a:r>
            <a:endParaRPr kumimoji="0" lang="en-US" altLang="zh-CN" dirty="0"/>
          </a:p>
          <a:p>
            <a:pPr>
              <a:defRPr/>
            </a:pPr>
            <a:r>
              <a:rPr kumimoji="0" lang="zh-CN" altLang="en-US" dirty="0"/>
              <a:t>硬环境与软环境</a:t>
            </a:r>
            <a:endParaRPr kumimoji="0" lang="en-US" altLang="zh-CN" dirty="0"/>
          </a:p>
          <a:p>
            <a:pPr>
              <a:defRPr/>
            </a:pPr>
            <a:r>
              <a:rPr kumimoji="0" lang="zh-CN" altLang="en-US" dirty="0"/>
              <a:t>内环境与外环境</a:t>
            </a:r>
            <a:endParaRPr kumimoji="0" lang="en-US" altLang="zh-CN" dirty="0"/>
          </a:p>
          <a:p>
            <a:pPr>
              <a:defRPr/>
            </a:pPr>
            <a:r>
              <a:rPr kumimoji="0" lang="zh-CN" altLang="en-US" dirty="0"/>
              <a:t>顺境与逆境</a:t>
            </a:r>
            <a:endParaRPr kumimoji="0" lang="en-US" altLang="zh-CN" dirty="0"/>
          </a:p>
          <a:p>
            <a:pPr lvl="1">
              <a:defRPr/>
            </a:pPr>
            <a:endParaRPr kumimoji="0" lang="en-US" altLang="zh-CN" dirty="0"/>
          </a:p>
          <a:p>
            <a:pPr>
              <a:defRPr/>
            </a:pPr>
            <a:endParaRPr kumimoji="0" lang="zh-CN" altLang="en-US" dirty="0"/>
          </a:p>
        </p:txBody>
      </p:sp>
    </p:spTree>
    <p:extLst>
      <p:ext uri="{BB962C8B-B14F-4D97-AF65-F5344CB8AC3E}">
        <p14:creationId xmlns:p14="http://schemas.microsoft.com/office/powerpoint/2010/main" val="4247012182"/>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noAutofit/>
          </a:bodyPr>
          <a:lstStyle/>
          <a:p>
            <a:pPr>
              <a:defRPr/>
            </a:pPr>
            <a:r>
              <a:rPr kumimoji="0" lang="zh-CN" altLang="en-US" sz="3600" dirty="0"/>
              <a:t>封闭系统与开放系统及系统的开放性</a:t>
            </a:r>
          </a:p>
        </p:txBody>
      </p:sp>
      <p:sp>
        <p:nvSpPr>
          <p:cNvPr id="21507" name="Rectangle 3"/>
          <p:cNvSpPr>
            <a:spLocks noGrp="1" noChangeArrowheads="1"/>
          </p:cNvSpPr>
          <p:nvPr>
            <p:ph type="body" idx="1"/>
          </p:nvPr>
        </p:nvSpPr>
        <p:spPr/>
        <p:txBody>
          <a:bodyPr/>
          <a:lstStyle/>
          <a:p>
            <a:pPr>
              <a:lnSpc>
                <a:spcPct val="80000"/>
              </a:lnSpc>
              <a:defRPr/>
            </a:pPr>
            <a:r>
              <a:rPr kumimoji="0" lang="zh-CN" altLang="en-US" sz="2400" dirty="0"/>
              <a:t>系统的开放性原理指的是，系统具有不断地与外界环境进行物质、能量、信息交换的性质和功能，系统向环境开放是系统得以向上发展的前提，也是系统得以稳定存在的条件。</a:t>
            </a:r>
            <a:endParaRPr kumimoji="0" lang="en-US" altLang="zh-CN" sz="2400" dirty="0"/>
          </a:p>
          <a:p>
            <a:pPr lvl="1">
              <a:lnSpc>
                <a:spcPct val="80000"/>
              </a:lnSpc>
              <a:defRPr/>
            </a:pPr>
            <a:r>
              <a:rPr kumimoji="0" lang="zh-CN" altLang="en-US" sz="2000" dirty="0"/>
              <a:t>国家</a:t>
            </a:r>
            <a:r>
              <a:rPr kumimoji="0" lang="en-US" altLang="zh-CN" sz="2000" dirty="0"/>
              <a:t>-</a:t>
            </a:r>
            <a:r>
              <a:rPr kumimoji="0" lang="zh-CN" altLang="en-US" sz="2000" dirty="0"/>
              <a:t>改革开放</a:t>
            </a:r>
            <a:endParaRPr kumimoji="0" lang="en-US" altLang="zh-CN" sz="2000" dirty="0"/>
          </a:p>
          <a:p>
            <a:pPr lvl="1">
              <a:lnSpc>
                <a:spcPct val="80000"/>
              </a:lnSpc>
              <a:defRPr/>
            </a:pPr>
            <a:r>
              <a:rPr lang="zh-CN" altLang="en-US" sz="2000" dirty="0"/>
              <a:t>企业－技术生态系统的一部分</a:t>
            </a:r>
            <a:endParaRPr kumimoji="0" lang="en-US" altLang="zh-CN" sz="2000" dirty="0"/>
          </a:p>
          <a:p>
            <a:pPr lvl="1">
              <a:lnSpc>
                <a:spcPct val="80000"/>
              </a:lnSpc>
              <a:defRPr/>
            </a:pPr>
            <a:r>
              <a:rPr kumimoji="0" lang="zh-CN" altLang="en-US" sz="2000" dirty="0"/>
              <a:t>个人</a:t>
            </a:r>
            <a:r>
              <a:rPr kumimoji="0" lang="en-US" altLang="zh-CN" sz="2000" dirty="0"/>
              <a:t>-</a:t>
            </a:r>
            <a:r>
              <a:rPr kumimoji="0" lang="zh-CN" altLang="en-US" sz="2000" dirty="0"/>
              <a:t>身体和意识</a:t>
            </a:r>
            <a:endParaRPr kumimoji="0" lang="en-US" altLang="zh-CN" sz="2000" dirty="0"/>
          </a:p>
          <a:p>
            <a:pPr>
              <a:lnSpc>
                <a:spcPct val="80000"/>
              </a:lnSpc>
              <a:defRPr/>
            </a:pPr>
            <a:r>
              <a:rPr kumimoji="0" lang="zh-CN" altLang="en-US" sz="2400" dirty="0"/>
              <a:t>如果孤立、封闭，那么？</a:t>
            </a:r>
            <a:endParaRPr kumimoji="0" lang="en-US" altLang="zh-CN" sz="2400" dirty="0"/>
          </a:p>
          <a:p>
            <a:pPr>
              <a:lnSpc>
                <a:spcPct val="80000"/>
              </a:lnSpc>
              <a:defRPr/>
            </a:pPr>
            <a:r>
              <a:rPr kumimoji="0" lang="zh-CN" altLang="en-US" sz="2400" dirty="0"/>
              <a:t>一切开放系统的产生、发育、维持和发展都同环境密不可分，越是复杂的系统，对环境的依赖越大，开放才能稳定、有序、发展。（生命、社会、思维）</a:t>
            </a:r>
            <a:endParaRPr kumimoji="0" lang="en-US" altLang="zh-CN" sz="2400" dirty="0"/>
          </a:p>
        </p:txBody>
      </p:sp>
    </p:spTree>
    <p:extLst>
      <p:ext uri="{BB962C8B-B14F-4D97-AF65-F5344CB8AC3E}">
        <p14:creationId xmlns:p14="http://schemas.microsoft.com/office/powerpoint/2010/main" val="2967176632"/>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a:defRPr/>
            </a:pPr>
            <a:r>
              <a:rPr kumimoji="0" lang="zh-CN" altLang="en-US"/>
              <a:t>内因和外因</a:t>
            </a:r>
          </a:p>
        </p:txBody>
      </p:sp>
      <p:sp>
        <p:nvSpPr>
          <p:cNvPr id="22531" name="Rectangle 3"/>
          <p:cNvSpPr>
            <a:spLocks noGrp="1" noChangeArrowheads="1"/>
          </p:cNvSpPr>
          <p:nvPr>
            <p:ph type="body" idx="1"/>
          </p:nvPr>
        </p:nvSpPr>
        <p:spPr/>
        <p:txBody>
          <a:bodyPr/>
          <a:lstStyle/>
          <a:p>
            <a:pPr>
              <a:lnSpc>
                <a:spcPct val="90000"/>
              </a:lnSpc>
              <a:defRPr/>
            </a:pPr>
            <a:r>
              <a:rPr kumimoji="0" lang="zh-CN" altLang="en-US"/>
              <a:t>外因是变化的条件，内因是变化的根据，外因通过内因而起作用。</a:t>
            </a:r>
            <a:endParaRPr kumimoji="0" lang="en-US" altLang="zh-CN"/>
          </a:p>
          <a:p>
            <a:pPr>
              <a:lnSpc>
                <a:spcPct val="90000"/>
              </a:lnSpc>
              <a:defRPr/>
            </a:pPr>
            <a:r>
              <a:rPr kumimoji="0" lang="zh-CN" altLang="en-US"/>
              <a:t>环境对系统是无限丰富的，问题在于系统自身如何选择利用，如何适应环境，如何与环境互动。要善于选择、利用、营造、改善环境。</a:t>
            </a:r>
            <a:endParaRPr kumimoji="0" lang="en-US" altLang="zh-CN"/>
          </a:p>
          <a:p>
            <a:pPr>
              <a:lnSpc>
                <a:spcPct val="90000"/>
              </a:lnSpc>
              <a:defRPr/>
            </a:pPr>
            <a:r>
              <a:rPr kumimoji="0" lang="zh-CN" altLang="en-US"/>
              <a:t>找到你安身立命的小生境</a:t>
            </a:r>
            <a:endParaRPr kumimoji="0" lang="en-US" altLang="zh-CN"/>
          </a:p>
          <a:p>
            <a:pPr>
              <a:lnSpc>
                <a:spcPct val="90000"/>
              </a:lnSpc>
              <a:defRPr/>
            </a:pPr>
            <a:endParaRPr kumimoji="0" lang="zh-CN" altLang="en-US"/>
          </a:p>
        </p:txBody>
      </p:sp>
    </p:spTree>
    <p:extLst>
      <p:ext uri="{BB962C8B-B14F-4D97-AF65-F5344CB8AC3E}">
        <p14:creationId xmlns:p14="http://schemas.microsoft.com/office/powerpoint/2010/main" val="2401450822"/>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演化观点</a:t>
            </a:r>
          </a:p>
        </p:txBody>
      </p:sp>
      <p:sp>
        <p:nvSpPr>
          <p:cNvPr id="3" name="内容占位符 2"/>
          <p:cNvSpPr>
            <a:spLocks noGrp="1"/>
          </p:cNvSpPr>
          <p:nvPr>
            <p:ph idx="1"/>
          </p:nvPr>
        </p:nvSpPr>
        <p:spPr/>
        <p:txBody>
          <a:bodyPr/>
          <a:lstStyle/>
          <a:p>
            <a:r>
              <a:rPr kumimoji="1" lang="zh-CN" altLang="en-US" dirty="0"/>
              <a:t>唯一不变的是变化</a:t>
            </a:r>
            <a:endParaRPr kumimoji="1" lang="en-US" altLang="zh-CN" dirty="0"/>
          </a:p>
          <a:p>
            <a:r>
              <a:rPr kumimoji="1" lang="zh-CN" altLang="en-US" dirty="0"/>
              <a:t>因果链</a:t>
            </a:r>
            <a:endParaRPr kumimoji="1" lang="en-US" altLang="zh-CN" dirty="0"/>
          </a:p>
          <a:p>
            <a:pPr lvl="1"/>
            <a:r>
              <a:rPr kumimoji="1" lang="zh-CN" altLang="en-US" dirty="0"/>
              <a:t>地铁</a:t>
            </a:r>
            <a:endParaRPr kumimoji="1" lang="en-US" altLang="zh-CN" dirty="0"/>
          </a:p>
          <a:p>
            <a:r>
              <a:rPr kumimoji="1" lang="zh-CN" altLang="en-US" dirty="0"/>
              <a:t>家庭（系统动力学）</a:t>
            </a:r>
            <a:endParaRPr kumimoji="1" lang="en-US" altLang="zh-CN" dirty="0"/>
          </a:p>
          <a:p>
            <a:r>
              <a:rPr kumimoji="1" lang="zh-CN" altLang="en-US" dirty="0"/>
              <a:t>团队</a:t>
            </a:r>
            <a:endParaRPr kumimoji="1" lang="en-US" altLang="zh-CN" dirty="0"/>
          </a:p>
          <a:p>
            <a:r>
              <a:rPr kumimoji="1" lang="zh-CN" altLang="en-US" dirty="0"/>
              <a:t>竞争动态（</a:t>
            </a:r>
            <a:r>
              <a:rPr kumimoji="1" lang="en-US" altLang="zh-CN" dirty="0"/>
              <a:t>1984</a:t>
            </a:r>
            <a:r>
              <a:rPr kumimoji="1" lang="zh-CN" altLang="en-US" dirty="0"/>
              <a:t>）</a:t>
            </a:r>
            <a:endParaRPr kumimoji="1" lang="en-US" altLang="zh-CN" dirty="0"/>
          </a:p>
          <a:p>
            <a:pPr lvl="1"/>
            <a:r>
              <a:rPr kumimoji="1" lang="zh-CN" altLang="en-US" dirty="0"/>
              <a:t>竞争优势难以持久</a:t>
            </a:r>
            <a:endParaRPr kumimoji="1" lang="en-US" altLang="zh-CN" dirty="0"/>
          </a:p>
          <a:p>
            <a:pPr lvl="1"/>
            <a:r>
              <a:rPr kumimoji="1" lang="zh-CN" altLang="zh-CN" dirty="0"/>
              <a:t>“</a:t>
            </a:r>
            <a:r>
              <a:rPr kumimoji="1" lang="zh-CN" altLang="en-US" dirty="0"/>
              <a:t>只有惶惶不可终日者才能生存”</a:t>
            </a:r>
            <a:endParaRPr kumimoji="1" lang="en-US" altLang="zh-CN" dirty="0"/>
          </a:p>
        </p:txBody>
      </p:sp>
    </p:spTree>
    <p:extLst>
      <p:ext uri="{BB962C8B-B14F-4D97-AF65-F5344CB8AC3E}">
        <p14:creationId xmlns:p14="http://schemas.microsoft.com/office/powerpoint/2010/main" val="1974063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395288" y="549274"/>
            <a:ext cx="8229600" cy="1439565"/>
          </a:xfrm>
        </p:spPr>
        <p:txBody>
          <a:bodyPr>
            <a:normAutofit fontScale="90000"/>
          </a:bodyPr>
          <a:lstStyle/>
          <a:p>
            <a:pPr algn="l"/>
            <a:r>
              <a:rPr lang="zh-CN" altLang="en-US" sz="2000" b="1" dirty="0"/>
              <a:t>团队学习的动力过程</a:t>
            </a:r>
            <a:r>
              <a:rPr lang="en-US" altLang="zh-CN" sz="2000" b="1" dirty="0"/>
              <a:t>:</a:t>
            </a:r>
            <a:r>
              <a:rPr lang="zh-CN" altLang="en-US" sz="2000" b="1" dirty="0"/>
              <a:t>团队学习不是提高团队成员技能的训练，甚至也不是提高交流能力的训练，其核心是在团队成员彼此完全了解的基础上，通过一种完善的协调和“一体感”，加强队伍以新的协作方式进行思考和行动的能力，团队学习不等于个人学习的总和，它是使一个团队所有成员摊开心中的假设，真正一起思考，提高协作效能，实现共同创造的一项综合技能</a:t>
            </a:r>
          </a:p>
        </p:txBody>
      </p:sp>
      <p:sp>
        <p:nvSpPr>
          <p:cNvPr id="14339" name="Rectangle 3"/>
          <p:cNvSpPr>
            <a:spLocks noGrp="1" noChangeArrowheads="1"/>
          </p:cNvSpPr>
          <p:nvPr>
            <p:ph type="body" sz="half" idx="1"/>
          </p:nvPr>
        </p:nvSpPr>
        <p:spPr>
          <a:xfrm>
            <a:off x="395288" y="2133600"/>
            <a:ext cx="4038600" cy="4525963"/>
          </a:xfrm>
        </p:spPr>
        <p:txBody>
          <a:bodyPr/>
          <a:lstStyle/>
          <a:p>
            <a:r>
              <a:rPr lang="zh-CN" altLang="en-US" sz="2800"/>
              <a:t>团队学习循环</a:t>
            </a:r>
            <a:endParaRPr lang="en-US" altLang="zh-CN" sz="2800"/>
          </a:p>
          <a:p>
            <a:pPr lvl="1"/>
            <a:r>
              <a:rPr lang="zh-CN" altLang="en-US" sz="2400"/>
              <a:t>对话</a:t>
            </a:r>
            <a:endParaRPr lang="en-US" altLang="zh-CN" sz="2400"/>
          </a:p>
          <a:p>
            <a:pPr lvl="2"/>
            <a:r>
              <a:rPr lang="zh-CN" altLang="en-US" sz="2000"/>
              <a:t>对话是组织的核心流程</a:t>
            </a:r>
            <a:endParaRPr lang="en-US" altLang="zh-CN" sz="2000"/>
          </a:p>
          <a:p>
            <a:pPr lvl="2"/>
            <a:r>
              <a:rPr lang="zh-CN" altLang="en-US" sz="2000"/>
              <a:t>对话是知识经济中最重要的工作</a:t>
            </a:r>
            <a:endParaRPr lang="en-US" altLang="zh-CN" sz="2000"/>
          </a:p>
          <a:p>
            <a:pPr lvl="2"/>
            <a:r>
              <a:rPr lang="zh-CN" altLang="en-US" sz="2000"/>
              <a:t>开放的心灵、心智模式、彼此信任</a:t>
            </a:r>
            <a:endParaRPr lang="en-US" altLang="zh-CN" sz="2000"/>
          </a:p>
          <a:p>
            <a:pPr lvl="1"/>
            <a:r>
              <a:rPr lang="zh-CN" altLang="en-US" sz="2400"/>
              <a:t>决策</a:t>
            </a:r>
            <a:endParaRPr lang="en-US" altLang="zh-CN" sz="2400"/>
          </a:p>
          <a:p>
            <a:pPr lvl="1"/>
            <a:r>
              <a:rPr lang="zh-CN" altLang="en-US" sz="2400"/>
              <a:t>行动</a:t>
            </a:r>
            <a:endParaRPr lang="en-US" altLang="zh-CN" sz="2400"/>
          </a:p>
          <a:p>
            <a:pPr lvl="1"/>
            <a:r>
              <a:rPr lang="zh-CN" altLang="en-US" sz="2400"/>
              <a:t>反思</a:t>
            </a:r>
          </a:p>
        </p:txBody>
      </p:sp>
      <p:grpSp>
        <p:nvGrpSpPr>
          <p:cNvPr id="14342" name="Group 6"/>
          <p:cNvGrpSpPr>
            <a:grpSpLocks noChangeAspect="1"/>
          </p:cNvGrpSpPr>
          <p:nvPr/>
        </p:nvGrpSpPr>
        <p:grpSpPr bwMode="auto">
          <a:xfrm>
            <a:off x="5105400" y="1989138"/>
            <a:ext cx="4038600" cy="2185987"/>
            <a:chOff x="756" y="995"/>
            <a:chExt cx="4205" cy="2277"/>
          </a:xfrm>
        </p:grpSpPr>
        <p:sp>
          <p:nvSpPr>
            <p:cNvPr id="14341" name="AutoShape 5"/>
            <p:cNvSpPr>
              <a:spLocks noChangeAspect="1" noChangeArrowheads="1" noTextEdit="1"/>
            </p:cNvSpPr>
            <p:nvPr/>
          </p:nvSpPr>
          <p:spPr bwMode="auto">
            <a:xfrm>
              <a:off x="756" y="995"/>
              <a:ext cx="4205" cy="2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345" name="_s14345"/>
            <p:cNvSpPr>
              <a:spLocks noChangeArrowheads="1" noTextEdit="1"/>
            </p:cNvSpPr>
            <p:nvPr/>
          </p:nvSpPr>
          <p:spPr bwMode="auto">
            <a:xfrm>
              <a:off x="2084" y="995"/>
              <a:ext cx="1549" cy="1549"/>
            </a:xfrm>
            <a:custGeom>
              <a:avLst/>
              <a:gdLst>
                <a:gd name="G0" fmla="+- -5373952 0 0"/>
                <a:gd name="G1" fmla="+- -7864320 0 0"/>
                <a:gd name="G2" fmla="+- -5373952 0 -7864320"/>
                <a:gd name="G3" fmla="+- 10800 0 0"/>
                <a:gd name="G4" fmla="+- 0 0 -5373952"/>
                <a:gd name="T0" fmla="*/ 360 256 1"/>
                <a:gd name="T1" fmla="*/ 0 256 1"/>
                <a:gd name="G5" fmla="+- G2 T0 T1"/>
                <a:gd name="G6" fmla="?: G2 G2 G5"/>
                <a:gd name="G7" fmla="+- 0 0 G6"/>
                <a:gd name="G8" fmla="+- 7200 0 0"/>
                <a:gd name="G9" fmla="+- 0 0 -7864320"/>
                <a:gd name="G10" fmla="+- 7200 0 2700"/>
                <a:gd name="G11" fmla="cos G10 -5373952"/>
                <a:gd name="G12" fmla="sin G10 -5373952"/>
                <a:gd name="G13" fmla="cos 13500 -5373952"/>
                <a:gd name="G14" fmla="sin 13500 -5373952"/>
                <a:gd name="G15" fmla="+- G11 10800 0"/>
                <a:gd name="G16" fmla="+- G12 10800 0"/>
                <a:gd name="G17" fmla="+- G13 10800 0"/>
                <a:gd name="G18" fmla="+- G14 10800 0"/>
                <a:gd name="G19" fmla="*/ 7200 1 2"/>
                <a:gd name="G20" fmla="+- G19 5400 0"/>
                <a:gd name="G21" fmla="cos G20 -5373952"/>
                <a:gd name="G22" fmla="sin G20 -5373952"/>
                <a:gd name="G23" fmla="+- G21 10800 0"/>
                <a:gd name="G24" fmla="+- G12 G23 G22"/>
                <a:gd name="G25" fmla="+- G22 G23 G11"/>
                <a:gd name="G26" fmla="cos 10800 -5373952"/>
                <a:gd name="G27" fmla="sin 10800 -5373952"/>
                <a:gd name="G28" fmla="cos 7200 -5373952"/>
                <a:gd name="G29" fmla="sin 7200 -5373952"/>
                <a:gd name="G30" fmla="+- G26 10800 0"/>
                <a:gd name="G31" fmla="+- G27 10800 0"/>
                <a:gd name="G32" fmla="+- G28 10800 0"/>
                <a:gd name="G33" fmla="+- G29 10800 0"/>
                <a:gd name="G34" fmla="+- G19 5400 0"/>
                <a:gd name="G35" fmla="cos G34 -7864320"/>
                <a:gd name="G36" fmla="sin G34 -7864320"/>
                <a:gd name="G37" fmla="+/ -7864320 -5373952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8739 w 21600"/>
                <a:gd name="T5" fmla="*/ 198 h 21600"/>
                <a:gd name="T6" fmla="*/ 6300 w 21600"/>
                <a:gd name="T7" fmla="*/ 3005 h 21600"/>
                <a:gd name="T8" fmla="*/ 9426 w 21600"/>
                <a:gd name="T9" fmla="*/ 3732 h 21600"/>
                <a:gd name="T10" fmla="*/ 12678 w 21600"/>
                <a:gd name="T11" fmla="*/ -2569 h 21600"/>
                <a:gd name="T12" fmla="*/ 16508 w 21600"/>
                <a:gd name="T13" fmla="*/ 2513 h 21600"/>
                <a:gd name="T14" fmla="*/ 11426 w 21600"/>
                <a:gd name="T15" fmla="*/ 6343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1802" y="3670"/>
                  </a:moveTo>
                  <a:cubicBezTo>
                    <a:pt x="11470" y="3623"/>
                    <a:pt x="11135" y="3599"/>
                    <a:pt x="10800" y="3599"/>
                  </a:cubicBezTo>
                  <a:cubicBezTo>
                    <a:pt x="9536" y="3599"/>
                    <a:pt x="8294" y="3932"/>
                    <a:pt x="7200" y="4564"/>
                  </a:cubicBezTo>
                  <a:lnTo>
                    <a:pt x="5400" y="1446"/>
                  </a:lnTo>
                  <a:cubicBezTo>
                    <a:pt x="7041" y="499"/>
                    <a:pt x="8904" y="-1"/>
                    <a:pt x="10800" y="-1"/>
                  </a:cubicBezTo>
                  <a:cubicBezTo>
                    <a:pt x="11302" y="-1"/>
                    <a:pt x="11805" y="35"/>
                    <a:pt x="12303" y="105"/>
                  </a:cubicBezTo>
                  <a:lnTo>
                    <a:pt x="12678" y="-2569"/>
                  </a:lnTo>
                  <a:lnTo>
                    <a:pt x="16508" y="2513"/>
                  </a:lnTo>
                  <a:lnTo>
                    <a:pt x="11426" y="6343"/>
                  </a:lnTo>
                  <a:lnTo>
                    <a:pt x="11802" y="3670"/>
                  </a:lnTo>
                  <a:close/>
                </a:path>
              </a:pathLst>
            </a:custGeom>
            <a:solidFill>
              <a:schemeClr val="accent1"/>
            </a:solidFill>
            <a:ln w="9525">
              <a:solidFill>
                <a:schemeClr val="tx1"/>
              </a:solidFill>
              <a:miter lim="800000"/>
              <a:headEnd/>
              <a:tailEnd/>
            </a:ln>
          </p:spPr>
          <p:txBody>
            <a:bodyPr lIns="0" tIns="0" rIns="0" bIns="0" anchor="ctr"/>
            <a:lstStyle/>
            <a:p>
              <a:endParaRPr lang="zh-CN" altLang="en-US"/>
            </a:p>
          </p:txBody>
        </p:sp>
        <p:sp>
          <p:nvSpPr>
            <p:cNvPr id="14351" name="_s14351"/>
            <p:cNvSpPr>
              <a:spLocks noChangeArrowheads="1" noTextEdit="1"/>
            </p:cNvSpPr>
            <p:nvPr/>
          </p:nvSpPr>
          <p:spPr bwMode="auto">
            <a:xfrm rot="5400000">
              <a:off x="2448" y="1359"/>
              <a:ext cx="1549" cy="1549"/>
            </a:xfrm>
            <a:custGeom>
              <a:avLst/>
              <a:gdLst>
                <a:gd name="G0" fmla="+- -5373952 0 0"/>
                <a:gd name="G1" fmla="+- -7864320 0 0"/>
                <a:gd name="G2" fmla="+- -5373952 0 -7864320"/>
                <a:gd name="G3" fmla="+- 10800 0 0"/>
                <a:gd name="G4" fmla="+- 0 0 -5373952"/>
                <a:gd name="T0" fmla="*/ 360 256 1"/>
                <a:gd name="T1" fmla="*/ 0 256 1"/>
                <a:gd name="G5" fmla="+- G2 T0 T1"/>
                <a:gd name="G6" fmla="?: G2 G2 G5"/>
                <a:gd name="G7" fmla="+- 0 0 G6"/>
                <a:gd name="G8" fmla="+- 7200 0 0"/>
                <a:gd name="G9" fmla="+- 0 0 -7864320"/>
                <a:gd name="G10" fmla="+- 7200 0 2700"/>
                <a:gd name="G11" fmla="cos G10 -5373952"/>
                <a:gd name="G12" fmla="sin G10 -5373952"/>
                <a:gd name="G13" fmla="cos 13500 -5373952"/>
                <a:gd name="G14" fmla="sin 13500 -5373952"/>
                <a:gd name="G15" fmla="+- G11 10800 0"/>
                <a:gd name="G16" fmla="+- G12 10800 0"/>
                <a:gd name="G17" fmla="+- G13 10800 0"/>
                <a:gd name="G18" fmla="+- G14 10800 0"/>
                <a:gd name="G19" fmla="*/ 7200 1 2"/>
                <a:gd name="G20" fmla="+- G19 5400 0"/>
                <a:gd name="G21" fmla="cos G20 -5373952"/>
                <a:gd name="G22" fmla="sin G20 -5373952"/>
                <a:gd name="G23" fmla="+- G21 10800 0"/>
                <a:gd name="G24" fmla="+- G12 G23 G22"/>
                <a:gd name="G25" fmla="+- G22 G23 G11"/>
                <a:gd name="G26" fmla="cos 10800 -5373952"/>
                <a:gd name="G27" fmla="sin 10800 -5373952"/>
                <a:gd name="G28" fmla="cos 7200 -5373952"/>
                <a:gd name="G29" fmla="sin 7200 -5373952"/>
                <a:gd name="G30" fmla="+- G26 10800 0"/>
                <a:gd name="G31" fmla="+- G27 10800 0"/>
                <a:gd name="G32" fmla="+- G28 10800 0"/>
                <a:gd name="G33" fmla="+- G29 10800 0"/>
                <a:gd name="G34" fmla="+- G19 5400 0"/>
                <a:gd name="G35" fmla="cos G34 -7864320"/>
                <a:gd name="G36" fmla="sin G34 -7864320"/>
                <a:gd name="G37" fmla="+/ -7864320 -5373952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8739 w 21600"/>
                <a:gd name="T5" fmla="*/ 198 h 21600"/>
                <a:gd name="T6" fmla="*/ 6300 w 21600"/>
                <a:gd name="T7" fmla="*/ 3005 h 21600"/>
                <a:gd name="T8" fmla="*/ 9426 w 21600"/>
                <a:gd name="T9" fmla="*/ 3732 h 21600"/>
                <a:gd name="T10" fmla="*/ 12678 w 21600"/>
                <a:gd name="T11" fmla="*/ -2569 h 21600"/>
                <a:gd name="T12" fmla="*/ 16508 w 21600"/>
                <a:gd name="T13" fmla="*/ 2513 h 21600"/>
                <a:gd name="T14" fmla="*/ 11426 w 21600"/>
                <a:gd name="T15" fmla="*/ 6343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1802" y="3670"/>
                  </a:moveTo>
                  <a:cubicBezTo>
                    <a:pt x="11470" y="3623"/>
                    <a:pt x="11135" y="3599"/>
                    <a:pt x="10800" y="3599"/>
                  </a:cubicBezTo>
                  <a:cubicBezTo>
                    <a:pt x="9536" y="3599"/>
                    <a:pt x="8294" y="3932"/>
                    <a:pt x="7200" y="4564"/>
                  </a:cubicBezTo>
                  <a:lnTo>
                    <a:pt x="5400" y="1446"/>
                  </a:lnTo>
                  <a:cubicBezTo>
                    <a:pt x="7041" y="499"/>
                    <a:pt x="8904" y="-1"/>
                    <a:pt x="10800" y="-1"/>
                  </a:cubicBezTo>
                  <a:cubicBezTo>
                    <a:pt x="11302" y="-1"/>
                    <a:pt x="11805" y="35"/>
                    <a:pt x="12303" y="105"/>
                  </a:cubicBezTo>
                  <a:lnTo>
                    <a:pt x="12678" y="-2569"/>
                  </a:lnTo>
                  <a:lnTo>
                    <a:pt x="16508" y="2513"/>
                  </a:lnTo>
                  <a:lnTo>
                    <a:pt x="11426" y="6343"/>
                  </a:lnTo>
                  <a:lnTo>
                    <a:pt x="11802" y="3670"/>
                  </a:lnTo>
                  <a:close/>
                </a:path>
              </a:pathLst>
            </a:custGeom>
            <a:solidFill>
              <a:schemeClr val="accent1"/>
            </a:solidFill>
            <a:ln w="9525">
              <a:solidFill>
                <a:schemeClr val="tx1"/>
              </a:solidFill>
              <a:miter lim="800000"/>
              <a:headEnd/>
              <a:tailEnd/>
            </a:ln>
          </p:spPr>
          <p:txBody>
            <a:bodyPr lIns="0" tIns="0" rIns="0" bIns="0" anchor="ctr"/>
            <a:lstStyle/>
            <a:p>
              <a:endParaRPr lang="zh-CN" altLang="en-US"/>
            </a:p>
          </p:txBody>
        </p:sp>
        <p:sp>
          <p:nvSpPr>
            <p:cNvPr id="14346" name="_s14346"/>
            <p:cNvSpPr>
              <a:spLocks noChangeArrowheads="1" noTextEdit="1"/>
            </p:cNvSpPr>
            <p:nvPr/>
          </p:nvSpPr>
          <p:spPr bwMode="auto">
            <a:xfrm rot="10800000">
              <a:off x="2084" y="1723"/>
              <a:ext cx="1549" cy="1549"/>
            </a:xfrm>
            <a:custGeom>
              <a:avLst/>
              <a:gdLst>
                <a:gd name="G0" fmla="+- -5373952 0 0"/>
                <a:gd name="G1" fmla="+- -7864320 0 0"/>
                <a:gd name="G2" fmla="+- -5373952 0 -7864320"/>
                <a:gd name="G3" fmla="+- 10800 0 0"/>
                <a:gd name="G4" fmla="+- 0 0 -5373952"/>
                <a:gd name="T0" fmla="*/ 360 256 1"/>
                <a:gd name="T1" fmla="*/ 0 256 1"/>
                <a:gd name="G5" fmla="+- G2 T0 T1"/>
                <a:gd name="G6" fmla="?: G2 G2 G5"/>
                <a:gd name="G7" fmla="+- 0 0 G6"/>
                <a:gd name="G8" fmla="+- 7200 0 0"/>
                <a:gd name="G9" fmla="+- 0 0 -7864320"/>
                <a:gd name="G10" fmla="+- 7200 0 2700"/>
                <a:gd name="G11" fmla="cos G10 -5373952"/>
                <a:gd name="G12" fmla="sin G10 -5373952"/>
                <a:gd name="G13" fmla="cos 13500 -5373952"/>
                <a:gd name="G14" fmla="sin 13500 -5373952"/>
                <a:gd name="G15" fmla="+- G11 10800 0"/>
                <a:gd name="G16" fmla="+- G12 10800 0"/>
                <a:gd name="G17" fmla="+- G13 10800 0"/>
                <a:gd name="G18" fmla="+- G14 10800 0"/>
                <a:gd name="G19" fmla="*/ 7200 1 2"/>
                <a:gd name="G20" fmla="+- G19 5400 0"/>
                <a:gd name="G21" fmla="cos G20 -5373952"/>
                <a:gd name="G22" fmla="sin G20 -5373952"/>
                <a:gd name="G23" fmla="+- G21 10800 0"/>
                <a:gd name="G24" fmla="+- G12 G23 G22"/>
                <a:gd name="G25" fmla="+- G22 G23 G11"/>
                <a:gd name="G26" fmla="cos 10800 -5373952"/>
                <a:gd name="G27" fmla="sin 10800 -5373952"/>
                <a:gd name="G28" fmla="cos 7200 -5373952"/>
                <a:gd name="G29" fmla="sin 7200 -5373952"/>
                <a:gd name="G30" fmla="+- G26 10800 0"/>
                <a:gd name="G31" fmla="+- G27 10800 0"/>
                <a:gd name="G32" fmla="+- G28 10800 0"/>
                <a:gd name="G33" fmla="+- G29 10800 0"/>
                <a:gd name="G34" fmla="+- G19 5400 0"/>
                <a:gd name="G35" fmla="cos G34 -7864320"/>
                <a:gd name="G36" fmla="sin G34 -7864320"/>
                <a:gd name="G37" fmla="+/ -7864320 -5373952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8739 w 21600"/>
                <a:gd name="T5" fmla="*/ 198 h 21600"/>
                <a:gd name="T6" fmla="*/ 6300 w 21600"/>
                <a:gd name="T7" fmla="*/ 3005 h 21600"/>
                <a:gd name="T8" fmla="*/ 9426 w 21600"/>
                <a:gd name="T9" fmla="*/ 3732 h 21600"/>
                <a:gd name="T10" fmla="*/ 12678 w 21600"/>
                <a:gd name="T11" fmla="*/ -2569 h 21600"/>
                <a:gd name="T12" fmla="*/ 16508 w 21600"/>
                <a:gd name="T13" fmla="*/ 2513 h 21600"/>
                <a:gd name="T14" fmla="*/ 11426 w 21600"/>
                <a:gd name="T15" fmla="*/ 6343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1802" y="3670"/>
                  </a:moveTo>
                  <a:cubicBezTo>
                    <a:pt x="11470" y="3623"/>
                    <a:pt x="11135" y="3599"/>
                    <a:pt x="10800" y="3599"/>
                  </a:cubicBezTo>
                  <a:cubicBezTo>
                    <a:pt x="9536" y="3599"/>
                    <a:pt x="8294" y="3932"/>
                    <a:pt x="7200" y="4564"/>
                  </a:cubicBezTo>
                  <a:lnTo>
                    <a:pt x="5400" y="1446"/>
                  </a:lnTo>
                  <a:cubicBezTo>
                    <a:pt x="7041" y="499"/>
                    <a:pt x="8904" y="-1"/>
                    <a:pt x="10800" y="-1"/>
                  </a:cubicBezTo>
                  <a:cubicBezTo>
                    <a:pt x="11302" y="-1"/>
                    <a:pt x="11805" y="35"/>
                    <a:pt x="12303" y="105"/>
                  </a:cubicBezTo>
                  <a:lnTo>
                    <a:pt x="12678" y="-2569"/>
                  </a:lnTo>
                  <a:lnTo>
                    <a:pt x="16508" y="2513"/>
                  </a:lnTo>
                  <a:lnTo>
                    <a:pt x="11426" y="6343"/>
                  </a:lnTo>
                  <a:lnTo>
                    <a:pt x="11802" y="3670"/>
                  </a:lnTo>
                  <a:close/>
                </a:path>
              </a:pathLst>
            </a:custGeom>
            <a:solidFill>
              <a:schemeClr val="accent1"/>
            </a:solidFill>
            <a:ln w="9525">
              <a:solidFill>
                <a:schemeClr val="tx1"/>
              </a:solidFill>
              <a:miter lim="800000"/>
              <a:headEnd/>
              <a:tailEnd/>
            </a:ln>
          </p:spPr>
          <p:txBody>
            <a:bodyPr lIns="0" tIns="0" rIns="0" bIns="0" anchor="ctr"/>
            <a:lstStyle/>
            <a:p>
              <a:endParaRPr lang="zh-CN" altLang="en-US"/>
            </a:p>
          </p:txBody>
        </p:sp>
        <p:sp>
          <p:nvSpPr>
            <p:cNvPr id="14348" name="_s14348"/>
            <p:cNvSpPr>
              <a:spLocks noChangeArrowheads="1" noTextEdit="1"/>
            </p:cNvSpPr>
            <p:nvPr/>
          </p:nvSpPr>
          <p:spPr bwMode="auto">
            <a:xfrm rot="16200000">
              <a:off x="1720" y="1359"/>
              <a:ext cx="1549" cy="1549"/>
            </a:xfrm>
            <a:custGeom>
              <a:avLst/>
              <a:gdLst>
                <a:gd name="G0" fmla="+- -5373952 0 0"/>
                <a:gd name="G1" fmla="+- -7864320 0 0"/>
                <a:gd name="G2" fmla="+- -5373952 0 -7864320"/>
                <a:gd name="G3" fmla="+- 10800 0 0"/>
                <a:gd name="G4" fmla="+- 0 0 -5373952"/>
                <a:gd name="T0" fmla="*/ 360 256 1"/>
                <a:gd name="T1" fmla="*/ 0 256 1"/>
                <a:gd name="G5" fmla="+- G2 T0 T1"/>
                <a:gd name="G6" fmla="?: G2 G2 G5"/>
                <a:gd name="G7" fmla="+- 0 0 G6"/>
                <a:gd name="G8" fmla="+- 7200 0 0"/>
                <a:gd name="G9" fmla="+- 0 0 -7864320"/>
                <a:gd name="G10" fmla="+- 7200 0 2700"/>
                <a:gd name="G11" fmla="cos G10 -5373952"/>
                <a:gd name="G12" fmla="sin G10 -5373952"/>
                <a:gd name="G13" fmla="cos 13500 -5373952"/>
                <a:gd name="G14" fmla="sin 13500 -5373952"/>
                <a:gd name="G15" fmla="+- G11 10800 0"/>
                <a:gd name="G16" fmla="+- G12 10800 0"/>
                <a:gd name="G17" fmla="+- G13 10800 0"/>
                <a:gd name="G18" fmla="+- G14 10800 0"/>
                <a:gd name="G19" fmla="*/ 7200 1 2"/>
                <a:gd name="G20" fmla="+- G19 5400 0"/>
                <a:gd name="G21" fmla="cos G20 -5373952"/>
                <a:gd name="G22" fmla="sin G20 -5373952"/>
                <a:gd name="G23" fmla="+- G21 10800 0"/>
                <a:gd name="G24" fmla="+- G12 G23 G22"/>
                <a:gd name="G25" fmla="+- G22 G23 G11"/>
                <a:gd name="G26" fmla="cos 10800 -5373952"/>
                <a:gd name="G27" fmla="sin 10800 -5373952"/>
                <a:gd name="G28" fmla="cos 7200 -5373952"/>
                <a:gd name="G29" fmla="sin 7200 -5373952"/>
                <a:gd name="G30" fmla="+- G26 10800 0"/>
                <a:gd name="G31" fmla="+- G27 10800 0"/>
                <a:gd name="G32" fmla="+- G28 10800 0"/>
                <a:gd name="G33" fmla="+- G29 10800 0"/>
                <a:gd name="G34" fmla="+- G19 5400 0"/>
                <a:gd name="G35" fmla="cos G34 -7864320"/>
                <a:gd name="G36" fmla="sin G34 -7864320"/>
                <a:gd name="G37" fmla="+/ -7864320 -5373952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8739 w 21600"/>
                <a:gd name="T5" fmla="*/ 198 h 21600"/>
                <a:gd name="T6" fmla="*/ 6300 w 21600"/>
                <a:gd name="T7" fmla="*/ 3005 h 21600"/>
                <a:gd name="T8" fmla="*/ 9426 w 21600"/>
                <a:gd name="T9" fmla="*/ 3732 h 21600"/>
                <a:gd name="T10" fmla="*/ 12678 w 21600"/>
                <a:gd name="T11" fmla="*/ -2569 h 21600"/>
                <a:gd name="T12" fmla="*/ 16508 w 21600"/>
                <a:gd name="T13" fmla="*/ 2513 h 21600"/>
                <a:gd name="T14" fmla="*/ 11426 w 21600"/>
                <a:gd name="T15" fmla="*/ 6343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1802" y="3670"/>
                  </a:moveTo>
                  <a:cubicBezTo>
                    <a:pt x="11470" y="3623"/>
                    <a:pt x="11135" y="3599"/>
                    <a:pt x="10800" y="3599"/>
                  </a:cubicBezTo>
                  <a:cubicBezTo>
                    <a:pt x="9536" y="3599"/>
                    <a:pt x="8294" y="3932"/>
                    <a:pt x="7200" y="4564"/>
                  </a:cubicBezTo>
                  <a:lnTo>
                    <a:pt x="5400" y="1446"/>
                  </a:lnTo>
                  <a:cubicBezTo>
                    <a:pt x="7041" y="499"/>
                    <a:pt x="8904" y="-1"/>
                    <a:pt x="10800" y="-1"/>
                  </a:cubicBezTo>
                  <a:cubicBezTo>
                    <a:pt x="11302" y="-1"/>
                    <a:pt x="11805" y="35"/>
                    <a:pt x="12303" y="105"/>
                  </a:cubicBezTo>
                  <a:lnTo>
                    <a:pt x="12678" y="-2569"/>
                  </a:lnTo>
                  <a:lnTo>
                    <a:pt x="16508" y="2513"/>
                  </a:lnTo>
                  <a:lnTo>
                    <a:pt x="11426" y="6343"/>
                  </a:lnTo>
                  <a:lnTo>
                    <a:pt x="11802" y="3670"/>
                  </a:lnTo>
                  <a:close/>
                </a:path>
              </a:pathLst>
            </a:custGeom>
            <a:solidFill>
              <a:schemeClr val="accent1"/>
            </a:solidFill>
            <a:ln w="9525">
              <a:solidFill>
                <a:schemeClr val="tx1"/>
              </a:solidFill>
              <a:miter lim="800000"/>
              <a:headEnd/>
              <a:tailEnd/>
            </a:ln>
          </p:spPr>
          <p:txBody>
            <a:bodyPr lIns="0" tIns="0" rIns="0" bIns="0" anchor="ctr"/>
            <a:lstStyle/>
            <a:p>
              <a:endParaRPr lang="zh-CN" altLang="en-US"/>
            </a:p>
          </p:txBody>
        </p:sp>
        <p:sp>
          <p:nvSpPr>
            <p:cNvPr id="14343" name="_s14343"/>
            <p:cNvSpPr>
              <a:spLocks noChangeArrowheads="1"/>
            </p:cNvSpPr>
            <p:nvPr/>
          </p:nvSpPr>
          <p:spPr bwMode="auto">
            <a:xfrm>
              <a:off x="3270" y="1136"/>
              <a:ext cx="584"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p>
              <a:pPr algn="ctr"/>
              <a:r>
                <a:rPr lang="zh-CN" altLang="en-US" sz="1400"/>
                <a:t>决策</a:t>
              </a:r>
            </a:p>
          </p:txBody>
        </p:sp>
        <p:sp>
          <p:nvSpPr>
            <p:cNvPr id="14344" name="_s14344"/>
            <p:cNvSpPr>
              <a:spLocks noChangeArrowheads="1"/>
            </p:cNvSpPr>
            <p:nvPr/>
          </p:nvSpPr>
          <p:spPr bwMode="auto">
            <a:xfrm>
              <a:off x="1862" y="2546"/>
              <a:ext cx="584"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p>
              <a:pPr algn="ctr"/>
              <a:r>
                <a:rPr lang="zh-CN" altLang="en-US" sz="1400"/>
                <a:t>反思</a:t>
              </a:r>
            </a:p>
          </p:txBody>
        </p:sp>
        <p:sp>
          <p:nvSpPr>
            <p:cNvPr id="14347" name="_s14347"/>
            <p:cNvSpPr>
              <a:spLocks noChangeArrowheads="1"/>
            </p:cNvSpPr>
            <p:nvPr/>
          </p:nvSpPr>
          <p:spPr bwMode="auto">
            <a:xfrm>
              <a:off x="1861" y="1137"/>
              <a:ext cx="584"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p>
              <a:pPr algn="ctr"/>
              <a:r>
                <a:rPr lang="zh-CN" altLang="en-US" sz="1400"/>
                <a:t>对话</a:t>
              </a:r>
            </a:p>
          </p:txBody>
        </p:sp>
        <p:sp>
          <p:nvSpPr>
            <p:cNvPr id="14350" name="_s14350"/>
            <p:cNvSpPr>
              <a:spLocks noChangeArrowheads="1"/>
            </p:cNvSpPr>
            <p:nvPr/>
          </p:nvSpPr>
          <p:spPr bwMode="auto">
            <a:xfrm>
              <a:off x="3271" y="2545"/>
              <a:ext cx="584"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p>
              <a:pPr algn="ctr"/>
              <a:r>
                <a:rPr lang="zh-CN" altLang="en-US" sz="1400"/>
                <a:t>行动</a:t>
              </a:r>
            </a:p>
          </p:txBody>
        </p:sp>
      </p:grpSp>
      <p:sp>
        <p:nvSpPr>
          <p:cNvPr id="14340" name="Rectangle 4"/>
          <p:cNvSpPr>
            <a:spLocks noChangeArrowheads="1"/>
          </p:cNvSpPr>
          <p:nvPr/>
        </p:nvSpPr>
        <p:spPr bwMode="auto">
          <a:xfrm>
            <a:off x="4787900" y="1557338"/>
            <a:ext cx="4114800"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indent="-342900">
              <a:spcBef>
                <a:spcPct val="20000"/>
              </a:spcBef>
              <a:buFontTx/>
              <a:buChar char="•"/>
            </a:pPr>
            <a:endParaRPr lang="zh-CN" altLang="en-US" sz="3200"/>
          </a:p>
        </p:txBody>
      </p:sp>
      <p:grpSp>
        <p:nvGrpSpPr>
          <p:cNvPr id="14353" name="Group 17"/>
          <p:cNvGrpSpPr>
            <a:grpSpLocks noChangeAspect="1"/>
          </p:cNvGrpSpPr>
          <p:nvPr/>
        </p:nvGrpSpPr>
        <p:grpSpPr bwMode="auto">
          <a:xfrm>
            <a:off x="3708400" y="4292600"/>
            <a:ext cx="4038600" cy="2187575"/>
            <a:chOff x="1586" y="1445"/>
            <a:chExt cx="2544" cy="1378"/>
          </a:xfrm>
        </p:grpSpPr>
        <p:sp>
          <p:nvSpPr>
            <p:cNvPr id="14352" name="AutoShape 16"/>
            <p:cNvSpPr>
              <a:spLocks noChangeAspect="1" noChangeArrowheads="1" noTextEdit="1"/>
            </p:cNvSpPr>
            <p:nvPr/>
          </p:nvSpPr>
          <p:spPr bwMode="auto">
            <a:xfrm>
              <a:off x="1586" y="1445"/>
              <a:ext cx="2544" cy="1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356" name="_s14356"/>
            <p:cNvSpPr>
              <a:spLocks noChangeArrowheads="1" noTextEdit="1"/>
            </p:cNvSpPr>
            <p:nvPr/>
          </p:nvSpPr>
          <p:spPr bwMode="auto">
            <a:xfrm>
              <a:off x="2334" y="1445"/>
              <a:ext cx="1048" cy="1048"/>
            </a:xfrm>
            <a:custGeom>
              <a:avLst/>
              <a:gdLst>
                <a:gd name="G0" fmla="+- -5242880 0 0"/>
                <a:gd name="G1" fmla="+- -8519680 0 0"/>
                <a:gd name="G2" fmla="+- -5242880 0 -8519680"/>
                <a:gd name="G3" fmla="+- 10800 0 0"/>
                <a:gd name="G4" fmla="+- 0 0 -5242880"/>
                <a:gd name="T0" fmla="*/ 360 256 1"/>
                <a:gd name="T1" fmla="*/ 0 256 1"/>
                <a:gd name="G5" fmla="+- G2 T0 T1"/>
                <a:gd name="G6" fmla="?: G2 G2 G5"/>
                <a:gd name="G7" fmla="+- 0 0 G6"/>
                <a:gd name="G8" fmla="+- 7200 0 0"/>
                <a:gd name="G9" fmla="+- 0 0 -8519680"/>
                <a:gd name="G10" fmla="+- 7200 0 2700"/>
                <a:gd name="G11" fmla="cos G10 -5242880"/>
                <a:gd name="G12" fmla="sin G10 -5242880"/>
                <a:gd name="G13" fmla="cos 13500 -5242880"/>
                <a:gd name="G14" fmla="sin 13500 -5242880"/>
                <a:gd name="G15" fmla="+- G11 10800 0"/>
                <a:gd name="G16" fmla="+- G12 10800 0"/>
                <a:gd name="G17" fmla="+- G13 10800 0"/>
                <a:gd name="G18" fmla="+- G14 10800 0"/>
                <a:gd name="G19" fmla="*/ 7200 1 2"/>
                <a:gd name="G20" fmla="+- G19 5400 0"/>
                <a:gd name="G21" fmla="cos G20 -5242880"/>
                <a:gd name="G22" fmla="sin G20 -5242880"/>
                <a:gd name="G23" fmla="+- G21 10800 0"/>
                <a:gd name="G24" fmla="+- G12 G23 G22"/>
                <a:gd name="G25" fmla="+- G22 G23 G11"/>
                <a:gd name="G26" fmla="cos 10800 -5242880"/>
                <a:gd name="G27" fmla="sin 10800 -5242880"/>
                <a:gd name="G28" fmla="cos 7200 -5242880"/>
                <a:gd name="G29" fmla="sin 7200 -5242880"/>
                <a:gd name="G30" fmla="+- G26 10800 0"/>
                <a:gd name="G31" fmla="+- G27 10800 0"/>
                <a:gd name="G32" fmla="+- G28 10800 0"/>
                <a:gd name="G33" fmla="+- G29 10800 0"/>
                <a:gd name="G34" fmla="+- G19 5400 0"/>
                <a:gd name="G35" fmla="cos G34 -8519680"/>
                <a:gd name="G36" fmla="sin G34 -8519680"/>
                <a:gd name="G37" fmla="+/ -8519680 -5242880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8004 w 21600"/>
                <a:gd name="T5" fmla="*/ 368 h 21600"/>
                <a:gd name="T6" fmla="*/ 5014 w 21600"/>
                <a:gd name="T7" fmla="*/ 3905 h 21600"/>
                <a:gd name="T8" fmla="*/ 8936 w 21600"/>
                <a:gd name="T9" fmla="*/ 3845 h 21600"/>
                <a:gd name="T10" fmla="*/ 13144 w 21600"/>
                <a:gd name="T11" fmla="*/ -2495 h 21600"/>
                <a:gd name="T12" fmla="*/ 16794 w 21600"/>
                <a:gd name="T13" fmla="*/ 2717 h 21600"/>
                <a:gd name="T14" fmla="*/ 11581 w 21600"/>
                <a:gd name="T15" fmla="*/ 6368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2050" y="3709"/>
                  </a:moveTo>
                  <a:cubicBezTo>
                    <a:pt x="11637" y="3636"/>
                    <a:pt x="11219" y="3599"/>
                    <a:pt x="10800" y="3599"/>
                  </a:cubicBezTo>
                  <a:cubicBezTo>
                    <a:pt x="9107" y="3599"/>
                    <a:pt x="7468" y="4196"/>
                    <a:pt x="6171" y="5284"/>
                  </a:cubicBezTo>
                  <a:lnTo>
                    <a:pt x="3857" y="2526"/>
                  </a:lnTo>
                  <a:cubicBezTo>
                    <a:pt x="5802" y="894"/>
                    <a:pt x="8260" y="-1"/>
                    <a:pt x="10800" y="-1"/>
                  </a:cubicBezTo>
                  <a:cubicBezTo>
                    <a:pt x="11428" y="-1"/>
                    <a:pt x="12056" y="54"/>
                    <a:pt x="12675" y="164"/>
                  </a:cubicBezTo>
                  <a:lnTo>
                    <a:pt x="13144" y="-2495"/>
                  </a:lnTo>
                  <a:lnTo>
                    <a:pt x="16794" y="2717"/>
                  </a:lnTo>
                  <a:lnTo>
                    <a:pt x="11581" y="6368"/>
                  </a:lnTo>
                  <a:lnTo>
                    <a:pt x="12050" y="3709"/>
                  </a:lnTo>
                  <a:close/>
                </a:path>
              </a:pathLst>
            </a:custGeom>
            <a:solidFill>
              <a:schemeClr val="accent2"/>
            </a:solidFill>
            <a:ln w="9525">
              <a:solidFill>
                <a:schemeClr val="tx1"/>
              </a:solidFill>
              <a:miter lim="800000"/>
              <a:headEnd/>
              <a:tailEnd/>
            </a:ln>
          </p:spPr>
          <p:txBody>
            <a:bodyPr lIns="0" tIns="0" rIns="0" bIns="0" anchor="ctr"/>
            <a:lstStyle/>
            <a:p>
              <a:endParaRPr lang="zh-CN" altLang="en-US"/>
            </a:p>
          </p:txBody>
        </p:sp>
        <p:sp>
          <p:nvSpPr>
            <p:cNvPr id="14357" name="_s14357"/>
            <p:cNvSpPr>
              <a:spLocks noChangeArrowheads="1" noTextEdit="1"/>
            </p:cNvSpPr>
            <p:nvPr/>
          </p:nvSpPr>
          <p:spPr bwMode="auto">
            <a:xfrm rot="7200000">
              <a:off x="2477" y="1692"/>
              <a:ext cx="1048" cy="1048"/>
            </a:xfrm>
            <a:custGeom>
              <a:avLst/>
              <a:gdLst>
                <a:gd name="G0" fmla="+- -5242880 0 0"/>
                <a:gd name="G1" fmla="+- -8519680 0 0"/>
                <a:gd name="G2" fmla="+- -5242880 0 -8519680"/>
                <a:gd name="G3" fmla="+- 10800 0 0"/>
                <a:gd name="G4" fmla="+- 0 0 -5242880"/>
                <a:gd name="T0" fmla="*/ 360 256 1"/>
                <a:gd name="T1" fmla="*/ 0 256 1"/>
                <a:gd name="G5" fmla="+- G2 T0 T1"/>
                <a:gd name="G6" fmla="?: G2 G2 G5"/>
                <a:gd name="G7" fmla="+- 0 0 G6"/>
                <a:gd name="G8" fmla="+- 7200 0 0"/>
                <a:gd name="G9" fmla="+- 0 0 -8519680"/>
                <a:gd name="G10" fmla="+- 7200 0 2700"/>
                <a:gd name="G11" fmla="cos G10 -5242880"/>
                <a:gd name="G12" fmla="sin G10 -5242880"/>
                <a:gd name="G13" fmla="cos 13500 -5242880"/>
                <a:gd name="G14" fmla="sin 13500 -5242880"/>
                <a:gd name="G15" fmla="+- G11 10800 0"/>
                <a:gd name="G16" fmla="+- G12 10800 0"/>
                <a:gd name="G17" fmla="+- G13 10800 0"/>
                <a:gd name="G18" fmla="+- G14 10800 0"/>
                <a:gd name="G19" fmla="*/ 7200 1 2"/>
                <a:gd name="G20" fmla="+- G19 5400 0"/>
                <a:gd name="G21" fmla="cos G20 -5242880"/>
                <a:gd name="G22" fmla="sin G20 -5242880"/>
                <a:gd name="G23" fmla="+- G21 10800 0"/>
                <a:gd name="G24" fmla="+- G12 G23 G22"/>
                <a:gd name="G25" fmla="+- G22 G23 G11"/>
                <a:gd name="G26" fmla="cos 10800 -5242880"/>
                <a:gd name="G27" fmla="sin 10800 -5242880"/>
                <a:gd name="G28" fmla="cos 7200 -5242880"/>
                <a:gd name="G29" fmla="sin 7200 -5242880"/>
                <a:gd name="G30" fmla="+- G26 10800 0"/>
                <a:gd name="G31" fmla="+- G27 10800 0"/>
                <a:gd name="G32" fmla="+- G28 10800 0"/>
                <a:gd name="G33" fmla="+- G29 10800 0"/>
                <a:gd name="G34" fmla="+- G19 5400 0"/>
                <a:gd name="G35" fmla="cos G34 -8519680"/>
                <a:gd name="G36" fmla="sin G34 -8519680"/>
                <a:gd name="G37" fmla="+/ -8519680 -5242880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8004 w 21600"/>
                <a:gd name="T5" fmla="*/ 368 h 21600"/>
                <a:gd name="T6" fmla="*/ 5014 w 21600"/>
                <a:gd name="T7" fmla="*/ 3905 h 21600"/>
                <a:gd name="T8" fmla="*/ 8936 w 21600"/>
                <a:gd name="T9" fmla="*/ 3845 h 21600"/>
                <a:gd name="T10" fmla="*/ 13144 w 21600"/>
                <a:gd name="T11" fmla="*/ -2495 h 21600"/>
                <a:gd name="T12" fmla="*/ 16794 w 21600"/>
                <a:gd name="T13" fmla="*/ 2717 h 21600"/>
                <a:gd name="T14" fmla="*/ 11581 w 21600"/>
                <a:gd name="T15" fmla="*/ 6368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2050" y="3709"/>
                  </a:moveTo>
                  <a:cubicBezTo>
                    <a:pt x="11637" y="3636"/>
                    <a:pt x="11219" y="3599"/>
                    <a:pt x="10800" y="3599"/>
                  </a:cubicBezTo>
                  <a:cubicBezTo>
                    <a:pt x="9107" y="3599"/>
                    <a:pt x="7468" y="4196"/>
                    <a:pt x="6171" y="5284"/>
                  </a:cubicBezTo>
                  <a:lnTo>
                    <a:pt x="3857" y="2526"/>
                  </a:lnTo>
                  <a:cubicBezTo>
                    <a:pt x="5802" y="894"/>
                    <a:pt x="8260" y="-1"/>
                    <a:pt x="10800" y="-1"/>
                  </a:cubicBezTo>
                  <a:cubicBezTo>
                    <a:pt x="11428" y="-1"/>
                    <a:pt x="12056" y="54"/>
                    <a:pt x="12675" y="164"/>
                  </a:cubicBezTo>
                  <a:lnTo>
                    <a:pt x="13144" y="-2495"/>
                  </a:lnTo>
                  <a:lnTo>
                    <a:pt x="16794" y="2717"/>
                  </a:lnTo>
                  <a:lnTo>
                    <a:pt x="11581" y="6368"/>
                  </a:lnTo>
                  <a:lnTo>
                    <a:pt x="12050" y="3709"/>
                  </a:lnTo>
                  <a:close/>
                </a:path>
              </a:pathLst>
            </a:custGeom>
            <a:solidFill>
              <a:schemeClr val="accent2"/>
            </a:solidFill>
            <a:ln w="9525">
              <a:solidFill>
                <a:schemeClr val="tx1"/>
              </a:solidFill>
              <a:miter lim="800000"/>
              <a:headEnd/>
              <a:tailEnd/>
            </a:ln>
          </p:spPr>
          <p:txBody>
            <a:bodyPr lIns="0" tIns="0" rIns="0" bIns="0" anchor="ctr"/>
            <a:lstStyle/>
            <a:p>
              <a:endParaRPr lang="zh-CN" altLang="en-US"/>
            </a:p>
          </p:txBody>
        </p:sp>
        <p:sp>
          <p:nvSpPr>
            <p:cNvPr id="14359" name="_s14359"/>
            <p:cNvSpPr>
              <a:spLocks noChangeArrowheads="1" noTextEdit="1"/>
            </p:cNvSpPr>
            <p:nvPr/>
          </p:nvSpPr>
          <p:spPr bwMode="auto">
            <a:xfrm rot="14400000">
              <a:off x="2192" y="1693"/>
              <a:ext cx="1048" cy="1048"/>
            </a:xfrm>
            <a:custGeom>
              <a:avLst/>
              <a:gdLst>
                <a:gd name="G0" fmla="+- -5242880 0 0"/>
                <a:gd name="G1" fmla="+- -8519680 0 0"/>
                <a:gd name="G2" fmla="+- -5242880 0 -8519680"/>
                <a:gd name="G3" fmla="+- 10800 0 0"/>
                <a:gd name="G4" fmla="+- 0 0 -5242880"/>
                <a:gd name="T0" fmla="*/ 360 256 1"/>
                <a:gd name="T1" fmla="*/ 0 256 1"/>
                <a:gd name="G5" fmla="+- G2 T0 T1"/>
                <a:gd name="G6" fmla="?: G2 G2 G5"/>
                <a:gd name="G7" fmla="+- 0 0 G6"/>
                <a:gd name="G8" fmla="+- 7200 0 0"/>
                <a:gd name="G9" fmla="+- 0 0 -8519680"/>
                <a:gd name="G10" fmla="+- 7200 0 2700"/>
                <a:gd name="G11" fmla="cos G10 -5242880"/>
                <a:gd name="G12" fmla="sin G10 -5242880"/>
                <a:gd name="G13" fmla="cos 13500 -5242880"/>
                <a:gd name="G14" fmla="sin 13500 -5242880"/>
                <a:gd name="G15" fmla="+- G11 10800 0"/>
                <a:gd name="G16" fmla="+- G12 10800 0"/>
                <a:gd name="G17" fmla="+- G13 10800 0"/>
                <a:gd name="G18" fmla="+- G14 10800 0"/>
                <a:gd name="G19" fmla="*/ 7200 1 2"/>
                <a:gd name="G20" fmla="+- G19 5400 0"/>
                <a:gd name="G21" fmla="cos G20 -5242880"/>
                <a:gd name="G22" fmla="sin G20 -5242880"/>
                <a:gd name="G23" fmla="+- G21 10800 0"/>
                <a:gd name="G24" fmla="+- G12 G23 G22"/>
                <a:gd name="G25" fmla="+- G22 G23 G11"/>
                <a:gd name="G26" fmla="cos 10800 -5242880"/>
                <a:gd name="G27" fmla="sin 10800 -5242880"/>
                <a:gd name="G28" fmla="cos 7200 -5242880"/>
                <a:gd name="G29" fmla="sin 7200 -5242880"/>
                <a:gd name="G30" fmla="+- G26 10800 0"/>
                <a:gd name="G31" fmla="+- G27 10800 0"/>
                <a:gd name="G32" fmla="+- G28 10800 0"/>
                <a:gd name="G33" fmla="+- G29 10800 0"/>
                <a:gd name="G34" fmla="+- G19 5400 0"/>
                <a:gd name="G35" fmla="cos G34 -8519680"/>
                <a:gd name="G36" fmla="sin G34 -8519680"/>
                <a:gd name="G37" fmla="+/ -8519680 -5242880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8004 w 21600"/>
                <a:gd name="T5" fmla="*/ 368 h 21600"/>
                <a:gd name="T6" fmla="*/ 5014 w 21600"/>
                <a:gd name="T7" fmla="*/ 3905 h 21600"/>
                <a:gd name="T8" fmla="*/ 8936 w 21600"/>
                <a:gd name="T9" fmla="*/ 3845 h 21600"/>
                <a:gd name="T10" fmla="*/ 13144 w 21600"/>
                <a:gd name="T11" fmla="*/ -2495 h 21600"/>
                <a:gd name="T12" fmla="*/ 16794 w 21600"/>
                <a:gd name="T13" fmla="*/ 2717 h 21600"/>
                <a:gd name="T14" fmla="*/ 11581 w 21600"/>
                <a:gd name="T15" fmla="*/ 6368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2050" y="3709"/>
                  </a:moveTo>
                  <a:cubicBezTo>
                    <a:pt x="11637" y="3636"/>
                    <a:pt x="11219" y="3599"/>
                    <a:pt x="10800" y="3599"/>
                  </a:cubicBezTo>
                  <a:cubicBezTo>
                    <a:pt x="9107" y="3599"/>
                    <a:pt x="7468" y="4196"/>
                    <a:pt x="6171" y="5284"/>
                  </a:cubicBezTo>
                  <a:lnTo>
                    <a:pt x="3857" y="2526"/>
                  </a:lnTo>
                  <a:cubicBezTo>
                    <a:pt x="5802" y="894"/>
                    <a:pt x="8260" y="-1"/>
                    <a:pt x="10800" y="-1"/>
                  </a:cubicBezTo>
                  <a:cubicBezTo>
                    <a:pt x="11428" y="-1"/>
                    <a:pt x="12056" y="54"/>
                    <a:pt x="12675" y="164"/>
                  </a:cubicBezTo>
                  <a:lnTo>
                    <a:pt x="13144" y="-2495"/>
                  </a:lnTo>
                  <a:lnTo>
                    <a:pt x="16794" y="2717"/>
                  </a:lnTo>
                  <a:lnTo>
                    <a:pt x="11581" y="6368"/>
                  </a:lnTo>
                  <a:lnTo>
                    <a:pt x="12050" y="3709"/>
                  </a:lnTo>
                  <a:close/>
                </a:path>
              </a:pathLst>
            </a:custGeom>
            <a:solidFill>
              <a:schemeClr val="accent2"/>
            </a:solidFill>
            <a:ln w="9525">
              <a:solidFill>
                <a:schemeClr val="tx1"/>
              </a:solidFill>
              <a:miter lim="800000"/>
              <a:headEnd/>
              <a:tailEnd/>
            </a:ln>
          </p:spPr>
          <p:txBody>
            <a:bodyPr lIns="0" tIns="0" rIns="0" bIns="0" anchor="ctr"/>
            <a:lstStyle/>
            <a:p>
              <a:endParaRPr lang="zh-CN" altLang="en-US"/>
            </a:p>
          </p:txBody>
        </p:sp>
        <p:sp>
          <p:nvSpPr>
            <p:cNvPr id="14354" name="_s14354"/>
            <p:cNvSpPr>
              <a:spLocks noChangeArrowheads="1"/>
            </p:cNvSpPr>
            <p:nvPr/>
          </p:nvSpPr>
          <p:spPr bwMode="auto">
            <a:xfrm>
              <a:off x="3145" y="1636"/>
              <a:ext cx="42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p>
              <a:pPr algn="ctr"/>
              <a:r>
                <a:rPr lang="zh-CN" altLang="en-US" sz="1200"/>
                <a:t>意识与情感</a:t>
              </a:r>
            </a:p>
          </p:txBody>
        </p:sp>
        <p:sp>
          <p:nvSpPr>
            <p:cNvPr id="14355" name="_s14355"/>
            <p:cNvSpPr>
              <a:spLocks noChangeArrowheads="1"/>
            </p:cNvSpPr>
            <p:nvPr/>
          </p:nvSpPr>
          <p:spPr bwMode="auto">
            <a:xfrm>
              <a:off x="2648" y="2498"/>
              <a:ext cx="42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p>
              <a:pPr algn="ctr"/>
              <a:r>
                <a:rPr lang="zh-CN" altLang="en-US" sz="1200"/>
                <a:t>态度与信念</a:t>
              </a:r>
            </a:p>
          </p:txBody>
        </p:sp>
        <p:sp>
          <p:nvSpPr>
            <p:cNvPr id="14358" name="_s14358"/>
            <p:cNvSpPr>
              <a:spLocks noChangeArrowheads="1"/>
            </p:cNvSpPr>
            <p:nvPr/>
          </p:nvSpPr>
          <p:spPr bwMode="auto">
            <a:xfrm>
              <a:off x="2150" y="1637"/>
              <a:ext cx="42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p>
              <a:pPr algn="ctr"/>
              <a:r>
                <a:rPr lang="zh-CN" altLang="en-US" sz="1200"/>
                <a:t>技巧与能力</a:t>
              </a:r>
            </a:p>
          </p:txBody>
        </p:sp>
      </p:grpSp>
    </p:spTree>
    <p:extLst>
      <p:ext uri="{BB962C8B-B14F-4D97-AF65-F5344CB8AC3E}">
        <p14:creationId xmlns:p14="http://schemas.microsoft.com/office/powerpoint/2010/main" val="34311411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世界观与方法论</a:t>
            </a:r>
          </a:p>
        </p:txBody>
      </p:sp>
      <p:sp>
        <p:nvSpPr>
          <p:cNvPr id="3" name="内容占位符 2"/>
          <p:cNvSpPr>
            <a:spLocks noGrp="1"/>
          </p:cNvSpPr>
          <p:nvPr>
            <p:ph idx="1"/>
          </p:nvPr>
        </p:nvSpPr>
        <p:spPr/>
        <p:txBody>
          <a:bodyPr>
            <a:normAutofit/>
          </a:bodyPr>
          <a:lstStyle/>
          <a:p>
            <a:r>
              <a:rPr kumimoji="1" lang="zh-CN" altLang="en-US" dirty="0"/>
              <a:t>什么是分析，分析与综合。</a:t>
            </a:r>
            <a:endParaRPr kumimoji="1" lang="en-US" altLang="zh-CN" dirty="0"/>
          </a:p>
          <a:p>
            <a:r>
              <a:rPr kumimoji="1" lang="zh-CN" altLang="en-US" dirty="0"/>
              <a:t>还原论与系统思维</a:t>
            </a:r>
            <a:endParaRPr kumimoji="1" lang="en-US" altLang="zh-CN" dirty="0"/>
          </a:p>
          <a:p>
            <a:pPr lvl="1"/>
            <a:r>
              <a:rPr kumimoji="1" lang="zh-CN" altLang="en-US" dirty="0"/>
              <a:t>还原分析的实验方法，通过直接或间接的手段，将对象分解开来，在某一时刻观察其中的一个组成</a:t>
            </a:r>
            <a:endParaRPr kumimoji="1" lang="en-US" altLang="zh-CN" dirty="0"/>
          </a:p>
          <a:p>
            <a:pPr lvl="1"/>
            <a:r>
              <a:rPr kumimoji="1" lang="zh-CN" altLang="en-US" dirty="0"/>
              <a:t>分析是必要的但不足够－贝塔朗菲</a:t>
            </a:r>
            <a:endParaRPr kumimoji="1" lang="en-US" altLang="zh-CN" dirty="0"/>
          </a:p>
          <a:p>
            <a:pPr lvl="1"/>
            <a:r>
              <a:rPr kumimoji="1" lang="zh-CN" altLang="en-US" dirty="0"/>
              <a:t>存在一个重要的维度，仅仅在整体中才显现出来</a:t>
            </a:r>
            <a:endParaRPr kumimoji="1" lang="en-US" altLang="zh-CN" dirty="0"/>
          </a:p>
          <a:p>
            <a:r>
              <a:rPr kumimoji="1" lang="zh-CN" altLang="en-US" dirty="0"/>
              <a:t>整体论的、生态学的、格式塔的、全球的、宏观的、整合的、有机的、协同的以及系统的</a:t>
            </a:r>
            <a:endParaRPr kumimoji="1" lang="en-US" altLang="zh-CN" dirty="0"/>
          </a:p>
        </p:txBody>
      </p:sp>
    </p:spTree>
    <p:extLst>
      <p:ext uri="{BB962C8B-B14F-4D97-AF65-F5344CB8AC3E}">
        <p14:creationId xmlns:p14="http://schemas.microsoft.com/office/powerpoint/2010/main" val="21583818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zh-CN" altLang="en-US" dirty="0"/>
              <a:t>战略管理</a:t>
            </a:r>
            <a:r>
              <a:rPr kumimoji="1" lang="en-US" altLang="zh-CN" dirty="0"/>
              <a:t>50</a:t>
            </a:r>
            <a:r>
              <a:rPr kumimoji="1" lang="zh-CN" altLang="en-US" dirty="0"/>
              <a:t>年</a:t>
            </a:r>
          </a:p>
        </p:txBody>
      </p:sp>
      <p:sp>
        <p:nvSpPr>
          <p:cNvPr id="4" name="内容占位符 3"/>
          <p:cNvSpPr>
            <a:spLocks noGrp="1"/>
          </p:cNvSpPr>
          <p:nvPr>
            <p:ph idx="1"/>
          </p:nvPr>
        </p:nvSpPr>
        <p:spPr/>
        <p:txBody>
          <a:bodyPr/>
          <a:lstStyle/>
          <a:p>
            <a:r>
              <a:rPr kumimoji="1" lang="en-US" altLang="zh-CN" dirty="0"/>
              <a:t>1911</a:t>
            </a:r>
            <a:r>
              <a:rPr kumimoji="1" lang="zh-CN" altLang="en-US" dirty="0"/>
              <a:t>年泰勒科学管理，之父</a:t>
            </a:r>
            <a:endParaRPr kumimoji="1" lang="en-US" altLang="zh-CN" dirty="0"/>
          </a:p>
          <a:p>
            <a:r>
              <a:rPr kumimoji="1" lang="zh-CN" altLang="zh-CN" dirty="0"/>
              <a:t>1</a:t>
            </a:r>
            <a:r>
              <a:rPr kumimoji="1" lang="en-US" altLang="zh-CN" dirty="0"/>
              <a:t>916</a:t>
            </a:r>
            <a:r>
              <a:rPr kumimoji="1" lang="zh-CN" altLang="en-US" dirty="0"/>
              <a:t>年法约尔一般管理，现代管理之父</a:t>
            </a:r>
            <a:endParaRPr kumimoji="1" lang="en-US" altLang="zh-CN" dirty="0"/>
          </a:p>
          <a:p>
            <a:r>
              <a:rPr kumimoji="1" lang="en-US" altLang="zh-CN" dirty="0"/>
              <a:t>1911</a:t>
            </a:r>
            <a:r>
              <a:rPr kumimoji="1" lang="zh-CN" altLang="en-US" dirty="0"/>
              <a:t>马克斯韦伯官僚行政组织理论，之父</a:t>
            </a:r>
            <a:endParaRPr kumimoji="1" lang="en-US" altLang="zh-CN" dirty="0"/>
          </a:p>
          <a:p>
            <a:r>
              <a:rPr kumimoji="1" lang="zh-CN" altLang="en-US" dirty="0"/>
              <a:t>二战之后，大量生产－竞争－战略概念提出</a:t>
            </a:r>
            <a:endParaRPr kumimoji="1" lang="en-US" altLang="zh-CN" dirty="0"/>
          </a:p>
          <a:p>
            <a:r>
              <a:rPr kumimoji="1" lang="zh-CN" altLang="zh-CN" dirty="0"/>
              <a:t>1</a:t>
            </a:r>
            <a:r>
              <a:rPr kumimoji="1" lang="en-US" altLang="zh-CN" dirty="0"/>
              <a:t>962 </a:t>
            </a:r>
            <a:r>
              <a:rPr kumimoji="1" lang="zh-CN" altLang="en-US" dirty="0"/>
              <a:t>钱德勒：战略与结构，结构跟随战略</a:t>
            </a:r>
            <a:endParaRPr kumimoji="1" lang="en-US" altLang="zh-CN" dirty="0"/>
          </a:p>
          <a:p>
            <a:r>
              <a:rPr kumimoji="1" lang="zh-CN" altLang="zh-CN" dirty="0"/>
              <a:t>1</a:t>
            </a:r>
            <a:r>
              <a:rPr kumimoji="1" lang="en-US" altLang="zh-CN" dirty="0"/>
              <a:t>965 </a:t>
            </a:r>
            <a:r>
              <a:rPr kumimoji="1" lang="zh-CN" altLang="en-US" dirty="0"/>
              <a:t>安索夫：协同矩阵</a:t>
            </a:r>
            <a:endParaRPr kumimoji="1" lang="en-US" altLang="zh-CN" dirty="0"/>
          </a:p>
          <a:p>
            <a:r>
              <a:rPr kumimoji="1" lang="zh-CN" altLang="zh-CN" dirty="0"/>
              <a:t>1</a:t>
            </a:r>
            <a:r>
              <a:rPr kumimoji="1" lang="en-US" altLang="zh-CN" dirty="0"/>
              <a:t>965 </a:t>
            </a:r>
            <a:r>
              <a:rPr kumimoji="1" lang="zh-CN" altLang="en-US" dirty="0"/>
              <a:t>安德鲁斯：</a:t>
            </a:r>
            <a:r>
              <a:rPr kumimoji="1" lang="en-US" altLang="zh-CN" dirty="0"/>
              <a:t>SWOT</a:t>
            </a:r>
          </a:p>
          <a:p>
            <a:endParaRPr kumimoji="1" lang="en-US" altLang="zh-CN" dirty="0"/>
          </a:p>
          <a:p>
            <a:r>
              <a:rPr kumimoji="1" lang="zh-CN" altLang="en-US" dirty="0">
                <a:solidFill>
                  <a:srgbClr val="FF0000"/>
                </a:solidFill>
              </a:rPr>
              <a:t>奠基阶段，战略管理初步的理论框架和研究议程</a:t>
            </a:r>
            <a:endParaRPr kumimoji="1" lang="en-US" altLang="zh-CN" dirty="0">
              <a:solidFill>
                <a:srgbClr val="FF0000"/>
              </a:solidFill>
            </a:endParaRPr>
          </a:p>
          <a:p>
            <a:pPr lvl="1"/>
            <a:endParaRPr kumimoji="1" lang="zh-CN" altLang="en-US" dirty="0"/>
          </a:p>
        </p:txBody>
      </p:sp>
    </p:spTree>
    <p:extLst>
      <p:ext uri="{BB962C8B-B14F-4D97-AF65-F5344CB8AC3E}">
        <p14:creationId xmlns:p14="http://schemas.microsoft.com/office/powerpoint/2010/main" val="5977618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0120" name="Group 72"/>
          <p:cNvGraphicFramePr>
            <a:graphicFrameLocks noGrp="1"/>
          </p:cNvGraphicFramePr>
          <p:nvPr>
            <p:ph/>
            <p:extLst>
              <p:ext uri="{D42A27DB-BD31-4B8C-83A1-F6EECF244321}">
                <p14:modId xmlns:p14="http://schemas.microsoft.com/office/powerpoint/2010/main" val="3370554941"/>
              </p:ext>
            </p:extLst>
          </p:nvPr>
        </p:nvGraphicFramePr>
        <p:xfrm>
          <a:off x="0" y="692696"/>
          <a:ext cx="9144000" cy="5180966"/>
        </p:xfrm>
        <a:graphic>
          <a:graphicData uri="http://schemas.openxmlformats.org/drawingml/2006/table">
            <a:tbl>
              <a:tblPr/>
              <a:tblGrid>
                <a:gridCol w="6011863">
                  <a:extLst>
                    <a:ext uri="{9D8B030D-6E8A-4147-A177-3AD203B41FA5}">
                      <a16:colId xmlns:a16="http://schemas.microsoft.com/office/drawing/2014/main" val="20000"/>
                    </a:ext>
                  </a:extLst>
                </a:gridCol>
                <a:gridCol w="3132137">
                  <a:extLst>
                    <a:ext uri="{9D8B030D-6E8A-4147-A177-3AD203B41FA5}">
                      <a16:colId xmlns:a16="http://schemas.microsoft.com/office/drawing/2014/main" val="20001"/>
                    </a:ext>
                  </a:extLst>
                </a:gridCol>
              </a:tblGrid>
              <a:tr h="656416">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4000" b="0" i="0" u="none" strike="noStrike" cap="none" normalizeH="0" baseline="0" dirty="0">
                          <a:ln>
                            <a:noFill/>
                          </a:ln>
                          <a:solidFill>
                            <a:srgbClr val="FFFF00"/>
                          </a:solidFill>
                          <a:effectLst/>
                          <a:latin typeface="Futura Medium" panose="020B0602020204020303" pitchFamily="34" charset="-79"/>
                          <a:ea typeface="黑体" pitchFamily="2" charset="-122"/>
                        </a:rPr>
                        <a:t>战略的定义</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4000" b="0" i="0" u="none" strike="noStrike" cap="none" normalizeH="0" baseline="0" dirty="0">
                          <a:ln>
                            <a:noFill/>
                          </a:ln>
                          <a:solidFill>
                            <a:srgbClr val="FFFF00"/>
                          </a:solidFill>
                          <a:effectLst/>
                          <a:latin typeface="Futura Medium" panose="020B0602020204020303" pitchFamily="34" charset="-79"/>
                          <a:ea typeface="黑体" pitchFamily="2" charset="-122"/>
                        </a:rPr>
                        <a:t>来   源</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284288">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dirty="0">
                          <a:ln>
                            <a:noFill/>
                          </a:ln>
                          <a:solidFill>
                            <a:schemeClr val="tx1"/>
                          </a:solidFill>
                          <a:effectLst/>
                          <a:latin typeface="Arial" pitchFamily="34" charset="0"/>
                          <a:ea typeface="宋体" pitchFamily="2" charset="-122"/>
                        </a:rPr>
                        <a:t>一个企业长期目标的决策，以及为实现这些目标所采取的路线和资源的配置。提出了“结构跟随战略”</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a:ln>
                            <a:noFill/>
                          </a:ln>
                          <a:solidFill>
                            <a:schemeClr val="tx1"/>
                          </a:solidFill>
                          <a:effectLst/>
                          <a:latin typeface="Arial" pitchFamily="34" charset="0"/>
                          <a:ea typeface="宋体" pitchFamily="2" charset="-122"/>
                        </a:rPr>
                        <a:t>钱德勒（</a:t>
                      </a:r>
                      <a:r>
                        <a:rPr kumimoji="0" lang="en-US" altLang="zh-CN" sz="2400" b="1" i="0" u="none" strike="noStrike" cap="none" normalizeH="0" baseline="0">
                          <a:ln>
                            <a:noFill/>
                          </a:ln>
                          <a:solidFill>
                            <a:schemeClr val="tx1"/>
                          </a:solidFill>
                          <a:effectLst/>
                          <a:latin typeface="Arial" pitchFamily="34" charset="0"/>
                          <a:ea typeface="宋体" pitchFamily="2" charset="-122"/>
                        </a:rPr>
                        <a:t>A.D.ChandlerJr.</a:t>
                      </a:r>
                      <a:r>
                        <a:rPr kumimoji="0" lang="zh-CN" altLang="en-US" sz="2400" b="1" i="0" u="none" strike="noStrike" cap="none" normalizeH="0" baseline="0">
                          <a:ln>
                            <a:noFill/>
                          </a:ln>
                          <a:solidFill>
                            <a:schemeClr val="tx1"/>
                          </a:solidFill>
                          <a:effectLst/>
                          <a:latin typeface="Arial" pitchFamily="34" charset="0"/>
                          <a:ea typeface="宋体" pitchFamily="2" charset="-122"/>
                        </a:rPr>
                        <a:t>）</a:t>
                      </a:r>
                      <a:r>
                        <a:rPr kumimoji="0" lang="en-US" altLang="zh-CN" sz="2400" b="1" i="0" u="none" strike="noStrike" cap="none" normalizeH="0" baseline="0">
                          <a:ln>
                            <a:noFill/>
                          </a:ln>
                          <a:solidFill>
                            <a:schemeClr val="tx1"/>
                          </a:solidFill>
                          <a:effectLst/>
                          <a:latin typeface="Arial" pitchFamily="34" charset="0"/>
                          <a:ea typeface="宋体" pitchFamily="2" charset="-122"/>
                        </a:rPr>
                        <a:t>1962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409700">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dirty="0">
                          <a:ln>
                            <a:noFill/>
                          </a:ln>
                          <a:solidFill>
                            <a:schemeClr val="tx1"/>
                          </a:solidFill>
                          <a:effectLst/>
                          <a:latin typeface="Arial" pitchFamily="34" charset="0"/>
                          <a:ea typeface="宋体" pitchFamily="2" charset="-122"/>
                        </a:rPr>
                        <a:t>企业经营活动和产品、市场的共同主线，其主要四个成分是产品</a:t>
                      </a:r>
                      <a:r>
                        <a:rPr kumimoji="0" lang="en-US" altLang="zh-CN" sz="2400" b="1" i="0" u="none" strike="noStrike" cap="none" normalizeH="0" baseline="0" dirty="0">
                          <a:ln>
                            <a:noFill/>
                          </a:ln>
                          <a:solidFill>
                            <a:schemeClr val="tx1"/>
                          </a:solidFill>
                          <a:effectLst/>
                          <a:latin typeface="Arial" pitchFamily="34" charset="0"/>
                          <a:ea typeface="宋体" pitchFamily="2" charset="-122"/>
                        </a:rPr>
                        <a:t>/</a:t>
                      </a:r>
                      <a:r>
                        <a:rPr kumimoji="0" lang="zh-CN" altLang="en-US" sz="2400" b="1" i="0" u="none" strike="noStrike" cap="none" normalizeH="0" baseline="0" dirty="0">
                          <a:ln>
                            <a:noFill/>
                          </a:ln>
                          <a:solidFill>
                            <a:schemeClr val="tx1"/>
                          </a:solidFill>
                          <a:effectLst/>
                          <a:latin typeface="Arial" pitchFamily="34" charset="0"/>
                          <a:ea typeface="宋体" pitchFamily="2" charset="-122"/>
                        </a:rPr>
                        <a:t>市场范围、成长方向、竞争手段和协同作用。</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dirty="0">
                          <a:ln>
                            <a:noFill/>
                          </a:ln>
                          <a:solidFill>
                            <a:schemeClr val="tx1"/>
                          </a:solidFill>
                          <a:effectLst/>
                          <a:latin typeface="Arial" pitchFamily="34" charset="0"/>
                          <a:ea typeface="宋体" pitchFamily="2" charset="-122"/>
                        </a:rPr>
                        <a:t>伊戈尔</a:t>
                      </a:r>
                      <a:r>
                        <a:rPr kumimoji="0" lang="en-US" altLang="zh-CN" sz="2400" b="1" i="0" u="none" strike="noStrike" cap="none" normalizeH="0" baseline="0" dirty="0">
                          <a:ln>
                            <a:noFill/>
                          </a:ln>
                          <a:solidFill>
                            <a:schemeClr val="tx1"/>
                          </a:solidFill>
                          <a:effectLst/>
                          <a:latin typeface="Arial" pitchFamily="34" charset="0"/>
                          <a:ea typeface="宋体" pitchFamily="2" charset="-122"/>
                        </a:rPr>
                        <a:t>.</a:t>
                      </a:r>
                      <a:r>
                        <a:rPr kumimoji="0" lang="zh-CN" altLang="en-US" sz="2400" b="1" i="0" u="none" strike="noStrike" cap="none" normalizeH="0" baseline="0" dirty="0">
                          <a:ln>
                            <a:noFill/>
                          </a:ln>
                          <a:solidFill>
                            <a:schemeClr val="tx1"/>
                          </a:solidFill>
                          <a:effectLst/>
                          <a:latin typeface="Arial" pitchFamily="34" charset="0"/>
                          <a:ea typeface="宋体" pitchFamily="2" charset="-122"/>
                        </a:rPr>
                        <a:t>安索夫（</a:t>
                      </a:r>
                      <a:r>
                        <a:rPr kumimoji="0" lang="en-US" altLang="zh-CN" sz="2400" b="1" i="0" u="none" strike="noStrike" cap="none" normalizeH="0" baseline="0" dirty="0" err="1">
                          <a:ln>
                            <a:noFill/>
                          </a:ln>
                          <a:solidFill>
                            <a:schemeClr val="tx1"/>
                          </a:solidFill>
                          <a:effectLst/>
                          <a:latin typeface="Arial" pitchFamily="34" charset="0"/>
                          <a:ea typeface="宋体" pitchFamily="2" charset="-122"/>
                        </a:rPr>
                        <a:t>I.IgorAnsoff</a:t>
                      </a:r>
                      <a:r>
                        <a:rPr kumimoji="0" lang="zh-CN" altLang="en-US" sz="2400" b="1" i="0" u="none" strike="noStrike" cap="none" normalizeH="0" baseline="0" dirty="0">
                          <a:ln>
                            <a:noFill/>
                          </a:ln>
                          <a:solidFill>
                            <a:schemeClr val="tx1"/>
                          </a:solidFill>
                          <a:effectLst/>
                          <a:latin typeface="Arial" pitchFamily="34" charset="0"/>
                          <a:ea typeface="宋体" pitchFamily="2" charset="-122"/>
                        </a:rPr>
                        <a:t>）</a:t>
                      </a:r>
                      <a:r>
                        <a:rPr kumimoji="0" lang="en-US" altLang="zh-CN" sz="2400" b="1" i="0" u="none" strike="noStrike" cap="none" normalizeH="0" baseline="0" dirty="0">
                          <a:ln>
                            <a:noFill/>
                          </a:ln>
                          <a:solidFill>
                            <a:schemeClr val="tx1"/>
                          </a:solidFill>
                          <a:effectLst/>
                          <a:latin typeface="Arial" pitchFamily="34" charset="0"/>
                          <a:ea typeface="宋体" pitchFamily="2" charset="-122"/>
                        </a:rPr>
                        <a:t>,</a:t>
                      </a:r>
                    </a:p>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400" b="1" i="0" u="none" strike="noStrike" cap="none" normalizeH="0" baseline="0" dirty="0">
                          <a:ln>
                            <a:noFill/>
                          </a:ln>
                          <a:solidFill>
                            <a:schemeClr val="tx1"/>
                          </a:solidFill>
                          <a:effectLst/>
                          <a:latin typeface="Arial" pitchFamily="34" charset="0"/>
                          <a:ea typeface="宋体" pitchFamily="2" charset="-122"/>
                        </a:rPr>
                        <a:t>1965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785938">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a:ln>
                            <a:noFill/>
                          </a:ln>
                          <a:solidFill>
                            <a:schemeClr val="tx1"/>
                          </a:solidFill>
                          <a:effectLst/>
                          <a:latin typeface="Arial" pitchFamily="34" charset="0"/>
                          <a:ea typeface="宋体" pitchFamily="2" charset="-122"/>
                        </a:rPr>
                        <a:t>目标、目的以及为实现这些目的的主要政策和计划的类型，其表述方式定义了企业目前或将来所在的行业，以及企业目前或将来的性质。</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dirty="0">
                          <a:ln>
                            <a:noFill/>
                          </a:ln>
                          <a:solidFill>
                            <a:schemeClr val="tx1"/>
                          </a:solidFill>
                          <a:effectLst/>
                          <a:latin typeface="Arial" pitchFamily="34" charset="0"/>
                          <a:ea typeface="宋体" pitchFamily="2" charset="-122"/>
                        </a:rPr>
                        <a:t>安德鲁斯（</a:t>
                      </a:r>
                      <a:r>
                        <a:rPr kumimoji="0" lang="en-US" altLang="zh-CN" sz="2400" b="1" i="0" u="none" strike="noStrike" cap="none" normalizeH="0" baseline="0" dirty="0" err="1">
                          <a:ln>
                            <a:noFill/>
                          </a:ln>
                          <a:solidFill>
                            <a:schemeClr val="tx1"/>
                          </a:solidFill>
                          <a:effectLst/>
                          <a:latin typeface="Arial" pitchFamily="34" charset="0"/>
                          <a:ea typeface="宋体" pitchFamily="2" charset="-122"/>
                        </a:rPr>
                        <a:t>K.Andrews</a:t>
                      </a:r>
                      <a:r>
                        <a:rPr kumimoji="0" lang="zh-CN" altLang="en-US" sz="2400" b="1" i="0" u="none" strike="noStrike" cap="none" normalizeH="0" baseline="0" dirty="0">
                          <a:ln>
                            <a:noFill/>
                          </a:ln>
                          <a:solidFill>
                            <a:schemeClr val="tx1"/>
                          </a:solidFill>
                          <a:effectLst/>
                          <a:latin typeface="Arial" pitchFamily="34" charset="0"/>
                          <a:ea typeface="宋体" pitchFamily="2" charset="-122"/>
                        </a:rPr>
                        <a:t>）</a:t>
                      </a:r>
                      <a:r>
                        <a:rPr kumimoji="0" lang="en-US" altLang="zh-CN" sz="2400" b="1" i="0" u="none" strike="noStrike" cap="none" normalizeH="0" baseline="0" dirty="0">
                          <a:ln>
                            <a:noFill/>
                          </a:ln>
                          <a:solidFill>
                            <a:schemeClr val="tx1"/>
                          </a:solidFill>
                          <a:effectLst/>
                          <a:latin typeface="Arial" pitchFamily="34" charset="0"/>
                          <a:ea typeface="宋体" pitchFamily="2" charset="-122"/>
                        </a:rPr>
                        <a:t>,</a:t>
                      </a:r>
                    </a:p>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400" b="1" i="0" u="none" strike="noStrike" cap="none" normalizeH="0" baseline="0" dirty="0">
                          <a:ln>
                            <a:noFill/>
                          </a:ln>
                          <a:solidFill>
                            <a:schemeClr val="tx1"/>
                          </a:solidFill>
                          <a:effectLst/>
                          <a:latin typeface="Arial" pitchFamily="34" charset="0"/>
                          <a:ea typeface="宋体" pitchFamily="2" charset="-122"/>
                        </a:rPr>
                        <a:t>1965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transition spd="med">
    <p:randomBar dir="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zh-CN" altLang="en-US" dirty="0"/>
              <a:t>钱德勒</a:t>
            </a:r>
          </a:p>
        </p:txBody>
      </p:sp>
      <p:sp>
        <p:nvSpPr>
          <p:cNvPr id="4" name="内容占位符 3"/>
          <p:cNvSpPr>
            <a:spLocks noGrp="1"/>
          </p:cNvSpPr>
          <p:nvPr>
            <p:ph idx="1"/>
          </p:nvPr>
        </p:nvSpPr>
        <p:spPr/>
        <p:txBody>
          <a:bodyPr/>
          <a:lstStyle/>
          <a:p>
            <a:r>
              <a:rPr kumimoji="1" lang="en-US" altLang="zh-CN" dirty="0"/>
              <a:t>1918-2007</a:t>
            </a:r>
          </a:p>
          <a:p>
            <a:r>
              <a:rPr kumimoji="1" lang="zh-CN" altLang="en-US" dirty="0"/>
              <a:t>哈佛大学毕业，企业史学教授</a:t>
            </a:r>
            <a:endParaRPr kumimoji="1" lang="en-US" altLang="zh-CN" dirty="0"/>
          </a:p>
          <a:p>
            <a:r>
              <a:rPr kumimoji="1" lang="zh-CN" altLang="zh-CN" dirty="0"/>
              <a:t>1</a:t>
            </a:r>
            <a:r>
              <a:rPr kumimoji="1" lang="en-US" altLang="zh-CN" dirty="0"/>
              <a:t>962《</a:t>
            </a:r>
            <a:r>
              <a:rPr kumimoji="1" lang="zh-CN" altLang="en-US" dirty="0"/>
              <a:t>战略与结构</a:t>
            </a:r>
            <a:r>
              <a:rPr kumimoji="1" lang="en-US" altLang="zh-CN" dirty="0"/>
              <a:t>》</a:t>
            </a:r>
            <a:r>
              <a:rPr kumimoji="1" lang="zh-CN" altLang="en-US" dirty="0"/>
              <a:t>，实施多元化战略的企业，其组织结构从职能走向事业部制，</a:t>
            </a:r>
            <a:r>
              <a:rPr kumimoji="1" lang="zh-CN" altLang="zh-CN" dirty="0"/>
              <a:t>“</a:t>
            </a:r>
            <a:r>
              <a:rPr kumimoji="1" lang="zh-CN" altLang="en-US" dirty="0"/>
              <a:t>结构跟随战略”</a:t>
            </a:r>
          </a:p>
        </p:txBody>
      </p:sp>
    </p:spTree>
    <p:extLst>
      <p:ext uri="{BB962C8B-B14F-4D97-AF65-F5344CB8AC3E}">
        <p14:creationId xmlns:p14="http://schemas.microsoft.com/office/powerpoint/2010/main" val="13980681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381000" y="457200"/>
            <a:ext cx="8458200" cy="1143000"/>
          </a:xfrm>
        </p:spPr>
        <p:txBody>
          <a:bodyPr/>
          <a:lstStyle/>
          <a:p>
            <a:pPr marL="54864" indent="0" fontAlgn="auto">
              <a:spcAft>
                <a:spcPts val="0"/>
              </a:spcAft>
              <a:defRPr/>
            </a:pPr>
            <a:r>
              <a:rPr lang="zh-CN" altLang="en-US" sz="4000" b="1" dirty="0">
                <a:solidFill>
                  <a:schemeClr val="tx2">
                    <a:tint val="100000"/>
                    <a:shade val="90000"/>
                    <a:satMod val="250000"/>
                    <a:alpha val="100000"/>
                  </a:schemeClr>
                </a:solidFill>
                <a:cs typeface="+mj-cs"/>
              </a:rPr>
              <a:t>安索夫</a:t>
            </a:r>
            <a:r>
              <a:rPr lang="en-US" altLang="zh-CN" sz="4000" b="1" dirty="0">
                <a:solidFill>
                  <a:schemeClr val="tx2">
                    <a:tint val="100000"/>
                    <a:shade val="90000"/>
                    <a:satMod val="250000"/>
                    <a:alpha val="100000"/>
                  </a:schemeClr>
                </a:solidFill>
                <a:cs typeface="+mj-cs"/>
              </a:rPr>
              <a:t>-</a:t>
            </a:r>
            <a:r>
              <a:rPr lang="zh-CN" altLang="en-US" sz="4000" b="1" dirty="0">
                <a:solidFill>
                  <a:schemeClr val="tx2">
                    <a:tint val="100000"/>
                    <a:shade val="90000"/>
                    <a:satMod val="250000"/>
                    <a:alpha val="100000"/>
                  </a:schemeClr>
                </a:solidFill>
                <a:cs typeface="+mj-cs"/>
              </a:rPr>
              <a:t>共同经营主线</a:t>
            </a:r>
          </a:p>
        </p:txBody>
      </p:sp>
      <p:sp>
        <p:nvSpPr>
          <p:cNvPr id="32771" name="Rectangle 3"/>
          <p:cNvSpPr>
            <a:spLocks noGrp="1" noChangeArrowheads="1"/>
          </p:cNvSpPr>
          <p:nvPr>
            <p:ph type="body" idx="1"/>
          </p:nvPr>
        </p:nvSpPr>
        <p:spPr>
          <a:xfrm>
            <a:off x="609600" y="1676400"/>
            <a:ext cx="8153400" cy="4114800"/>
          </a:xfrm>
        </p:spPr>
        <p:txBody>
          <a:bodyPr>
            <a:normAutofit lnSpcReduction="10000"/>
          </a:bodyPr>
          <a:lstStyle/>
          <a:p>
            <a:pPr algn="just" fontAlgn="auto">
              <a:lnSpc>
                <a:spcPct val="90000"/>
              </a:lnSpc>
              <a:spcBef>
                <a:spcPts val="0"/>
              </a:spcBef>
              <a:spcAft>
                <a:spcPts val="0"/>
              </a:spcAft>
              <a:defRPr/>
            </a:pPr>
            <a:r>
              <a:rPr lang="zh-CN" altLang="en-US" sz="2800" dirty="0">
                <a:cs typeface="+mn-cs"/>
              </a:rPr>
              <a:t>企业战略是贯穿于企业经营与产品和市场之间的一条“</a:t>
            </a:r>
            <a:r>
              <a:rPr lang="zh-CN" altLang="en-US" sz="2800" dirty="0">
                <a:solidFill>
                  <a:srgbClr val="CC3300"/>
                </a:solidFill>
                <a:cs typeface="+mn-cs"/>
              </a:rPr>
              <a:t>共同经营主线</a:t>
            </a:r>
            <a:r>
              <a:rPr lang="zh-CN" altLang="en-US" sz="2800" dirty="0">
                <a:cs typeface="+mn-cs"/>
              </a:rPr>
              <a:t>”，决定着企业目前所从事的、或者计划要从事的经营业务的基本性质。</a:t>
            </a:r>
          </a:p>
          <a:p>
            <a:pPr algn="just" fontAlgn="auto">
              <a:lnSpc>
                <a:spcPct val="90000"/>
              </a:lnSpc>
              <a:spcBef>
                <a:spcPts val="0"/>
              </a:spcBef>
              <a:spcAft>
                <a:spcPts val="0"/>
              </a:spcAft>
              <a:defRPr/>
            </a:pPr>
            <a:r>
              <a:rPr lang="zh-CN" altLang="en-US" sz="2800">
                <a:cs typeface="+mn-cs"/>
              </a:rPr>
              <a:t>安索夫指出，企业在制定战略时，有必要首先确定自己的经营性质。不论是以产品系列的性质还是按照构成产品系列的技术来确定企业的经营性质，</a:t>
            </a:r>
            <a:r>
              <a:rPr lang="zh-CN" altLang="en-US" sz="2800" b="1">
                <a:cs typeface="+mn-cs"/>
              </a:rPr>
              <a:t>企业目前的产品和市场与企业未来的产品和市场之间一定存在着一种内在的联系。这种内在的联系被称为</a:t>
            </a:r>
            <a:r>
              <a:rPr lang="zh-CN" altLang="en-US" sz="2800">
                <a:cs typeface="+mn-cs"/>
              </a:rPr>
              <a:t>“</a:t>
            </a:r>
            <a:r>
              <a:rPr lang="zh-CN" altLang="en-US" sz="2800">
                <a:solidFill>
                  <a:srgbClr val="CC3300"/>
                </a:solidFill>
                <a:cs typeface="+mn-cs"/>
              </a:rPr>
              <a:t>共同经营主线</a:t>
            </a:r>
            <a:r>
              <a:rPr lang="zh-CN" altLang="en-US" sz="2800">
                <a:cs typeface="+mn-cs"/>
              </a:rPr>
              <a:t>”。</a:t>
            </a:r>
          </a:p>
          <a:p>
            <a:pPr algn="just" fontAlgn="auto">
              <a:lnSpc>
                <a:spcPct val="90000"/>
              </a:lnSpc>
              <a:spcBef>
                <a:spcPts val="0"/>
              </a:spcBef>
              <a:spcAft>
                <a:spcPts val="0"/>
              </a:spcAft>
              <a:defRPr/>
            </a:pPr>
            <a:r>
              <a:rPr lang="zh-CN" altLang="en-US" sz="2800" dirty="0">
                <a:cs typeface="+mn-cs"/>
              </a:rPr>
              <a:t>通过分析这种共同的经营主线，可以把握企业运行的方向，寻找企业发展的新使命。</a:t>
            </a:r>
          </a:p>
          <a:p>
            <a:pPr fontAlgn="auto">
              <a:lnSpc>
                <a:spcPct val="90000"/>
              </a:lnSpc>
              <a:spcBef>
                <a:spcPts val="0"/>
              </a:spcBef>
              <a:spcAft>
                <a:spcPts val="0"/>
              </a:spcAft>
              <a:defRPr/>
            </a:pPr>
            <a:endParaRPr lang="en-US" altLang="zh-CN" sz="2800" dirty="0">
              <a:cs typeface="+mn-cs"/>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381000" y="533400"/>
            <a:ext cx="8458200" cy="1143000"/>
          </a:xfrm>
        </p:spPr>
        <p:txBody>
          <a:bodyPr/>
          <a:lstStyle/>
          <a:p>
            <a:pPr marL="54864" indent="0" fontAlgn="auto">
              <a:spcAft>
                <a:spcPts val="0"/>
              </a:spcAft>
              <a:defRPr/>
            </a:pPr>
            <a:r>
              <a:rPr lang="zh-CN" altLang="en-US" b="1" dirty="0">
                <a:solidFill>
                  <a:schemeClr val="tx2">
                    <a:tint val="100000"/>
                    <a:shade val="90000"/>
                    <a:satMod val="250000"/>
                    <a:alpha val="100000"/>
                  </a:schemeClr>
                </a:solidFill>
                <a:cs typeface="+mj-cs"/>
              </a:rPr>
              <a:t>安索夫</a:t>
            </a:r>
            <a:r>
              <a:rPr lang="en-US" altLang="zh-CN" b="1" dirty="0">
                <a:solidFill>
                  <a:schemeClr val="tx2">
                    <a:tint val="100000"/>
                    <a:shade val="90000"/>
                    <a:satMod val="250000"/>
                    <a:alpha val="100000"/>
                  </a:schemeClr>
                </a:solidFill>
                <a:cs typeface="+mj-cs"/>
              </a:rPr>
              <a:t>-</a:t>
            </a:r>
            <a:r>
              <a:rPr lang="zh-CN" altLang="en-US" b="1" dirty="0">
                <a:solidFill>
                  <a:schemeClr val="tx2">
                    <a:tint val="100000"/>
                    <a:shade val="90000"/>
                    <a:satMod val="250000"/>
                    <a:alpha val="100000"/>
                  </a:schemeClr>
                </a:solidFill>
                <a:cs typeface="+mj-cs"/>
              </a:rPr>
              <a:t>战略构成四要素</a:t>
            </a:r>
          </a:p>
        </p:txBody>
      </p:sp>
      <p:sp>
        <p:nvSpPr>
          <p:cNvPr id="21506" name="Rectangle 3"/>
          <p:cNvSpPr>
            <a:spLocks noGrp="1" noChangeArrowheads="1"/>
          </p:cNvSpPr>
          <p:nvPr>
            <p:ph type="body" idx="1"/>
          </p:nvPr>
        </p:nvSpPr>
        <p:spPr>
          <a:xfrm>
            <a:off x="685800" y="2286000"/>
            <a:ext cx="7772400" cy="4114800"/>
          </a:xfrm>
        </p:spPr>
        <p:txBody>
          <a:bodyPr/>
          <a:lstStyle/>
          <a:p>
            <a:r>
              <a:rPr lang="en-US" altLang="zh-CN" sz="2800" dirty="0"/>
              <a:t> 1. </a:t>
            </a:r>
            <a:r>
              <a:rPr lang="zh-CN" altLang="en-US" sz="2800" dirty="0"/>
              <a:t>产品和市场范围         获利能力的范围          </a:t>
            </a:r>
          </a:p>
          <a:p>
            <a:r>
              <a:rPr lang="zh-CN" altLang="en-US" sz="2800" dirty="0"/>
              <a:t> </a:t>
            </a:r>
            <a:r>
              <a:rPr lang="en-US" altLang="zh-CN" sz="2800" dirty="0"/>
              <a:t>2. </a:t>
            </a:r>
            <a:r>
              <a:rPr lang="zh-CN" altLang="en-US" sz="2800" dirty="0"/>
              <a:t>竞争优势                     获利能力的保证          </a:t>
            </a:r>
          </a:p>
          <a:p>
            <a:r>
              <a:rPr lang="zh-CN" altLang="en-US" sz="2800" dirty="0"/>
              <a:t> </a:t>
            </a:r>
            <a:r>
              <a:rPr lang="en-US" altLang="zh-CN" sz="2800" dirty="0"/>
              <a:t>3. </a:t>
            </a:r>
            <a:r>
              <a:rPr lang="zh-CN" altLang="en-US" sz="2800" dirty="0"/>
              <a:t>协同作用         获利能力的进一步挖潜</a:t>
            </a:r>
          </a:p>
          <a:p>
            <a:r>
              <a:rPr lang="zh-CN" altLang="en-US" sz="2800" dirty="0"/>
              <a:t> </a:t>
            </a:r>
            <a:r>
              <a:rPr lang="en-US" altLang="zh-CN" sz="2800" dirty="0"/>
              <a:t>4. </a:t>
            </a:r>
            <a:r>
              <a:rPr lang="zh-CN" altLang="en-US" sz="2800" dirty="0"/>
              <a:t>成长方向             获利能力的扩展方向</a:t>
            </a:r>
          </a:p>
          <a:p>
            <a:endParaRPr lang="en-US" altLang="zh-CN" dirty="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产品市场组合矩阵</a:t>
            </a:r>
          </a:p>
        </p:txBody>
      </p:sp>
      <p:pic>
        <p:nvPicPr>
          <p:cNvPr id="4" name="内容占位符 3" descr="b2de9c82d158ccbfec8ca91919d8bc3eb13541e4.jpg"/>
          <p:cNvPicPr>
            <a:picLocks noGrp="1" noChangeAspect="1"/>
          </p:cNvPicPr>
          <p:nvPr>
            <p:ph idx="1"/>
          </p:nvPr>
        </p:nvPicPr>
        <p:blipFill>
          <a:blip r:embed="rId3">
            <a:extLst>
              <a:ext uri="{28A0092B-C50C-407E-A947-70E740481C1C}">
                <a14:useLocalDpi xmlns:a14="http://schemas.microsoft.com/office/drawing/2010/main" val="0"/>
              </a:ext>
            </a:extLst>
          </a:blip>
          <a:srcRect t="4085" b="4085"/>
          <a:stretch>
            <a:fillRect/>
          </a:stretch>
        </p:blipFill>
        <p:spPr>
          <a:xfrm>
            <a:off x="1692275" y="1989138"/>
            <a:ext cx="6199188" cy="4291012"/>
          </a:xfrm>
        </p:spPr>
      </p:pic>
    </p:spTree>
    <p:extLst>
      <p:ext uri="{BB962C8B-B14F-4D97-AF65-F5344CB8AC3E}">
        <p14:creationId xmlns:p14="http://schemas.microsoft.com/office/powerpoint/2010/main" val="7398199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457200" y="485800"/>
            <a:ext cx="8077200" cy="1143000"/>
          </a:xfrm>
        </p:spPr>
        <p:txBody>
          <a:bodyPr/>
          <a:lstStyle/>
          <a:p>
            <a:pPr marL="54864" indent="0" fontAlgn="auto">
              <a:spcAft>
                <a:spcPts val="0"/>
              </a:spcAft>
              <a:defRPr/>
            </a:pPr>
            <a:r>
              <a:rPr lang="zh-CN" altLang="en-US" b="1" dirty="0">
                <a:solidFill>
                  <a:schemeClr val="tx2">
                    <a:tint val="100000"/>
                    <a:shade val="90000"/>
                    <a:satMod val="250000"/>
                    <a:alpha val="100000"/>
                  </a:schemeClr>
                </a:solidFill>
                <a:cs typeface="+mj-cs"/>
              </a:rPr>
              <a:t>安德鲁斯</a:t>
            </a:r>
          </a:p>
        </p:txBody>
      </p:sp>
      <p:sp>
        <p:nvSpPr>
          <p:cNvPr id="22530" name="Rectangle 3"/>
          <p:cNvSpPr>
            <a:spLocks noGrp="1" noChangeArrowheads="1"/>
          </p:cNvSpPr>
          <p:nvPr>
            <p:ph type="body" idx="1"/>
          </p:nvPr>
        </p:nvSpPr>
        <p:spPr>
          <a:xfrm>
            <a:off x="762000" y="1524000"/>
            <a:ext cx="7772400" cy="4114800"/>
          </a:xfrm>
        </p:spPr>
        <p:txBody>
          <a:bodyPr/>
          <a:lstStyle/>
          <a:p>
            <a:pPr algn="just"/>
            <a:r>
              <a:rPr lang="zh-CN" altLang="en-US" sz="2800" u="sng" dirty="0">
                <a:latin typeface="宋体" charset="-122"/>
              </a:rPr>
              <a:t>安德鲁斯</a:t>
            </a:r>
            <a:r>
              <a:rPr lang="zh-CN" altLang="en-US" sz="2800" dirty="0">
                <a:latin typeface="宋体" charset="-122"/>
              </a:rPr>
              <a:t>认为：战略是</a:t>
            </a:r>
            <a:r>
              <a:rPr lang="zh-CN" altLang="en-US" sz="2800" dirty="0">
                <a:solidFill>
                  <a:schemeClr val="accent2"/>
                </a:solidFill>
                <a:latin typeface="宋体" charset="-122"/>
              </a:rPr>
              <a:t>目标</a:t>
            </a:r>
            <a:r>
              <a:rPr lang="zh-CN" altLang="en-US" sz="2800" dirty="0">
                <a:latin typeface="宋体" charset="-122"/>
              </a:rPr>
              <a:t>、意图或</a:t>
            </a:r>
            <a:r>
              <a:rPr lang="zh-CN" altLang="en-US" sz="2800" dirty="0">
                <a:solidFill>
                  <a:srgbClr val="DA1F28"/>
                </a:solidFill>
                <a:latin typeface="宋体" charset="-122"/>
              </a:rPr>
              <a:t>目的</a:t>
            </a:r>
            <a:r>
              <a:rPr lang="zh-CN" altLang="en-US" sz="2800" dirty="0">
                <a:latin typeface="宋体" charset="-122"/>
              </a:rPr>
              <a:t>，以及为达到这些目的而制定的主要方针和计划的一种模式</a:t>
            </a:r>
            <a:r>
              <a:rPr lang="en-US" altLang="zh-CN" sz="2800" dirty="0">
                <a:latin typeface="宋体" charset="-122"/>
              </a:rPr>
              <a:t>(a mode  of  decision )</a:t>
            </a:r>
            <a:r>
              <a:rPr lang="zh-CN" altLang="en-US" sz="2800" dirty="0">
                <a:latin typeface="宋体" charset="-122"/>
              </a:rPr>
              <a:t>。</a:t>
            </a:r>
          </a:p>
          <a:p>
            <a:pPr algn="just"/>
            <a:endParaRPr lang="en-US" altLang="zh-CN" sz="2800" dirty="0">
              <a:latin typeface="宋体" charset="-122"/>
            </a:endParaRPr>
          </a:p>
          <a:p>
            <a:pPr algn="just"/>
            <a:r>
              <a:rPr lang="en-US" altLang="zh-CN" sz="2800" dirty="0">
                <a:latin typeface="宋体" charset="-122"/>
              </a:rPr>
              <a:t>SWOT</a:t>
            </a:r>
            <a:r>
              <a:rPr lang="zh-CN" altLang="en-US" sz="2800" dirty="0">
                <a:latin typeface="宋体" charset="-122"/>
              </a:rPr>
              <a:t>分析框架创始人</a:t>
            </a:r>
          </a:p>
          <a:p>
            <a:pPr algn="just"/>
            <a:r>
              <a:rPr lang="zh-CN" altLang="en-US" sz="2800" dirty="0">
                <a:latin typeface="宋体" charset="-122"/>
              </a:rPr>
              <a:t>企业经营战略是在企业外部环境因素（决定企业可能干什么）和企业内部资源与运作</a:t>
            </a:r>
            <a:r>
              <a:rPr lang="zh-CN" altLang="zh-CN" sz="2800" dirty="0">
                <a:latin typeface="宋体" charset="-122"/>
              </a:rPr>
              <a:t>（</a:t>
            </a:r>
            <a:r>
              <a:rPr lang="zh-CN" altLang="en-US" sz="2800" dirty="0">
                <a:latin typeface="宋体" charset="-122"/>
              </a:rPr>
              <a:t>决定企业能够做什么）之间寻求契合</a:t>
            </a:r>
            <a:endParaRPr lang="en-US" altLang="zh-CN" sz="2800" dirty="0">
              <a:latin typeface="宋体" charset="-122"/>
            </a:endParaRPr>
          </a:p>
          <a:p>
            <a:pPr algn="just"/>
            <a:r>
              <a:rPr lang="zh-CN" altLang="en-US" sz="2800" dirty="0">
                <a:latin typeface="宋体" charset="-122"/>
              </a:rPr>
              <a:t>影响因素：企业想干什么（决策者个人偏好），企业应该干什么（社会责任）</a:t>
            </a:r>
            <a:endParaRPr lang="en-US" altLang="zh-CN" sz="2800" dirty="0">
              <a:latin typeface="宋体" charset="-122"/>
            </a:endParaRPr>
          </a:p>
          <a:p>
            <a:pPr algn="just"/>
            <a:r>
              <a:rPr lang="zh-CN" altLang="en-US" sz="2800" dirty="0">
                <a:latin typeface="宋体" charset="-122"/>
              </a:rPr>
              <a:t>利用优势抓住机会</a:t>
            </a:r>
          </a:p>
          <a:p>
            <a:pPr algn="just"/>
            <a:endParaRPr lang="zh-CN" altLang="en-US" sz="2800" dirty="0">
              <a:latin typeface="宋体" charset="-122"/>
            </a:endParaRPr>
          </a:p>
          <a:p>
            <a:pPr algn="just"/>
            <a:endParaRPr lang="en-US" altLang="zh-CN" sz="2800" dirty="0"/>
          </a:p>
        </p:txBody>
      </p:sp>
      <p:pic>
        <p:nvPicPr>
          <p:cNvPr id="22531" name="Picture 4" descr="C:\Documents and Settings\Administrator\My Documents\My Pictures\andrews.jpg"/>
          <p:cNvPicPr>
            <a:picLocks noChangeAspect="1" noChangeArrowheads="1"/>
          </p:cNvPicPr>
          <p:nvPr/>
        </p:nvPicPr>
        <p:blipFill>
          <a:blip r:embed="rId2"/>
          <a:srcRect/>
          <a:stretch>
            <a:fillRect/>
          </a:stretch>
        </p:blipFill>
        <p:spPr bwMode="auto">
          <a:xfrm>
            <a:off x="4427984" y="393"/>
            <a:ext cx="968375" cy="1414462"/>
          </a:xfrm>
          <a:prstGeom prst="rect">
            <a:avLst/>
          </a:prstGeom>
          <a:noFill/>
          <a:ln w="9525">
            <a:noFill/>
            <a:miter lim="800000"/>
            <a:headEnd/>
            <a:tailEnd/>
          </a:ln>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57200" y="253536"/>
            <a:ext cx="8229600" cy="1143000"/>
          </a:xfrm>
        </p:spPr>
        <p:txBody>
          <a:bodyPr/>
          <a:lstStyle/>
          <a:p>
            <a:pPr marL="54864" indent="0" fontAlgn="auto">
              <a:spcAft>
                <a:spcPts val="0"/>
              </a:spcAft>
              <a:defRPr/>
            </a:pPr>
            <a:r>
              <a:rPr lang="zh-CN" altLang="en-US" dirty="0">
                <a:solidFill>
                  <a:schemeClr val="tx2">
                    <a:tint val="100000"/>
                    <a:shade val="90000"/>
                    <a:satMod val="250000"/>
                    <a:alpha val="100000"/>
                  </a:schemeClr>
                </a:solidFill>
                <a:cs typeface="+mj-cs"/>
              </a:rPr>
              <a:t>安德鲁斯的观点</a:t>
            </a:r>
          </a:p>
        </p:txBody>
      </p:sp>
      <p:sp>
        <p:nvSpPr>
          <p:cNvPr id="23554" name="Rectangle 3"/>
          <p:cNvSpPr>
            <a:spLocks noGrp="1" noChangeArrowheads="1"/>
          </p:cNvSpPr>
          <p:nvPr>
            <p:ph type="body" idx="1"/>
          </p:nvPr>
        </p:nvSpPr>
        <p:spPr/>
        <p:txBody>
          <a:bodyPr/>
          <a:lstStyle/>
          <a:p>
            <a:pPr algn="just">
              <a:lnSpc>
                <a:spcPct val="90000"/>
              </a:lnSpc>
            </a:pPr>
            <a:r>
              <a:rPr lang="zh-CN" altLang="en-US" sz="2400" dirty="0">
                <a:latin typeface="宋体" charset="-122"/>
              </a:rPr>
              <a:t>企业总体战略是一个决策模式：①决定和揭示企业的</a:t>
            </a:r>
            <a:r>
              <a:rPr lang="zh-CN" altLang="en-US" sz="2400" dirty="0">
                <a:solidFill>
                  <a:srgbClr val="DA1F28"/>
                </a:solidFill>
                <a:latin typeface="宋体" charset="-122"/>
              </a:rPr>
              <a:t>目的和目标</a:t>
            </a:r>
            <a:r>
              <a:rPr lang="zh-CN" altLang="en-US" sz="2400" dirty="0">
                <a:latin typeface="宋体" charset="-122"/>
              </a:rPr>
              <a:t>；②提出实现目的的重大方针与计划；③确定企业应该从事的经营业务；④明确企业的经济类型与人文组织类型；⑤决定企业应当对职工、顾客和社会做出的经济的与非经济的贡献。</a:t>
            </a:r>
          </a:p>
          <a:p>
            <a:pPr algn="just">
              <a:lnSpc>
                <a:spcPct val="90000"/>
              </a:lnSpc>
            </a:pPr>
            <a:r>
              <a:rPr lang="zh-CN" altLang="en-US" sz="2400" dirty="0">
                <a:latin typeface="宋体" charset="-122"/>
              </a:rPr>
              <a:t>安德鲁斯的定义指出了企业总体战略要解决的主要问题是企业长远发展的使命与实现使命的有机结合，使企业能够形成自己的特殊的战略属性和竞争优势，将不确定的环境因素与企业的经营活动很好地结合起来，以便能够集中企业的各种资源形成企业产品和市场的“生长圈”，并且能够在较长的时期内相对稳定地执行企业的战略</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内容占位符 1"/>
          <p:cNvSpPr>
            <a:spLocks noGrp="1"/>
          </p:cNvSpPr>
          <p:nvPr>
            <p:ph/>
          </p:nvPr>
        </p:nvSpPr>
        <p:spPr>
          <a:xfrm>
            <a:off x="251520" y="1052513"/>
            <a:ext cx="8892480" cy="5149850"/>
          </a:xfrm>
        </p:spPr>
        <p:txBody>
          <a:bodyPr/>
          <a:lstStyle/>
          <a:p>
            <a:r>
              <a:rPr lang="zh-CN" altLang="en-US" dirty="0">
                <a:solidFill>
                  <a:srgbClr val="FFFF00"/>
                </a:solidFill>
              </a:rPr>
              <a:t>企业战略是企业面对激烈变化、严峻挑战的环境，为求得长期生存和不断发展而进行的总体性谋划</a:t>
            </a:r>
            <a:endParaRPr lang="en-US" altLang="zh-CN" dirty="0">
              <a:solidFill>
                <a:srgbClr val="FFFF00"/>
              </a:solidFill>
            </a:endParaRPr>
          </a:p>
          <a:p>
            <a:r>
              <a:rPr lang="zh-CN" altLang="en-US" sz="2800" dirty="0"/>
              <a:t>在相对静态条件下，理性主义流派认为战略是一种事前、主动和理性的计划或者目标</a:t>
            </a:r>
            <a:endParaRPr lang="en-US" altLang="zh-CN" sz="2800" dirty="0"/>
          </a:p>
          <a:p>
            <a:r>
              <a:rPr lang="zh-CN" altLang="en-US" sz="2800" dirty="0"/>
              <a:t>在相对动态条件下，战略不仅是。。。还包含事中、反应性和非理性的决策</a:t>
            </a:r>
            <a:endParaRPr lang="en-US" altLang="zh-CN" sz="2800" dirty="0"/>
          </a:p>
          <a:p>
            <a:r>
              <a:rPr lang="zh-CN" altLang="en-US" sz="2800" dirty="0"/>
              <a:t>明茨伯格</a:t>
            </a:r>
            <a:r>
              <a:rPr lang="en-US" altLang="zh-CN" sz="2800" dirty="0"/>
              <a:t>1978《</a:t>
            </a:r>
            <a:r>
              <a:rPr lang="zh-CN" altLang="en-US" sz="2800" dirty="0"/>
              <a:t>战略自生与演进</a:t>
            </a:r>
            <a:r>
              <a:rPr lang="en-US" altLang="zh-CN" sz="2800" dirty="0"/>
              <a:t>》</a:t>
            </a:r>
            <a:r>
              <a:rPr lang="zh-CN" altLang="en-US" sz="2800" dirty="0"/>
              <a:t>战略不仅可以被制定，也可以自发的形成，自下而上，上下互动</a:t>
            </a:r>
            <a:endParaRPr lang="en-US" altLang="zh-CN" sz="2800" dirty="0"/>
          </a:p>
          <a:p>
            <a:r>
              <a:rPr lang="zh-CN" altLang="en-US" sz="2800" dirty="0"/>
              <a:t>战略决策过程的复杂性、不确定性、系统性、开放性</a:t>
            </a:r>
            <a:endParaRPr lang="en-US" altLang="zh-CN" sz="2800" dirty="0"/>
          </a:p>
          <a:p>
            <a:r>
              <a:rPr lang="zh-CN" altLang="en-US" sz="2800" dirty="0"/>
              <a:t>决策受人的心理、行为的制约和影响</a:t>
            </a:r>
          </a:p>
        </p:txBody>
      </p:sp>
    </p:spTree>
  </p:cSld>
  <p:clrMapOvr>
    <a:masterClrMapping/>
  </p:clrMapOvr>
  <p:transition spd="med">
    <p:randomBar dir="ver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050"/>
          <p:cNvSpPr>
            <a:spLocks noGrp="1" noChangeArrowheads="1"/>
          </p:cNvSpPr>
          <p:nvPr>
            <p:ph type="title"/>
          </p:nvPr>
        </p:nvSpPr>
        <p:spPr>
          <a:xfrm>
            <a:off x="269875" y="549275"/>
            <a:ext cx="8874125" cy="700088"/>
          </a:xfrm>
        </p:spPr>
        <p:txBody>
          <a:bodyPr>
            <a:normAutofit fontScale="90000"/>
          </a:bodyPr>
          <a:lstStyle/>
          <a:p>
            <a:pPr marL="54864" indent="0" fontAlgn="auto">
              <a:spcAft>
                <a:spcPts val="0"/>
              </a:spcAft>
              <a:defRPr/>
            </a:pPr>
            <a:r>
              <a:rPr lang="zh-CN" altLang="en-US" sz="4000" dirty="0">
                <a:solidFill>
                  <a:schemeClr val="tx2">
                    <a:tint val="100000"/>
                    <a:shade val="90000"/>
                    <a:satMod val="250000"/>
                    <a:alpha val="100000"/>
                  </a:schemeClr>
                </a:solidFill>
                <a:ea typeface="黑体" pitchFamily="2" charset="-122"/>
                <a:cs typeface="+mj-cs"/>
              </a:rPr>
              <a:t>明茨伯格（</a:t>
            </a:r>
            <a:r>
              <a:rPr lang="en-US" altLang="zh-CN" sz="4000" dirty="0" err="1">
                <a:solidFill>
                  <a:schemeClr val="tx2">
                    <a:tint val="100000"/>
                    <a:shade val="90000"/>
                    <a:satMod val="250000"/>
                    <a:alpha val="100000"/>
                  </a:schemeClr>
                </a:solidFill>
                <a:ea typeface="黑体" pitchFamily="2" charset="-122"/>
                <a:cs typeface="+mj-cs"/>
              </a:rPr>
              <a:t>H.Mintzberg</a:t>
            </a:r>
            <a:r>
              <a:rPr lang="zh-CN" altLang="en-US" sz="4000" dirty="0">
                <a:solidFill>
                  <a:schemeClr val="tx2">
                    <a:tint val="100000"/>
                    <a:shade val="90000"/>
                    <a:satMod val="250000"/>
                    <a:alpha val="100000"/>
                  </a:schemeClr>
                </a:solidFill>
                <a:ea typeface="黑体" pitchFamily="2" charset="-122"/>
                <a:cs typeface="+mj-cs"/>
              </a:rPr>
              <a:t>）的战略</a:t>
            </a:r>
            <a:r>
              <a:rPr lang="en-US" altLang="zh-CN" sz="4000" dirty="0">
                <a:solidFill>
                  <a:schemeClr val="tx2">
                    <a:tint val="100000"/>
                    <a:shade val="90000"/>
                    <a:satMod val="250000"/>
                    <a:alpha val="100000"/>
                  </a:schemeClr>
                </a:solidFill>
                <a:ea typeface="黑体" pitchFamily="2" charset="-122"/>
                <a:cs typeface="+mj-cs"/>
              </a:rPr>
              <a:t>5Ps</a:t>
            </a:r>
          </a:p>
        </p:txBody>
      </p:sp>
      <p:sp>
        <p:nvSpPr>
          <p:cNvPr id="24578" name="Rectangle 2051"/>
          <p:cNvSpPr>
            <a:spLocks noGrp="1" noChangeArrowheads="1"/>
          </p:cNvSpPr>
          <p:nvPr>
            <p:ph type="body" idx="1"/>
          </p:nvPr>
        </p:nvSpPr>
        <p:spPr>
          <a:xfrm>
            <a:off x="762000" y="1752600"/>
            <a:ext cx="7772400" cy="4114800"/>
          </a:xfrm>
        </p:spPr>
        <p:txBody>
          <a:bodyPr/>
          <a:lstStyle/>
          <a:p>
            <a:pPr>
              <a:lnSpc>
                <a:spcPct val="80000"/>
              </a:lnSpc>
              <a:buFont typeface="Wingdings" pitchFamily="2" charset="2"/>
              <a:buNone/>
            </a:pPr>
            <a:endParaRPr lang="en-US" altLang="zh-CN" sz="4400" b="1">
              <a:solidFill>
                <a:schemeClr val="accent2"/>
              </a:solidFill>
            </a:endParaRPr>
          </a:p>
          <a:p>
            <a:pPr>
              <a:lnSpc>
                <a:spcPct val="80000"/>
              </a:lnSpc>
            </a:pPr>
            <a:r>
              <a:rPr lang="zh-CN" altLang="en-US" sz="3600" b="1"/>
              <a:t>战略是计划（</a:t>
            </a:r>
            <a:r>
              <a:rPr lang="en-US" altLang="zh-CN" sz="3600" b="1"/>
              <a:t>plan</a:t>
            </a:r>
            <a:r>
              <a:rPr lang="zh-CN" altLang="en-US" sz="3600" b="1"/>
              <a:t>）</a:t>
            </a:r>
          </a:p>
          <a:p>
            <a:pPr>
              <a:lnSpc>
                <a:spcPct val="80000"/>
              </a:lnSpc>
            </a:pPr>
            <a:r>
              <a:rPr lang="zh-CN" altLang="en-US" sz="3600" b="1"/>
              <a:t>战略是模式（</a:t>
            </a:r>
            <a:r>
              <a:rPr lang="en-US" altLang="zh-CN" sz="3600" b="1"/>
              <a:t>pattern</a:t>
            </a:r>
            <a:r>
              <a:rPr lang="zh-CN" altLang="en-US" sz="3600" b="1"/>
              <a:t>）</a:t>
            </a:r>
          </a:p>
          <a:p>
            <a:pPr>
              <a:lnSpc>
                <a:spcPct val="80000"/>
              </a:lnSpc>
            </a:pPr>
            <a:r>
              <a:rPr lang="zh-CN" altLang="en-US" sz="3600" b="1"/>
              <a:t>战略是定位（</a:t>
            </a:r>
            <a:r>
              <a:rPr lang="en-US" altLang="zh-CN" sz="3600" b="1"/>
              <a:t>position</a:t>
            </a:r>
            <a:r>
              <a:rPr lang="zh-CN" altLang="en-US" sz="3600" b="1"/>
              <a:t>）</a:t>
            </a:r>
          </a:p>
          <a:p>
            <a:pPr>
              <a:lnSpc>
                <a:spcPct val="80000"/>
              </a:lnSpc>
            </a:pPr>
            <a:r>
              <a:rPr lang="zh-CN" altLang="en-US" sz="3600" b="1"/>
              <a:t>战略是观念（</a:t>
            </a:r>
            <a:r>
              <a:rPr lang="en-US" altLang="zh-CN" sz="3600" b="1"/>
              <a:t>perspective</a:t>
            </a:r>
            <a:r>
              <a:rPr lang="zh-CN" altLang="en-US" sz="3600" b="1"/>
              <a:t>）</a:t>
            </a:r>
          </a:p>
          <a:p>
            <a:pPr>
              <a:lnSpc>
                <a:spcPct val="80000"/>
              </a:lnSpc>
            </a:pPr>
            <a:r>
              <a:rPr lang="zh-CN" altLang="en-US" sz="3600" b="1"/>
              <a:t>战略是计谋（</a:t>
            </a:r>
            <a:r>
              <a:rPr lang="en-US" altLang="zh-CN" sz="3600" b="1"/>
              <a:t>ploy</a:t>
            </a:r>
            <a:r>
              <a:rPr lang="zh-CN" altLang="en-US" sz="3600" b="1"/>
              <a:t>）</a:t>
            </a:r>
          </a:p>
          <a:p>
            <a:endParaRPr lang="en-US" altLang="zh-CN"/>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3039" name="Group 31"/>
          <p:cNvGraphicFramePr>
            <a:graphicFrameLocks noGrp="1"/>
          </p:cNvGraphicFramePr>
          <p:nvPr>
            <p:ph/>
            <p:extLst>
              <p:ext uri="{D42A27DB-BD31-4B8C-83A1-F6EECF244321}">
                <p14:modId xmlns:p14="http://schemas.microsoft.com/office/powerpoint/2010/main" val="46614350"/>
              </p:ext>
            </p:extLst>
          </p:nvPr>
        </p:nvGraphicFramePr>
        <p:xfrm>
          <a:off x="215106" y="1022350"/>
          <a:ext cx="8713787" cy="5009834"/>
        </p:xfrm>
        <a:graphic>
          <a:graphicData uri="http://schemas.openxmlformats.org/drawingml/2006/table">
            <a:tbl>
              <a:tblPr/>
              <a:tblGrid>
                <a:gridCol w="2413000">
                  <a:extLst>
                    <a:ext uri="{9D8B030D-6E8A-4147-A177-3AD203B41FA5}">
                      <a16:colId xmlns:a16="http://schemas.microsoft.com/office/drawing/2014/main" val="20000"/>
                    </a:ext>
                  </a:extLst>
                </a:gridCol>
                <a:gridCol w="6300787">
                  <a:extLst>
                    <a:ext uri="{9D8B030D-6E8A-4147-A177-3AD203B41FA5}">
                      <a16:colId xmlns:a16="http://schemas.microsoft.com/office/drawing/2014/main" val="20001"/>
                    </a:ext>
                  </a:extLst>
                </a:gridCol>
              </a:tblGrid>
              <a:tr h="760413">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dirty="0">
                          <a:ln>
                            <a:noFill/>
                          </a:ln>
                          <a:solidFill>
                            <a:srgbClr val="FFFF00"/>
                          </a:solidFill>
                          <a:effectLst/>
                          <a:latin typeface="Arial" pitchFamily="34" charset="0"/>
                          <a:ea typeface="宋体" pitchFamily="2" charset="-122"/>
                        </a:rPr>
                        <a:t>战略定义</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rgbClr val="FFFF00"/>
                          </a:solidFill>
                          <a:effectLst/>
                          <a:latin typeface="Arial" pitchFamily="34" charset="0"/>
                          <a:ea typeface="宋体" pitchFamily="2" charset="-122"/>
                        </a:rPr>
                        <a:t>核心要点</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93750">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a:ln>
                            <a:noFill/>
                          </a:ln>
                          <a:solidFill>
                            <a:srgbClr val="FFFF66"/>
                          </a:solidFill>
                          <a:effectLst/>
                          <a:latin typeface="Arial" pitchFamily="34" charset="0"/>
                          <a:ea typeface="宋体" pitchFamily="2" charset="-122"/>
                        </a:rPr>
                        <a:t>计划型战略定义</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dirty="0">
                          <a:ln>
                            <a:noFill/>
                          </a:ln>
                          <a:solidFill>
                            <a:schemeClr val="tx1"/>
                          </a:solidFill>
                          <a:effectLst/>
                          <a:latin typeface="Arial" pitchFamily="34" charset="0"/>
                          <a:ea typeface="宋体" pitchFamily="2" charset="-122"/>
                        </a:rPr>
                        <a:t>强调企业管理人员要有意识地进行领导，凡事谋划在先，行事在后。</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95338">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a:ln>
                            <a:noFill/>
                          </a:ln>
                          <a:solidFill>
                            <a:srgbClr val="FFFF66"/>
                          </a:solidFill>
                          <a:effectLst/>
                          <a:latin typeface="Arial" pitchFamily="34" charset="0"/>
                          <a:ea typeface="宋体" pitchFamily="2" charset="-122"/>
                        </a:rPr>
                        <a:t>模式型战略定义</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dirty="0">
                          <a:ln>
                            <a:noFill/>
                          </a:ln>
                          <a:solidFill>
                            <a:schemeClr val="tx1"/>
                          </a:solidFill>
                          <a:effectLst/>
                          <a:latin typeface="Arial" pitchFamily="34" charset="0"/>
                          <a:ea typeface="宋体" pitchFamily="2" charset="-122"/>
                        </a:rPr>
                        <a:t>战略的制定要考虑企业的惯例和文化</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946150">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a:ln>
                            <a:noFill/>
                          </a:ln>
                          <a:solidFill>
                            <a:srgbClr val="FFFF66"/>
                          </a:solidFill>
                          <a:effectLst/>
                          <a:latin typeface="Arial" pitchFamily="34" charset="0"/>
                          <a:ea typeface="宋体" pitchFamily="2" charset="-122"/>
                        </a:rPr>
                        <a:t>计谋型战略定义</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dirty="0">
                          <a:ln>
                            <a:noFill/>
                          </a:ln>
                          <a:solidFill>
                            <a:schemeClr val="tx1"/>
                          </a:solidFill>
                          <a:effectLst/>
                          <a:latin typeface="Arial" pitchFamily="34" charset="0"/>
                          <a:ea typeface="宋体" pitchFamily="2" charset="-122"/>
                        </a:rPr>
                        <a:t>强调战略是为威胁或击败对手而采取的一种手段，重在达成预期竞争目的，博弈。</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95338">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a:ln>
                            <a:noFill/>
                          </a:ln>
                          <a:solidFill>
                            <a:srgbClr val="FFFF66"/>
                          </a:solidFill>
                          <a:effectLst/>
                          <a:latin typeface="Arial" pitchFamily="34" charset="0"/>
                          <a:ea typeface="宋体" pitchFamily="2" charset="-122"/>
                        </a:rPr>
                        <a:t>定位型战略定义</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dirty="0">
                          <a:ln>
                            <a:noFill/>
                          </a:ln>
                          <a:solidFill>
                            <a:schemeClr val="tx1"/>
                          </a:solidFill>
                          <a:effectLst/>
                          <a:latin typeface="Arial" pitchFamily="34" charset="0"/>
                          <a:ea typeface="宋体" pitchFamily="2" charset="-122"/>
                        </a:rPr>
                        <a:t>强调企业应适应外部环境，创造条件更好地进行经营上的竞争和合作。</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862013">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a:ln>
                            <a:noFill/>
                          </a:ln>
                          <a:solidFill>
                            <a:srgbClr val="FFFF66"/>
                          </a:solidFill>
                          <a:effectLst/>
                          <a:latin typeface="Arial" pitchFamily="34" charset="0"/>
                          <a:ea typeface="宋体" pitchFamily="2" charset="-122"/>
                        </a:rPr>
                        <a:t>观念型战略定义</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dirty="0">
                          <a:ln>
                            <a:noFill/>
                          </a:ln>
                          <a:solidFill>
                            <a:schemeClr val="tx1"/>
                          </a:solidFill>
                          <a:effectLst/>
                          <a:latin typeface="Arial" pitchFamily="34" charset="0"/>
                          <a:ea typeface="宋体" pitchFamily="2" charset="-122"/>
                        </a:rPr>
                        <a:t>强调战略过程的集体意识，企业成员共享战略观念，形成一致的期望和行动。</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5624" name="Text Box 25"/>
          <p:cNvSpPr txBox="1">
            <a:spLocks noChangeArrowheads="1"/>
          </p:cNvSpPr>
          <p:nvPr/>
        </p:nvSpPr>
        <p:spPr bwMode="auto">
          <a:xfrm>
            <a:off x="395288" y="260350"/>
            <a:ext cx="8748712" cy="762000"/>
          </a:xfrm>
          <a:prstGeom prst="rect">
            <a:avLst/>
          </a:prstGeom>
          <a:noFill/>
          <a:ln w="9525">
            <a:noFill/>
            <a:miter lim="800000"/>
            <a:headEnd/>
            <a:tailEnd/>
          </a:ln>
        </p:spPr>
        <p:txBody>
          <a:bodyPr>
            <a:spAutoFit/>
          </a:bodyPr>
          <a:lstStyle/>
          <a:p>
            <a:pPr algn="ctr">
              <a:spcBef>
                <a:spcPct val="50000"/>
              </a:spcBef>
            </a:pPr>
            <a:r>
              <a:rPr lang="zh-CN" altLang="en-US" sz="4400" dirty="0">
                <a:solidFill>
                  <a:srgbClr val="FFFF00"/>
                </a:solidFill>
                <a:latin typeface="Rockwell"/>
                <a:ea typeface="黑体" pitchFamily="2" charset="-122"/>
              </a:rPr>
              <a:t>明茨伯格关于战略的五种定义分析</a:t>
            </a:r>
          </a:p>
        </p:txBody>
      </p:sp>
    </p:spTree>
  </p:cSld>
  <p:clrMapOvr>
    <a:masterClrMapping/>
  </p:clrMapOvr>
  <p:transition spd="med">
    <p:randomBar dir="ver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zh-CN" altLang="en-US" dirty="0"/>
              <a:t>战略是计划（</a:t>
            </a:r>
            <a:r>
              <a:rPr kumimoji="1" lang="en-US" altLang="zh-CN" dirty="0"/>
              <a:t>plan</a:t>
            </a:r>
            <a:r>
              <a:rPr kumimoji="1" lang="zh-CN" altLang="en-US" dirty="0"/>
              <a:t>）</a:t>
            </a:r>
          </a:p>
        </p:txBody>
      </p:sp>
      <p:sp>
        <p:nvSpPr>
          <p:cNvPr id="4" name="内容占位符 3"/>
          <p:cNvSpPr>
            <a:spLocks noGrp="1"/>
          </p:cNvSpPr>
          <p:nvPr>
            <p:ph idx="1"/>
          </p:nvPr>
        </p:nvSpPr>
        <p:spPr/>
        <p:txBody>
          <a:bodyPr/>
          <a:lstStyle/>
          <a:p>
            <a:r>
              <a:rPr kumimoji="1" lang="zh-CN" altLang="en-US" dirty="0"/>
              <a:t>高层管理者的事前和主动的计划行为</a:t>
            </a:r>
            <a:endParaRPr kumimoji="1" lang="en-US" altLang="zh-CN" dirty="0"/>
          </a:p>
          <a:p>
            <a:r>
              <a:rPr kumimoji="1" lang="zh-CN" altLang="en-US" dirty="0"/>
              <a:t>长期的、重大的全局的和根本性的</a:t>
            </a:r>
            <a:endParaRPr kumimoji="1" lang="en-US" altLang="zh-CN" dirty="0"/>
          </a:p>
          <a:p>
            <a:r>
              <a:rPr kumimoji="1" lang="zh-CN" altLang="en-US" dirty="0"/>
              <a:t>主要靠理性决策方法</a:t>
            </a:r>
            <a:endParaRPr kumimoji="1" lang="en-US" altLang="zh-CN" dirty="0"/>
          </a:p>
          <a:p>
            <a:pPr lvl="1"/>
            <a:r>
              <a:rPr kumimoji="1" lang="zh-CN" altLang="en-US" dirty="0"/>
              <a:t>开会、调查、预测</a:t>
            </a:r>
            <a:endParaRPr kumimoji="1" lang="en-US" altLang="zh-CN" dirty="0"/>
          </a:p>
          <a:p>
            <a:r>
              <a:rPr kumimoji="1" lang="zh-CN" altLang="en-US" dirty="0"/>
              <a:t>在准确预测与理性分析基础上，设定目标和实现目标的方法</a:t>
            </a:r>
          </a:p>
        </p:txBody>
      </p:sp>
    </p:spTree>
    <p:extLst>
      <p:ext uri="{BB962C8B-B14F-4D97-AF65-F5344CB8AC3E}">
        <p14:creationId xmlns:p14="http://schemas.microsoft.com/office/powerpoint/2010/main" val="33560180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zh-CN" altLang="en-US" dirty="0"/>
              <a:t>定位（</a:t>
            </a:r>
            <a:r>
              <a:rPr kumimoji="1" lang="en-US" altLang="zh-CN" dirty="0"/>
              <a:t>position</a:t>
            </a:r>
            <a:r>
              <a:rPr kumimoji="1" lang="zh-CN" altLang="en-US" dirty="0"/>
              <a:t>）和观念（</a:t>
            </a:r>
            <a:r>
              <a:rPr kumimoji="1" lang="en-US" altLang="zh-CN" dirty="0"/>
              <a:t>perspective</a:t>
            </a:r>
            <a:r>
              <a:rPr kumimoji="1" lang="zh-CN" altLang="en-US" dirty="0"/>
              <a:t>）</a:t>
            </a:r>
          </a:p>
        </p:txBody>
      </p:sp>
      <p:sp>
        <p:nvSpPr>
          <p:cNvPr id="3" name="内容占位符 2"/>
          <p:cNvSpPr>
            <a:spLocks noGrp="1"/>
          </p:cNvSpPr>
          <p:nvPr>
            <p:ph idx="1"/>
          </p:nvPr>
        </p:nvSpPr>
        <p:spPr/>
        <p:txBody>
          <a:bodyPr/>
          <a:lstStyle/>
          <a:p>
            <a:r>
              <a:rPr kumimoji="1" lang="zh-CN" altLang="en-US" dirty="0"/>
              <a:t>难以准确预测外部环境变化和竞争对手行为</a:t>
            </a:r>
            <a:endParaRPr kumimoji="1" lang="en-US" altLang="zh-CN" dirty="0"/>
          </a:p>
          <a:p>
            <a:r>
              <a:rPr kumimoji="1" lang="zh-CN" altLang="en-US" dirty="0"/>
              <a:t>战略的长期化、目标的定量化、战略的具体化难度大，且没必要</a:t>
            </a:r>
            <a:endParaRPr kumimoji="1" lang="en-US" altLang="zh-CN" dirty="0"/>
          </a:p>
          <a:p>
            <a:r>
              <a:rPr kumimoji="1" lang="zh-CN" altLang="en-US" dirty="0"/>
              <a:t>将战略作为一种定位或者观念更有利于企业做到既取舍清晰方向明确又灵活应对变化。</a:t>
            </a:r>
            <a:endParaRPr kumimoji="1" lang="en-US" altLang="zh-CN" dirty="0"/>
          </a:p>
          <a:p>
            <a:endParaRPr kumimoji="1" lang="zh-CN" altLang="en-US" dirty="0"/>
          </a:p>
        </p:txBody>
      </p:sp>
    </p:spTree>
    <p:extLst>
      <p:ext uri="{BB962C8B-B14F-4D97-AF65-F5344CB8AC3E}">
        <p14:creationId xmlns:p14="http://schemas.microsoft.com/office/powerpoint/2010/main" val="5743832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战略是一种行为模式（</a:t>
            </a:r>
            <a:r>
              <a:rPr kumimoji="1" lang="en-US" altLang="zh-CN" dirty="0"/>
              <a:t>pattern</a:t>
            </a:r>
            <a:r>
              <a:rPr kumimoji="1" lang="zh-CN" altLang="en-US" dirty="0"/>
              <a:t>）</a:t>
            </a:r>
          </a:p>
        </p:txBody>
      </p:sp>
      <p:sp>
        <p:nvSpPr>
          <p:cNvPr id="3" name="内容占位符 2"/>
          <p:cNvSpPr>
            <a:spLocks noGrp="1"/>
          </p:cNvSpPr>
          <p:nvPr>
            <p:ph idx="1"/>
          </p:nvPr>
        </p:nvSpPr>
        <p:spPr/>
        <p:txBody>
          <a:bodyPr/>
          <a:lstStyle/>
          <a:p>
            <a:r>
              <a:rPr kumimoji="1" lang="zh-CN" altLang="en-US" dirty="0"/>
              <a:t>模式是企业的过去</a:t>
            </a:r>
            <a:endParaRPr kumimoji="1" lang="en-US" altLang="zh-CN" dirty="0"/>
          </a:p>
          <a:p>
            <a:r>
              <a:rPr kumimoji="1" lang="zh-CN" altLang="en-US" dirty="0"/>
              <a:t>企业未来的战略决策会受到原有的行为模式的影响，从这个意义上说，战略是一种行为模式</a:t>
            </a:r>
            <a:endParaRPr kumimoji="1" lang="en-US" altLang="zh-CN" dirty="0"/>
          </a:p>
          <a:p>
            <a:r>
              <a:rPr kumimoji="1" lang="zh-CN" altLang="en-US" dirty="0"/>
              <a:t>价值判断、理念、观念、传统、惯例</a:t>
            </a:r>
            <a:endParaRPr kumimoji="1" lang="en-US" altLang="zh-CN" dirty="0"/>
          </a:p>
          <a:p>
            <a:endParaRPr kumimoji="1" lang="zh-CN" altLang="en-US" dirty="0"/>
          </a:p>
        </p:txBody>
      </p:sp>
    </p:spTree>
    <p:extLst>
      <p:ext uri="{BB962C8B-B14F-4D97-AF65-F5344CB8AC3E}">
        <p14:creationId xmlns:p14="http://schemas.microsoft.com/office/powerpoint/2010/main" val="16570396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战略是一种策略（</a:t>
            </a:r>
            <a:r>
              <a:rPr kumimoji="1" lang="en-US" altLang="zh-CN" dirty="0"/>
              <a:t>plot</a:t>
            </a:r>
            <a:r>
              <a:rPr kumimoji="1" lang="zh-CN" altLang="en-US" dirty="0"/>
              <a:t>）</a:t>
            </a:r>
          </a:p>
        </p:txBody>
      </p:sp>
      <p:sp>
        <p:nvSpPr>
          <p:cNvPr id="3" name="内容占位符 2"/>
          <p:cNvSpPr>
            <a:spLocks noGrp="1"/>
          </p:cNvSpPr>
          <p:nvPr>
            <p:ph idx="1"/>
          </p:nvPr>
        </p:nvSpPr>
        <p:spPr/>
        <p:txBody>
          <a:bodyPr/>
          <a:lstStyle/>
          <a:p>
            <a:r>
              <a:rPr kumimoji="1" lang="zh-CN" altLang="en-US" dirty="0"/>
              <a:t>竞争互动、互动创新</a:t>
            </a:r>
            <a:endParaRPr kumimoji="1" lang="en-US" altLang="zh-CN" dirty="0"/>
          </a:p>
          <a:p>
            <a:r>
              <a:rPr kumimoji="1" lang="zh-CN" altLang="en-US" dirty="0"/>
              <a:t>针对性、对抗性、博弈性</a:t>
            </a:r>
            <a:endParaRPr kumimoji="1" lang="en-US" altLang="zh-CN" dirty="0"/>
          </a:p>
          <a:p>
            <a:r>
              <a:rPr kumimoji="1" lang="zh-CN" altLang="en-US" dirty="0"/>
              <a:t>战略与策略的界限模糊，战略在实施中包括了策略手腕的内容，而这部分是否执行要取决于对手的反应。</a:t>
            </a:r>
            <a:endParaRPr kumimoji="1" lang="en-US" altLang="zh-CN" dirty="0"/>
          </a:p>
          <a:p>
            <a:r>
              <a:rPr kumimoji="1" lang="zh-CN" altLang="en-US" dirty="0"/>
              <a:t>电视剧</a:t>
            </a:r>
            <a:r>
              <a:rPr kumimoji="1" lang="zh-CN" altLang="zh-CN" dirty="0"/>
              <a:t>《</a:t>
            </a:r>
            <a:r>
              <a:rPr kumimoji="1" lang="zh-CN" altLang="en-US" dirty="0"/>
              <a:t>天道</a:t>
            </a:r>
            <a:r>
              <a:rPr kumimoji="1" lang="en-US" altLang="zh-CN" dirty="0"/>
              <a:t>》</a:t>
            </a:r>
            <a:endParaRPr kumimoji="1" lang="zh-CN" altLang="en-US" dirty="0"/>
          </a:p>
        </p:txBody>
      </p:sp>
    </p:spTree>
    <p:extLst>
      <p:ext uri="{BB962C8B-B14F-4D97-AF65-F5344CB8AC3E}">
        <p14:creationId xmlns:p14="http://schemas.microsoft.com/office/powerpoint/2010/main" val="35098802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战略管理</a:t>
            </a:r>
            <a:r>
              <a:rPr kumimoji="1" lang="en-US" altLang="zh-CN" dirty="0"/>
              <a:t>50</a:t>
            </a:r>
            <a:r>
              <a:rPr kumimoji="1" lang="zh-CN" altLang="en-US" dirty="0"/>
              <a:t>年</a:t>
            </a:r>
          </a:p>
        </p:txBody>
      </p:sp>
      <p:sp>
        <p:nvSpPr>
          <p:cNvPr id="3" name="内容占位符 2"/>
          <p:cNvSpPr>
            <a:spLocks noGrp="1"/>
          </p:cNvSpPr>
          <p:nvPr>
            <p:ph idx="1"/>
          </p:nvPr>
        </p:nvSpPr>
        <p:spPr/>
        <p:txBody>
          <a:bodyPr/>
          <a:lstStyle/>
          <a:p>
            <a:r>
              <a:rPr kumimoji="1" lang="en-US" altLang="zh-CN" sz="2400" dirty="0"/>
              <a:t>1974</a:t>
            </a:r>
            <a:r>
              <a:rPr kumimoji="1" lang="zh-CN" altLang="en-US" sz="2400" dirty="0"/>
              <a:t>年儒梅尔特</a:t>
            </a:r>
            <a:r>
              <a:rPr kumimoji="1" lang="en-US" altLang="zh-CN" sz="2400" dirty="0"/>
              <a:t>《</a:t>
            </a:r>
            <a:r>
              <a:rPr kumimoji="1" lang="zh-CN" altLang="en-US" sz="2400" dirty="0"/>
              <a:t>战略结构和经济绩效</a:t>
            </a:r>
            <a:r>
              <a:rPr kumimoji="1" lang="en-US" altLang="zh-CN" sz="2400" dirty="0"/>
              <a:t>》</a:t>
            </a:r>
          </a:p>
          <a:p>
            <a:pPr lvl="1"/>
            <a:r>
              <a:rPr kumimoji="1" lang="zh-CN" altLang="en-US" sz="2000" dirty="0"/>
              <a:t>多元化经营、协同效应、范围经济</a:t>
            </a:r>
            <a:endParaRPr kumimoji="1" lang="en-US" altLang="zh-CN" sz="2000" dirty="0"/>
          </a:p>
          <a:p>
            <a:pPr lvl="1"/>
            <a:r>
              <a:rPr kumimoji="1" lang="zh-CN" altLang="en-US" sz="2000" dirty="0"/>
              <a:t>一个企业的不同业务间共享研发、品牌和渠道</a:t>
            </a:r>
            <a:endParaRPr kumimoji="1" lang="en-US" altLang="zh-CN" sz="2000" dirty="0"/>
          </a:p>
          <a:p>
            <a:r>
              <a:rPr kumimoji="1" lang="zh-CN" altLang="en-US" sz="2400" dirty="0"/>
              <a:t>大企业支持的战略计划运动</a:t>
            </a:r>
            <a:endParaRPr kumimoji="1" lang="en-US" altLang="zh-CN" sz="2400" dirty="0"/>
          </a:p>
          <a:p>
            <a:pPr lvl="1"/>
            <a:r>
              <a:rPr kumimoji="1" lang="zh-CN" altLang="en-US" sz="2000" dirty="0"/>
              <a:t>在很多大企业里，战略计划部门所做的工作不过是部门职员每年自娱自乐的季节性游戏</a:t>
            </a:r>
            <a:endParaRPr kumimoji="1" lang="en-US" altLang="zh-CN" sz="2000" dirty="0"/>
          </a:p>
          <a:p>
            <a:r>
              <a:rPr kumimoji="1" lang="zh-CN" altLang="zh-CN" sz="2400" dirty="0"/>
              <a:t>2</a:t>
            </a:r>
            <a:r>
              <a:rPr kumimoji="1" lang="en-US" altLang="zh-CN" sz="2400" dirty="0"/>
              <a:t>0</a:t>
            </a:r>
            <a:r>
              <a:rPr kumimoji="1" lang="zh-CN" altLang="en-US" sz="2400" dirty="0"/>
              <a:t>世纪</a:t>
            </a:r>
            <a:r>
              <a:rPr kumimoji="1" lang="en-US" altLang="zh-CN" sz="2400" dirty="0"/>
              <a:t>70</a:t>
            </a:r>
            <a:r>
              <a:rPr kumimoji="1" lang="zh-CN" altLang="en-US" sz="2400" dirty="0"/>
              <a:t>年代后期</a:t>
            </a:r>
            <a:r>
              <a:rPr kumimoji="1" lang="zh-CN" altLang="zh-CN" sz="2400" dirty="0"/>
              <a:t>（</a:t>
            </a:r>
            <a:r>
              <a:rPr kumimoji="1" lang="en-US" altLang="zh-CN" sz="2400" dirty="0"/>
              <a:t>1978</a:t>
            </a:r>
            <a:r>
              <a:rPr kumimoji="1" lang="zh-CN" altLang="en-US" sz="2400" dirty="0"/>
              <a:t>），战略管理领域作为独立学科和研究领域的地位正式形成</a:t>
            </a:r>
            <a:endParaRPr kumimoji="1" lang="en-US" altLang="zh-CN" sz="2400" dirty="0"/>
          </a:p>
          <a:p>
            <a:r>
              <a:rPr kumimoji="1" lang="zh-CN" altLang="en-US" sz="2400" dirty="0"/>
              <a:t>波特革命</a:t>
            </a:r>
            <a:r>
              <a:rPr kumimoji="1" lang="en-US" altLang="zh-CN" sz="2400" dirty="0"/>
              <a:t>1980-1985</a:t>
            </a:r>
          </a:p>
          <a:p>
            <a:r>
              <a:rPr kumimoji="1" lang="zh-CN" altLang="en-US" sz="2400" dirty="0"/>
              <a:t>资源本位企业观</a:t>
            </a:r>
            <a:r>
              <a:rPr kumimoji="1" lang="en-US" altLang="zh-CN" sz="2400" dirty="0"/>
              <a:t>1984-1991</a:t>
            </a:r>
          </a:p>
          <a:p>
            <a:r>
              <a:rPr kumimoji="1" lang="zh-CN" altLang="en-US" sz="2400" dirty="0"/>
              <a:t>动态能力</a:t>
            </a:r>
            <a:r>
              <a:rPr kumimoji="1" lang="zh-CN" altLang="zh-CN" sz="2400" dirty="0"/>
              <a:t>，</a:t>
            </a:r>
            <a:r>
              <a:rPr kumimoji="1" lang="zh-CN" altLang="en-US" sz="2400" dirty="0"/>
              <a:t>持续热点</a:t>
            </a:r>
            <a:endParaRPr kumimoji="1" lang="en-US" altLang="zh-CN" sz="2400" dirty="0"/>
          </a:p>
          <a:p>
            <a:r>
              <a:rPr kumimoji="1" lang="zh-CN" altLang="en-US" sz="2400" dirty="0"/>
              <a:t>快速决策与内部创业</a:t>
            </a:r>
            <a:r>
              <a:rPr kumimoji="1" lang="en-US" altLang="zh-CN" sz="2400" dirty="0"/>
              <a:t>1989</a:t>
            </a:r>
          </a:p>
          <a:p>
            <a:r>
              <a:rPr kumimoji="1" lang="zh-CN" altLang="en-US" sz="2400" dirty="0"/>
              <a:t>知识本位企业观</a:t>
            </a:r>
            <a:r>
              <a:rPr kumimoji="1" lang="en-US" altLang="zh-CN" sz="2400" dirty="0"/>
              <a:t>1996</a:t>
            </a:r>
            <a:endParaRPr kumimoji="1" lang="zh-CN" altLang="en-US" sz="2400" dirty="0"/>
          </a:p>
        </p:txBody>
      </p:sp>
    </p:spTree>
    <p:extLst>
      <p:ext uri="{BB962C8B-B14F-4D97-AF65-F5344CB8AC3E}">
        <p14:creationId xmlns:p14="http://schemas.microsoft.com/office/powerpoint/2010/main" val="42203347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53536"/>
            <a:ext cx="8229600" cy="1143000"/>
          </a:xfrm>
        </p:spPr>
        <p:txBody>
          <a:bodyPr/>
          <a:lstStyle/>
          <a:p>
            <a:pPr marL="54864" indent="0" fontAlgn="auto">
              <a:spcAft>
                <a:spcPts val="0"/>
              </a:spcAft>
              <a:defRPr/>
            </a:pPr>
            <a:r>
              <a:rPr lang="zh-CN" altLang="en-US" dirty="0">
                <a:solidFill>
                  <a:schemeClr val="tx2">
                    <a:tint val="100000"/>
                    <a:shade val="90000"/>
                    <a:satMod val="250000"/>
                    <a:alpha val="100000"/>
                  </a:schemeClr>
                </a:solidFill>
                <a:cs typeface="+mj-cs"/>
              </a:rPr>
              <a:t>企业战略的构成要素</a:t>
            </a:r>
          </a:p>
        </p:txBody>
      </p:sp>
      <p:sp>
        <p:nvSpPr>
          <p:cNvPr id="27650" name="内容占位符 2"/>
          <p:cNvSpPr>
            <a:spLocks noGrp="1"/>
          </p:cNvSpPr>
          <p:nvPr>
            <p:ph idx="1"/>
          </p:nvPr>
        </p:nvSpPr>
        <p:spPr/>
        <p:txBody>
          <a:bodyPr/>
          <a:lstStyle/>
          <a:p>
            <a:r>
              <a:rPr lang="zh-CN" altLang="en-US"/>
              <a:t>经营范围：企业从事生产经营活动的领域</a:t>
            </a:r>
            <a:endParaRPr lang="en-US" altLang="zh-CN"/>
          </a:p>
          <a:p>
            <a:r>
              <a:rPr lang="zh-CN" altLang="en-US"/>
              <a:t>资源配置：</a:t>
            </a:r>
            <a:endParaRPr lang="en-US" altLang="zh-CN"/>
          </a:p>
          <a:p>
            <a:pPr lvl="1"/>
            <a:r>
              <a:rPr lang="zh-CN" altLang="en-US"/>
              <a:t>企业资源和技能配置的水平和模式</a:t>
            </a:r>
            <a:endParaRPr lang="en-US" altLang="zh-CN"/>
          </a:p>
          <a:p>
            <a:r>
              <a:rPr lang="zh-CN" altLang="en-US"/>
              <a:t>竞争优势</a:t>
            </a:r>
            <a:endParaRPr lang="en-US" altLang="zh-CN"/>
          </a:p>
          <a:p>
            <a:pPr lvl="1"/>
            <a:r>
              <a:rPr lang="zh-CN" altLang="en-US"/>
              <a:t>指企业通过其资源配置的模式与经营范围的决策在市场上形成的与其竞争对手不同的竞争地位</a:t>
            </a:r>
            <a:endParaRPr lang="en-US" altLang="zh-CN"/>
          </a:p>
          <a:p>
            <a:r>
              <a:rPr lang="zh-CN" altLang="en-US"/>
              <a:t>协同作用</a:t>
            </a:r>
            <a:endParaRPr lang="en-US" altLang="zh-CN"/>
          </a:p>
          <a:p>
            <a:pPr lvl="1"/>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2484438" y="188913"/>
            <a:ext cx="5616575" cy="981075"/>
          </a:xfrm>
        </p:spPr>
        <p:txBody>
          <a:bodyPr/>
          <a:lstStyle/>
          <a:p>
            <a:pPr marL="54864" indent="0" algn="l" fontAlgn="auto">
              <a:spcAft>
                <a:spcPts val="0"/>
              </a:spcAft>
              <a:defRPr/>
            </a:pPr>
            <a:r>
              <a:rPr lang="zh-CN" altLang="en-US" dirty="0">
                <a:solidFill>
                  <a:schemeClr val="tx2">
                    <a:tint val="100000"/>
                    <a:shade val="90000"/>
                    <a:satMod val="250000"/>
                    <a:alpha val="100000"/>
                  </a:schemeClr>
                </a:solidFill>
                <a:ea typeface="黑体" pitchFamily="2" charset="-122"/>
                <a:cs typeface="+mj-cs"/>
              </a:rPr>
              <a:t>企业战略的层次</a:t>
            </a:r>
          </a:p>
        </p:txBody>
      </p:sp>
      <p:sp>
        <p:nvSpPr>
          <p:cNvPr id="28674" name="Text Box 3"/>
          <p:cNvSpPr txBox="1">
            <a:spLocks noChangeArrowheads="1"/>
          </p:cNvSpPr>
          <p:nvPr/>
        </p:nvSpPr>
        <p:spPr bwMode="auto">
          <a:xfrm>
            <a:off x="250825" y="1214438"/>
            <a:ext cx="8642350" cy="5457825"/>
          </a:xfrm>
          <a:prstGeom prst="rect">
            <a:avLst/>
          </a:prstGeom>
          <a:noFill/>
          <a:ln w="9525">
            <a:noFill/>
            <a:miter lim="800000"/>
            <a:headEnd/>
            <a:tailEnd/>
          </a:ln>
        </p:spPr>
        <p:txBody>
          <a:bodyPr>
            <a:spAutoFit/>
          </a:bodyPr>
          <a:lstStyle/>
          <a:p>
            <a:pPr>
              <a:buFont typeface="Wingdings" pitchFamily="2" charset="2"/>
              <a:buChar char="u"/>
            </a:pPr>
            <a:r>
              <a:rPr lang="zh-CN" altLang="en-US" sz="3200" b="1">
                <a:latin typeface="Tahoma" pitchFamily="34" charset="0"/>
                <a:ea typeface="方正姚体"/>
              </a:rPr>
              <a:t>公司战略（</a:t>
            </a:r>
            <a:r>
              <a:rPr lang="en-US" altLang="zh-CN" sz="3200" b="1">
                <a:latin typeface="Tahoma" pitchFamily="34" charset="0"/>
                <a:ea typeface="方正姚体"/>
              </a:rPr>
              <a:t>Corporate Strategy</a:t>
            </a:r>
            <a:r>
              <a:rPr lang="zh-CN" altLang="en-US" sz="3200" b="1">
                <a:latin typeface="Tahoma" pitchFamily="34" charset="0"/>
                <a:ea typeface="方正姚体"/>
              </a:rPr>
              <a:t>）</a:t>
            </a:r>
            <a:r>
              <a:rPr lang="zh-CN" altLang="en-US" sz="2800" b="1">
                <a:latin typeface="Tahoma" pitchFamily="34" charset="0"/>
                <a:ea typeface="方正姚体"/>
              </a:rPr>
              <a:t>：企业整体的战略总纲，是企业最高管理层指导和控制企业行为的最高纲领。它强调两个主要问题：企业应该做什么业务？企业怎样去发展这些业务？</a:t>
            </a:r>
          </a:p>
          <a:p>
            <a:pPr>
              <a:buFont typeface="Wingdings" pitchFamily="2" charset="2"/>
              <a:buChar char="u"/>
            </a:pPr>
            <a:r>
              <a:rPr lang="zh-CN" altLang="en-US" sz="3200" b="1">
                <a:latin typeface="Tahoma" pitchFamily="34" charset="0"/>
                <a:ea typeface="方正姚体"/>
              </a:rPr>
              <a:t>事业部战略</a:t>
            </a:r>
            <a:r>
              <a:rPr lang="en-US" altLang="zh-CN" sz="3200" b="1">
                <a:latin typeface="Tahoma" pitchFamily="34" charset="0"/>
                <a:ea typeface="方正姚体"/>
              </a:rPr>
              <a:t>(SBU Strategy)</a:t>
            </a:r>
            <a:r>
              <a:rPr lang="zh-CN" altLang="en-US" sz="2800" b="1">
                <a:latin typeface="Tahoma" pitchFamily="34" charset="0"/>
                <a:ea typeface="方正姚体"/>
              </a:rPr>
              <a:t>：是在公司战略指导下，经营管理某一特定的“战略经营单位”</a:t>
            </a:r>
            <a:r>
              <a:rPr lang="zh-CN" altLang="en-US" sz="2800" b="1">
                <a:latin typeface="Tahoma" pitchFamily="34" charset="0"/>
                <a:ea typeface="方正姚体"/>
                <a:hlinkClick r:id="rId2" action="ppaction://hlinksldjump"/>
              </a:rPr>
              <a:t>（</a:t>
            </a:r>
            <a:r>
              <a:rPr lang="en-US" altLang="zh-CN" sz="2800" b="1">
                <a:latin typeface="Tahoma" pitchFamily="34" charset="0"/>
                <a:ea typeface="方正姚体"/>
                <a:hlinkClick r:id="rId3" action="ppaction://hlinksldjump"/>
              </a:rPr>
              <a:t>SBU</a:t>
            </a:r>
            <a:r>
              <a:rPr lang="zh-CN" altLang="en-US" sz="2800" b="1">
                <a:latin typeface="Tahoma" pitchFamily="34" charset="0"/>
                <a:ea typeface="方正姚体"/>
                <a:hlinkClick r:id="rId3" action="ppaction://hlinksldjump"/>
              </a:rPr>
              <a:t>）</a:t>
            </a:r>
            <a:r>
              <a:rPr lang="zh-CN" altLang="en-US" sz="2800" b="1">
                <a:latin typeface="Tahoma" pitchFamily="34" charset="0"/>
                <a:ea typeface="方正姚体"/>
              </a:rPr>
              <a:t>的战略计划，它是公司战略的子战略。其任务是改进</a:t>
            </a:r>
            <a:r>
              <a:rPr lang="en-US" altLang="zh-CN" sz="2800" b="1">
                <a:latin typeface="Tahoma" pitchFamily="34" charset="0"/>
                <a:ea typeface="方正姚体"/>
              </a:rPr>
              <a:t>SBU</a:t>
            </a:r>
            <a:r>
              <a:rPr lang="zh-CN" altLang="en-US" sz="2800" b="1">
                <a:latin typeface="Tahoma" pitchFamily="34" charset="0"/>
                <a:ea typeface="方正姚体"/>
              </a:rPr>
              <a:t>在其所从事的行业中产品或服务的竞争地位。</a:t>
            </a:r>
          </a:p>
          <a:p>
            <a:pPr>
              <a:buFont typeface="Wingdings" pitchFamily="2" charset="2"/>
              <a:buChar char="u"/>
            </a:pPr>
            <a:r>
              <a:rPr lang="zh-CN" altLang="en-US" sz="3200" b="1">
                <a:latin typeface="Tahoma" pitchFamily="34" charset="0"/>
                <a:ea typeface="方正姚体"/>
              </a:rPr>
              <a:t>职能战略</a:t>
            </a:r>
            <a:r>
              <a:rPr lang="en-US" altLang="zh-CN" sz="3200" b="1">
                <a:latin typeface="Tahoma" pitchFamily="34" charset="0"/>
                <a:ea typeface="方正姚体"/>
              </a:rPr>
              <a:t>(Functional Strategy)</a:t>
            </a:r>
            <a:r>
              <a:rPr lang="zh-CN" altLang="en-US" sz="2800" b="1">
                <a:latin typeface="Tahoma" pitchFamily="34" charset="0"/>
                <a:ea typeface="方正姚体"/>
              </a:rPr>
              <a:t>：是为贯彻、实施公司战略和事业战略而在企业特定的职能管理领域制定的战略。职能战略的重点是提高企业资源的利用效率，使资源利用效率达到最大化</a:t>
            </a:r>
            <a:r>
              <a:rPr lang="zh-CN" altLang="en-US" sz="3200" b="1">
                <a:latin typeface="Tahoma" pitchFamily="34" charset="0"/>
                <a:ea typeface="方正姚体"/>
                <a:hlinkClick r:id="rId4" action="ppaction://hlinksldjump"/>
              </a:rPr>
              <a:t>。</a:t>
            </a:r>
            <a:endParaRPr lang="zh-CN" altLang="en-US" sz="3200" b="1">
              <a:latin typeface="Tahoma" pitchFamily="34" charset="0"/>
              <a:ea typeface="方正姚体"/>
            </a:endParaRPr>
          </a:p>
        </p:txBody>
      </p:sp>
    </p:spTree>
  </p:cSld>
  <p:clrMapOvr>
    <a:masterClrMapping/>
  </p:clrMapOvr>
  <p:transition spd="med">
    <p:randomBar dir="ver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684213" y="0"/>
            <a:ext cx="8002587" cy="981075"/>
          </a:xfrm>
        </p:spPr>
        <p:txBody>
          <a:bodyPr/>
          <a:lstStyle/>
          <a:p>
            <a:pPr marL="54864" indent="0" fontAlgn="auto">
              <a:spcAft>
                <a:spcPts val="0"/>
              </a:spcAft>
              <a:defRPr/>
            </a:pPr>
            <a:r>
              <a:rPr lang="en-US" altLang="zh-CN" dirty="0">
                <a:solidFill>
                  <a:schemeClr val="tx2">
                    <a:tint val="100000"/>
                    <a:shade val="90000"/>
                    <a:satMod val="250000"/>
                    <a:alpha val="100000"/>
                  </a:schemeClr>
                </a:solidFill>
                <a:ea typeface="黑体" pitchFamily="2" charset="-122"/>
                <a:cs typeface="+mj-cs"/>
              </a:rPr>
              <a:t>   </a:t>
            </a:r>
            <a:r>
              <a:rPr lang="zh-CN" altLang="en-US" dirty="0">
                <a:solidFill>
                  <a:schemeClr val="tx2">
                    <a:tint val="100000"/>
                    <a:shade val="90000"/>
                    <a:satMod val="250000"/>
                    <a:alpha val="100000"/>
                  </a:schemeClr>
                </a:solidFill>
                <a:ea typeface="黑体" pitchFamily="2" charset="-122"/>
                <a:cs typeface="+mj-cs"/>
              </a:rPr>
              <a:t>战略管理及其过程</a:t>
            </a:r>
          </a:p>
        </p:txBody>
      </p:sp>
      <p:sp>
        <p:nvSpPr>
          <p:cNvPr id="29698" name="Rectangle 3"/>
          <p:cNvSpPr>
            <a:spLocks noGrp="1" noChangeArrowheads="1"/>
          </p:cNvSpPr>
          <p:nvPr>
            <p:ph type="body" idx="1"/>
          </p:nvPr>
        </p:nvSpPr>
        <p:spPr>
          <a:xfrm>
            <a:off x="250825" y="1412875"/>
            <a:ext cx="8893175" cy="5445125"/>
          </a:xfrm>
        </p:spPr>
        <p:txBody>
          <a:bodyPr/>
          <a:lstStyle/>
          <a:p>
            <a:pPr>
              <a:lnSpc>
                <a:spcPct val="90000"/>
              </a:lnSpc>
              <a:buFont typeface="Wingdings" pitchFamily="2" charset="2"/>
              <a:buNone/>
            </a:pPr>
            <a:r>
              <a:rPr lang="en-US" altLang="zh-CN" sz="4000" b="1"/>
              <a:t>   </a:t>
            </a:r>
            <a:r>
              <a:rPr lang="zh-CN" altLang="en-US" sz="4000" b="1"/>
              <a:t>一、</a:t>
            </a:r>
            <a:r>
              <a:rPr lang="zh-CN" altLang="en-US" sz="4400" b="1"/>
              <a:t>何谓战略管理？</a:t>
            </a:r>
          </a:p>
          <a:p>
            <a:pPr>
              <a:lnSpc>
                <a:spcPct val="90000"/>
              </a:lnSpc>
              <a:buFont typeface="Wingdings" pitchFamily="2" charset="2"/>
              <a:buNone/>
            </a:pPr>
            <a:r>
              <a:rPr lang="zh-CN" altLang="en-US"/>
              <a:t>   </a:t>
            </a:r>
            <a:r>
              <a:rPr lang="zh-CN" altLang="en-US" b="1"/>
              <a:t>战略管理</a:t>
            </a:r>
            <a:r>
              <a:rPr lang="en-US" altLang="zh-CN" b="1"/>
              <a:t>(Strategy Management)</a:t>
            </a:r>
            <a:r>
              <a:rPr lang="zh-CN" altLang="en-US" b="1"/>
              <a:t>一词最初是由美国学者安索夫于</a:t>
            </a:r>
            <a:r>
              <a:rPr lang="en-US" altLang="zh-CN" b="1"/>
              <a:t>1976</a:t>
            </a:r>
            <a:r>
              <a:rPr lang="zh-CN" altLang="en-US" b="1"/>
              <a:t>年在其所著的</a:t>
            </a:r>
            <a:r>
              <a:rPr lang="en-US" altLang="zh-CN" b="1"/>
              <a:t>《</a:t>
            </a:r>
            <a:r>
              <a:rPr lang="zh-CN" altLang="en-US" b="1"/>
              <a:t>从战略计划走向战略管理</a:t>
            </a:r>
            <a:r>
              <a:rPr lang="en-US" altLang="zh-CN" b="1"/>
              <a:t>》</a:t>
            </a:r>
            <a:r>
              <a:rPr lang="zh-CN" altLang="en-US" b="1"/>
              <a:t>一书中提出的。</a:t>
            </a:r>
          </a:p>
          <a:p>
            <a:pPr>
              <a:lnSpc>
                <a:spcPct val="90000"/>
              </a:lnSpc>
            </a:pPr>
            <a:r>
              <a:rPr lang="zh-CN" altLang="en-US" b="1">
                <a:solidFill>
                  <a:srgbClr val="FFFF00"/>
                </a:solidFill>
              </a:rPr>
              <a:t>安索夫</a:t>
            </a:r>
            <a:r>
              <a:rPr lang="zh-CN" altLang="en-US" b="1"/>
              <a:t>认为，企业战略管理是指将企业日常业务决策同长期计划决策相结合而形成的一系列经营管理业务。</a:t>
            </a:r>
            <a:endParaRPr lang="en-US" altLang="zh-CN" b="1"/>
          </a:p>
          <a:p>
            <a:pPr>
              <a:lnSpc>
                <a:spcPct val="90000"/>
              </a:lnSpc>
            </a:pPr>
            <a:r>
              <a:rPr lang="zh-CN" altLang="en-US" b="1">
                <a:solidFill>
                  <a:srgbClr val="FFFF00"/>
                </a:solidFill>
              </a:rPr>
              <a:t>格卢克</a:t>
            </a:r>
            <a:r>
              <a:rPr lang="zh-CN" altLang="en-US" b="1"/>
              <a:t>指出，战略管理是制定一种或几种有效的战略，以达到企业目标的一系列决策与行动。</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54864" indent="0" fontAlgn="auto">
              <a:spcAft>
                <a:spcPts val="0"/>
              </a:spcAft>
              <a:defRPr/>
            </a:pPr>
            <a:endParaRPr lang="zh-CN" altLang="en-US">
              <a:solidFill>
                <a:schemeClr val="tx2">
                  <a:tint val="100000"/>
                  <a:shade val="90000"/>
                  <a:satMod val="250000"/>
                  <a:alpha val="100000"/>
                </a:schemeClr>
              </a:solidFill>
              <a:cs typeface="+mj-cs"/>
            </a:endParaRPr>
          </a:p>
        </p:txBody>
      </p:sp>
      <p:sp>
        <p:nvSpPr>
          <p:cNvPr id="30722" name="内容占位符 2"/>
          <p:cNvSpPr>
            <a:spLocks noGrp="1"/>
          </p:cNvSpPr>
          <p:nvPr>
            <p:ph idx="1"/>
          </p:nvPr>
        </p:nvSpPr>
        <p:spPr/>
        <p:txBody>
          <a:bodyPr/>
          <a:lstStyle/>
          <a:p>
            <a:r>
              <a:rPr lang="zh-CN" altLang="en-US" b="1">
                <a:solidFill>
                  <a:srgbClr val="FFFF00"/>
                </a:solidFill>
              </a:rPr>
              <a:t>汤普森</a:t>
            </a:r>
            <a:r>
              <a:rPr lang="zh-CN" altLang="en-US" b="1"/>
              <a:t>阐明，战略管理是通过指明企业长远发展方向，建立具体业绩目标，根据有关的内部条件和外部环境，制定各种战略，进而执行所选择的行动计划，以达到业绩目标的过程。</a:t>
            </a:r>
            <a:endParaRPr lang="en-US" altLang="zh-CN" b="1"/>
          </a:p>
          <a:p>
            <a:r>
              <a:rPr lang="zh-CN" altLang="en-US" b="1">
                <a:solidFill>
                  <a:srgbClr val="FFFF00"/>
                </a:solidFill>
              </a:rPr>
              <a:t>斯坦纳</a:t>
            </a:r>
            <a:r>
              <a:rPr lang="zh-CN" altLang="en-US" b="1"/>
              <a:t>认为，企业战略管理确立企业使命，根据企业外部环境和内部经营要素设定企业目标，保证目标的正确落实并使企业使命最终实现的一个动态过程。</a:t>
            </a:r>
          </a:p>
          <a:p>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54864" indent="0" fontAlgn="auto">
              <a:spcAft>
                <a:spcPts val="0"/>
              </a:spcAft>
              <a:defRPr/>
            </a:pPr>
            <a:endParaRPr lang="zh-CN" altLang="en-US">
              <a:solidFill>
                <a:schemeClr val="tx2">
                  <a:tint val="100000"/>
                  <a:shade val="90000"/>
                  <a:satMod val="250000"/>
                  <a:alpha val="100000"/>
                </a:schemeClr>
              </a:solidFill>
              <a:cs typeface="+mj-cs"/>
            </a:endParaRPr>
          </a:p>
        </p:txBody>
      </p:sp>
      <p:sp>
        <p:nvSpPr>
          <p:cNvPr id="31746" name="内容占位符 2"/>
          <p:cNvSpPr>
            <a:spLocks noGrp="1"/>
          </p:cNvSpPr>
          <p:nvPr>
            <p:ph idx="1"/>
          </p:nvPr>
        </p:nvSpPr>
        <p:spPr/>
        <p:txBody>
          <a:bodyPr/>
          <a:lstStyle/>
          <a:p>
            <a:r>
              <a:rPr lang="zh-CN" altLang="en-US">
                <a:solidFill>
                  <a:srgbClr val="FFFF00"/>
                </a:solidFill>
              </a:rPr>
              <a:t>企业的战略管理是一个动态管理的过程，战略管理活动的重点是制定和实施战略。它是对企业的生产经营活动实行的总体性管理，是企业制定和实施战略的一系列管理决策和行为，其核心问题是使企业自身条件与环境相适应，求得企业的长期生存和发展。</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914400" y="260350"/>
            <a:ext cx="8229600" cy="865188"/>
          </a:xfrm>
        </p:spPr>
        <p:txBody>
          <a:bodyPr/>
          <a:lstStyle/>
          <a:p>
            <a:pPr marL="54864" indent="0" fontAlgn="auto">
              <a:spcAft>
                <a:spcPts val="0"/>
              </a:spcAft>
              <a:defRPr/>
            </a:pPr>
            <a:r>
              <a:rPr lang="zh-CN" altLang="en-US" dirty="0">
                <a:solidFill>
                  <a:schemeClr val="tx2">
                    <a:tint val="100000"/>
                    <a:shade val="90000"/>
                    <a:satMod val="250000"/>
                    <a:alpha val="100000"/>
                  </a:schemeClr>
                </a:solidFill>
                <a:ea typeface="黑体" pitchFamily="2" charset="-122"/>
                <a:cs typeface="+mj-cs"/>
              </a:rPr>
              <a:t>战略管理与业务管理的比较</a:t>
            </a:r>
          </a:p>
        </p:txBody>
      </p:sp>
      <p:graphicFrame>
        <p:nvGraphicFramePr>
          <p:cNvPr id="61469" name="Group 29"/>
          <p:cNvGraphicFramePr>
            <a:graphicFrameLocks noGrp="1"/>
          </p:cNvGraphicFramePr>
          <p:nvPr>
            <p:ph idx="1"/>
          </p:nvPr>
        </p:nvGraphicFramePr>
        <p:xfrm>
          <a:off x="611188" y="1628775"/>
          <a:ext cx="8229600" cy="4212591"/>
        </p:xfrm>
        <a:graphic>
          <a:graphicData uri="http://schemas.openxmlformats.org/drawingml/2006/table">
            <a:tbl>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584200">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4000" b="1" i="0" u="none" strike="noStrike" cap="none" normalizeH="0" baseline="0" dirty="0">
                          <a:ln>
                            <a:noFill/>
                          </a:ln>
                          <a:solidFill>
                            <a:srgbClr val="FFFF00"/>
                          </a:solidFill>
                          <a:effectLst/>
                          <a:latin typeface="Arial" pitchFamily="34" charset="0"/>
                          <a:ea typeface="宋体" pitchFamily="2" charset="-122"/>
                        </a:rPr>
                        <a:t>战略管理</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4000" b="1" i="0" u="none" strike="noStrike" cap="none" normalizeH="0" baseline="0">
                          <a:ln>
                            <a:noFill/>
                          </a:ln>
                          <a:solidFill>
                            <a:srgbClr val="FFFF00"/>
                          </a:solidFill>
                          <a:effectLst/>
                          <a:latin typeface="Arial" pitchFamily="34" charset="0"/>
                          <a:ea typeface="宋体" pitchFamily="2" charset="-122"/>
                        </a:rPr>
                        <a:t>业务管理</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88963">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dirty="0">
                          <a:ln>
                            <a:noFill/>
                          </a:ln>
                          <a:solidFill>
                            <a:schemeClr val="tx1"/>
                          </a:solidFill>
                          <a:effectLst/>
                          <a:latin typeface="Arial" pitchFamily="34" charset="0"/>
                          <a:ea typeface="宋体" pitchFamily="2" charset="-122"/>
                        </a:rPr>
                        <a:t>复杂</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dirty="0">
                          <a:ln>
                            <a:noFill/>
                          </a:ln>
                          <a:solidFill>
                            <a:schemeClr val="tx1"/>
                          </a:solidFill>
                          <a:effectLst/>
                          <a:latin typeface="Arial" pitchFamily="34" charset="0"/>
                          <a:ea typeface="宋体" pitchFamily="2" charset="-122"/>
                        </a:rPr>
                        <a:t>简单</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8800">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chemeClr val="tx1"/>
                          </a:solidFill>
                          <a:effectLst/>
                          <a:latin typeface="Arial" pitchFamily="34" charset="0"/>
                          <a:ea typeface="宋体" pitchFamily="2" charset="-122"/>
                        </a:rPr>
                        <a:t>非日常性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dirty="0">
                          <a:ln>
                            <a:noFill/>
                          </a:ln>
                          <a:solidFill>
                            <a:schemeClr val="tx1"/>
                          </a:solidFill>
                          <a:effectLst/>
                          <a:latin typeface="Arial" pitchFamily="34" charset="0"/>
                          <a:ea typeface="宋体" pitchFamily="2" charset="-122"/>
                        </a:rPr>
                        <a:t>日常性</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00075">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chemeClr val="tx1"/>
                          </a:solidFill>
                          <a:effectLst/>
                          <a:latin typeface="Arial" pitchFamily="34" charset="0"/>
                          <a:ea typeface="宋体" pitchFamily="2" charset="-122"/>
                        </a:rPr>
                        <a:t>整个组织范围</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dirty="0">
                          <a:ln>
                            <a:noFill/>
                          </a:ln>
                          <a:solidFill>
                            <a:schemeClr val="tx1"/>
                          </a:solidFill>
                          <a:effectLst/>
                          <a:latin typeface="Arial" pitchFamily="34" charset="0"/>
                          <a:ea typeface="宋体" pitchFamily="2" charset="-122"/>
                        </a:rPr>
                        <a:t>专业操作，经营</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87375">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chemeClr val="tx1"/>
                          </a:solidFill>
                          <a:effectLst/>
                          <a:latin typeface="Arial" pitchFamily="34" charset="0"/>
                          <a:ea typeface="宋体" pitchFamily="2" charset="-122"/>
                        </a:rPr>
                        <a:t>重要事情</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dirty="0">
                          <a:ln>
                            <a:noFill/>
                          </a:ln>
                          <a:solidFill>
                            <a:schemeClr val="tx1"/>
                          </a:solidFill>
                          <a:effectLst/>
                          <a:latin typeface="Arial" pitchFamily="34" charset="0"/>
                          <a:ea typeface="宋体" pitchFamily="2" charset="-122"/>
                        </a:rPr>
                        <a:t>常规事情</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88963">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chemeClr val="tx1"/>
                          </a:solidFill>
                          <a:effectLst/>
                          <a:latin typeface="Arial" pitchFamily="34" charset="0"/>
                          <a:ea typeface="宋体" pitchFamily="2" charset="-122"/>
                        </a:rPr>
                        <a:t>重大变化</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dirty="0">
                          <a:ln>
                            <a:noFill/>
                          </a:ln>
                          <a:solidFill>
                            <a:schemeClr val="tx1"/>
                          </a:solidFill>
                          <a:effectLst/>
                          <a:latin typeface="Arial" pitchFamily="34" charset="0"/>
                          <a:ea typeface="宋体" pitchFamily="2" charset="-122"/>
                        </a:rPr>
                        <a:t>小范围变化</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87375">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chemeClr val="tx1"/>
                          </a:solidFill>
                          <a:effectLst/>
                          <a:latin typeface="Arial" pitchFamily="34" charset="0"/>
                          <a:ea typeface="宋体" pitchFamily="2" charset="-122"/>
                        </a:rPr>
                        <a:t>以环境或期望为动力</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dirty="0">
                          <a:ln>
                            <a:noFill/>
                          </a:ln>
                          <a:solidFill>
                            <a:schemeClr val="tx1"/>
                          </a:solidFill>
                          <a:effectLst/>
                          <a:latin typeface="Arial" pitchFamily="34" charset="0"/>
                          <a:ea typeface="宋体" pitchFamily="2" charset="-122"/>
                        </a:rPr>
                        <a:t>以资源为动力</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1469"/>
                                        </p:tgtEl>
                                        <p:attrNameLst>
                                          <p:attrName>style.visibility</p:attrName>
                                        </p:attrNameLst>
                                      </p:cBhvr>
                                      <p:to>
                                        <p:strVal val="visible"/>
                                      </p:to>
                                    </p:set>
                                    <p:anim calcmode="lin" valueType="num">
                                      <p:cBhvr additive="base">
                                        <p:cTn id="7" dur="500" fill="hold"/>
                                        <p:tgtEl>
                                          <p:spTgt spid="61469"/>
                                        </p:tgtEl>
                                        <p:attrNameLst>
                                          <p:attrName>ppt_x</p:attrName>
                                        </p:attrNameLst>
                                      </p:cBhvr>
                                      <p:tavLst>
                                        <p:tav tm="0">
                                          <p:val>
                                            <p:strVal val="0-#ppt_w/2"/>
                                          </p:val>
                                        </p:tav>
                                        <p:tav tm="100000">
                                          <p:val>
                                            <p:strVal val="#ppt_x"/>
                                          </p:val>
                                        </p:tav>
                                      </p:tavLst>
                                    </p:anim>
                                    <p:anim calcmode="lin" valueType="num">
                                      <p:cBhvr additive="base">
                                        <p:cTn id="8" dur="500" fill="hold"/>
                                        <p:tgtEl>
                                          <p:spTgt spid="6146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53536"/>
            <a:ext cx="8229600" cy="1143000"/>
          </a:xfrm>
        </p:spPr>
        <p:txBody>
          <a:bodyPr/>
          <a:lstStyle/>
          <a:p>
            <a:pPr marL="54864" indent="0" fontAlgn="auto">
              <a:spcAft>
                <a:spcPts val="0"/>
              </a:spcAft>
              <a:defRPr/>
            </a:pPr>
            <a:r>
              <a:rPr lang="zh-CN" altLang="en-US" dirty="0">
                <a:solidFill>
                  <a:schemeClr val="tx2">
                    <a:tint val="100000"/>
                    <a:shade val="90000"/>
                    <a:satMod val="250000"/>
                    <a:alpha val="100000"/>
                  </a:schemeClr>
                </a:solidFill>
                <a:cs typeface="+mj-cs"/>
              </a:rPr>
              <a:t>战略管理过程</a:t>
            </a:r>
          </a:p>
        </p:txBody>
      </p:sp>
      <p:sp>
        <p:nvSpPr>
          <p:cNvPr id="4" name="矩形 3"/>
          <p:cNvSpPr/>
          <p:nvPr/>
        </p:nvSpPr>
        <p:spPr>
          <a:xfrm>
            <a:off x="2195513" y="2565400"/>
            <a:ext cx="1800225" cy="11509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zh-CN" altLang="en-US" dirty="0"/>
              <a:t>企业外部</a:t>
            </a:r>
            <a:endParaRPr lang="en-US" altLang="zh-CN" dirty="0"/>
          </a:p>
          <a:p>
            <a:pPr algn="ctr" fontAlgn="auto">
              <a:spcBef>
                <a:spcPts val="0"/>
              </a:spcBef>
              <a:spcAft>
                <a:spcPts val="0"/>
              </a:spcAft>
              <a:defRPr/>
            </a:pPr>
            <a:r>
              <a:rPr lang="zh-CN" altLang="en-US" dirty="0"/>
              <a:t>环境分析</a:t>
            </a:r>
          </a:p>
        </p:txBody>
      </p:sp>
      <p:sp>
        <p:nvSpPr>
          <p:cNvPr id="5" name="矩形 4"/>
          <p:cNvSpPr/>
          <p:nvPr/>
        </p:nvSpPr>
        <p:spPr>
          <a:xfrm>
            <a:off x="4427538" y="2565400"/>
            <a:ext cx="1800225" cy="11509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zh-CN" altLang="en-US" dirty="0"/>
              <a:t>企业内部</a:t>
            </a:r>
            <a:endParaRPr lang="en-US" altLang="zh-CN" dirty="0"/>
          </a:p>
          <a:p>
            <a:pPr algn="ctr" fontAlgn="auto">
              <a:spcBef>
                <a:spcPts val="0"/>
              </a:spcBef>
              <a:spcAft>
                <a:spcPts val="0"/>
              </a:spcAft>
              <a:defRPr/>
            </a:pPr>
            <a:r>
              <a:rPr lang="zh-CN" altLang="en-US" dirty="0"/>
              <a:t>条件分析</a:t>
            </a:r>
          </a:p>
        </p:txBody>
      </p:sp>
      <p:sp>
        <p:nvSpPr>
          <p:cNvPr id="6" name="矩形 5"/>
          <p:cNvSpPr/>
          <p:nvPr/>
        </p:nvSpPr>
        <p:spPr>
          <a:xfrm>
            <a:off x="395288" y="4292600"/>
            <a:ext cx="1223962" cy="1152525"/>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zh-CN" altLang="en-US" dirty="0"/>
              <a:t>确定使命与愿景</a:t>
            </a:r>
          </a:p>
        </p:txBody>
      </p:sp>
      <p:sp>
        <p:nvSpPr>
          <p:cNvPr id="7" name="矩形 6"/>
          <p:cNvSpPr/>
          <p:nvPr/>
        </p:nvSpPr>
        <p:spPr>
          <a:xfrm>
            <a:off x="1835150" y="4292600"/>
            <a:ext cx="1223963" cy="1152525"/>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zh-CN" altLang="en-US" dirty="0"/>
              <a:t>确定</a:t>
            </a:r>
            <a:endParaRPr lang="en-US" altLang="zh-CN" dirty="0"/>
          </a:p>
          <a:p>
            <a:pPr algn="ctr" fontAlgn="auto">
              <a:spcBef>
                <a:spcPts val="0"/>
              </a:spcBef>
              <a:spcAft>
                <a:spcPts val="0"/>
              </a:spcAft>
              <a:defRPr/>
            </a:pPr>
            <a:r>
              <a:rPr lang="zh-CN" altLang="en-US" dirty="0"/>
              <a:t>战略目标</a:t>
            </a:r>
          </a:p>
        </p:txBody>
      </p:sp>
      <p:sp>
        <p:nvSpPr>
          <p:cNvPr id="8" name="矩形 7"/>
          <p:cNvSpPr/>
          <p:nvPr/>
        </p:nvSpPr>
        <p:spPr>
          <a:xfrm>
            <a:off x="3348038" y="4292600"/>
            <a:ext cx="1223962" cy="1152525"/>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zh-CN" altLang="en-US" dirty="0"/>
              <a:t>确定</a:t>
            </a:r>
            <a:endParaRPr lang="en-US" altLang="zh-CN" dirty="0"/>
          </a:p>
          <a:p>
            <a:pPr algn="ctr" fontAlgn="auto">
              <a:spcBef>
                <a:spcPts val="0"/>
              </a:spcBef>
              <a:spcAft>
                <a:spcPts val="0"/>
              </a:spcAft>
              <a:defRPr/>
            </a:pPr>
            <a:r>
              <a:rPr lang="zh-CN" altLang="en-US" dirty="0"/>
              <a:t>战略方案</a:t>
            </a:r>
          </a:p>
        </p:txBody>
      </p:sp>
      <p:sp>
        <p:nvSpPr>
          <p:cNvPr id="9" name="矩形 8"/>
          <p:cNvSpPr/>
          <p:nvPr/>
        </p:nvSpPr>
        <p:spPr>
          <a:xfrm>
            <a:off x="4859338" y="4292600"/>
            <a:ext cx="1225550" cy="1152525"/>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zh-CN" altLang="en-US" dirty="0"/>
              <a:t>战略方案的评价与选择</a:t>
            </a:r>
          </a:p>
        </p:txBody>
      </p:sp>
      <p:sp>
        <p:nvSpPr>
          <p:cNvPr id="10" name="矩形 9"/>
          <p:cNvSpPr/>
          <p:nvPr/>
        </p:nvSpPr>
        <p:spPr>
          <a:xfrm>
            <a:off x="6335713" y="4292600"/>
            <a:ext cx="1223962" cy="1152525"/>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zh-CN" altLang="en-US" dirty="0"/>
              <a:t>确定职能部门的策略</a:t>
            </a:r>
          </a:p>
        </p:txBody>
      </p:sp>
      <p:sp>
        <p:nvSpPr>
          <p:cNvPr id="11" name="矩形 10"/>
          <p:cNvSpPr/>
          <p:nvPr/>
        </p:nvSpPr>
        <p:spPr>
          <a:xfrm>
            <a:off x="7740650" y="4292600"/>
            <a:ext cx="1223963" cy="1152525"/>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zh-CN" altLang="en-US" dirty="0"/>
              <a:t>战略实施与控制</a:t>
            </a:r>
          </a:p>
        </p:txBody>
      </p:sp>
      <p:grpSp>
        <p:nvGrpSpPr>
          <p:cNvPr id="33802" name="组合 27"/>
          <p:cNvGrpSpPr>
            <a:grpSpLocks/>
          </p:cNvGrpSpPr>
          <p:nvPr/>
        </p:nvGrpSpPr>
        <p:grpSpPr bwMode="auto">
          <a:xfrm>
            <a:off x="971550" y="4005263"/>
            <a:ext cx="7237413" cy="1079500"/>
            <a:chOff x="971600" y="3212976"/>
            <a:chExt cx="7236804" cy="1080118"/>
          </a:xfrm>
        </p:grpSpPr>
        <p:cxnSp>
          <p:nvCxnSpPr>
            <p:cNvPr id="13" name="直接连接符 12"/>
            <p:cNvCxnSpPr/>
            <p:nvPr/>
          </p:nvCxnSpPr>
          <p:spPr>
            <a:xfrm>
              <a:off x="971600" y="3212976"/>
              <a:ext cx="720029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endCxn id="6" idx="0"/>
            </p:cNvCxnSpPr>
            <p:nvPr/>
          </p:nvCxnSpPr>
          <p:spPr>
            <a:xfrm rot="16200000" flipH="1">
              <a:off x="846104" y="4131087"/>
              <a:ext cx="287502" cy="3651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rot="16200000" flipH="1">
              <a:off x="2358071" y="3339266"/>
              <a:ext cx="287501" cy="3492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rot="16200000" flipH="1">
              <a:off x="3798606" y="3338472"/>
              <a:ext cx="287501" cy="3651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rot="16200000" flipH="1">
              <a:off x="5310573" y="3339266"/>
              <a:ext cx="287501" cy="3492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rot="16200000" flipH="1">
              <a:off x="6750313" y="3339266"/>
              <a:ext cx="287501" cy="3492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rot="16200000" flipH="1">
              <a:off x="8046398" y="3338472"/>
              <a:ext cx="287501" cy="3651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23" name="直接连接符 22"/>
          <p:cNvCxnSpPr>
            <a:stCxn id="4" idx="2"/>
          </p:cNvCxnSpPr>
          <p:nvPr/>
        </p:nvCxnSpPr>
        <p:spPr>
          <a:xfrm rot="16200000" flipH="1">
            <a:off x="3473450" y="3338513"/>
            <a:ext cx="288925" cy="1044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5" idx="2"/>
          </p:cNvCxnSpPr>
          <p:nvPr/>
        </p:nvCxnSpPr>
        <p:spPr>
          <a:xfrm rot="5400000">
            <a:off x="4589462" y="3267076"/>
            <a:ext cx="288925" cy="118745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33805" name="组合 28"/>
          <p:cNvGrpSpPr>
            <a:grpSpLocks/>
          </p:cNvGrpSpPr>
          <p:nvPr/>
        </p:nvGrpSpPr>
        <p:grpSpPr bwMode="auto">
          <a:xfrm rot="10800000">
            <a:off x="1223963" y="5445125"/>
            <a:ext cx="7235825" cy="287338"/>
            <a:chOff x="971600" y="3212976"/>
            <a:chExt cx="7236804" cy="288033"/>
          </a:xfrm>
        </p:grpSpPr>
        <p:cxnSp>
          <p:nvCxnSpPr>
            <p:cNvPr id="30" name="直接连接符 29"/>
            <p:cNvCxnSpPr/>
            <p:nvPr/>
          </p:nvCxnSpPr>
          <p:spPr>
            <a:xfrm>
              <a:off x="974775" y="3211385"/>
              <a:ext cx="72002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rot="16200000" flipH="1">
              <a:off x="847430" y="3338734"/>
              <a:ext cx="288033" cy="3651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rot="16200000" flipH="1">
              <a:off x="2358935" y="3338734"/>
              <a:ext cx="288033" cy="3651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rot="16200000" flipH="1">
              <a:off x="3800580" y="3338734"/>
              <a:ext cx="288033" cy="3651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p:nvPr/>
          </p:nvCxnSpPr>
          <p:spPr>
            <a:xfrm rot="16200000" flipH="1">
              <a:off x="5313671" y="3338734"/>
              <a:ext cx="288033" cy="3651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rot="16200000" flipH="1">
              <a:off x="6753729" y="3338734"/>
              <a:ext cx="288033" cy="3651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rot="16200000" flipH="1">
              <a:off x="8049304" y="3338734"/>
              <a:ext cx="288033" cy="3651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38" name="直接箭头连接符 37"/>
          <p:cNvCxnSpPr>
            <a:stCxn id="6" idx="3"/>
            <a:endCxn id="7" idx="1"/>
          </p:cNvCxnSpPr>
          <p:nvPr/>
        </p:nvCxnSpPr>
        <p:spPr>
          <a:xfrm>
            <a:off x="1619250" y="4868863"/>
            <a:ext cx="215900" cy="15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endCxn id="8" idx="1"/>
          </p:cNvCxnSpPr>
          <p:nvPr/>
        </p:nvCxnSpPr>
        <p:spPr>
          <a:xfrm>
            <a:off x="3132138" y="4868863"/>
            <a:ext cx="215900" cy="15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a:off x="4572000" y="4868863"/>
            <a:ext cx="215900" cy="15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nvCxnSpPr>
        <p:spPr>
          <a:xfrm>
            <a:off x="6084888" y="4868863"/>
            <a:ext cx="215900" cy="15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a:off x="7524750" y="4868863"/>
            <a:ext cx="215900" cy="15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rot="5400000" flipH="1" flipV="1">
            <a:off x="-395287" y="3213100"/>
            <a:ext cx="2159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684213" y="2133600"/>
            <a:ext cx="460851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a:endCxn id="4" idx="0"/>
          </p:cNvCxnSpPr>
          <p:nvPr/>
        </p:nvCxnSpPr>
        <p:spPr>
          <a:xfrm rot="16200000" flipH="1">
            <a:off x="2861469" y="2331244"/>
            <a:ext cx="431800" cy="3651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p:nvPr/>
        </p:nvCxnSpPr>
        <p:spPr>
          <a:xfrm rot="16200000" flipH="1">
            <a:off x="5094288" y="2332037"/>
            <a:ext cx="431800" cy="3492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a:stCxn id="4" idx="3"/>
            <a:endCxn id="5" idx="1"/>
          </p:cNvCxnSpPr>
          <p:nvPr/>
        </p:nvCxnSpPr>
        <p:spPr>
          <a:xfrm>
            <a:off x="3995738" y="3141663"/>
            <a:ext cx="431800" cy="1587"/>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57200" y="253536"/>
            <a:ext cx="8229600" cy="1143000"/>
          </a:xfrm>
        </p:spPr>
        <p:txBody>
          <a:bodyPr/>
          <a:lstStyle/>
          <a:p>
            <a:pPr marL="54864" indent="0" fontAlgn="auto">
              <a:spcAft>
                <a:spcPts val="0"/>
              </a:spcAft>
              <a:defRPr/>
            </a:pPr>
            <a:r>
              <a:rPr lang="zh-CN" altLang="en-US" dirty="0">
                <a:solidFill>
                  <a:schemeClr val="tx2">
                    <a:tint val="100000"/>
                    <a:shade val="90000"/>
                    <a:satMod val="250000"/>
                    <a:alpha val="100000"/>
                  </a:schemeClr>
                </a:solidFill>
                <a:cs typeface="+mj-cs"/>
              </a:rPr>
              <a:t>使命</a:t>
            </a:r>
          </a:p>
        </p:txBody>
      </p:sp>
      <p:sp>
        <p:nvSpPr>
          <p:cNvPr id="142339" name="内容占位符 2"/>
          <p:cNvSpPr>
            <a:spLocks noGrp="1"/>
          </p:cNvSpPr>
          <p:nvPr>
            <p:ph idx="4294967295"/>
          </p:nvPr>
        </p:nvSpPr>
        <p:spPr/>
        <p:txBody>
          <a:bodyPr/>
          <a:lstStyle/>
          <a:p>
            <a:r>
              <a:rPr lang="zh-CN" altLang="en-US"/>
              <a:t>彼得</a:t>
            </a:r>
            <a:r>
              <a:rPr lang="en-US" altLang="zh-CN"/>
              <a:t>-</a:t>
            </a:r>
            <a:r>
              <a:rPr lang="zh-CN" altLang="en-US"/>
              <a:t>德鲁克，</a:t>
            </a:r>
            <a:r>
              <a:rPr lang="en-US" altLang="zh-CN"/>
              <a:t>20</a:t>
            </a:r>
            <a:r>
              <a:rPr lang="zh-CN" altLang="en-US"/>
              <a:t>世纪</a:t>
            </a:r>
            <a:r>
              <a:rPr lang="en-US" altLang="zh-CN"/>
              <a:t>70</a:t>
            </a:r>
            <a:r>
              <a:rPr lang="zh-CN" altLang="en-US"/>
              <a:t>年代</a:t>
            </a:r>
            <a:endParaRPr lang="en-US" altLang="zh-CN"/>
          </a:p>
          <a:p>
            <a:r>
              <a:rPr lang="zh-CN" altLang="en-US"/>
              <a:t>企业的业务是什么</a:t>
            </a:r>
            <a:r>
              <a:rPr lang="en-US" altLang="zh-CN"/>
              <a:t>=</a:t>
            </a:r>
            <a:r>
              <a:rPr lang="zh-CN" altLang="en-US"/>
              <a:t>企业的使命是什么</a:t>
            </a:r>
            <a:endParaRPr lang="en-US" altLang="zh-CN"/>
          </a:p>
          <a:p>
            <a:r>
              <a:rPr lang="zh-CN" altLang="en-US"/>
              <a:t>企业使命是阐明企业的根本性质及存在的目的或者理由，说明企业的经营领域、经营思想，为企业的目标的确立与战略的制定提供依据</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57200" y="253536"/>
            <a:ext cx="8229600" cy="1143000"/>
          </a:xfrm>
        </p:spPr>
        <p:txBody>
          <a:bodyPr/>
          <a:lstStyle/>
          <a:p>
            <a:pPr marL="54864" indent="0" fontAlgn="auto">
              <a:spcAft>
                <a:spcPts val="0"/>
              </a:spcAft>
              <a:defRPr/>
            </a:pPr>
            <a:r>
              <a:rPr lang="zh-CN" altLang="en-US" dirty="0">
                <a:solidFill>
                  <a:schemeClr val="tx2">
                    <a:tint val="100000"/>
                    <a:shade val="90000"/>
                    <a:satMod val="250000"/>
                    <a:alpha val="100000"/>
                  </a:schemeClr>
                </a:solidFill>
                <a:cs typeface="+mj-cs"/>
              </a:rPr>
              <a:t>使命的确定</a:t>
            </a:r>
          </a:p>
        </p:txBody>
      </p:sp>
      <p:sp>
        <p:nvSpPr>
          <p:cNvPr id="143363" name="内容占位符 2"/>
          <p:cNvSpPr>
            <a:spLocks noGrp="1"/>
          </p:cNvSpPr>
          <p:nvPr>
            <p:ph idx="4294967295"/>
          </p:nvPr>
        </p:nvSpPr>
        <p:spPr/>
        <p:txBody>
          <a:bodyPr/>
          <a:lstStyle/>
          <a:p>
            <a:r>
              <a:rPr lang="zh-CN" altLang="en-US"/>
              <a:t>确定企业的经营领域</a:t>
            </a:r>
            <a:endParaRPr lang="en-US" altLang="zh-CN"/>
          </a:p>
          <a:p>
            <a:r>
              <a:rPr lang="zh-CN" altLang="en-US"/>
              <a:t>注重企业所承担的社会责任</a:t>
            </a:r>
            <a:endParaRPr lang="en-US" altLang="zh-CN"/>
          </a:p>
          <a:p>
            <a:r>
              <a:rPr lang="zh-CN" altLang="en-US"/>
              <a:t>企业文化</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57200" y="253536"/>
            <a:ext cx="8229600" cy="1143000"/>
          </a:xfrm>
        </p:spPr>
        <p:txBody>
          <a:bodyPr/>
          <a:lstStyle/>
          <a:p>
            <a:pPr marL="54864" indent="0" fontAlgn="auto">
              <a:spcAft>
                <a:spcPts val="0"/>
              </a:spcAft>
              <a:defRPr/>
            </a:pPr>
            <a:r>
              <a:rPr lang="zh-CN" altLang="en-US" dirty="0">
                <a:solidFill>
                  <a:schemeClr val="tx2">
                    <a:tint val="100000"/>
                    <a:shade val="90000"/>
                    <a:satMod val="250000"/>
                    <a:alpha val="100000"/>
                  </a:schemeClr>
                </a:solidFill>
                <a:cs typeface="+mj-cs"/>
              </a:rPr>
              <a:t>确定企业的经营领域</a:t>
            </a:r>
          </a:p>
        </p:txBody>
      </p:sp>
      <p:sp>
        <p:nvSpPr>
          <p:cNvPr id="144387" name="内容占位符 2"/>
          <p:cNvSpPr>
            <a:spLocks noGrp="1"/>
          </p:cNvSpPr>
          <p:nvPr>
            <p:ph idx="4294967295"/>
          </p:nvPr>
        </p:nvSpPr>
        <p:spPr/>
        <p:txBody>
          <a:bodyPr/>
          <a:lstStyle/>
          <a:p>
            <a:r>
              <a:rPr lang="zh-CN" altLang="en-US"/>
              <a:t>企业的性质和任务</a:t>
            </a:r>
            <a:endParaRPr lang="en-US" altLang="zh-CN"/>
          </a:p>
          <a:p>
            <a:r>
              <a:rPr lang="zh-CN" altLang="en-US"/>
              <a:t>稳定</a:t>
            </a:r>
            <a:endParaRPr lang="en-US" altLang="zh-CN"/>
          </a:p>
          <a:p>
            <a:r>
              <a:rPr lang="zh-CN" altLang="en-US"/>
              <a:t>随社会、技术、需求的变化而发展变化</a:t>
            </a:r>
            <a:endParaRPr lang="en-US" altLang="zh-CN"/>
          </a:p>
          <a:p>
            <a:r>
              <a:rPr lang="zh-CN" altLang="en-US"/>
              <a:t>决定要素</a:t>
            </a:r>
            <a:endParaRPr lang="en-US" altLang="zh-CN"/>
          </a:p>
          <a:p>
            <a:pPr lvl="1"/>
            <a:r>
              <a:rPr lang="zh-CN" altLang="en-US"/>
              <a:t>企业的历史</a:t>
            </a:r>
            <a:endParaRPr lang="en-US" altLang="zh-CN"/>
          </a:p>
          <a:p>
            <a:pPr lvl="1"/>
            <a:r>
              <a:rPr lang="zh-CN" altLang="en-US"/>
              <a:t>领导人的偏好</a:t>
            </a:r>
            <a:endParaRPr lang="en-US" altLang="zh-CN"/>
          </a:p>
          <a:p>
            <a:pPr lvl="1"/>
            <a:r>
              <a:rPr lang="zh-CN" altLang="en-US"/>
              <a:t>企业的内外环境要素</a:t>
            </a:r>
            <a:endParaRPr lang="en-US" altLang="zh-CN"/>
          </a:p>
          <a:p>
            <a:pPr lvl="1"/>
            <a:r>
              <a:rPr lang="zh-CN" altLang="en-US"/>
              <a:t>企业的资源</a:t>
            </a:r>
            <a:endParaRPr lang="en-US" altLang="zh-CN"/>
          </a:p>
          <a:p>
            <a:pPr lvl="1"/>
            <a:r>
              <a:rPr lang="zh-CN" altLang="en-US"/>
              <a:t>企业的管理能力</a:t>
            </a:r>
            <a:endParaRPr lang="en-US" altLang="zh-CN"/>
          </a:p>
          <a:p>
            <a:pPr lvl="1"/>
            <a:endParaRPr lang="zh-CN"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57200" y="253536"/>
            <a:ext cx="8229600" cy="1143000"/>
          </a:xfrm>
        </p:spPr>
        <p:txBody>
          <a:bodyPr>
            <a:normAutofit fontScale="90000"/>
          </a:bodyPr>
          <a:lstStyle/>
          <a:p>
            <a:pPr marL="54864" indent="0" fontAlgn="auto">
              <a:spcAft>
                <a:spcPts val="0"/>
              </a:spcAft>
              <a:defRPr/>
            </a:pPr>
            <a:r>
              <a:rPr lang="zh-CN" altLang="en-US" sz="4400" dirty="0">
                <a:solidFill>
                  <a:schemeClr val="tx2">
                    <a:tint val="100000"/>
                    <a:shade val="90000"/>
                    <a:satMod val="250000"/>
                    <a:alpha val="100000"/>
                  </a:schemeClr>
                </a:solidFill>
                <a:cs typeface="+mj-cs"/>
              </a:rPr>
              <a:t>用市场导向观念确定企业经营领域</a:t>
            </a:r>
          </a:p>
        </p:txBody>
      </p:sp>
      <p:sp>
        <p:nvSpPr>
          <p:cNvPr id="145411" name="内容占位符 2"/>
          <p:cNvSpPr>
            <a:spLocks noGrp="1"/>
          </p:cNvSpPr>
          <p:nvPr>
            <p:ph idx="4294967295"/>
          </p:nvPr>
        </p:nvSpPr>
        <p:spPr/>
        <p:txBody>
          <a:bodyPr/>
          <a:lstStyle/>
          <a:p>
            <a:r>
              <a:rPr lang="zh-CN" altLang="en-US"/>
              <a:t>企业的经营是顾客需求的满足过程而非产品生产过程</a:t>
            </a:r>
            <a:endParaRPr lang="en-US" altLang="zh-CN"/>
          </a:p>
          <a:p>
            <a:r>
              <a:rPr lang="zh-CN" altLang="en-US"/>
              <a:t>产品短暂而顾客的需要和顾客是永恒的</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idx="4294967295"/>
          </p:nvPr>
        </p:nvSpPr>
        <p:spPr>
          <a:xfrm>
            <a:off x="457200" y="253536"/>
            <a:ext cx="8229600" cy="1143000"/>
          </a:xfrm>
        </p:spPr>
        <p:txBody>
          <a:bodyPr/>
          <a:lstStyle/>
          <a:p>
            <a:pPr marL="54864" indent="0" algn="l" fontAlgn="auto">
              <a:spcAft>
                <a:spcPts val="0"/>
              </a:spcAft>
              <a:defRPr/>
            </a:pPr>
            <a:r>
              <a:rPr lang="en-US" altLang="zh-CN">
                <a:solidFill>
                  <a:schemeClr val="tx2">
                    <a:tint val="100000"/>
                    <a:shade val="90000"/>
                    <a:satMod val="250000"/>
                    <a:alpha val="100000"/>
                  </a:schemeClr>
                </a:solidFill>
                <a:cs typeface="+mj-cs"/>
              </a:rPr>
              <a:t>         </a:t>
            </a:r>
            <a:r>
              <a:rPr lang="zh-CN" altLang="en-US" b="1">
                <a:solidFill>
                  <a:schemeClr val="tx2">
                    <a:tint val="100000"/>
                    <a:shade val="90000"/>
                    <a:satMod val="250000"/>
                    <a:alpha val="100000"/>
                  </a:schemeClr>
                </a:solidFill>
                <a:cs typeface="+mj-cs"/>
              </a:rPr>
              <a:t>一首歌谣</a:t>
            </a:r>
          </a:p>
        </p:txBody>
      </p:sp>
      <p:sp>
        <p:nvSpPr>
          <p:cNvPr id="146435" name="Rectangle 3"/>
          <p:cNvSpPr>
            <a:spLocks noGrp="1" noChangeArrowheads="1"/>
          </p:cNvSpPr>
          <p:nvPr>
            <p:ph type="body" idx="4294967295"/>
          </p:nvPr>
        </p:nvSpPr>
        <p:spPr>
          <a:xfrm>
            <a:off x="323850" y="1676400"/>
            <a:ext cx="8820150" cy="4525963"/>
          </a:xfrm>
        </p:spPr>
        <p:txBody>
          <a:bodyPr/>
          <a:lstStyle/>
          <a:p>
            <a:pPr>
              <a:lnSpc>
                <a:spcPct val="90000"/>
              </a:lnSpc>
            </a:pPr>
            <a:r>
              <a:rPr lang="zh-CN" altLang="en-US" sz="2400" b="1"/>
              <a:t>不要给我东西。</a:t>
            </a:r>
          </a:p>
          <a:p>
            <a:pPr>
              <a:lnSpc>
                <a:spcPct val="90000"/>
              </a:lnSpc>
            </a:pPr>
            <a:r>
              <a:rPr lang="zh-CN" altLang="en-US" sz="2400" b="1"/>
              <a:t>不要给我衣服，我要的是迷人的外表。</a:t>
            </a:r>
          </a:p>
          <a:p>
            <a:pPr>
              <a:lnSpc>
                <a:spcPct val="90000"/>
              </a:lnSpc>
            </a:pPr>
            <a:r>
              <a:rPr lang="zh-CN" altLang="en-US" sz="2400" b="1"/>
              <a:t>不要给我鞋子，我要的是两脚舒服，走路轻松。</a:t>
            </a:r>
          </a:p>
          <a:p>
            <a:pPr>
              <a:lnSpc>
                <a:spcPct val="90000"/>
              </a:lnSpc>
            </a:pPr>
            <a:r>
              <a:rPr lang="zh-CN" altLang="en-US" sz="2400" b="1"/>
              <a:t>不要给我房子，我要的是安全、温暖、洁净和欢乐。</a:t>
            </a:r>
          </a:p>
          <a:p>
            <a:pPr>
              <a:lnSpc>
                <a:spcPct val="90000"/>
              </a:lnSpc>
            </a:pPr>
            <a:r>
              <a:rPr lang="zh-CN" altLang="en-US" sz="2400" b="1"/>
              <a:t>不要给我书籍，我要的是阅读的愉悦与知识的满足。</a:t>
            </a:r>
          </a:p>
          <a:p>
            <a:pPr>
              <a:lnSpc>
                <a:spcPct val="90000"/>
              </a:lnSpc>
            </a:pPr>
            <a:r>
              <a:rPr lang="zh-CN" altLang="en-US" sz="2400" b="1"/>
              <a:t>不要给我磁带，我要的是美妙动听的乐曲。</a:t>
            </a:r>
          </a:p>
          <a:p>
            <a:pPr>
              <a:lnSpc>
                <a:spcPct val="90000"/>
              </a:lnSpc>
            </a:pPr>
            <a:r>
              <a:rPr lang="zh-CN" altLang="en-US" sz="2400" b="1"/>
              <a:t>不要给我家具，我要的是舒适、美观和方便。</a:t>
            </a:r>
          </a:p>
          <a:p>
            <a:pPr>
              <a:lnSpc>
                <a:spcPct val="90000"/>
              </a:lnSpc>
            </a:pPr>
            <a:r>
              <a:rPr lang="zh-CN" altLang="en-US" sz="2400" b="1"/>
              <a:t>不要给我东西，我要的是想法、情绪、气氛、感觉和收益。</a:t>
            </a:r>
          </a:p>
          <a:p>
            <a:pPr>
              <a:lnSpc>
                <a:spcPct val="90000"/>
              </a:lnSpc>
            </a:pPr>
            <a:r>
              <a:rPr lang="en-US" altLang="zh-CN" sz="2400" b="1"/>
              <a:t>…………</a:t>
            </a:r>
          </a:p>
          <a:p>
            <a:pPr>
              <a:lnSpc>
                <a:spcPct val="90000"/>
              </a:lnSpc>
            </a:pPr>
            <a:r>
              <a:rPr lang="zh-CN" altLang="en-US" sz="2400" b="1"/>
              <a:t>请，不要给我东西。</a:t>
            </a:r>
          </a:p>
          <a:p>
            <a:pPr>
              <a:lnSpc>
                <a:spcPct val="90000"/>
              </a:lnSpc>
            </a:pPr>
            <a:endParaRPr lang="en-US" altLang="zh-CN" sz="2400" b="1"/>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idx="4294967295"/>
          </p:nvPr>
        </p:nvSpPr>
        <p:spPr>
          <a:xfrm>
            <a:off x="0" y="274638"/>
            <a:ext cx="9144000" cy="777875"/>
          </a:xfrm>
        </p:spPr>
        <p:txBody>
          <a:bodyPr/>
          <a:lstStyle/>
          <a:p>
            <a:pPr marL="54864" indent="0" fontAlgn="auto">
              <a:spcAft>
                <a:spcPts val="0"/>
              </a:spcAft>
              <a:defRPr/>
            </a:pPr>
            <a:r>
              <a:rPr lang="zh-CN" altLang="en-US" sz="3200" b="1" dirty="0">
                <a:solidFill>
                  <a:srgbClr val="FFFF66"/>
                </a:solidFill>
                <a:cs typeface="+mj-cs"/>
              </a:rPr>
              <a:t>比较“需求导向”</a:t>
            </a:r>
            <a:r>
              <a:rPr lang="zh-CN" altLang="en-US" sz="3200" b="1" dirty="0">
                <a:solidFill>
                  <a:schemeClr val="tx1"/>
                </a:solidFill>
                <a:cs typeface="+mj-cs"/>
              </a:rPr>
              <a:t>与</a:t>
            </a:r>
            <a:r>
              <a:rPr lang="zh-CN" altLang="en-US" sz="3200" dirty="0">
                <a:solidFill>
                  <a:schemeClr val="tx1"/>
                </a:solidFill>
                <a:cs typeface="+mj-cs"/>
                <a:hlinkClick r:id="rId2" action="ppaction://hlinksldjump"/>
              </a:rPr>
              <a:t>“产品导向”</a:t>
            </a:r>
            <a:r>
              <a:rPr lang="zh-CN" altLang="en-US" sz="3200" b="1" dirty="0">
                <a:solidFill>
                  <a:srgbClr val="FFFF99"/>
                </a:solidFill>
                <a:cs typeface="+mj-cs"/>
              </a:rPr>
              <a:t>表述使命</a:t>
            </a:r>
          </a:p>
        </p:txBody>
      </p:sp>
      <p:graphicFrame>
        <p:nvGraphicFramePr>
          <p:cNvPr id="123933" name="Group 29"/>
          <p:cNvGraphicFramePr>
            <a:graphicFrameLocks noGrp="1"/>
          </p:cNvGraphicFramePr>
          <p:nvPr>
            <p:ph idx="4294967295"/>
          </p:nvPr>
        </p:nvGraphicFramePr>
        <p:xfrm>
          <a:off x="611188" y="1412875"/>
          <a:ext cx="8229600" cy="5099749"/>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1258888">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800" b="1" i="0" u="none" strike="noStrike" cap="none" normalizeH="0" baseline="0" dirty="0">
                          <a:ln>
                            <a:noFill/>
                          </a:ln>
                          <a:solidFill>
                            <a:srgbClr val="FFFF66"/>
                          </a:solidFill>
                          <a:effectLst/>
                          <a:latin typeface="Arial" charset="0"/>
                          <a:ea typeface="宋体" pitchFamily="2" charset="-122"/>
                        </a:rPr>
                        <a:t>       </a:t>
                      </a:r>
                      <a:r>
                        <a:rPr kumimoji="0" lang="zh-CN" altLang="en-US" sz="2800" b="1" i="0" u="none" strike="noStrike" cap="none" normalizeH="0" baseline="0" dirty="0">
                          <a:ln>
                            <a:noFill/>
                          </a:ln>
                          <a:solidFill>
                            <a:srgbClr val="FFFF66"/>
                          </a:solidFill>
                          <a:effectLst/>
                          <a:latin typeface="Arial" charset="0"/>
                          <a:ea typeface="宋体" pitchFamily="2" charset="-122"/>
                        </a:rPr>
                        <a:t>公  司</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800" b="1" i="0" u="none" strike="noStrike" cap="none" normalizeH="0" baseline="0">
                          <a:ln>
                            <a:noFill/>
                          </a:ln>
                          <a:solidFill>
                            <a:srgbClr val="FFFF66"/>
                          </a:solidFill>
                          <a:effectLst/>
                          <a:latin typeface="Tahoma"/>
                          <a:ea typeface="宋体" pitchFamily="2" charset="-122"/>
                        </a:rPr>
                        <a:t>“</a:t>
                      </a:r>
                      <a:r>
                        <a:rPr kumimoji="0" lang="zh-CN" altLang="en-US" sz="2800" b="1" i="0" u="none" strike="noStrike" cap="none" normalizeH="0" baseline="0">
                          <a:ln>
                            <a:noFill/>
                          </a:ln>
                          <a:solidFill>
                            <a:srgbClr val="FFFF66"/>
                          </a:solidFill>
                          <a:effectLst/>
                          <a:latin typeface="Arial" charset="0"/>
                          <a:ea typeface="宋体" pitchFamily="2" charset="-122"/>
                        </a:rPr>
                        <a:t>产品导向</a:t>
                      </a:r>
                      <a:r>
                        <a:rPr kumimoji="0" lang="zh-CN" altLang="en-US" sz="2800" b="1" i="0" u="none" strike="noStrike" cap="none" normalizeH="0" baseline="0">
                          <a:ln>
                            <a:noFill/>
                          </a:ln>
                          <a:solidFill>
                            <a:srgbClr val="FFFF66"/>
                          </a:solidFill>
                          <a:effectLst/>
                          <a:latin typeface="Tahoma"/>
                          <a:ea typeface="宋体" pitchFamily="2" charset="-122"/>
                        </a:rPr>
                        <a:t>”</a:t>
                      </a:r>
                      <a:endParaRPr kumimoji="0" lang="zh-CN" altLang="en-US" sz="2800" b="1" i="0" u="none" strike="noStrike" cap="none" normalizeH="0" baseline="0">
                        <a:ln>
                          <a:noFill/>
                        </a:ln>
                        <a:solidFill>
                          <a:srgbClr val="FFFF66"/>
                        </a:solidFill>
                        <a:effectLst/>
                        <a:latin typeface="Arial"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rgbClr val="FFFF66"/>
                          </a:solidFill>
                          <a:effectLst/>
                          <a:latin typeface="Arial" charset="0"/>
                          <a:ea typeface="宋体" pitchFamily="2" charset="-122"/>
                        </a:rPr>
                        <a:t>表述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800" b="1" i="0" u="none" strike="noStrike" cap="none" normalizeH="0" baseline="0">
                          <a:ln>
                            <a:noFill/>
                          </a:ln>
                          <a:solidFill>
                            <a:srgbClr val="FFFF66"/>
                          </a:solidFill>
                          <a:effectLst/>
                          <a:latin typeface="Tahoma"/>
                          <a:ea typeface="宋体" pitchFamily="2" charset="-122"/>
                        </a:rPr>
                        <a:t>“</a:t>
                      </a:r>
                      <a:r>
                        <a:rPr kumimoji="0" lang="zh-CN" altLang="en-US" sz="2800" b="1" i="0" u="none" strike="noStrike" cap="none" normalizeH="0" baseline="0">
                          <a:ln>
                            <a:noFill/>
                          </a:ln>
                          <a:solidFill>
                            <a:srgbClr val="FFFF66"/>
                          </a:solidFill>
                          <a:effectLst/>
                          <a:latin typeface="Arial" charset="0"/>
                          <a:ea typeface="宋体" pitchFamily="2" charset="-122"/>
                        </a:rPr>
                        <a:t>需求导向</a:t>
                      </a:r>
                      <a:r>
                        <a:rPr kumimoji="0" lang="zh-CN" altLang="en-US" sz="2800" b="1" i="0" u="none" strike="noStrike" cap="none" normalizeH="0" baseline="0">
                          <a:ln>
                            <a:noFill/>
                          </a:ln>
                          <a:solidFill>
                            <a:srgbClr val="FFFF66"/>
                          </a:solidFill>
                          <a:effectLst/>
                          <a:latin typeface="Tahoma"/>
                          <a:ea typeface="宋体" pitchFamily="2" charset="-122"/>
                        </a:rPr>
                        <a:t>”</a:t>
                      </a:r>
                      <a:endParaRPr kumimoji="0" lang="zh-CN" altLang="en-US" sz="2800" b="1" i="0" u="none" strike="noStrike" cap="none" normalizeH="0" baseline="0">
                        <a:ln>
                          <a:noFill/>
                        </a:ln>
                        <a:solidFill>
                          <a:srgbClr val="FFFF66"/>
                        </a:solidFill>
                        <a:effectLst/>
                        <a:latin typeface="Arial"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rgbClr val="FFFF66"/>
                          </a:solidFill>
                          <a:effectLst/>
                          <a:latin typeface="Arial" charset="0"/>
                          <a:ea typeface="宋体" pitchFamily="2" charset="-122"/>
                        </a:rPr>
                        <a:t>表述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63575">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chemeClr val="accent1"/>
                          </a:solidFill>
                          <a:effectLst/>
                          <a:latin typeface="Arial" charset="0"/>
                          <a:ea typeface="宋体" pitchFamily="2" charset="-122"/>
                        </a:rPr>
                        <a:t>玛丽化妆品公司</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生产女士化妆品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chemeClr val="tx1"/>
                          </a:solidFill>
                          <a:effectLst/>
                          <a:latin typeface="Arial" charset="0"/>
                          <a:ea typeface="宋体" pitchFamily="2" charset="-122"/>
                        </a:rPr>
                        <a:t>创造魅力和美丽</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28675">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chemeClr val="accent1"/>
                          </a:solidFill>
                          <a:effectLst/>
                          <a:latin typeface="Arial" charset="0"/>
                          <a:ea typeface="宋体" pitchFamily="2" charset="-122"/>
                        </a:rPr>
                        <a:t>美国电话</a:t>
                      </a: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chemeClr val="accent1"/>
                          </a:solidFill>
                          <a:effectLst/>
                          <a:latin typeface="Arial" charset="0"/>
                          <a:ea typeface="宋体" pitchFamily="2" charset="-122"/>
                        </a:rPr>
                        <a:t>电报公司</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dirty="0">
                          <a:ln>
                            <a:noFill/>
                          </a:ln>
                          <a:solidFill>
                            <a:schemeClr val="tx1"/>
                          </a:solidFill>
                          <a:effectLst/>
                          <a:latin typeface="Arial" charset="0"/>
                          <a:ea typeface="宋体" pitchFamily="2" charset="-122"/>
                        </a:rPr>
                        <a:t>生产电话设备</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dirty="0">
                          <a:ln>
                            <a:noFill/>
                          </a:ln>
                          <a:solidFill>
                            <a:schemeClr val="tx1"/>
                          </a:solidFill>
                          <a:effectLst/>
                          <a:latin typeface="Arial" charset="0"/>
                          <a:ea typeface="宋体" pitchFamily="2" charset="-122"/>
                        </a:rPr>
                        <a:t>提供信息沟通</a:t>
                      </a: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dirty="0">
                          <a:ln>
                            <a:noFill/>
                          </a:ln>
                          <a:solidFill>
                            <a:schemeClr val="tx1"/>
                          </a:solidFill>
                          <a:effectLst/>
                          <a:latin typeface="Arial" charset="0"/>
                          <a:ea typeface="宋体" pitchFamily="2" charset="-122"/>
                        </a:rPr>
                        <a:t>工具</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28675">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chemeClr val="accent1"/>
                          </a:solidFill>
                          <a:effectLst/>
                          <a:latin typeface="Arial" charset="0"/>
                          <a:ea typeface="宋体" pitchFamily="2" charset="-122"/>
                        </a:rPr>
                        <a:t>埃克森公司</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a:ln>
                            <a:noFill/>
                          </a:ln>
                          <a:solidFill>
                            <a:schemeClr val="tx1"/>
                          </a:solidFill>
                          <a:effectLst/>
                          <a:latin typeface="Arial" charset="0"/>
                          <a:ea typeface="宋体" pitchFamily="2" charset="-122"/>
                        </a:rPr>
                        <a:t>出售石油和天燃气</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dirty="0">
                          <a:ln>
                            <a:noFill/>
                          </a:ln>
                          <a:solidFill>
                            <a:schemeClr val="tx1"/>
                          </a:solidFill>
                          <a:effectLst/>
                          <a:latin typeface="Arial" charset="0"/>
                          <a:ea typeface="宋体" pitchFamily="2" charset="-122"/>
                        </a:rPr>
                        <a:t>提供能源</a:t>
                      </a: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altLang="zh-CN" sz="2400" b="1"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250950">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chemeClr val="accent1"/>
                          </a:solidFill>
                          <a:effectLst/>
                          <a:latin typeface="Arial" charset="0"/>
                          <a:ea typeface="宋体" pitchFamily="2" charset="-122"/>
                        </a:rPr>
                        <a:t>迪斯尼公司</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a:ln>
                            <a:noFill/>
                          </a:ln>
                          <a:solidFill>
                            <a:schemeClr val="tx1"/>
                          </a:solidFill>
                          <a:effectLst/>
                          <a:latin typeface="Arial" charset="0"/>
                          <a:ea typeface="宋体" pitchFamily="2" charset="-122"/>
                        </a:rPr>
                        <a:t>提供娱乐场所</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dirty="0">
                          <a:ln>
                            <a:noFill/>
                          </a:ln>
                          <a:solidFill>
                            <a:schemeClr val="tx1"/>
                          </a:solidFill>
                          <a:effectLst/>
                          <a:latin typeface="Arial" charset="0"/>
                          <a:ea typeface="宋体" pitchFamily="2" charset="-122"/>
                        </a:rPr>
                        <a:t>组织娱乐休闲活动，给千百万人带来欢乐</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2133600" y="0"/>
            <a:ext cx="7010400" cy="1484313"/>
          </a:xfrm>
        </p:spPr>
        <p:txBody>
          <a:bodyPr>
            <a:normAutofit fontScale="90000"/>
          </a:bodyPr>
          <a:lstStyle/>
          <a:p>
            <a:pPr marL="54864" indent="0" fontAlgn="auto">
              <a:spcAft>
                <a:spcPts val="0"/>
              </a:spcAft>
              <a:defRPr/>
            </a:pPr>
            <a:r>
              <a:rPr lang="zh-CN" altLang="en-US" dirty="0">
                <a:solidFill>
                  <a:schemeClr val="tx2">
                    <a:tint val="100000"/>
                    <a:shade val="90000"/>
                    <a:satMod val="250000"/>
                    <a:alpha val="100000"/>
                  </a:schemeClr>
                </a:solidFill>
                <a:cs typeface="+mj-cs"/>
              </a:rPr>
              <a:t>表达使命时应遵循的基本原则</a:t>
            </a:r>
          </a:p>
        </p:txBody>
      </p:sp>
      <p:sp>
        <p:nvSpPr>
          <p:cNvPr id="148483" name="Rectangle 3"/>
          <p:cNvSpPr txBox="1">
            <a:spLocks noChangeArrowheads="1"/>
          </p:cNvSpPr>
          <p:nvPr/>
        </p:nvSpPr>
        <p:spPr bwMode="auto">
          <a:xfrm>
            <a:off x="323850" y="1676400"/>
            <a:ext cx="8820150" cy="4525963"/>
          </a:xfrm>
          <a:prstGeom prst="rect">
            <a:avLst/>
          </a:prstGeom>
          <a:noFill/>
          <a:ln w="9525">
            <a:noFill/>
            <a:miter lim="800000"/>
            <a:headEnd/>
            <a:tailEnd/>
          </a:ln>
        </p:spPr>
        <p:txBody>
          <a:bodyPr/>
          <a:lstStyle/>
          <a:p>
            <a:pPr marL="292100" indent="-292100">
              <a:lnSpc>
                <a:spcPct val="90000"/>
              </a:lnSpc>
              <a:buClr>
                <a:schemeClr val="accent1"/>
              </a:buClr>
              <a:buSzPct val="70000"/>
              <a:buFont typeface="Wingdings 2"/>
              <a:buChar char=""/>
            </a:pPr>
            <a:r>
              <a:rPr lang="zh-CN" altLang="en-US" sz="3200" b="1">
                <a:latin typeface="Rockwell"/>
                <a:ea typeface="方正姚体"/>
              </a:rPr>
              <a:t>使命表述不宜太细，也不宜太粗</a:t>
            </a:r>
            <a:endParaRPr lang="en-US" altLang="zh-CN" sz="3200" b="1">
              <a:latin typeface="Rockwell"/>
              <a:ea typeface="方正姚体"/>
            </a:endParaRPr>
          </a:p>
          <a:p>
            <a:pPr marL="292100" indent="-292100">
              <a:lnSpc>
                <a:spcPct val="90000"/>
              </a:lnSpc>
              <a:buClr>
                <a:schemeClr val="accent1"/>
              </a:buClr>
              <a:buSzPct val="70000"/>
              <a:buFont typeface="Wingdings 2"/>
              <a:buChar char=""/>
            </a:pPr>
            <a:r>
              <a:rPr lang="zh-CN" altLang="en-US" sz="3200" b="1">
                <a:latin typeface="Rockwell"/>
                <a:ea typeface="方正姚体"/>
              </a:rPr>
              <a:t>业务范围不应太宽，也不宜太窄</a:t>
            </a:r>
            <a:endParaRPr lang="en-US" altLang="zh-CN" sz="3200" b="1">
              <a:latin typeface="Rockwell"/>
              <a:ea typeface="方正姚体"/>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idx="4294967295"/>
          </p:nvPr>
        </p:nvSpPr>
        <p:spPr>
          <a:xfrm>
            <a:off x="457200" y="253536"/>
            <a:ext cx="8229600" cy="1143000"/>
          </a:xfrm>
        </p:spPr>
        <p:txBody>
          <a:bodyPr>
            <a:normAutofit fontScale="90000"/>
          </a:bodyPr>
          <a:lstStyle/>
          <a:p>
            <a:pPr marL="54864" indent="0" fontAlgn="auto">
              <a:spcAft>
                <a:spcPts val="0"/>
              </a:spcAft>
              <a:defRPr/>
            </a:pPr>
            <a:r>
              <a:rPr lang="zh-CN" altLang="en-US" sz="4000" b="1" dirty="0">
                <a:solidFill>
                  <a:schemeClr val="tx2">
                    <a:tint val="100000"/>
                    <a:shade val="90000"/>
                    <a:satMod val="250000"/>
                    <a:alpha val="100000"/>
                  </a:schemeClr>
                </a:solidFill>
                <a:cs typeface="+mj-cs"/>
              </a:rPr>
              <a:t>表述范围既不能太宽</a:t>
            </a:r>
            <a:br>
              <a:rPr lang="zh-CN" altLang="en-US" sz="4000" b="1" dirty="0">
                <a:solidFill>
                  <a:schemeClr val="tx2">
                    <a:tint val="100000"/>
                    <a:shade val="90000"/>
                    <a:satMod val="250000"/>
                    <a:alpha val="100000"/>
                  </a:schemeClr>
                </a:solidFill>
                <a:cs typeface="+mj-cs"/>
              </a:rPr>
            </a:br>
            <a:r>
              <a:rPr lang="zh-CN" altLang="en-US" sz="4000" b="1" dirty="0">
                <a:solidFill>
                  <a:schemeClr val="tx2">
                    <a:tint val="100000"/>
                    <a:shade val="90000"/>
                    <a:satMod val="250000"/>
                    <a:alpha val="100000"/>
                  </a:schemeClr>
                </a:solidFill>
                <a:cs typeface="+mj-cs"/>
              </a:rPr>
              <a:t>也不能太窄</a:t>
            </a:r>
          </a:p>
        </p:txBody>
      </p:sp>
      <p:sp>
        <p:nvSpPr>
          <p:cNvPr id="149507" name="Rectangle 3"/>
          <p:cNvSpPr>
            <a:spLocks noGrp="1" noChangeArrowheads="1"/>
          </p:cNvSpPr>
          <p:nvPr>
            <p:ph type="body" idx="4294967295"/>
          </p:nvPr>
        </p:nvSpPr>
        <p:spPr>
          <a:xfrm>
            <a:off x="395288" y="1557338"/>
            <a:ext cx="8229600" cy="4525962"/>
          </a:xfrm>
        </p:spPr>
        <p:txBody>
          <a:bodyPr/>
          <a:lstStyle/>
          <a:p>
            <a:pPr>
              <a:buFont typeface="Wingdings" pitchFamily="2" charset="2"/>
              <a:buNone/>
            </a:pPr>
            <a:r>
              <a:rPr lang="zh-CN" altLang="en-US" sz="4800" b="1" dirty="0">
                <a:solidFill>
                  <a:srgbClr val="FFFF66"/>
                </a:solidFill>
                <a:ea typeface="华文隶书"/>
                <a:cs typeface="华文隶书"/>
              </a:rPr>
              <a:t>教你一招</a:t>
            </a:r>
          </a:p>
          <a:p>
            <a:pPr>
              <a:buFont typeface="Wingdings" pitchFamily="2" charset="2"/>
              <a:buNone/>
            </a:pPr>
            <a:r>
              <a:rPr lang="zh-CN" altLang="en-US" sz="4000" dirty="0"/>
              <a:t>      </a:t>
            </a:r>
          </a:p>
          <a:p>
            <a:pPr>
              <a:buFont typeface="Wingdings" pitchFamily="2" charset="2"/>
              <a:buNone/>
            </a:pPr>
            <a:r>
              <a:rPr lang="zh-CN" altLang="en-US" sz="3600" b="1" dirty="0"/>
              <a:t>  最好的办法是，在企业目前产品需求的基础上提高</a:t>
            </a:r>
            <a:r>
              <a:rPr lang="en-US" altLang="zh-CN" sz="3600" b="1" dirty="0"/>
              <a:t>1</a:t>
            </a:r>
            <a:r>
              <a:rPr lang="zh-CN" altLang="en-US" sz="3600" b="1" dirty="0"/>
              <a:t>～</a:t>
            </a:r>
            <a:r>
              <a:rPr lang="en-US" altLang="zh-CN" sz="3600" b="1" dirty="0"/>
              <a:t>2</a:t>
            </a:r>
            <a:r>
              <a:rPr lang="zh-CN" altLang="en-US" sz="3600" b="1" dirty="0"/>
              <a:t>档的抽象水平进行措辞，这样做既有利于企业进一步发展，又不致失去具体的业务方向。</a:t>
            </a:r>
          </a:p>
        </p:txBody>
      </p:sp>
      <p:pic>
        <p:nvPicPr>
          <p:cNvPr id="149508" name="Picture 4" descr="u=2887683864,2186625024&amp;gp=-48"/>
          <p:cNvPicPr>
            <a:picLocks noChangeAspect="1" noChangeArrowheads="1"/>
          </p:cNvPicPr>
          <p:nvPr/>
        </p:nvPicPr>
        <p:blipFill>
          <a:blip r:embed="rId2"/>
          <a:srcRect/>
          <a:stretch>
            <a:fillRect/>
          </a:stretch>
        </p:blipFill>
        <p:spPr bwMode="auto">
          <a:xfrm>
            <a:off x="3276600" y="1268413"/>
            <a:ext cx="1655763" cy="1655762"/>
          </a:xfrm>
          <a:prstGeom prst="rect">
            <a:avLst/>
          </a:prstGeom>
          <a:noFill/>
          <a:ln w="9525">
            <a:noFill/>
            <a:miter lim="800000"/>
            <a:headEnd/>
            <a:tailEnd/>
          </a:ln>
        </p:spPr>
      </p:pic>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2"/>
          <p:cNvSpPr>
            <a:spLocks noGrp="1" noChangeArrowheads="1"/>
          </p:cNvSpPr>
          <p:nvPr>
            <p:ph type="title" idx="4294967295"/>
          </p:nvPr>
        </p:nvSpPr>
        <p:spPr>
          <a:xfrm>
            <a:off x="2133600" y="0"/>
            <a:ext cx="7010400" cy="1484313"/>
          </a:xfrm>
        </p:spPr>
        <p:txBody>
          <a:bodyPr/>
          <a:lstStyle/>
          <a:p>
            <a:pPr marL="54864" indent="0" fontAlgn="auto">
              <a:spcAft>
                <a:spcPts val="0"/>
              </a:spcAft>
              <a:defRPr/>
            </a:pPr>
            <a:r>
              <a:rPr lang="zh-CN" altLang="en-US" sz="3600" b="1">
                <a:solidFill>
                  <a:schemeClr val="tx2">
                    <a:tint val="100000"/>
                    <a:shade val="90000"/>
                    <a:satMod val="250000"/>
                    <a:alpha val="100000"/>
                  </a:schemeClr>
                </a:solidFill>
                <a:cs typeface="+mj-cs"/>
              </a:rPr>
              <a:t>表述范围既不能太宽</a:t>
            </a:r>
            <a:br>
              <a:rPr lang="zh-CN" altLang="en-US" sz="3600" b="1">
                <a:solidFill>
                  <a:schemeClr val="tx2">
                    <a:tint val="100000"/>
                    <a:shade val="90000"/>
                    <a:satMod val="250000"/>
                    <a:alpha val="100000"/>
                  </a:schemeClr>
                </a:solidFill>
                <a:cs typeface="+mj-cs"/>
              </a:rPr>
            </a:br>
            <a:r>
              <a:rPr lang="zh-CN" altLang="en-US" sz="3600" b="1">
                <a:solidFill>
                  <a:schemeClr val="tx2">
                    <a:tint val="100000"/>
                    <a:shade val="90000"/>
                    <a:satMod val="250000"/>
                    <a:alpha val="100000"/>
                  </a:schemeClr>
                </a:solidFill>
                <a:cs typeface="+mj-cs"/>
              </a:rPr>
              <a:t>也不能太窄</a:t>
            </a:r>
          </a:p>
        </p:txBody>
      </p:sp>
      <p:graphicFrame>
        <p:nvGraphicFramePr>
          <p:cNvPr id="47128" name="Group 24"/>
          <p:cNvGraphicFramePr>
            <a:graphicFrameLocks noGrp="1"/>
          </p:cNvGraphicFramePr>
          <p:nvPr>
            <p:ph idx="4294967295"/>
          </p:nvPr>
        </p:nvGraphicFramePr>
        <p:xfrm>
          <a:off x="468313" y="1628775"/>
          <a:ext cx="8229600" cy="4858512"/>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1084263">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3200" b="1" i="0" u="none" strike="noStrike" cap="none" normalizeH="0" baseline="0" dirty="0">
                          <a:ln>
                            <a:noFill/>
                          </a:ln>
                          <a:solidFill>
                            <a:srgbClr val="FFFF99"/>
                          </a:solidFill>
                          <a:effectLst/>
                          <a:latin typeface="Arial" charset="0"/>
                          <a:ea typeface="宋体" pitchFamily="2" charset="-122"/>
                        </a:rPr>
                        <a:t>公　司</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3200" b="1" i="0" u="none" strike="noStrike" cap="none" normalizeH="0" baseline="0">
                          <a:ln>
                            <a:noFill/>
                          </a:ln>
                          <a:solidFill>
                            <a:srgbClr val="FFFF99"/>
                          </a:solidFill>
                          <a:effectLst/>
                          <a:latin typeface="Arial" charset="0"/>
                          <a:ea typeface="宋体" pitchFamily="2" charset="-122"/>
                        </a:rPr>
                        <a:t>不适宜的表述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3200" b="1" i="0" u="none" strike="noStrike" cap="none" normalizeH="0" baseline="0">
                          <a:ln>
                            <a:noFill/>
                          </a:ln>
                          <a:solidFill>
                            <a:srgbClr val="FFFF99"/>
                          </a:solidFill>
                          <a:effectLst/>
                          <a:latin typeface="Arial" charset="0"/>
                          <a:ea typeface="宋体" pitchFamily="2" charset="-122"/>
                        </a:rPr>
                        <a:t>合适的表述</a:t>
                      </a: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altLang="zh-CN" sz="3200" b="1" i="0" u="none" strike="noStrike" cap="none" normalizeH="0" baseline="0">
                        <a:ln>
                          <a:noFill/>
                        </a:ln>
                        <a:solidFill>
                          <a:srgbClr val="CC0000"/>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38288">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3200" b="1" i="0" u="none" strike="noStrike" cap="none" normalizeH="0" baseline="0" dirty="0">
                          <a:ln>
                            <a:noFill/>
                          </a:ln>
                          <a:solidFill>
                            <a:schemeClr val="tx1"/>
                          </a:solidFill>
                          <a:effectLst/>
                          <a:latin typeface="Arial" charset="0"/>
                          <a:ea typeface="宋体" pitchFamily="2" charset="-122"/>
                        </a:rPr>
                        <a:t>制笔公司</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3200" b="1" i="0" u="none" strike="noStrike" cap="none" normalizeH="0" baseline="0" dirty="0">
                          <a:ln>
                            <a:noFill/>
                          </a:ln>
                          <a:solidFill>
                            <a:schemeClr val="tx1"/>
                          </a:solidFill>
                          <a:effectLst/>
                          <a:latin typeface="Arial" charset="0"/>
                          <a:ea typeface="宋体" pitchFamily="2" charset="-122"/>
                        </a:rPr>
                        <a:t>提供信息传递服务（太宽）</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3200" b="1" i="0" u="none" strike="noStrike" cap="none" normalizeH="0" baseline="0">
                          <a:ln>
                            <a:noFill/>
                          </a:ln>
                          <a:solidFill>
                            <a:schemeClr val="tx1"/>
                          </a:solidFill>
                          <a:effectLst/>
                          <a:latin typeface="Arial" charset="0"/>
                          <a:ea typeface="宋体" pitchFamily="2" charset="-122"/>
                        </a:rPr>
                        <a:t>提供信息记录手段</a:t>
                      </a: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altLang="zh-CN" sz="3200" b="1"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498600">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3200" b="1" i="0" u="none" strike="noStrike" cap="none" normalizeH="0" baseline="0">
                          <a:ln>
                            <a:noFill/>
                          </a:ln>
                          <a:solidFill>
                            <a:schemeClr val="tx1"/>
                          </a:solidFill>
                          <a:effectLst/>
                          <a:latin typeface="Arial" charset="0"/>
                          <a:ea typeface="宋体" pitchFamily="2" charset="-122"/>
                        </a:rPr>
                        <a:t>电影公司</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3200" b="1" i="0" u="none" strike="noStrike" cap="none" normalizeH="0" baseline="0" dirty="0">
                          <a:ln>
                            <a:noFill/>
                          </a:ln>
                          <a:solidFill>
                            <a:schemeClr val="tx1"/>
                          </a:solidFill>
                          <a:effectLst/>
                          <a:latin typeface="Arial" charset="0"/>
                          <a:ea typeface="宋体" pitchFamily="2" charset="-122"/>
                        </a:rPr>
                        <a:t>制作影片（太窄）</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3200" b="1" i="0" u="none" strike="noStrike" cap="none" normalizeH="0" baseline="0" dirty="0">
                          <a:ln>
                            <a:noFill/>
                          </a:ln>
                          <a:solidFill>
                            <a:schemeClr val="tx1"/>
                          </a:solidFill>
                          <a:effectLst/>
                          <a:latin typeface="Arial" charset="0"/>
                          <a:ea typeface="宋体" pitchFamily="2" charset="-122"/>
                        </a:rPr>
                        <a:t>提供文化娱乐服务（注：可向电视音像方面发展）</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53536"/>
            <a:ext cx="8229600" cy="1143000"/>
          </a:xfrm>
        </p:spPr>
        <p:txBody>
          <a:bodyPr/>
          <a:lstStyle/>
          <a:p>
            <a:pPr marL="54864" indent="0" fontAlgn="auto">
              <a:spcAft>
                <a:spcPts val="0"/>
              </a:spcAft>
              <a:defRPr/>
            </a:pPr>
            <a:r>
              <a:rPr lang="zh-CN" altLang="en-US" dirty="0">
                <a:solidFill>
                  <a:schemeClr val="tx2">
                    <a:tint val="100000"/>
                    <a:shade val="90000"/>
                    <a:satMod val="250000"/>
                    <a:alpha val="100000"/>
                  </a:schemeClr>
                </a:solidFill>
                <a:cs typeface="+mj-cs"/>
              </a:rPr>
              <a:t>愿景</a:t>
            </a:r>
          </a:p>
        </p:txBody>
      </p:sp>
      <p:sp>
        <p:nvSpPr>
          <p:cNvPr id="34818" name="内容占位符 2"/>
          <p:cNvSpPr>
            <a:spLocks noGrp="1"/>
          </p:cNvSpPr>
          <p:nvPr>
            <p:ph idx="1"/>
          </p:nvPr>
        </p:nvSpPr>
        <p:spPr/>
        <p:txBody>
          <a:bodyPr/>
          <a:lstStyle/>
          <a:p>
            <a:r>
              <a:rPr lang="zh-CN" altLang="en-US"/>
              <a:t>愿景：愿望</a:t>
            </a:r>
            <a:r>
              <a:rPr lang="en-US" altLang="zh-CN"/>
              <a:t>+</a:t>
            </a:r>
            <a:r>
              <a:rPr lang="zh-CN" altLang="en-US"/>
              <a:t>景象，组织成员普遍接受和认同的组织的长远目标</a:t>
            </a:r>
            <a:endParaRPr lang="en-US" altLang="zh-CN"/>
          </a:p>
          <a:p>
            <a:endParaRPr lang="en-US" altLang="zh-CN"/>
          </a:p>
          <a:p>
            <a:endParaRPr lang="zh-CN"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53536"/>
            <a:ext cx="8229600" cy="1143000"/>
          </a:xfrm>
        </p:spPr>
        <p:txBody>
          <a:bodyPr/>
          <a:lstStyle/>
          <a:p>
            <a:pPr marL="54864" indent="0" fontAlgn="auto">
              <a:spcAft>
                <a:spcPts val="0"/>
              </a:spcAft>
              <a:defRPr/>
            </a:pPr>
            <a:r>
              <a:rPr lang="zh-CN" altLang="en-US" dirty="0">
                <a:solidFill>
                  <a:schemeClr val="tx2">
                    <a:tint val="100000"/>
                    <a:shade val="90000"/>
                    <a:satMod val="250000"/>
                    <a:alpha val="100000"/>
                  </a:schemeClr>
                </a:solidFill>
                <a:cs typeface="+mj-cs"/>
              </a:rPr>
              <a:t>愿景表述的构成要素</a:t>
            </a:r>
          </a:p>
        </p:txBody>
      </p:sp>
      <p:sp>
        <p:nvSpPr>
          <p:cNvPr id="3" name="内容占位符 2"/>
          <p:cNvSpPr>
            <a:spLocks noGrp="1"/>
          </p:cNvSpPr>
          <p:nvPr>
            <p:ph idx="1"/>
          </p:nvPr>
        </p:nvSpPr>
        <p:spPr/>
        <p:txBody>
          <a:bodyPr>
            <a:normAutofit lnSpcReduction="10000"/>
          </a:bodyPr>
          <a:lstStyle/>
          <a:p>
            <a:pPr fontAlgn="auto">
              <a:spcBef>
                <a:spcPts val="0"/>
              </a:spcBef>
              <a:spcAft>
                <a:spcPts val="0"/>
              </a:spcAft>
              <a:defRPr/>
            </a:pPr>
            <a:r>
              <a:rPr lang="en-US" altLang="zh-CN" dirty="0">
                <a:cs typeface="+mn-cs"/>
              </a:rPr>
              <a:t>9</a:t>
            </a:r>
            <a:r>
              <a:rPr lang="zh-CN" altLang="en-US" dirty="0">
                <a:cs typeface="+mn-cs"/>
              </a:rPr>
              <a:t>个，实际用时，只需选取</a:t>
            </a:r>
            <a:r>
              <a:rPr lang="en-US" altLang="zh-CN" dirty="0">
                <a:cs typeface="+mn-cs"/>
              </a:rPr>
              <a:t>2-3</a:t>
            </a:r>
            <a:r>
              <a:rPr lang="zh-CN" altLang="en-US" dirty="0">
                <a:cs typeface="+mn-cs"/>
              </a:rPr>
              <a:t>项</a:t>
            </a:r>
            <a:endParaRPr lang="en-US" altLang="zh-CN" dirty="0">
              <a:cs typeface="+mn-cs"/>
            </a:endParaRPr>
          </a:p>
          <a:p>
            <a:pPr marL="640080" lvl="1" fontAlgn="auto">
              <a:spcAft>
                <a:spcPts val="0"/>
              </a:spcAft>
              <a:defRPr/>
            </a:pPr>
            <a:r>
              <a:rPr lang="zh-CN" altLang="en-US" dirty="0">
                <a:cs typeface="+mn-cs"/>
              </a:rPr>
              <a:t>企业的用户</a:t>
            </a:r>
            <a:endParaRPr lang="en-US" altLang="zh-CN" dirty="0">
              <a:cs typeface="+mn-cs"/>
            </a:endParaRPr>
          </a:p>
          <a:p>
            <a:pPr marL="640080" lvl="1" fontAlgn="auto">
              <a:spcAft>
                <a:spcPts val="0"/>
              </a:spcAft>
              <a:defRPr/>
            </a:pPr>
            <a:r>
              <a:rPr lang="zh-CN" altLang="en-US" dirty="0">
                <a:cs typeface="+mn-cs"/>
              </a:rPr>
              <a:t>产品和服务</a:t>
            </a:r>
            <a:endParaRPr lang="en-US" altLang="zh-CN" dirty="0">
              <a:cs typeface="+mn-cs"/>
            </a:endParaRPr>
          </a:p>
          <a:p>
            <a:pPr marL="640080" lvl="1" fontAlgn="auto">
              <a:spcAft>
                <a:spcPts val="0"/>
              </a:spcAft>
              <a:defRPr/>
            </a:pPr>
            <a:r>
              <a:rPr lang="zh-CN" altLang="en-US" dirty="0">
                <a:cs typeface="+mn-cs"/>
              </a:rPr>
              <a:t>目标市场</a:t>
            </a:r>
            <a:endParaRPr lang="en-US" altLang="zh-CN" dirty="0">
              <a:cs typeface="+mn-cs"/>
            </a:endParaRPr>
          </a:p>
          <a:p>
            <a:pPr marL="640080" lvl="1" fontAlgn="auto">
              <a:spcAft>
                <a:spcPts val="0"/>
              </a:spcAft>
              <a:defRPr/>
            </a:pPr>
            <a:r>
              <a:rPr lang="zh-CN" altLang="en-US" dirty="0">
                <a:cs typeface="+mn-cs"/>
              </a:rPr>
              <a:t>技术</a:t>
            </a:r>
            <a:endParaRPr lang="en-US" altLang="zh-CN" dirty="0">
              <a:cs typeface="+mn-cs"/>
            </a:endParaRPr>
          </a:p>
          <a:p>
            <a:pPr marL="640080" lvl="1" fontAlgn="auto">
              <a:spcAft>
                <a:spcPts val="0"/>
              </a:spcAft>
              <a:defRPr/>
            </a:pPr>
            <a:r>
              <a:rPr lang="zh-CN" altLang="en-US" dirty="0">
                <a:cs typeface="+mn-cs"/>
              </a:rPr>
              <a:t>生存与发展</a:t>
            </a:r>
            <a:endParaRPr lang="en-US" altLang="zh-CN" dirty="0">
              <a:cs typeface="+mn-cs"/>
            </a:endParaRPr>
          </a:p>
          <a:p>
            <a:pPr marL="640080" lvl="1" fontAlgn="auto">
              <a:spcAft>
                <a:spcPts val="0"/>
              </a:spcAft>
              <a:defRPr/>
            </a:pPr>
            <a:r>
              <a:rPr lang="zh-CN" altLang="en-US" dirty="0">
                <a:cs typeface="+mn-cs"/>
              </a:rPr>
              <a:t>价值观念和基本信念</a:t>
            </a:r>
            <a:endParaRPr lang="en-US" altLang="zh-CN" dirty="0">
              <a:cs typeface="+mn-cs"/>
            </a:endParaRPr>
          </a:p>
          <a:p>
            <a:pPr marL="640080" lvl="1" fontAlgn="auto">
              <a:spcAft>
                <a:spcPts val="0"/>
              </a:spcAft>
              <a:defRPr/>
            </a:pPr>
            <a:r>
              <a:rPr lang="zh-CN" altLang="en-US" dirty="0">
                <a:cs typeface="+mn-cs"/>
              </a:rPr>
              <a:t>自我意识</a:t>
            </a:r>
            <a:endParaRPr lang="en-US" altLang="zh-CN" dirty="0">
              <a:cs typeface="+mn-cs"/>
            </a:endParaRPr>
          </a:p>
          <a:p>
            <a:pPr marL="640080" lvl="1" fontAlgn="auto">
              <a:spcAft>
                <a:spcPts val="0"/>
              </a:spcAft>
              <a:defRPr/>
            </a:pPr>
            <a:r>
              <a:rPr lang="zh-CN" altLang="en-US" dirty="0">
                <a:cs typeface="+mn-cs"/>
              </a:rPr>
              <a:t>对员工的关心</a:t>
            </a:r>
            <a:endParaRPr lang="en-US" altLang="zh-CN" dirty="0">
              <a:cs typeface="+mn-cs"/>
            </a:endParaRPr>
          </a:p>
          <a:p>
            <a:pPr marL="640080" lvl="1" fontAlgn="auto">
              <a:spcAft>
                <a:spcPts val="0"/>
              </a:spcAft>
              <a:defRPr/>
            </a:pPr>
            <a:r>
              <a:rPr lang="zh-CN" altLang="en-US" dirty="0">
                <a:cs typeface="+mn-cs"/>
              </a:rPr>
              <a:t>企业的公众形象及社会责任</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1835150" y="0"/>
            <a:ext cx="7308850" cy="1484313"/>
          </a:xfrm>
        </p:spPr>
        <p:txBody>
          <a:bodyPr/>
          <a:lstStyle/>
          <a:p>
            <a:pPr marL="54864" indent="0" fontAlgn="auto">
              <a:spcAft>
                <a:spcPts val="0"/>
              </a:spcAft>
              <a:defRPr/>
            </a:pPr>
            <a:endParaRPr lang="zh-CN" altLang="en-US" sz="3600" b="1" dirty="0">
              <a:solidFill>
                <a:schemeClr val="tx2">
                  <a:tint val="100000"/>
                  <a:shade val="90000"/>
                  <a:satMod val="250000"/>
                  <a:alpha val="100000"/>
                </a:schemeClr>
              </a:solidFill>
              <a:cs typeface="+mj-cs"/>
            </a:endParaRPr>
          </a:p>
        </p:txBody>
      </p:sp>
      <p:sp>
        <p:nvSpPr>
          <p:cNvPr id="36866" name="Rectangle 3"/>
          <p:cNvSpPr>
            <a:spLocks noGrp="1" noChangeArrowheads="1"/>
          </p:cNvSpPr>
          <p:nvPr>
            <p:ph type="body" idx="1"/>
          </p:nvPr>
        </p:nvSpPr>
        <p:spPr/>
        <p:txBody>
          <a:bodyPr/>
          <a:lstStyle/>
          <a:p>
            <a:pPr lvl="1">
              <a:lnSpc>
                <a:spcPct val="80000"/>
              </a:lnSpc>
            </a:pPr>
            <a:r>
              <a:rPr lang="zh-CN" altLang="en-US" sz="2400" b="1"/>
              <a:t>用户：公司的用户是谁？</a:t>
            </a:r>
          </a:p>
          <a:p>
            <a:pPr lvl="1">
              <a:lnSpc>
                <a:spcPct val="80000"/>
              </a:lnSpc>
            </a:pPr>
            <a:r>
              <a:rPr lang="zh-CN" altLang="en-US" sz="2400" b="1"/>
              <a:t>产品或服务：公司的主要产品或服务项目是什么？</a:t>
            </a:r>
          </a:p>
          <a:p>
            <a:pPr lvl="1">
              <a:lnSpc>
                <a:spcPct val="80000"/>
              </a:lnSpc>
            </a:pPr>
            <a:r>
              <a:rPr lang="zh-CN" altLang="en-US" sz="2400" b="1"/>
              <a:t>市场：公司在哪些地域参与竞争？</a:t>
            </a:r>
          </a:p>
          <a:p>
            <a:pPr lvl="1">
              <a:lnSpc>
                <a:spcPct val="80000"/>
              </a:lnSpc>
            </a:pPr>
            <a:r>
              <a:rPr lang="zh-CN" altLang="en-US" sz="2400" b="1"/>
              <a:t>技术：公司的基本技术和优势是什么？</a:t>
            </a:r>
          </a:p>
          <a:p>
            <a:pPr lvl="1">
              <a:lnSpc>
                <a:spcPct val="80000"/>
              </a:lnSpc>
            </a:pPr>
            <a:r>
              <a:rPr lang="zh-CN" altLang="en-US" sz="2400" b="1"/>
              <a:t>生存、发展：公司是否努力实现业务的增长和良好的财务状况？</a:t>
            </a:r>
          </a:p>
          <a:p>
            <a:pPr lvl="1">
              <a:lnSpc>
                <a:spcPct val="80000"/>
              </a:lnSpc>
            </a:pPr>
            <a:r>
              <a:rPr lang="zh-CN" altLang="en-US" sz="2400" b="1"/>
              <a:t>价值观念和基本信念：公司的基本价值观、信念和道德倾向是什么？</a:t>
            </a:r>
          </a:p>
          <a:p>
            <a:pPr lvl="1">
              <a:lnSpc>
                <a:spcPct val="80000"/>
              </a:lnSpc>
            </a:pPr>
            <a:r>
              <a:rPr lang="zh-CN" altLang="en-US" sz="2400" b="1"/>
              <a:t>自我意识：公司最独特的能力或最主要的竞争优势是什么？</a:t>
            </a:r>
          </a:p>
          <a:p>
            <a:pPr lvl="1">
              <a:lnSpc>
                <a:spcPct val="80000"/>
              </a:lnSpc>
            </a:pPr>
            <a:r>
              <a:rPr lang="zh-CN" altLang="en-US" sz="2400" b="1"/>
              <a:t>公众形象：公司是否对社会、社区和环境负责？</a:t>
            </a:r>
          </a:p>
          <a:p>
            <a:pPr lvl="1">
              <a:lnSpc>
                <a:spcPct val="80000"/>
              </a:lnSpc>
            </a:pPr>
            <a:r>
              <a:rPr lang="zh-CN" altLang="en-US" sz="2400" b="1"/>
              <a:t>职工：公司是否视员工为宝贵的资产？</a:t>
            </a:r>
          </a:p>
          <a:p>
            <a:pPr>
              <a:lnSpc>
                <a:spcPct val="80000"/>
              </a:lnSpc>
            </a:pPr>
            <a:endParaRPr lang="en-US" altLang="zh-CN" sz="2800"/>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457200" y="253536"/>
            <a:ext cx="8229600" cy="1143000"/>
          </a:xfrm>
        </p:spPr>
        <p:txBody>
          <a:bodyPr/>
          <a:lstStyle/>
          <a:p>
            <a:pPr marL="54864" indent="0" fontAlgn="auto">
              <a:spcAft>
                <a:spcPts val="0"/>
              </a:spcAft>
              <a:defRPr/>
            </a:pPr>
            <a:r>
              <a:rPr lang="zh-CN" altLang="en-US" sz="3600" b="1" dirty="0">
                <a:solidFill>
                  <a:schemeClr val="tx2">
                    <a:tint val="100000"/>
                    <a:shade val="90000"/>
                    <a:satMod val="250000"/>
                    <a:alpha val="100000"/>
                  </a:schemeClr>
                </a:solidFill>
                <a:cs typeface="+mj-cs"/>
              </a:rPr>
              <a:t>例：愿景表述</a:t>
            </a:r>
            <a:endParaRPr lang="zh-CN" altLang="en-US" sz="3200" b="1" dirty="0">
              <a:solidFill>
                <a:schemeClr val="tx2">
                  <a:tint val="100000"/>
                  <a:shade val="90000"/>
                  <a:satMod val="250000"/>
                  <a:alpha val="100000"/>
                </a:schemeClr>
              </a:solidFill>
              <a:cs typeface="+mj-cs"/>
            </a:endParaRPr>
          </a:p>
        </p:txBody>
      </p:sp>
      <p:sp>
        <p:nvSpPr>
          <p:cNvPr id="37890" name="Rectangle 3"/>
          <p:cNvSpPr>
            <a:spLocks noGrp="1" noChangeArrowheads="1"/>
          </p:cNvSpPr>
          <p:nvPr>
            <p:ph type="body" idx="1"/>
          </p:nvPr>
        </p:nvSpPr>
        <p:spPr/>
        <p:txBody>
          <a:bodyPr/>
          <a:lstStyle/>
          <a:p>
            <a:pPr>
              <a:lnSpc>
                <a:spcPct val="80000"/>
              </a:lnSpc>
              <a:buFont typeface="Wingdings" pitchFamily="2" charset="2"/>
              <a:buNone/>
            </a:pPr>
            <a:r>
              <a:rPr lang="en-US" altLang="zh-CN" b="1">
                <a:solidFill>
                  <a:srgbClr val="FFFF66"/>
                </a:solidFill>
              </a:rPr>
              <a:t>    1.</a:t>
            </a:r>
            <a:r>
              <a:rPr lang="zh-CN" altLang="en-US" b="1">
                <a:solidFill>
                  <a:srgbClr val="FFFF66"/>
                </a:solidFill>
              </a:rPr>
              <a:t>企业名称：</a:t>
            </a:r>
            <a:r>
              <a:rPr lang="zh-CN" altLang="en-US" b="1"/>
              <a:t>亚洲电话电报公司</a:t>
            </a:r>
          </a:p>
          <a:p>
            <a:pPr>
              <a:lnSpc>
                <a:spcPct val="80000"/>
              </a:lnSpc>
              <a:buFont typeface="Wingdings" pitchFamily="2" charset="2"/>
              <a:buNone/>
            </a:pPr>
            <a:r>
              <a:rPr lang="zh-CN" altLang="en-US" sz="2400"/>
              <a:t>     </a:t>
            </a:r>
            <a:r>
              <a:rPr lang="en-US" altLang="zh-CN" b="1">
                <a:solidFill>
                  <a:srgbClr val="FFFF66"/>
                </a:solidFill>
              </a:rPr>
              <a:t>2. </a:t>
            </a:r>
            <a:r>
              <a:rPr lang="zh-CN" altLang="en-US" b="1">
                <a:solidFill>
                  <a:srgbClr val="FFFF66"/>
                </a:solidFill>
              </a:rPr>
              <a:t>选择其一：</a:t>
            </a:r>
            <a:r>
              <a:rPr lang="zh-CN" altLang="en-US" b="1"/>
              <a:t>企业性质：</a:t>
            </a:r>
          </a:p>
          <a:p>
            <a:pPr>
              <a:lnSpc>
                <a:spcPct val="80000"/>
              </a:lnSpc>
              <a:buFont typeface="Wingdings" pitchFamily="2" charset="2"/>
              <a:buNone/>
            </a:pPr>
            <a:r>
              <a:rPr lang="zh-CN" altLang="en-US" sz="2400" b="1"/>
              <a:t>     ■ 集团公司   ■子公司或有限公司  </a:t>
            </a:r>
          </a:p>
          <a:p>
            <a:pPr>
              <a:lnSpc>
                <a:spcPct val="80000"/>
              </a:lnSpc>
              <a:buFont typeface="Wingdings" pitchFamily="2" charset="2"/>
              <a:buNone/>
            </a:pPr>
            <a:r>
              <a:rPr lang="zh-CN" altLang="en-US" sz="2400" b="1"/>
              <a:t>     ■ 合作经营   ■ 独资</a:t>
            </a:r>
          </a:p>
          <a:p>
            <a:pPr>
              <a:lnSpc>
                <a:spcPct val="80000"/>
              </a:lnSpc>
              <a:buFont typeface="Wingdings" pitchFamily="2" charset="2"/>
              <a:buNone/>
            </a:pPr>
            <a:r>
              <a:rPr lang="zh-CN" altLang="en-US" b="1"/>
              <a:t>    </a:t>
            </a:r>
            <a:r>
              <a:rPr lang="en-US" altLang="zh-CN" b="1">
                <a:solidFill>
                  <a:srgbClr val="FFFF66"/>
                </a:solidFill>
              </a:rPr>
              <a:t>3.</a:t>
            </a:r>
            <a:r>
              <a:rPr lang="zh-CN" altLang="en-US" b="1">
                <a:solidFill>
                  <a:srgbClr val="FFFF66"/>
                </a:solidFill>
              </a:rPr>
              <a:t>我们的用户主要是：</a:t>
            </a:r>
          </a:p>
          <a:p>
            <a:pPr>
              <a:lnSpc>
                <a:spcPct val="80000"/>
              </a:lnSpc>
              <a:buFont typeface="Wingdings" pitchFamily="2" charset="2"/>
              <a:buNone/>
            </a:pPr>
            <a:r>
              <a:rPr lang="zh-CN" altLang="en-US" sz="2400" b="1"/>
              <a:t>     ■个人 ■ 团体  ■公共机关  ■其它（简述）</a:t>
            </a:r>
          </a:p>
          <a:p>
            <a:pPr>
              <a:lnSpc>
                <a:spcPct val="80000"/>
              </a:lnSpc>
              <a:buFont typeface="Wingdings" pitchFamily="2" charset="2"/>
              <a:buNone/>
            </a:pPr>
            <a:r>
              <a:rPr lang="zh-CN" altLang="en-US" sz="2400"/>
              <a:t>     </a:t>
            </a:r>
            <a:r>
              <a:rPr lang="en-US" altLang="zh-CN" b="1">
                <a:solidFill>
                  <a:srgbClr val="FFFF66"/>
                </a:solidFill>
              </a:rPr>
              <a:t>4.</a:t>
            </a:r>
            <a:r>
              <a:rPr lang="zh-CN" altLang="en-US" b="1">
                <a:solidFill>
                  <a:srgbClr val="FFFF66"/>
                </a:solidFill>
              </a:rPr>
              <a:t>目前的产品或服务：</a:t>
            </a:r>
          </a:p>
          <a:p>
            <a:pPr>
              <a:lnSpc>
                <a:spcPct val="80000"/>
              </a:lnSpc>
              <a:buFont typeface="Wingdings" pitchFamily="2" charset="2"/>
              <a:buNone/>
            </a:pPr>
            <a:r>
              <a:rPr lang="zh-CN" altLang="en-US" sz="2400" b="1"/>
              <a:t>      通讯产品及服务    网络设备     计算机系统</a:t>
            </a:r>
          </a:p>
          <a:p>
            <a:pPr>
              <a:lnSpc>
                <a:spcPct val="80000"/>
              </a:lnSpc>
              <a:buFont typeface="Wingdings" pitchFamily="2" charset="2"/>
              <a:buNone/>
            </a:pPr>
            <a:r>
              <a:rPr lang="zh-CN" altLang="en-US" sz="2400"/>
              <a:t>     </a:t>
            </a:r>
            <a:r>
              <a:rPr lang="en-US" altLang="zh-CN" b="1">
                <a:solidFill>
                  <a:srgbClr val="FFFF66"/>
                </a:solidFill>
              </a:rPr>
              <a:t>5.</a:t>
            </a:r>
            <a:r>
              <a:rPr lang="zh-CN" altLang="en-US" b="1">
                <a:solidFill>
                  <a:srgbClr val="FFFF66"/>
                </a:solidFill>
              </a:rPr>
              <a:t>技术：</a:t>
            </a:r>
          </a:p>
          <a:p>
            <a:pPr>
              <a:lnSpc>
                <a:spcPct val="80000"/>
              </a:lnSpc>
              <a:buFont typeface="Wingdings" pitchFamily="2" charset="2"/>
              <a:buNone/>
            </a:pPr>
            <a:r>
              <a:rPr lang="zh-CN" altLang="en-US" sz="2400" b="1"/>
              <a:t>     全球信息传递及管理方面拥有的单一、综合能力</a:t>
            </a:r>
          </a:p>
          <a:p>
            <a:pPr>
              <a:lnSpc>
                <a:spcPct val="80000"/>
              </a:lnSpc>
            </a:pPr>
            <a:endParaRPr lang="en-US" altLang="zh-CN" sz="2800"/>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marL="54864" indent="0" fontAlgn="auto">
              <a:spcAft>
                <a:spcPts val="0"/>
              </a:spcAft>
              <a:defRPr/>
            </a:pPr>
            <a:endParaRPr lang="zh-CN" altLang="zh-CN">
              <a:solidFill>
                <a:schemeClr val="tx2">
                  <a:tint val="100000"/>
                  <a:shade val="90000"/>
                  <a:satMod val="250000"/>
                  <a:alpha val="100000"/>
                </a:schemeClr>
              </a:solidFill>
              <a:cs typeface="+mj-cs"/>
            </a:endParaRPr>
          </a:p>
        </p:txBody>
      </p:sp>
      <p:sp>
        <p:nvSpPr>
          <p:cNvPr id="38914" name="Rectangle 3"/>
          <p:cNvSpPr>
            <a:spLocks noGrp="1" noChangeArrowheads="1"/>
          </p:cNvSpPr>
          <p:nvPr>
            <p:ph type="body" idx="1"/>
          </p:nvPr>
        </p:nvSpPr>
        <p:spPr/>
        <p:txBody>
          <a:bodyPr/>
          <a:lstStyle/>
          <a:p>
            <a:pPr>
              <a:buFont typeface="Wingdings" pitchFamily="2" charset="2"/>
              <a:buNone/>
            </a:pPr>
            <a:r>
              <a:rPr lang="en-US" altLang="zh-CN" sz="4400" b="1">
                <a:solidFill>
                  <a:srgbClr val="FF9933"/>
                </a:solidFill>
              </a:rPr>
              <a:t>  </a:t>
            </a:r>
            <a:r>
              <a:rPr lang="en-US" altLang="zh-CN" b="1">
                <a:solidFill>
                  <a:srgbClr val="FFFF66"/>
                </a:solidFill>
              </a:rPr>
              <a:t>6.</a:t>
            </a:r>
            <a:r>
              <a:rPr lang="zh-CN" altLang="en-US" b="1">
                <a:solidFill>
                  <a:srgbClr val="FFFF66"/>
                </a:solidFill>
              </a:rPr>
              <a:t>生存、发展与盈利：</a:t>
            </a:r>
            <a:r>
              <a:rPr lang="zh-CN" altLang="en-US" b="1"/>
              <a:t>   </a:t>
            </a:r>
          </a:p>
          <a:p>
            <a:pPr>
              <a:buFont typeface="Wingdings" pitchFamily="2" charset="2"/>
              <a:buNone/>
            </a:pPr>
            <a:r>
              <a:rPr lang="zh-CN" altLang="en-US" b="1"/>
              <a:t>   目标是使人类与和他们的信息更加紧密地联系在一起，并使自己在这一领域里成为世界最好的公司</a:t>
            </a:r>
          </a:p>
          <a:p>
            <a:pPr>
              <a:buFont typeface="Wingdings" pitchFamily="2" charset="2"/>
              <a:buNone/>
            </a:pPr>
            <a:r>
              <a:rPr lang="zh-CN" altLang="en-US" sz="4400" b="1">
                <a:solidFill>
                  <a:srgbClr val="FF9933"/>
                </a:solidFill>
              </a:rPr>
              <a:t>  </a:t>
            </a:r>
            <a:r>
              <a:rPr lang="en-US" altLang="zh-CN" b="1">
                <a:solidFill>
                  <a:srgbClr val="FFFF66"/>
                </a:solidFill>
              </a:rPr>
              <a:t>7.</a:t>
            </a:r>
            <a:r>
              <a:rPr lang="zh-CN" altLang="en-US" b="1">
                <a:solidFill>
                  <a:srgbClr val="FFFF66"/>
                </a:solidFill>
              </a:rPr>
              <a:t>价值观、经营哲学：</a:t>
            </a:r>
            <a:r>
              <a:rPr lang="zh-CN" altLang="en-US" b="1"/>
              <a:t>   </a:t>
            </a:r>
          </a:p>
          <a:p>
            <a:pPr>
              <a:buFont typeface="Wingdings" pitchFamily="2" charset="2"/>
              <a:buNone/>
            </a:pPr>
            <a:r>
              <a:rPr lang="zh-CN" altLang="en-US" b="1"/>
              <a:t>   科技以人为本    服务以诚为重</a:t>
            </a: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marL="54864" indent="0" fontAlgn="auto">
              <a:spcAft>
                <a:spcPts val="0"/>
              </a:spcAft>
              <a:defRPr/>
            </a:pPr>
            <a:endParaRPr lang="zh-CN" altLang="zh-CN">
              <a:solidFill>
                <a:schemeClr val="tx2">
                  <a:tint val="100000"/>
                  <a:shade val="90000"/>
                  <a:satMod val="250000"/>
                  <a:alpha val="100000"/>
                </a:schemeClr>
              </a:solidFill>
              <a:cs typeface="+mj-cs"/>
            </a:endParaRPr>
          </a:p>
        </p:txBody>
      </p:sp>
      <p:sp>
        <p:nvSpPr>
          <p:cNvPr id="39938" name="Rectangle 3"/>
          <p:cNvSpPr>
            <a:spLocks noGrp="1" noChangeArrowheads="1"/>
          </p:cNvSpPr>
          <p:nvPr>
            <p:ph type="body" idx="1"/>
          </p:nvPr>
        </p:nvSpPr>
        <p:spPr/>
        <p:txBody>
          <a:bodyPr/>
          <a:lstStyle/>
          <a:p>
            <a:pPr>
              <a:buFont typeface="Wingdings" pitchFamily="2" charset="2"/>
              <a:buNone/>
            </a:pPr>
            <a:r>
              <a:rPr lang="en-US" altLang="zh-CN" b="1">
                <a:solidFill>
                  <a:srgbClr val="FFFF66"/>
                </a:solidFill>
              </a:rPr>
              <a:t>     8.</a:t>
            </a:r>
            <a:r>
              <a:rPr lang="zh-CN" altLang="en-US" b="1">
                <a:solidFill>
                  <a:srgbClr val="FFFF66"/>
                </a:solidFill>
              </a:rPr>
              <a:t>自我意识：</a:t>
            </a:r>
          </a:p>
          <a:p>
            <a:pPr>
              <a:buFont typeface="Wingdings" pitchFamily="2" charset="2"/>
              <a:buNone/>
            </a:pPr>
            <a:r>
              <a:rPr lang="zh-CN" altLang="en-US" b="1"/>
              <a:t>       公司致力于使世界各地的人们毫无困难地彼此联系，并得到良好的信息沟通和服务</a:t>
            </a:r>
          </a:p>
          <a:p>
            <a:pPr>
              <a:buFont typeface="Wingdings" pitchFamily="2" charset="2"/>
              <a:buNone/>
            </a:pPr>
            <a:r>
              <a:rPr lang="zh-CN" altLang="en-US"/>
              <a:t>    </a:t>
            </a:r>
            <a:r>
              <a:rPr lang="en-US" altLang="zh-CN" b="1">
                <a:solidFill>
                  <a:srgbClr val="FFFF66"/>
                </a:solidFill>
              </a:rPr>
              <a:t>9.</a:t>
            </a:r>
            <a:r>
              <a:rPr lang="zh-CN" altLang="en-US" b="1">
                <a:solidFill>
                  <a:srgbClr val="FFFF66"/>
                </a:solidFill>
              </a:rPr>
              <a:t>职工：</a:t>
            </a:r>
            <a:r>
              <a:rPr lang="zh-CN" altLang="en-US" b="1"/>
              <a:t>（需进一步明确）</a:t>
            </a:r>
          </a:p>
          <a:p>
            <a:pPr>
              <a:buFont typeface="Wingdings" pitchFamily="2" charset="2"/>
              <a:buNone/>
            </a:pPr>
            <a:r>
              <a:rPr lang="zh-CN" altLang="en-US" b="1"/>
              <a:t>    </a:t>
            </a: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marL="54864" indent="0" fontAlgn="auto">
              <a:spcAft>
                <a:spcPts val="0"/>
              </a:spcAft>
              <a:defRPr/>
            </a:pPr>
            <a:endParaRPr lang="zh-CN" altLang="en-US" sz="3200" b="1" dirty="0">
              <a:solidFill>
                <a:schemeClr val="tx2">
                  <a:tint val="100000"/>
                  <a:shade val="90000"/>
                  <a:satMod val="250000"/>
                  <a:alpha val="100000"/>
                </a:schemeClr>
              </a:solidFill>
              <a:cs typeface="+mj-cs"/>
            </a:endParaRPr>
          </a:p>
        </p:txBody>
      </p:sp>
      <p:sp>
        <p:nvSpPr>
          <p:cNvPr id="40962" name="Rectangle 3"/>
          <p:cNvSpPr>
            <a:spLocks noGrp="1" noChangeArrowheads="1"/>
          </p:cNvSpPr>
          <p:nvPr>
            <p:ph type="body" idx="1"/>
          </p:nvPr>
        </p:nvSpPr>
        <p:spPr/>
        <p:txBody>
          <a:bodyPr/>
          <a:lstStyle/>
          <a:p>
            <a:r>
              <a:rPr lang="zh-CN" altLang="en-US" b="1">
                <a:solidFill>
                  <a:srgbClr val="FFFF66"/>
                </a:solidFill>
              </a:rPr>
              <a:t>亚洲电话电报公司：</a:t>
            </a:r>
          </a:p>
          <a:p>
            <a:pPr>
              <a:buFont typeface="Wingdings" pitchFamily="2" charset="2"/>
              <a:buNone/>
            </a:pPr>
            <a:r>
              <a:rPr lang="zh-CN" altLang="en-US" sz="2800" b="1"/>
              <a:t>        向世界各地的商界、个人以及政府机构提供网络设备、计算机系统等通讯产品及服务的全球性公司。公司在全球信息传递及管理方面拥有的单一和综合能力。公司信仰“科技以人为本，服务以诚为重”，使世界各地的人们毫无困难地享受彼此沟通的欢乐。公司的目标是使人类和他们的信息紧密相连，在这一领域成为世界一流的企业。</a:t>
            </a:r>
          </a:p>
          <a:p>
            <a:endParaRPr lang="en-US" altLang="zh-CN" sz="2800"/>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53536"/>
            <a:ext cx="8229600" cy="1143000"/>
          </a:xfrm>
        </p:spPr>
        <p:txBody>
          <a:bodyPr/>
          <a:lstStyle/>
          <a:p>
            <a:pPr marL="54864" indent="0" fontAlgn="auto">
              <a:spcAft>
                <a:spcPts val="0"/>
              </a:spcAft>
              <a:defRPr/>
            </a:pPr>
            <a:r>
              <a:rPr lang="zh-CN" altLang="en-US" dirty="0">
                <a:solidFill>
                  <a:schemeClr val="tx2">
                    <a:tint val="100000"/>
                    <a:shade val="90000"/>
                    <a:satMod val="250000"/>
                    <a:alpha val="100000"/>
                  </a:schemeClr>
                </a:solidFill>
                <a:cs typeface="+mj-cs"/>
              </a:rPr>
              <a:t>企业愿景和企业使命的关系</a:t>
            </a:r>
          </a:p>
        </p:txBody>
      </p:sp>
      <p:sp>
        <p:nvSpPr>
          <p:cNvPr id="43010" name="内容占位符 2"/>
          <p:cNvSpPr>
            <a:spLocks noGrp="1"/>
          </p:cNvSpPr>
          <p:nvPr>
            <p:ph idx="1"/>
          </p:nvPr>
        </p:nvSpPr>
        <p:spPr/>
        <p:txBody>
          <a:bodyPr/>
          <a:lstStyle/>
          <a:p>
            <a:r>
              <a:rPr lang="zh-CN" altLang="en-US"/>
              <a:t>企业愿景描述公司未来的经营领域和长远目标，表明“企业将走向哪里”</a:t>
            </a:r>
            <a:endParaRPr lang="en-US" altLang="zh-CN"/>
          </a:p>
          <a:p>
            <a:r>
              <a:rPr lang="zh-CN" altLang="en-US"/>
              <a:t>企业使命陈述通常描述公司现在的经营领域，表明“我们是谁？我们在干什么？”</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noFill/>
        </p:spPr>
        <p:txBody>
          <a:bodyPr/>
          <a:lstStyle/>
          <a:p>
            <a:pPr algn="l" eaLnBrk="1" hangingPunct="1"/>
            <a:r>
              <a:rPr lang="en-US" altLang="zh-CN" b="1">
                <a:latin typeface="Calibri" charset="0"/>
                <a:ea typeface="宋体" charset="0"/>
              </a:rPr>
              <a:t>  </a:t>
            </a:r>
            <a:r>
              <a:rPr lang="zh-CN" altLang="en-US" b="1">
                <a:latin typeface="Calibri" charset="0"/>
                <a:ea typeface="宋体" charset="0"/>
              </a:rPr>
              <a:t>实例分析：松下公司使命</a:t>
            </a:r>
          </a:p>
        </p:txBody>
      </p:sp>
      <p:sp>
        <p:nvSpPr>
          <p:cNvPr id="21507" name="Rectangle 3"/>
          <p:cNvSpPr>
            <a:spLocks noGrp="1" noChangeArrowheads="1"/>
          </p:cNvSpPr>
          <p:nvPr>
            <p:ph type="body" idx="1"/>
          </p:nvPr>
        </p:nvSpPr>
        <p:spPr>
          <a:noFill/>
        </p:spPr>
        <p:txBody>
          <a:bodyPr/>
          <a:lstStyle/>
          <a:p>
            <a:pPr eaLnBrk="1" hangingPunct="1"/>
            <a:r>
              <a:rPr lang="zh-CN" altLang="en-US" sz="4400" b="1">
                <a:latin typeface="Calibri" charset="0"/>
                <a:ea typeface="宋体" charset="0"/>
              </a:rPr>
              <a:t>作为工业组织的一个成员，努力改善和提高人们的社会生活水平，要使家用电器像“自来水”那样廉价和充足。</a:t>
            </a:r>
          </a:p>
        </p:txBody>
      </p:sp>
    </p:spTree>
    <p:extLst>
      <p:ext uri="{BB962C8B-B14F-4D97-AF65-F5344CB8AC3E}">
        <p14:creationId xmlns:p14="http://schemas.microsoft.com/office/powerpoint/2010/main" val="1456457322"/>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323850" y="476250"/>
            <a:ext cx="8820150" cy="1008063"/>
          </a:xfrm>
        </p:spPr>
        <p:txBody>
          <a:bodyPr>
            <a:normAutofit fontScale="90000"/>
          </a:bodyPr>
          <a:lstStyle/>
          <a:p>
            <a:pPr eaLnBrk="1" hangingPunct="1"/>
            <a:r>
              <a:rPr lang="en-US" altLang="zh-CN" sz="3200" b="1">
                <a:latin typeface="Calibri" charset="0"/>
                <a:ea typeface="宋体" charset="0"/>
              </a:rPr>
              <a:t>Avon Products,Inc.</a:t>
            </a:r>
            <a:r>
              <a:rPr lang="zh-CN" altLang="en-US" sz="3200" b="1">
                <a:latin typeface="Calibri" charset="0"/>
                <a:ea typeface="宋体" charset="0"/>
              </a:rPr>
              <a:t>雅芳公司使命</a:t>
            </a:r>
            <a:br>
              <a:rPr lang="zh-CN" altLang="en-US" sz="3200" b="1">
                <a:latin typeface="Calibri" charset="0"/>
                <a:ea typeface="宋体" charset="0"/>
              </a:rPr>
            </a:br>
            <a:endParaRPr lang="zh-CN" altLang="en-US" sz="3200" b="1">
              <a:latin typeface="Calibri" charset="0"/>
              <a:ea typeface="宋体" charset="0"/>
            </a:endParaRPr>
          </a:p>
        </p:txBody>
      </p:sp>
      <p:sp>
        <p:nvSpPr>
          <p:cNvPr id="22531" name="Rectangle 3"/>
          <p:cNvSpPr>
            <a:spLocks noGrp="1" noChangeArrowheads="1"/>
          </p:cNvSpPr>
          <p:nvPr>
            <p:ph type="body" idx="1"/>
          </p:nvPr>
        </p:nvSpPr>
        <p:spPr/>
        <p:txBody>
          <a:bodyPr/>
          <a:lstStyle/>
          <a:p>
            <a:pPr eaLnBrk="1" hangingPunct="1">
              <a:buFont typeface="Wingdings" charset="0"/>
              <a:buNone/>
            </a:pPr>
            <a:r>
              <a:rPr lang="en-US" altLang="zh-CN">
                <a:latin typeface="Calibri" charset="0"/>
                <a:ea typeface="宋体" charset="0"/>
              </a:rPr>
              <a:t>        </a:t>
            </a:r>
            <a:r>
              <a:rPr lang="zh-CN" altLang="en-US" sz="3600" b="1">
                <a:latin typeface="Calibri" charset="0"/>
                <a:ea typeface="宋体" charset="0"/>
              </a:rPr>
              <a:t>成为一家最了解女性需要、为全球女性提供一流的产品以及服务、并满足她们自我成就感的公司。简言之，成为一家比女人更了解女人的公司。</a:t>
            </a:r>
          </a:p>
        </p:txBody>
      </p:sp>
    </p:spTree>
    <p:extLst>
      <p:ext uri="{BB962C8B-B14F-4D97-AF65-F5344CB8AC3E}">
        <p14:creationId xmlns:p14="http://schemas.microsoft.com/office/powerpoint/2010/main" val="308055112"/>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p:txBody>
          <a:bodyPr/>
          <a:lstStyle/>
          <a:p>
            <a:r>
              <a:rPr lang="zh-CN" altLang="en-US">
                <a:latin typeface="Calibri" charset="0"/>
                <a:ea typeface="宋体" charset="0"/>
              </a:rPr>
              <a:t>是谁？</a:t>
            </a:r>
          </a:p>
        </p:txBody>
      </p:sp>
      <p:sp>
        <p:nvSpPr>
          <p:cNvPr id="23555" name="内容占位符 2"/>
          <p:cNvSpPr>
            <a:spLocks noGrp="1"/>
          </p:cNvSpPr>
          <p:nvPr>
            <p:ph idx="1"/>
          </p:nvPr>
        </p:nvSpPr>
        <p:spPr/>
        <p:txBody>
          <a:bodyPr/>
          <a:lstStyle/>
          <a:p>
            <a:r>
              <a:rPr lang="zh-CN" altLang="en-US">
                <a:latin typeface="Calibri" charset="0"/>
                <a:ea typeface="宋体" charset="0"/>
              </a:rPr>
              <a:t>使命：</a:t>
            </a:r>
            <a:br>
              <a:rPr lang="zh-CN" altLang="en-US">
                <a:latin typeface="Calibri" charset="0"/>
                <a:ea typeface="宋体" charset="0"/>
              </a:rPr>
            </a:br>
            <a:r>
              <a:rPr lang="zh-CN" altLang="en-US">
                <a:latin typeface="Calibri" charset="0"/>
                <a:ea typeface="宋体" charset="0"/>
              </a:rPr>
              <a:t>立足中国实践 贡献管理知识 培养领袖人才 促进社会发展 </a:t>
            </a:r>
          </a:p>
          <a:p>
            <a:r>
              <a:rPr lang="zh-CN" altLang="en-US">
                <a:latin typeface="Calibri" charset="0"/>
                <a:ea typeface="宋体" charset="0"/>
              </a:rPr>
              <a:t>愿景：</a:t>
            </a:r>
            <a:br>
              <a:rPr lang="zh-CN" altLang="en-US">
                <a:latin typeface="Calibri" charset="0"/>
                <a:ea typeface="宋体" charset="0"/>
              </a:rPr>
            </a:br>
            <a:r>
              <a:rPr lang="zh-CN" altLang="en-US">
                <a:latin typeface="Calibri" charset="0"/>
                <a:ea typeface="宋体" charset="0"/>
              </a:rPr>
              <a:t>成为最受尊敬的商学院 </a:t>
            </a:r>
          </a:p>
          <a:p>
            <a:r>
              <a:rPr lang="zh-CN" altLang="en-US">
                <a:latin typeface="Calibri" charset="0"/>
                <a:ea typeface="宋体" charset="0"/>
              </a:rPr>
              <a:t>价值观：</a:t>
            </a:r>
            <a:br>
              <a:rPr lang="zh-CN" altLang="en-US">
                <a:latin typeface="Calibri" charset="0"/>
                <a:ea typeface="宋体" charset="0"/>
              </a:rPr>
            </a:br>
            <a:r>
              <a:rPr lang="zh-CN" altLang="en-US">
                <a:latin typeface="Calibri" charset="0"/>
                <a:ea typeface="宋体" charset="0"/>
              </a:rPr>
              <a:t>求真、创新、合作、开放</a:t>
            </a:r>
          </a:p>
          <a:p>
            <a:endParaRPr lang="zh-CN" altLang="en-US">
              <a:latin typeface="Calibri" charset="0"/>
              <a:ea typeface="宋体" charset="0"/>
            </a:endParaRPr>
          </a:p>
        </p:txBody>
      </p:sp>
    </p:spTree>
    <p:extLst>
      <p:ext uri="{BB962C8B-B14F-4D97-AF65-F5344CB8AC3E}">
        <p14:creationId xmlns:p14="http://schemas.microsoft.com/office/powerpoint/2010/main" val="6000464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p:txBody>
          <a:bodyPr/>
          <a:lstStyle/>
          <a:p>
            <a:r>
              <a:rPr lang="zh-CN" altLang="en-US">
                <a:latin typeface="Calibri" charset="0"/>
                <a:ea typeface="宋体" charset="0"/>
              </a:rPr>
              <a:t>是谁？</a:t>
            </a:r>
          </a:p>
        </p:txBody>
      </p:sp>
      <p:sp>
        <p:nvSpPr>
          <p:cNvPr id="24579" name="内容占位符 2"/>
          <p:cNvSpPr>
            <a:spLocks noGrp="1"/>
          </p:cNvSpPr>
          <p:nvPr>
            <p:ph idx="1"/>
          </p:nvPr>
        </p:nvSpPr>
        <p:spPr/>
        <p:txBody>
          <a:bodyPr/>
          <a:lstStyle/>
          <a:p>
            <a:r>
              <a:rPr lang="zh-CN" altLang="en-US">
                <a:latin typeface="Calibri" charset="0"/>
                <a:ea typeface="宋体" charset="0"/>
              </a:rPr>
              <a:t>使命</a:t>
            </a:r>
            <a:br>
              <a:rPr lang="zh-CN" altLang="en-US">
                <a:latin typeface="Calibri" charset="0"/>
                <a:ea typeface="宋体" charset="0"/>
              </a:rPr>
            </a:br>
            <a:r>
              <a:rPr lang="zh-CN" altLang="en-US">
                <a:latin typeface="Calibri" charset="0"/>
                <a:ea typeface="宋体" charset="0"/>
              </a:rPr>
              <a:t>让天下没有难做的生意 </a:t>
            </a:r>
            <a:endParaRPr lang="en-US" altLang="zh-CN">
              <a:latin typeface="Calibri" charset="0"/>
              <a:ea typeface="宋体" charset="0"/>
            </a:endParaRPr>
          </a:p>
          <a:p>
            <a:r>
              <a:rPr lang="zh-CN" altLang="en-US">
                <a:latin typeface="Calibri" charset="0"/>
                <a:ea typeface="宋体" charset="0"/>
              </a:rPr>
              <a:t>愿景</a:t>
            </a:r>
            <a:br>
              <a:rPr lang="zh-CN" altLang="en-US">
                <a:latin typeface="Calibri" charset="0"/>
                <a:ea typeface="宋体" charset="0"/>
              </a:rPr>
            </a:br>
            <a:r>
              <a:rPr lang="zh-CN" altLang="en-US">
                <a:latin typeface="Calibri" charset="0"/>
                <a:ea typeface="宋体" charset="0"/>
              </a:rPr>
              <a:t>通过小企业的</a:t>
            </a:r>
            <a:r>
              <a:rPr lang="en-US" altLang="zh-CN">
                <a:latin typeface="Calibri" charset="0"/>
                <a:ea typeface="宋体" charset="0"/>
              </a:rPr>
              <a:t>IT</a:t>
            </a:r>
            <a:r>
              <a:rPr lang="zh-CN" altLang="en-US">
                <a:latin typeface="Calibri" charset="0"/>
                <a:ea typeface="宋体" charset="0"/>
              </a:rPr>
              <a:t>化，解决小企业采购、销售、管理和融资的难题 </a:t>
            </a:r>
            <a:endParaRPr lang="en-US" altLang="zh-CN">
              <a:latin typeface="Calibri" charset="0"/>
              <a:ea typeface="宋体" charset="0"/>
            </a:endParaRPr>
          </a:p>
          <a:p>
            <a:r>
              <a:rPr lang="zh-CN" altLang="en-US">
                <a:latin typeface="Calibri" charset="0"/>
                <a:ea typeface="宋体" charset="0"/>
              </a:rPr>
              <a:t>价值观</a:t>
            </a:r>
            <a:br>
              <a:rPr lang="zh-CN" altLang="en-US">
                <a:latin typeface="Calibri" charset="0"/>
                <a:ea typeface="宋体" charset="0"/>
              </a:rPr>
            </a:br>
            <a:r>
              <a:rPr lang="en-US" altLang="zh-CN">
                <a:latin typeface="Calibri" charset="0"/>
                <a:ea typeface="宋体" charset="0"/>
                <a:hlinkClick r:id="rId2"/>
              </a:rPr>
              <a:t>http://www.alibaba.com/about/sc/AboutOurCompany/cul_val.html</a:t>
            </a:r>
            <a:endParaRPr lang="en-US" altLang="zh-CN">
              <a:latin typeface="Calibri" charset="0"/>
              <a:ea typeface="宋体" charset="0"/>
            </a:endParaRPr>
          </a:p>
          <a:p>
            <a:endParaRPr lang="zh-CN" altLang="en-US">
              <a:latin typeface="Calibri" charset="0"/>
              <a:ea typeface="宋体" charset="0"/>
            </a:endParaRPr>
          </a:p>
          <a:p>
            <a:endParaRPr lang="zh-CN" altLang="en-US">
              <a:latin typeface="Calibri" charset="0"/>
              <a:ea typeface="宋体" charset="0"/>
            </a:endParaRPr>
          </a:p>
        </p:txBody>
      </p:sp>
    </p:spTree>
    <p:extLst>
      <p:ext uri="{BB962C8B-B14F-4D97-AF65-F5344CB8AC3E}">
        <p14:creationId xmlns:p14="http://schemas.microsoft.com/office/powerpoint/2010/main" val="221093260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457200" y="253536"/>
            <a:ext cx="8229600" cy="1143000"/>
          </a:xfrm>
        </p:spPr>
        <p:txBody>
          <a:bodyPr/>
          <a:lstStyle/>
          <a:p>
            <a:pPr marL="54864" indent="0" fontAlgn="auto">
              <a:spcAft>
                <a:spcPts val="0"/>
              </a:spcAft>
              <a:defRPr/>
            </a:pPr>
            <a:r>
              <a:rPr lang="zh-CN" altLang="en-US" sz="4800" b="1" dirty="0">
                <a:solidFill>
                  <a:schemeClr val="tx2">
                    <a:tint val="100000"/>
                    <a:shade val="90000"/>
                    <a:satMod val="250000"/>
                    <a:alpha val="100000"/>
                  </a:schemeClr>
                </a:solidFill>
                <a:cs typeface="Arial" pitchFamily="34" charset="0"/>
              </a:rPr>
              <a:t>战略目标</a:t>
            </a:r>
          </a:p>
        </p:txBody>
      </p:sp>
      <p:sp>
        <p:nvSpPr>
          <p:cNvPr id="52226" name="Rectangle 3"/>
          <p:cNvSpPr>
            <a:spLocks noGrp="1" noChangeArrowheads="1"/>
          </p:cNvSpPr>
          <p:nvPr>
            <p:ph type="body" idx="1"/>
          </p:nvPr>
        </p:nvSpPr>
        <p:spPr/>
        <p:txBody>
          <a:bodyPr/>
          <a:lstStyle/>
          <a:p>
            <a:r>
              <a:rPr lang="zh-CN" altLang="en-US" sz="3700" b="1">
                <a:ea typeface="华文仿宋"/>
                <a:cs typeface="华文仿宋"/>
              </a:rPr>
              <a:t>战略目标是企业在一定时期内，沿其经营方向所预期达到的理想成果。</a:t>
            </a:r>
            <a:endParaRPr lang="en-US" altLang="zh-CN" sz="3700" b="1">
              <a:ea typeface="华文仿宋"/>
              <a:cs typeface="华文仿宋"/>
            </a:endParaRPr>
          </a:p>
          <a:p>
            <a:r>
              <a:rPr lang="zh-CN" altLang="en-US" sz="3700" b="1">
                <a:ea typeface="华文仿宋"/>
                <a:cs typeface="华文仿宋"/>
              </a:rPr>
              <a:t>挑战性</a:t>
            </a:r>
            <a:endParaRPr lang="en-US" altLang="zh-CN" sz="3700" b="1">
              <a:ea typeface="华文仿宋"/>
              <a:cs typeface="华文仿宋"/>
            </a:endParaRPr>
          </a:p>
          <a:p>
            <a:r>
              <a:rPr lang="zh-CN" altLang="en-US" sz="3700" b="1">
                <a:ea typeface="华文仿宋"/>
                <a:cs typeface="华文仿宋"/>
              </a:rPr>
              <a:t>可度量</a:t>
            </a:r>
            <a:endParaRPr lang="en-US" altLang="zh-CN" sz="3700" b="1">
              <a:ea typeface="华文仿宋"/>
              <a:cs typeface="华文仿宋"/>
            </a:endParaRPr>
          </a:p>
          <a:p>
            <a:r>
              <a:rPr lang="zh-CN" altLang="en-US" sz="3700" b="1">
                <a:ea typeface="华文仿宋"/>
                <a:cs typeface="华文仿宋"/>
              </a:rPr>
              <a:t>系统性</a:t>
            </a:r>
            <a:endParaRPr lang="en-US" altLang="zh-CN" sz="3700" b="1">
              <a:ea typeface="华文仿宋"/>
              <a:cs typeface="华文仿宋"/>
            </a:endParaRPr>
          </a:p>
          <a:p>
            <a:r>
              <a:rPr lang="zh-CN" altLang="en-US" sz="3700" b="1">
                <a:ea typeface="华文仿宋"/>
                <a:cs typeface="华文仿宋"/>
              </a:rPr>
              <a:t>相对稳定及动态性</a:t>
            </a:r>
          </a:p>
          <a:p>
            <a:endParaRPr lang="en-US" altLang="zh-CN"/>
          </a:p>
        </p:txBody>
      </p:sp>
      <p:grpSp>
        <p:nvGrpSpPr>
          <p:cNvPr id="52227" name="Group 4"/>
          <p:cNvGrpSpPr>
            <a:grpSpLocks/>
          </p:cNvGrpSpPr>
          <p:nvPr/>
        </p:nvGrpSpPr>
        <p:grpSpPr bwMode="auto">
          <a:xfrm rot="10800000">
            <a:off x="250825" y="549275"/>
            <a:ext cx="1833563" cy="344488"/>
            <a:chOff x="2784" y="2808"/>
            <a:chExt cx="1153" cy="217"/>
          </a:xfrm>
        </p:grpSpPr>
        <p:sp>
          <p:nvSpPr>
            <p:cNvPr id="52228" name="Freeform 5"/>
            <p:cNvSpPr>
              <a:spLocks/>
            </p:cNvSpPr>
            <p:nvPr/>
          </p:nvSpPr>
          <p:spPr bwMode="auto">
            <a:xfrm>
              <a:off x="2784" y="2813"/>
              <a:ext cx="255" cy="203"/>
            </a:xfrm>
            <a:custGeom>
              <a:avLst/>
              <a:gdLst>
                <a:gd name="T0" fmla="*/ 0 w 255"/>
                <a:gd name="T1" fmla="*/ 108 h 203"/>
                <a:gd name="T2" fmla="*/ 254 w 255"/>
                <a:gd name="T3" fmla="*/ 202 h 203"/>
                <a:gd name="T4" fmla="*/ 205 w 255"/>
                <a:gd name="T5" fmla="*/ 126 h 203"/>
                <a:gd name="T6" fmla="*/ 205 w 255"/>
                <a:gd name="T7" fmla="*/ 81 h 203"/>
                <a:gd name="T8" fmla="*/ 254 w 255"/>
                <a:gd name="T9" fmla="*/ 0 h 203"/>
                <a:gd name="T10" fmla="*/ 0 w 255"/>
                <a:gd name="T11" fmla="*/ 108 h 203"/>
                <a:gd name="T12" fmla="*/ 0 60000 65536"/>
                <a:gd name="T13" fmla="*/ 0 60000 65536"/>
                <a:gd name="T14" fmla="*/ 0 60000 65536"/>
                <a:gd name="T15" fmla="*/ 0 60000 65536"/>
                <a:gd name="T16" fmla="*/ 0 60000 65536"/>
                <a:gd name="T17" fmla="*/ 0 60000 65536"/>
                <a:gd name="T18" fmla="*/ 0 w 255"/>
                <a:gd name="T19" fmla="*/ 0 h 203"/>
                <a:gd name="T20" fmla="*/ 255 w 255"/>
                <a:gd name="T21" fmla="*/ 203 h 203"/>
              </a:gdLst>
              <a:ahLst/>
              <a:cxnLst>
                <a:cxn ang="T12">
                  <a:pos x="T0" y="T1"/>
                </a:cxn>
                <a:cxn ang="T13">
                  <a:pos x="T2" y="T3"/>
                </a:cxn>
                <a:cxn ang="T14">
                  <a:pos x="T4" y="T5"/>
                </a:cxn>
                <a:cxn ang="T15">
                  <a:pos x="T6" y="T7"/>
                </a:cxn>
                <a:cxn ang="T16">
                  <a:pos x="T8" y="T9"/>
                </a:cxn>
                <a:cxn ang="T17">
                  <a:pos x="T10" y="T11"/>
                </a:cxn>
              </a:cxnLst>
              <a:rect l="T18" t="T19" r="T20" b="T21"/>
              <a:pathLst>
                <a:path w="255" h="203">
                  <a:moveTo>
                    <a:pt x="0" y="108"/>
                  </a:moveTo>
                  <a:lnTo>
                    <a:pt x="254" y="202"/>
                  </a:lnTo>
                  <a:lnTo>
                    <a:pt x="205" y="126"/>
                  </a:lnTo>
                  <a:lnTo>
                    <a:pt x="205" y="81"/>
                  </a:lnTo>
                  <a:lnTo>
                    <a:pt x="254" y="0"/>
                  </a:lnTo>
                  <a:lnTo>
                    <a:pt x="0" y="108"/>
                  </a:lnTo>
                  <a:close/>
                </a:path>
              </a:pathLst>
            </a:custGeom>
            <a:solidFill>
              <a:srgbClr val="888888"/>
            </a:solidFill>
            <a:ln w="3175" cap="flat">
              <a:solidFill>
                <a:srgbClr val="FFFF00"/>
              </a:solidFill>
              <a:prstDash val="solid"/>
              <a:round/>
              <a:headEnd/>
              <a:tailEnd/>
            </a:ln>
          </p:spPr>
          <p:txBody>
            <a:bodyPr wrap="none" anchor="ctr">
              <a:spAutoFit/>
            </a:bodyPr>
            <a:lstStyle/>
            <a:p>
              <a:endParaRPr lang="zh-CN" altLang="en-US"/>
            </a:p>
          </p:txBody>
        </p:sp>
        <p:sp>
          <p:nvSpPr>
            <p:cNvPr id="52229" name="Freeform 6"/>
            <p:cNvSpPr>
              <a:spLocks/>
            </p:cNvSpPr>
            <p:nvPr/>
          </p:nvSpPr>
          <p:spPr bwMode="auto">
            <a:xfrm>
              <a:off x="2989" y="2898"/>
              <a:ext cx="854" cy="42"/>
            </a:xfrm>
            <a:custGeom>
              <a:avLst/>
              <a:gdLst>
                <a:gd name="T0" fmla="*/ 0 w 854"/>
                <a:gd name="T1" fmla="*/ 41 h 42"/>
                <a:gd name="T2" fmla="*/ 0 w 854"/>
                <a:gd name="T3" fmla="*/ 0 h 42"/>
                <a:gd name="T4" fmla="*/ 853 w 854"/>
                <a:gd name="T5" fmla="*/ 0 h 42"/>
                <a:gd name="T6" fmla="*/ 853 w 854"/>
                <a:gd name="T7" fmla="*/ 41 h 42"/>
                <a:gd name="T8" fmla="*/ 836 w 854"/>
                <a:gd name="T9" fmla="*/ 23 h 42"/>
                <a:gd name="T10" fmla="*/ 615 w 854"/>
                <a:gd name="T11" fmla="*/ 23 h 42"/>
                <a:gd name="T12" fmla="*/ 627 w 854"/>
                <a:gd name="T13" fmla="*/ 41 h 42"/>
                <a:gd name="T14" fmla="*/ 0 w 854"/>
                <a:gd name="T15" fmla="*/ 41 h 42"/>
                <a:gd name="T16" fmla="*/ 0 60000 65536"/>
                <a:gd name="T17" fmla="*/ 0 60000 65536"/>
                <a:gd name="T18" fmla="*/ 0 60000 65536"/>
                <a:gd name="T19" fmla="*/ 0 60000 65536"/>
                <a:gd name="T20" fmla="*/ 0 60000 65536"/>
                <a:gd name="T21" fmla="*/ 0 60000 65536"/>
                <a:gd name="T22" fmla="*/ 0 60000 65536"/>
                <a:gd name="T23" fmla="*/ 0 60000 65536"/>
                <a:gd name="T24" fmla="*/ 0 w 854"/>
                <a:gd name="T25" fmla="*/ 0 h 42"/>
                <a:gd name="T26" fmla="*/ 854 w 854"/>
                <a:gd name="T27" fmla="*/ 42 h 4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54" h="42">
                  <a:moveTo>
                    <a:pt x="0" y="41"/>
                  </a:moveTo>
                  <a:lnTo>
                    <a:pt x="0" y="0"/>
                  </a:lnTo>
                  <a:lnTo>
                    <a:pt x="853" y="0"/>
                  </a:lnTo>
                  <a:lnTo>
                    <a:pt x="853" y="41"/>
                  </a:lnTo>
                  <a:lnTo>
                    <a:pt x="836" y="23"/>
                  </a:lnTo>
                  <a:lnTo>
                    <a:pt x="615" y="23"/>
                  </a:lnTo>
                  <a:lnTo>
                    <a:pt x="627" y="41"/>
                  </a:lnTo>
                  <a:lnTo>
                    <a:pt x="0" y="41"/>
                  </a:lnTo>
                  <a:close/>
                </a:path>
              </a:pathLst>
            </a:custGeom>
            <a:solidFill>
              <a:srgbClr val="444444"/>
            </a:solidFill>
            <a:ln w="3175" cap="flat">
              <a:solidFill>
                <a:srgbClr val="FFFF00"/>
              </a:solidFill>
              <a:prstDash val="solid"/>
              <a:round/>
              <a:headEnd/>
              <a:tailEnd/>
            </a:ln>
          </p:spPr>
          <p:txBody>
            <a:bodyPr wrap="none" anchor="ctr">
              <a:spAutoFit/>
            </a:bodyPr>
            <a:lstStyle/>
            <a:p>
              <a:endParaRPr lang="zh-CN" altLang="en-US"/>
            </a:p>
          </p:txBody>
        </p:sp>
        <p:grpSp>
          <p:nvGrpSpPr>
            <p:cNvPr id="52230" name="Group 7"/>
            <p:cNvGrpSpPr>
              <a:grpSpLocks/>
            </p:cNvGrpSpPr>
            <p:nvPr/>
          </p:nvGrpSpPr>
          <p:grpSpPr bwMode="auto">
            <a:xfrm>
              <a:off x="3583" y="2808"/>
              <a:ext cx="354" cy="217"/>
              <a:chOff x="3583" y="2808"/>
              <a:chExt cx="354" cy="217"/>
            </a:xfrm>
          </p:grpSpPr>
          <p:sp>
            <p:nvSpPr>
              <p:cNvPr id="52231" name="Freeform 8"/>
              <p:cNvSpPr>
                <a:spLocks/>
              </p:cNvSpPr>
              <p:nvPr/>
            </p:nvSpPr>
            <p:spPr bwMode="auto">
              <a:xfrm>
                <a:off x="3604" y="2921"/>
                <a:ext cx="325" cy="104"/>
              </a:xfrm>
              <a:custGeom>
                <a:avLst/>
                <a:gdLst>
                  <a:gd name="T0" fmla="*/ 0 w 325"/>
                  <a:gd name="T1" fmla="*/ 0 h 104"/>
                  <a:gd name="T2" fmla="*/ 102 w 325"/>
                  <a:gd name="T3" fmla="*/ 103 h 104"/>
                  <a:gd name="T4" fmla="*/ 324 w 325"/>
                  <a:gd name="T5" fmla="*/ 103 h 104"/>
                  <a:gd name="T6" fmla="*/ 238 w 325"/>
                  <a:gd name="T7" fmla="*/ 18 h 104"/>
                  <a:gd name="T8" fmla="*/ 221 w 325"/>
                  <a:gd name="T9" fmla="*/ 0 h 104"/>
                  <a:gd name="T10" fmla="*/ 0 w 325"/>
                  <a:gd name="T11" fmla="*/ 0 h 104"/>
                  <a:gd name="T12" fmla="*/ 0 w 325"/>
                  <a:gd name="T13" fmla="*/ 0 h 104"/>
                  <a:gd name="T14" fmla="*/ 0 60000 65536"/>
                  <a:gd name="T15" fmla="*/ 0 60000 65536"/>
                  <a:gd name="T16" fmla="*/ 0 60000 65536"/>
                  <a:gd name="T17" fmla="*/ 0 60000 65536"/>
                  <a:gd name="T18" fmla="*/ 0 60000 65536"/>
                  <a:gd name="T19" fmla="*/ 0 60000 65536"/>
                  <a:gd name="T20" fmla="*/ 0 60000 65536"/>
                  <a:gd name="T21" fmla="*/ 0 w 325"/>
                  <a:gd name="T22" fmla="*/ 0 h 104"/>
                  <a:gd name="T23" fmla="*/ 325 w 325"/>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5" h="104">
                    <a:moveTo>
                      <a:pt x="0" y="0"/>
                    </a:moveTo>
                    <a:lnTo>
                      <a:pt x="102" y="103"/>
                    </a:lnTo>
                    <a:lnTo>
                      <a:pt x="324" y="103"/>
                    </a:lnTo>
                    <a:lnTo>
                      <a:pt x="238" y="18"/>
                    </a:lnTo>
                    <a:lnTo>
                      <a:pt x="221" y="0"/>
                    </a:lnTo>
                    <a:lnTo>
                      <a:pt x="0" y="0"/>
                    </a:lnTo>
                    <a:close/>
                  </a:path>
                </a:pathLst>
              </a:custGeom>
              <a:solidFill>
                <a:srgbClr val="BBBBBB"/>
              </a:solidFill>
              <a:ln w="0" cap="flat">
                <a:solidFill>
                  <a:srgbClr val="FFFF00"/>
                </a:solidFill>
                <a:prstDash val="solid"/>
                <a:round/>
                <a:headEnd/>
                <a:tailEnd/>
              </a:ln>
            </p:spPr>
            <p:txBody>
              <a:bodyPr wrap="none" anchor="ctr">
                <a:spAutoFit/>
              </a:bodyPr>
              <a:lstStyle/>
              <a:p>
                <a:endParaRPr lang="zh-CN" altLang="en-US"/>
              </a:p>
            </p:txBody>
          </p:sp>
          <p:sp>
            <p:nvSpPr>
              <p:cNvPr id="52232" name="Freeform 9"/>
              <p:cNvSpPr>
                <a:spLocks/>
              </p:cNvSpPr>
              <p:nvPr/>
            </p:nvSpPr>
            <p:spPr bwMode="auto">
              <a:xfrm>
                <a:off x="3604" y="2921"/>
                <a:ext cx="325" cy="104"/>
              </a:xfrm>
              <a:custGeom>
                <a:avLst/>
                <a:gdLst>
                  <a:gd name="T0" fmla="*/ 0 w 325"/>
                  <a:gd name="T1" fmla="*/ 0 h 104"/>
                  <a:gd name="T2" fmla="*/ 102 w 325"/>
                  <a:gd name="T3" fmla="*/ 103 h 104"/>
                  <a:gd name="T4" fmla="*/ 324 w 325"/>
                  <a:gd name="T5" fmla="*/ 103 h 104"/>
                  <a:gd name="T6" fmla="*/ 238 w 325"/>
                  <a:gd name="T7" fmla="*/ 18 h 104"/>
                  <a:gd name="T8" fmla="*/ 221 w 325"/>
                  <a:gd name="T9" fmla="*/ 0 h 104"/>
                  <a:gd name="T10" fmla="*/ 0 w 325"/>
                  <a:gd name="T11" fmla="*/ 0 h 104"/>
                  <a:gd name="T12" fmla="*/ 0 60000 65536"/>
                  <a:gd name="T13" fmla="*/ 0 60000 65536"/>
                  <a:gd name="T14" fmla="*/ 0 60000 65536"/>
                  <a:gd name="T15" fmla="*/ 0 60000 65536"/>
                  <a:gd name="T16" fmla="*/ 0 60000 65536"/>
                  <a:gd name="T17" fmla="*/ 0 60000 65536"/>
                  <a:gd name="T18" fmla="*/ 0 w 325"/>
                  <a:gd name="T19" fmla="*/ 0 h 104"/>
                  <a:gd name="T20" fmla="*/ 325 w 325"/>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325" h="104">
                    <a:moveTo>
                      <a:pt x="0" y="0"/>
                    </a:moveTo>
                    <a:lnTo>
                      <a:pt x="102" y="103"/>
                    </a:lnTo>
                    <a:lnTo>
                      <a:pt x="324" y="103"/>
                    </a:lnTo>
                    <a:lnTo>
                      <a:pt x="238" y="18"/>
                    </a:lnTo>
                    <a:lnTo>
                      <a:pt x="221" y="0"/>
                    </a:lnTo>
                    <a:lnTo>
                      <a:pt x="0" y="0"/>
                    </a:lnTo>
                    <a:close/>
                  </a:path>
                </a:pathLst>
              </a:custGeom>
              <a:solidFill>
                <a:srgbClr val="BBBBBB"/>
              </a:solidFill>
              <a:ln w="3175" cap="flat">
                <a:solidFill>
                  <a:srgbClr val="FFFF00"/>
                </a:solidFill>
                <a:prstDash val="solid"/>
                <a:round/>
                <a:headEnd/>
                <a:tailEnd/>
              </a:ln>
            </p:spPr>
            <p:txBody>
              <a:bodyPr wrap="none" anchor="ctr">
                <a:spAutoFit/>
              </a:bodyPr>
              <a:lstStyle/>
              <a:p>
                <a:endParaRPr lang="zh-CN" altLang="en-US"/>
              </a:p>
            </p:txBody>
          </p:sp>
          <p:sp>
            <p:nvSpPr>
              <p:cNvPr id="52233" name="Freeform 10"/>
              <p:cNvSpPr>
                <a:spLocks/>
              </p:cNvSpPr>
              <p:nvPr/>
            </p:nvSpPr>
            <p:spPr bwMode="auto">
              <a:xfrm>
                <a:off x="3624" y="2808"/>
                <a:ext cx="313" cy="91"/>
              </a:xfrm>
              <a:custGeom>
                <a:avLst/>
                <a:gdLst>
                  <a:gd name="T0" fmla="*/ 0 w 313"/>
                  <a:gd name="T1" fmla="*/ 90 h 91"/>
                  <a:gd name="T2" fmla="*/ 66 w 313"/>
                  <a:gd name="T3" fmla="*/ 23 h 91"/>
                  <a:gd name="T4" fmla="*/ 91 w 313"/>
                  <a:gd name="T5" fmla="*/ 0 h 91"/>
                  <a:gd name="T6" fmla="*/ 312 w 313"/>
                  <a:gd name="T7" fmla="*/ 0 h 91"/>
                  <a:gd name="T8" fmla="*/ 218 w 313"/>
                  <a:gd name="T9" fmla="*/ 90 h 91"/>
                  <a:gd name="T10" fmla="*/ 0 w 313"/>
                  <a:gd name="T11" fmla="*/ 90 h 91"/>
                  <a:gd name="T12" fmla="*/ 0 w 313"/>
                  <a:gd name="T13" fmla="*/ 90 h 91"/>
                  <a:gd name="T14" fmla="*/ 0 60000 65536"/>
                  <a:gd name="T15" fmla="*/ 0 60000 65536"/>
                  <a:gd name="T16" fmla="*/ 0 60000 65536"/>
                  <a:gd name="T17" fmla="*/ 0 60000 65536"/>
                  <a:gd name="T18" fmla="*/ 0 60000 65536"/>
                  <a:gd name="T19" fmla="*/ 0 60000 65536"/>
                  <a:gd name="T20" fmla="*/ 0 60000 65536"/>
                  <a:gd name="T21" fmla="*/ 0 w 313"/>
                  <a:gd name="T22" fmla="*/ 0 h 91"/>
                  <a:gd name="T23" fmla="*/ 313 w 313"/>
                  <a:gd name="T24" fmla="*/ 91 h 9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3" h="91">
                    <a:moveTo>
                      <a:pt x="0" y="90"/>
                    </a:moveTo>
                    <a:lnTo>
                      <a:pt x="66" y="23"/>
                    </a:lnTo>
                    <a:lnTo>
                      <a:pt x="91" y="0"/>
                    </a:lnTo>
                    <a:lnTo>
                      <a:pt x="312" y="0"/>
                    </a:lnTo>
                    <a:lnTo>
                      <a:pt x="218" y="90"/>
                    </a:lnTo>
                    <a:lnTo>
                      <a:pt x="0" y="90"/>
                    </a:lnTo>
                    <a:close/>
                  </a:path>
                </a:pathLst>
              </a:custGeom>
              <a:solidFill>
                <a:srgbClr val="BBBBBB"/>
              </a:solidFill>
              <a:ln w="0" cap="flat">
                <a:solidFill>
                  <a:srgbClr val="FFFF00"/>
                </a:solidFill>
                <a:prstDash val="solid"/>
                <a:round/>
                <a:headEnd/>
                <a:tailEnd/>
              </a:ln>
            </p:spPr>
            <p:txBody>
              <a:bodyPr wrap="none" anchor="ctr">
                <a:spAutoFit/>
              </a:bodyPr>
              <a:lstStyle/>
              <a:p>
                <a:endParaRPr lang="zh-CN" altLang="en-US"/>
              </a:p>
            </p:txBody>
          </p:sp>
          <p:sp>
            <p:nvSpPr>
              <p:cNvPr id="52234" name="Freeform 11"/>
              <p:cNvSpPr>
                <a:spLocks/>
              </p:cNvSpPr>
              <p:nvPr/>
            </p:nvSpPr>
            <p:spPr bwMode="auto">
              <a:xfrm>
                <a:off x="3624" y="2808"/>
                <a:ext cx="313" cy="91"/>
              </a:xfrm>
              <a:custGeom>
                <a:avLst/>
                <a:gdLst>
                  <a:gd name="T0" fmla="*/ 0 w 313"/>
                  <a:gd name="T1" fmla="*/ 90 h 91"/>
                  <a:gd name="T2" fmla="*/ 66 w 313"/>
                  <a:gd name="T3" fmla="*/ 23 h 91"/>
                  <a:gd name="T4" fmla="*/ 91 w 313"/>
                  <a:gd name="T5" fmla="*/ 0 h 91"/>
                  <a:gd name="T6" fmla="*/ 312 w 313"/>
                  <a:gd name="T7" fmla="*/ 0 h 91"/>
                  <a:gd name="T8" fmla="*/ 218 w 313"/>
                  <a:gd name="T9" fmla="*/ 90 h 91"/>
                  <a:gd name="T10" fmla="*/ 0 w 313"/>
                  <a:gd name="T11" fmla="*/ 90 h 91"/>
                  <a:gd name="T12" fmla="*/ 0 60000 65536"/>
                  <a:gd name="T13" fmla="*/ 0 60000 65536"/>
                  <a:gd name="T14" fmla="*/ 0 60000 65536"/>
                  <a:gd name="T15" fmla="*/ 0 60000 65536"/>
                  <a:gd name="T16" fmla="*/ 0 60000 65536"/>
                  <a:gd name="T17" fmla="*/ 0 60000 65536"/>
                  <a:gd name="T18" fmla="*/ 0 w 313"/>
                  <a:gd name="T19" fmla="*/ 0 h 91"/>
                  <a:gd name="T20" fmla="*/ 313 w 313"/>
                  <a:gd name="T21" fmla="*/ 91 h 91"/>
                </a:gdLst>
                <a:ahLst/>
                <a:cxnLst>
                  <a:cxn ang="T12">
                    <a:pos x="T0" y="T1"/>
                  </a:cxn>
                  <a:cxn ang="T13">
                    <a:pos x="T2" y="T3"/>
                  </a:cxn>
                  <a:cxn ang="T14">
                    <a:pos x="T4" y="T5"/>
                  </a:cxn>
                  <a:cxn ang="T15">
                    <a:pos x="T6" y="T7"/>
                  </a:cxn>
                  <a:cxn ang="T16">
                    <a:pos x="T8" y="T9"/>
                  </a:cxn>
                  <a:cxn ang="T17">
                    <a:pos x="T10" y="T11"/>
                  </a:cxn>
                </a:cxnLst>
                <a:rect l="T18" t="T19" r="T20" b="T21"/>
                <a:pathLst>
                  <a:path w="313" h="91">
                    <a:moveTo>
                      <a:pt x="0" y="90"/>
                    </a:moveTo>
                    <a:lnTo>
                      <a:pt x="66" y="23"/>
                    </a:lnTo>
                    <a:lnTo>
                      <a:pt x="91" y="0"/>
                    </a:lnTo>
                    <a:lnTo>
                      <a:pt x="312" y="0"/>
                    </a:lnTo>
                    <a:lnTo>
                      <a:pt x="218" y="90"/>
                    </a:lnTo>
                    <a:lnTo>
                      <a:pt x="0" y="90"/>
                    </a:lnTo>
                    <a:close/>
                  </a:path>
                </a:pathLst>
              </a:custGeom>
              <a:solidFill>
                <a:srgbClr val="BBBBBB"/>
              </a:solidFill>
              <a:ln w="3175" cap="flat">
                <a:solidFill>
                  <a:srgbClr val="FFFF00"/>
                </a:solidFill>
                <a:prstDash val="solid"/>
                <a:round/>
                <a:headEnd/>
                <a:tailEnd/>
              </a:ln>
            </p:spPr>
            <p:txBody>
              <a:bodyPr wrap="none" anchor="ctr">
                <a:spAutoFit/>
              </a:bodyPr>
              <a:lstStyle/>
              <a:p>
                <a:endParaRPr lang="zh-CN" altLang="en-US"/>
              </a:p>
            </p:txBody>
          </p:sp>
          <p:sp>
            <p:nvSpPr>
              <p:cNvPr id="52235" name="Freeform 12"/>
              <p:cNvSpPr>
                <a:spLocks/>
              </p:cNvSpPr>
              <p:nvPr/>
            </p:nvSpPr>
            <p:spPr bwMode="auto">
              <a:xfrm>
                <a:off x="3583" y="2831"/>
                <a:ext cx="108" cy="68"/>
              </a:xfrm>
              <a:custGeom>
                <a:avLst/>
                <a:gdLst>
                  <a:gd name="T0" fmla="*/ 0 w 108"/>
                  <a:gd name="T1" fmla="*/ 67 h 68"/>
                  <a:gd name="T2" fmla="*/ 70 w 108"/>
                  <a:gd name="T3" fmla="*/ 0 h 68"/>
                  <a:gd name="T4" fmla="*/ 107 w 108"/>
                  <a:gd name="T5" fmla="*/ 0 h 68"/>
                  <a:gd name="T6" fmla="*/ 41 w 108"/>
                  <a:gd name="T7" fmla="*/ 67 h 68"/>
                  <a:gd name="T8" fmla="*/ 0 w 108"/>
                  <a:gd name="T9" fmla="*/ 67 h 68"/>
                  <a:gd name="T10" fmla="*/ 0 w 108"/>
                  <a:gd name="T11" fmla="*/ 67 h 68"/>
                  <a:gd name="T12" fmla="*/ 0 60000 65536"/>
                  <a:gd name="T13" fmla="*/ 0 60000 65536"/>
                  <a:gd name="T14" fmla="*/ 0 60000 65536"/>
                  <a:gd name="T15" fmla="*/ 0 60000 65536"/>
                  <a:gd name="T16" fmla="*/ 0 60000 65536"/>
                  <a:gd name="T17" fmla="*/ 0 60000 65536"/>
                  <a:gd name="T18" fmla="*/ 0 w 108"/>
                  <a:gd name="T19" fmla="*/ 0 h 68"/>
                  <a:gd name="T20" fmla="*/ 108 w 108"/>
                  <a:gd name="T21" fmla="*/ 68 h 68"/>
                </a:gdLst>
                <a:ahLst/>
                <a:cxnLst>
                  <a:cxn ang="T12">
                    <a:pos x="T0" y="T1"/>
                  </a:cxn>
                  <a:cxn ang="T13">
                    <a:pos x="T2" y="T3"/>
                  </a:cxn>
                  <a:cxn ang="T14">
                    <a:pos x="T4" y="T5"/>
                  </a:cxn>
                  <a:cxn ang="T15">
                    <a:pos x="T6" y="T7"/>
                  </a:cxn>
                  <a:cxn ang="T16">
                    <a:pos x="T8" y="T9"/>
                  </a:cxn>
                  <a:cxn ang="T17">
                    <a:pos x="T10" y="T11"/>
                  </a:cxn>
                </a:cxnLst>
                <a:rect l="T18" t="T19" r="T20" b="T21"/>
                <a:pathLst>
                  <a:path w="108" h="68">
                    <a:moveTo>
                      <a:pt x="0" y="67"/>
                    </a:moveTo>
                    <a:lnTo>
                      <a:pt x="70" y="0"/>
                    </a:lnTo>
                    <a:lnTo>
                      <a:pt x="107" y="0"/>
                    </a:lnTo>
                    <a:lnTo>
                      <a:pt x="41" y="67"/>
                    </a:lnTo>
                    <a:lnTo>
                      <a:pt x="0" y="67"/>
                    </a:lnTo>
                    <a:close/>
                  </a:path>
                </a:pathLst>
              </a:custGeom>
              <a:solidFill>
                <a:srgbClr val="BBBBBB"/>
              </a:solidFill>
              <a:ln w="0" cap="flat">
                <a:solidFill>
                  <a:srgbClr val="FFFF00"/>
                </a:solidFill>
                <a:prstDash val="solid"/>
                <a:round/>
                <a:headEnd/>
                <a:tailEnd/>
              </a:ln>
            </p:spPr>
            <p:txBody>
              <a:bodyPr wrap="none" anchor="ctr">
                <a:spAutoFit/>
              </a:bodyPr>
              <a:lstStyle/>
              <a:p>
                <a:endParaRPr lang="zh-CN" altLang="en-US"/>
              </a:p>
            </p:txBody>
          </p:sp>
          <p:sp>
            <p:nvSpPr>
              <p:cNvPr id="52236" name="Freeform 13"/>
              <p:cNvSpPr>
                <a:spLocks/>
              </p:cNvSpPr>
              <p:nvPr/>
            </p:nvSpPr>
            <p:spPr bwMode="auto">
              <a:xfrm>
                <a:off x="3583" y="2831"/>
                <a:ext cx="108" cy="68"/>
              </a:xfrm>
              <a:custGeom>
                <a:avLst/>
                <a:gdLst>
                  <a:gd name="T0" fmla="*/ 0 w 108"/>
                  <a:gd name="T1" fmla="*/ 67 h 68"/>
                  <a:gd name="T2" fmla="*/ 70 w 108"/>
                  <a:gd name="T3" fmla="*/ 0 h 68"/>
                  <a:gd name="T4" fmla="*/ 107 w 108"/>
                  <a:gd name="T5" fmla="*/ 0 h 68"/>
                  <a:gd name="T6" fmla="*/ 41 w 108"/>
                  <a:gd name="T7" fmla="*/ 67 h 68"/>
                  <a:gd name="T8" fmla="*/ 0 w 108"/>
                  <a:gd name="T9" fmla="*/ 67 h 68"/>
                  <a:gd name="T10" fmla="*/ 0 60000 65536"/>
                  <a:gd name="T11" fmla="*/ 0 60000 65536"/>
                  <a:gd name="T12" fmla="*/ 0 60000 65536"/>
                  <a:gd name="T13" fmla="*/ 0 60000 65536"/>
                  <a:gd name="T14" fmla="*/ 0 60000 65536"/>
                  <a:gd name="T15" fmla="*/ 0 w 108"/>
                  <a:gd name="T16" fmla="*/ 0 h 68"/>
                  <a:gd name="T17" fmla="*/ 108 w 108"/>
                  <a:gd name="T18" fmla="*/ 68 h 68"/>
                </a:gdLst>
                <a:ahLst/>
                <a:cxnLst>
                  <a:cxn ang="T10">
                    <a:pos x="T0" y="T1"/>
                  </a:cxn>
                  <a:cxn ang="T11">
                    <a:pos x="T2" y="T3"/>
                  </a:cxn>
                  <a:cxn ang="T12">
                    <a:pos x="T4" y="T5"/>
                  </a:cxn>
                  <a:cxn ang="T13">
                    <a:pos x="T6" y="T7"/>
                  </a:cxn>
                  <a:cxn ang="T14">
                    <a:pos x="T8" y="T9"/>
                  </a:cxn>
                </a:cxnLst>
                <a:rect l="T15" t="T16" r="T17" b="T18"/>
                <a:pathLst>
                  <a:path w="108" h="68">
                    <a:moveTo>
                      <a:pt x="0" y="67"/>
                    </a:moveTo>
                    <a:lnTo>
                      <a:pt x="70" y="0"/>
                    </a:lnTo>
                    <a:lnTo>
                      <a:pt x="107" y="0"/>
                    </a:lnTo>
                    <a:lnTo>
                      <a:pt x="41" y="67"/>
                    </a:lnTo>
                    <a:lnTo>
                      <a:pt x="0" y="67"/>
                    </a:lnTo>
                    <a:close/>
                  </a:path>
                </a:pathLst>
              </a:custGeom>
              <a:solidFill>
                <a:srgbClr val="BBBBBB"/>
              </a:solidFill>
              <a:ln w="3175" cap="flat">
                <a:solidFill>
                  <a:srgbClr val="FFFF00"/>
                </a:solidFill>
                <a:prstDash val="solid"/>
                <a:round/>
                <a:headEnd/>
                <a:tailEnd/>
              </a:ln>
            </p:spPr>
            <p:txBody>
              <a:bodyPr wrap="none" anchor="ctr">
                <a:spAutoFit/>
              </a:bodyPr>
              <a:lstStyle/>
              <a:p>
                <a:endParaRPr lang="zh-CN" altLang="en-US"/>
              </a:p>
            </p:txBody>
          </p:sp>
          <p:sp>
            <p:nvSpPr>
              <p:cNvPr id="52237" name="Freeform 14"/>
              <p:cNvSpPr>
                <a:spLocks/>
              </p:cNvSpPr>
              <p:nvPr/>
            </p:nvSpPr>
            <p:spPr bwMode="auto">
              <a:xfrm>
                <a:off x="3629" y="2921"/>
                <a:ext cx="103" cy="104"/>
              </a:xfrm>
              <a:custGeom>
                <a:avLst/>
                <a:gdLst>
                  <a:gd name="T0" fmla="*/ 0 w 103"/>
                  <a:gd name="T1" fmla="*/ 0 h 104"/>
                  <a:gd name="T2" fmla="*/ 102 w 103"/>
                  <a:gd name="T3" fmla="*/ 103 h 104"/>
                  <a:gd name="T4" fmla="*/ 0 60000 65536"/>
                  <a:gd name="T5" fmla="*/ 0 60000 65536"/>
                  <a:gd name="T6" fmla="*/ 0 w 103"/>
                  <a:gd name="T7" fmla="*/ 0 h 104"/>
                  <a:gd name="T8" fmla="*/ 103 w 103"/>
                  <a:gd name="T9" fmla="*/ 104 h 104"/>
                </a:gdLst>
                <a:ahLst/>
                <a:cxnLst>
                  <a:cxn ang="T4">
                    <a:pos x="T0" y="T1"/>
                  </a:cxn>
                  <a:cxn ang="T5">
                    <a:pos x="T2" y="T3"/>
                  </a:cxn>
                </a:cxnLst>
                <a:rect l="T6" t="T7" r="T8" b="T9"/>
                <a:pathLst>
                  <a:path w="103" h="104">
                    <a:moveTo>
                      <a:pt x="0" y="0"/>
                    </a:moveTo>
                    <a:lnTo>
                      <a:pt x="102" y="103"/>
                    </a:lnTo>
                  </a:path>
                </a:pathLst>
              </a:custGeom>
              <a:solidFill>
                <a:srgbClr val="BBBBBB"/>
              </a:solidFill>
              <a:ln w="3175" cap="flat">
                <a:solidFill>
                  <a:srgbClr val="FFFF00"/>
                </a:solidFill>
                <a:prstDash val="solid"/>
                <a:round/>
                <a:headEnd/>
                <a:tailEnd/>
              </a:ln>
            </p:spPr>
            <p:txBody>
              <a:bodyPr wrap="none" anchor="ctr">
                <a:spAutoFit/>
              </a:bodyPr>
              <a:lstStyle/>
              <a:p>
                <a:endParaRPr lang="zh-CN" altLang="en-US"/>
              </a:p>
            </p:txBody>
          </p:sp>
          <p:sp>
            <p:nvSpPr>
              <p:cNvPr id="52238" name="Freeform 15"/>
              <p:cNvSpPr>
                <a:spLocks/>
              </p:cNvSpPr>
              <p:nvPr/>
            </p:nvSpPr>
            <p:spPr bwMode="auto">
              <a:xfrm>
                <a:off x="3653" y="2921"/>
                <a:ext cx="104" cy="104"/>
              </a:xfrm>
              <a:custGeom>
                <a:avLst/>
                <a:gdLst>
                  <a:gd name="T0" fmla="*/ 0 w 104"/>
                  <a:gd name="T1" fmla="*/ 0 h 104"/>
                  <a:gd name="T2" fmla="*/ 103 w 104"/>
                  <a:gd name="T3" fmla="*/ 103 h 104"/>
                  <a:gd name="T4" fmla="*/ 0 60000 65536"/>
                  <a:gd name="T5" fmla="*/ 0 60000 65536"/>
                  <a:gd name="T6" fmla="*/ 0 w 104"/>
                  <a:gd name="T7" fmla="*/ 0 h 104"/>
                  <a:gd name="T8" fmla="*/ 104 w 104"/>
                  <a:gd name="T9" fmla="*/ 104 h 104"/>
                </a:gdLst>
                <a:ahLst/>
                <a:cxnLst>
                  <a:cxn ang="T4">
                    <a:pos x="T0" y="T1"/>
                  </a:cxn>
                  <a:cxn ang="T5">
                    <a:pos x="T2" y="T3"/>
                  </a:cxn>
                </a:cxnLst>
                <a:rect l="T6" t="T7" r="T8" b="T9"/>
                <a:pathLst>
                  <a:path w="104" h="104">
                    <a:moveTo>
                      <a:pt x="0" y="0"/>
                    </a:moveTo>
                    <a:lnTo>
                      <a:pt x="103" y="103"/>
                    </a:lnTo>
                  </a:path>
                </a:pathLst>
              </a:custGeom>
              <a:solidFill>
                <a:srgbClr val="BBBBBB"/>
              </a:solidFill>
              <a:ln w="3175" cap="flat">
                <a:solidFill>
                  <a:srgbClr val="FFFF00"/>
                </a:solidFill>
                <a:prstDash val="solid"/>
                <a:round/>
                <a:headEnd/>
                <a:tailEnd/>
              </a:ln>
            </p:spPr>
            <p:txBody>
              <a:bodyPr wrap="none" anchor="ctr">
                <a:spAutoFit/>
              </a:bodyPr>
              <a:lstStyle/>
              <a:p>
                <a:endParaRPr lang="zh-CN" altLang="en-US"/>
              </a:p>
            </p:txBody>
          </p:sp>
          <p:sp>
            <p:nvSpPr>
              <p:cNvPr id="52239" name="Freeform 16"/>
              <p:cNvSpPr>
                <a:spLocks/>
              </p:cNvSpPr>
              <p:nvPr/>
            </p:nvSpPr>
            <p:spPr bwMode="auto">
              <a:xfrm>
                <a:off x="3674" y="2921"/>
                <a:ext cx="103" cy="104"/>
              </a:xfrm>
              <a:custGeom>
                <a:avLst/>
                <a:gdLst>
                  <a:gd name="T0" fmla="*/ 0 w 103"/>
                  <a:gd name="T1" fmla="*/ 0 h 104"/>
                  <a:gd name="T2" fmla="*/ 102 w 103"/>
                  <a:gd name="T3" fmla="*/ 103 h 104"/>
                  <a:gd name="T4" fmla="*/ 0 60000 65536"/>
                  <a:gd name="T5" fmla="*/ 0 60000 65536"/>
                  <a:gd name="T6" fmla="*/ 0 w 103"/>
                  <a:gd name="T7" fmla="*/ 0 h 104"/>
                  <a:gd name="T8" fmla="*/ 103 w 103"/>
                  <a:gd name="T9" fmla="*/ 104 h 104"/>
                </a:gdLst>
                <a:ahLst/>
                <a:cxnLst>
                  <a:cxn ang="T4">
                    <a:pos x="T0" y="T1"/>
                  </a:cxn>
                  <a:cxn ang="T5">
                    <a:pos x="T2" y="T3"/>
                  </a:cxn>
                </a:cxnLst>
                <a:rect l="T6" t="T7" r="T8" b="T9"/>
                <a:pathLst>
                  <a:path w="103" h="104">
                    <a:moveTo>
                      <a:pt x="0" y="0"/>
                    </a:moveTo>
                    <a:lnTo>
                      <a:pt x="102" y="103"/>
                    </a:lnTo>
                  </a:path>
                </a:pathLst>
              </a:custGeom>
              <a:solidFill>
                <a:srgbClr val="BBBBBB"/>
              </a:solidFill>
              <a:ln w="3175" cap="flat">
                <a:solidFill>
                  <a:srgbClr val="FFFF00"/>
                </a:solidFill>
                <a:prstDash val="solid"/>
                <a:round/>
                <a:headEnd/>
                <a:tailEnd/>
              </a:ln>
            </p:spPr>
            <p:txBody>
              <a:bodyPr wrap="none" anchor="ctr">
                <a:spAutoFit/>
              </a:bodyPr>
              <a:lstStyle/>
              <a:p>
                <a:endParaRPr lang="zh-CN" altLang="en-US"/>
              </a:p>
            </p:txBody>
          </p:sp>
          <p:sp>
            <p:nvSpPr>
              <p:cNvPr id="52240" name="Freeform 17"/>
              <p:cNvSpPr>
                <a:spLocks/>
              </p:cNvSpPr>
              <p:nvPr/>
            </p:nvSpPr>
            <p:spPr bwMode="auto">
              <a:xfrm>
                <a:off x="3702" y="2921"/>
                <a:ext cx="104" cy="104"/>
              </a:xfrm>
              <a:custGeom>
                <a:avLst/>
                <a:gdLst>
                  <a:gd name="T0" fmla="*/ 0 w 104"/>
                  <a:gd name="T1" fmla="*/ 0 h 104"/>
                  <a:gd name="T2" fmla="*/ 103 w 104"/>
                  <a:gd name="T3" fmla="*/ 103 h 104"/>
                  <a:gd name="T4" fmla="*/ 0 60000 65536"/>
                  <a:gd name="T5" fmla="*/ 0 60000 65536"/>
                  <a:gd name="T6" fmla="*/ 0 w 104"/>
                  <a:gd name="T7" fmla="*/ 0 h 104"/>
                  <a:gd name="T8" fmla="*/ 104 w 104"/>
                  <a:gd name="T9" fmla="*/ 104 h 104"/>
                </a:gdLst>
                <a:ahLst/>
                <a:cxnLst>
                  <a:cxn ang="T4">
                    <a:pos x="T0" y="T1"/>
                  </a:cxn>
                  <a:cxn ang="T5">
                    <a:pos x="T2" y="T3"/>
                  </a:cxn>
                </a:cxnLst>
                <a:rect l="T6" t="T7" r="T8" b="T9"/>
                <a:pathLst>
                  <a:path w="104" h="104">
                    <a:moveTo>
                      <a:pt x="0" y="0"/>
                    </a:moveTo>
                    <a:lnTo>
                      <a:pt x="103" y="103"/>
                    </a:lnTo>
                  </a:path>
                </a:pathLst>
              </a:custGeom>
              <a:solidFill>
                <a:srgbClr val="BBBBBB"/>
              </a:solidFill>
              <a:ln w="3175" cap="flat">
                <a:solidFill>
                  <a:srgbClr val="FFFF00"/>
                </a:solidFill>
                <a:prstDash val="solid"/>
                <a:round/>
                <a:headEnd/>
                <a:tailEnd/>
              </a:ln>
            </p:spPr>
            <p:txBody>
              <a:bodyPr wrap="none" anchor="ctr">
                <a:spAutoFit/>
              </a:bodyPr>
              <a:lstStyle/>
              <a:p>
                <a:endParaRPr lang="zh-CN" altLang="en-US"/>
              </a:p>
            </p:txBody>
          </p:sp>
          <p:sp>
            <p:nvSpPr>
              <p:cNvPr id="52241" name="Freeform 18"/>
              <p:cNvSpPr>
                <a:spLocks/>
              </p:cNvSpPr>
              <p:nvPr/>
            </p:nvSpPr>
            <p:spPr bwMode="auto">
              <a:xfrm>
                <a:off x="3723" y="2921"/>
                <a:ext cx="103" cy="104"/>
              </a:xfrm>
              <a:custGeom>
                <a:avLst/>
                <a:gdLst>
                  <a:gd name="T0" fmla="*/ 0 w 103"/>
                  <a:gd name="T1" fmla="*/ 0 h 104"/>
                  <a:gd name="T2" fmla="*/ 102 w 103"/>
                  <a:gd name="T3" fmla="*/ 103 h 104"/>
                  <a:gd name="T4" fmla="*/ 0 60000 65536"/>
                  <a:gd name="T5" fmla="*/ 0 60000 65536"/>
                  <a:gd name="T6" fmla="*/ 0 w 103"/>
                  <a:gd name="T7" fmla="*/ 0 h 104"/>
                  <a:gd name="T8" fmla="*/ 103 w 103"/>
                  <a:gd name="T9" fmla="*/ 104 h 104"/>
                </a:gdLst>
                <a:ahLst/>
                <a:cxnLst>
                  <a:cxn ang="T4">
                    <a:pos x="T0" y="T1"/>
                  </a:cxn>
                  <a:cxn ang="T5">
                    <a:pos x="T2" y="T3"/>
                  </a:cxn>
                </a:cxnLst>
                <a:rect l="T6" t="T7" r="T8" b="T9"/>
                <a:pathLst>
                  <a:path w="103" h="104">
                    <a:moveTo>
                      <a:pt x="0" y="0"/>
                    </a:moveTo>
                    <a:lnTo>
                      <a:pt x="102" y="103"/>
                    </a:lnTo>
                  </a:path>
                </a:pathLst>
              </a:custGeom>
              <a:solidFill>
                <a:srgbClr val="BBBBBB"/>
              </a:solidFill>
              <a:ln w="3175" cap="flat">
                <a:solidFill>
                  <a:srgbClr val="FFFF00"/>
                </a:solidFill>
                <a:prstDash val="solid"/>
                <a:round/>
                <a:headEnd/>
                <a:tailEnd/>
              </a:ln>
            </p:spPr>
            <p:txBody>
              <a:bodyPr wrap="none" anchor="ctr">
                <a:spAutoFit/>
              </a:bodyPr>
              <a:lstStyle/>
              <a:p>
                <a:endParaRPr lang="zh-CN" altLang="en-US"/>
              </a:p>
            </p:txBody>
          </p:sp>
          <p:sp>
            <p:nvSpPr>
              <p:cNvPr id="52242" name="Freeform 19"/>
              <p:cNvSpPr>
                <a:spLocks/>
              </p:cNvSpPr>
              <p:nvPr/>
            </p:nvSpPr>
            <p:spPr bwMode="auto">
              <a:xfrm>
                <a:off x="3752" y="2921"/>
                <a:ext cx="103" cy="104"/>
              </a:xfrm>
              <a:custGeom>
                <a:avLst/>
                <a:gdLst>
                  <a:gd name="T0" fmla="*/ 0 w 103"/>
                  <a:gd name="T1" fmla="*/ 0 h 104"/>
                  <a:gd name="T2" fmla="*/ 102 w 103"/>
                  <a:gd name="T3" fmla="*/ 103 h 104"/>
                  <a:gd name="T4" fmla="*/ 0 60000 65536"/>
                  <a:gd name="T5" fmla="*/ 0 60000 65536"/>
                  <a:gd name="T6" fmla="*/ 0 w 103"/>
                  <a:gd name="T7" fmla="*/ 0 h 104"/>
                  <a:gd name="T8" fmla="*/ 103 w 103"/>
                  <a:gd name="T9" fmla="*/ 104 h 104"/>
                </a:gdLst>
                <a:ahLst/>
                <a:cxnLst>
                  <a:cxn ang="T4">
                    <a:pos x="T0" y="T1"/>
                  </a:cxn>
                  <a:cxn ang="T5">
                    <a:pos x="T2" y="T3"/>
                  </a:cxn>
                </a:cxnLst>
                <a:rect l="T6" t="T7" r="T8" b="T9"/>
                <a:pathLst>
                  <a:path w="103" h="104">
                    <a:moveTo>
                      <a:pt x="0" y="0"/>
                    </a:moveTo>
                    <a:lnTo>
                      <a:pt x="102" y="103"/>
                    </a:lnTo>
                  </a:path>
                </a:pathLst>
              </a:custGeom>
              <a:solidFill>
                <a:srgbClr val="BBBBBB"/>
              </a:solidFill>
              <a:ln w="3175" cap="flat">
                <a:solidFill>
                  <a:srgbClr val="FFFF00"/>
                </a:solidFill>
                <a:prstDash val="solid"/>
                <a:round/>
                <a:headEnd/>
                <a:tailEnd/>
              </a:ln>
            </p:spPr>
            <p:txBody>
              <a:bodyPr wrap="none" anchor="ctr">
                <a:spAutoFit/>
              </a:bodyPr>
              <a:lstStyle/>
              <a:p>
                <a:endParaRPr lang="zh-CN" altLang="en-US"/>
              </a:p>
            </p:txBody>
          </p:sp>
          <p:sp>
            <p:nvSpPr>
              <p:cNvPr id="52243" name="Freeform 20"/>
              <p:cNvSpPr>
                <a:spLocks/>
              </p:cNvSpPr>
              <p:nvPr/>
            </p:nvSpPr>
            <p:spPr bwMode="auto">
              <a:xfrm>
                <a:off x="3772" y="2921"/>
                <a:ext cx="103" cy="104"/>
              </a:xfrm>
              <a:custGeom>
                <a:avLst/>
                <a:gdLst>
                  <a:gd name="T0" fmla="*/ 0 w 103"/>
                  <a:gd name="T1" fmla="*/ 0 h 104"/>
                  <a:gd name="T2" fmla="*/ 102 w 103"/>
                  <a:gd name="T3" fmla="*/ 103 h 104"/>
                  <a:gd name="T4" fmla="*/ 0 60000 65536"/>
                  <a:gd name="T5" fmla="*/ 0 60000 65536"/>
                  <a:gd name="T6" fmla="*/ 0 w 103"/>
                  <a:gd name="T7" fmla="*/ 0 h 104"/>
                  <a:gd name="T8" fmla="*/ 103 w 103"/>
                  <a:gd name="T9" fmla="*/ 104 h 104"/>
                </a:gdLst>
                <a:ahLst/>
                <a:cxnLst>
                  <a:cxn ang="T4">
                    <a:pos x="T0" y="T1"/>
                  </a:cxn>
                  <a:cxn ang="T5">
                    <a:pos x="T2" y="T3"/>
                  </a:cxn>
                </a:cxnLst>
                <a:rect l="T6" t="T7" r="T8" b="T9"/>
                <a:pathLst>
                  <a:path w="103" h="104">
                    <a:moveTo>
                      <a:pt x="0" y="0"/>
                    </a:moveTo>
                    <a:lnTo>
                      <a:pt x="102" y="103"/>
                    </a:lnTo>
                  </a:path>
                </a:pathLst>
              </a:custGeom>
              <a:solidFill>
                <a:srgbClr val="BBBBBB"/>
              </a:solidFill>
              <a:ln w="3175" cap="flat">
                <a:solidFill>
                  <a:srgbClr val="FFFF00"/>
                </a:solidFill>
                <a:prstDash val="solid"/>
                <a:round/>
                <a:headEnd/>
                <a:tailEnd/>
              </a:ln>
            </p:spPr>
            <p:txBody>
              <a:bodyPr wrap="none" anchor="ctr">
                <a:spAutoFit/>
              </a:bodyPr>
              <a:lstStyle/>
              <a:p>
                <a:endParaRPr lang="zh-CN" altLang="en-US"/>
              </a:p>
            </p:txBody>
          </p:sp>
          <p:sp>
            <p:nvSpPr>
              <p:cNvPr id="52244" name="Freeform 21"/>
              <p:cNvSpPr>
                <a:spLocks/>
              </p:cNvSpPr>
              <p:nvPr/>
            </p:nvSpPr>
            <p:spPr bwMode="auto">
              <a:xfrm>
                <a:off x="3797" y="2921"/>
                <a:ext cx="107" cy="104"/>
              </a:xfrm>
              <a:custGeom>
                <a:avLst/>
                <a:gdLst>
                  <a:gd name="T0" fmla="*/ 0 w 107"/>
                  <a:gd name="T1" fmla="*/ 0 h 104"/>
                  <a:gd name="T2" fmla="*/ 106 w 107"/>
                  <a:gd name="T3" fmla="*/ 103 h 104"/>
                  <a:gd name="T4" fmla="*/ 0 60000 65536"/>
                  <a:gd name="T5" fmla="*/ 0 60000 65536"/>
                  <a:gd name="T6" fmla="*/ 0 w 107"/>
                  <a:gd name="T7" fmla="*/ 0 h 104"/>
                  <a:gd name="T8" fmla="*/ 107 w 107"/>
                  <a:gd name="T9" fmla="*/ 104 h 104"/>
                </a:gdLst>
                <a:ahLst/>
                <a:cxnLst>
                  <a:cxn ang="T4">
                    <a:pos x="T0" y="T1"/>
                  </a:cxn>
                  <a:cxn ang="T5">
                    <a:pos x="T2" y="T3"/>
                  </a:cxn>
                </a:cxnLst>
                <a:rect l="T6" t="T7" r="T8" b="T9"/>
                <a:pathLst>
                  <a:path w="107" h="104">
                    <a:moveTo>
                      <a:pt x="0" y="0"/>
                    </a:moveTo>
                    <a:lnTo>
                      <a:pt x="106" y="103"/>
                    </a:lnTo>
                  </a:path>
                </a:pathLst>
              </a:custGeom>
              <a:solidFill>
                <a:srgbClr val="BBBBBB"/>
              </a:solidFill>
              <a:ln w="3175" cap="flat">
                <a:solidFill>
                  <a:srgbClr val="FFFF00"/>
                </a:solidFill>
                <a:prstDash val="solid"/>
                <a:round/>
                <a:headEnd/>
                <a:tailEnd/>
              </a:ln>
            </p:spPr>
            <p:txBody>
              <a:bodyPr wrap="none" anchor="ctr">
                <a:spAutoFit/>
              </a:bodyPr>
              <a:lstStyle/>
              <a:p>
                <a:endParaRPr lang="zh-CN" altLang="en-US"/>
              </a:p>
            </p:txBody>
          </p:sp>
          <p:sp>
            <p:nvSpPr>
              <p:cNvPr id="52245" name="Freeform 22"/>
              <p:cNvSpPr>
                <a:spLocks/>
              </p:cNvSpPr>
              <p:nvPr/>
            </p:nvSpPr>
            <p:spPr bwMode="auto">
              <a:xfrm>
                <a:off x="3645" y="2808"/>
                <a:ext cx="95" cy="91"/>
              </a:xfrm>
              <a:custGeom>
                <a:avLst/>
                <a:gdLst>
                  <a:gd name="T0" fmla="*/ 0 w 95"/>
                  <a:gd name="T1" fmla="*/ 90 h 91"/>
                  <a:gd name="T2" fmla="*/ 94 w 95"/>
                  <a:gd name="T3" fmla="*/ 0 h 91"/>
                  <a:gd name="T4" fmla="*/ 0 60000 65536"/>
                  <a:gd name="T5" fmla="*/ 0 60000 65536"/>
                  <a:gd name="T6" fmla="*/ 0 w 95"/>
                  <a:gd name="T7" fmla="*/ 0 h 91"/>
                  <a:gd name="T8" fmla="*/ 95 w 95"/>
                  <a:gd name="T9" fmla="*/ 91 h 91"/>
                </a:gdLst>
                <a:ahLst/>
                <a:cxnLst>
                  <a:cxn ang="T4">
                    <a:pos x="T0" y="T1"/>
                  </a:cxn>
                  <a:cxn ang="T5">
                    <a:pos x="T2" y="T3"/>
                  </a:cxn>
                </a:cxnLst>
                <a:rect l="T6" t="T7" r="T8" b="T9"/>
                <a:pathLst>
                  <a:path w="95" h="91">
                    <a:moveTo>
                      <a:pt x="0" y="90"/>
                    </a:moveTo>
                    <a:lnTo>
                      <a:pt x="94" y="0"/>
                    </a:lnTo>
                  </a:path>
                </a:pathLst>
              </a:custGeom>
              <a:solidFill>
                <a:srgbClr val="BBBBBB"/>
              </a:solidFill>
              <a:ln w="3175" cap="flat">
                <a:solidFill>
                  <a:srgbClr val="FFFF00"/>
                </a:solidFill>
                <a:prstDash val="solid"/>
                <a:round/>
                <a:headEnd/>
                <a:tailEnd/>
              </a:ln>
            </p:spPr>
            <p:txBody>
              <a:bodyPr wrap="none" anchor="ctr">
                <a:spAutoFit/>
              </a:bodyPr>
              <a:lstStyle/>
              <a:p>
                <a:endParaRPr lang="zh-CN" altLang="en-US"/>
              </a:p>
            </p:txBody>
          </p:sp>
          <p:sp>
            <p:nvSpPr>
              <p:cNvPr id="52246" name="Freeform 23"/>
              <p:cNvSpPr>
                <a:spLocks/>
              </p:cNvSpPr>
              <p:nvPr/>
            </p:nvSpPr>
            <p:spPr bwMode="auto">
              <a:xfrm>
                <a:off x="3674" y="2808"/>
                <a:ext cx="91" cy="91"/>
              </a:xfrm>
              <a:custGeom>
                <a:avLst/>
                <a:gdLst>
                  <a:gd name="T0" fmla="*/ 0 w 91"/>
                  <a:gd name="T1" fmla="*/ 90 h 91"/>
                  <a:gd name="T2" fmla="*/ 90 w 91"/>
                  <a:gd name="T3" fmla="*/ 0 h 91"/>
                  <a:gd name="T4" fmla="*/ 0 60000 65536"/>
                  <a:gd name="T5" fmla="*/ 0 60000 65536"/>
                  <a:gd name="T6" fmla="*/ 0 w 91"/>
                  <a:gd name="T7" fmla="*/ 0 h 91"/>
                  <a:gd name="T8" fmla="*/ 91 w 91"/>
                  <a:gd name="T9" fmla="*/ 91 h 91"/>
                </a:gdLst>
                <a:ahLst/>
                <a:cxnLst>
                  <a:cxn ang="T4">
                    <a:pos x="T0" y="T1"/>
                  </a:cxn>
                  <a:cxn ang="T5">
                    <a:pos x="T2" y="T3"/>
                  </a:cxn>
                </a:cxnLst>
                <a:rect l="T6" t="T7" r="T8" b="T9"/>
                <a:pathLst>
                  <a:path w="91" h="91">
                    <a:moveTo>
                      <a:pt x="0" y="90"/>
                    </a:moveTo>
                    <a:lnTo>
                      <a:pt x="90" y="0"/>
                    </a:lnTo>
                  </a:path>
                </a:pathLst>
              </a:custGeom>
              <a:solidFill>
                <a:srgbClr val="BBBBBB"/>
              </a:solidFill>
              <a:ln w="3175" cap="flat">
                <a:solidFill>
                  <a:srgbClr val="FFFF00"/>
                </a:solidFill>
                <a:prstDash val="solid"/>
                <a:round/>
                <a:headEnd/>
                <a:tailEnd/>
              </a:ln>
            </p:spPr>
            <p:txBody>
              <a:bodyPr wrap="none" anchor="ctr">
                <a:spAutoFit/>
              </a:bodyPr>
              <a:lstStyle/>
              <a:p>
                <a:endParaRPr lang="zh-CN" altLang="en-US"/>
              </a:p>
            </p:txBody>
          </p:sp>
          <p:sp>
            <p:nvSpPr>
              <p:cNvPr id="52247" name="Freeform 24"/>
              <p:cNvSpPr>
                <a:spLocks/>
              </p:cNvSpPr>
              <p:nvPr/>
            </p:nvSpPr>
            <p:spPr bwMode="auto">
              <a:xfrm>
                <a:off x="3694" y="2808"/>
                <a:ext cx="95" cy="91"/>
              </a:xfrm>
              <a:custGeom>
                <a:avLst/>
                <a:gdLst>
                  <a:gd name="T0" fmla="*/ 0 w 95"/>
                  <a:gd name="T1" fmla="*/ 90 h 91"/>
                  <a:gd name="T2" fmla="*/ 94 w 95"/>
                  <a:gd name="T3" fmla="*/ 0 h 91"/>
                  <a:gd name="T4" fmla="*/ 0 60000 65536"/>
                  <a:gd name="T5" fmla="*/ 0 60000 65536"/>
                  <a:gd name="T6" fmla="*/ 0 w 95"/>
                  <a:gd name="T7" fmla="*/ 0 h 91"/>
                  <a:gd name="T8" fmla="*/ 95 w 95"/>
                  <a:gd name="T9" fmla="*/ 91 h 91"/>
                </a:gdLst>
                <a:ahLst/>
                <a:cxnLst>
                  <a:cxn ang="T4">
                    <a:pos x="T0" y="T1"/>
                  </a:cxn>
                  <a:cxn ang="T5">
                    <a:pos x="T2" y="T3"/>
                  </a:cxn>
                </a:cxnLst>
                <a:rect l="T6" t="T7" r="T8" b="T9"/>
                <a:pathLst>
                  <a:path w="95" h="91">
                    <a:moveTo>
                      <a:pt x="0" y="90"/>
                    </a:moveTo>
                    <a:lnTo>
                      <a:pt x="94" y="0"/>
                    </a:lnTo>
                  </a:path>
                </a:pathLst>
              </a:custGeom>
              <a:solidFill>
                <a:srgbClr val="BBBBBB"/>
              </a:solidFill>
              <a:ln w="3175" cap="flat">
                <a:solidFill>
                  <a:srgbClr val="FFFF00"/>
                </a:solidFill>
                <a:prstDash val="solid"/>
                <a:round/>
                <a:headEnd/>
                <a:tailEnd/>
              </a:ln>
            </p:spPr>
            <p:txBody>
              <a:bodyPr wrap="none" anchor="ctr">
                <a:spAutoFit/>
              </a:bodyPr>
              <a:lstStyle/>
              <a:p>
                <a:endParaRPr lang="zh-CN" altLang="en-US"/>
              </a:p>
            </p:txBody>
          </p:sp>
          <p:sp>
            <p:nvSpPr>
              <p:cNvPr id="52248" name="Freeform 25"/>
              <p:cNvSpPr>
                <a:spLocks/>
              </p:cNvSpPr>
              <p:nvPr/>
            </p:nvSpPr>
            <p:spPr bwMode="auto">
              <a:xfrm>
                <a:off x="3723" y="2808"/>
                <a:ext cx="91" cy="91"/>
              </a:xfrm>
              <a:custGeom>
                <a:avLst/>
                <a:gdLst>
                  <a:gd name="T0" fmla="*/ 0 w 91"/>
                  <a:gd name="T1" fmla="*/ 90 h 91"/>
                  <a:gd name="T2" fmla="*/ 90 w 91"/>
                  <a:gd name="T3" fmla="*/ 0 h 91"/>
                  <a:gd name="T4" fmla="*/ 0 60000 65536"/>
                  <a:gd name="T5" fmla="*/ 0 60000 65536"/>
                  <a:gd name="T6" fmla="*/ 0 w 91"/>
                  <a:gd name="T7" fmla="*/ 0 h 91"/>
                  <a:gd name="T8" fmla="*/ 91 w 91"/>
                  <a:gd name="T9" fmla="*/ 91 h 91"/>
                </a:gdLst>
                <a:ahLst/>
                <a:cxnLst>
                  <a:cxn ang="T4">
                    <a:pos x="T0" y="T1"/>
                  </a:cxn>
                  <a:cxn ang="T5">
                    <a:pos x="T2" y="T3"/>
                  </a:cxn>
                </a:cxnLst>
                <a:rect l="T6" t="T7" r="T8" b="T9"/>
                <a:pathLst>
                  <a:path w="91" h="91">
                    <a:moveTo>
                      <a:pt x="0" y="90"/>
                    </a:moveTo>
                    <a:lnTo>
                      <a:pt x="90" y="0"/>
                    </a:lnTo>
                  </a:path>
                </a:pathLst>
              </a:custGeom>
              <a:solidFill>
                <a:srgbClr val="BBBBBB"/>
              </a:solidFill>
              <a:ln w="3175" cap="flat">
                <a:solidFill>
                  <a:srgbClr val="FFFF00"/>
                </a:solidFill>
                <a:prstDash val="solid"/>
                <a:round/>
                <a:headEnd/>
                <a:tailEnd/>
              </a:ln>
            </p:spPr>
            <p:txBody>
              <a:bodyPr wrap="none" anchor="ctr">
                <a:spAutoFit/>
              </a:bodyPr>
              <a:lstStyle/>
              <a:p>
                <a:endParaRPr lang="zh-CN" altLang="en-US"/>
              </a:p>
            </p:txBody>
          </p:sp>
          <p:sp>
            <p:nvSpPr>
              <p:cNvPr id="52249" name="Freeform 26"/>
              <p:cNvSpPr>
                <a:spLocks/>
              </p:cNvSpPr>
              <p:nvPr/>
            </p:nvSpPr>
            <p:spPr bwMode="auto">
              <a:xfrm>
                <a:off x="3743" y="2808"/>
                <a:ext cx="96" cy="91"/>
              </a:xfrm>
              <a:custGeom>
                <a:avLst/>
                <a:gdLst>
                  <a:gd name="T0" fmla="*/ 0 w 96"/>
                  <a:gd name="T1" fmla="*/ 90 h 91"/>
                  <a:gd name="T2" fmla="*/ 95 w 96"/>
                  <a:gd name="T3" fmla="*/ 0 h 91"/>
                  <a:gd name="T4" fmla="*/ 0 60000 65536"/>
                  <a:gd name="T5" fmla="*/ 0 60000 65536"/>
                  <a:gd name="T6" fmla="*/ 0 w 96"/>
                  <a:gd name="T7" fmla="*/ 0 h 91"/>
                  <a:gd name="T8" fmla="*/ 96 w 96"/>
                  <a:gd name="T9" fmla="*/ 91 h 91"/>
                </a:gdLst>
                <a:ahLst/>
                <a:cxnLst>
                  <a:cxn ang="T4">
                    <a:pos x="T0" y="T1"/>
                  </a:cxn>
                  <a:cxn ang="T5">
                    <a:pos x="T2" y="T3"/>
                  </a:cxn>
                </a:cxnLst>
                <a:rect l="T6" t="T7" r="T8" b="T9"/>
                <a:pathLst>
                  <a:path w="96" h="91">
                    <a:moveTo>
                      <a:pt x="0" y="90"/>
                    </a:moveTo>
                    <a:lnTo>
                      <a:pt x="95" y="0"/>
                    </a:lnTo>
                  </a:path>
                </a:pathLst>
              </a:custGeom>
              <a:solidFill>
                <a:srgbClr val="BBBBBB"/>
              </a:solidFill>
              <a:ln w="3175" cap="flat">
                <a:solidFill>
                  <a:srgbClr val="FFFF00"/>
                </a:solidFill>
                <a:prstDash val="solid"/>
                <a:round/>
                <a:headEnd/>
                <a:tailEnd/>
              </a:ln>
            </p:spPr>
            <p:txBody>
              <a:bodyPr wrap="none" anchor="ctr">
                <a:spAutoFit/>
              </a:bodyPr>
              <a:lstStyle/>
              <a:p>
                <a:endParaRPr lang="zh-CN" altLang="en-US"/>
              </a:p>
            </p:txBody>
          </p:sp>
          <p:sp>
            <p:nvSpPr>
              <p:cNvPr id="52250" name="Freeform 27"/>
              <p:cNvSpPr>
                <a:spLocks/>
              </p:cNvSpPr>
              <p:nvPr/>
            </p:nvSpPr>
            <p:spPr bwMode="auto">
              <a:xfrm>
                <a:off x="3768" y="2808"/>
                <a:ext cx="91" cy="91"/>
              </a:xfrm>
              <a:custGeom>
                <a:avLst/>
                <a:gdLst>
                  <a:gd name="T0" fmla="*/ 0 w 91"/>
                  <a:gd name="T1" fmla="*/ 90 h 91"/>
                  <a:gd name="T2" fmla="*/ 90 w 91"/>
                  <a:gd name="T3" fmla="*/ 0 h 91"/>
                  <a:gd name="T4" fmla="*/ 0 60000 65536"/>
                  <a:gd name="T5" fmla="*/ 0 60000 65536"/>
                  <a:gd name="T6" fmla="*/ 0 w 91"/>
                  <a:gd name="T7" fmla="*/ 0 h 91"/>
                  <a:gd name="T8" fmla="*/ 91 w 91"/>
                  <a:gd name="T9" fmla="*/ 91 h 91"/>
                </a:gdLst>
                <a:ahLst/>
                <a:cxnLst>
                  <a:cxn ang="T4">
                    <a:pos x="T0" y="T1"/>
                  </a:cxn>
                  <a:cxn ang="T5">
                    <a:pos x="T2" y="T3"/>
                  </a:cxn>
                </a:cxnLst>
                <a:rect l="T6" t="T7" r="T8" b="T9"/>
                <a:pathLst>
                  <a:path w="91" h="91">
                    <a:moveTo>
                      <a:pt x="0" y="90"/>
                    </a:moveTo>
                    <a:lnTo>
                      <a:pt x="90" y="0"/>
                    </a:lnTo>
                  </a:path>
                </a:pathLst>
              </a:custGeom>
              <a:solidFill>
                <a:srgbClr val="BBBBBB"/>
              </a:solidFill>
              <a:ln w="3175" cap="flat">
                <a:solidFill>
                  <a:srgbClr val="FFFF00"/>
                </a:solidFill>
                <a:prstDash val="solid"/>
                <a:round/>
                <a:headEnd/>
                <a:tailEnd/>
              </a:ln>
            </p:spPr>
            <p:txBody>
              <a:bodyPr wrap="none" anchor="ctr">
                <a:spAutoFit/>
              </a:bodyPr>
              <a:lstStyle/>
              <a:p>
                <a:endParaRPr lang="zh-CN" altLang="en-US"/>
              </a:p>
            </p:txBody>
          </p:sp>
          <p:sp>
            <p:nvSpPr>
              <p:cNvPr id="52251" name="Freeform 28"/>
              <p:cNvSpPr>
                <a:spLocks/>
              </p:cNvSpPr>
              <p:nvPr/>
            </p:nvSpPr>
            <p:spPr bwMode="auto">
              <a:xfrm>
                <a:off x="3793" y="2808"/>
                <a:ext cx="95" cy="91"/>
              </a:xfrm>
              <a:custGeom>
                <a:avLst/>
                <a:gdLst>
                  <a:gd name="T0" fmla="*/ 0 w 95"/>
                  <a:gd name="T1" fmla="*/ 90 h 91"/>
                  <a:gd name="T2" fmla="*/ 94 w 95"/>
                  <a:gd name="T3" fmla="*/ 0 h 91"/>
                  <a:gd name="T4" fmla="*/ 0 60000 65536"/>
                  <a:gd name="T5" fmla="*/ 0 60000 65536"/>
                  <a:gd name="T6" fmla="*/ 0 w 95"/>
                  <a:gd name="T7" fmla="*/ 0 h 91"/>
                  <a:gd name="T8" fmla="*/ 95 w 95"/>
                  <a:gd name="T9" fmla="*/ 91 h 91"/>
                </a:gdLst>
                <a:ahLst/>
                <a:cxnLst>
                  <a:cxn ang="T4">
                    <a:pos x="T0" y="T1"/>
                  </a:cxn>
                  <a:cxn ang="T5">
                    <a:pos x="T2" y="T3"/>
                  </a:cxn>
                </a:cxnLst>
                <a:rect l="T6" t="T7" r="T8" b="T9"/>
                <a:pathLst>
                  <a:path w="95" h="91">
                    <a:moveTo>
                      <a:pt x="0" y="90"/>
                    </a:moveTo>
                    <a:lnTo>
                      <a:pt x="94" y="0"/>
                    </a:lnTo>
                  </a:path>
                </a:pathLst>
              </a:custGeom>
              <a:solidFill>
                <a:srgbClr val="BBBBBB"/>
              </a:solidFill>
              <a:ln w="3175" cap="flat">
                <a:solidFill>
                  <a:srgbClr val="FFFF00"/>
                </a:solidFill>
                <a:prstDash val="solid"/>
                <a:round/>
                <a:headEnd/>
                <a:tailEnd/>
              </a:ln>
            </p:spPr>
            <p:txBody>
              <a:bodyPr wrap="none" anchor="ctr">
                <a:spAutoFit/>
              </a:bodyPr>
              <a:lstStyle/>
              <a:p>
                <a:endParaRPr lang="zh-CN" altLang="en-US"/>
              </a:p>
            </p:txBody>
          </p:sp>
          <p:sp>
            <p:nvSpPr>
              <p:cNvPr id="52252" name="Freeform 29"/>
              <p:cNvSpPr>
                <a:spLocks/>
              </p:cNvSpPr>
              <p:nvPr/>
            </p:nvSpPr>
            <p:spPr bwMode="auto">
              <a:xfrm>
                <a:off x="3817" y="2808"/>
                <a:ext cx="95" cy="91"/>
              </a:xfrm>
              <a:custGeom>
                <a:avLst/>
                <a:gdLst>
                  <a:gd name="T0" fmla="*/ 0 w 95"/>
                  <a:gd name="T1" fmla="*/ 90 h 91"/>
                  <a:gd name="T2" fmla="*/ 94 w 95"/>
                  <a:gd name="T3" fmla="*/ 0 h 91"/>
                  <a:gd name="T4" fmla="*/ 0 60000 65536"/>
                  <a:gd name="T5" fmla="*/ 0 60000 65536"/>
                  <a:gd name="T6" fmla="*/ 0 w 95"/>
                  <a:gd name="T7" fmla="*/ 0 h 91"/>
                  <a:gd name="T8" fmla="*/ 95 w 95"/>
                  <a:gd name="T9" fmla="*/ 91 h 91"/>
                </a:gdLst>
                <a:ahLst/>
                <a:cxnLst>
                  <a:cxn ang="T4">
                    <a:pos x="T0" y="T1"/>
                  </a:cxn>
                  <a:cxn ang="T5">
                    <a:pos x="T2" y="T3"/>
                  </a:cxn>
                </a:cxnLst>
                <a:rect l="T6" t="T7" r="T8" b="T9"/>
                <a:pathLst>
                  <a:path w="95" h="91">
                    <a:moveTo>
                      <a:pt x="0" y="90"/>
                    </a:moveTo>
                    <a:lnTo>
                      <a:pt x="94" y="0"/>
                    </a:lnTo>
                  </a:path>
                </a:pathLst>
              </a:custGeom>
              <a:solidFill>
                <a:srgbClr val="BBBBBB"/>
              </a:solidFill>
              <a:ln w="3175" cap="flat">
                <a:solidFill>
                  <a:srgbClr val="FFFF00"/>
                </a:solidFill>
                <a:prstDash val="solid"/>
                <a:round/>
                <a:headEnd/>
                <a:tailEnd/>
              </a:ln>
            </p:spPr>
            <p:txBody>
              <a:bodyPr wrap="none" anchor="ctr">
                <a:spAutoFit/>
              </a:bodyPr>
              <a:lstStyle/>
              <a:p>
                <a:endParaRPr lang="zh-CN" altLang="en-US"/>
              </a:p>
            </p:txBody>
          </p:sp>
          <p:sp>
            <p:nvSpPr>
              <p:cNvPr id="52253" name="Freeform 30"/>
              <p:cNvSpPr>
                <a:spLocks/>
              </p:cNvSpPr>
              <p:nvPr/>
            </p:nvSpPr>
            <p:spPr bwMode="auto">
              <a:xfrm>
                <a:off x="3583" y="2831"/>
                <a:ext cx="75" cy="68"/>
              </a:xfrm>
              <a:custGeom>
                <a:avLst/>
                <a:gdLst>
                  <a:gd name="T0" fmla="*/ 0 w 75"/>
                  <a:gd name="T1" fmla="*/ 67 h 68"/>
                  <a:gd name="T2" fmla="*/ 70 w 75"/>
                  <a:gd name="T3" fmla="*/ 0 h 68"/>
                  <a:gd name="T4" fmla="*/ 74 w 75"/>
                  <a:gd name="T5" fmla="*/ 0 h 68"/>
                  <a:gd name="T6" fmla="*/ 9 w 75"/>
                  <a:gd name="T7" fmla="*/ 67 h 68"/>
                  <a:gd name="T8" fmla="*/ 0 w 75"/>
                  <a:gd name="T9" fmla="*/ 67 h 68"/>
                  <a:gd name="T10" fmla="*/ 0 w 75"/>
                  <a:gd name="T11" fmla="*/ 67 h 68"/>
                  <a:gd name="T12" fmla="*/ 0 60000 65536"/>
                  <a:gd name="T13" fmla="*/ 0 60000 65536"/>
                  <a:gd name="T14" fmla="*/ 0 60000 65536"/>
                  <a:gd name="T15" fmla="*/ 0 60000 65536"/>
                  <a:gd name="T16" fmla="*/ 0 60000 65536"/>
                  <a:gd name="T17" fmla="*/ 0 60000 65536"/>
                  <a:gd name="T18" fmla="*/ 0 w 75"/>
                  <a:gd name="T19" fmla="*/ 0 h 68"/>
                  <a:gd name="T20" fmla="*/ 75 w 75"/>
                  <a:gd name="T21" fmla="*/ 68 h 68"/>
                </a:gdLst>
                <a:ahLst/>
                <a:cxnLst>
                  <a:cxn ang="T12">
                    <a:pos x="T0" y="T1"/>
                  </a:cxn>
                  <a:cxn ang="T13">
                    <a:pos x="T2" y="T3"/>
                  </a:cxn>
                  <a:cxn ang="T14">
                    <a:pos x="T4" y="T5"/>
                  </a:cxn>
                  <a:cxn ang="T15">
                    <a:pos x="T6" y="T7"/>
                  </a:cxn>
                  <a:cxn ang="T16">
                    <a:pos x="T8" y="T9"/>
                  </a:cxn>
                  <a:cxn ang="T17">
                    <a:pos x="T10" y="T11"/>
                  </a:cxn>
                </a:cxnLst>
                <a:rect l="T18" t="T19" r="T20" b="T21"/>
                <a:pathLst>
                  <a:path w="75" h="68">
                    <a:moveTo>
                      <a:pt x="0" y="67"/>
                    </a:moveTo>
                    <a:lnTo>
                      <a:pt x="70" y="0"/>
                    </a:lnTo>
                    <a:lnTo>
                      <a:pt x="74" y="0"/>
                    </a:lnTo>
                    <a:lnTo>
                      <a:pt x="9" y="67"/>
                    </a:lnTo>
                    <a:lnTo>
                      <a:pt x="0" y="67"/>
                    </a:lnTo>
                    <a:close/>
                  </a:path>
                </a:pathLst>
              </a:custGeom>
              <a:solidFill>
                <a:srgbClr val="BBBBBB"/>
              </a:solidFill>
              <a:ln w="0" cap="flat">
                <a:solidFill>
                  <a:srgbClr val="FFFF00"/>
                </a:solidFill>
                <a:prstDash val="solid"/>
                <a:round/>
                <a:headEnd/>
                <a:tailEnd/>
              </a:ln>
            </p:spPr>
            <p:txBody>
              <a:bodyPr wrap="none" anchor="ctr">
                <a:spAutoFit/>
              </a:bodyPr>
              <a:lstStyle/>
              <a:p>
                <a:endParaRPr lang="zh-CN" altLang="en-US"/>
              </a:p>
            </p:txBody>
          </p:sp>
          <p:sp>
            <p:nvSpPr>
              <p:cNvPr id="52254" name="Freeform 31"/>
              <p:cNvSpPr>
                <a:spLocks/>
              </p:cNvSpPr>
              <p:nvPr/>
            </p:nvSpPr>
            <p:spPr bwMode="auto">
              <a:xfrm>
                <a:off x="3583" y="2831"/>
                <a:ext cx="75" cy="68"/>
              </a:xfrm>
              <a:custGeom>
                <a:avLst/>
                <a:gdLst>
                  <a:gd name="T0" fmla="*/ 0 w 75"/>
                  <a:gd name="T1" fmla="*/ 67 h 68"/>
                  <a:gd name="T2" fmla="*/ 70 w 75"/>
                  <a:gd name="T3" fmla="*/ 0 h 68"/>
                  <a:gd name="T4" fmla="*/ 74 w 75"/>
                  <a:gd name="T5" fmla="*/ 0 h 68"/>
                  <a:gd name="T6" fmla="*/ 9 w 75"/>
                  <a:gd name="T7" fmla="*/ 67 h 68"/>
                  <a:gd name="T8" fmla="*/ 0 w 75"/>
                  <a:gd name="T9" fmla="*/ 67 h 68"/>
                  <a:gd name="T10" fmla="*/ 0 60000 65536"/>
                  <a:gd name="T11" fmla="*/ 0 60000 65536"/>
                  <a:gd name="T12" fmla="*/ 0 60000 65536"/>
                  <a:gd name="T13" fmla="*/ 0 60000 65536"/>
                  <a:gd name="T14" fmla="*/ 0 60000 65536"/>
                  <a:gd name="T15" fmla="*/ 0 w 75"/>
                  <a:gd name="T16" fmla="*/ 0 h 68"/>
                  <a:gd name="T17" fmla="*/ 75 w 75"/>
                  <a:gd name="T18" fmla="*/ 68 h 68"/>
                </a:gdLst>
                <a:ahLst/>
                <a:cxnLst>
                  <a:cxn ang="T10">
                    <a:pos x="T0" y="T1"/>
                  </a:cxn>
                  <a:cxn ang="T11">
                    <a:pos x="T2" y="T3"/>
                  </a:cxn>
                  <a:cxn ang="T12">
                    <a:pos x="T4" y="T5"/>
                  </a:cxn>
                  <a:cxn ang="T13">
                    <a:pos x="T6" y="T7"/>
                  </a:cxn>
                  <a:cxn ang="T14">
                    <a:pos x="T8" y="T9"/>
                  </a:cxn>
                </a:cxnLst>
                <a:rect l="T15" t="T16" r="T17" b="T18"/>
                <a:pathLst>
                  <a:path w="75" h="68">
                    <a:moveTo>
                      <a:pt x="0" y="67"/>
                    </a:moveTo>
                    <a:lnTo>
                      <a:pt x="70" y="0"/>
                    </a:lnTo>
                    <a:lnTo>
                      <a:pt x="74" y="0"/>
                    </a:lnTo>
                    <a:lnTo>
                      <a:pt x="9" y="67"/>
                    </a:lnTo>
                    <a:lnTo>
                      <a:pt x="0" y="67"/>
                    </a:lnTo>
                    <a:close/>
                  </a:path>
                </a:pathLst>
              </a:custGeom>
              <a:solidFill>
                <a:srgbClr val="BBBBBB"/>
              </a:solidFill>
              <a:ln w="3175" cap="flat">
                <a:solidFill>
                  <a:srgbClr val="FFFF00"/>
                </a:solidFill>
                <a:prstDash val="solid"/>
                <a:round/>
                <a:headEnd/>
                <a:tailEnd/>
              </a:ln>
            </p:spPr>
            <p:txBody>
              <a:bodyPr wrap="none" anchor="ctr">
                <a:spAutoFit/>
              </a:bodyPr>
              <a:lstStyle/>
              <a:p>
                <a:endParaRPr lang="zh-CN" altLang="en-US"/>
              </a:p>
            </p:txBody>
          </p:sp>
          <p:sp>
            <p:nvSpPr>
              <p:cNvPr id="52255" name="Freeform 32"/>
              <p:cNvSpPr>
                <a:spLocks/>
              </p:cNvSpPr>
              <p:nvPr/>
            </p:nvSpPr>
            <p:spPr bwMode="auto">
              <a:xfrm>
                <a:off x="3583" y="2831"/>
                <a:ext cx="75" cy="68"/>
              </a:xfrm>
              <a:custGeom>
                <a:avLst/>
                <a:gdLst>
                  <a:gd name="T0" fmla="*/ 0 w 75"/>
                  <a:gd name="T1" fmla="*/ 67 h 68"/>
                  <a:gd name="T2" fmla="*/ 70 w 75"/>
                  <a:gd name="T3" fmla="*/ 0 h 68"/>
                  <a:gd name="T4" fmla="*/ 74 w 75"/>
                  <a:gd name="T5" fmla="*/ 0 h 68"/>
                  <a:gd name="T6" fmla="*/ 9 w 75"/>
                  <a:gd name="T7" fmla="*/ 67 h 68"/>
                  <a:gd name="T8" fmla="*/ 0 w 75"/>
                  <a:gd name="T9" fmla="*/ 67 h 68"/>
                  <a:gd name="T10" fmla="*/ 0 60000 65536"/>
                  <a:gd name="T11" fmla="*/ 0 60000 65536"/>
                  <a:gd name="T12" fmla="*/ 0 60000 65536"/>
                  <a:gd name="T13" fmla="*/ 0 60000 65536"/>
                  <a:gd name="T14" fmla="*/ 0 60000 65536"/>
                  <a:gd name="T15" fmla="*/ 0 w 75"/>
                  <a:gd name="T16" fmla="*/ 0 h 68"/>
                  <a:gd name="T17" fmla="*/ 75 w 75"/>
                  <a:gd name="T18" fmla="*/ 68 h 68"/>
                </a:gdLst>
                <a:ahLst/>
                <a:cxnLst>
                  <a:cxn ang="T10">
                    <a:pos x="T0" y="T1"/>
                  </a:cxn>
                  <a:cxn ang="T11">
                    <a:pos x="T2" y="T3"/>
                  </a:cxn>
                  <a:cxn ang="T12">
                    <a:pos x="T4" y="T5"/>
                  </a:cxn>
                  <a:cxn ang="T13">
                    <a:pos x="T6" y="T7"/>
                  </a:cxn>
                  <a:cxn ang="T14">
                    <a:pos x="T8" y="T9"/>
                  </a:cxn>
                </a:cxnLst>
                <a:rect l="T15" t="T16" r="T17" b="T18"/>
                <a:pathLst>
                  <a:path w="75" h="68">
                    <a:moveTo>
                      <a:pt x="0" y="67"/>
                    </a:moveTo>
                    <a:lnTo>
                      <a:pt x="70" y="0"/>
                    </a:lnTo>
                    <a:lnTo>
                      <a:pt x="74" y="0"/>
                    </a:lnTo>
                    <a:lnTo>
                      <a:pt x="9" y="67"/>
                    </a:lnTo>
                    <a:lnTo>
                      <a:pt x="0" y="67"/>
                    </a:lnTo>
                    <a:close/>
                  </a:path>
                </a:pathLst>
              </a:custGeom>
              <a:solidFill>
                <a:srgbClr val="BBBBBB"/>
              </a:solidFill>
              <a:ln w="3175" cap="flat">
                <a:solidFill>
                  <a:srgbClr val="FFFF00"/>
                </a:solidFill>
                <a:prstDash val="solid"/>
                <a:round/>
                <a:headEnd/>
                <a:tailEnd/>
              </a:ln>
            </p:spPr>
            <p:txBody>
              <a:bodyPr wrap="none" anchor="ctr">
                <a:spAutoFit/>
              </a:bodyPr>
              <a:lstStyle/>
              <a:p>
                <a:endParaRPr lang="zh-CN" altLang="en-US"/>
              </a:p>
            </p:txBody>
          </p:sp>
          <p:sp>
            <p:nvSpPr>
              <p:cNvPr id="52256" name="Freeform 33"/>
              <p:cNvSpPr>
                <a:spLocks/>
              </p:cNvSpPr>
              <p:nvPr/>
            </p:nvSpPr>
            <p:spPr bwMode="auto">
              <a:xfrm>
                <a:off x="3604" y="2831"/>
                <a:ext cx="75" cy="68"/>
              </a:xfrm>
              <a:custGeom>
                <a:avLst/>
                <a:gdLst>
                  <a:gd name="T0" fmla="*/ 0 w 75"/>
                  <a:gd name="T1" fmla="*/ 67 h 68"/>
                  <a:gd name="T2" fmla="*/ 70 w 75"/>
                  <a:gd name="T3" fmla="*/ 0 h 68"/>
                  <a:gd name="T4" fmla="*/ 74 w 75"/>
                  <a:gd name="T5" fmla="*/ 0 h 68"/>
                  <a:gd name="T6" fmla="*/ 4 w 75"/>
                  <a:gd name="T7" fmla="*/ 67 h 68"/>
                  <a:gd name="T8" fmla="*/ 0 w 75"/>
                  <a:gd name="T9" fmla="*/ 67 h 68"/>
                  <a:gd name="T10" fmla="*/ 0 w 75"/>
                  <a:gd name="T11" fmla="*/ 67 h 68"/>
                  <a:gd name="T12" fmla="*/ 0 60000 65536"/>
                  <a:gd name="T13" fmla="*/ 0 60000 65536"/>
                  <a:gd name="T14" fmla="*/ 0 60000 65536"/>
                  <a:gd name="T15" fmla="*/ 0 60000 65536"/>
                  <a:gd name="T16" fmla="*/ 0 60000 65536"/>
                  <a:gd name="T17" fmla="*/ 0 60000 65536"/>
                  <a:gd name="T18" fmla="*/ 0 w 75"/>
                  <a:gd name="T19" fmla="*/ 0 h 68"/>
                  <a:gd name="T20" fmla="*/ 75 w 75"/>
                  <a:gd name="T21" fmla="*/ 68 h 68"/>
                </a:gdLst>
                <a:ahLst/>
                <a:cxnLst>
                  <a:cxn ang="T12">
                    <a:pos x="T0" y="T1"/>
                  </a:cxn>
                  <a:cxn ang="T13">
                    <a:pos x="T2" y="T3"/>
                  </a:cxn>
                  <a:cxn ang="T14">
                    <a:pos x="T4" y="T5"/>
                  </a:cxn>
                  <a:cxn ang="T15">
                    <a:pos x="T6" y="T7"/>
                  </a:cxn>
                  <a:cxn ang="T16">
                    <a:pos x="T8" y="T9"/>
                  </a:cxn>
                  <a:cxn ang="T17">
                    <a:pos x="T10" y="T11"/>
                  </a:cxn>
                </a:cxnLst>
                <a:rect l="T18" t="T19" r="T20" b="T21"/>
                <a:pathLst>
                  <a:path w="75" h="68">
                    <a:moveTo>
                      <a:pt x="0" y="67"/>
                    </a:moveTo>
                    <a:lnTo>
                      <a:pt x="70" y="0"/>
                    </a:lnTo>
                    <a:lnTo>
                      <a:pt x="74" y="0"/>
                    </a:lnTo>
                    <a:lnTo>
                      <a:pt x="4" y="67"/>
                    </a:lnTo>
                    <a:lnTo>
                      <a:pt x="0" y="67"/>
                    </a:lnTo>
                    <a:close/>
                  </a:path>
                </a:pathLst>
              </a:custGeom>
              <a:solidFill>
                <a:srgbClr val="BBBBBB"/>
              </a:solidFill>
              <a:ln w="0" cap="flat">
                <a:solidFill>
                  <a:srgbClr val="FFFF00"/>
                </a:solidFill>
                <a:prstDash val="solid"/>
                <a:round/>
                <a:headEnd/>
                <a:tailEnd/>
              </a:ln>
            </p:spPr>
            <p:txBody>
              <a:bodyPr wrap="none" anchor="ctr">
                <a:spAutoFit/>
              </a:bodyPr>
              <a:lstStyle/>
              <a:p>
                <a:endParaRPr lang="zh-CN" altLang="en-US"/>
              </a:p>
            </p:txBody>
          </p:sp>
          <p:sp>
            <p:nvSpPr>
              <p:cNvPr id="52257" name="Freeform 34"/>
              <p:cNvSpPr>
                <a:spLocks/>
              </p:cNvSpPr>
              <p:nvPr/>
            </p:nvSpPr>
            <p:spPr bwMode="auto">
              <a:xfrm>
                <a:off x="3604" y="2831"/>
                <a:ext cx="75" cy="68"/>
              </a:xfrm>
              <a:custGeom>
                <a:avLst/>
                <a:gdLst>
                  <a:gd name="T0" fmla="*/ 0 w 75"/>
                  <a:gd name="T1" fmla="*/ 67 h 68"/>
                  <a:gd name="T2" fmla="*/ 70 w 75"/>
                  <a:gd name="T3" fmla="*/ 0 h 68"/>
                  <a:gd name="T4" fmla="*/ 74 w 75"/>
                  <a:gd name="T5" fmla="*/ 0 h 68"/>
                  <a:gd name="T6" fmla="*/ 4 w 75"/>
                  <a:gd name="T7" fmla="*/ 67 h 68"/>
                  <a:gd name="T8" fmla="*/ 0 w 75"/>
                  <a:gd name="T9" fmla="*/ 67 h 68"/>
                  <a:gd name="T10" fmla="*/ 0 60000 65536"/>
                  <a:gd name="T11" fmla="*/ 0 60000 65536"/>
                  <a:gd name="T12" fmla="*/ 0 60000 65536"/>
                  <a:gd name="T13" fmla="*/ 0 60000 65536"/>
                  <a:gd name="T14" fmla="*/ 0 60000 65536"/>
                  <a:gd name="T15" fmla="*/ 0 w 75"/>
                  <a:gd name="T16" fmla="*/ 0 h 68"/>
                  <a:gd name="T17" fmla="*/ 75 w 75"/>
                  <a:gd name="T18" fmla="*/ 68 h 68"/>
                </a:gdLst>
                <a:ahLst/>
                <a:cxnLst>
                  <a:cxn ang="T10">
                    <a:pos x="T0" y="T1"/>
                  </a:cxn>
                  <a:cxn ang="T11">
                    <a:pos x="T2" y="T3"/>
                  </a:cxn>
                  <a:cxn ang="T12">
                    <a:pos x="T4" y="T5"/>
                  </a:cxn>
                  <a:cxn ang="T13">
                    <a:pos x="T6" y="T7"/>
                  </a:cxn>
                  <a:cxn ang="T14">
                    <a:pos x="T8" y="T9"/>
                  </a:cxn>
                </a:cxnLst>
                <a:rect l="T15" t="T16" r="T17" b="T18"/>
                <a:pathLst>
                  <a:path w="75" h="68">
                    <a:moveTo>
                      <a:pt x="0" y="67"/>
                    </a:moveTo>
                    <a:lnTo>
                      <a:pt x="70" y="0"/>
                    </a:lnTo>
                    <a:lnTo>
                      <a:pt x="74" y="0"/>
                    </a:lnTo>
                    <a:lnTo>
                      <a:pt x="4" y="67"/>
                    </a:lnTo>
                    <a:lnTo>
                      <a:pt x="0" y="67"/>
                    </a:lnTo>
                    <a:close/>
                  </a:path>
                </a:pathLst>
              </a:custGeom>
              <a:solidFill>
                <a:srgbClr val="BBBBBB"/>
              </a:solidFill>
              <a:ln w="3175" cap="flat">
                <a:solidFill>
                  <a:srgbClr val="FFFF00"/>
                </a:solidFill>
                <a:prstDash val="solid"/>
                <a:round/>
                <a:headEnd/>
                <a:tailEnd/>
              </a:ln>
            </p:spPr>
            <p:txBody>
              <a:bodyPr wrap="none" anchor="ctr">
                <a:spAutoFit/>
              </a:bodyPr>
              <a:lstStyle/>
              <a:p>
                <a:endParaRPr lang="zh-CN" altLang="en-US"/>
              </a:p>
            </p:txBody>
          </p:sp>
          <p:sp>
            <p:nvSpPr>
              <p:cNvPr id="52258" name="Freeform 35"/>
              <p:cNvSpPr>
                <a:spLocks/>
              </p:cNvSpPr>
              <p:nvPr/>
            </p:nvSpPr>
            <p:spPr bwMode="auto">
              <a:xfrm>
                <a:off x="3604" y="2831"/>
                <a:ext cx="75" cy="68"/>
              </a:xfrm>
              <a:custGeom>
                <a:avLst/>
                <a:gdLst>
                  <a:gd name="T0" fmla="*/ 0 w 75"/>
                  <a:gd name="T1" fmla="*/ 67 h 68"/>
                  <a:gd name="T2" fmla="*/ 70 w 75"/>
                  <a:gd name="T3" fmla="*/ 0 h 68"/>
                  <a:gd name="T4" fmla="*/ 74 w 75"/>
                  <a:gd name="T5" fmla="*/ 0 h 68"/>
                  <a:gd name="T6" fmla="*/ 4 w 75"/>
                  <a:gd name="T7" fmla="*/ 67 h 68"/>
                  <a:gd name="T8" fmla="*/ 0 w 75"/>
                  <a:gd name="T9" fmla="*/ 67 h 68"/>
                  <a:gd name="T10" fmla="*/ 0 60000 65536"/>
                  <a:gd name="T11" fmla="*/ 0 60000 65536"/>
                  <a:gd name="T12" fmla="*/ 0 60000 65536"/>
                  <a:gd name="T13" fmla="*/ 0 60000 65536"/>
                  <a:gd name="T14" fmla="*/ 0 60000 65536"/>
                  <a:gd name="T15" fmla="*/ 0 w 75"/>
                  <a:gd name="T16" fmla="*/ 0 h 68"/>
                  <a:gd name="T17" fmla="*/ 75 w 75"/>
                  <a:gd name="T18" fmla="*/ 68 h 68"/>
                </a:gdLst>
                <a:ahLst/>
                <a:cxnLst>
                  <a:cxn ang="T10">
                    <a:pos x="T0" y="T1"/>
                  </a:cxn>
                  <a:cxn ang="T11">
                    <a:pos x="T2" y="T3"/>
                  </a:cxn>
                  <a:cxn ang="T12">
                    <a:pos x="T4" y="T5"/>
                  </a:cxn>
                  <a:cxn ang="T13">
                    <a:pos x="T6" y="T7"/>
                  </a:cxn>
                  <a:cxn ang="T14">
                    <a:pos x="T8" y="T9"/>
                  </a:cxn>
                </a:cxnLst>
                <a:rect l="T15" t="T16" r="T17" b="T18"/>
                <a:pathLst>
                  <a:path w="75" h="68">
                    <a:moveTo>
                      <a:pt x="0" y="67"/>
                    </a:moveTo>
                    <a:lnTo>
                      <a:pt x="70" y="0"/>
                    </a:lnTo>
                    <a:lnTo>
                      <a:pt x="74" y="0"/>
                    </a:lnTo>
                    <a:lnTo>
                      <a:pt x="4" y="67"/>
                    </a:lnTo>
                    <a:lnTo>
                      <a:pt x="0" y="67"/>
                    </a:lnTo>
                    <a:close/>
                  </a:path>
                </a:pathLst>
              </a:custGeom>
              <a:solidFill>
                <a:srgbClr val="BBBBBB"/>
              </a:solidFill>
              <a:ln w="3175" cap="flat">
                <a:solidFill>
                  <a:srgbClr val="FFFF00"/>
                </a:solidFill>
                <a:prstDash val="solid"/>
                <a:round/>
                <a:headEnd/>
                <a:tailEnd/>
              </a:ln>
            </p:spPr>
            <p:txBody>
              <a:bodyPr wrap="none" anchor="ctr">
                <a:spAutoFit/>
              </a:bodyPr>
              <a:lstStyle/>
              <a:p>
                <a:endParaRPr lang="zh-CN" altLang="en-US"/>
              </a:p>
            </p:txBody>
          </p:sp>
        </p:grpSp>
      </p:gr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457200" y="253536"/>
            <a:ext cx="8229600" cy="1143000"/>
          </a:xfrm>
        </p:spPr>
        <p:txBody>
          <a:bodyPr/>
          <a:lstStyle/>
          <a:p>
            <a:pPr marL="54864" indent="0" fontAlgn="auto">
              <a:spcAft>
                <a:spcPts val="0"/>
              </a:spcAft>
              <a:defRPr/>
            </a:pPr>
            <a:r>
              <a:rPr lang="zh-CN" altLang="en-US" b="1" dirty="0">
                <a:solidFill>
                  <a:schemeClr val="tx2">
                    <a:tint val="100000"/>
                    <a:shade val="90000"/>
                    <a:satMod val="250000"/>
                    <a:alpha val="100000"/>
                  </a:schemeClr>
                </a:solidFill>
                <a:cs typeface="+mj-cs"/>
              </a:rPr>
              <a:t>战略目标的性质</a:t>
            </a:r>
          </a:p>
        </p:txBody>
      </p:sp>
      <p:sp>
        <p:nvSpPr>
          <p:cNvPr id="53250" name="Rectangle 4"/>
          <p:cNvSpPr>
            <a:spLocks noGrp="1" noChangeArrowheads="1"/>
          </p:cNvSpPr>
          <p:nvPr>
            <p:ph type="body" idx="1"/>
          </p:nvPr>
        </p:nvSpPr>
        <p:spPr/>
        <p:txBody>
          <a:bodyPr/>
          <a:lstStyle/>
          <a:p>
            <a:r>
              <a:rPr lang="zh-CN" altLang="en-US" dirty="0"/>
              <a:t>战略目标的性质：</a:t>
            </a:r>
          </a:p>
          <a:p>
            <a:pPr lvl="1"/>
            <a:r>
              <a:rPr lang="zh-CN" altLang="en-US" dirty="0"/>
              <a:t>战略目标是实现企业使命的结果，衡量战略行为的标准；</a:t>
            </a:r>
          </a:p>
          <a:p>
            <a:pPr lvl="1"/>
            <a:r>
              <a:rPr lang="zh-CN" altLang="en-US" dirty="0"/>
              <a:t>战略目标是一个体系；</a:t>
            </a:r>
          </a:p>
          <a:p>
            <a:pPr lvl="1"/>
            <a:r>
              <a:rPr lang="zh-CN" altLang="en-US" dirty="0"/>
              <a:t>战略目标能使企业的各类资源发挥最大效能；</a:t>
            </a:r>
          </a:p>
          <a:p>
            <a:pPr lvl="1"/>
            <a:r>
              <a:rPr lang="zh-CN" altLang="en-US" dirty="0"/>
              <a:t>战略目标具有挑战性、激励性。</a:t>
            </a:r>
            <a:endParaRPr lang="en-US" altLang="zh-CN" dirty="0"/>
          </a:p>
          <a:p>
            <a:r>
              <a:rPr lang="zh-CN" altLang="en-US" dirty="0"/>
              <a:t>目标设定的</a:t>
            </a:r>
            <a:r>
              <a:rPr lang="en-US" altLang="zh-CN" dirty="0"/>
              <a:t>smart</a:t>
            </a:r>
            <a:r>
              <a:rPr lang="zh-CN" altLang="en-US" dirty="0"/>
              <a:t>原则</a:t>
            </a: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457200" y="253536"/>
            <a:ext cx="8229600" cy="1143000"/>
          </a:xfrm>
        </p:spPr>
        <p:txBody>
          <a:bodyPr/>
          <a:lstStyle/>
          <a:p>
            <a:pPr marL="54864" indent="0" fontAlgn="auto">
              <a:spcAft>
                <a:spcPts val="0"/>
              </a:spcAft>
              <a:defRPr/>
            </a:pPr>
            <a:r>
              <a:rPr lang="zh-CN" altLang="en-US" b="1">
                <a:solidFill>
                  <a:schemeClr val="tx2">
                    <a:tint val="100000"/>
                    <a:shade val="90000"/>
                    <a:satMod val="250000"/>
                    <a:alpha val="100000"/>
                  </a:schemeClr>
                </a:solidFill>
                <a:cs typeface="+mj-cs"/>
              </a:rPr>
              <a:t>战略目标的内容</a:t>
            </a:r>
          </a:p>
        </p:txBody>
      </p:sp>
      <p:sp>
        <p:nvSpPr>
          <p:cNvPr id="54274" name="Rectangle 4"/>
          <p:cNvSpPr>
            <a:spLocks noGrp="1" noChangeArrowheads="1"/>
          </p:cNvSpPr>
          <p:nvPr>
            <p:ph type="body" idx="1"/>
          </p:nvPr>
        </p:nvSpPr>
        <p:spPr/>
        <p:txBody>
          <a:bodyPr/>
          <a:lstStyle/>
          <a:p>
            <a:r>
              <a:rPr lang="zh-CN" altLang="en-US" sz="2400" b="1">
                <a:solidFill>
                  <a:srgbClr val="FFFF66"/>
                </a:solidFill>
              </a:rPr>
              <a:t>赢利能力</a:t>
            </a:r>
            <a:r>
              <a:rPr lang="zh-CN" altLang="en-US" sz="2400" b="1"/>
              <a:t>：用利润、投资收益率、每股平均收益、销售利润率等来表示。</a:t>
            </a:r>
          </a:p>
          <a:p>
            <a:r>
              <a:rPr lang="zh-CN" altLang="en-US" sz="2400" b="1">
                <a:solidFill>
                  <a:srgbClr val="FFFF66"/>
                </a:solidFill>
              </a:rPr>
              <a:t>竞争地位</a:t>
            </a:r>
            <a:r>
              <a:rPr lang="zh-CN" altLang="en-US" sz="2400" b="1"/>
              <a:t>：用市场占有率、销售额或销售量来表示。</a:t>
            </a:r>
          </a:p>
          <a:p>
            <a:r>
              <a:rPr lang="zh-CN" altLang="en-US" sz="2400" b="1">
                <a:solidFill>
                  <a:srgbClr val="FFFF66"/>
                </a:solidFill>
              </a:rPr>
              <a:t>生产能力</a:t>
            </a:r>
            <a:r>
              <a:rPr lang="zh-CN" altLang="en-US" sz="2400" b="1"/>
              <a:t>：用工作面积、固定费用或生产量等表示？。</a:t>
            </a:r>
          </a:p>
          <a:p>
            <a:r>
              <a:rPr lang="zh-CN" altLang="en-US" sz="2400" b="1">
                <a:solidFill>
                  <a:srgbClr val="FFFF66"/>
                </a:solidFill>
              </a:rPr>
              <a:t>技术领先</a:t>
            </a:r>
            <a:r>
              <a:rPr lang="zh-CN" altLang="en-US" sz="2400" b="1"/>
              <a:t>：研究与开发：用花费的货币量或完成的项目来表示。</a:t>
            </a:r>
          </a:p>
          <a:p>
            <a:r>
              <a:rPr lang="zh-CN" altLang="en-US" sz="2400" b="1">
                <a:solidFill>
                  <a:srgbClr val="FFFF66"/>
                </a:solidFill>
              </a:rPr>
              <a:t>组织</a:t>
            </a:r>
            <a:r>
              <a:rPr lang="zh-CN" altLang="en-US" sz="2400" b="1"/>
              <a:t>：用将实行的变革或承担的项目来表示。</a:t>
            </a:r>
          </a:p>
          <a:p>
            <a:r>
              <a:rPr lang="zh-CN" altLang="en-US" sz="2400" b="1">
                <a:solidFill>
                  <a:srgbClr val="FFFF66"/>
                </a:solidFill>
              </a:rPr>
              <a:t>职工素质培养</a:t>
            </a:r>
            <a:r>
              <a:rPr lang="zh-CN" altLang="en-US" sz="2400" b="1"/>
              <a:t>：人力资源：用缺勤率、人员流动率、培训人数或将实施的培训计划数来表示。</a:t>
            </a:r>
          </a:p>
          <a:p>
            <a:r>
              <a:rPr lang="zh-CN" altLang="en-US" sz="2400" b="1">
                <a:solidFill>
                  <a:srgbClr val="FFFF66"/>
                </a:solidFill>
              </a:rPr>
              <a:t>社会责任</a:t>
            </a:r>
            <a:r>
              <a:rPr lang="zh-CN" altLang="en-US" sz="2400" b="1"/>
              <a:t>：用活动的类型、服务天数或财政资助来表示</a:t>
            </a:r>
            <a:r>
              <a:rPr lang="zh-CN" altLang="en-US" sz="2400"/>
              <a:t>。</a:t>
            </a: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457200" y="253536"/>
            <a:ext cx="8229600" cy="1143000"/>
          </a:xfrm>
        </p:spPr>
        <p:txBody>
          <a:bodyPr/>
          <a:lstStyle/>
          <a:p>
            <a:pPr marL="54864" indent="0" fontAlgn="auto">
              <a:spcAft>
                <a:spcPts val="0"/>
              </a:spcAft>
              <a:defRPr/>
            </a:pPr>
            <a:r>
              <a:rPr kumimoji="1" lang="en-US" altLang="zh-CN" sz="4000" b="1">
                <a:solidFill>
                  <a:srgbClr val="FFFF66"/>
                </a:solidFill>
                <a:cs typeface="+mj-cs"/>
              </a:rPr>
              <a:t>★ ★ ★</a:t>
            </a:r>
            <a:r>
              <a:rPr kumimoji="1" lang="zh-CN" altLang="en-US" sz="4000" b="1">
                <a:solidFill>
                  <a:srgbClr val="FFFF66"/>
                </a:solidFill>
                <a:cs typeface="+mj-cs"/>
              </a:rPr>
              <a:t>集团主要目标</a:t>
            </a:r>
          </a:p>
        </p:txBody>
      </p:sp>
      <p:sp>
        <p:nvSpPr>
          <p:cNvPr id="55298" name="Rectangle 3"/>
          <p:cNvSpPr>
            <a:spLocks noGrp="1" noChangeArrowheads="1"/>
          </p:cNvSpPr>
          <p:nvPr>
            <p:ph type="body" idx="1"/>
          </p:nvPr>
        </p:nvSpPr>
        <p:spPr/>
        <p:txBody>
          <a:bodyPr/>
          <a:lstStyle/>
          <a:p>
            <a:pPr>
              <a:lnSpc>
                <a:spcPct val="90000"/>
              </a:lnSpc>
              <a:buFont typeface="Wingdings" pitchFamily="2" charset="2"/>
              <a:buNone/>
            </a:pPr>
            <a:r>
              <a:rPr kumimoji="1" lang="en-US" altLang="zh-CN" b="1">
                <a:solidFill>
                  <a:srgbClr val="FFFF66"/>
                </a:solidFill>
              </a:rPr>
              <a:t>      ★ ★ ★</a:t>
            </a:r>
            <a:r>
              <a:rPr kumimoji="1" lang="zh-CN" altLang="en-US" b="1">
                <a:solidFill>
                  <a:srgbClr val="FFFF66"/>
                </a:solidFill>
              </a:rPr>
              <a:t>集团追求实现可持续成长和确保世界一流地位。在未来</a:t>
            </a:r>
            <a:r>
              <a:rPr kumimoji="1" lang="en-US" altLang="zh-CN" b="1">
                <a:solidFill>
                  <a:srgbClr val="FFFF66"/>
                </a:solidFill>
              </a:rPr>
              <a:t>10</a:t>
            </a:r>
            <a:r>
              <a:rPr kumimoji="1" lang="zh-CN" altLang="en-US" b="1">
                <a:solidFill>
                  <a:srgbClr val="FFFF66"/>
                </a:solidFill>
              </a:rPr>
              <a:t>年内（自</a:t>
            </a:r>
            <a:r>
              <a:rPr kumimoji="1" lang="en-US" altLang="zh-CN" b="1">
                <a:solidFill>
                  <a:srgbClr val="FFFF66"/>
                </a:solidFill>
              </a:rPr>
              <a:t>2000</a:t>
            </a:r>
            <a:r>
              <a:rPr kumimoji="1" lang="zh-CN" altLang="en-US" b="1">
                <a:solidFill>
                  <a:srgbClr val="FFFF66"/>
                </a:solidFill>
              </a:rPr>
              <a:t>年起），总体发展目标是：资产规模以提高资产质量、优化资本结构为前提迅速增长，年增长速度约为</a:t>
            </a:r>
            <a:r>
              <a:rPr kumimoji="1" lang="en-US" altLang="zh-CN" b="1">
                <a:solidFill>
                  <a:srgbClr val="FFFF66"/>
                </a:solidFill>
              </a:rPr>
              <a:t>15%</a:t>
            </a:r>
            <a:r>
              <a:rPr kumimoji="1" lang="zh-CN" altLang="en-US" b="1">
                <a:solidFill>
                  <a:srgbClr val="FFFF66"/>
                </a:solidFill>
              </a:rPr>
              <a:t>，达到</a:t>
            </a:r>
            <a:r>
              <a:rPr kumimoji="1" lang="en-US" altLang="zh-CN" b="1">
                <a:solidFill>
                  <a:srgbClr val="FFFF66"/>
                </a:solidFill>
              </a:rPr>
              <a:t>800</a:t>
            </a:r>
            <a:r>
              <a:rPr kumimoji="1" lang="zh-CN" altLang="en-US" b="1">
                <a:solidFill>
                  <a:srgbClr val="FFFF66"/>
                </a:solidFill>
              </a:rPr>
              <a:t>亿元的总量水平；同时，在经济发展质量上，实现经济形态的升级、提高主营产业竞争力。</a:t>
            </a:r>
          </a:p>
          <a:p>
            <a:pPr>
              <a:lnSpc>
                <a:spcPct val="90000"/>
              </a:lnSpc>
              <a:buFont typeface="Wingdings" pitchFamily="2" charset="2"/>
              <a:buNone/>
            </a:pPr>
            <a:r>
              <a:rPr kumimoji="1" lang="zh-CN" altLang="en-US" b="1">
                <a:solidFill>
                  <a:srgbClr val="FFFF66"/>
                </a:solidFill>
              </a:rPr>
              <a:t>            </a:t>
            </a:r>
            <a:r>
              <a:rPr kumimoji="1" lang="en-US" altLang="zh-CN" b="1">
                <a:solidFill>
                  <a:srgbClr val="FFFF66"/>
                </a:solidFill>
              </a:rPr>
              <a:t>——</a:t>
            </a:r>
            <a:r>
              <a:rPr kumimoji="1" lang="zh-CN" altLang="en-US" b="1">
                <a:solidFill>
                  <a:srgbClr val="FFFF66"/>
                </a:solidFill>
              </a:rPr>
              <a:t>摘自</a:t>
            </a:r>
            <a:r>
              <a:rPr kumimoji="1" lang="en-US" altLang="zh-CN" b="1">
                <a:solidFill>
                  <a:srgbClr val="FFFF66"/>
                </a:solidFill>
              </a:rPr>
              <a:t>《★ ★ ★</a:t>
            </a:r>
            <a:r>
              <a:rPr kumimoji="1" lang="zh-CN" altLang="en-US" b="1">
                <a:solidFill>
                  <a:srgbClr val="FFFF66"/>
                </a:solidFill>
              </a:rPr>
              <a:t>集团宪章</a:t>
            </a:r>
            <a:r>
              <a:rPr kumimoji="1" lang="en-US" altLang="zh-CN" b="1">
                <a:solidFill>
                  <a:srgbClr val="FFFF66"/>
                </a:solidFill>
              </a:rPr>
              <a:t>》</a:t>
            </a:r>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53536"/>
            <a:ext cx="8229600" cy="1143000"/>
          </a:xfrm>
        </p:spPr>
        <p:txBody>
          <a:bodyPr/>
          <a:lstStyle/>
          <a:p>
            <a:pPr marL="54864" indent="0" fontAlgn="auto">
              <a:spcAft>
                <a:spcPts val="0"/>
              </a:spcAft>
              <a:defRPr/>
            </a:pPr>
            <a:r>
              <a:rPr lang="zh-CN" altLang="en-US" dirty="0">
                <a:solidFill>
                  <a:schemeClr val="tx2">
                    <a:tint val="100000"/>
                    <a:shade val="90000"/>
                    <a:satMod val="250000"/>
                    <a:alpha val="100000"/>
                  </a:schemeClr>
                </a:solidFill>
                <a:cs typeface="+mj-cs"/>
              </a:rPr>
              <a:t>组织的外部环境分析</a:t>
            </a:r>
          </a:p>
        </p:txBody>
      </p:sp>
      <p:sp>
        <p:nvSpPr>
          <p:cNvPr id="56322" name="内容占位符 2"/>
          <p:cNvSpPr>
            <a:spLocks noGrp="1"/>
          </p:cNvSpPr>
          <p:nvPr>
            <p:ph idx="1"/>
          </p:nvPr>
        </p:nvSpPr>
        <p:spPr/>
        <p:txBody>
          <a:bodyPr/>
          <a:lstStyle/>
          <a:p>
            <a:r>
              <a:rPr lang="zh-CN" altLang="en-US"/>
              <a:t>宏观环境分析</a:t>
            </a:r>
            <a:endParaRPr lang="en-US" altLang="zh-CN"/>
          </a:p>
          <a:p>
            <a:r>
              <a:rPr lang="zh-CN" altLang="en-US"/>
              <a:t>行业结构分析</a:t>
            </a:r>
            <a:endParaRPr lang="en-US" altLang="zh-CN"/>
          </a:p>
          <a:p>
            <a:r>
              <a:rPr lang="zh-CN" altLang="en-US"/>
              <a:t>外部因素评价矩阵</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53536"/>
            <a:ext cx="8229600" cy="1143000"/>
          </a:xfrm>
        </p:spPr>
        <p:txBody>
          <a:bodyPr/>
          <a:lstStyle/>
          <a:p>
            <a:pPr marL="54864" indent="0" fontAlgn="auto">
              <a:spcAft>
                <a:spcPts val="0"/>
              </a:spcAft>
              <a:defRPr/>
            </a:pPr>
            <a:r>
              <a:rPr lang="zh-CN" altLang="en-US" dirty="0">
                <a:solidFill>
                  <a:schemeClr val="tx2">
                    <a:tint val="100000"/>
                    <a:shade val="90000"/>
                    <a:satMod val="250000"/>
                    <a:alpha val="100000"/>
                  </a:schemeClr>
                </a:solidFill>
                <a:cs typeface="+mj-cs"/>
              </a:rPr>
              <a:t>组织的宏观环境分析</a:t>
            </a:r>
          </a:p>
        </p:txBody>
      </p:sp>
      <p:sp>
        <p:nvSpPr>
          <p:cNvPr id="3" name="内容占位符 2"/>
          <p:cNvSpPr>
            <a:spLocks noGrp="1"/>
          </p:cNvSpPr>
          <p:nvPr>
            <p:ph idx="1"/>
          </p:nvPr>
        </p:nvSpPr>
        <p:spPr/>
        <p:txBody>
          <a:bodyPr>
            <a:normAutofit fontScale="85000" lnSpcReduction="20000"/>
          </a:bodyPr>
          <a:lstStyle/>
          <a:p>
            <a:pPr fontAlgn="auto">
              <a:spcBef>
                <a:spcPts val="0"/>
              </a:spcBef>
              <a:spcAft>
                <a:spcPts val="0"/>
              </a:spcAft>
              <a:defRPr/>
            </a:pPr>
            <a:r>
              <a:rPr lang="zh-CN" altLang="en-US" dirty="0">
                <a:cs typeface="+mn-cs"/>
              </a:rPr>
              <a:t>政治</a:t>
            </a:r>
            <a:endParaRPr lang="en-US" altLang="zh-CN" dirty="0">
              <a:cs typeface="+mn-cs"/>
            </a:endParaRPr>
          </a:p>
          <a:p>
            <a:pPr marL="640080" lvl="1" fontAlgn="auto">
              <a:spcAft>
                <a:spcPts val="0"/>
              </a:spcAft>
              <a:defRPr/>
            </a:pPr>
            <a:r>
              <a:rPr lang="zh-CN" altLang="en-US" dirty="0">
                <a:cs typeface="+mn-cs"/>
              </a:rPr>
              <a:t>特点：直接、难预测、不可逆转</a:t>
            </a:r>
            <a:endParaRPr lang="en-US" altLang="zh-CN" dirty="0">
              <a:cs typeface="+mn-cs"/>
            </a:endParaRPr>
          </a:p>
          <a:p>
            <a:pPr marL="640080" lvl="1" fontAlgn="auto">
              <a:spcAft>
                <a:spcPts val="0"/>
              </a:spcAft>
              <a:defRPr/>
            </a:pPr>
            <a:r>
              <a:rPr lang="zh-CN" altLang="en-US" dirty="0">
                <a:cs typeface="+mn-cs"/>
              </a:rPr>
              <a:t>政治制度、政党和政党制度、政治性团体、国家的方针政策及政治气氛</a:t>
            </a:r>
            <a:endParaRPr lang="en-US" altLang="zh-CN" dirty="0">
              <a:cs typeface="+mn-cs"/>
            </a:endParaRPr>
          </a:p>
          <a:p>
            <a:pPr fontAlgn="auto">
              <a:spcBef>
                <a:spcPts val="0"/>
              </a:spcBef>
              <a:spcAft>
                <a:spcPts val="0"/>
              </a:spcAft>
              <a:defRPr/>
            </a:pPr>
            <a:r>
              <a:rPr lang="zh-CN" altLang="en-US" dirty="0">
                <a:cs typeface="+mn-cs"/>
              </a:rPr>
              <a:t>经济</a:t>
            </a:r>
            <a:endParaRPr lang="en-US" altLang="zh-CN" dirty="0">
              <a:cs typeface="+mn-cs"/>
            </a:endParaRPr>
          </a:p>
          <a:p>
            <a:pPr marL="640080" lvl="1" fontAlgn="auto">
              <a:spcAft>
                <a:spcPts val="0"/>
              </a:spcAft>
              <a:defRPr/>
            </a:pPr>
            <a:r>
              <a:rPr lang="zh-CN" altLang="en-US" dirty="0">
                <a:cs typeface="+mn-cs"/>
              </a:rPr>
              <a:t>社会经济状况和国家经济政策</a:t>
            </a:r>
            <a:endParaRPr lang="en-US" altLang="zh-CN" dirty="0">
              <a:cs typeface="+mn-cs"/>
            </a:endParaRPr>
          </a:p>
          <a:p>
            <a:pPr marL="640080" lvl="1" fontAlgn="auto">
              <a:spcAft>
                <a:spcPts val="0"/>
              </a:spcAft>
              <a:defRPr/>
            </a:pPr>
            <a:r>
              <a:rPr lang="zh-CN" altLang="en-US" dirty="0">
                <a:cs typeface="+mn-cs"/>
              </a:rPr>
              <a:t>社会经济结构、经济发展水平、经济体制、宏观经济政策</a:t>
            </a:r>
            <a:endParaRPr lang="en-US" altLang="zh-CN" dirty="0">
              <a:cs typeface="+mn-cs"/>
            </a:endParaRPr>
          </a:p>
          <a:p>
            <a:pPr fontAlgn="auto">
              <a:spcBef>
                <a:spcPts val="0"/>
              </a:spcBef>
              <a:spcAft>
                <a:spcPts val="0"/>
              </a:spcAft>
              <a:defRPr/>
            </a:pPr>
            <a:r>
              <a:rPr lang="zh-CN" altLang="en-US" dirty="0">
                <a:cs typeface="+mn-cs"/>
              </a:rPr>
              <a:t>技术</a:t>
            </a:r>
            <a:endParaRPr lang="en-US" altLang="zh-CN" dirty="0">
              <a:cs typeface="+mn-cs"/>
            </a:endParaRPr>
          </a:p>
          <a:p>
            <a:pPr marL="640080" lvl="1" fontAlgn="auto">
              <a:spcAft>
                <a:spcPts val="0"/>
              </a:spcAft>
              <a:defRPr/>
            </a:pPr>
            <a:r>
              <a:rPr lang="zh-CN" altLang="en-US" dirty="0">
                <a:cs typeface="+mn-cs"/>
              </a:rPr>
              <a:t>社会科技水平、社会科技力量、国家科技体制、国家科技政策、科技立法</a:t>
            </a:r>
            <a:endParaRPr lang="en-US" altLang="zh-CN" dirty="0">
              <a:cs typeface="+mn-cs"/>
            </a:endParaRPr>
          </a:p>
          <a:p>
            <a:pPr fontAlgn="auto">
              <a:spcBef>
                <a:spcPts val="0"/>
              </a:spcBef>
              <a:spcAft>
                <a:spcPts val="0"/>
              </a:spcAft>
              <a:defRPr/>
            </a:pPr>
            <a:r>
              <a:rPr lang="zh-CN" altLang="en-US" dirty="0">
                <a:cs typeface="+mn-cs"/>
              </a:rPr>
              <a:t>社会文化</a:t>
            </a:r>
            <a:endParaRPr lang="en-US" altLang="zh-CN" dirty="0">
              <a:cs typeface="+mn-cs"/>
            </a:endParaRPr>
          </a:p>
          <a:p>
            <a:pPr marL="640080" lvl="1" fontAlgn="auto">
              <a:spcAft>
                <a:spcPts val="0"/>
              </a:spcAft>
              <a:defRPr/>
            </a:pPr>
            <a:r>
              <a:rPr lang="zh-CN" altLang="en-US" dirty="0">
                <a:cs typeface="+mn-cs"/>
              </a:rPr>
              <a:t>社会环境：社会阶层的形成与流动、人口、社会中的权利结构、生活方式 、就业、城乡差别、社会福利与保障等</a:t>
            </a:r>
            <a:endParaRPr lang="en-US" altLang="zh-CN" dirty="0">
              <a:cs typeface="+mn-cs"/>
            </a:endParaRPr>
          </a:p>
          <a:p>
            <a:pPr marL="640080" lvl="1" fontAlgn="auto">
              <a:spcAft>
                <a:spcPts val="0"/>
              </a:spcAft>
              <a:defRPr/>
            </a:pPr>
            <a:r>
              <a:rPr lang="zh-CN" altLang="en-US" dirty="0">
                <a:cs typeface="+mn-cs"/>
              </a:rPr>
              <a:t>文化环境</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468313" y="0"/>
            <a:ext cx="8229600" cy="1143000"/>
          </a:xfrm>
        </p:spPr>
        <p:txBody>
          <a:bodyPr/>
          <a:lstStyle/>
          <a:p>
            <a:pPr marL="54864" indent="0" fontAlgn="auto">
              <a:spcAft>
                <a:spcPts val="0"/>
              </a:spcAft>
              <a:defRPr/>
            </a:pPr>
            <a:r>
              <a:rPr lang="zh-CN" altLang="en-US" dirty="0">
                <a:solidFill>
                  <a:schemeClr val="tx2">
                    <a:tint val="100000"/>
                    <a:shade val="90000"/>
                    <a:satMod val="250000"/>
                    <a:alpha val="100000"/>
                  </a:schemeClr>
                </a:solidFill>
                <a:ea typeface="黑体" pitchFamily="2" charset="-122"/>
                <a:cs typeface="+mj-cs"/>
              </a:rPr>
              <a:t>宏观环境分析</a:t>
            </a:r>
          </a:p>
        </p:txBody>
      </p:sp>
      <p:pic>
        <p:nvPicPr>
          <p:cNvPr id="58370" name="Picture 47" descr="金融4"/>
          <p:cNvPicPr>
            <a:picLocks noChangeAspect="1" noChangeArrowheads="1"/>
          </p:cNvPicPr>
          <p:nvPr/>
        </p:nvPicPr>
        <p:blipFill>
          <a:blip r:embed="rId2"/>
          <a:srcRect/>
          <a:stretch>
            <a:fillRect/>
          </a:stretch>
        </p:blipFill>
        <p:spPr bwMode="auto">
          <a:xfrm>
            <a:off x="7380288" y="1773238"/>
            <a:ext cx="1439862" cy="1800225"/>
          </a:xfrm>
          <a:prstGeom prst="rect">
            <a:avLst/>
          </a:prstGeom>
          <a:noFill/>
          <a:ln w="9525">
            <a:noFill/>
            <a:miter lim="800000"/>
            <a:headEnd/>
            <a:tailEnd/>
          </a:ln>
        </p:spPr>
      </p:pic>
      <p:pic>
        <p:nvPicPr>
          <p:cNvPr id="58371" name="Picture 49" descr="科学技术2"/>
          <p:cNvPicPr>
            <a:picLocks noChangeAspect="1" noChangeArrowheads="1"/>
          </p:cNvPicPr>
          <p:nvPr/>
        </p:nvPicPr>
        <p:blipFill>
          <a:blip r:embed="rId3"/>
          <a:srcRect/>
          <a:stretch>
            <a:fillRect/>
          </a:stretch>
        </p:blipFill>
        <p:spPr bwMode="auto">
          <a:xfrm>
            <a:off x="7380288" y="4221163"/>
            <a:ext cx="1414462" cy="1800225"/>
          </a:xfrm>
          <a:prstGeom prst="rect">
            <a:avLst/>
          </a:prstGeom>
          <a:noFill/>
          <a:ln w="9525">
            <a:noFill/>
            <a:miter lim="800000"/>
            <a:headEnd/>
            <a:tailEnd/>
          </a:ln>
        </p:spPr>
      </p:pic>
      <p:pic>
        <p:nvPicPr>
          <p:cNvPr id="58372" name="Picture 50" descr="文化2"/>
          <p:cNvPicPr>
            <a:picLocks noChangeAspect="1" noChangeArrowheads="1"/>
          </p:cNvPicPr>
          <p:nvPr/>
        </p:nvPicPr>
        <p:blipFill>
          <a:blip r:embed="rId4"/>
          <a:srcRect/>
          <a:stretch>
            <a:fillRect/>
          </a:stretch>
        </p:blipFill>
        <p:spPr bwMode="auto">
          <a:xfrm>
            <a:off x="250825" y="4221163"/>
            <a:ext cx="1295400" cy="1800225"/>
          </a:xfrm>
          <a:prstGeom prst="rect">
            <a:avLst/>
          </a:prstGeom>
          <a:noFill/>
          <a:ln w="9525">
            <a:noFill/>
            <a:miter lim="800000"/>
            <a:headEnd/>
            <a:tailEnd/>
          </a:ln>
        </p:spPr>
      </p:pic>
      <p:sp>
        <p:nvSpPr>
          <p:cNvPr id="58373" name="Rectangle 51"/>
          <p:cNvSpPr>
            <a:spLocks noChangeArrowheads="1"/>
          </p:cNvSpPr>
          <p:nvPr/>
        </p:nvSpPr>
        <p:spPr bwMode="auto">
          <a:xfrm>
            <a:off x="1571625" y="1724025"/>
            <a:ext cx="2520950" cy="1800225"/>
          </a:xfrm>
          <a:prstGeom prst="rect">
            <a:avLst/>
          </a:prstGeom>
          <a:noFill/>
          <a:ln w="9525">
            <a:solidFill>
              <a:schemeClr val="tx1"/>
            </a:solidFill>
            <a:miter lim="800000"/>
            <a:headEnd/>
            <a:tailEnd/>
          </a:ln>
        </p:spPr>
        <p:txBody>
          <a:bodyPr wrap="none" anchor="ctr"/>
          <a:lstStyle/>
          <a:p>
            <a:r>
              <a:rPr lang="zh-CN" altLang="en-US">
                <a:solidFill>
                  <a:srgbClr val="00CC00"/>
                </a:solidFill>
                <a:latin typeface="Rockwell"/>
                <a:ea typeface="方正姚体"/>
              </a:rPr>
              <a:t>政治</a:t>
            </a:r>
            <a:r>
              <a:rPr lang="en-US" altLang="zh-CN">
                <a:solidFill>
                  <a:srgbClr val="00CC00"/>
                </a:solidFill>
                <a:latin typeface="Rockwell"/>
                <a:ea typeface="方正姚体"/>
              </a:rPr>
              <a:t>/</a:t>
            </a:r>
            <a:r>
              <a:rPr lang="zh-CN" altLang="en-US">
                <a:solidFill>
                  <a:srgbClr val="00CC00"/>
                </a:solidFill>
                <a:latin typeface="Rockwell"/>
                <a:ea typeface="方正姚体"/>
              </a:rPr>
              <a:t>法律（</a:t>
            </a:r>
            <a:r>
              <a:rPr lang="en-US" altLang="zh-CN">
                <a:solidFill>
                  <a:srgbClr val="00CC00"/>
                </a:solidFill>
                <a:latin typeface="Rockwell"/>
                <a:ea typeface="方正姚体"/>
              </a:rPr>
              <a:t>Political </a:t>
            </a:r>
            <a:r>
              <a:rPr lang="zh-CN" altLang="en-US">
                <a:solidFill>
                  <a:srgbClr val="00CC00"/>
                </a:solidFill>
                <a:latin typeface="Rockwell"/>
                <a:ea typeface="方正姚体"/>
              </a:rPr>
              <a:t>）</a:t>
            </a:r>
          </a:p>
          <a:p>
            <a:r>
              <a:rPr lang="zh-CN" altLang="en-US">
                <a:latin typeface="Rockwell"/>
                <a:ea typeface="方正姚体"/>
              </a:rPr>
              <a:t>垄断法律；环境保护法；</a:t>
            </a:r>
          </a:p>
          <a:p>
            <a:r>
              <a:rPr lang="zh-CN" altLang="en-US">
                <a:latin typeface="Rockwell"/>
                <a:ea typeface="方正姚体"/>
              </a:rPr>
              <a:t>税法；外贸法规；</a:t>
            </a:r>
          </a:p>
          <a:p>
            <a:r>
              <a:rPr lang="zh-CN" altLang="en-US">
                <a:latin typeface="Rockwell"/>
                <a:ea typeface="方正姚体"/>
              </a:rPr>
              <a:t>对于外来企业态度；</a:t>
            </a:r>
          </a:p>
          <a:p>
            <a:r>
              <a:rPr lang="zh-CN" altLang="en-US">
                <a:latin typeface="Rockwell"/>
                <a:ea typeface="方正姚体"/>
              </a:rPr>
              <a:t>政府稳定性</a:t>
            </a:r>
          </a:p>
        </p:txBody>
      </p:sp>
      <p:pic>
        <p:nvPicPr>
          <p:cNvPr id="58374" name="Picture 52" descr="法律"/>
          <p:cNvPicPr>
            <a:picLocks noChangeAspect="1" noChangeArrowheads="1"/>
          </p:cNvPicPr>
          <p:nvPr/>
        </p:nvPicPr>
        <p:blipFill>
          <a:blip r:embed="rId5"/>
          <a:srcRect/>
          <a:stretch>
            <a:fillRect/>
          </a:stretch>
        </p:blipFill>
        <p:spPr bwMode="auto">
          <a:xfrm>
            <a:off x="179388" y="1700213"/>
            <a:ext cx="1422400" cy="1800225"/>
          </a:xfrm>
          <a:prstGeom prst="rect">
            <a:avLst/>
          </a:prstGeom>
          <a:noFill/>
          <a:ln w="9525">
            <a:noFill/>
            <a:miter lim="800000"/>
            <a:headEnd/>
            <a:tailEnd/>
          </a:ln>
        </p:spPr>
      </p:pic>
      <p:sp>
        <p:nvSpPr>
          <p:cNvPr id="58375" name="Rectangle 55"/>
          <p:cNvSpPr>
            <a:spLocks noChangeArrowheads="1"/>
          </p:cNvSpPr>
          <p:nvPr/>
        </p:nvSpPr>
        <p:spPr bwMode="auto">
          <a:xfrm>
            <a:off x="4859338" y="1773238"/>
            <a:ext cx="2520950" cy="1800225"/>
          </a:xfrm>
          <a:prstGeom prst="rect">
            <a:avLst/>
          </a:prstGeom>
          <a:noFill/>
          <a:ln w="9525">
            <a:solidFill>
              <a:schemeClr val="tx1"/>
            </a:solidFill>
            <a:miter lim="800000"/>
            <a:headEnd/>
            <a:tailEnd/>
          </a:ln>
        </p:spPr>
        <p:txBody>
          <a:bodyPr wrap="none" anchor="ctr"/>
          <a:lstStyle/>
          <a:p>
            <a:r>
              <a:rPr lang="zh-CN" altLang="en-US">
                <a:solidFill>
                  <a:srgbClr val="00CC00"/>
                </a:solidFill>
                <a:latin typeface="Rockwell"/>
                <a:ea typeface="方正姚体"/>
              </a:rPr>
              <a:t>经济（</a:t>
            </a:r>
            <a:r>
              <a:rPr lang="en-US" altLang="zh-CN">
                <a:solidFill>
                  <a:srgbClr val="00CC00"/>
                </a:solidFill>
                <a:latin typeface="Rockwell"/>
                <a:ea typeface="方正姚体"/>
              </a:rPr>
              <a:t>Economic</a:t>
            </a:r>
            <a:r>
              <a:rPr lang="zh-CN" altLang="en-US">
                <a:solidFill>
                  <a:srgbClr val="00CC00"/>
                </a:solidFill>
                <a:latin typeface="Rockwell"/>
                <a:ea typeface="方正姚体"/>
              </a:rPr>
              <a:t>）</a:t>
            </a:r>
          </a:p>
          <a:p>
            <a:r>
              <a:rPr lang="en-US" altLang="zh-CN">
                <a:latin typeface="Rockwell"/>
                <a:ea typeface="方正姚体"/>
              </a:rPr>
              <a:t>GDP</a:t>
            </a:r>
            <a:r>
              <a:rPr lang="zh-CN" altLang="en-US">
                <a:latin typeface="Rockwell"/>
                <a:ea typeface="方正姚体"/>
              </a:rPr>
              <a:t>趋势；利率；</a:t>
            </a:r>
          </a:p>
          <a:p>
            <a:r>
              <a:rPr lang="zh-CN" altLang="en-US">
                <a:latin typeface="Rockwell"/>
                <a:ea typeface="方正姚体"/>
              </a:rPr>
              <a:t>货币供给；</a:t>
            </a:r>
          </a:p>
          <a:p>
            <a:r>
              <a:rPr lang="zh-CN" altLang="en-US">
                <a:latin typeface="Rockwell"/>
                <a:ea typeface="方正姚体"/>
              </a:rPr>
              <a:t>通涨；失业率；</a:t>
            </a:r>
          </a:p>
          <a:p>
            <a:r>
              <a:rPr lang="zh-CN" altLang="en-US">
                <a:latin typeface="Rockwell"/>
                <a:ea typeface="方正姚体"/>
              </a:rPr>
              <a:t>可支配收入；</a:t>
            </a:r>
          </a:p>
          <a:p>
            <a:r>
              <a:rPr lang="zh-CN" altLang="en-US">
                <a:latin typeface="Rockwell"/>
                <a:ea typeface="方正姚体"/>
              </a:rPr>
              <a:t>能源供应；成本</a:t>
            </a:r>
          </a:p>
        </p:txBody>
      </p:sp>
      <p:sp>
        <p:nvSpPr>
          <p:cNvPr id="58376" name="Rectangle 56"/>
          <p:cNvSpPr>
            <a:spLocks noChangeArrowheads="1"/>
          </p:cNvSpPr>
          <p:nvPr/>
        </p:nvSpPr>
        <p:spPr bwMode="auto">
          <a:xfrm>
            <a:off x="1547813" y="4221163"/>
            <a:ext cx="2520950" cy="1800225"/>
          </a:xfrm>
          <a:prstGeom prst="rect">
            <a:avLst/>
          </a:prstGeom>
          <a:noFill/>
          <a:ln w="9525">
            <a:solidFill>
              <a:schemeClr val="tx1"/>
            </a:solidFill>
            <a:miter lim="800000"/>
            <a:headEnd/>
            <a:tailEnd/>
          </a:ln>
        </p:spPr>
        <p:txBody>
          <a:bodyPr wrap="none" anchor="ctr"/>
          <a:lstStyle/>
          <a:p>
            <a:r>
              <a:rPr lang="zh-CN" altLang="en-US">
                <a:solidFill>
                  <a:srgbClr val="00CC00"/>
                </a:solidFill>
                <a:latin typeface="Rockwell"/>
                <a:ea typeface="方正姚体"/>
              </a:rPr>
              <a:t>社会文化（</a:t>
            </a:r>
            <a:r>
              <a:rPr lang="en-US" altLang="zh-CN">
                <a:solidFill>
                  <a:srgbClr val="00CC00"/>
                </a:solidFill>
                <a:latin typeface="Rockwell"/>
                <a:ea typeface="方正姚体"/>
              </a:rPr>
              <a:t>Social</a:t>
            </a:r>
            <a:r>
              <a:rPr lang="zh-CN" altLang="en-US">
                <a:solidFill>
                  <a:srgbClr val="00CC00"/>
                </a:solidFill>
                <a:latin typeface="Rockwell"/>
                <a:ea typeface="方正姚体"/>
              </a:rPr>
              <a:t>）</a:t>
            </a:r>
          </a:p>
          <a:p>
            <a:pPr>
              <a:spcBef>
                <a:spcPct val="20000"/>
              </a:spcBef>
              <a:buClr>
                <a:schemeClr val="folHlink"/>
              </a:buClr>
              <a:buFont typeface="Wingdings" pitchFamily="2" charset="2"/>
              <a:buNone/>
            </a:pPr>
            <a:r>
              <a:rPr lang="zh-CN" altLang="en-US">
                <a:latin typeface="Rockwell"/>
                <a:ea typeface="方正姚体"/>
              </a:rPr>
              <a:t>人口统计；收入分配；</a:t>
            </a:r>
          </a:p>
          <a:p>
            <a:pPr>
              <a:spcBef>
                <a:spcPct val="20000"/>
              </a:spcBef>
              <a:buClr>
                <a:schemeClr val="folHlink"/>
              </a:buClr>
              <a:buFont typeface="Wingdings" pitchFamily="2" charset="2"/>
              <a:buNone/>
            </a:pPr>
            <a:r>
              <a:rPr lang="zh-CN" altLang="en-US">
                <a:latin typeface="Rockwell"/>
                <a:ea typeface="方正姚体"/>
              </a:rPr>
              <a:t>生活方式演变；</a:t>
            </a:r>
          </a:p>
          <a:p>
            <a:pPr>
              <a:spcBef>
                <a:spcPct val="20000"/>
              </a:spcBef>
              <a:buClr>
                <a:schemeClr val="folHlink"/>
              </a:buClr>
              <a:buFont typeface="Wingdings" pitchFamily="2" charset="2"/>
              <a:buNone/>
            </a:pPr>
            <a:r>
              <a:rPr lang="zh-CN" altLang="en-US">
                <a:latin typeface="Rockwell"/>
                <a:ea typeface="方正姚体"/>
              </a:rPr>
              <a:t>工作期望水平；</a:t>
            </a:r>
          </a:p>
          <a:p>
            <a:pPr>
              <a:spcBef>
                <a:spcPct val="20000"/>
              </a:spcBef>
              <a:buClr>
                <a:schemeClr val="folHlink"/>
              </a:buClr>
              <a:buFont typeface="Wingdings" pitchFamily="2" charset="2"/>
              <a:buNone/>
            </a:pPr>
            <a:r>
              <a:rPr lang="zh-CN" altLang="en-US">
                <a:latin typeface="Rockwell"/>
                <a:ea typeface="方正姚体"/>
              </a:rPr>
              <a:t>教育水平；消费者态度</a:t>
            </a:r>
          </a:p>
        </p:txBody>
      </p:sp>
      <p:sp>
        <p:nvSpPr>
          <p:cNvPr id="58377" name="Rectangle 59"/>
          <p:cNvSpPr>
            <a:spLocks noChangeArrowheads="1"/>
          </p:cNvSpPr>
          <p:nvPr/>
        </p:nvSpPr>
        <p:spPr bwMode="auto">
          <a:xfrm>
            <a:off x="4859338" y="4221163"/>
            <a:ext cx="2520950" cy="1800225"/>
          </a:xfrm>
          <a:prstGeom prst="rect">
            <a:avLst/>
          </a:prstGeom>
          <a:noFill/>
          <a:ln w="9525">
            <a:solidFill>
              <a:schemeClr val="tx1"/>
            </a:solidFill>
            <a:miter lim="800000"/>
            <a:headEnd/>
            <a:tailEnd/>
          </a:ln>
        </p:spPr>
        <p:txBody>
          <a:bodyPr wrap="none" anchor="ctr"/>
          <a:lstStyle/>
          <a:p>
            <a:r>
              <a:rPr lang="zh-CN" altLang="en-US">
                <a:solidFill>
                  <a:srgbClr val="00CC00"/>
                </a:solidFill>
                <a:latin typeface="Rockwell"/>
                <a:ea typeface="方正姚体"/>
              </a:rPr>
              <a:t>技术（</a:t>
            </a:r>
            <a:r>
              <a:rPr lang="en-US" altLang="zh-CN">
                <a:solidFill>
                  <a:srgbClr val="00CC00"/>
                </a:solidFill>
                <a:latin typeface="Rockwell"/>
                <a:ea typeface="方正姚体"/>
              </a:rPr>
              <a:t>Technological</a:t>
            </a:r>
            <a:r>
              <a:rPr lang="zh-CN" altLang="en-US">
                <a:solidFill>
                  <a:srgbClr val="00CC00"/>
                </a:solidFill>
                <a:latin typeface="Rockwell"/>
                <a:ea typeface="方正姚体"/>
              </a:rPr>
              <a:t>）</a:t>
            </a:r>
          </a:p>
          <a:p>
            <a:r>
              <a:rPr lang="zh-CN" altLang="en-US">
                <a:latin typeface="Rockwell"/>
                <a:ea typeface="方正姚体"/>
              </a:rPr>
              <a:t>政府对研究的投入；</a:t>
            </a:r>
          </a:p>
          <a:p>
            <a:r>
              <a:rPr lang="zh-CN" altLang="en-US">
                <a:latin typeface="Rockwell"/>
                <a:ea typeface="方正姚体"/>
              </a:rPr>
              <a:t>政府对技术的重视；</a:t>
            </a:r>
          </a:p>
          <a:p>
            <a:r>
              <a:rPr lang="zh-CN" altLang="en-US">
                <a:latin typeface="Rockwell"/>
                <a:ea typeface="方正姚体"/>
              </a:rPr>
              <a:t>新技术开发；</a:t>
            </a:r>
          </a:p>
          <a:p>
            <a:r>
              <a:rPr lang="zh-CN" altLang="en-US">
                <a:latin typeface="Rockwell"/>
                <a:ea typeface="方正姚体"/>
              </a:rPr>
              <a:t>知识产权与保护；</a:t>
            </a:r>
          </a:p>
          <a:p>
            <a:r>
              <a:rPr lang="zh-CN" altLang="en-US">
                <a:latin typeface="Rockwell"/>
                <a:ea typeface="方正姚体"/>
              </a:rPr>
              <a:t>折旧</a:t>
            </a:r>
          </a:p>
        </p:txBody>
      </p:sp>
      <p:sp>
        <p:nvSpPr>
          <p:cNvPr id="58378" name="AutoShape 62"/>
          <p:cNvSpPr>
            <a:spLocks noChangeArrowheads="1"/>
          </p:cNvSpPr>
          <p:nvPr/>
        </p:nvSpPr>
        <p:spPr bwMode="auto">
          <a:xfrm>
            <a:off x="3563938" y="3141663"/>
            <a:ext cx="1584325" cy="1584325"/>
          </a:xfrm>
          <a:prstGeom prst="star24">
            <a:avLst>
              <a:gd name="adj" fmla="val 37500"/>
            </a:avLst>
          </a:prstGeom>
          <a:solidFill>
            <a:srgbClr val="FFFF00"/>
          </a:solidFill>
          <a:ln w="9525">
            <a:solidFill>
              <a:schemeClr val="tx1"/>
            </a:solidFill>
            <a:miter lim="800000"/>
            <a:headEnd/>
            <a:tailEnd/>
          </a:ln>
        </p:spPr>
        <p:txBody>
          <a:bodyPr wrap="none" anchor="ctr"/>
          <a:lstStyle/>
          <a:p>
            <a:pPr algn="ctr"/>
            <a:r>
              <a:rPr lang="en-US" altLang="zh-CN" sz="2800">
                <a:latin typeface="Rockwell"/>
                <a:ea typeface="方正姚体"/>
              </a:rPr>
              <a:t>PEST</a:t>
            </a: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53536"/>
            <a:ext cx="8229600" cy="1143000"/>
          </a:xfrm>
        </p:spPr>
        <p:txBody>
          <a:bodyPr/>
          <a:lstStyle/>
          <a:p>
            <a:pPr marL="54864" indent="0" fontAlgn="auto">
              <a:spcAft>
                <a:spcPts val="0"/>
              </a:spcAft>
              <a:defRPr/>
            </a:pPr>
            <a:r>
              <a:rPr lang="zh-CN" altLang="en-US" dirty="0">
                <a:solidFill>
                  <a:schemeClr val="tx2">
                    <a:tint val="100000"/>
                    <a:shade val="90000"/>
                    <a:satMod val="250000"/>
                    <a:alpha val="100000"/>
                  </a:schemeClr>
                </a:solidFill>
                <a:cs typeface="+mj-cs"/>
              </a:rPr>
              <a:t>行业结构分析</a:t>
            </a:r>
          </a:p>
        </p:txBody>
      </p:sp>
      <p:sp>
        <p:nvSpPr>
          <p:cNvPr id="59394" name="内容占位符 2"/>
          <p:cNvSpPr>
            <a:spLocks noGrp="1"/>
          </p:cNvSpPr>
          <p:nvPr>
            <p:ph idx="1"/>
          </p:nvPr>
        </p:nvSpPr>
        <p:spPr/>
        <p:txBody>
          <a:bodyPr/>
          <a:lstStyle/>
          <a:p>
            <a:r>
              <a:rPr lang="zh-CN" altLang="en-US" dirty="0"/>
              <a:t>行业竞争的五种力量模型</a:t>
            </a:r>
            <a:endParaRPr lang="en-US" altLang="zh-CN" dirty="0"/>
          </a:p>
          <a:p>
            <a:r>
              <a:rPr lang="zh-CN" altLang="en-US" dirty="0"/>
              <a:t>行业吸引力</a:t>
            </a:r>
            <a:endParaRPr lang="en-US" altLang="zh-CN" dirty="0"/>
          </a:p>
          <a:p>
            <a:r>
              <a:rPr lang="zh-CN" altLang="en-US" dirty="0"/>
              <a:t>相关市场分析</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050"/>
          <p:cNvSpPr>
            <a:spLocks noGrp="1" noChangeArrowheads="1"/>
          </p:cNvSpPr>
          <p:nvPr>
            <p:ph type="title"/>
          </p:nvPr>
        </p:nvSpPr>
        <p:spPr>
          <a:xfrm>
            <a:off x="358775" y="404813"/>
            <a:ext cx="8785225" cy="1143000"/>
          </a:xfrm>
        </p:spPr>
        <p:txBody>
          <a:bodyPr>
            <a:normAutofit fontScale="90000"/>
          </a:bodyPr>
          <a:lstStyle/>
          <a:p>
            <a:pPr marL="54864" indent="0" fontAlgn="auto">
              <a:spcAft>
                <a:spcPts val="0"/>
              </a:spcAft>
              <a:defRPr/>
            </a:pPr>
            <a:r>
              <a:rPr lang="en-US" altLang="zh-CN" dirty="0">
                <a:solidFill>
                  <a:schemeClr val="tx2">
                    <a:tint val="100000"/>
                    <a:shade val="90000"/>
                    <a:satMod val="250000"/>
                    <a:alpha val="100000"/>
                  </a:schemeClr>
                </a:solidFill>
                <a:ea typeface="黑体" pitchFamily="2" charset="-122"/>
                <a:cs typeface="+mj-cs"/>
              </a:rPr>
              <a:t>  </a:t>
            </a:r>
            <a:r>
              <a:rPr lang="zh-CN" altLang="en-US" dirty="0">
                <a:solidFill>
                  <a:schemeClr val="tx2">
                    <a:tint val="100000"/>
                    <a:shade val="90000"/>
                    <a:satMod val="250000"/>
                    <a:alpha val="100000"/>
                  </a:schemeClr>
                </a:solidFill>
                <a:ea typeface="黑体" pitchFamily="2" charset="-122"/>
                <a:cs typeface="+mj-cs"/>
              </a:rPr>
              <a:t>迈克尔</a:t>
            </a:r>
            <a:r>
              <a:rPr lang="en-US" altLang="zh-CN" dirty="0">
                <a:solidFill>
                  <a:schemeClr val="tx2">
                    <a:tint val="100000"/>
                    <a:shade val="90000"/>
                    <a:satMod val="250000"/>
                    <a:alpha val="100000"/>
                  </a:schemeClr>
                </a:solidFill>
                <a:ea typeface="黑体" pitchFamily="2" charset="-122"/>
                <a:cs typeface="+mj-cs"/>
              </a:rPr>
              <a:t>·</a:t>
            </a:r>
            <a:r>
              <a:rPr lang="zh-CN" altLang="en-US" dirty="0">
                <a:solidFill>
                  <a:schemeClr val="tx2">
                    <a:tint val="100000"/>
                    <a:shade val="90000"/>
                    <a:satMod val="250000"/>
                    <a:alpha val="100000"/>
                  </a:schemeClr>
                </a:solidFill>
                <a:ea typeface="黑体" pitchFamily="2" charset="-122"/>
                <a:cs typeface="+mj-cs"/>
              </a:rPr>
              <a:t>波特对于管理理论的贡献</a:t>
            </a:r>
            <a:endParaRPr lang="zh-CN" altLang="en-US" sz="3200" b="1" dirty="0">
              <a:solidFill>
                <a:schemeClr val="tx2">
                  <a:tint val="100000"/>
                  <a:shade val="90000"/>
                  <a:satMod val="250000"/>
                  <a:alpha val="100000"/>
                </a:schemeClr>
              </a:solidFill>
              <a:latin typeface="Times New Roman" pitchFamily="18" charset="0"/>
              <a:cs typeface="+mj-cs"/>
            </a:endParaRPr>
          </a:p>
        </p:txBody>
      </p:sp>
      <p:sp>
        <p:nvSpPr>
          <p:cNvPr id="60418" name="Rectangle 2051"/>
          <p:cNvSpPr>
            <a:spLocks noGrp="1" noChangeArrowheads="1"/>
          </p:cNvSpPr>
          <p:nvPr>
            <p:ph type="body" idx="1"/>
          </p:nvPr>
        </p:nvSpPr>
        <p:spPr>
          <a:xfrm>
            <a:off x="2484438" y="2205038"/>
            <a:ext cx="6335712" cy="3889375"/>
          </a:xfrm>
        </p:spPr>
        <p:txBody>
          <a:bodyPr/>
          <a:lstStyle/>
          <a:p>
            <a:pPr>
              <a:buFont typeface="Wingdings" pitchFamily="2" charset="2"/>
              <a:buNone/>
            </a:pPr>
            <a:r>
              <a:rPr lang="en-US" altLang="zh-CN" sz="2400" b="1">
                <a:solidFill>
                  <a:srgbClr val="00FF00"/>
                </a:solidFill>
              </a:rPr>
              <a:t>     </a:t>
            </a:r>
            <a:r>
              <a:rPr lang="zh-CN" altLang="en-US" sz="2400" b="1"/>
              <a:t>迈克尔</a:t>
            </a:r>
            <a:r>
              <a:rPr lang="en-US" altLang="zh-CN" sz="2400" b="1"/>
              <a:t>·</a:t>
            </a:r>
            <a:r>
              <a:rPr lang="zh-CN" altLang="en-US" sz="2400" b="1"/>
              <a:t>波特在产业经济学与管理学之间架起了一座桥梁。在其经典著作</a:t>
            </a:r>
            <a:r>
              <a:rPr lang="en-US" altLang="zh-CN" sz="2400" b="1">
                <a:solidFill>
                  <a:srgbClr val="00FF00"/>
                </a:solidFill>
              </a:rPr>
              <a:t>《</a:t>
            </a:r>
            <a:r>
              <a:rPr lang="zh-CN" altLang="en-US" sz="2400" b="1">
                <a:solidFill>
                  <a:srgbClr val="00FF00"/>
                </a:solidFill>
              </a:rPr>
              <a:t>竞争战略</a:t>
            </a:r>
            <a:r>
              <a:rPr lang="en-US" altLang="zh-CN" sz="2400" b="1">
                <a:solidFill>
                  <a:srgbClr val="00FF00"/>
                </a:solidFill>
              </a:rPr>
              <a:t>》</a:t>
            </a:r>
            <a:r>
              <a:rPr lang="zh-CN" altLang="en-US" sz="2400" b="1"/>
              <a:t>中，他提出了行业结构分析模型，即所谓的“五力模型”：行业现有的竞争状况、供应商的议价能力、客户的议价能力、替代产品或服务的威胁、新进入者的威胁这五大竞争驱动力，决定了企业的盈利能力，并指出公司战略的核心，应在于选择正确的行业，以及行业中最具有吸引力的竞争位置。</a:t>
            </a:r>
            <a:r>
              <a:rPr lang="zh-CN" altLang="en-US" sz="2400"/>
              <a:t> </a:t>
            </a:r>
          </a:p>
        </p:txBody>
      </p:sp>
      <p:pic>
        <p:nvPicPr>
          <p:cNvPr id="60419" name="Picture 2052" descr="porter"/>
          <p:cNvPicPr>
            <a:picLocks noChangeAspect="1" noChangeArrowheads="1"/>
          </p:cNvPicPr>
          <p:nvPr/>
        </p:nvPicPr>
        <p:blipFill>
          <a:blip r:embed="rId2"/>
          <a:srcRect/>
          <a:stretch>
            <a:fillRect/>
          </a:stretch>
        </p:blipFill>
        <p:spPr bwMode="auto">
          <a:xfrm>
            <a:off x="539750" y="1700213"/>
            <a:ext cx="1785938" cy="2305050"/>
          </a:xfrm>
          <a:prstGeom prst="rect">
            <a:avLst/>
          </a:prstGeom>
          <a:noFill/>
          <a:ln w="9525">
            <a:noFill/>
            <a:miter lim="800000"/>
            <a:headEnd/>
            <a:tailEnd/>
          </a:ln>
        </p:spPr>
      </p:pic>
      <p:pic>
        <p:nvPicPr>
          <p:cNvPr id="60420" name="Picture 2053" descr="竞争战略"/>
          <p:cNvPicPr>
            <a:picLocks noChangeAspect="1" noChangeArrowheads="1"/>
          </p:cNvPicPr>
          <p:nvPr/>
        </p:nvPicPr>
        <p:blipFill>
          <a:blip r:embed="rId3"/>
          <a:srcRect/>
          <a:stretch>
            <a:fillRect/>
          </a:stretch>
        </p:blipFill>
        <p:spPr bwMode="auto">
          <a:xfrm>
            <a:off x="539750" y="4076700"/>
            <a:ext cx="1793875" cy="2592388"/>
          </a:xfrm>
          <a:prstGeom prst="rect">
            <a:avLst/>
          </a:prstGeom>
          <a:noFill/>
          <a:ln w="9525">
            <a:noFill/>
            <a:miter lim="800000"/>
            <a:headEnd/>
            <a:tailEnd/>
          </a:ln>
        </p:spPr>
      </p:pic>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611560" y="260648"/>
            <a:ext cx="8229600" cy="1052513"/>
          </a:xfrm>
        </p:spPr>
        <p:txBody>
          <a:bodyPr/>
          <a:lstStyle/>
          <a:p>
            <a:pPr marL="54864" indent="0" fontAlgn="auto">
              <a:spcAft>
                <a:spcPts val="0"/>
              </a:spcAft>
              <a:defRPr/>
            </a:pPr>
            <a:r>
              <a:rPr lang="zh-CN" altLang="en-US" dirty="0">
                <a:solidFill>
                  <a:schemeClr val="tx2">
                    <a:tint val="100000"/>
                    <a:shade val="90000"/>
                    <a:satMod val="250000"/>
                    <a:alpha val="100000"/>
                  </a:schemeClr>
                </a:solidFill>
                <a:ea typeface="黑体" pitchFamily="2" charset="-122"/>
                <a:cs typeface="+mj-cs"/>
              </a:rPr>
              <a:t>行业竞争力量模型</a:t>
            </a:r>
          </a:p>
        </p:txBody>
      </p:sp>
      <p:sp>
        <p:nvSpPr>
          <p:cNvPr id="61442" name="Rectangle 3"/>
          <p:cNvSpPr>
            <a:spLocks noGrp="1" noChangeArrowheads="1"/>
          </p:cNvSpPr>
          <p:nvPr>
            <p:ph type="body" idx="1"/>
          </p:nvPr>
        </p:nvSpPr>
        <p:spPr>
          <a:xfrm>
            <a:off x="228600" y="1314450"/>
            <a:ext cx="8915400" cy="5543550"/>
          </a:xfrm>
        </p:spPr>
        <p:txBody>
          <a:bodyPr/>
          <a:lstStyle/>
          <a:p>
            <a:endParaRPr lang="en-US" altLang="zh-CN" sz="900"/>
          </a:p>
          <a:p>
            <a:pPr>
              <a:lnSpc>
                <a:spcPct val="110000"/>
              </a:lnSpc>
            </a:pPr>
            <a:r>
              <a:rPr lang="zh-CN" altLang="en-US" sz="2800" b="1"/>
              <a:t>美国学者迈克尔</a:t>
            </a:r>
            <a:r>
              <a:rPr lang="en-US" altLang="zh-CN" sz="2800" b="1">
                <a:latin typeface="宋体" charset="-122"/>
              </a:rPr>
              <a:t>•</a:t>
            </a:r>
            <a:r>
              <a:rPr lang="zh-CN" altLang="en-US" sz="2800" b="1"/>
              <a:t>波特（</a:t>
            </a:r>
            <a:r>
              <a:rPr lang="en-US" altLang="zh-CN" sz="2800" b="1"/>
              <a:t>Michael.E.Porter</a:t>
            </a:r>
            <a:r>
              <a:rPr lang="zh-CN" altLang="en-US" sz="2800" b="1"/>
              <a:t>）认为，企业所选择及所处的行业的竞争激烈程度</a:t>
            </a:r>
            <a:r>
              <a:rPr lang="en-US" altLang="zh-CN" sz="2800" b="1"/>
              <a:t>——</a:t>
            </a:r>
            <a:r>
              <a:rPr lang="zh-CN" altLang="en-US" sz="2800" b="1"/>
              <a:t>行业结构，</a:t>
            </a:r>
            <a:r>
              <a:rPr lang="zh-CN" altLang="en-US" sz="2800" b="1">
                <a:solidFill>
                  <a:srgbClr val="00FF00"/>
                </a:solidFill>
              </a:rPr>
              <a:t>对行业内部企业的获利水平具有决定的意义。</a:t>
            </a:r>
          </a:p>
          <a:p>
            <a:pPr>
              <a:lnSpc>
                <a:spcPct val="110000"/>
              </a:lnSpc>
              <a:buFont typeface="Wingdings" pitchFamily="2" charset="2"/>
              <a:buNone/>
            </a:pPr>
            <a:endParaRPr lang="zh-CN" altLang="en-US" sz="2800" b="1">
              <a:solidFill>
                <a:srgbClr val="CC6600"/>
              </a:solidFill>
            </a:endParaRPr>
          </a:p>
          <a:p>
            <a:pPr>
              <a:lnSpc>
                <a:spcPct val="110000"/>
              </a:lnSpc>
            </a:pPr>
            <a:r>
              <a:rPr lang="zh-CN" altLang="en-US" sz="2800" b="1"/>
              <a:t> 行业的竞争强度又与什么有关呢？波特的结论是：一个行业的竞争状态主要由</a:t>
            </a:r>
            <a:r>
              <a:rPr lang="zh-CN" altLang="en-US" sz="2800" b="1">
                <a:solidFill>
                  <a:srgbClr val="00FF00"/>
                </a:solidFill>
              </a:rPr>
              <a:t>五种力决定的</a:t>
            </a:r>
            <a:r>
              <a:rPr lang="zh-CN" altLang="en-US" sz="2800" b="1"/>
              <a:t>（</a:t>
            </a:r>
            <a:r>
              <a:rPr lang="en-US" altLang="zh-CN" sz="2800" b="1"/>
              <a:t>20</a:t>
            </a:r>
            <a:r>
              <a:rPr lang="zh-CN" altLang="en-US" sz="2800" b="1"/>
              <a:t>世纪</a:t>
            </a:r>
            <a:r>
              <a:rPr lang="en-US" altLang="zh-CN" sz="2800" b="1"/>
              <a:t>70</a:t>
            </a:r>
            <a:r>
              <a:rPr lang="zh-CN" altLang="en-US" sz="2800" b="1"/>
              <a:t>年代末）。</a:t>
            </a: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539750" y="260350"/>
            <a:ext cx="8147050" cy="1125538"/>
          </a:xfrm>
        </p:spPr>
        <p:txBody>
          <a:bodyPr/>
          <a:lstStyle/>
          <a:p>
            <a:pPr marL="54864" indent="0" fontAlgn="auto">
              <a:spcAft>
                <a:spcPts val="0"/>
              </a:spcAft>
              <a:defRPr/>
            </a:pPr>
            <a:r>
              <a:rPr lang="zh-CN" altLang="en-US" dirty="0">
                <a:solidFill>
                  <a:schemeClr val="tx2">
                    <a:tint val="100000"/>
                    <a:shade val="90000"/>
                    <a:satMod val="250000"/>
                    <a:alpha val="100000"/>
                  </a:schemeClr>
                </a:solidFill>
                <a:ea typeface="黑体" pitchFamily="2" charset="-122"/>
                <a:cs typeface="+mj-cs"/>
              </a:rPr>
              <a:t>五种力分析模型</a:t>
            </a:r>
          </a:p>
        </p:txBody>
      </p:sp>
      <p:sp>
        <p:nvSpPr>
          <p:cNvPr id="62466" name="Rectangle 3"/>
          <p:cNvSpPr>
            <a:spLocks noGrp="1" noChangeArrowheads="1"/>
          </p:cNvSpPr>
          <p:nvPr>
            <p:ph type="body" idx="1"/>
          </p:nvPr>
        </p:nvSpPr>
        <p:spPr>
          <a:xfrm>
            <a:off x="468313" y="2133600"/>
            <a:ext cx="7632700" cy="3529013"/>
          </a:xfrm>
        </p:spPr>
        <p:txBody>
          <a:bodyPr/>
          <a:lstStyle/>
          <a:p>
            <a:pPr lvl="1"/>
            <a:r>
              <a:rPr lang="zh-CN" altLang="en-US" b="1"/>
              <a:t>现有竞争者之间的抗衡</a:t>
            </a:r>
          </a:p>
          <a:p>
            <a:pPr lvl="1"/>
            <a:r>
              <a:rPr lang="zh-CN" altLang="en-US" b="1"/>
              <a:t>潜在的进入者的威胁</a:t>
            </a:r>
          </a:p>
          <a:p>
            <a:pPr lvl="1"/>
            <a:r>
              <a:rPr lang="zh-CN" altLang="en-US" b="1"/>
              <a:t>替代品的威胁</a:t>
            </a:r>
          </a:p>
          <a:p>
            <a:pPr lvl="1"/>
            <a:r>
              <a:rPr lang="zh-CN" altLang="en-US" b="1"/>
              <a:t>购买者的侃价能力</a:t>
            </a:r>
          </a:p>
          <a:p>
            <a:pPr lvl="1"/>
            <a:r>
              <a:rPr lang="zh-CN" altLang="en-US" b="1"/>
              <a:t>供应者的侃价能力</a:t>
            </a:r>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ext Box 2"/>
          <p:cNvSpPr txBox="1">
            <a:spLocks noChangeArrowheads="1"/>
          </p:cNvSpPr>
          <p:nvPr/>
        </p:nvSpPr>
        <p:spPr bwMode="auto">
          <a:xfrm>
            <a:off x="1524000" y="457200"/>
            <a:ext cx="7620000" cy="457200"/>
          </a:xfrm>
          <a:prstGeom prst="rect">
            <a:avLst/>
          </a:prstGeom>
          <a:noFill/>
          <a:ln w="12700" cap="sq">
            <a:noFill/>
            <a:miter lim="800000"/>
            <a:headEnd type="none" w="sm" len="sm"/>
            <a:tailEnd type="none" w="sm" len="sm"/>
          </a:ln>
        </p:spPr>
        <p:txBody>
          <a:bodyPr>
            <a:spAutoFit/>
          </a:bodyPr>
          <a:lstStyle/>
          <a:p>
            <a:pPr>
              <a:spcBef>
                <a:spcPct val="50000"/>
              </a:spcBef>
            </a:pPr>
            <a:endParaRPr kumimoji="1" lang="zh-CN" altLang="zh-CN" sz="2400">
              <a:latin typeface="Times New Roman" pitchFamily="18" charset="0"/>
              <a:ea typeface="方正姚体"/>
            </a:endParaRPr>
          </a:p>
        </p:txBody>
      </p:sp>
      <p:sp>
        <p:nvSpPr>
          <p:cNvPr id="37891" name="Oval 3"/>
          <p:cNvSpPr>
            <a:spLocks noChangeArrowheads="1"/>
          </p:cNvSpPr>
          <p:nvPr/>
        </p:nvSpPr>
        <p:spPr bwMode="auto">
          <a:xfrm flipH="1" flipV="1">
            <a:off x="3635375" y="3429000"/>
            <a:ext cx="1728788" cy="1312863"/>
          </a:xfrm>
          <a:prstGeom prst="ellipse">
            <a:avLst/>
          </a:prstGeom>
          <a:solidFill>
            <a:schemeClr val="accent1"/>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chemeClr val="accent1"/>
            </a:extrusionClr>
          </a:sp3d>
        </p:spPr>
        <p:txBody>
          <a:bodyPr rot="10800000" wrap="none" anchor="ctr">
            <a:flatTx/>
          </a:bodyPr>
          <a:lstStyle/>
          <a:p>
            <a:pPr algn="ctr" fontAlgn="auto">
              <a:spcBef>
                <a:spcPts val="0"/>
              </a:spcBef>
              <a:spcAft>
                <a:spcPts val="0"/>
              </a:spcAft>
              <a:defRPr/>
            </a:pPr>
            <a:r>
              <a:rPr kumimoji="1" lang="zh-CN" altLang="en-US" sz="2400">
                <a:solidFill>
                  <a:srgbClr val="FFFF00"/>
                </a:solidFill>
                <a:effectLst>
                  <a:outerShdw blurRad="38100" dist="38100" dir="2700000" algn="tl">
                    <a:srgbClr val="000000"/>
                  </a:outerShdw>
                </a:effectLst>
                <a:latin typeface="Times New Roman" pitchFamily="18" charset="0"/>
                <a:ea typeface="+mn-ea"/>
                <a:cs typeface="+mn-cs"/>
              </a:rPr>
              <a:t>产业内</a:t>
            </a:r>
          </a:p>
          <a:p>
            <a:pPr algn="ctr" fontAlgn="auto">
              <a:spcBef>
                <a:spcPts val="0"/>
              </a:spcBef>
              <a:spcAft>
                <a:spcPts val="0"/>
              </a:spcAft>
              <a:defRPr/>
            </a:pPr>
            <a:r>
              <a:rPr kumimoji="1" lang="zh-CN" altLang="en-US" sz="2400">
                <a:solidFill>
                  <a:srgbClr val="FFFF00"/>
                </a:solidFill>
                <a:effectLst>
                  <a:outerShdw blurRad="38100" dist="38100" dir="2700000" algn="tl">
                    <a:srgbClr val="000000"/>
                  </a:outerShdw>
                </a:effectLst>
                <a:latin typeface="Times New Roman" pitchFamily="18" charset="0"/>
                <a:ea typeface="+mn-ea"/>
                <a:cs typeface="+mn-cs"/>
              </a:rPr>
              <a:t>竞争者</a:t>
            </a:r>
          </a:p>
        </p:txBody>
      </p:sp>
      <p:sp>
        <p:nvSpPr>
          <p:cNvPr id="63491" name="AutoShape 4"/>
          <p:cNvSpPr>
            <a:spLocks noChangeArrowheads="1"/>
          </p:cNvSpPr>
          <p:nvPr/>
        </p:nvSpPr>
        <p:spPr bwMode="auto">
          <a:xfrm>
            <a:off x="4140200" y="2492375"/>
            <a:ext cx="647700" cy="720725"/>
          </a:xfrm>
          <a:prstGeom prst="downArrow">
            <a:avLst>
              <a:gd name="adj1" fmla="val 31861"/>
              <a:gd name="adj2" fmla="val 34191"/>
            </a:avLst>
          </a:prstGeom>
          <a:solidFill>
            <a:schemeClr val="accent1"/>
          </a:solidFill>
          <a:ln w="9525">
            <a:solidFill>
              <a:schemeClr val="tx1"/>
            </a:solidFill>
            <a:miter lim="800000"/>
            <a:headEnd/>
            <a:tailEnd/>
          </a:ln>
        </p:spPr>
        <p:txBody>
          <a:bodyPr wrap="none" anchor="ctr"/>
          <a:lstStyle/>
          <a:p>
            <a:endParaRPr lang="zh-CN" altLang="en-US">
              <a:latin typeface="Rockwell"/>
              <a:ea typeface="方正姚体"/>
            </a:endParaRPr>
          </a:p>
        </p:txBody>
      </p:sp>
      <p:sp>
        <p:nvSpPr>
          <p:cNvPr id="37893" name="Oval 5"/>
          <p:cNvSpPr>
            <a:spLocks noChangeArrowheads="1"/>
          </p:cNvSpPr>
          <p:nvPr/>
        </p:nvSpPr>
        <p:spPr bwMode="auto">
          <a:xfrm>
            <a:off x="3779838" y="1557338"/>
            <a:ext cx="1368425" cy="914400"/>
          </a:xfrm>
          <a:prstGeom prst="ellipse">
            <a:avLst/>
          </a:prstGeom>
          <a:gradFill rotWithShape="1">
            <a:gsLst>
              <a:gs pos="0">
                <a:srgbClr val="00CCFF"/>
              </a:gs>
              <a:gs pos="100000">
                <a:srgbClr val="0066FF"/>
              </a:gs>
            </a:gsLst>
            <a:path path="shape">
              <a:fillToRect l="50000" t="50000" r="50000" b="50000"/>
            </a:path>
          </a:gra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0066FF"/>
            </a:extrusionClr>
          </a:sp3d>
        </p:spPr>
        <p:txBody>
          <a:bodyPr wrap="none" anchor="ctr">
            <a:flatTx/>
          </a:bodyPr>
          <a:lstStyle/>
          <a:p>
            <a:pPr algn="ctr" fontAlgn="auto">
              <a:spcBef>
                <a:spcPts val="0"/>
              </a:spcBef>
              <a:spcAft>
                <a:spcPts val="0"/>
              </a:spcAft>
              <a:defRPr/>
            </a:pPr>
            <a:r>
              <a:rPr kumimoji="1" lang="zh-CN" altLang="en-US" sz="2400">
                <a:solidFill>
                  <a:srgbClr val="FFFF00"/>
                </a:solidFill>
                <a:effectLst>
                  <a:outerShdw blurRad="38100" dist="38100" dir="2700000" algn="tl">
                    <a:srgbClr val="000000"/>
                  </a:outerShdw>
                </a:effectLst>
                <a:latin typeface="Times New Roman" pitchFamily="18" charset="0"/>
                <a:ea typeface="+mn-ea"/>
                <a:cs typeface="+mn-cs"/>
              </a:rPr>
              <a:t>潜在</a:t>
            </a:r>
          </a:p>
          <a:p>
            <a:pPr algn="ctr" fontAlgn="auto">
              <a:spcBef>
                <a:spcPts val="0"/>
              </a:spcBef>
              <a:spcAft>
                <a:spcPts val="0"/>
              </a:spcAft>
              <a:defRPr/>
            </a:pPr>
            <a:r>
              <a:rPr kumimoji="1" lang="zh-CN" altLang="en-US" sz="2400">
                <a:solidFill>
                  <a:srgbClr val="FFFF00"/>
                </a:solidFill>
                <a:effectLst>
                  <a:outerShdw blurRad="38100" dist="38100" dir="2700000" algn="tl">
                    <a:srgbClr val="000000"/>
                  </a:outerShdw>
                </a:effectLst>
                <a:latin typeface="Times New Roman" pitchFamily="18" charset="0"/>
                <a:ea typeface="+mn-ea"/>
                <a:cs typeface="+mn-cs"/>
              </a:rPr>
              <a:t>进入者</a:t>
            </a:r>
          </a:p>
        </p:txBody>
      </p:sp>
      <p:sp>
        <p:nvSpPr>
          <p:cNvPr id="63493" name="AutoShape 6"/>
          <p:cNvSpPr>
            <a:spLocks noChangeArrowheads="1"/>
          </p:cNvSpPr>
          <p:nvPr/>
        </p:nvSpPr>
        <p:spPr bwMode="auto">
          <a:xfrm>
            <a:off x="5724525" y="3716338"/>
            <a:ext cx="838200" cy="457200"/>
          </a:xfrm>
          <a:prstGeom prst="leftArrow">
            <a:avLst>
              <a:gd name="adj1" fmla="val 50000"/>
              <a:gd name="adj2" fmla="val 45833"/>
            </a:avLst>
          </a:prstGeom>
          <a:solidFill>
            <a:schemeClr val="accent1"/>
          </a:solidFill>
          <a:ln w="9525">
            <a:solidFill>
              <a:schemeClr val="tx1"/>
            </a:solidFill>
            <a:miter lim="800000"/>
            <a:headEnd/>
            <a:tailEnd/>
          </a:ln>
        </p:spPr>
        <p:txBody>
          <a:bodyPr wrap="none" anchor="ctr"/>
          <a:lstStyle/>
          <a:p>
            <a:endParaRPr lang="zh-CN" altLang="en-US">
              <a:latin typeface="Rockwell"/>
              <a:ea typeface="方正姚体"/>
            </a:endParaRPr>
          </a:p>
        </p:txBody>
      </p:sp>
      <p:sp>
        <p:nvSpPr>
          <p:cNvPr id="37895" name="Oval 7"/>
          <p:cNvSpPr>
            <a:spLocks noChangeArrowheads="1"/>
          </p:cNvSpPr>
          <p:nvPr/>
        </p:nvSpPr>
        <p:spPr bwMode="auto">
          <a:xfrm>
            <a:off x="6659563" y="3429000"/>
            <a:ext cx="1727200" cy="1190625"/>
          </a:xfrm>
          <a:prstGeom prst="ellipse">
            <a:avLst/>
          </a:prstGeom>
          <a:gradFill rotWithShape="1">
            <a:gsLst>
              <a:gs pos="0">
                <a:srgbClr val="00CCFF"/>
              </a:gs>
              <a:gs pos="100000">
                <a:srgbClr val="0066FF"/>
              </a:gs>
            </a:gsLst>
            <a:path path="shape">
              <a:fillToRect l="50000" t="50000" r="50000" b="50000"/>
            </a:path>
          </a:gra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0066FF"/>
            </a:extrusionClr>
          </a:sp3d>
        </p:spPr>
        <p:txBody>
          <a:bodyPr wrap="none" anchor="ctr">
            <a:flatTx/>
          </a:bodyPr>
          <a:lstStyle/>
          <a:p>
            <a:pPr algn="ctr" fontAlgn="auto">
              <a:spcBef>
                <a:spcPts val="0"/>
              </a:spcBef>
              <a:spcAft>
                <a:spcPts val="0"/>
              </a:spcAft>
              <a:defRPr/>
            </a:pPr>
            <a:r>
              <a:rPr kumimoji="1" lang="zh-CN" altLang="en-US" sz="2400">
                <a:solidFill>
                  <a:srgbClr val="FFFF00"/>
                </a:solidFill>
                <a:effectLst>
                  <a:outerShdw blurRad="38100" dist="38100" dir="2700000" algn="tl">
                    <a:srgbClr val="000000"/>
                  </a:outerShdw>
                </a:effectLst>
                <a:latin typeface="Times New Roman" pitchFamily="18" charset="0"/>
                <a:ea typeface="+mn-ea"/>
                <a:cs typeface="+mn-cs"/>
              </a:rPr>
              <a:t>买方</a:t>
            </a:r>
          </a:p>
        </p:txBody>
      </p:sp>
      <p:sp>
        <p:nvSpPr>
          <p:cNvPr id="63495" name="AutoShape 8"/>
          <p:cNvSpPr>
            <a:spLocks noChangeArrowheads="1"/>
          </p:cNvSpPr>
          <p:nvPr/>
        </p:nvSpPr>
        <p:spPr bwMode="auto">
          <a:xfrm>
            <a:off x="4211638" y="4797425"/>
            <a:ext cx="685800" cy="617538"/>
          </a:xfrm>
          <a:prstGeom prst="upArrow">
            <a:avLst>
              <a:gd name="adj1" fmla="val 32407"/>
              <a:gd name="adj2" fmla="val 29167"/>
            </a:avLst>
          </a:prstGeom>
          <a:solidFill>
            <a:schemeClr val="accent1"/>
          </a:solidFill>
          <a:ln w="9525">
            <a:solidFill>
              <a:schemeClr val="tx1"/>
            </a:solidFill>
            <a:miter lim="800000"/>
            <a:headEnd/>
            <a:tailEnd/>
          </a:ln>
        </p:spPr>
        <p:txBody>
          <a:bodyPr wrap="none" anchor="ctr"/>
          <a:lstStyle/>
          <a:p>
            <a:endParaRPr lang="zh-CN" altLang="en-US">
              <a:latin typeface="Rockwell"/>
              <a:ea typeface="方正姚体"/>
            </a:endParaRPr>
          </a:p>
        </p:txBody>
      </p:sp>
      <p:sp>
        <p:nvSpPr>
          <p:cNvPr id="37897" name="Oval 9"/>
          <p:cNvSpPr>
            <a:spLocks noChangeArrowheads="1"/>
          </p:cNvSpPr>
          <p:nvPr/>
        </p:nvSpPr>
        <p:spPr bwMode="auto">
          <a:xfrm>
            <a:off x="3779838" y="5589588"/>
            <a:ext cx="1368425" cy="936625"/>
          </a:xfrm>
          <a:prstGeom prst="ellipse">
            <a:avLst/>
          </a:prstGeom>
          <a:gradFill rotWithShape="1">
            <a:gsLst>
              <a:gs pos="0">
                <a:srgbClr val="00CCFF"/>
              </a:gs>
              <a:gs pos="100000">
                <a:srgbClr val="0066FF"/>
              </a:gs>
            </a:gsLst>
            <a:path path="shape">
              <a:fillToRect l="50000" t="50000" r="50000" b="50000"/>
            </a:path>
          </a:gra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0066FF"/>
            </a:extrusionClr>
          </a:sp3d>
        </p:spPr>
        <p:txBody>
          <a:bodyPr wrap="none" anchor="ctr">
            <a:flatTx/>
          </a:bodyPr>
          <a:lstStyle/>
          <a:p>
            <a:pPr algn="ctr" fontAlgn="auto">
              <a:spcBef>
                <a:spcPts val="0"/>
              </a:spcBef>
              <a:spcAft>
                <a:spcPts val="0"/>
              </a:spcAft>
              <a:defRPr/>
            </a:pPr>
            <a:r>
              <a:rPr kumimoji="1" lang="zh-CN" altLang="en-US" sz="2400">
                <a:solidFill>
                  <a:srgbClr val="FFFF00"/>
                </a:solidFill>
                <a:effectLst>
                  <a:outerShdw blurRad="38100" dist="38100" dir="2700000" algn="tl">
                    <a:srgbClr val="000000"/>
                  </a:outerShdw>
                </a:effectLst>
                <a:latin typeface="Times New Roman" pitchFamily="18" charset="0"/>
                <a:ea typeface="+mn-ea"/>
                <a:cs typeface="+mn-cs"/>
              </a:rPr>
              <a:t>替代品</a:t>
            </a:r>
          </a:p>
        </p:txBody>
      </p:sp>
      <p:sp>
        <p:nvSpPr>
          <p:cNvPr id="63497" name="AutoShape 10"/>
          <p:cNvSpPr>
            <a:spLocks noChangeArrowheads="1"/>
          </p:cNvSpPr>
          <p:nvPr/>
        </p:nvSpPr>
        <p:spPr bwMode="auto">
          <a:xfrm>
            <a:off x="2484438" y="3789363"/>
            <a:ext cx="914400" cy="457200"/>
          </a:xfrm>
          <a:prstGeom prst="rightArrow">
            <a:avLst>
              <a:gd name="adj1" fmla="val 50000"/>
              <a:gd name="adj2" fmla="val 50000"/>
            </a:avLst>
          </a:prstGeom>
          <a:solidFill>
            <a:schemeClr val="accent1"/>
          </a:solidFill>
          <a:ln w="9525">
            <a:solidFill>
              <a:schemeClr val="tx1"/>
            </a:solidFill>
            <a:miter lim="800000"/>
            <a:headEnd/>
            <a:tailEnd/>
          </a:ln>
        </p:spPr>
        <p:txBody>
          <a:bodyPr wrap="none" anchor="ctr"/>
          <a:lstStyle/>
          <a:p>
            <a:endParaRPr lang="zh-CN" altLang="en-US">
              <a:latin typeface="Rockwell"/>
              <a:ea typeface="方正姚体"/>
            </a:endParaRPr>
          </a:p>
        </p:txBody>
      </p:sp>
      <p:sp>
        <p:nvSpPr>
          <p:cNvPr id="37899" name="Oval 11"/>
          <p:cNvSpPr>
            <a:spLocks noChangeArrowheads="1"/>
          </p:cNvSpPr>
          <p:nvPr/>
        </p:nvSpPr>
        <p:spPr bwMode="auto">
          <a:xfrm>
            <a:off x="539750" y="3429000"/>
            <a:ext cx="1757363" cy="1214438"/>
          </a:xfrm>
          <a:prstGeom prst="ellipse">
            <a:avLst/>
          </a:prstGeom>
          <a:gradFill rotWithShape="1">
            <a:gsLst>
              <a:gs pos="0">
                <a:srgbClr val="00CCFF"/>
              </a:gs>
              <a:gs pos="100000">
                <a:srgbClr val="0066FF"/>
              </a:gs>
            </a:gsLst>
            <a:path path="shape">
              <a:fillToRect l="50000" t="50000" r="50000" b="50000"/>
            </a:path>
          </a:gradFill>
          <a:ln w="9525" algn="ctr">
            <a:miter lim="800000"/>
            <a:headEnd/>
            <a:tailEnd/>
          </a:ln>
          <a:effectLst/>
          <a:scene3d>
            <a:camera prst="legacyObliqueTopRight"/>
            <a:lightRig rig="legacyFlat3" dir="b"/>
          </a:scene3d>
          <a:sp3d extrusionH="430200" prstMaterial="legacyMatte">
            <a:bevelT w="13500" h="13500" prst="angle"/>
            <a:bevelB w="13500" h="13500" prst="angle"/>
            <a:extrusionClr>
              <a:srgbClr val="0066FF"/>
            </a:extrusionClr>
          </a:sp3d>
        </p:spPr>
        <p:txBody>
          <a:bodyPr wrap="none" anchor="ctr">
            <a:flatTx/>
          </a:bodyPr>
          <a:lstStyle/>
          <a:p>
            <a:pPr algn="ctr" fontAlgn="auto">
              <a:spcBef>
                <a:spcPts val="0"/>
              </a:spcBef>
              <a:spcAft>
                <a:spcPts val="0"/>
              </a:spcAft>
              <a:defRPr/>
            </a:pPr>
            <a:r>
              <a:rPr kumimoji="1" lang="zh-CN" altLang="en-US" sz="2400">
                <a:solidFill>
                  <a:srgbClr val="FFFF00"/>
                </a:solidFill>
                <a:effectLst>
                  <a:outerShdw blurRad="38100" dist="38100" dir="2700000" algn="tl">
                    <a:srgbClr val="000000"/>
                  </a:outerShdw>
                </a:effectLst>
                <a:latin typeface="Times New Roman" pitchFamily="18" charset="0"/>
                <a:ea typeface="+mn-ea"/>
                <a:cs typeface="+mn-cs"/>
              </a:rPr>
              <a:t>供应商</a:t>
            </a:r>
          </a:p>
        </p:txBody>
      </p:sp>
      <p:sp>
        <p:nvSpPr>
          <p:cNvPr id="63499" name="Line 12"/>
          <p:cNvSpPr>
            <a:spLocks noChangeShapeType="1"/>
          </p:cNvSpPr>
          <p:nvPr/>
        </p:nvSpPr>
        <p:spPr bwMode="auto">
          <a:xfrm>
            <a:off x="2987675" y="2708275"/>
            <a:ext cx="1008063" cy="719138"/>
          </a:xfrm>
          <a:prstGeom prst="line">
            <a:avLst/>
          </a:prstGeom>
          <a:noFill/>
          <a:ln w="76200">
            <a:solidFill>
              <a:schemeClr val="tx1"/>
            </a:solidFill>
            <a:miter lim="800000"/>
            <a:headEnd/>
            <a:tailEnd type="triangle" w="med" len="med"/>
          </a:ln>
        </p:spPr>
        <p:txBody>
          <a:bodyPr wrap="none"/>
          <a:lstStyle/>
          <a:p>
            <a:endParaRPr lang="zh-CN" altLang="en-US"/>
          </a:p>
        </p:txBody>
      </p:sp>
      <p:sp>
        <p:nvSpPr>
          <p:cNvPr id="37901" name="Oval 13"/>
          <p:cNvSpPr>
            <a:spLocks noChangeArrowheads="1"/>
          </p:cNvSpPr>
          <p:nvPr/>
        </p:nvSpPr>
        <p:spPr bwMode="auto">
          <a:xfrm>
            <a:off x="1619250" y="1700213"/>
            <a:ext cx="1311275" cy="1143000"/>
          </a:xfrm>
          <a:prstGeom prst="ellipse">
            <a:avLst/>
          </a:prstGeom>
          <a:gradFill rotWithShape="1">
            <a:gsLst>
              <a:gs pos="0">
                <a:srgbClr val="00FF00"/>
              </a:gs>
              <a:gs pos="100000">
                <a:srgbClr val="009900"/>
              </a:gs>
            </a:gsLst>
            <a:path path="shape">
              <a:fillToRect l="50000" t="50000" r="50000" b="50000"/>
            </a:path>
          </a:gra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009900"/>
            </a:extrusionClr>
          </a:sp3d>
        </p:spPr>
        <p:txBody>
          <a:bodyPr wrap="none" anchor="ctr">
            <a:flatTx/>
          </a:bodyPr>
          <a:lstStyle/>
          <a:p>
            <a:pPr algn="ctr" fontAlgn="auto">
              <a:spcBef>
                <a:spcPts val="0"/>
              </a:spcBef>
              <a:spcAft>
                <a:spcPts val="0"/>
              </a:spcAft>
              <a:defRPr/>
            </a:pPr>
            <a:r>
              <a:rPr kumimoji="1" lang="zh-CN" altLang="en-US" sz="2000">
                <a:solidFill>
                  <a:srgbClr val="FFFF00"/>
                </a:solidFill>
                <a:effectLst>
                  <a:outerShdw blurRad="38100" dist="38100" dir="2700000" algn="tl">
                    <a:srgbClr val="000000"/>
                  </a:outerShdw>
                </a:effectLst>
                <a:latin typeface="Times New Roman" pitchFamily="18" charset="0"/>
                <a:ea typeface="+mn-ea"/>
                <a:cs typeface="+mn-cs"/>
              </a:rPr>
              <a:t>其他利</a:t>
            </a:r>
          </a:p>
          <a:p>
            <a:pPr algn="ctr" fontAlgn="auto">
              <a:spcBef>
                <a:spcPts val="0"/>
              </a:spcBef>
              <a:spcAft>
                <a:spcPts val="0"/>
              </a:spcAft>
              <a:defRPr/>
            </a:pPr>
            <a:r>
              <a:rPr kumimoji="1" lang="zh-CN" altLang="en-US" sz="2000">
                <a:solidFill>
                  <a:srgbClr val="FFFF00"/>
                </a:solidFill>
                <a:effectLst>
                  <a:outerShdw blurRad="38100" dist="38100" dir="2700000" algn="tl">
                    <a:srgbClr val="000000"/>
                  </a:outerShdw>
                </a:effectLst>
                <a:latin typeface="Times New Roman" pitchFamily="18" charset="0"/>
                <a:ea typeface="+mn-ea"/>
                <a:cs typeface="+mn-cs"/>
              </a:rPr>
              <a:t>益相关者</a:t>
            </a:r>
          </a:p>
        </p:txBody>
      </p:sp>
      <p:sp>
        <p:nvSpPr>
          <p:cNvPr id="63501" name="Text Box 16"/>
          <p:cNvSpPr txBox="1">
            <a:spLocks noChangeArrowheads="1"/>
          </p:cNvSpPr>
          <p:nvPr/>
        </p:nvSpPr>
        <p:spPr bwMode="auto">
          <a:xfrm>
            <a:off x="2339975" y="404813"/>
            <a:ext cx="5257800" cy="762000"/>
          </a:xfrm>
          <a:prstGeom prst="rect">
            <a:avLst/>
          </a:prstGeom>
          <a:noFill/>
          <a:ln w="9525">
            <a:noFill/>
            <a:miter lim="800000"/>
            <a:headEnd/>
            <a:tailEnd/>
          </a:ln>
        </p:spPr>
        <p:txBody>
          <a:bodyPr>
            <a:spAutoFit/>
          </a:bodyPr>
          <a:lstStyle/>
          <a:p>
            <a:pPr>
              <a:spcBef>
                <a:spcPct val="50000"/>
              </a:spcBef>
            </a:pPr>
            <a:r>
              <a:rPr lang="zh-CN" altLang="en-US" sz="4400" dirty="0">
                <a:solidFill>
                  <a:srgbClr val="FFFF00"/>
                </a:solidFill>
                <a:latin typeface="Rockwell"/>
                <a:ea typeface="黑体" pitchFamily="2" charset="-122"/>
              </a:rPr>
              <a:t>波特模型（改进型）</a:t>
            </a:r>
          </a:p>
        </p:txBody>
      </p:sp>
      <p:sp>
        <p:nvSpPr>
          <p:cNvPr id="63502" name="Text Box 17"/>
          <p:cNvSpPr txBox="1">
            <a:spLocks noChangeArrowheads="1"/>
          </p:cNvSpPr>
          <p:nvPr/>
        </p:nvSpPr>
        <p:spPr bwMode="auto">
          <a:xfrm>
            <a:off x="4572000" y="2492375"/>
            <a:ext cx="2016125" cy="396875"/>
          </a:xfrm>
          <a:prstGeom prst="rect">
            <a:avLst/>
          </a:prstGeom>
          <a:noFill/>
          <a:ln w="9525">
            <a:noFill/>
            <a:miter lim="800000"/>
            <a:headEnd/>
            <a:tailEnd/>
          </a:ln>
        </p:spPr>
        <p:txBody>
          <a:bodyPr>
            <a:spAutoFit/>
          </a:bodyPr>
          <a:lstStyle/>
          <a:p>
            <a:pPr>
              <a:spcBef>
                <a:spcPct val="50000"/>
              </a:spcBef>
            </a:pPr>
            <a:r>
              <a:rPr lang="zh-CN" altLang="en-US" sz="2000">
                <a:latin typeface="Garamond"/>
                <a:ea typeface="方正姚体"/>
              </a:rPr>
              <a:t>新进入者的威胁</a:t>
            </a:r>
          </a:p>
        </p:txBody>
      </p:sp>
      <p:sp>
        <p:nvSpPr>
          <p:cNvPr id="63503" name="Text Box 18"/>
          <p:cNvSpPr txBox="1">
            <a:spLocks noChangeArrowheads="1"/>
          </p:cNvSpPr>
          <p:nvPr/>
        </p:nvSpPr>
        <p:spPr bwMode="auto">
          <a:xfrm>
            <a:off x="2771775" y="5084763"/>
            <a:ext cx="1584325" cy="396875"/>
          </a:xfrm>
          <a:prstGeom prst="rect">
            <a:avLst/>
          </a:prstGeom>
          <a:noFill/>
          <a:ln w="9525">
            <a:noFill/>
            <a:miter lim="800000"/>
            <a:headEnd/>
            <a:tailEnd/>
          </a:ln>
        </p:spPr>
        <p:txBody>
          <a:bodyPr>
            <a:spAutoFit/>
          </a:bodyPr>
          <a:lstStyle/>
          <a:p>
            <a:pPr>
              <a:spcBef>
                <a:spcPct val="50000"/>
              </a:spcBef>
            </a:pPr>
            <a:r>
              <a:rPr lang="zh-CN" altLang="en-US" sz="2000">
                <a:latin typeface="Garamond"/>
                <a:ea typeface="方正姚体"/>
              </a:rPr>
              <a:t>替代品威胁</a:t>
            </a:r>
          </a:p>
        </p:txBody>
      </p:sp>
      <p:sp>
        <p:nvSpPr>
          <p:cNvPr id="63504" name="Text Box 19"/>
          <p:cNvSpPr txBox="1">
            <a:spLocks noChangeArrowheads="1"/>
          </p:cNvSpPr>
          <p:nvPr/>
        </p:nvSpPr>
        <p:spPr bwMode="auto">
          <a:xfrm>
            <a:off x="2339975" y="4221163"/>
            <a:ext cx="1223963" cy="396875"/>
          </a:xfrm>
          <a:prstGeom prst="rect">
            <a:avLst/>
          </a:prstGeom>
          <a:noFill/>
          <a:ln w="9525">
            <a:noFill/>
            <a:miter lim="800000"/>
            <a:headEnd/>
            <a:tailEnd/>
          </a:ln>
        </p:spPr>
        <p:txBody>
          <a:bodyPr>
            <a:spAutoFit/>
          </a:bodyPr>
          <a:lstStyle/>
          <a:p>
            <a:pPr>
              <a:spcBef>
                <a:spcPct val="50000"/>
              </a:spcBef>
            </a:pPr>
            <a:r>
              <a:rPr lang="zh-CN" altLang="en-US" sz="2000">
                <a:latin typeface="Garamond"/>
                <a:ea typeface="方正姚体"/>
              </a:rPr>
              <a:t>侃价力量</a:t>
            </a:r>
          </a:p>
        </p:txBody>
      </p:sp>
      <p:sp>
        <p:nvSpPr>
          <p:cNvPr id="63505" name="Text Box 20"/>
          <p:cNvSpPr txBox="1">
            <a:spLocks noChangeArrowheads="1"/>
          </p:cNvSpPr>
          <p:nvPr/>
        </p:nvSpPr>
        <p:spPr bwMode="auto">
          <a:xfrm>
            <a:off x="5508625" y="4221163"/>
            <a:ext cx="1439863" cy="396875"/>
          </a:xfrm>
          <a:prstGeom prst="rect">
            <a:avLst/>
          </a:prstGeom>
          <a:noFill/>
          <a:ln w="9525">
            <a:noFill/>
            <a:miter lim="800000"/>
            <a:headEnd/>
            <a:tailEnd/>
          </a:ln>
        </p:spPr>
        <p:txBody>
          <a:bodyPr>
            <a:spAutoFit/>
          </a:bodyPr>
          <a:lstStyle/>
          <a:p>
            <a:pPr>
              <a:spcBef>
                <a:spcPct val="50000"/>
              </a:spcBef>
            </a:pPr>
            <a:r>
              <a:rPr lang="zh-CN" altLang="en-US" sz="2000">
                <a:latin typeface="Garamond"/>
                <a:ea typeface="方正姚体"/>
              </a:rPr>
              <a:t>侃价力量</a:t>
            </a:r>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现有竞争者分析</a:t>
            </a:r>
          </a:p>
        </p:txBody>
      </p:sp>
      <p:sp>
        <p:nvSpPr>
          <p:cNvPr id="3" name="内容占位符 2"/>
          <p:cNvSpPr>
            <a:spLocks noGrp="1"/>
          </p:cNvSpPr>
          <p:nvPr>
            <p:ph idx="1"/>
          </p:nvPr>
        </p:nvSpPr>
        <p:spPr/>
        <p:txBody>
          <a:bodyPr/>
          <a:lstStyle/>
          <a:p>
            <a:r>
              <a:rPr kumimoji="1" lang="zh-CN" altLang="en-US" dirty="0"/>
              <a:t>竞争强度分析：产业是否具有吸引力</a:t>
            </a:r>
            <a:endParaRPr kumimoji="1" lang="en-US" altLang="zh-CN" dirty="0"/>
          </a:p>
          <a:p>
            <a:pPr lvl="1"/>
            <a:r>
              <a:rPr kumimoji="1" lang="zh-CN" altLang="en-US" dirty="0"/>
              <a:t>产业一般获利水平是由产业内企业之间的竞争直接造成的</a:t>
            </a:r>
            <a:endParaRPr kumimoji="1" lang="en-US" altLang="zh-CN" dirty="0"/>
          </a:p>
          <a:p>
            <a:pPr lvl="1"/>
            <a:r>
              <a:rPr kumimoji="1" lang="zh-CN" altLang="en-US" dirty="0"/>
              <a:t>现有竞争者之间的数量和力量对比</a:t>
            </a:r>
            <a:endParaRPr kumimoji="1" lang="en-US" altLang="zh-CN" dirty="0"/>
          </a:p>
          <a:p>
            <a:pPr lvl="1"/>
            <a:r>
              <a:rPr kumimoji="1" lang="zh-CN" altLang="en-US" dirty="0"/>
              <a:t>成本结构：固定成本</a:t>
            </a:r>
            <a:endParaRPr kumimoji="1" lang="en-US" altLang="zh-CN" dirty="0"/>
          </a:p>
          <a:p>
            <a:pPr lvl="1"/>
            <a:r>
              <a:rPr kumimoji="1" lang="zh-CN" altLang="en-US" dirty="0"/>
              <a:t>产品差异性，小竞争激烈</a:t>
            </a:r>
            <a:endParaRPr kumimoji="1" lang="en-US" altLang="zh-CN" dirty="0"/>
          </a:p>
          <a:p>
            <a:pPr lvl="1"/>
            <a:r>
              <a:rPr kumimoji="1" lang="zh-CN" altLang="en-US" dirty="0"/>
              <a:t>退出壁垒及转移成本</a:t>
            </a:r>
            <a:endParaRPr kumimoji="1" lang="en-US" altLang="zh-CN" dirty="0"/>
          </a:p>
          <a:p>
            <a:pPr lvl="1"/>
            <a:r>
              <a:rPr kumimoji="1" lang="zh-CN" altLang="en-US" dirty="0"/>
              <a:t>需求增长和行业增长</a:t>
            </a:r>
            <a:endParaRPr kumimoji="1" lang="en-US" altLang="zh-CN" dirty="0"/>
          </a:p>
          <a:p>
            <a:endParaRPr kumimoji="1" lang="zh-CN" altLang="en-US" dirty="0"/>
          </a:p>
        </p:txBody>
      </p:sp>
    </p:spTree>
    <p:extLst>
      <p:ext uri="{BB962C8B-B14F-4D97-AF65-F5344CB8AC3E}">
        <p14:creationId xmlns:p14="http://schemas.microsoft.com/office/powerpoint/2010/main" val="152165355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主要竞争者分析</a:t>
            </a:r>
          </a:p>
        </p:txBody>
      </p:sp>
      <p:sp>
        <p:nvSpPr>
          <p:cNvPr id="3" name="内容占位符 2"/>
          <p:cNvSpPr>
            <a:spLocks noGrp="1"/>
          </p:cNvSpPr>
          <p:nvPr>
            <p:ph idx="1"/>
          </p:nvPr>
        </p:nvSpPr>
        <p:spPr>
          <a:xfrm>
            <a:off x="467544" y="1412776"/>
            <a:ext cx="8229600" cy="4525962"/>
          </a:xfrm>
        </p:spPr>
        <p:txBody>
          <a:bodyPr/>
          <a:lstStyle/>
          <a:p>
            <a:r>
              <a:rPr kumimoji="1" lang="zh-CN" altLang="en-US" sz="2800" dirty="0"/>
              <a:t>识别主要竞争者</a:t>
            </a:r>
            <a:endParaRPr kumimoji="1" lang="en-US" altLang="zh-CN" sz="2800" dirty="0"/>
          </a:p>
          <a:p>
            <a:pPr lvl="1"/>
            <a:r>
              <a:rPr kumimoji="1" lang="zh-CN" altLang="en-US" sz="2400" dirty="0"/>
              <a:t>价格策略相似</a:t>
            </a:r>
            <a:endParaRPr kumimoji="1" lang="en-US" altLang="zh-CN" sz="2400" dirty="0"/>
          </a:p>
          <a:p>
            <a:pPr lvl="1"/>
            <a:r>
              <a:rPr kumimoji="1" lang="zh-CN" altLang="en-US" sz="2400" dirty="0"/>
              <a:t>产品质量和目标客户相似</a:t>
            </a:r>
            <a:endParaRPr kumimoji="1" lang="en-US" altLang="zh-CN" sz="2400" dirty="0"/>
          </a:p>
          <a:p>
            <a:pPr lvl="1"/>
            <a:r>
              <a:rPr kumimoji="1" lang="zh-CN" altLang="en-US" sz="2400" dirty="0"/>
              <a:t>市场地位和组织规模相当</a:t>
            </a:r>
            <a:endParaRPr kumimoji="1" lang="en-US" altLang="zh-CN" sz="2400" dirty="0"/>
          </a:p>
          <a:p>
            <a:pPr lvl="1"/>
            <a:r>
              <a:rPr kumimoji="1" lang="zh-CN" altLang="en-US" sz="2400" dirty="0"/>
              <a:t>有类似的产品线宽度</a:t>
            </a:r>
            <a:endParaRPr kumimoji="1" lang="en-US" altLang="zh-CN" sz="2400" dirty="0"/>
          </a:p>
          <a:p>
            <a:pPr lvl="1"/>
            <a:r>
              <a:rPr kumimoji="1" lang="zh-CN" altLang="en-US" sz="2400" dirty="0"/>
              <a:t>利用同样的技术方法</a:t>
            </a:r>
            <a:endParaRPr kumimoji="1" lang="en-US" altLang="zh-CN" sz="2400" dirty="0"/>
          </a:p>
          <a:p>
            <a:pPr lvl="1"/>
            <a:r>
              <a:rPr kumimoji="1" lang="zh-CN" altLang="en-US" sz="2400" dirty="0"/>
              <a:t>重视同一分销渠道</a:t>
            </a:r>
            <a:endParaRPr kumimoji="1" lang="en-US" altLang="zh-CN" sz="2400" dirty="0"/>
          </a:p>
          <a:p>
            <a:r>
              <a:rPr kumimoji="1" lang="zh-CN" altLang="en-US" sz="2800" dirty="0"/>
              <a:t>战略群组：一个产业中具有相似竞争战略的企业</a:t>
            </a:r>
            <a:endParaRPr kumimoji="1" lang="en-US" altLang="zh-CN" sz="2800" dirty="0"/>
          </a:p>
          <a:p>
            <a:r>
              <a:rPr kumimoji="1" lang="en-US" altLang="zh-CN" sz="2800" dirty="0" err="1"/>
              <a:t>Xiabuxiabu</a:t>
            </a:r>
            <a:r>
              <a:rPr kumimoji="1" lang="zh-CN" altLang="en-US" sz="2800" dirty="0"/>
              <a:t>和海底捞，快捷酒店和五星酒店</a:t>
            </a:r>
          </a:p>
        </p:txBody>
      </p:sp>
    </p:spTree>
    <p:extLst>
      <p:ext uri="{BB962C8B-B14F-4D97-AF65-F5344CB8AC3E}">
        <p14:creationId xmlns:p14="http://schemas.microsoft.com/office/powerpoint/2010/main" val="224360501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潜在进入者</a:t>
            </a:r>
          </a:p>
        </p:txBody>
      </p:sp>
      <p:sp>
        <p:nvSpPr>
          <p:cNvPr id="3" name="内容占位符 2"/>
          <p:cNvSpPr>
            <a:spLocks noGrp="1"/>
          </p:cNvSpPr>
          <p:nvPr>
            <p:ph idx="1"/>
          </p:nvPr>
        </p:nvSpPr>
        <p:spPr/>
        <p:txBody>
          <a:bodyPr/>
          <a:lstStyle/>
          <a:p>
            <a:r>
              <a:rPr kumimoji="1" lang="zh-CN" altLang="en-US" dirty="0"/>
              <a:t>进入壁垒</a:t>
            </a:r>
            <a:endParaRPr kumimoji="1" lang="en-US" altLang="zh-CN" dirty="0"/>
          </a:p>
          <a:p>
            <a:pPr lvl="1"/>
            <a:r>
              <a:rPr kumimoji="1" lang="zh-CN" altLang="en-US" dirty="0"/>
              <a:t>结构性壁垒</a:t>
            </a:r>
            <a:endParaRPr kumimoji="1" lang="en-US" altLang="zh-CN" dirty="0"/>
          </a:p>
          <a:p>
            <a:pPr lvl="2"/>
            <a:r>
              <a:rPr kumimoji="1" lang="zh-CN" altLang="en-US" dirty="0"/>
              <a:t>规模经济：汽车航空钢铁电信</a:t>
            </a:r>
            <a:endParaRPr kumimoji="1" lang="en-US" altLang="zh-CN" dirty="0"/>
          </a:p>
          <a:p>
            <a:pPr lvl="2"/>
            <a:r>
              <a:rPr kumimoji="1" lang="zh-CN" altLang="en-US" dirty="0"/>
              <a:t>资本需求量：银行保险</a:t>
            </a:r>
            <a:endParaRPr kumimoji="1" lang="en-US" altLang="zh-CN" dirty="0"/>
          </a:p>
          <a:p>
            <a:pPr lvl="2"/>
            <a:r>
              <a:rPr kumimoji="1" lang="zh-CN" altLang="en-US" dirty="0"/>
              <a:t>产品差异化</a:t>
            </a:r>
            <a:endParaRPr kumimoji="1" lang="en-US" altLang="zh-CN" dirty="0"/>
          </a:p>
          <a:p>
            <a:pPr lvl="1"/>
            <a:r>
              <a:rPr kumimoji="1" lang="zh-CN" altLang="en-US" dirty="0"/>
              <a:t>政策壁垒</a:t>
            </a:r>
            <a:endParaRPr kumimoji="1" lang="en-US" altLang="zh-CN" dirty="0"/>
          </a:p>
          <a:p>
            <a:pPr lvl="2"/>
            <a:r>
              <a:rPr kumimoji="1" lang="zh-CN" altLang="en-US" dirty="0"/>
              <a:t>石油电信</a:t>
            </a:r>
            <a:endParaRPr kumimoji="1" lang="en-US" altLang="zh-CN" dirty="0"/>
          </a:p>
          <a:p>
            <a:pPr lvl="1"/>
            <a:r>
              <a:rPr kumimoji="1" lang="zh-CN" altLang="en-US" dirty="0"/>
              <a:t>策略性</a:t>
            </a:r>
            <a:endParaRPr kumimoji="1" lang="en-US" altLang="zh-CN" dirty="0"/>
          </a:p>
          <a:p>
            <a:pPr lvl="2"/>
            <a:r>
              <a:rPr kumimoji="1" lang="zh-CN" altLang="en-US" dirty="0"/>
              <a:t>限制进入定价－格兰仕</a:t>
            </a:r>
            <a:endParaRPr kumimoji="1" lang="en-US" altLang="zh-CN" dirty="0"/>
          </a:p>
          <a:p>
            <a:pPr lvl="2"/>
            <a:r>
              <a:rPr kumimoji="1" lang="zh-CN" altLang="en-US" dirty="0"/>
              <a:t>资源控制</a:t>
            </a:r>
            <a:endParaRPr kumimoji="1" lang="en-US" altLang="zh-CN" dirty="0"/>
          </a:p>
          <a:p>
            <a:pPr lvl="2"/>
            <a:endParaRPr kumimoji="1" lang="en-US" altLang="zh-CN" dirty="0"/>
          </a:p>
          <a:p>
            <a:pPr lvl="2"/>
            <a:endParaRPr kumimoji="1" lang="zh-CN" altLang="en-US" dirty="0"/>
          </a:p>
        </p:txBody>
      </p:sp>
    </p:spTree>
    <p:extLst>
      <p:ext uri="{BB962C8B-B14F-4D97-AF65-F5344CB8AC3E}">
        <p14:creationId xmlns:p14="http://schemas.microsoft.com/office/powerpoint/2010/main" val="188174607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258888" y="260350"/>
            <a:ext cx="7654925" cy="1143000"/>
          </a:xfrm>
        </p:spPr>
        <p:txBody>
          <a:bodyPr/>
          <a:lstStyle/>
          <a:p>
            <a:pPr marL="54864" indent="0" algn="l" fontAlgn="auto">
              <a:spcAft>
                <a:spcPts val="0"/>
              </a:spcAft>
              <a:defRPr/>
            </a:pPr>
            <a:r>
              <a:rPr lang="zh-CN" altLang="en-US" sz="4000" dirty="0">
                <a:solidFill>
                  <a:schemeClr val="tx2">
                    <a:tint val="100000"/>
                    <a:shade val="90000"/>
                    <a:satMod val="250000"/>
                    <a:alpha val="100000"/>
                  </a:schemeClr>
                </a:solidFill>
                <a:ea typeface="黑体" pitchFamily="2" charset="-122"/>
                <a:cs typeface="+mj-cs"/>
              </a:rPr>
              <a:t>对行业的分析需要建立两个概念</a:t>
            </a:r>
          </a:p>
        </p:txBody>
      </p:sp>
      <p:sp>
        <p:nvSpPr>
          <p:cNvPr id="66562" name="Rectangle 3"/>
          <p:cNvSpPr>
            <a:spLocks noGrp="1" noChangeArrowheads="1"/>
          </p:cNvSpPr>
          <p:nvPr>
            <p:ph type="body" idx="1"/>
          </p:nvPr>
        </p:nvSpPr>
        <p:spPr>
          <a:xfrm>
            <a:off x="468313" y="981075"/>
            <a:ext cx="8661400" cy="4525963"/>
          </a:xfrm>
        </p:spPr>
        <p:txBody>
          <a:bodyPr/>
          <a:lstStyle/>
          <a:p>
            <a:pPr>
              <a:buFont typeface="Wingdings" pitchFamily="2" charset="2"/>
              <a:buNone/>
            </a:pPr>
            <a:r>
              <a:rPr lang="en-US" altLang="zh-CN" dirty="0"/>
              <a:t>    </a:t>
            </a:r>
          </a:p>
          <a:p>
            <a:r>
              <a:rPr lang="zh-CN" altLang="en-US" sz="2400" b="1" dirty="0">
                <a:solidFill>
                  <a:srgbClr val="00FF00"/>
                </a:solidFill>
              </a:rPr>
              <a:t>进入壁垒：</a:t>
            </a:r>
            <a:r>
              <a:rPr lang="zh-CN" altLang="en-US" sz="2400" b="1" dirty="0"/>
              <a:t>起到阻止行业外企业进入的因素</a:t>
            </a:r>
          </a:p>
          <a:p>
            <a:r>
              <a:rPr lang="zh-CN" altLang="en-US" sz="2400" b="1" dirty="0">
                <a:solidFill>
                  <a:srgbClr val="00FF00"/>
                </a:solidFill>
              </a:rPr>
              <a:t>退出壁垒：</a:t>
            </a:r>
            <a:r>
              <a:rPr lang="zh-CN" altLang="en-US" sz="2400" b="1" dirty="0"/>
              <a:t>企业退出一个行业时未来可能遭受的风险</a:t>
            </a:r>
          </a:p>
        </p:txBody>
      </p:sp>
      <p:graphicFrame>
        <p:nvGraphicFramePr>
          <p:cNvPr id="35855" name="Group 15"/>
          <p:cNvGraphicFramePr>
            <a:graphicFrameLocks noGrp="1"/>
          </p:cNvGraphicFramePr>
          <p:nvPr/>
        </p:nvGraphicFramePr>
        <p:xfrm>
          <a:off x="1619250" y="3860800"/>
          <a:ext cx="6096000" cy="1943100"/>
        </p:xfrm>
        <a:graphic>
          <a:graphicData uri="http://schemas.openxmlformats.org/drawingml/2006/table">
            <a:tbl>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971550">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dirty="0">
                          <a:ln>
                            <a:noFill/>
                          </a:ln>
                          <a:solidFill>
                            <a:schemeClr val="tx1"/>
                          </a:solidFill>
                          <a:effectLst/>
                          <a:latin typeface="Arial" pitchFamily="34" charset="0"/>
                          <a:ea typeface="宋体" pitchFamily="2" charset="-122"/>
                        </a:rPr>
                        <a:t>稳定低收益</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dirty="0">
                          <a:ln>
                            <a:noFill/>
                          </a:ln>
                          <a:solidFill>
                            <a:schemeClr val="tx1"/>
                          </a:solidFill>
                          <a:effectLst/>
                          <a:latin typeface="Arial" pitchFamily="34" charset="0"/>
                          <a:ea typeface="宋体" pitchFamily="2" charset="-122"/>
                        </a:rPr>
                        <a:t>风险低收益</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71550">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a:ln>
                            <a:noFill/>
                          </a:ln>
                          <a:solidFill>
                            <a:schemeClr val="tx1"/>
                          </a:solidFill>
                          <a:effectLst/>
                          <a:latin typeface="Arial" pitchFamily="34" charset="0"/>
                          <a:ea typeface="宋体" pitchFamily="2" charset="-122"/>
                        </a:rPr>
                        <a:t>稳定高收益</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dirty="0">
                          <a:ln>
                            <a:noFill/>
                          </a:ln>
                          <a:solidFill>
                            <a:schemeClr val="tx1"/>
                          </a:solidFill>
                          <a:effectLst/>
                          <a:latin typeface="Arial" pitchFamily="34" charset="0"/>
                          <a:ea typeface="宋体" pitchFamily="2" charset="-122"/>
                        </a:rPr>
                        <a:t>风险高收益</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66574" name="Text Box 17"/>
          <p:cNvSpPr txBox="1">
            <a:spLocks noChangeArrowheads="1"/>
          </p:cNvSpPr>
          <p:nvPr/>
        </p:nvSpPr>
        <p:spPr bwMode="auto">
          <a:xfrm>
            <a:off x="3492500" y="2781300"/>
            <a:ext cx="2951163" cy="457200"/>
          </a:xfrm>
          <a:prstGeom prst="rect">
            <a:avLst/>
          </a:prstGeom>
          <a:noFill/>
          <a:ln w="9525">
            <a:noFill/>
            <a:miter lim="800000"/>
            <a:headEnd/>
            <a:tailEnd/>
          </a:ln>
        </p:spPr>
        <p:txBody>
          <a:bodyPr>
            <a:spAutoFit/>
          </a:bodyPr>
          <a:lstStyle/>
          <a:p>
            <a:pPr>
              <a:spcBef>
                <a:spcPct val="50000"/>
              </a:spcBef>
            </a:pPr>
            <a:r>
              <a:rPr lang="zh-CN" altLang="en-US" sz="2400">
                <a:latin typeface="Garamond"/>
                <a:ea typeface="方正姚体"/>
              </a:rPr>
              <a:t>退出壁垒</a:t>
            </a:r>
          </a:p>
        </p:txBody>
      </p:sp>
      <p:sp>
        <p:nvSpPr>
          <p:cNvPr id="66575" name="AutoShape 18"/>
          <p:cNvSpPr>
            <a:spLocks noChangeArrowheads="1"/>
          </p:cNvSpPr>
          <p:nvPr/>
        </p:nvSpPr>
        <p:spPr bwMode="auto">
          <a:xfrm>
            <a:off x="1116013" y="3933825"/>
            <a:ext cx="215900" cy="1727200"/>
          </a:xfrm>
          <a:prstGeom prst="downArrow">
            <a:avLst>
              <a:gd name="adj1" fmla="val 50000"/>
              <a:gd name="adj2" fmla="val 200000"/>
            </a:avLst>
          </a:prstGeom>
          <a:solidFill>
            <a:schemeClr val="accent1"/>
          </a:solidFill>
          <a:ln w="9525">
            <a:solidFill>
              <a:schemeClr val="tx1"/>
            </a:solidFill>
            <a:miter lim="800000"/>
            <a:headEnd/>
            <a:tailEnd/>
          </a:ln>
        </p:spPr>
        <p:txBody>
          <a:bodyPr vert="eaVert" wrap="none" anchor="ctr"/>
          <a:lstStyle/>
          <a:p>
            <a:endParaRPr lang="zh-CN" altLang="en-US">
              <a:latin typeface="Rockwell"/>
              <a:ea typeface="方正姚体"/>
            </a:endParaRPr>
          </a:p>
        </p:txBody>
      </p:sp>
      <p:sp>
        <p:nvSpPr>
          <p:cNvPr id="66576" name="AutoShape 20"/>
          <p:cNvSpPr>
            <a:spLocks noChangeArrowheads="1"/>
          </p:cNvSpPr>
          <p:nvPr/>
        </p:nvSpPr>
        <p:spPr bwMode="auto">
          <a:xfrm>
            <a:off x="2843213" y="3429000"/>
            <a:ext cx="4032250" cy="215900"/>
          </a:xfrm>
          <a:prstGeom prst="rightArrow">
            <a:avLst>
              <a:gd name="adj1" fmla="val 50000"/>
              <a:gd name="adj2" fmla="val 466912"/>
            </a:avLst>
          </a:prstGeom>
          <a:solidFill>
            <a:schemeClr val="accent1"/>
          </a:solidFill>
          <a:ln w="9525">
            <a:solidFill>
              <a:schemeClr val="tx1"/>
            </a:solidFill>
            <a:miter lim="800000"/>
            <a:headEnd/>
            <a:tailEnd/>
          </a:ln>
        </p:spPr>
        <p:txBody>
          <a:bodyPr wrap="none" anchor="ctr"/>
          <a:lstStyle/>
          <a:p>
            <a:endParaRPr lang="zh-CN" altLang="en-US">
              <a:latin typeface="Rockwell"/>
              <a:ea typeface="方正姚体"/>
            </a:endParaRPr>
          </a:p>
        </p:txBody>
      </p:sp>
      <p:sp>
        <p:nvSpPr>
          <p:cNvPr id="66577" name="Text Box 21"/>
          <p:cNvSpPr txBox="1">
            <a:spLocks noChangeArrowheads="1"/>
          </p:cNvSpPr>
          <p:nvPr/>
        </p:nvSpPr>
        <p:spPr bwMode="auto">
          <a:xfrm>
            <a:off x="525463" y="3933825"/>
            <a:ext cx="554037" cy="1873250"/>
          </a:xfrm>
          <a:prstGeom prst="rect">
            <a:avLst/>
          </a:prstGeom>
          <a:noFill/>
          <a:ln w="9525">
            <a:noFill/>
            <a:miter lim="800000"/>
            <a:headEnd/>
            <a:tailEnd/>
          </a:ln>
        </p:spPr>
        <p:txBody>
          <a:bodyPr vert="eaVert">
            <a:spAutoFit/>
          </a:bodyPr>
          <a:lstStyle/>
          <a:p>
            <a:pPr>
              <a:spcBef>
                <a:spcPct val="50000"/>
              </a:spcBef>
            </a:pPr>
            <a:r>
              <a:rPr lang="zh-CN" altLang="en-US" sz="2400">
                <a:latin typeface="Garamond"/>
                <a:ea typeface="方正姚体"/>
              </a:rPr>
              <a:t>进入壁垒</a:t>
            </a:r>
          </a:p>
        </p:txBody>
      </p:sp>
      <p:sp>
        <p:nvSpPr>
          <p:cNvPr id="66578" name="Text Box 22"/>
          <p:cNvSpPr txBox="1">
            <a:spLocks noChangeArrowheads="1"/>
          </p:cNvSpPr>
          <p:nvPr/>
        </p:nvSpPr>
        <p:spPr bwMode="auto">
          <a:xfrm>
            <a:off x="2195513" y="3284538"/>
            <a:ext cx="503237" cy="457200"/>
          </a:xfrm>
          <a:prstGeom prst="rect">
            <a:avLst/>
          </a:prstGeom>
          <a:noFill/>
          <a:ln w="9525">
            <a:noFill/>
            <a:miter lim="800000"/>
            <a:headEnd/>
            <a:tailEnd/>
          </a:ln>
        </p:spPr>
        <p:txBody>
          <a:bodyPr>
            <a:spAutoFit/>
          </a:bodyPr>
          <a:lstStyle/>
          <a:p>
            <a:pPr>
              <a:spcBef>
                <a:spcPct val="50000"/>
              </a:spcBef>
            </a:pPr>
            <a:r>
              <a:rPr lang="zh-CN" altLang="en-US" sz="2400">
                <a:latin typeface="Garamond"/>
                <a:ea typeface="方正姚体"/>
              </a:rPr>
              <a:t>低</a:t>
            </a:r>
          </a:p>
        </p:txBody>
      </p:sp>
      <p:sp>
        <p:nvSpPr>
          <p:cNvPr id="66579" name="Text Box 23"/>
          <p:cNvSpPr txBox="1">
            <a:spLocks noChangeArrowheads="1"/>
          </p:cNvSpPr>
          <p:nvPr/>
        </p:nvSpPr>
        <p:spPr bwMode="auto">
          <a:xfrm>
            <a:off x="6948488" y="3284538"/>
            <a:ext cx="504825" cy="457200"/>
          </a:xfrm>
          <a:prstGeom prst="rect">
            <a:avLst/>
          </a:prstGeom>
          <a:noFill/>
          <a:ln w="9525">
            <a:noFill/>
            <a:miter lim="800000"/>
            <a:headEnd/>
            <a:tailEnd/>
          </a:ln>
        </p:spPr>
        <p:txBody>
          <a:bodyPr>
            <a:spAutoFit/>
          </a:bodyPr>
          <a:lstStyle/>
          <a:p>
            <a:pPr>
              <a:spcBef>
                <a:spcPct val="50000"/>
              </a:spcBef>
            </a:pPr>
            <a:r>
              <a:rPr lang="zh-CN" altLang="en-US" sz="2400">
                <a:latin typeface="Garamond"/>
                <a:ea typeface="方正姚体"/>
              </a:rPr>
              <a:t>高</a:t>
            </a:r>
          </a:p>
        </p:txBody>
      </p:sp>
      <p:sp>
        <p:nvSpPr>
          <p:cNvPr id="66580" name="Text Box 24"/>
          <p:cNvSpPr txBox="1">
            <a:spLocks noChangeArrowheads="1"/>
          </p:cNvSpPr>
          <p:nvPr/>
        </p:nvSpPr>
        <p:spPr bwMode="auto">
          <a:xfrm>
            <a:off x="971550" y="3429000"/>
            <a:ext cx="504825" cy="457200"/>
          </a:xfrm>
          <a:prstGeom prst="rect">
            <a:avLst/>
          </a:prstGeom>
          <a:noFill/>
          <a:ln w="9525">
            <a:noFill/>
            <a:miter lim="800000"/>
            <a:headEnd/>
            <a:tailEnd/>
          </a:ln>
        </p:spPr>
        <p:txBody>
          <a:bodyPr>
            <a:spAutoFit/>
          </a:bodyPr>
          <a:lstStyle/>
          <a:p>
            <a:pPr>
              <a:spcBef>
                <a:spcPct val="50000"/>
              </a:spcBef>
            </a:pPr>
            <a:r>
              <a:rPr lang="zh-CN" altLang="en-US" sz="2400">
                <a:latin typeface="Garamond"/>
                <a:ea typeface="方正姚体"/>
              </a:rPr>
              <a:t>低</a:t>
            </a:r>
          </a:p>
        </p:txBody>
      </p:sp>
      <p:sp>
        <p:nvSpPr>
          <p:cNvPr id="66581" name="Text Box 26"/>
          <p:cNvSpPr txBox="1">
            <a:spLocks noChangeArrowheads="1"/>
          </p:cNvSpPr>
          <p:nvPr/>
        </p:nvSpPr>
        <p:spPr bwMode="auto">
          <a:xfrm>
            <a:off x="971550" y="5661025"/>
            <a:ext cx="431800" cy="457200"/>
          </a:xfrm>
          <a:prstGeom prst="rect">
            <a:avLst/>
          </a:prstGeom>
          <a:noFill/>
          <a:ln w="9525">
            <a:noFill/>
            <a:miter lim="800000"/>
            <a:headEnd/>
            <a:tailEnd/>
          </a:ln>
        </p:spPr>
        <p:txBody>
          <a:bodyPr>
            <a:spAutoFit/>
          </a:bodyPr>
          <a:lstStyle/>
          <a:p>
            <a:pPr>
              <a:spcBef>
                <a:spcPct val="50000"/>
              </a:spcBef>
            </a:pPr>
            <a:r>
              <a:rPr lang="zh-CN" altLang="en-US" sz="2400">
                <a:latin typeface="Garamond"/>
                <a:ea typeface="方正姚体"/>
              </a:rPr>
              <a:t>高</a:t>
            </a:r>
          </a:p>
        </p:txBody>
      </p:sp>
      <p:sp>
        <p:nvSpPr>
          <p:cNvPr id="66582" name="Text Box 27"/>
          <p:cNvSpPr txBox="1">
            <a:spLocks noChangeArrowheads="1"/>
          </p:cNvSpPr>
          <p:nvPr/>
        </p:nvSpPr>
        <p:spPr bwMode="auto">
          <a:xfrm>
            <a:off x="2484438" y="5805488"/>
            <a:ext cx="4751387" cy="579437"/>
          </a:xfrm>
          <a:prstGeom prst="rect">
            <a:avLst/>
          </a:prstGeom>
          <a:noFill/>
          <a:ln w="9525">
            <a:noFill/>
            <a:miter lim="800000"/>
            <a:headEnd/>
            <a:tailEnd/>
          </a:ln>
        </p:spPr>
        <p:txBody>
          <a:bodyPr>
            <a:spAutoFit/>
          </a:bodyPr>
          <a:lstStyle/>
          <a:p>
            <a:pPr>
              <a:spcBef>
                <a:spcPct val="50000"/>
              </a:spcBef>
            </a:pPr>
            <a:r>
              <a:rPr lang="zh-CN" altLang="en-US" sz="3200">
                <a:latin typeface="Garamond"/>
                <a:ea typeface="方正姚体"/>
              </a:rPr>
              <a:t>壁垒与获利能力的关系</a:t>
            </a:r>
          </a:p>
        </p:txBody>
      </p:sp>
      <p:sp>
        <p:nvSpPr>
          <p:cNvPr id="66583" name="Text Box 28"/>
          <p:cNvSpPr txBox="1">
            <a:spLocks noChangeArrowheads="1"/>
          </p:cNvSpPr>
          <p:nvPr/>
        </p:nvSpPr>
        <p:spPr bwMode="auto">
          <a:xfrm>
            <a:off x="2771775" y="4437063"/>
            <a:ext cx="647700" cy="457200"/>
          </a:xfrm>
          <a:prstGeom prst="rect">
            <a:avLst/>
          </a:prstGeom>
          <a:noFill/>
          <a:ln w="9525">
            <a:noFill/>
            <a:miter lim="800000"/>
            <a:headEnd/>
            <a:tailEnd/>
          </a:ln>
        </p:spPr>
        <p:txBody>
          <a:bodyPr>
            <a:spAutoFit/>
          </a:bodyPr>
          <a:lstStyle/>
          <a:p>
            <a:pPr>
              <a:spcBef>
                <a:spcPct val="50000"/>
              </a:spcBef>
            </a:pPr>
            <a:r>
              <a:rPr lang="zh-CN" altLang="en-US" sz="2400">
                <a:latin typeface="Garamond"/>
                <a:ea typeface="方正姚体"/>
              </a:rPr>
              <a:t>４</a:t>
            </a:r>
          </a:p>
        </p:txBody>
      </p:sp>
      <p:sp>
        <p:nvSpPr>
          <p:cNvPr id="66584" name="Text Box 29"/>
          <p:cNvSpPr txBox="1">
            <a:spLocks noChangeArrowheads="1"/>
          </p:cNvSpPr>
          <p:nvPr/>
        </p:nvSpPr>
        <p:spPr bwMode="auto">
          <a:xfrm>
            <a:off x="5724525" y="4437063"/>
            <a:ext cx="863600" cy="457200"/>
          </a:xfrm>
          <a:prstGeom prst="rect">
            <a:avLst/>
          </a:prstGeom>
          <a:noFill/>
          <a:ln w="9525">
            <a:noFill/>
            <a:miter lim="800000"/>
            <a:headEnd/>
            <a:tailEnd/>
          </a:ln>
        </p:spPr>
        <p:txBody>
          <a:bodyPr>
            <a:spAutoFit/>
          </a:bodyPr>
          <a:lstStyle/>
          <a:p>
            <a:pPr>
              <a:spcBef>
                <a:spcPct val="50000"/>
              </a:spcBef>
            </a:pPr>
            <a:r>
              <a:rPr lang="zh-CN" altLang="en-US" sz="2400">
                <a:latin typeface="Garamond"/>
                <a:ea typeface="方正姚体"/>
              </a:rPr>
              <a:t>３</a:t>
            </a:r>
          </a:p>
        </p:txBody>
      </p:sp>
      <p:sp>
        <p:nvSpPr>
          <p:cNvPr id="66585" name="Text Box 30"/>
          <p:cNvSpPr txBox="1">
            <a:spLocks noChangeArrowheads="1"/>
          </p:cNvSpPr>
          <p:nvPr/>
        </p:nvSpPr>
        <p:spPr bwMode="auto">
          <a:xfrm>
            <a:off x="2843213" y="5373688"/>
            <a:ext cx="433387" cy="457200"/>
          </a:xfrm>
          <a:prstGeom prst="rect">
            <a:avLst/>
          </a:prstGeom>
          <a:noFill/>
          <a:ln w="9525">
            <a:noFill/>
            <a:miter lim="800000"/>
            <a:headEnd/>
            <a:tailEnd/>
          </a:ln>
        </p:spPr>
        <p:txBody>
          <a:bodyPr>
            <a:spAutoFit/>
          </a:bodyPr>
          <a:lstStyle/>
          <a:p>
            <a:pPr>
              <a:spcBef>
                <a:spcPct val="50000"/>
              </a:spcBef>
            </a:pPr>
            <a:r>
              <a:rPr lang="zh-CN" altLang="en-US" sz="2400">
                <a:latin typeface="Garamond"/>
                <a:ea typeface="方正姚体"/>
              </a:rPr>
              <a:t>１</a:t>
            </a:r>
          </a:p>
        </p:txBody>
      </p:sp>
      <p:sp>
        <p:nvSpPr>
          <p:cNvPr id="66586" name="Text Box 31"/>
          <p:cNvSpPr txBox="1">
            <a:spLocks noChangeArrowheads="1"/>
          </p:cNvSpPr>
          <p:nvPr/>
        </p:nvSpPr>
        <p:spPr bwMode="auto">
          <a:xfrm>
            <a:off x="5795963" y="5373688"/>
            <a:ext cx="360362" cy="457200"/>
          </a:xfrm>
          <a:prstGeom prst="rect">
            <a:avLst/>
          </a:prstGeom>
          <a:noFill/>
          <a:ln w="9525">
            <a:noFill/>
            <a:miter lim="800000"/>
            <a:headEnd/>
            <a:tailEnd/>
          </a:ln>
        </p:spPr>
        <p:txBody>
          <a:bodyPr>
            <a:spAutoFit/>
          </a:bodyPr>
          <a:lstStyle/>
          <a:p>
            <a:pPr>
              <a:spcBef>
                <a:spcPct val="50000"/>
              </a:spcBef>
            </a:pPr>
            <a:r>
              <a:rPr lang="zh-CN" altLang="en-US" sz="2400">
                <a:latin typeface="Garamond"/>
                <a:ea typeface="方正姚体"/>
              </a:rPr>
              <a:t>２</a:t>
            </a:r>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476375" y="260350"/>
            <a:ext cx="7740650" cy="1143000"/>
          </a:xfrm>
        </p:spPr>
        <p:txBody>
          <a:bodyPr>
            <a:normAutofit/>
          </a:bodyPr>
          <a:lstStyle/>
          <a:p>
            <a:pPr marL="54864" indent="0" fontAlgn="auto">
              <a:spcAft>
                <a:spcPts val="0"/>
              </a:spcAft>
              <a:defRPr/>
            </a:pPr>
            <a:r>
              <a:rPr lang="en-US" altLang="zh-CN" dirty="0">
                <a:solidFill>
                  <a:schemeClr val="tx2">
                    <a:tint val="100000"/>
                    <a:shade val="90000"/>
                    <a:satMod val="250000"/>
                    <a:alpha val="100000"/>
                  </a:schemeClr>
                </a:solidFill>
                <a:ea typeface="黑体" pitchFamily="2" charset="-122"/>
                <a:cs typeface="+mj-cs"/>
              </a:rPr>
              <a:t>    </a:t>
            </a:r>
            <a:r>
              <a:rPr lang="zh-CN" altLang="en-US" dirty="0">
                <a:solidFill>
                  <a:schemeClr val="tx2">
                    <a:tint val="100000"/>
                    <a:shade val="90000"/>
                    <a:satMod val="250000"/>
                    <a:alpha val="100000"/>
                  </a:schemeClr>
                </a:solidFill>
                <a:ea typeface="黑体" pitchFamily="2" charset="-122"/>
                <a:cs typeface="+mj-cs"/>
              </a:rPr>
              <a:t>怎样选择具有优势的行业？</a:t>
            </a:r>
          </a:p>
        </p:txBody>
      </p:sp>
      <p:sp>
        <p:nvSpPr>
          <p:cNvPr id="67586" name="Rectangle 3"/>
          <p:cNvSpPr>
            <a:spLocks noGrp="1" noChangeArrowheads="1"/>
          </p:cNvSpPr>
          <p:nvPr>
            <p:ph type="body" idx="1"/>
          </p:nvPr>
        </p:nvSpPr>
        <p:spPr>
          <a:xfrm>
            <a:off x="34925" y="2349500"/>
            <a:ext cx="8686800" cy="5213350"/>
          </a:xfrm>
        </p:spPr>
        <p:txBody>
          <a:bodyPr/>
          <a:lstStyle/>
          <a:p>
            <a:pPr>
              <a:buFont typeface="Wingdings" pitchFamily="2" charset="2"/>
              <a:buNone/>
            </a:pPr>
            <a:r>
              <a:rPr lang="en-US" altLang="zh-CN" b="1"/>
              <a:t>             </a:t>
            </a:r>
            <a:r>
              <a:rPr lang="zh-CN" altLang="en-US" b="1"/>
              <a:t>从行业获利的角度看，</a:t>
            </a:r>
            <a:r>
              <a:rPr lang="zh-CN" altLang="en-US" b="1">
                <a:solidFill>
                  <a:srgbClr val="00FFFF"/>
                </a:solidFill>
              </a:rPr>
              <a:t>进入壁垒高、退出壁垒低的行业应该是较好的目标定位。</a:t>
            </a:r>
            <a:r>
              <a:rPr lang="zh-CN" altLang="en-US" b="1"/>
              <a:t>因为行业的进入壁垒越高，投资回报就高，行业越有吸引力；退出壁垒越高，则行业竞争风险越大。</a:t>
            </a:r>
          </a:p>
        </p:txBody>
      </p:sp>
    </p:spTree>
    <p:extLst>
      <p:ext uri="{BB962C8B-B14F-4D97-AF65-F5344CB8AC3E}">
        <p14:creationId xmlns:p14="http://schemas.microsoft.com/office/powerpoint/2010/main" val="3872976546"/>
      </p:ext>
    </p:extLst>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典型的潜在进入者分析</a:t>
            </a:r>
          </a:p>
        </p:txBody>
      </p:sp>
      <p:sp>
        <p:nvSpPr>
          <p:cNvPr id="3" name="内容占位符 2"/>
          <p:cNvSpPr>
            <a:spLocks noGrp="1"/>
          </p:cNvSpPr>
          <p:nvPr>
            <p:ph idx="1"/>
          </p:nvPr>
        </p:nvSpPr>
        <p:spPr/>
        <p:txBody>
          <a:bodyPr/>
          <a:lstStyle/>
          <a:p>
            <a:r>
              <a:rPr kumimoji="1" lang="zh-CN" altLang="en-US" dirty="0"/>
              <a:t>具有克服进入壁垒能力的企业</a:t>
            </a:r>
            <a:endParaRPr kumimoji="1" lang="en-US" altLang="zh-CN" dirty="0"/>
          </a:p>
          <a:p>
            <a:r>
              <a:rPr kumimoji="1" lang="zh-CN" altLang="en-US" dirty="0"/>
              <a:t>与产业内企业存在协同作用的企业</a:t>
            </a:r>
            <a:endParaRPr kumimoji="1" lang="en-US" altLang="zh-CN" dirty="0"/>
          </a:p>
          <a:p>
            <a:r>
              <a:rPr kumimoji="1" lang="zh-CN" altLang="en-US" dirty="0"/>
              <a:t>将对产业投资视为其战略方向的企业</a:t>
            </a:r>
            <a:endParaRPr kumimoji="1" lang="en-US" altLang="zh-CN" dirty="0"/>
          </a:p>
          <a:p>
            <a:r>
              <a:rPr kumimoji="1" lang="zh-CN" altLang="en-US" dirty="0"/>
              <a:t>有可能并有压力进行纵向一体化的企业</a:t>
            </a:r>
            <a:endParaRPr kumimoji="1" lang="en-US" altLang="zh-CN" dirty="0"/>
          </a:p>
          <a:p>
            <a:endParaRPr kumimoji="1" lang="en-US" altLang="zh-CN" dirty="0"/>
          </a:p>
          <a:p>
            <a:r>
              <a:rPr kumimoji="1" lang="zh-CN" altLang="en-US" dirty="0"/>
              <a:t>有多少企业有可能，多不多？</a:t>
            </a:r>
          </a:p>
        </p:txBody>
      </p:sp>
    </p:spTree>
    <p:extLst>
      <p:ext uri="{BB962C8B-B14F-4D97-AF65-F5344CB8AC3E}">
        <p14:creationId xmlns:p14="http://schemas.microsoft.com/office/powerpoint/2010/main" val="88987709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替代品</a:t>
            </a:r>
          </a:p>
        </p:txBody>
      </p:sp>
      <p:sp>
        <p:nvSpPr>
          <p:cNvPr id="3" name="内容占位符 2"/>
          <p:cNvSpPr>
            <a:spLocks noGrp="1"/>
          </p:cNvSpPr>
          <p:nvPr>
            <p:ph idx="1"/>
          </p:nvPr>
        </p:nvSpPr>
        <p:spPr/>
        <p:txBody>
          <a:bodyPr/>
          <a:lstStyle/>
          <a:p>
            <a:r>
              <a:rPr kumimoji="1" lang="zh-CN" altLang="en-US" dirty="0"/>
              <a:t>替代品是否代表产业发展方向</a:t>
            </a:r>
            <a:endParaRPr kumimoji="1" lang="en-US" altLang="zh-CN" dirty="0"/>
          </a:p>
          <a:p>
            <a:pPr lvl="1"/>
            <a:r>
              <a:rPr kumimoji="1" lang="zh-CN" altLang="en-US" dirty="0"/>
              <a:t>汽车替代马车</a:t>
            </a:r>
            <a:endParaRPr kumimoji="1" lang="en-US" altLang="zh-CN" dirty="0"/>
          </a:p>
          <a:p>
            <a:pPr lvl="1"/>
            <a:r>
              <a:rPr kumimoji="1" lang="zh-CN" altLang="en-US" dirty="0"/>
              <a:t>数码相机替代传统相机</a:t>
            </a:r>
            <a:endParaRPr kumimoji="1" lang="en-US" altLang="zh-CN" dirty="0"/>
          </a:p>
          <a:p>
            <a:r>
              <a:rPr kumimoji="1" lang="zh-CN" altLang="en-US" dirty="0"/>
              <a:t>替代品对盈利空间的影响</a:t>
            </a:r>
            <a:endParaRPr kumimoji="1" lang="en-US" altLang="zh-CN" dirty="0"/>
          </a:p>
          <a:p>
            <a:pPr lvl="1"/>
            <a:r>
              <a:rPr kumimoji="1" lang="zh-CN" altLang="en-US" dirty="0"/>
              <a:t>不同类型的饮料</a:t>
            </a:r>
          </a:p>
        </p:txBody>
      </p:sp>
    </p:spTree>
    <p:extLst>
      <p:ext uri="{BB962C8B-B14F-4D97-AF65-F5344CB8AC3E}">
        <p14:creationId xmlns:p14="http://schemas.microsoft.com/office/powerpoint/2010/main" val="296917665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供应商分析</a:t>
            </a:r>
          </a:p>
        </p:txBody>
      </p:sp>
      <p:sp>
        <p:nvSpPr>
          <p:cNvPr id="3" name="内容占位符 2"/>
          <p:cNvSpPr>
            <a:spLocks noGrp="1"/>
          </p:cNvSpPr>
          <p:nvPr>
            <p:ph idx="1"/>
          </p:nvPr>
        </p:nvSpPr>
        <p:spPr/>
        <p:txBody>
          <a:bodyPr/>
          <a:lstStyle/>
          <a:p>
            <a:r>
              <a:rPr kumimoji="1" lang="zh-CN" altLang="en-US" dirty="0"/>
              <a:t>供应商的供应能力</a:t>
            </a:r>
            <a:endParaRPr kumimoji="1" lang="en-US" altLang="zh-CN" dirty="0"/>
          </a:p>
          <a:p>
            <a:pPr lvl="1"/>
            <a:r>
              <a:rPr kumimoji="1" lang="zh-CN" altLang="en-US" dirty="0"/>
              <a:t>决定企业从事某项特定业务活动的要素可获得性及成本</a:t>
            </a:r>
            <a:endParaRPr kumimoji="1" lang="en-US" altLang="zh-CN" dirty="0"/>
          </a:p>
          <a:p>
            <a:r>
              <a:rPr kumimoji="1" lang="zh-CN" altLang="en-US" dirty="0"/>
              <a:t>供应商的议价能力</a:t>
            </a:r>
            <a:endParaRPr kumimoji="1" lang="en-US" altLang="zh-CN" dirty="0"/>
          </a:p>
          <a:p>
            <a:pPr lvl="1"/>
            <a:r>
              <a:rPr kumimoji="1" lang="zh-CN" altLang="en-US" dirty="0"/>
              <a:t>如铁矿石，产业价值被供应商获取</a:t>
            </a:r>
            <a:endParaRPr kumimoji="1" lang="en-US" altLang="zh-CN" dirty="0"/>
          </a:p>
          <a:p>
            <a:pPr lvl="1"/>
            <a:r>
              <a:rPr kumimoji="1" lang="zh-CN" altLang="en-US" dirty="0"/>
              <a:t>供应商行业的集中程度</a:t>
            </a:r>
            <a:endParaRPr kumimoji="1" lang="en-US" altLang="zh-CN" dirty="0"/>
          </a:p>
          <a:p>
            <a:pPr lvl="1"/>
            <a:r>
              <a:rPr kumimoji="1" lang="zh-CN" altLang="en-US" dirty="0"/>
              <a:t>供应商产品的差异化程度</a:t>
            </a:r>
            <a:endParaRPr kumimoji="1" lang="en-US" altLang="zh-CN" dirty="0"/>
          </a:p>
          <a:p>
            <a:pPr lvl="1"/>
            <a:r>
              <a:rPr kumimoji="1" lang="zh-CN" altLang="en-US" dirty="0"/>
              <a:t>供应商产品的替代品情况</a:t>
            </a:r>
            <a:endParaRPr kumimoji="1" lang="en-US" altLang="zh-CN" dirty="0"/>
          </a:p>
          <a:p>
            <a:pPr lvl="1"/>
            <a:r>
              <a:rPr kumimoji="1" lang="zh-CN" altLang="en-US" dirty="0"/>
              <a:t>供应商前向一体化的可能性</a:t>
            </a:r>
            <a:endParaRPr kumimoji="1" lang="en-US" altLang="zh-CN" dirty="0"/>
          </a:p>
          <a:p>
            <a:pPr lvl="1"/>
            <a:r>
              <a:rPr kumimoji="1" lang="zh-CN" altLang="en-US" dirty="0"/>
              <a:t>供应商产品对本企业产品的重要性</a:t>
            </a:r>
          </a:p>
        </p:txBody>
      </p:sp>
    </p:spTree>
    <p:extLst>
      <p:ext uri="{BB962C8B-B14F-4D97-AF65-F5344CB8AC3E}">
        <p14:creationId xmlns:p14="http://schemas.microsoft.com/office/powerpoint/2010/main" val="266729162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买方分析</a:t>
            </a:r>
          </a:p>
        </p:txBody>
      </p:sp>
      <p:sp>
        <p:nvSpPr>
          <p:cNvPr id="3" name="内容占位符 2"/>
          <p:cNvSpPr>
            <a:spLocks noGrp="1"/>
          </p:cNvSpPr>
          <p:nvPr>
            <p:ph idx="1"/>
          </p:nvPr>
        </p:nvSpPr>
        <p:spPr/>
        <p:txBody>
          <a:bodyPr/>
          <a:lstStyle/>
          <a:p>
            <a:r>
              <a:rPr kumimoji="1" lang="zh-CN" altLang="en-US" dirty="0"/>
              <a:t>买方需求状况将决定产业的市场容量和事物发展潜力</a:t>
            </a:r>
            <a:endParaRPr kumimoji="1" lang="en-US" altLang="zh-CN" dirty="0"/>
          </a:p>
          <a:p>
            <a:r>
              <a:rPr kumimoji="1" lang="zh-CN" altLang="en-US" dirty="0"/>
              <a:t>总需求、需求结构、购买力</a:t>
            </a:r>
            <a:endParaRPr kumimoji="1" lang="en-US" altLang="zh-CN" dirty="0"/>
          </a:p>
          <a:p>
            <a:r>
              <a:rPr kumimoji="1" lang="zh-CN" altLang="en-US" dirty="0"/>
              <a:t>买方的议价能力，产业价值被买方获取或者被本企业获取</a:t>
            </a:r>
            <a:endParaRPr kumimoji="1" lang="en-US" altLang="zh-CN" dirty="0"/>
          </a:p>
          <a:p>
            <a:pPr lvl="1"/>
            <a:r>
              <a:rPr kumimoji="1" lang="zh-CN" altLang="en-US" dirty="0"/>
              <a:t>买方的集中度</a:t>
            </a:r>
            <a:endParaRPr kumimoji="1" lang="en-US" altLang="zh-CN" dirty="0"/>
          </a:p>
          <a:p>
            <a:pPr lvl="1"/>
            <a:r>
              <a:rPr kumimoji="1" lang="zh-CN" altLang="en-US" dirty="0"/>
              <a:t>本企业产品差异化程度</a:t>
            </a:r>
            <a:endParaRPr kumimoji="1" lang="en-US" altLang="zh-CN" dirty="0"/>
          </a:p>
          <a:p>
            <a:pPr lvl="1"/>
            <a:r>
              <a:rPr kumimoji="1" lang="zh-CN" altLang="en-US" dirty="0"/>
              <a:t>买方转移成本</a:t>
            </a:r>
            <a:endParaRPr kumimoji="1" lang="en-US" altLang="zh-CN" dirty="0"/>
          </a:p>
          <a:p>
            <a:pPr lvl="1"/>
            <a:r>
              <a:rPr kumimoji="1" lang="zh-CN" altLang="en-US" dirty="0"/>
              <a:t>买方后向一体化的能力</a:t>
            </a:r>
            <a:endParaRPr kumimoji="1" lang="en-US" altLang="zh-CN" dirty="0"/>
          </a:p>
          <a:p>
            <a:pPr lvl="1"/>
            <a:r>
              <a:rPr kumimoji="1" lang="zh-CN" altLang="en-US" dirty="0"/>
              <a:t>家电生产企业对比家电分销企业</a:t>
            </a:r>
          </a:p>
        </p:txBody>
      </p:sp>
    </p:spTree>
    <p:extLst>
      <p:ext uri="{BB962C8B-B14F-4D97-AF65-F5344CB8AC3E}">
        <p14:creationId xmlns:p14="http://schemas.microsoft.com/office/powerpoint/2010/main" val="215558903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457200" y="253536"/>
            <a:ext cx="8229600" cy="1143000"/>
          </a:xfrm>
        </p:spPr>
        <p:txBody>
          <a:bodyPr/>
          <a:lstStyle/>
          <a:p>
            <a:pPr marL="54864" indent="0" fontAlgn="auto">
              <a:spcAft>
                <a:spcPts val="0"/>
              </a:spcAft>
              <a:defRPr/>
            </a:pPr>
            <a:r>
              <a:rPr lang="zh-CN" altLang="en-US" dirty="0">
                <a:solidFill>
                  <a:schemeClr val="tx2">
                    <a:tint val="100000"/>
                    <a:shade val="90000"/>
                    <a:satMod val="250000"/>
                    <a:alpha val="100000"/>
                  </a:schemeClr>
                </a:solidFill>
                <a:ea typeface="黑体" pitchFamily="2" charset="-122"/>
                <a:cs typeface="+mj-cs"/>
              </a:rPr>
              <a:t>五种力模型的理论假设</a:t>
            </a:r>
          </a:p>
        </p:txBody>
      </p:sp>
      <p:sp>
        <p:nvSpPr>
          <p:cNvPr id="64514" name="Rectangle 3"/>
          <p:cNvSpPr>
            <a:spLocks noGrp="1" noChangeArrowheads="1"/>
          </p:cNvSpPr>
          <p:nvPr>
            <p:ph type="body" idx="1"/>
          </p:nvPr>
        </p:nvSpPr>
        <p:spPr/>
        <p:txBody>
          <a:bodyPr/>
          <a:lstStyle/>
          <a:p>
            <a:r>
              <a:rPr lang="zh-CN" altLang="en-US" sz="2800" b="1"/>
              <a:t>行业的获利能力不是由产品属性或产品的技术含量决定的；</a:t>
            </a:r>
          </a:p>
          <a:p>
            <a:r>
              <a:rPr lang="zh-CN" altLang="en-US" sz="2800" b="1"/>
              <a:t>是由行业的市场结构决定的。</a:t>
            </a:r>
          </a:p>
          <a:p>
            <a:pPr>
              <a:buFont typeface="Wingdings" pitchFamily="2" charset="2"/>
              <a:buNone/>
            </a:pPr>
            <a:r>
              <a:rPr lang="zh-CN" altLang="en-US" sz="4400"/>
              <a:t>   </a:t>
            </a:r>
          </a:p>
          <a:p>
            <a:pPr>
              <a:buFont typeface="Wingdings" pitchFamily="2" charset="2"/>
              <a:buNone/>
            </a:pPr>
            <a:r>
              <a:rPr lang="zh-CN" altLang="en-US" sz="4400">
                <a:solidFill>
                  <a:srgbClr val="00FF00"/>
                </a:solidFill>
              </a:rPr>
              <a:t>   </a:t>
            </a:r>
            <a:r>
              <a:rPr lang="zh-CN" altLang="en-US" sz="4800" b="1">
                <a:solidFill>
                  <a:srgbClr val="00FF00"/>
                </a:solidFill>
              </a:rPr>
              <a:t>五种力量会导致何种结果？</a:t>
            </a:r>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253536"/>
            <a:ext cx="8229600" cy="1143000"/>
          </a:xfrm>
        </p:spPr>
        <p:txBody>
          <a:bodyPr>
            <a:normAutofit fontScale="90000"/>
          </a:bodyPr>
          <a:lstStyle/>
          <a:p>
            <a:pPr marL="54864" indent="0" fontAlgn="auto">
              <a:spcAft>
                <a:spcPts val="0"/>
              </a:spcAft>
              <a:defRPr/>
            </a:pPr>
            <a:r>
              <a:rPr lang="zh-CN" altLang="en-US" dirty="0">
                <a:solidFill>
                  <a:schemeClr val="tx2">
                    <a:tint val="100000"/>
                    <a:shade val="90000"/>
                    <a:satMod val="250000"/>
                    <a:alpha val="100000"/>
                  </a:schemeClr>
                </a:solidFill>
                <a:ea typeface="黑体" pitchFamily="2" charset="-122"/>
                <a:cs typeface="+mj-cs"/>
              </a:rPr>
              <a:t>五种力量会导致的竞争结果</a:t>
            </a:r>
            <a:br>
              <a:rPr lang="zh-CN" altLang="en-US" sz="4000" b="1" dirty="0">
                <a:solidFill>
                  <a:schemeClr val="tx2">
                    <a:tint val="100000"/>
                    <a:shade val="90000"/>
                    <a:satMod val="250000"/>
                    <a:alpha val="100000"/>
                  </a:schemeClr>
                </a:solidFill>
                <a:cs typeface="+mj-cs"/>
              </a:rPr>
            </a:br>
            <a:endParaRPr lang="zh-CN" altLang="en-US" sz="4000" b="1" dirty="0">
              <a:solidFill>
                <a:schemeClr val="tx2">
                  <a:tint val="100000"/>
                  <a:shade val="90000"/>
                  <a:satMod val="250000"/>
                  <a:alpha val="100000"/>
                </a:schemeClr>
              </a:solidFill>
              <a:cs typeface="+mj-cs"/>
            </a:endParaRPr>
          </a:p>
        </p:txBody>
      </p:sp>
      <p:sp>
        <p:nvSpPr>
          <p:cNvPr id="65538" name="Rectangle 3"/>
          <p:cNvSpPr>
            <a:spLocks noGrp="1" noChangeArrowheads="1"/>
          </p:cNvSpPr>
          <p:nvPr>
            <p:ph type="body" idx="1"/>
          </p:nvPr>
        </p:nvSpPr>
        <p:spPr>
          <a:xfrm>
            <a:off x="323850" y="2924175"/>
            <a:ext cx="7993063" cy="4525963"/>
          </a:xfrm>
        </p:spPr>
        <p:txBody>
          <a:bodyPr/>
          <a:lstStyle/>
          <a:p>
            <a:pPr>
              <a:spcBef>
                <a:spcPct val="35000"/>
              </a:spcBef>
            </a:pPr>
            <a:r>
              <a:rPr lang="zh-CN" altLang="en-US" sz="2400" b="1">
                <a:solidFill>
                  <a:srgbClr val="00FF00"/>
                </a:solidFill>
              </a:rPr>
              <a:t>新竞争者</a:t>
            </a:r>
            <a:r>
              <a:rPr lang="zh-CN" altLang="en-US" sz="2400"/>
              <a:t>进入通过低价格将价值转移到消费者身上，或者通过提高竞争成本导致价值损失</a:t>
            </a:r>
          </a:p>
          <a:p>
            <a:pPr>
              <a:spcBef>
                <a:spcPct val="35000"/>
              </a:spcBef>
            </a:pPr>
            <a:r>
              <a:rPr lang="zh-CN" altLang="en-US" sz="2400"/>
              <a:t>强大的</a:t>
            </a:r>
            <a:r>
              <a:rPr lang="zh-CN" altLang="en-US" sz="2400" b="1">
                <a:solidFill>
                  <a:srgbClr val="00FF00"/>
                </a:solidFill>
              </a:rPr>
              <a:t>购买者</a:t>
            </a:r>
            <a:r>
              <a:rPr lang="zh-CN" altLang="en-US" sz="2400"/>
              <a:t>将为自己争得价值</a:t>
            </a:r>
          </a:p>
          <a:p>
            <a:pPr>
              <a:spcBef>
                <a:spcPct val="35000"/>
              </a:spcBef>
            </a:pPr>
            <a:r>
              <a:rPr lang="zh-CN" altLang="en-US" sz="2400" b="1">
                <a:solidFill>
                  <a:srgbClr val="00FF00"/>
                </a:solidFill>
              </a:rPr>
              <a:t>替代品</a:t>
            </a:r>
            <a:r>
              <a:rPr lang="zh-CN" altLang="en-US" sz="2400"/>
              <a:t>为产品的价格确定最高价格极限</a:t>
            </a:r>
          </a:p>
          <a:p>
            <a:pPr>
              <a:spcBef>
                <a:spcPct val="35000"/>
              </a:spcBef>
            </a:pPr>
            <a:r>
              <a:rPr lang="zh-CN" altLang="en-US" sz="2400"/>
              <a:t>强大的</a:t>
            </a:r>
            <a:r>
              <a:rPr lang="zh-CN" altLang="en-US" sz="2400" b="1">
                <a:solidFill>
                  <a:srgbClr val="00FF00"/>
                </a:solidFill>
              </a:rPr>
              <a:t>供应商</a:t>
            </a:r>
            <a:r>
              <a:rPr lang="zh-CN" altLang="en-US" sz="2400"/>
              <a:t>将为自己争得价值</a:t>
            </a:r>
          </a:p>
          <a:p>
            <a:pPr>
              <a:spcBef>
                <a:spcPct val="35000"/>
              </a:spcBef>
            </a:pPr>
            <a:r>
              <a:rPr lang="zh-CN" altLang="en-US" sz="2400" b="1">
                <a:solidFill>
                  <a:srgbClr val="00FF00"/>
                </a:solidFill>
              </a:rPr>
              <a:t>竞争对手</a:t>
            </a:r>
            <a:r>
              <a:rPr lang="zh-CN" altLang="en-US" sz="2400"/>
              <a:t>的作用与新进入者相同，将价值转移给消费者或通过提高竞争成本导致价值损失</a:t>
            </a:r>
          </a:p>
        </p:txBody>
      </p:sp>
      <p:pic>
        <p:nvPicPr>
          <p:cNvPr id="65539" name="Picture 4" descr="谈判"/>
          <p:cNvPicPr>
            <a:picLocks noChangeAspect="1" noChangeArrowheads="1"/>
          </p:cNvPicPr>
          <p:nvPr/>
        </p:nvPicPr>
        <p:blipFill>
          <a:blip r:embed="rId2"/>
          <a:srcRect/>
          <a:stretch>
            <a:fillRect/>
          </a:stretch>
        </p:blipFill>
        <p:spPr bwMode="auto">
          <a:xfrm>
            <a:off x="5435600" y="908050"/>
            <a:ext cx="3225800" cy="1800225"/>
          </a:xfrm>
          <a:prstGeom prst="rect">
            <a:avLst/>
          </a:prstGeom>
          <a:noFill/>
          <a:ln w="9525">
            <a:noFill/>
            <a:miter lim="800000"/>
            <a:headEnd/>
            <a:tailEnd/>
          </a:ln>
        </p:spPr>
      </p:pic>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marL="54864" indent="0" algn="l" fontAlgn="auto">
              <a:spcAft>
                <a:spcPts val="0"/>
              </a:spcAft>
              <a:defRPr/>
            </a:pPr>
            <a:r>
              <a:rPr lang="en-US" altLang="zh-CN" dirty="0">
                <a:solidFill>
                  <a:schemeClr val="tx2">
                    <a:tint val="100000"/>
                    <a:shade val="90000"/>
                    <a:satMod val="250000"/>
                    <a:alpha val="100000"/>
                  </a:schemeClr>
                </a:solidFill>
                <a:ea typeface="黑体" pitchFamily="2" charset="-122"/>
                <a:cs typeface="+mj-cs"/>
              </a:rPr>
              <a:t>1.</a:t>
            </a:r>
            <a:r>
              <a:rPr lang="zh-CN" altLang="en-US" dirty="0">
                <a:solidFill>
                  <a:schemeClr val="tx2">
                    <a:tint val="100000"/>
                    <a:shade val="90000"/>
                    <a:satMod val="250000"/>
                    <a:alpha val="100000"/>
                  </a:schemeClr>
                </a:solidFill>
                <a:ea typeface="黑体" pitchFamily="2" charset="-122"/>
                <a:cs typeface="+mj-cs"/>
              </a:rPr>
              <a:t>现有企业间的竞争</a:t>
            </a:r>
          </a:p>
        </p:txBody>
      </p:sp>
      <p:graphicFrame>
        <p:nvGraphicFramePr>
          <p:cNvPr id="45153" name="Group 97"/>
          <p:cNvGraphicFramePr>
            <a:graphicFrameLocks noGrp="1"/>
          </p:cNvGraphicFramePr>
          <p:nvPr>
            <p:ph idx="1"/>
          </p:nvPr>
        </p:nvGraphicFramePr>
        <p:xfrm>
          <a:off x="468313" y="1773238"/>
          <a:ext cx="7272337" cy="4572000"/>
        </p:xfrm>
        <a:graphic>
          <a:graphicData uri="http://schemas.openxmlformats.org/drawingml/2006/table">
            <a:tbl>
              <a:tblPr/>
              <a:tblGrid>
                <a:gridCol w="2403475">
                  <a:extLst>
                    <a:ext uri="{9D8B030D-6E8A-4147-A177-3AD203B41FA5}">
                      <a16:colId xmlns:a16="http://schemas.microsoft.com/office/drawing/2014/main" val="20000"/>
                    </a:ext>
                  </a:extLst>
                </a:gridCol>
                <a:gridCol w="4868862">
                  <a:extLst>
                    <a:ext uri="{9D8B030D-6E8A-4147-A177-3AD203B41FA5}">
                      <a16:colId xmlns:a16="http://schemas.microsoft.com/office/drawing/2014/main" val="20001"/>
                    </a:ext>
                  </a:extLst>
                </a:gridCol>
              </a:tblGrid>
              <a:tr h="360363">
                <a:tc rowSpan="10">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altLang="zh-CN" sz="3200" b="1" i="0" u="none" strike="noStrike" cap="none" normalizeH="0" baseline="0">
                        <a:ln>
                          <a:noFill/>
                        </a:ln>
                        <a:solidFill>
                          <a:srgbClr val="66FF99"/>
                        </a:solidFill>
                        <a:effectLst/>
                        <a:latin typeface="Arial"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altLang="zh-CN" sz="3200" b="1" i="0" u="none" strike="noStrike" cap="none" normalizeH="0" baseline="0">
                        <a:ln>
                          <a:noFill/>
                        </a:ln>
                        <a:solidFill>
                          <a:srgbClr val="66FF99"/>
                        </a:solidFill>
                        <a:effectLst/>
                        <a:latin typeface="Arial"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altLang="zh-CN" sz="3200" b="1" i="0" u="none" strike="noStrike" cap="none" normalizeH="0" baseline="0">
                        <a:ln>
                          <a:noFill/>
                        </a:ln>
                        <a:solidFill>
                          <a:srgbClr val="66FF99"/>
                        </a:solidFill>
                        <a:effectLst/>
                        <a:latin typeface="Arial"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3200" b="1" i="0" u="none" strike="noStrike" cap="none" normalizeH="0" baseline="0">
                          <a:ln>
                            <a:noFill/>
                          </a:ln>
                          <a:solidFill>
                            <a:srgbClr val="66FF99"/>
                          </a:solidFill>
                          <a:effectLst/>
                          <a:latin typeface="Arial" charset="0"/>
                          <a:ea typeface="宋体" pitchFamily="2" charset="-122"/>
                        </a:rPr>
                        <a:t>竞争的</a:t>
                      </a: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3200" b="1" i="0" u="none" strike="noStrike" cap="none" normalizeH="0" baseline="0">
                          <a:ln>
                            <a:noFill/>
                          </a:ln>
                          <a:solidFill>
                            <a:srgbClr val="66FF99"/>
                          </a:solidFill>
                          <a:effectLst/>
                          <a:latin typeface="Arial" charset="0"/>
                          <a:ea typeface="宋体" pitchFamily="2" charset="-122"/>
                        </a:rPr>
                        <a:t>决定因素</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a:ln>
                            <a:noFill/>
                          </a:ln>
                          <a:solidFill>
                            <a:srgbClr val="66FF99"/>
                          </a:solidFill>
                          <a:effectLst/>
                          <a:latin typeface="Arial" charset="0"/>
                          <a:ea typeface="宋体" pitchFamily="2" charset="-122"/>
                        </a:rPr>
                        <a:t>产业增长（吸引力）</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0363">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a:ln>
                            <a:noFill/>
                          </a:ln>
                          <a:solidFill>
                            <a:srgbClr val="66FF99"/>
                          </a:solidFill>
                          <a:effectLst/>
                          <a:latin typeface="Arial" charset="0"/>
                          <a:ea typeface="宋体" pitchFamily="2" charset="-122"/>
                        </a:rPr>
                        <a:t>固定</a:t>
                      </a:r>
                      <a:r>
                        <a:rPr kumimoji="0" lang="en-US" altLang="zh-CN" sz="2400" b="1" i="0" u="none" strike="noStrike" cap="none" normalizeH="0" baseline="0">
                          <a:ln>
                            <a:noFill/>
                          </a:ln>
                          <a:solidFill>
                            <a:srgbClr val="66FF99"/>
                          </a:solidFill>
                          <a:effectLst/>
                          <a:latin typeface="Arial" charset="0"/>
                          <a:ea typeface="宋体" pitchFamily="2" charset="-122"/>
                        </a:rPr>
                        <a:t>(</a:t>
                      </a:r>
                      <a:r>
                        <a:rPr kumimoji="0" lang="zh-CN" altLang="en-US" sz="2400" b="1" i="0" u="none" strike="noStrike" cap="none" normalizeH="0" baseline="0">
                          <a:ln>
                            <a:noFill/>
                          </a:ln>
                          <a:solidFill>
                            <a:srgbClr val="66FF99"/>
                          </a:solidFill>
                          <a:effectLst/>
                          <a:latin typeface="Arial" charset="0"/>
                          <a:ea typeface="宋体" pitchFamily="2" charset="-122"/>
                        </a:rPr>
                        <a:t>存储</a:t>
                      </a:r>
                      <a:r>
                        <a:rPr kumimoji="0" lang="en-US" altLang="zh-CN" sz="2400" b="1" i="0" u="none" strike="noStrike" cap="none" normalizeH="0" baseline="0">
                          <a:ln>
                            <a:noFill/>
                          </a:ln>
                          <a:solidFill>
                            <a:srgbClr val="66FF99"/>
                          </a:solidFill>
                          <a:effectLst/>
                          <a:latin typeface="Arial" charset="0"/>
                          <a:ea typeface="宋体" pitchFamily="2" charset="-122"/>
                        </a:rPr>
                        <a:t>)</a:t>
                      </a:r>
                      <a:r>
                        <a:rPr kumimoji="0" lang="zh-CN" altLang="en-US" sz="2400" b="1" i="0" u="none" strike="noStrike" cap="none" normalizeH="0" baseline="0">
                          <a:ln>
                            <a:noFill/>
                          </a:ln>
                          <a:solidFill>
                            <a:srgbClr val="66FF99"/>
                          </a:solidFill>
                          <a:effectLst/>
                          <a:latin typeface="Arial" charset="0"/>
                          <a:ea typeface="宋体" pitchFamily="2" charset="-122"/>
                        </a:rPr>
                        <a:t>成本</a:t>
                      </a:r>
                      <a:r>
                        <a:rPr kumimoji="0" lang="en-US" altLang="zh-CN" sz="2400" b="1" i="0" u="none" strike="noStrike" cap="none" normalizeH="0" baseline="0">
                          <a:ln>
                            <a:noFill/>
                          </a:ln>
                          <a:solidFill>
                            <a:srgbClr val="66FF99"/>
                          </a:solidFill>
                          <a:effectLst/>
                          <a:latin typeface="Arial" charset="0"/>
                          <a:ea typeface="宋体" pitchFamily="2" charset="-122"/>
                        </a:rPr>
                        <a:t>/</a:t>
                      </a:r>
                      <a:r>
                        <a:rPr kumimoji="0" lang="zh-CN" altLang="en-US" sz="2400" b="1" i="0" u="none" strike="noStrike" cap="none" normalizeH="0" baseline="0">
                          <a:ln>
                            <a:noFill/>
                          </a:ln>
                          <a:solidFill>
                            <a:srgbClr val="66FF99"/>
                          </a:solidFill>
                          <a:effectLst/>
                          <a:latin typeface="Arial" charset="0"/>
                          <a:ea typeface="宋体" pitchFamily="2" charset="-122"/>
                        </a:rPr>
                        <a:t>附加价值</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8775">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a:ln>
                            <a:noFill/>
                          </a:ln>
                          <a:solidFill>
                            <a:srgbClr val="66FF99"/>
                          </a:solidFill>
                          <a:effectLst/>
                          <a:latin typeface="Arial" charset="0"/>
                          <a:ea typeface="宋体" pitchFamily="2" charset="-122"/>
                        </a:rPr>
                        <a:t>产品差异</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0363">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a:ln>
                            <a:noFill/>
                          </a:ln>
                          <a:solidFill>
                            <a:srgbClr val="66FF99"/>
                          </a:solidFill>
                          <a:effectLst/>
                          <a:latin typeface="Arial" charset="0"/>
                          <a:ea typeface="宋体" pitchFamily="2" charset="-122"/>
                        </a:rPr>
                        <a:t>商标专有</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0363">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a:ln>
                            <a:noFill/>
                          </a:ln>
                          <a:solidFill>
                            <a:srgbClr val="66FF99"/>
                          </a:solidFill>
                          <a:effectLst/>
                          <a:latin typeface="Arial" charset="0"/>
                          <a:ea typeface="宋体" pitchFamily="2" charset="-122"/>
                        </a:rPr>
                        <a:t>转化成本</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0363">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a:ln>
                            <a:noFill/>
                          </a:ln>
                          <a:solidFill>
                            <a:srgbClr val="66FF99"/>
                          </a:solidFill>
                          <a:effectLst/>
                          <a:latin typeface="Arial" charset="0"/>
                          <a:ea typeface="宋体" pitchFamily="2" charset="-122"/>
                        </a:rPr>
                        <a:t>集中与平衡</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0363">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a:ln>
                            <a:noFill/>
                          </a:ln>
                          <a:solidFill>
                            <a:srgbClr val="66FF99"/>
                          </a:solidFill>
                          <a:effectLst/>
                          <a:latin typeface="Arial" charset="0"/>
                          <a:ea typeface="宋体" pitchFamily="2" charset="-122"/>
                        </a:rPr>
                        <a:t>信息的复杂性</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58775">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a:ln>
                            <a:noFill/>
                          </a:ln>
                          <a:solidFill>
                            <a:srgbClr val="66FF99"/>
                          </a:solidFill>
                          <a:effectLst/>
                          <a:latin typeface="Arial" charset="0"/>
                          <a:ea typeface="宋体" pitchFamily="2" charset="-122"/>
                        </a:rPr>
                        <a:t>竞争者的多样性</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0363">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a:ln>
                            <a:noFill/>
                          </a:ln>
                          <a:solidFill>
                            <a:srgbClr val="66FF99"/>
                          </a:solidFill>
                          <a:effectLst/>
                          <a:latin typeface="Arial" charset="0"/>
                          <a:ea typeface="宋体" pitchFamily="2" charset="-122"/>
                        </a:rPr>
                        <a:t>公司的风险</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60363">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a:ln>
                            <a:noFill/>
                          </a:ln>
                          <a:solidFill>
                            <a:srgbClr val="66FF99"/>
                          </a:solidFill>
                          <a:effectLst/>
                          <a:latin typeface="Arial" charset="0"/>
                          <a:ea typeface="宋体" pitchFamily="2" charset="-122"/>
                        </a:rPr>
                        <a:t>退出壁垒</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cSld>
  <p:clrMapOvr>
    <a:masterClrMapping/>
  </p:clrMapOvr>
  <p:transition spd="med">
    <p:randomBar dir="vert"/>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1687513" y="44624"/>
            <a:ext cx="7010400" cy="1484313"/>
          </a:xfrm>
        </p:spPr>
        <p:txBody>
          <a:bodyPr/>
          <a:lstStyle/>
          <a:p>
            <a:pPr marL="54864" indent="0" algn="l" fontAlgn="auto">
              <a:spcAft>
                <a:spcPts val="0"/>
              </a:spcAft>
              <a:defRPr/>
            </a:pPr>
            <a:r>
              <a:rPr lang="en-US" altLang="zh-CN" dirty="0">
                <a:solidFill>
                  <a:schemeClr val="tx2">
                    <a:tint val="100000"/>
                    <a:shade val="90000"/>
                    <a:satMod val="250000"/>
                    <a:alpha val="100000"/>
                  </a:schemeClr>
                </a:solidFill>
                <a:ea typeface="黑体" pitchFamily="2" charset="-122"/>
                <a:cs typeface="+mj-cs"/>
              </a:rPr>
              <a:t>2.</a:t>
            </a:r>
            <a:r>
              <a:rPr lang="zh-CN" altLang="en-US" dirty="0">
                <a:solidFill>
                  <a:schemeClr val="tx2">
                    <a:tint val="100000"/>
                    <a:shade val="90000"/>
                    <a:satMod val="250000"/>
                    <a:alpha val="100000"/>
                  </a:schemeClr>
                </a:solidFill>
                <a:ea typeface="黑体" pitchFamily="2" charset="-122"/>
                <a:cs typeface="+mj-cs"/>
              </a:rPr>
              <a:t>新入侵者的威胁</a:t>
            </a:r>
          </a:p>
        </p:txBody>
      </p:sp>
      <p:graphicFrame>
        <p:nvGraphicFramePr>
          <p:cNvPr id="47182" name="Group 78"/>
          <p:cNvGraphicFramePr>
            <a:graphicFrameLocks noGrp="1"/>
          </p:cNvGraphicFramePr>
          <p:nvPr>
            <p:ph idx="1"/>
          </p:nvPr>
        </p:nvGraphicFramePr>
        <p:xfrm>
          <a:off x="468313" y="1557338"/>
          <a:ext cx="8229600" cy="4874578"/>
        </p:xfrm>
        <a:graphic>
          <a:graphicData uri="http://schemas.openxmlformats.org/drawingml/2006/table">
            <a:tbl>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508000">
                <a:tc rowSpan="8">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altLang="zh-CN" sz="4800" b="0" i="0" u="none" strike="noStrike" cap="none" normalizeH="0" baseline="0">
                        <a:ln>
                          <a:noFill/>
                        </a:ln>
                        <a:solidFill>
                          <a:schemeClr val="bg1"/>
                        </a:solidFill>
                        <a:effectLst/>
                        <a:latin typeface="Arial" charset="0"/>
                        <a:ea typeface="宋体" pitchFamily="2" charset="-122"/>
                      </a:endParaRPr>
                    </a:p>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altLang="zh-CN" sz="4800" b="0" i="0" u="none" strike="noStrike" cap="none" normalizeH="0" baseline="0">
                        <a:ln>
                          <a:noFill/>
                        </a:ln>
                        <a:solidFill>
                          <a:schemeClr val="bg1"/>
                        </a:solidFill>
                        <a:effectLst/>
                        <a:latin typeface="Arial"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3200" b="1" i="0" u="none" strike="noStrike" cap="none" normalizeH="0" baseline="0">
                          <a:ln>
                            <a:noFill/>
                          </a:ln>
                          <a:solidFill>
                            <a:srgbClr val="66FF99"/>
                          </a:solidFill>
                          <a:effectLst/>
                          <a:latin typeface="Arial" charset="0"/>
                          <a:ea typeface="宋体" pitchFamily="2" charset="-122"/>
                        </a:rPr>
                        <a:t>入侵壁垒</a:t>
                      </a: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3200" b="1" i="0" u="none" strike="noStrike" cap="none" normalizeH="0" baseline="0">
                          <a:ln>
                            <a:noFill/>
                          </a:ln>
                          <a:solidFill>
                            <a:srgbClr val="66FF99"/>
                          </a:solidFill>
                          <a:effectLst/>
                          <a:latin typeface="Arial" charset="0"/>
                          <a:ea typeface="宋体" pitchFamily="2" charset="-122"/>
                        </a:rPr>
                        <a:t>（在位优势）</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3200" b="1" i="0" u="none" strike="noStrike" cap="none" normalizeH="0" baseline="0">
                          <a:ln>
                            <a:noFill/>
                          </a:ln>
                          <a:solidFill>
                            <a:srgbClr val="66FF99"/>
                          </a:solidFill>
                          <a:effectLst/>
                          <a:latin typeface="Arial" charset="0"/>
                          <a:ea typeface="宋体" pitchFamily="2" charset="-122"/>
                        </a:rPr>
                        <a:t>规模经济</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800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3200" b="1" i="0" u="none" strike="noStrike" cap="none" normalizeH="0" baseline="0">
                          <a:ln>
                            <a:noFill/>
                          </a:ln>
                          <a:solidFill>
                            <a:srgbClr val="66FF99"/>
                          </a:solidFill>
                          <a:effectLst/>
                          <a:latin typeface="Arial" charset="0"/>
                          <a:ea typeface="宋体" pitchFamily="2" charset="-122"/>
                        </a:rPr>
                        <a:t>独特的产品差别</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800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3200" b="1" i="0" u="none" strike="noStrike" cap="none" normalizeH="0" baseline="0">
                          <a:ln>
                            <a:noFill/>
                          </a:ln>
                          <a:solidFill>
                            <a:srgbClr val="66FF99"/>
                          </a:solidFill>
                          <a:effectLst/>
                          <a:latin typeface="Arial" charset="0"/>
                          <a:ea typeface="宋体" pitchFamily="2" charset="-122"/>
                        </a:rPr>
                        <a:t>对资本量的要求</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800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3200" b="1" i="0" u="none" strike="noStrike" cap="none" normalizeH="0" baseline="0">
                          <a:ln>
                            <a:noFill/>
                          </a:ln>
                          <a:solidFill>
                            <a:srgbClr val="66FF99"/>
                          </a:solidFill>
                          <a:effectLst/>
                          <a:latin typeface="Arial" charset="0"/>
                          <a:ea typeface="宋体" pitchFamily="2" charset="-122"/>
                        </a:rPr>
                        <a:t>转换成本</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800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3200" b="1" i="0" u="none" strike="noStrike" cap="none" normalizeH="0" baseline="0">
                          <a:ln>
                            <a:noFill/>
                          </a:ln>
                          <a:solidFill>
                            <a:srgbClr val="66FF99"/>
                          </a:solidFill>
                          <a:effectLst/>
                          <a:latin typeface="Arial" charset="0"/>
                          <a:ea typeface="宋体" pitchFamily="2" charset="-122"/>
                        </a:rPr>
                        <a:t>分销渠道</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9113">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3200" b="1" i="0" u="none" strike="noStrike" cap="none" normalizeH="0" baseline="0">
                          <a:ln>
                            <a:noFill/>
                          </a:ln>
                          <a:solidFill>
                            <a:srgbClr val="66FF99"/>
                          </a:solidFill>
                          <a:effectLst/>
                          <a:latin typeface="Arial" charset="0"/>
                          <a:ea typeface="宋体" pitchFamily="2" charset="-122"/>
                        </a:rPr>
                        <a:t>规模经济外的成本优势</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0800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3200" b="1" i="0" u="none" strike="noStrike" cap="none" normalizeH="0" baseline="0">
                          <a:ln>
                            <a:noFill/>
                          </a:ln>
                          <a:solidFill>
                            <a:srgbClr val="66FF99"/>
                          </a:solidFill>
                          <a:effectLst/>
                          <a:latin typeface="Arial" charset="0"/>
                          <a:ea typeface="宋体" pitchFamily="2" charset="-122"/>
                        </a:rPr>
                        <a:t>政府政策支持</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820738">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3200" b="1" i="0" u="none" strike="noStrike" cap="none" normalizeH="0" baseline="0">
                          <a:ln>
                            <a:noFill/>
                          </a:ln>
                          <a:solidFill>
                            <a:srgbClr val="66FF99"/>
                          </a:solidFill>
                          <a:effectLst/>
                          <a:latin typeface="Arial" charset="0"/>
                          <a:ea typeface="宋体" pitchFamily="2" charset="-122"/>
                        </a:rPr>
                        <a:t>产业内企业的共同抵制</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transition spd="med">
    <p:randomBar dir="vert"/>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marL="54864" indent="0" algn="l" fontAlgn="auto">
              <a:spcAft>
                <a:spcPts val="0"/>
              </a:spcAft>
              <a:defRPr/>
            </a:pPr>
            <a:r>
              <a:rPr lang="en-US" altLang="zh-CN" dirty="0">
                <a:solidFill>
                  <a:schemeClr val="tx2">
                    <a:tint val="100000"/>
                    <a:shade val="90000"/>
                    <a:satMod val="250000"/>
                    <a:alpha val="100000"/>
                  </a:schemeClr>
                </a:solidFill>
                <a:ea typeface="黑体" pitchFamily="2" charset="-122"/>
                <a:cs typeface="+mj-cs"/>
              </a:rPr>
              <a:t>3.</a:t>
            </a:r>
            <a:r>
              <a:rPr lang="zh-CN" altLang="en-US" dirty="0">
                <a:solidFill>
                  <a:schemeClr val="tx2">
                    <a:tint val="100000"/>
                    <a:shade val="90000"/>
                    <a:satMod val="250000"/>
                    <a:alpha val="100000"/>
                  </a:schemeClr>
                </a:solidFill>
                <a:ea typeface="黑体" pitchFamily="2" charset="-122"/>
                <a:cs typeface="+mj-cs"/>
              </a:rPr>
              <a:t>供方的侃价能力</a:t>
            </a:r>
          </a:p>
        </p:txBody>
      </p:sp>
      <p:graphicFrame>
        <p:nvGraphicFramePr>
          <p:cNvPr id="48211" name="Group 83"/>
          <p:cNvGraphicFramePr>
            <a:graphicFrameLocks noGrp="1"/>
          </p:cNvGraphicFramePr>
          <p:nvPr>
            <p:ph idx="1"/>
          </p:nvPr>
        </p:nvGraphicFramePr>
        <p:xfrm>
          <a:off x="533400" y="1676400"/>
          <a:ext cx="8229600" cy="4578033"/>
        </p:xfrm>
        <a:graphic>
          <a:graphicData uri="http://schemas.openxmlformats.org/drawingml/2006/table">
            <a:tbl>
              <a:tblPr/>
              <a:tblGrid>
                <a:gridCol w="2274888">
                  <a:extLst>
                    <a:ext uri="{9D8B030D-6E8A-4147-A177-3AD203B41FA5}">
                      <a16:colId xmlns:a16="http://schemas.microsoft.com/office/drawing/2014/main" val="20000"/>
                    </a:ext>
                  </a:extLst>
                </a:gridCol>
                <a:gridCol w="5954712">
                  <a:extLst>
                    <a:ext uri="{9D8B030D-6E8A-4147-A177-3AD203B41FA5}">
                      <a16:colId xmlns:a16="http://schemas.microsoft.com/office/drawing/2014/main" val="20001"/>
                    </a:ext>
                  </a:extLst>
                </a:gridCol>
              </a:tblGrid>
              <a:tr h="511175">
                <a:tc rowSpan="8">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altLang="zh-CN" sz="2800" b="1" i="0" u="none" strike="noStrike" cap="none" normalizeH="0" baseline="0">
                        <a:ln>
                          <a:noFill/>
                        </a:ln>
                        <a:solidFill>
                          <a:srgbClr val="66FF99"/>
                        </a:solidFill>
                        <a:effectLst/>
                        <a:latin typeface="Arial"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rgbClr val="66FF99"/>
                          </a:solidFill>
                          <a:effectLst/>
                          <a:latin typeface="Arial" charset="0"/>
                          <a:ea typeface="宋体" pitchFamily="2" charset="-122"/>
                        </a:rPr>
                        <a:t>决定供方力量的因素</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rgbClr val="66FF99"/>
                          </a:solidFill>
                          <a:effectLst/>
                          <a:latin typeface="Arial" charset="0"/>
                          <a:ea typeface="宋体" pitchFamily="2" charset="-122"/>
                        </a:rPr>
                        <a:t>投入的差异</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rgbClr val="66FF99"/>
                          </a:solidFill>
                          <a:effectLst/>
                          <a:latin typeface="Arial" charset="0"/>
                          <a:ea typeface="宋体" pitchFamily="2" charset="-122"/>
                        </a:rPr>
                        <a:t>产业中供方和企业的转换成本</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1175">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rgbClr val="66FF99"/>
                          </a:solidFill>
                          <a:effectLst/>
                          <a:latin typeface="Arial" charset="0"/>
                          <a:ea typeface="宋体" pitchFamily="2" charset="-122"/>
                        </a:rPr>
                        <a:t>替代品投入的现状</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2763">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rgbClr val="66FF99"/>
                          </a:solidFill>
                          <a:effectLst/>
                          <a:latin typeface="Arial" charset="0"/>
                          <a:ea typeface="宋体" pitchFamily="2" charset="-122"/>
                        </a:rPr>
                        <a:t>供方的集中程度</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1175">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rgbClr val="66FF99"/>
                          </a:solidFill>
                          <a:effectLst/>
                          <a:latin typeface="Arial" charset="0"/>
                          <a:ea typeface="宋体" pitchFamily="2" charset="-122"/>
                        </a:rPr>
                        <a:t>批量大小对供方的重要性</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1175">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rgbClr val="66FF99"/>
                          </a:solidFill>
                          <a:effectLst/>
                          <a:latin typeface="Arial" charset="0"/>
                          <a:ea typeface="宋体" pitchFamily="2" charset="-122"/>
                        </a:rPr>
                        <a:t>与产业总购买量相关的成本</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2763">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rgbClr val="66FF99"/>
                          </a:solidFill>
                          <a:effectLst/>
                          <a:latin typeface="Arial" charset="0"/>
                          <a:ea typeface="宋体" pitchFamily="2" charset="-122"/>
                        </a:rPr>
                        <a:t>投入对成本和特色的影响</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950913">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rgbClr val="66FF99"/>
                          </a:solidFill>
                          <a:effectLst/>
                          <a:latin typeface="Arial" charset="0"/>
                          <a:ea typeface="宋体" pitchFamily="2" charset="-122"/>
                        </a:rPr>
                        <a:t>产业中企业前向整合相对于后向整合的威胁</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transition spd="med">
    <p:randomBar dir="vert"/>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marL="54864" indent="0" algn="l" fontAlgn="auto">
              <a:spcAft>
                <a:spcPts val="0"/>
              </a:spcAft>
              <a:defRPr/>
            </a:pPr>
            <a:r>
              <a:rPr lang="en-US" altLang="zh-CN" dirty="0">
                <a:solidFill>
                  <a:schemeClr val="tx2">
                    <a:tint val="100000"/>
                    <a:shade val="90000"/>
                    <a:satMod val="250000"/>
                    <a:alpha val="100000"/>
                  </a:schemeClr>
                </a:solidFill>
                <a:ea typeface="黑体" pitchFamily="2" charset="-122"/>
                <a:cs typeface="+mj-cs"/>
              </a:rPr>
              <a:t>4.</a:t>
            </a:r>
            <a:r>
              <a:rPr lang="zh-CN" altLang="en-US" dirty="0">
                <a:solidFill>
                  <a:schemeClr val="tx2">
                    <a:tint val="100000"/>
                    <a:shade val="90000"/>
                    <a:satMod val="250000"/>
                    <a:alpha val="100000"/>
                  </a:schemeClr>
                </a:solidFill>
                <a:ea typeface="黑体" pitchFamily="2" charset="-122"/>
                <a:cs typeface="+mj-cs"/>
              </a:rPr>
              <a:t>买方的侃价能力</a:t>
            </a:r>
          </a:p>
        </p:txBody>
      </p:sp>
      <p:graphicFrame>
        <p:nvGraphicFramePr>
          <p:cNvPr id="49284" name="Group 132"/>
          <p:cNvGraphicFramePr>
            <a:graphicFrameLocks noGrp="1"/>
          </p:cNvGraphicFramePr>
          <p:nvPr>
            <p:ph idx="1"/>
          </p:nvPr>
        </p:nvGraphicFramePr>
        <p:xfrm>
          <a:off x="395288" y="1676400"/>
          <a:ext cx="8208962" cy="4864608"/>
        </p:xfrm>
        <a:graphic>
          <a:graphicData uri="http://schemas.openxmlformats.org/drawingml/2006/table">
            <a:tbl>
              <a:tblPr/>
              <a:tblGrid>
                <a:gridCol w="1985962">
                  <a:extLst>
                    <a:ext uri="{9D8B030D-6E8A-4147-A177-3AD203B41FA5}">
                      <a16:colId xmlns:a16="http://schemas.microsoft.com/office/drawing/2014/main" val="20000"/>
                    </a:ext>
                  </a:extLst>
                </a:gridCol>
                <a:gridCol w="6223000">
                  <a:extLst>
                    <a:ext uri="{9D8B030D-6E8A-4147-A177-3AD203B41FA5}">
                      <a16:colId xmlns:a16="http://schemas.microsoft.com/office/drawing/2014/main" val="20001"/>
                    </a:ext>
                  </a:extLst>
                </a:gridCol>
              </a:tblGrid>
              <a:tr h="2614613">
                <a:tc rowSpan="2">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altLang="zh-CN" sz="3200" b="1" i="0" u="none" strike="noStrike" cap="none" normalizeH="0" baseline="0">
                        <a:ln>
                          <a:noFill/>
                        </a:ln>
                        <a:solidFill>
                          <a:srgbClr val="66FF99"/>
                        </a:solidFill>
                        <a:effectLst/>
                        <a:latin typeface="Arial"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altLang="zh-CN" sz="2800" b="1" i="0" u="none" strike="noStrike" cap="none" normalizeH="0" baseline="0">
                        <a:ln>
                          <a:noFill/>
                        </a:ln>
                        <a:solidFill>
                          <a:srgbClr val="66FF99"/>
                        </a:solidFill>
                        <a:effectLst/>
                        <a:latin typeface="Arial"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altLang="zh-CN" sz="2800" b="1" i="0" u="none" strike="noStrike" cap="none" normalizeH="0" baseline="0">
                        <a:ln>
                          <a:noFill/>
                        </a:ln>
                        <a:solidFill>
                          <a:srgbClr val="66FF99"/>
                        </a:solidFill>
                        <a:effectLst/>
                        <a:latin typeface="Arial"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altLang="zh-CN" sz="2800" b="1" i="0" u="none" strike="noStrike" cap="none" normalizeH="0" baseline="0">
                        <a:ln>
                          <a:noFill/>
                        </a:ln>
                        <a:solidFill>
                          <a:srgbClr val="66FF99"/>
                        </a:solidFill>
                        <a:effectLst/>
                        <a:latin typeface="Arial"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rgbClr val="66FF99"/>
                          </a:solidFill>
                          <a:effectLst/>
                          <a:latin typeface="Arial" charset="0"/>
                          <a:ea typeface="宋体" pitchFamily="2" charset="-122"/>
                        </a:rPr>
                        <a:t>决定买方力量的因素</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a:ln>
                            <a:noFill/>
                          </a:ln>
                          <a:solidFill>
                            <a:srgbClr val="66FF99"/>
                          </a:solidFill>
                          <a:effectLst/>
                          <a:latin typeface="Arial" charset="0"/>
                          <a:ea typeface="宋体" pitchFamily="2" charset="-122"/>
                        </a:rPr>
                        <a:t>侃价杠杆</a:t>
                      </a:r>
                    </a:p>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a:ln>
                            <a:noFill/>
                          </a:ln>
                          <a:solidFill>
                            <a:srgbClr val="66FF99"/>
                          </a:solidFill>
                          <a:effectLst/>
                          <a:latin typeface="Arial" charset="0"/>
                          <a:ea typeface="宋体" pitchFamily="2" charset="-122"/>
                        </a:rPr>
                        <a:t>      买方的集中程度相对企业的集中程度</a:t>
                      </a:r>
                    </a:p>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a:ln>
                            <a:noFill/>
                          </a:ln>
                          <a:solidFill>
                            <a:srgbClr val="66FF99"/>
                          </a:solidFill>
                          <a:effectLst/>
                          <a:latin typeface="Arial" charset="0"/>
                          <a:ea typeface="宋体" pitchFamily="2" charset="-122"/>
                        </a:rPr>
                        <a:t>      买方数量</a:t>
                      </a:r>
                    </a:p>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a:ln>
                            <a:noFill/>
                          </a:ln>
                          <a:solidFill>
                            <a:srgbClr val="66FF99"/>
                          </a:solidFill>
                          <a:effectLst/>
                          <a:latin typeface="Arial" charset="0"/>
                          <a:ea typeface="宋体" pitchFamily="2" charset="-122"/>
                        </a:rPr>
                        <a:t>      买方转换成本相对企业转换成本</a:t>
                      </a:r>
                    </a:p>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a:ln>
                            <a:noFill/>
                          </a:ln>
                          <a:solidFill>
                            <a:srgbClr val="66FF99"/>
                          </a:solidFill>
                          <a:effectLst/>
                          <a:latin typeface="Arial" charset="0"/>
                          <a:ea typeface="宋体" pitchFamily="2" charset="-122"/>
                        </a:rPr>
                        <a:t>      买方信息</a:t>
                      </a:r>
                    </a:p>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a:ln>
                            <a:noFill/>
                          </a:ln>
                          <a:solidFill>
                            <a:srgbClr val="66FF99"/>
                          </a:solidFill>
                          <a:effectLst/>
                          <a:latin typeface="Arial" charset="0"/>
                          <a:ea typeface="宋体" pitchFamily="2" charset="-122"/>
                        </a:rPr>
                        <a:t>      后向整合的能力</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25">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a:ln>
                            <a:noFill/>
                          </a:ln>
                          <a:solidFill>
                            <a:srgbClr val="66FF99"/>
                          </a:solidFill>
                          <a:effectLst/>
                          <a:latin typeface="Arial" charset="0"/>
                          <a:ea typeface="宋体" pitchFamily="2" charset="-122"/>
                        </a:rPr>
                        <a:t>价格敏感性</a:t>
                      </a:r>
                    </a:p>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a:ln>
                            <a:noFill/>
                          </a:ln>
                          <a:solidFill>
                            <a:srgbClr val="66FF99"/>
                          </a:solidFill>
                          <a:effectLst/>
                          <a:latin typeface="Arial" charset="0"/>
                          <a:ea typeface="宋体" pitchFamily="2" charset="-122"/>
                        </a:rPr>
                        <a:t>      价格</a:t>
                      </a:r>
                      <a:r>
                        <a:rPr kumimoji="0" lang="en-US" altLang="zh-CN" sz="2400" b="1" i="0" u="none" strike="noStrike" cap="none" normalizeH="0" baseline="0">
                          <a:ln>
                            <a:noFill/>
                          </a:ln>
                          <a:solidFill>
                            <a:srgbClr val="66FF99"/>
                          </a:solidFill>
                          <a:effectLst/>
                          <a:latin typeface="Arial" charset="0"/>
                          <a:ea typeface="宋体" pitchFamily="2" charset="-122"/>
                        </a:rPr>
                        <a:t>/</a:t>
                      </a:r>
                      <a:r>
                        <a:rPr kumimoji="0" lang="zh-CN" altLang="en-US" sz="2400" b="1" i="0" u="none" strike="noStrike" cap="none" normalizeH="0" baseline="0">
                          <a:ln>
                            <a:noFill/>
                          </a:ln>
                          <a:solidFill>
                            <a:srgbClr val="66FF99"/>
                          </a:solidFill>
                          <a:effectLst/>
                          <a:latin typeface="Arial" charset="0"/>
                          <a:ea typeface="宋体" pitchFamily="2" charset="-122"/>
                        </a:rPr>
                        <a:t>购买总量</a:t>
                      </a:r>
                    </a:p>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a:ln>
                            <a:noFill/>
                          </a:ln>
                          <a:solidFill>
                            <a:srgbClr val="66FF99"/>
                          </a:solidFill>
                          <a:effectLst/>
                          <a:latin typeface="Arial" charset="0"/>
                          <a:ea typeface="宋体" pitchFamily="2" charset="-122"/>
                        </a:rPr>
                        <a:t>      产品差异</a:t>
                      </a:r>
                    </a:p>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a:ln>
                            <a:noFill/>
                          </a:ln>
                          <a:solidFill>
                            <a:srgbClr val="66FF99"/>
                          </a:solidFill>
                          <a:effectLst/>
                          <a:latin typeface="Arial" charset="0"/>
                          <a:ea typeface="宋体" pitchFamily="2" charset="-122"/>
                        </a:rPr>
                        <a:t>      品牌专有</a:t>
                      </a:r>
                    </a:p>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a:ln>
                            <a:noFill/>
                          </a:ln>
                          <a:solidFill>
                            <a:srgbClr val="66FF99"/>
                          </a:solidFill>
                          <a:effectLst/>
                          <a:latin typeface="Arial" charset="0"/>
                          <a:ea typeface="宋体" pitchFamily="2" charset="-122"/>
                        </a:rPr>
                        <a:t>      质量</a:t>
                      </a:r>
                      <a:r>
                        <a:rPr kumimoji="0" lang="en-US" altLang="zh-CN" sz="2400" b="1" i="0" u="none" strike="noStrike" cap="none" normalizeH="0" baseline="0">
                          <a:ln>
                            <a:noFill/>
                          </a:ln>
                          <a:solidFill>
                            <a:srgbClr val="66FF99"/>
                          </a:solidFill>
                          <a:effectLst/>
                          <a:latin typeface="Arial" charset="0"/>
                          <a:ea typeface="宋体" pitchFamily="2" charset="-122"/>
                        </a:rPr>
                        <a:t>/</a:t>
                      </a:r>
                      <a:r>
                        <a:rPr kumimoji="0" lang="zh-CN" altLang="en-US" sz="2400" b="1" i="0" u="none" strike="noStrike" cap="none" normalizeH="0" baseline="0">
                          <a:ln>
                            <a:noFill/>
                          </a:ln>
                          <a:solidFill>
                            <a:srgbClr val="66FF99"/>
                          </a:solidFill>
                          <a:effectLst/>
                          <a:latin typeface="Arial" charset="0"/>
                          <a:ea typeface="宋体" pitchFamily="2" charset="-122"/>
                        </a:rPr>
                        <a:t>性能的影响</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cSld>
  <p:clrMapOvr>
    <a:masterClrMapping/>
  </p:clrMapOvr>
  <p:transition spd="med">
    <p:randomBar dir="vert"/>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marL="54864" indent="0" algn="l" fontAlgn="auto">
              <a:spcAft>
                <a:spcPts val="0"/>
              </a:spcAft>
              <a:defRPr/>
            </a:pPr>
            <a:r>
              <a:rPr lang="en-US" altLang="zh-CN" dirty="0">
                <a:solidFill>
                  <a:schemeClr val="tx2">
                    <a:tint val="100000"/>
                    <a:shade val="90000"/>
                    <a:satMod val="250000"/>
                    <a:alpha val="100000"/>
                  </a:schemeClr>
                </a:solidFill>
                <a:ea typeface="黑体" pitchFamily="2" charset="-122"/>
                <a:cs typeface="+mj-cs"/>
              </a:rPr>
              <a:t>5.</a:t>
            </a:r>
            <a:r>
              <a:rPr lang="zh-CN" altLang="en-US" dirty="0">
                <a:solidFill>
                  <a:schemeClr val="tx2">
                    <a:tint val="100000"/>
                    <a:shade val="90000"/>
                    <a:satMod val="250000"/>
                    <a:alpha val="100000"/>
                  </a:schemeClr>
                </a:solidFill>
                <a:ea typeface="黑体" pitchFamily="2" charset="-122"/>
                <a:cs typeface="+mj-cs"/>
              </a:rPr>
              <a:t>替代品的影响</a:t>
            </a:r>
          </a:p>
        </p:txBody>
      </p:sp>
      <p:graphicFrame>
        <p:nvGraphicFramePr>
          <p:cNvPr id="50218" name="Group 42"/>
          <p:cNvGraphicFramePr>
            <a:graphicFrameLocks noGrp="1"/>
          </p:cNvGraphicFramePr>
          <p:nvPr>
            <p:ph idx="1"/>
          </p:nvPr>
        </p:nvGraphicFramePr>
        <p:xfrm>
          <a:off x="533400" y="1676400"/>
          <a:ext cx="8229600" cy="4064001"/>
        </p:xfrm>
        <a:graphic>
          <a:graphicData uri="http://schemas.openxmlformats.org/drawingml/2006/table">
            <a:tbl>
              <a:tblPr/>
              <a:tblGrid>
                <a:gridCol w="2066925">
                  <a:extLst>
                    <a:ext uri="{9D8B030D-6E8A-4147-A177-3AD203B41FA5}">
                      <a16:colId xmlns:a16="http://schemas.microsoft.com/office/drawing/2014/main" val="20000"/>
                    </a:ext>
                  </a:extLst>
                </a:gridCol>
                <a:gridCol w="6162675">
                  <a:extLst>
                    <a:ext uri="{9D8B030D-6E8A-4147-A177-3AD203B41FA5}">
                      <a16:colId xmlns:a16="http://schemas.microsoft.com/office/drawing/2014/main" val="20001"/>
                    </a:ext>
                  </a:extLst>
                </a:gridCol>
              </a:tblGrid>
              <a:tr h="1354138">
                <a:tc rowSpan="3">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altLang="zh-CN" sz="3200" b="1" i="0" u="none" strike="noStrike" cap="none" normalizeH="0" baseline="0">
                        <a:ln>
                          <a:noFill/>
                        </a:ln>
                        <a:solidFill>
                          <a:srgbClr val="66FF99"/>
                        </a:solidFill>
                        <a:effectLst/>
                        <a:latin typeface="Arial"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4000" b="1" i="0" u="none" strike="noStrike" cap="none" normalizeH="0" baseline="0">
                          <a:ln>
                            <a:noFill/>
                          </a:ln>
                          <a:solidFill>
                            <a:srgbClr val="66FF99"/>
                          </a:solidFill>
                          <a:effectLst/>
                          <a:latin typeface="Arial" charset="0"/>
                          <a:ea typeface="宋体" pitchFamily="2" charset="-122"/>
                        </a:rPr>
                        <a:t>决定替代威胁的因素</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3200" b="1" i="0" u="none" strike="noStrike" cap="none" normalizeH="0" baseline="0">
                          <a:ln>
                            <a:noFill/>
                          </a:ln>
                          <a:solidFill>
                            <a:srgbClr val="66FF99"/>
                          </a:solidFill>
                          <a:effectLst/>
                          <a:latin typeface="Arial" charset="0"/>
                          <a:ea typeface="宋体" pitchFamily="2" charset="-122"/>
                        </a:rPr>
                        <a:t>替代品相对价格表现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355725">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3200" b="1" i="0" u="none" strike="noStrike" cap="none" normalizeH="0" baseline="0">
                          <a:ln>
                            <a:noFill/>
                          </a:ln>
                          <a:solidFill>
                            <a:srgbClr val="66FF99"/>
                          </a:solidFill>
                          <a:effectLst/>
                          <a:latin typeface="Arial" charset="0"/>
                          <a:ea typeface="宋体" pitchFamily="2" charset="-122"/>
                        </a:rPr>
                        <a:t>转换成本</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354138">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3200" b="1" i="0" u="none" strike="noStrike" cap="none" normalizeH="0" baseline="0">
                          <a:ln>
                            <a:noFill/>
                          </a:ln>
                          <a:solidFill>
                            <a:srgbClr val="66FF99"/>
                          </a:solidFill>
                          <a:effectLst/>
                          <a:latin typeface="Arial" charset="0"/>
                          <a:ea typeface="宋体" pitchFamily="2" charset="-122"/>
                        </a:rPr>
                        <a:t>客户对替代品的使用倾向</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p:transition spd="med">
    <p:randomBar dir="vert"/>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908175" y="0"/>
            <a:ext cx="7235825" cy="1484313"/>
          </a:xfrm>
        </p:spPr>
        <p:txBody>
          <a:bodyPr>
            <a:normAutofit fontScale="90000"/>
          </a:bodyPr>
          <a:lstStyle/>
          <a:p>
            <a:pPr marL="54864" indent="0" algn="l" fontAlgn="auto">
              <a:spcAft>
                <a:spcPts val="0"/>
              </a:spcAft>
              <a:defRPr/>
            </a:pPr>
            <a:r>
              <a:rPr lang="en-US" altLang="zh-CN" dirty="0">
                <a:solidFill>
                  <a:schemeClr val="tx2">
                    <a:tint val="100000"/>
                    <a:shade val="90000"/>
                    <a:satMod val="250000"/>
                    <a:alpha val="100000"/>
                  </a:schemeClr>
                </a:solidFill>
                <a:ea typeface="黑体" pitchFamily="2" charset="-122"/>
                <a:cs typeface="+mj-cs"/>
              </a:rPr>
              <a:t> </a:t>
            </a:r>
            <a:r>
              <a:rPr lang="zh-CN" altLang="en-US" dirty="0">
                <a:solidFill>
                  <a:schemeClr val="tx2">
                    <a:tint val="100000"/>
                    <a:shade val="90000"/>
                    <a:satMod val="250000"/>
                    <a:alpha val="100000"/>
                  </a:schemeClr>
                </a:solidFill>
                <a:ea typeface="黑体" pitchFamily="2" charset="-122"/>
                <a:cs typeface="+mj-cs"/>
              </a:rPr>
              <a:t>运用五力模型分析企业市场</a:t>
            </a:r>
          </a:p>
        </p:txBody>
      </p:sp>
      <p:sp>
        <p:nvSpPr>
          <p:cNvPr id="73730" name="Rectangle 3"/>
          <p:cNvSpPr>
            <a:spLocks noGrp="1" noChangeArrowheads="1"/>
          </p:cNvSpPr>
          <p:nvPr>
            <p:ph type="body" idx="1"/>
          </p:nvPr>
        </p:nvSpPr>
        <p:spPr>
          <a:xfrm>
            <a:off x="684213" y="1844675"/>
            <a:ext cx="7129462" cy="4525963"/>
          </a:xfrm>
        </p:spPr>
        <p:txBody>
          <a:bodyPr/>
          <a:lstStyle/>
          <a:p>
            <a:pPr>
              <a:lnSpc>
                <a:spcPct val="90000"/>
              </a:lnSpc>
              <a:spcBef>
                <a:spcPct val="30000"/>
              </a:spcBef>
              <a:buClr>
                <a:srgbClr val="00FF00"/>
              </a:buClr>
            </a:pPr>
            <a:r>
              <a:rPr lang="zh-CN" altLang="en-US"/>
              <a:t>行业竞争的五种力量</a:t>
            </a:r>
          </a:p>
          <a:p>
            <a:pPr>
              <a:lnSpc>
                <a:spcPct val="90000"/>
              </a:lnSpc>
              <a:spcBef>
                <a:spcPct val="30000"/>
              </a:spcBef>
              <a:buClr>
                <a:srgbClr val="00FF00"/>
              </a:buClr>
            </a:pPr>
            <a:r>
              <a:rPr lang="zh-CN" altLang="en-US"/>
              <a:t>有特点的产品能够有力地对抗竞争者和大买主</a:t>
            </a:r>
          </a:p>
          <a:p>
            <a:pPr>
              <a:lnSpc>
                <a:spcPct val="90000"/>
              </a:lnSpc>
              <a:spcBef>
                <a:spcPct val="30000"/>
              </a:spcBef>
              <a:buClr>
                <a:srgbClr val="00FF00"/>
              </a:buClr>
            </a:pPr>
            <a:r>
              <a:rPr lang="zh-CN" altLang="en-US"/>
              <a:t>谨慎地观察购买者、供应商的动向和替代品的出现</a:t>
            </a:r>
          </a:p>
          <a:p>
            <a:pPr>
              <a:lnSpc>
                <a:spcPct val="90000"/>
              </a:lnSpc>
              <a:spcBef>
                <a:spcPct val="30000"/>
              </a:spcBef>
              <a:buClr>
                <a:srgbClr val="00FF00"/>
              </a:buClr>
            </a:pPr>
            <a:r>
              <a:rPr lang="zh-CN" altLang="en-US"/>
              <a:t>为潜在的进入者制造障碍</a:t>
            </a:r>
          </a:p>
          <a:p>
            <a:pPr>
              <a:lnSpc>
                <a:spcPct val="90000"/>
              </a:lnSpc>
              <a:spcBef>
                <a:spcPct val="30000"/>
              </a:spcBef>
              <a:buClr>
                <a:srgbClr val="00FF00"/>
              </a:buClr>
            </a:pPr>
            <a:r>
              <a:rPr lang="zh-CN" altLang="en-US"/>
              <a:t>抓住五种力量中的关键的力量</a:t>
            </a:r>
          </a:p>
        </p:txBody>
      </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1619250" y="0"/>
            <a:ext cx="7524750" cy="1484313"/>
          </a:xfrm>
        </p:spPr>
        <p:txBody>
          <a:bodyPr/>
          <a:lstStyle/>
          <a:p>
            <a:pPr marL="54864" indent="0" fontAlgn="auto">
              <a:spcAft>
                <a:spcPts val="0"/>
              </a:spcAft>
              <a:defRPr/>
            </a:pPr>
            <a:r>
              <a:rPr lang="zh-CN" altLang="en-US" dirty="0">
                <a:solidFill>
                  <a:schemeClr val="tx2">
                    <a:tint val="100000"/>
                    <a:shade val="90000"/>
                    <a:satMod val="250000"/>
                    <a:alpha val="100000"/>
                  </a:schemeClr>
                </a:solidFill>
                <a:ea typeface="黑体" pitchFamily="2" charset="-122"/>
                <a:cs typeface="+mj-cs"/>
              </a:rPr>
              <a:t>如何明确企业市场的替代品？</a:t>
            </a:r>
          </a:p>
        </p:txBody>
      </p:sp>
      <p:sp>
        <p:nvSpPr>
          <p:cNvPr id="74754" name="Rectangle 3"/>
          <p:cNvSpPr>
            <a:spLocks noGrp="1" noChangeArrowheads="1"/>
          </p:cNvSpPr>
          <p:nvPr>
            <p:ph type="body" idx="1"/>
          </p:nvPr>
        </p:nvSpPr>
        <p:spPr>
          <a:xfrm>
            <a:off x="457200" y="1981200"/>
            <a:ext cx="8435975" cy="3886200"/>
          </a:xfrm>
        </p:spPr>
        <p:txBody>
          <a:bodyPr/>
          <a:lstStyle/>
          <a:p>
            <a:pPr>
              <a:lnSpc>
                <a:spcPct val="150000"/>
              </a:lnSpc>
            </a:pPr>
            <a:r>
              <a:rPr lang="zh-CN" altLang="en-US" dirty="0"/>
              <a:t>替代品的威胁取决于其价值</a:t>
            </a:r>
          </a:p>
          <a:p>
            <a:pPr>
              <a:lnSpc>
                <a:spcPct val="150000"/>
              </a:lnSpc>
            </a:pPr>
            <a:r>
              <a:rPr lang="zh-CN" altLang="en-US" dirty="0"/>
              <a:t>综合考虑是否换用替代品</a:t>
            </a:r>
          </a:p>
          <a:p>
            <a:pPr>
              <a:lnSpc>
                <a:spcPct val="150000"/>
              </a:lnSpc>
            </a:pPr>
            <a:r>
              <a:rPr lang="zh-CN" altLang="en-US" dirty="0"/>
              <a:t>直接替代</a:t>
            </a:r>
            <a:endParaRPr lang="en-US" altLang="zh-CN" dirty="0"/>
          </a:p>
          <a:p>
            <a:pPr>
              <a:lnSpc>
                <a:spcPct val="150000"/>
              </a:lnSpc>
            </a:pPr>
            <a:r>
              <a:rPr lang="zh-CN" altLang="en-US" dirty="0"/>
              <a:t>间接替代</a:t>
            </a:r>
          </a:p>
        </p:txBody>
      </p:sp>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0" y="0"/>
            <a:ext cx="9144000" cy="1484313"/>
          </a:xfrm>
        </p:spPr>
        <p:txBody>
          <a:bodyPr/>
          <a:lstStyle/>
          <a:p>
            <a:pPr marL="54864" indent="0" fontAlgn="auto">
              <a:spcAft>
                <a:spcPts val="0"/>
              </a:spcAft>
              <a:defRPr/>
            </a:pPr>
            <a:r>
              <a:rPr lang="zh-CN" altLang="en-US" dirty="0">
                <a:solidFill>
                  <a:schemeClr val="tx2">
                    <a:tint val="100000"/>
                    <a:shade val="90000"/>
                    <a:satMod val="250000"/>
                    <a:alpha val="100000"/>
                  </a:schemeClr>
                </a:solidFill>
                <a:ea typeface="黑体" pitchFamily="2" charset="-122"/>
                <a:cs typeface="+mj-cs"/>
              </a:rPr>
              <a:t>如何控制企业的供应商和购买者？</a:t>
            </a:r>
          </a:p>
        </p:txBody>
      </p:sp>
      <p:sp>
        <p:nvSpPr>
          <p:cNvPr id="75778" name="Rectangle 3"/>
          <p:cNvSpPr>
            <a:spLocks noGrp="1" noChangeArrowheads="1"/>
          </p:cNvSpPr>
          <p:nvPr>
            <p:ph type="body" sz="half" idx="1"/>
          </p:nvPr>
        </p:nvSpPr>
        <p:spPr>
          <a:xfrm>
            <a:off x="-36513" y="2924175"/>
            <a:ext cx="5400676" cy="4525963"/>
          </a:xfrm>
        </p:spPr>
        <p:txBody>
          <a:bodyPr/>
          <a:lstStyle/>
          <a:p>
            <a:pPr>
              <a:buClr>
                <a:srgbClr val="FF0000"/>
              </a:buClr>
            </a:pPr>
            <a:r>
              <a:rPr lang="zh-CN" altLang="en-US">
                <a:solidFill>
                  <a:srgbClr val="FF3300"/>
                </a:solidFill>
              </a:rPr>
              <a:t>如何征服供应商？</a:t>
            </a:r>
          </a:p>
          <a:p>
            <a:pPr>
              <a:buFont typeface="Wingdings" pitchFamily="2" charset="2"/>
              <a:buNone/>
            </a:pPr>
            <a:r>
              <a:rPr lang="zh-CN" altLang="en-US" sz="2800"/>
              <a:t>    做供应商的大宗购买者</a:t>
            </a:r>
          </a:p>
          <a:p>
            <a:pPr>
              <a:buFont typeface="Wingdings" pitchFamily="2" charset="2"/>
              <a:buNone/>
            </a:pPr>
            <a:r>
              <a:rPr lang="zh-CN" altLang="en-US" sz="2800"/>
              <a:t>    具备建立纵向一体化的能力</a:t>
            </a:r>
          </a:p>
          <a:p>
            <a:pPr>
              <a:buFont typeface="Wingdings" pitchFamily="2" charset="2"/>
              <a:buNone/>
            </a:pPr>
            <a:r>
              <a:rPr lang="zh-CN" altLang="en-US" sz="2800"/>
              <a:t>    充分掌握信息</a:t>
            </a:r>
          </a:p>
          <a:p>
            <a:pPr>
              <a:buFont typeface="Wingdings" pitchFamily="2" charset="2"/>
              <a:buNone/>
            </a:pPr>
            <a:r>
              <a:rPr lang="zh-CN" altLang="en-US" sz="2800"/>
              <a:t>    力争作为垄断者</a:t>
            </a:r>
          </a:p>
        </p:txBody>
      </p:sp>
      <p:pic>
        <p:nvPicPr>
          <p:cNvPr id="75779" name="Picture 7" descr="j0233312"/>
          <p:cNvPicPr>
            <a:picLocks noGrp="1" noChangeAspect="1" noChangeArrowheads="1"/>
          </p:cNvPicPr>
          <p:nvPr>
            <p:ph sz="half" idx="2"/>
          </p:nvPr>
        </p:nvPicPr>
        <p:blipFill>
          <a:blip r:embed="rId2"/>
          <a:srcRect/>
          <a:stretch>
            <a:fillRect/>
          </a:stretch>
        </p:blipFill>
        <p:spPr>
          <a:xfrm>
            <a:off x="4932363" y="1484313"/>
            <a:ext cx="3652837" cy="3721100"/>
          </a:xfrm>
        </p:spPr>
      </p:pic>
    </p:spTree>
  </p:cSld>
  <p:clrMapOvr>
    <a:masterClrMapping/>
  </p:clrMapOvr>
  <p:transition spd="med">
    <p:randomBar dir="vert"/>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457200" y="253536"/>
            <a:ext cx="8229600" cy="1143000"/>
          </a:xfrm>
        </p:spPr>
        <p:txBody>
          <a:bodyPr/>
          <a:lstStyle/>
          <a:p>
            <a:pPr marL="54864" indent="0" fontAlgn="auto">
              <a:spcAft>
                <a:spcPts val="0"/>
              </a:spcAft>
              <a:defRPr/>
            </a:pPr>
            <a:r>
              <a:rPr lang="en-US" altLang="zh-CN" dirty="0">
                <a:solidFill>
                  <a:schemeClr val="tx2">
                    <a:tint val="100000"/>
                    <a:shade val="90000"/>
                    <a:satMod val="250000"/>
                    <a:alpha val="100000"/>
                  </a:schemeClr>
                </a:solidFill>
                <a:ea typeface="黑体" pitchFamily="2" charset="-122"/>
                <a:cs typeface="+mj-cs"/>
              </a:rPr>
              <a:t>    </a:t>
            </a:r>
            <a:r>
              <a:rPr lang="zh-CN" altLang="en-US" dirty="0">
                <a:solidFill>
                  <a:schemeClr val="tx2">
                    <a:tint val="100000"/>
                    <a:shade val="90000"/>
                    <a:satMod val="250000"/>
                    <a:alpha val="100000"/>
                  </a:schemeClr>
                </a:solidFill>
                <a:ea typeface="黑体" pitchFamily="2" charset="-122"/>
                <a:cs typeface="+mj-cs"/>
              </a:rPr>
              <a:t>如何赢得购买者？</a:t>
            </a:r>
          </a:p>
        </p:txBody>
      </p:sp>
      <p:sp>
        <p:nvSpPr>
          <p:cNvPr id="76802" name="Rectangle 3"/>
          <p:cNvSpPr>
            <a:spLocks noGrp="1" noChangeArrowheads="1"/>
          </p:cNvSpPr>
          <p:nvPr>
            <p:ph type="body" idx="1"/>
          </p:nvPr>
        </p:nvSpPr>
        <p:spPr/>
        <p:txBody>
          <a:bodyPr/>
          <a:lstStyle/>
          <a:p>
            <a:r>
              <a:rPr lang="zh-CN" altLang="en-US" sz="4000"/>
              <a:t>让您的产品变得特别</a:t>
            </a:r>
          </a:p>
          <a:p>
            <a:r>
              <a:rPr lang="zh-CN" altLang="en-US" sz="4000"/>
              <a:t>做购买者的主要供应商</a:t>
            </a:r>
          </a:p>
          <a:p>
            <a:r>
              <a:rPr lang="zh-CN" altLang="en-US" sz="4000"/>
              <a:t>具备建立纵向一体化的能力</a:t>
            </a:r>
          </a:p>
          <a:p>
            <a:r>
              <a:rPr lang="zh-CN" altLang="en-US" sz="4000"/>
              <a:t>注意成本信息保密</a:t>
            </a:r>
          </a:p>
          <a:p>
            <a:r>
              <a:rPr lang="zh-CN" altLang="en-US" sz="4000"/>
              <a:t>力争成为垄断者</a:t>
            </a:r>
          </a:p>
        </p:txBody>
      </p:sp>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88640"/>
            <a:ext cx="8229600" cy="1143000"/>
          </a:xfrm>
        </p:spPr>
        <p:txBody>
          <a:bodyPr/>
          <a:lstStyle/>
          <a:p>
            <a:pPr marL="54864" indent="0" fontAlgn="auto">
              <a:spcAft>
                <a:spcPts val="0"/>
              </a:spcAft>
              <a:defRPr/>
            </a:pPr>
            <a:r>
              <a:rPr lang="zh-CN" altLang="en-US" dirty="0">
                <a:solidFill>
                  <a:schemeClr val="tx2">
                    <a:tint val="100000"/>
                    <a:shade val="90000"/>
                    <a:satMod val="250000"/>
                    <a:alpha val="100000"/>
                  </a:schemeClr>
                </a:solidFill>
                <a:cs typeface="+mj-cs"/>
              </a:rPr>
              <a:t>竞争对手的选择与分析</a:t>
            </a:r>
          </a:p>
        </p:txBody>
      </p:sp>
      <p:sp>
        <p:nvSpPr>
          <p:cNvPr id="77826" name="内容占位符 2"/>
          <p:cNvSpPr>
            <a:spLocks noGrp="1"/>
          </p:cNvSpPr>
          <p:nvPr>
            <p:ph idx="1"/>
          </p:nvPr>
        </p:nvSpPr>
        <p:spPr>
          <a:xfrm>
            <a:off x="468313" y="1125538"/>
            <a:ext cx="8229600" cy="630237"/>
          </a:xfrm>
        </p:spPr>
        <p:txBody>
          <a:bodyPr/>
          <a:lstStyle/>
          <a:p>
            <a:r>
              <a:rPr lang="zh-CN" altLang="en-US"/>
              <a:t>波特的五要素模型</a:t>
            </a:r>
          </a:p>
        </p:txBody>
      </p:sp>
      <p:sp>
        <p:nvSpPr>
          <p:cNvPr id="4" name="矩形 3"/>
          <p:cNvSpPr/>
          <p:nvPr/>
        </p:nvSpPr>
        <p:spPr>
          <a:xfrm>
            <a:off x="1908175" y="3068638"/>
            <a:ext cx="5543550" cy="21605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zh-CN" altLang="en-US" dirty="0"/>
              <a:t>竞争对手的反击策略：</a:t>
            </a:r>
            <a:endParaRPr lang="en-US" altLang="zh-CN" dirty="0"/>
          </a:p>
          <a:p>
            <a:pPr fontAlgn="auto">
              <a:spcBef>
                <a:spcPts val="0"/>
              </a:spcBef>
              <a:spcAft>
                <a:spcPts val="0"/>
              </a:spcAft>
              <a:defRPr/>
            </a:pPr>
            <a:r>
              <a:rPr lang="en-US" altLang="zh-CN" dirty="0"/>
              <a:t>1</a:t>
            </a:r>
            <a:r>
              <a:rPr lang="zh-CN" altLang="en-US" dirty="0"/>
              <a:t>、竞争对手是否满意目前的地位</a:t>
            </a:r>
            <a:endParaRPr lang="en-US" altLang="zh-CN" dirty="0"/>
          </a:p>
          <a:p>
            <a:pPr fontAlgn="auto">
              <a:spcBef>
                <a:spcPts val="0"/>
              </a:spcBef>
              <a:spcAft>
                <a:spcPts val="0"/>
              </a:spcAft>
              <a:defRPr/>
            </a:pPr>
            <a:r>
              <a:rPr lang="en-US" altLang="zh-CN" dirty="0"/>
              <a:t>2</a:t>
            </a:r>
            <a:r>
              <a:rPr lang="zh-CN" altLang="en-US" dirty="0"/>
              <a:t>、竞争对手将有怎样的战略转移</a:t>
            </a:r>
            <a:endParaRPr lang="en-US" altLang="zh-CN" dirty="0"/>
          </a:p>
          <a:p>
            <a:pPr fontAlgn="auto">
              <a:spcBef>
                <a:spcPts val="0"/>
              </a:spcBef>
              <a:spcAft>
                <a:spcPts val="0"/>
              </a:spcAft>
              <a:defRPr/>
            </a:pPr>
            <a:r>
              <a:rPr lang="en-US" altLang="zh-CN" dirty="0"/>
              <a:t>3</a:t>
            </a:r>
            <a:r>
              <a:rPr lang="zh-CN" altLang="en-US" dirty="0"/>
              <a:t>、竞争对手的脆弱之处在哪里？</a:t>
            </a:r>
            <a:endParaRPr lang="en-US" altLang="zh-CN" dirty="0"/>
          </a:p>
          <a:p>
            <a:pPr fontAlgn="auto">
              <a:spcBef>
                <a:spcPts val="0"/>
              </a:spcBef>
              <a:spcAft>
                <a:spcPts val="0"/>
              </a:spcAft>
              <a:defRPr/>
            </a:pPr>
            <a:r>
              <a:rPr lang="en-US" altLang="zh-CN" dirty="0"/>
              <a:t>4</a:t>
            </a:r>
            <a:r>
              <a:rPr lang="zh-CN" altLang="en-US" dirty="0"/>
              <a:t>、迫使竞争对手采取最大和最有效的报复行动的因素是什么？</a:t>
            </a:r>
          </a:p>
        </p:txBody>
      </p:sp>
      <p:sp>
        <p:nvSpPr>
          <p:cNvPr id="5" name="矩形 4"/>
          <p:cNvSpPr/>
          <p:nvPr/>
        </p:nvSpPr>
        <p:spPr>
          <a:xfrm>
            <a:off x="395288" y="1989138"/>
            <a:ext cx="4248150" cy="6477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zh-CN" altLang="en-US" dirty="0"/>
              <a:t>竞争对手如何评估其自身竞争实力</a:t>
            </a:r>
            <a:endParaRPr lang="en-US" altLang="zh-CN" dirty="0"/>
          </a:p>
          <a:p>
            <a:pPr fontAlgn="auto">
              <a:spcBef>
                <a:spcPts val="0"/>
              </a:spcBef>
              <a:spcAft>
                <a:spcPts val="0"/>
              </a:spcAft>
              <a:defRPr/>
            </a:pPr>
            <a:r>
              <a:rPr lang="zh-CN" altLang="en-US" dirty="0"/>
              <a:t>竞争对手如何评估其所在行业的成长性</a:t>
            </a:r>
          </a:p>
        </p:txBody>
      </p:sp>
      <p:sp>
        <p:nvSpPr>
          <p:cNvPr id="6" name="矩形 5"/>
          <p:cNvSpPr/>
          <p:nvPr/>
        </p:nvSpPr>
        <p:spPr>
          <a:xfrm>
            <a:off x="5724525" y="1916113"/>
            <a:ext cx="3419475" cy="6492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zh-CN" altLang="en-US" dirty="0"/>
              <a:t>竞争对手的能力分析</a:t>
            </a:r>
            <a:endParaRPr lang="en-US" altLang="zh-CN" dirty="0"/>
          </a:p>
          <a:p>
            <a:pPr fontAlgn="auto">
              <a:spcBef>
                <a:spcPts val="0"/>
              </a:spcBef>
              <a:spcAft>
                <a:spcPts val="0"/>
              </a:spcAft>
              <a:defRPr/>
            </a:pPr>
            <a:r>
              <a:rPr lang="zh-CN" altLang="en-US" dirty="0"/>
              <a:t>竞争对手的优劣势分析</a:t>
            </a:r>
          </a:p>
        </p:txBody>
      </p:sp>
      <p:sp>
        <p:nvSpPr>
          <p:cNvPr id="7" name="矩形 6"/>
          <p:cNvSpPr/>
          <p:nvPr/>
        </p:nvSpPr>
        <p:spPr>
          <a:xfrm>
            <a:off x="250825" y="5589588"/>
            <a:ext cx="4752975" cy="863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zh-CN" altLang="en-US" dirty="0"/>
              <a:t>竞争对手未来的目标是什么？</a:t>
            </a:r>
            <a:endParaRPr lang="en-US" altLang="zh-CN" dirty="0"/>
          </a:p>
          <a:p>
            <a:pPr fontAlgn="auto">
              <a:spcBef>
                <a:spcPts val="0"/>
              </a:spcBef>
              <a:spcAft>
                <a:spcPts val="0"/>
              </a:spcAft>
              <a:defRPr/>
            </a:pPr>
            <a:r>
              <a:rPr lang="zh-CN" altLang="en-US" dirty="0"/>
              <a:t>竞争对手的动力是什么？</a:t>
            </a:r>
            <a:endParaRPr lang="en-US" altLang="zh-CN" dirty="0"/>
          </a:p>
          <a:p>
            <a:pPr fontAlgn="auto">
              <a:spcBef>
                <a:spcPts val="0"/>
              </a:spcBef>
              <a:spcAft>
                <a:spcPts val="0"/>
              </a:spcAft>
              <a:defRPr/>
            </a:pPr>
            <a:r>
              <a:rPr lang="zh-CN" altLang="en-US" dirty="0"/>
              <a:t>竞争对手各管理层的目标及综合目标是什么？</a:t>
            </a:r>
          </a:p>
        </p:txBody>
      </p:sp>
      <p:sp>
        <p:nvSpPr>
          <p:cNvPr id="8" name="矩形 7"/>
          <p:cNvSpPr/>
          <p:nvPr/>
        </p:nvSpPr>
        <p:spPr>
          <a:xfrm>
            <a:off x="5724525" y="5589588"/>
            <a:ext cx="3419475" cy="10080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zh-CN" altLang="en-US" dirty="0"/>
              <a:t>竞争对手现行战略是什么？</a:t>
            </a:r>
            <a:endParaRPr lang="en-US" altLang="zh-CN" dirty="0"/>
          </a:p>
          <a:p>
            <a:pPr fontAlgn="auto">
              <a:spcBef>
                <a:spcPts val="0"/>
              </a:spcBef>
              <a:spcAft>
                <a:spcPts val="0"/>
              </a:spcAft>
              <a:defRPr/>
            </a:pPr>
            <a:r>
              <a:rPr lang="zh-CN" altLang="en-US" dirty="0"/>
              <a:t>竞争对手在做什么？能做什么？</a:t>
            </a:r>
            <a:endParaRPr lang="en-US" altLang="zh-CN" dirty="0"/>
          </a:p>
          <a:p>
            <a:pPr fontAlgn="auto">
              <a:spcBef>
                <a:spcPts val="0"/>
              </a:spcBef>
              <a:spcAft>
                <a:spcPts val="0"/>
              </a:spcAft>
              <a:defRPr/>
            </a:pPr>
            <a:r>
              <a:rPr lang="zh-CN" altLang="en-US" dirty="0"/>
              <a:t>竞争对手当前如何竞争？</a:t>
            </a:r>
          </a:p>
        </p:txBody>
      </p:sp>
      <p:cxnSp>
        <p:nvCxnSpPr>
          <p:cNvPr id="10" name="直接箭头连接符 9"/>
          <p:cNvCxnSpPr/>
          <p:nvPr/>
        </p:nvCxnSpPr>
        <p:spPr>
          <a:xfrm>
            <a:off x="6372225" y="0"/>
            <a:ext cx="914400" cy="914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a:off x="2411413" y="2565400"/>
            <a:ext cx="2160587" cy="50323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rot="10800000" flipV="1">
            <a:off x="4859338" y="2565400"/>
            <a:ext cx="2449512" cy="50323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endCxn id="4" idx="2"/>
          </p:cNvCxnSpPr>
          <p:nvPr/>
        </p:nvCxnSpPr>
        <p:spPr>
          <a:xfrm flipV="1">
            <a:off x="2484438" y="5229225"/>
            <a:ext cx="2195512" cy="28733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rot="10800000">
            <a:off x="5219700" y="5229225"/>
            <a:ext cx="2376488" cy="28733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691056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53536"/>
            <a:ext cx="8229600" cy="1143000"/>
          </a:xfrm>
        </p:spPr>
        <p:txBody>
          <a:bodyPr/>
          <a:lstStyle/>
          <a:p>
            <a:pPr marL="54864" indent="0" fontAlgn="auto">
              <a:spcAft>
                <a:spcPts val="0"/>
              </a:spcAft>
              <a:defRPr/>
            </a:pPr>
            <a:r>
              <a:rPr lang="zh-CN" altLang="en-US" dirty="0">
                <a:solidFill>
                  <a:schemeClr val="tx2">
                    <a:tint val="100000"/>
                    <a:shade val="90000"/>
                    <a:satMod val="250000"/>
                    <a:alpha val="100000"/>
                  </a:schemeClr>
                </a:solidFill>
                <a:cs typeface="+mj-cs"/>
              </a:rPr>
              <a:t>行业吸引力</a:t>
            </a:r>
          </a:p>
        </p:txBody>
      </p:sp>
      <p:sp>
        <p:nvSpPr>
          <p:cNvPr id="79874" name="内容占位符 2"/>
          <p:cNvSpPr>
            <a:spLocks noGrp="1"/>
          </p:cNvSpPr>
          <p:nvPr>
            <p:ph idx="1"/>
          </p:nvPr>
        </p:nvSpPr>
        <p:spPr/>
        <p:txBody>
          <a:bodyPr/>
          <a:lstStyle/>
          <a:p>
            <a:r>
              <a:rPr lang="zh-CN" altLang="en-US"/>
              <a:t>行业销售利润率或</a:t>
            </a:r>
            <a:r>
              <a:rPr lang="en-US" altLang="zh-CN"/>
              <a:t>/</a:t>
            </a:r>
            <a:r>
              <a:rPr lang="zh-CN" altLang="en-US"/>
              <a:t>和行业销售额的增长高于该国或该地区各行业的平均水平</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53536"/>
            <a:ext cx="8229600" cy="1143000"/>
          </a:xfrm>
        </p:spPr>
        <p:txBody>
          <a:bodyPr/>
          <a:lstStyle/>
          <a:p>
            <a:pPr marL="54864" indent="0" fontAlgn="auto">
              <a:spcAft>
                <a:spcPts val="0"/>
              </a:spcAft>
              <a:defRPr/>
            </a:pPr>
            <a:r>
              <a:rPr lang="zh-CN" altLang="en-US" dirty="0">
                <a:solidFill>
                  <a:schemeClr val="tx2">
                    <a:tint val="100000"/>
                    <a:shade val="90000"/>
                    <a:satMod val="250000"/>
                    <a:alpha val="100000"/>
                  </a:schemeClr>
                </a:solidFill>
                <a:cs typeface="+mj-cs"/>
              </a:rPr>
              <a:t>行业市场集中度</a:t>
            </a:r>
          </a:p>
        </p:txBody>
      </p:sp>
      <p:sp>
        <p:nvSpPr>
          <p:cNvPr id="80898" name="内容占位符 2"/>
          <p:cNvSpPr>
            <a:spLocks noGrp="1"/>
          </p:cNvSpPr>
          <p:nvPr>
            <p:ph idx="1"/>
          </p:nvPr>
        </p:nvSpPr>
        <p:spPr/>
        <p:txBody>
          <a:bodyPr/>
          <a:lstStyle/>
          <a:p>
            <a:r>
              <a:rPr lang="zh-CN" altLang="en-US"/>
              <a:t>集中的概念反映了行业市场垄断程度的高低</a:t>
            </a:r>
            <a:endParaRPr lang="en-US" altLang="zh-CN"/>
          </a:p>
          <a:p>
            <a:r>
              <a:rPr lang="zh-CN" altLang="en-US"/>
              <a:t>绝对集中度指标</a:t>
            </a:r>
            <a:endParaRPr lang="en-US" altLang="zh-CN"/>
          </a:p>
          <a:p>
            <a:pPr lvl="1"/>
            <a:r>
              <a:rPr lang="zh-CN" altLang="en-US"/>
              <a:t>规模（如以销售额为依据）上处于前</a:t>
            </a:r>
            <a:r>
              <a:rPr lang="en-US" altLang="zh-CN"/>
              <a:t>4</a:t>
            </a:r>
            <a:r>
              <a:rPr lang="zh-CN" altLang="en-US"/>
              <a:t>名或前</a:t>
            </a:r>
            <a:r>
              <a:rPr lang="en-US" altLang="zh-CN"/>
              <a:t>8</a:t>
            </a:r>
            <a:r>
              <a:rPr lang="zh-CN" altLang="en-US"/>
              <a:t>家企业的市场占有率之和</a:t>
            </a:r>
            <a:endParaRPr lang="en-US" altLang="zh-CN"/>
          </a:p>
          <a:p>
            <a:r>
              <a:rPr lang="zh-CN" altLang="en-US"/>
              <a:t>相对集中度指标</a:t>
            </a:r>
            <a:endParaRPr lang="en-US" altLang="zh-CN"/>
          </a:p>
          <a:p>
            <a:pPr lvl="1"/>
            <a:endParaRPr lang="en-US" altLang="zh-CN"/>
          </a:p>
          <a:p>
            <a:pPr lvl="1"/>
            <a:endParaRPr lang="zh-CN" alt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53536"/>
            <a:ext cx="8229600" cy="1143000"/>
          </a:xfrm>
        </p:spPr>
        <p:txBody>
          <a:bodyPr/>
          <a:lstStyle/>
          <a:p>
            <a:pPr marL="54864" indent="0" fontAlgn="auto">
              <a:spcAft>
                <a:spcPts val="0"/>
              </a:spcAft>
              <a:defRPr/>
            </a:pPr>
            <a:r>
              <a:rPr lang="zh-CN" altLang="en-US" dirty="0">
                <a:solidFill>
                  <a:schemeClr val="tx2">
                    <a:tint val="100000"/>
                    <a:shade val="90000"/>
                    <a:satMod val="250000"/>
                    <a:alpha val="100000"/>
                  </a:schemeClr>
                </a:solidFill>
                <a:cs typeface="+mj-cs"/>
              </a:rPr>
              <a:t>洛伦茨曲线</a:t>
            </a:r>
          </a:p>
        </p:txBody>
      </p:sp>
      <p:sp>
        <p:nvSpPr>
          <p:cNvPr id="3" name="内容占位符 2"/>
          <p:cNvSpPr>
            <a:spLocks noGrp="1"/>
          </p:cNvSpPr>
          <p:nvPr>
            <p:ph idx="1"/>
          </p:nvPr>
        </p:nvSpPr>
        <p:spPr/>
        <p:txBody>
          <a:bodyPr>
            <a:normAutofit fontScale="92500"/>
          </a:bodyPr>
          <a:lstStyle/>
          <a:p>
            <a:pPr fontAlgn="auto">
              <a:spcBef>
                <a:spcPts val="0"/>
              </a:spcBef>
              <a:spcAft>
                <a:spcPts val="0"/>
              </a:spcAft>
              <a:defRPr/>
            </a:pPr>
            <a:r>
              <a:rPr lang="zh-CN" altLang="en-US" sz="2400" dirty="0">
                <a:cs typeface="+mn-cs"/>
              </a:rPr>
              <a:t>为了研究国民收入在国民之间的分配问题，美国统计学家</a:t>
            </a:r>
            <a:r>
              <a:rPr lang="en-US" altLang="zh-CN" sz="2400" dirty="0">
                <a:cs typeface="+mn-cs"/>
              </a:rPr>
              <a:t>M.O.</a:t>
            </a:r>
            <a:r>
              <a:rPr lang="zh-CN" altLang="en-US" sz="2400" dirty="0">
                <a:cs typeface="+mn-cs"/>
              </a:rPr>
              <a:t>洛伦茨提出的了著名的洛伦茨曲线。它先将一国人口按收入由低到高排队，然后考虑收入最低的任意百分比人口所得到的收入百分比。将这样的人口累计百分比和收入累计百分比的对应关系描绘在图形上，即得到洛伦兹曲线。</a:t>
            </a:r>
          </a:p>
          <a:p>
            <a:pPr marL="292100" lvl="1" indent="-292100" fontAlgn="auto">
              <a:spcBef>
                <a:spcPts val="0"/>
              </a:spcBef>
              <a:spcAft>
                <a:spcPts val="0"/>
              </a:spcAft>
              <a:buClr>
                <a:schemeClr val="accent1"/>
              </a:buClr>
              <a:buSzPct val="70000"/>
              <a:buFont typeface="Wingdings 2"/>
              <a:buChar char=""/>
              <a:defRPr/>
            </a:pPr>
            <a:endParaRPr lang="en-US" altLang="zh-CN" sz="2400" dirty="0">
              <a:cs typeface="+mn-cs"/>
            </a:endParaRPr>
          </a:p>
          <a:p>
            <a:pPr marL="292100" lvl="1" indent="-292100" fontAlgn="auto">
              <a:spcBef>
                <a:spcPts val="0"/>
              </a:spcBef>
              <a:spcAft>
                <a:spcPts val="0"/>
              </a:spcAft>
              <a:buClr>
                <a:schemeClr val="accent1"/>
              </a:buClr>
              <a:buSzPct val="70000"/>
              <a:buFont typeface="Wingdings 2"/>
              <a:buChar char=""/>
              <a:defRPr/>
            </a:pPr>
            <a:r>
              <a:rPr lang="zh-CN" altLang="en-US" sz="2400" dirty="0">
                <a:cs typeface="+mn-cs"/>
              </a:rPr>
              <a:t>从企业的最小到最大规模顺序进行排列，分析某市场占有率或资产比率等方面的相对集中程度。当市场上所有企业规模完全相等时，产业规模的累计线，即洛伦茨曲线就是图中的对角线</a:t>
            </a:r>
            <a:r>
              <a:rPr lang="en-US" altLang="zh-CN" sz="2400" dirty="0">
                <a:cs typeface="+mn-cs"/>
              </a:rPr>
              <a:t>OS</a:t>
            </a:r>
            <a:r>
              <a:rPr lang="zh-CN" altLang="en-US" sz="2400" dirty="0">
                <a:cs typeface="+mn-cs"/>
              </a:rPr>
              <a:t>。当企业的规模不完全相等时，洛伦茨曲线就是对角线</a:t>
            </a:r>
            <a:r>
              <a:rPr lang="en-US" altLang="zh-CN" sz="2400" dirty="0">
                <a:cs typeface="+mn-cs"/>
              </a:rPr>
              <a:t>OS</a:t>
            </a:r>
            <a:r>
              <a:rPr lang="zh-CN" altLang="en-US" sz="2400" dirty="0">
                <a:cs typeface="+mn-cs"/>
              </a:rPr>
              <a:t>下方的一条折线，如图中的</a:t>
            </a:r>
            <a:r>
              <a:rPr lang="en-US" altLang="zh-CN" sz="2400" dirty="0">
                <a:cs typeface="+mn-cs"/>
              </a:rPr>
              <a:t>ORWVUS</a:t>
            </a:r>
            <a:r>
              <a:rPr lang="zh-CN" altLang="en-US" sz="2400" dirty="0">
                <a:cs typeface="+mn-cs"/>
              </a:rPr>
              <a:t>折线。曲线或折线越偏离对角线，企业规模分布的不均匀度越大。</a:t>
            </a:r>
          </a:p>
          <a:p>
            <a:pPr fontAlgn="auto">
              <a:spcBef>
                <a:spcPts val="0"/>
              </a:spcBef>
              <a:spcAft>
                <a:spcPts val="0"/>
              </a:spcAft>
              <a:defRPr/>
            </a:pPr>
            <a:r>
              <a:rPr lang="zh-CN" altLang="en-US" sz="2400" dirty="0">
                <a:cs typeface="+mn-cs"/>
              </a:rPr>
              <a:t>   </a:t>
            </a:r>
          </a:p>
          <a:p>
            <a:pPr fontAlgn="auto">
              <a:spcBef>
                <a:spcPts val="0"/>
              </a:spcBef>
              <a:spcAft>
                <a:spcPts val="0"/>
              </a:spcAft>
              <a:defRPr/>
            </a:pPr>
            <a:endParaRPr lang="zh-CN" altLang="en-US" sz="2400" dirty="0">
              <a:cs typeface="+mn-cs"/>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53536"/>
            <a:ext cx="8229600" cy="1143000"/>
          </a:xfrm>
        </p:spPr>
        <p:txBody>
          <a:bodyPr/>
          <a:lstStyle/>
          <a:p>
            <a:pPr marL="54864" indent="0" fontAlgn="auto">
              <a:spcAft>
                <a:spcPts val="0"/>
              </a:spcAft>
              <a:defRPr/>
            </a:pPr>
            <a:r>
              <a:rPr lang="zh-CN" altLang="en-US" dirty="0">
                <a:solidFill>
                  <a:schemeClr val="tx2">
                    <a:tint val="100000"/>
                    <a:shade val="90000"/>
                    <a:satMod val="250000"/>
                    <a:alpha val="100000"/>
                  </a:schemeClr>
                </a:solidFill>
                <a:cs typeface="+mj-cs"/>
              </a:rPr>
              <a:t>相对集中度</a:t>
            </a:r>
          </a:p>
        </p:txBody>
      </p:sp>
      <p:sp>
        <p:nvSpPr>
          <p:cNvPr id="82946" name="内容占位符 2"/>
          <p:cNvSpPr>
            <a:spLocks noGrp="1"/>
          </p:cNvSpPr>
          <p:nvPr>
            <p:ph idx="1"/>
          </p:nvPr>
        </p:nvSpPr>
        <p:spPr/>
        <p:txBody>
          <a:bodyPr/>
          <a:lstStyle/>
          <a:p>
            <a:endParaRPr lang="zh-CN" altLang="en-US" sz="2000"/>
          </a:p>
        </p:txBody>
      </p:sp>
      <p:pic>
        <p:nvPicPr>
          <p:cNvPr id="82947" name="Picture 2" descr="洛伦茨曲线">
            <a:hlinkClick r:id="rId2"/>
          </p:cNvPr>
          <p:cNvPicPr>
            <a:picLocks noChangeAspect="1" noChangeArrowheads="1"/>
          </p:cNvPicPr>
          <p:nvPr/>
        </p:nvPicPr>
        <p:blipFill>
          <a:blip r:embed="rId3"/>
          <a:srcRect/>
          <a:stretch>
            <a:fillRect/>
          </a:stretch>
        </p:blipFill>
        <p:spPr bwMode="auto">
          <a:xfrm>
            <a:off x="1042988" y="1700213"/>
            <a:ext cx="6769100" cy="4568825"/>
          </a:xfrm>
          <a:prstGeom prst="rect">
            <a:avLst/>
          </a:prstGeom>
          <a:noFill/>
          <a:ln w="9525">
            <a:noFill/>
            <a:miter lim="800000"/>
            <a:headEnd/>
            <a:tailEnd/>
          </a:ln>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54864" indent="0" fontAlgn="auto">
              <a:spcAft>
                <a:spcPts val="0"/>
              </a:spcAft>
              <a:defRPr/>
            </a:pPr>
            <a:endParaRPr lang="zh-CN" altLang="en-US">
              <a:solidFill>
                <a:schemeClr val="tx2">
                  <a:tint val="100000"/>
                  <a:shade val="90000"/>
                  <a:satMod val="250000"/>
                  <a:alpha val="100000"/>
                </a:schemeClr>
              </a:solidFill>
              <a:cs typeface="+mj-cs"/>
            </a:endParaRPr>
          </a:p>
        </p:txBody>
      </p:sp>
      <p:sp>
        <p:nvSpPr>
          <p:cNvPr id="83970" name="内容占位符 2"/>
          <p:cNvSpPr>
            <a:spLocks noGrp="1"/>
          </p:cNvSpPr>
          <p:nvPr>
            <p:ph idx="1"/>
          </p:nvPr>
        </p:nvSpPr>
        <p:spPr/>
        <p:txBody>
          <a:bodyPr/>
          <a:lstStyle/>
          <a:p>
            <a:r>
              <a:rPr lang="zh-CN" altLang="en-US" dirty="0"/>
              <a:t>基尼系数＝均等分布线和</a:t>
            </a:r>
            <a:r>
              <a:rPr lang="zh-CN" altLang="en-US" dirty="0">
                <a:hlinkClick r:id="rId2" tooltip="洛伦茨曲线"/>
              </a:rPr>
              <a:t>洛伦茨曲线</a:t>
            </a:r>
            <a:r>
              <a:rPr lang="zh-CN" altLang="en-US" dirty="0"/>
              <a:t>之间的面积</a:t>
            </a:r>
            <a:r>
              <a:rPr lang="en-US" altLang="zh-CN" dirty="0"/>
              <a:t>/</a:t>
            </a:r>
            <a:r>
              <a:rPr lang="zh-CN" altLang="en-US" dirty="0"/>
              <a:t> 直角三角形的面积（四方形面积的一半）</a:t>
            </a:r>
            <a:endParaRPr lang="en-US" altLang="zh-CN" dirty="0"/>
          </a:p>
          <a:p>
            <a:r>
              <a:rPr lang="zh-CN" altLang="en-US" dirty="0"/>
              <a:t>规模分布越不均匀，</a:t>
            </a:r>
            <a:r>
              <a:rPr lang="zh-CN" altLang="en-US" dirty="0">
                <a:hlinkClick r:id="rId3" tooltip="基尼系数"/>
              </a:rPr>
              <a:t>基尼系数</a:t>
            </a:r>
            <a:r>
              <a:rPr lang="zh-CN" altLang="en-US" dirty="0"/>
              <a:t>越大。所有企业规模相等，基尼系数为</a:t>
            </a:r>
            <a:r>
              <a:rPr lang="en-US" altLang="zh-CN" dirty="0"/>
              <a:t>0</a:t>
            </a:r>
            <a:r>
              <a:rPr lang="zh-CN" altLang="en-US" dirty="0"/>
              <a:t>；独家企业垄断，基尼系数为</a:t>
            </a:r>
            <a:r>
              <a:rPr lang="en-US" altLang="zh-CN" dirty="0"/>
              <a:t>1</a:t>
            </a:r>
            <a:r>
              <a:rPr lang="zh-CN" altLang="en-US" dirty="0"/>
              <a:t>。</a:t>
            </a:r>
            <a:endParaRPr lang="en-US" altLang="zh-CN" dirty="0"/>
          </a:p>
          <a:p>
            <a:r>
              <a:rPr lang="zh-CN" altLang="zh-CN" dirty="0"/>
              <a:t>0</a:t>
            </a:r>
            <a:r>
              <a:rPr lang="en-US" altLang="zh-CN" dirty="0"/>
              <a:t>.4</a:t>
            </a:r>
            <a:r>
              <a:rPr lang="zh-CN" altLang="en-US" dirty="0"/>
              <a:t>警戒线。</a:t>
            </a:r>
            <a:r>
              <a:rPr lang="en-US" altLang="zh-CN" dirty="0"/>
              <a:t>0.2</a:t>
            </a:r>
            <a:r>
              <a:rPr lang="zh-CN" altLang="en-US" dirty="0"/>
              <a:t>绝对平均，</a:t>
            </a:r>
            <a:r>
              <a:rPr lang="en-US" altLang="zh-CN" dirty="0"/>
              <a:t>0.2-0.3</a:t>
            </a:r>
            <a:r>
              <a:rPr lang="zh-CN" altLang="en-US" dirty="0"/>
              <a:t>比较平均，</a:t>
            </a:r>
            <a:r>
              <a:rPr lang="en-US" altLang="zh-CN" dirty="0"/>
              <a:t>0.3-0.4</a:t>
            </a:r>
            <a:r>
              <a:rPr lang="zh-CN" altLang="en-US" dirty="0"/>
              <a:t>相对合理</a:t>
            </a:r>
            <a:endParaRPr lang="en-US" altLang="zh-CN" dirty="0"/>
          </a:p>
          <a:p>
            <a:r>
              <a:rPr lang="zh-CN" altLang="en-US" dirty="0"/>
              <a:t>美国</a:t>
            </a:r>
            <a:r>
              <a:rPr lang="en-US" altLang="zh-CN" dirty="0"/>
              <a:t>0.45 </a:t>
            </a:r>
            <a:r>
              <a:rPr lang="zh-CN" altLang="en-US" dirty="0"/>
              <a:t>中国</a:t>
            </a:r>
            <a:r>
              <a:rPr lang="en-US" altLang="zh-CN" dirty="0"/>
              <a:t>0.61</a:t>
            </a:r>
            <a:r>
              <a:rPr lang="zh-CN" altLang="en-US" dirty="0"/>
              <a:t>（</a:t>
            </a:r>
            <a:r>
              <a:rPr lang="en-US" altLang="zh-CN" dirty="0"/>
              <a:t>2010</a:t>
            </a:r>
            <a:r>
              <a:rPr lang="zh-CN" altLang="en-US" dirty="0"/>
              <a:t>西南财经大学）</a:t>
            </a:r>
            <a:br>
              <a:rPr lang="zh-CN" altLang="en-US" dirty="0"/>
            </a:br>
            <a:endParaRPr lang="zh-CN" altLang="en-US" dirty="0"/>
          </a:p>
          <a:p>
            <a:endParaRPr lang="zh-CN" altLang="en-US"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53536"/>
            <a:ext cx="8229600" cy="1143000"/>
          </a:xfrm>
        </p:spPr>
        <p:txBody>
          <a:bodyPr/>
          <a:lstStyle/>
          <a:p>
            <a:pPr marL="54864" indent="0" fontAlgn="auto">
              <a:spcAft>
                <a:spcPts val="0"/>
              </a:spcAft>
              <a:defRPr/>
            </a:pPr>
            <a:r>
              <a:rPr lang="zh-CN" altLang="en-US" dirty="0">
                <a:solidFill>
                  <a:schemeClr val="tx2">
                    <a:tint val="100000"/>
                    <a:shade val="90000"/>
                    <a:satMod val="250000"/>
                    <a:alpha val="100000"/>
                  </a:schemeClr>
                </a:solidFill>
                <a:cs typeface="+mj-cs"/>
              </a:rPr>
              <a:t>行业市场细分与战略组</a:t>
            </a:r>
          </a:p>
        </p:txBody>
      </p:sp>
      <p:sp>
        <p:nvSpPr>
          <p:cNvPr id="3" name="内容占位符 2"/>
          <p:cNvSpPr>
            <a:spLocks noGrp="1"/>
          </p:cNvSpPr>
          <p:nvPr>
            <p:ph idx="1"/>
          </p:nvPr>
        </p:nvSpPr>
        <p:spPr/>
        <p:txBody>
          <a:bodyPr>
            <a:normAutofit fontScale="92500" lnSpcReduction="10000"/>
          </a:bodyPr>
          <a:lstStyle/>
          <a:p>
            <a:pPr fontAlgn="auto">
              <a:spcBef>
                <a:spcPts val="0"/>
              </a:spcBef>
              <a:spcAft>
                <a:spcPts val="0"/>
              </a:spcAft>
              <a:defRPr/>
            </a:pPr>
            <a:r>
              <a:rPr lang="zh-CN" altLang="en-US" dirty="0">
                <a:cs typeface="+mn-cs"/>
              </a:rPr>
              <a:t>行业市场细分</a:t>
            </a:r>
            <a:endParaRPr lang="en-US" altLang="zh-CN" dirty="0">
              <a:cs typeface="+mn-cs"/>
            </a:endParaRPr>
          </a:p>
          <a:p>
            <a:pPr marL="640080" lvl="1" fontAlgn="auto">
              <a:spcAft>
                <a:spcPts val="0"/>
              </a:spcAft>
              <a:defRPr/>
            </a:pPr>
            <a:r>
              <a:rPr lang="zh-CN" altLang="en-US" dirty="0">
                <a:cs typeface="+mn-cs"/>
              </a:rPr>
              <a:t>家具行业市场细分</a:t>
            </a:r>
            <a:endParaRPr lang="en-US" altLang="zh-CN" dirty="0">
              <a:cs typeface="+mn-cs"/>
            </a:endParaRPr>
          </a:p>
          <a:p>
            <a:pPr marL="822960" lvl="2" indent="-192024" fontAlgn="auto">
              <a:spcAft>
                <a:spcPts val="0"/>
              </a:spcAft>
              <a:buClr>
                <a:schemeClr val="accent3"/>
              </a:buClr>
              <a:defRPr/>
            </a:pPr>
            <a:r>
              <a:rPr lang="zh-CN" altLang="en-US" dirty="0">
                <a:cs typeface="+mn-cs"/>
              </a:rPr>
              <a:t>儿童、办公、小空间、奢侈</a:t>
            </a:r>
            <a:endParaRPr lang="en-US" altLang="zh-CN" dirty="0">
              <a:cs typeface="+mn-cs"/>
            </a:endParaRPr>
          </a:p>
          <a:p>
            <a:pPr fontAlgn="auto">
              <a:spcBef>
                <a:spcPts val="0"/>
              </a:spcBef>
              <a:spcAft>
                <a:spcPts val="0"/>
              </a:spcAft>
              <a:defRPr/>
            </a:pPr>
            <a:r>
              <a:rPr lang="zh-CN" altLang="en-US" dirty="0">
                <a:cs typeface="+mn-cs"/>
              </a:rPr>
              <a:t>战略组是指一个行业中实施相同或者相似战略的一组或多组企业</a:t>
            </a:r>
            <a:endParaRPr lang="en-US" altLang="zh-CN" dirty="0">
              <a:cs typeface="+mn-cs"/>
            </a:endParaRPr>
          </a:p>
          <a:p>
            <a:pPr marL="640080" lvl="1" fontAlgn="auto">
              <a:spcAft>
                <a:spcPts val="0"/>
              </a:spcAft>
              <a:defRPr/>
            </a:pPr>
            <a:r>
              <a:rPr lang="zh-CN" altLang="en-US" dirty="0">
                <a:cs typeface="+mn-cs"/>
              </a:rPr>
              <a:t>战略组内的企业是同类的，表现为采用相似的战略，有相似的管理系统；它们倾向于被相同的竞争行动和外部 事件所影响，以及对这些竞争行动和外部事件做出相近的反应，而不同战略组之间则是异类的。因此，竞争主要存在于战略组内的企业之间。</a:t>
            </a:r>
          </a:p>
          <a:p>
            <a:pPr marL="640080" lvl="1" fontAlgn="auto">
              <a:spcAft>
                <a:spcPts val="0"/>
              </a:spcAft>
              <a:defRPr/>
            </a:pPr>
            <a:r>
              <a:rPr lang="zh-CN" altLang="en-US" dirty="0">
                <a:cs typeface="+mn-cs"/>
              </a:rPr>
              <a:t> </a:t>
            </a:r>
          </a:p>
          <a:p>
            <a:pPr marL="640080" lvl="1" fontAlgn="auto">
              <a:spcAft>
                <a:spcPts val="0"/>
              </a:spcAft>
              <a:defRPr/>
            </a:pPr>
            <a:endParaRPr lang="zh-CN" altLang="en-US" dirty="0">
              <a:cs typeface="+mn-cs"/>
            </a:endParaRPr>
          </a:p>
          <a:p>
            <a:pPr marL="640080" lvl="1" fontAlgn="auto">
              <a:spcAft>
                <a:spcPts val="0"/>
              </a:spcAft>
              <a:defRPr/>
            </a:pPr>
            <a:endParaRPr lang="en-US" altLang="zh-CN" dirty="0">
              <a:cs typeface="+mn-cs"/>
            </a:endParaRPr>
          </a:p>
          <a:p>
            <a:pPr marL="640080" lvl="1" fontAlgn="auto">
              <a:spcAft>
                <a:spcPts val="0"/>
              </a:spcAft>
              <a:defRPr/>
            </a:pPr>
            <a:endParaRPr lang="zh-CN" altLang="en-US" dirty="0">
              <a:cs typeface="+mn-cs"/>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53536"/>
            <a:ext cx="8229600" cy="1143000"/>
          </a:xfrm>
        </p:spPr>
        <p:txBody>
          <a:bodyPr/>
          <a:lstStyle/>
          <a:p>
            <a:pPr marL="54864" indent="0" fontAlgn="auto">
              <a:spcAft>
                <a:spcPts val="0"/>
              </a:spcAft>
              <a:defRPr/>
            </a:pPr>
            <a:r>
              <a:rPr lang="zh-CN" altLang="en-US" dirty="0">
                <a:solidFill>
                  <a:schemeClr val="tx2">
                    <a:tint val="100000"/>
                    <a:shade val="90000"/>
                    <a:satMod val="250000"/>
                    <a:alpha val="100000"/>
                  </a:schemeClr>
                </a:solidFill>
                <a:cs typeface="+mj-cs"/>
              </a:rPr>
              <a:t>外部因素评价矩阵</a:t>
            </a:r>
          </a:p>
        </p:txBody>
      </p:sp>
      <p:sp>
        <p:nvSpPr>
          <p:cNvPr id="86018" name="内容占位符 2"/>
          <p:cNvSpPr>
            <a:spLocks noGrp="1"/>
          </p:cNvSpPr>
          <p:nvPr>
            <p:ph idx="1"/>
          </p:nvPr>
        </p:nvSpPr>
        <p:spPr/>
        <p:txBody>
          <a:bodyPr/>
          <a:lstStyle/>
          <a:p>
            <a:r>
              <a:rPr lang="zh-CN" altLang="en-US" sz="2400" dirty="0"/>
              <a:t>其做法是从机会和威胁两个方面找出影响企业未来发展的关键因素，根据各个因素影响程度的大小确定权数，再按企业对各关键因素的有效反应程度对各关键因素进行评分，最后算出企业的总加权分数。通过</a:t>
            </a:r>
            <a:r>
              <a:rPr lang="en-US" altLang="zh-CN" sz="2400" dirty="0"/>
              <a:t>EFE</a:t>
            </a:r>
            <a:r>
              <a:rPr lang="zh-CN" altLang="en-US" sz="2400" dirty="0"/>
              <a:t>，企业就可以把自己所面临的机会与威胁汇总，来刻划出企业的全部吸引力。</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750" y="874713"/>
            <a:ext cx="8229600" cy="5983287"/>
          </a:xfrm>
        </p:spPr>
        <p:txBody>
          <a:bodyPr>
            <a:normAutofit fontScale="55000" lnSpcReduction="20000"/>
          </a:bodyPr>
          <a:lstStyle/>
          <a:p>
            <a:pPr fontAlgn="auto">
              <a:spcBef>
                <a:spcPts val="0"/>
              </a:spcBef>
              <a:spcAft>
                <a:spcPts val="0"/>
              </a:spcAft>
              <a:defRPr/>
            </a:pPr>
            <a:r>
              <a:rPr lang="zh-CN" altLang="en-US" dirty="0">
                <a:latin typeface="华文楷体" pitchFamily="2" charset="-122"/>
                <a:ea typeface="华文楷体" pitchFamily="2" charset="-122"/>
                <a:cs typeface="+mn-cs"/>
              </a:rPr>
              <a:t>可分以下五个步骤建立： 　　</a:t>
            </a:r>
            <a:endParaRPr lang="en-US" altLang="zh-CN" dirty="0">
              <a:latin typeface="华文楷体" pitchFamily="2" charset="-122"/>
              <a:ea typeface="华文楷体" pitchFamily="2" charset="-122"/>
              <a:cs typeface="+mn-cs"/>
            </a:endParaRPr>
          </a:p>
          <a:p>
            <a:pPr fontAlgn="auto">
              <a:spcBef>
                <a:spcPts val="0"/>
              </a:spcBef>
              <a:spcAft>
                <a:spcPts val="0"/>
              </a:spcAft>
              <a:defRPr/>
            </a:pPr>
            <a:r>
              <a:rPr lang="en-US" altLang="zh-CN" dirty="0">
                <a:latin typeface="华文楷体" pitchFamily="2" charset="-122"/>
                <a:ea typeface="华文楷体" pitchFamily="2" charset="-122"/>
                <a:cs typeface="+mn-cs"/>
              </a:rPr>
              <a:t>(1) </a:t>
            </a:r>
            <a:r>
              <a:rPr lang="zh-CN" altLang="en-US" dirty="0">
                <a:latin typeface="华文楷体" pitchFamily="2" charset="-122"/>
                <a:ea typeface="华文楷体" pitchFamily="2" charset="-122"/>
                <a:cs typeface="+mn-cs"/>
              </a:rPr>
              <a:t>列出在外部分析过程中确认的关键因素 　　</a:t>
            </a:r>
            <a:endParaRPr lang="en-US" altLang="zh-CN" dirty="0">
              <a:latin typeface="华文楷体" pitchFamily="2" charset="-122"/>
              <a:ea typeface="华文楷体" pitchFamily="2" charset="-122"/>
              <a:cs typeface="+mn-cs"/>
            </a:endParaRPr>
          </a:p>
          <a:p>
            <a:pPr fontAlgn="auto">
              <a:spcBef>
                <a:spcPts val="0"/>
              </a:spcBef>
              <a:spcAft>
                <a:spcPts val="0"/>
              </a:spcAft>
              <a:defRPr/>
            </a:pPr>
            <a:r>
              <a:rPr lang="en-US" altLang="zh-CN" dirty="0">
                <a:latin typeface="华文楷体" pitchFamily="2" charset="-122"/>
                <a:ea typeface="华文楷体" pitchFamily="2" charset="-122"/>
                <a:cs typeface="+mn-cs"/>
              </a:rPr>
              <a:t>- </a:t>
            </a:r>
            <a:r>
              <a:rPr lang="zh-CN" altLang="en-US" dirty="0">
                <a:latin typeface="华文楷体" pitchFamily="2" charset="-122"/>
                <a:ea typeface="华文楷体" pitchFamily="2" charset="-122"/>
                <a:cs typeface="+mn-cs"/>
              </a:rPr>
              <a:t>因素总数在</a:t>
            </a:r>
            <a:r>
              <a:rPr lang="en-US" altLang="zh-CN" dirty="0">
                <a:latin typeface="华文楷体" pitchFamily="2" charset="-122"/>
                <a:ea typeface="华文楷体" pitchFamily="2" charset="-122"/>
                <a:cs typeface="+mn-cs"/>
              </a:rPr>
              <a:t>10-20</a:t>
            </a:r>
            <a:r>
              <a:rPr lang="zh-CN" altLang="en-US" dirty="0">
                <a:latin typeface="华文楷体" pitchFamily="2" charset="-122"/>
                <a:ea typeface="华文楷体" pitchFamily="2" charset="-122"/>
                <a:cs typeface="+mn-cs"/>
              </a:rPr>
              <a:t>个之间 　　</a:t>
            </a:r>
            <a:endParaRPr lang="en-US" altLang="zh-CN" dirty="0">
              <a:latin typeface="华文楷体" pitchFamily="2" charset="-122"/>
              <a:ea typeface="华文楷体" pitchFamily="2" charset="-122"/>
              <a:cs typeface="+mn-cs"/>
            </a:endParaRPr>
          </a:p>
          <a:p>
            <a:pPr fontAlgn="auto">
              <a:spcBef>
                <a:spcPts val="0"/>
              </a:spcBef>
              <a:spcAft>
                <a:spcPts val="0"/>
              </a:spcAft>
              <a:defRPr/>
            </a:pPr>
            <a:r>
              <a:rPr lang="en-US" altLang="zh-CN" dirty="0">
                <a:latin typeface="华文楷体" pitchFamily="2" charset="-122"/>
                <a:ea typeface="华文楷体" pitchFamily="2" charset="-122"/>
                <a:cs typeface="+mn-cs"/>
              </a:rPr>
              <a:t>- </a:t>
            </a:r>
            <a:r>
              <a:rPr lang="zh-CN" altLang="en-US" dirty="0">
                <a:latin typeface="华文楷体" pitchFamily="2" charset="-122"/>
                <a:ea typeface="华文楷体" pitchFamily="2" charset="-122"/>
                <a:cs typeface="+mn-cs"/>
              </a:rPr>
              <a:t>因素包括影响企业和所在产业的各种机会与威胁 　　</a:t>
            </a:r>
            <a:endParaRPr lang="en-US" altLang="zh-CN" dirty="0">
              <a:latin typeface="华文楷体" pitchFamily="2" charset="-122"/>
              <a:ea typeface="华文楷体" pitchFamily="2" charset="-122"/>
              <a:cs typeface="+mn-cs"/>
            </a:endParaRPr>
          </a:p>
          <a:p>
            <a:pPr fontAlgn="auto">
              <a:spcBef>
                <a:spcPts val="0"/>
              </a:spcBef>
              <a:spcAft>
                <a:spcPts val="0"/>
              </a:spcAft>
              <a:defRPr/>
            </a:pPr>
            <a:r>
              <a:rPr lang="en-US" altLang="zh-CN" dirty="0">
                <a:latin typeface="华文楷体" pitchFamily="2" charset="-122"/>
                <a:ea typeface="华文楷体" pitchFamily="2" charset="-122"/>
                <a:cs typeface="+mn-cs"/>
              </a:rPr>
              <a:t>- </a:t>
            </a:r>
            <a:r>
              <a:rPr lang="zh-CN" altLang="en-US" dirty="0">
                <a:latin typeface="华文楷体" pitchFamily="2" charset="-122"/>
                <a:ea typeface="华文楷体" pitchFamily="2" charset="-122"/>
                <a:cs typeface="+mn-cs"/>
              </a:rPr>
              <a:t>首先列举机会，然后列举威胁 　　</a:t>
            </a:r>
            <a:endParaRPr lang="en-US" altLang="zh-CN" dirty="0">
              <a:latin typeface="华文楷体" pitchFamily="2" charset="-122"/>
              <a:ea typeface="华文楷体" pitchFamily="2" charset="-122"/>
              <a:cs typeface="+mn-cs"/>
            </a:endParaRPr>
          </a:p>
          <a:p>
            <a:pPr fontAlgn="auto">
              <a:spcBef>
                <a:spcPts val="0"/>
              </a:spcBef>
              <a:spcAft>
                <a:spcPts val="0"/>
              </a:spcAft>
              <a:defRPr/>
            </a:pPr>
            <a:r>
              <a:rPr lang="en-US" altLang="zh-CN" dirty="0">
                <a:latin typeface="华文楷体" pitchFamily="2" charset="-122"/>
                <a:ea typeface="华文楷体" pitchFamily="2" charset="-122"/>
                <a:cs typeface="+mn-cs"/>
              </a:rPr>
              <a:t>- </a:t>
            </a:r>
            <a:r>
              <a:rPr lang="zh-CN" altLang="en-US" dirty="0">
                <a:latin typeface="华文楷体" pitchFamily="2" charset="-122"/>
                <a:ea typeface="华文楷体" pitchFamily="2" charset="-122"/>
                <a:cs typeface="+mn-cs"/>
              </a:rPr>
              <a:t>尽量具体，可能时采用百分比、比率和对比数字 </a:t>
            </a:r>
            <a:endParaRPr lang="en-US" altLang="zh-CN" dirty="0">
              <a:latin typeface="华文楷体" pitchFamily="2" charset="-122"/>
              <a:ea typeface="华文楷体" pitchFamily="2" charset="-122"/>
              <a:cs typeface="+mn-cs"/>
            </a:endParaRPr>
          </a:p>
          <a:p>
            <a:pPr fontAlgn="auto">
              <a:spcBef>
                <a:spcPts val="0"/>
              </a:spcBef>
              <a:spcAft>
                <a:spcPts val="0"/>
              </a:spcAft>
              <a:defRPr/>
            </a:pPr>
            <a:r>
              <a:rPr lang="zh-CN" altLang="en-US" dirty="0">
                <a:latin typeface="华文楷体" pitchFamily="2" charset="-122"/>
                <a:ea typeface="华文楷体" pitchFamily="2" charset="-122"/>
                <a:cs typeface="+mn-cs"/>
              </a:rPr>
              <a:t>（</a:t>
            </a:r>
            <a:r>
              <a:rPr lang="en-US" altLang="zh-CN" dirty="0">
                <a:latin typeface="华文楷体" pitchFamily="2" charset="-122"/>
                <a:ea typeface="华文楷体" pitchFamily="2" charset="-122"/>
                <a:cs typeface="+mn-cs"/>
              </a:rPr>
              <a:t>2) </a:t>
            </a:r>
            <a:r>
              <a:rPr lang="zh-CN" altLang="en-US" dirty="0">
                <a:latin typeface="华文楷体" pitchFamily="2" charset="-122"/>
                <a:ea typeface="华文楷体" pitchFamily="2" charset="-122"/>
                <a:cs typeface="+mn-cs"/>
              </a:rPr>
              <a:t>赋予每个因素以权重 　　</a:t>
            </a:r>
            <a:endParaRPr lang="en-US" altLang="zh-CN" dirty="0">
              <a:latin typeface="华文楷体" pitchFamily="2" charset="-122"/>
              <a:ea typeface="华文楷体" pitchFamily="2" charset="-122"/>
              <a:cs typeface="+mn-cs"/>
            </a:endParaRPr>
          </a:p>
          <a:p>
            <a:pPr fontAlgn="auto">
              <a:spcBef>
                <a:spcPts val="0"/>
              </a:spcBef>
              <a:spcAft>
                <a:spcPts val="0"/>
              </a:spcAft>
              <a:defRPr/>
            </a:pPr>
            <a:r>
              <a:rPr lang="en-US" altLang="zh-CN" dirty="0">
                <a:latin typeface="华文楷体" pitchFamily="2" charset="-122"/>
                <a:ea typeface="华文楷体" pitchFamily="2" charset="-122"/>
                <a:cs typeface="+mn-cs"/>
              </a:rPr>
              <a:t>- </a:t>
            </a:r>
            <a:r>
              <a:rPr lang="zh-CN" altLang="en-US" dirty="0">
                <a:latin typeface="华文楷体" pitchFamily="2" charset="-122"/>
                <a:ea typeface="华文楷体" pitchFamily="2" charset="-122"/>
                <a:cs typeface="+mn-cs"/>
              </a:rPr>
              <a:t>数值由</a:t>
            </a:r>
            <a:r>
              <a:rPr lang="en-US" altLang="zh-CN" dirty="0">
                <a:latin typeface="华文楷体" pitchFamily="2" charset="-122"/>
                <a:ea typeface="华文楷体" pitchFamily="2" charset="-122"/>
                <a:cs typeface="+mn-cs"/>
              </a:rPr>
              <a:t>0.0(</a:t>
            </a:r>
            <a:r>
              <a:rPr lang="zh-CN" altLang="en-US" dirty="0">
                <a:latin typeface="华文楷体" pitchFamily="2" charset="-122"/>
                <a:ea typeface="华文楷体" pitchFamily="2" charset="-122"/>
                <a:cs typeface="+mn-cs"/>
              </a:rPr>
              <a:t>不重要</a:t>
            </a:r>
            <a:r>
              <a:rPr lang="en-US" altLang="zh-CN" dirty="0">
                <a:latin typeface="华文楷体" pitchFamily="2" charset="-122"/>
                <a:ea typeface="华文楷体" pitchFamily="2" charset="-122"/>
                <a:cs typeface="+mn-cs"/>
              </a:rPr>
              <a:t>)</a:t>
            </a:r>
            <a:r>
              <a:rPr lang="zh-CN" altLang="en-US" dirty="0">
                <a:latin typeface="华文楷体" pitchFamily="2" charset="-122"/>
                <a:ea typeface="华文楷体" pitchFamily="2" charset="-122"/>
                <a:cs typeface="+mn-cs"/>
              </a:rPr>
              <a:t>到</a:t>
            </a:r>
            <a:r>
              <a:rPr lang="en-US" altLang="zh-CN" dirty="0">
                <a:latin typeface="华文楷体" pitchFamily="2" charset="-122"/>
                <a:ea typeface="华文楷体" pitchFamily="2" charset="-122"/>
                <a:cs typeface="+mn-cs"/>
              </a:rPr>
              <a:t>1.0(</a:t>
            </a:r>
            <a:r>
              <a:rPr lang="zh-CN" altLang="en-US" dirty="0">
                <a:latin typeface="华文楷体" pitchFamily="2" charset="-122"/>
                <a:ea typeface="华文楷体" pitchFamily="2" charset="-122"/>
                <a:cs typeface="+mn-cs"/>
              </a:rPr>
              <a:t>非常重要</a:t>
            </a:r>
            <a:r>
              <a:rPr lang="en-US" altLang="zh-CN" dirty="0">
                <a:latin typeface="华文楷体" pitchFamily="2" charset="-122"/>
                <a:ea typeface="华文楷体" pitchFamily="2" charset="-122"/>
                <a:cs typeface="+mn-cs"/>
              </a:rPr>
              <a:t>) </a:t>
            </a:r>
            <a:r>
              <a:rPr lang="zh-CN" altLang="en-US" dirty="0">
                <a:latin typeface="华文楷体" pitchFamily="2" charset="-122"/>
                <a:ea typeface="华文楷体" pitchFamily="2" charset="-122"/>
                <a:cs typeface="+mn-cs"/>
              </a:rPr>
              <a:t>　　</a:t>
            </a:r>
            <a:endParaRPr lang="en-US" altLang="zh-CN" dirty="0">
              <a:latin typeface="华文楷体" pitchFamily="2" charset="-122"/>
              <a:ea typeface="华文楷体" pitchFamily="2" charset="-122"/>
              <a:cs typeface="+mn-cs"/>
            </a:endParaRPr>
          </a:p>
          <a:p>
            <a:pPr fontAlgn="auto">
              <a:spcBef>
                <a:spcPts val="0"/>
              </a:spcBef>
              <a:spcAft>
                <a:spcPts val="0"/>
              </a:spcAft>
              <a:defRPr/>
            </a:pPr>
            <a:r>
              <a:rPr lang="en-US" altLang="zh-CN" dirty="0">
                <a:latin typeface="华文楷体" pitchFamily="2" charset="-122"/>
                <a:ea typeface="华文楷体" pitchFamily="2" charset="-122"/>
                <a:cs typeface="+mn-cs"/>
              </a:rPr>
              <a:t>- </a:t>
            </a:r>
            <a:r>
              <a:rPr lang="zh-CN" altLang="en-US" dirty="0">
                <a:latin typeface="华文楷体" pitchFamily="2" charset="-122"/>
                <a:ea typeface="华文楷体" pitchFamily="2" charset="-122"/>
                <a:cs typeface="+mn-cs"/>
              </a:rPr>
              <a:t>权重反映该因素对于企业在产业中取得成功的影响的相对大小性 　　</a:t>
            </a:r>
            <a:endParaRPr lang="en-US" altLang="zh-CN" dirty="0">
              <a:latin typeface="华文楷体" pitchFamily="2" charset="-122"/>
              <a:ea typeface="华文楷体" pitchFamily="2" charset="-122"/>
              <a:cs typeface="+mn-cs"/>
            </a:endParaRPr>
          </a:p>
          <a:p>
            <a:pPr fontAlgn="auto">
              <a:spcBef>
                <a:spcPts val="0"/>
              </a:spcBef>
              <a:spcAft>
                <a:spcPts val="0"/>
              </a:spcAft>
              <a:defRPr/>
            </a:pPr>
            <a:r>
              <a:rPr lang="en-US" altLang="zh-CN" dirty="0">
                <a:latin typeface="华文楷体" pitchFamily="2" charset="-122"/>
                <a:ea typeface="华文楷体" pitchFamily="2" charset="-122"/>
                <a:cs typeface="+mn-cs"/>
              </a:rPr>
              <a:t>- </a:t>
            </a:r>
            <a:r>
              <a:rPr lang="zh-CN" altLang="en-US" dirty="0">
                <a:latin typeface="华文楷体" pitchFamily="2" charset="-122"/>
                <a:ea typeface="华文楷体" pitchFamily="2" charset="-122"/>
                <a:cs typeface="+mn-cs"/>
              </a:rPr>
              <a:t>机会往往比威胁得到更高的权重，但当威胁因素特别严重时也可得到高权重 　　</a:t>
            </a:r>
            <a:endParaRPr lang="en-US" altLang="zh-CN" dirty="0">
              <a:latin typeface="华文楷体" pitchFamily="2" charset="-122"/>
              <a:ea typeface="华文楷体" pitchFamily="2" charset="-122"/>
              <a:cs typeface="+mn-cs"/>
            </a:endParaRPr>
          </a:p>
          <a:p>
            <a:pPr fontAlgn="auto">
              <a:spcBef>
                <a:spcPts val="0"/>
              </a:spcBef>
              <a:spcAft>
                <a:spcPts val="0"/>
              </a:spcAft>
              <a:defRPr/>
            </a:pPr>
            <a:r>
              <a:rPr lang="en-US" altLang="zh-CN" dirty="0">
                <a:latin typeface="华文楷体" pitchFamily="2" charset="-122"/>
                <a:ea typeface="华文楷体" pitchFamily="2" charset="-122"/>
                <a:cs typeface="+mn-cs"/>
              </a:rPr>
              <a:t>- </a:t>
            </a:r>
            <a:r>
              <a:rPr lang="zh-CN" altLang="en-US" dirty="0">
                <a:latin typeface="华文楷体" pitchFamily="2" charset="-122"/>
                <a:ea typeface="华文楷体" pitchFamily="2" charset="-122"/>
                <a:cs typeface="+mn-cs"/>
              </a:rPr>
              <a:t>确定权重的方法：对成功的和不成功竞争者进行比较，以及通过集体讨论而达成共识 　　</a:t>
            </a:r>
            <a:endParaRPr lang="en-US" altLang="zh-CN" dirty="0">
              <a:latin typeface="华文楷体" pitchFamily="2" charset="-122"/>
              <a:ea typeface="华文楷体" pitchFamily="2" charset="-122"/>
              <a:cs typeface="+mn-cs"/>
            </a:endParaRPr>
          </a:p>
          <a:p>
            <a:pPr fontAlgn="auto">
              <a:spcBef>
                <a:spcPts val="0"/>
              </a:spcBef>
              <a:spcAft>
                <a:spcPts val="0"/>
              </a:spcAft>
              <a:defRPr/>
            </a:pPr>
            <a:r>
              <a:rPr lang="en-US" altLang="zh-CN" dirty="0">
                <a:latin typeface="华文楷体" pitchFamily="2" charset="-122"/>
                <a:ea typeface="华文楷体" pitchFamily="2" charset="-122"/>
                <a:cs typeface="+mn-cs"/>
              </a:rPr>
              <a:t>- </a:t>
            </a:r>
            <a:r>
              <a:rPr lang="zh-CN" altLang="en-US" dirty="0">
                <a:latin typeface="华文楷体" pitchFamily="2" charset="-122"/>
                <a:ea typeface="华文楷体" pitchFamily="2" charset="-122"/>
                <a:cs typeface="+mn-cs"/>
              </a:rPr>
              <a:t>所有因素的权重总和必须等于</a:t>
            </a:r>
            <a:r>
              <a:rPr lang="en-US" altLang="zh-CN" dirty="0">
                <a:latin typeface="华文楷体" pitchFamily="2" charset="-122"/>
                <a:ea typeface="华文楷体" pitchFamily="2" charset="-122"/>
                <a:cs typeface="+mn-cs"/>
              </a:rPr>
              <a:t>1 </a:t>
            </a:r>
            <a:r>
              <a:rPr lang="zh-CN" altLang="en-US" dirty="0">
                <a:latin typeface="华文楷体" pitchFamily="2" charset="-122"/>
                <a:ea typeface="华文楷体" pitchFamily="2" charset="-122"/>
                <a:cs typeface="+mn-cs"/>
              </a:rPr>
              <a:t>　　</a:t>
            </a:r>
            <a:endParaRPr lang="en-US" altLang="zh-CN" dirty="0">
              <a:latin typeface="华文楷体" pitchFamily="2" charset="-122"/>
              <a:ea typeface="华文楷体" pitchFamily="2" charset="-122"/>
              <a:cs typeface="+mn-cs"/>
            </a:endParaRPr>
          </a:p>
          <a:p>
            <a:pPr fontAlgn="auto">
              <a:spcBef>
                <a:spcPts val="0"/>
              </a:spcBef>
              <a:spcAft>
                <a:spcPts val="0"/>
              </a:spcAft>
              <a:defRPr/>
            </a:pPr>
            <a:r>
              <a:rPr lang="en-US" altLang="zh-CN" dirty="0">
                <a:latin typeface="华文楷体" pitchFamily="2" charset="-122"/>
                <a:ea typeface="华文楷体" pitchFamily="2" charset="-122"/>
                <a:cs typeface="+mn-cs"/>
              </a:rPr>
              <a:t>(3) </a:t>
            </a:r>
            <a:r>
              <a:rPr lang="zh-CN" altLang="en-US" dirty="0">
                <a:latin typeface="华文楷体" pitchFamily="2" charset="-122"/>
                <a:ea typeface="华文楷体" pitchFamily="2" charset="-122"/>
                <a:cs typeface="+mn-cs"/>
              </a:rPr>
              <a:t>按照企业现行战略对关键因素的有效反应程度为各关键因素进行评分 　　</a:t>
            </a:r>
            <a:endParaRPr lang="en-US" altLang="zh-CN" dirty="0">
              <a:latin typeface="华文楷体" pitchFamily="2" charset="-122"/>
              <a:ea typeface="华文楷体" pitchFamily="2" charset="-122"/>
              <a:cs typeface="+mn-cs"/>
            </a:endParaRPr>
          </a:p>
          <a:p>
            <a:pPr fontAlgn="auto">
              <a:spcBef>
                <a:spcPts val="0"/>
              </a:spcBef>
              <a:spcAft>
                <a:spcPts val="0"/>
              </a:spcAft>
              <a:defRPr/>
            </a:pPr>
            <a:r>
              <a:rPr lang="en-US" altLang="zh-CN" dirty="0">
                <a:latin typeface="华文楷体" pitchFamily="2" charset="-122"/>
                <a:ea typeface="华文楷体" pitchFamily="2" charset="-122"/>
                <a:cs typeface="+mn-cs"/>
              </a:rPr>
              <a:t>- </a:t>
            </a:r>
            <a:r>
              <a:rPr lang="zh-CN" altLang="en-US" dirty="0">
                <a:latin typeface="华文楷体" pitchFamily="2" charset="-122"/>
                <a:ea typeface="华文楷体" pitchFamily="2" charset="-122"/>
                <a:cs typeface="+mn-cs"/>
              </a:rPr>
              <a:t>分值范围</a:t>
            </a:r>
            <a:r>
              <a:rPr lang="en-US" altLang="zh-CN" dirty="0">
                <a:latin typeface="华文楷体" pitchFamily="2" charset="-122"/>
                <a:ea typeface="华文楷体" pitchFamily="2" charset="-122"/>
                <a:cs typeface="+mn-cs"/>
              </a:rPr>
              <a:t>1-4 </a:t>
            </a:r>
            <a:r>
              <a:rPr lang="zh-CN" altLang="en-US" dirty="0">
                <a:latin typeface="华文楷体" pitchFamily="2" charset="-122"/>
                <a:ea typeface="华文楷体" pitchFamily="2" charset="-122"/>
                <a:cs typeface="+mn-cs"/>
              </a:rPr>
              <a:t>　　</a:t>
            </a:r>
            <a:endParaRPr lang="en-US" altLang="zh-CN" dirty="0">
              <a:latin typeface="华文楷体" pitchFamily="2" charset="-122"/>
              <a:ea typeface="华文楷体" pitchFamily="2" charset="-122"/>
              <a:cs typeface="+mn-cs"/>
            </a:endParaRPr>
          </a:p>
          <a:p>
            <a:pPr fontAlgn="auto">
              <a:spcBef>
                <a:spcPts val="0"/>
              </a:spcBef>
              <a:spcAft>
                <a:spcPts val="0"/>
              </a:spcAft>
              <a:defRPr/>
            </a:pPr>
            <a:r>
              <a:rPr lang="en-US" altLang="zh-CN" dirty="0">
                <a:latin typeface="华文楷体" pitchFamily="2" charset="-122"/>
                <a:ea typeface="华文楷体" pitchFamily="2" charset="-122"/>
                <a:cs typeface="+mn-cs"/>
              </a:rPr>
              <a:t>- 4</a:t>
            </a:r>
            <a:r>
              <a:rPr lang="zh-CN" altLang="en-US" dirty="0">
                <a:latin typeface="华文楷体" pitchFamily="2" charset="-122"/>
                <a:ea typeface="华文楷体" pitchFamily="2" charset="-122"/>
                <a:cs typeface="+mn-cs"/>
              </a:rPr>
              <a:t>代表反应很好，</a:t>
            </a:r>
            <a:r>
              <a:rPr lang="en-US" altLang="zh-CN" dirty="0">
                <a:latin typeface="华文楷体" pitchFamily="2" charset="-122"/>
                <a:ea typeface="华文楷体" pitchFamily="2" charset="-122"/>
                <a:cs typeface="+mn-cs"/>
              </a:rPr>
              <a:t>3</a:t>
            </a:r>
            <a:r>
              <a:rPr lang="zh-CN" altLang="en-US" dirty="0">
                <a:latin typeface="华文楷体" pitchFamily="2" charset="-122"/>
                <a:ea typeface="华文楷体" pitchFamily="2" charset="-122"/>
                <a:cs typeface="+mn-cs"/>
              </a:rPr>
              <a:t>代表反应超过平均水平；</a:t>
            </a:r>
            <a:r>
              <a:rPr lang="en-US" altLang="zh-CN" dirty="0">
                <a:latin typeface="华文楷体" pitchFamily="2" charset="-122"/>
                <a:ea typeface="华文楷体" pitchFamily="2" charset="-122"/>
                <a:cs typeface="+mn-cs"/>
              </a:rPr>
              <a:t>2</a:t>
            </a:r>
            <a:r>
              <a:rPr lang="zh-CN" altLang="en-US" dirty="0">
                <a:latin typeface="华文楷体" pitchFamily="2" charset="-122"/>
                <a:ea typeface="华文楷体" pitchFamily="2" charset="-122"/>
                <a:cs typeface="+mn-cs"/>
              </a:rPr>
              <a:t>代表反应为平均水平；</a:t>
            </a:r>
            <a:r>
              <a:rPr lang="en-US" altLang="zh-CN" dirty="0">
                <a:latin typeface="华文楷体" pitchFamily="2" charset="-122"/>
                <a:ea typeface="华文楷体" pitchFamily="2" charset="-122"/>
                <a:cs typeface="+mn-cs"/>
              </a:rPr>
              <a:t>1</a:t>
            </a:r>
            <a:r>
              <a:rPr lang="zh-CN" altLang="en-US" dirty="0">
                <a:latin typeface="华文楷体" pitchFamily="2" charset="-122"/>
                <a:ea typeface="华文楷体" pitchFamily="2" charset="-122"/>
                <a:cs typeface="+mn-cs"/>
              </a:rPr>
              <a:t>代表反应很差 　　</a:t>
            </a:r>
            <a:endParaRPr lang="en-US" altLang="zh-CN" dirty="0">
              <a:latin typeface="华文楷体" pitchFamily="2" charset="-122"/>
              <a:ea typeface="华文楷体" pitchFamily="2" charset="-122"/>
              <a:cs typeface="+mn-cs"/>
            </a:endParaRPr>
          </a:p>
          <a:p>
            <a:pPr fontAlgn="auto">
              <a:spcBef>
                <a:spcPts val="0"/>
              </a:spcBef>
              <a:spcAft>
                <a:spcPts val="0"/>
              </a:spcAft>
              <a:defRPr/>
            </a:pPr>
            <a:r>
              <a:rPr lang="en-US" altLang="zh-CN" dirty="0">
                <a:latin typeface="华文楷体" pitchFamily="2" charset="-122"/>
                <a:ea typeface="华文楷体" pitchFamily="2" charset="-122"/>
                <a:cs typeface="+mn-cs"/>
              </a:rPr>
              <a:t>- </a:t>
            </a:r>
            <a:r>
              <a:rPr lang="zh-CN" altLang="en-US" dirty="0">
                <a:latin typeface="华文楷体" pitchFamily="2" charset="-122"/>
                <a:ea typeface="华文楷体" pitchFamily="2" charset="-122"/>
                <a:cs typeface="+mn-cs"/>
              </a:rPr>
              <a:t>评分反映了企业现行战略的有效性，因此它是以公司为基准的 　　</a:t>
            </a:r>
            <a:endParaRPr lang="en-US" altLang="zh-CN" dirty="0">
              <a:latin typeface="华文楷体" pitchFamily="2" charset="-122"/>
              <a:ea typeface="华文楷体" pitchFamily="2" charset="-122"/>
              <a:cs typeface="+mn-cs"/>
            </a:endParaRPr>
          </a:p>
          <a:p>
            <a:pPr fontAlgn="auto">
              <a:spcBef>
                <a:spcPts val="0"/>
              </a:spcBef>
              <a:spcAft>
                <a:spcPts val="0"/>
              </a:spcAft>
              <a:defRPr/>
            </a:pPr>
            <a:r>
              <a:rPr lang="en-US" altLang="zh-CN" dirty="0">
                <a:latin typeface="华文楷体" pitchFamily="2" charset="-122"/>
                <a:ea typeface="华文楷体" pitchFamily="2" charset="-122"/>
                <a:cs typeface="+mn-cs"/>
              </a:rPr>
              <a:t>- </a:t>
            </a:r>
            <a:r>
              <a:rPr lang="zh-CN" altLang="en-US" dirty="0">
                <a:latin typeface="华文楷体" pitchFamily="2" charset="-122"/>
                <a:ea typeface="华文楷体" pitchFamily="2" charset="-122"/>
                <a:cs typeface="+mn-cs"/>
              </a:rPr>
              <a:t>步骤</a:t>
            </a:r>
            <a:r>
              <a:rPr lang="en-US" altLang="zh-CN" dirty="0">
                <a:latin typeface="华文楷体" pitchFamily="2" charset="-122"/>
                <a:ea typeface="华文楷体" pitchFamily="2" charset="-122"/>
                <a:cs typeface="+mn-cs"/>
              </a:rPr>
              <a:t>2</a:t>
            </a:r>
            <a:r>
              <a:rPr lang="zh-CN" altLang="en-US" dirty="0">
                <a:latin typeface="华文楷体" pitchFamily="2" charset="-122"/>
                <a:ea typeface="华文楷体" pitchFamily="2" charset="-122"/>
                <a:cs typeface="+mn-cs"/>
              </a:rPr>
              <a:t>的权重是以产业为基准的 　　</a:t>
            </a:r>
            <a:endParaRPr lang="en-US" altLang="zh-CN" dirty="0">
              <a:latin typeface="华文楷体" pitchFamily="2" charset="-122"/>
              <a:ea typeface="华文楷体" pitchFamily="2" charset="-122"/>
              <a:cs typeface="+mn-cs"/>
            </a:endParaRPr>
          </a:p>
          <a:p>
            <a:pPr fontAlgn="auto">
              <a:spcBef>
                <a:spcPts val="0"/>
              </a:spcBef>
              <a:spcAft>
                <a:spcPts val="0"/>
              </a:spcAft>
              <a:defRPr/>
            </a:pPr>
            <a:r>
              <a:rPr lang="en-US" altLang="zh-CN" dirty="0">
                <a:latin typeface="华文楷体" pitchFamily="2" charset="-122"/>
                <a:ea typeface="华文楷体" pitchFamily="2" charset="-122"/>
                <a:cs typeface="+mn-cs"/>
              </a:rPr>
              <a:t>(4) </a:t>
            </a:r>
            <a:r>
              <a:rPr lang="zh-CN" altLang="en-US" dirty="0">
                <a:latin typeface="华文楷体" pitchFamily="2" charset="-122"/>
                <a:ea typeface="华文楷体" pitchFamily="2" charset="-122"/>
                <a:cs typeface="+mn-cs"/>
              </a:rPr>
              <a:t>用每个因素的权重乘以它的评分，即得到每个因素的加权分数 　　</a:t>
            </a:r>
            <a:endParaRPr lang="en-US" altLang="zh-CN" dirty="0">
              <a:latin typeface="华文楷体" pitchFamily="2" charset="-122"/>
              <a:ea typeface="华文楷体" pitchFamily="2" charset="-122"/>
              <a:cs typeface="+mn-cs"/>
            </a:endParaRPr>
          </a:p>
          <a:p>
            <a:pPr fontAlgn="auto">
              <a:spcBef>
                <a:spcPts val="0"/>
              </a:spcBef>
              <a:spcAft>
                <a:spcPts val="0"/>
              </a:spcAft>
              <a:defRPr/>
            </a:pPr>
            <a:r>
              <a:rPr lang="en-US" altLang="zh-CN" dirty="0">
                <a:latin typeface="华文楷体" pitchFamily="2" charset="-122"/>
                <a:ea typeface="华文楷体" pitchFamily="2" charset="-122"/>
                <a:cs typeface="+mn-cs"/>
              </a:rPr>
              <a:t>(5) </a:t>
            </a:r>
            <a:r>
              <a:rPr lang="zh-CN" altLang="en-US" dirty="0">
                <a:latin typeface="华文楷体" pitchFamily="2" charset="-122"/>
                <a:ea typeface="华文楷体" pitchFamily="2" charset="-122"/>
                <a:cs typeface="+mn-cs"/>
              </a:rPr>
              <a:t>将所有因素的加权分数相加，以得到企业的总加权分数 　　无论</a:t>
            </a:r>
            <a:r>
              <a:rPr lang="en-US" altLang="zh-CN" dirty="0">
                <a:latin typeface="华文楷体" pitchFamily="2" charset="-122"/>
                <a:ea typeface="华文楷体" pitchFamily="2" charset="-122"/>
                <a:cs typeface="+mn-cs"/>
              </a:rPr>
              <a:t>EFE</a:t>
            </a:r>
            <a:r>
              <a:rPr lang="zh-CN" altLang="en-US" dirty="0">
                <a:latin typeface="华文楷体" pitchFamily="2" charset="-122"/>
                <a:ea typeface="华文楷体" pitchFamily="2" charset="-122"/>
                <a:cs typeface="+mn-cs"/>
              </a:rPr>
              <a:t>矩阵包含多少因素，总加权分数的范围都是从最低的</a:t>
            </a:r>
            <a:r>
              <a:rPr lang="en-US" altLang="zh-CN" dirty="0">
                <a:latin typeface="华文楷体" pitchFamily="2" charset="-122"/>
                <a:ea typeface="华文楷体" pitchFamily="2" charset="-122"/>
                <a:cs typeface="+mn-cs"/>
              </a:rPr>
              <a:t>1.0</a:t>
            </a:r>
            <a:r>
              <a:rPr lang="zh-CN" altLang="en-US" dirty="0">
                <a:latin typeface="华文楷体" pitchFamily="2" charset="-122"/>
                <a:ea typeface="华文楷体" pitchFamily="2" charset="-122"/>
                <a:cs typeface="+mn-cs"/>
              </a:rPr>
              <a:t>到最高的</a:t>
            </a:r>
            <a:r>
              <a:rPr lang="en-US" altLang="zh-CN" dirty="0">
                <a:latin typeface="华文楷体" pitchFamily="2" charset="-122"/>
                <a:ea typeface="华文楷体" pitchFamily="2" charset="-122"/>
                <a:cs typeface="+mn-cs"/>
              </a:rPr>
              <a:t>4.0</a:t>
            </a:r>
            <a:r>
              <a:rPr lang="zh-CN" altLang="en-US" dirty="0">
                <a:latin typeface="华文楷体" pitchFamily="2" charset="-122"/>
                <a:ea typeface="华文楷体" pitchFamily="2" charset="-122"/>
                <a:cs typeface="+mn-cs"/>
              </a:rPr>
              <a:t>，平均分为</a:t>
            </a:r>
            <a:r>
              <a:rPr lang="en-US" altLang="zh-CN" dirty="0">
                <a:latin typeface="华文楷体" pitchFamily="2" charset="-122"/>
                <a:ea typeface="华文楷体" pitchFamily="2" charset="-122"/>
                <a:cs typeface="+mn-cs"/>
              </a:rPr>
              <a:t>2.5</a:t>
            </a:r>
            <a:r>
              <a:rPr lang="zh-CN" altLang="en-US" dirty="0">
                <a:latin typeface="华文楷体" pitchFamily="2" charset="-122"/>
                <a:ea typeface="华文楷体" pitchFamily="2" charset="-122"/>
                <a:cs typeface="+mn-cs"/>
              </a:rPr>
              <a:t>。高于</a:t>
            </a:r>
            <a:r>
              <a:rPr lang="en-US" altLang="zh-CN" dirty="0">
                <a:latin typeface="华文楷体" pitchFamily="2" charset="-122"/>
                <a:ea typeface="华文楷体" pitchFamily="2" charset="-122"/>
                <a:cs typeface="+mn-cs"/>
              </a:rPr>
              <a:t>2.5</a:t>
            </a:r>
            <a:r>
              <a:rPr lang="zh-CN" altLang="en-US" dirty="0">
                <a:latin typeface="华文楷体" pitchFamily="2" charset="-122"/>
                <a:ea typeface="华文楷体" pitchFamily="2" charset="-122"/>
                <a:cs typeface="+mn-cs"/>
              </a:rPr>
              <a:t>则说明企业对外部影响因素能做出反应。</a:t>
            </a:r>
            <a:r>
              <a:rPr lang="en-US" altLang="zh-CN" dirty="0">
                <a:latin typeface="华文楷体" pitchFamily="2" charset="-122"/>
                <a:ea typeface="华文楷体" pitchFamily="2" charset="-122"/>
                <a:cs typeface="+mn-cs"/>
              </a:rPr>
              <a:t>EFE</a:t>
            </a:r>
            <a:r>
              <a:rPr lang="zh-CN" altLang="en-US" dirty="0">
                <a:latin typeface="华文楷体" pitchFamily="2" charset="-122"/>
                <a:ea typeface="华文楷体" pitchFamily="2" charset="-122"/>
                <a:cs typeface="+mn-cs"/>
              </a:rPr>
              <a:t>矩阵应包含</a:t>
            </a:r>
            <a:r>
              <a:rPr lang="en-US" altLang="zh-CN" dirty="0">
                <a:latin typeface="华文楷体" pitchFamily="2" charset="-122"/>
                <a:ea typeface="华文楷体" pitchFamily="2" charset="-122"/>
                <a:cs typeface="+mn-cs"/>
              </a:rPr>
              <a:t>10~20</a:t>
            </a:r>
            <a:r>
              <a:rPr lang="zh-CN" altLang="en-US" dirty="0">
                <a:latin typeface="华文楷体" pitchFamily="2" charset="-122"/>
                <a:ea typeface="华文楷体" pitchFamily="2" charset="-122"/>
                <a:cs typeface="+mn-cs"/>
              </a:rPr>
              <a:t>个关键因素，因素数不影响总加权分数的范围，因为权重总和永远等于</a:t>
            </a:r>
            <a:r>
              <a:rPr lang="en-US" altLang="zh-CN" dirty="0">
                <a:latin typeface="华文楷体" pitchFamily="2" charset="-122"/>
                <a:ea typeface="华文楷体" pitchFamily="2" charset="-122"/>
                <a:cs typeface="+mn-cs"/>
              </a:rPr>
              <a:t>1</a:t>
            </a:r>
            <a:r>
              <a:rPr lang="zh-CN" altLang="en-US" dirty="0">
                <a:latin typeface="华文楷体" pitchFamily="2" charset="-122"/>
                <a:ea typeface="华文楷体" pitchFamily="2" charset="-122"/>
                <a:cs typeface="+mn-cs"/>
              </a:rPr>
              <a:t>。</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2DB034-6B33-8949-B680-2EC1759BC556}"/>
              </a:ext>
            </a:extLst>
          </p:cNvPr>
          <p:cNvSpPr>
            <a:spLocks noGrp="1"/>
          </p:cNvSpPr>
          <p:nvPr>
            <p:ph type="title"/>
          </p:nvPr>
        </p:nvSpPr>
        <p:spPr/>
        <p:txBody>
          <a:bodyPr/>
          <a:lstStyle/>
          <a:p>
            <a:endParaRPr kumimoji="1" lang="zh-CN" altLang="en-US"/>
          </a:p>
        </p:txBody>
      </p:sp>
      <p:pic>
        <p:nvPicPr>
          <p:cNvPr id="5" name="内容占位符 4">
            <a:extLst>
              <a:ext uri="{FF2B5EF4-FFF2-40B4-BE49-F238E27FC236}">
                <a16:creationId xmlns:a16="http://schemas.microsoft.com/office/drawing/2014/main" id="{408DF204-8BC3-6C4F-B238-5D809DD474A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9144000" cy="6604000"/>
          </a:xfrm>
        </p:spPr>
      </p:pic>
    </p:spTree>
    <p:extLst>
      <p:ext uri="{BB962C8B-B14F-4D97-AF65-F5344CB8AC3E}">
        <p14:creationId xmlns:p14="http://schemas.microsoft.com/office/powerpoint/2010/main" val="307808146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企业资源观</a:t>
            </a:r>
          </a:p>
        </p:txBody>
      </p:sp>
      <p:sp>
        <p:nvSpPr>
          <p:cNvPr id="3" name="内容占位符 2"/>
          <p:cNvSpPr>
            <a:spLocks noGrp="1"/>
          </p:cNvSpPr>
          <p:nvPr>
            <p:ph idx="1"/>
          </p:nvPr>
        </p:nvSpPr>
        <p:spPr>
          <a:xfrm>
            <a:off x="179512" y="1412776"/>
            <a:ext cx="9577064" cy="1134690"/>
          </a:xfrm>
        </p:spPr>
        <p:txBody>
          <a:bodyPr/>
          <a:lstStyle/>
          <a:p>
            <a:r>
              <a:rPr kumimoji="1" lang="zh-CN" altLang="en-US" sz="2800" dirty="0"/>
              <a:t>上个世纪</a:t>
            </a:r>
            <a:r>
              <a:rPr kumimoji="1" lang="en-US" altLang="zh-CN" sz="2800" dirty="0"/>
              <a:t>80</a:t>
            </a:r>
            <a:r>
              <a:rPr kumimoji="1" lang="zh-CN" altLang="en-US" sz="2800" dirty="0"/>
              <a:t>年代与波特行业分析理论并行企业的资源观</a:t>
            </a:r>
            <a:endParaRPr kumimoji="1" lang="en-US" altLang="zh-CN" sz="2800" dirty="0"/>
          </a:p>
          <a:p>
            <a:r>
              <a:rPr kumimoji="1" lang="zh-CN" altLang="en-US" sz="2800" dirty="0"/>
              <a:t>同一行业的企业利润差别巨大</a:t>
            </a:r>
            <a:endParaRPr kumimoji="1" lang="en-US" altLang="zh-CN" sz="2800" dirty="0"/>
          </a:p>
          <a:p>
            <a:pPr lvl="1"/>
            <a:endParaRPr kumimoji="1" lang="en-US" altLang="zh-CN" dirty="0"/>
          </a:p>
          <a:p>
            <a:endParaRPr kumimoji="1" lang="en-US" altLang="zh-CN" dirty="0"/>
          </a:p>
          <a:p>
            <a:endParaRPr kumimoji="1" lang="zh-CN" altLang="en-US" dirty="0"/>
          </a:p>
        </p:txBody>
      </p:sp>
      <p:pic>
        <p:nvPicPr>
          <p:cNvPr id="5" name="图片 4"/>
          <p:cNvPicPr>
            <a:picLocks noChangeAspect="1"/>
          </p:cNvPicPr>
          <p:nvPr/>
        </p:nvPicPr>
        <p:blipFill>
          <a:blip r:embed="rId2"/>
          <a:stretch>
            <a:fillRect/>
          </a:stretch>
        </p:blipFill>
        <p:spPr>
          <a:xfrm>
            <a:off x="31294" y="2636912"/>
            <a:ext cx="9144000" cy="4073236"/>
          </a:xfrm>
          <a:prstGeom prst="rect">
            <a:avLst/>
          </a:prstGeom>
        </p:spPr>
      </p:pic>
    </p:spTree>
    <p:extLst>
      <p:ext uri="{BB962C8B-B14F-4D97-AF65-F5344CB8AC3E}">
        <p14:creationId xmlns:p14="http://schemas.microsoft.com/office/powerpoint/2010/main" val="70107579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53536"/>
            <a:ext cx="8229600" cy="1143000"/>
          </a:xfrm>
        </p:spPr>
        <p:txBody>
          <a:bodyPr/>
          <a:lstStyle/>
          <a:p>
            <a:pPr marL="54864" indent="0" fontAlgn="auto">
              <a:spcAft>
                <a:spcPts val="0"/>
              </a:spcAft>
              <a:defRPr/>
            </a:pPr>
            <a:r>
              <a:rPr lang="zh-CN" altLang="en-US" dirty="0">
                <a:solidFill>
                  <a:schemeClr val="tx2">
                    <a:tint val="100000"/>
                    <a:shade val="90000"/>
                    <a:satMod val="250000"/>
                    <a:alpha val="100000"/>
                  </a:schemeClr>
                </a:solidFill>
                <a:cs typeface="+mj-cs"/>
              </a:rPr>
              <a:t>企业资源观的核心观点</a:t>
            </a:r>
          </a:p>
        </p:txBody>
      </p:sp>
      <p:sp>
        <p:nvSpPr>
          <p:cNvPr id="3" name="内容占位符 2"/>
          <p:cNvSpPr>
            <a:spLocks noGrp="1"/>
          </p:cNvSpPr>
          <p:nvPr>
            <p:ph idx="1"/>
          </p:nvPr>
        </p:nvSpPr>
        <p:spPr/>
        <p:txBody>
          <a:bodyPr>
            <a:normAutofit fontScale="92500" lnSpcReduction="20000"/>
          </a:bodyPr>
          <a:lstStyle/>
          <a:p>
            <a:pPr fontAlgn="auto">
              <a:spcBef>
                <a:spcPts val="0"/>
              </a:spcBef>
              <a:spcAft>
                <a:spcPts val="0"/>
              </a:spcAft>
              <a:defRPr/>
            </a:pPr>
            <a:r>
              <a:rPr lang="zh-CN" altLang="en-US" dirty="0">
                <a:cs typeface="+mn-cs"/>
              </a:rPr>
              <a:t>企业是由一系列资源束所组成的集合，每种资源有许多不同的用途，企业的竞争优势源自于企业所拥有的资源，外部的市场结构与市场机会对企业竞争产生一定的影响，但不是决定性因素。</a:t>
            </a:r>
            <a:endParaRPr lang="en-US" altLang="zh-CN" dirty="0">
              <a:cs typeface="+mn-cs"/>
            </a:endParaRPr>
          </a:p>
          <a:p>
            <a:pPr fontAlgn="auto">
              <a:spcBef>
                <a:spcPts val="0"/>
              </a:spcBef>
              <a:spcAft>
                <a:spcPts val="0"/>
              </a:spcAft>
              <a:defRPr/>
            </a:pPr>
            <a:r>
              <a:rPr lang="zh-CN" altLang="en-US" dirty="0">
                <a:cs typeface="+mn-cs"/>
              </a:rPr>
              <a:t>企业是各种资源的集合体。由于各种原因，企业所拥有的资源不同，具有异质性，正是这种异质性导致了企业竞争力的差距。</a:t>
            </a:r>
            <a:endParaRPr lang="en-US" altLang="zh-CN" dirty="0">
              <a:cs typeface="+mn-cs"/>
            </a:endParaRPr>
          </a:p>
          <a:p>
            <a:pPr fontAlgn="auto">
              <a:spcBef>
                <a:spcPts val="0"/>
              </a:spcBef>
              <a:spcAft>
                <a:spcPts val="0"/>
              </a:spcAft>
              <a:defRPr/>
            </a:pPr>
            <a:r>
              <a:rPr lang="zh-CN" altLang="en-US" dirty="0">
                <a:cs typeface="+mn-cs"/>
              </a:rPr>
              <a:t>总的来讲，企业竞争优势来源于企业的异质资源；持续的竞争优势源于资源的不可模仿性；异质资源的获取与管理主要来源于学习。</a:t>
            </a:r>
          </a:p>
        </p:txBody>
      </p:sp>
    </p:spTree>
    <p:extLst>
      <p:ext uri="{BB962C8B-B14F-4D97-AF65-F5344CB8AC3E}">
        <p14:creationId xmlns:p14="http://schemas.microsoft.com/office/powerpoint/2010/main" val="164012411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53536"/>
            <a:ext cx="8229600" cy="1143000"/>
          </a:xfrm>
        </p:spPr>
        <p:txBody>
          <a:bodyPr/>
          <a:lstStyle/>
          <a:p>
            <a:pPr marL="54864" indent="0" fontAlgn="auto">
              <a:spcAft>
                <a:spcPts val="0"/>
              </a:spcAft>
              <a:defRPr/>
            </a:pPr>
            <a:r>
              <a:rPr lang="zh-CN" altLang="en-US" dirty="0">
                <a:solidFill>
                  <a:schemeClr val="tx2">
                    <a:tint val="100000"/>
                    <a:shade val="90000"/>
                    <a:satMod val="250000"/>
                    <a:alpha val="100000"/>
                  </a:schemeClr>
                </a:solidFill>
                <a:cs typeface="+mj-cs"/>
              </a:rPr>
              <a:t>组织的资源和能力分析</a:t>
            </a:r>
          </a:p>
        </p:txBody>
      </p:sp>
      <p:sp>
        <p:nvSpPr>
          <p:cNvPr id="89090" name="内容占位符 2"/>
          <p:cNvSpPr>
            <a:spLocks noGrp="1"/>
          </p:cNvSpPr>
          <p:nvPr>
            <p:ph idx="1"/>
          </p:nvPr>
        </p:nvSpPr>
        <p:spPr>
          <a:xfrm>
            <a:off x="457200" y="1646239"/>
            <a:ext cx="8229600" cy="1393102"/>
          </a:xfrm>
        </p:spPr>
        <p:txBody>
          <a:bodyPr/>
          <a:lstStyle/>
          <a:p>
            <a:r>
              <a:rPr lang="zh-CN" altLang="en-US" dirty="0"/>
              <a:t>企业的资源观</a:t>
            </a:r>
            <a:endParaRPr lang="en-US" altLang="zh-CN" dirty="0"/>
          </a:p>
          <a:p>
            <a:r>
              <a:rPr lang="zh-CN" altLang="en-US" dirty="0"/>
              <a:t>资源的种类</a:t>
            </a:r>
            <a:endParaRPr lang="en-US" altLang="zh-CN" dirty="0"/>
          </a:p>
          <a:p>
            <a:r>
              <a:rPr lang="zh-CN" altLang="en-US" dirty="0"/>
              <a:t>核心能力分析</a:t>
            </a:r>
          </a:p>
        </p:txBody>
      </p:sp>
      <p:grpSp>
        <p:nvGrpSpPr>
          <p:cNvPr id="29" name="组合 28">
            <a:extLst>
              <a:ext uri="{FF2B5EF4-FFF2-40B4-BE49-F238E27FC236}">
                <a16:creationId xmlns:a16="http://schemas.microsoft.com/office/drawing/2014/main" id="{BA4F7E17-42BD-5246-8349-4B152B0158F5}"/>
              </a:ext>
            </a:extLst>
          </p:cNvPr>
          <p:cNvGrpSpPr/>
          <p:nvPr/>
        </p:nvGrpSpPr>
        <p:grpSpPr>
          <a:xfrm>
            <a:off x="1475656" y="3449328"/>
            <a:ext cx="6336704" cy="1521460"/>
            <a:chOff x="1475656" y="3449328"/>
            <a:chExt cx="6336704" cy="1521460"/>
          </a:xfrm>
        </p:grpSpPr>
        <p:sp>
          <p:nvSpPr>
            <p:cNvPr id="4" name="文本框 3"/>
            <p:cNvSpPr txBox="1"/>
            <p:nvPr/>
          </p:nvSpPr>
          <p:spPr>
            <a:xfrm>
              <a:off x="1475656" y="3449328"/>
              <a:ext cx="1224136" cy="369332"/>
            </a:xfrm>
            <a:prstGeom prst="rect">
              <a:avLst/>
            </a:prstGeom>
            <a:solidFill>
              <a:schemeClr val="accent3"/>
            </a:solidFill>
          </p:spPr>
          <p:txBody>
            <a:bodyPr wrap="square" rtlCol="0">
              <a:spAutoFit/>
            </a:bodyPr>
            <a:lstStyle/>
            <a:p>
              <a:pPr algn="ctr"/>
              <a:r>
                <a:rPr kumimoji="1" lang="zh-CN" altLang="en-US" dirty="0"/>
                <a:t>资源</a:t>
              </a:r>
            </a:p>
          </p:txBody>
        </p:sp>
        <p:sp>
          <p:nvSpPr>
            <p:cNvPr id="6" name="文本框 5"/>
            <p:cNvSpPr txBox="1"/>
            <p:nvPr/>
          </p:nvSpPr>
          <p:spPr>
            <a:xfrm>
              <a:off x="1475656" y="4025392"/>
              <a:ext cx="1224136" cy="369332"/>
            </a:xfrm>
            <a:prstGeom prst="rect">
              <a:avLst/>
            </a:prstGeom>
            <a:solidFill>
              <a:schemeClr val="accent3"/>
            </a:solidFill>
          </p:spPr>
          <p:txBody>
            <a:bodyPr wrap="square" rtlCol="0">
              <a:spAutoFit/>
            </a:bodyPr>
            <a:lstStyle/>
            <a:p>
              <a:pPr algn="ctr"/>
              <a:r>
                <a:rPr kumimoji="1" lang="zh-CN" altLang="en-US" dirty="0"/>
                <a:t>核心能力</a:t>
              </a:r>
            </a:p>
          </p:txBody>
        </p:sp>
        <p:sp>
          <p:nvSpPr>
            <p:cNvPr id="7" name="文本框 6"/>
            <p:cNvSpPr txBox="1"/>
            <p:nvPr/>
          </p:nvSpPr>
          <p:spPr>
            <a:xfrm>
              <a:off x="1475656" y="4601456"/>
              <a:ext cx="1224136" cy="369332"/>
            </a:xfrm>
            <a:prstGeom prst="rect">
              <a:avLst/>
            </a:prstGeom>
            <a:solidFill>
              <a:schemeClr val="accent3"/>
            </a:solidFill>
          </p:spPr>
          <p:txBody>
            <a:bodyPr wrap="square" rtlCol="0">
              <a:spAutoFit/>
            </a:bodyPr>
            <a:lstStyle/>
            <a:p>
              <a:pPr algn="ctr"/>
              <a:r>
                <a:rPr kumimoji="1" lang="zh-CN" altLang="en-US" dirty="0"/>
                <a:t>能力</a:t>
              </a:r>
            </a:p>
          </p:txBody>
        </p:sp>
        <p:sp>
          <p:nvSpPr>
            <p:cNvPr id="8" name="文本框 7"/>
            <p:cNvSpPr txBox="1"/>
            <p:nvPr/>
          </p:nvSpPr>
          <p:spPr>
            <a:xfrm>
              <a:off x="3203848" y="4025392"/>
              <a:ext cx="1008112" cy="369332"/>
            </a:xfrm>
            <a:prstGeom prst="rect">
              <a:avLst/>
            </a:prstGeom>
            <a:solidFill>
              <a:schemeClr val="accent3"/>
            </a:solidFill>
          </p:spPr>
          <p:txBody>
            <a:bodyPr wrap="square" rtlCol="0">
              <a:spAutoFit/>
            </a:bodyPr>
            <a:lstStyle/>
            <a:p>
              <a:pPr algn="ctr"/>
              <a:r>
                <a:rPr kumimoji="1" lang="zh-CN" altLang="en-US" dirty="0"/>
                <a:t>战略</a:t>
              </a:r>
            </a:p>
          </p:txBody>
        </p:sp>
        <p:sp>
          <p:nvSpPr>
            <p:cNvPr id="9" name="文本框 8"/>
            <p:cNvSpPr txBox="1"/>
            <p:nvPr/>
          </p:nvSpPr>
          <p:spPr>
            <a:xfrm>
              <a:off x="4572000" y="4025392"/>
              <a:ext cx="1152128" cy="369332"/>
            </a:xfrm>
            <a:prstGeom prst="rect">
              <a:avLst/>
            </a:prstGeom>
            <a:solidFill>
              <a:schemeClr val="accent3"/>
            </a:solidFill>
          </p:spPr>
          <p:txBody>
            <a:bodyPr wrap="square" rtlCol="0">
              <a:spAutoFit/>
            </a:bodyPr>
            <a:lstStyle/>
            <a:p>
              <a:pPr algn="ctr"/>
              <a:r>
                <a:rPr kumimoji="1" lang="zh-CN" altLang="en-US" dirty="0"/>
                <a:t>竞争优势</a:t>
              </a:r>
            </a:p>
          </p:txBody>
        </p:sp>
        <p:sp>
          <p:nvSpPr>
            <p:cNvPr id="10" name="文本框 9"/>
            <p:cNvSpPr txBox="1"/>
            <p:nvPr/>
          </p:nvSpPr>
          <p:spPr>
            <a:xfrm>
              <a:off x="6012160" y="4025392"/>
              <a:ext cx="1800200" cy="369332"/>
            </a:xfrm>
            <a:prstGeom prst="rect">
              <a:avLst/>
            </a:prstGeom>
            <a:solidFill>
              <a:schemeClr val="accent3"/>
            </a:solidFill>
          </p:spPr>
          <p:txBody>
            <a:bodyPr wrap="square" rtlCol="0">
              <a:spAutoFit/>
            </a:bodyPr>
            <a:lstStyle/>
            <a:p>
              <a:r>
                <a:rPr kumimoji="1" lang="zh-CN" altLang="en-US" dirty="0"/>
                <a:t>卓越的盈利能力</a:t>
              </a:r>
            </a:p>
          </p:txBody>
        </p:sp>
        <p:cxnSp>
          <p:nvCxnSpPr>
            <p:cNvPr id="11" name="直线箭头连接符 10"/>
            <p:cNvCxnSpPr>
              <a:stCxn id="4" idx="2"/>
              <a:endCxn id="6" idx="0"/>
            </p:cNvCxnSpPr>
            <p:nvPr/>
          </p:nvCxnSpPr>
          <p:spPr>
            <a:xfrm>
              <a:off x="2087724" y="3818660"/>
              <a:ext cx="0" cy="20673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3" name="直线箭头连接符 12"/>
            <p:cNvCxnSpPr>
              <a:stCxn id="7" idx="0"/>
              <a:endCxn id="6" idx="2"/>
            </p:cNvCxnSpPr>
            <p:nvPr/>
          </p:nvCxnSpPr>
          <p:spPr>
            <a:xfrm flipV="1">
              <a:off x="2087724" y="4394724"/>
              <a:ext cx="0" cy="20673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5" name="直线箭头连接符 14"/>
            <p:cNvCxnSpPr>
              <a:stCxn id="6" idx="3"/>
              <a:endCxn id="8" idx="1"/>
            </p:cNvCxnSpPr>
            <p:nvPr/>
          </p:nvCxnSpPr>
          <p:spPr>
            <a:xfrm>
              <a:off x="2699792" y="4210058"/>
              <a:ext cx="50405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7" name="直线箭头连接符 16"/>
            <p:cNvCxnSpPr>
              <a:stCxn id="8" idx="3"/>
              <a:endCxn id="9" idx="1"/>
            </p:cNvCxnSpPr>
            <p:nvPr/>
          </p:nvCxnSpPr>
          <p:spPr>
            <a:xfrm>
              <a:off x="4211960" y="4210058"/>
              <a:ext cx="36004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9" name="直线箭头连接符 18"/>
            <p:cNvCxnSpPr>
              <a:stCxn id="9" idx="3"/>
              <a:endCxn id="10" idx="1"/>
            </p:cNvCxnSpPr>
            <p:nvPr/>
          </p:nvCxnSpPr>
          <p:spPr>
            <a:xfrm>
              <a:off x="5724128" y="4210058"/>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53536"/>
            <a:ext cx="8229600" cy="1143000"/>
          </a:xfrm>
        </p:spPr>
        <p:txBody>
          <a:bodyPr/>
          <a:lstStyle/>
          <a:p>
            <a:pPr marL="54864" indent="0" fontAlgn="auto">
              <a:spcAft>
                <a:spcPts val="0"/>
              </a:spcAft>
              <a:defRPr/>
            </a:pPr>
            <a:r>
              <a:rPr lang="zh-CN" altLang="en-US" dirty="0">
                <a:solidFill>
                  <a:schemeClr val="tx2">
                    <a:tint val="100000"/>
                    <a:shade val="90000"/>
                    <a:satMod val="250000"/>
                    <a:alpha val="100000"/>
                  </a:schemeClr>
                </a:solidFill>
                <a:cs typeface="+mj-cs"/>
              </a:rPr>
              <a:t>企业资源的概念与分类</a:t>
            </a:r>
          </a:p>
        </p:txBody>
      </p:sp>
      <p:sp>
        <p:nvSpPr>
          <p:cNvPr id="93186" name="内容占位符 2"/>
          <p:cNvSpPr>
            <a:spLocks noGrp="1"/>
          </p:cNvSpPr>
          <p:nvPr>
            <p:ph idx="1"/>
          </p:nvPr>
        </p:nvSpPr>
        <p:spPr>
          <a:xfrm>
            <a:off x="476101" y="1556792"/>
            <a:ext cx="8229600" cy="4525962"/>
          </a:xfrm>
        </p:spPr>
        <p:txBody>
          <a:bodyPr/>
          <a:lstStyle/>
          <a:p>
            <a:r>
              <a:rPr lang="zh-CN" altLang="en-US" sz="2800" dirty="0"/>
              <a:t>企业资源是企业所拥有的、能够创造价值的各种生产要素</a:t>
            </a:r>
            <a:endParaRPr lang="en-US" altLang="zh-CN" sz="2800" dirty="0"/>
          </a:p>
          <a:p>
            <a:r>
              <a:rPr lang="zh-CN" altLang="en-US" sz="2800" dirty="0"/>
              <a:t>分类：有形、无形、人力</a:t>
            </a:r>
            <a:endParaRPr lang="en-US" altLang="zh-CN" sz="2800" dirty="0"/>
          </a:p>
          <a:p>
            <a:r>
              <a:rPr lang="zh-CN" altLang="en-US" sz="2800" dirty="0"/>
              <a:t>有形：土地、厂房、设备、原材料、资金</a:t>
            </a:r>
            <a:endParaRPr lang="en-US" altLang="zh-CN" sz="2800" dirty="0"/>
          </a:p>
          <a:p>
            <a:r>
              <a:rPr lang="zh-CN" altLang="en-US" sz="2800" dirty="0"/>
              <a:t>无形：品牌、商誉、专利、</a:t>
            </a:r>
            <a:r>
              <a:rPr lang="en-US" altLang="zh-CN" sz="2800" dirty="0"/>
              <a:t>knowhow</a:t>
            </a:r>
            <a:r>
              <a:rPr lang="zh-CN" altLang="en-US" sz="2800" dirty="0"/>
              <a:t>、社会资本。。</a:t>
            </a:r>
            <a:endParaRPr lang="en-US" altLang="zh-CN" sz="2800" dirty="0"/>
          </a:p>
          <a:p>
            <a:r>
              <a:rPr lang="zh-CN" altLang="en-US" sz="2800" dirty="0"/>
              <a:t>人：员工队伍（知识水平、专业技能）、管理者队伍、研发队伍</a:t>
            </a:r>
            <a:endParaRPr lang="en-US" altLang="zh-CN" sz="2800" dirty="0"/>
          </a:p>
          <a:p>
            <a:r>
              <a:rPr lang="zh-CN" altLang="en-US" sz="2800" dirty="0"/>
              <a:t>信息时代，信息、数据成为资源</a:t>
            </a:r>
            <a:endParaRPr lang="en-US" altLang="zh-CN" sz="2800" dirty="0"/>
          </a:p>
          <a:p>
            <a:r>
              <a:rPr lang="zh-CN" altLang="en-US" sz="2800" dirty="0"/>
              <a:t>不同时代不同类型的企业，资源的重要性不同（人、品牌）</a:t>
            </a:r>
            <a:endParaRPr lang="en-US" altLang="zh-CN" sz="2800" dirty="0"/>
          </a:p>
          <a:p>
            <a:endParaRPr lang="en-US" altLang="zh-CN" sz="2800" dirty="0"/>
          </a:p>
          <a:p>
            <a:endParaRPr lang="zh-CN" altLang="en-US" sz="28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能力</a:t>
            </a:r>
          </a:p>
        </p:txBody>
      </p:sp>
      <p:sp>
        <p:nvSpPr>
          <p:cNvPr id="3" name="内容占位符 2"/>
          <p:cNvSpPr>
            <a:spLocks noGrp="1"/>
          </p:cNvSpPr>
          <p:nvPr>
            <p:ph idx="1"/>
          </p:nvPr>
        </p:nvSpPr>
        <p:spPr/>
        <p:txBody>
          <a:bodyPr/>
          <a:lstStyle/>
          <a:p>
            <a:r>
              <a:rPr kumimoji="1" lang="zh-CN" altLang="en-US" dirty="0"/>
              <a:t>公司协调资源并将其发挥作用的技能。这些技能存在于公司决策和管理其内部活动的过程中</a:t>
            </a:r>
            <a:endParaRPr kumimoji="1" lang="en-US" altLang="zh-CN" dirty="0"/>
          </a:p>
          <a:p>
            <a:pPr lvl="1"/>
            <a:r>
              <a:rPr kumimoji="1" lang="zh-CN" altLang="en-US" dirty="0"/>
              <a:t>融资能力、资金利用能力</a:t>
            </a:r>
            <a:endParaRPr kumimoji="1" lang="en-US" altLang="zh-CN" dirty="0"/>
          </a:p>
          <a:p>
            <a:pPr lvl="1"/>
            <a:r>
              <a:rPr kumimoji="1" lang="zh-CN" altLang="en-US" dirty="0"/>
              <a:t>原料获取能力、设备利用能力</a:t>
            </a:r>
            <a:endParaRPr kumimoji="1" lang="en-US" altLang="zh-CN" dirty="0"/>
          </a:p>
          <a:p>
            <a:pPr lvl="1"/>
            <a:r>
              <a:rPr kumimoji="1" lang="zh-CN" altLang="en-US" dirty="0"/>
              <a:t>激发员工积极性的能力、员工团结和忠诚度</a:t>
            </a:r>
            <a:endParaRPr kumimoji="1" lang="en-US" altLang="zh-CN" dirty="0"/>
          </a:p>
          <a:p>
            <a:pPr lvl="1"/>
            <a:r>
              <a:rPr kumimoji="1" lang="zh-CN" altLang="en-US" dirty="0"/>
              <a:t>技术开发和产业化能力</a:t>
            </a:r>
            <a:endParaRPr kumimoji="1" lang="en-US" altLang="zh-CN" dirty="0"/>
          </a:p>
          <a:p>
            <a:pPr lvl="1"/>
            <a:r>
              <a:rPr kumimoji="1" lang="zh-CN" altLang="en-US" dirty="0"/>
              <a:t>营销、品牌维护和利用能力</a:t>
            </a:r>
            <a:endParaRPr kumimoji="1" lang="en-US" altLang="zh-CN" dirty="0"/>
          </a:p>
          <a:p>
            <a:pPr lvl="1"/>
            <a:r>
              <a:rPr kumimoji="1" lang="zh-CN" altLang="en-US" dirty="0"/>
              <a:t>关系维护能力</a:t>
            </a:r>
            <a:endParaRPr kumimoji="1" lang="en-US" altLang="zh-CN" dirty="0"/>
          </a:p>
        </p:txBody>
      </p:sp>
    </p:spTree>
    <p:extLst>
      <p:ext uri="{BB962C8B-B14F-4D97-AF65-F5344CB8AC3E}">
        <p14:creationId xmlns:p14="http://schemas.microsoft.com/office/powerpoint/2010/main" val="233966246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能力与企业管理活动密切相关</a:t>
            </a:r>
          </a:p>
        </p:txBody>
      </p:sp>
      <p:sp>
        <p:nvSpPr>
          <p:cNvPr id="3" name="内容占位符 2"/>
          <p:cNvSpPr>
            <a:spLocks noGrp="1"/>
          </p:cNvSpPr>
          <p:nvPr>
            <p:ph idx="1"/>
          </p:nvPr>
        </p:nvSpPr>
        <p:spPr/>
        <p:txBody>
          <a:bodyPr/>
          <a:lstStyle/>
          <a:p>
            <a:pPr lvl="1"/>
            <a:r>
              <a:rPr kumimoji="1" lang="zh-CN" altLang="en-US" dirty="0"/>
              <a:t>专业管理能力</a:t>
            </a:r>
            <a:endParaRPr kumimoji="1" lang="en-US" altLang="zh-CN" dirty="0"/>
          </a:p>
          <a:p>
            <a:pPr lvl="2"/>
            <a:r>
              <a:rPr kumimoji="1" lang="zh-CN" altLang="en-US" dirty="0"/>
              <a:t>研发管理、财务、人力资源、营销、运营、采购</a:t>
            </a:r>
            <a:endParaRPr kumimoji="1" lang="en-US" altLang="zh-CN" dirty="0"/>
          </a:p>
          <a:p>
            <a:pPr lvl="1"/>
            <a:r>
              <a:rPr kumimoji="1" lang="zh-CN" altLang="en-US" dirty="0"/>
              <a:t>综合管理</a:t>
            </a:r>
            <a:endParaRPr kumimoji="1" lang="en-US" altLang="zh-CN" dirty="0"/>
          </a:p>
          <a:p>
            <a:pPr lvl="2"/>
            <a:r>
              <a:rPr kumimoji="1" lang="zh-CN" altLang="en-US" dirty="0"/>
              <a:t>决策能力、组织协调能力</a:t>
            </a:r>
            <a:endParaRPr kumimoji="1" lang="en-US" altLang="zh-CN" dirty="0"/>
          </a:p>
          <a:p>
            <a:pPr lvl="2"/>
            <a:endParaRPr kumimoji="1" lang="en-US" altLang="zh-CN" dirty="0"/>
          </a:p>
          <a:p>
            <a:pPr lvl="2"/>
            <a:r>
              <a:rPr kumimoji="1" lang="en-US" altLang="zh-CN" dirty="0" err="1"/>
              <a:t>Walmart</a:t>
            </a:r>
            <a:r>
              <a:rPr kumimoji="1" lang="zh-CN" altLang="en-US" dirty="0"/>
              <a:t>物流、配送、仓储</a:t>
            </a:r>
            <a:endParaRPr kumimoji="1" lang="en-US" altLang="zh-CN" dirty="0"/>
          </a:p>
          <a:p>
            <a:pPr lvl="2"/>
            <a:r>
              <a:rPr kumimoji="1" lang="en-US" altLang="zh-CN" dirty="0"/>
              <a:t>Google</a:t>
            </a:r>
            <a:r>
              <a:rPr kumimoji="1" lang="zh-CN" altLang="en-US" dirty="0"/>
              <a:t>激励、授权、保留员工</a:t>
            </a:r>
            <a:endParaRPr kumimoji="1" lang="en-US" altLang="zh-CN" dirty="0"/>
          </a:p>
          <a:p>
            <a:pPr lvl="2"/>
            <a:r>
              <a:rPr kumimoji="1" lang="en-US" altLang="zh-CN" dirty="0"/>
              <a:t>DELL</a:t>
            </a:r>
            <a:r>
              <a:rPr kumimoji="1" lang="zh-CN" altLang="en-US" dirty="0"/>
              <a:t>供应链</a:t>
            </a:r>
            <a:endParaRPr kumimoji="1" lang="en-US" altLang="zh-CN" dirty="0"/>
          </a:p>
          <a:p>
            <a:pPr lvl="2"/>
            <a:r>
              <a:rPr kumimoji="1" lang="zh-CN" altLang="en-US" dirty="0"/>
              <a:t>丰田</a:t>
            </a:r>
            <a:r>
              <a:rPr kumimoji="1" lang="en-US" altLang="zh-CN" dirty="0"/>
              <a:t> </a:t>
            </a:r>
            <a:r>
              <a:rPr kumimoji="1" lang="zh-CN" altLang="en-US" dirty="0"/>
              <a:t>：</a:t>
            </a:r>
            <a:r>
              <a:rPr kumimoji="1" lang="en-US" altLang="zh-CN" dirty="0"/>
              <a:t>JIT</a:t>
            </a:r>
            <a:r>
              <a:rPr kumimoji="1" lang="zh-CN" altLang="en-US" dirty="0"/>
              <a:t>低成本高效率生产模式</a:t>
            </a:r>
            <a:endParaRPr kumimoji="1" lang="en-US" altLang="zh-CN" dirty="0"/>
          </a:p>
          <a:p>
            <a:pPr lvl="2"/>
            <a:r>
              <a:rPr kumimoji="1" lang="zh-CN" altLang="en-US" dirty="0"/>
              <a:t>脑白金：广告和产品推广</a:t>
            </a:r>
          </a:p>
        </p:txBody>
      </p:sp>
    </p:spTree>
    <p:extLst>
      <p:ext uri="{BB962C8B-B14F-4D97-AF65-F5344CB8AC3E}">
        <p14:creationId xmlns:p14="http://schemas.microsoft.com/office/powerpoint/2010/main" val="197839902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资源和能力的区分</a:t>
            </a:r>
          </a:p>
        </p:txBody>
      </p:sp>
      <p:sp>
        <p:nvSpPr>
          <p:cNvPr id="3" name="内容占位符 2"/>
          <p:cNvSpPr>
            <a:spLocks noGrp="1"/>
          </p:cNvSpPr>
          <p:nvPr>
            <p:ph idx="1"/>
          </p:nvPr>
        </p:nvSpPr>
        <p:spPr/>
        <p:txBody>
          <a:bodyPr/>
          <a:lstStyle/>
          <a:p>
            <a:r>
              <a:rPr kumimoji="1" lang="zh-CN" altLang="en-US" dirty="0"/>
              <a:t>资源能否被有效利用取决于能力，独特而有价值的资源，须配合相应的能力才能创造出竞争优势</a:t>
            </a:r>
            <a:endParaRPr kumimoji="1" lang="en-US" altLang="zh-CN" dirty="0"/>
          </a:p>
          <a:p>
            <a:r>
              <a:rPr kumimoji="1" lang="zh-CN" altLang="en-US" dirty="0"/>
              <a:t>拥有独特能力，即使没有独特有价值的资源也可以培育出竞争优势</a:t>
            </a:r>
          </a:p>
        </p:txBody>
      </p:sp>
    </p:spTree>
    <p:extLst>
      <p:ext uri="{BB962C8B-B14F-4D97-AF65-F5344CB8AC3E}">
        <p14:creationId xmlns:p14="http://schemas.microsoft.com/office/powerpoint/2010/main" val="133243476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763713" y="260350"/>
            <a:ext cx="7380287" cy="1295400"/>
          </a:xfrm>
        </p:spPr>
        <p:txBody>
          <a:bodyPr>
            <a:normAutofit fontScale="90000"/>
          </a:bodyPr>
          <a:lstStyle/>
          <a:p>
            <a:pPr marL="54864" indent="0" fontAlgn="auto">
              <a:spcAft>
                <a:spcPts val="0"/>
              </a:spcAft>
              <a:defRPr/>
            </a:pPr>
            <a:r>
              <a:rPr lang="zh-CN" altLang="en-US" dirty="0">
                <a:solidFill>
                  <a:schemeClr val="tx2">
                    <a:tint val="100000"/>
                    <a:shade val="90000"/>
                    <a:satMod val="250000"/>
                    <a:alpha val="100000"/>
                  </a:schemeClr>
                </a:solidFill>
                <a:ea typeface="黑体" pitchFamily="2" charset="-122"/>
                <a:cs typeface="+mj-cs"/>
              </a:rPr>
              <a:t>核心能力的概念</a:t>
            </a:r>
            <a:br>
              <a:rPr lang="zh-CN" altLang="en-US" sz="4000" dirty="0">
                <a:solidFill>
                  <a:schemeClr val="tx2">
                    <a:tint val="100000"/>
                    <a:shade val="90000"/>
                    <a:satMod val="250000"/>
                    <a:alpha val="100000"/>
                  </a:schemeClr>
                </a:solidFill>
                <a:cs typeface="+mj-cs"/>
              </a:rPr>
            </a:br>
            <a:endParaRPr lang="zh-CN" altLang="en-US" sz="4000" dirty="0">
              <a:solidFill>
                <a:schemeClr val="tx2">
                  <a:tint val="100000"/>
                  <a:shade val="90000"/>
                  <a:satMod val="250000"/>
                  <a:alpha val="100000"/>
                </a:schemeClr>
              </a:solidFill>
              <a:cs typeface="+mj-cs"/>
            </a:endParaRPr>
          </a:p>
        </p:txBody>
      </p:sp>
      <p:sp>
        <p:nvSpPr>
          <p:cNvPr id="15363" name="Rectangle 3"/>
          <p:cNvSpPr>
            <a:spLocks noGrp="1" noChangeArrowheads="1"/>
          </p:cNvSpPr>
          <p:nvPr>
            <p:ph type="body" idx="1"/>
          </p:nvPr>
        </p:nvSpPr>
        <p:spPr>
          <a:xfrm>
            <a:off x="0" y="1268413"/>
            <a:ext cx="9144000" cy="4525962"/>
          </a:xfrm>
        </p:spPr>
        <p:txBody>
          <a:bodyPr>
            <a:normAutofit lnSpcReduction="10000"/>
          </a:bodyPr>
          <a:lstStyle/>
          <a:p>
            <a:pPr fontAlgn="auto">
              <a:spcBef>
                <a:spcPts val="0"/>
              </a:spcBef>
              <a:spcAft>
                <a:spcPts val="0"/>
              </a:spcAft>
              <a:buFont typeface="Wingdings" pitchFamily="2" charset="2"/>
              <a:buNone/>
              <a:defRPr/>
            </a:pPr>
            <a:r>
              <a:rPr lang="zh-CN" altLang="en-US" dirty="0">
                <a:cs typeface="+mn-cs"/>
              </a:rPr>
              <a:t>  </a:t>
            </a:r>
            <a:r>
              <a:rPr lang="zh-CN" altLang="en-US" sz="2800" b="1" dirty="0">
                <a:cs typeface="+mn-cs"/>
              </a:rPr>
              <a:t>根据帕拉汉尔德和哈默的定义，</a:t>
            </a:r>
            <a:r>
              <a:rPr lang="zh-CN" altLang="en-US" sz="2800" b="1" dirty="0">
                <a:solidFill>
                  <a:srgbClr val="E8DC3C"/>
                </a:solidFill>
                <a:latin typeface="Garamond" pitchFamily="18" charset="0"/>
                <a:cs typeface="+mn-cs"/>
              </a:rPr>
              <a:t>“</a:t>
            </a:r>
            <a:r>
              <a:rPr lang="zh-CN" altLang="en-US" sz="2800" b="1" dirty="0">
                <a:solidFill>
                  <a:srgbClr val="E8DC3C"/>
                </a:solidFill>
                <a:cs typeface="+mn-cs"/>
              </a:rPr>
              <a:t>核心能力是组织中的积累性学识，特别是关于如何协调不同的生产技能和有机结合多种技术流的学识。</a:t>
            </a:r>
            <a:r>
              <a:rPr lang="zh-CN" altLang="en-US" sz="2800" b="1" dirty="0">
                <a:cs typeface="+mn-cs"/>
              </a:rPr>
              <a:t>”具体说，核心能力是指提供企业在特定经营中的竞争能力和竞争优势基础的多方面技能、互补性资产和运行机制的有机融合，是不同技术系统、管理系统及技能的有机组合，是识别和提供竞争优势的知识体系。</a:t>
            </a:r>
            <a:endParaRPr lang="en-US" altLang="zh-CN" sz="2800" b="1" dirty="0">
              <a:cs typeface="+mn-cs"/>
            </a:endParaRPr>
          </a:p>
          <a:p>
            <a:pPr fontAlgn="auto">
              <a:spcBef>
                <a:spcPts val="0"/>
              </a:spcBef>
              <a:spcAft>
                <a:spcPts val="0"/>
              </a:spcAft>
              <a:buFont typeface="Wingdings" pitchFamily="2" charset="2"/>
              <a:buNone/>
              <a:defRPr/>
            </a:pPr>
            <a:r>
              <a:rPr lang="zh-CN" altLang="en-US" sz="3600" b="1" dirty="0">
                <a:cs typeface="+mn-cs"/>
              </a:rPr>
              <a:t>大纲的定义：</a:t>
            </a:r>
            <a:r>
              <a:rPr lang="zh-CN" altLang="en-US" sz="2800" b="1" dirty="0">
                <a:cs typeface="+mn-cs"/>
              </a:rPr>
              <a:t>核心能力是企业发展过程中逐步形成的、使之超越同类企业在竞争中取得可持续生存与发展的独特性能力，即配置相关资源的知识与经验。</a:t>
            </a:r>
            <a:endParaRPr lang="en-US" altLang="zh-CN" sz="3600" b="1" dirty="0">
              <a:cs typeface="+mn-cs"/>
            </a:endParaRPr>
          </a:p>
          <a:p>
            <a:pPr fontAlgn="auto">
              <a:spcBef>
                <a:spcPts val="0"/>
              </a:spcBef>
              <a:spcAft>
                <a:spcPts val="0"/>
              </a:spcAft>
              <a:buFont typeface="Wingdings" pitchFamily="2" charset="2"/>
              <a:buNone/>
              <a:defRPr/>
            </a:pPr>
            <a:endParaRPr lang="zh-CN" altLang="en-US" sz="3600" b="1" dirty="0">
              <a:cs typeface="+mn-cs"/>
            </a:endParaRPr>
          </a:p>
        </p:txBody>
      </p:sp>
    </p:spTree>
    <p:extLst>
      <p:ext uri="{BB962C8B-B14F-4D97-AF65-F5344CB8AC3E}">
        <p14:creationId xmlns:p14="http://schemas.microsoft.com/office/powerpoint/2010/main" val="2753530051"/>
      </p:ext>
    </p:extLst>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209081-5EB0-8E42-98A5-07E5A9B67E01}"/>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694FE014-44F6-4F46-9BA4-E3E3E794CF32}"/>
              </a:ext>
            </a:extLst>
          </p:cNvPr>
          <p:cNvSpPr>
            <a:spLocks noGrp="1"/>
          </p:cNvSpPr>
          <p:nvPr>
            <p:ph idx="1"/>
          </p:nvPr>
        </p:nvSpPr>
        <p:spPr/>
        <p:txBody>
          <a:bodyPr/>
          <a:lstStyle/>
          <a:p>
            <a:r>
              <a:rPr lang="zh-CN" altLang="en-US" dirty="0"/>
              <a:t>核心能力是企业在长期生产经营过程中的知识积累和特殊的技能（包括技术的、管理的等）以及相关的资源（如</a:t>
            </a:r>
            <a:r>
              <a:rPr lang="zh-CN" altLang="en-US" dirty="0">
                <a:hlinkClick r:id="rId2" tooltip="人力资源"/>
              </a:rPr>
              <a:t>人力资源</a:t>
            </a:r>
            <a:r>
              <a:rPr lang="zh-CN" altLang="en-US" dirty="0"/>
              <a:t>、</a:t>
            </a:r>
            <a:r>
              <a:rPr lang="zh-CN" altLang="en-US" dirty="0">
                <a:hlinkClick r:id="rId3" tooltip="财务资源"/>
              </a:rPr>
              <a:t>财务资源</a:t>
            </a:r>
            <a:r>
              <a:rPr lang="zh-CN" altLang="en-US" dirty="0"/>
              <a:t>、</a:t>
            </a:r>
            <a:r>
              <a:rPr lang="zh-CN" altLang="en-US" dirty="0">
                <a:hlinkClick r:id="rId4" tooltip="品牌资源"/>
              </a:rPr>
              <a:t>品牌资源</a:t>
            </a:r>
            <a:r>
              <a:rPr lang="zh-CN" altLang="en-US" dirty="0"/>
              <a:t>、</a:t>
            </a:r>
            <a:r>
              <a:rPr lang="zh-CN" altLang="en-US" dirty="0">
                <a:hlinkClick r:id="rId5" tooltip="企业文化"/>
              </a:rPr>
              <a:t>企业文化</a:t>
            </a:r>
            <a:r>
              <a:rPr lang="zh-CN" altLang="en-US" dirty="0"/>
              <a:t>等）组合成的一个综合体系，是企业独具的，与他人不同的一种能力。</a:t>
            </a:r>
          </a:p>
          <a:p>
            <a:r>
              <a:rPr lang="zh-CN" altLang="en-US" dirty="0"/>
              <a:t>　　</a:t>
            </a:r>
            <a:endParaRPr kumimoji="1" lang="zh-CN" altLang="en-US" dirty="0"/>
          </a:p>
        </p:txBody>
      </p:sp>
    </p:spTree>
    <p:extLst>
      <p:ext uri="{BB962C8B-B14F-4D97-AF65-F5344CB8AC3E}">
        <p14:creationId xmlns:p14="http://schemas.microsoft.com/office/powerpoint/2010/main" val="80003586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BC3FAF-990E-FE49-B20E-888F0DB6FCF4}"/>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5EFD69FE-91C1-8146-883D-AA0F7A5FF31A}"/>
              </a:ext>
            </a:extLst>
          </p:cNvPr>
          <p:cNvSpPr>
            <a:spLocks noGrp="1"/>
          </p:cNvSpPr>
          <p:nvPr>
            <p:ph idx="1"/>
          </p:nvPr>
        </p:nvSpPr>
        <p:spPr>
          <a:xfrm>
            <a:off x="450354" y="1397000"/>
            <a:ext cx="8229600" cy="4525962"/>
          </a:xfrm>
        </p:spPr>
        <p:txBody>
          <a:bodyPr/>
          <a:lstStyle/>
          <a:p>
            <a:r>
              <a:rPr lang="zh-CN" altLang="en-US" dirty="0"/>
              <a:t>企业持续竞争的源泉和基础在于核心能力。核心能力是在</a:t>
            </a:r>
            <a:r>
              <a:rPr lang="en-US" altLang="zh-CN" dirty="0"/>
              <a:t>1990</a:t>
            </a:r>
            <a:r>
              <a:rPr lang="zh-CN" altLang="en-US" dirty="0"/>
              <a:t>年由两位管理科学家</a:t>
            </a:r>
            <a:r>
              <a:rPr lang="zh-CN" altLang="en-US" dirty="0">
                <a:hlinkClick r:id="rId2" tooltip="哈默尔"/>
              </a:rPr>
              <a:t>哈默尔</a:t>
            </a:r>
            <a:r>
              <a:rPr lang="zh-CN" altLang="en-US" dirty="0"/>
              <a:t>和</a:t>
            </a:r>
            <a:r>
              <a:rPr lang="zh-CN" altLang="en-US" dirty="0">
                <a:hlinkClick r:id="rId3" tooltip="普拉哈拉德"/>
              </a:rPr>
              <a:t>普拉哈拉德</a:t>
            </a:r>
            <a:r>
              <a:rPr lang="zh-CN" altLang="en-US" dirty="0"/>
              <a:t>在</a:t>
            </a:r>
            <a:r>
              <a:rPr lang="en-US" altLang="zh-CN" dirty="0"/>
              <a:t>《</a:t>
            </a:r>
            <a:r>
              <a:rPr lang="zh-CN" altLang="en-US" dirty="0">
                <a:hlinkClick r:id="rId4" tooltip="哈佛商业评论"/>
              </a:rPr>
              <a:t>哈佛商业评论</a:t>
            </a:r>
            <a:r>
              <a:rPr lang="en-US" altLang="zh-CN" dirty="0"/>
              <a:t>》</a:t>
            </a:r>
            <a:r>
              <a:rPr lang="zh-CN" altLang="en-US" dirty="0"/>
              <a:t>发表</a:t>
            </a:r>
            <a:r>
              <a:rPr lang="en-US" altLang="zh-CN" dirty="0"/>
              <a:t>《</a:t>
            </a:r>
            <a:r>
              <a:rPr lang="zh-CN" altLang="en-US" dirty="0"/>
              <a:t>企业核心能力</a:t>
            </a:r>
            <a:r>
              <a:rPr lang="en-US" altLang="zh-CN" dirty="0"/>
              <a:t>》</a:t>
            </a:r>
            <a:r>
              <a:rPr lang="zh-CN" altLang="en-US" dirty="0"/>
              <a:t>一文中提出的，核心能力和</a:t>
            </a:r>
            <a:r>
              <a:rPr lang="zh-CN" altLang="en-US" dirty="0">
                <a:hlinkClick r:id="rId5" tooltip="企业能力理论"/>
              </a:rPr>
              <a:t>企业能力理论</a:t>
            </a:r>
            <a:r>
              <a:rPr lang="zh-CN" altLang="en-US" dirty="0"/>
              <a:t>在企业发展和</a:t>
            </a:r>
            <a:r>
              <a:rPr lang="zh-CN" altLang="en-US" dirty="0">
                <a:hlinkClick r:id="rId6" tooltip="企业战略研究"/>
              </a:rPr>
              <a:t>企业战略研究</a:t>
            </a:r>
            <a:r>
              <a:rPr lang="zh-CN" altLang="en-US" dirty="0"/>
              <a:t>方面迅速占据了主导地位，成为指导企业经营和管理的重要理论之一。它的产生代表了一种企业发展的观点：企业的发展由自身所拥有的与众不同的资源决定，企业需要围绕这些资源构建自己的能力体系，以实现自己的</a:t>
            </a:r>
            <a:r>
              <a:rPr lang="zh-CN" altLang="en-US" dirty="0">
                <a:hlinkClick r:id="rId7" tooltip="竞争优势"/>
              </a:rPr>
              <a:t>竞争优势</a:t>
            </a:r>
            <a:r>
              <a:rPr lang="zh-CN" altLang="en-US" dirty="0"/>
              <a:t>。</a:t>
            </a:r>
            <a:endParaRPr kumimoji="1" lang="zh-CN" altLang="en-US" dirty="0"/>
          </a:p>
        </p:txBody>
      </p:sp>
    </p:spTree>
    <p:extLst>
      <p:ext uri="{BB962C8B-B14F-4D97-AF65-F5344CB8AC3E}">
        <p14:creationId xmlns:p14="http://schemas.microsoft.com/office/powerpoint/2010/main" val="251833950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786904-4B88-054F-8507-6D51EF1FC6C8}"/>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693F226B-B1B7-6147-926E-A38D2B6F54E5}"/>
              </a:ext>
            </a:extLst>
          </p:cNvPr>
          <p:cNvSpPr>
            <a:spLocks noGrp="1"/>
          </p:cNvSpPr>
          <p:nvPr>
            <p:ph idx="1"/>
          </p:nvPr>
        </p:nvSpPr>
        <p:spPr/>
        <p:txBody>
          <a:bodyPr/>
          <a:lstStyle/>
          <a:p>
            <a:r>
              <a:rPr lang="zh-CN" altLang="en-US" dirty="0"/>
              <a:t>根据</a:t>
            </a:r>
            <a:r>
              <a:rPr lang="zh-CN" altLang="en-US" dirty="0">
                <a:hlinkClick r:id="rId2" tooltip="麦肯锡咨询公司"/>
              </a:rPr>
              <a:t>麦肯锡咨询公司</a:t>
            </a:r>
            <a:r>
              <a:rPr lang="zh-CN" altLang="en-US" dirty="0"/>
              <a:t>的观点，所谓核心能力是指某一组织内部一系列互补的技能和知识的结合，它具有使一项或多项业务达到竞争领域一流水平的能力。核心能力由洞察预见能力和前线执行能力构成。洞察预见能力主要来源于科学技术知识、独有的数据、产品的</a:t>
            </a:r>
            <a:r>
              <a:rPr lang="zh-CN" altLang="en-US" dirty="0">
                <a:hlinkClick r:id="rId3" tooltip="创造性"/>
              </a:rPr>
              <a:t>创造性</a:t>
            </a:r>
            <a:r>
              <a:rPr lang="zh-CN" altLang="en-US" dirty="0"/>
              <a:t>、卓越的分析和推理能力等；前线执行能力产生于这样一种情形，即</a:t>
            </a:r>
            <a:r>
              <a:rPr lang="zh-CN" altLang="en-US" dirty="0">
                <a:hlinkClick r:id="rId4" tooltip="最终产品"/>
              </a:rPr>
              <a:t>最终产品</a:t>
            </a:r>
            <a:r>
              <a:rPr lang="zh-CN" altLang="en-US" dirty="0"/>
              <a:t>或服务的质量会因前线工作人员的</a:t>
            </a:r>
            <a:r>
              <a:rPr lang="zh-CN" altLang="en-US" dirty="0">
                <a:hlinkClick r:id="rId5" tooltip="工作质量"/>
              </a:rPr>
              <a:t>工作质量</a:t>
            </a:r>
            <a:r>
              <a:rPr lang="zh-CN" altLang="en-US" dirty="0"/>
              <a:t>而发生改变。</a:t>
            </a:r>
            <a:endParaRPr kumimoji="1" lang="zh-CN" altLang="en-US" dirty="0"/>
          </a:p>
        </p:txBody>
      </p:sp>
    </p:spTree>
    <p:extLst>
      <p:ext uri="{BB962C8B-B14F-4D97-AF65-F5344CB8AC3E}">
        <p14:creationId xmlns:p14="http://schemas.microsoft.com/office/powerpoint/2010/main" val="261389936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9A22EA-DF60-4D42-B056-A23E23BAF6C1}"/>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F8AACC08-418B-6940-89DB-160AB9EAF499}"/>
              </a:ext>
            </a:extLst>
          </p:cNvPr>
          <p:cNvSpPr>
            <a:spLocks noGrp="1"/>
          </p:cNvSpPr>
          <p:nvPr>
            <p:ph idx="1"/>
          </p:nvPr>
        </p:nvSpPr>
        <p:spPr/>
        <p:txBody>
          <a:bodyPr/>
          <a:lstStyle/>
          <a:p>
            <a:r>
              <a:rPr lang="zh-CN" altLang="en-US" dirty="0"/>
              <a:t>企业核心能力是企业的整体资源，它涉及企业的技术、人才、</a:t>
            </a:r>
            <a:r>
              <a:rPr lang="zh-CN" altLang="en-US" dirty="0">
                <a:hlinkClick r:id="rId2" tooltip="管理"/>
              </a:rPr>
              <a:t>管理</a:t>
            </a:r>
            <a:r>
              <a:rPr lang="zh-CN" altLang="en-US" dirty="0"/>
              <a:t>、文化和</a:t>
            </a:r>
            <a:r>
              <a:rPr lang="zh-CN" altLang="en-US" dirty="0">
                <a:hlinkClick r:id="rId3" tooltip="凝聚力"/>
              </a:rPr>
              <a:t>凝聚力</a:t>
            </a:r>
            <a:r>
              <a:rPr lang="zh-CN" altLang="en-US" dirty="0"/>
              <a:t>等各方面，是企业各部门和全体员工的共同行为。</a:t>
            </a:r>
          </a:p>
          <a:p>
            <a:endParaRPr kumimoji="1" lang="zh-CN" altLang="en-US" dirty="0"/>
          </a:p>
        </p:txBody>
      </p:sp>
    </p:spTree>
    <p:extLst>
      <p:ext uri="{BB962C8B-B14F-4D97-AF65-F5344CB8AC3E}">
        <p14:creationId xmlns:p14="http://schemas.microsoft.com/office/powerpoint/2010/main" val="94863601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2"/>
          <p:cNvSpPr>
            <a:spLocks noGrp="1" noChangeArrowheads="1"/>
          </p:cNvSpPr>
          <p:nvPr>
            <p:ph type="body" idx="1"/>
          </p:nvPr>
        </p:nvSpPr>
        <p:spPr>
          <a:xfrm>
            <a:off x="179388" y="1484313"/>
            <a:ext cx="8713787" cy="4525962"/>
          </a:xfrm>
        </p:spPr>
        <p:txBody>
          <a:bodyPr/>
          <a:lstStyle/>
          <a:p>
            <a:pPr>
              <a:buFont typeface="Wingdings" pitchFamily="2" charset="2"/>
              <a:buNone/>
            </a:pPr>
            <a:r>
              <a:rPr lang="zh-CN" altLang="en-US" sz="2400" b="1" dirty="0"/>
              <a:t>巴尼：</a:t>
            </a:r>
            <a:r>
              <a:rPr lang="en-US" altLang="zh-CN" sz="2400" b="1" dirty="0"/>
              <a:t>《</a:t>
            </a:r>
            <a:r>
              <a:rPr lang="zh-CN" altLang="en-US" sz="2400" b="1" dirty="0"/>
              <a:t>从内部寻求竞争优势</a:t>
            </a:r>
            <a:r>
              <a:rPr lang="en-US" altLang="zh-CN" sz="2400" b="1" dirty="0"/>
              <a:t>》1995</a:t>
            </a:r>
          </a:p>
          <a:p>
            <a:pPr>
              <a:buFont typeface="Wingdings" pitchFamily="2" charset="2"/>
              <a:buNone/>
            </a:pPr>
            <a:r>
              <a:rPr lang="zh-CN" altLang="en-US" sz="2400" b="1" dirty="0"/>
              <a:t>有价值（</a:t>
            </a:r>
            <a:r>
              <a:rPr lang="en-US" altLang="zh-CN" sz="2400" b="1" dirty="0"/>
              <a:t>value</a:t>
            </a:r>
            <a:r>
              <a:rPr lang="zh-CN" altLang="en-US" sz="2400" b="1" dirty="0"/>
              <a:t>）：创造顾客价值、应对机会威胁、动态权变</a:t>
            </a:r>
            <a:endParaRPr lang="en-US" altLang="zh-CN" sz="2400" b="1" dirty="0"/>
          </a:p>
          <a:p>
            <a:pPr>
              <a:buFont typeface="Wingdings" pitchFamily="2" charset="2"/>
              <a:buNone/>
            </a:pPr>
            <a:r>
              <a:rPr lang="zh-CN" altLang="en-US" sz="2400" b="1" dirty="0"/>
              <a:t>稀有性（</a:t>
            </a:r>
            <a:r>
              <a:rPr lang="en-US" altLang="zh-CN" sz="2400" b="1" dirty="0"/>
              <a:t>rarity</a:t>
            </a:r>
            <a:r>
              <a:rPr lang="zh-CN" altLang="en-US" sz="2400" b="1" dirty="0"/>
              <a:t>）：独特性，其他企业不具备</a:t>
            </a:r>
            <a:endParaRPr lang="en-US" altLang="zh-CN" sz="2400" b="1" dirty="0"/>
          </a:p>
          <a:p>
            <a:pPr>
              <a:buFont typeface="Wingdings" pitchFamily="2" charset="2"/>
              <a:buNone/>
            </a:pPr>
            <a:r>
              <a:rPr lang="zh-CN" altLang="en-US" sz="2400" b="1" dirty="0"/>
              <a:t>不可模仿（</a:t>
            </a:r>
            <a:r>
              <a:rPr lang="en-US" altLang="zh-CN" sz="2400" b="1" dirty="0"/>
              <a:t>inimitability</a:t>
            </a:r>
            <a:r>
              <a:rPr lang="zh-CN" altLang="en-US" sz="2400" b="1" dirty="0"/>
              <a:t>）：学习复制很困难，存在模仿壁垒</a:t>
            </a:r>
            <a:endParaRPr lang="en-US" altLang="zh-CN" sz="2400" b="1" dirty="0"/>
          </a:p>
          <a:p>
            <a:pPr>
              <a:buFont typeface="Wingdings" pitchFamily="2" charset="2"/>
              <a:buNone/>
            </a:pPr>
            <a:r>
              <a:rPr lang="en-US" altLang="zh-CN" sz="2400" b="1" dirty="0"/>
              <a:t>	</a:t>
            </a:r>
            <a:r>
              <a:rPr lang="zh-CN" altLang="en-US" sz="2400" b="1" dirty="0"/>
              <a:t>有形壁垒：如技术模仿的法律限制、资源专控或者排</a:t>
            </a:r>
            <a:r>
              <a:rPr lang="en-US" altLang="zh-CN" sz="2400" b="1" dirty="0"/>
              <a:t>  </a:t>
            </a:r>
          </a:p>
          <a:p>
            <a:pPr>
              <a:buFont typeface="Wingdings" pitchFamily="2" charset="2"/>
              <a:buNone/>
            </a:pPr>
            <a:r>
              <a:rPr lang="en-US" altLang="zh-CN" sz="2400" b="1" dirty="0"/>
              <a:t>                        </a:t>
            </a:r>
            <a:r>
              <a:rPr lang="zh-CN" altLang="en-US" sz="2400" b="1" dirty="0"/>
              <a:t>他性协定</a:t>
            </a:r>
            <a:endParaRPr lang="en-US" altLang="zh-CN" sz="2400" b="1" dirty="0"/>
          </a:p>
          <a:p>
            <a:pPr>
              <a:buFont typeface="Wingdings" pitchFamily="2" charset="2"/>
              <a:buNone/>
            </a:pPr>
            <a:r>
              <a:rPr lang="en-US" altLang="zh-CN" sz="2400" b="1" dirty="0"/>
              <a:t>    </a:t>
            </a:r>
            <a:r>
              <a:rPr lang="zh-CN" altLang="en-US" sz="2400" b="1" dirty="0"/>
              <a:t>无形壁垒：企业在特定历史条件下获得这些资源和能</a:t>
            </a:r>
            <a:endParaRPr lang="en-US" altLang="zh-CN" sz="2400" b="1" dirty="0"/>
          </a:p>
          <a:p>
            <a:pPr>
              <a:buFont typeface="Wingdings" pitchFamily="2" charset="2"/>
              <a:buNone/>
            </a:pPr>
            <a:r>
              <a:rPr lang="en-US" altLang="zh-CN" sz="2400" b="1" dirty="0"/>
              <a:t>                       </a:t>
            </a:r>
            <a:r>
              <a:rPr lang="zh-CN" altLang="en-US" sz="2400" b="1" dirty="0"/>
              <a:t>力，成因模糊，综合原因、细节决定</a:t>
            </a:r>
            <a:endParaRPr lang="en-US" altLang="zh-CN" sz="2400" b="1" dirty="0"/>
          </a:p>
          <a:p>
            <a:pPr>
              <a:buFont typeface="Wingdings" pitchFamily="2" charset="2"/>
              <a:buNone/>
            </a:pPr>
            <a:r>
              <a:rPr lang="zh-CN" altLang="en-US" sz="2400" b="1" dirty="0"/>
              <a:t>组织能力（</a:t>
            </a:r>
            <a:r>
              <a:rPr lang="en-US" altLang="zh-CN" sz="2400" b="1" dirty="0"/>
              <a:t>organization</a:t>
            </a:r>
            <a:r>
              <a:rPr lang="zh-CN" altLang="en-US" sz="2400" b="1" dirty="0"/>
              <a:t>）：组织具有充分利用资源和能力的组织能力</a:t>
            </a:r>
            <a:endParaRPr lang="en-US" altLang="zh-CN" sz="2400" b="1" dirty="0"/>
          </a:p>
          <a:p>
            <a:pPr>
              <a:buFont typeface="Wingdings" pitchFamily="2" charset="2"/>
              <a:buNone/>
            </a:pPr>
            <a:endParaRPr lang="en-US" altLang="zh-CN" sz="2400" b="1" dirty="0"/>
          </a:p>
          <a:p>
            <a:pPr>
              <a:buFont typeface="Wingdings" pitchFamily="2" charset="2"/>
              <a:buNone/>
            </a:pPr>
            <a:r>
              <a:rPr lang="zh-CN" altLang="en-US" sz="2400" b="1" dirty="0"/>
              <a:t>不可交易性</a:t>
            </a:r>
            <a:r>
              <a:rPr lang="zh-CN" altLang="zh-CN" sz="2400" b="1" dirty="0"/>
              <a:t>、</a:t>
            </a:r>
            <a:r>
              <a:rPr lang="zh-CN" altLang="en-US" sz="2400" b="1" dirty="0"/>
              <a:t>延展性</a:t>
            </a:r>
            <a:r>
              <a:rPr lang="zh-CN" altLang="zh-CN" sz="2400" b="1" dirty="0"/>
              <a:t>、</a:t>
            </a:r>
            <a:r>
              <a:rPr lang="zh-CN" altLang="en-US" sz="2400" b="1" dirty="0"/>
              <a:t>多样性</a:t>
            </a:r>
            <a:r>
              <a:rPr lang="zh-CN" altLang="zh-CN" sz="2400" b="1" dirty="0"/>
              <a:t>、</a:t>
            </a:r>
            <a:r>
              <a:rPr lang="zh-CN" altLang="en-US" sz="2400" b="1" dirty="0"/>
              <a:t>多态性</a:t>
            </a:r>
            <a:endParaRPr lang="en-US" altLang="zh-CN" sz="2400" b="1" dirty="0"/>
          </a:p>
          <a:p>
            <a:pPr>
              <a:buFont typeface="Wingdings" pitchFamily="2" charset="2"/>
              <a:buNone/>
            </a:pPr>
            <a:r>
              <a:rPr lang="zh-CN" altLang="en-US" sz="2400" b="1" dirty="0"/>
              <a:t>在环境动态情况下，资源模型更为有效</a:t>
            </a:r>
            <a:endParaRPr lang="zh-CN" altLang="en-US" sz="2400" dirty="0"/>
          </a:p>
        </p:txBody>
      </p:sp>
      <p:sp>
        <p:nvSpPr>
          <p:cNvPr id="117762" name="Text Box 3"/>
          <p:cNvSpPr txBox="1">
            <a:spLocks noChangeArrowheads="1"/>
          </p:cNvSpPr>
          <p:nvPr/>
        </p:nvSpPr>
        <p:spPr bwMode="auto">
          <a:xfrm>
            <a:off x="2124075" y="333375"/>
            <a:ext cx="4895850" cy="366713"/>
          </a:xfrm>
          <a:prstGeom prst="rect">
            <a:avLst/>
          </a:prstGeom>
          <a:noFill/>
          <a:ln w="9525">
            <a:noFill/>
            <a:miter lim="800000"/>
            <a:headEnd/>
            <a:tailEnd/>
          </a:ln>
        </p:spPr>
        <p:txBody>
          <a:bodyPr>
            <a:spAutoFit/>
          </a:bodyPr>
          <a:lstStyle/>
          <a:p>
            <a:pPr>
              <a:spcBef>
                <a:spcPct val="50000"/>
              </a:spcBef>
            </a:pPr>
            <a:endParaRPr lang="zh-CN" altLang="en-US">
              <a:latin typeface="Garamond"/>
              <a:ea typeface="方正姚体"/>
            </a:endParaRPr>
          </a:p>
        </p:txBody>
      </p:sp>
      <p:sp>
        <p:nvSpPr>
          <p:cNvPr id="117763" name="Text Box 4"/>
          <p:cNvSpPr txBox="1">
            <a:spLocks noChangeArrowheads="1"/>
          </p:cNvSpPr>
          <p:nvPr/>
        </p:nvSpPr>
        <p:spPr bwMode="auto">
          <a:xfrm>
            <a:off x="755577" y="549275"/>
            <a:ext cx="7200974" cy="769441"/>
          </a:xfrm>
          <a:prstGeom prst="rect">
            <a:avLst/>
          </a:prstGeom>
          <a:noFill/>
          <a:ln w="9525">
            <a:noFill/>
            <a:miter lim="800000"/>
            <a:headEnd/>
            <a:tailEnd/>
          </a:ln>
        </p:spPr>
        <p:txBody>
          <a:bodyPr wrap="square">
            <a:spAutoFit/>
          </a:bodyPr>
          <a:lstStyle/>
          <a:p>
            <a:pPr>
              <a:spcBef>
                <a:spcPct val="50000"/>
              </a:spcBef>
            </a:pPr>
            <a:r>
              <a:rPr lang="zh-CN" altLang="en-US" sz="4400" dirty="0">
                <a:solidFill>
                  <a:srgbClr val="FFFF00"/>
                </a:solidFill>
                <a:latin typeface="Rockwell"/>
                <a:ea typeface="黑体" pitchFamily="2" charset="-122"/>
              </a:rPr>
              <a:t>核心能力的特征－</a:t>
            </a:r>
            <a:r>
              <a:rPr lang="en-US" altLang="zh-CN" sz="4400" dirty="0" err="1">
                <a:solidFill>
                  <a:srgbClr val="FFFF00"/>
                </a:solidFill>
                <a:latin typeface="Rockwell"/>
                <a:ea typeface="黑体" pitchFamily="2" charset="-122"/>
              </a:rPr>
              <a:t>vrio</a:t>
            </a:r>
            <a:r>
              <a:rPr lang="zh-CN" altLang="en-US" sz="4400" dirty="0">
                <a:solidFill>
                  <a:srgbClr val="FFFF00"/>
                </a:solidFill>
                <a:latin typeface="Rockwell"/>
                <a:ea typeface="黑体" pitchFamily="2" charset="-122"/>
              </a:rPr>
              <a:t>模型</a:t>
            </a:r>
          </a:p>
        </p:txBody>
      </p:sp>
    </p:spTree>
    <p:extLst>
      <p:ext uri="{BB962C8B-B14F-4D97-AF65-F5344CB8AC3E}">
        <p14:creationId xmlns:p14="http://schemas.microsoft.com/office/powerpoint/2010/main" val="3449748309"/>
      </p:ext>
    </p:extLst>
  </p:cSld>
  <p:clrMapOvr>
    <a:masterClrMapping/>
  </p:clrMapOv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E80417-D3D3-8243-AF46-EDA2DCAD40B6}"/>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16F224F0-9801-1649-969A-2C71F3DCEC6F}"/>
              </a:ext>
            </a:extLst>
          </p:cNvPr>
          <p:cNvSpPr>
            <a:spLocks noGrp="1"/>
          </p:cNvSpPr>
          <p:nvPr>
            <p:ph idx="1"/>
          </p:nvPr>
        </p:nvSpPr>
        <p:spPr>
          <a:xfrm>
            <a:off x="457200" y="1166019"/>
            <a:ext cx="8229600" cy="4525962"/>
          </a:xfrm>
        </p:spPr>
        <p:txBody>
          <a:bodyPr/>
          <a:lstStyle/>
          <a:p>
            <a:r>
              <a:rPr lang="en-US" altLang="zh-CN" b="1" dirty="0"/>
              <a:t>1</a:t>
            </a:r>
            <a:r>
              <a:rPr lang="zh-CN" altLang="en-US" b="1" dirty="0"/>
              <a:t>．价值特征</a:t>
            </a:r>
            <a:r>
              <a:rPr lang="zh-CN" altLang="en-US" dirty="0"/>
              <a:t>：创造独特价值 核心能力的价值特征表现在三个方面：</a:t>
            </a:r>
          </a:p>
          <a:p>
            <a:pPr lvl="1"/>
            <a:r>
              <a:rPr lang="zh-CN" altLang="en-US" dirty="0"/>
              <a:t>核心能力在企业创造价值和降低成本方面具有核心地位，核心能力应当能显著提高企业的运营效率。</a:t>
            </a:r>
          </a:p>
          <a:p>
            <a:pPr lvl="1"/>
            <a:r>
              <a:rPr lang="zh-CN" altLang="en-US" dirty="0"/>
              <a:t>核心能力能实现顾客所特别注重的价值，一项能力之所以是核心的，它给消费者带来的好处应是关键的。</a:t>
            </a:r>
          </a:p>
          <a:p>
            <a:pPr lvl="1"/>
            <a:r>
              <a:rPr lang="zh-CN" altLang="en-US" dirty="0"/>
              <a:t>核心能力是企业异于竞争对手的原因，也是企业比竞争对手做得更好的原因。因此核心能力对企业、顾客具有独特的价值，对企业赢得和保持竞争优势具有特殊的贡献。</a:t>
            </a:r>
          </a:p>
          <a:p>
            <a:pPr marL="0" indent="0">
              <a:buNone/>
            </a:pPr>
            <a:r>
              <a:rPr lang="zh-CN" altLang="en-US" dirty="0"/>
              <a:t>　　</a:t>
            </a:r>
            <a:endParaRPr kumimoji="1" lang="zh-CN" altLang="en-US" dirty="0"/>
          </a:p>
        </p:txBody>
      </p:sp>
    </p:spTree>
    <p:extLst>
      <p:ext uri="{BB962C8B-B14F-4D97-AF65-F5344CB8AC3E}">
        <p14:creationId xmlns:p14="http://schemas.microsoft.com/office/powerpoint/2010/main" val="187072438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A73AAE1-19F0-344B-A54B-3DB9881F88F6}"/>
              </a:ext>
            </a:extLst>
          </p:cNvPr>
          <p:cNvSpPr>
            <a:spLocks noGrp="1"/>
          </p:cNvSpPr>
          <p:nvPr>
            <p:ph idx="1"/>
          </p:nvPr>
        </p:nvSpPr>
        <p:spPr>
          <a:xfrm>
            <a:off x="457200" y="260648"/>
            <a:ext cx="8229600" cy="4525962"/>
          </a:xfrm>
        </p:spPr>
        <p:txBody>
          <a:bodyPr/>
          <a:lstStyle/>
          <a:p>
            <a:r>
              <a:rPr lang="en-US" altLang="zh-CN" sz="2800" b="1" dirty="0"/>
              <a:t>2</a:t>
            </a:r>
            <a:r>
              <a:rPr lang="zh-CN" altLang="en-US" sz="2800" b="1" dirty="0"/>
              <a:t>．资产特征</a:t>
            </a:r>
            <a:r>
              <a:rPr lang="zh-CN" altLang="en-US" sz="2800" dirty="0"/>
              <a:t>：</a:t>
            </a:r>
            <a:r>
              <a:rPr lang="zh-CN" altLang="en-US" sz="2800" dirty="0">
                <a:hlinkClick r:id="rId2" tooltip="专用性资产"/>
              </a:rPr>
              <a:t>专用性资产</a:t>
            </a:r>
            <a:r>
              <a:rPr lang="zh-CN" altLang="en-US" sz="2800" dirty="0"/>
              <a:t> 对企业核心能力的投资是不可还原性投资，因此核心能力可以看作是企业的一种专门资产，具有“</a:t>
            </a:r>
            <a:r>
              <a:rPr lang="zh-CN" altLang="en-US" sz="2800" dirty="0">
                <a:hlinkClick r:id="rId3" tooltip="资产专用性"/>
              </a:rPr>
              <a:t>资产专用性</a:t>
            </a:r>
            <a:r>
              <a:rPr lang="zh-CN" altLang="en-US" sz="2800" dirty="0"/>
              <a:t>”的特征。核心能力的专用性还体现在积累的自然属性，因为核心能力具有历史依存性，是企业积累性学习的结果，也即企业的“管理遗产”，它使仿制者处于时间劣势，即使仿制者知道核心能力，也由于资源的积累需要一段时间而无法参与竞争（福斯、哈姆森，</a:t>
            </a:r>
            <a:r>
              <a:rPr lang="en-US" altLang="zh-CN" sz="2800" dirty="0"/>
              <a:t>1998</a:t>
            </a:r>
            <a:r>
              <a:rPr lang="zh-CN" altLang="en-US" sz="2800" dirty="0"/>
              <a:t>）。核心能力的</a:t>
            </a:r>
            <a:r>
              <a:rPr lang="zh-CN" altLang="en-US" sz="2800" dirty="0">
                <a:hlinkClick r:id="rId3" tooltip="资产专用性"/>
              </a:rPr>
              <a:t>资产专用性</a:t>
            </a:r>
            <a:r>
              <a:rPr lang="zh-CN" altLang="en-US" sz="2800" dirty="0"/>
              <a:t>特征对外面的</a:t>
            </a:r>
            <a:r>
              <a:rPr lang="zh-CN" altLang="en-US" sz="2800" dirty="0">
                <a:hlinkClick r:id="rId4" tooltip="潜在进入者"/>
              </a:rPr>
              <a:t>潜在进入者</a:t>
            </a:r>
            <a:r>
              <a:rPr lang="zh-CN" altLang="en-US" sz="2800" dirty="0"/>
              <a:t>构成一种</a:t>
            </a:r>
            <a:r>
              <a:rPr lang="zh-CN" altLang="en-US" sz="2800" dirty="0">
                <a:hlinkClick r:id="rId5" tooltip="进入壁垒"/>
              </a:rPr>
              <a:t>进入壁垒</a:t>
            </a:r>
            <a:r>
              <a:rPr lang="zh-CN" altLang="en-US" sz="2800" dirty="0"/>
              <a:t>，以保护</a:t>
            </a:r>
            <a:r>
              <a:rPr lang="zh-CN" altLang="en-US" sz="2800" dirty="0">
                <a:hlinkClick r:id="rId6" tooltip="垄断利润"/>
              </a:rPr>
              <a:t>垄断利润</a:t>
            </a:r>
            <a:r>
              <a:rPr lang="zh-CN" altLang="en-US" sz="2800" dirty="0"/>
              <a:t>的获得；同时又对企业本身构成了一种</a:t>
            </a:r>
            <a:r>
              <a:rPr lang="zh-CN" altLang="en-US" sz="2800" dirty="0">
                <a:hlinkClick r:id="rId7" tooltip="退出壁垒"/>
              </a:rPr>
              <a:t>退出壁垒</a:t>
            </a:r>
            <a:r>
              <a:rPr lang="zh-CN" altLang="en-US" sz="2800" dirty="0"/>
              <a:t>，这种退出壁垒对企业产生一种推动作用，激励企业员工为共同的目标而努力。</a:t>
            </a:r>
          </a:p>
          <a:p>
            <a:r>
              <a:rPr lang="zh-CN" altLang="en-US" sz="2800" dirty="0"/>
              <a:t>　　</a:t>
            </a:r>
            <a:endParaRPr kumimoji="1" lang="zh-CN" altLang="en-US" sz="2800" dirty="0"/>
          </a:p>
        </p:txBody>
      </p:sp>
    </p:spTree>
    <p:extLst>
      <p:ext uri="{BB962C8B-B14F-4D97-AF65-F5344CB8AC3E}">
        <p14:creationId xmlns:p14="http://schemas.microsoft.com/office/powerpoint/2010/main" val="378667470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C7FEB0-2B71-F94B-9123-58F4188C4305}"/>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486F37F7-0084-D24E-8AE6-B4BE1FF61133}"/>
              </a:ext>
            </a:extLst>
          </p:cNvPr>
          <p:cNvSpPr>
            <a:spLocks noGrp="1"/>
          </p:cNvSpPr>
          <p:nvPr>
            <p:ph idx="1"/>
          </p:nvPr>
        </p:nvSpPr>
        <p:spPr>
          <a:xfrm>
            <a:off x="452636" y="404664"/>
            <a:ext cx="8229600" cy="4525962"/>
          </a:xfrm>
        </p:spPr>
        <p:txBody>
          <a:bodyPr/>
          <a:lstStyle/>
          <a:p>
            <a:r>
              <a:rPr lang="en-US" altLang="zh-CN" b="1" dirty="0"/>
              <a:t>3</a:t>
            </a:r>
            <a:r>
              <a:rPr lang="zh-CN" altLang="en-US" b="1" dirty="0"/>
              <a:t>．知识特征</a:t>
            </a:r>
            <a:r>
              <a:rPr lang="zh-CN" altLang="en-US" dirty="0"/>
              <a:t>：隐性知识 知识可以分为两大类：</a:t>
            </a:r>
            <a:r>
              <a:rPr lang="zh-CN" altLang="en-US" dirty="0">
                <a:hlinkClick r:id="rId2" tooltip="显性知识"/>
              </a:rPr>
              <a:t>显性知识</a:t>
            </a:r>
            <a:r>
              <a:rPr lang="zh-CN" altLang="en-US" dirty="0"/>
              <a:t>和隐性知识。具有信息特征的显性知识很容易被仿制，而具有方法论特征的知识则相对来说较难仿制。如果核心能力必须是异质的，必须是完全不能仿制和替代的，那么核心能力必须是以隐性知识为主。正因为隐性知识不公开、内容模糊、无法传授、使用中难以觉察、复杂而又自成体系的缘故（</a:t>
            </a:r>
            <a:r>
              <a:rPr lang="en-US" altLang="zh-CN" dirty="0"/>
              <a:t>Winter</a:t>
            </a:r>
            <a:r>
              <a:rPr lang="zh-CN" altLang="en-US" dirty="0"/>
              <a:t>，</a:t>
            </a:r>
            <a:r>
              <a:rPr lang="en-US" altLang="zh-CN" dirty="0"/>
              <a:t>1987</a:t>
            </a:r>
            <a:r>
              <a:rPr lang="zh-CN" altLang="en-US" dirty="0"/>
              <a:t>），核心能力才具有“普遍模糊”的特点。因此，“核心能力可以被认为是关于如何协调企业各种资源用途的知识形式”。</a:t>
            </a:r>
          </a:p>
          <a:p>
            <a:endParaRPr kumimoji="1" lang="zh-CN" altLang="en-US" dirty="0"/>
          </a:p>
        </p:txBody>
      </p:sp>
    </p:spTree>
    <p:extLst>
      <p:ext uri="{BB962C8B-B14F-4D97-AF65-F5344CB8AC3E}">
        <p14:creationId xmlns:p14="http://schemas.microsoft.com/office/powerpoint/2010/main" val="175974505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F634AC-9BA5-6848-A6C7-B2239BF7FDDB}"/>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A5F2A875-22FF-7948-86A6-A0DA6F8529FC}"/>
              </a:ext>
            </a:extLst>
          </p:cNvPr>
          <p:cNvSpPr>
            <a:spLocks noGrp="1"/>
          </p:cNvSpPr>
          <p:nvPr>
            <p:ph idx="1"/>
          </p:nvPr>
        </p:nvSpPr>
        <p:spPr/>
        <p:txBody>
          <a:bodyPr/>
          <a:lstStyle/>
          <a:p>
            <a:r>
              <a:rPr kumimoji="1" lang="zh-CN" altLang="en-US" dirty="0"/>
              <a:t>了解自己，发现优势，利用优势</a:t>
            </a:r>
            <a:endParaRPr kumimoji="1" lang="en-US" altLang="zh-CN" dirty="0"/>
          </a:p>
          <a:p>
            <a:r>
              <a:rPr kumimoji="1" lang="zh-CN" altLang="en-US" dirty="0"/>
              <a:t>所有组织都只能在某些业务职能方面具有优势或者劣势</a:t>
            </a:r>
            <a:endParaRPr kumimoji="1" lang="en-US" altLang="zh-CN" dirty="0"/>
          </a:p>
          <a:p>
            <a:r>
              <a:rPr kumimoji="1" lang="zh-CN" altLang="en-US" dirty="0"/>
              <a:t>发现或形成独特竞争力</a:t>
            </a:r>
          </a:p>
        </p:txBody>
      </p:sp>
      <p:sp>
        <p:nvSpPr>
          <p:cNvPr id="4" name="文本框 3">
            <a:extLst>
              <a:ext uri="{FF2B5EF4-FFF2-40B4-BE49-F238E27FC236}">
                <a16:creationId xmlns:a16="http://schemas.microsoft.com/office/drawing/2014/main" id="{AB5EB248-41CC-5148-B3F7-9C31C3782207}"/>
              </a:ext>
            </a:extLst>
          </p:cNvPr>
          <p:cNvSpPr txBox="1"/>
          <p:nvPr/>
        </p:nvSpPr>
        <p:spPr>
          <a:xfrm>
            <a:off x="683569" y="3861048"/>
            <a:ext cx="891102" cy="369332"/>
          </a:xfrm>
          <a:prstGeom prst="rect">
            <a:avLst/>
          </a:prstGeom>
          <a:solidFill>
            <a:schemeClr val="accent4">
              <a:lumMod val="75000"/>
            </a:schemeClr>
          </a:solidFill>
        </p:spPr>
        <p:txBody>
          <a:bodyPr wrap="square" rtlCol="0">
            <a:spAutoFit/>
          </a:bodyPr>
          <a:lstStyle/>
          <a:p>
            <a:pPr algn="ctr"/>
            <a:r>
              <a:rPr kumimoji="1" lang="zh-CN" altLang="en-US" dirty="0"/>
              <a:t>劣势</a:t>
            </a:r>
          </a:p>
        </p:txBody>
      </p:sp>
      <p:sp>
        <p:nvSpPr>
          <p:cNvPr id="5" name="文本框 4">
            <a:extLst>
              <a:ext uri="{FF2B5EF4-FFF2-40B4-BE49-F238E27FC236}">
                <a16:creationId xmlns:a16="http://schemas.microsoft.com/office/drawing/2014/main" id="{C6CEA93F-3385-A84D-90E9-8D8A612DB5B6}"/>
              </a:ext>
            </a:extLst>
          </p:cNvPr>
          <p:cNvSpPr txBox="1"/>
          <p:nvPr/>
        </p:nvSpPr>
        <p:spPr>
          <a:xfrm>
            <a:off x="1801040" y="3861048"/>
            <a:ext cx="1069775" cy="369332"/>
          </a:xfrm>
          <a:prstGeom prst="rect">
            <a:avLst/>
          </a:prstGeom>
          <a:solidFill>
            <a:schemeClr val="accent4">
              <a:lumMod val="75000"/>
            </a:schemeClr>
          </a:solidFill>
        </p:spPr>
        <p:txBody>
          <a:bodyPr wrap="square" rtlCol="0">
            <a:spAutoFit/>
          </a:bodyPr>
          <a:lstStyle/>
          <a:p>
            <a:pPr algn="ctr"/>
            <a:r>
              <a:rPr kumimoji="1" lang="zh-CN" altLang="en-US" dirty="0"/>
              <a:t>优势</a:t>
            </a:r>
          </a:p>
        </p:txBody>
      </p:sp>
      <p:sp>
        <p:nvSpPr>
          <p:cNvPr id="6" name="文本框 5">
            <a:extLst>
              <a:ext uri="{FF2B5EF4-FFF2-40B4-BE49-F238E27FC236}">
                <a16:creationId xmlns:a16="http://schemas.microsoft.com/office/drawing/2014/main" id="{786068FE-6B66-5C45-AD5A-6D59C10056DD}"/>
              </a:ext>
            </a:extLst>
          </p:cNvPr>
          <p:cNvSpPr txBox="1"/>
          <p:nvPr/>
        </p:nvSpPr>
        <p:spPr>
          <a:xfrm>
            <a:off x="3176780" y="3861048"/>
            <a:ext cx="1638251" cy="369332"/>
          </a:xfrm>
          <a:prstGeom prst="rect">
            <a:avLst/>
          </a:prstGeom>
          <a:solidFill>
            <a:schemeClr val="accent4">
              <a:lumMod val="75000"/>
            </a:schemeClr>
          </a:solidFill>
        </p:spPr>
        <p:txBody>
          <a:bodyPr wrap="square" rtlCol="0">
            <a:spAutoFit/>
          </a:bodyPr>
          <a:lstStyle/>
          <a:p>
            <a:pPr algn="ctr"/>
            <a:r>
              <a:rPr kumimoji="1" lang="zh-CN" altLang="en-US" dirty="0"/>
              <a:t>独特竞争力</a:t>
            </a:r>
          </a:p>
        </p:txBody>
      </p:sp>
      <p:sp>
        <p:nvSpPr>
          <p:cNvPr id="7" name="文本框 6">
            <a:extLst>
              <a:ext uri="{FF2B5EF4-FFF2-40B4-BE49-F238E27FC236}">
                <a16:creationId xmlns:a16="http://schemas.microsoft.com/office/drawing/2014/main" id="{DFE11C03-D1DF-1B4B-A8AE-CDAD08B5B988}"/>
              </a:ext>
            </a:extLst>
          </p:cNvPr>
          <p:cNvSpPr txBox="1"/>
          <p:nvPr/>
        </p:nvSpPr>
        <p:spPr>
          <a:xfrm>
            <a:off x="5220073" y="3861048"/>
            <a:ext cx="1368152" cy="369332"/>
          </a:xfrm>
          <a:prstGeom prst="rect">
            <a:avLst/>
          </a:prstGeom>
          <a:solidFill>
            <a:schemeClr val="accent4">
              <a:lumMod val="75000"/>
            </a:schemeClr>
          </a:solidFill>
        </p:spPr>
        <p:txBody>
          <a:bodyPr wrap="square" rtlCol="0">
            <a:spAutoFit/>
          </a:bodyPr>
          <a:lstStyle/>
          <a:p>
            <a:r>
              <a:rPr kumimoji="1" lang="zh-CN" altLang="en-US" dirty="0"/>
              <a:t>竞争优势</a:t>
            </a:r>
          </a:p>
        </p:txBody>
      </p:sp>
      <p:cxnSp>
        <p:nvCxnSpPr>
          <p:cNvPr id="8" name="直线箭头连接符 7">
            <a:extLst>
              <a:ext uri="{FF2B5EF4-FFF2-40B4-BE49-F238E27FC236}">
                <a16:creationId xmlns:a16="http://schemas.microsoft.com/office/drawing/2014/main" id="{54D91A9C-8496-3748-AF61-05D50E642378}"/>
              </a:ext>
            </a:extLst>
          </p:cNvPr>
          <p:cNvCxnSpPr>
            <a:cxnSpLocks/>
            <a:stCxn id="4" idx="3"/>
            <a:endCxn id="5" idx="1"/>
          </p:cNvCxnSpPr>
          <p:nvPr/>
        </p:nvCxnSpPr>
        <p:spPr>
          <a:xfrm>
            <a:off x="1574671" y="4045714"/>
            <a:ext cx="226369"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9" name="直线箭头连接符 8">
            <a:extLst>
              <a:ext uri="{FF2B5EF4-FFF2-40B4-BE49-F238E27FC236}">
                <a16:creationId xmlns:a16="http://schemas.microsoft.com/office/drawing/2014/main" id="{3C3A84B0-7ED0-5E47-B1B1-DD80573F8977}"/>
              </a:ext>
            </a:extLst>
          </p:cNvPr>
          <p:cNvCxnSpPr>
            <a:cxnSpLocks/>
            <a:stCxn id="5" idx="3"/>
            <a:endCxn id="6" idx="1"/>
          </p:cNvCxnSpPr>
          <p:nvPr/>
        </p:nvCxnSpPr>
        <p:spPr>
          <a:xfrm>
            <a:off x="2870815" y="4045714"/>
            <a:ext cx="305965"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0" name="直线箭头连接符 9">
            <a:extLst>
              <a:ext uri="{FF2B5EF4-FFF2-40B4-BE49-F238E27FC236}">
                <a16:creationId xmlns:a16="http://schemas.microsoft.com/office/drawing/2014/main" id="{F9966C50-4F12-8349-99D1-201231C0C818}"/>
              </a:ext>
            </a:extLst>
          </p:cNvPr>
          <p:cNvCxnSpPr>
            <a:cxnSpLocks/>
            <a:stCxn id="6" idx="3"/>
            <a:endCxn id="7" idx="1"/>
          </p:cNvCxnSpPr>
          <p:nvPr/>
        </p:nvCxnSpPr>
        <p:spPr>
          <a:xfrm>
            <a:off x="4815031" y="4045714"/>
            <a:ext cx="40504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pic>
        <p:nvPicPr>
          <p:cNvPr id="19" name="图片 18">
            <a:extLst>
              <a:ext uri="{FF2B5EF4-FFF2-40B4-BE49-F238E27FC236}">
                <a16:creationId xmlns:a16="http://schemas.microsoft.com/office/drawing/2014/main" id="{BE75566F-901B-3340-8E66-F55DCBCBE0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7141" y="2852936"/>
            <a:ext cx="2260600" cy="3175000"/>
          </a:xfrm>
          <a:prstGeom prst="rect">
            <a:avLst/>
          </a:prstGeom>
        </p:spPr>
      </p:pic>
    </p:spTree>
    <p:extLst>
      <p:ext uri="{BB962C8B-B14F-4D97-AF65-F5344CB8AC3E}">
        <p14:creationId xmlns:p14="http://schemas.microsoft.com/office/powerpoint/2010/main" val="56979965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3"/>
          <p:cNvSpPr>
            <a:spLocks noChangeArrowheads="1"/>
          </p:cNvSpPr>
          <p:nvPr/>
        </p:nvSpPr>
        <p:spPr bwMode="auto">
          <a:xfrm>
            <a:off x="685800" y="990600"/>
            <a:ext cx="609600" cy="685800"/>
          </a:xfrm>
          <a:prstGeom prst="rect">
            <a:avLst/>
          </a:prstGeom>
          <a:solidFill>
            <a:schemeClr val="accent1"/>
          </a:solidFill>
          <a:ln w="9525">
            <a:miter lim="800000"/>
            <a:headEnd/>
            <a:tailEnd/>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r>
              <a:rPr kumimoji="1" lang="zh-CN" altLang="en-US" b="1">
                <a:latin typeface="Times New Roman" pitchFamily="18" charset="0"/>
                <a:ea typeface="方正姚体"/>
              </a:rPr>
              <a:t>最终</a:t>
            </a:r>
          </a:p>
          <a:p>
            <a:pPr algn="ctr"/>
            <a:r>
              <a:rPr kumimoji="1" lang="zh-CN" altLang="en-US" b="1">
                <a:latin typeface="Times New Roman" pitchFamily="18" charset="0"/>
                <a:ea typeface="方正姚体"/>
              </a:rPr>
              <a:t>产品</a:t>
            </a:r>
            <a:r>
              <a:rPr kumimoji="1" lang="en-US" altLang="zh-CN" b="1">
                <a:latin typeface="Times New Roman" pitchFamily="18" charset="0"/>
                <a:ea typeface="方正姚体"/>
              </a:rPr>
              <a:t>1</a:t>
            </a:r>
          </a:p>
        </p:txBody>
      </p:sp>
      <p:sp>
        <p:nvSpPr>
          <p:cNvPr id="118786" name="Rectangle 4"/>
          <p:cNvSpPr>
            <a:spLocks noChangeArrowheads="1"/>
          </p:cNvSpPr>
          <p:nvPr/>
        </p:nvSpPr>
        <p:spPr bwMode="auto">
          <a:xfrm>
            <a:off x="1371600" y="990600"/>
            <a:ext cx="609600" cy="685800"/>
          </a:xfrm>
          <a:prstGeom prst="rect">
            <a:avLst/>
          </a:prstGeom>
          <a:solidFill>
            <a:schemeClr val="accent1"/>
          </a:solidFill>
          <a:ln w="9525">
            <a:miter lim="800000"/>
            <a:headEnd/>
            <a:tailEnd/>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r>
              <a:rPr kumimoji="1" lang="zh-CN" altLang="en-US" b="1">
                <a:latin typeface="Times New Roman" pitchFamily="18" charset="0"/>
                <a:ea typeface="方正姚体"/>
              </a:rPr>
              <a:t>最终</a:t>
            </a:r>
          </a:p>
          <a:p>
            <a:pPr algn="ctr"/>
            <a:r>
              <a:rPr kumimoji="1" lang="zh-CN" altLang="en-US" b="1">
                <a:latin typeface="Times New Roman" pitchFamily="18" charset="0"/>
                <a:ea typeface="方正姚体"/>
              </a:rPr>
              <a:t>产品</a:t>
            </a:r>
            <a:r>
              <a:rPr kumimoji="1" lang="en-US" altLang="zh-CN" b="1">
                <a:latin typeface="Times New Roman" pitchFamily="18" charset="0"/>
                <a:ea typeface="方正姚体"/>
              </a:rPr>
              <a:t>2</a:t>
            </a:r>
          </a:p>
        </p:txBody>
      </p:sp>
      <p:sp>
        <p:nvSpPr>
          <p:cNvPr id="118787" name="Rectangle 5"/>
          <p:cNvSpPr>
            <a:spLocks noChangeArrowheads="1"/>
          </p:cNvSpPr>
          <p:nvPr/>
        </p:nvSpPr>
        <p:spPr bwMode="auto">
          <a:xfrm>
            <a:off x="2057400" y="990600"/>
            <a:ext cx="609600" cy="685800"/>
          </a:xfrm>
          <a:prstGeom prst="rect">
            <a:avLst/>
          </a:prstGeom>
          <a:solidFill>
            <a:schemeClr val="accent1"/>
          </a:solidFill>
          <a:ln w="9525">
            <a:miter lim="800000"/>
            <a:headEnd/>
            <a:tailEnd/>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r>
              <a:rPr kumimoji="1" lang="zh-CN" altLang="en-US" b="1">
                <a:latin typeface="Times New Roman" pitchFamily="18" charset="0"/>
                <a:ea typeface="方正姚体"/>
              </a:rPr>
              <a:t>最终</a:t>
            </a:r>
          </a:p>
          <a:p>
            <a:pPr algn="ctr"/>
            <a:r>
              <a:rPr kumimoji="1" lang="zh-CN" altLang="en-US" b="1">
                <a:latin typeface="Times New Roman" pitchFamily="18" charset="0"/>
                <a:ea typeface="方正姚体"/>
              </a:rPr>
              <a:t>产品</a:t>
            </a:r>
            <a:r>
              <a:rPr kumimoji="1" lang="en-US" altLang="zh-CN" b="1">
                <a:latin typeface="Times New Roman" pitchFamily="18" charset="0"/>
                <a:ea typeface="方正姚体"/>
              </a:rPr>
              <a:t>3</a:t>
            </a:r>
          </a:p>
        </p:txBody>
      </p:sp>
      <p:sp>
        <p:nvSpPr>
          <p:cNvPr id="118788" name="Rectangle 6"/>
          <p:cNvSpPr>
            <a:spLocks noChangeArrowheads="1"/>
          </p:cNvSpPr>
          <p:nvPr/>
        </p:nvSpPr>
        <p:spPr bwMode="auto">
          <a:xfrm>
            <a:off x="2895600" y="990600"/>
            <a:ext cx="609600" cy="685800"/>
          </a:xfrm>
          <a:prstGeom prst="rect">
            <a:avLst/>
          </a:prstGeom>
          <a:solidFill>
            <a:schemeClr val="accent1"/>
          </a:solidFill>
          <a:ln w="9525">
            <a:miter lim="800000"/>
            <a:headEnd/>
            <a:tailEnd/>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r>
              <a:rPr kumimoji="1" lang="zh-CN" altLang="en-US" b="1">
                <a:latin typeface="Times New Roman" pitchFamily="18" charset="0"/>
                <a:ea typeface="方正姚体"/>
              </a:rPr>
              <a:t>最终</a:t>
            </a:r>
          </a:p>
          <a:p>
            <a:pPr algn="ctr"/>
            <a:r>
              <a:rPr kumimoji="1" lang="zh-CN" altLang="en-US" b="1">
                <a:latin typeface="Times New Roman" pitchFamily="18" charset="0"/>
                <a:ea typeface="方正姚体"/>
              </a:rPr>
              <a:t>产品</a:t>
            </a:r>
            <a:r>
              <a:rPr kumimoji="1" lang="en-US" altLang="zh-CN" b="1">
                <a:latin typeface="Times New Roman" pitchFamily="18" charset="0"/>
                <a:ea typeface="方正姚体"/>
              </a:rPr>
              <a:t>4</a:t>
            </a:r>
          </a:p>
        </p:txBody>
      </p:sp>
      <p:sp>
        <p:nvSpPr>
          <p:cNvPr id="118789" name="Rectangle 7"/>
          <p:cNvSpPr>
            <a:spLocks noChangeArrowheads="1"/>
          </p:cNvSpPr>
          <p:nvPr/>
        </p:nvSpPr>
        <p:spPr bwMode="auto">
          <a:xfrm>
            <a:off x="3581400" y="990600"/>
            <a:ext cx="609600" cy="685800"/>
          </a:xfrm>
          <a:prstGeom prst="rect">
            <a:avLst/>
          </a:prstGeom>
          <a:solidFill>
            <a:schemeClr val="accent1"/>
          </a:solidFill>
          <a:ln w="9525">
            <a:miter lim="800000"/>
            <a:headEnd/>
            <a:tailEnd/>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r>
              <a:rPr kumimoji="1" lang="zh-CN" altLang="en-US" b="1">
                <a:latin typeface="Times New Roman" pitchFamily="18" charset="0"/>
                <a:ea typeface="方正姚体"/>
              </a:rPr>
              <a:t>最终</a:t>
            </a:r>
          </a:p>
          <a:p>
            <a:pPr algn="ctr"/>
            <a:r>
              <a:rPr kumimoji="1" lang="zh-CN" altLang="en-US" b="1">
                <a:latin typeface="Times New Roman" pitchFamily="18" charset="0"/>
                <a:ea typeface="方正姚体"/>
              </a:rPr>
              <a:t>产品</a:t>
            </a:r>
            <a:r>
              <a:rPr kumimoji="1" lang="en-US" altLang="zh-CN" b="1">
                <a:latin typeface="Times New Roman" pitchFamily="18" charset="0"/>
                <a:ea typeface="方正姚体"/>
              </a:rPr>
              <a:t>5</a:t>
            </a:r>
          </a:p>
        </p:txBody>
      </p:sp>
      <p:sp>
        <p:nvSpPr>
          <p:cNvPr id="118790" name="Rectangle 8"/>
          <p:cNvSpPr>
            <a:spLocks noChangeArrowheads="1"/>
          </p:cNvSpPr>
          <p:nvPr/>
        </p:nvSpPr>
        <p:spPr bwMode="auto">
          <a:xfrm>
            <a:off x="4267200" y="990600"/>
            <a:ext cx="609600" cy="685800"/>
          </a:xfrm>
          <a:prstGeom prst="rect">
            <a:avLst/>
          </a:prstGeom>
          <a:solidFill>
            <a:schemeClr val="accent1"/>
          </a:solidFill>
          <a:ln w="9525">
            <a:miter lim="800000"/>
            <a:headEnd/>
            <a:tailEnd/>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r>
              <a:rPr kumimoji="1" lang="zh-CN" altLang="en-US" b="1">
                <a:latin typeface="Times New Roman" pitchFamily="18" charset="0"/>
                <a:ea typeface="方正姚体"/>
              </a:rPr>
              <a:t>最终</a:t>
            </a:r>
          </a:p>
          <a:p>
            <a:pPr algn="ctr"/>
            <a:r>
              <a:rPr kumimoji="1" lang="zh-CN" altLang="en-US" b="1">
                <a:latin typeface="Times New Roman" pitchFamily="18" charset="0"/>
                <a:ea typeface="方正姚体"/>
              </a:rPr>
              <a:t>产品</a:t>
            </a:r>
            <a:r>
              <a:rPr kumimoji="1" lang="en-US" altLang="zh-CN" b="1">
                <a:latin typeface="Times New Roman" pitchFamily="18" charset="0"/>
                <a:ea typeface="方正姚体"/>
              </a:rPr>
              <a:t>6</a:t>
            </a:r>
          </a:p>
        </p:txBody>
      </p:sp>
      <p:sp>
        <p:nvSpPr>
          <p:cNvPr id="118791" name="Rectangle 9"/>
          <p:cNvSpPr>
            <a:spLocks noChangeArrowheads="1"/>
          </p:cNvSpPr>
          <p:nvPr/>
        </p:nvSpPr>
        <p:spPr bwMode="auto">
          <a:xfrm>
            <a:off x="5105400" y="990600"/>
            <a:ext cx="609600" cy="685800"/>
          </a:xfrm>
          <a:prstGeom prst="rect">
            <a:avLst/>
          </a:prstGeom>
          <a:solidFill>
            <a:schemeClr val="accent1"/>
          </a:solidFill>
          <a:ln w="9525">
            <a:miter lim="800000"/>
            <a:headEnd/>
            <a:tailEnd/>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r>
              <a:rPr kumimoji="1" lang="zh-CN" altLang="en-US" b="1">
                <a:latin typeface="Times New Roman" pitchFamily="18" charset="0"/>
                <a:ea typeface="方正姚体"/>
              </a:rPr>
              <a:t>最终</a:t>
            </a:r>
          </a:p>
          <a:p>
            <a:pPr algn="ctr"/>
            <a:r>
              <a:rPr kumimoji="1" lang="zh-CN" altLang="en-US" b="1">
                <a:latin typeface="Times New Roman" pitchFamily="18" charset="0"/>
                <a:ea typeface="方正姚体"/>
              </a:rPr>
              <a:t>产品</a:t>
            </a:r>
            <a:r>
              <a:rPr kumimoji="1" lang="en-US" altLang="zh-CN" b="1">
                <a:latin typeface="Times New Roman" pitchFamily="18" charset="0"/>
                <a:ea typeface="方正姚体"/>
              </a:rPr>
              <a:t>7</a:t>
            </a:r>
          </a:p>
        </p:txBody>
      </p:sp>
      <p:sp>
        <p:nvSpPr>
          <p:cNvPr id="118792" name="Rectangle 10"/>
          <p:cNvSpPr>
            <a:spLocks noChangeArrowheads="1"/>
          </p:cNvSpPr>
          <p:nvPr/>
        </p:nvSpPr>
        <p:spPr bwMode="auto">
          <a:xfrm>
            <a:off x="5791200" y="990600"/>
            <a:ext cx="533400" cy="685800"/>
          </a:xfrm>
          <a:prstGeom prst="rect">
            <a:avLst/>
          </a:prstGeom>
          <a:solidFill>
            <a:schemeClr val="accent1"/>
          </a:solidFill>
          <a:ln w="9525">
            <a:miter lim="800000"/>
            <a:headEnd/>
            <a:tailEnd/>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r>
              <a:rPr kumimoji="1" lang="zh-CN" altLang="en-US" b="1">
                <a:latin typeface="Times New Roman" pitchFamily="18" charset="0"/>
                <a:ea typeface="方正姚体"/>
              </a:rPr>
              <a:t>最终</a:t>
            </a:r>
          </a:p>
          <a:p>
            <a:pPr algn="ctr"/>
            <a:r>
              <a:rPr kumimoji="1" lang="zh-CN" altLang="en-US" b="1">
                <a:latin typeface="Times New Roman" pitchFamily="18" charset="0"/>
                <a:ea typeface="方正姚体"/>
              </a:rPr>
              <a:t>产品</a:t>
            </a:r>
            <a:r>
              <a:rPr kumimoji="1" lang="en-US" altLang="zh-CN" b="1">
                <a:latin typeface="Times New Roman" pitchFamily="18" charset="0"/>
                <a:ea typeface="方正姚体"/>
              </a:rPr>
              <a:t>8</a:t>
            </a:r>
          </a:p>
        </p:txBody>
      </p:sp>
      <p:sp>
        <p:nvSpPr>
          <p:cNvPr id="118793" name="Rectangle 11"/>
          <p:cNvSpPr>
            <a:spLocks noChangeArrowheads="1"/>
          </p:cNvSpPr>
          <p:nvPr/>
        </p:nvSpPr>
        <p:spPr bwMode="auto">
          <a:xfrm>
            <a:off x="6400800" y="990600"/>
            <a:ext cx="533400" cy="685800"/>
          </a:xfrm>
          <a:prstGeom prst="rect">
            <a:avLst/>
          </a:prstGeom>
          <a:solidFill>
            <a:schemeClr val="accent1"/>
          </a:solidFill>
          <a:ln w="9525">
            <a:miter lim="800000"/>
            <a:headEnd/>
            <a:tailEnd/>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r>
              <a:rPr kumimoji="1" lang="zh-CN" altLang="en-US" b="1">
                <a:latin typeface="Times New Roman" pitchFamily="18" charset="0"/>
                <a:ea typeface="方正姚体"/>
              </a:rPr>
              <a:t>最终</a:t>
            </a:r>
          </a:p>
          <a:p>
            <a:pPr algn="ctr"/>
            <a:r>
              <a:rPr kumimoji="1" lang="zh-CN" altLang="en-US" b="1">
                <a:latin typeface="Times New Roman" pitchFamily="18" charset="0"/>
                <a:ea typeface="方正姚体"/>
              </a:rPr>
              <a:t>产品</a:t>
            </a:r>
            <a:r>
              <a:rPr kumimoji="1" lang="en-US" altLang="zh-CN" b="1">
                <a:latin typeface="Times New Roman" pitchFamily="18" charset="0"/>
                <a:ea typeface="方正姚体"/>
              </a:rPr>
              <a:t>9</a:t>
            </a:r>
          </a:p>
        </p:txBody>
      </p:sp>
      <p:sp>
        <p:nvSpPr>
          <p:cNvPr id="118794" name="Rectangle 12"/>
          <p:cNvSpPr>
            <a:spLocks noChangeArrowheads="1"/>
          </p:cNvSpPr>
          <p:nvPr/>
        </p:nvSpPr>
        <p:spPr bwMode="auto">
          <a:xfrm>
            <a:off x="7162800" y="990600"/>
            <a:ext cx="533400" cy="685800"/>
          </a:xfrm>
          <a:prstGeom prst="rect">
            <a:avLst/>
          </a:prstGeom>
          <a:solidFill>
            <a:schemeClr val="accent1"/>
          </a:solidFill>
          <a:ln w="9525">
            <a:miter lim="800000"/>
            <a:headEnd/>
            <a:tailEnd/>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r>
              <a:rPr kumimoji="1" lang="zh-CN" altLang="en-US" b="1">
                <a:latin typeface="Times New Roman" pitchFamily="18" charset="0"/>
                <a:ea typeface="方正姚体"/>
              </a:rPr>
              <a:t>最终</a:t>
            </a:r>
          </a:p>
          <a:p>
            <a:pPr algn="ctr"/>
            <a:r>
              <a:rPr kumimoji="1" lang="zh-CN" altLang="en-US" b="1">
                <a:latin typeface="Times New Roman" pitchFamily="18" charset="0"/>
                <a:ea typeface="方正姚体"/>
              </a:rPr>
              <a:t>产品</a:t>
            </a:r>
            <a:r>
              <a:rPr kumimoji="1" lang="en-US" altLang="zh-CN" b="1">
                <a:latin typeface="Times New Roman" pitchFamily="18" charset="0"/>
                <a:ea typeface="方正姚体"/>
              </a:rPr>
              <a:t>10</a:t>
            </a:r>
          </a:p>
        </p:txBody>
      </p:sp>
      <p:sp>
        <p:nvSpPr>
          <p:cNvPr id="118795" name="Rectangle 13"/>
          <p:cNvSpPr>
            <a:spLocks noChangeArrowheads="1"/>
          </p:cNvSpPr>
          <p:nvPr/>
        </p:nvSpPr>
        <p:spPr bwMode="auto">
          <a:xfrm>
            <a:off x="7772400" y="990600"/>
            <a:ext cx="533400" cy="685800"/>
          </a:xfrm>
          <a:prstGeom prst="rect">
            <a:avLst/>
          </a:prstGeom>
          <a:solidFill>
            <a:schemeClr val="accent1"/>
          </a:solidFill>
          <a:ln w="9525">
            <a:miter lim="800000"/>
            <a:headEnd/>
            <a:tailEnd/>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r>
              <a:rPr kumimoji="1" lang="zh-CN" altLang="en-US" sz="1600" b="1">
                <a:latin typeface="Rockwell"/>
                <a:ea typeface="方正姚体"/>
              </a:rPr>
              <a:t>最终</a:t>
            </a:r>
          </a:p>
          <a:p>
            <a:pPr algn="ctr"/>
            <a:r>
              <a:rPr kumimoji="1" lang="zh-CN" altLang="en-US" sz="1600" b="1">
                <a:latin typeface="Rockwell"/>
                <a:ea typeface="方正姚体"/>
              </a:rPr>
              <a:t>产品</a:t>
            </a:r>
            <a:r>
              <a:rPr kumimoji="1" lang="en-US" altLang="zh-CN" sz="1600" b="1">
                <a:latin typeface="Rockwell"/>
                <a:ea typeface="方正姚体"/>
              </a:rPr>
              <a:t>11</a:t>
            </a:r>
          </a:p>
        </p:txBody>
      </p:sp>
      <p:sp>
        <p:nvSpPr>
          <p:cNvPr id="118796" name="Rectangle 14"/>
          <p:cNvSpPr>
            <a:spLocks noChangeArrowheads="1"/>
          </p:cNvSpPr>
          <p:nvPr/>
        </p:nvSpPr>
        <p:spPr bwMode="auto">
          <a:xfrm>
            <a:off x="8532813" y="908050"/>
            <a:ext cx="431800" cy="793750"/>
          </a:xfrm>
          <a:prstGeom prst="rect">
            <a:avLst/>
          </a:prstGeom>
          <a:solidFill>
            <a:schemeClr val="accent1"/>
          </a:solidFill>
          <a:ln w="9525">
            <a:miter lim="800000"/>
            <a:headEnd/>
            <a:tailEnd/>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r>
              <a:rPr kumimoji="1" lang="zh-CN" altLang="en-US" sz="1600" b="1">
                <a:latin typeface="Times New Roman" pitchFamily="18" charset="0"/>
                <a:ea typeface="方正姚体"/>
              </a:rPr>
              <a:t>最终</a:t>
            </a:r>
          </a:p>
          <a:p>
            <a:pPr algn="ctr"/>
            <a:r>
              <a:rPr kumimoji="1" lang="zh-CN" altLang="en-US" sz="1600" b="1">
                <a:latin typeface="Times New Roman" pitchFamily="18" charset="0"/>
                <a:ea typeface="方正姚体"/>
              </a:rPr>
              <a:t>产品</a:t>
            </a:r>
            <a:r>
              <a:rPr kumimoji="1" lang="en-US" altLang="zh-CN" sz="1600" b="1">
                <a:latin typeface="Times New Roman" pitchFamily="18" charset="0"/>
                <a:ea typeface="方正姚体"/>
              </a:rPr>
              <a:t>12</a:t>
            </a:r>
            <a:endParaRPr kumimoji="1" lang="en-US" altLang="zh-CN" sz="1600" b="1">
              <a:latin typeface="Rockwell"/>
              <a:ea typeface="方正姚体"/>
            </a:endParaRPr>
          </a:p>
          <a:p>
            <a:pPr algn="ctr"/>
            <a:endParaRPr kumimoji="1" lang="en-US" altLang="zh-CN" b="1">
              <a:latin typeface="Times New Roman" pitchFamily="18" charset="0"/>
              <a:ea typeface="方正姚体"/>
            </a:endParaRPr>
          </a:p>
        </p:txBody>
      </p:sp>
      <p:sp>
        <p:nvSpPr>
          <p:cNvPr id="118797" name="Line 15"/>
          <p:cNvSpPr>
            <a:spLocks noChangeShapeType="1"/>
          </p:cNvSpPr>
          <p:nvPr/>
        </p:nvSpPr>
        <p:spPr bwMode="auto">
          <a:xfrm>
            <a:off x="990600" y="1676400"/>
            <a:ext cx="0" cy="304800"/>
          </a:xfrm>
          <a:prstGeom prst="line">
            <a:avLst/>
          </a:prstGeom>
          <a:noFill/>
          <a:ln w="57150">
            <a:solidFill>
              <a:schemeClr val="tx1"/>
            </a:solidFill>
            <a:miter lim="800000"/>
            <a:headEnd/>
            <a:tailEnd/>
          </a:ln>
        </p:spPr>
        <p:txBody>
          <a:bodyPr wrap="none"/>
          <a:lstStyle/>
          <a:p>
            <a:endParaRPr lang="zh-CN" altLang="en-US"/>
          </a:p>
        </p:txBody>
      </p:sp>
      <p:sp>
        <p:nvSpPr>
          <p:cNvPr id="118798" name="Line 16"/>
          <p:cNvSpPr>
            <a:spLocks noChangeShapeType="1"/>
          </p:cNvSpPr>
          <p:nvPr/>
        </p:nvSpPr>
        <p:spPr bwMode="auto">
          <a:xfrm>
            <a:off x="2362200" y="1676400"/>
            <a:ext cx="0" cy="304800"/>
          </a:xfrm>
          <a:prstGeom prst="line">
            <a:avLst/>
          </a:prstGeom>
          <a:noFill/>
          <a:ln w="57150">
            <a:solidFill>
              <a:schemeClr val="tx1"/>
            </a:solidFill>
            <a:miter lim="800000"/>
            <a:headEnd/>
            <a:tailEnd/>
          </a:ln>
        </p:spPr>
        <p:txBody>
          <a:bodyPr wrap="none"/>
          <a:lstStyle/>
          <a:p>
            <a:endParaRPr lang="zh-CN" altLang="en-US"/>
          </a:p>
        </p:txBody>
      </p:sp>
      <p:sp>
        <p:nvSpPr>
          <p:cNvPr id="118799" name="Line 17"/>
          <p:cNvSpPr>
            <a:spLocks noChangeShapeType="1"/>
          </p:cNvSpPr>
          <p:nvPr/>
        </p:nvSpPr>
        <p:spPr bwMode="auto">
          <a:xfrm>
            <a:off x="990600" y="1981200"/>
            <a:ext cx="1371600" cy="0"/>
          </a:xfrm>
          <a:prstGeom prst="line">
            <a:avLst/>
          </a:prstGeom>
          <a:noFill/>
          <a:ln w="57150">
            <a:solidFill>
              <a:schemeClr val="tx1"/>
            </a:solidFill>
            <a:miter lim="800000"/>
            <a:headEnd/>
            <a:tailEnd/>
          </a:ln>
        </p:spPr>
        <p:txBody>
          <a:bodyPr wrap="none"/>
          <a:lstStyle/>
          <a:p>
            <a:endParaRPr lang="zh-CN" altLang="en-US"/>
          </a:p>
        </p:txBody>
      </p:sp>
      <p:sp>
        <p:nvSpPr>
          <p:cNvPr id="118800" name="Line 18"/>
          <p:cNvSpPr>
            <a:spLocks noChangeShapeType="1"/>
          </p:cNvSpPr>
          <p:nvPr/>
        </p:nvSpPr>
        <p:spPr bwMode="auto">
          <a:xfrm>
            <a:off x="1676400" y="1676400"/>
            <a:ext cx="0" cy="762000"/>
          </a:xfrm>
          <a:prstGeom prst="line">
            <a:avLst/>
          </a:prstGeom>
          <a:noFill/>
          <a:ln w="57150">
            <a:solidFill>
              <a:schemeClr val="tx1"/>
            </a:solidFill>
            <a:miter lim="800000"/>
            <a:headEnd/>
            <a:tailEnd/>
          </a:ln>
        </p:spPr>
        <p:txBody>
          <a:bodyPr wrap="none"/>
          <a:lstStyle/>
          <a:p>
            <a:endParaRPr lang="zh-CN" altLang="en-US"/>
          </a:p>
        </p:txBody>
      </p:sp>
      <p:sp>
        <p:nvSpPr>
          <p:cNvPr id="118801" name="Line 19"/>
          <p:cNvSpPr>
            <a:spLocks noChangeShapeType="1"/>
          </p:cNvSpPr>
          <p:nvPr/>
        </p:nvSpPr>
        <p:spPr bwMode="auto">
          <a:xfrm>
            <a:off x="3200400" y="1676400"/>
            <a:ext cx="0" cy="304800"/>
          </a:xfrm>
          <a:prstGeom prst="line">
            <a:avLst/>
          </a:prstGeom>
          <a:noFill/>
          <a:ln w="57150">
            <a:solidFill>
              <a:schemeClr val="tx1"/>
            </a:solidFill>
            <a:miter lim="800000"/>
            <a:headEnd/>
            <a:tailEnd/>
          </a:ln>
        </p:spPr>
        <p:txBody>
          <a:bodyPr wrap="none"/>
          <a:lstStyle/>
          <a:p>
            <a:endParaRPr lang="zh-CN" altLang="en-US"/>
          </a:p>
        </p:txBody>
      </p:sp>
      <p:sp>
        <p:nvSpPr>
          <p:cNvPr id="118802" name="Line 20"/>
          <p:cNvSpPr>
            <a:spLocks noChangeShapeType="1"/>
          </p:cNvSpPr>
          <p:nvPr/>
        </p:nvSpPr>
        <p:spPr bwMode="auto">
          <a:xfrm>
            <a:off x="4572000" y="1676400"/>
            <a:ext cx="0" cy="304800"/>
          </a:xfrm>
          <a:prstGeom prst="line">
            <a:avLst/>
          </a:prstGeom>
          <a:noFill/>
          <a:ln w="57150">
            <a:solidFill>
              <a:schemeClr val="tx1"/>
            </a:solidFill>
            <a:miter lim="800000"/>
            <a:headEnd/>
            <a:tailEnd/>
          </a:ln>
        </p:spPr>
        <p:txBody>
          <a:bodyPr wrap="none"/>
          <a:lstStyle/>
          <a:p>
            <a:endParaRPr lang="zh-CN" altLang="en-US"/>
          </a:p>
        </p:txBody>
      </p:sp>
      <p:sp>
        <p:nvSpPr>
          <p:cNvPr id="118803" name="Line 21"/>
          <p:cNvSpPr>
            <a:spLocks noChangeShapeType="1"/>
          </p:cNvSpPr>
          <p:nvPr/>
        </p:nvSpPr>
        <p:spPr bwMode="auto">
          <a:xfrm>
            <a:off x="3200400" y="1981200"/>
            <a:ext cx="1371600" cy="0"/>
          </a:xfrm>
          <a:prstGeom prst="line">
            <a:avLst/>
          </a:prstGeom>
          <a:noFill/>
          <a:ln w="57150">
            <a:solidFill>
              <a:schemeClr val="tx1"/>
            </a:solidFill>
            <a:miter lim="800000"/>
            <a:headEnd/>
            <a:tailEnd/>
          </a:ln>
        </p:spPr>
        <p:txBody>
          <a:bodyPr wrap="none"/>
          <a:lstStyle/>
          <a:p>
            <a:endParaRPr lang="zh-CN" altLang="en-US"/>
          </a:p>
        </p:txBody>
      </p:sp>
      <p:sp>
        <p:nvSpPr>
          <p:cNvPr id="118804" name="Line 22"/>
          <p:cNvSpPr>
            <a:spLocks noChangeShapeType="1"/>
          </p:cNvSpPr>
          <p:nvPr/>
        </p:nvSpPr>
        <p:spPr bwMode="auto">
          <a:xfrm>
            <a:off x="3886200" y="1676400"/>
            <a:ext cx="0" cy="685800"/>
          </a:xfrm>
          <a:prstGeom prst="line">
            <a:avLst/>
          </a:prstGeom>
          <a:noFill/>
          <a:ln w="57150">
            <a:solidFill>
              <a:schemeClr val="tx1"/>
            </a:solidFill>
            <a:miter lim="800000"/>
            <a:headEnd/>
            <a:tailEnd/>
          </a:ln>
        </p:spPr>
        <p:txBody>
          <a:bodyPr wrap="none"/>
          <a:lstStyle/>
          <a:p>
            <a:endParaRPr lang="zh-CN" altLang="en-US"/>
          </a:p>
        </p:txBody>
      </p:sp>
      <p:sp>
        <p:nvSpPr>
          <p:cNvPr id="118805" name="Line 23"/>
          <p:cNvSpPr>
            <a:spLocks noChangeShapeType="1"/>
          </p:cNvSpPr>
          <p:nvPr/>
        </p:nvSpPr>
        <p:spPr bwMode="auto">
          <a:xfrm>
            <a:off x="5410200" y="1676400"/>
            <a:ext cx="0" cy="304800"/>
          </a:xfrm>
          <a:prstGeom prst="line">
            <a:avLst/>
          </a:prstGeom>
          <a:noFill/>
          <a:ln w="57150">
            <a:solidFill>
              <a:schemeClr val="tx1"/>
            </a:solidFill>
            <a:miter lim="800000"/>
            <a:headEnd/>
            <a:tailEnd/>
          </a:ln>
        </p:spPr>
        <p:txBody>
          <a:bodyPr wrap="none"/>
          <a:lstStyle/>
          <a:p>
            <a:endParaRPr lang="zh-CN" altLang="en-US"/>
          </a:p>
        </p:txBody>
      </p:sp>
      <p:sp>
        <p:nvSpPr>
          <p:cNvPr id="118806" name="Line 24"/>
          <p:cNvSpPr>
            <a:spLocks noChangeShapeType="1"/>
          </p:cNvSpPr>
          <p:nvPr/>
        </p:nvSpPr>
        <p:spPr bwMode="auto">
          <a:xfrm>
            <a:off x="6705600" y="1676400"/>
            <a:ext cx="0" cy="304800"/>
          </a:xfrm>
          <a:prstGeom prst="line">
            <a:avLst/>
          </a:prstGeom>
          <a:noFill/>
          <a:ln w="57150">
            <a:solidFill>
              <a:schemeClr val="tx1"/>
            </a:solidFill>
            <a:miter lim="800000"/>
            <a:headEnd/>
            <a:tailEnd/>
          </a:ln>
        </p:spPr>
        <p:txBody>
          <a:bodyPr wrap="none"/>
          <a:lstStyle/>
          <a:p>
            <a:endParaRPr lang="zh-CN" altLang="en-US"/>
          </a:p>
        </p:txBody>
      </p:sp>
      <p:sp>
        <p:nvSpPr>
          <p:cNvPr id="118807" name="Line 25"/>
          <p:cNvSpPr>
            <a:spLocks noChangeShapeType="1"/>
          </p:cNvSpPr>
          <p:nvPr/>
        </p:nvSpPr>
        <p:spPr bwMode="auto">
          <a:xfrm>
            <a:off x="5410200" y="1981200"/>
            <a:ext cx="1295400" cy="0"/>
          </a:xfrm>
          <a:prstGeom prst="line">
            <a:avLst/>
          </a:prstGeom>
          <a:noFill/>
          <a:ln w="57150">
            <a:solidFill>
              <a:schemeClr val="tx1"/>
            </a:solidFill>
            <a:miter lim="800000"/>
            <a:headEnd/>
            <a:tailEnd/>
          </a:ln>
        </p:spPr>
        <p:txBody>
          <a:bodyPr wrap="none"/>
          <a:lstStyle/>
          <a:p>
            <a:endParaRPr lang="zh-CN" altLang="en-US"/>
          </a:p>
        </p:txBody>
      </p:sp>
      <p:sp>
        <p:nvSpPr>
          <p:cNvPr id="118808" name="Line 26"/>
          <p:cNvSpPr>
            <a:spLocks noChangeShapeType="1"/>
          </p:cNvSpPr>
          <p:nvPr/>
        </p:nvSpPr>
        <p:spPr bwMode="auto">
          <a:xfrm>
            <a:off x="6096000" y="1676400"/>
            <a:ext cx="0" cy="609600"/>
          </a:xfrm>
          <a:prstGeom prst="line">
            <a:avLst/>
          </a:prstGeom>
          <a:noFill/>
          <a:ln w="57150">
            <a:solidFill>
              <a:schemeClr val="tx1"/>
            </a:solidFill>
            <a:miter lim="800000"/>
            <a:headEnd/>
            <a:tailEnd/>
          </a:ln>
        </p:spPr>
        <p:txBody>
          <a:bodyPr wrap="none"/>
          <a:lstStyle/>
          <a:p>
            <a:endParaRPr lang="zh-CN" altLang="en-US"/>
          </a:p>
        </p:txBody>
      </p:sp>
      <p:sp>
        <p:nvSpPr>
          <p:cNvPr id="118809" name="Line 27"/>
          <p:cNvSpPr>
            <a:spLocks noChangeShapeType="1"/>
          </p:cNvSpPr>
          <p:nvPr/>
        </p:nvSpPr>
        <p:spPr bwMode="auto">
          <a:xfrm>
            <a:off x="7467600" y="1676400"/>
            <a:ext cx="0" cy="304800"/>
          </a:xfrm>
          <a:prstGeom prst="line">
            <a:avLst/>
          </a:prstGeom>
          <a:noFill/>
          <a:ln w="57150">
            <a:solidFill>
              <a:schemeClr val="tx1"/>
            </a:solidFill>
            <a:miter lim="800000"/>
            <a:headEnd/>
            <a:tailEnd/>
          </a:ln>
        </p:spPr>
        <p:txBody>
          <a:bodyPr wrap="none"/>
          <a:lstStyle/>
          <a:p>
            <a:endParaRPr lang="zh-CN" altLang="en-US"/>
          </a:p>
        </p:txBody>
      </p:sp>
      <p:sp>
        <p:nvSpPr>
          <p:cNvPr id="118810" name="Line 28"/>
          <p:cNvSpPr>
            <a:spLocks noChangeShapeType="1"/>
          </p:cNvSpPr>
          <p:nvPr/>
        </p:nvSpPr>
        <p:spPr bwMode="auto">
          <a:xfrm>
            <a:off x="8610600" y="1676400"/>
            <a:ext cx="0" cy="304800"/>
          </a:xfrm>
          <a:prstGeom prst="line">
            <a:avLst/>
          </a:prstGeom>
          <a:noFill/>
          <a:ln w="57150">
            <a:solidFill>
              <a:schemeClr val="tx1"/>
            </a:solidFill>
            <a:miter lim="800000"/>
            <a:headEnd/>
            <a:tailEnd/>
          </a:ln>
        </p:spPr>
        <p:txBody>
          <a:bodyPr wrap="none"/>
          <a:lstStyle/>
          <a:p>
            <a:endParaRPr lang="zh-CN" altLang="en-US"/>
          </a:p>
        </p:txBody>
      </p:sp>
      <p:sp>
        <p:nvSpPr>
          <p:cNvPr id="118811" name="Line 29"/>
          <p:cNvSpPr>
            <a:spLocks noChangeShapeType="1"/>
          </p:cNvSpPr>
          <p:nvPr/>
        </p:nvSpPr>
        <p:spPr bwMode="auto">
          <a:xfrm>
            <a:off x="7467600" y="1981200"/>
            <a:ext cx="1143000" cy="0"/>
          </a:xfrm>
          <a:prstGeom prst="line">
            <a:avLst/>
          </a:prstGeom>
          <a:noFill/>
          <a:ln w="57150">
            <a:solidFill>
              <a:schemeClr val="tx1"/>
            </a:solidFill>
            <a:miter lim="800000"/>
            <a:headEnd/>
            <a:tailEnd/>
          </a:ln>
        </p:spPr>
        <p:txBody>
          <a:bodyPr wrap="none"/>
          <a:lstStyle/>
          <a:p>
            <a:endParaRPr lang="zh-CN" altLang="en-US"/>
          </a:p>
        </p:txBody>
      </p:sp>
      <p:sp>
        <p:nvSpPr>
          <p:cNvPr id="118812" name="Line 30"/>
          <p:cNvSpPr>
            <a:spLocks noChangeShapeType="1"/>
          </p:cNvSpPr>
          <p:nvPr/>
        </p:nvSpPr>
        <p:spPr bwMode="auto">
          <a:xfrm>
            <a:off x="8077200" y="1676400"/>
            <a:ext cx="0" cy="609600"/>
          </a:xfrm>
          <a:prstGeom prst="line">
            <a:avLst/>
          </a:prstGeom>
          <a:noFill/>
          <a:ln w="57150">
            <a:solidFill>
              <a:schemeClr val="tx1"/>
            </a:solidFill>
            <a:miter lim="800000"/>
            <a:headEnd/>
            <a:tailEnd/>
          </a:ln>
        </p:spPr>
        <p:txBody>
          <a:bodyPr wrap="none"/>
          <a:lstStyle/>
          <a:p>
            <a:endParaRPr lang="zh-CN" altLang="en-US"/>
          </a:p>
        </p:txBody>
      </p:sp>
      <p:sp>
        <p:nvSpPr>
          <p:cNvPr id="118813" name="Rectangle 31"/>
          <p:cNvSpPr>
            <a:spLocks noChangeArrowheads="1"/>
          </p:cNvSpPr>
          <p:nvPr/>
        </p:nvSpPr>
        <p:spPr bwMode="auto">
          <a:xfrm>
            <a:off x="1295400" y="2362200"/>
            <a:ext cx="838200" cy="533400"/>
          </a:xfrm>
          <a:prstGeom prst="rect">
            <a:avLst/>
          </a:prstGeom>
          <a:solidFill>
            <a:schemeClr val="accent1"/>
          </a:solidFill>
          <a:ln w="9525">
            <a:miter lim="800000"/>
            <a:headEnd/>
            <a:tailEnd/>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r>
              <a:rPr kumimoji="1" lang="zh-CN" altLang="en-US" sz="2400" b="1">
                <a:latin typeface="Times New Roman" pitchFamily="18" charset="0"/>
                <a:ea typeface="方正姚体"/>
              </a:rPr>
              <a:t>事业</a:t>
            </a:r>
            <a:r>
              <a:rPr kumimoji="1" lang="en-US" altLang="zh-CN" sz="2400" b="1">
                <a:latin typeface="Times New Roman" pitchFamily="18" charset="0"/>
                <a:ea typeface="方正姚体"/>
              </a:rPr>
              <a:t>1</a:t>
            </a:r>
          </a:p>
        </p:txBody>
      </p:sp>
      <p:sp>
        <p:nvSpPr>
          <p:cNvPr id="118814" name="Rectangle 32"/>
          <p:cNvSpPr>
            <a:spLocks noChangeArrowheads="1"/>
          </p:cNvSpPr>
          <p:nvPr/>
        </p:nvSpPr>
        <p:spPr bwMode="auto">
          <a:xfrm>
            <a:off x="3429000" y="2362200"/>
            <a:ext cx="914400" cy="533400"/>
          </a:xfrm>
          <a:prstGeom prst="rect">
            <a:avLst/>
          </a:prstGeom>
          <a:solidFill>
            <a:schemeClr val="accent1"/>
          </a:solidFill>
          <a:ln w="9525">
            <a:miter lim="800000"/>
            <a:headEnd/>
            <a:tailEnd/>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r>
              <a:rPr kumimoji="1" lang="zh-CN" altLang="en-US" sz="2400" b="1">
                <a:latin typeface="Times New Roman" pitchFamily="18" charset="0"/>
                <a:ea typeface="方正姚体"/>
              </a:rPr>
              <a:t>事业</a:t>
            </a:r>
            <a:r>
              <a:rPr kumimoji="1" lang="en-US" altLang="zh-CN" sz="2400" b="1">
                <a:latin typeface="Times New Roman" pitchFamily="18" charset="0"/>
                <a:ea typeface="方正姚体"/>
              </a:rPr>
              <a:t>2</a:t>
            </a:r>
          </a:p>
        </p:txBody>
      </p:sp>
      <p:sp>
        <p:nvSpPr>
          <p:cNvPr id="118815" name="Rectangle 33"/>
          <p:cNvSpPr>
            <a:spLocks noChangeArrowheads="1"/>
          </p:cNvSpPr>
          <p:nvPr/>
        </p:nvSpPr>
        <p:spPr bwMode="auto">
          <a:xfrm>
            <a:off x="5715000" y="2286000"/>
            <a:ext cx="838200" cy="533400"/>
          </a:xfrm>
          <a:prstGeom prst="rect">
            <a:avLst/>
          </a:prstGeom>
          <a:solidFill>
            <a:schemeClr val="accent1"/>
          </a:solidFill>
          <a:ln w="9525">
            <a:miter lim="800000"/>
            <a:headEnd/>
            <a:tailEnd/>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r>
              <a:rPr kumimoji="1" lang="zh-CN" altLang="en-US" sz="2400" b="1">
                <a:latin typeface="Times New Roman" pitchFamily="18" charset="0"/>
                <a:ea typeface="方正姚体"/>
              </a:rPr>
              <a:t>事业</a:t>
            </a:r>
            <a:r>
              <a:rPr kumimoji="1" lang="en-US" altLang="zh-CN" sz="2400" b="1">
                <a:latin typeface="Times New Roman" pitchFamily="18" charset="0"/>
                <a:ea typeface="方正姚体"/>
              </a:rPr>
              <a:t>3</a:t>
            </a:r>
          </a:p>
        </p:txBody>
      </p:sp>
      <p:sp>
        <p:nvSpPr>
          <p:cNvPr id="118816" name="Rectangle 34"/>
          <p:cNvSpPr>
            <a:spLocks noChangeArrowheads="1"/>
          </p:cNvSpPr>
          <p:nvPr/>
        </p:nvSpPr>
        <p:spPr bwMode="auto">
          <a:xfrm>
            <a:off x="7696200" y="2286000"/>
            <a:ext cx="838200" cy="533400"/>
          </a:xfrm>
          <a:prstGeom prst="rect">
            <a:avLst/>
          </a:prstGeom>
          <a:solidFill>
            <a:schemeClr val="accent1"/>
          </a:solidFill>
          <a:ln w="9525">
            <a:miter lim="800000"/>
            <a:headEnd/>
            <a:tailEnd/>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r>
              <a:rPr kumimoji="1" lang="zh-CN" altLang="en-US" sz="2400" b="1">
                <a:latin typeface="Times New Roman" pitchFamily="18" charset="0"/>
                <a:ea typeface="方正姚体"/>
              </a:rPr>
              <a:t>事业</a:t>
            </a:r>
            <a:r>
              <a:rPr kumimoji="1" lang="en-US" altLang="zh-CN" sz="2400" b="1">
                <a:latin typeface="Times New Roman" pitchFamily="18" charset="0"/>
                <a:ea typeface="方正姚体"/>
              </a:rPr>
              <a:t>4</a:t>
            </a:r>
          </a:p>
        </p:txBody>
      </p:sp>
      <p:sp>
        <p:nvSpPr>
          <p:cNvPr id="118817" name="Line 35"/>
          <p:cNvSpPr>
            <a:spLocks noChangeShapeType="1"/>
          </p:cNvSpPr>
          <p:nvPr/>
        </p:nvSpPr>
        <p:spPr bwMode="auto">
          <a:xfrm>
            <a:off x="1676400" y="2895600"/>
            <a:ext cx="0" cy="304800"/>
          </a:xfrm>
          <a:prstGeom prst="line">
            <a:avLst/>
          </a:prstGeom>
          <a:noFill/>
          <a:ln w="57150">
            <a:solidFill>
              <a:schemeClr val="tx1"/>
            </a:solidFill>
            <a:miter lim="800000"/>
            <a:headEnd/>
            <a:tailEnd/>
          </a:ln>
        </p:spPr>
        <p:txBody>
          <a:bodyPr wrap="none"/>
          <a:lstStyle/>
          <a:p>
            <a:endParaRPr lang="zh-CN" altLang="en-US"/>
          </a:p>
        </p:txBody>
      </p:sp>
      <p:sp>
        <p:nvSpPr>
          <p:cNvPr id="118818" name="Line 36"/>
          <p:cNvSpPr>
            <a:spLocks noChangeShapeType="1"/>
          </p:cNvSpPr>
          <p:nvPr/>
        </p:nvSpPr>
        <p:spPr bwMode="auto">
          <a:xfrm>
            <a:off x="3886200" y="2895600"/>
            <a:ext cx="0" cy="304800"/>
          </a:xfrm>
          <a:prstGeom prst="line">
            <a:avLst/>
          </a:prstGeom>
          <a:noFill/>
          <a:ln w="57150">
            <a:solidFill>
              <a:schemeClr val="tx1"/>
            </a:solidFill>
            <a:miter lim="800000"/>
            <a:headEnd/>
            <a:tailEnd/>
          </a:ln>
        </p:spPr>
        <p:txBody>
          <a:bodyPr wrap="none"/>
          <a:lstStyle/>
          <a:p>
            <a:endParaRPr lang="zh-CN" altLang="en-US"/>
          </a:p>
        </p:txBody>
      </p:sp>
      <p:sp>
        <p:nvSpPr>
          <p:cNvPr id="118819" name="Line 37"/>
          <p:cNvSpPr>
            <a:spLocks noChangeShapeType="1"/>
          </p:cNvSpPr>
          <p:nvPr/>
        </p:nvSpPr>
        <p:spPr bwMode="auto">
          <a:xfrm>
            <a:off x="1676400" y="3200400"/>
            <a:ext cx="2209800" cy="0"/>
          </a:xfrm>
          <a:prstGeom prst="line">
            <a:avLst/>
          </a:prstGeom>
          <a:noFill/>
          <a:ln w="57150">
            <a:solidFill>
              <a:schemeClr val="tx1"/>
            </a:solidFill>
            <a:miter lim="800000"/>
            <a:headEnd/>
            <a:tailEnd/>
          </a:ln>
        </p:spPr>
        <p:txBody>
          <a:bodyPr wrap="none"/>
          <a:lstStyle/>
          <a:p>
            <a:endParaRPr lang="zh-CN" altLang="en-US"/>
          </a:p>
        </p:txBody>
      </p:sp>
      <p:sp>
        <p:nvSpPr>
          <p:cNvPr id="118820" name="Line 38"/>
          <p:cNvSpPr>
            <a:spLocks noChangeShapeType="1"/>
          </p:cNvSpPr>
          <p:nvPr/>
        </p:nvSpPr>
        <p:spPr bwMode="auto">
          <a:xfrm>
            <a:off x="6172200" y="2819400"/>
            <a:ext cx="0" cy="304800"/>
          </a:xfrm>
          <a:prstGeom prst="line">
            <a:avLst/>
          </a:prstGeom>
          <a:noFill/>
          <a:ln w="57150">
            <a:solidFill>
              <a:schemeClr val="tx1"/>
            </a:solidFill>
            <a:miter lim="800000"/>
            <a:headEnd/>
            <a:tailEnd/>
          </a:ln>
        </p:spPr>
        <p:txBody>
          <a:bodyPr wrap="none"/>
          <a:lstStyle/>
          <a:p>
            <a:endParaRPr lang="zh-CN" altLang="en-US"/>
          </a:p>
        </p:txBody>
      </p:sp>
      <p:sp>
        <p:nvSpPr>
          <p:cNvPr id="118821" name="Line 39"/>
          <p:cNvSpPr>
            <a:spLocks noChangeShapeType="1"/>
          </p:cNvSpPr>
          <p:nvPr/>
        </p:nvSpPr>
        <p:spPr bwMode="auto">
          <a:xfrm>
            <a:off x="8153400" y="2819400"/>
            <a:ext cx="0" cy="304800"/>
          </a:xfrm>
          <a:prstGeom prst="line">
            <a:avLst/>
          </a:prstGeom>
          <a:noFill/>
          <a:ln w="57150">
            <a:solidFill>
              <a:schemeClr val="tx1"/>
            </a:solidFill>
            <a:miter lim="800000"/>
            <a:headEnd/>
            <a:tailEnd/>
          </a:ln>
        </p:spPr>
        <p:txBody>
          <a:bodyPr wrap="none"/>
          <a:lstStyle/>
          <a:p>
            <a:endParaRPr lang="zh-CN" altLang="en-US"/>
          </a:p>
        </p:txBody>
      </p:sp>
      <p:sp>
        <p:nvSpPr>
          <p:cNvPr id="118822" name="Line 40"/>
          <p:cNvSpPr>
            <a:spLocks noChangeShapeType="1"/>
          </p:cNvSpPr>
          <p:nvPr/>
        </p:nvSpPr>
        <p:spPr bwMode="auto">
          <a:xfrm>
            <a:off x="6172200" y="3124200"/>
            <a:ext cx="1981200" cy="0"/>
          </a:xfrm>
          <a:prstGeom prst="line">
            <a:avLst/>
          </a:prstGeom>
          <a:noFill/>
          <a:ln w="57150">
            <a:solidFill>
              <a:schemeClr val="tx1"/>
            </a:solidFill>
            <a:miter lim="800000"/>
            <a:headEnd/>
            <a:tailEnd/>
          </a:ln>
        </p:spPr>
        <p:txBody>
          <a:bodyPr wrap="none"/>
          <a:lstStyle/>
          <a:p>
            <a:endParaRPr lang="zh-CN" altLang="en-US"/>
          </a:p>
        </p:txBody>
      </p:sp>
      <p:sp>
        <p:nvSpPr>
          <p:cNvPr id="118823" name="Line 41"/>
          <p:cNvSpPr>
            <a:spLocks noChangeShapeType="1"/>
          </p:cNvSpPr>
          <p:nvPr/>
        </p:nvSpPr>
        <p:spPr bwMode="auto">
          <a:xfrm>
            <a:off x="7086600" y="3124200"/>
            <a:ext cx="0" cy="381000"/>
          </a:xfrm>
          <a:prstGeom prst="line">
            <a:avLst/>
          </a:prstGeom>
          <a:noFill/>
          <a:ln w="57150">
            <a:solidFill>
              <a:schemeClr val="tx1"/>
            </a:solidFill>
            <a:miter lim="800000"/>
            <a:headEnd/>
            <a:tailEnd/>
          </a:ln>
        </p:spPr>
        <p:txBody>
          <a:bodyPr wrap="none"/>
          <a:lstStyle/>
          <a:p>
            <a:endParaRPr lang="zh-CN" altLang="en-US"/>
          </a:p>
        </p:txBody>
      </p:sp>
      <p:sp>
        <p:nvSpPr>
          <p:cNvPr id="118824" name="Rectangle 42"/>
          <p:cNvSpPr>
            <a:spLocks noChangeArrowheads="1"/>
          </p:cNvSpPr>
          <p:nvPr/>
        </p:nvSpPr>
        <p:spPr bwMode="auto">
          <a:xfrm>
            <a:off x="6248400" y="3505200"/>
            <a:ext cx="1524000" cy="609600"/>
          </a:xfrm>
          <a:prstGeom prst="rect">
            <a:avLst/>
          </a:prstGeom>
          <a:solidFill>
            <a:schemeClr val="accent1"/>
          </a:solidFill>
          <a:ln w="9525">
            <a:miter lim="800000"/>
            <a:headEnd/>
            <a:tailEnd/>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r>
              <a:rPr kumimoji="1" lang="zh-CN" altLang="en-US" sz="2400" b="1">
                <a:solidFill>
                  <a:srgbClr val="E8DC3C"/>
                </a:solidFill>
                <a:latin typeface="Times New Roman" pitchFamily="18" charset="0"/>
                <a:ea typeface="方正姚体"/>
              </a:rPr>
              <a:t>核心产品</a:t>
            </a:r>
            <a:r>
              <a:rPr kumimoji="1" lang="en-US" altLang="zh-CN" sz="2400" b="1">
                <a:solidFill>
                  <a:srgbClr val="E8DC3C"/>
                </a:solidFill>
                <a:latin typeface="Times New Roman" pitchFamily="18" charset="0"/>
                <a:ea typeface="方正姚体"/>
              </a:rPr>
              <a:t>1</a:t>
            </a:r>
          </a:p>
        </p:txBody>
      </p:sp>
      <p:sp>
        <p:nvSpPr>
          <p:cNvPr id="118825" name="Rectangle 43"/>
          <p:cNvSpPr>
            <a:spLocks noChangeArrowheads="1"/>
          </p:cNvSpPr>
          <p:nvPr/>
        </p:nvSpPr>
        <p:spPr bwMode="auto">
          <a:xfrm>
            <a:off x="6248400" y="4343400"/>
            <a:ext cx="1524000" cy="533400"/>
          </a:xfrm>
          <a:prstGeom prst="rect">
            <a:avLst/>
          </a:prstGeom>
          <a:solidFill>
            <a:schemeClr val="accent1"/>
          </a:solidFill>
          <a:ln w="9525">
            <a:miter lim="800000"/>
            <a:headEnd/>
            <a:tailEnd/>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r>
              <a:rPr kumimoji="1" lang="zh-CN" altLang="en-US" sz="2400" b="1" dirty="0">
                <a:solidFill>
                  <a:srgbClr val="E8DC3C"/>
                </a:solidFill>
                <a:latin typeface="Times New Roman" pitchFamily="18" charset="0"/>
                <a:ea typeface="方正姚体"/>
              </a:rPr>
              <a:t>核心产品</a:t>
            </a:r>
            <a:r>
              <a:rPr kumimoji="1" lang="en-US" altLang="zh-CN" sz="2400" b="1" dirty="0">
                <a:solidFill>
                  <a:srgbClr val="E8DC3C"/>
                </a:solidFill>
                <a:latin typeface="Times New Roman" pitchFamily="18" charset="0"/>
                <a:ea typeface="方正姚体"/>
              </a:rPr>
              <a:t>2</a:t>
            </a:r>
          </a:p>
        </p:txBody>
      </p:sp>
      <p:sp>
        <p:nvSpPr>
          <p:cNvPr id="118826" name="Line 44"/>
          <p:cNvSpPr>
            <a:spLocks noChangeShapeType="1"/>
          </p:cNvSpPr>
          <p:nvPr/>
        </p:nvSpPr>
        <p:spPr bwMode="auto">
          <a:xfrm>
            <a:off x="2743200" y="3200400"/>
            <a:ext cx="0" cy="1295400"/>
          </a:xfrm>
          <a:prstGeom prst="line">
            <a:avLst/>
          </a:prstGeom>
          <a:noFill/>
          <a:ln w="57150">
            <a:solidFill>
              <a:schemeClr val="tx1"/>
            </a:solidFill>
            <a:miter lim="800000"/>
            <a:headEnd/>
            <a:tailEnd/>
          </a:ln>
        </p:spPr>
        <p:txBody>
          <a:bodyPr wrap="none"/>
          <a:lstStyle/>
          <a:p>
            <a:endParaRPr lang="zh-CN" altLang="en-US"/>
          </a:p>
        </p:txBody>
      </p:sp>
      <p:sp>
        <p:nvSpPr>
          <p:cNvPr id="118827" name="Line 45"/>
          <p:cNvSpPr>
            <a:spLocks noChangeShapeType="1"/>
          </p:cNvSpPr>
          <p:nvPr/>
        </p:nvSpPr>
        <p:spPr bwMode="auto">
          <a:xfrm>
            <a:off x="2743200" y="4495800"/>
            <a:ext cx="3505200" cy="0"/>
          </a:xfrm>
          <a:prstGeom prst="line">
            <a:avLst/>
          </a:prstGeom>
          <a:noFill/>
          <a:ln w="57150">
            <a:solidFill>
              <a:schemeClr val="tx1"/>
            </a:solidFill>
            <a:miter lim="800000"/>
            <a:headEnd/>
            <a:tailEnd/>
          </a:ln>
        </p:spPr>
        <p:txBody>
          <a:bodyPr wrap="none"/>
          <a:lstStyle/>
          <a:p>
            <a:endParaRPr lang="zh-CN" altLang="en-US"/>
          </a:p>
        </p:txBody>
      </p:sp>
      <p:sp>
        <p:nvSpPr>
          <p:cNvPr id="118828" name="Line 46"/>
          <p:cNvSpPr>
            <a:spLocks noChangeShapeType="1"/>
          </p:cNvSpPr>
          <p:nvPr/>
        </p:nvSpPr>
        <p:spPr bwMode="auto">
          <a:xfrm flipH="1">
            <a:off x="4724400" y="3810000"/>
            <a:ext cx="1524000" cy="0"/>
          </a:xfrm>
          <a:prstGeom prst="line">
            <a:avLst/>
          </a:prstGeom>
          <a:noFill/>
          <a:ln w="57150">
            <a:solidFill>
              <a:schemeClr val="tx1"/>
            </a:solidFill>
            <a:miter lim="800000"/>
            <a:headEnd/>
            <a:tailEnd/>
          </a:ln>
        </p:spPr>
        <p:txBody>
          <a:bodyPr wrap="none"/>
          <a:lstStyle/>
          <a:p>
            <a:endParaRPr lang="zh-CN" altLang="en-US"/>
          </a:p>
        </p:txBody>
      </p:sp>
      <p:sp>
        <p:nvSpPr>
          <p:cNvPr id="118829" name="Line 47"/>
          <p:cNvSpPr>
            <a:spLocks noChangeShapeType="1"/>
          </p:cNvSpPr>
          <p:nvPr/>
        </p:nvSpPr>
        <p:spPr bwMode="auto">
          <a:xfrm>
            <a:off x="4724400" y="3810000"/>
            <a:ext cx="0" cy="1371600"/>
          </a:xfrm>
          <a:prstGeom prst="line">
            <a:avLst/>
          </a:prstGeom>
          <a:noFill/>
          <a:ln w="57150">
            <a:solidFill>
              <a:schemeClr val="tx1"/>
            </a:solidFill>
            <a:miter lim="800000"/>
            <a:headEnd/>
            <a:tailEnd/>
          </a:ln>
        </p:spPr>
        <p:txBody>
          <a:bodyPr wrap="none"/>
          <a:lstStyle/>
          <a:p>
            <a:endParaRPr lang="zh-CN" altLang="en-US"/>
          </a:p>
        </p:txBody>
      </p:sp>
      <p:sp>
        <p:nvSpPr>
          <p:cNvPr id="118830" name="Line 48"/>
          <p:cNvSpPr>
            <a:spLocks noChangeShapeType="1"/>
          </p:cNvSpPr>
          <p:nvPr/>
        </p:nvSpPr>
        <p:spPr bwMode="auto">
          <a:xfrm>
            <a:off x="7772400" y="3810000"/>
            <a:ext cx="685800" cy="0"/>
          </a:xfrm>
          <a:prstGeom prst="line">
            <a:avLst/>
          </a:prstGeom>
          <a:noFill/>
          <a:ln w="57150">
            <a:solidFill>
              <a:schemeClr val="tx1"/>
            </a:solidFill>
            <a:miter lim="800000"/>
            <a:headEnd/>
            <a:tailEnd/>
          </a:ln>
        </p:spPr>
        <p:txBody>
          <a:bodyPr wrap="none"/>
          <a:lstStyle/>
          <a:p>
            <a:endParaRPr lang="zh-CN" altLang="en-US"/>
          </a:p>
        </p:txBody>
      </p:sp>
      <p:sp>
        <p:nvSpPr>
          <p:cNvPr id="118831" name="Line 49"/>
          <p:cNvSpPr>
            <a:spLocks noChangeShapeType="1"/>
          </p:cNvSpPr>
          <p:nvPr/>
        </p:nvSpPr>
        <p:spPr bwMode="auto">
          <a:xfrm>
            <a:off x="8458200" y="3810000"/>
            <a:ext cx="0" cy="1371600"/>
          </a:xfrm>
          <a:prstGeom prst="line">
            <a:avLst/>
          </a:prstGeom>
          <a:noFill/>
          <a:ln w="57150">
            <a:solidFill>
              <a:schemeClr val="tx1"/>
            </a:solidFill>
            <a:miter lim="800000"/>
            <a:headEnd/>
            <a:tailEnd/>
          </a:ln>
        </p:spPr>
        <p:txBody>
          <a:bodyPr wrap="none"/>
          <a:lstStyle/>
          <a:p>
            <a:endParaRPr lang="zh-CN" altLang="en-US"/>
          </a:p>
        </p:txBody>
      </p:sp>
      <p:sp>
        <p:nvSpPr>
          <p:cNvPr id="118832" name="Line 50"/>
          <p:cNvSpPr>
            <a:spLocks noChangeShapeType="1"/>
          </p:cNvSpPr>
          <p:nvPr/>
        </p:nvSpPr>
        <p:spPr bwMode="auto">
          <a:xfrm flipH="1">
            <a:off x="2743200" y="4648200"/>
            <a:ext cx="3505200" cy="0"/>
          </a:xfrm>
          <a:prstGeom prst="line">
            <a:avLst/>
          </a:prstGeom>
          <a:noFill/>
          <a:ln w="57150">
            <a:solidFill>
              <a:schemeClr val="tx1"/>
            </a:solidFill>
            <a:miter lim="800000"/>
            <a:headEnd/>
            <a:tailEnd/>
          </a:ln>
        </p:spPr>
        <p:txBody>
          <a:bodyPr wrap="none"/>
          <a:lstStyle/>
          <a:p>
            <a:endParaRPr lang="zh-CN" altLang="en-US"/>
          </a:p>
        </p:txBody>
      </p:sp>
      <p:sp>
        <p:nvSpPr>
          <p:cNvPr id="118833" name="Line 51"/>
          <p:cNvSpPr>
            <a:spLocks noChangeShapeType="1"/>
          </p:cNvSpPr>
          <p:nvPr/>
        </p:nvSpPr>
        <p:spPr bwMode="auto">
          <a:xfrm>
            <a:off x="2743200" y="4648200"/>
            <a:ext cx="0" cy="457200"/>
          </a:xfrm>
          <a:prstGeom prst="line">
            <a:avLst/>
          </a:prstGeom>
          <a:noFill/>
          <a:ln w="57150">
            <a:solidFill>
              <a:schemeClr val="tx1"/>
            </a:solidFill>
            <a:miter lim="800000"/>
            <a:headEnd/>
            <a:tailEnd/>
          </a:ln>
        </p:spPr>
        <p:txBody>
          <a:bodyPr wrap="none"/>
          <a:lstStyle/>
          <a:p>
            <a:endParaRPr lang="zh-CN" altLang="en-US"/>
          </a:p>
        </p:txBody>
      </p:sp>
      <p:sp>
        <p:nvSpPr>
          <p:cNvPr id="118834" name="Line 52"/>
          <p:cNvSpPr>
            <a:spLocks noChangeShapeType="1"/>
          </p:cNvSpPr>
          <p:nvPr/>
        </p:nvSpPr>
        <p:spPr bwMode="auto">
          <a:xfrm>
            <a:off x="6934200" y="4876800"/>
            <a:ext cx="0" cy="533400"/>
          </a:xfrm>
          <a:prstGeom prst="line">
            <a:avLst/>
          </a:prstGeom>
          <a:noFill/>
          <a:ln w="57150">
            <a:solidFill>
              <a:schemeClr val="tx1"/>
            </a:solidFill>
            <a:miter lim="800000"/>
            <a:headEnd/>
            <a:tailEnd/>
          </a:ln>
        </p:spPr>
        <p:txBody>
          <a:bodyPr wrap="none"/>
          <a:lstStyle/>
          <a:p>
            <a:endParaRPr lang="zh-CN" altLang="en-US"/>
          </a:p>
        </p:txBody>
      </p:sp>
      <p:sp>
        <p:nvSpPr>
          <p:cNvPr id="178229" name="Rectangle 53"/>
          <p:cNvSpPr>
            <a:spLocks noChangeArrowheads="1"/>
          </p:cNvSpPr>
          <p:nvPr/>
        </p:nvSpPr>
        <p:spPr bwMode="auto">
          <a:xfrm>
            <a:off x="1981200" y="5105400"/>
            <a:ext cx="1295400" cy="838200"/>
          </a:xfrm>
          <a:prstGeom prst="rect">
            <a:avLst/>
          </a:prstGeom>
          <a:solidFill>
            <a:schemeClr val="accent1"/>
          </a:solidFill>
          <a:ln w="9525">
            <a:noFill/>
            <a:miter lim="800000"/>
            <a:headEnd/>
            <a:tailEnd/>
          </a:ln>
          <a:effectLst/>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fontAlgn="auto">
              <a:spcBef>
                <a:spcPts val="0"/>
              </a:spcBef>
              <a:spcAft>
                <a:spcPts val="0"/>
              </a:spcAft>
              <a:defRPr/>
            </a:pPr>
            <a:r>
              <a:rPr kumimoji="1" lang="zh-CN" altLang="en-US" sz="2000" b="1">
                <a:solidFill>
                  <a:srgbClr val="18398A"/>
                </a:solidFill>
                <a:effectLst>
                  <a:outerShdw blurRad="38100" dist="38100" dir="2700000" algn="tl">
                    <a:srgbClr val="000000"/>
                  </a:outerShdw>
                </a:effectLst>
                <a:latin typeface="Times New Roman" pitchFamily="18" charset="0"/>
                <a:ea typeface="+mn-ea"/>
                <a:cs typeface="+mn-cs"/>
              </a:rPr>
              <a:t>核心能力</a:t>
            </a:r>
            <a:r>
              <a:rPr kumimoji="1" lang="en-US" altLang="zh-CN" sz="2000" b="1">
                <a:solidFill>
                  <a:srgbClr val="18398A"/>
                </a:solidFill>
                <a:effectLst>
                  <a:outerShdw blurRad="38100" dist="38100" dir="2700000" algn="tl">
                    <a:srgbClr val="000000"/>
                  </a:outerShdw>
                </a:effectLst>
                <a:latin typeface="Times New Roman" pitchFamily="18" charset="0"/>
                <a:ea typeface="+mn-ea"/>
                <a:cs typeface="+mn-cs"/>
              </a:rPr>
              <a:t>1</a:t>
            </a:r>
          </a:p>
        </p:txBody>
      </p:sp>
      <p:sp>
        <p:nvSpPr>
          <p:cNvPr id="178230" name="Rectangle 54"/>
          <p:cNvSpPr>
            <a:spLocks noChangeArrowheads="1"/>
          </p:cNvSpPr>
          <p:nvPr/>
        </p:nvSpPr>
        <p:spPr bwMode="auto">
          <a:xfrm>
            <a:off x="4114800" y="5105400"/>
            <a:ext cx="1295400" cy="838200"/>
          </a:xfrm>
          <a:prstGeom prst="rect">
            <a:avLst/>
          </a:prstGeom>
          <a:solidFill>
            <a:schemeClr val="accent1"/>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fontAlgn="auto">
              <a:spcBef>
                <a:spcPts val="0"/>
              </a:spcBef>
              <a:spcAft>
                <a:spcPts val="0"/>
              </a:spcAft>
              <a:defRPr/>
            </a:pPr>
            <a:r>
              <a:rPr kumimoji="1" lang="zh-CN" altLang="en-US" sz="2000" b="1">
                <a:solidFill>
                  <a:srgbClr val="18398A"/>
                </a:solidFill>
                <a:effectLst>
                  <a:outerShdw blurRad="38100" dist="38100" dir="2700000" algn="tl">
                    <a:srgbClr val="000000"/>
                  </a:outerShdw>
                </a:effectLst>
                <a:latin typeface="Times New Roman" pitchFamily="18" charset="0"/>
                <a:ea typeface="+mn-ea"/>
                <a:cs typeface="+mn-cs"/>
              </a:rPr>
              <a:t>核心能力</a:t>
            </a:r>
            <a:r>
              <a:rPr kumimoji="1" lang="en-US" altLang="zh-CN" sz="2000" b="1">
                <a:solidFill>
                  <a:srgbClr val="18398A"/>
                </a:solidFill>
                <a:effectLst>
                  <a:outerShdw blurRad="38100" dist="38100" dir="2700000" algn="tl">
                    <a:srgbClr val="000000"/>
                  </a:outerShdw>
                </a:effectLst>
                <a:latin typeface="Times New Roman" pitchFamily="18" charset="0"/>
                <a:ea typeface="+mn-ea"/>
                <a:cs typeface="+mn-cs"/>
              </a:rPr>
              <a:t>2</a:t>
            </a:r>
          </a:p>
        </p:txBody>
      </p:sp>
      <p:sp>
        <p:nvSpPr>
          <p:cNvPr id="178231" name="Rectangle 55"/>
          <p:cNvSpPr>
            <a:spLocks noChangeArrowheads="1"/>
          </p:cNvSpPr>
          <p:nvPr/>
        </p:nvSpPr>
        <p:spPr bwMode="auto">
          <a:xfrm>
            <a:off x="6172200" y="5105400"/>
            <a:ext cx="1295400" cy="838200"/>
          </a:xfrm>
          <a:prstGeom prst="rect">
            <a:avLst/>
          </a:prstGeom>
          <a:solidFill>
            <a:schemeClr val="accent1"/>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fontAlgn="auto">
              <a:spcBef>
                <a:spcPts val="0"/>
              </a:spcBef>
              <a:spcAft>
                <a:spcPts val="0"/>
              </a:spcAft>
              <a:defRPr/>
            </a:pPr>
            <a:r>
              <a:rPr kumimoji="1" lang="zh-CN" altLang="en-US" sz="2000" b="1">
                <a:solidFill>
                  <a:srgbClr val="18398A"/>
                </a:solidFill>
                <a:effectLst>
                  <a:outerShdw blurRad="38100" dist="38100" dir="2700000" algn="tl">
                    <a:srgbClr val="000000"/>
                  </a:outerShdw>
                </a:effectLst>
                <a:latin typeface="Times New Roman" pitchFamily="18" charset="0"/>
                <a:ea typeface="+mn-ea"/>
                <a:cs typeface="+mn-cs"/>
              </a:rPr>
              <a:t>核心能力</a:t>
            </a:r>
            <a:r>
              <a:rPr kumimoji="1" lang="en-US" altLang="zh-CN" sz="2000" b="1">
                <a:solidFill>
                  <a:srgbClr val="18398A"/>
                </a:solidFill>
                <a:effectLst>
                  <a:outerShdw blurRad="38100" dist="38100" dir="2700000" algn="tl">
                    <a:srgbClr val="000000"/>
                  </a:outerShdw>
                </a:effectLst>
                <a:latin typeface="Times New Roman" pitchFamily="18" charset="0"/>
                <a:ea typeface="+mn-ea"/>
                <a:cs typeface="+mn-cs"/>
              </a:rPr>
              <a:t>3</a:t>
            </a:r>
          </a:p>
        </p:txBody>
      </p:sp>
      <p:sp>
        <p:nvSpPr>
          <p:cNvPr id="178232" name="Rectangle 56"/>
          <p:cNvSpPr>
            <a:spLocks noChangeArrowheads="1"/>
          </p:cNvSpPr>
          <p:nvPr/>
        </p:nvSpPr>
        <p:spPr bwMode="auto">
          <a:xfrm>
            <a:off x="7620000" y="5105400"/>
            <a:ext cx="1219200" cy="838200"/>
          </a:xfrm>
          <a:prstGeom prst="rect">
            <a:avLst/>
          </a:prstGeom>
          <a:solidFill>
            <a:schemeClr val="accent1"/>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fontAlgn="auto">
              <a:spcBef>
                <a:spcPts val="0"/>
              </a:spcBef>
              <a:spcAft>
                <a:spcPts val="0"/>
              </a:spcAft>
              <a:defRPr/>
            </a:pPr>
            <a:r>
              <a:rPr kumimoji="1" lang="zh-CN" altLang="en-US" sz="2000" b="1">
                <a:solidFill>
                  <a:srgbClr val="18398A"/>
                </a:solidFill>
                <a:effectLst>
                  <a:outerShdw blurRad="38100" dist="38100" dir="2700000" algn="tl">
                    <a:srgbClr val="000000"/>
                  </a:outerShdw>
                </a:effectLst>
                <a:latin typeface="Times New Roman" pitchFamily="18" charset="0"/>
                <a:ea typeface="+mn-ea"/>
                <a:cs typeface="+mn-cs"/>
              </a:rPr>
              <a:t>核心能力</a:t>
            </a:r>
            <a:r>
              <a:rPr kumimoji="1" lang="en-US" altLang="zh-CN" sz="2000" b="1">
                <a:solidFill>
                  <a:srgbClr val="18398A"/>
                </a:solidFill>
                <a:effectLst>
                  <a:outerShdw blurRad="38100" dist="38100" dir="2700000" algn="tl">
                    <a:srgbClr val="000000"/>
                  </a:outerShdw>
                </a:effectLst>
                <a:latin typeface="Times New Roman" pitchFamily="18" charset="0"/>
                <a:ea typeface="+mn-ea"/>
                <a:cs typeface="+mn-cs"/>
              </a:rPr>
              <a:t>4</a:t>
            </a:r>
          </a:p>
        </p:txBody>
      </p:sp>
      <p:sp>
        <p:nvSpPr>
          <p:cNvPr id="178233" name="Text Box 57"/>
          <p:cNvSpPr txBox="1">
            <a:spLocks noChangeArrowheads="1"/>
          </p:cNvSpPr>
          <p:nvPr/>
        </p:nvSpPr>
        <p:spPr bwMode="auto">
          <a:xfrm>
            <a:off x="1219200" y="6019800"/>
            <a:ext cx="6781800" cy="579438"/>
          </a:xfrm>
          <a:prstGeom prst="rect">
            <a:avLst/>
          </a:prstGeom>
          <a:noFill/>
          <a:ln w="9525">
            <a:noFill/>
            <a:miter lim="800000"/>
            <a:headEnd/>
            <a:tailEnd/>
          </a:ln>
          <a:effectLst/>
        </p:spPr>
        <p:txBody>
          <a:bodyPr>
            <a:spAutoFit/>
          </a:bodyPr>
          <a:lstStyle/>
          <a:p>
            <a:pPr fontAlgn="auto">
              <a:spcBef>
                <a:spcPct val="50000"/>
              </a:spcBef>
              <a:spcAft>
                <a:spcPts val="0"/>
              </a:spcAft>
              <a:defRPr/>
            </a:pPr>
            <a:r>
              <a:rPr kumimoji="1" lang="zh-CN" altLang="en-US" sz="3200" b="1">
                <a:solidFill>
                  <a:srgbClr val="CC3314"/>
                </a:solidFill>
                <a:effectLst>
                  <a:outerShdw blurRad="38100" dist="38100" dir="2700000" algn="tl">
                    <a:srgbClr val="C0C0C0"/>
                  </a:outerShdw>
                </a:effectLst>
                <a:latin typeface="Times New Roman" pitchFamily="18" charset="0"/>
                <a:ea typeface="+mn-ea"/>
                <a:cs typeface="+mn-cs"/>
              </a:rPr>
              <a:t>         </a:t>
            </a:r>
            <a:r>
              <a:rPr kumimoji="1" lang="zh-CN" altLang="en-US" sz="3200" b="1">
                <a:solidFill>
                  <a:srgbClr val="F92B4D"/>
                </a:solidFill>
                <a:effectLst>
                  <a:outerShdw blurRad="38100" dist="38100" dir="2700000" algn="tl">
                    <a:srgbClr val="C0C0C0"/>
                  </a:outerShdw>
                </a:effectLst>
                <a:latin typeface="Times New Roman" pitchFamily="18" charset="0"/>
                <a:ea typeface="+mn-ea"/>
                <a:cs typeface="+mn-cs"/>
              </a:rPr>
              <a:t>竞争优势之源</a:t>
            </a:r>
            <a:r>
              <a:rPr kumimoji="1" lang="en-US" altLang="zh-CN" sz="3200" b="1">
                <a:solidFill>
                  <a:srgbClr val="F92B4D"/>
                </a:solidFill>
                <a:effectLst>
                  <a:outerShdw blurRad="38100" dist="38100" dir="2700000" algn="tl">
                    <a:srgbClr val="C0C0C0"/>
                  </a:outerShdw>
                </a:effectLst>
                <a:latin typeface="Times New Roman" pitchFamily="18" charset="0"/>
                <a:ea typeface="+mn-ea"/>
                <a:cs typeface="+mn-cs"/>
              </a:rPr>
              <a:t>——</a:t>
            </a:r>
            <a:r>
              <a:rPr kumimoji="1" lang="zh-CN" altLang="en-US" sz="3200" b="1">
                <a:solidFill>
                  <a:srgbClr val="F92B4D"/>
                </a:solidFill>
                <a:effectLst>
                  <a:outerShdw blurRad="38100" dist="38100" dir="2700000" algn="tl">
                    <a:srgbClr val="C0C0C0"/>
                  </a:outerShdw>
                </a:effectLst>
                <a:latin typeface="Times New Roman" pitchFamily="18" charset="0"/>
                <a:ea typeface="+mn-ea"/>
                <a:cs typeface="+mn-cs"/>
              </a:rPr>
              <a:t>核心竞争力</a:t>
            </a:r>
          </a:p>
        </p:txBody>
      </p:sp>
      <p:sp>
        <p:nvSpPr>
          <p:cNvPr id="118840" name="Rectangle 58"/>
          <p:cNvSpPr>
            <a:spLocks noChangeArrowheads="1"/>
          </p:cNvSpPr>
          <p:nvPr/>
        </p:nvSpPr>
        <p:spPr bwMode="auto">
          <a:xfrm>
            <a:off x="3429000" y="5562600"/>
            <a:ext cx="184150" cy="396875"/>
          </a:xfrm>
          <a:prstGeom prst="rect">
            <a:avLst/>
          </a:prstGeom>
          <a:noFill/>
          <a:ln w="9525">
            <a:noFill/>
            <a:miter lim="800000"/>
            <a:headEnd/>
            <a:tailEnd/>
          </a:ln>
        </p:spPr>
        <p:txBody>
          <a:bodyPr wrap="none">
            <a:spAutoFit/>
          </a:bodyPr>
          <a:lstStyle/>
          <a:p>
            <a:endParaRPr kumimoji="1" lang="zh-CN" altLang="en-US" sz="2000" b="1">
              <a:solidFill>
                <a:srgbClr val="31059F"/>
              </a:solidFill>
              <a:latin typeface="Times New Roman" pitchFamily="18" charset="0"/>
              <a:ea typeface="方正姚体"/>
            </a:endParaRPr>
          </a:p>
        </p:txBody>
      </p:sp>
    </p:spTree>
    <p:extLst>
      <p:ext uri="{BB962C8B-B14F-4D97-AF65-F5344CB8AC3E}">
        <p14:creationId xmlns:p14="http://schemas.microsoft.com/office/powerpoint/2010/main" val="3114182969"/>
      </p:ext>
    </p:extLst>
  </p:cSld>
  <p:clrMapOvr>
    <a:masterClrMapping/>
  </p:clrMapOv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Text Box 2"/>
          <p:cNvSpPr txBox="1">
            <a:spLocks noChangeArrowheads="1"/>
          </p:cNvSpPr>
          <p:nvPr/>
        </p:nvSpPr>
        <p:spPr bwMode="auto">
          <a:xfrm>
            <a:off x="609600" y="1066800"/>
            <a:ext cx="8642920" cy="5632311"/>
          </a:xfrm>
          <a:prstGeom prst="rect">
            <a:avLst/>
          </a:prstGeom>
          <a:noFill/>
          <a:ln w="9525">
            <a:noFill/>
            <a:miter lim="800000"/>
            <a:headEnd/>
            <a:tailEnd/>
          </a:ln>
          <a:effectLst/>
        </p:spPr>
        <p:txBody>
          <a:bodyPr wrap="square">
            <a:spAutoFit/>
          </a:bodyPr>
          <a:lstStyle/>
          <a:p>
            <a:pPr fontAlgn="auto">
              <a:spcBef>
                <a:spcPct val="50000"/>
              </a:spcBef>
              <a:spcAft>
                <a:spcPts val="0"/>
              </a:spcAft>
              <a:defRPr/>
            </a:pPr>
            <a:r>
              <a:rPr kumimoji="1" lang="zh-CN" altLang="en-US" sz="2400" dirty="0">
                <a:latin typeface="Times New Roman" pitchFamily="18" charset="0"/>
                <a:ea typeface="+mn-ea"/>
                <a:cs typeface="+mn-cs"/>
              </a:rPr>
              <a:t>  </a:t>
            </a:r>
            <a:r>
              <a:rPr kumimoji="1" lang="zh-CN" altLang="en-US" sz="2400" b="1" dirty="0">
                <a:solidFill>
                  <a:srgbClr val="00FFFF"/>
                </a:solidFill>
                <a:effectLst>
                  <a:outerShdw blurRad="38100" dist="38100" dir="2700000" algn="tl">
                    <a:srgbClr val="C0C0C0"/>
                  </a:outerShdw>
                </a:effectLst>
                <a:latin typeface="Times New Roman" pitchFamily="18" charset="0"/>
                <a:ea typeface="+mn-ea"/>
                <a:cs typeface="+mn-cs"/>
              </a:rPr>
              <a:t>激光打引机   彩色复印机   传真机  计算机  细胞仪  摄像机</a:t>
            </a:r>
          </a:p>
          <a:p>
            <a:pPr fontAlgn="auto">
              <a:spcBef>
                <a:spcPct val="50000"/>
              </a:spcBef>
              <a:spcAft>
                <a:spcPts val="0"/>
              </a:spcAft>
              <a:defRPr/>
            </a:pPr>
            <a:endParaRPr kumimoji="1" lang="zh-CN" altLang="en-US" sz="2400" b="1" dirty="0">
              <a:solidFill>
                <a:srgbClr val="00FFFF"/>
              </a:solidFill>
              <a:effectLst>
                <a:outerShdw blurRad="38100" dist="38100" dir="2700000" algn="tl">
                  <a:srgbClr val="C0C0C0"/>
                </a:outerShdw>
              </a:effectLst>
              <a:latin typeface="Times New Roman" pitchFamily="18" charset="0"/>
              <a:ea typeface="+mn-ea"/>
              <a:cs typeface="+mn-cs"/>
            </a:endParaRPr>
          </a:p>
          <a:p>
            <a:pPr fontAlgn="auto">
              <a:spcBef>
                <a:spcPct val="50000"/>
              </a:spcBef>
              <a:spcAft>
                <a:spcPts val="0"/>
              </a:spcAft>
              <a:defRPr/>
            </a:pPr>
            <a:endParaRPr kumimoji="1" lang="zh-CN" altLang="en-US" sz="2400" b="1" dirty="0">
              <a:effectLst>
                <a:outerShdw blurRad="38100" dist="38100" dir="2700000" algn="tl">
                  <a:srgbClr val="C0C0C0"/>
                </a:outerShdw>
              </a:effectLst>
              <a:latin typeface="Times New Roman" pitchFamily="18" charset="0"/>
              <a:ea typeface="+mn-ea"/>
              <a:cs typeface="+mn-cs"/>
            </a:endParaRPr>
          </a:p>
          <a:p>
            <a:pPr fontAlgn="auto">
              <a:spcBef>
                <a:spcPct val="50000"/>
              </a:spcBef>
              <a:spcAft>
                <a:spcPts val="0"/>
              </a:spcAft>
              <a:defRPr/>
            </a:pPr>
            <a:endParaRPr kumimoji="1" lang="zh-CN" altLang="en-US" sz="2400" b="1" dirty="0">
              <a:effectLst>
                <a:outerShdw blurRad="38100" dist="38100" dir="2700000" algn="tl">
                  <a:srgbClr val="C0C0C0"/>
                </a:outerShdw>
              </a:effectLst>
              <a:latin typeface="Times New Roman" pitchFamily="18" charset="0"/>
              <a:ea typeface="+mn-ea"/>
              <a:cs typeface="+mn-cs"/>
            </a:endParaRPr>
          </a:p>
          <a:p>
            <a:pPr fontAlgn="auto">
              <a:spcBef>
                <a:spcPct val="50000"/>
              </a:spcBef>
              <a:spcAft>
                <a:spcPts val="0"/>
              </a:spcAft>
              <a:defRPr/>
            </a:pPr>
            <a:r>
              <a:rPr kumimoji="1" lang="zh-CN" altLang="en-US" sz="2400" b="1" dirty="0">
                <a:effectLst>
                  <a:outerShdw blurRad="38100" dist="38100" dir="2700000" algn="tl">
                    <a:srgbClr val="C0C0C0"/>
                  </a:outerShdw>
                </a:effectLst>
                <a:latin typeface="Times New Roman" pitchFamily="18" charset="0"/>
                <a:ea typeface="+mn-ea"/>
                <a:cs typeface="+mn-cs"/>
              </a:rPr>
              <a:t>       </a:t>
            </a:r>
            <a:r>
              <a:rPr kumimoji="1" lang="zh-CN" altLang="en-US" sz="3200" b="1" dirty="0">
                <a:solidFill>
                  <a:srgbClr val="FFFFFF"/>
                </a:solidFill>
                <a:effectLst>
                  <a:outerShdw blurRad="38100" dist="38100" dir="2700000" algn="tl">
                    <a:srgbClr val="C0C0C0"/>
                  </a:outerShdw>
                </a:effectLst>
                <a:latin typeface="Times New Roman" pitchFamily="18" charset="0"/>
                <a:ea typeface="+mn-ea"/>
                <a:cs typeface="+mn-cs"/>
              </a:rPr>
              <a:t>激光工程       数字成像系统          照相机</a:t>
            </a:r>
          </a:p>
          <a:p>
            <a:pPr fontAlgn="auto">
              <a:spcBef>
                <a:spcPct val="50000"/>
              </a:spcBef>
              <a:spcAft>
                <a:spcPts val="0"/>
              </a:spcAft>
              <a:defRPr/>
            </a:pPr>
            <a:endParaRPr kumimoji="1" lang="zh-CN" altLang="en-US" sz="3200" b="1" dirty="0">
              <a:solidFill>
                <a:srgbClr val="FFFFFF"/>
              </a:solidFill>
              <a:effectLst>
                <a:outerShdw blurRad="38100" dist="38100" dir="2700000" algn="tl">
                  <a:srgbClr val="C0C0C0"/>
                </a:outerShdw>
              </a:effectLst>
              <a:latin typeface="Times New Roman" pitchFamily="18" charset="0"/>
              <a:ea typeface="+mn-ea"/>
              <a:cs typeface="+mn-cs"/>
            </a:endParaRPr>
          </a:p>
          <a:p>
            <a:pPr fontAlgn="auto">
              <a:spcBef>
                <a:spcPct val="50000"/>
              </a:spcBef>
              <a:spcAft>
                <a:spcPts val="0"/>
              </a:spcAft>
              <a:defRPr/>
            </a:pPr>
            <a:endParaRPr kumimoji="1" lang="zh-CN" altLang="en-US" sz="3200" b="1" dirty="0">
              <a:solidFill>
                <a:srgbClr val="996600"/>
              </a:solidFill>
              <a:effectLst>
                <a:outerShdw blurRad="38100" dist="38100" dir="2700000" algn="tl">
                  <a:srgbClr val="C0C0C0"/>
                </a:outerShdw>
              </a:effectLst>
              <a:latin typeface="Times New Roman" pitchFamily="18" charset="0"/>
              <a:ea typeface="+mn-ea"/>
              <a:cs typeface="+mn-cs"/>
            </a:endParaRPr>
          </a:p>
          <a:p>
            <a:pPr fontAlgn="auto">
              <a:spcBef>
                <a:spcPct val="50000"/>
              </a:spcBef>
              <a:spcAft>
                <a:spcPts val="0"/>
              </a:spcAft>
              <a:defRPr/>
            </a:pPr>
            <a:endParaRPr kumimoji="1" lang="zh-CN" altLang="en-US" sz="2400" b="1" dirty="0">
              <a:effectLst>
                <a:outerShdw blurRad="38100" dist="38100" dir="2700000" algn="tl">
                  <a:srgbClr val="C0C0C0"/>
                </a:outerShdw>
              </a:effectLst>
              <a:latin typeface="Times New Roman" pitchFamily="18" charset="0"/>
              <a:ea typeface="+mn-ea"/>
              <a:cs typeface="+mn-cs"/>
            </a:endParaRPr>
          </a:p>
          <a:p>
            <a:pPr fontAlgn="auto">
              <a:spcBef>
                <a:spcPct val="50000"/>
              </a:spcBef>
              <a:spcAft>
                <a:spcPts val="0"/>
              </a:spcAft>
              <a:defRPr/>
            </a:pPr>
            <a:r>
              <a:rPr kumimoji="1" lang="zh-CN" altLang="en-US" sz="3200" b="1" dirty="0">
                <a:effectLst>
                  <a:outerShdw blurRad="38100" dist="38100" dir="2700000" algn="tl">
                    <a:srgbClr val="C0C0C0"/>
                  </a:outerShdw>
                </a:effectLst>
                <a:latin typeface="Times New Roman" pitchFamily="18" charset="0"/>
                <a:ea typeface="+mn-ea"/>
                <a:cs typeface="+mn-cs"/>
              </a:rPr>
              <a:t>     </a:t>
            </a:r>
            <a:r>
              <a:rPr kumimoji="1" lang="zh-CN" altLang="en-US" sz="3200" b="1" dirty="0">
                <a:solidFill>
                  <a:srgbClr val="FFFF00"/>
                </a:solidFill>
                <a:effectLst>
                  <a:outerShdw blurRad="38100" dist="38100" dir="2700000" algn="tl">
                    <a:srgbClr val="C0C0C0"/>
                  </a:outerShdw>
                </a:effectLst>
                <a:latin typeface="Times New Roman" pitchFamily="18" charset="0"/>
                <a:ea typeface="+mn-ea"/>
                <a:cs typeface="+mn-cs"/>
              </a:rPr>
              <a:t>精密机械      激光      微电子       精密光子</a:t>
            </a:r>
          </a:p>
        </p:txBody>
      </p:sp>
      <p:sp>
        <p:nvSpPr>
          <p:cNvPr id="119810" name="Line 3"/>
          <p:cNvSpPr>
            <a:spLocks noChangeShapeType="1"/>
          </p:cNvSpPr>
          <p:nvPr/>
        </p:nvSpPr>
        <p:spPr bwMode="auto">
          <a:xfrm flipH="1" flipV="1">
            <a:off x="1447800" y="1524000"/>
            <a:ext cx="685800" cy="1828800"/>
          </a:xfrm>
          <a:prstGeom prst="line">
            <a:avLst/>
          </a:prstGeom>
          <a:noFill/>
          <a:ln w="57150">
            <a:solidFill>
              <a:schemeClr val="tx1"/>
            </a:solidFill>
            <a:miter lim="800000"/>
            <a:headEnd/>
            <a:tailEnd type="triangle" w="med" len="med"/>
          </a:ln>
        </p:spPr>
        <p:txBody>
          <a:bodyPr wrap="none"/>
          <a:lstStyle/>
          <a:p>
            <a:endParaRPr lang="zh-CN" altLang="en-US"/>
          </a:p>
        </p:txBody>
      </p:sp>
      <p:sp>
        <p:nvSpPr>
          <p:cNvPr id="119811" name="Line 4"/>
          <p:cNvSpPr>
            <a:spLocks noChangeShapeType="1"/>
          </p:cNvSpPr>
          <p:nvPr/>
        </p:nvSpPr>
        <p:spPr bwMode="auto">
          <a:xfrm flipV="1">
            <a:off x="2286000" y="1524000"/>
            <a:ext cx="1143000" cy="1828800"/>
          </a:xfrm>
          <a:prstGeom prst="line">
            <a:avLst/>
          </a:prstGeom>
          <a:noFill/>
          <a:ln w="57150">
            <a:solidFill>
              <a:schemeClr val="tx1"/>
            </a:solidFill>
            <a:miter lim="800000"/>
            <a:headEnd/>
            <a:tailEnd type="triangle" w="med" len="med"/>
          </a:ln>
        </p:spPr>
        <p:txBody>
          <a:bodyPr wrap="none"/>
          <a:lstStyle/>
          <a:p>
            <a:endParaRPr lang="zh-CN" altLang="en-US"/>
          </a:p>
        </p:txBody>
      </p:sp>
      <p:sp>
        <p:nvSpPr>
          <p:cNvPr id="119812" name="Line 5"/>
          <p:cNvSpPr>
            <a:spLocks noChangeShapeType="1"/>
          </p:cNvSpPr>
          <p:nvPr/>
        </p:nvSpPr>
        <p:spPr bwMode="auto">
          <a:xfrm flipV="1">
            <a:off x="4876800" y="1524000"/>
            <a:ext cx="0" cy="1752600"/>
          </a:xfrm>
          <a:prstGeom prst="line">
            <a:avLst/>
          </a:prstGeom>
          <a:noFill/>
          <a:ln w="57150">
            <a:solidFill>
              <a:schemeClr val="tx1"/>
            </a:solidFill>
            <a:miter lim="800000"/>
            <a:headEnd/>
            <a:tailEnd type="triangle" w="med" len="med"/>
          </a:ln>
        </p:spPr>
        <p:txBody>
          <a:bodyPr wrap="none"/>
          <a:lstStyle/>
          <a:p>
            <a:endParaRPr lang="zh-CN" altLang="en-US"/>
          </a:p>
        </p:txBody>
      </p:sp>
      <p:sp>
        <p:nvSpPr>
          <p:cNvPr id="119813" name="Line 6"/>
          <p:cNvSpPr>
            <a:spLocks noChangeShapeType="1"/>
          </p:cNvSpPr>
          <p:nvPr/>
        </p:nvSpPr>
        <p:spPr bwMode="auto">
          <a:xfrm flipV="1">
            <a:off x="5029200" y="1524000"/>
            <a:ext cx="914400" cy="1752600"/>
          </a:xfrm>
          <a:prstGeom prst="line">
            <a:avLst/>
          </a:prstGeom>
          <a:noFill/>
          <a:ln w="57150">
            <a:solidFill>
              <a:schemeClr val="tx1"/>
            </a:solidFill>
            <a:miter lim="800000"/>
            <a:headEnd/>
            <a:tailEnd type="triangle" w="med" len="med"/>
          </a:ln>
        </p:spPr>
        <p:txBody>
          <a:bodyPr wrap="none"/>
          <a:lstStyle/>
          <a:p>
            <a:endParaRPr lang="zh-CN" altLang="en-US"/>
          </a:p>
        </p:txBody>
      </p:sp>
      <p:sp>
        <p:nvSpPr>
          <p:cNvPr id="119814" name="Line 7"/>
          <p:cNvSpPr>
            <a:spLocks noChangeShapeType="1"/>
          </p:cNvSpPr>
          <p:nvPr/>
        </p:nvSpPr>
        <p:spPr bwMode="auto">
          <a:xfrm flipV="1">
            <a:off x="5181600" y="1524000"/>
            <a:ext cx="1828800" cy="1828800"/>
          </a:xfrm>
          <a:prstGeom prst="line">
            <a:avLst/>
          </a:prstGeom>
          <a:noFill/>
          <a:ln w="57150">
            <a:solidFill>
              <a:schemeClr val="tx1"/>
            </a:solidFill>
            <a:miter lim="800000"/>
            <a:headEnd/>
            <a:tailEnd type="triangle" w="med" len="med"/>
          </a:ln>
        </p:spPr>
        <p:txBody>
          <a:bodyPr wrap="none"/>
          <a:lstStyle/>
          <a:p>
            <a:endParaRPr lang="zh-CN" altLang="en-US"/>
          </a:p>
        </p:txBody>
      </p:sp>
      <p:sp>
        <p:nvSpPr>
          <p:cNvPr id="119815" name="Line 8"/>
          <p:cNvSpPr>
            <a:spLocks noChangeShapeType="1"/>
          </p:cNvSpPr>
          <p:nvPr/>
        </p:nvSpPr>
        <p:spPr bwMode="auto">
          <a:xfrm flipV="1">
            <a:off x="7696200" y="1524000"/>
            <a:ext cx="381000" cy="1828800"/>
          </a:xfrm>
          <a:prstGeom prst="line">
            <a:avLst/>
          </a:prstGeom>
          <a:noFill/>
          <a:ln w="57150">
            <a:solidFill>
              <a:schemeClr val="tx1"/>
            </a:solidFill>
            <a:miter lim="800000"/>
            <a:headEnd/>
            <a:tailEnd type="triangle" w="med" len="med"/>
          </a:ln>
        </p:spPr>
        <p:txBody>
          <a:bodyPr wrap="none"/>
          <a:lstStyle/>
          <a:p>
            <a:endParaRPr lang="zh-CN" altLang="en-US"/>
          </a:p>
        </p:txBody>
      </p:sp>
      <p:sp>
        <p:nvSpPr>
          <p:cNvPr id="119816" name="Line 9"/>
          <p:cNvSpPr>
            <a:spLocks noChangeShapeType="1"/>
          </p:cNvSpPr>
          <p:nvPr/>
        </p:nvSpPr>
        <p:spPr bwMode="auto">
          <a:xfrm flipV="1">
            <a:off x="2057400" y="3886200"/>
            <a:ext cx="0" cy="2133600"/>
          </a:xfrm>
          <a:prstGeom prst="line">
            <a:avLst/>
          </a:prstGeom>
          <a:noFill/>
          <a:ln w="57150">
            <a:solidFill>
              <a:schemeClr val="tx1"/>
            </a:solidFill>
            <a:miter lim="800000"/>
            <a:headEnd/>
            <a:tailEnd type="triangle" w="med" len="med"/>
          </a:ln>
        </p:spPr>
        <p:txBody>
          <a:bodyPr wrap="none"/>
          <a:lstStyle/>
          <a:p>
            <a:endParaRPr lang="zh-CN" altLang="en-US"/>
          </a:p>
        </p:txBody>
      </p:sp>
      <p:sp>
        <p:nvSpPr>
          <p:cNvPr id="119817" name="Line 10"/>
          <p:cNvSpPr>
            <a:spLocks noChangeShapeType="1"/>
          </p:cNvSpPr>
          <p:nvPr/>
        </p:nvSpPr>
        <p:spPr bwMode="auto">
          <a:xfrm flipH="1" flipV="1">
            <a:off x="2209800" y="3886200"/>
            <a:ext cx="1524000" cy="2057400"/>
          </a:xfrm>
          <a:prstGeom prst="line">
            <a:avLst/>
          </a:prstGeom>
          <a:noFill/>
          <a:ln w="57150">
            <a:solidFill>
              <a:schemeClr val="tx1"/>
            </a:solidFill>
            <a:miter lim="800000"/>
            <a:headEnd/>
            <a:tailEnd type="triangle" w="med" len="med"/>
          </a:ln>
        </p:spPr>
        <p:txBody>
          <a:bodyPr wrap="none"/>
          <a:lstStyle/>
          <a:p>
            <a:endParaRPr lang="zh-CN" altLang="en-US"/>
          </a:p>
        </p:txBody>
      </p:sp>
      <p:sp>
        <p:nvSpPr>
          <p:cNvPr id="119818" name="Line 11"/>
          <p:cNvSpPr>
            <a:spLocks noChangeShapeType="1"/>
          </p:cNvSpPr>
          <p:nvPr/>
        </p:nvSpPr>
        <p:spPr bwMode="auto">
          <a:xfrm flipV="1">
            <a:off x="3886200" y="3886200"/>
            <a:ext cx="762000" cy="2057400"/>
          </a:xfrm>
          <a:prstGeom prst="line">
            <a:avLst/>
          </a:prstGeom>
          <a:noFill/>
          <a:ln w="57150">
            <a:solidFill>
              <a:schemeClr val="tx1"/>
            </a:solidFill>
            <a:miter lim="800000"/>
            <a:headEnd/>
            <a:tailEnd type="triangle" w="med" len="med"/>
          </a:ln>
        </p:spPr>
        <p:txBody>
          <a:bodyPr wrap="none"/>
          <a:lstStyle/>
          <a:p>
            <a:endParaRPr lang="zh-CN" altLang="en-US"/>
          </a:p>
        </p:txBody>
      </p:sp>
      <p:sp>
        <p:nvSpPr>
          <p:cNvPr id="119819" name="Line 12"/>
          <p:cNvSpPr>
            <a:spLocks noChangeShapeType="1"/>
          </p:cNvSpPr>
          <p:nvPr/>
        </p:nvSpPr>
        <p:spPr bwMode="auto">
          <a:xfrm flipV="1">
            <a:off x="5486400" y="3810000"/>
            <a:ext cx="0" cy="2057400"/>
          </a:xfrm>
          <a:prstGeom prst="line">
            <a:avLst/>
          </a:prstGeom>
          <a:noFill/>
          <a:ln w="57150">
            <a:solidFill>
              <a:schemeClr val="tx1"/>
            </a:solidFill>
            <a:miter lim="800000"/>
            <a:headEnd/>
            <a:tailEnd type="triangle" w="med" len="med"/>
          </a:ln>
        </p:spPr>
        <p:txBody>
          <a:bodyPr wrap="none"/>
          <a:lstStyle/>
          <a:p>
            <a:endParaRPr lang="zh-CN" altLang="en-US"/>
          </a:p>
        </p:txBody>
      </p:sp>
      <p:sp>
        <p:nvSpPr>
          <p:cNvPr id="119820" name="Line 13"/>
          <p:cNvSpPr>
            <a:spLocks noChangeShapeType="1"/>
          </p:cNvSpPr>
          <p:nvPr/>
        </p:nvSpPr>
        <p:spPr bwMode="auto">
          <a:xfrm flipH="1" flipV="1">
            <a:off x="5943600" y="3886200"/>
            <a:ext cx="1752600" cy="2133600"/>
          </a:xfrm>
          <a:prstGeom prst="line">
            <a:avLst/>
          </a:prstGeom>
          <a:noFill/>
          <a:ln w="57150">
            <a:solidFill>
              <a:schemeClr val="tx1"/>
            </a:solidFill>
            <a:miter lim="800000"/>
            <a:headEnd/>
            <a:tailEnd type="triangle" w="med" len="med"/>
          </a:ln>
        </p:spPr>
        <p:txBody>
          <a:bodyPr wrap="none"/>
          <a:lstStyle/>
          <a:p>
            <a:endParaRPr lang="zh-CN" altLang="en-US"/>
          </a:p>
        </p:txBody>
      </p:sp>
      <p:sp>
        <p:nvSpPr>
          <p:cNvPr id="119821" name="Line 14"/>
          <p:cNvSpPr>
            <a:spLocks noChangeShapeType="1"/>
          </p:cNvSpPr>
          <p:nvPr/>
        </p:nvSpPr>
        <p:spPr bwMode="auto">
          <a:xfrm flipV="1">
            <a:off x="7924800" y="3886200"/>
            <a:ext cx="0" cy="2057400"/>
          </a:xfrm>
          <a:prstGeom prst="line">
            <a:avLst/>
          </a:prstGeom>
          <a:noFill/>
          <a:ln w="57150">
            <a:solidFill>
              <a:schemeClr val="tx1"/>
            </a:solidFill>
            <a:miter lim="800000"/>
            <a:headEnd/>
            <a:tailEnd type="triangle" w="med" len="med"/>
          </a:ln>
        </p:spPr>
        <p:txBody>
          <a:bodyPr wrap="none"/>
          <a:lstStyle/>
          <a:p>
            <a:endParaRPr lang="zh-CN" altLang="en-US"/>
          </a:p>
        </p:txBody>
      </p:sp>
      <p:sp>
        <p:nvSpPr>
          <p:cNvPr id="119822" name="Line 15"/>
          <p:cNvSpPr>
            <a:spLocks noChangeShapeType="1"/>
          </p:cNvSpPr>
          <p:nvPr/>
        </p:nvSpPr>
        <p:spPr bwMode="auto">
          <a:xfrm flipV="1">
            <a:off x="2209800" y="3886200"/>
            <a:ext cx="5486400" cy="2057400"/>
          </a:xfrm>
          <a:prstGeom prst="line">
            <a:avLst/>
          </a:prstGeom>
          <a:noFill/>
          <a:ln w="57150">
            <a:solidFill>
              <a:schemeClr val="tx1"/>
            </a:solidFill>
            <a:miter lim="800000"/>
            <a:headEnd/>
            <a:tailEnd type="triangle" w="med" len="med"/>
          </a:ln>
        </p:spPr>
        <p:txBody>
          <a:bodyPr wrap="none"/>
          <a:lstStyle/>
          <a:p>
            <a:endParaRPr lang="zh-CN" altLang="en-US"/>
          </a:p>
        </p:txBody>
      </p:sp>
      <p:sp>
        <p:nvSpPr>
          <p:cNvPr id="119823" name="Line 16"/>
          <p:cNvSpPr>
            <a:spLocks noChangeShapeType="1"/>
          </p:cNvSpPr>
          <p:nvPr/>
        </p:nvSpPr>
        <p:spPr bwMode="auto">
          <a:xfrm flipH="1" flipV="1">
            <a:off x="2667000" y="3886200"/>
            <a:ext cx="2590800" cy="1981200"/>
          </a:xfrm>
          <a:prstGeom prst="line">
            <a:avLst/>
          </a:prstGeom>
          <a:noFill/>
          <a:ln w="57150">
            <a:solidFill>
              <a:schemeClr val="tx1"/>
            </a:solidFill>
            <a:miter lim="800000"/>
            <a:headEnd/>
            <a:tailEnd type="triangle" w="med" len="med"/>
          </a:ln>
        </p:spPr>
        <p:txBody>
          <a:bodyPr wrap="none"/>
          <a:lstStyle/>
          <a:p>
            <a:endParaRPr lang="zh-CN" altLang="en-US"/>
          </a:p>
        </p:txBody>
      </p:sp>
      <p:sp>
        <p:nvSpPr>
          <p:cNvPr id="119824" name="Text Box 17"/>
          <p:cNvSpPr txBox="1">
            <a:spLocks noChangeArrowheads="1"/>
          </p:cNvSpPr>
          <p:nvPr/>
        </p:nvSpPr>
        <p:spPr bwMode="auto">
          <a:xfrm>
            <a:off x="2555875" y="333375"/>
            <a:ext cx="3960813" cy="366713"/>
          </a:xfrm>
          <a:prstGeom prst="rect">
            <a:avLst/>
          </a:prstGeom>
          <a:noFill/>
          <a:ln w="9525">
            <a:noFill/>
            <a:miter lim="800000"/>
            <a:headEnd/>
            <a:tailEnd/>
          </a:ln>
        </p:spPr>
        <p:txBody>
          <a:bodyPr>
            <a:spAutoFit/>
          </a:bodyPr>
          <a:lstStyle/>
          <a:p>
            <a:pPr>
              <a:spcBef>
                <a:spcPct val="50000"/>
              </a:spcBef>
            </a:pPr>
            <a:endParaRPr lang="zh-CN" altLang="en-US">
              <a:latin typeface="Garamond"/>
              <a:ea typeface="方正姚体"/>
            </a:endParaRPr>
          </a:p>
        </p:txBody>
      </p:sp>
      <p:sp>
        <p:nvSpPr>
          <p:cNvPr id="119825" name="Text Box 18"/>
          <p:cNvSpPr txBox="1">
            <a:spLocks noChangeArrowheads="1"/>
          </p:cNvSpPr>
          <p:nvPr/>
        </p:nvSpPr>
        <p:spPr bwMode="auto">
          <a:xfrm>
            <a:off x="2555875" y="260350"/>
            <a:ext cx="4824413" cy="641350"/>
          </a:xfrm>
          <a:prstGeom prst="rect">
            <a:avLst/>
          </a:prstGeom>
          <a:noFill/>
          <a:ln w="9525">
            <a:noFill/>
            <a:miter lim="800000"/>
            <a:headEnd/>
            <a:tailEnd/>
          </a:ln>
        </p:spPr>
        <p:txBody>
          <a:bodyPr>
            <a:spAutoFit/>
          </a:bodyPr>
          <a:lstStyle/>
          <a:p>
            <a:pPr>
              <a:spcBef>
                <a:spcPct val="50000"/>
              </a:spcBef>
            </a:pPr>
            <a:r>
              <a:rPr lang="zh-CN" altLang="en-US" sz="3600" b="1">
                <a:latin typeface="Garamond"/>
                <a:ea typeface="方正姚体"/>
              </a:rPr>
              <a:t>佳能的核心能力</a:t>
            </a:r>
          </a:p>
        </p:txBody>
      </p:sp>
    </p:spTree>
    <p:extLst>
      <p:ext uri="{BB962C8B-B14F-4D97-AF65-F5344CB8AC3E}">
        <p14:creationId xmlns:p14="http://schemas.microsoft.com/office/powerpoint/2010/main" val="216961641"/>
      </p:ext>
    </p:extLst>
  </p:cSld>
  <p:clrMapOvr>
    <a:masterClrMapping/>
  </p:clrMapOvr>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2133600" y="-171450"/>
            <a:ext cx="7010400" cy="1484313"/>
          </a:xfrm>
        </p:spPr>
        <p:txBody>
          <a:bodyPr/>
          <a:lstStyle/>
          <a:p>
            <a:pPr marL="54864" indent="0" fontAlgn="auto">
              <a:spcAft>
                <a:spcPts val="0"/>
              </a:spcAft>
              <a:defRPr/>
            </a:pPr>
            <a:r>
              <a:rPr lang="zh-CN" altLang="en-US" dirty="0">
                <a:solidFill>
                  <a:schemeClr val="tx2">
                    <a:tint val="100000"/>
                    <a:shade val="90000"/>
                    <a:satMod val="250000"/>
                    <a:alpha val="100000"/>
                  </a:schemeClr>
                </a:solidFill>
                <a:ea typeface="黑体" pitchFamily="2" charset="-122"/>
                <a:cs typeface="+mj-cs"/>
              </a:rPr>
              <a:t>本田公司的产品扩展</a:t>
            </a:r>
          </a:p>
        </p:txBody>
      </p:sp>
      <p:sp>
        <p:nvSpPr>
          <p:cNvPr id="120834" name="Rectangle 3"/>
          <p:cNvSpPr>
            <a:spLocks noGrp="1" noChangeArrowheads="1"/>
          </p:cNvSpPr>
          <p:nvPr>
            <p:ph type="body" idx="1"/>
          </p:nvPr>
        </p:nvSpPr>
        <p:spPr/>
        <p:txBody>
          <a:bodyPr/>
          <a:lstStyle/>
          <a:p>
            <a:endParaRPr lang="zh-CN" altLang="en-US" dirty="0"/>
          </a:p>
        </p:txBody>
      </p:sp>
      <p:sp>
        <p:nvSpPr>
          <p:cNvPr id="120835" name="Oval 4"/>
          <p:cNvSpPr>
            <a:spLocks noChangeArrowheads="1"/>
          </p:cNvSpPr>
          <p:nvPr/>
        </p:nvSpPr>
        <p:spPr bwMode="auto">
          <a:xfrm>
            <a:off x="3851275" y="3429000"/>
            <a:ext cx="1584325" cy="1368425"/>
          </a:xfrm>
          <a:prstGeom prst="ellipse">
            <a:avLst/>
          </a:prstGeom>
          <a:solidFill>
            <a:schemeClr val="accent1"/>
          </a:solidFill>
          <a:ln w="9525">
            <a:solidFill>
              <a:schemeClr val="tx1"/>
            </a:solidFill>
            <a:round/>
            <a:headEnd/>
            <a:tailEnd/>
          </a:ln>
        </p:spPr>
        <p:txBody>
          <a:bodyPr wrap="none" anchor="ctr"/>
          <a:lstStyle/>
          <a:p>
            <a:pPr algn="ctr"/>
            <a:r>
              <a:rPr lang="zh-CN" altLang="en-US" sz="2400">
                <a:latin typeface="Garamond"/>
                <a:ea typeface="方正姚体"/>
              </a:rPr>
              <a:t>发动机</a:t>
            </a:r>
          </a:p>
          <a:p>
            <a:pPr algn="ctr"/>
            <a:r>
              <a:rPr lang="zh-CN" altLang="en-US" sz="2400">
                <a:latin typeface="Garamond"/>
                <a:ea typeface="方正姚体"/>
              </a:rPr>
              <a:t>传动系统</a:t>
            </a:r>
          </a:p>
        </p:txBody>
      </p:sp>
      <p:sp>
        <p:nvSpPr>
          <p:cNvPr id="120836" name="Rectangle 5"/>
          <p:cNvSpPr>
            <a:spLocks noChangeArrowheads="1"/>
          </p:cNvSpPr>
          <p:nvPr/>
        </p:nvSpPr>
        <p:spPr bwMode="auto">
          <a:xfrm>
            <a:off x="3995738" y="1628775"/>
            <a:ext cx="1296987" cy="936625"/>
          </a:xfrm>
          <a:prstGeom prst="rect">
            <a:avLst/>
          </a:prstGeom>
          <a:solidFill>
            <a:schemeClr val="accent1"/>
          </a:solidFill>
          <a:ln w="9525">
            <a:solidFill>
              <a:schemeClr val="tx1"/>
            </a:solidFill>
            <a:miter lim="800000"/>
            <a:headEnd/>
            <a:tailEnd/>
          </a:ln>
        </p:spPr>
        <p:txBody>
          <a:bodyPr wrap="none" anchor="ctr"/>
          <a:lstStyle/>
          <a:p>
            <a:pPr algn="ctr"/>
            <a:r>
              <a:rPr lang="zh-CN" altLang="en-US" sz="2400">
                <a:latin typeface="Garamond"/>
                <a:ea typeface="方正姚体"/>
              </a:rPr>
              <a:t>摩托车</a:t>
            </a:r>
          </a:p>
        </p:txBody>
      </p:sp>
      <p:sp>
        <p:nvSpPr>
          <p:cNvPr id="120837" name="Line 6"/>
          <p:cNvSpPr>
            <a:spLocks noChangeShapeType="1"/>
          </p:cNvSpPr>
          <p:nvPr/>
        </p:nvSpPr>
        <p:spPr bwMode="auto">
          <a:xfrm flipV="1">
            <a:off x="4572000" y="2636838"/>
            <a:ext cx="0" cy="720725"/>
          </a:xfrm>
          <a:prstGeom prst="line">
            <a:avLst/>
          </a:prstGeom>
          <a:noFill/>
          <a:ln w="9525">
            <a:solidFill>
              <a:schemeClr val="tx1"/>
            </a:solidFill>
            <a:round/>
            <a:headEnd/>
            <a:tailEnd type="triangle" w="med" len="med"/>
          </a:ln>
        </p:spPr>
        <p:txBody>
          <a:bodyPr/>
          <a:lstStyle/>
          <a:p>
            <a:endParaRPr lang="zh-CN" altLang="en-US"/>
          </a:p>
        </p:txBody>
      </p:sp>
      <p:sp>
        <p:nvSpPr>
          <p:cNvPr id="120838" name="Line 7"/>
          <p:cNvSpPr>
            <a:spLocks noChangeShapeType="1"/>
          </p:cNvSpPr>
          <p:nvPr/>
        </p:nvSpPr>
        <p:spPr bwMode="auto">
          <a:xfrm>
            <a:off x="4643438" y="4868863"/>
            <a:ext cx="0" cy="576262"/>
          </a:xfrm>
          <a:prstGeom prst="line">
            <a:avLst/>
          </a:prstGeom>
          <a:noFill/>
          <a:ln w="9525">
            <a:solidFill>
              <a:schemeClr val="tx1"/>
            </a:solidFill>
            <a:round/>
            <a:headEnd/>
            <a:tailEnd type="triangle" w="med" len="med"/>
          </a:ln>
        </p:spPr>
        <p:txBody>
          <a:bodyPr/>
          <a:lstStyle/>
          <a:p>
            <a:endParaRPr lang="zh-CN" altLang="en-US"/>
          </a:p>
        </p:txBody>
      </p:sp>
      <p:sp>
        <p:nvSpPr>
          <p:cNvPr id="120839" name="Rectangle 8"/>
          <p:cNvSpPr>
            <a:spLocks noChangeArrowheads="1"/>
          </p:cNvSpPr>
          <p:nvPr/>
        </p:nvSpPr>
        <p:spPr bwMode="auto">
          <a:xfrm>
            <a:off x="3924300" y="5516563"/>
            <a:ext cx="1584325" cy="865187"/>
          </a:xfrm>
          <a:prstGeom prst="rect">
            <a:avLst/>
          </a:prstGeom>
          <a:solidFill>
            <a:schemeClr val="accent1"/>
          </a:solidFill>
          <a:ln w="9525">
            <a:solidFill>
              <a:schemeClr val="tx1"/>
            </a:solidFill>
            <a:miter lim="800000"/>
            <a:headEnd/>
            <a:tailEnd/>
          </a:ln>
        </p:spPr>
        <p:txBody>
          <a:bodyPr wrap="none" anchor="ctr"/>
          <a:lstStyle/>
          <a:p>
            <a:pPr algn="ctr"/>
            <a:r>
              <a:rPr lang="zh-CN" altLang="en-US" sz="2400">
                <a:latin typeface="Garamond"/>
                <a:ea typeface="方正姚体"/>
              </a:rPr>
              <a:t>小汽车</a:t>
            </a:r>
          </a:p>
        </p:txBody>
      </p:sp>
      <p:sp>
        <p:nvSpPr>
          <p:cNvPr id="120840" name="Line 9"/>
          <p:cNvSpPr>
            <a:spLocks noChangeShapeType="1"/>
          </p:cNvSpPr>
          <p:nvPr/>
        </p:nvSpPr>
        <p:spPr bwMode="auto">
          <a:xfrm flipH="1" flipV="1">
            <a:off x="3059113" y="2997200"/>
            <a:ext cx="1008062" cy="647700"/>
          </a:xfrm>
          <a:prstGeom prst="line">
            <a:avLst/>
          </a:prstGeom>
          <a:noFill/>
          <a:ln w="9525">
            <a:solidFill>
              <a:schemeClr val="tx1"/>
            </a:solidFill>
            <a:round/>
            <a:headEnd/>
            <a:tailEnd type="triangle" w="med" len="med"/>
          </a:ln>
        </p:spPr>
        <p:txBody>
          <a:bodyPr/>
          <a:lstStyle/>
          <a:p>
            <a:endParaRPr lang="zh-CN" altLang="en-US"/>
          </a:p>
        </p:txBody>
      </p:sp>
      <p:sp>
        <p:nvSpPr>
          <p:cNvPr id="120841" name="Line 10"/>
          <p:cNvSpPr>
            <a:spLocks noChangeShapeType="1"/>
          </p:cNvSpPr>
          <p:nvPr/>
        </p:nvSpPr>
        <p:spPr bwMode="auto">
          <a:xfrm flipH="1" flipV="1">
            <a:off x="2843213" y="3716338"/>
            <a:ext cx="1008062" cy="288925"/>
          </a:xfrm>
          <a:prstGeom prst="line">
            <a:avLst/>
          </a:prstGeom>
          <a:noFill/>
          <a:ln w="9525">
            <a:solidFill>
              <a:schemeClr val="tx1"/>
            </a:solidFill>
            <a:round/>
            <a:headEnd/>
            <a:tailEnd type="triangle" w="med" len="med"/>
          </a:ln>
        </p:spPr>
        <p:txBody>
          <a:bodyPr/>
          <a:lstStyle/>
          <a:p>
            <a:endParaRPr lang="zh-CN" altLang="en-US"/>
          </a:p>
        </p:txBody>
      </p:sp>
      <p:sp>
        <p:nvSpPr>
          <p:cNvPr id="120842" name="Line 11"/>
          <p:cNvSpPr>
            <a:spLocks noChangeShapeType="1"/>
          </p:cNvSpPr>
          <p:nvPr/>
        </p:nvSpPr>
        <p:spPr bwMode="auto">
          <a:xfrm flipH="1">
            <a:off x="2843807" y="4437112"/>
            <a:ext cx="1152128" cy="503932"/>
          </a:xfrm>
          <a:prstGeom prst="line">
            <a:avLst/>
          </a:prstGeom>
          <a:noFill/>
          <a:ln w="9525">
            <a:solidFill>
              <a:schemeClr val="tx1"/>
            </a:solidFill>
            <a:round/>
            <a:headEnd/>
            <a:tailEnd type="triangle" w="med" len="med"/>
          </a:ln>
        </p:spPr>
        <p:txBody>
          <a:bodyPr/>
          <a:lstStyle/>
          <a:p>
            <a:endParaRPr lang="zh-CN" altLang="en-US"/>
          </a:p>
        </p:txBody>
      </p:sp>
      <p:sp>
        <p:nvSpPr>
          <p:cNvPr id="120844" name="Rectangle 13"/>
          <p:cNvSpPr>
            <a:spLocks noChangeArrowheads="1"/>
          </p:cNvSpPr>
          <p:nvPr/>
        </p:nvSpPr>
        <p:spPr bwMode="auto">
          <a:xfrm>
            <a:off x="1476375" y="2276475"/>
            <a:ext cx="1582738" cy="720725"/>
          </a:xfrm>
          <a:prstGeom prst="rect">
            <a:avLst/>
          </a:prstGeom>
          <a:solidFill>
            <a:schemeClr val="accent1"/>
          </a:solidFill>
          <a:ln w="9525">
            <a:solidFill>
              <a:schemeClr val="tx1"/>
            </a:solidFill>
            <a:miter lim="800000"/>
            <a:headEnd/>
            <a:tailEnd/>
          </a:ln>
        </p:spPr>
        <p:txBody>
          <a:bodyPr wrap="none" anchor="ctr"/>
          <a:lstStyle/>
          <a:p>
            <a:pPr algn="ctr"/>
            <a:r>
              <a:rPr lang="zh-CN" altLang="en-US">
                <a:latin typeface="Garamond"/>
                <a:ea typeface="方正姚体"/>
              </a:rPr>
              <a:t>外用发动机</a:t>
            </a:r>
          </a:p>
        </p:txBody>
      </p:sp>
      <p:sp>
        <p:nvSpPr>
          <p:cNvPr id="120845" name="Rectangle 14"/>
          <p:cNvSpPr>
            <a:spLocks noChangeArrowheads="1"/>
          </p:cNvSpPr>
          <p:nvPr/>
        </p:nvSpPr>
        <p:spPr bwMode="auto">
          <a:xfrm>
            <a:off x="1403350" y="3357563"/>
            <a:ext cx="1439863" cy="647700"/>
          </a:xfrm>
          <a:prstGeom prst="rect">
            <a:avLst/>
          </a:prstGeom>
          <a:solidFill>
            <a:schemeClr val="accent1"/>
          </a:solidFill>
          <a:ln w="9525">
            <a:solidFill>
              <a:schemeClr val="tx1"/>
            </a:solidFill>
            <a:miter lim="800000"/>
            <a:headEnd/>
            <a:tailEnd/>
          </a:ln>
        </p:spPr>
        <p:txBody>
          <a:bodyPr wrap="none" anchor="ctr"/>
          <a:lstStyle/>
          <a:p>
            <a:pPr algn="ctr"/>
            <a:r>
              <a:rPr lang="zh-CN" altLang="en-US">
                <a:latin typeface="Garamond"/>
                <a:ea typeface="方正姚体"/>
              </a:rPr>
              <a:t>扫雪车</a:t>
            </a:r>
          </a:p>
        </p:txBody>
      </p:sp>
      <p:sp>
        <p:nvSpPr>
          <p:cNvPr id="120846" name="Rectangle 15"/>
          <p:cNvSpPr>
            <a:spLocks noChangeArrowheads="1"/>
          </p:cNvSpPr>
          <p:nvPr/>
        </p:nvSpPr>
        <p:spPr bwMode="auto">
          <a:xfrm>
            <a:off x="1475656" y="4725144"/>
            <a:ext cx="1368425" cy="649288"/>
          </a:xfrm>
          <a:prstGeom prst="rect">
            <a:avLst/>
          </a:prstGeom>
          <a:solidFill>
            <a:schemeClr val="accent1"/>
          </a:solidFill>
          <a:ln w="9525">
            <a:solidFill>
              <a:schemeClr val="tx1"/>
            </a:solidFill>
            <a:miter lim="800000"/>
            <a:headEnd/>
            <a:tailEnd/>
          </a:ln>
        </p:spPr>
        <p:txBody>
          <a:bodyPr wrap="none" anchor="ctr"/>
          <a:lstStyle/>
          <a:p>
            <a:pPr algn="ctr"/>
            <a:r>
              <a:rPr lang="zh-CN" altLang="en-US">
                <a:latin typeface="Garamond"/>
                <a:ea typeface="方正姚体"/>
              </a:rPr>
              <a:t>雪地车</a:t>
            </a:r>
          </a:p>
        </p:txBody>
      </p:sp>
      <p:sp>
        <p:nvSpPr>
          <p:cNvPr id="120848" name="Line 17"/>
          <p:cNvSpPr>
            <a:spLocks noChangeShapeType="1"/>
          </p:cNvSpPr>
          <p:nvPr/>
        </p:nvSpPr>
        <p:spPr bwMode="auto">
          <a:xfrm flipV="1">
            <a:off x="5076825" y="2852738"/>
            <a:ext cx="1079500" cy="647700"/>
          </a:xfrm>
          <a:prstGeom prst="line">
            <a:avLst/>
          </a:prstGeom>
          <a:noFill/>
          <a:ln w="9525">
            <a:solidFill>
              <a:schemeClr val="tx1"/>
            </a:solidFill>
            <a:round/>
            <a:headEnd/>
            <a:tailEnd type="triangle" w="med" len="med"/>
          </a:ln>
        </p:spPr>
        <p:txBody>
          <a:bodyPr/>
          <a:lstStyle/>
          <a:p>
            <a:endParaRPr lang="zh-CN" altLang="en-US"/>
          </a:p>
        </p:txBody>
      </p:sp>
      <p:sp>
        <p:nvSpPr>
          <p:cNvPr id="120849" name="Line 18"/>
          <p:cNvSpPr>
            <a:spLocks noChangeShapeType="1"/>
          </p:cNvSpPr>
          <p:nvPr/>
        </p:nvSpPr>
        <p:spPr bwMode="auto">
          <a:xfrm flipV="1">
            <a:off x="5364163" y="3716338"/>
            <a:ext cx="936625" cy="73025"/>
          </a:xfrm>
          <a:prstGeom prst="line">
            <a:avLst/>
          </a:prstGeom>
          <a:noFill/>
          <a:ln w="9525">
            <a:solidFill>
              <a:schemeClr val="tx1"/>
            </a:solidFill>
            <a:round/>
            <a:headEnd/>
            <a:tailEnd type="triangle" w="med" len="med"/>
          </a:ln>
        </p:spPr>
        <p:txBody>
          <a:bodyPr/>
          <a:lstStyle/>
          <a:p>
            <a:endParaRPr lang="zh-CN" altLang="en-US"/>
          </a:p>
        </p:txBody>
      </p:sp>
      <p:sp>
        <p:nvSpPr>
          <p:cNvPr id="120851" name="Line 20"/>
          <p:cNvSpPr>
            <a:spLocks noChangeShapeType="1"/>
          </p:cNvSpPr>
          <p:nvPr/>
        </p:nvSpPr>
        <p:spPr bwMode="auto">
          <a:xfrm>
            <a:off x="5364163" y="4437063"/>
            <a:ext cx="936625" cy="647700"/>
          </a:xfrm>
          <a:prstGeom prst="line">
            <a:avLst/>
          </a:prstGeom>
          <a:noFill/>
          <a:ln w="9525">
            <a:solidFill>
              <a:schemeClr val="tx1"/>
            </a:solidFill>
            <a:round/>
            <a:headEnd/>
            <a:tailEnd type="triangle" w="med" len="med"/>
          </a:ln>
        </p:spPr>
        <p:txBody>
          <a:bodyPr/>
          <a:lstStyle/>
          <a:p>
            <a:endParaRPr lang="zh-CN" altLang="en-US"/>
          </a:p>
        </p:txBody>
      </p:sp>
      <p:sp>
        <p:nvSpPr>
          <p:cNvPr id="120852" name="Rectangle 21"/>
          <p:cNvSpPr>
            <a:spLocks noChangeArrowheads="1"/>
          </p:cNvSpPr>
          <p:nvPr/>
        </p:nvSpPr>
        <p:spPr bwMode="auto">
          <a:xfrm>
            <a:off x="6156325" y="2060575"/>
            <a:ext cx="1295400" cy="790575"/>
          </a:xfrm>
          <a:prstGeom prst="rect">
            <a:avLst/>
          </a:prstGeom>
          <a:solidFill>
            <a:schemeClr val="accent1"/>
          </a:solidFill>
          <a:ln w="9525">
            <a:solidFill>
              <a:schemeClr val="tx1"/>
            </a:solidFill>
            <a:miter lim="800000"/>
            <a:headEnd/>
            <a:tailEnd/>
          </a:ln>
        </p:spPr>
        <p:txBody>
          <a:bodyPr wrap="none" anchor="ctr"/>
          <a:lstStyle/>
          <a:p>
            <a:pPr algn="ctr"/>
            <a:r>
              <a:rPr lang="zh-CN" altLang="en-US">
                <a:latin typeface="Garamond"/>
                <a:ea typeface="方正姚体"/>
              </a:rPr>
              <a:t>田间耕作机</a:t>
            </a:r>
          </a:p>
        </p:txBody>
      </p:sp>
      <p:sp>
        <p:nvSpPr>
          <p:cNvPr id="120853" name="Rectangle 22"/>
          <p:cNvSpPr>
            <a:spLocks noChangeArrowheads="1"/>
          </p:cNvSpPr>
          <p:nvPr/>
        </p:nvSpPr>
        <p:spPr bwMode="auto">
          <a:xfrm>
            <a:off x="6300788" y="3284538"/>
            <a:ext cx="1366837" cy="649287"/>
          </a:xfrm>
          <a:prstGeom prst="rect">
            <a:avLst/>
          </a:prstGeom>
          <a:solidFill>
            <a:schemeClr val="accent1"/>
          </a:solidFill>
          <a:ln w="9525">
            <a:solidFill>
              <a:schemeClr val="tx1"/>
            </a:solidFill>
            <a:miter lim="800000"/>
            <a:headEnd/>
            <a:tailEnd/>
          </a:ln>
        </p:spPr>
        <p:txBody>
          <a:bodyPr wrap="none" anchor="ctr"/>
          <a:lstStyle/>
          <a:p>
            <a:pPr algn="ctr"/>
            <a:r>
              <a:rPr lang="zh-CN" altLang="en-US">
                <a:latin typeface="Garamond"/>
                <a:ea typeface="方正姚体"/>
              </a:rPr>
              <a:t>割草机</a:t>
            </a:r>
          </a:p>
        </p:txBody>
      </p:sp>
      <p:sp>
        <p:nvSpPr>
          <p:cNvPr id="120855" name="Rectangle 24"/>
          <p:cNvSpPr>
            <a:spLocks noChangeArrowheads="1"/>
          </p:cNvSpPr>
          <p:nvPr/>
        </p:nvSpPr>
        <p:spPr bwMode="auto">
          <a:xfrm>
            <a:off x="6300788" y="5013325"/>
            <a:ext cx="1439862" cy="649288"/>
          </a:xfrm>
          <a:prstGeom prst="rect">
            <a:avLst/>
          </a:prstGeom>
          <a:solidFill>
            <a:schemeClr val="accent1"/>
          </a:solidFill>
          <a:ln w="9525">
            <a:solidFill>
              <a:schemeClr val="tx1"/>
            </a:solidFill>
            <a:miter lim="800000"/>
            <a:headEnd/>
            <a:tailEnd/>
          </a:ln>
        </p:spPr>
        <p:txBody>
          <a:bodyPr wrap="none" anchor="ctr"/>
          <a:lstStyle/>
          <a:p>
            <a:pPr algn="ctr"/>
            <a:r>
              <a:rPr lang="zh-CN" altLang="en-US" dirty="0">
                <a:latin typeface="Garamond"/>
                <a:ea typeface="方正姚体"/>
              </a:rPr>
              <a:t>节能车</a:t>
            </a:r>
          </a:p>
        </p:txBody>
      </p:sp>
    </p:spTree>
    <p:extLst>
      <p:ext uri="{BB962C8B-B14F-4D97-AF65-F5344CB8AC3E}">
        <p14:creationId xmlns:p14="http://schemas.microsoft.com/office/powerpoint/2010/main" val="3720969977"/>
      </p:ext>
    </p:extLst>
  </p:cSld>
  <p:clrMapOvr>
    <a:masterClrMapping/>
  </p:clrMapOvr>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2133600" y="0"/>
            <a:ext cx="7010400" cy="1052513"/>
          </a:xfrm>
        </p:spPr>
        <p:txBody>
          <a:bodyPr/>
          <a:lstStyle/>
          <a:p>
            <a:pPr marL="54864" indent="0" fontAlgn="auto">
              <a:spcAft>
                <a:spcPts val="0"/>
              </a:spcAft>
              <a:defRPr/>
            </a:pPr>
            <a:r>
              <a:rPr lang="zh-CN" altLang="en-US" dirty="0">
                <a:solidFill>
                  <a:schemeClr val="tx2">
                    <a:tint val="100000"/>
                    <a:shade val="90000"/>
                    <a:satMod val="250000"/>
                    <a:alpha val="100000"/>
                  </a:schemeClr>
                </a:solidFill>
                <a:ea typeface="黑体" pitchFamily="2" charset="-122"/>
                <a:cs typeface="+mj-cs"/>
              </a:rPr>
              <a:t>               特别提醒</a:t>
            </a:r>
            <a:r>
              <a:rPr lang="zh-CN" altLang="en-US" sz="5500" dirty="0">
                <a:solidFill>
                  <a:schemeClr val="tx2">
                    <a:tint val="100000"/>
                    <a:shade val="90000"/>
                    <a:satMod val="250000"/>
                    <a:alpha val="100000"/>
                  </a:schemeClr>
                </a:solidFill>
                <a:cs typeface="+mj-cs"/>
              </a:rPr>
              <a:t> </a:t>
            </a:r>
          </a:p>
        </p:txBody>
      </p:sp>
      <p:sp>
        <p:nvSpPr>
          <p:cNvPr id="121858" name="Rectangle 3"/>
          <p:cNvSpPr>
            <a:spLocks noGrp="1" noChangeArrowheads="1"/>
          </p:cNvSpPr>
          <p:nvPr>
            <p:ph type="body" idx="1"/>
          </p:nvPr>
        </p:nvSpPr>
        <p:spPr>
          <a:xfrm>
            <a:off x="250825" y="1557338"/>
            <a:ext cx="8686800" cy="4525962"/>
          </a:xfrm>
        </p:spPr>
        <p:txBody>
          <a:bodyPr/>
          <a:lstStyle/>
          <a:p>
            <a:pPr>
              <a:lnSpc>
                <a:spcPct val="90000"/>
              </a:lnSpc>
              <a:buFont typeface="Wingdings" pitchFamily="2" charset="2"/>
              <a:buNone/>
            </a:pPr>
            <a:r>
              <a:rPr lang="zh-CN" altLang="en-US" sz="4000" dirty="0"/>
              <a:t>       </a:t>
            </a:r>
            <a:r>
              <a:rPr lang="zh-CN" altLang="en-US" sz="4000" b="1" dirty="0"/>
              <a:t>核心能力是企业发展的“引擎”。应将企业看成是一个核心能力的集合体，而不是产品的集合体。通过培育和发展核心能力，企业可以源源不断地繁衍出最终产品去创造市场、引导消费。因此，培育企业的核心能力是一种厚积薄发、有利于企业永续经营的战略选择。</a:t>
            </a:r>
          </a:p>
          <a:p>
            <a:pPr>
              <a:lnSpc>
                <a:spcPct val="90000"/>
              </a:lnSpc>
            </a:pPr>
            <a:endParaRPr lang="zh-CN" altLang="en-US" b="1" dirty="0"/>
          </a:p>
        </p:txBody>
      </p:sp>
    </p:spTree>
    <p:extLst>
      <p:ext uri="{BB962C8B-B14F-4D97-AF65-F5344CB8AC3E}">
        <p14:creationId xmlns:p14="http://schemas.microsoft.com/office/powerpoint/2010/main" val="560411433"/>
      </p:ext>
    </p:extLst>
  </p:cSld>
  <p:clrMapOvr>
    <a:masterClrMapping/>
  </p:clrMapOvr>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2133600" y="0"/>
            <a:ext cx="7010400" cy="1052513"/>
          </a:xfrm>
        </p:spPr>
        <p:txBody>
          <a:bodyPr/>
          <a:lstStyle/>
          <a:p>
            <a:pPr marL="54864" indent="0" fontAlgn="auto">
              <a:spcAft>
                <a:spcPts val="0"/>
              </a:spcAft>
              <a:defRPr/>
            </a:pPr>
            <a:r>
              <a:rPr lang="zh-CN" altLang="en-US" dirty="0">
                <a:solidFill>
                  <a:schemeClr val="tx2">
                    <a:tint val="100000"/>
                    <a:shade val="90000"/>
                    <a:satMod val="250000"/>
                    <a:alpha val="100000"/>
                  </a:schemeClr>
                </a:solidFill>
                <a:ea typeface="黑体" pitchFamily="2" charset="-122"/>
                <a:cs typeface="+mj-cs"/>
              </a:rPr>
              <a:t>核心竞争能力结构维度</a:t>
            </a:r>
          </a:p>
        </p:txBody>
      </p:sp>
      <p:sp>
        <p:nvSpPr>
          <p:cNvPr id="122882" name="Oval 4"/>
          <p:cNvSpPr>
            <a:spLocks noChangeArrowheads="1"/>
          </p:cNvSpPr>
          <p:nvPr/>
        </p:nvSpPr>
        <p:spPr bwMode="auto">
          <a:xfrm>
            <a:off x="3886200" y="3124200"/>
            <a:ext cx="1447800" cy="1447800"/>
          </a:xfrm>
          <a:prstGeom prst="ellipse">
            <a:avLst/>
          </a:prstGeom>
          <a:solidFill>
            <a:schemeClr val="accent1"/>
          </a:solidFill>
          <a:ln w="9525">
            <a:solidFill>
              <a:schemeClr val="tx1"/>
            </a:solidFill>
            <a:round/>
            <a:headEnd/>
            <a:tailEnd/>
          </a:ln>
        </p:spPr>
        <p:txBody>
          <a:bodyPr wrap="none" anchor="ctr"/>
          <a:lstStyle/>
          <a:p>
            <a:pPr algn="ctr"/>
            <a:r>
              <a:rPr lang="zh-CN" altLang="en-US" sz="2800">
                <a:latin typeface="Garamond"/>
                <a:ea typeface="方正姚体"/>
              </a:rPr>
              <a:t>核心竞争</a:t>
            </a:r>
          </a:p>
          <a:p>
            <a:pPr algn="ctr"/>
            <a:r>
              <a:rPr lang="zh-CN" altLang="en-US" sz="2800">
                <a:latin typeface="Garamond"/>
                <a:ea typeface="方正姚体"/>
              </a:rPr>
              <a:t>能力</a:t>
            </a:r>
          </a:p>
        </p:txBody>
      </p:sp>
      <p:sp>
        <p:nvSpPr>
          <p:cNvPr id="122883" name="Rectangle 5"/>
          <p:cNvSpPr>
            <a:spLocks noChangeArrowheads="1"/>
          </p:cNvSpPr>
          <p:nvPr/>
        </p:nvSpPr>
        <p:spPr bwMode="auto">
          <a:xfrm>
            <a:off x="3429000" y="1752600"/>
            <a:ext cx="2286000" cy="609600"/>
          </a:xfrm>
          <a:prstGeom prst="rect">
            <a:avLst/>
          </a:prstGeom>
          <a:solidFill>
            <a:schemeClr val="accent1"/>
          </a:solidFill>
          <a:ln w="9525">
            <a:solidFill>
              <a:schemeClr val="tx1"/>
            </a:solidFill>
            <a:miter lim="800000"/>
            <a:headEnd/>
            <a:tailEnd/>
          </a:ln>
        </p:spPr>
        <p:txBody>
          <a:bodyPr wrap="none" anchor="ctr"/>
          <a:lstStyle/>
          <a:p>
            <a:pPr algn="ctr"/>
            <a:r>
              <a:rPr lang="zh-CN" altLang="en-US" sz="3200">
                <a:latin typeface="Garamond"/>
                <a:ea typeface="方正姚体"/>
              </a:rPr>
              <a:t>管理系统</a:t>
            </a:r>
          </a:p>
        </p:txBody>
      </p:sp>
      <p:sp>
        <p:nvSpPr>
          <p:cNvPr id="122884" name="Rectangle 6"/>
          <p:cNvSpPr>
            <a:spLocks noChangeArrowheads="1"/>
          </p:cNvSpPr>
          <p:nvPr/>
        </p:nvSpPr>
        <p:spPr bwMode="auto">
          <a:xfrm>
            <a:off x="3505200" y="5105400"/>
            <a:ext cx="2362200" cy="609600"/>
          </a:xfrm>
          <a:prstGeom prst="rect">
            <a:avLst/>
          </a:prstGeom>
          <a:solidFill>
            <a:schemeClr val="accent1"/>
          </a:solidFill>
          <a:ln w="9525">
            <a:solidFill>
              <a:schemeClr val="tx1"/>
            </a:solidFill>
            <a:miter lim="800000"/>
            <a:headEnd/>
            <a:tailEnd/>
          </a:ln>
        </p:spPr>
        <p:txBody>
          <a:bodyPr wrap="none" anchor="ctr"/>
          <a:lstStyle/>
          <a:p>
            <a:pPr algn="ctr"/>
            <a:r>
              <a:rPr lang="zh-CN" altLang="en-US" sz="3200">
                <a:latin typeface="Garamond"/>
                <a:ea typeface="方正姚体"/>
              </a:rPr>
              <a:t>价值和规范</a:t>
            </a:r>
          </a:p>
        </p:txBody>
      </p:sp>
      <p:sp>
        <p:nvSpPr>
          <p:cNvPr id="122885" name="Rectangle 7"/>
          <p:cNvSpPr>
            <a:spLocks noChangeArrowheads="1"/>
          </p:cNvSpPr>
          <p:nvPr/>
        </p:nvSpPr>
        <p:spPr bwMode="auto">
          <a:xfrm>
            <a:off x="1219200" y="3581400"/>
            <a:ext cx="1905000" cy="609600"/>
          </a:xfrm>
          <a:prstGeom prst="rect">
            <a:avLst/>
          </a:prstGeom>
          <a:solidFill>
            <a:schemeClr val="accent1"/>
          </a:solidFill>
          <a:ln w="9525">
            <a:solidFill>
              <a:schemeClr val="tx1"/>
            </a:solidFill>
            <a:miter lim="800000"/>
            <a:headEnd/>
            <a:tailEnd/>
          </a:ln>
        </p:spPr>
        <p:txBody>
          <a:bodyPr wrap="none" anchor="ctr"/>
          <a:lstStyle/>
          <a:p>
            <a:pPr algn="ctr"/>
            <a:r>
              <a:rPr lang="zh-CN" altLang="en-US" sz="2400">
                <a:latin typeface="Garamond"/>
                <a:ea typeface="方正姚体"/>
              </a:rPr>
              <a:t>物理技术系统</a:t>
            </a:r>
          </a:p>
        </p:txBody>
      </p:sp>
      <p:sp>
        <p:nvSpPr>
          <p:cNvPr id="122886" name="Rectangle 8"/>
          <p:cNvSpPr>
            <a:spLocks noChangeArrowheads="1"/>
          </p:cNvSpPr>
          <p:nvPr/>
        </p:nvSpPr>
        <p:spPr bwMode="auto">
          <a:xfrm>
            <a:off x="6248400" y="3429000"/>
            <a:ext cx="2133600" cy="762000"/>
          </a:xfrm>
          <a:prstGeom prst="rect">
            <a:avLst/>
          </a:prstGeom>
          <a:solidFill>
            <a:schemeClr val="accent1"/>
          </a:solidFill>
          <a:ln w="9525">
            <a:solidFill>
              <a:schemeClr val="tx1"/>
            </a:solidFill>
            <a:miter lim="800000"/>
            <a:headEnd/>
            <a:tailEnd/>
          </a:ln>
        </p:spPr>
        <p:txBody>
          <a:bodyPr wrap="none" anchor="ctr"/>
          <a:lstStyle/>
          <a:p>
            <a:pPr algn="ctr"/>
            <a:r>
              <a:rPr lang="zh-CN" altLang="en-US" sz="2800">
                <a:latin typeface="Garamond"/>
                <a:ea typeface="方正姚体"/>
              </a:rPr>
              <a:t>雇员知识技能</a:t>
            </a:r>
          </a:p>
        </p:txBody>
      </p:sp>
      <p:sp>
        <p:nvSpPr>
          <p:cNvPr id="122887" name="Line 9"/>
          <p:cNvSpPr>
            <a:spLocks noChangeShapeType="1"/>
          </p:cNvSpPr>
          <p:nvPr/>
        </p:nvSpPr>
        <p:spPr bwMode="auto">
          <a:xfrm>
            <a:off x="4648200" y="2362200"/>
            <a:ext cx="0" cy="685800"/>
          </a:xfrm>
          <a:prstGeom prst="line">
            <a:avLst/>
          </a:prstGeom>
          <a:noFill/>
          <a:ln w="9525">
            <a:solidFill>
              <a:schemeClr val="tx1"/>
            </a:solidFill>
            <a:round/>
            <a:headEnd/>
            <a:tailEnd type="triangle" w="med" len="med"/>
          </a:ln>
        </p:spPr>
        <p:txBody>
          <a:bodyPr/>
          <a:lstStyle/>
          <a:p>
            <a:endParaRPr lang="zh-CN" altLang="en-US"/>
          </a:p>
        </p:txBody>
      </p:sp>
      <p:sp>
        <p:nvSpPr>
          <p:cNvPr id="122888" name="Line 10"/>
          <p:cNvSpPr>
            <a:spLocks noChangeShapeType="1"/>
          </p:cNvSpPr>
          <p:nvPr/>
        </p:nvSpPr>
        <p:spPr bwMode="auto">
          <a:xfrm flipV="1">
            <a:off x="4648200" y="4572000"/>
            <a:ext cx="0" cy="533400"/>
          </a:xfrm>
          <a:prstGeom prst="line">
            <a:avLst/>
          </a:prstGeom>
          <a:noFill/>
          <a:ln w="9525">
            <a:solidFill>
              <a:schemeClr val="tx1"/>
            </a:solidFill>
            <a:round/>
            <a:headEnd/>
            <a:tailEnd type="triangle" w="med" len="med"/>
          </a:ln>
        </p:spPr>
        <p:txBody>
          <a:bodyPr/>
          <a:lstStyle/>
          <a:p>
            <a:endParaRPr lang="zh-CN" altLang="en-US"/>
          </a:p>
        </p:txBody>
      </p:sp>
      <p:sp>
        <p:nvSpPr>
          <p:cNvPr id="122889" name="Line 11"/>
          <p:cNvSpPr>
            <a:spLocks noChangeShapeType="1"/>
          </p:cNvSpPr>
          <p:nvPr/>
        </p:nvSpPr>
        <p:spPr bwMode="auto">
          <a:xfrm>
            <a:off x="3124200" y="3886200"/>
            <a:ext cx="762000" cy="0"/>
          </a:xfrm>
          <a:prstGeom prst="line">
            <a:avLst/>
          </a:prstGeom>
          <a:noFill/>
          <a:ln w="9525">
            <a:solidFill>
              <a:schemeClr val="tx1"/>
            </a:solidFill>
            <a:round/>
            <a:headEnd/>
            <a:tailEnd type="triangle" w="med" len="med"/>
          </a:ln>
        </p:spPr>
        <p:txBody>
          <a:bodyPr/>
          <a:lstStyle/>
          <a:p>
            <a:endParaRPr lang="zh-CN" altLang="en-US"/>
          </a:p>
        </p:txBody>
      </p:sp>
      <p:sp>
        <p:nvSpPr>
          <p:cNvPr id="122890" name="Line 12"/>
          <p:cNvSpPr>
            <a:spLocks noChangeShapeType="1"/>
          </p:cNvSpPr>
          <p:nvPr/>
        </p:nvSpPr>
        <p:spPr bwMode="auto">
          <a:xfrm flipH="1">
            <a:off x="5334000" y="3810000"/>
            <a:ext cx="914400" cy="0"/>
          </a:xfrm>
          <a:prstGeom prst="line">
            <a:avLst/>
          </a:prstGeom>
          <a:noFill/>
          <a:ln w="9525">
            <a:solidFill>
              <a:schemeClr val="tx1"/>
            </a:solidFill>
            <a:round/>
            <a:headEnd/>
            <a:tailEnd type="triangle" w="med" len="med"/>
          </a:ln>
        </p:spPr>
        <p:txBody>
          <a:bodyPr/>
          <a:lstStyle/>
          <a:p>
            <a:endParaRPr lang="zh-CN" altLang="en-US"/>
          </a:p>
        </p:txBody>
      </p:sp>
      <p:sp>
        <p:nvSpPr>
          <p:cNvPr id="122891" name="Line 13"/>
          <p:cNvSpPr>
            <a:spLocks noChangeShapeType="1"/>
          </p:cNvSpPr>
          <p:nvPr/>
        </p:nvSpPr>
        <p:spPr bwMode="auto">
          <a:xfrm flipV="1">
            <a:off x="2057400" y="1981200"/>
            <a:ext cx="1371600" cy="1600200"/>
          </a:xfrm>
          <a:prstGeom prst="line">
            <a:avLst/>
          </a:prstGeom>
          <a:noFill/>
          <a:ln w="9525">
            <a:solidFill>
              <a:schemeClr val="tx1"/>
            </a:solidFill>
            <a:round/>
            <a:headEnd/>
            <a:tailEnd/>
          </a:ln>
        </p:spPr>
        <p:txBody>
          <a:bodyPr/>
          <a:lstStyle/>
          <a:p>
            <a:endParaRPr lang="zh-CN" altLang="en-US"/>
          </a:p>
        </p:txBody>
      </p:sp>
      <p:sp>
        <p:nvSpPr>
          <p:cNvPr id="122892" name="Line 14"/>
          <p:cNvSpPr>
            <a:spLocks noChangeShapeType="1"/>
          </p:cNvSpPr>
          <p:nvPr/>
        </p:nvSpPr>
        <p:spPr bwMode="auto">
          <a:xfrm>
            <a:off x="5715000" y="1981200"/>
            <a:ext cx="1752600" cy="1447800"/>
          </a:xfrm>
          <a:prstGeom prst="line">
            <a:avLst/>
          </a:prstGeom>
          <a:noFill/>
          <a:ln w="9525">
            <a:solidFill>
              <a:schemeClr val="tx1"/>
            </a:solidFill>
            <a:round/>
            <a:headEnd/>
            <a:tailEnd/>
          </a:ln>
        </p:spPr>
        <p:txBody>
          <a:bodyPr/>
          <a:lstStyle/>
          <a:p>
            <a:endParaRPr lang="zh-CN" altLang="en-US"/>
          </a:p>
        </p:txBody>
      </p:sp>
      <p:sp>
        <p:nvSpPr>
          <p:cNvPr id="122893" name="Line 15"/>
          <p:cNvSpPr>
            <a:spLocks noChangeShapeType="1"/>
          </p:cNvSpPr>
          <p:nvPr/>
        </p:nvSpPr>
        <p:spPr bwMode="auto">
          <a:xfrm flipH="1">
            <a:off x="5867400" y="4191000"/>
            <a:ext cx="1676400" cy="1295400"/>
          </a:xfrm>
          <a:prstGeom prst="line">
            <a:avLst/>
          </a:prstGeom>
          <a:noFill/>
          <a:ln w="9525">
            <a:solidFill>
              <a:schemeClr val="tx1"/>
            </a:solidFill>
            <a:round/>
            <a:headEnd/>
            <a:tailEnd/>
          </a:ln>
        </p:spPr>
        <p:txBody>
          <a:bodyPr/>
          <a:lstStyle/>
          <a:p>
            <a:endParaRPr lang="zh-CN" altLang="en-US"/>
          </a:p>
        </p:txBody>
      </p:sp>
      <p:sp>
        <p:nvSpPr>
          <p:cNvPr id="122894" name="Line 16"/>
          <p:cNvSpPr>
            <a:spLocks noChangeShapeType="1"/>
          </p:cNvSpPr>
          <p:nvPr/>
        </p:nvSpPr>
        <p:spPr bwMode="auto">
          <a:xfrm>
            <a:off x="2057400" y="4191000"/>
            <a:ext cx="1447800" cy="1219200"/>
          </a:xfrm>
          <a:prstGeom prst="line">
            <a:avLst/>
          </a:prstGeom>
          <a:noFill/>
          <a:ln w="9525">
            <a:solidFill>
              <a:schemeClr val="tx1"/>
            </a:solidFill>
            <a:round/>
            <a:headEnd/>
            <a:tailEnd/>
          </a:ln>
        </p:spPr>
        <p:txBody>
          <a:bodyPr/>
          <a:lstStyle/>
          <a:p>
            <a:endParaRPr lang="zh-CN" altLang="en-US"/>
          </a:p>
        </p:txBody>
      </p:sp>
      <p:sp>
        <p:nvSpPr>
          <p:cNvPr id="122895" name="Text Box 17"/>
          <p:cNvSpPr txBox="1">
            <a:spLocks noChangeArrowheads="1"/>
          </p:cNvSpPr>
          <p:nvPr/>
        </p:nvSpPr>
        <p:spPr bwMode="auto">
          <a:xfrm>
            <a:off x="755650" y="5853113"/>
            <a:ext cx="7239000" cy="1004887"/>
          </a:xfrm>
          <a:prstGeom prst="rect">
            <a:avLst/>
          </a:prstGeom>
          <a:noFill/>
          <a:ln w="9525">
            <a:noFill/>
            <a:miter lim="800000"/>
            <a:headEnd/>
            <a:tailEnd/>
          </a:ln>
        </p:spPr>
        <p:txBody>
          <a:bodyPr>
            <a:spAutoFit/>
          </a:bodyPr>
          <a:lstStyle/>
          <a:p>
            <a:pPr>
              <a:spcBef>
                <a:spcPct val="50000"/>
              </a:spcBef>
            </a:pPr>
            <a:r>
              <a:rPr lang="zh-CN" altLang="en-US" sz="2400" b="1">
                <a:solidFill>
                  <a:srgbClr val="FFFFFF"/>
                </a:solidFill>
                <a:latin typeface="Garamond"/>
                <a:ea typeface="方正姚体"/>
              </a:rPr>
              <a:t>（摘自《新经济 新企业 新管理》，芮明杰 等著   </a:t>
            </a:r>
          </a:p>
          <a:p>
            <a:pPr>
              <a:spcBef>
                <a:spcPct val="50000"/>
              </a:spcBef>
            </a:pPr>
            <a:r>
              <a:rPr lang="zh-CN" altLang="en-US" sz="2400" b="1">
                <a:solidFill>
                  <a:srgbClr val="FFFFFF"/>
                </a:solidFill>
                <a:latin typeface="Garamond"/>
                <a:ea typeface="方正姚体"/>
              </a:rPr>
              <a:t>上海人民出版社）</a:t>
            </a:r>
          </a:p>
        </p:txBody>
      </p:sp>
    </p:spTree>
    <p:extLst>
      <p:ext uri="{BB962C8B-B14F-4D97-AF65-F5344CB8AC3E}">
        <p14:creationId xmlns:p14="http://schemas.microsoft.com/office/powerpoint/2010/main" val="1671356162"/>
      </p:ext>
    </p:extLst>
  </p:cSld>
  <p:clrMapOvr>
    <a:masterClrMapping/>
  </p:clrMapOvr>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457200" y="253536"/>
            <a:ext cx="8229600" cy="1143000"/>
          </a:xfrm>
        </p:spPr>
        <p:txBody>
          <a:bodyPr/>
          <a:lstStyle/>
          <a:p>
            <a:pPr marL="54864" indent="0" fontAlgn="auto">
              <a:spcAft>
                <a:spcPts val="0"/>
              </a:spcAft>
              <a:defRPr/>
            </a:pPr>
            <a:r>
              <a:rPr lang="zh-CN" altLang="en-US" dirty="0">
                <a:solidFill>
                  <a:schemeClr val="tx2">
                    <a:tint val="100000"/>
                    <a:shade val="90000"/>
                    <a:satMod val="250000"/>
                    <a:alpha val="100000"/>
                  </a:schemeClr>
                </a:solidFill>
                <a:ea typeface="黑体" pitchFamily="2" charset="-122"/>
                <a:cs typeface="+mj-cs"/>
              </a:rPr>
              <a:t>核心竞争能力结构与维度</a:t>
            </a:r>
          </a:p>
        </p:txBody>
      </p:sp>
      <p:sp>
        <p:nvSpPr>
          <p:cNvPr id="123906" name="Oval 4"/>
          <p:cNvSpPr>
            <a:spLocks noChangeArrowheads="1"/>
          </p:cNvSpPr>
          <p:nvPr/>
        </p:nvSpPr>
        <p:spPr bwMode="auto">
          <a:xfrm>
            <a:off x="1752600" y="1600200"/>
            <a:ext cx="5257800" cy="4800600"/>
          </a:xfrm>
          <a:prstGeom prst="ellipse">
            <a:avLst/>
          </a:prstGeom>
          <a:solidFill>
            <a:schemeClr val="accent1"/>
          </a:solidFill>
          <a:ln w="9525">
            <a:solidFill>
              <a:schemeClr val="tx1"/>
            </a:solidFill>
            <a:round/>
            <a:headEnd/>
            <a:tailEnd/>
          </a:ln>
        </p:spPr>
        <p:txBody>
          <a:bodyPr wrap="none" anchor="ctr"/>
          <a:lstStyle/>
          <a:p>
            <a:pPr algn="ctr"/>
            <a:endParaRPr lang="zh-CN" altLang="en-US">
              <a:latin typeface="Garamond"/>
              <a:ea typeface="方正姚体"/>
            </a:endParaRPr>
          </a:p>
        </p:txBody>
      </p:sp>
      <p:sp>
        <p:nvSpPr>
          <p:cNvPr id="123907" name="Text Box 5"/>
          <p:cNvSpPr txBox="1">
            <a:spLocks noChangeArrowheads="1"/>
          </p:cNvSpPr>
          <p:nvPr/>
        </p:nvSpPr>
        <p:spPr bwMode="auto">
          <a:xfrm>
            <a:off x="3810000" y="1676400"/>
            <a:ext cx="1828800" cy="366713"/>
          </a:xfrm>
          <a:prstGeom prst="rect">
            <a:avLst/>
          </a:prstGeom>
          <a:noFill/>
          <a:ln w="9525">
            <a:noFill/>
            <a:miter lim="800000"/>
            <a:headEnd/>
            <a:tailEnd/>
          </a:ln>
        </p:spPr>
        <p:txBody>
          <a:bodyPr>
            <a:spAutoFit/>
          </a:bodyPr>
          <a:lstStyle/>
          <a:p>
            <a:pPr>
              <a:spcBef>
                <a:spcPct val="50000"/>
              </a:spcBef>
            </a:pPr>
            <a:r>
              <a:rPr lang="zh-CN" altLang="en-US" b="1">
                <a:latin typeface="Garamond"/>
                <a:ea typeface="方正姚体"/>
              </a:rPr>
              <a:t>软件与硬件</a:t>
            </a:r>
          </a:p>
        </p:txBody>
      </p:sp>
      <p:sp>
        <p:nvSpPr>
          <p:cNvPr id="123908" name="Oval 6"/>
          <p:cNvSpPr>
            <a:spLocks noChangeArrowheads="1"/>
          </p:cNvSpPr>
          <p:nvPr/>
        </p:nvSpPr>
        <p:spPr bwMode="auto">
          <a:xfrm>
            <a:off x="2514600" y="2286000"/>
            <a:ext cx="3810000" cy="3657600"/>
          </a:xfrm>
          <a:prstGeom prst="ellipse">
            <a:avLst/>
          </a:prstGeom>
          <a:solidFill>
            <a:schemeClr val="accent1"/>
          </a:solidFill>
          <a:ln w="9525">
            <a:solidFill>
              <a:schemeClr val="tx1"/>
            </a:solidFill>
            <a:round/>
            <a:headEnd/>
            <a:tailEnd/>
          </a:ln>
        </p:spPr>
        <p:txBody>
          <a:bodyPr wrap="none" anchor="ctr"/>
          <a:lstStyle/>
          <a:p>
            <a:endParaRPr lang="zh-CN" altLang="en-US">
              <a:latin typeface="Rockwell"/>
              <a:ea typeface="方正姚体"/>
            </a:endParaRPr>
          </a:p>
        </p:txBody>
      </p:sp>
      <p:sp>
        <p:nvSpPr>
          <p:cNvPr id="123909" name="Text Box 7"/>
          <p:cNvSpPr txBox="1">
            <a:spLocks noChangeArrowheads="1"/>
          </p:cNvSpPr>
          <p:nvPr/>
        </p:nvSpPr>
        <p:spPr bwMode="auto">
          <a:xfrm>
            <a:off x="3886200" y="2438400"/>
            <a:ext cx="1447800" cy="366713"/>
          </a:xfrm>
          <a:prstGeom prst="rect">
            <a:avLst/>
          </a:prstGeom>
          <a:noFill/>
          <a:ln w="9525">
            <a:noFill/>
            <a:miter lim="800000"/>
            <a:headEnd/>
            <a:tailEnd/>
          </a:ln>
        </p:spPr>
        <p:txBody>
          <a:bodyPr>
            <a:spAutoFit/>
          </a:bodyPr>
          <a:lstStyle/>
          <a:p>
            <a:pPr>
              <a:spcBef>
                <a:spcPct val="50000"/>
              </a:spcBef>
            </a:pPr>
            <a:r>
              <a:rPr lang="zh-CN" altLang="en-US" b="1">
                <a:latin typeface="Garamond"/>
                <a:ea typeface="方正姚体"/>
              </a:rPr>
              <a:t>知识与技能</a:t>
            </a:r>
          </a:p>
        </p:txBody>
      </p:sp>
      <p:sp>
        <p:nvSpPr>
          <p:cNvPr id="123910" name="Oval 8"/>
          <p:cNvSpPr>
            <a:spLocks noChangeArrowheads="1"/>
          </p:cNvSpPr>
          <p:nvPr/>
        </p:nvSpPr>
        <p:spPr bwMode="auto">
          <a:xfrm>
            <a:off x="3124200" y="2819400"/>
            <a:ext cx="2590800" cy="2438400"/>
          </a:xfrm>
          <a:prstGeom prst="ellipse">
            <a:avLst/>
          </a:prstGeom>
          <a:solidFill>
            <a:schemeClr val="accent1"/>
          </a:solidFill>
          <a:ln w="9525">
            <a:solidFill>
              <a:schemeClr val="tx1"/>
            </a:solidFill>
            <a:round/>
            <a:headEnd/>
            <a:tailEnd/>
          </a:ln>
        </p:spPr>
        <p:txBody>
          <a:bodyPr wrap="none" anchor="ctr"/>
          <a:lstStyle/>
          <a:p>
            <a:pPr algn="ctr"/>
            <a:endParaRPr lang="zh-CN" altLang="en-US">
              <a:latin typeface="Garamond"/>
              <a:ea typeface="方正姚体"/>
            </a:endParaRPr>
          </a:p>
        </p:txBody>
      </p:sp>
      <p:sp>
        <p:nvSpPr>
          <p:cNvPr id="123911" name="Text Box 9"/>
          <p:cNvSpPr txBox="1">
            <a:spLocks noChangeArrowheads="1"/>
          </p:cNvSpPr>
          <p:nvPr/>
        </p:nvSpPr>
        <p:spPr bwMode="auto">
          <a:xfrm>
            <a:off x="3657600" y="2971800"/>
            <a:ext cx="1600200" cy="366713"/>
          </a:xfrm>
          <a:prstGeom prst="rect">
            <a:avLst/>
          </a:prstGeom>
          <a:noFill/>
          <a:ln w="9525">
            <a:noFill/>
            <a:miter lim="800000"/>
            <a:headEnd/>
            <a:tailEnd/>
          </a:ln>
        </p:spPr>
        <p:txBody>
          <a:bodyPr>
            <a:spAutoFit/>
          </a:bodyPr>
          <a:lstStyle/>
          <a:p>
            <a:pPr>
              <a:spcBef>
                <a:spcPct val="50000"/>
              </a:spcBef>
            </a:pPr>
            <a:r>
              <a:rPr lang="zh-CN" altLang="en-US">
                <a:latin typeface="Garamond"/>
                <a:ea typeface="方正姚体"/>
              </a:rPr>
              <a:t>  </a:t>
            </a:r>
            <a:r>
              <a:rPr lang="zh-CN" altLang="en-US" b="1">
                <a:latin typeface="Garamond"/>
                <a:ea typeface="方正姚体"/>
              </a:rPr>
              <a:t>组织与管理</a:t>
            </a:r>
          </a:p>
        </p:txBody>
      </p:sp>
      <p:sp>
        <p:nvSpPr>
          <p:cNvPr id="123912" name="Oval 10"/>
          <p:cNvSpPr>
            <a:spLocks noChangeArrowheads="1"/>
          </p:cNvSpPr>
          <p:nvPr/>
        </p:nvSpPr>
        <p:spPr bwMode="auto">
          <a:xfrm>
            <a:off x="3733800" y="3429000"/>
            <a:ext cx="1447800" cy="1295400"/>
          </a:xfrm>
          <a:prstGeom prst="ellipse">
            <a:avLst/>
          </a:prstGeom>
          <a:solidFill>
            <a:schemeClr val="accent1"/>
          </a:solidFill>
          <a:ln w="9525">
            <a:solidFill>
              <a:schemeClr val="tx1"/>
            </a:solidFill>
            <a:round/>
            <a:headEnd/>
            <a:tailEnd/>
          </a:ln>
        </p:spPr>
        <p:txBody>
          <a:bodyPr wrap="none" anchor="ctr"/>
          <a:lstStyle/>
          <a:p>
            <a:pPr algn="ctr"/>
            <a:r>
              <a:rPr lang="zh-CN" altLang="en-US" b="1">
                <a:latin typeface="Garamond"/>
                <a:ea typeface="方正姚体"/>
              </a:rPr>
              <a:t>核心价值观</a:t>
            </a:r>
          </a:p>
          <a:p>
            <a:pPr algn="ctr"/>
            <a:r>
              <a:rPr lang="zh-CN" altLang="en-US" b="1">
                <a:solidFill>
                  <a:schemeClr val="hlink"/>
                </a:solidFill>
                <a:latin typeface="Garamond"/>
                <a:ea typeface="方正姚体"/>
              </a:rPr>
              <a:t>能力1</a:t>
            </a:r>
          </a:p>
        </p:txBody>
      </p:sp>
      <p:sp>
        <p:nvSpPr>
          <p:cNvPr id="123913" name="Text Box 11"/>
          <p:cNvSpPr txBox="1">
            <a:spLocks noChangeArrowheads="1"/>
          </p:cNvSpPr>
          <p:nvPr/>
        </p:nvSpPr>
        <p:spPr bwMode="auto">
          <a:xfrm>
            <a:off x="4038600" y="4724400"/>
            <a:ext cx="914400" cy="366713"/>
          </a:xfrm>
          <a:prstGeom prst="rect">
            <a:avLst/>
          </a:prstGeom>
          <a:noFill/>
          <a:ln w="9525">
            <a:noFill/>
            <a:miter lim="800000"/>
            <a:headEnd/>
            <a:tailEnd/>
          </a:ln>
        </p:spPr>
        <p:txBody>
          <a:bodyPr>
            <a:spAutoFit/>
          </a:bodyPr>
          <a:lstStyle/>
          <a:p>
            <a:r>
              <a:rPr lang="zh-CN" altLang="en-US" b="1">
                <a:solidFill>
                  <a:schemeClr val="hlink"/>
                </a:solidFill>
                <a:latin typeface="Garamond"/>
                <a:ea typeface="方正姚体"/>
              </a:rPr>
              <a:t>能力2</a:t>
            </a:r>
          </a:p>
        </p:txBody>
      </p:sp>
      <p:sp>
        <p:nvSpPr>
          <p:cNvPr id="123914" name="Text Box 12"/>
          <p:cNvSpPr txBox="1">
            <a:spLocks noChangeArrowheads="1"/>
          </p:cNvSpPr>
          <p:nvPr/>
        </p:nvSpPr>
        <p:spPr bwMode="auto">
          <a:xfrm>
            <a:off x="3962400" y="5486400"/>
            <a:ext cx="1143000" cy="366713"/>
          </a:xfrm>
          <a:prstGeom prst="rect">
            <a:avLst/>
          </a:prstGeom>
          <a:noFill/>
          <a:ln w="9525">
            <a:noFill/>
            <a:miter lim="800000"/>
            <a:headEnd/>
            <a:tailEnd/>
          </a:ln>
        </p:spPr>
        <p:txBody>
          <a:bodyPr>
            <a:spAutoFit/>
          </a:bodyPr>
          <a:lstStyle/>
          <a:p>
            <a:pPr>
              <a:spcBef>
                <a:spcPct val="50000"/>
              </a:spcBef>
            </a:pPr>
            <a:r>
              <a:rPr lang="zh-CN" altLang="en-US" b="1">
                <a:solidFill>
                  <a:schemeClr val="hlink"/>
                </a:solidFill>
                <a:latin typeface="Garamond"/>
                <a:ea typeface="方正姚体"/>
              </a:rPr>
              <a:t>能力3</a:t>
            </a:r>
          </a:p>
        </p:txBody>
      </p:sp>
      <p:sp>
        <p:nvSpPr>
          <p:cNvPr id="123915" name="Text Box 13"/>
          <p:cNvSpPr txBox="1">
            <a:spLocks noChangeArrowheads="1"/>
          </p:cNvSpPr>
          <p:nvPr/>
        </p:nvSpPr>
        <p:spPr bwMode="auto">
          <a:xfrm>
            <a:off x="3962400" y="6019800"/>
            <a:ext cx="1143000" cy="366713"/>
          </a:xfrm>
          <a:prstGeom prst="rect">
            <a:avLst/>
          </a:prstGeom>
          <a:noFill/>
          <a:ln w="9525">
            <a:noFill/>
            <a:miter lim="800000"/>
            <a:headEnd/>
            <a:tailEnd/>
          </a:ln>
        </p:spPr>
        <p:txBody>
          <a:bodyPr>
            <a:spAutoFit/>
          </a:bodyPr>
          <a:lstStyle/>
          <a:p>
            <a:pPr>
              <a:spcBef>
                <a:spcPct val="50000"/>
              </a:spcBef>
            </a:pPr>
            <a:r>
              <a:rPr lang="zh-CN" altLang="en-US" b="1">
                <a:solidFill>
                  <a:schemeClr val="hlink"/>
                </a:solidFill>
                <a:latin typeface="Garamond"/>
                <a:ea typeface="方正姚体"/>
              </a:rPr>
              <a:t>能力4</a:t>
            </a:r>
          </a:p>
        </p:txBody>
      </p:sp>
      <p:sp>
        <p:nvSpPr>
          <p:cNvPr id="123916" name="Text Box 14"/>
          <p:cNvSpPr txBox="1">
            <a:spLocks noChangeArrowheads="1"/>
          </p:cNvSpPr>
          <p:nvPr/>
        </p:nvSpPr>
        <p:spPr bwMode="auto">
          <a:xfrm>
            <a:off x="468313" y="5589588"/>
            <a:ext cx="3581400" cy="854075"/>
          </a:xfrm>
          <a:prstGeom prst="rect">
            <a:avLst/>
          </a:prstGeom>
          <a:noFill/>
          <a:ln w="9525">
            <a:noFill/>
            <a:miter lim="800000"/>
            <a:headEnd/>
            <a:tailEnd/>
          </a:ln>
        </p:spPr>
        <p:txBody>
          <a:bodyPr>
            <a:spAutoFit/>
          </a:bodyPr>
          <a:lstStyle/>
          <a:p>
            <a:pPr>
              <a:spcBef>
                <a:spcPct val="50000"/>
              </a:spcBef>
            </a:pPr>
            <a:r>
              <a:rPr lang="zh-CN" altLang="en-US" sz="2000" b="1">
                <a:solidFill>
                  <a:srgbClr val="FFFFFF"/>
                </a:solidFill>
                <a:latin typeface="Garamond"/>
                <a:ea typeface="方正姚体"/>
              </a:rPr>
              <a:t>摘自《核心能力论》</a:t>
            </a:r>
          </a:p>
          <a:p>
            <a:pPr>
              <a:spcBef>
                <a:spcPct val="50000"/>
              </a:spcBef>
            </a:pPr>
            <a:r>
              <a:rPr lang="zh-CN" altLang="en-US" sz="2000" b="1">
                <a:solidFill>
                  <a:srgbClr val="FFFFFF"/>
                </a:solidFill>
                <a:latin typeface="Garamond"/>
                <a:ea typeface="方正姚体"/>
              </a:rPr>
              <a:t>史东明著     北京大学出版社</a:t>
            </a:r>
          </a:p>
        </p:txBody>
      </p:sp>
      <p:pic>
        <p:nvPicPr>
          <p:cNvPr id="123917" name="Picture 15" descr="j0297707"/>
          <p:cNvPicPr>
            <a:picLocks noChangeAspect="1" noChangeArrowheads="1"/>
          </p:cNvPicPr>
          <p:nvPr/>
        </p:nvPicPr>
        <p:blipFill>
          <a:blip r:embed="rId2"/>
          <a:srcRect/>
          <a:stretch>
            <a:fillRect/>
          </a:stretch>
        </p:blipFill>
        <p:spPr bwMode="auto">
          <a:xfrm>
            <a:off x="7050088" y="1125538"/>
            <a:ext cx="1814512" cy="2232025"/>
          </a:xfrm>
          <a:prstGeom prst="rect">
            <a:avLst/>
          </a:prstGeom>
          <a:noFill/>
          <a:ln w="9525">
            <a:noFill/>
            <a:miter lim="800000"/>
            <a:headEnd/>
            <a:tailEnd/>
          </a:ln>
        </p:spPr>
      </p:pic>
    </p:spTree>
    <p:extLst>
      <p:ext uri="{BB962C8B-B14F-4D97-AF65-F5344CB8AC3E}">
        <p14:creationId xmlns:p14="http://schemas.microsoft.com/office/powerpoint/2010/main" val="4047133485"/>
      </p:ext>
    </p:extLst>
  </p:cSld>
  <p:clrMapOvr>
    <a:masterClrMapping/>
  </p:clrMapOvr>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323850" y="0"/>
            <a:ext cx="9467850" cy="1143000"/>
          </a:xfrm>
        </p:spPr>
        <p:txBody>
          <a:bodyPr>
            <a:normAutofit fontScale="90000"/>
          </a:bodyPr>
          <a:lstStyle/>
          <a:p>
            <a:pPr marL="54864" indent="0" fontAlgn="auto">
              <a:spcAft>
                <a:spcPts val="0"/>
              </a:spcAft>
              <a:defRPr/>
            </a:pPr>
            <a:r>
              <a:rPr lang="zh-CN" altLang="en-US" dirty="0">
                <a:solidFill>
                  <a:schemeClr val="tx2">
                    <a:tint val="100000"/>
                    <a:shade val="90000"/>
                    <a:satMod val="250000"/>
                    <a:alpha val="100000"/>
                  </a:schemeClr>
                </a:solidFill>
                <a:ea typeface="黑体" pitchFamily="2" charset="-122"/>
                <a:cs typeface="+mj-cs"/>
              </a:rPr>
              <a:t>       文献研究核心竞争力因素</a:t>
            </a:r>
            <a:br>
              <a:rPr lang="zh-CN" altLang="en-US" dirty="0">
                <a:solidFill>
                  <a:schemeClr val="tx2">
                    <a:tint val="100000"/>
                    <a:shade val="90000"/>
                    <a:satMod val="250000"/>
                    <a:alpha val="100000"/>
                  </a:schemeClr>
                </a:solidFill>
                <a:ea typeface="黑体" pitchFamily="2" charset="-122"/>
                <a:cs typeface="+mj-cs"/>
              </a:rPr>
            </a:br>
            <a:r>
              <a:rPr lang="zh-CN" altLang="en-US" sz="4000" dirty="0">
                <a:solidFill>
                  <a:schemeClr val="tx2">
                    <a:tint val="100000"/>
                    <a:shade val="90000"/>
                    <a:satMod val="250000"/>
                    <a:alpha val="100000"/>
                  </a:schemeClr>
                </a:solidFill>
                <a:cs typeface="+mj-cs"/>
              </a:rPr>
              <a:t>     </a:t>
            </a:r>
            <a:r>
              <a:rPr lang="zh-CN" altLang="en-US" sz="2800" dirty="0">
                <a:solidFill>
                  <a:schemeClr val="tx2">
                    <a:tint val="100000"/>
                    <a:shade val="90000"/>
                    <a:satMod val="250000"/>
                    <a:alpha val="100000"/>
                  </a:schemeClr>
                </a:solidFill>
                <a:cs typeface="+mj-cs"/>
              </a:rPr>
              <a:t>（余伟萍，陈维政，任佩瑜， </a:t>
            </a:r>
            <a:r>
              <a:rPr lang="en-US" altLang="zh-CN" sz="2800" dirty="0">
                <a:solidFill>
                  <a:schemeClr val="tx2">
                    <a:tint val="100000"/>
                    <a:shade val="90000"/>
                    <a:satMod val="250000"/>
                    <a:alpha val="100000"/>
                  </a:schemeClr>
                </a:solidFill>
                <a:cs typeface="+mj-cs"/>
              </a:rPr>
              <a:t>F31,2004</a:t>
            </a:r>
            <a:r>
              <a:rPr lang="zh-CN" altLang="en-US" sz="2800" dirty="0">
                <a:solidFill>
                  <a:schemeClr val="tx2">
                    <a:tint val="100000"/>
                    <a:shade val="90000"/>
                    <a:satMod val="250000"/>
                    <a:alpha val="100000"/>
                  </a:schemeClr>
                </a:solidFill>
                <a:cs typeface="+mj-cs"/>
              </a:rPr>
              <a:t>第</a:t>
            </a:r>
            <a:r>
              <a:rPr lang="en-US" altLang="zh-CN" sz="2800" dirty="0">
                <a:solidFill>
                  <a:schemeClr val="tx2">
                    <a:tint val="100000"/>
                    <a:shade val="90000"/>
                    <a:satMod val="250000"/>
                    <a:alpha val="100000"/>
                  </a:schemeClr>
                </a:solidFill>
                <a:cs typeface="+mj-cs"/>
              </a:rPr>
              <a:t>1</a:t>
            </a:r>
            <a:r>
              <a:rPr lang="zh-CN" altLang="en-US" sz="2800" dirty="0">
                <a:solidFill>
                  <a:schemeClr val="tx2">
                    <a:tint val="100000"/>
                    <a:shade val="90000"/>
                    <a:satMod val="250000"/>
                    <a:alpha val="100000"/>
                  </a:schemeClr>
                </a:solidFill>
                <a:cs typeface="+mj-cs"/>
              </a:rPr>
              <a:t>期）</a:t>
            </a:r>
          </a:p>
        </p:txBody>
      </p:sp>
      <p:sp>
        <p:nvSpPr>
          <p:cNvPr id="124930" name="Rectangle 3"/>
          <p:cNvSpPr>
            <a:spLocks noGrp="1" noChangeArrowheads="1"/>
          </p:cNvSpPr>
          <p:nvPr>
            <p:ph type="body" idx="1"/>
          </p:nvPr>
        </p:nvSpPr>
        <p:spPr/>
        <p:txBody>
          <a:bodyPr/>
          <a:lstStyle/>
          <a:p>
            <a:endParaRPr lang="zh-CN" altLang="en-US"/>
          </a:p>
        </p:txBody>
      </p:sp>
      <p:graphicFrame>
        <p:nvGraphicFramePr>
          <p:cNvPr id="190520" name="Group 56"/>
          <p:cNvGraphicFramePr>
            <a:graphicFrameLocks noGrp="1"/>
          </p:cNvGraphicFramePr>
          <p:nvPr/>
        </p:nvGraphicFramePr>
        <p:xfrm>
          <a:off x="539750" y="1268413"/>
          <a:ext cx="8280400" cy="5693664"/>
        </p:xfrm>
        <a:graphic>
          <a:graphicData uri="http://schemas.openxmlformats.org/drawingml/2006/table">
            <a:tbl>
              <a:tblPr/>
              <a:tblGrid>
                <a:gridCol w="3600450">
                  <a:extLst>
                    <a:ext uri="{9D8B030D-6E8A-4147-A177-3AD203B41FA5}">
                      <a16:colId xmlns:a16="http://schemas.microsoft.com/office/drawing/2014/main" val="20000"/>
                    </a:ext>
                  </a:extLst>
                </a:gridCol>
                <a:gridCol w="3240088">
                  <a:extLst>
                    <a:ext uri="{9D8B030D-6E8A-4147-A177-3AD203B41FA5}">
                      <a16:colId xmlns:a16="http://schemas.microsoft.com/office/drawing/2014/main" val="20001"/>
                    </a:ext>
                  </a:extLst>
                </a:gridCol>
                <a:gridCol w="1439862">
                  <a:extLst>
                    <a:ext uri="{9D8B030D-6E8A-4147-A177-3AD203B41FA5}">
                      <a16:colId xmlns:a16="http://schemas.microsoft.com/office/drawing/2014/main" val="20002"/>
                    </a:ext>
                  </a:extLst>
                </a:gridCol>
              </a:tblGrid>
              <a:tr h="534988">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dirty="0">
                          <a:ln>
                            <a:noFill/>
                          </a:ln>
                          <a:solidFill>
                            <a:srgbClr val="FFFF00"/>
                          </a:solidFill>
                          <a:effectLst/>
                          <a:latin typeface="Arial" pitchFamily="34" charset="0"/>
                          <a:ea typeface="宋体" pitchFamily="2" charset="-122"/>
                        </a:rPr>
                        <a:t>核心竞争力因素</a:t>
                      </a: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dirty="0">
                          <a:ln>
                            <a:noFill/>
                          </a:ln>
                          <a:solidFill>
                            <a:srgbClr val="FFFF00"/>
                          </a:solidFill>
                          <a:effectLst/>
                          <a:latin typeface="Arial" pitchFamily="34" charset="0"/>
                          <a:ea typeface="宋体" pitchFamily="2" charset="-122"/>
                        </a:rPr>
                        <a:t>（文献研究）</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rgbClr val="FFFF00"/>
                          </a:solidFill>
                          <a:effectLst/>
                          <a:latin typeface="Arial" pitchFamily="34" charset="0"/>
                          <a:ea typeface="宋体" pitchFamily="2" charset="-122"/>
                        </a:rPr>
                        <a:t>核心竞争力因素</a:t>
                      </a: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rgbClr val="FFFF00"/>
                          </a:solidFill>
                          <a:effectLst/>
                          <a:latin typeface="Arial" pitchFamily="34" charset="0"/>
                          <a:ea typeface="宋体" pitchFamily="2" charset="-122"/>
                        </a:rPr>
                        <a:t>数目</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dirty="0">
                          <a:ln>
                            <a:noFill/>
                          </a:ln>
                          <a:solidFill>
                            <a:srgbClr val="FFFF00"/>
                          </a:solidFill>
                          <a:effectLst/>
                          <a:latin typeface="Arial" pitchFamily="34" charset="0"/>
                          <a:ea typeface="宋体" pitchFamily="2" charset="-122"/>
                        </a:rPr>
                        <a:t>频率</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6400">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dirty="0">
                          <a:ln>
                            <a:noFill/>
                          </a:ln>
                          <a:solidFill>
                            <a:schemeClr val="tx1"/>
                          </a:solidFill>
                          <a:effectLst/>
                          <a:latin typeface="Arial" pitchFamily="34" charset="0"/>
                          <a:ea typeface="宋体" pitchFamily="2" charset="-122"/>
                        </a:rPr>
                        <a:t>创新能力</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171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25</a:t>
                      </a:r>
                      <a:r>
                        <a:rPr kumimoji="0" lang="zh-CN" altLang="en-US" sz="2800" b="0" i="0" u="none" strike="noStrike" cap="none" normalizeH="0" baseline="0">
                          <a:ln>
                            <a:noFill/>
                          </a:ln>
                          <a:solidFill>
                            <a:schemeClr val="tx1"/>
                          </a:solidFill>
                          <a:effectLst/>
                          <a:latin typeface="Arial" pitchFamily="34" charset="0"/>
                          <a:ea typeface="宋体" pitchFamily="2"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dirty="0">
                          <a:ln>
                            <a:noFill/>
                          </a:ln>
                          <a:solidFill>
                            <a:schemeClr val="tx1"/>
                          </a:solidFill>
                          <a:effectLst/>
                          <a:latin typeface="Arial" pitchFamily="34" charset="0"/>
                          <a:ea typeface="宋体" pitchFamily="2" charset="-122"/>
                        </a:rPr>
                        <a:t>市场营销能力</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17</a:t>
                      </a:r>
                      <a:r>
                        <a:rPr kumimoji="0" lang="zh-CN" altLang="en-US" sz="2800" b="0" i="0" u="none" strike="noStrike" cap="none" normalizeH="0" baseline="0">
                          <a:ln>
                            <a:noFill/>
                          </a:ln>
                          <a:solidFill>
                            <a:schemeClr val="tx1"/>
                          </a:solidFill>
                          <a:effectLst/>
                          <a:latin typeface="Arial" pitchFamily="34" charset="0"/>
                          <a:ea typeface="宋体" pitchFamily="2"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chemeClr val="tx1"/>
                          </a:solidFill>
                          <a:effectLst/>
                          <a:latin typeface="Arial" pitchFamily="34" charset="0"/>
                          <a:ea typeface="宋体" pitchFamily="2" charset="-122"/>
                        </a:rPr>
                        <a:t>战略管理能力</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17</a:t>
                      </a:r>
                      <a:r>
                        <a:rPr kumimoji="0" lang="zh-CN" altLang="en-US" sz="2800" b="0" i="0" u="none" strike="noStrike" cap="none" normalizeH="0" baseline="0">
                          <a:ln>
                            <a:noFill/>
                          </a:ln>
                          <a:solidFill>
                            <a:schemeClr val="tx1"/>
                          </a:solidFill>
                          <a:effectLst/>
                          <a:latin typeface="Arial" pitchFamily="34" charset="0"/>
                          <a:ea typeface="宋体" pitchFamily="2"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6400">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chemeClr val="tx1"/>
                          </a:solidFill>
                          <a:effectLst/>
                          <a:latin typeface="Arial" pitchFamily="34" charset="0"/>
                          <a:ea typeface="宋体" pitchFamily="2" charset="-122"/>
                        </a:rPr>
                        <a:t>组织管理能力</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92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14</a:t>
                      </a:r>
                      <a:r>
                        <a:rPr kumimoji="0" lang="zh-CN" altLang="en-US" sz="2800" b="0" i="0" u="none" strike="noStrike" cap="none" normalizeH="0" baseline="0">
                          <a:ln>
                            <a:noFill/>
                          </a:ln>
                          <a:solidFill>
                            <a:schemeClr val="tx1"/>
                          </a:solidFill>
                          <a:effectLst/>
                          <a:latin typeface="Arial" pitchFamily="34" charset="0"/>
                          <a:ea typeface="宋体" pitchFamily="2"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6400">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chemeClr val="tx1"/>
                          </a:solidFill>
                          <a:effectLst/>
                          <a:latin typeface="Arial" pitchFamily="34" charset="0"/>
                          <a:ea typeface="宋体" pitchFamily="2" charset="-122"/>
                        </a:rPr>
                        <a:t>生产制造能力</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70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10</a:t>
                      </a:r>
                      <a:r>
                        <a:rPr kumimoji="0" lang="zh-CN" altLang="en-US" sz="2800" b="0" i="0" u="none" strike="noStrike" cap="none" normalizeH="0" baseline="0">
                          <a:ln>
                            <a:noFill/>
                          </a:ln>
                          <a:solidFill>
                            <a:schemeClr val="tx1"/>
                          </a:solidFill>
                          <a:effectLst/>
                          <a:latin typeface="Arial" pitchFamily="34" charset="0"/>
                          <a:ea typeface="宋体" pitchFamily="2"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6400">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chemeClr val="tx1"/>
                          </a:solidFill>
                          <a:effectLst/>
                          <a:latin typeface="Arial" pitchFamily="34" charset="0"/>
                          <a:ea typeface="宋体" pitchFamily="2" charset="-122"/>
                        </a:rPr>
                        <a:t>人力资源</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61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6400">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chemeClr val="tx1"/>
                          </a:solidFill>
                          <a:effectLst/>
                          <a:latin typeface="Arial" pitchFamily="34" charset="0"/>
                          <a:ea typeface="宋体" pitchFamily="2" charset="-122"/>
                        </a:rPr>
                        <a:t>企业文化</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46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7</a:t>
                      </a:r>
                      <a:r>
                        <a:rPr kumimoji="0" lang="zh-CN" altLang="en-US" sz="2800" b="0" i="0" u="none" strike="noStrike" cap="none" normalizeH="0" baseline="0" dirty="0">
                          <a:ln>
                            <a:noFill/>
                          </a:ln>
                          <a:solidFill>
                            <a:schemeClr val="tx1"/>
                          </a:solidFill>
                          <a:effectLst/>
                          <a:latin typeface="Arial" pitchFamily="34" charset="0"/>
                          <a:ea typeface="宋体" pitchFamily="2"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6400">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chemeClr val="tx1"/>
                          </a:solidFill>
                          <a:effectLst/>
                          <a:latin typeface="Arial" pitchFamily="34" charset="0"/>
                          <a:ea typeface="宋体" pitchFamily="2" charset="-122"/>
                        </a:rPr>
                        <a:t>行业环境</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r>
                        <a:rPr kumimoji="0" lang="zh-CN" altLang="en-US" sz="2800" b="0" i="0" u="none" strike="noStrike" cap="none" normalizeH="0" baseline="0" dirty="0">
                          <a:ln>
                            <a:noFill/>
                          </a:ln>
                          <a:solidFill>
                            <a:schemeClr val="tx1"/>
                          </a:solidFill>
                          <a:effectLst/>
                          <a:latin typeface="Arial" pitchFamily="34" charset="0"/>
                          <a:ea typeface="宋体" pitchFamily="2"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74650">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0" i="0" u="none" strike="noStrike" cap="none" normalizeH="0" baseline="0">
                          <a:ln>
                            <a:noFill/>
                          </a:ln>
                          <a:solidFill>
                            <a:srgbClr val="FFFFFF"/>
                          </a:solidFill>
                          <a:effectLst/>
                          <a:latin typeface="Arial" pitchFamily="34" charset="0"/>
                          <a:ea typeface="宋体" pitchFamily="2" charset="-122"/>
                        </a:rPr>
                        <a:t>合计</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800" b="0" i="0" u="none" strike="noStrike" cap="none" normalizeH="0" baseline="0">
                          <a:ln>
                            <a:noFill/>
                          </a:ln>
                          <a:solidFill>
                            <a:srgbClr val="FFFFFF"/>
                          </a:solidFill>
                          <a:effectLst/>
                          <a:latin typeface="Arial" pitchFamily="34" charset="0"/>
                          <a:ea typeface="宋体" pitchFamily="2" charset="-122"/>
                        </a:rPr>
                        <a:t>677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800" b="0" i="0" u="none" strike="noStrike" cap="none" normalizeH="0" baseline="0" dirty="0">
                          <a:ln>
                            <a:noFill/>
                          </a:ln>
                          <a:solidFill>
                            <a:srgbClr val="FFFFFF"/>
                          </a:solidFill>
                          <a:effectLst/>
                          <a:latin typeface="Arial" pitchFamily="34" charset="0"/>
                          <a:ea typeface="宋体" pitchFamily="2" charset="-122"/>
                        </a:rPr>
                        <a:t>100</a:t>
                      </a:r>
                      <a:r>
                        <a:rPr kumimoji="0" lang="zh-CN" altLang="en-US" sz="2800" b="0" i="0" u="none" strike="noStrike" cap="none" normalizeH="0" baseline="0" dirty="0">
                          <a:ln>
                            <a:noFill/>
                          </a:ln>
                          <a:solidFill>
                            <a:srgbClr val="FFFFFF"/>
                          </a:solidFill>
                          <a:effectLst/>
                          <a:latin typeface="Arial" pitchFamily="34" charset="0"/>
                          <a:ea typeface="宋体" pitchFamily="2"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664993182"/>
      </p:ext>
    </p:extLst>
  </p:cSld>
  <p:clrMapOvr>
    <a:masterClrMapping/>
  </p:clrMapOvr>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914400" y="-315913"/>
            <a:ext cx="8229600" cy="1143001"/>
          </a:xfrm>
        </p:spPr>
        <p:txBody>
          <a:bodyPr/>
          <a:lstStyle/>
          <a:p>
            <a:pPr marL="54864" indent="0" fontAlgn="auto">
              <a:spcAft>
                <a:spcPts val="0"/>
              </a:spcAft>
              <a:defRPr/>
            </a:pPr>
            <a:r>
              <a:rPr lang="zh-CN" altLang="en-US" dirty="0">
                <a:solidFill>
                  <a:schemeClr val="tx2">
                    <a:tint val="100000"/>
                    <a:shade val="90000"/>
                    <a:satMod val="250000"/>
                    <a:alpha val="100000"/>
                  </a:schemeClr>
                </a:solidFill>
                <a:ea typeface="黑体" pitchFamily="2" charset="-122"/>
                <a:cs typeface="+mj-cs"/>
              </a:rPr>
              <a:t>实证研究核心竞争力因素</a:t>
            </a:r>
          </a:p>
        </p:txBody>
      </p:sp>
      <p:sp>
        <p:nvSpPr>
          <p:cNvPr id="126978" name="Rectangle 3"/>
          <p:cNvSpPr>
            <a:spLocks noGrp="1" noChangeArrowheads="1"/>
          </p:cNvSpPr>
          <p:nvPr>
            <p:ph type="body" idx="1"/>
          </p:nvPr>
        </p:nvSpPr>
        <p:spPr/>
        <p:txBody>
          <a:bodyPr/>
          <a:lstStyle/>
          <a:p>
            <a:endParaRPr lang="zh-CN" altLang="en-US"/>
          </a:p>
        </p:txBody>
      </p:sp>
      <p:graphicFrame>
        <p:nvGraphicFramePr>
          <p:cNvPr id="192573" name="Group 61"/>
          <p:cNvGraphicFramePr>
            <a:graphicFrameLocks noGrp="1"/>
          </p:cNvGraphicFramePr>
          <p:nvPr/>
        </p:nvGraphicFramePr>
        <p:xfrm>
          <a:off x="501650" y="908050"/>
          <a:ext cx="8102600" cy="5608320"/>
        </p:xfrm>
        <a:graphic>
          <a:graphicData uri="http://schemas.openxmlformats.org/drawingml/2006/table">
            <a:tbl>
              <a:tblPr/>
              <a:tblGrid>
                <a:gridCol w="2701925">
                  <a:extLst>
                    <a:ext uri="{9D8B030D-6E8A-4147-A177-3AD203B41FA5}">
                      <a16:colId xmlns:a16="http://schemas.microsoft.com/office/drawing/2014/main" val="20000"/>
                    </a:ext>
                  </a:extLst>
                </a:gridCol>
                <a:gridCol w="2881313">
                  <a:extLst>
                    <a:ext uri="{9D8B030D-6E8A-4147-A177-3AD203B41FA5}">
                      <a16:colId xmlns:a16="http://schemas.microsoft.com/office/drawing/2014/main" val="20001"/>
                    </a:ext>
                  </a:extLst>
                </a:gridCol>
                <a:gridCol w="2519362">
                  <a:extLst>
                    <a:ext uri="{9D8B030D-6E8A-4147-A177-3AD203B41FA5}">
                      <a16:colId xmlns:a16="http://schemas.microsoft.com/office/drawing/2014/main" val="20002"/>
                    </a:ext>
                  </a:extLst>
                </a:gridCol>
              </a:tblGrid>
              <a:tr h="369888">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dirty="0">
                          <a:ln>
                            <a:noFill/>
                          </a:ln>
                          <a:solidFill>
                            <a:srgbClr val="FFFF00"/>
                          </a:solidFill>
                          <a:effectLst/>
                          <a:latin typeface="Arial" pitchFamily="34" charset="0"/>
                          <a:ea typeface="宋体" pitchFamily="2" charset="-122"/>
                        </a:rPr>
                        <a:t>核心竞争力因素</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rgbClr val="FFFF00"/>
                          </a:solidFill>
                          <a:effectLst/>
                          <a:latin typeface="Arial" pitchFamily="34" charset="0"/>
                          <a:ea typeface="宋体" pitchFamily="2" charset="-122"/>
                        </a:rPr>
                        <a:t>核心竞争力数目</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rgbClr val="FFFF00"/>
                          </a:solidFill>
                          <a:effectLst/>
                          <a:latin typeface="Arial" pitchFamily="34" charset="0"/>
                          <a:ea typeface="宋体" pitchFamily="2" charset="-122"/>
                        </a:rPr>
                        <a:t>频率</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8300">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dirty="0">
                          <a:ln>
                            <a:noFill/>
                          </a:ln>
                          <a:solidFill>
                            <a:schemeClr val="tx1"/>
                          </a:solidFill>
                          <a:effectLst/>
                          <a:latin typeface="Arial" pitchFamily="34" charset="0"/>
                          <a:ea typeface="宋体" pitchFamily="2" charset="-122"/>
                        </a:rPr>
                        <a:t>人力资源</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158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20</a:t>
                      </a:r>
                      <a:r>
                        <a:rPr kumimoji="0" lang="zh-CN" altLang="en-US" sz="2800" b="0" i="0" u="none" strike="noStrike" cap="none" normalizeH="0" baseline="0">
                          <a:ln>
                            <a:noFill/>
                          </a:ln>
                          <a:solidFill>
                            <a:schemeClr val="tx1"/>
                          </a:solidFill>
                          <a:effectLst/>
                          <a:latin typeface="Arial" pitchFamily="34" charset="0"/>
                          <a:ea typeface="宋体" pitchFamily="2"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9888">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dirty="0">
                          <a:ln>
                            <a:noFill/>
                          </a:ln>
                          <a:solidFill>
                            <a:schemeClr val="tx1"/>
                          </a:solidFill>
                          <a:effectLst/>
                          <a:latin typeface="Arial" pitchFamily="34" charset="0"/>
                          <a:ea typeface="宋体" pitchFamily="2" charset="-122"/>
                        </a:rPr>
                        <a:t>创新能力</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9888">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chemeClr val="tx1"/>
                          </a:solidFill>
                          <a:effectLst/>
                          <a:latin typeface="Arial" pitchFamily="34" charset="0"/>
                          <a:ea typeface="宋体" pitchFamily="2" charset="-122"/>
                        </a:rPr>
                        <a:t>组织管理能力</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14</a:t>
                      </a:r>
                      <a:r>
                        <a:rPr kumimoji="0" lang="zh-CN" altLang="en-US" sz="2800" b="0" i="0" u="none" strike="noStrike" cap="none" normalizeH="0" baseline="0">
                          <a:ln>
                            <a:noFill/>
                          </a:ln>
                          <a:solidFill>
                            <a:schemeClr val="tx1"/>
                          </a:solidFill>
                          <a:effectLst/>
                          <a:latin typeface="Arial" pitchFamily="34" charset="0"/>
                          <a:ea typeface="宋体" pitchFamily="2"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9888">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chemeClr val="tx1"/>
                          </a:solidFill>
                          <a:effectLst/>
                          <a:latin typeface="Arial" pitchFamily="34" charset="0"/>
                          <a:ea typeface="宋体" pitchFamily="2" charset="-122"/>
                        </a:rPr>
                        <a:t>企业文化</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81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10</a:t>
                      </a:r>
                      <a:r>
                        <a:rPr kumimoji="0" lang="zh-CN" altLang="en-US" sz="2800" b="0" i="0" u="none" strike="noStrike" cap="none" normalizeH="0" baseline="0">
                          <a:ln>
                            <a:noFill/>
                          </a:ln>
                          <a:solidFill>
                            <a:schemeClr val="tx1"/>
                          </a:solidFill>
                          <a:effectLst/>
                          <a:latin typeface="Arial" pitchFamily="34" charset="0"/>
                          <a:ea typeface="宋体" pitchFamily="2"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8300">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chemeClr val="tx1"/>
                          </a:solidFill>
                          <a:effectLst/>
                          <a:latin typeface="Arial" pitchFamily="34" charset="0"/>
                          <a:ea typeface="宋体" pitchFamily="2" charset="-122"/>
                        </a:rPr>
                        <a:t>战略管理能力</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81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10</a:t>
                      </a:r>
                      <a:r>
                        <a:rPr kumimoji="0" lang="zh-CN" altLang="en-US" sz="2800" b="0" i="0" u="none" strike="noStrike" cap="none" normalizeH="0" baseline="0" dirty="0">
                          <a:ln>
                            <a:noFill/>
                          </a:ln>
                          <a:solidFill>
                            <a:schemeClr val="tx1"/>
                          </a:solidFill>
                          <a:effectLst/>
                          <a:latin typeface="Arial" pitchFamily="34" charset="0"/>
                          <a:ea typeface="宋体" pitchFamily="2"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9888">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chemeClr val="tx1"/>
                          </a:solidFill>
                          <a:effectLst/>
                          <a:latin typeface="Arial" pitchFamily="34" charset="0"/>
                          <a:ea typeface="宋体" pitchFamily="2" charset="-122"/>
                        </a:rPr>
                        <a:t>生产与制造能力</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80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10</a:t>
                      </a:r>
                      <a:r>
                        <a:rPr kumimoji="0" lang="zh-CN" altLang="en-US" sz="2800" b="0" i="0" u="none" strike="noStrike" cap="none" normalizeH="0" baseline="0" dirty="0">
                          <a:ln>
                            <a:noFill/>
                          </a:ln>
                          <a:solidFill>
                            <a:schemeClr val="tx1"/>
                          </a:solidFill>
                          <a:effectLst/>
                          <a:latin typeface="Arial" pitchFamily="34" charset="0"/>
                          <a:ea typeface="宋体" pitchFamily="2"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9888">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chemeClr val="tx1"/>
                          </a:solidFill>
                          <a:effectLst/>
                          <a:latin typeface="Arial" pitchFamily="34" charset="0"/>
                          <a:ea typeface="宋体" pitchFamily="2" charset="-122"/>
                        </a:rPr>
                        <a:t>行业环境</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30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4</a:t>
                      </a:r>
                      <a:r>
                        <a:rPr kumimoji="0" lang="zh-CN" altLang="en-US" sz="2800" b="0" i="0" u="none" strike="noStrike" cap="none" normalizeH="0" baseline="0" dirty="0">
                          <a:ln>
                            <a:noFill/>
                          </a:ln>
                          <a:solidFill>
                            <a:schemeClr val="tx1"/>
                          </a:solidFill>
                          <a:effectLst/>
                          <a:latin typeface="Arial" pitchFamily="34" charset="0"/>
                          <a:ea typeface="宋体" pitchFamily="2"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9888">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chemeClr val="tx1"/>
                          </a:solidFill>
                          <a:effectLst/>
                          <a:latin typeface="Arial" pitchFamily="34" charset="0"/>
                          <a:ea typeface="宋体" pitchFamily="2" charset="-122"/>
                        </a:rPr>
                        <a:t>企业自身的历史状况</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r>
                        <a:rPr kumimoji="0" lang="zh-CN" altLang="en-US" sz="2800" b="0" i="0" u="none" strike="noStrike" cap="none" normalizeH="0" baseline="0" dirty="0">
                          <a:ln>
                            <a:noFill/>
                          </a:ln>
                          <a:solidFill>
                            <a:schemeClr val="tx1"/>
                          </a:solidFill>
                          <a:effectLst/>
                          <a:latin typeface="Arial" pitchFamily="34" charset="0"/>
                          <a:ea typeface="宋体" pitchFamily="2"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68300">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rgbClr val="FFFF00"/>
                          </a:solidFill>
                          <a:effectLst/>
                          <a:latin typeface="Arial" pitchFamily="34" charset="0"/>
                          <a:ea typeface="宋体" pitchFamily="2" charset="-122"/>
                        </a:rPr>
                        <a:t>合计</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800" b="1" i="0" u="none" strike="noStrike" cap="none" normalizeH="0" baseline="0">
                          <a:ln>
                            <a:noFill/>
                          </a:ln>
                          <a:solidFill>
                            <a:srgbClr val="FFFF00"/>
                          </a:solidFill>
                          <a:effectLst/>
                          <a:latin typeface="Arial" pitchFamily="34" charset="0"/>
                          <a:ea typeface="宋体" pitchFamily="2" charset="-122"/>
                        </a:rPr>
                        <a:t>795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800" b="1" i="0" u="none" strike="noStrike" cap="none" normalizeH="0" baseline="0" dirty="0">
                          <a:ln>
                            <a:noFill/>
                          </a:ln>
                          <a:solidFill>
                            <a:srgbClr val="FFFF00"/>
                          </a:solidFill>
                          <a:effectLst/>
                          <a:latin typeface="Arial" pitchFamily="34" charset="0"/>
                          <a:ea typeface="宋体" pitchFamily="2" charset="-122"/>
                        </a:rPr>
                        <a:t>100</a:t>
                      </a:r>
                      <a:r>
                        <a:rPr kumimoji="0" lang="zh-CN" altLang="en-US" sz="2800" b="1" i="0" u="none" strike="noStrike" cap="none" normalizeH="0" baseline="0" dirty="0">
                          <a:ln>
                            <a:noFill/>
                          </a:ln>
                          <a:solidFill>
                            <a:srgbClr val="FFFF00"/>
                          </a:solidFill>
                          <a:effectLst/>
                          <a:latin typeface="Arial" pitchFamily="34" charset="0"/>
                          <a:ea typeface="宋体" pitchFamily="2"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4219654062"/>
      </p:ext>
    </p:extLst>
  </p:cSld>
  <p:clrMapOvr>
    <a:masterClrMapping/>
  </p:clrMapOvr>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0" y="0"/>
            <a:ext cx="9144000" cy="1295400"/>
          </a:xfrm>
        </p:spPr>
        <p:txBody>
          <a:bodyPr/>
          <a:lstStyle/>
          <a:p>
            <a:pPr marL="54864" indent="0" algn="l" fontAlgn="auto">
              <a:spcAft>
                <a:spcPts val="0"/>
              </a:spcAft>
              <a:defRPr/>
            </a:pPr>
            <a:r>
              <a:rPr lang="zh-CN" altLang="en-US" sz="4000" dirty="0">
                <a:solidFill>
                  <a:schemeClr val="tx2">
                    <a:tint val="100000"/>
                    <a:shade val="90000"/>
                    <a:satMod val="250000"/>
                    <a:alpha val="100000"/>
                  </a:schemeClr>
                </a:solidFill>
                <a:ea typeface="黑体" pitchFamily="2" charset="-122"/>
                <a:cs typeface="+mj-cs"/>
              </a:rPr>
              <a:t>价值链分析</a:t>
            </a:r>
            <a:r>
              <a:rPr lang="zh-CN" altLang="en-US" sz="3200" dirty="0">
                <a:solidFill>
                  <a:schemeClr val="tx2">
                    <a:tint val="100000"/>
                    <a:shade val="90000"/>
                    <a:satMod val="250000"/>
                    <a:alpha val="100000"/>
                  </a:schemeClr>
                </a:solidFill>
                <a:ea typeface="黑体" pitchFamily="2" charset="-122"/>
                <a:cs typeface="+mj-cs"/>
              </a:rPr>
              <a:t>（</a:t>
            </a:r>
            <a:r>
              <a:rPr lang="en-US" altLang="zh-CN" sz="3200" dirty="0">
                <a:solidFill>
                  <a:schemeClr val="tx2">
                    <a:tint val="100000"/>
                    <a:shade val="90000"/>
                    <a:satMod val="250000"/>
                    <a:alpha val="100000"/>
                  </a:schemeClr>
                </a:solidFill>
                <a:ea typeface="黑体" pitchFamily="2" charset="-122"/>
                <a:cs typeface="+mj-cs"/>
              </a:rPr>
              <a:t>Value Chain Analysis</a:t>
            </a:r>
            <a:r>
              <a:rPr lang="zh-CN" altLang="en-US" sz="3200" dirty="0">
                <a:solidFill>
                  <a:schemeClr val="tx2">
                    <a:tint val="100000"/>
                    <a:shade val="90000"/>
                    <a:satMod val="250000"/>
                    <a:alpha val="100000"/>
                  </a:schemeClr>
                </a:solidFill>
                <a:ea typeface="黑体" pitchFamily="2" charset="-122"/>
                <a:cs typeface="+mj-cs"/>
              </a:rPr>
              <a:t>）</a:t>
            </a:r>
          </a:p>
        </p:txBody>
      </p:sp>
      <p:sp>
        <p:nvSpPr>
          <p:cNvPr id="94210" name="Rectangle 3"/>
          <p:cNvSpPr>
            <a:spLocks noGrp="1" noChangeArrowheads="1"/>
          </p:cNvSpPr>
          <p:nvPr>
            <p:ph type="body" idx="1"/>
          </p:nvPr>
        </p:nvSpPr>
        <p:spPr>
          <a:xfrm>
            <a:off x="0" y="1700213"/>
            <a:ext cx="9144000" cy="4968875"/>
          </a:xfrm>
        </p:spPr>
        <p:txBody>
          <a:bodyPr/>
          <a:lstStyle/>
          <a:p>
            <a:pPr>
              <a:buFont typeface="Wingdings" pitchFamily="2" charset="2"/>
              <a:buNone/>
            </a:pPr>
            <a:r>
              <a:rPr lang="zh-CN" altLang="en-US" b="1" dirty="0"/>
              <a:t>         美国管理学家迈克尔</a:t>
            </a:r>
            <a:r>
              <a:rPr lang="en-US" altLang="zh-CN" b="1" dirty="0">
                <a:latin typeface="宋体" charset="-122"/>
              </a:rPr>
              <a:t>•</a:t>
            </a:r>
            <a:r>
              <a:rPr lang="zh-CN" altLang="en-US" b="1" dirty="0"/>
              <a:t>波特在</a:t>
            </a:r>
            <a:r>
              <a:rPr lang="en-US" altLang="zh-CN" b="1" dirty="0"/>
              <a:t>《</a:t>
            </a:r>
            <a:r>
              <a:rPr lang="zh-CN" altLang="en-US" b="1" dirty="0"/>
              <a:t>竞争战略</a:t>
            </a:r>
            <a:r>
              <a:rPr lang="en-US" altLang="zh-CN" b="1" dirty="0"/>
              <a:t>》</a:t>
            </a:r>
            <a:r>
              <a:rPr lang="zh-CN" altLang="en-US" b="1" dirty="0"/>
              <a:t>一书中，运用价值链分析法揭示出企业之间竞争力的差异在于各自的价值链不同。</a:t>
            </a:r>
          </a:p>
          <a:p>
            <a:pPr>
              <a:buFont typeface="Wingdings" pitchFamily="2" charset="2"/>
              <a:buNone/>
            </a:pPr>
            <a:r>
              <a:rPr lang="zh-CN" altLang="en-US" b="1" dirty="0"/>
              <a:t>       </a:t>
            </a:r>
            <a:r>
              <a:rPr lang="en-US" altLang="zh-CN" b="1" dirty="0"/>
              <a:t>  </a:t>
            </a:r>
            <a:r>
              <a:rPr lang="zh-CN" altLang="en-US" sz="3600" b="1" dirty="0"/>
              <a:t>何谓价值链</a:t>
            </a:r>
          </a:p>
          <a:p>
            <a:pPr>
              <a:buFont typeface="Wingdings" pitchFamily="2" charset="2"/>
              <a:buNone/>
            </a:pPr>
            <a:r>
              <a:rPr lang="zh-CN" altLang="en-US" b="1" dirty="0"/>
              <a:t>         </a:t>
            </a:r>
            <a:r>
              <a:rPr lang="zh-CN" altLang="en-US" sz="3600" b="1" dirty="0"/>
              <a:t>是指企业所从事的各种活动：设计、生产、营销、储运及支持性活动的集合体。它由价值活动和利润两部分组成。  </a:t>
            </a:r>
          </a:p>
        </p:txBody>
      </p:sp>
    </p:spTree>
  </p:cSld>
  <p:clrMapOvr>
    <a:masterClrMapping/>
  </p:clrMapOvr>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2133600" y="0"/>
            <a:ext cx="7010400" cy="1052513"/>
          </a:xfrm>
        </p:spPr>
        <p:txBody>
          <a:bodyPr/>
          <a:lstStyle/>
          <a:p>
            <a:pPr marL="54864" indent="0" algn="l" fontAlgn="auto">
              <a:spcAft>
                <a:spcPts val="0"/>
              </a:spcAft>
              <a:defRPr/>
            </a:pPr>
            <a:r>
              <a:rPr lang="zh-CN" altLang="en-US" dirty="0">
                <a:solidFill>
                  <a:schemeClr val="tx2">
                    <a:tint val="100000"/>
                    <a:shade val="90000"/>
                    <a:satMod val="250000"/>
                    <a:alpha val="100000"/>
                  </a:schemeClr>
                </a:solidFill>
                <a:ea typeface="黑体" pitchFamily="2" charset="-122"/>
                <a:cs typeface="+mj-cs"/>
              </a:rPr>
              <a:t>             </a:t>
            </a:r>
          </a:p>
        </p:txBody>
      </p:sp>
      <p:sp>
        <p:nvSpPr>
          <p:cNvPr id="95234" name="Rectangle 3"/>
          <p:cNvSpPr>
            <a:spLocks noGrp="1" noChangeArrowheads="1"/>
          </p:cNvSpPr>
          <p:nvPr>
            <p:ph type="body" idx="1"/>
          </p:nvPr>
        </p:nvSpPr>
        <p:spPr>
          <a:xfrm>
            <a:off x="0" y="1412875"/>
            <a:ext cx="8893175" cy="5256213"/>
          </a:xfrm>
        </p:spPr>
        <p:txBody>
          <a:bodyPr/>
          <a:lstStyle/>
          <a:p>
            <a:pPr>
              <a:lnSpc>
                <a:spcPct val="90000"/>
              </a:lnSpc>
            </a:pPr>
            <a:endParaRPr lang="zh-CN" altLang="en-US" sz="2400" b="1" dirty="0"/>
          </a:p>
          <a:p>
            <a:pPr>
              <a:lnSpc>
                <a:spcPct val="90000"/>
              </a:lnSpc>
              <a:buFont typeface="Wingdings" pitchFamily="2" charset="2"/>
              <a:buNone/>
            </a:pPr>
            <a:r>
              <a:rPr lang="zh-CN" altLang="en-US" sz="2400" b="1" dirty="0"/>
              <a:t>             </a:t>
            </a:r>
            <a:r>
              <a:rPr lang="zh-CN" altLang="en-US" sz="4400" b="1" dirty="0"/>
              <a:t>一个企业的价值链和它所从事的单个活动的方式，反映了其历史、战略、推行战略的途径以及这些活动本身的经济效益。</a:t>
            </a:r>
          </a:p>
          <a:p>
            <a:pPr>
              <a:lnSpc>
                <a:spcPct val="90000"/>
              </a:lnSpc>
              <a:buFont typeface="Wingdings" pitchFamily="2" charset="2"/>
              <a:buNone/>
            </a:pPr>
            <a:r>
              <a:rPr lang="zh-CN" altLang="en-US" sz="3600" b="1" dirty="0"/>
              <a:t>　　　　　　　</a:t>
            </a:r>
          </a:p>
          <a:p>
            <a:pPr>
              <a:lnSpc>
                <a:spcPct val="90000"/>
              </a:lnSpc>
              <a:buFont typeface="Wingdings" pitchFamily="2" charset="2"/>
              <a:buNone/>
            </a:pPr>
            <a:r>
              <a:rPr lang="en-US" altLang="zh-CN" sz="3600" b="1" dirty="0"/>
              <a:t>                                    ——</a:t>
            </a:r>
            <a:r>
              <a:rPr lang="zh-CN" altLang="en-US" sz="3600" b="1" dirty="0"/>
              <a:t>迈克尔</a:t>
            </a:r>
            <a:r>
              <a:rPr lang="en-US" altLang="zh-CN" sz="3600" b="1" dirty="0">
                <a:latin typeface="宋体" charset="-122"/>
              </a:rPr>
              <a:t>•</a:t>
            </a:r>
            <a:r>
              <a:rPr lang="zh-CN" altLang="en-US" sz="3600" b="1" dirty="0"/>
              <a:t>波特 </a:t>
            </a:r>
          </a:p>
          <a:p>
            <a:pPr>
              <a:lnSpc>
                <a:spcPct val="90000"/>
              </a:lnSpc>
              <a:buFont typeface="Wingdings" pitchFamily="2" charset="2"/>
              <a:buNone/>
            </a:pPr>
            <a:r>
              <a:rPr lang="zh-CN" altLang="en-US" sz="3600" b="1" dirty="0"/>
              <a:t>　　　</a:t>
            </a:r>
          </a:p>
        </p:txBody>
      </p:sp>
    </p:spTree>
  </p:cSld>
  <p:clrMapOvr>
    <a:masterClrMapping/>
  </p:clrMapOvr>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468313" y="404813"/>
            <a:ext cx="8229600" cy="1143000"/>
          </a:xfrm>
        </p:spPr>
        <p:txBody>
          <a:bodyPr>
            <a:normAutofit fontScale="90000"/>
          </a:bodyPr>
          <a:lstStyle/>
          <a:p>
            <a:pPr marL="54864" indent="0" fontAlgn="auto">
              <a:spcAft>
                <a:spcPts val="0"/>
              </a:spcAft>
              <a:defRPr/>
            </a:pPr>
            <a:r>
              <a:rPr lang="zh-CN" altLang="en-US" dirty="0">
                <a:solidFill>
                  <a:schemeClr val="tx2">
                    <a:tint val="100000"/>
                    <a:shade val="90000"/>
                    <a:satMod val="250000"/>
                    <a:alpha val="100000"/>
                  </a:schemeClr>
                </a:solidFill>
                <a:ea typeface="黑体" pitchFamily="2" charset="-122"/>
                <a:cs typeface="+mj-cs"/>
              </a:rPr>
              <a:t>   价值链的两类活动</a:t>
            </a:r>
            <a:br>
              <a:rPr lang="zh-CN" altLang="en-US" dirty="0">
                <a:solidFill>
                  <a:schemeClr val="tx2">
                    <a:tint val="100000"/>
                    <a:shade val="90000"/>
                    <a:satMod val="250000"/>
                    <a:alpha val="100000"/>
                  </a:schemeClr>
                </a:solidFill>
                <a:ea typeface="黑体" pitchFamily="2" charset="-122"/>
                <a:cs typeface="+mj-cs"/>
              </a:rPr>
            </a:br>
            <a:endParaRPr lang="zh-CN" altLang="en-US" dirty="0">
              <a:solidFill>
                <a:schemeClr val="tx2">
                  <a:tint val="100000"/>
                  <a:shade val="90000"/>
                  <a:satMod val="250000"/>
                  <a:alpha val="100000"/>
                </a:schemeClr>
              </a:solidFill>
              <a:ea typeface="黑体" pitchFamily="2" charset="-122"/>
              <a:cs typeface="+mj-cs"/>
            </a:endParaRPr>
          </a:p>
        </p:txBody>
      </p:sp>
      <p:sp>
        <p:nvSpPr>
          <p:cNvPr id="96258" name="Rectangle 3"/>
          <p:cNvSpPr>
            <a:spLocks noGrp="1" noChangeArrowheads="1"/>
          </p:cNvSpPr>
          <p:nvPr>
            <p:ph type="body" idx="1"/>
          </p:nvPr>
        </p:nvSpPr>
        <p:spPr>
          <a:xfrm>
            <a:off x="0" y="1268413"/>
            <a:ext cx="9144000" cy="4525962"/>
          </a:xfrm>
        </p:spPr>
        <p:txBody>
          <a:bodyPr/>
          <a:lstStyle/>
          <a:p>
            <a:pPr marL="609600" indent="-609600">
              <a:lnSpc>
                <a:spcPct val="80000"/>
              </a:lnSpc>
              <a:buFont typeface="Wingdings" pitchFamily="2" charset="2"/>
              <a:buNone/>
            </a:pPr>
            <a:r>
              <a:rPr lang="zh-CN" altLang="en-US" b="1">
                <a:solidFill>
                  <a:srgbClr val="FF6600"/>
                </a:solidFill>
              </a:rPr>
              <a:t>        </a:t>
            </a:r>
            <a:r>
              <a:rPr lang="en-US" altLang="zh-CN" b="1">
                <a:solidFill>
                  <a:srgbClr val="E8DC3C"/>
                </a:solidFill>
              </a:rPr>
              <a:t>(1)</a:t>
            </a:r>
            <a:r>
              <a:rPr lang="en-US" altLang="zh-CN" sz="2400" b="1">
                <a:solidFill>
                  <a:srgbClr val="E8DC3C"/>
                </a:solidFill>
              </a:rPr>
              <a:t> </a:t>
            </a:r>
            <a:r>
              <a:rPr lang="zh-CN" altLang="en-US" b="1">
                <a:solidFill>
                  <a:srgbClr val="E8DC3C"/>
                </a:solidFill>
              </a:rPr>
              <a:t>基本活动</a:t>
            </a:r>
            <a:r>
              <a:rPr lang="zh-CN" altLang="en-US" b="1">
                <a:solidFill>
                  <a:srgbClr val="FF6600"/>
                </a:solidFill>
              </a:rPr>
              <a:t>：</a:t>
            </a:r>
            <a:r>
              <a:rPr lang="zh-CN" altLang="en-US" b="1"/>
              <a:t>主要涉及如何将企业的输入有效地转化为输出，这部分活动直接与顾客发生各种联系。</a:t>
            </a:r>
          </a:p>
          <a:p>
            <a:pPr marL="609600" indent="-609600">
              <a:lnSpc>
                <a:spcPct val="80000"/>
              </a:lnSpc>
            </a:pPr>
            <a:r>
              <a:rPr lang="zh-CN" altLang="en-US" sz="2800" b="1" u="sng">
                <a:solidFill>
                  <a:srgbClr val="E8DC3C"/>
                </a:solidFill>
              </a:rPr>
              <a:t>内部后勤</a:t>
            </a:r>
            <a:r>
              <a:rPr lang="zh-CN" altLang="en-US" sz="2800" b="1" u="sng">
                <a:solidFill>
                  <a:srgbClr val="18398A"/>
                </a:solidFill>
              </a:rPr>
              <a:t>：</a:t>
            </a:r>
            <a:r>
              <a:rPr lang="zh-CN" altLang="en-US" sz="2800" b="1"/>
              <a:t>包括资源接收、储存、分配活动，也包括材料处理、库存控制和运输等；</a:t>
            </a:r>
          </a:p>
          <a:p>
            <a:pPr marL="609600" indent="-609600">
              <a:lnSpc>
                <a:spcPct val="80000"/>
              </a:lnSpc>
            </a:pPr>
            <a:r>
              <a:rPr lang="zh-CN" altLang="en-US" sz="2800" b="1" u="sng">
                <a:solidFill>
                  <a:srgbClr val="E8DC3C"/>
                </a:solidFill>
              </a:rPr>
              <a:t>生产运营</a:t>
            </a:r>
            <a:r>
              <a:rPr lang="zh-CN" altLang="en-US" sz="2800" b="1" u="sng">
                <a:solidFill>
                  <a:srgbClr val="18398A"/>
                </a:solidFill>
              </a:rPr>
              <a:t>：</a:t>
            </a:r>
            <a:r>
              <a:rPr lang="zh-CN" altLang="en-US" sz="2800" b="1"/>
              <a:t>这一活动过程将各种输入转化为最终的产品和服务，如制造、工艺和测试等；</a:t>
            </a:r>
          </a:p>
          <a:p>
            <a:pPr marL="609600" indent="-609600">
              <a:lnSpc>
                <a:spcPct val="80000"/>
              </a:lnSpc>
            </a:pPr>
            <a:r>
              <a:rPr lang="zh-CN" altLang="en-US" sz="2800" b="1" u="sng">
                <a:solidFill>
                  <a:srgbClr val="E8DC3C"/>
                </a:solidFill>
              </a:rPr>
              <a:t>外部后勤</a:t>
            </a:r>
            <a:r>
              <a:rPr lang="zh-CN" altLang="en-US" sz="2800" b="1" u="sng">
                <a:solidFill>
                  <a:srgbClr val="18398A"/>
                </a:solidFill>
              </a:rPr>
              <a:t>：</a:t>
            </a:r>
            <a:r>
              <a:rPr lang="zh-CN" altLang="en-US" sz="2800" b="1"/>
              <a:t>包括产品接受、储存和分销活动；</a:t>
            </a:r>
          </a:p>
          <a:p>
            <a:pPr marL="609600" indent="-609600">
              <a:lnSpc>
                <a:spcPct val="80000"/>
              </a:lnSpc>
            </a:pPr>
            <a:r>
              <a:rPr lang="zh-CN" altLang="en-US" sz="2800" b="1" u="sng">
                <a:solidFill>
                  <a:srgbClr val="E8DC3C"/>
                </a:solidFill>
              </a:rPr>
              <a:t>营销</a:t>
            </a:r>
            <a:r>
              <a:rPr lang="zh-CN" altLang="en-US" sz="2800" b="1" u="sng">
                <a:solidFill>
                  <a:srgbClr val="18398A"/>
                </a:solidFill>
              </a:rPr>
              <a:t>：</a:t>
            </a:r>
            <a:r>
              <a:rPr lang="zh-CN" altLang="en-US" sz="2800" b="1"/>
              <a:t>包括消费行为研究、广告和促销活动；</a:t>
            </a:r>
          </a:p>
          <a:p>
            <a:pPr marL="609600" indent="-609600">
              <a:lnSpc>
                <a:spcPct val="80000"/>
              </a:lnSpc>
            </a:pPr>
            <a:r>
              <a:rPr lang="zh-CN" altLang="en-US" sz="2800" b="1" u="sng">
                <a:solidFill>
                  <a:srgbClr val="E8DC3C"/>
                </a:solidFill>
              </a:rPr>
              <a:t>商务支持与顾客服务</a:t>
            </a:r>
            <a:r>
              <a:rPr lang="zh-CN" altLang="en-US" sz="2800" b="1" u="sng">
                <a:solidFill>
                  <a:srgbClr val="18398A"/>
                </a:solidFill>
              </a:rPr>
              <a:t>：</a:t>
            </a:r>
            <a:r>
              <a:rPr lang="zh-CN" altLang="en-US" sz="2800" b="1"/>
              <a:t>包括安装、维修、培训和提供备件等。 </a:t>
            </a:r>
          </a:p>
        </p:txBody>
      </p:sp>
    </p:spTree>
  </p:cSld>
  <p:clrMapOvr>
    <a:masterClrMapping/>
  </p:clrMapOvr>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467544" y="260648"/>
            <a:ext cx="8229600" cy="1143000"/>
          </a:xfrm>
        </p:spPr>
        <p:txBody>
          <a:bodyPr/>
          <a:lstStyle/>
          <a:p>
            <a:pPr marL="54864" indent="0" fontAlgn="auto">
              <a:spcAft>
                <a:spcPts val="0"/>
              </a:spcAft>
              <a:defRPr/>
            </a:pPr>
            <a:r>
              <a:rPr lang="zh-CN" altLang="en-US" dirty="0">
                <a:solidFill>
                  <a:schemeClr val="tx2">
                    <a:tint val="100000"/>
                    <a:shade val="90000"/>
                    <a:satMod val="250000"/>
                    <a:alpha val="100000"/>
                  </a:schemeClr>
                </a:solidFill>
                <a:ea typeface="黑体" pitchFamily="2" charset="-122"/>
                <a:cs typeface="+mj-cs"/>
              </a:rPr>
              <a:t>价值链</a:t>
            </a:r>
          </a:p>
        </p:txBody>
      </p:sp>
      <p:sp>
        <p:nvSpPr>
          <p:cNvPr id="97282" name="Line 4"/>
          <p:cNvSpPr>
            <a:spLocks noChangeShapeType="1"/>
          </p:cNvSpPr>
          <p:nvPr/>
        </p:nvSpPr>
        <p:spPr bwMode="auto">
          <a:xfrm>
            <a:off x="900113" y="1700213"/>
            <a:ext cx="6767512" cy="0"/>
          </a:xfrm>
          <a:prstGeom prst="line">
            <a:avLst/>
          </a:prstGeom>
          <a:noFill/>
          <a:ln w="9525">
            <a:solidFill>
              <a:schemeClr val="bg1"/>
            </a:solidFill>
            <a:round/>
            <a:headEnd/>
            <a:tailEnd/>
          </a:ln>
        </p:spPr>
        <p:txBody>
          <a:bodyPr/>
          <a:lstStyle/>
          <a:p>
            <a:endParaRPr lang="zh-CN" altLang="en-US"/>
          </a:p>
        </p:txBody>
      </p:sp>
      <p:sp>
        <p:nvSpPr>
          <p:cNvPr id="97283" name="Line 5"/>
          <p:cNvSpPr>
            <a:spLocks noChangeShapeType="1"/>
          </p:cNvSpPr>
          <p:nvPr/>
        </p:nvSpPr>
        <p:spPr bwMode="auto">
          <a:xfrm>
            <a:off x="7667625" y="1700213"/>
            <a:ext cx="792163" cy="2233612"/>
          </a:xfrm>
          <a:prstGeom prst="line">
            <a:avLst/>
          </a:prstGeom>
          <a:noFill/>
          <a:ln w="9525">
            <a:solidFill>
              <a:schemeClr val="bg1"/>
            </a:solidFill>
            <a:round/>
            <a:headEnd/>
            <a:tailEnd/>
          </a:ln>
        </p:spPr>
        <p:txBody>
          <a:bodyPr/>
          <a:lstStyle/>
          <a:p>
            <a:endParaRPr lang="zh-CN" altLang="en-US"/>
          </a:p>
        </p:txBody>
      </p:sp>
      <p:sp>
        <p:nvSpPr>
          <p:cNvPr id="97284" name="Line 6"/>
          <p:cNvSpPr>
            <a:spLocks noChangeShapeType="1"/>
          </p:cNvSpPr>
          <p:nvPr/>
        </p:nvSpPr>
        <p:spPr bwMode="auto">
          <a:xfrm flipH="1">
            <a:off x="7740650" y="3933825"/>
            <a:ext cx="719138" cy="2447925"/>
          </a:xfrm>
          <a:prstGeom prst="line">
            <a:avLst/>
          </a:prstGeom>
          <a:noFill/>
          <a:ln w="9525">
            <a:solidFill>
              <a:schemeClr val="bg1"/>
            </a:solidFill>
            <a:round/>
            <a:headEnd/>
            <a:tailEnd/>
          </a:ln>
        </p:spPr>
        <p:txBody>
          <a:bodyPr/>
          <a:lstStyle/>
          <a:p>
            <a:endParaRPr lang="zh-CN" altLang="en-US"/>
          </a:p>
        </p:txBody>
      </p:sp>
      <p:sp>
        <p:nvSpPr>
          <p:cNvPr id="97285" name="Line 7"/>
          <p:cNvSpPr>
            <a:spLocks noChangeShapeType="1"/>
          </p:cNvSpPr>
          <p:nvPr/>
        </p:nvSpPr>
        <p:spPr bwMode="auto">
          <a:xfrm>
            <a:off x="900113" y="1700213"/>
            <a:ext cx="0" cy="4681537"/>
          </a:xfrm>
          <a:prstGeom prst="line">
            <a:avLst/>
          </a:prstGeom>
          <a:noFill/>
          <a:ln w="9525">
            <a:solidFill>
              <a:schemeClr val="bg1"/>
            </a:solidFill>
            <a:round/>
            <a:headEnd/>
            <a:tailEnd/>
          </a:ln>
        </p:spPr>
        <p:txBody>
          <a:bodyPr/>
          <a:lstStyle/>
          <a:p>
            <a:endParaRPr lang="zh-CN" altLang="en-US"/>
          </a:p>
        </p:txBody>
      </p:sp>
      <p:sp>
        <p:nvSpPr>
          <p:cNvPr id="97286" name="Line 8"/>
          <p:cNvSpPr>
            <a:spLocks noChangeShapeType="1"/>
          </p:cNvSpPr>
          <p:nvPr/>
        </p:nvSpPr>
        <p:spPr bwMode="auto">
          <a:xfrm>
            <a:off x="900113" y="6381750"/>
            <a:ext cx="6840537" cy="0"/>
          </a:xfrm>
          <a:prstGeom prst="line">
            <a:avLst/>
          </a:prstGeom>
          <a:noFill/>
          <a:ln w="9525">
            <a:solidFill>
              <a:schemeClr val="bg1"/>
            </a:solidFill>
            <a:round/>
            <a:headEnd/>
            <a:tailEnd/>
          </a:ln>
        </p:spPr>
        <p:txBody>
          <a:bodyPr/>
          <a:lstStyle/>
          <a:p>
            <a:endParaRPr lang="zh-CN" altLang="en-US"/>
          </a:p>
        </p:txBody>
      </p:sp>
      <p:sp>
        <p:nvSpPr>
          <p:cNvPr id="97287" name="Line 9"/>
          <p:cNvSpPr>
            <a:spLocks noChangeShapeType="1"/>
          </p:cNvSpPr>
          <p:nvPr/>
        </p:nvSpPr>
        <p:spPr bwMode="auto">
          <a:xfrm flipV="1">
            <a:off x="900113" y="3933825"/>
            <a:ext cx="7559675" cy="0"/>
          </a:xfrm>
          <a:prstGeom prst="line">
            <a:avLst/>
          </a:prstGeom>
          <a:noFill/>
          <a:ln w="9525">
            <a:solidFill>
              <a:schemeClr val="bg1"/>
            </a:solidFill>
            <a:round/>
            <a:headEnd/>
            <a:tailEnd/>
          </a:ln>
        </p:spPr>
        <p:txBody>
          <a:bodyPr/>
          <a:lstStyle/>
          <a:p>
            <a:endParaRPr lang="zh-CN" altLang="en-US"/>
          </a:p>
        </p:txBody>
      </p:sp>
      <p:sp>
        <p:nvSpPr>
          <p:cNvPr id="97288" name="Line 10"/>
          <p:cNvSpPr>
            <a:spLocks noChangeShapeType="1"/>
          </p:cNvSpPr>
          <p:nvPr/>
        </p:nvSpPr>
        <p:spPr bwMode="auto">
          <a:xfrm>
            <a:off x="7235825" y="1700213"/>
            <a:ext cx="792163" cy="2233612"/>
          </a:xfrm>
          <a:prstGeom prst="line">
            <a:avLst/>
          </a:prstGeom>
          <a:noFill/>
          <a:ln w="9525">
            <a:solidFill>
              <a:schemeClr val="bg1"/>
            </a:solidFill>
            <a:round/>
            <a:headEnd/>
            <a:tailEnd/>
          </a:ln>
        </p:spPr>
        <p:txBody>
          <a:bodyPr/>
          <a:lstStyle/>
          <a:p>
            <a:endParaRPr lang="zh-CN" altLang="en-US"/>
          </a:p>
        </p:txBody>
      </p:sp>
      <p:sp>
        <p:nvSpPr>
          <p:cNvPr id="97289" name="Line 11"/>
          <p:cNvSpPr>
            <a:spLocks noChangeShapeType="1"/>
          </p:cNvSpPr>
          <p:nvPr/>
        </p:nvSpPr>
        <p:spPr bwMode="auto">
          <a:xfrm flipH="1">
            <a:off x="7308850" y="3933825"/>
            <a:ext cx="719138" cy="2447925"/>
          </a:xfrm>
          <a:prstGeom prst="line">
            <a:avLst/>
          </a:prstGeom>
          <a:noFill/>
          <a:ln w="9525">
            <a:solidFill>
              <a:schemeClr val="bg1"/>
            </a:solidFill>
            <a:round/>
            <a:headEnd/>
            <a:tailEnd/>
          </a:ln>
        </p:spPr>
        <p:txBody>
          <a:bodyPr/>
          <a:lstStyle/>
          <a:p>
            <a:endParaRPr lang="zh-CN" altLang="en-US"/>
          </a:p>
        </p:txBody>
      </p:sp>
      <p:sp>
        <p:nvSpPr>
          <p:cNvPr id="97290" name="Text Box 12"/>
          <p:cNvSpPr txBox="1">
            <a:spLocks noChangeArrowheads="1"/>
          </p:cNvSpPr>
          <p:nvPr/>
        </p:nvSpPr>
        <p:spPr bwMode="auto">
          <a:xfrm>
            <a:off x="7524750" y="2133600"/>
            <a:ext cx="576263" cy="830263"/>
          </a:xfrm>
          <a:prstGeom prst="rect">
            <a:avLst/>
          </a:prstGeom>
          <a:noFill/>
          <a:ln w="9525">
            <a:noFill/>
            <a:miter lim="800000"/>
            <a:headEnd/>
            <a:tailEnd/>
          </a:ln>
        </p:spPr>
        <p:txBody>
          <a:bodyPr>
            <a:spAutoFit/>
          </a:bodyPr>
          <a:lstStyle/>
          <a:p>
            <a:pPr>
              <a:spcBef>
                <a:spcPct val="50000"/>
              </a:spcBef>
            </a:pPr>
            <a:r>
              <a:rPr lang="zh-CN" altLang="en-US" sz="2400" b="1">
                <a:latin typeface="Garamond"/>
                <a:ea typeface="方正姚体"/>
              </a:rPr>
              <a:t>利润</a:t>
            </a:r>
          </a:p>
        </p:txBody>
      </p:sp>
      <p:sp>
        <p:nvSpPr>
          <p:cNvPr id="97291" name="Text Box 13"/>
          <p:cNvSpPr txBox="1">
            <a:spLocks noChangeArrowheads="1"/>
          </p:cNvSpPr>
          <p:nvPr/>
        </p:nvSpPr>
        <p:spPr bwMode="auto">
          <a:xfrm>
            <a:off x="7596188" y="4724400"/>
            <a:ext cx="503237" cy="830263"/>
          </a:xfrm>
          <a:prstGeom prst="rect">
            <a:avLst/>
          </a:prstGeom>
          <a:noFill/>
          <a:ln w="9525">
            <a:noFill/>
            <a:miter lim="800000"/>
            <a:headEnd/>
            <a:tailEnd/>
          </a:ln>
        </p:spPr>
        <p:txBody>
          <a:bodyPr>
            <a:spAutoFit/>
          </a:bodyPr>
          <a:lstStyle/>
          <a:p>
            <a:pPr>
              <a:spcBef>
                <a:spcPct val="50000"/>
              </a:spcBef>
            </a:pPr>
            <a:r>
              <a:rPr lang="zh-CN" altLang="en-US" sz="2400" b="1">
                <a:latin typeface="Garamond"/>
                <a:ea typeface="方正姚体"/>
              </a:rPr>
              <a:t>利润</a:t>
            </a:r>
          </a:p>
        </p:txBody>
      </p:sp>
      <p:sp>
        <p:nvSpPr>
          <p:cNvPr id="97292" name="Line 14"/>
          <p:cNvSpPr>
            <a:spLocks noChangeShapeType="1"/>
          </p:cNvSpPr>
          <p:nvPr/>
        </p:nvSpPr>
        <p:spPr bwMode="auto">
          <a:xfrm>
            <a:off x="900113" y="2420938"/>
            <a:ext cx="6624637" cy="71437"/>
          </a:xfrm>
          <a:prstGeom prst="line">
            <a:avLst/>
          </a:prstGeom>
          <a:noFill/>
          <a:ln w="9525">
            <a:solidFill>
              <a:schemeClr val="bg1"/>
            </a:solidFill>
            <a:round/>
            <a:headEnd/>
            <a:tailEnd/>
          </a:ln>
        </p:spPr>
        <p:txBody>
          <a:bodyPr/>
          <a:lstStyle/>
          <a:p>
            <a:endParaRPr lang="zh-CN" altLang="en-US"/>
          </a:p>
        </p:txBody>
      </p:sp>
      <p:sp>
        <p:nvSpPr>
          <p:cNvPr id="97293" name="Line 15"/>
          <p:cNvSpPr>
            <a:spLocks noChangeShapeType="1"/>
          </p:cNvSpPr>
          <p:nvPr/>
        </p:nvSpPr>
        <p:spPr bwMode="auto">
          <a:xfrm>
            <a:off x="900113" y="3213100"/>
            <a:ext cx="6840537" cy="0"/>
          </a:xfrm>
          <a:prstGeom prst="line">
            <a:avLst/>
          </a:prstGeom>
          <a:noFill/>
          <a:ln w="9525">
            <a:solidFill>
              <a:schemeClr val="bg1"/>
            </a:solidFill>
            <a:round/>
            <a:headEnd/>
            <a:tailEnd/>
          </a:ln>
        </p:spPr>
        <p:txBody>
          <a:bodyPr/>
          <a:lstStyle/>
          <a:p>
            <a:endParaRPr lang="zh-CN" altLang="en-US"/>
          </a:p>
        </p:txBody>
      </p:sp>
      <p:sp>
        <p:nvSpPr>
          <p:cNvPr id="97294" name="Line 16"/>
          <p:cNvSpPr>
            <a:spLocks noChangeShapeType="1"/>
          </p:cNvSpPr>
          <p:nvPr/>
        </p:nvSpPr>
        <p:spPr bwMode="auto">
          <a:xfrm>
            <a:off x="900113" y="4652963"/>
            <a:ext cx="6911975" cy="0"/>
          </a:xfrm>
          <a:prstGeom prst="line">
            <a:avLst/>
          </a:prstGeom>
          <a:noFill/>
          <a:ln w="9525">
            <a:solidFill>
              <a:schemeClr val="bg1"/>
            </a:solidFill>
            <a:round/>
            <a:headEnd/>
            <a:tailEnd/>
          </a:ln>
        </p:spPr>
        <p:txBody>
          <a:bodyPr/>
          <a:lstStyle/>
          <a:p>
            <a:endParaRPr lang="zh-CN" altLang="en-US"/>
          </a:p>
        </p:txBody>
      </p:sp>
      <p:sp>
        <p:nvSpPr>
          <p:cNvPr id="97295" name="Line 17"/>
          <p:cNvSpPr>
            <a:spLocks noChangeShapeType="1"/>
          </p:cNvSpPr>
          <p:nvPr/>
        </p:nvSpPr>
        <p:spPr bwMode="auto">
          <a:xfrm>
            <a:off x="2124075" y="4652963"/>
            <a:ext cx="0" cy="720725"/>
          </a:xfrm>
          <a:prstGeom prst="line">
            <a:avLst/>
          </a:prstGeom>
          <a:noFill/>
          <a:ln w="9525">
            <a:solidFill>
              <a:schemeClr val="bg1"/>
            </a:solidFill>
            <a:prstDash val="dash"/>
            <a:round/>
            <a:headEnd/>
            <a:tailEnd/>
          </a:ln>
        </p:spPr>
        <p:txBody>
          <a:bodyPr/>
          <a:lstStyle/>
          <a:p>
            <a:endParaRPr lang="zh-CN" altLang="en-US"/>
          </a:p>
        </p:txBody>
      </p:sp>
      <p:sp>
        <p:nvSpPr>
          <p:cNvPr id="97296" name="Line 18"/>
          <p:cNvSpPr>
            <a:spLocks noChangeShapeType="1"/>
          </p:cNvSpPr>
          <p:nvPr/>
        </p:nvSpPr>
        <p:spPr bwMode="auto">
          <a:xfrm>
            <a:off x="3563938" y="4652963"/>
            <a:ext cx="0" cy="720725"/>
          </a:xfrm>
          <a:prstGeom prst="line">
            <a:avLst/>
          </a:prstGeom>
          <a:noFill/>
          <a:ln w="9525">
            <a:solidFill>
              <a:schemeClr val="bg1"/>
            </a:solidFill>
            <a:prstDash val="dash"/>
            <a:round/>
            <a:headEnd/>
            <a:tailEnd/>
          </a:ln>
        </p:spPr>
        <p:txBody>
          <a:bodyPr/>
          <a:lstStyle/>
          <a:p>
            <a:endParaRPr lang="zh-CN" altLang="en-US"/>
          </a:p>
        </p:txBody>
      </p:sp>
      <p:sp>
        <p:nvSpPr>
          <p:cNvPr id="97297" name="Line 19"/>
          <p:cNvSpPr>
            <a:spLocks noChangeShapeType="1"/>
          </p:cNvSpPr>
          <p:nvPr/>
        </p:nvSpPr>
        <p:spPr bwMode="auto">
          <a:xfrm>
            <a:off x="5003800" y="4652963"/>
            <a:ext cx="0" cy="720725"/>
          </a:xfrm>
          <a:prstGeom prst="line">
            <a:avLst/>
          </a:prstGeom>
          <a:noFill/>
          <a:ln w="9525">
            <a:solidFill>
              <a:schemeClr val="bg1"/>
            </a:solidFill>
            <a:prstDash val="dash"/>
            <a:round/>
            <a:headEnd/>
            <a:tailEnd/>
          </a:ln>
        </p:spPr>
        <p:txBody>
          <a:bodyPr/>
          <a:lstStyle/>
          <a:p>
            <a:endParaRPr lang="zh-CN" altLang="en-US"/>
          </a:p>
        </p:txBody>
      </p:sp>
      <p:sp>
        <p:nvSpPr>
          <p:cNvPr id="97298" name="Line 20"/>
          <p:cNvSpPr>
            <a:spLocks noChangeShapeType="1"/>
          </p:cNvSpPr>
          <p:nvPr/>
        </p:nvSpPr>
        <p:spPr bwMode="auto">
          <a:xfrm>
            <a:off x="6372225" y="4652963"/>
            <a:ext cx="0" cy="720725"/>
          </a:xfrm>
          <a:prstGeom prst="line">
            <a:avLst/>
          </a:prstGeom>
          <a:noFill/>
          <a:ln w="9525">
            <a:solidFill>
              <a:schemeClr val="bg1"/>
            </a:solidFill>
            <a:prstDash val="dash"/>
            <a:round/>
            <a:headEnd/>
            <a:tailEnd/>
          </a:ln>
        </p:spPr>
        <p:txBody>
          <a:bodyPr/>
          <a:lstStyle/>
          <a:p>
            <a:endParaRPr lang="zh-CN" altLang="en-US"/>
          </a:p>
        </p:txBody>
      </p:sp>
      <p:sp>
        <p:nvSpPr>
          <p:cNvPr id="67605" name="Text Box 21"/>
          <p:cNvSpPr txBox="1">
            <a:spLocks noChangeArrowheads="1"/>
          </p:cNvSpPr>
          <p:nvPr/>
        </p:nvSpPr>
        <p:spPr bwMode="auto">
          <a:xfrm>
            <a:off x="2339975" y="1773238"/>
            <a:ext cx="4392613" cy="519112"/>
          </a:xfrm>
          <a:prstGeom prst="rect">
            <a:avLst/>
          </a:prstGeom>
          <a:noFill/>
          <a:ln w="9525">
            <a:noFill/>
            <a:miter lim="800000"/>
            <a:headEnd/>
            <a:tailEnd/>
          </a:ln>
          <a:effectLst/>
        </p:spPr>
        <p:txBody>
          <a:bodyPr>
            <a:spAutoFit/>
          </a:bodyPr>
          <a:lstStyle/>
          <a:p>
            <a:pPr fontAlgn="auto">
              <a:spcBef>
                <a:spcPct val="50000"/>
              </a:spcBef>
              <a:spcAft>
                <a:spcPts val="0"/>
              </a:spcAft>
              <a:defRPr/>
            </a:pPr>
            <a:r>
              <a:rPr lang="zh-CN" altLang="en-US" sz="2800" b="1">
                <a:effectLst>
                  <a:outerShdw blurRad="38100" dist="38100" dir="2700000" algn="tl">
                    <a:srgbClr val="C0C0C0"/>
                  </a:outerShdw>
                </a:effectLst>
                <a:latin typeface="Garamond" pitchFamily="18" charset="0"/>
                <a:ea typeface="+mn-ea"/>
                <a:cs typeface="+mn-cs"/>
              </a:rPr>
              <a:t>  企业基础设施（管理）</a:t>
            </a:r>
          </a:p>
        </p:txBody>
      </p:sp>
      <p:sp>
        <p:nvSpPr>
          <p:cNvPr id="67606" name="Text Box 22"/>
          <p:cNvSpPr txBox="1">
            <a:spLocks noChangeArrowheads="1"/>
          </p:cNvSpPr>
          <p:nvPr/>
        </p:nvSpPr>
        <p:spPr bwMode="auto">
          <a:xfrm>
            <a:off x="2339975" y="2565400"/>
            <a:ext cx="5184775" cy="519113"/>
          </a:xfrm>
          <a:prstGeom prst="rect">
            <a:avLst/>
          </a:prstGeom>
          <a:noFill/>
          <a:ln w="9525">
            <a:noFill/>
            <a:miter lim="800000"/>
            <a:headEnd/>
            <a:tailEnd/>
          </a:ln>
          <a:effectLst/>
        </p:spPr>
        <p:txBody>
          <a:bodyPr>
            <a:spAutoFit/>
          </a:bodyPr>
          <a:lstStyle/>
          <a:p>
            <a:pPr fontAlgn="auto">
              <a:spcBef>
                <a:spcPct val="50000"/>
              </a:spcBef>
              <a:spcAft>
                <a:spcPts val="0"/>
              </a:spcAft>
              <a:defRPr/>
            </a:pPr>
            <a:r>
              <a:rPr lang="zh-CN" altLang="en-US" sz="2800" b="1">
                <a:effectLst>
                  <a:outerShdw blurRad="38100" dist="38100" dir="2700000" algn="tl">
                    <a:srgbClr val="C0C0C0"/>
                  </a:outerShdw>
                </a:effectLst>
                <a:latin typeface="Garamond" pitchFamily="18" charset="0"/>
                <a:ea typeface="+mn-ea"/>
                <a:cs typeface="+mn-cs"/>
              </a:rPr>
              <a:t>  人力资源管理</a:t>
            </a:r>
          </a:p>
        </p:txBody>
      </p:sp>
      <p:sp>
        <p:nvSpPr>
          <p:cNvPr id="67607" name="Text Box 23"/>
          <p:cNvSpPr txBox="1">
            <a:spLocks noChangeArrowheads="1"/>
          </p:cNvSpPr>
          <p:nvPr/>
        </p:nvSpPr>
        <p:spPr bwMode="auto">
          <a:xfrm>
            <a:off x="2555875" y="3357563"/>
            <a:ext cx="4248150" cy="519112"/>
          </a:xfrm>
          <a:prstGeom prst="rect">
            <a:avLst/>
          </a:prstGeom>
          <a:noFill/>
          <a:ln w="9525">
            <a:noFill/>
            <a:miter lim="800000"/>
            <a:headEnd/>
            <a:tailEnd/>
          </a:ln>
          <a:effectLst/>
        </p:spPr>
        <p:txBody>
          <a:bodyPr>
            <a:spAutoFit/>
          </a:bodyPr>
          <a:lstStyle/>
          <a:p>
            <a:pPr fontAlgn="auto">
              <a:spcBef>
                <a:spcPct val="50000"/>
              </a:spcBef>
              <a:spcAft>
                <a:spcPts val="0"/>
              </a:spcAft>
              <a:defRPr/>
            </a:pPr>
            <a:r>
              <a:rPr lang="zh-CN" altLang="en-US" sz="2800" b="1">
                <a:effectLst>
                  <a:outerShdw blurRad="38100" dist="38100" dir="2700000" algn="tl">
                    <a:srgbClr val="C0C0C0"/>
                  </a:outerShdw>
                </a:effectLst>
                <a:latin typeface="Garamond" pitchFamily="18" charset="0"/>
                <a:ea typeface="+mn-ea"/>
                <a:cs typeface="+mn-cs"/>
              </a:rPr>
              <a:t>  技术开发</a:t>
            </a:r>
          </a:p>
        </p:txBody>
      </p:sp>
      <p:sp>
        <p:nvSpPr>
          <p:cNvPr id="67608" name="Text Box 24"/>
          <p:cNvSpPr txBox="1">
            <a:spLocks noChangeArrowheads="1"/>
          </p:cNvSpPr>
          <p:nvPr/>
        </p:nvSpPr>
        <p:spPr bwMode="auto">
          <a:xfrm>
            <a:off x="2843213" y="4076700"/>
            <a:ext cx="5111750" cy="519113"/>
          </a:xfrm>
          <a:prstGeom prst="rect">
            <a:avLst/>
          </a:prstGeom>
          <a:noFill/>
          <a:ln w="9525">
            <a:noFill/>
            <a:miter lim="800000"/>
            <a:headEnd/>
            <a:tailEnd/>
          </a:ln>
          <a:effectLst/>
        </p:spPr>
        <p:txBody>
          <a:bodyPr>
            <a:spAutoFit/>
          </a:bodyPr>
          <a:lstStyle/>
          <a:p>
            <a:pPr fontAlgn="auto">
              <a:spcBef>
                <a:spcPct val="50000"/>
              </a:spcBef>
              <a:spcAft>
                <a:spcPts val="0"/>
              </a:spcAft>
              <a:defRPr/>
            </a:pPr>
            <a:r>
              <a:rPr lang="zh-CN" altLang="en-US" sz="2800" b="1">
                <a:effectLst>
                  <a:outerShdw blurRad="38100" dist="38100" dir="2700000" algn="tl">
                    <a:srgbClr val="C0C0C0"/>
                  </a:outerShdw>
                </a:effectLst>
                <a:latin typeface="Garamond" pitchFamily="18" charset="0"/>
                <a:ea typeface="+mn-ea"/>
                <a:cs typeface="+mn-cs"/>
              </a:rPr>
              <a:t>采  购</a:t>
            </a:r>
          </a:p>
        </p:txBody>
      </p:sp>
      <p:sp>
        <p:nvSpPr>
          <p:cNvPr id="97303" name="Text Box 25"/>
          <p:cNvSpPr txBox="1">
            <a:spLocks noChangeArrowheads="1"/>
          </p:cNvSpPr>
          <p:nvPr/>
        </p:nvSpPr>
        <p:spPr bwMode="auto">
          <a:xfrm>
            <a:off x="1042988" y="4797425"/>
            <a:ext cx="1368425" cy="1160463"/>
          </a:xfrm>
          <a:prstGeom prst="rect">
            <a:avLst/>
          </a:prstGeom>
          <a:noFill/>
          <a:ln w="9525">
            <a:noFill/>
            <a:miter lim="800000"/>
            <a:headEnd/>
            <a:tailEnd/>
          </a:ln>
        </p:spPr>
        <p:txBody>
          <a:bodyPr>
            <a:spAutoFit/>
          </a:bodyPr>
          <a:lstStyle/>
          <a:p>
            <a:pPr>
              <a:spcBef>
                <a:spcPct val="50000"/>
              </a:spcBef>
            </a:pPr>
            <a:r>
              <a:rPr lang="zh-CN" altLang="en-US" sz="2800" b="1">
                <a:latin typeface="Garamond"/>
                <a:ea typeface="方正姚体"/>
              </a:rPr>
              <a:t>内部</a:t>
            </a:r>
          </a:p>
          <a:p>
            <a:pPr>
              <a:spcBef>
                <a:spcPct val="50000"/>
              </a:spcBef>
            </a:pPr>
            <a:r>
              <a:rPr lang="zh-CN" altLang="en-US" sz="2800" b="1">
                <a:latin typeface="Garamond"/>
                <a:ea typeface="方正姚体"/>
              </a:rPr>
              <a:t>后勤</a:t>
            </a:r>
          </a:p>
        </p:txBody>
      </p:sp>
      <p:sp>
        <p:nvSpPr>
          <p:cNvPr id="97304" name="Text Box 26"/>
          <p:cNvSpPr txBox="1">
            <a:spLocks noChangeArrowheads="1"/>
          </p:cNvSpPr>
          <p:nvPr/>
        </p:nvSpPr>
        <p:spPr bwMode="auto">
          <a:xfrm>
            <a:off x="2411413" y="4868863"/>
            <a:ext cx="1081087" cy="1160462"/>
          </a:xfrm>
          <a:prstGeom prst="rect">
            <a:avLst/>
          </a:prstGeom>
          <a:noFill/>
          <a:ln w="9525">
            <a:noFill/>
            <a:miter lim="800000"/>
            <a:headEnd/>
            <a:tailEnd/>
          </a:ln>
        </p:spPr>
        <p:txBody>
          <a:bodyPr>
            <a:spAutoFit/>
          </a:bodyPr>
          <a:lstStyle/>
          <a:p>
            <a:pPr>
              <a:spcBef>
                <a:spcPct val="50000"/>
              </a:spcBef>
            </a:pPr>
            <a:r>
              <a:rPr lang="zh-CN" altLang="en-US" sz="2800" b="1">
                <a:latin typeface="Garamond"/>
                <a:ea typeface="方正姚体"/>
              </a:rPr>
              <a:t>生产</a:t>
            </a:r>
          </a:p>
          <a:p>
            <a:pPr>
              <a:spcBef>
                <a:spcPct val="50000"/>
              </a:spcBef>
            </a:pPr>
            <a:r>
              <a:rPr lang="zh-CN" altLang="en-US" sz="2800" b="1">
                <a:latin typeface="Garamond"/>
                <a:ea typeface="方正姚体"/>
              </a:rPr>
              <a:t>作业</a:t>
            </a:r>
          </a:p>
        </p:txBody>
      </p:sp>
      <p:sp>
        <p:nvSpPr>
          <p:cNvPr id="97305" name="Text Box 27"/>
          <p:cNvSpPr txBox="1">
            <a:spLocks noChangeArrowheads="1"/>
          </p:cNvSpPr>
          <p:nvPr/>
        </p:nvSpPr>
        <p:spPr bwMode="auto">
          <a:xfrm>
            <a:off x="5148263" y="4868863"/>
            <a:ext cx="1223962" cy="1160462"/>
          </a:xfrm>
          <a:prstGeom prst="rect">
            <a:avLst/>
          </a:prstGeom>
          <a:noFill/>
          <a:ln w="9525">
            <a:noFill/>
            <a:miter lim="800000"/>
            <a:headEnd/>
            <a:tailEnd/>
          </a:ln>
        </p:spPr>
        <p:txBody>
          <a:bodyPr>
            <a:spAutoFit/>
          </a:bodyPr>
          <a:lstStyle/>
          <a:p>
            <a:pPr>
              <a:spcBef>
                <a:spcPct val="50000"/>
              </a:spcBef>
            </a:pPr>
            <a:r>
              <a:rPr lang="zh-CN" altLang="en-US" sz="2800" b="1">
                <a:latin typeface="Garamond"/>
                <a:ea typeface="方正姚体"/>
              </a:rPr>
              <a:t>市场</a:t>
            </a:r>
          </a:p>
          <a:p>
            <a:pPr>
              <a:spcBef>
                <a:spcPct val="50000"/>
              </a:spcBef>
            </a:pPr>
            <a:r>
              <a:rPr lang="zh-CN" altLang="en-US" sz="2800" b="1">
                <a:latin typeface="Garamond"/>
                <a:ea typeface="方正姚体"/>
              </a:rPr>
              <a:t>营销</a:t>
            </a:r>
          </a:p>
        </p:txBody>
      </p:sp>
      <p:sp>
        <p:nvSpPr>
          <p:cNvPr id="97306" name="Text Box 29"/>
          <p:cNvSpPr txBox="1">
            <a:spLocks noChangeArrowheads="1"/>
          </p:cNvSpPr>
          <p:nvPr/>
        </p:nvSpPr>
        <p:spPr bwMode="auto">
          <a:xfrm>
            <a:off x="6588125" y="4797425"/>
            <a:ext cx="1008063" cy="1160463"/>
          </a:xfrm>
          <a:prstGeom prst="rect">
            <a:avLst/>
          </a:prstGeom>
          <a:noFill/>
          <a:ln w="9525">
            <a:noFill/>
            <a:miter lim="800000"/>
            <a:headEnd/>
            <a:tailEnd/>
          </a:ln>
        </p:spPr>
        <p:txBody>
          <a:bodyPr>
            <a:spAutoFit/>
          </a:bodyPr>
          <a:lstStyle/>
          <a:p>
            <a:pPr>
              <a:spcBef>
                <a:spcPct val="50000"/>
              </a:spcBef>
            </a:pPr>
            <a:r>
              <a:rPr lang="zh-CN" altLang="en-US" sz="2800" b="1">
                <a:latin typeface="Garamond"/>
                <a:ea typeface="方正姚体"/>
              </a:rPr>
              <a:t>服</a:t>
            </a:r>
          </a:p>
          <a:p>
            <a:pPr>
              <a:spcBef>
                <a:spcPct val="50000"/>
              </a:spcBef>
            </a:pPr>
            <a:r>
              <a:rPr lang="zh-CN" altLang="en-US" sz="2800" b="1">
                <a:latin typeface="Garamond"/>
                <a:ea typeface="方正姚体"/>
              </a:rPr>
              <a:t>务</a:t>
            </a:r>
          </a:p>
        </p:txBody>
      </p:sp>
      <p:sp>
        <p:nvSpPr>
          <p:cNvPr id="97307" name="Text Box 31"/>
          <p:cNvSpPr txBox="1">
            <a:spLocks noChangeArrowheads="1"/>
          </p:cNvSpPr>
          <p:nvPr/>
        </p:nvSpPr>
        <p:spPr bwMode="auto">
          <a:xfrm>
            <a:off x="3779838" y="4868863"/>
            <a:ext cx="1223962" cy="1160462"/>
          </a:xfrm>
          <a:prstGeom prst="rect">
            <a:avLst/>
          </a:prstGeom>
          <a:noFill/>
          <a:ln w="9525">
            <a:noFill/>
            <a:miter lim="800000"/>
            <a:headEnd/>
            <a:tailEnd/>
          </a:ln>
        </p:spPr>
        <p:txBody>
          <a:bodyPr>
            <a:spAutoFit/>
          </a:bodyPr>
          <a:lstStyle/>
          <a:p>
            <a:pPr>
              <a:spcBef>
                <a:spcPct val="50000"/>
              </a:spcBef>
            </a:pPr>
            <a:r>
              <a:rPr lang="zh-CN" altLang="en-US" sz="2800" b="1">
                <a:latin typeface="Garamond"/>
                <a:ea typeface="方正姚体"/>
              </a:rPr>
              <a:t>外部</a:t>
            </a:r>
          </a:p>
          <a:p>
            <a:pPr>
              <a:spcBef>
                <a:spcPct val="50000"/>
              </a:spcBef>
            </a:pPr>
            <a:r>
              <a:rPr lang="zh-CN" altLang="en-US" sz="2800" b="1">
                <a:latin typeface="Garamond"/>
                <a:ea typeface="方正姚体"/>
              </a:rPr>
              <a:t>后勤</a:t>
            </a:r>
          </a:p>
        </p:txBody>
      </p:sp>
    </p:spTree>
  </p:cSld>
  <p:clrMapOvr>
    <a:masterClrMapping/>
  </p:clrMapOvr>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2133600" y="0"/>
            <a:ext cx="7010400" cy="981075"/>
          </a:xfrm>
        </p:spPr>
        <p:txBody>
          <a:bodyPr/>
          <a:lstStyle/>
          <a:p>
            <a:pPr marL="54864" indent="0" algn="l" fontAlgn="auto">
              <a:spcAft>
                <a:spcPts val="0"/>
              </a:spcAft>
              <a:defRPr/>
            </a:pPr>
            <a:r>
              <a:rPr lang="zh-CN" altLang="en-US" dirty="0">
                <a:solidFill>
                  <a:schemeClr val="tx2">
                    <a:tint val="100000"/>
                    <a:shade val="90000"/>
                    <a:satMod val="250000"/>
                    <a:alpha val="100000"/>
                  </a:schemeClr>
                </a:solidFill>
                <a:ea typeface="黑体" pitchFamily="2" charset="-122"/>
                <a:cs typeface="+mj-cs"/>
              </a:rPr>
              <a:t>      </a:t>
            </a:r>
            <a:r>
              <a:rPr lang="en-US" altLang="zh-CN" dirty="0">
                <a:solidFill>
                  <a:schemeClr val="tx2">
                    <a:tint val="100000"/>
                    <a:shade val="90000"/>
                    <a:satMod val="250000"/>
                    <a:alpha val="100000"/>
                  </a:schemeClr>
                </a:solidFill>
                <a:ea typeface="黑体" pitchFamily="2" charset="-122"/>
                <a:cs typeface="+mj-cs"/>
              </a:rPr>
              <a:t>(2) </a:t>
            </a:r>
            <a:r>
              <a:rPr lang="zh-CN" altLang="en-US" dirty="0">
                <a:solidFill>
                  <a:schemeClr val="tx2">
                    <a:tint val="100000"/>
                    <a:shade val="90000"/>
                    <a:satMod val="250000"/>
                    <a:alpha val="100000"/>
                  </a:schemeClr>
                </a:solidFill>
                <a:ea typeface="黑体" pitchFamily="2" charset="-122"/>
                <a:cs typeface="+mj-cs"/>
              </a:rPr>
              <a:t>支持性活动</a:t>
            </a:r>
          </a:p>
        </p:txBody>
      </p:sp>
      <p:sp>
        <p:nvSpPr>
          <p:cNvPr id="98306" name="Rectangle 3"/>
          <p:cNvSpPr>
            <a:spLocks noGrp="1" noChangeArrowheads="1"/>
          </p:cNvSpPr>
          <p:nvPr>
            <p:ph type="body" idx="1"/>
          </p:nvPr>
        </p:nvSpPr>
        <p:spPr>
          <a:xfrm>
            <a:off x="0" y="1484313"/>
            <a:ext cx="9144000" cy="4525962"/>
          </a:xfrm>
        </p:spPr>
        <p:txBody>
          <a:bodyPr/>
          <a:lstStyle/>
          <a:p>
            <a:pPr>
              <a:lnSpc>
                <a:spcPct val="90000"/>
              </a:lnSpc>
              <a:buFont typeface="Wingdings" pitchFamily="2" charset="2"/>
              <a:buNone/>
            </a:pPr>
            <a:r>
              <a:rPr lang="zh-CN" altLang="en-US" sz="2800"/>
              <a:t>         </a:t>
            </a:r>
            <a:r>
              <a:rPr lang="zh-CN" altLang="en-US" b="1"/>
              <a:t>主要体现为一些内部管理活动。支持性活动可以分为以下几个方面：</a:t>
            </a:r>
          </a:p>
          <a:p>
            <a:pPr>
              <a:lnSpc>
                <a:spcPct val="90000"/>
              </a:lnSpc>
            </a:pPr>
            <a:r>
              <a:rPr lang="zh-CN" altLang="en-US" b="1" u="sng">
                <a:solidFill>
                  <a:srgbClr val="E8DC3C"/>
                </a:solidFill>
              </a:rPr>
              <a:t>基础性活动</a:t>
            </a:r>
            <a:r>
              <a:rPr lang="zh-CN" altLang="en-US" b="1" u="sng">
                <a:solidFill>
                  <a:srgbClr val="18398A"/>
                </a:solidFill>
              </a:rPr>
              <a:t>：</a:t>
            </a:r>
            <a:r>
              <a:rPr lang="zh-CN" altLang="en-US" b="1"/>
              <a:t>计划、财务和质量控制及法律服务等；</a:t>
            </a:r>
          </a:p>
          <a:p>
            <a:pPr>
              <a:lnSpc>
                <a:spcPct val="90000"/>
              </a:lnSpc>
            </a:pPr>
            <a:r>
              <a:rPr lang="zh-CN" altLang="en-US" b="1" u="sng">
                <a:solidFill>
                  <a:srgbClr val="E8DC3C"/>
                </a:solidFill>
              </a:rPr>
              <a:t>技术活动</a:t>
            </a:r>
            <a:r>
              <a:rPr lang="zh-CN" altLang="en-US" b="1" u="sng">
                <a:solidFill>
                  <a:srgbClr val="18398A"/>
                </a:solidFill>
              </a:rPr>
              <a:t>：</a:t>
            </a:r>
            <a:r>
              <a:rPr lang="zh-CN" altLang="en-US" b="1"/>
              <a:t>技术开发、技术创新和发明等；</a:t>
            </a:r>
          </a:p>
          <a:p>
            <a:pPr>
              <a:lnSpc>
                <a:spcPct val="90000"/>
              </a:lnSpc>
            </a:pPr>
            <a:r>
              <a:rPr lang="zh-CN" altLang="en-US" b="1" u="sng">
                <a:solidFill>
                  <a:srgbClr val="E8DC3C"/>
                </a:solidFill>
              </a:rPr>
              <a:t>人力资源管理</a:t>
            </a:r>
            <a:r>
              <a:rPr lang="zh-CN" altLang="en-US" b="1" u="sng">
                <a:solidFill>
                  <a:srgbClr val="18398A"/>
                </a:solidFill>
              </a:rPr>
              <a:t>：</a:t>
            </a:r>
            <a:r>
              <a:rPr lang="zh-CN" altLang="en-US" b="1"/>
              <a:t>人员的招聘、选拔、培训、补偿及激励等。</a:t>
            </a:r>
          </a:p>
          <a:p>
            <a:pPr>
              <a:lnSpc>
                <a:spcPct val="90000"/>
              </a:lnSpc>
            </a:pPr>
            <a:r>
              <a:rPr lang="zh-CN" altLang="en-US" b="1" u="sng">
                <a:solidFill>
                  <a:srgbClr val="E8DC3C"/>
                </a:solidFill>
              </a:rPr>
              <a:t>采购</a:t>
            </a:r>
            <a:r>
              <a:rPr lang="en-US" altLang="zh-CN" b="1" u="sng">
                <a:solidFill>
                  <a:srgbClr val="18398A"/>
                </a:solidFill>
              </a:rPr>
              <a:t>:</a:t>
            </a:r>
            <a:r>
              <a:rPr lang="en-US" altLang="zh-CN" b="1"/>
              <a:t> </a:t>
            </a:r>
            <a:r>
              <a:rPr lang="zh-CN" altLang="en-US" b="1"/>
              <a:t>指购买用于价值链中的生产要素投入的这种职能活动。</a:t>
            </a:r>
            <a:endParaRPr lang="en-US" altLang="zh-CN" b="1"/>
          </a:p>
        </p:txBody>
      </p:sp>
    </p:spTree>
  </p:cSld>
  <p:clrMapOvr>
    <a:masterClrMapping/>
  </p:clrMapOvr>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53536"/>
            <a:ext cx="8229600" cy="1143000"/>
          </a:xfrm>
        </p:spPr>
        <p:txBody>
          <a:bodyPr/>
          <a:lstStyle/>
          <a:p>
            <a:pPr marL="54864" indent="0" fontAlgn="auto">
              <a:spcAft>
                <a:spcPts val="0"/>
              </a:spcAft>
              <a:defRPr/>
            </a:pPr>
            <a:r>
              <a:rPr lang="zh-CN" altLang="en-US" dirty="0">
                <a:solidFill>
                  <a:schemeClr val="tx2">
                    <a:tint val="100000"/>
                    <a:shade val="90000"/>
                    <a:satMod val="250000"/>
                    <a:alpha val="100000"/>
                  </a:schemeClr>
                </a:solidFill>
                <a:cs typeface="+mj-cs"/>
              </a:rPr>
              <a:t>价值链分析</a:t>
            </a:r>
          </a:p>
        </p:txBody>
      </p:sp>
      <p:sp>
        <p:nvSpPr>
          <p:cNvPr id="3" name="内容占位符 2"/>
          <p:cNvSpPr>
            <a:spLocks noGrp="1"/>
          </p:cNvSpPr>
          <p:nvPr>
            <p:ph idx="1"/>
          </p:nvPr>
        </p:nvSpPr>
        <p:spPr/>
        <p:txBody>
          <a:bodyPr>
            <a:normAutofit lnSpcReduction="10000"/>
          </a:bodyPr>
          <a:lstStyle/>
          <a:p>
            <a:pPr fontAlgn="auto">
              <a:spcBef>
                <a:spcPts val="0"/>
              </a:spcBef>
              <a:spcAft>
                <a:spcPts val="0"/>
              </a:spcAft>
              <a:defRPr/>
            </a:pPr>
            <a:r>
              <a:rPr lang="zh-CN" altLang="en-US" dirty="0">
                <a:cs typeface="+mn-cs"/>
              </a:rPr>
              <a:t>价值链分析的目的：分析企业内部条件，从而找出对顾客最有价值、企业最有优势的活动，对其加以改进提高，可以提供企业竞争力。</a:t>
            </a:r>
            <a:endParaRPr lang="en-US" altLang="zh-CN" dirty="0">
              <a:cs typeface="+mn-cs"/>
            </a:endParaRPr>
          </a:p>
          <a:p>
            <a:pPr fontAlgn="auto">
              <a:spcBef>
                <a:spcPts val="0"/>
              </a:spcBef>
              <a:spcAft>
                <a:spcPts val="0"/>
              </a:spcAft>
              <a:defRPr/>
            </a:pPr>
            <a:r>
              <a:rPr lang="zh-CN" altLang="en-US" dirty="0">
                <a:cs typeface="+mn-cs"/>
              </a:rPr>
              <a:t>要主要的问题：</a:t>
            </a:r>
            <a:endParaRPr lang="en-US" altLang="zh-CN" dirty="0">
              <a:cs typeface="+mn-cs"/>
            </a:endParaRPr>
          </a:p>
          <a:p>
            <a:pPr marL="640080" lvl="1" fontAlgn="auto">
              <a:spcAft>
                <a:spcPts val="0"/>
              </a:spcAft>
              <a:defRPr/>
            </a:pPr>
            <a:r>
              <a:rPr lang="zh-CN" altLang="en-US" dirty="0">
                <a:cs typeface="+mn-cs"/>
              </a:rPr>
              <a:t>价值链分析的基础是价值</a:t>
            </a:r>
            <a:r>
              <a:rPr lang="en-US" altLang="zh-CN" dirty="0">
                <a:cs typeface="+mn-cs"/>
              </a:rPr>
              <a:t>-</a:t>
            </a:r>
            <a:r>
              <a:rPr lang="zh-CN" altLang="en-US" dirty="0">
                <a:cs typeface="+mn-cs"/>
              </a:rPr>
              <a:t>是否给客户带来价值及其成本</a:t>
            </a:r>
            <a:endParaRPr lang="en-US" altLang="zh-CN" dirty="0">
              <a:cs typeface="+mn-cs"/>
            </a:endParaRPr>
          </a:p>
          <a:p>
            <a:pPr marL="640080" lvl="1" fontAlgn="auto">
              <a:spcAft>
                <a:spcPts val="0"/>
              </a:spcAft>
              <a:defRPr/>
            </a:pPr>
            <a:r>
              <a:rPr lang="zh-CN" altLang="en-US" dirty="0">
                <a:cs typeface="+mn-cs"/>
              </a:rPr>
              <a:t>基本价值链可以再分解</a:t>
            </a:r>
            <a:endParaRPr lang="en-US" altLang="zh-CN" dirty="0">
              <a:cs typeface="+mn-cs"/>
            </a:endParaRPr>
          </a:p>
          <a:p>
            <a:pPr marL="640080" lvl="1" fontAlgn="auto">
              <a:spcAft>
                <a:spcPts val="0"/>
              </a:spcAft>
              <a:defRPr/>
            </a:pPr>
            <a:r>
              <a:rPr lang="zh-CN" altLang="en-US" dirty="0">
                <a:cs typeface="+mn-cs"/>
              </a:rPr>
              <a:t>产业内的企业有相似的价值链，但竞争对手的价值链常常不同</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7BDAECFD-52E9-0E4C-AD6B-A186323FB7A2}"/>
              </a:ext>
            </a:extLst>
          </p:cNvPr>
          <p:cNvSpPr>
            <a:spLocks noGrp="1" noChangeArrowheads="1"/>
          </p:cNvSpPr>
          <p:nvPr>
            <p:ph type="title"/>
          </p:nvPr>
        </p:nvSpPr>
        <p:spPr>
          <a:xfrm>
            <a:off x="496535" y="338137"/>
            <a:ext cx="8520112" cy="647700"/>
          </a:xfrm>
        </p:spPr>
        <p:txBody>
          <a:bodyPr>
            <a:normAutofit fontScale="90000"/>
          </a:bodyPr>
          <a:lstStyle/>
          <a:p>
            <a:r>
              <a:rPr lang="zh-CN" altLang="en-US" dirty="0">
                <a:ea typeface="宋体" panose="02010600030101010101" pitchFamily="2" charset="-122"/>
              </a:rPr>
              <a:t>                          青岛红领制衣</a:t>
            </a:r>
          </a:p>
        </p:txBody>
      </p:sp>
      <p:sp>
        <p:nvSpPr>
          <p:cNvPr id="7171" name="Rectangle 3">
            <a:extLst>
              <a:ext uri="{FF2B5EF4-FFF2-40B4-BE49-F238E27FC236}">
                <a16:creationId xmlns:a16="http://schemas.microsoft.com/office/drawing/2014/main" id="{5A6DB566-901C-F94D-BE4C-01CB6F2BCDA0}"/>
              </a:ext>
            </a:extLst>
          </p:cNvPr>
          <p:cNvSpPr>
            <a:spLocks noGrp="1" noChangeArrowheads="1"/>
          </p:cNvSpPr>
          <p:nvPr>
            <p:ph type="body" idx="1"/>
          </p:nvPr>
        </p:nvSpPr>
        <p:spPr>
          <a:xfrm>
            <a:off x="282575" y="1476375"/>
            <a:ext cx="8764588" cy="4719638"/>
          </a:xfrm>
        </p:spPr>
        <p:txBody>
          <a:bodyPr/>
          <a:lstStyle/>
          <a:p>
            <a:pPr marL="0" indent="0">
              <a:buFont typeface="Wingdings" pitchFamily="2" charset="2"/>
              <a:buNone/>
            </a:pPr>
            <a:r>
              <a:rPr lang="zh-CN" altLang="en-US" dirty="0">
                <a:ea typeface="宋体" panose="02010600030101010101" pitchFamily="2" charset="-122"/>
              </a:rPr>
              <a:t>       依托大数据技术，红领在全球第一个实现服装大规模个性化定制的智能制造。创造了C2M+O2O的全新营销模式：C2M（Customer toManufactory）。</a:t>
            </a:r>
          </a:p>
          <a:p>
            <a:pPr marL="0" indent="0">
              <a:buFont typeface="Wingdings" pitchFamily="2" charset="2"/>
              <a:buNone/>
            </a:pPr>
            <a:endParaRPr lang="zh-CN" altLang="en-US" dirty="0">
              <a:ea typeface="宋体" panose="02010600030101010101" pitchFamily="2" charset="-122"/>
            </a:endParaRPr>
          </a:p>
          <a:p>
            <a:pPr marL="0" indent="0">
              <a:buFont typeface="Wingdings" pitchFamily="2" charset="2"/>
              <a:buNone/>
            </a:pPr>
            <a:r>
              <a:rPr lang="zh-CN" altLang="en-US" dirty="0">
                <a:ea typeface="宋体" panose="02010600030101010101" pitchFamily="2" charset="-122"/>
              </a:rPr>
              <a:t>       </a:t>
            </a:r>
          </a:p>
          <a:p>
            <a:pPr marL="0" indent="0">
              <a:buFont typeface="Wingdings" pitchFamily="2" charset="2"/>
              <a:buNone/>
            </a:pPr>
            <a:endParaRPr lang="zh-CN" altLang="en-US" dirty="0">
              <a:ea typeface="宋体" panose="02010600030101010101" pitchFamily="2" charset="-122"/>
            </a:endParaRPr>
          </a:p>
        </p:txBody>
      </p:sp>
      <p:sp>
        <p:nvSpPr>
          <p:cNvPr id="7172" name="Text Box 4">
            <a:extLst>
              <a:ext uri="{FF2B5EF4-FFF2-40B4-BE49-F238E27FC236}">
                <a16:creationId xmlns:a16="http://schemas.microsoft.com/office/drawing/2014/main" id="{03C58912-A958-FD42-8634-30FFEE87D5AE}"/>
              </a:ext>
            </a:extLst>
          </p:cNvPr>
          <p:cNvSpPr txBox="1">
            <a:spLocks noChangeArrowheads="1"/>
          </p:cNvSpPr>
          <p:nvPr/>
        </p:nvSpPr>
        <p:spPr bwMode="auto">
          <a:xfrm>
            <a:off x="228600" y="4621213"/>
            <a:ext cx="869950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indent="406400">
              <a:spcAft>
                <a:spcPct val="40000"/>
              </a:spcAft>
              <a:buFont typeface="Wingdings" pitchFamily="2" charset="2"/>
              <a:buChar char="§"/>
              <a:defRPr sz="2000">
                <a:solidFill>
                  <a:schemeClr val="tx1"/>
                </a:solidFill>
                <a:latin typeface="Arial" panose="020B0604020202020204" pitchFamily="34" charset="0"/>
                <a:cs typeface="Arial" panose="020B0604020202020204" pitchFamily="34" charset="0"/>
              </a:defRPr>
            </a:lvl1pPr>
            <a:lvl2pPr marL="444500" indent="-261938">
              <a:spcAft>
                <a:spcPct val="40000"/>
              </a:spcAft>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720725" indent="-274638">
              <a:spcAft>
                <a:spcPct val="40000"/>
              </a:spcAft>
              <a:buFont typeface="Wingdings" pitchFamily="2" charset="2"/>
              <a:buChar char="•"/>
              <a:defRPr sz="2400">
                <a:solidFill>
                  <a:schemeClr val="tx1"/>
                </a:solidFill>
                <a:latin typeface="Arial" panose="020B0604020202020204" pitchFamily="34" charset="0"/>
                <a:cs typeface="Arial" panose="020B0604020202020204" pitchFamily="34" charset="0"/>
              </a:defRPr>
            </a:lvl3pPr>
            <a:lvl4pPr marL="987425" indent="-265113">
              <a:spcAft>
                <a:spcPct val="40000"/>
              </a:spcAft>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1254125" indent="-265113">
              <a:spcAft>
                <a:spcPct val="40000"/>
              </a:spcAft>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1711325" indent="-265113" eaLnBrk="0" fontAlgn="base" hangingPunct="0">
              <a:spcBef>
                <a:spcPct val="0"/>
              </a:spcBef>
              <a:spcAft>
                <a:spcPct val="40000"/>
              </a:spcAft>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168525" indent="-265113" eaLnBrk="0" fontAlgn="base" hangingPunct="0">
              <a:spcBef>
                <a:spcPct val="0"/>
              </a:spcBef>
              <a:spcAft>
                <a:spcPct val="40000"/>
              </a:spcAft>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2625725" indent="-265113" eaLnBrk="0" fontAlgn="base" hangingPunct="0">
              <a:spcBef>
                <a:spcPct val="0"/>
              </a:spcBef>
              <a:spcAft>
                <a:spcPct val="40000"/>
              </a:spcAft>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082925" indent="-265113" eaLnBrk="0" fontAlgn="base" hangingPunct="0">
              <a:spcBef>
                <a:spcPct val="0"/>
              </a:spcBef>
              <a:spcAft>
                <a:spcPct val="40000"/>
              </a:spcAft>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Aft>
                <a:spcPct val="0"/>
              </a:spcAft>
              <a:buFont typeface="Arial" panose="020B0604020202020204" pitchFamily="34" charset="0"/>
              <a:buNone/>
            </a:pPr>
            <a:r>
              <a:rPr lang="zh-CN" altLang="en-US" sz="1600" b="1">
                <a:latin typeface="仿宋_GB2312" charset="-122"/>
                <a:ea typeface="仿宋_GB2312" charset="-122"/>
                <a:sym typeface="仿宋_GB2312" charset="-122"/>
              </a:rPr>
              <a:t>2012年以来，中国服装制造业订单快速下滑，大批品牌服装企业遭遇高库存和零售疲软。然而正是这 一年，红领集团的大规模个性化定制模式历经10年终于完成调试，迎来高速发展期，定制业务年均销售收入、利润增长均超过150%。</a:t>
            </a:r>
            <a:r>
              <a:rPr lang="zh-CN" altLang="en-US" sz="1600" b="1">
                <a:latin typeface="仿宋_GB2312" charset="-122"/>
                <a:sym typeface="仿宋_GB2312" charset="-122"/>
              </a:rPr>
              <a:t>    这几年，</a:t>
            </a:r>
            <a:r>
              <a:rPr lang="zh-CN" altLang="en-US" sz="1600" b="1">
                <a:latin typeface="仿宋_GB2312" charset="-122"/>
                <a:ea typeface="仿宋_GB2312" charset="-122"/>
                <a:sym typeface="仿宋_GB2312" charset="-122"/>
              </a:rPr>
              <a:t>营收</a:t>
            </a:r>
            <a:r>
              <a:rPr lang="zh-CN" altLang="en-US" sz="1600" b="1">
                <a:latin typeface="仿宋_GB2312" charset="-122"/>
                <a:sym typeface="仿宋_GB2312" charset="-122"/>
              </a:rPr>
              <a:t>收入、</a:t>
            </a:r>
            <a:r>
              <a:rPr lang="zh-CN" altLang="en-US" sz="1600" b="1">
                <a:latin typeface="仿宋_GB2312" charset="-122"/>
                <a:ea typeface="仿宋_GB2312" charset="-122"/>
                <a:sym typeface="仿宋_GB2312" charset="-122"/>
              </a:rPr>
              <a:t>利润增长超过200%</a:t>
            </a:r>
            <a:r>
              <a:rPr lang="zh-CN" altLang="en-US" sz="1600" b="1">
                <a:latin typeface="仿宋_GB2312" charset="-122"/>
                <a:sym typeface="仿宋_GB2312" charset="-122"/>
              </a:rPr>
              <a:t>。</a:t>
            </a:r>
            <a:r>
              <a:rPr lang="zh-CN" altLang="en-US" sz="1600" b="1">
                <a:latin typeface="仿宋_GB2312" charset="-122"/>
                <a:ea typeface="仿宋_GB2312" charset="-122"/>
                <a:sym typeface="仿宋_GB2312" charset="-122"/>
              </a:rPr>
              <a:t>未来几年将实现几何倍数的增长。</a:t>
            </a:r>
            <a:endParaRPr lang="zh-CN" altLang="en-US"/>
          </a:p>
        </p:txBody>
      </p:sp>
    </p:spTree>
    <p:extLst>
      <p:ext uri="{BB962C8B-B14F-4D97-AF65-F5344CB8AC3E}">
        <p14:creationId xmlns:p14="http://schemas.microsoft.com/office/powerpoint/2010/main" val="363974147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7EC0D414-7B6B-4B41-93EA-CF054FE60DB7}"/>
              </a:ext>
            </a:extLst>
          </p:cNvPr>
          <p:cNvSpPr>
            <a:spLocks noGrp="1" noChangeArrowheads="1"/>
          </p:cNvSpPr>
          <p:nvPr>
            <p:ph type="title"/>
          </p:nvPr>
        </p:nvSpPr>
        <p:spPr>
          <a:xfrm>
            <a:off x="406400" y="260648"/>
            <a:ext cx="8520112" cy="647700"/>
          </a:xfrm>
        </p:spPr>
        <p:txBody>
          <a:bodyPr>
            <a:normAutofit fontScale="90000"/>
          </a:bodyPr>
          <a:lstStyle/>
          <a:p>
            <a:r>
              <a:rPr lang="zh-CN" altLang="en-US" dirty="0">
                <a:ea typeface="宋体" panose="02010600030101010101" pitchFamily="2" charset="-122"/>
              </a:rPr>
              <a:t>                           全定制流程</a:t>
            </a:r>
          </a:p>
        </p:txBody>
      </p:sp>
      <p:pic>
        <p:nvPicPr>
          <p:cNvPr id="8195" name="Picture 3" descr="青岛红领全定制流程">
            <a:extLst>
              <a:ext uri="{FF2B5EF4-FFF2-40B4-BE49-F238E27FC236}">
                <a16:creationId xmlns:a16="http://schemas.microsoft.com/office/drawing/2014/main" id="{BF8B70D0-FF6E-3447-8690-D814C217B1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786" y="1047750"/>
            <a:ext cx="8583686" cy="5045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7451545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2303463" y="76200"/>
            <a:ext cx="6796087" cy="1049338"/>
          </a:xfrm>
        </p:spPr>
        <p:txBody>
          <a:bodyPr/>
          <a:lstStyle/>
          <a:p>
            <a:pPr marL="54864" indent="0" fontAlgn="auto">
              <a:spcAft>
                <a:spcPts val="0"/>
              </a:spcAft>
              <a:defRPr/>
            </a:pPr>
            <a:r>
              <a:rPr lang="zh-CN" altLang="en-US" dirty="0">
                <a:solidFill>
                  <a:schemeClr val="tx2">
                    <a:tint val="100000"/>
                    <a:shade val="90000"/>
                    <a:satMod val="250000"/>
                    <a:alpha val="100000"/>
                  </a:schemeClr>
                </a:solidFill>
                <a:ea typeface="黑体" pitchFamily="2" charset="-122"/>
                <a:cs typeface="+mj-cs"/>
              </a:rPr>
              <a:t>              </a:t>
            </a:r>
          </a:p>
        </p:txBody>
      </p:sp>
      <p:sp>
        <p:nvSpPr>
          <p:cNvPr id="100354" name="Rectangle 3"/>
          <p:cNvSpPr>
            <a:spLocks noGrp="1" noChangeArrowheads="1"/>
          </p:cNvSpPr>
          <p:nvPr>
            <p:ph type="body" idx="1"/>
          </p:nvPr>
        </p:nvSpPr>
        <p:spPr>
          <a:xfrm>
            <a:off x="179388" y="1052513"/>
            <a:ext cx="8713787" cy="5184775"/>
          </a:xfrm>
        </p:spPr>
        <p:txBody>
          <a:bodyPr/>
          <a:lstStyle/>
          <a:p>
            <a:pPr>
              <a:lnSpc>
                <a:spcPct val="90000"/>
              </a:lnSpc>
            </a:pPr>
            <a:endParaRPr lang="zh-CN" altLang="en-US" dirty="0"/>
          </a:p>
          <a:p>
            <a:pPr>
              <a:lnSpc>
                <a:spcPct val="90000"/>
              </a:lnSpc>
              <a:buFont typeface="Wingdings" pitchFamily="2" charset="2"/>
              <a:buNone/>
            </a:pPr>
            <a:r>
              <a:rPr lang="zh-CN" altLang="en-US" dirty="0"/>
              <a:t>            </a:t>
            </a:r>
            <a:r>
              <a:rPr lang="zh-CN" altLang="en-US" sz="4400" b="1" dirty="0"/>
              <a:t>企业的价值链体现在我称之为</a:t>
            </a:r>
            <a:r>
              <a:rPr lang="zh-CN" altLang="en-US" sz="4400" b="1" dirty="0">
                <a:solidFill>
                  <a:srgbClr val="F92B4D"/>
                </a:solidFill>
              </a:rPr>
              <a:t>价值系统</a:t>
            </a:r>
            <a:r>
              <a:rPr lang="zh-CN" altLang="en-US" sz="4400" b="1" dirty="0"/>
              <a:t>的更广泛的一连串活动之中。获取和保持竞争优势，不仅取决于对企业价值链的理解，而且取决于对企业如何适合于某个价值系统的理解。　　　　</a:t>
            </a:r>
          </a:p>
          <a:p>
            <a:pPr>
              <a:lnSpc>
                <a:spcPct val="90000"/>
              </a:lnSpc>
              <a:buFont typeface="Wingdings" pitchFamily="2" charset="2"/>
              <a:buNone/>
            </a:pPr>
            <a:r>
              <a:rPr lang="zh-CN" altLang="en-US" sz="4400" b="1" dirty="0"/>
              <a:t>             </a:t>
            </a:r>
            <a:r>
              <a:rPr lang="en-US" altLang="zh-CN" sz="4400" b="1" dirty="0"/>
              <a:t>——</a:t>
            </a:r>
            <a:r>
              <a:rPr lang="zh-CN" altLang="en-US" sz="4400" b="1" dirty="0"/>
              <a:t>迈克尔</a:t>
            </a:r>
            <a:r>
              <a:rPr lang="en-US" altLang="zh-CN" sz="4400" b="1" dirty="0">
                <a:latin typeface="宋体" charset="-122"/>
              </a:rPr>
              <a:t>•</a:t>
            </a:r>
            <a:r>
              <a:rPr lang="zh-CN" altLang="en-US" sz="4400" b="1" dirty="0"/>
              <a:t>波特</a:t>
            </a:r>
          </a:p>
        </p:txBody>
      </p:sp>
    </p:spTree>
  </p:cSld>
  <p:clrMapOvr>
    <a:masterClrMapping/>
  </p:clrMapOvr>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457200" y="253536"/>
            <a:ext cx="8229600" cy="1143000"/>
          </a:xfrm>
        </p:spPr>
        <p:txBody>
          <a:bodyPr/>
          <a:lstStyle/>
          <a:p>
            <a:pPr marL="54864" indent="0" algn="l" fontAlgn="auto">
              <a:spcAft>
                <a:spcPts val="0"/>
              </a:spcAft>
              <a:defRPr/>
            </a:pPr>
            <a:r>
              <a:rPr lang="zh-CN" altLang="en-US" dirty="0">
                <a:solidFill>
                  <a:schemeClr val="tx2">
                    <a:tint val="100000"/>
                    <a:shade val="90000"/>
                    <a:satMod val="250000"/>
                    <a:alpha val="100000"/>
                  </a:schemeClr>
                </a:solidFill>
                <a:ea typeface="黑体" pitchFamily="2" charset="-122"/>
                <a:cs typeface="+mj-cs"/>
              </a:rPr>
              <a:t>      价值系统</a:t>
            </a:r>
          </a:p>
        </p:txBody>
      </p:sp>
      <p:sp>
        <p:nvSpPr>
          <p:cNvPr id="101378" name="Rectangle 3"/>
          <p:cNvSpPr>
            <a:spLocks noGrp="1" noChangeArrowheads="1"/>
          </p:cNvSpPr>
          <p:nvPr>
            <p:ph type="body" idx="1"/>
          </p:nvPr>
        </p:nvSpPr>
        <p:spPr>
          <a:xfrm>
            <a:off x="457200" y="1600200"/>
            <a:ext cx="8435975" cy="4525963"/>
          </a:xfrm>
        </p:spPr>
        <p:txBody>
          <a:bodyPr/>
          <a:lstStyle/>
          <a:p>
            <a:r>
              <a:rPr lang="zh-CN" altLang="en-US" dirty="0"/>
              <a:t>美日韩三国汽车</a:t>
            </a:r>
          </a:p>
        </p:txBody>
      </p:sp>
      <p:sp>
        <p:nvSpPr>
          <p:cNvPr id="101379" name="AutoShape 4"/>
          <p:cNvSpPr>
            <a:spLocks noChangeArrowheads="1"/>
          </p:cNvSpPr>
          <p:nvPr/>
        </p:nvSpPr>
        <p:spPr bwMode="auto">
          <a:xfrm>
            <a:off x="2987675" y="2852738"/>
            <a:ext cx="1657350" cy="1008062"/>
          </a:xfrm>
          <a:prstGeom prst="homePlate">
            <a:avLst>
              <a:gd name="adj" fmla="val 41102"/>
            </a:avLst>
          </a:prstGeom>
          <a:solidFill>
            <a:schemeClr val="accent1"/>
          </a:solidFill>
          <a:ln w="9525">
            <a:solidFill>
              <a:schemeClr val="tx1"/>
            </a:solidFill>
            <a:miter lim="800000"/>
            <a:headEnd/>
            <a:tailEnd/>
          </a:ln>
        </p:spPr>
        <p:txBody>
          <a:bodyPr wrap="none" anchor="ctr"/>
          <a:lstStyle/>
          <a:p>
            <a:pPr algn="ctr"/>
            <a:r>
              <a:rPr lang="zh-CN" altLang="en-US" sz="2400" b="1">
                <a:solidFill>
                  <a:srgbClr val="FF6600"/>
                </a:solidFill>
                <a:latin typeface="Garamond"/>
                <a:ea typeface="方正姚体"/>
              </a:rPr>
              <a:t>企业价值链</a:t>
            </a:r>
          </a:p>
        </p:txBody>
      </p:sp>
      <p:sp>
        <p:nvSpPr>
          <p:cNvPr id="101380" name="AutoShape 5"/>
          <p:cNvSpPr>
            <a:spLocks noChangeArrowheads="1"/>
          </p:cNvSpPr>
          <p:nvPr/>
        </p:nvSpPr>
        <p:spPr bwMode="auto">
          <a:xfrm>
            <a:off x="1403350" y="3357563"/>
            <a:ext cx="1225550" cy="720725"/>
          </a:xfrm>
          <a:prstGeom prst="homePlate">
            <a:avLst>
              <a:gd name="adj" fmla="val 42511"/>
            </a:avLst>
          </a:prstGeom>
          <a:solidFill>
            <a:schemeClr val="accent1"/>
          </a:solidFill>
          <a:ln w="9525">
            <a:solidFill>
              <a:schemeClr val="tx1"/>
            </a:solidFill>
            <a:miter lim="800000"/>
            <a:headEnd/>
            <a:tailEnd/>
          </a:ln>
        </p:spPr>
        <p:txBody>
          <a:bodyPr wrap="none" anchor="ctr"/>
          <a:lstStyle/>
          <a:p>
            <a:endParaRPr lang="zh-CN" altLang="en-US">
              <a:latin typeface="Rockwell"/>
              <a:ea typeface="方正姚体"/>
            </a:endParaRPr>
          </a:p>
        </p:txBody>
      </p:sp>
      <p:sp>
        <p:nvSpPr>
          <p:cNvPr id="101381" name="AutoShape 6"/>
          <p:cNvSpPr>
            <a:spLocks noChangeArrowheads="1"/>
          </p:cNvSpPr>
          <p:nvPr/>
        </p:nvSpPr>
        <p:spPr bwMode="auto">
          <a:xfrm>
            <a:off x="1258888" y="3141663"/>
            <a:ext cx="1223962" cy="647700"/>
          </a:xfrm>
          <a:prstGeom prst="homePlate">
            <a:avLst>
              <a:gd name="adj" fmla="val 47243"/>
            </a:avLst>
          </a:prstGeom>
          <a:solidFill>
            <a:schemeClr val="accent1"/>
          </a:solidFill>
          <a:ln w="9525">
            <a:solidFill>
              <a:schemeClr val="tx1"/>
            </a:solidFill>
            <a:miter lim="800000"/>
            <a:headEnd/>
            <a:tailEnd/>
          </a:ln>
        </p:spPr>
        <p:txBody>
          <a:bodyPr wrap="none" anchor="ctr"/>
          <a:lstStyle/>
          <a:p>
            <a:endParaRPr lang="zh-CN" altLang="en-US">
              <a:latin typeface="Rockwell"/>
              <a:ea typeface="方正姚体"/>
            </a:endParaRPr>
          </a:p>
        </p:txBody>
      </p:sp>
      <p:sp>
        <p:nvSpPr>
          <p:cNvPr id="101382" name="AutoShape 8"/>
          <p:cNvSpPr>
            <a:spLocks noChangeArrowheads="1"/>
          </p:cNvSpPr>
          <p:nvPr/>
        </p:nvSpPr>
        <p:spPr bwMode="auto">
          <a:xfrm>
            <a:off x="1042988" y="2708275"/>
            <a:ext cx="1298575" cy="720725"/>
          </a:xfrm>
          <a:prstGeom prst="homePlate">
            <a:avLst>
              <a:gd name="adj" fmla="val 45044"/>
            </a:avLst>
          </a:prstGeom>
          <a:solidFill>
            <a:schemeClr val="accent1"/>
          </a:solidFill>
          <a:ln w="9525">
            <a:solidFill>
              <a:schemeClr val="tx1"/>
            </a:solidFill>
            <a:miter lim="800000"/>
            <a:headEnd/>
            <a:tailEnd/>
          </a:ln>
        </p:spPr>
        <p:txBody>
          <a:bodyPr wrap="none" anchor="ctr"/>
          <a:lstStyle/>
          <a:p>
            <a:pPr algn="ctr"/>
            <a:r>
              <a:rPr lang="zh-CN" altLang="en-US" b="1">
                <a:latin typeface="Garamond"/>
                <a:ea typeface="方正姚体"/>
              </a:rPr>
              <a:t>供应商</a:t>
            </a:r>
          </a:p>
          <a:p>
            <a:pPr algn="ctr"/>
            <a:r>
              <a:rPr lang="zh-CN" altLang="en-US" b="1">
                <a:latin typeface="Garamond"/>
                <a:ea typeface="方正姚体"/>
              </a:rPr>
              <a:t>价值链</a:t>
            </a:r>
          </a:p>
        </p:txBody>
      </p:sp>
      <p:sp>
        <p:nvSpPr>
          <p:cNvPr id="101383" name="AutoShape 10"/>
          <p:cNvSpPr>
            <a:spLocks noChangeArrowheads="1"/>
          </p:cNvSpPr>
          <p:nvPr/>
        </p:nvSpPr>
        <p:spPr bwMode="auto">
          <a:xfrm>
            <a:off x="5508625" y="3284538"/>
            <a:ext cx="1223963" cy="792162"/>
          </a:xfrm>
          <a:prstGeom prst="homePlate">
            <a:avLst>
              <a:gd name="adj" fmla="val 38627"/>
            </a:avLst>
          </a:prstGeom>
          <a:solidFill>
            <a:schemeClr val="accent1"/>
          </a:solidFill>
          <a:ln w="9525">
            <a:solidFill>
              <a:schemeClr val="tx1"/>
            </a:solidFill>
            <a:miter lim="800000"/>
            <a:headEnd/>
            <a:tailEnd/>
          </a:ln>
        </p:spPr>
        <p:txBody>
          <a:bodyPr wrap="none" anchor="ctr"/>
          <a:lstStyle/>
          <a:p>
            <a:endParaRPr lang="zh-CN" altLang="en-US">
              <a:latin typeface="Rockwell"/>
              <a:ea typeface="方正姚体"/>
            </a:endParaRPr>
          </a:p>
        </p:txBody>
      </p:sp>
      <p:sp>
        <p:nvSpPr>
          <p:cNvPr id="101384" name="AutoShape 11"/>
          <p:cNvSpPr>
            <a:spLocks noChangeArrowheads="1"/>
          </p:cNvSpPr>
          <p:nvPr/>
        </p:nvSpPr>
        <p:spPr bwMode="auto">
          <a:xfrm>
            <a:off x="5292725" y="2997200"/>
            <a:ext cx="1295400" cy="719138"/>
          </a:xfrm>
          <a:prstGeom prst="homePlate">
            <a:avLst>
              <a:gd name="adj" fmla="val 45033"/>
            </a:avLst>
          </a:prstGeom>
          <a:solidFill>
            <a:schemeClr val="accent1"/>
          </a:solidFill>
          <a:ln w="9525">
            <a:solidFill>
              <a:schemeClr val="tx1"/>
            </a:solidFill>
            <a:miter lim="800000"/>
            <a:headEnd/>
            <a:tailEnd/>
          </a:ln>
        </p:spPr>
        <p:txBody>
          <a:bodyPr wrap="none" anchor="ctr"/>
          <a:lstStyle/>
          <a:p>
            <a:endParaRPr lang="zh-CN" altLang="en-US">
              <a:latin typeface="Rockwell"/>
              <a:ea typeface="方正姚体"/>
            </a:endParaRPr>
          </a:p>
        </p:txBody>
      </p:sp>
      <p:sp>
        <p:nvSpPr>
          <p:cNvPr id="101385" name="AutoShape 12"/>
          <p:cNvSpPr>
            <a:spLocks noChangeArrowheads="1"/>
          </p:cNvSpPr>
          <p:nvPr/>
        </p:nvSpPr>
        <p:spPr bwMode="auto">
          <a:xfrm>
            <a:off x="5148263" y="2636838"/>
            <a:ext cx="1368425" cy="720725"/>
          </a:xfrm>
          <a:prstGeom prst="homePlate">
            <a:avLst>
              <a:gd name="adj" fmla="val 47467"/>
            </a:avLst>
          </a:prstGeom>
          <a:solidFill>
            <a:schemeClr val="accent1"/>
          </a:solidFill>
          <a:ln w="9525">
            <a:solidFill>
              <a:schemeClr val="tx1"/>
            </a:solidFill>
            <a:miter lim="800000"/>
            <a:headEnd/>
            <a:tailEnd/>
          </a:ln>
        </p:spPr>
        <p:txBody>
          <a:bodyPr wrap="none" anchor="ctr"/>
          <a:lstStyle/>
          <a:p>
            <a:pPr algn="ctr"/>
            <a:r>
              <a:rPr lang="zh-CN" altLang="en-US" sz="2000" b="1">
                <a:latin typeface="Garamond"/>
                <a:ea typeface="方正姚体"/>
              </a:rPr>
              <a:t>销售渠道</a:t>
            </a:r>
          </a:p>
          <a:p>
            <a:pPr algn="ctr"/>
            <a:r>
              <a:rPr lang="zh-CN" altLang="en-US" sz="2000" b="1">
                <a:latin typeface="Garamond"/>
                <a:ea typeface="方正姚体"/>
              </a:rPr>
              <a:t>价值链</a:t>
            </a:r>
          </a:p>
        </p:txBody>
      </p:sp>
      <p:sp>
        <p:nvSpPr>
          <p:cNvPr id="101386" name="AutoShape 13"/>
          <p:cNvSpPr>
            <a:spLocks noChangeArrowheads="1"/>
          </p:cNvSpPr>
          <p:nvPr/>
        </p:nvSpPr>
        <p:spPr bwMode="auto">
          <a:xfrm>
            <a:off x="7451725" y="3429000"/>
            <a:ext cx="1152525" cy="647700"/>
          </a:xfrm>
          <a:prstGeom prst="homePlate">
            <a:avLst>
              <a:gd name="adj" fmla="val 44485"/>
            </a:avLst>
          </a:prstGeom>
          <a:solidFill>
            <a:schemeClr val="accent1"/>
          </a:solidFill>
          <a:ln w="9525">
            <a:solidFill>
              <a:schemeClr val="tx1"/>
            </a:solidFill>
            <a:miter lim="800000"/>
            <a:headEnd/>
            <a:tailEnd/>
          </a:ln>
        </p:spPr>
        <p:txBody>
          <a:bodyPr wrap="none" anchor="ctr"/>
          <a:lstStyle/>
          <a:p>
            <a:endParaRPr lang="zh-CN" altLang="en-US">
              <a:latin typeface="Rockwell"/>
              <a:ea typeface="方正姚体"/>
            </a:endParaRPr>
          </a:p>
        </p:txBody>
      </p:sp>
      <p:sp>
        <p:nvSpPr>
          <p:cNvPr id="101387" name="AutoShape 14"/>
          <p:cNvSpPr>
            <a:spLocks noChangeArrowheads="1"/>
          </p:cNvSpPr>
          <p:nvPr/>
        </p:nvSpPr>
        <p:spPr bwMode="auto">
          <a:xfrm>
            <a:off x="7308850" y="3141663"/>
            <a:ext cx="1152525" cy="503237"/>
          </a:xfrm>
          <a:prstGeom prst="homePlate">
            <a:avLst>
              <a:gd name="adj" fmla="val 57256"/>
            </a:avLst>
          </a:prstGeom>
          <a:solidFill>
            <a:schemeClr val="accent1"/>
          </a:solidFill>
          <a:ln w="9525">
            <a:solidFill>
              <a:schemeClr val="tx1"/>
            </a:solidFill>
            <a:miter lim="800000"/>
            <a:headEnd/>
            <a:tailEnd/>
          </a:ln>
        </p:spPr>
        <p:txBody>
          <a:bodyPr wrap="none" anchor="ctr"/>
          <a:lstStyle/>
          <a:p>
            <a:endParaRPr lang="zh-CN" altLang="en-US">
              <a:latin typeface="Rockwell"/>
              <a:ea typeface="方正姚体"/>
            </a:endParaRPr>
          </a:p>
        </p:txBody>
      </p:sp>
      <p:sp>
        <p:nvSpPr>
          <p:cNvPr id="101388" name="AutoShape 15"/>
          <p:cNvSpPr>
            <a:spLocks noChangeArrowheads="1"/>
          </p:cNvSpPr>
          <p:nvPr/>
        </p:nvSpPr>
        <p:spPr bwMode="auto">
          <a:xfrm>
            <a:off x="7092950" y="2636838"/>
            <a:ext cx="1223963" cy="720725"/>
          </a:xfrm>
          <a:prstGeom prst="homePlate">
            <a:avLst>
              <a:gd name="adj" fmla="val 42456"/>
            </a:avLst>
          </a:prstGeom>
          <a:solidFill>
            <a:schemeClr val="accent1"/>
          </a:solidFill>
          <a:ln w="9525">
            <a:solidFill>
              <a:schemeClr val="tx1"/>
            </a:solidFill>
            <a:miter lim="800000"/>
            <a:headEnd/>
            <a:tailEnd/>
          </a:ln>
        </p:spPr>
        <p:txBody>
          <a:bodyPr wrap="none" anchor="ctr"/>
          <a:lstStyle/>
          <a:p>
            <a:pPr algn="ctr"/>
            <a:r>
              <a:rPr lang="zh-CN" altLang="en-US" sz="2000" b="1">
                <a:latin typeface="Garamond"/>
                <a:ea typeface="方正姚体"/>
              </a:rPr>
              <a:t>买方</a:t>
            </a:r>
          </a:p>
          <a:p>
            <a:pPr algn="ctr"/>
            <a:r>
              <a:rPr lang="zh-CN" altLang="en-US" sz="2000" b="1">
                <a:latin typeface="Garamond"/>
                <a:ea typeface="方正姚体"/>
              </a:rPr>
              <a:t>价值链</a:t>
            </a:r>
          </a:p>
        </p:txBody>
      </p:sp>
      <p:sp>
        <p:nvSpPr>
          <p:cNvPr id="101389" name="Line 16"/>
          <p:cNvSpPr>
            <a:spLocks noChangeShapeType="1"/>
          </p:cNvSpPr>
          <p:nvPr/>
        </p:nvSpPr>
        <p:spPr bwMode="auto">
          <a:xfrm>
            <a:off x="2555875" y="3357563"/>
            <a:ext cx="360363" cy="0"/>
          </a:xfrm>
          <a:prstGeom prst="line">
            <a:avLst/>
          </a:prstGeom>
          <a:noFill/>
          <a:ln w="76200">
            <a:solidFill>
              <a:schemeClr val="tx1"/>
            </a:solidFill>
            <a:round/>
            <a:headEnd/>
            <a:tailEnd type="triangle" w="med" len="med"/>
          </a:ln>
        </p:spPr>
        <p:txBody>
          <a:bodyPr/>
          <a:lstStyle/>
          <a:p>
            <a:endParaRPr lang="zh-CN" altLang="en-US"/>
          </a:p>
        </p:txBody>
      </p:sp>
      <p:sp>
        <p:nvSpPr>
          <p:cNvPr id="101390" name="Line 17"/>
          <p:cNvSpPr>
            <a:spLocks noChangeShapeType="1"/>
          </p:cNvSpPr>
          <p:nvPr/>
        </p:nvSpPr>
        <p:spPr bwMode="auto">
          <a:xfrm>
            <a:off x="4716463" y="3429000"/>
            <a:ext cx="360362" cy="0"/>
          </a:xfrm>
          <a:prstGeom prst="line">
            <a:avLst/>
          </a:prstGeom>
          <a:noFill/>
          <a:ln w="76200">
            <a:solidFill>
              <a:schemeClr val="tx1"/>
            </a:solidFill>
            <a:round/>
            <a:headEnd/>
            <a:tailEnd type="triangle" w="med" len="med"/>
          </a:ln>
        </p:spPr>
        <p:txBody>
          <a:bodyPr/>
          <a:lstStyle/>
          <a:p>
            <a:endParaRPr lang="zh-CN" altLang="en-US"/>
          </a:p>
        </p:txBody>
      </p:sp>
      <p:sp>
        <p:nvSpPr>
          <p:cNvPr id="101391" name="Line 18"/>
          <p:cNvSpPr>
            <a:spLocks noChangeShapeType="1"/>
          </p:cNvSpPr>
          <p:nvPr/>
        </p:nvSpPr>
        <p:spPr bwMode="auto">
          <a:xfrm>
            <a:off x="6659563" y="3357563"/>
            <a:ext cx="360362" cy="0"/>
          </a:xfrm>
          <a:prstGeom prst="line">
            <a:avLst/>
          </a:prstGeom>
          <a:noFill/>
          <a:ln w="76200">
            <a:solidFill>
              <a:schemeClr val="tx1"/>
            </a:solidFill>
            <a:round/>
            <a:headEnd/>
            <a:tailEnd type="triangle" w="med" len="med"/>
          </a:ln>
        </p:spPr>
        <p:txBody>
          <a:bodyPr/>
          <a:lstStyle/>
          <a:p>
            <a:endParaRPr lang="zh-CN" altLang="en-US"/>
          </a:p>
        </p:txBody>
      </p:sp>
    </p:spTree>
  </p:cSld>
  <p:clrMapOvr>
    <a:masterClrMapping/>
  </p:clrMapOvr>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430213" y="0"/>
            <a:ext cx="8713787" cy="1143000"/>
          </a:xfrm>
        </p:spPr>
        <p:txBody>
          <a:bodyPr/>
          <a:lstStyle/>
          <a:p>
            <a:pPr marL="54864" indent="0" fontAlgn="auto">
              <a:spcAft>
                <a:spcPts val="0"/>
              </a:spcAft>
              <a:defRPr/>
            </a:pPr>
            <a:r>
              <a:rPr lang="zh-CN" altLang="en-US" dirty="0">
                <a:solidFill>
                  <a:schemeClr val="tx2">
                    <a:tint val="100000"/>
                    <a:shade val="90000"/>
                    <a:satMod val="250000"/>
                    <a:alpha val="100000"/>
                  </a:schemeClr>
                </a:solidFill>
                <a:ea typeface="黑体" pitchFamily="2" charset="-122"/>
                <a:cs typeface="+mj-cs"/>
              </a:rPr>
              <a:t>    价值链的应用</a:t>
            </a:r>
          </a:p>
        </p:txBody>
      </p:sp>
      <p:sp>
        <p:nvSpPr>
          <p:cNvPr id="102402" name="Rectangle 3"/>
          <p:cNvSpPr>
            <a:spLocks noGrp="1" noChangeArrowheads="1"/>
          </p:cNvSpPr>
          <p:nvPr>
            <p:ph type="body" idx="1"/>
          </p:nvPr>
        </p:nvSpPr>
        <p:spPr>
          <a:xfrm>
            <a:off x="0" y="908050"/>
            <a:ext cx="9144000" cy="5327650"/>
          </a:xfrm>
        </p:spPr>
        <p:txBody>
          <a:bodyPr/>
          <a:lstStyle/>
          <a:p>
            <a:pPr>
              <a:lnSpc>
                <a:spcPct val="90000"/>
              </a:lnSpc>
              <a:buFont typeface="Wingdings" pitchFamily="2" charset="2"/>
              <a:buNone/>
            </a:pPr>
            <a:endParaRPr lang="zh-CN" altLang="en-US" sz="2400" b="1" dirty="0"/>
          </a:p>
          <a:p>
            <a:pPr>
              <a:lnSpc>
                <a:spcPct val="90000"/>
              </a:lnSpc>
            </a:pPr>
            <a:r>
              <a:rPr lang="zh-CN" altLang="en-US" sz="4000" b="1" dirty="0"/>
              <a:t>竞争者价值链之间的差异是竞争优势的一个关键来源。</a:t>
            </a:r>
            <a:endParaRPr lang="en-US" altLang="zh-CN" sz="4000" b="1" dirty="0"/>
          </a:p>
          <a:p>
            <a:pPr lvl="1">
              <a:lnSpc>
                <a:spcPct val="90000"/>
              </a:lnSpc>
            </a:pPr>
            <a:r>
              <a:rPr lang="zh-CN" altLang="en-US" sz="3400" b="1" dirty="0"/>
              <a:t>结构差异</a:t>
            </a:r>
          </a:p>
          <a:p>
            <a:pPr>
              <a:lnSpc>
                <a:spcPct val="90000"/>
              </a:lnSpc>
            </a:pPr>
            <a:r>
              <a:rPr lang="zh-CN" altLang="en-US" sz="4000" b="1" dirty="0"/>
              <a:t>企业通过对每项价值活动的逐项分析，发现存在哪些优势、劣势。</a:t>
            </a:r>
          </a:p>
          <a:p>
            <a:pPr>
              <a:lnSpc>
                <a:spcPct val="90000"/>
              </a:lnSpc>
            </a:pPr>
            <a:r>
              <a:rPr lang="zh-CN" altLang="en-US" sz="4000" b="1" dirty="0"/>
              <a:t>分析价值链中各项活动的内部联系，这种联系以整体最优化和协同两种方式给企业带来哪些优势。</a:t>
            </a:r>
          </a:p>
        </p:txBody>
      </p:sp>
    </p:spTree>
  </p:cSld>
  <p:clrMapOvr>
    <a:masterClrMapping/>
  </p:clrMapOvr>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53536"/>
            <a:ext cx="8229600" cy="1143000"/>
          </a:xfrm>
        </p:spPr>
        <p:txBody>
          <a:bodyPr/>
          <a:lstStyle/>
          <a:p>
            <a:pPr marL="54864" indent="0" fontAlgn="auto">
              <a:spcAft>
                <a:spcPts val="0"/>
              </a:spcAft>
              <a:defRPr/>
            </a:pPr>
            <a:r>
              <a:rPr lang="zh-CN" altLang="en-US" dirty="0">
                <a:solidFill>
                  <a:schemeClr val="tx2">
                    <a:tint val="100000"/>
                    <a:shade val="90000"/>
                    <a:satMod val="250000"/>
                    <a:alpha val="100000"/>
                  </a:schemeClr>
                </a:solidFill>
                <a:cs typeface="+mj-cs"/>
              </a:rPr>
              <a:t>内部因素评价矩阵</a:t>
            </a:r>
          </a:p>
        </p:txBody>
      </p:sp>
      <p:sp>
        <p:nvSpPr>
          <p:cNvPr id="3" name="内容占位符 2"/>
          <p:cNvSpPr>
            <a:spLocks noGrp="1"/>
          </p:cNvSpPr>
          <p:nvPr>
            <p:ph idx="1"/>
          </p:nvPr>
        </p:nvSpPr>
        <p:spPr/>
        <p:txBody>
          <a:bodyPr>
            <a:normAutofit lnSpcReduction="10000"/>
          </a:bodyPr>
          <a:lstStyle/>
          <a:p>
            <a:pPr fontAlgn="auto">
              <a:spcBef>
                <a:spcPts val="0"/>
              </a:spcBef>
              <a:spcAft>
                <a:spcPts val="0"/>
              </a:spcAft>
              <a:defRPr/>
            </a:pPr>
            <a:r>
              <a:rPr lang="zh-CN" altLang="en-US" dirty="0">
                <a:cs typeface="+mn-cs"/>
              </a:rPr>
              <a:t>内部因素评价矩阵（</a:t>
            </a:r>
            <a:r>
              <a:rPr lang="en-US" altLang="zh-CN" dirty="0">
                <a:cs typeface="+mn-cs"/>
              </a:rPr>
              <a:t>Internal Factor Evaluation Matrix</a:t>
            </a:r>
            <a:r>
              <a:rPr lang="zh-CN" altLang="en-US" dirty="0">
                <a:cs typeface="+mn-cs"/>
              </a:rPr>
              <a:t>，</a:t>
            </a:r>
            <a:r>
              <a:rPr lang="en-US" altLang="zh-CN" dirty="0">
                <a:cs typeface="+mn-cs"/>
              </a:rPr>
              <a:t>IFE</a:t>
            </a:r>
            <a:r>
              <a:rPr lang="zh-CN" altLang="en-US" dirty="0">
                <a:cs typeface="+mn-cs"/>
              </a:rPr>
              <a:t>矩阵），是一种对内部因素进行分析的工具，其做法是从优势和劣势两个方面找出影响企业未来发展的关键因素，根据各个因素影响程度的大小确定权数，再按企业对各关键因素的有效反应程度对各关键因素进行评分，最后算出企业的总加权分数。通过</a:t>
            </a:r>
            <a:r>
              <a:rPr lang="en-US" altLang="zh-CN" dirty="0">
                <a:cs typeface="+mn-cs"/>
              </a:rPr>
              <a:t>IFE</a:t>
            </a:r>
            <a:r>
              <a:rPr lang="zh-CN" altLang="en-US" dirty="0">
                <a:cs typeface="+mn-cs"/>
              </a:rPr>
              <a:t>，企业就可以把自己所面临的优势与劣势汇总，来刻划出企业的全部引力。 </a:t>
            </a:r>
          </a:p>
          <a:p>
            <a:pPr fontAlgn="auto">
              <a:spcBef>
                <a:spcPts val="0"/>
              </a:spcBef>
              <a:spcAft>
                <a:spcPts val="0"/>
              </a:spcAft>
              <a:defRPr/>
            </a:pPr>
            <a:endParaRPr lang="zh-CN" altLang="en-US" dirty="0">
              <a:cs typeface="+mn-cs"/>
            </a:endParaRPr>
          </a:p>
          <a:p>
            <a:pPr fontAlgn="auto">
              <a:spcBef>
                <a:spcPts val="0"/>
              </a:spcBef>
              <a:spcAft>
                <a:spcPts val="0"/>
              </a:spcAft>
              <a:defRPr/>
            </a:pPr>
            <a:endParaRPr lang="zh-CN" altLang="en-US" dirty="0">
              <a:cs typeface="+mn-cs"/>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04813"/>
            <a:ext cx="8229600" cy="5767387"/>
          </a:xfrm>
        </p:spPr>
        <p:txBody>
          <a:bodyPr>
            <a:normAutofit fontScale="55000" lnSpcReduction="20000"/>
          </a:bodyPr>
          <a:lstStyle/>
          <a:p>
            <a:pPr fontAlgn="auto">
              <a:spcBef>
                <a:spcPts val="0"/>
              </a:spcBef>
              <a:spcAft>
                <a:spcPts val="0"/>
              </a:spcAft>
              <a:defRPr/>
            </a:pPr>
            <a:r>
              <a:rPr lang="zh-CN" altLang="en-US" dirty="0">
                <a:cs typeface="+mn-cs"/>
              </a:rPr>
              <a:t>　</a:t>
            </a:r>
            <a:r>
              <a:rPr lang="en-US" altLang="zh-CN" dirty="0">
                <a:cs typeface="+mn-cs"/>
              </a:rPr>
              <a:t>IFE</a:t>
            </a:r>
            <a:r>
              <a:rPr lang="zh-CN" altLang="en-US" dirty="0">
                <a:cs typeface="+mn-cs"/>
              </a:rPr>
              <a:t>矩阵可以按如下五个步骤来建立： </a:t>
            </a:r>
          </a:p>
          <a:p>
            <a:pPr fontAlgn="auto">
              <a:spcBef>
                <a:spcPts val="0"/>
              </a:spcBef>
              <a:spcAft>
                <a:spcPts val="0"/>
              </a:spcAft>
              <a:defRPr/>
            </a:pPr>
            <a:endParaRPr lang="zh-CN" altLang="en-US" dirty="0">
              <a:cs typeface="+mn-cs"/>
            </a:endParaRPr>
          </a:p>
          <a:p>
            <a:pPr fontAlgn="auto">
              <a:spcBef>
                <a:spcPts val="0"/>
              </a:spcBef>
              <a:spcAft>
                <a:spcPts val="0"/>
              </a:spcAft>
              <a:defRPr/>
            </a:pPr>
            <a:r>
              <a:rPr lang="zh-CN" altLang="en-US" dirty="0">
                <a:cs typeface="+mn-cs"/>
              </a:rPr>
              <a:t>　　</a:t>
            </a:r>
            <a:r>
              <a:rPr lang="en-US" altLang="zh-CN" dirty="0">
                <a:cs typeface="+mn-cs"/>
              </a:rPr>
              <a:t>(1) </a:t>
            </a:r>
            <a:r>
              <a:rPr lang="zh-CN" altLang="en-US" dirty="0">
                <a:cs typeface="+mn-cs"/>
              </a:rPr>
              <a:t>列出在内部分析过程中确定的关键因素。采用</a:t>
            </a:r>
            <a:r>
              <a:rPr lang="en-US" altLang="zh-CN" dirty="0">
                <a:cs typeface="+mn-cs"/>
              </a:rPr>
              <a:t>10~20</a:t>
            </a:r>
            <a:r>
              <a:rPr lang="zh-CN" altLang="en-US" dirty="0">
                <a:cs typeface="+mn-cs"/>
              </a:rPr>
              <a:t>个内部因素，包括优势和弱点两方面的。首先列出优势，然后列出弱点。要尽可能具体，要采用百分比、比率和比较数字。 </a:t>
            </a:r>
          </a:p>
          <a:p>
            <a:pPr fontAlgn="auto">
              <a:spcBef>
                <a:spcPts val="0"/>
              </a:spcBef>
              <a:spcAft>
                <a:spcPts val="0"/>
              </a:spcAft>
              <a:defRPr/>
            </a:pPr>
            <a:endParaRPr lang="zh-CN" altLang="en-US" dirty="0">
              <a:cs typeface="+mn-cs"/>
            </a:endParaRPr>
          </a:p>
          <a:p>
            <a:pPr fontAlgn="auto">
              <a:spcBef>
                <a:spcPts val="0"/>
              </a:spcBef>
              <a:spcAft>
                <a:spcPts val="0"/>
              </a:spcAft>
              <a:defRPr/>
            </a:pPr>
            <a:r>
              <a:rPr lang="zh-CN" altLang="en-US" dirty="0">
                <a:cs typeface="+mn-cs"/>
              </a:rPr>
              <a:t>　　</a:t>
            </a:r>
            <a:r>
              <a:rPr lang="en-US" altLang="zh-CN" dirty="0">
                <a:cs typeface="+mn-cs"/>
              </a:rPr>
              <a:t>(2) </a:t>
            </a:r>
            <a:r>
              <a:rPr lang="zh-CN" altLang="en-US" dirty="0">
                <a:cs typeface="+mn-cs"/>
              </a:rPr>
              <a:t>给每个因素以权重，其数值范围由</a:t>
            </a:r>
            <a:r>
              <a:rPr lang="en-US" altLang="zh-CN" dirty="0">
                <a:cs typeface="+mn-cs"/>
              </a:rPr>
              <a:t>0.0</a:t>
            </a:r>
            <a:r>
              <a:rPr lang="zh-CN" altLang="en-US" dirty="0">
                <a:cs typeface="+mn-cs"/>
              </a:rPr>
              <a:t>（不重要）到</a:t>
            </a:r>
            <a:r>
              <a:rPr lang="en-US" altLang="zh-CN" dirty="0">
                <a:cs typeface="+mn-cs"/>
              </a:rPr>
              <a:t>1.0</a:t>
            </a:r>
            <a:r>
              <a:rPr lang="zh-CN" altLang="en-US" dirty="0">
                <a:cs typeface="+mn-cs"/>
              </a:rPr>
              <a:t>（非常重要）。权重标志着各因素对于企业在产业中成败的影响的相对大小。无论关键因素是内部优势还是弱点，对企业绩效有较大影响的因素就应当得到较高的权重。所有权重之和等于</a:t>
            </a:r>
            <a:r>
              <a:rPr lang="en-US" altLang="zh-CN" dirty="0">
                <a:cs typeface="+mn-cs"/>
              </a:rPr>
              <a:t>1.0</a:t>
            </a:r>
            <a:r>
              <a:rPr lang="zh-CN" altLang="en-US" dirty="0">
                <a:cs typeface="+mn-cs"/>
              </a:rPr>
              <a:t>。 </a:t>
            </a:r>
          </a:p>
          <a:p>
            <a:pPr fontAlgn="auto">
              <a:spcBef>
                <a:spcPts val="0"/>
              </a:spcBef>
              <a:spcAft>
                <a:spcPts val="0"/>
              </a:spcAft>
              <a:defRPr/>
            </a:pPr>
            <a:endParaRPr lang="zh-CN" altLang="en-US" dirty="0">
              <a:cs typeface="+mn-cs"/>
            </a:endParaRPr>
          </a:p>
          <a:p>
            <a:pPr fontAlgn="auto">
              <a:spcBef>
                <a:spcPts val="0"/>
              </a:spcBef>
              <a:spcAft>
                <a:spcPts val="0"/>
              </a:spcAft>
              <a:defRPr/>
            </a:pPr>
            <a:r>
              <a:rPr lang="zh-CN" altLang="en-US" dirty="0">
                <a:cs typeface="+mn-cs"/>
              </a:rPr>
              <a:t>　　</a:t>
            </a:r>
            <a:r>
              <a:rPr lang="en-US" altLang="zh-CN" dirty="0">
                <a:cs typeface="+mn-cs"/>
              </a:rPr>
              <a:t>(3) </a:t>
            </a:r>
            <a:r>
              <a:rPr lang="zh-CN" altLang="en-US" dirty="0">
                <a:cs typeface="+mn-cs"/>
              </a:rPr>
              <a:t>为各因素进行评分。</a:t>
            </a:r>
            <a:r>
              <a:rPr lang="en-US" altLang="zh-CN" dirty="0">
                <a:cs typeface="+mn-cs"/>
              </a:rPr>
              <a:t>1</a:t>
            </a:r>
            <a:r>
              <a:rPr lang="zh-CN" altLang="en-US" dirty="0">
                <a:cs typeface="+mn-cs"/>
              </a:rPr>
              <a:t>分代表重要弱点；</a:t>
            </a:r>
            <a:r>
              <a:rPr lang="en-US" altLang="zh-CN" dirty="0">
                <a:cs typeface="+mn-cs"/>
              </a:rPr>
              <a:t>2</a:t>
            </a:r>
            <a:r>
              <a:rPr lang="zh-CN" altLang="en-US" dirty="0">
                <a:cs typeface="+mn-cs"/>
              </a:rPr>
              <a:t>分代表次要弱点；</a:t>
            </a:r>
            <a:r>
              <a:rPr lang="en-US" altLang="zh-CN" dirty="0">
                <a:cs typeface="+mn-cs"/>
              </a:rPr>
              <a:t>3</a:t>
            </a:r>
            <a:r>
              <a:rPr lang="zh-CN" altLang="en-US" dirty="0">
                <a:cs typeface="+mn-cs"/>
              </a:rPr>
              <a:t>分代表次要优势；</a:t>
            </a:r>
            <a:r>
              <a:rPr lang="en-US" altLang="zh-CN" dirty="0">
                <a:cs typeface="+mn-cs"/>
              </a:rPr>
              <a:t>4</a:t>
            </a:r>
            <a:r>
              <a:rPr lang="zh-CN" altLang="en-US" dirty="0">
                <a:cs typeface="+mn-cs"/>
              </a:rPr>
              <a:t>分代表重要优势。值得注意的是，优势的评分必须为</a:t>
            </a:r>
            <a:r>
              <a:rPr lang="en-US" altLang="zh-CN" dirty="0">
                <a:cs typeface="+mn-cs"/>
              </a:rPr>
              <a:t>4</a:t>
            </a:r>
            <a:r>
              <a:rPr lang="zh-CN" altLang="en-US" dirty="0">
                <a:cs typeface="+mn-cs"/>
              </a:rPr>
              <a:t>或</a:t>
            </a:r>
            <a:r>
              <a:rPr lang="en-US" altLang="zh-CN" dirty="0">
                <a:cs typeface="+mn-cs"/>
              </a:rPr>
              <a:t>3</a:t>
            </a:r>
            <a:r>
              <a:rPr lang="zh-CN" altLang="en-US" dirty="0">
                <a:cs typeface="+mn-cs"/>
              </a:rPr>
              <a:t>，弱点的评分必须为</a:t>
            </a:r>
            <a:r>
              <a:rPr lang="en-US" altLang="zh-CN" dirty="0">
                <a:cs typeface="+mn-cs"/>
              </a:rPr>
              <a:t>1</a:t>
            </a:r>
            <a:r>
              <a:rPr lang="zh-CN" altLang="en-US" dirty="0">
                <a:cs typeface="+mn-cs"/>
              </a:rPr>
              <a:t>或</a:t>
            </a:r>
            <a:r>
              <a:rPr lang="en-US" altLang="zh-CN" dirty="0">
                <a:cs typeface="+mn-cs"/>
              </a:rPr>
              <a:t>2</a:t>
            </a:r>
            <a:r>
              <a:rPr lang="zh-CN" altLang="en-US" dirty="0">
                <a:cs typeface="+mn-cs"/>
              </a:rPr>
              <a:t>。评分以公司为基准，而权重则以产业为基准。 </a:t>
            </a:r>
          </a:p>
          <a:p>
            <a:pPr fontAlgn="auto">
              <a:spcBef>
                <a:spcPts val="0"/>
              </a:spcBef>
              <a:spcAft>
                <a:spcPts val="0"/>
              </a:spcAft>
              <a:defRPr/>
            </a:pPr>
            <a:endParaRPr lang="en-US" altLang="zh-CN" dirty="0">
              <a:cs typeface="+mn-cs"/>
            </a:endParaRPr>
          </a:p>
          <a:p>
            <a:pPr fontAlgn="auto">
              <a:spcBef>
                <a:spcPts val="0"/>
              </a:spcBef>
              <a:spcAft>
                <a:spcPts val="0"/>
              </a:spcAft>
              <a:defRPr/>
            </a:pPr>
            <a:r>
              <a:rPr lang="zh-CN" altLang="en-US" dirty="0">
                <a:cs typeface="+mn-cs"/>
              </a:rPr>
              <a:t>　　</a:t>
            </a:r>
            <a:r>
              <a:rPr lang="en-US" altLang="zh-CN" dirty="0">
                <a:cs typeface="+mn-cs"/>
              </a:rPr>
              <a:t>(4) </a:t>
            </a:r>
            <a:r>
              <a:rPr lang="zh-CN" altLang="en-US" dirty="0">
                <a:cs typeface="+mn-cs"/>
              </a:rPr>
              <a:t>用每个因素的权重乘以它的评分，即得到每个因素的加权分数。 </a:t>
            </a:r>
          </a:p>
          <a:p>
            <a:pPr fontAlgn="auto">
              <a:spcBef>
                <a:spcPts val="0"/>
              </a:spcBef>
              <a:spcAft>
                <a:spcPts val="0"/>
              </a:spcAft>
              <a:defRPr/>
            </a:pPr>
            <a:endParaRPr lang="zh-CN" altLang="en-US" dirty="0">
              <a:cs typeface="+mn-cs"/>
            </a:endParaRPr>
          </a:p>
          <a:p>
            <a:pPr fontAlgn="auto">
              <a:spcBef>
                <a:spcPts val="0"/>
              </a:spcBef>
              <a:spcAft>
                <a:spcPts val="0"/>
              </a:spcAft>
              <a:defRPr/>
            </a:pPr>
            <a:r>
              <a:rPr lang="zh-CN" altLang="en-US" dirty="0">
                <a:cs typeface="+mn-cs"/>
              </a:rPr>
              <a:t>　　</a:t>
            </a:r>
            <a:r>
              <a:rPr lang="en-US" altLang="zh-CN" dirty="0">
                <a:cs typeface="+mn-cs"/>
              </a:rPr>
              <a:t>(5) </a:t>
            </a:r>
            <a:r>
              <a:rPr lang="zh-CN" altLang="en-US" dirty="0">
                <a:cs typeface="+mn-cs"/>
              </a:rPr>
              <a:t>将所有因素的加权分数相加，得到企业的总加权分数。 </a:t>
            </a:r>
          </a:p>
          <a:p>
            <a:pPr fontAlgn="auto">
              <a:spcBef>
                <a:spcPts val="0"/>
              </a:spcBef>
              <a:spcAft>
                <a:spcPts val="0"/>
              </a:spcAft>
              <a:defRPr/>
            </a:pPr>
            <a:endParaRPr lang="zh-CN" altLang="en-US" dirty="0">
              <a:cs typeface="+mn-cs"/>
            </a:endParaRPr>
          </a:p>
          <a:p>
            <a:pPr fontAlgn="auto">
              <a:spcBef>
                <a:spcPts val="0"/>
              </a:spcBef>
              <a:spcAft>
                <a:spcPts val="0"/>
              </a:spcAft>
              <a:defRPr/>
            </a:pPr>
            <a:r>
              <a:rPr lang="zh-CN" altLang="en-US" dirty="0">
                <a:cs typeface="+mn-cs"/>
              </a:rPr>
              <a:t>　　无论</a:t>
            </a:r>
            <a:r>
              <a:rPr lang="en-US" altLang="zh-CN" dirty="0">
                <a:cs typeface="+mn-cs"/>
              </a:rPr>
              <a:t>IFE</a:t>
            </a:r>
            <a:r>
              <a:rPr lang="zh-CN" altLang="en-US" dirty="0">
                <a:cs typeface="+mn-cs"/>
              </a:rPr>
              <a:t>矩阵包含多少因素，总加权分数的范围都是从最低的</a:t>
            </a:r>
            <a:r>
              <a:rPr lang="en-US" altLang="zh-CN" dirty="0">
                <a:cs typeface="+mn-cs"/>
              </a:rPr>
              <a:t>1.0</a:t>
            </a:r>
            <a:r>
              <a:rPr lang="zh-CN" altLang="en-US" dirty="0">
                <a:cs typeface="+mn-cs"/>
              </a:rPr>
              <a:t>到最高的</a:t>
            </a:r>
            <a:r>
              <a:rPr lang="en-US" altLang="zh-CN" dirty="0">
                <a:cs typeface="+mn-cs"/>
              </a:rPr>
              <a:t>4.0</a:t>
            </a:r>
            <a:r>
              <a:rPr lang="zh-CN" altLang="en-US" dirty="0">
                <a:cs typeface="+mn-cs"/>
              </a:rPr>
              <a:t>，平均分为</a:t>
            </a:r>
            <a:r>
              <a:rPr lang="en-US" altLang="zh-CN" dirty="0">
                <a:cs typeface="+mn-cs"/>
              </a:rPr>
              <a:t>2.5</a:t>
            </a:r>
            <a:r>
              <a:rPr lang="zh-CN" altLang="en-US" dirty="0">
                <a:cs typeface="+mn-cs"/>
              </a:rPr>
              <a:t>。总加权分数大大低于</a:t>
            </a:r>
            <a:r>
              <a:rPr lang="en-US" altLang="zh-CN" dirty="0">
                <a:cs typeface="+mn-cs"/>
              </a:rPr>
              <a:t>2.5</a:t>
            </a:r>
            <a:r>
              <a:rPr lang="zh-CN" altLang="en-US" dirty="0">
                <a:cs typeface="+mn-cs"/>
              </a:rPr>
              <a:t>的企业的内部状况处于弱势，而分数大大高于</a:t>
            </a:r>
            <a:r>
              <a:rPr lang="en-US" altLang="zh-CN" dirty="0">
                <a:cs typeface="+mn-cs"/>
              </a:rPr>
              <a:t>2.5</a:t>
            </a:r>
            <a:r>
              <a:rPr lang="zh-CN" altLang="en-US" dirty="0">
                <a:cs typeface="+mn-cs"/>
              </a:rPr>
              <a:t>的企业的内部状况则处于强势。</a:t>
            </a:r>
            <a:r>
              <a:rPr lang="en-US" altLang="zh-CN" dirty="0">
                <a:cs typeface="+mn-cs"/>
              </a:rPr>
              <a:t>IFE</a:t>
            </a:r>
            <a:r>
              <a:rPr lang="zh-CN" altLang="en-US" dirty="0">
                <a:cs typeface="+mn-cs"/>
              </a:rPr>
              <a:t>矩阵应包含</a:t>
            </a:r>
            <a:r>
              <a:rPr lang="en-US" altLang="zh-CN" dirty="0">
                <a:cs typeface="+mn-cs"/>
              </a:rPr>
              <a:t>10~20</a:t>
            </a:r>
            <a:r>
              <a:rPr lang="zh-CN" altLang="en-US" dirty="0">
                <a:cs typeface="+mn-cs"/>
              </a:rPr>
              <a:t>个关键因素，因素数不影响总加权分数的范围，因为权重总和永远等于</a:t>
            </a:r>
            <a:r>
              <a:rPr lang="en-US" altLang="zh-CN" dirty="0">
                <a:cs typeface="+mn-cs"/>
              </a:rPr>
              <a:t>1</a:t>
            </a:r>
            <a:r>
              <a:rPr lang="zh-CN" altLang="en-US" dirty="0">
                <a:cs typeface="+mn-cs"/>
              </a:rPr>
              <a:t>。 </a:t>
            </a:r>
          </a:p>
          <a:p>
            <a:pPr fontAlgn="auto">
              <a:spcBef>
                <a:spcPts val="0"/>
              </a:spcBef>
              <a:spcAft>
                <a:spcPts val="0"/>
              </a:spcAft>
              <a:defRPr/>
            </a:pPr>
            <a:endParaRPr lang="zh-CN" altLang="en-US" dirty="0">
              <a:cs typeface="+mn-cs"/>
            </a:endParaRPr>
          </a:p>
          <a:p>
            <a:pPr fontAlgn="auto">
              <a:spcBef>
                <a:spcPts val="0"/>
              </a:spcBef>
              <a:spcAft>
                <a:spcPts val="0"/>
              </a:spcAft>
              <a:defRPr/>
            </a:pPr>
            <a:endParaRPr lang="zh-CN" altLang="en-US" dirty="0">
              <a:cs typeface="+mn-cs"/>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extLst>
              <p:ext uri="{D42A27DB-BD31-4B8C-83A1-F6EECF244321}">
                <p14:modId xmlns:p14="http://schemas.microsoft.com/office/powerpoint/2010/main" val="591400966"/>
              </p:ext>
            </p:extLst>
          </p:nvPr>
        </p:nvGraphicFramePr>
        <p:xfrm>
          <a:off x="0" y="436563"/>
          <a:ext cx="8820472" cy="6117756"/>
        </p:xfrm>
        <a:graphic>
          <a:graphicData uri="http://schemas.openxmlformats.org/drawingml/2006/table">
            <a:tbl>
              <a:tblPr/>
              <a:tblGrid>
                <a:gridCol w="4211960">
                  <a:extLst>
                    <a:ext uri="{9D8B030D-6E8A-4147-A177-3AD203B41FA5}">
                      <a16:colId xmlns:a16="http://schemas.microsoft.com/office/drawing/2014/main" val="20000"/>
                    </a:ext>
                  </a:extLst>
                </a:gridCol>
                <a:gridCol w="1224136">
                  <a:extLst>
                    <a:ext uri="{9D8B030D-6E8A-4147-A177-3AD203B41FA5}">
                      <a16:colId xmlns:a16="http://schemas.microsoft.com/office/drawing/2014/main" val="20001"/>
                    </a:ext>
                  </a:extLst>
                </a:gridCol>
                <a:gridCol w="1179258">
                  <a:extLst>
                    <a:ext uri="{9D8B030D-6E8A-4147-A177-3AD203B41FA5}">
                      <a16:colId xmlns:a16="http://schemas.microsoft.com/office/drawing/2014/main" val="20002"/>
                    </a:ext>
                  </a:extLst>
                </a:gridCol>
                <a:gridCol w="2205118">
                  <a:extLst>
                    <a:ext uri="{9D8B030D-6E8A-4147-A177-3AD203B41FA5}">
                      <a16:colId xmlns:a16="http://schemas.microsoft.com/office/drawing/2014/main" val="20003"/>
                    </a:ext>
                  </a:extLst>
                </a:gridCol>
              </a:tblGrid>
              <a:tr h="127621">
                <a:tc>
                  <a:txBody>
                    <a:bodyPr/>
                    <a:lstStyle/>
                    <a:p>
                      <a:pPr marL="0"/>
                      <a:r>
                        <a:rPr lang="zh-CN" altLang="en-US" sz="1600" dirty="0">
                          <a:solidFill>
                            <a:srgbClr val="FF0000"/>
                          </a:solidFill>
                        </a:rPr>
                        <a:t>内部优势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zh-CN" altLang="en-US" sz="1600">
                          <a:solidFill>
                            <a:srgbClr val="FF0000"/>
                          </a:solidFill>
                        </a:rPr>
                        <a:t>权数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zh-CN" altLang="en-US" sz="1600">
                          <a:solidFill>
                            <a:srgbClr val="FF0000"/>
                          </a:solidFill>
                        </a:rPr>
                        <a:t>评分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zh-CN" altLang="en-US" sz="1600">
                          <a:solidFill>
                            <a:srgbClr val="FF0000"/>
                          </a:solidFill>
                        </a:rPr>
                        <a:t>加权分数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00"/>
                  </a:ext>
                </a:extLst>
              </a:tr>
              <a:tr h="319053">
                <a:tc>
                  <a:txBody>
                    <a:bodyPr/>
                    <a:lstStyle/>
                    <a:p>
                      <a:pPr marL="0"/>
                      <a:r>
                        <a:rPr lang="en-US" altLang="zh-CN" sz="1600" dirty="0">
                          <a:solidFill>
                            <a:srgbClr val="FF0000"/>
                          </a:solidFill>
                        </a:rPr>
                        <a:t>1</a:t>
                      </a:r>
                      <a:r>
                        <a:rPr lang="zh-CN" altLang="en-US" sz="1600" dirty="0">
                          <a:solidFill>
                            <a:srgbClr val="FF0000"/>
                          </a:solidFill>
                        </a:rPr>
                        <a:t>、美国最大的赌场公司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0.05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4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0.20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01"/>
                  </a:ext>
                </a:extLst>
              </a:tr>
              <a:tr h="510483">
                <a:tc>
                  <a:txBody>
                    <a:bodyPr/>
                    <a:lstStyle/>
                    <a:p>
                      <a:pPr marL="0"/>
                      <a:r>
                        <a:rPr lang="en-US" altLang="zh-CN" sz="1600" dirty="0">
                          <a:solidFill>
                            <a:srgbClr val="FF0000"/>
                          </a:solidFill>
                        </a:rPr>
                        <a:t>2</a:t>
                      </a:r>
                      <a:r>
                        <a:rPr lang="zh-CN" altLang="en-US" sz="1600" dirty="0">
                          <a:solidFill>
                            <a:srgbClr val="FF0000"/>
                          </a:solidFill>
                        </a:rPr>
                        <a:t>、拉斯维加斯的客房入住率达到</a:t>
                      </a:r>
                      <a:r>
                        <a:rPr lang="en-US" altLang="zh-CN" sz="1600" dirty="0">
                          <a:solidFill>
                            <a:srgbClr val="FF0000"/>
                          </a:solidFill>
                        </a:rPr>
                        <a:t>95%</a:t>
                      </a:r>
                      <a:r>
                        <a:rPr lang="zh-CN" altLang="en-US" sz="1600" dirty="0">
                          <a:solidFill>
                            <a:srgbClr val="FF0000"/>
                          </a:solidFill>
                        </a:rPr>
                        <a:t>以上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0.10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4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0.40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319053">
                <a:tc>
                  <a:txBody>
                    <a:bodyPr/>
                    <a:lstStyle/>
                    <a:p>
                      <a:pPr marL="0"/>
                      <a:r>
                        <a:rPr lang="en-US" altLang="zh-CN" sz="1600" dirty="0">
                          <a:solidFill>
                            <a:srgbClr val="FF0000"/>
                          </a:solidFill>
                        </a:rPr>
                        <a:t>3</a:t>
                      </a:r>
                      <a:r>
                        <a:rPr lang="zh-CN" altLang="en-US" sz="1600" dirty="0">
                          <a:solidFill>
                            <a:srgbClr val="FF0000"/>
                          </a:solidFill>
                        </a:rPr>
                        <a:t>、活动现金流增加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0.05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3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0.15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03"/>
                  </a:ext>
                </a:extLst>
              </a:tr>
              <a:tr h="510483">
                <a:tc>
                  <a:txBody>
                    <a:bodyPr/>
                    <a:lstStyle/>
                    <a:p>
                      <a:pPr marL="0"/>
                      <a:r>
                        <a:rPr lang="en-US" altLang="zh-CN" sz="1600" dirty="0">
                          <a:solidFill>
                            <a:srgbClr val="FF0000"/>
                          </a:solidFill>
                        </a:rPr>
                        <a:t>4</a:t>
                      </a:r>
                      <a:r>
                        <a:rPr lang="zh-CN" altLang="en-US" sz="1600" dirty="0">
                          <a:solidFill>
                            <a:srgbClr val="FF0000"/>
                          </a:solidFill>
                        </a:rPr>
                        <a:t>、拥有拉斯维加斯狭长地带一英里的地产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0.15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dirty="0">
                          <a:solidFill>
                            <a:srgbClr val="FF0000"/>
                          </a:solidFill>
                        </a:rPr>
                        <a:t>4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0.60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319053">
                <a:tc>
                  <a:txBody>
                    <a:bodyPr/>
                    <a:lstStyle/>
                    <a:p>
                      <a:pPr marL="0"/>
                      <a:r>
                        <a:rPr lang="en-US" altLang="zh-CN" sz="1600" dirty="0">
                          <a:solidFill>
                            <a:srgbClr val="FF0000"/>
                          </a:solidFill>
                        </a:rPr>
                        <a:t>5</a:t>
                      </a:r>
                      <a:r>
                        <a:rPr lang="zh-CN" altLang="en-US" sz="1600" dirty="0">
                          <a:solidFill>
                            <a:srgbClr val="FF0000"/>
                          </a:solidFill>
                        </a:rPr>
                        <a:t>、强有力的管理队伍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0.05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dirty="0">
                          <a:solidFill>
                            <a:srgbClr val="FF0000"/>
                          </a:solidFill>
                        </a:rPr>
                        <a:t>3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0.15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05"/>
                  </a:ext>
                </a:extLst>
              </a:tr>
              <a:tr h="223337">
                <a:tc>
                  <a:txBody>
                    <a:bodyPr/>
                    <a:lstStyle/>
                    <a:p>
                      <a:pPr marL="0"/>
                      <a:r>
                        <a:rPr lang="en-US" altLang="zh-CN" sz="1600" dirty="0">
                          <a:solidFill>
                            <a:srgbClr val="FF0000"/>
                          </a:solidFill>
                        </a:rPr>
                        <a:t>6</a:t>
                      </a:r>
                      <a:r>
                        <a:rPr lang="zh-CN" altLang="en-US" sz="1600" dirty="0">
                          <a:solidFill>
                            <a:srgbClr val="FF0000"/>
                          </a:solidFill>
                        </a:rPr>
                        <a:t>、员工素质较高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dirty="0">
                          <a:solidFill>
                            <a:srgbClr val="FF0000"/>
                          </a:solidFill>
                        </a:rPr>
                        <a:t>0.05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3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0.15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06"/>
                  </a:ext>
                </a:extLst>
              </a:tr>
              <a:tr h="319053">
                <a:tc>
                  <a:txBody>
                    <a:bodyPr/>
                    <a:lstStyle/>
                    <a:p>
                      <a:pPr marL="0"/>
                      <a:r>
                        <a:rPr lang="en-US" altLang="zh-CN" sz="1600">
                          <a:solidFill>
                            <a:srgbClr val="FF0000"/>
                          </a:solidFill>
                        </a:rPr>
                        <a:t>7</a:t>
                      </a:r>
                      <a:r>
                        <a:rPr lang="zh-CN" altLang="en-US" sz="1600">
                          <a:solidFill>
                            <a:srgbClr val="FF0000"/>
                          </a:solidFill>
                        </a:rPr>
                        <a:t>、大多数场所都有餐厅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dirty="0">
                          <a:solidFill>
                            <a:srgbClr val="FF0000"/>
                          </a:solidFill>
                        </a:rPr>
                        <a:t>0.05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3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0.15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07"/>
                  </a:ext>
                </a:extLst>
              </a:tr>
              <a:tr h="223337">
                <a:tc>
                  <a:txBody>
                    <a:bodyPr/>
                    <a:lstStyle/>
                    <a:p>
                      <a:pPr marL="0"/>
                      <a:r>
                        <a:rPr lang="en-US" altLang="zh-CN" sz="1600">
                          <a:solidFill>
                            <a:srgbClr val="FF0000"/>
                          </a:solidFill>
                        </a:rPr>
                        <a:t>8</a:t>
                      </a:r>
                      <a:r>
                        <a:rPr lang="zh-CN" altLang="en-US" sz="1600">
                          <a:solidFill>
                            <a:srgbClr val="FF0000"/>
                          </a:solidFill>
                        </a:rPr>
                        <a:t>、</a:t>
                      </a:r>
                      <a:r>
                        <a:rPr lang="zh-CN" altLang="en-US" sz="1600">
                          <a:solidFill>
                            <a:srgbClr val="FF0000"/>
                          </a:solidFill>
                          <a:hlinkClick r:id="rId2" action="ppaction://hlinkfile" tooltip="长期计划">
                            <a:extLst>
                              <a:ext uri="{A12FA001-AC4F-418D-AE19-62706E023703}">
                                <ahyp:hlinkClr xmlns:ahyp="http://schemas.microsoft.com/office/drawing/2018/hyperlinkcolor" val="tx"/>
                              </a:ext>
                            </a:extLst>
                          </a:hlinkClick>
                        </a:rPr>
                        <a:t>长期计划</a:t>
                      </a:r>
                      <a:r>
                        <a:rPr lang="zh-CN" altLang="en-US" sz="1600">
                          <a:solidFill>
                            <a:srgbClr val="FF0000"/>
                          </a:solidFill>
                        </a:rPr>
                        <a:t>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0.05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dirty="0">
                          <a:solidFill>
                            <a:srgbClr val="FF0000"/>
                          </a:solidFill>
                        </a:rPr>
                        <a:t>4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0.20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08"/>
                  </a:ext>
                </a:extLst>
              </a:tr>
              <a:tr h="319053">
                <a:tc>
                  <a:txBody>
                    <a:bodyPr/>
                    <a:lstStyle/>
                    <a:p>
                      <a:pPr marL="0"/>
                      <a:r>
                        <a:rPr lang="en-US" altLang="zh-CN" sz="1600">
                          <a:solidFill>
                            <a:srgbClr val="FF0000"/>
                          </a:solidFill>
                        </a:rPr>
                        <a:t>9</a:t>
                      </a:r>
                      <a:r>
                        <a:rPr lang="zh-CN" altLang="en-US" sz="1600">
                          <a:solidFill>
                            <a:srgbClr val="FF0000"/>
                          </a:solidFill>
                        </a:rPr>
                        <a:t>、热情待客的声誉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0.05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dirty="0">
                          <a:solidFill>
                            <a:srgbClr val="FF0000"/>
                          </a:solidFill>
                        </a:rPr>
                        <a:t>3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0.15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09"/>
                  </a:ext>
                </a:extLst>
              </a:tr>
              <a:tr h="223337">
                <a:tc>
                  <a:txBody>
                    <a:bodyPr/>
                    <a:lstStyle/>
                    <a:p>
                      <a:pPr marL="0"/>
                      <a:r>
                        <a:rPr lang="en-US" altLang="zh-CN" sz="1600">
                          <a:solidFill>
                            <a:srgbClr val="FF0000"/>
                          </a:solidFill>
                        </a:rPr>
                        <a:t>10</a:t>
                      </a:r>
                      <a:r>
                        <a:rPr lang="zh-CN" altLang="en-US" sz="1600">
                          <a:solidFill>
                            <a:srgbClr val="FF0000"/>
                          </a:solidFill>
                        </a:rPr>
                        <a:t>、</a:t>
                      </a:r>
                      <a:r>
                        <a:rPr lang="zh-CN" altLang="en-US" sz="1600">
                          <a:solidFill>
                            <a:srgbClr val="FF0000"/>
                          </a:solidFill>
                          <a:hlinkClick r:id="rId3" action="ppaction://hlinkfile" tooltip="财务比率">
                            <a:extLst>
                              <a:ext uri="{A12FA001-AC4F-418D-AE19-62706E023703}">
                                <ahyp:hlinkClr xmlns:ahyp="http://schemas.microsoft.com/office/drawing/2018/hyperlinkcolor" val="tx"/>
                              </a:ext>
                            </a:extLst>
                          </a:hlinkClick>
                        </a:rPr>
                        <a:t>财务比率</a:t>
                      </a:r>
                      <a:r>
                        <a:rPr lang="zh-CN" altLang="en-US" sz="1600">
                          <a:solidFill>
                            <a:srgbClr val="FF0000"/>
                          </a:solidFill>
                        </a:rPr>
                        <a:t>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0.05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dirty="0">
                          <a:solidFill>
                            <a:srgbClr val="FF0000"/>
                          </a:solidFill>
                        </a:rPr>
                        <a:t>3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0.15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10"/>
                  </a:ext>
                </a:extLst>
              </a:tr>
              <a:tr h="127621">
                <a:tc>
                  <a:txBody>
                    <a:bodyPr/>
                    <a:lstStyle/>
                    <a:p>
                      <a:pPr marL="0"/>
                      <a:r>
                        <a:rPr lang="zh-CN" altLang="en-US" sz="1600">
                          <a:solidFill>
                            <a:srgbClr val="FF0000"/>
                          </a:solidFill>
                        </a:rPr>
                        <a:t>内部弱点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zh-CN" altLang="en-US" sz="1600">
                          <a:solidFill>
                            <a:srgbClr val="FF0000"/>
                          </a:solidFill>
                        </a:rPr>
                        <a:t>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zh-CN" altLang="en-US" sz="1600">
                          <a:solidFill>
                            <a:srgbClr val="FF0000"/>
                          </a:solidFill>
                        </a:rPr>
                        <a:t>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zh-CN" altLang="en-US" sz="1600" dirty="0">
                          <a:solidFill>
                            <a:srgbClr val="FF0000"/>
                          </a:solidFill>
                        </a:rPr>
                        <a:t>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11"/>
                  </a:ext>
                </a:extLst>
              </a:tr>
              <a:tr h="414769">
                <a:tc>
                  <a:txBody>
                    <a:bodyPr/>
                    <a:lstStyle/>
                    <a:p>
                      <a:pPr marL="0"/>
                      <a:r>
                        <a:rPr lang="en-US" altLang="zh-CN" sz="1600">
                          <a:solidFill>
                            <a:srgbClr val="FF0000"/>
                          </a:solidFill>
                        </a:rPr>
                        <a:t>1</a:t>
                      </a:r>
                      <a:r>
                        <a:rPr lang="zh-CN" altLang="en-US" sz="1600">
                          <a:solidFill>
                            <a:srgbClr val="FF0000"/>
                          </a:solidFill>
                        </a:rPr>
                        <a:t>、绝大多数房产都位于拉斯维加斯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0.05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1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dirty="0">
                          <a:solidFill>
                            <a:srgbClr val="FF0000"/>
                          </a:solidFill>
                        </a:rPr>
                        <a:t>0.05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12"/>
                  </a:ext>
                </a:extLst>
              </a:tr>
              <a:tr h="319053">
                <a:tc>
                  <a:txBody>
                    <a:bodyPr/>
                    <a:lstStyle/>
                    <a:p>
                      <a:pPr marL="0"/>
                      <a:r>
                        <a:rPr lang="en-US" altLang="zh-CN" sz="1600">
                          <a:solidFill>
                            <a:srgbClr val="FF0000"/>
                          </a:solidFill>
                        </a:rPr>
                        <a:t>2</a:t>
                      </a:r>
                      <a:r>
                        <a:rPr lang="zh-CN" altLang="en-US" sz="1600">
                          <a:solidFill>
                            <a:srgbClr val="FF0000"/>
                          </a:solidFill>
                        </a:rPr>
                        <a:t>、缺乏多样性经营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0.05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2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dirty="0">
                          <a:solidFill>
                            <a:srgbClr val="FF0000"/>
                          </a:solidFill>
                        </a:rPr>
                        <a:t>0.10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13"/>
                  </a:ext>
                </a:extLst>
              </a:tr>
              <a:tr h="414769">
                <a:tc>
                  <a:txBody>
                    <a:bodyPr/>
                    <a:lstStyle/>
                    <a:p>
                      <a:pPr marL="0"/>
                      <a:r>
                        <a:rPr lang="en-US" altLang="zh-CN" sz="1600">
                          <a:solidFill>
                            <a:srgbClr val="FF0000"/>
                          </a:solidFill>
                        </a:rPr>
                        <a:t>3</a:t>
                      </a:r>
                      <a:r>
                        <a:rPr lang="zh-CN" altLang="en-US" sz="1600">
                          <a:solidFill>
                            <a:srgbClr val="FF0000"/>
                          </a:solidFill>
                        </a:rPr>
                        <a:t>、接待家庭游客，而不是赌客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0.05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2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dirty="0">
                          <a:solidFill>
                            <a:srgbClr val="FF0000"/>
                          </a:solidFill>
                        </a:rPr>
                        <a:t>0.10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14"/>
                  </a:ext>
                </a:extLst>
              </a:tr>
              <a:tr h="414769">
                <a:tc>
                  <a:txBody>
                    <a:bodyPr/>
                    <a:lstStyle/>
                    <a:p>
                      <a:pPr marL="0"/>
                      <a:r>
                        <a:rPr lang="en-US" altLang="zh-CN" sz="1600">
                          <a:solidFill>
                            <a:srgbClr val="FF0000"/>
                          </a:solidFill>
                        </a:rPr>
                        <a:t>4</a:t>
                      </a:r>
                      <a:r>
                        <a:rPr lang="zh-CN" altLang="en-US" sz="1600">
                          <a:solidFill>
                            <a:srgbClr val="FF0000"/>
                          </a:solidFill>
                        </a:rPr>
                        <a:t>、位于</a:t>
                      </a:r>
                      <a:r>
                        <a:rPr lang="en-US" sz="1600">
                          <a:solidFill>
                            <a:srgbClr val="FF0000"/>
                          </a:solidFill>
                        </a:rPr>
                        <a:t>Lauyhling</a:t>
                      </a:r>
                      <a:r>
                        <a:rPr lang="zh-CN" altLang="en-US" sz="1600">
                          <a:solidFill>
                            <a:srgbClr val="FF0000"/>
                          </a:solidFill>
                        </a:rPr>
                        <a:t>的房地产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0.10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1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dirty="0">
                          <a:solidFill>
                            <a:srgbClr val="FF0000"/>
                          </a:solidFill>
                        </a:rPr>
                        <a:t>0.10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15"/>
                  </a:ext>
                </a:extLst>
              </a:tr>
              <a:tr h="319053">
                <a:tc>
                  <a:txBody>
                    <a:bodyPr/>
                    <a:lstStyle/>
                    <a:p>
                      <a:pPr marL="0"/>
                      <a:r>
                        <a:rPr lang="en-US" altLang="zh-CN" sz="1600">
                          <a:solidFill>
                            <a:srgbClr val="FF0000"/>
                          </a:solidFill>
                        </a:rPr>
                        <a:t>5</a:t>
                      </a:r>
                      <a:r>
                        <a:rPr lang="zh-CN" altLang="en-US" sz="1600">
                          <a:solidFill>
                            <a:srgbClr val="FF0000"/>
                          </a:solidFill>
                        </a:rPr>
                        <a:t>、近期的合资经营亏损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0.10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1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dirty="0">
                          <a:solidFill>
                            <a:srgbClr val="FF0000"/>
                          </a:solidFill>
                        </a:rPr>
                        <a:t>0.10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16"/>
                  </a:ext>
                </a:extLst>
              </a:tr>
              <a:tr h="127621">
                <a:tc>
                  <a:txBody>
                    <a:bodyPr/>
                    <a:lstStyle/>
                    <a:p>
                      <a:pPr marL="0"/>
                      <a:r>
                        <a:rPr lang="zh-CN" altLang="en-US" sz="1600">
                          <a:solidFill>
                            <a:srgbClr val="FF0000"/>
                          </a:solidFill>
                        </a:rPr>
                        <a:t>总计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1.00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zh-CN" altLang="en-US" sz="1600">
                          <a:solidFill>
                            <a:srgbClr val="FF0000"/>
                          </a:solidFill>
                        </a:rPr>
                        <a:t>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dirty="0">
                          <a:solidFill>
                            <a:srgbClr val="FF0000"/>
                          </a:solidFill>
                        </a:rPr>
                        <a:t>2.75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17"/>
                  </a:ext>
                </a:extLst>
              </a:tr>
            </a:tbl>
          </a:graphicData>
        </a:graphic>
      </p:graphicFrame>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53536"/>
            <a:ext cx="8229600" cy="1143000"/>
          </a:xfrm>
        </p:spPr>
        <p:txBody>
          <a:bodyPr/>
          <a:lstStyle/>
          <a:p>
            <a:pPr marL="54864" indent="0" fontAlgn="auto">
              <a:spcAft>
                <a:spcPts val="0"/>
              </a:spcAft>
              <a:defRPr/>
            </a:pPr>
            <a:r>
              <a:rPr lang="zh-CN" altLang="en-US" dirty="0">
                <a:solidFill>
                  <a:schemeClr val="tx2">
                    <a:tint val="100000"/>
                    <a:shade val="90000"/>
                    <a:satMod val="250000"/>
                    <a:alpha val="100000"/>
                  </a:schemeClr>
                </a:solidFill>
                <a:cs typeface="+mj-cs"/>
              </a:rPr>
              <a:t>竞争态势矩阵</a:t>
            </a:r>
          </a:p>
        </p:txBody>
      </p:sp>
      <p:sp>
        <p:nvSpPr>
          <p:cNvPr id="110594" name="内容占位符 2"/>
          <p:cNvSpPr>
            <a:spLocks noGrp="1"/>
          </p:cNvSpPr>
          <p:nvPr>
            <p:ph idx="1"/>
          </p:nvPr>
        </p:nvSpPr>
        <p:spPr/>
        <p:txBody>
          <a:bodyPr/>
          <a:lstStyle/>
          <a:p>
            <a:r>
              <a:rPr lang="zh-CN" altLang="en-US" dirty="0"/>
              <a:t>竞争态势矩阵（</a:t>
            </a:r>
            <a:r>
              <a:rPr lang="en-US" altLang="zh-CN" dirty="0"/>
              <a:t>Competitive Profile Matrix</a:t>
            </a:r>
            <a:r>
              <a:rPr lang="zh-CN" altLang="en-US" dirty="0"/>
              <a:t>，</a:t>
            </a:r>
            <a:r>
              <a:rPr lang="en-US" altLang="zh-CN" dirty="0"/>
              <a:t>CPM</a:t>
            </a:r>
            <a:r>
              <a:rPr lang="zh-CN" altLang="en-US" dirty="0"/>
              <a:t>矩阵）用于确认企业的主要</a:t>
            </a:r>
            <a:r>
              <a:rPr lang="zh-CN" altLang="en-US" dirty="0">
                <a:hlinkClick r:id="rId2" action="ppaction://hlinkfile" tooltip="竞争对手"/>
              </a:rPr>
              <a:t>竞争对手</a:t>
            </a:r>
            <a:r>
              <a:rPr lang="zh-CN" altLang="en-US" dirty="0"/>
              <a:t>及相对于本企业的战略定位的特殊优势及劣势。</a:t>
            </a:r>
            <a:r>
              <a:rPr lang="en-US" altLang="zh-CN" dirty="0"/>
              <a:t>CPM</a:t>
            </a:r>
            <a:r>
              <a:rPr lang="zh-CN" altLang="en-US" dirty="0"/>
              <a:t>矩阵与</a:t>
            </a:r>
            <a:r>
              <a:rPr lang="en-US" altLang="zh-CN" dirty="0">
                <a:hlinkClick r:id="rId3" action="ppaction://hlinkfile" tooltip="外部因素评价矩阵"/>
              </a:rPr>
              <a:t>EFE</a:t>
            </a:r>
            <a:r>
              <a:rPr lang="zh-CN" altLang="en-US" dirty="0">
                <a:hlinkClick r:id="rId3" action="ppaction://hlinkfile" tooltip="外部因素评价矩阵"/>
              </a:rPr>
              <a:t>矩阵</a:t>
            </a:r>
            <a:r>
              <a:rPr lang="zh-CN" altLang="en-US" dirty="0"/>
              <a:t>的</a:t>
            </a:r>
            <a:r>
              <a:rPr lang="zh-CN" altLang="en-US" dirty="0">
                <a:hlinkClick r:id="rId4" action="ppaction://hlinkfile" tooltip="权重"/>
              </a:rPr>
              <a:t>权重</a:t>
            </a:r>
            <a:r>
              <a:rPr lang="zh-CN" altLang="en-US" dirty="0"/>
              <a:t>和总加权分数的涵义相同。编制矩阵的方法也一样。但是，</a:t>
            </a:r>
            <a:r>
              <a:rPr lang="en-US" altLang="zh-CN" dirty="0"/>
              <a:t>CPM</a:t>
            </a:r>
            <a:r>
              <a:rPr lang="zh-CN" altLang="en-US" dirty="0"/>
              <a:t>矩阵中的关键成功因素既有外部因素又有内部因素，评分则表示优势和弱点。 </a:t>
            </a:r>
          </a:p>
          <a:p>
            <a:endParaRPr lang="zh-CN" altLang="en-US" dirty="0"/>
          </a:p>
        </p:txBody>
      </p:sp>
    </p:spTree>
    <p:extLst>
      <p:ext uri="{BB962C8B-B14F-4D97-AF65-F5344CB8AC3E}">
        <p14:creationId xmlns:p14="http://schemas.microsoft.com/office/powerpoint/2010/main" val="4091589879"/>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53536"/>
            <a:ext cx="8229600" cy="1143000"/>
          </a:xfrm>
        </p:spPr>
        <p:txBody>
          <a:bodyPr/>
          <a:lstStyle/>
          <a:p>
            <a:pPr marL="54864" indent="0" fontAlgn="auto">
              <a:spcAft>
                <a:spcPts val="0"/>
              </a:spcAft>
              <a:defRPr/>
            </a:pPr>
            <a:r>
              <a:rPr lang="zh-CN" altLang="en-US" dirty="0">
                <a:solidFill>
                  <a:schemeClr val="tx2">
                    <a:tint val="100000"/>
                    <a:shade val="90000"/>
                    <a:satMod val="250000"/>
                    <a:alpha val="100000"/>
                  </a:schemeClr>
                </a:solidFill>
                <a:cs typeface="+mj-cs"/>
              </a:rPr>
              <a:t>分析步骤</a:t>
            </a:r>
          </a:p>
        </p:txBody>
      </p:sp>
      <p:sp>
        <p:nvSpPr>
          <p:cNvPr id="3" name="内容占位符 2"/>
          <p:cNvSpPr>
            <a:spLocks noGrp="1"/>
          </p:cNvSpPr>
          <p:nvPr>
            <p:ph idx="1"/>
          </p:nvPr>
        </p:nvSpPr>
        <p:spPr/>
        <p:txBody>
          <a:bodyPr>
            <a:normAutofit fontScale="92500" lnSpcReduction="10000"/>
          </a:bodyPr>
          <a:lstStyle/>
          <a:p>
            <a:pPr fontAlgn="auto">
              <a:spcBef>
                <a:spcPts val="0"/>
              </a:spcBef>
              <a:spcAft>
                <a:spcPts val="0"/>
              </a:spcAft>
              <a:defRPr/>
            </a:pPr>
            <a:r>
              <a:rPr lang="zh-CN" altLang="en-US" dirty="0">
                <a:cs typeface="+mn-cs"/>
              </a:rPr>
              <a:t>　</a:t>
            </a:r>
            <a:r>
              <a:rPr lang="en-US" altLang="zh-CN" dirty="0">
                <a:cs typeface="+mn-cs"/>
              </a:rPr>
              <a:t>	 1.</a:t>
            </a:r>
            <a:r>
              <a:rPr lang="zh-CN" altLang="en-US" dirty="0">
                <a:cs typeface="+mn-cs"/>
              </a:rPr>
              <a:t>确定行业竞争的关键因素； </a:t>
            </a:r>
          </a:p>
          <a:p>
            <a:pPr fontAlgn="auto">
              <a:spcBef>
                <a:spcPts val="0"/>
              </a:spcBef>
              <a:spcAft>
                <a:spcPts val="0"/>
              </a:spcAft>
              <a:defRPr/>
            </a:pPr>
            <a:r>
              <a:rPr lang="zh-CN" altLang="en-US" dirty="0">
                <a:cs typeface="+mn-cs"/>
              </a:rPr>
              <a:t>　　</a:t>
            </a:r>
            <a:r>
              <a:rPr lang="en-US" altLang="zh-CN" dirty="0">
                <a:cs typeface="+mn-cs"/>
              </a:rPr>
              <a:t>2.</a:t>
            </a:r>
            <a:r>
              <a:rPr lang="zh-CN" altLang="en-US" dirty="0">
                <a:cs typeface="+mn-cs"/>
              </a:rPr>
              <a:t>根据每个因素对在该行业中成功</a:t>
            </a:r>
            <a:r>
              <a:rPr lang="zh-CN" altLang="en-US" dirty="0">
                <a:cs typeface="+mn-cs"/>
                <a:hlinkClick r:id="rId2" action="ppaction://hlinkfile" tooltip="经营"/>
              </a:rPr>
              <a:t>经营</a:t>
            </a:r>
            <a:r>
              <a:rPr lang="zh-CN" altLang="en-US" dirty="0">
                <a:cs typeface="+mn-cs"/>
              </a:rPr>
              <a:t>的相对重要程度，确定每个因素的权重，权重和为</a:t>
            </a:r>
            <a:r>
              <a:rPr lang="en-US" altLang="zh-CN" dirty="0">
                <a:cs typeface="+mn-cs"/>
              </a:rPr>
              <a:t>1</a:t>
            </a:r>
            <a:r>
              <a:rPr lang="zh-CN" altLang="en-US" dirty="0">
                <a:cs typeface="+mn-cs"/>
              </a:rPr>
              <a:t>； </a:t>
            </a:r>
          </a:p>
          <a:p>
            <a:pPr fontAlgn="auto">
              <a:spcBef>
                <a:spcPts val="0"/>
              </a:spcBef>
              <a:spcAft>
                <a:spcPts val="0"/>
              </a:spcAft>
              <a:defRPr/>
            </a:pPr>
            <a:r>
              <a:rPr lang="zh-CN" altLang="en-US" dirty="0">
                <a:cs typeface="+mn-cs"/>
              </a:rPr>
              <a:t>　　</a:t>
            </a:r>
            <a:r>
              <a:rPr lang="en-US" altLang="zh-CN" dirty="0">
                <a:cs typeface="+mn-cs"/>
              </a:rPr>
              <a:t>3.</a:t>
            </a:r>
            <a:r>
              <a:rPr lang="zh-CN" altLang="en-US" dirty="0">
                <a:cs typeface="+mn-cs"/>
              </a:rPr>
              <a:t>筛选出关键竞争对手，按每个因素对企业进行平分，分析各自的优势所在和优势大小； </a:t>
            </a:r>
          </a:p>
          <a:p>
            <a:pPr fontAlgn="auto">
              <a:spcBef>
                <a:spcPts val="0"/>
              </a:spcBef>
              <a:spcAft>
                <a:spcPts val="0"/>
              </a:spcAft>
              <a:defRPr/>
            </a:pPr>
            <a:r>
              <a:rPr lang="zh-CN" altLang="en-US" dirty="0">
                <a:cs typeface="+mn-cs"/>
              </a:rPr>
              <a:t>　　</a:t>
            </a:r>
            <a:r>
              <a:rPr lang="en-US" altLang="zh-CN" dirty="0">
                <a:cs typeface="+mn-cs"/>
              </a:rPr>
              <a:t>4.</a:t>
            </a:r>
            <a:r>
              <a:rPr lang="zh-CN" altLang="en-US" dirty="0">
                <a:cs typeface="+mn-cs"/>
              </a:rPr>
              <a:t>将各评价值与相应的权重相乘，得出各竞争者各因素的加权平分值； </a:t>
            </a:r>
          </a:p>
          <a:p>
            <a:pPr fontAlgn="auto">
              <a:spcBef>
                <a:spcPts val="0"/>
              </a:spcBef>
              <a:spcAft>
                <a:spcPts val="0"/>
              </a:spcAft>
              <a:defRPr/>
            </a:pPr>
            <a:r>
              <a:rPr lang="zh-CN" altLang="en-US" dirty="0">
                <a:cs typeface="+mn-cs"/>
              </a:rPr>
              <a:t>　　</a:t>
            </a:r>
            <a:r>
              <a:rPr lang="en-US" altLang="zh-CN" dirty="0">
                <a:cs typeface="+mn-cs"/>
              </a:rPr>
              <a:t>5.</a:t>
            </a:r>
            <a:r>
              <a:rPr lang="zh-CN" altLang="en-US" dirty="0">
                <a:cs typeface="+mn-cs"/>
              </a:rPr>
              <a:t>加总得到企业的总加权分，在总体上判断企业的竞争力； </a:t>
            </a:r>
          </a:p>
          <a:p>
            <a:pPr fontAlgn="auto">
              <a:spcBef>
                <a:spcPts val="0"/>
              </a:spcBef>
              <a:spcAft>
                <a:spcPts val="0"/>
              </a:spcAft>
              <a:defRPr/>
            </a:pPr>
            <a:endParaRPr lang="zh-CN" altLang="en-US" dirty="0">
              <a:cs typeface="+mn-cs"/>
            </a:endParaRPr>
          </a:p>
        </p:txBody>
      </p:sp>
    </p:spTree>
    <p:extLst>
      <p:ext uri="{BB962C8B-B14F-4D97-AF65-F5344CB8AC3E}">
        <p14:creationId xmlns:p14="http://schemas.microsoft.com/office/powerpoint/2010/main" val="3536699158"/>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矩形 3"/>
          <p:cNvSpPr>
            <a:spLocks noChangeArrowheads="1"/>
          </p:cNvSpPr>
          <p:nvPr/>
        </p:nvSpPr>
        <p:spPr bwMode="auto">
          <a:xfrm>
            <a:off x="2286000" y="1858963"/>
            <a:ext cx="4572000" cy="369887"/>
          </a:xfrm>
          <a:prstGeom prst="rect">
            <a:avLst/>
          </a:prstGeom>
          <a:noFill/>
          <a:ln w="9525">
            <a:noFill/>
            <a:miter lim="800000"/>
            <a:headEnd/>
            <a:tailEnd/>
          </a:ln>
        </p:spPr>
        <p:txBody>
          <a:bodyPr>
            <a:spAutoFit/>
          </a:bodyPr>
          <a:lstStyle/>
          <a:p>
            <a:r>
              <a:rPr lang="zh-CN" altLang="en-US">
                <a:latin typeface="Rockwell"/>
                <a:ea typeface="方正姚体"/>
              </a:rPr>
              <a:t>　</a:t>
            </a:r>
          </a:p>
        </p:txBody>
      </p:sp>
      <p:sp>
        <p:nvSpPr>
          <p:cNvPr id="5" name="矩形 4"/>
          <p:cNvSpPr/>
          <p:nvPr/>
        </p:nvSpPr>
        <p:spPr>
          <a:xfrm>
            <a:off x="0" y="188913"/>
            <a:ext cx="8964613" cy="666908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zh-CN" altLang="en-US" dirty="0"/>
              <a:t>的相对重要程度，确定每个因素的权重，权重和为</a:t>
            </a:r>
            <a:r>
              <a:rPr lang="en-US" altLang="zh-CN" dirty="0"/>
              <a:t>1</a:t>
            </a:r>
            <a:r>
              <a:rPr lang="zh-CN" altLang="en-US" dirty="0"/>
              <a:t>；</a:t>
            </a:r>
          </a:p>
        </p:txBody>
      </p:sp>
      <p:pic>
        <p:nvPicPr>
          <p:cNvPr id="112643" name="图片 5" descr="竞争态~1.JPG"/>
          <p:cNvPicPr>
            <a:picLocks noChangeAspect="1"/>
          </p:cNvPicPr>
          <p:nvPr/>
        </p:nvPicPr>
        <p:blipFill>
          <a:blip r:embed="rId2"/>
          <a:srcRect/>
          <a:stretch>
            <a:fillRect/>
          </a:stretch>
        </p:blipFill>
        <p:spPr bwMode="auto">
          <a:xfrm>
            <a:off x="1116013" y="304800"/>
            <a:ext cx="7127875" cy="6443663"/>
          </a:xfrm>
          <a:prstGeom prst="rect">
            <a:avLst/>
          </a:prstGeom>
          <a:noFill/>
          <a:ln w="9525">
            <a:noFill/>
            <a:miter lim="800000"/>
            <a:headEnd/>
            <a:tailEnd/>
          </a:ln>
        </p:spPr>
      </p:pic>
      <p:sp>
        <p:nvSpPr>
          <p:cNvPr id="2" name="文本框 1">
            <a:extLst>
              <a:ext uri="{FF2B5EF4-FFF2-40B4-BE49-F238E27FC236}">
                <a16:creationId xmlns:a16="http://schemas.microsoft.com/office/drawing/2014/main" id="{993E565E-835E-7244-9E7D-74AF3972CB22}"/>
              </a:ext>
            </a:extLst>
          </p:cNvPr>
          <p:cNvSpPr txBox="1"/>
          <p:nvPr/>
        </p:nvSpPr>
        <p:spPr>
          <a:xfrm>
            <a:off x="6300192" y="2924944"/>
            <a:ext cx="1380252" cy="1477328"/>
          </a:xfrm>
          <a:prstGeom prst="rect">
            <a:avLst/>
          </a:prstGeom>
          <a:solidFill>
            <a:schemeClr val="bg1"/>
          </a:solidFill>
        </p:spPr>
        <p:txBody>
          <a:bodyPr wrap="square" rtlCol="0">
            <a:spAutoFit/>
          </a:bodyPr>
          <a:lstStyle/>
          <a:p>
            <a:r>
              <a:rPr kumimoji="1" lang="zh-CN" altLang="en-US" dirty="0"/>
              <a:t>较大优势</a:t>
            </a:r>
            <a:r>
              <a:rPr kumimoji="1" lang="en-US" altLang="zh-CN" dirty="0"/>
              <a:t>4</a:t>
            </a:r>
          </a:p>
          <a:p>
            <a:r>
              <a:rPr kumimoji="1" lang="zh-CN" altLang="en-US" dirty="0"/>
              <a:t>较小优势</a:t>
            </a:r>
            <a:r>
              <a:rPr kumimoji="1" lang="en-US" altLang="zh-CN" dirty="0"/>
              <a:t>3</a:t>
            </a:r>
          </a:p>
          <a:p>
            <a:r>
              <a:rPr kumimoji="1" lang="zh-CN" altLang="en-US" dirty="0"/>
              <a:t>较小劣势</a:t>
            </a:r>
            <a:r>
              <a:rPr kumimoji="1" lang="en-US" altLang="zh-CN" dirty="0"/>
              <a:t>2</a:t>
            </a:r>
          </a:p>
          <a:p>
            <a:r>
              <a:rPr kumimoji="1" lang="zh-CN" altLang="en-US" dirty="0"/>
              <a:t>较大劣势</a:t>
            </a:r>
            <a:r>
              <a:rPr kumimoji="1" lang="en-US" altLang="zh-CN" dirty="0"/>
              <a:t>1</a:t>
            </a:r>
          </a:p>
          <a:p>
            <a:endParaRPr kumimoji="1" lang="zh-CN" altLang="en-US" dirty="0"/>
          </a:p>
        </p:txBody>
      </p:sp>
    </p:spTree>
    <p:extLst>
      <p:ext uri="{BB962C8B-B14F-4D97-AF65-F5344CB8AC3E}">
        <p14:creationId xmlns:p14="http://schemas.microsoft.com/office/powerpoint/2010/main" val="278125892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53536"/>
            <a:ext cx="8229600" cy="1143000"/>
          </a:xfrm>
        </p:spPr>
        <p:txBody>
          <a:bodyPr/>
          <a:lstStyle/>
          <a:p>
            <a:pPr marL="54864" indent="0" fontAlgn="auto">
              <a:spcAft>
                <a:spcPts val="0"/>
              </a:spcAft>
              <a:defRPr/>
            </a:pPr>
            <a:r>
              <a:rPr lang="en-US" altLang="zh-CN" b="1" dirty="0">
                <a:solidFill>
                  <a:schemeClr val="tx2">
                    <a:tint val="100000"/>
                    <a:shade val="90000"/>
                    <a:satMod val="250000"/>
                    <a:alpha val="100000"/>
                  </a:schemeClr>
                </a:solidFill>
                <a:cs typeface="+mj-cs"/>
              </a:rPr>
              <a:t>CPM</a:t>
            </a:r>
            <a:r>
              <a:rPr lang="zh-CN" altLang="en-US" b="1" dirty="0">
                <a:solidFill>
                  <a:schemeClr val="tx2">
                    <a:tint val="100000"/>
                    <a:shade val="90000"/>
                    <a:satMod val="250000"/>
                    <a:alpha val="100000"/>
                  </a:schemeClr>
                </a:solidFill>
                <a:cs typeface="+mj-cs"/>
              </a:rPr>
              <a:t>与</a:t>
            </a:r>
            <a:r>
              <a:rPr lang="en-US" altLang="zh-CN" b="1" dirty="0">
                <a:solidFill>
                  <a:schemeClr val="tx2">
                    <a:tint val="100000"/>
                    <a:shade val="90000"/>
                    <a:satMod val="250000"/>
                    <a:alpha val="100000"/>
                  </a:schemeClr>
                </a:solidFill>
                <a:cs typeface="+mj-cs"/>
              </a:rPr>
              <a:t>EFE</a:t>
            </a:r>
            <a:r>
              <a:rPr lang="zh-CN" altLang="en-US" b="1" dirty="0">
                <a:solidFill>
                  <a:schemeClr val="tx2">
                    <a:tint val="100000"/>
                    <a:shade val="90000"/>
                    <a:satMod val="250000"/>
                    <a:alpha val="100000"/>
                  </a:schemeClr>
                </a:solidFill>
                <a:cs typeface="+mj-cs"/>
              </a:rPr>
              <a:t>之间区别</a:t>
            </a:r>
            <a:endParaRPr lang="zh-CN" altLang="en-US" dirty="0">
              <a:solidFill>
                <a:schemeClr val="tx2">
                  <a:tint val="100000"/>
                  <a:shade val="90000"/>
                  <a:satMod val="250000"/>
                  <a:alpha val="100000"/>
                </a:schemeClr>
              </a:solidFill>
              <a:cs typeface="+mj-cs"/>
            </a:endParaRPr>
          </a:p>
        </p:txBody>
      </p:sp>
      <p:sp>
        <p:nvSpPr>
          <p:cNvPr id="113666" name="内容占位符 2"/>
          <p:cNvSpPr>
            <a:spLocks noGrp="1"/>
          </p:cNvSpPr>
          <p:nvPr>
            <p:ph idx="1"/>
          </p:nvPr>
        </p:nvSpPr>
        <p:spPr/>
        <p:txBody>
          <a:bodyPr/>
          <a:lstStyle/>
          <a:p>
            <a:r>
              <a:rPr lang="en-US" altLang="zh-CN" dirty="0"/>
              <a:t>CPM</a:t>
            </a:r>
            <a:r>
              <a:rPr lang="zh-CN" altLang="en-US" dirty="0"/>
              <a:t>中的关键因素更为笼统，它们不包括具体的或实际的数据，而且可能集中于内部问题； </a:t>
            </a:r>
          </a:p>
          <a:p>
            <a:r>
              <a:rPr lang="en-US" altLang="zh-CN" dirty="0"/>
              <a:t>CPM</a:t>
            </a:r>
            <a:r>
              <a:rPr lang="zh-CN" altLang="en-US" dirty="0"/>
              <a:t>中的因素不像</a:t>
            </a:r>
            <a:r>
              <a:rPr lang="en-US" altLang="zh-CN" dirty="0"/>
              <a:t>EFE</a:t>
            </a:r>
            <a:r>
              <a:rPr lang="zh-CN" altLang="en-US" dirty="0"/>
              <a:t>中的那样划分为机会与威胁两类； </a:t>
            </a:r>
          </a:p>
          <a:p>
            <a:r>
              <a:rPr lang="zh-CN" altLang="en-US" dirty="0"/>
              <a:t>在</a:t>
            </a:r>
            <a:r>
              <a:rPr lang="en-US" altLang="zh-CN" dirty="0"/>
              <a:t>CPM</a:t>
            </a:r>
            <a:r>
              <a:rPr lang="zh-CN" altLang="en-US" dirty="0"/>
              <a:t>中，竞争</a:t>
            </a:r>
            <a:r>
              <a:rPr lang="zh-CN" altLang="en-US" dirty="0">
                <a:hlinkClick r:id="rId2" action="ppaction://hlinkfile" tooltip="公司"/>
              </a:rPr>
              <a:t>公司</a:t>
            </a:r>
            <a:r>
              <a:rPr lang="zh-CN" altLang="en-US" dirty="0"/>
              <a:t>的评分和总加权分数可以与被分析</a:t>
            </a:r>
            <a:r>
              <a:rPr lang="zh-CN" altLang="en-US" dirty="0">
                <a:hlinkClick r:id="rId2" action="ppaction://hlinkfile" tooltip="公司"/>
              </a:rPr>
              <a:t>公司</a:t>
            </a:r>
            <a:r>
              <a:rPr lang="zh-CN" altLang="en-US" dirty="0"/>
              <a:t>的相应指标相比较，这一比较分析可提供重要的内部</a:t>
            </a:r>
            <a:r>
              <a:rPr lang="zh-CN" altLang="en-US" dirty="0">
                <a:hlinkClick r:id="rId3" action="ppaction://hlinkfile" tooltip="战略信息"/>
              </a:rPr>
              <a:t>战略信息</a:t>
            </a:r>
            <a:r>
              <a:rPr lang="zh-CN" altLang="en-US" dirty="0"/>
              <a:t>。 </a:t>
            </a:r>
          </a:p>
          <a:p>
            <a:endParaRPr lang="zh-CN" altLang="en-US" dirty="0"/>
          </a:p>
        </p:txBody>
      </p:sp>
    </p:spTree>
    <p:extLst>
      <p:ext uri="{BB962C8B-B14F-4D97-AF65-F5344CB8AC3E}">
        <p14:creationId xmlns:p14="http://schemas.microsoft.com/office/powerpoint/2010/main" val="1092879910"/>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54864" indent="0" fontAlgn="auto">
              <a:spcAft>
                <a:spcPts val="0"/>
              </a:spcAft>
              <a:defRPr/>
            </a:pPr>
            <a:endParaRPr lang="zh-CN" altLang="en-US">
              <a:solidFill>
                <a:schemeClr val="tx2">
                  <a:tint val="100000"/>
                  <a:shade val="90000"/>
                  <a:satMod val="250000"/>
                  <a:alpha val="100000"/>
                </a:schemeClr>
              </a:solidFill>
              <a:cs typeface="+mj-cs"/>
            </a:endParaRPr>
          </a:p>
        </p:txBody>
      </p:sp>
      <p:graphicFrame>
        <p:nvGraphicFramePr>
          <p:cNvPr id="4" name="表格 3"/>
          <p:cNvGraphicFramePr>
            <a:graphicFrameLocks noGrp="1"/>
          </p:cNvGraphicFramePr>
          <p:nvPr/>
        </p:nvGraphicFramePr>
        <p:xfrm>
          <a:off x="827088" y="1339850"/>
          <a:ext cx="7056789" cy="4267028"/>
        </p:xfrm>
        <a:graphic>
          <a:graphicData uri="http://schemas.openxmlformats.org/drawingml/2006/table">
            <a:tbl>
              <a:tblPr/>
              <a:tblGrid>
                <a:gridCol w="1365832">
                  <a:extLst>
                    <a:ext uri="{9D8B030D-6E8A-4147-A177-3AD203B41FA5}">
                      <a16:colId xmlns:a16="http://schemas.microsoft.com/office/drawing/2014/main" val="20000"/>
                    </a:ext>
                  </a:extLst>
                </a:gridCol>
                <a:gridCol w="682914">
                  <a:extLst>
                    <a:ext uri="{9D8B030D-6E8A-4147-A177-3AD203B41FA5}">
                      <a16:colId xmlns:a16="http://schemas.microsoft.com/office/drawing/2014/main" val="20001"/>
                    </a:ext>
                  </a:extLst>
                </a:gridCol>
                <a:gridCol w="597550">
                  <a:extLst>
                    <a:ext uri="{9D8B030D-6E8A-4147-A177-3AD203B41FA5}">
                      <a16:colId xmlns:a16="http://schemas.microsoft.com/office/drawing/2014/main" val="20002"/>
                    </a:ext>
                  </a:extLst>
                </a:gridCol>
                <a:gridCol w="1147675">
                  <a:extLst>
                    <a:ext uri="{9D8B030D-6E8A-4147-A177-3AD203B41FA5}">
                      <a16:colId xmlns:a16="http://schemas.microsoft.com/office/drawing/2014/main" val="20003"/>
                    </a:ext>
                  </a:extLst>
                </a:gridCol>
                <a:gridCol w="616522">
                  <a:extLst>
                    <a:ext uri="{9D8B030D-6E8A-4147-A177-3AD203B41FA5}">
                      <a16:colId xmlns:a16="http://schemas.microsoft.com/office/drawing/2014/main" val="20004"/>
                    </a:ext>
                  </a:extLst>
                </a:gridCol>
                <a:gridCol w="1128703">
                  <a:extLst>
                    <a:ext uri="{9D8B030D-6E8A-4147-A177-3AD203B41FA5}">
                      <a16:colId xmlns:a16="http://schemas.microsoft.com/office/drawing/2014/main" val="20005"/>
                    </a:ext>
                  </a:extLst>
                </a:gridCol>
                <a:gridCol w="635495">
                  <a:extLst>
                    <a:ext uri="{9D8B030D-6E8A-4147-A177-3AD203B41FA5}">
                      <a16:colId xmlns:a16="http://schemas.microsoft.com/office/drawing/2014/main" val="20006"/>
                    </a:ext>
                  </a:extLst>
                </a:gridCol>
                <a:gridCol w="882098">
                  <a:extLst>
                    <a:ext uri="{9D8B030D-6E8A-4147-A177-3AD203B41FA5}">
                      <a16:colId xmlns:a16="http://schemas.microsoft.com/office/drawing/2014/main" val="20007"/>
                    </a:ext>
                  </a:extLst>
                </a:gridCol>
              </a:tblGrid>
              <a:tr h="482169">
                <a:tc rowSpan="2">
                  <a:txBody>
                    <a:bodyPr/>
                    <a:lstStyle/>
                    <a:p>
                      <a:pPr marL="0"/>
                      <a:r>
                        <a:rPr lang="zh-CN" altLang="en-US" sz="1800" dirty="0">
                          <a:solidFill>
                            <a:schemeClr val="accent3"/>
                          </a:solidFill>
                        </a:rPr>
                        <a:t>关键因素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rowSpan="2">
                  <a:txBody>
                    <a:bodyPr/>
                    <a:lstStyle/>
                    <a:p>
                      <a:pPr marL="0"/>
                      <a:r>
                        <a:rPr lang="zh-CN" altLang="en-US" sz="1800" dirty="0">
                          <a:solidFill>
                            <a:schemeClr val="accent3"/>
                          </a:solidFill>
                        </a:rPr>
                        <a:t>权重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gridSpan="2">
                  <a:txBody>
                    <a:bodyPr/>
                    <a:lstStyle/>
                    <a:p>
                      <a:pPr marL="0"/>
                      <a:r>
                        <a:rPr lang="zh-CN" altLang="en-US" sz="1800">
                          <a:solidFill>
                            <a:schemeClr val="accent3"/>
                          </a:solidFill>
                        </a:rPr>
                        <a:t>被分析的公司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hMerge="1">
                  <a:txBody>
                    <a:bodyPr/>
                    <a:lstStyle/>
                    <a:p>
                      <a:endParaRPr lang="zh-CN" altLang="en-US"/>
                    </a:p>
                  </a:txBody>
                  <a:tcPr/>
                </a:tc>
                <a:tc gridSpan="2">
                  <a:txBody>
                    <a:bodyPr/>
                    <a:lstStyle/>
                    <a:p>
                      <a:pPr marL="0"/>
                      <a:r>
                        <a:rPr lang="zh-CN" altLang="en-US" sz="1800">
                          <a:solidFill>
                            <a:schemeClr val="accent3"/>
                          </a:solidFill>
                        </a:rPr>
                        <a:t>竞争对手</a:t>
                      </a:r>
                      <a:r>
                        <a:rPr lang="en-US" altLang="zh-CN" sz="1800">
                          <a:solidFill>
                            <a:schemeClr val="accent3"/>
                          </a:solidFill>
                        </a:rPr>
                        <a:t>1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hMerge="1">
                  <a:txBody>
                    <a:bodyPr/>
                    <a:lstStyle/>
                    <a:p>
                      <a:endParaRPr lang="zh-CN" altLang="en-US"/>
                    </a:p>
                  </a:txBody>
                  <a:tcPr/>
                </a:tc>
                <a:tc gridSpan="2">
                  <a:txBody>
                    <a:bodyPr/>
                    <a:lstStyle/>
                    <a:p>
                      <a:pPr marL="0"/>
                      <a:r>
                        <a:rPr lang="zh-CN" altLang="en-US" sz="1800">
                          <a:solidFill>
                            <a:schemeClr val="accent3"/>
                          </a:solidFill>
                        </a:rPr>
                        <a:t>竞争对手</a:t>
                      </a:r>
                      <a:r>
                        <a:rPr lang="en-US" altLang="zh-CN" sz="1800">
                          <a:solidFill>
                            <a:schemeClr val="accent3"/>
                          </a:solidFill>
                        </a:rPr>
                        <a:t>2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hMerge="1">
                  <a:txBody>
                    <a:bodyPr/>
                    <a:lstStyle/>
                    <a:p>
                      <a:endParaRPr lang="zh-CN" altLang="en-US"/>
                    </a:p>
                  </a:txBody>
                  <a:tcPr/>
                </a:tc>
                <a:extLst>
                  <a:ext uri="{0D108BD9-81ED-4DB2-BD59-A6C34878D82A}">
                    <a16:rowId xmlns:a16="http://schemas.microsoft.com/office/drawing/2014/main" val="10000"/>
                  </a:ext>
                </a:extLst>
              </a:tr>
              <a:tr h="482169">
                <a:tc vMerge="1">
                  <a:txBody>
                    <a:bodyPr/>
                    <a:lstStyle/>
                    <a:p>
                      <a:endParaRPr lang="zh-CN" altLang="en-US"/>
                    </a:p>
                  </a:txBody>
                  <a:tcPr/>
                </a:tc>
                <a:tc vMerge="1">
                  <a:txBody>
                    <a:bodyPr/>
                    <a:lstStyle/>
                    <a:p>
                      <a:endParaRPr lang="zh-CN" altLang="en-US"/>
                    </a:p>
                  </a:txBody>
                  <a:tcPr/>
                </a:tc>
                <a:tc>
                  <a:txBody>
                    <a:bodyPr/>
                    <a:lstStyle/>
                    <a:p>
                      <a:pPr marL="0"/>
                      <a:r>
                        <a:rPr lang="zh-CN" altLang="en-US" sz="1800" dirty="0">
                          <a:solidFill>
                            <a:schemeClr val="accent3"/>
                          </a:solidFill>
                        </a:rPr>
                        <a:t>评分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zh-CN" altLang="en-US" sz="1800" dirty="0">
                          <a:solidFill>
                            <a:schemeClr val="accent3"/>
                          </a:solidFill>
                        </a:rPr>
                        <a:t>加权分数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zh-CN" altLang="en-US" sz="1800">
                          <a:solidFill>
                            <a:schemeClr val="accent3"/>
                          </a:solidFill>
                        </a:rPr>
                        <a:t>评分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zh-CN" altLang="en-US" sz="1800">
                          <a:solidFill>
                            <a:schemeClr val="accent3"/>
                          </a:solidFill>
                        </a:rPr>
                        <a:t>加权分数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zh-CN" altLang="en-US" sz="1800">
                          <a:solidFill>
                            <a:schemeClr val="accent3"/>
                          </a:solidFill>
                        </a:rPr>
                        <a:t>评分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zh-CN" altLang="en-US" sz="1800">
                          <a:solidFill>
                            <a:schemeClr val="accent3"/>
                          </a:solidFill>
                        </a:rPr>
                        <a:t>加权分数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01"/>
                  </a:ext>
                </a:extLst>
              </a:tr>
              <a:tr h="482169">
                <a:tc>
                  <a:txBody>
                    <a:bodyPr/>
                    <a:lstStyle/>
                    <a:p>
                      <a:pPr marL="0"/>
                      <a:r>
                        <a:rPr lang="zh-CN" altLang="en-US" sz="1800">
                          <a:solidFill>
                            <a:schemeClr val="accent3"/>
                          </a:solidFill>
                        </a:rPr>
                        <a:t>市场份额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800">
                          <a:solidFill>
                            <a:schemeClr val="accent3"/>
                          </a:solidFill>
                        </a:rPr>
                        <a:t>0.2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800" dirty="0">
                          <a:solidFill>
                            <a:schemeClr val="accent3"/>
                          </a:solidFill>
                        </a:rPr>
                        <a:t>3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800" dirty="0">
                          <a:solidFill>
                            <a:schemeClr val="accent3"/>
                          </a:solidFill>
                        </a:rPr>
                        <a:t>0.6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800" dirty="0">
                          <a:solidFill>
                            <a:schemeClr val="accent3"/>
                          </a:solidFill>
                        </a:rPr>
                        <a:t>2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800">
                          <a:solidFill>
                            <a:schemeClr val="accent3"/>
                          </a:solidFill>
                        </a:rPr>
                        <a:t>0.4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800">
                          <a:solidFill>
                            <a:schemeClr val="accent3"/>
                          </a:solidFill>
                        </a:rPr>
                        <a:t>2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800">
                          <a:solidFill>
                            <a:schemeClr val="accent3"/>
                          </a:solidFill>
                        </a:rPr>
                        <a:t>0.4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688814">
                <a:tc>
                  <a:txBody>
                    <a:bodyPr/>
                    <a:lstStyle/>
                    <a:p>
                      <a:pPr marL="0"/>
                      <a:r>
                        <a:rPr lang="zh-CN" altLang="en-US" sz="1800">
                          <a:solidFill>
                            <a:schemeClr val="accent3"/>
                          </a:solidFill>
                          <a:hlinkClick r:id="rId2" action="ppaction://hlinkfile" tooltip="价格竞争力"/>
                        </a:rPr>
                        <a:t>价格竞争力</a:t>
                      </a:r>
                      <a:r>
                        <a:rPr lang="zh-CN" altLang="en-US" sz="1800">
                          <a:solidFill>
                            <a:schemeClr val="accent3"/>
                          </a:solidFill>
                        </a:rPr>
                        <a:t>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800">
                          <a:solidFill>
                            <a:schemeClr val="accent3"/>
                          </a:solidFill>
                        </a:rPr>
                        <a:t>0.2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800">
                          <a:solidFill>
                            <a:schemeClr val="accent3"/>
                          </a:solidFill>
                        </a:rPr>
                        <a:t>1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800" dirty="0">
                          <a:solidFill>
                            <a:schemeClr val="accent3"/>
                          </a:solidFill>
                        </a:rPr>
                        <a:t>0.2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800" dirty="0">
                          <a:solidFill>
                            <a:schemeClr val="accent3"/>
                          </a:solidFill>
                        </a:rPr>
                        <a:t>4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800" dirty="0">
                          <a:solidFill>
                            <a:schemeClr val="accent3"/>
                          </a:solidFill>
                        </a:rPr>
                        <a:t>0.8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800" dirty="0">
                          <a:solidFill>
                            <a:schemeClr val="accent3"/>
                          </a:solidFill>
                        </a:rPr>
                        <a:t>1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800">
                          <a:solidFill>
                            <a:schemeClr val="accent3"/>
                          </a:solidFill>
                        </a:rPr>
                        <a:t>0.2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03"/>
                  </a:ext>
                </a:extLst>
              </a:tr>
              <a:tr h="482169">
                <a:tc>
                  <a:txBody>
                    <a:bodyPr/>
                    <a:lstStyle/>
                    <a:p>
                      <a:pPr marL="0"/>
                      <a:r>
                        <a:rPr lang="zh-CN" altLang="en-US" sz="1800">
                          <a:solidFill>
                            <a:schemeClr val="accent3"/>
                          </a:solidFill>
                          <a:hlinkClick r:id="rId3" action="ppaction://hlinkfile" tooltip="财务状况"/>
                        </a:rPr>
                        <a:t>财务状况</a:t>
                      </a:r>
                      <a:r>
                        <a:rPr lang="zh-CN" altLang="en-US" sz="1800">
                          <a:solidFill>
                            <a:schemeClr val="accent3"/>
                          </a:solidFill>
                        </a:rPr>
                        <a:t>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800">
                          <a:solidFill>
                            <a:schemeClr val="accent3"/>
                          </a:solidFill>
                        </a:rPr>
                        <a:t>0.4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800">
                          <a:solidFill>
                            <a:schemeClr val="accent3"/>
                          </a:solidFill>
                        </a:rPr>
                        <a:t>2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800">
                          <a:solidFill>
                            <a:schemeClr val="accent3"/>
                          </a:solidFill>
                        </a:rPr>
                        <a:t>0.8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800" dirty="0">
                          <a:solidFill>
                            <a:schemeClr val="accent3"/>
                          </a:solidFill>
                        </a:rPr>
                        <a:t>1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800" dirty="0">
                          <a:solidFill>
                            <a:schemeClr val="accent3"/>
                          </a:solidFill>
                        </a:rPr>
                        <a:t>0.4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800" dirty="0">
                          <a:solidFill>
                            <a:schemeClr val="accent3"/>
                          </a:solidFill>
                        </a:rPr>
                        <a:t>4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800" dirty="0">
                          <a:solidFill>
                            <a:schemeClr val="accent3"/>
                          </a:solidFill>
                        </a:rPr>
                        <a:t>1.6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482169">
                <a:tc>
                  <a:txBody>
                    <a:bodyPr/>
                    <a:lstStyle/>
                    <a:p>
                      <a:pPr marL="0"/>
                      <a:r>
                        <a:rPr lang="zh-CN" altLang="en-US" sz="1800">
                          <a:solidFill>
                            <a:schemeClr val="accent3"/>
                          </a:solidFill>
                          <a:hlinkClick r:id="rId4" action="ppaction://hlinkfile" tooltip="产品质量"/>
                        </a:rPr>
                        <a:t>产品质量</a:t>
                      </a:r>
                      <a:r>
                        <a:rPr lang="zh-CN" altLang="en-US" sz="1800">
                          <a:solidFill>
                            <a:schemeClr val="accent3"/>
                          </a:solidFill>
                        </a:rPr>
                        <a:t>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800">
                          <a:solidFill>
                            <a:schemeClr val="accent3"/>
                          </a:solidFill>
                        </a:rPr>
                        <a:t>0.1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800">
                          <a:solidFill>
                            <a:schemeClr val="accent3"/>
                          </a:solidFill>
                        </a:rPr>
                        <a:t>4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800">
                          <a:solidFill>
                            <a:schemeClr val="accent3"/>
                          </a:solidFill>
                        </a:rPr>
                        <a:t>0.4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800">
                          <a:solidFill>
                            <a:schemeClr val="accent3"/>
                          </a:solidFill>
                        </a:rPr>
                        <a:t>3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800">
                          <a:solidFill>
                            <a:schemeClr val="accent3"/>
                          </a:solidFill>
                        </a:rPr>
                        <a:t>0.3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800" dirty="0">
                          <a:solidFill>
                            <a:schemeClr val="accent3"/>
                          </a:solidFill>
                        </a:rPr>
                        <a:t>3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800" dirty="0">
                          <a:solidFill>
                            <a:schemeClr val="accent3"/>
                          </a:solidFill>
                        </a:rPr>
                        <a:t>0.3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05"/>
                  </a:ext>
                </a:extLst>
              </a:tr>
              <a:tr h="688814">
                <a:tc>
                  <a:txBody>
                    <a:bodyPr/>
                    <a:lstStyle/>
                    <a:p>
                      <a:pPr marL="0"/>
                      <a:r>
                        <a:rPr lang="zh-CN" altLang="en-US" sz="1800">
                          <a:solidFill>
                            <a:schemeClr val="accent3"/>
                          </a:solidFill>
                          <a:hlinkClick r:id="rId5" action="ppaction://hlinkfile" tooltip="用户忠诚度"/>
                        </a:rPr>
                        <a:t>用户忠诚度</a:t>
                      </a:r>
                      <a:r>
                        <a:rPr lang="zh-CN" altLang="en-US" sz="1800">
                          <a:solidFill>
                            <a:schemeClr val="accent3"/>
                          </a:solidFill>
                        </a:rPr>
                        <a:t>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800">
                          <a:solidFill>
                            <a:schemeClr val="accent3"/>
                          </a:solidFill>
                        </a:rPr>
                        <a:t>0.1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800">
                          <a:solidFill>
                            <a:schemeClr val="accent3"/>
                          </a:solidFill>
                        </a:rPr>
                        <a:t>3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800">
                          <a:solidFill>
                            <a:schemeClr val="accent3"/>
                          </a:solidFill>
                        </a:rPr>
                        <a:t>0.3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800">
                          <a:solidFill>
                            <a:schemeClr val="accent3"/>
                          </a:solidFill>
                        </a:rPr>
                        <a:t>3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800">
                          <a:solidFill>
                            <a:schemeClr val="accent3"/>
                          </a:solidFill>
                        </a:rPr>
                        <a:t>0.3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800">
                          <a:solidFill>
                            <a:schemeClr val="accent3"/>
                          </a:solidFill>
                        </a:rPr>
                        <a:t>3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800" dirty="0">
                          <a:solidFill>
                            <a:schemeClr val="accent3"/>
                          </a:solidFill>
                        </a:rPr>
                        <a:t>0.3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06"/>
                  </a:ext>
                </a:extLst>
              </a:tr>
              <a:tr h="275525">
                <a:tc>
                  <a:txBody>
                    <a:bodyPr/>
                    <a:lstStyle/>
                    <a:p>
                      <a:pPr marL="0"/>
                      <a:r>
                        <a:rPr lang="zh-CN" altLang="en-US" sz="1800">
                          <a:solidFill>
                            <a:schemeClr val="accent3"/>
                          </a:solidFill>
                        </a:rPr>
                        <a:t>总计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800">
                          <a:solidFill>
                            <a:schemeClr val="accent3"/>
                          </a:solidFill>
                        </a:rPr>
                        <a:t>1.0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zh-CN" altLang="en-US" sz="1800">
                          <a:solidFill>
                            <a:schemeClr val="accent3"/>
                          </a:solidFill>
                        </a:rPr>
                        <a:t>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800">
                          <a:solidFill>
                            <a:schemeClr val="accent3"/>
                          </a:solidFill>
                        </a:rPr>
                        <a:t>2.3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zh-CN" altLang="en-US" sz="1800">
                          <a:solidFill>
                            <a:schemeClr val="accent3"/>
                          </a:solidFill>
                        </a:rPr>
                        <a:t>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800">
                          <a:solidFill>
                            <a:schemeClr val="accent3"/>
                          </a:solidFill>
                        </a:rPr>
                        <a:t>2.2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zh-CN" altLang="en-US" sz="1800">
                          <a:solidFill>
                            <a:schemeClr val="accent3"/>
                          </a:solidFill>
                        </a:rPr>
                        <a:t>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800" dirty="0">
                          <a:solidFill>
                            <a:schemeClr val="accent3"/>
                          </a:solidFill>
                        </a:rPr>
                        <a:t>2.8 </a:t>
                      </a:r>
                    </a:p>
                  </a:txBody>
                  <a:tcPr marL="68881" marR="68881" marT="34441" marB="34441"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07"/>
                  </a:ext>
                </a:extLst>
              </a:tr>
            </a:tbl>
          </a:graphicData>
        </a:graphic>
      </p:graphicFrame>
      <p:sp>
        <p:nvSpPr>
          <p:cNvPr id="114768" name="Rectangle 1"/>
          <p:cNvSpPr>
            <a:spLocks noChangeArrowheads="1"/>
          </p:cNvSpPr>
          <p:nvPr/>
        </p:nvSpPr>
        <p:spPr bwMode="auto">
          <a:xfrm>
            <a:off x="395288" y="5732463"/>
            <a:ext cx="9144000" cy="457200"/>
          </a:xfrm>
          <a:prstGeom prst="rect">
            <a:avLst/>
          </a:prstGeom>
          <a:noFill/>
          <a:ln w="9525">
            <a:noFill/>
            <a:miter lim="800000"/>
            <a:headEnd/>
            <a:tailEnd/>
          </a:ln>
        </p:spPr>
        <p:txBody>
          <a:bodyPr wrap="none" anchor="ctr">
            <a:spAutoFit/>
          </a:bodyPr>
          <a:lstStyle/>
          <a:p>
            <a:r>
              <a:rPr lang="zh-CN" altLang="en-US" dirty="0"/>
              <a:t>评分值涵义：</a:t>
            </a:r>
            <a:r>
              <a:rPr lang="zh-CN" altLang="zh-CN" dirty="0"/>
              <a:t>1</a:t>
            </a:r>
            <a:r>
              <a:rPr lang="zh-CN" altLang="en-US" dirty="0"/>
              <a:t>＝弱，</a:t>
            </a:r>
            <a:r>
              <a:rPr lang="zh-CN" altLang="zh-CN" dirty="0"/>
              <a:t>2</a:t>
            </a:r>
            <a:r>
              <a:rPr lang="zh-CN" altLang="en-US" dirty="0"/>
              <a:t>＝次弱，</a:t>
            </a:r>
            <a:r>
              <a:rPr lang="zh-CN" altLang="zh-CN" dirty="0"/>
              <a:t>3</a:t>
            </a:r>
            <a:r>
              <a:rPr lang="zh-CN" altLang="en-US" dirty="0"/>
              <a:t>＝次强，</a:t>
            </a:r>
            <a:r>
              <a:rPr lang="zh-CN" altLang="zh-CN" dirty="0"/>
              <a:t>4</a:t>
            </a:r>
            <a:r>
              <a:rPr lang="zh-CN" altLang="en-US" dirty="0"/>
              <a:t>＝强。 </a:t>
            </a:r>
          </a:p>
        </p:txBody>
      </p:sp>
    </p:spTree>
    <p:extLst>
      <p:ext uri="{BB962C8B-B14F-4D97-AF65-F5344CB8AC3E}">
        <p14:creationId xmlns:p14="http://schemas.microsoft.com/office/powerpoint/2010/main" val="1966757830"/>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611188" y="0"/>
          <a:ext cx="8208926" cy="6760173"/>
        </p:xfrm>
        <a:graphic>
          <a:graphicData uri="http://schemas.openxmlformats.org/drawingml/2006/table">
            <a:tbl>
              <a:tblPr/>
              <a:tblGrid>
                <a:gridCol w="3240369">
                  <a:extLst>
                    <a:ext uri="{9D8B030D-6E8A-4147-A177-3AD203B41FA5}">
                      <a16:colId xmlns:a16="http://schemas.microsoft.com/office/drawing/2014/main" val="20000"/>
                    </a:ext>
                  </a:extLst>
                </a:gridCol>
                <a:gridCol w="720080">
                  <a:extLst>
                    <a:ext uri="{9D8B030D-6E8A-4147-A177-3AD203B41FA5}">
                      <a16:colId xmlns:a16="http://schemas.microsoft.com/office/drawing/2014/main" val="20001"/>
                    </a:ext>
                  </a:extLst>
                </a:gridCol>
                <a:gridCol w="360041">
                  <a:extLst>
                    <a:ext uri="{9D8B030D-6E8A-4147-A177-3AD203B41FA5}">
                      <a16:colId xmlns:a16="http://schemas.microsoft.com/office/drawing/2014/main" val="20002"/>
                    </a:ext>
                  </a:extLst>
                </a:gridCol>
                <a:gridCol w="576065">
                  <a:extLst>
                    <a:ext uri="{9D8B030D-6E8A-4147-A177-3AD203B41FA5}">
                      <a16:colId xmlns:a16="http://schemas.microsoft.com/office/drawing/2014/main" val="20003"/>
                    </a:ext>
                  </a:extLst>
                </a:gridCol>
                <a:gridCol w="504057">
                  <a:extLst>
                    <a:ext uri="{9D8B030D-6E8A-4147-A177-3AD203B41FA5}">
                      <a16:colId xmlns:a16="http://schemas.microsoft.com/office/drawing/2014/main" val="20004"/>
                    </a:ext>
                  </a:extLst>
                </a:gridCol>
                <a:gridCol w="720077">
                  <a:extLst>
                    <a:ext uri="{9D8B030D-6E8A-4147-A177-3AD203B41FA5}">
                      <a16:colId xmlns:a16="http://schemas.microsoft.com/office/drawing/2014/main" val="20005"/>
                    </a:ext>
                  </a:extLst>
                </a:gridCol>
                <a:gridCol w="288036">
                  <a:extLst>
                    <a:ext uri="{9D8B030D-6E8A-4147-A177-3AD203B41FA5}">
                      <a16:colId xmlns:a16="http://schemas.microsoft.com/office/drawing/2014/main" val="20006"/>
                    </a:ext>
                  </a:extLst>
                </a:gridCol>
                <a:gridCol w="648073">
                  <a:extLst>
                    <a:ext uri="{9D8B030D-6E8A-4147-A177-3AD203B41FA5}">
                      <a16:colId xmlns:a16="http://schemas.microsoft.com/office/drawing/2014/main" val="20007"/>
                    </a:ext>
                  </a:extLst>
                </a:gridCol>
                <a:gridCol w="504056">
                  <a:extLst>
                    <a:ext uri="{9D8B030D-6E8A-4147-A177-3AD203B41FA5}">
                      <a16:colId xmlns:a16="http://schemas.microsoft.com/office/drawing/2014/main" val="20008"/>
                    </a:ext>
                  </a:extLst>
                </a:gridCol>
                <a:gridCol w="648072">
                  <a:extLst>
                    <a:ext uri="{9D8B030D-6E8A-4147-A177-3AD203B41FA5}">
                      <a16:colId xmlns:a16="http://schemas.microsoft.com/office/drawing/2014/main" val="20009"/>
                    </a:ext>
                  </a:extLst>
                </a:gridCol>
              </a:tblGrid>
              <a:tr h="60943">
                <a:tc>
                  <a:txBody>
                    <a:bodyPr/>
                    <a:lstStyle/>
                    <a:p>
                      <a:pPr marL="0"/>
                      <a:endParaRPr lang="zh-CN" altLang="en-US" sz="1800">
                        <a:solidFill>
                          <a:schemeClr val="accent3"/>
                        </a:solidFill>
                      </a:endParaRP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endParaRPr lang="zh-CN" altLang="en-US" sz="1800">
                        <a:solidFill>
                          <a:schemeClr val="accent3"/>
                        </a:solidFill>
                      </a:endParaRP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gridSpan="2">
                  <a:txBody>
                    <a:bodyPr/>
                    <a:lstStyle/>
                    <a:p>
                      <a:pPr marL="0"/>
                      <a:r>
                        <a:rPr lang="en-US" sz="1800" dirty="0">
                          <a:solidFill>
                            <a:schemeClr val="accent3"/>
                          </a:solidFill>
                          <a:hlinkClick r:id="rId2" action="ppaction://hlinkfile" tooltip="Nokia"/>
                        </a:rPr>
                        <a:t>Nokia</a:t>
                      </a:r>
                      <a:endParaRPr lang="en-US" sz="1800" dirty="0">
                        <a:solidFill>
                          <a:schemeClr val="accent3"/>
                        </a:solidFill>
                      </a:endParaRP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zh-CN" altLang="en-US"/>
                    </a:p>
                  </a:txBody>
                  <a:tcPr/>
                </a:tc>
                <a:tc gridSpan="2">
                  <a:txBody>
                    <a:bodyPr/>
                    <a:lstStyle/>
                    <a:p>
                      <a:pPr marL="0"/>
                      <a:r>
                        <a:rPr lang="en-US" sz="1800">
                          <a:solidFill>
                            <a:schemeClr val="accent3"/>
                          </a:solidFill>
                        </a:rPr>
                        <a:t>Moto</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zh-CN" altLang="en-US"/>
                    </a:p>
                  </a:txBody>
                  <a:tcPr/>
                </a:tc>
                <a:tc gridSpan="2">
                  <a:txBody>
                    <a:bodyPr/>
                    <a:lstStyle/>
                    <a:p>
                      <a:pPr marL="0"/>
                      <a:r>
                        <a:rPr lang="en-US" sz="1800">
                          <a:solidFill>
                            <a:schemeClr val="accent3"/>
                          </a:solidFill>
                          <a:hlinkClick r:id="rId3" action="ppaction://hlinkfile" tooltip="TCL"/>
                        </a:rPr>
                        <a:t>TCL</a:t>
                      </a:r>
                      <a:endParaRPr lang="en-US" sz="1800">
                        <a:solidFill>
                          <a:schemeClr val="accent3"/>
                        </a:solidFill>
                      </a:endParaRP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zh-CN" altLang="en-US"/>
                    </a:p>
                  </a:txBody>
                  <a:tcPr/>
                </a:tc>
                <a:tc gridSpan="2">
                  <a:txBody>
                    <a:bodyPr/>
                    <a:lstStyle/>
                    <a:p>
                      <a:pPr marL="0"/>
                      <a:r>
                        <a:rPr lang="en-US" sz="1800">
                          <a:solidFill>
                            <a:schemeClr val="accent3"/>
                          </a:solidFill>
                        </a:rPr>
                        <a:t>B</a:t>
                      </a:r>
                      <a:r>
                        <a:rPr lang="zh-CN" altLang="en-US" sz="1800">
                          <a:solidFill>
                            <a:schemeClr val="accent3"/>
                          </a:solidFill>
                        </a:rPr>
                        <a:t>公司 </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zh-CN" altLang="en-US"/>
                    </a:p>
                  </a:txBody>
                  <a:tcPr/>
                </a:tc>
                <a:extLst>
                  <a:ext uri="{0D108BD9-81ED-4DB2-BD59-A6C34878D82A}">
                    <a16:rowId xmlns:a16="http://schemas.microsoft.com/office/drawing/2014/main" val="10000"/>
                  </a:ext>
                </a:extLst>
              </a:tr>
              <a:tr h="198068">
                <a:tc>
                  <a:txBody>
                    <a:bodyPr/>
                    <a:lstStyle/>
                    <a:p>
                      <a:pPr marL="0"/>
                      <a:r>
                        <a:rPr lang="zh-CN" altLang="en-US" sz="1800">
                          <a:solidFill>
                            <a:schemeClr val="accent3"/>
                          </a:solidFill>
                        </a:rPr>
                        <a:t>关键因素</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zh-CN" altLang="en-US" sz="1800">
                          <a:solidFill>
                            <a:schemeClr val="accent3"/>
                          </a:solidFill>
                        </a:rPr>
                        <a:t>权重</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zh-CN" altLang="en-US" sz="1800">
                          <a:solidFill>
                            <a:schemeClr val="accent3"/>
                          </a:solidFill>
                        </a:rPr>
                        <a:t>评分</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zh-CN" altLang="en-US" sz="1800">
                          <a:solidFill>
                            <a:schemeClr val="accent3"/>
                          </a:solidFill>
                        </a:rPr>
                        <a:t>加权分数</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zh-CN" altLang="en-US" sz="1800">
                          <a:solidFill>
                            <a:schemeClr val="accent3"/>
                          </a:solidFill>
                        </a:rPr>
                        <a:t>评分</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zh-CN" altLang="en-US" sz="1800">
                          <a:solidFill>
                            <a:schemeClr val="accent3"/>
                          </a:solidFill>
                        </a:rPr>
                        <a:t>加权分数</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zh-CN" altLang="en-US" sz="1800">
                          <a:solidFill>
                            <a:schemeClr val="accent3"/>
                          </a:solidFill>
                        </a:rPr>
                        <a:t>评分</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zh-CN" altLang="en-US" sz="1800">
                          <a:solidFill>
                            <a:schemeClr val="accent3"/>
                          </a:solidFill>
                        </a:rPr>
                        <a:t>加权分数</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zh-CN" altLang="en-US" sz="1800">
                          <a:solidFill>
                            <a:schemeClr val="accent3"/>
                          </a:solidFill>
                        </a:rPr>
                        <a:t>评分</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zh-CN" altLang="en-US" sz="1800">
                          <a:solidFill>
                            <a:schemeClr val="accent3"/>
                          </a:solidFill>
                        </a:rPr>
                        <a:t>加权分数 </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extLst>
                  <a:ext uri="{0D108BD9-81ED-4DB2-BD59-A6C34878D82A}">
                    <a16:rowId xmlns:a16="http://schemas.microsoft.com/office/drawing/2014/main" val="10001"/>
                  </a:ext>
                </a:extLst>
              </a:tr>
              <a:tr h="106651">
                <a:tc>
                  <a:txBody>
                    <a:bodyPr/>
                    <a:lstStyle/>
                    <a:p>
                      <a:pPr marL="0"/>
                      <a:r>
                        <a:rPr lang="zh-CN" altLang="en-US" sz="1800">
                          <a:solidFill>
                            <a:schemeClr val="accent3"/>
                          </a:solidFill>
                        </a:rPr>
                        <a:t>广告</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0.08</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2</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0.16</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1</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0.08</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3</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0.24</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3</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0.24 </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198068">
                <a:tc>
                  <a:txBody>
                    <a:bodyPr/>
                    <a:lstStyle/>
                    <a:p>
                      <a:pPr marL="0"/>
                      <a:r>
                        <a:rPr lang="zh-CN" altLang="en-US" sz="1800">
                          <a:solidFill>
                            <a:schemeClr val="accent3"/>
                          </a:solidFill>
                        </a:rPr>
                        <a:t>产品质量</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0.0.0</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4</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0.36</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3</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0.027</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3</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0.027</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2</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0.18 </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extLst>
                  <a:ext uri="{0D108BD9-81ED-4DB2-BD59-A6C34878D82A}">
                    <a16:rowId xmlns:a16="http://schemas.microsoft.com/office/drawing/2014/main" val="10003"/>
                  </a:ext>
                </a:extLst>
              </a:tr>
              <a:tr h="243774">
                <a:tc>
                  <a:txBody>
                    <a:bodyPr/>
                    <a:lstStyle/>
                    <a:p>
                      <a:pPr marL="0"/>
                      <a:r>
                        <a:rPr lang="zh-CN" altLang="en-US" sz="1800">
                          <a:solidFill>
                            <a:schemeClr val="accent3"/>
                          </a:solidFill>
                        </a:rPr>
                        <a:t>价格竞争力</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0.1</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2</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0.02</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2</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0.02</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3</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0.3</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4</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0.04 </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435756">
                <a:tc>
                  <a:txBody>
                    <a:bodyPr/>
                    <a:lstStyle/>
                    <a:p>
                      <a:pPr marL="0"/>
                      <a:r>
                        <a:rPr lang="zh-CN" altLang="en-US" sz="1800">
                          <a:solidFill>
                            <a:schemeClr val="accent3"/>
                          </a:solidFill>
                        </a:rPr>
                        <a:t>分公司对</a:t>
                      </a:r>
                      <a:r>
                        <a:rPr lang="zh-CN" altLang="en-US" sz="1800">
                          <a:solidFill>
                            <a:schemeClr val="accent3"/>
                          </a:solidFill>
                          <a:hlinkClick r:id="rId4" action="ppaction://hlinkfile" tooltip="市场"/>
                        </a:rPr>
                        <a:t>市场</a:t>
                      </a:r>
                      <a:r>
                        <a:rPr lang="zh-CN" altLang="en-US" sz="1800">
                          <a:solidFill>
                            <a:schemeClr val="accent3"/>
                          </a:solidFill>
                        </a:rPr>
                        <a:t>的管理控制能力</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0.0.0</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2</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0.1</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2</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0.1</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3</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0.15</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2</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0.1 </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extLst>
                  <a:ext uri="{0D108BD9-81ED-4DB2-BD59-A6C34878D82A}">
                    <a16:rowId xmlns:a16="http://schemas.microsoft.com/office/drawing/2014/main" val="10005"/>
                  </a:ext>
                </a:extLst>
              </a:tr>
              <a:tr h="432048">
                <a:tc>
                  <a:txBody>
                    <a:bodyPr/>
                    <a:lstStyle/>
                    <a:p>
                      <a:pPr marL="0"/>
                      <a:r>
                        <a:rPr lang="zh-CN" altLang="en-US" sz="1800">
                          <a:solidFill>
                            <a:schemeClr val="accent3"/>
                          </a:solidFill>
                        </a:rPr>
                        <a:t>分公司对渠道规划设计的合理性</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0.05</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3</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0.15</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3</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0.15</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3</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0.15</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3</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0.15 </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r h="380899">
                <a:tc>
                  <a:txBody>
                    <a:bodyPr/>
                    <a:lstStyle/>
                    <a:p>
                      <a:pPr marL="0"/>
                      <a:r>
                        <a:rPr lang="zh-CN" altLang="en-US" sz="1800">
                          <a:solidFill>
                            <a:schemeClr val="accent3"/>
                          </a:solidFill>
                          <a:hlinkClick r:id="rId5" action="ppaction://hlinkfile" tooltip="渠道成员"/>
                        </a:rPr>
                        <a:t>渠道成员</a:t>
                      </a:r>
                      <a:r>
                        <a:rPr lang="zh-CN" altLang="en-US" sz="1800">
                          <a:solidFill>
                            <a:schemeClr val="accent3"/>
                          </a:solidFill>
                        </a:rPr>
                        <a:t>的忠诚度</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0.08</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3</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0.24</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3</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0.024</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4</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0.32</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2</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0.16 </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extLst>
                  <a:ext uri="{0D108BD9-81ED-4DB2-BD59-A6C34878D82A}">
                    <a16:rowId xmlns:a16="http://schemas.microsoft.com/office/drawing/2014/main" val="10007"/>
                  </a:ext>
                </a:extLst>
              </a:tr>
              <a:tr h="289483">
                <a:tc>
                  <a:txBody>
                    <a:bodyPr/>
                    <a:lstStyle/>
                    <a:p>
                      <a:pPr marL="0"/>
                      <a:r>
                        <a:rPr lang="zh-CN" altLang="en-US" sz="1800">
                          <a:solidFill>
                            <a:schemeClr val="accent3"/>
                          </a:solidFill>
                          <a:hlinkClick r:id="rId6" action="ppaction://hlinkfile" tooltip="顾客"/>
                        </a:rPr>
                        <a:t>顾客</a:t>
                      </a:r>
                      <a:r>
                        <a:rPr lang="zh-CN" altLang="en-US" sz="1800">
                          <a:solidFill>
                            <a:schemeClr val="accent3"/>
                          </a:solidFill>
                        </a:rPr>
                        <a:t>的忠诚度</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0.05</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4</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0.2</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3</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0.15</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2</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0.1</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2</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0.10 </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extLst>
                  <a:ext uri="{0D108BD9-81ED-4DB2-BD59-A6C34878D82A}">
                    <a16:rowId xmlns:a16="http://schemas.microsoft.com/office/drawing/2014/main" val="10008"/>
                  </a:ext>
                </a:extLst>
              </a:tr>
              <a:tr h="289483">
                <a:tc>
                  <a:txBody>
                    <a:bodyPr/>
                    <a:lstStyle/>
                    <a:p>
                      <a:pPr marL="0"/>
                      <a:r>
                        <a:rPr lang="zh-CN" altLang="en-US" sz="1800">
                          <a:solidFill>
                            <a:schemeClr val="accent3"/>
                          </a:solidFill>
                        </a:rPr>
                        <a:t>顾客的</a:t>
                      </a:r>
                      <a:r>
                        <a:rPr lang="zh-CN" altLang="en-US" sz="1800">
                          <a:solidFill>
                            <a:schemeClr val="accent3"/>
                          </a:solidFill>
                          <a:hlinkClick r:id="rId7" action="ppaction://hlinkfile" tooltip="满意度"/>
                        </a:rPr>
                        <a:t>满意度</a:t>
                      </a:r>
                      <a:endParaRPr lang="zh-CN" altLang="en-US" sz="1800">
                        <a:solidFill>
                          <a:schemeClr val="accent3"/>
                        </a:solidFill>
                      </a:endParaRP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0.05</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4</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0.2</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3</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0.15</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3</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0.15</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2</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0.1 </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extLst>
                  <a:ext uri="{0D108BD9-81ED-4DB2-BD59-A6C34878D82A}">
                    <a16:rowId xmlns:a16="http://schemas.microsoft.com/office/drawing/2014/main" val="10009"/>
                  </a:ext>
                </a:extLst>
              </a:tr>
              <a:tr h="380899">
                <a:tc>
                  <a:txBody>
                    <a:bodyPr/>
                    <a:lstStyle/>
                    <a:p>
                      <a:pPr marL="0"/>
                      <a:r>
                        <a:rPr lang="zh-CN" altLang="en-US" sz="1800">
                          <a:solidFill>
                            <a:schemeClr val="accent3"/>
                          </a:solidFill>
                        </a:rPr>
                        <a:t>渠道库存的合理性</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0.05</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2</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0.1</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2</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0.1</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3</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0.15</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1</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0.05 </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extLst>
                  <a:ext uri="{0D108BD9-81ED-4DB2-BD59-A6C34878D82A}">
                    <a16:rowId xmlns:a16="http://schemas.microsoft.com/office/drawing/2014/main" val="10010"/>
                  </a:ext>
                </a:extLst>
              </a:tr>
              <a:tr h="563731">
                <a:tc>
                  <a:txBody>
                    <a:bodyPr/>
                    <a:lstStyle/>
                    <a:p>
                      <a:pPr marL="0"/>
                      <a:r>
                        <a:rPr lang="zh-CN" altLang="en-US" sz="1800">
                          <a:solidFill>
                            <a:schemeClr val="accent3"/>
                          </a:solidFill>
                        </a:rPr>
                        <a:t>库存机型构成结构的合理性</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0.03</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2</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0.06</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2</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0.06</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3</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0.0.0</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2</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dirty="0">
                          <a:solidFill>
                            <a:schemeClr val="accent3"/>
                          </a:solidFill>
                        </a:rPr>
                        <a:t>0.06 </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extLst>
                  <a:ext uri="{0D108BD9-81ED-4DB2-BD59-A6C34878D82A}">
                    <a16:rowId xmlns:a16="http://schemas.microsoft.com/office/drawing/2014/main" val="10011"/>
                  </a:ext>
                </a:extLst>
              </a:tr>
              <a:tr h="243774">
                <a:tc>
                  <a:txBody>
                    <a:bodyPr/>
                    <a:lstStyle/>
                    <a:p>
                      <a:pPr marL="0"/>
                      <a:r>
                        <a:rPr lang="zh-CN" altLang="en-US" sz="1800">
                          <a:solidFill>
                            <a:schemeClr val="accent3"/>
                          </a:solidFill>
                        </a:rPr>
                        <a:t>市场占有率</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0.06</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1</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0.06</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1</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0.06</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4</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0.24</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3</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0.18 </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extLst>
                  <a:ext uri="{0D108BD9-81ED-4DB2-BD59-A6C34878D82A}">
                    <a16:rowId xmlns:a16="http://schemas.microsoft.com/office/drawing/2014/main" val="10012"/>
                  </a:ext>
                </a:extLst>
              </a:tr>
              <a:tr h="289483">
                <a:tc>
                  <a:txBody>
                    <a:bodyPr/>
                    <a:lstStyle/>
                    <a:p>
                      <a:pPr marL="0"/>
                      <a:r>
                        <a:rPr lang="zh-CN" altLang="en-US" sz="1800">
                          <a:solidFill>
                            <a:schemeClr val="accent3"/>
                          </a:solidFill>
                        </a:rPr>
                        <a:t>零售商上柜率</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0.08</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2</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0.16</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2</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0.16</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3</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0.24</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2</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0.16 </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extLst>
                  <a:ext uri="{0D108BD9-81ED-4DB2-BD59-A6C34878D82A}">
                    <a16:rowId xmlns:a16="http://schemas.microsoft.com/office/drawing/2014/main" val="10013"/>
                  </a:ext>
                </a:extLst>
              </a:tr>
              <a:tr h="289483">
                <a:tc>
                  <a:txBody>
                    <a:bodyPr/>
                    <a:lstStyle/>
                    <a:p>
                      <a:pPr marL="0"/>
                      <a:r>
                        <a:rPr lang="zh-CN" altLang="en-US" sz="1800">
                          <a:solidFill>
                            <a:schemeClr val="accent3"/>
                          </a:solidFill>
                        </a:rPr>
                        <a:t>零售商主推率</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sz="1800">
                          <a:solidFill>
                            <a:schemeClr val="accent3"/>
                          </a:solidFill>
                        </a:rPr>
                        <a:t>0.O8</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2</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0.16</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2</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sz="1800">
                          <a:solidFill>
                            <a:schemeClr val="accent3"/>
                          </a:solidFill>
                        </a:rPr>
                        <a:t>O.16</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2</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0.16</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2</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0.16 </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extLst>
                  <a:ext uri="{0D108BD9-81ED-4DB2-BD59-A6C34878D82A}">
                    <a16:rowId xmlns:a16="http://schemas.microsoft.com/office/drawing/2014/main" val="10014"/>
                  </a:ext>
                </a:extLst>
              </a:tr>
              <a:tr h="335191">
                <a:tc>
                  <a:txBody>
                    <a:bodyPr/>
                    <a:lstStyle/>
                    <a:p>
                      <a:pPr marL="0"/>
                      <a:r>
                        <a:rPr lang="zh-CN" altLang="en-US" sz="1800">
                          <a:solidFill>
                            <a:schemeClr val="accent3"/>
                          </a:solidFill>
                        </a:rPr>
                        <a:t>硬终端建设情况</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0.05</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3</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0.15</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3</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0.15</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3</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0.15</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4</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0.02 </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extLst>
                  <a:ext uri="{0D108BD9-81ED-4DB2-BD59-A6C34878D82A}">
                    <a16:rowId xmlns:a16="http://schemas.microsoft.com/office/drawing/2014/main" val="10015"/>
                  </a:ext>
                </a:extLst>
              </a:tr>
              <a:tr h="518022">
                <a:tc>
                  <a:txBody>
                    <a:bodyPr/>
                    <a:lstStyle/>
                    <a:p>
                      <a:pPr marL="0"/>
                      <a:r>
                        <a:rPr lang="zh-CN" altLang="en-US" sz="1800">
                          <a:solidFill>
                            <a:schemeClr val="accent3"/>
                          </a:solidFill>
                        </a:rPr>
                        <a:t>软终端建设情况</a:t>
                      </a:r>
                      <a:r>
                        <a:rPr lang="en-US" altLang="zh-CN" sz="1800">
                          <a:solidFill>
                            <a:schemeClr val="accent3"/>
                          </a:solidFill>
                        </a:rPr>
                        <a:t>(</a:t>
                      </a:r>
                      <a:r>
                        <a:rPr lang="zh-CN" altLang="en-US" sz="1800">
                          <a:solidFill>
                            <a:schemeClr val="accent3"/>
                          </a:solidFill>
                          <a:hlinkClick r:id="rId8" action="ppaction://hlinkfile" tooltip="人员推广"/>
                        </a:rPr>
                        <a:t>人员推广</a:t>
                      </a:r>
                      <a:r>
                        <a:rPr lang="en-US" altLang="zh-CN" sz="1800">
                          <a:solidFill>
                            <a:schemeClr val="accent3"/>
                          </a:solidFill>
                        </a:rPr>
                        <a:t>)</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0.05</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1</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0.05</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1</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0.0.0</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3</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0.15</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4</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0.02 </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extLst>
                  <a:ext uri="{0D108BD9-81ED-4DB2-BD59-A6C34878D82A}">
                    <a16:rowId xmlns:a16="http://schemas.microsoft.com/office/drawing/2014/main" val="10016"/>
                  </a:ext>
                </a:extLst>
              </a:tr>
              <a:tr h="289483">
                <a:tc>
                  <a:txBody>
                    <a:bodyPr/>
                    <a:lstStyle/>
                    <a:p>
                      <a:pPr marL="0"/>
                      <a:r>
                        <a:rPr lang="zh-CN" altLang="en-US" sz="1800">
                          <a:solidFill>
                            <a:schemeClr val="accent3"/>
                          </a:solidFill>
                        </a:rPr>
                        <a:t>促销活动情况</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0.05</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3</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0.15</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3</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0.15</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3</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0.15</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3</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0.15 </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extLst>
                  <a:ext uri="{0D108BD9-81ED-4DB2-BD59-A6C34878D82A}">
                    <a16:rowId xmlns:a16="http://schemas.microsoft.com/office/drawing/2014/main" val="10017"/>
                  </a:ext>
                </a:extLst>
              </a:tr>
              <a:tr h="106651">
                <a:tc>
                  <a:txBody>
                    <a:bodyPr/>
                    <a:lstStyle/>
                    <a:p>
                      <a:pPr marL="0"/>
                      <a:r>
                        <a:rPr lang="zh-CN" altLang="en-US" sz="1800">
                          <a:solidFill>
                            <a:schemeClr val="accent3"/>
                          </a:solidFill>
                        </a:rPr>
                        <a:t>总计</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1</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endParaRPr lang="zh-CN" altLang="en-US" sz="1800">
                        <a:solidFill>
                          <a:schemeClr val="accent3"/>
                        </a:solidFill>
                      </a:endParaRP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2.5</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endParaRPr lang="zh-CN" altLang="en-US" sz="1800">
                        <a:solidFill>
                          <a:schemeClr val="accent3"/>
                        </a:solidFill>
                      </a:endParaRP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2.23</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endParaRPr lang="zh-CN" altLang="en-US" sz="1800">
                        <a:solidFill>
                          <a:schemeClr val="accent3"/>
                        </a:solidFill>
                      </a:endParaRP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a:solidFill>
                            <a:schemeClr val="accent3"/>
                          </a:solidFill>
                        </a:rPr>
                        <a:t>3.01</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endParaRPr lang="zh-CN" altLang="en-US" sz="1800">
                        <a:solidFill>
                          <a:schemeClr val="accent3"/>
                        </a:solidFill>
                      </a:endParaRP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marL="0"/>
                      <a:r>
                        <a:rPr lang="en-US" altLang="zh-CN" sz="1800" dirty="0">
                          <a:solidFill>
                            <a:schemeClr val="accent3"/>
                          </a:solidFill>
                        </a:rPr>
                        <a:t>2.59 </a:t>
                      </a:r>
                    </a:p>
                  </a:txBody>
                  <a:tcPr marL="10237" marR="10237" marT="5118" marB="5118"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extLst>
                  <a:ext uri="{0D108BD9-81ED-4DB2-BD59-A6C34878D82A}">
                    <a16:rowId xmlns:a16="http://schemas.microsoft.com/office/drawing/2014/main" val="10018"/>
                  </a:ext>
                </a:extLst>
              </a:tr>
            </a:tbl>
          </a:graphicData>
        </a:graphic>
      </p:graphicFrame>
    </p:spTree>
    <p:extLst>
      <p:ext uri="{BB962C8B-B14F-4D97-AF65-F5344CB8AC3E}">
        <p14:creationId xmlns:p14="http://schemas.microsoft.com/office/powerpoint/2010/main" val="2386505115"/>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2133600" y="0"/>
            <a:ext cx="7010400" cy="981075"/>
          </a:xfrm>
        </p:spPr>
        <p:txBody>
          <a:bodyPr/>
          <a:lstStyle/>
          <a:p>
            <a:pPr marL="54864" indent="0" fontAlgn="auto">
              <a:spcAft>
                <a:spcPts val="0"/>
              </a:spcAft>
              <a:defRPr/>
            </a:pPr>
            <a:r>
              <a:rPr lang="zh-CN" altLang="en-US" dirty="0">
                <a:solidFill>
                  <a:schemeClr val="tx2">
                    <a:tint val="100000"/>
                    <a:shade val="90000"/>
                    <a:satMod val="250000"/>
                    <a:alpha val="100000"/>
                  </a:schemeClr>
                </a:solidFill>
                <a:ea typeface="黑体" pitchFamily="2" charset="-122"/>
                <a:cs typeface="+mj-cs"/>
              </a:rPr>
              <a:t>     何谓</a:t>
            </a:r>
            <a:r>
              <a:rPr lang="en-US" altLang="zh-CN" dirty="0">
                <a:solidFill>
                  <a:schemeClr val="tx2">
                    <a:tint val="100000"/>
                    <a:shade val="90000"/>
                    <a:satMod val="250000"/>
                    <a:alpha val="100000"/>
                  </a:schemeClr>
                </a:solidFill>
                <a:ea typeface="黑体" pitchFamily="2" charset="-122"/>
                <a:cs typeface="+mj-cs"/>
              </a:rPr>
              <a:t>SWOT</a:t>
            </a:r>
            <a:r>
              <a:rPr lang="zh-CN" altLang="en-US" dirty="0">
                <a:solidFill>
                  <a:schemeClr val="tx2">
                    <a:tint val="100000"/>
                    <a:shade val="90000"/>
                    <a:satMod val="250000"/>
                    <a:alpha val="100000"/>
                  </a:schemeClr>
                </a:solidFill>
                <a:ea typeface="黑体" pitchFamily="2" charset="-122"/>
                <a:cs typeface="+mj-cs"/>
              </a:rPr>
              <a:t>分析？</a:t>
            </a:r>
          </a:p>
        </p:txBody>
      </p:sp>
      <p:sp>
        <p:nvSpPr>
          <p:cNvPr id="107522" name="Rectangle 3"/>
          <p:cNvSpPr>
            <a:spLocks noGrp="1" noChangeArrowheads="1"/>
          </p:cNvSpPr>
          <p:nvPr>
            <p:ph type="body" idx="1"/>
          </p:nvPr>
        </p:nvSpPr>
        <p:spPr/>
        <p:txBody>
          <a:bodyPr/>
          <a:lstStyle/>
          <a:p>
            <a:r>
              <a:rPr lang="en-US" altLang="zh-CN" sz="2000" dirty="0"/>
              <a:t> </a:t>
            </a:r>
            <a:r>
              <a:rPr lang="en-US" altLang="zh-CN" b="1" dirty="0"/>
              <a:t>SWOT</a:t>
            </a:r>
            <a:r>
              <a:rPr lang="zh-CN" altLang="en-US" b="1" dirty="0"/>
              <a:t>分析就是系统地确认企业面临的优势（</a:t>
            </a:r>
            <a:r>
              <a:rPr lang="en-US" altLang="zh-CN" b="1" dirty="0"/>
              <a:t>Strength</a:t>
            </a:r>
            <a:r>
              <a:rPr lang="zh-CN" altLang="en-US" b="1" dirty="0"/>
              <a:t>）和劣势（</a:t>
            </a:r>
            <a:r>
              <a:rPr lang="en-US" altLang="zh-CN" b="1" dirty="0"/>
              <a:t>Weakness</a:t>
            </a:r>
            <a:r>
              <a:rPr lang="zh-CN" altLang="en-US" b="1" dirty="0"/>
              <a:t>）、机会（</a:t>
            </a:r>
            <a:r>
              <a:rPr lang="en-US" altLang="zh-CN" b="1" dirty="0"/>
              <a:t>Opportunity</a:t>
            </a:r>
            <a:r>
              <a:rPr lang="zh-CN" altLang="en-US" b="1" dirty="0"/>
              <a:t>）和威胁</a:t>
            </a:r>
            <a:r>
              <a:rPr lang="en-US" altLang="zh-CN" b="1" dirty="0"/>
              <a:t>(Threat)</a:t>
            </a:r>
            <a:r>
              <a:rPr lang="zh-CN" altLang="en-US" b="1" dirty="0"/>
              <a:t>，并据此提出企业战略的一种有效方法。</a:t>
            </a:r>
            <a:endParaRPr lang="en-US" altLang="zh-CN" b="1" dirty="0"/>
          </a:p>
          <a:p>
            <a:r>
              <a:rPr lang="zh-CN" altLang="en-US" sz="2800" b="1" dirty="0"/>
              <a:t>决策准则</a:t>
            </a:r>
            <a:endParaRPr lang="en-US" altLang="zh-CN" sz="2800" b="1" dirty="0"/>
          </a:p>
          <a:p>
            <a:pPr lvl="1"/>
            <a:r>
              <a:rPr lang="zh-CN" altLang="en-US" sz="2200" b="1" dirty="0"/>
              <a:t>发挥优势</a:t>
            </a:r>
            <a:endParaRPr lang="en-US" altLang="zh-CN" sz="2200" b="1" dirty="0"/>
          </a:p>
          <a:p>
            <a:pPr lvl="1"/>
            <a:r>
              <a:rPr lang="zh-CN" altLang="en-US" sz="2200" b="1" dirty="0"/>
              <a:t>弥补劣势</a:t>
            </a:r>
            <a:endParaRPr lang="en-US" altLang="zh-CN" sz="2200" b="1" dirty="0"/>
          </a:p>
          <a:p>
            <a:pPr lvl="1"/>
            <a:r>
              <a:rPr lang="zh-CN" altLang="en-US" sz="2200" b="1" dirty="0"/>
              <a:t>抓住机遇</a:t>
            </a:r>
            <a:endParaRPr lang="en-US" altLang="zh-CN" sz="2200" b="1" dirty="0"/>
          </a:p>
          <a:p>
            <a:pPr lvl="1"/>
            <a:r>
              <a:rPr lang="zh-CN" altLang="en-US" sz="2200" b="1" dirty="0"/>
              <a:t>规避威胁</a:t>
            </a:r>
          </a:p>
          <a:p>
            <a:pPr algn="just">
              <a:buFont typeface="Wingdings" pitchFamily="2" charset="2"/>
              <a:buNone/>
            </a:pPr>
            <a:endParaRPr lang="zh-CN" altLang="en-US" sz="4400" b="1" dirty="0"/>
          </a:p>
        </p:txBody>
      </p:sp>
    </p:spTree>
  </p:cSld>
  <p:clrMapOvr>
    <a:masterClrMapping/>
  </p:clrMapOvr>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F634AC-9BA5-6848-A6C7-B2239BF7FDDB}"/>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A5F2A875-22FF-7948-86A6-A0DA6F8529FC}"/>
              </a:ext>
            </a:extLst>
          </p:cNvPr>
          <p:cNvSpPr>
            <a:spLocks noGrp="1"/>
          </p:cNvSpPr>
          <p:nvPr>
            <p:ph idx="1"/>
          </p:nvPr>
        </p:nvSpPr>
        <p:spPr/>
        <p:txBody>
          <a:bodyPr/>
          <a:lstStyle/>
          <a:p>
            <a:r>
              <a:rPr kumimoji="1" lang="zh-CN" altLang="en-US" dirty="0"/>
              <a:t>了解自己，发现优势，利用优势</a:t>
            </a:r>
            <a:endParaRPr kumimoji="1" lang="en-US" altLang="zh-CN" dirty="0"/>
          </a:p>
          <a:p>
            <a:r>
              <a:rPr kumimoji="1" lang="zh-CN" altLang="en-US" dirty="0"/>
              <a:t>所有组织都只能在某些业务职能方面具有优势或者劣势</a:t>
            </a:r>
            <a:endParaRPr kumimoji="1" lang="en-US" altLang="zh-CN" dirty="0"/>
          </a:p>
          <a:p>
            <a:r>
              <a:rPr kumimoji="1" lang="zh-CN" altLang="en-US" dirty="0"/>
              <a:t>发现或形成独特竞争力</a:t>
            </a:r>
          </a:p>
        </p:txBody>
      </p:sp>
      <p:sp>
        <p:nvSpPr>
          <p:cNvPr id="4" name="文本框 3">
            <a:extLst>
              <a:ext uri="{FF2B5EF4-FFF2-40B4-BE49-F238E27FC236}">
                <a16:creationId xmlns:a16="http://schemas.microsoft.com/office/drawing/2014/main" id="{AB5EB248-41CC-5148-B3F7-9C31C3782207}"/>
              </a:ext>
            </a:extLst>
          </p:cNvPr>
          <p:cNvSpPr txBox="1"/>
          <p:nvPr/>
        </p:nvSpPr>
        <p:spPr>
          <a:xfrm>
            <a:off x="683569" y="3861048"/>
            <a:ext cx="891102" cy="369332"/>
          </a:xfrm>
          <a:prstGeom prst="rect">
            <a:avLst/>
          </a:prstGeom>
          <a:solidFill>
            <a:schemeClr val="accent4">
              <a:lumMod val="75000"/>
            </a:schemeClr>
          </a:solidFill>
        </p:spPr>
        <p:txBody>
          <a:bodyPr wrap="square" rtlCol="0">
            <a:spAutoFit/>
          </a:bodyPr>
          <a:lstStyle/>
          <a:p>
            <a:pPr algn="ctr"/>
            <a:r>
              <a:rPr kumimoji="1" lang="zh-CN" altLang="en-US" dirty="0"/>
              <a:t>劣势</a:t>
            </a:r>
          </a:p>
        </p:txBody>
      </p:sp>
      <p:sp>
        <p:nvSpPr>
          <p:cNvPr id="5" name="文本框 4">
            <a:extLst>
              <a:ext uri="{FF2B5EF4-FFF2-40B4-BE49-F238E27FC236}">
                <a16:creationId xmlns:a16="http://schemas.microsoft.com/office/drawing/2014/main" id="{C6CEA93F-3385-A84D-90E9-8D8A612DB5B6}"/>
              </a:ext>
            </a:extLst>
          </p:cNvPr>
          <p:cNvSpPr txBox="1"/>
          <p:nvPr/>
        </p:nvSpPr>
        <p:spPr>
          <a:xfrm>
            <a:off x="1801040" y="3861048"/>
            <a:ext cx="1069775" cy="369332"/>
          </a:xfrm>
          <a:prstGeom prst="rect">
            <a:avLst/>
          </a:prstGeom>
          <a:solidFill>
            <a:schemeClr val="accent4">
              <a:lumMod val="75000"/>
            </a:schemeClr>
          </a:solidFill>
        </p:spPr>
        <p:txBody>
          <a:bodyPr wrap="square" rtlCol="0">
            <a:spAutoFit/>
          </a:bodyPr>
          <a:lstStyle/>
          <a:p>
            <a:pPr algn="ctr"/>
            <a:r>
              <a:rPr kumimoji="1" lang="zh-CN" altLang="en-US" dirty="0"/>
              <a:t>优势</a:t>
            </a:r>
          </a:p>
        </p:txBody>
      </p:sp>
      <p:sp>
        <p:nvSpPr>
          <p:cNvPr id="6" name="文本框 5">
            <a:extLst>
              <a:ext uri="{FF2B5EF4-FFF2-40B4-BE49-F238E27FC236}">
                <a16:creationId xmlns:a16="http://schemas.microsoft.com/office/drawing/2014/main" id="{786068FE-6B66-5C45-AD5A-6D59C10056DD}"/>
              </a:ext>
            </a:extLst>
          </p:cNvPr>
          <p:cNvSpPr txBox="1"/>
          <p:nvPr/>
        </p:nvSpPr>
        <p:spPr>
          <a:xfrm>
            <a:off x="3176780" y="3861048"/>
            <a:ext cx="1638251" cy="369332"/>
          </a:xfrm>
          <a:prstGeom prst="rect">
            <a:avLst/>
          </a:prstGeom>
          <a:solidFill>
            <a:schemeClr val="accent4">
              <a:lumMod val="75000"/>
            </a:schemeClr>
          </a:solidFill>
        </p:spPr>
        <p:txBody>
          <a:bodyPr wrap="square" rtlCol="0">
            <a:spAutoFit/>
          </a:bodyPr>
          <a:lstStyle/>
          <a:p>
            <a:pPr algn="ctr"/>
            <a:r>
              <a:rPr kumimoji="1" lang="zh-CN" altLang="en-US" dirty="0"/>
              <a:t>核心竞争力</a:t>
            </a:r>
          </a:p>
        </p:txBody>
      </p:sp>
      <p:sp>
        <p:nvSpPr>
          <p:cNvPr id="7" name="文本框 6">
            <a:extLst>
              <a:ext uri="{FF2B5EF4-FFF2-40B4-BE49-F238E27FC236}">
                <a16:creationId xmlns:a16="http://schemas.microsoft.com/office/drawing/2014/main" id="{DFE11C03-D1DF-1B4B-A8AE-CDAD08B5B988}"/>
              </a:ext>
            </a:extLst>
          </p:cNvPr>
          <p:cNvSpPr txBox="1"/>
          <p:nvPr/>
        </p:nvSpPr>
        <p:spPr>
          <a:xfrm>
            <a:off x="5220073" y="3861048"/>
            <a:ext cx="1368152" cy="369332"/>
          </a:xfrm>
          <a:prstGeom prst="rect">
            <a:avLst/>
          </a:prstGeom>
          <a:solidFill>
            <a:schemeClr val="accent4">
              <a:lumMod val="75000"/>
            </a:schemeClr>
          </a:solidFill>
        </p:spPr>
        <p:txBody>
          <a:bodyPr wrap="square" rtlCol="0">
            <a:spAutoFit/>
          </a:bodyPr>
          <a:lstStyle/>
          <a:p>
            <a:r>
              <a:rPr kumimoji="1" lang="zh-CN" altLang="en-US" dirty="0"/>
              <a:t>竞争优势</a:t>
            </a:r>
          </a:p>
        </p:txBody>
      </p:sp>
      <p:cxnSp>
        <p:nvCxnSpPr>
          <p:cNvPr id="8" name="直线箭头连接符 7">
            <a:extLst>
              <a:ext uri="{FF2B5EF4-FFF2-40B4-BE49-F238E27FC236}">
                <a16:creationId xmlns:a16="http://schemas.microsoft.com/office/drawing/2014/main" id="{54D91A9C-8496-3748-AF61-05D50E642378}"/>
              </a:ext>
            </a:extLst>
          </p:cNvPr>
          <p:cNvCxnSpPr>
            <a:cxnSpLocks/>
            <a:stCxn id="4" idx="3"/>
            <a:endCxn id="5" idx="1"/>
          </p:cNvCxnSpPr>
          <p:nvPr/>
        </p:nvCxnSpPr>
        <p:spPr>
          <a:xfrm>
            <a:off x="1574671" y="4045714"/>
            <a:ext cx="226369"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9" name="直线箭头连接符 8">
            <a:extLst>
              <a:ext uri="{FF2B5EF4-FFF2-40B4-BE49-F238E27FC236}">
                <a16:creationId xmlns:a16="http://schemas.microsoft.com/office/drawing/2014/main" id="{3C3A84B0-7ED0-5E47-B1B1-DD80573F8977}"/>
              </a:ext>
            </a:extLst>
          </p:cNvPr>
          <p:cNvCxnSpPr>
            <a:cxnSpLocks/>
            <a:stCxn id="5" idx="3"/>
            <a:endCxn id="6" idx="1"/>
          </p:cNvCxnSpPr>
          <p:nvPr/>
        </p:nvCxnSpPr>
        <p:spPr>
          <a:xfrm>
            <a:off x="2870815" y="4045714"/>
            <a:ext cx="305965"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0" name="直线箭头连接符 9">
            <a:extLst>
              <a:ext uri="{FF2B5EF4-FFF2-40B4-BE49-F238E27FC236}">
                <a16:creationId xmlns:a16="http://schemas.microsoft.com/office/drawing/2014/main" id="{F9966C50-4F12-8349-99D1-201231C0C818}"/>
              </a:ext>
            </a:extLst>
          </p:cNvPr>
          <p:cNvCxnSpPr>
            <a:cxnSpLocks/>
            <a:stCxn id="6" idx="3"/>
            <a:endCxn id="7" idx="1"/>
          </p:cNvCxnSpPr>
          <p:nvPr/>
        </p:nvCxnSpPr>
        <p:spPr>
          <a:xfrm>
            <a:off x="4815031" y="4045714"/>
            <a:ext cx="40504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pic>
        <p:nvPicPr>
          <p:cNvPr id="19" name="图片 18">
            <a:extLst>
              <a:ext uri="{FF2B5EF4-FFF2-40B4-BE49-F238E27FC236}">
                <a16:creationId xmlns:a16="http://schemas.microsoft.com/office/drawing/2014/main" id="{BE75566F-901B-3340-8E66-F55DCBCBE0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7141" y="2852936"/>
            <a:ext cx="2260600" cy="3175000"/>
          </a:xfrm>
          <a:prstGeom prst="rect">
            <a:avLst/>
          </a:prstGeom>
        </p:spPr>
      </p:pic>
    </p:spTree>
    <p:extLst>
      <p:ext uri="{BB962C8B-B14F-4D97-AF65-F5344CB8AC3E}">
        <p14:creationId xmlns:p14="http://schemas.microsoft.com/office/powerpoint/2010/main" val="476394454"/>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a:lstStyle/>
          <a:p>
            <a:endParaRPr lang="zh-CN" altLang="en-US" dirty="0">
              <a:latin typeface="Calibri" charset="0"/>
              <a:ea typeface="宋体" charset="0"/>
            </a:endParaRPr>
          </a:p>
        </p:txBody>
      </p:sp>
      <p:pic>
        <p:nvPicPr>
          <p:cNvPr id="33795" name="内容占位符 3" descr="91452c91jw1dzjok34qb6j.jpg"/>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857250" y="0"/>
            <a:ext cx="6205538" cy="6858000"/>
          </a:xfrm>
        </p:spPr>
      </p:pic>
    </p:spTree>
    <p:extLst>
      <p:ext uri="{BB962C8B-B14F-4D97-AF65-F5344CB8AC3E}">
        <p14:creationId xmlns:p14="http://schemas.microsoft.com/office/powerpoint/2010/main" val="130611703"/>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00E96B-288A-404E-A9F6-96786FDC7FBE}"/>
              </a:ext>
            </a:extLst>
          </p:cNvPr>
          <p:cNvSpPr>
            <a:spLocks noGrp="1"/>
          </p:cNvSpPr>
          <p:nvPr>
            <p:ph type="title"/>
          </p:nvPr>
        </p:nvSpPr>
        <p:spPr/>
        <p:txBody>
          <a:bodyPr/>
          <a:lstStyle/>
          <a:p>
            <a:r>
              <a:rPr kumimoji="1" lang="zh-CN" altLang="en-US" dirty="0"/>
              <a:t>分析步骤</a:t>
            </a:r>
          </a:p>
        </p:txBody>
      </p:sp>
      <p:sp>
        <p:nvSpPr>
          <p:cNvPr id="3" name="内容占位符 2">
            <a:extLst>
              <a:ext uri="{FF2B5EF4-FFF2-40B4-BE49-F238E27FC236}">
                <a16:creationId xmlns:a16="http://schemas.microsoft.com/office/drawing/2014/main" id="{66160CE7-7D00-7343-9B3D-ADD24F2990BB}"/>
              </a:ext>
            </a:extLst>
          </p:cNvPr>
          <p:cNvSpPr>
            <a:spLocks noGrp="1"/>
          </p:cNvSpPr>
          <p:nvPr>
            <p:ph idx="1"/>
          </p:nvPr>
        </p:nvSpPr>
        <p:spPr>
          <a:xfrm>
            <a:off x="457200" y="1556792"/>
            <a:ext cx="8229600" cy="4525962"/>
          </a:xfrm>
        </p:spPr>
        <p:txBody>
          <a:bodyPr/>
          <a:lstStyle/>
          <a:p>
            <a:r>
              <a:rPr lang="en-US" altLang="zh-CN" dirty="0"/>
              <a:t>1</a:t>
            </a:r>
            <a:r>
              <a:rPr lang="zh-CN" altLang="zh-CN" dirty="0"/>
              <a:t>、 </a:t>
            </a:r>
            <a:r>
              <a:rPr lang="zh-CN" altLang="zh-CN" sz="2800" dirty="0"/>
              <a:t>确认当前的战略是什么？</a:t>
            </a:r>
            <a:r>
              <a:rPr lang="en-US" altLang="zh-CN" sz="2800" dirty="0"/>
              <a:t> </a:t>
            </a:r>
            <a:endParaRPr lang="zh-CN" altLang="zh-CN" sz="2800" dirty="0"/>
          </a:p>
          <a:p>
            <a:r>
              <a:rPr lang="en-US" altLang="zh-CN" sz="2800" dirty="0"/>
              <a:t>2</a:t>
            </a:r>
            <a:r>
              <a:rPr lang="zh-CN" altLang="zh-CN" sz="2800" dirty="0"/>
              <a:t>、 确认企业外部环境的变化（波特五力</a:t>
            </a:r>
            <a:r>
              <a:rPr lang="en-US" altLang="zh-CN" sz="2800" dirty="0"/>
              <a:t>/PEST</a:t>
            </a:r>
            <a:r>
              <a:rPr lang="zh-CN" altLang="zh-CN" sz="2800" dirty="0"/>
              <a:t>）</a:t>
            </a:r>
            <a:r>
              <a:rPr lang="en-US" altLang="zh-CN" sz="2800" dirty="0"/>
              <a:t> </a:t>
            </a:r>
            <a:endParaRPr lang="zh-CN" altLang="zh-CN" sz="2800" dirty="0"/>
          </a:p>
          <a:p>
            <a:r>
              <a:rPr lang="en-US" altLang="zh-CN" sz="2800" dirty="0"/>
              <a:t>3</a:t>
            </a:r>
            <a:r>
              <a:rPr lang="zh-CN" altLang="zh-CN" sz="2800" dirty="0"/>
              <a:t>、 根据企业资源组合情况，确认企业的关键</a:t>
            </a:r>
            <a:r>
              <a:rPr lang="zh-CN" altLang="en-US" sz="2800" dirty="0"/>
              <a:t>优势</a:t>
            </a:r>
            <a:r>
              <a:rPr lang="en-US" altLang="zh-CN" sz="2800" dirty="0"/>
              <a:t>/</a:t>
            </a:r>
            <a:r>
              <a:rPr lang="zh-CN" altLang="zh-CN" sz="2800" dirty="0"/>
              <a:t>能力和关键</a:t>
            </a:r>
            <a:r>
              <a:rPr lang="zh-CN" altLang="en-US" sz="2800" dirty="0"/>
              <a:t>劣势</a:t>
            </a:r>
            <a:r>
              <a:rPr lang="en-US" altLang="zh-CN" sz="2800" dirty="0"/>
              <a:t>/</a:t>
            </a:r>
            <a:r>
              <a:rPr lang="zh-CN" altLang="zh-CN" sz="2800" dirty="0"/>
              <a:t>限制。 </a:t>
            </a:r>
            <a:endParaRPr lang="en-US" altLang="zh-CN" sz="2800" dirty="0"/>
          </a:p>
          <a:p>
            <a:r>
              <a:rPr lang="en-US" altLang="zh-CN" sz="2800" dirty="0"/>
              <a:t>4</a:t>
            </a:r>
            <a:r>
              <a:rPr lang="zh-CN" altLang="zh-CN" sz="2800" dirty="0"/>
              <a:t>、 把识别出的所有优势分成两组，分的时候以两个原则为基础：它们是与行业中潜在的机会有关，还是与潜在的威胁有关。用同样的办法把所有的劣势分成两组，一组与机会有关，另一组与威胁有关。</a:t>
            </a:r>
            <a:r>
              <a:rPr lang="en-US" altLang="zh-CN" sz="2800" dirty="0"/>
              <a:t> </a:t>
            </a:r>
          </a:p>
          <a:p>
            <a:r>
              <a:rPr lang="en-US" altLang="zh-CN" sz="2800" dirty="0"/>
              <a:t>5</a:t>
            </a:r>
            <a:r>
              <a:rPr lang="zh-CN" altLang="en-US" sz="2800" dirty="0"/>
              <a:t>、组合分析</a:t>
            </a:r>
            <a:endParaRPr lang="zh-CN" altLang="zh-CN" sz="2800" dirty="0"/>
          </a:p>
          <a:p>
            <a:endParaRPr kumimoji="1" lang="zh-CN" altLang="en-US" dirty="0"/>
          </a:p>
        </p:txBody>
      </p:sp>
    </p:spTree>
    <p:extLst>
      <p:ext uri="{BB962C8B-B14F-4D97-AF65-F5344CB8AC3E}">
        <p14:creationId xmlns:p14="http://schemas.microsoft.com/office/powerpoint/2010/main" val="1404837608"/>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7BF707-C44A-4445-90B7-EF2EA40ACEC7}"/>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9B7697B7-440F-284E-B660-148927C90A0D}"/>
              </a:ext>
            </a:extLst>
          </p:cNvPr>
          <p:cNvSpPr>
            <a:spLocks noGrp="1"/>
          </p:cNvSpPr>
          <p:nvPr>
            <p:ph idx="1"/>
          </p:nvPr>
        </p:nvSpPr>
        <p:spPr/>
        <p:txBody>
          <a:bodyPr/>
          <a:lstStyle/>
          <a:p>
            <a:r>
              <a:rPr lang="zh-CN" altLang="en-US" dirty="0"/>
              <a:t> </a:t>
            </a:r>
            <a:r>
              <a:rPr lang="zh-CN" altLang="zh-CN" dirty="0"/>
              <a:t>将结果在</a:t>
            </a:r>
            <a:r>
              <a:rPr lang="en-US" altLang="zh-CN" dirty="0"/>
              <a:t>SWOT</a:t>
            </a:r>
            <a:r>
              <a:rPr lang="zh-CN" altLang="zh-CN" dirty="0"/>
              <a:t>分析图上定位 </a:t>
            </a:r>
            <a:endParaRPr kumimoji="1" lang="zh-CN" altLang="en-US" dirty="0"/>
          </a:p>
        </p:txBody>
      </p:sp>
      <p:sp>
        <p:nvSpPr>
          <p:cNvPr id="4" name="Rectangle 2">
            <a:extLst>
              <a:ext uri="{FF2B5EF4-FFF2-40B4-BE49-F238E27FC236}">
                <a16:creationId xmlns:a16="http://schemas.microsoft.com/office/drawing/2014/main" id="{1E3A93A3-01C6-9940-AD49-9F299C9CC86B}"/>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2">
            <a:extLst>
              <a:ext uri="{FF2B5EF4-FFF2-40B4-BE49-F238E27FC236}">
                <a16:creationId xmlns:a16="http://schemas.microsoft.com/office/drawing/2014/main" id="{20A0ADC6-6E35-E447-B391-718316914A73}"/>
              </a:ext>
            </a:extLst>
          </p:cNvPr>
          <p:cNvSpPr>
            <a:spLocks noChangeArrowheads="1"/>
          </p:cNvSpPr>
          <p:nvPr/>
        </p:nvSpPr>
        <p:spPr bwMode="auto">
          <a:xfrm>
            <a:off x="1187624" y="299695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8" name="Picture 3" descr="SWOT分析法图例3">
            <a:extLst>
              <a:ext uri="{FF2B5EF4-FFF2-40B4-BE49-F238E27FC236}">
                <a16:creationId xmlns:a16="http://schemas.microsoft.com/office/drawing/2014/main" id="{0EFF1364-7598-3543-904F-579DFED5E327}"/>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981440" y="2252787"/>
            <a:ext cx="6789952" cy="30938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8443156"/>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889A17-E7B5-C24D-925B-D3D59EBAD661}"/>
              </a:ext>
            </a:extLst>
          </p:cNvPr>
          <p:cNvSpPr>
            <a:spLocks noGrp="1"/>
          </p:cNvSpPr>
          <p:nvPr>
            <p:ph type="title"/>
          </p:nvPr>
        </p:nvSpPr>
        <p:spPr/>
        <p:txBody>
          <a:bodyPr/>
          <a:lstStyle/>
          <a:p>
            <a:endParaRPr kumimoji="1" lang="zh-CN" altLang="en-US"/>
          </a:p>
        </p:txBody>
      </p:sp>
      <p:sp>
        <p:nvSpPr>
          <p:cNvPr id="5" name="Rectangle 4">
            <a:extLst>
              <a:ext uri="{FF2B5EF4-FFF2-40B4-BE49-F238E27FC236}">
                <a16:creationId xmlns:a16="http://schemas.microsoft.com/office/drawing/2014/main" id="{A7854D1D-144F-BC4C-8EEC-D100E4B4BEE4}"/>
              </a:ext>
            </a:extLst>
          </p:cNvPr>
          <p:cNvSpPr>
            <a:spLocks noChangeArrowheads="1"/>
          </p:cNvSpPr>
          <p:nvPr/>
        </p:nvSpPr>
        <p:spPr bwMode="auto">
          <a:xfrm>
            <a:off x="179512" y="1124744"/>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8" name="Picture 1" descr="SWOT分析法图例2">
            <a:extLst>
              <a:ext uri="{FF2B5EF4-FFF2-40B4-BE49-F238E27FC236}">
                <a16:creationId xmlns:a16="http://schemas.microsoft.com/office/drawing/2014/main" id="{8767D948-2EA9-8344-A716-8327B76A67C9}"/>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1115616" y="1984335"/>
            <a:ext cx="7325219" cy="3846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5935278"/>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1026"/>
          <p:cNvSpPr>
            <a:spLocks noGrp="1" noChangeArrowheads="1"/>
          </p:cNvSpPr>
          <p:nvPr>
            <p:ph type="title"/>
          </p:nvPr>
        </p:nvSpPr>
        <p:spPr>
          <a:xfrm>
            <a:off x="1403350" y="0"/>
            <a:ext cx="7740650" cy="1052513"/>
          </a:xfrm>
        </p:spPr>
        <p:txBody>
          <a:bodyPr/>
          <a:lstStyle/>
          <a:p>
            <a:pPr marL="54864" indent="0" fontAlgn="auto">
              <a:spcAft>
                <a:spcPts val="0"/>
              </a:spcAft>
              <a:defRPr/>
            </a:pPr>
            <a:r>
              <a:rPr lang="zh-CN" altLang="en-US" dirty="0">
                <a:solidFill>
                  <a:schemeClr val="tx2">
                    <a:tint val="100000"/>
                    <a:shade val="90000"/>
                    <a:satMod val="250000"/>
                    <a:alpha val="100000"/>
                  </a:schemeClr>
                </a:solidFill>
                <a:ea typeface="黑体" pitchFamily="2" charset="-122"/>
                <a:cs typeface="+mj-cs"/>
              </a:rPr>
              <a:t>    四种可供选择的战略</a:t>
            </a:r>
          </a:p>
        </p:txBody>
      </p:sp>
      <p:graphicFrame>
        <p:nvGraphicFramePr>
          <p:cNvPr id="85022" name="Group 1054"/>
          <p:cNvGraphicFramePr>
            <a:graphicFrameLocks noGrp="1"/>
          </p:cNvGraphicFramePr>
          <p:nvPr/>
        </p:nvGraphicFramePr>
        <p:xfrm>
          <a:off x="0" y="1773238"/>
          <a:ext cx="9144000" cy="5084763"/>
        </p:xfrm>
        <a:graphic>
          <a:graphicData uri="http://schemas.openxmlformats.org/drawingml/2006/table">
            <a:tbl>
              <a:tblPr/>
              <a:tblGrid>
                <a:gridCol w="2627313">
                  <a:extLst>
                    <a:ext uri="{9D8B030D-6E8A-4147-A177-3AD203B41FA5}">
                      <a16:colId xmlns:a16="http://schemas.microsoft.com/office/drawing/2014/main" val="20000"/>
                    </a:ext>
                  </a:extLst>
                </a:gridCol>
                <a:gridCol w="3168650">
                  <a:extLst>
                    <a:ext uri="{9D8B030D-6E8A-4147-A177-3AD203B41FA5}">
                      <a16:colId xmlns:a16="http://schemas.microsoft.com/office/drawing/2014/main" val="20001"/>
                    </a:ext>
                  </a:extLst>
                </a:gridCol>
                <a:gridCol w="3348037">
                  <a:extLst>
                    <a:ext uri="{9D8B030D-6E8A-4147-A177-3AD203B41FA5}">
                      <a16:colId xmlns:a16="http://schemas.microsoft.com/office/drawing/2014/main" val="20002"/>
                    </a:ext>
                  </a:extLst>
                </a:gridCol>
              </a:tblGrid>
              <a:tr h="1801813">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0" i="0" u="none" strike="noStrike" cap="none" normalizeH="0" baseline="0">
                          <a:ln>
                            <a:noFill/>
                          </a:ln>
                          <a:solidFill>
                            <a:schemeClr val="tx1"/>
                          </a:solidFill>
                          <a:effectLst/>
                          <a:latin typeface="Arial" pitchFamily="34" charset="0"/>
                          <a:ea typeface="宋体" pitchFamily="2" charset="-122"/>
                        </a:rPr>
                        <a:t>        </a:t>
                      </a:r>
                      <a:r>
                        <a:rPr kumimoji="0" lang="zh-CN" altLang="en-US" sz="2800" b="1" i="0" u="none" strike="noStrike" cap="none" normalizeH="0" baseline="0">
                          <a:ln>
                            <a:noFill/>
                          </a:ln>
                          <a:solidFill>
                            <a:schemeClr val="tx1"/>
                          </a:solidFill>
                          <a:effectLst/>
                          <a:latin typeface="Arial" pitchFamily="34" charset="0"/>
                          <a:ea typeface="宋体" pitchFamily="2" charset="-122"/>
                        </a:rPr>
                        <a:t>内部因素</a:t>
                      </a:r>
                    </a:p>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zh-CN" altLang="en-US" sz="2800" b="0" i="0" u="none" strike="noStrike" cap="none" normalizeH="0" baseline="0">
                        <a:ln>
                          <a:noFill/>
                        </a:ln>
                        <a:solidFill>
                          <a:schemeClr val="tx1"/>
                        </a:solidFill>
                        <a:effectLst/>
                        <a:latin typeface="Arial" pitchFamily="34" charset="0"/>
                        <a:ea typeface="宋体" pitchFamily="2" charset="-122"/>
                      </a:endParaRPr>
                    </a:p>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1" i="0" u="none" strike="noStrike" cap="none" normalizeH="0" baseline="0">
                          <a:ln>
                            <a:noFill/>
                          </a:ln>
                          <a:solidFill>
                            <a:schemeClr val="tx1"/>
                          </a:solidFill>
                          <a:effectLst/>
                          <a:latin typeface="Arial" pitchFamily="34" charset="0"/>
                          <a:ea typeface="宋体" pitchFamily="2" charset="-122"/>
                        </a:rPr>
                        <a:t>外部因素</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a:ln>
                            <a:noFill/>
                          </a:ln>
                          <a:solidFill>
                            <a:schemeClr val="tx1"/>
                          </a:solidFill>
                          <a:effectLst>
                            <a:outerShdw blurRad="38100" dist="38100" dir="2700000" algn="tl">
                              <a:srgbClr val="C0C0C0"/>
                            </a:outerShdw>
                          </a:effectLst>
                          <a:latin typeface="Arial" pitchFamily="34" charset="0"/>
                          <a:ea typeface="宋体" pitchFamily="2" charset="-122"/>
                        </a:rPr>
                        <a:t>优势</a:t>
                      </a: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a:ln>
                            <a:noFill/>
                          </a:ln>
                          <a:solidFill>
                            <a:schemeClr val="tx1"/>
                          </a:solidFill>
                          <a:effectLst>
                            <a:outerShdw blurRad="38100" dist="38100" dir="2700000" algn="tl">
                              <a:srgbClr val="C0C0C0"/>
                            </a:outerShdw>
                          </a:effectLst>
                          <a:latin typeface="Arial" pitchFamily="34" charset="0"/>
                          <a:ea typeface="宋体" pitchFamily="2" charset="-122"/>
                        </a:rPr>
                        <a:t>（</a:t>
                      </a: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Arial" pitchFamily="34" charset="0"/>
                          <a:ea typeface="宋体" pitchFamily="2" charset="-122"/>
                        </a:rPr>
                        <a:t>Strength</a:t>
                      </a:r>
                      <a:r>
                        <a:rPr kumimoji="0" lang="zh-CN" altLang="en-US" sz="2400" b="1" i="0" u="none" strike="noStrike" cap="none" normalizeH="0" baseline="0">
                          <a:ln>
                            <a:noFill/>
                          </a:ln>
                          <a:solidFill>
                            <a:schemeClr val="tx1"/>
                          </a:solidFill>
                          <a:effectLst>
                            <a:outerShdw blurRad="38100" dist="38100" dir="2700000" algn="tl">
                              <a:srgbClr val="C0C0C0"/>
                            </a:outerShdw>
                          </a:effectLst>
                          <a:latin typeface="Arial" pitchFamily="34"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a:ln>
                            <a:noFill/>
                          </a:ln>
                          <a:solidFill>
                            <a:schemeClr val="tx1"/>
                          </a:solidFill>
                          <a:effectLst>
                            <a:outerShdw blurRad="38100" dist="38100" dir="2700000" algn="tl">
                              <a:srgbClr val="C0C0C0"/>
                            </a:outerShdw>
                          </a:effectLst>
                          <a:latin typeface="Arial" pitchFamily="34" charset="0"/>
                          <a:ea typeface="宋体" pitchFamily="2" charset="-122"/>
                        </a:rPr>
                        <a:t>劣势（</a:t>
                      </a: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Arial" pitchFamily="34" charset="0"/>
                          <a:ea typeface="宋体" pitchFamily="2" charset="-122"/>
                        </a:rPr>
                        <a:t>Weakness</a:t>
                      </a:r>
                      <a:r>
                        <a:rPr kumimoji="0" lang="zh-CN" altLang="en-US" sz="2400" b="1" i="0" u="none" strike="noStrike" cap="none" normalizeH="0" baseline="0">
                          <a:ln>
                            <a:noFill/>
                          </a:ln>
                          <a:solidFill>
                            <a:schemeClr val="tx1"/>
                          </a:solidFill>
                          <a:effectLst>
                            <a:outerShdw blurRad="38100" dist="38100" dir="2700000" algn="tl">
                              <a:srgbClr val="C0C0C0"/>
                            </a:outerShdw>
                          </a:effectLst>
                          <a:latin typeface="Arial" pitchFamily="34" charset="0"/>
                          <a:ea typeface="宋体" pitchFamily="2"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701800">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a:ln>
                            <a:noFill/>
                          </a:ln>
                          <a:solidFill>
                            <a:schemeClr val="tx1"/>
                          </a:solidFill>
                          <a:effectLst>
                            <a:outerShdw blurRad="38100" dist="38100" dir="2700000" algn="tl">
                              <a:srgbClr val="C0C0C0"/>
                            </a:outerShdw>
                          </a:effectLst>
                          <a:latin typeface="Arial" pitchFamily="34" charset="0"/>
                          <a:ea typeface="宋体" pitchFamily="2" charset="-122"/>
                        </a:rPr>
                        <a:t>机会（</a:t>
                      </a: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Arial" pitchFamily="34" charset="0"/>
                          <a:ea typeface="宋体" pitchFamily="2" charset="-122"/>
                        </a:rPr>
                        <a:t>Opportunity</a:t>
                      </a:r>
                      <a:r>
                        <a:rPr kumimoji="0" lang="zh-CN" altLang="en-US" sz="2400" b="1" i="0" u="none" strike="noStrike" cap="none" normalizeH="0" baseline="0">
                          <a:ln>
                            <a:noFill/>
                          </a:ln>
                          <a:solidFill>
                            <a:schemeClr val="tx1"/>
                          </a:solidFill>
                          <a:effectLst>
                            <a:outerShdw blurRad="38100" dist="38100" dir="2700000" algn="tl">
                              <a:srgbClr val="C0C0C0"/>
                            </a:outerShdw>
                          </a:effectLst>
                          <a:latin typeface="Arial" pitchFamily="34" charset="0"/>
                          <a:ea typeface="宋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3600" b="1" i="0" u="none" strike="noStrike" cap="none" normalizeH="0" baseline="0">
                          <a:ln>
                            <a:noFill/>
                          </a:ln>
                          <a:solidFill>
                            <a:schemeClr val="tx1"/>
                          </a:solidFill>
                          <a:effectLst/>
                          <a:latin typeface="Arial" pitchFamily="34" charset="0"/>
                          <a:ea typeface="宋体" pitchFamily="2" charset="-122"/>
                        </a:rPr>
                        <a:t>SO</a:t>
                      </a:r>
                      <a:r>
                        <a:rPr kumimoji="0" lang="zh-CN" altLang="en-US" sz="3600" b="1" i="0" u="none" strike="noStrike" cap="none" normalizeH="0" baseline="0">
                          <a:ln>
                            <a:noFill/>
                          </a:ln>
                          <a:solidFill>
                            <a:schemeClr val="tx1"/>
                          </a:solidFill>
                          <a:effectLst/>
                          <a:latin typeface="Arial" pitchFamily="34" charset="0"/>
                          <a:ea typeface="宋体" pitchFamily="2" charset="-122"/>
                        </a:rPr>
                        <a:t>战略</a:t>
                      </a:r>
                    </a:p>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a:ln>
                            <a:noFill/>
                          </a:ln>
                          <a:solidFill>
                            <a:schemeClr val="tx1"/>
                          </a:solidFill>
                          <a:effectLst/>
                          <a:latin typeface="Arial" pitchFamily="34" charset="0"/>
                          <a:ea typeface="宋体" pitchFamily="2" charset="-122"/>
                        </a:rPr>
                        <a:t>利用优势，抓住机会</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3600" b="1" i="0" u="none" strike="noStrike" cap="none" normalizeH="0" baseline="0">
                          <a:ln>
                            <a:noFill/>
                          </a:ln>
                          <a:solidFill>
                            <a:schemeClr val="tx1"/>
                          </a:solidFill>
                          <a:effectLst/>
                          <a:latin typeface="Arial" pitchFamily="34" charset="0"/>
                          <a:ea typeface="宋体" pitchFamily="2" charset="-122"/>
                        </a:rPr>
                        <a:t>WO</a:t>
                      </a:r>
                      <a:r>
                        <a:rPr kumimoji="0" lang="zh-CN" altLang="en-US" sz="3600" b="1" i="0" u="none" strike="noStrike" cap="none" normalizeH="0" baseline="0">
                          <a:ln>
                            <a:noFill/>
                          </a:ln>
                          <a:solidFill>
                            <a:schemeClr val="tx1"/>
                          </a:solidFill>
                          <a:effectLst/>
                          <a:latin typeface="Arial" pitchFamily="34" charset="0"/>
                          <a:ea typeface="宋体" pitchFamily="2" charset="-122"/>
                        </a:rPr>
                        <a:t>战略</a:t>
                      </a:r>
                    </a:p>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a:ln>
                            <a:noFill/>
                          </a:ln>
                          <a:solidFill>
                            <a:schemeClr val="tx1"/>
                          </a:solidFill>
                          <a:effectLst/>
                          <a:latin typeface="Arial" pitchFamily="34" charset="0"/>
                          <a:ea typeface="宋体" pitchFamily="2" charset="-122"/>
                        </a:rPr>
                        <a:t>利用机会，克服劣势</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81150">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a:ln>
                            <a:noFill/>
                          </a:ln>
                          <a:solidFill>
                            <a:schemeClr val="tx1"/>
                          </a:solidFill>
                          <a:effectLst>
                            <a:outerShdw blurRad="38100" dist="38100" dir="2700000" algn="tl">
                              <a:srgbClr val="C0C0C0"/>
                            </a:outerShdw>
                          </a:effectLst>
                          <a:latin typeface="Arial" pitchFamily="34" charset="0"/>
                          <a:ea typeface="宋体" pitchFamily="2" charset="-122"/>
                        </a:rPr>
                        <a:t>威胁</a:t>
                      </a: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Arial" pitchFamily="34" charset="0"/>
                          <a:ea typeface="宋体" pitchFamily="2" charset="-122"/>
                        </a:rPr>
                        <a:t>(Threat</a:t>
                      </a:r>
                      <a:r>
                        <a:rPr kumimoji="0" lang="zh-CN" altLang="en-US" sz="2400" b="1" i="0" u="none" strike="noStrike" cap="none" normalizeH="0" baseline="0">
                          <a:ln>
                            <a:noFill/>
                          </a:ln>
                          <a:solidFill>
                            <a:schemeClr val="tx1"/>
                          </a:solidFill>
                          <a:effectLst>
                            <a:outerShdw blurRad="38100" dist="38100" dir="2700000" algn="tl">
                              <a:srgbClr val="C0C0C0"/>
                            </a:outerShdw>
                          </a:effectLst>
                          <a:latin typeface="Arial" pitchFamily="34" charset="0"/>
                          <a:ea typeface="宋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3600" b="1" i="0" u="none" strike="noStrike" cap="none" normalizeH="0" baseline="0">
                          <a:ln>
                            <a:noFill/>
                          </a:ln>
                          <a:solidFill>
                            <a:schemeClr val="tx1"/>
                          </a:solidFill>
                          <a:effectLst/>
                          <a:latin typeface="Arial" pitchFamily="34" charset="0"/>
                          <a:ea typeface="宋体" pitchFamily="2" charset="-122"/>
                        </a:rPr>
                        <a:t>ST</a:t>
                      </a:r>
                      <a:r>
                        <a:rPr kumimoji="0" lang="zh-CN" altLang="en-US" sz="3600" b="1" i="0" u="none" strike="noStrike" cap="none" normalizeH="0" baseline="0">
                          <a:ln>
                            <a:noFill/>
                          </a:ln>
                          <a:solidFill>
                            <a:schemeClr val="tx1"/>
                          </a:solidFill>
                          <a:effectLst/>
                          <a:latin typeface="Arial" pitchFamily="34" charset="0"/>
                          <a:ea typeface="宋体" pitchFamily="2" charset="-122"/>
                        </a:rPr>
                        <a:t>战略</a:t>
                      </a: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a:ln>
                            <a:noFill/>
                          </a:ln>
                          <a:solidFill>
                            <a:schemeClr val="tx1"/>
                          </a:solidFill>
                          <a:effectLst/>
                          <a:latin typeface="Arial" pitchFamily="34" charset="0"/>
                          <a:ea typeface="宋体" pitchFamily="2" charset="-122"/>
                        </a:rPr>
                        <a:t>利用优势，减少威胁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3600" b="1" i="0" u="none" strike="noStrike" cap="none" normalizeH="0" baseline="0" dirty="0">
                          <a:ln>
                            <a:noFill/>
                          </a:ln>
                          <a:solidFill>
                            <a:schemeClr val="tx1"/>
                          </a:solidFill>
                          <a:effectLst/>
                          <a:latin typeface="Arial" pitchFamily="34" charset="0"/>
                          <a:ea typeface="宋体" pitchFamily="2" charset="-122"/>
                        </a:rPr>
                        <a:t>WT</a:t>
                      </a:r>
                      <a:r>
                        <a:rPr kumimoji="0" lang="zh-CN" altLang="en-US" sz="3600" b="1" i="0" u="none" strike="noStrike" cap="none" normalizeH="0" baseline="0" dirty="0">
                          <a:ln>
                            <a:noFill/>
                          </a:ln>
                          <a:solidFill>
                            <a:schemeClr val="tx1"/>
                          </a:solidFill>
                          <a:effectLst/>
                          <a:latin typeface="Arial" pitchFamily="34" charset="0"/>
                          <a:ea typeface="宋体" pitchFamily="2" charset="-122"/>
                        </a:rPr>
                        <a:t>战略</a:t>
                      </a:r>
                    </a:p>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dirty="0">
                          <a:ln>
                            <a:noFill/>
                          </a:ln>
                          <a:solidFill>
                            <a:schemeClr val="tx1"/>
                          </a:solidFill>
                          <a:effectLst/>
                          <a:latin typeface="Arial" pitchFamily="34" charset="0"/>
                          <a:ea typeface="宋体" pitchFamily="2" charset="-122"/>
                        </a:rPr>
                        <a:t>将劣势、威胁最小化</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131840" y="254000"/>
            <a:ext cx="5760640" cy="6487368"/>
          </a:xfrm>
        </p:spPr>
      </p:pic>
      <p:sp>
        <p:nvSpPr>
          <p:cNvPr id="5" name="TextBox 4"/>
          <p:cNvSpPr txBox="1"/>
          <p:nvPr/>
        </p:nvSpPr>
        <p:spPr>
          <a:xfrm>
            <a:off x="5471872" y="244473"/>
            <a:ext cx="3634328" cy="2585323"/>
          </a:xfrm>
          <a:prstGeom prst="rect">
            <a:avLst/>
          </a:prstGeom>
          <a:solidFill>
            <a:schemeClr val="accent6"/>
          </a:solidFill>
        </p:spPr>
        <p:txBody>
          <a:bodyPr wrap="none" rtlCol="0">
            <a:spAutoFit/>
          </a:bodyPr>
          <a:lstStyle/>
          <a:p>
            <a:r>
              <a:rPr lang="en-US" altLang="zh-CN" dirty="0"/>
              <a:t>1.</a:t>
            </a:r>
            <a:r>
              <a:rPr lang="zh-CN" altLang="en-US" dirty="0"/>
              <a:t>软件收入减少了</a:t>
            </a:r>
            <a:r>
              <a:rPr lang="en-US" altLang="zh-CN" dirty="0"/>
              <a:t>12%</a:t>
            </a:r>
          </a:p>
          <a:p>
            <a:r>
              <a:rPr lang="en-US" altLang="zh-CN" dirty="0"/>
              <a:t>2.</a:t>
            </a:r>
            <a:r>
              <a:rPr lang="zh-CN" altLang="en-US" dirty="0"/>
              <a:t>店址受到新高速公路</a:t>
            </a:r>
            <a:r>
              <a:rPr lang="en-US" altLang="zh-CN" dirty="0"/>
              <a:t>34</a:t>
            </a:r>
            <a:r>
              <a:rPr lang="zh-CN" altLang="en-US" dirty="0"/>
              <a:t>号的影响</a:t>
            </a:r>
            <a:endParaRPr lang="en-US" altLang="zh-CN" dirty="0"/>
          </a:p>
          <a:p>
            <a:r>
              <a:rPr lang="en-US" altLang="zh-CN" dirty="0"/>
              <a:t>3.</a:t>
            </a:r>
            <a:r>
              <a:rPr lang="zh-CN" altLang="en-US" dirty="0"/>
              <a:t>店内的地毯和油漆失修</a:t>
            </a:r>
            <a:endParaRPr lang="en-US" altLang="zh-CN" dirty="0"/>
          </a:p>
          <a:p>
            <a:r>
              <a:rPr lang="en-US" altLang="zh-CN" dirty="0"/>
              <a:t>4.</a:t>
            </a:r>
            <a:r>
              <a:rPr lang="zh-CN" altLang="en-US" dirty="0"/>
              <a:t>店里的卫生间需要重新装修</a:t>
            </a:r>
            <a:endParaRPr lang="en-US" altLang="zh-CN" dirty="0"/>
          </a:p>
          <a:p>
            <a:r>
              <a:rPr lang="en-US" altLang="zh-CN" dirty="0"/>
              <a:t>5.</a:t>
            </a:r>
            <a:r>
              <a:rPr lang="zh-CN" altLang="en-US" dirty="0"/>
              <a:t>店铺的总收入下降了</a:t>
            </a:r>
            <a:r>
              <a:rPr lang="en-US" altLang="zh-CN" dirty="0"/>
              <a:t>8%</a:t>
            </a:r>
          </a:p>
          <a:p>
            <a:r>
              <a:rPr lang="en-US" altLang="zh-CN" dirty="0"/>
              <a:t>6.</a:t>
            </a:r>
            <a:r>
              <a:rPr lang="zh-CN" altLang="en-US" dirty="0"/>
              <a:t>店铺没有网站</a:t>
            </a:r>
            <a:endParaRPr lang="en-US" altLang="zh-CN" dirty="0"/>
          </a:p>
          <a:p>
            <a:r>
              <a:rPr lang="en-US" altLang="zh-CN" dirty="0"/>
              <a:t>7.</a:t>
            </a:r>
            <a:r>
              <a:rPr lang="zh-CN" altLang="en-US" dirty="0"/>
              <a:t>供应商需要</a:t>
            </a:r>
            <a:r>
              <a:rPr lang="en-US" altLang="zh-CN" dirty="0"/>
              <a:t>2-4</a:t>
            </a:r>
            <a:r>
              <a:rPr lang="zh-CN" altLang="en-US" dirty="0"/>
              <a:t>天才能准时交货</a:t>
            </a:r>
            <a:endParaRPr lang="en-US" altLang="zh-CN" dirty="0"/>
          </a:p>
          <a:p>
            <a:r>
              <a:rPr lang="en-US" altLang="zh-CN" dirty="0"/>
              <a:t>8.</a:t>
            </a:r>
            <a:r>
              <a:rPr lang="zh-CN" altLang="en-US" dirty="0"/>
              <a:t>顾客结账过程太慢</a:t>
            </a:r>
            <a:endParaRPr lang="en-US" altLang="zh-CN" dirty="0"/>
          </a:p>
          <a:p>
            <a:r>
              <a:rPr lang="en-US" altLang="zh-CN" dirty="0"/>
              <a:t>9.</a:t>
            </a:r>
            <a:r>
              <a:rPr lang="zh-CN" altLang="en-US" dirty="0"/>
              <a:t>员工人均收入提高了</a:t>
            </a:r>
            <a:r>
              <a:rPr lang="en-US" altLang="zh-CN" dirty="0"/>
              <a:t>19%</a:t>
            </a:r>
          </a:p>
        </p:txBody>
      </p:sp>
      <p:sp>
        <p:nvSpPr>
          <p:cNvPr id="3" name="文本框 2">
            <a:extLst>
              <a:ext uri="{FF2B5EF4-FFF2-40B4-BE49-F238E27FC236}">
                <a16:creationId xmlns:a16="http://schemas.microsoft.com/office/drawing/2014/main" id="{885DAAC4-5ED0-7648-B5E2-CD5889BEF2E7}"/>
              </a:ext>
            </a:extLst>
          </p:cNvPr>
          <p:cNvSpPr txBox="1"/>
          <p:nvPr/>
        </p:nvSpPr>
        <p:spPr>
          <a:xfrm>
            <a:off x="891483" y="242838"/>
            <a:ext cx="4480714" cy="2308324"/>
          </a:xfrm>
          <a:prstGeom prst="rect">
            <a:avLst/>
          </a:prstGeom>
          <a:solidFill>
            <a:schemeClr val="accent3"/>
          </a:solidFill>
        </p:spPr>
        <p:txBody>
          <a:bodyPr wrap="none" rtlCol="0">
            <a:spAutoFit/>
          </a:bodyPr>
          <a:lstStyle/>
          <a:p>
            <a:r>
              <a:rPr kumimoji="1" lang="en-US" altLang="zh-CN" dirty="0"/>
              <a:t>1.</a:t>
            </a:r>
            <a:r>
              <a:rPr kumimoji="1" lang="zh-CN" altLang="en-US" dirty="0"/>
              <a:t>库存周转率从</a:t>
            </a:r>
            <a:r>
              <a:rPr kumimoji="1" lang="en-US" altLang="zh-CN" dirty="0"/>
              <a:t>5.8</a:t>
            </a:r>
            <a:r>
              <a:rPr kumimoji="1" lang="zh-CN" altLang="en-US" dirty="0"/>
              <a:t>提高到</a:t>
            </a:r>
            <a:r>
              <a:rPr kumimoji="1" lang="en-US" altLang="zh-CN" dirty="0"/>
              <a:t>6.7</a:t>
            </a:r>
          </a:p>
          <a:p>
            <a:r>
              <a:rPr kumimoji="1" lang="en-US" altLang="zh-CN" dirty="0"/>
              <a:t>2.</a:t>
            </a:r>
            <a:r>
              <a:rPr kumimoji="1" lang="zh-CN" altLang="en-US" dirty="0"/>
              <a:t>顾客的平均购买从</a:t>
            </a:r>
            <a:r>
              <a:rPr kumimoji="1" lang="en-US" altLang="zh-CN" dirty="0"/>
              <a:t>97</a:t>
            </a:r>
            <a:r>
              <a:rPr kumimoji="1" lang="zh-CN" altLang="en-US" dirty="0"/>
              <a:t>美元提高到</a:t>
            </a:r>
            <a:r>
              <a:rPr kumimoji="1" lang="en-US" altLang="zh-CN" dirty="0"/>
              <a:t>128</a:t>
            </a:r>
            <a:r>
              <a:rPr kumimoji="1" lang="zh-CN" altLang="en-US" dirty="0"/>
              <a:t>美元</a:t>
            </a:r>
            <a:endParaRPr kumimoji="1" lang="en-US" altLang="zh-CN" dirty="0"/>
          </a:p>
          <a:p>
            <a:r>
              <a:rPr kumimoji="1" lang="en-US" altLang="zh-CN" dirty="0"/>
              <a:t>3.</a:t>
            </a:r>
            <a:r>
              <a:rPr kumimoji="1" lang="zh-CN" altLang="en-US" dirty="0"/>
              <a:t>员工士气高涨</a:t>
            </a:r>
            <a:endParaRPr kumimoji="1" lang="en-US" altLang="zh-CN" dirty="0"/>
          </a:p>
          <a:p>
            <a:r>
              <a:rPr kumimoji="1" lang="en-US" altLang="zh-CN" dirty="0"/>
              <a:t>4.</a:t>
            </a:r>
            <a:r>
              <a:rPr kumimoji="1" lang="zh-CN" altLang="en-US" dirty="0"/>
              <a:t>店内促销带来销售额</a:t>
            </a:r>
            <a:r>
              <a:rPr kumimoji="1" lang="en-US" altLang="zh-CN" dirty="0"/>
              <a:t>20%</a:t>
            </a:r>
            <a:r>
              <a:rPr kumimoji="1" lang="zh-CN" altLang="en-US" dirty="0"/>
              <a:t>的增长</a:t>
            </a:r>
            <a:endParaRPr kumimoji="1" lang="en-US" altLang="zh-CN" dirty="0"/>
          </a:p>
          <a:p>
            <a:r>
              <a:rPr kumimoji="1" lang="en-US" altLang="zh-CN" dirty="0"/>
              <a:t>5.</a:t>
            </a:r>
            <a:r>
              <a:rPr kumimoji="1" lang="zh-CN" altLang="en-US" dirty="0"/>
              <a:t>报纸广告费下降了</a:t>
            </a:r>
            <a:r>
              <a:rPr kumimoji="1" lang="en-US" altLang="zh-CN" dirty="0"/>
              <a:t>10%</a:t>
            </a:r>
          </a:p>
          <a:p>
            <a:r>
              <a:rPr kumimoji="1" lang="en-US" altLang="zh-CN" dirty="0"/>
              <a:t>6.</a:t>
            </a:r>
            <a:r>
              <a:rPr kumimoji="1" lang="zh-CN" altLang="en-US" dirty="0"/>
              <a:t>维修</a:t>
            </a:r>
            <a:r>
              <a:rPr kumimoji="1" lang="en-US" altLang="zh-CN" dirty="0"/>
              <a:t>/</a:t>
            </a:r>
            <a:r>
              <a:rPr kumimoji="1" lang="zh-CN" altLang="en-US" dirty="0"/>
              <a:t>服务收入增加了</a:t>
            </a:r>
            <a:r>
              <a:rPr kumimoji="1" lang="en-US" altLang="zh-CN" dirty="0"/>
              <a:t>16%</a:t>
            </a:r>
          </a:p>
          <a:p>
            <a:r>
              <a:rPr kumimoji="1" lang="en-US" altLang="zh-CN" dirty="0"/>
              <a:t>7.</a:t>
            </a:r>
            <a:r>
              <a:rPr kumimoji="1" lang="zh-CN" altLang="en-US" dirty="0"/>
              <a:t>店面技术人员拥有管理信息系统学位</a:t>
            </a:r>
            <a:endParaRPr kumimoji="1" lang="en-US" altLang="zh-CN" dirty="0"/>
          </a:p>
          <a:p>
            <a:r>
              <a:rPr kumimoji="1" lang="en-US" altLang="zh-CN" dirty="0"/>
              <a:t>9.</a:t>
            </a:r>
            <a:r>
              <a:rPr kumimoji="1" lang="zh-CN" altLang="en-US" dirty="0"/>
              <a:t>商店的债务对总资产比例下降</a:t>
            </a:r>
            <a:r>
              <a:rPr kumimoji="1" lang="en-US" altLang="zh-CN" dirty="0"/>
              <a:t>34%</a:t>
            </a:r>
          </a:p>
        </p:txBody>
      </p:sp>
      <p:sp>
        <p:nvSpPr>
          <p:cNvPr id="6" name="TextBox 4">
            <a:extLst>
              <a:ext uri="{FF2B5EF4-FFF2-40B4-BE49-F238E27FC236}">
                <a16:creationId xmlns:a16="http://schemas.microsoft.com/office/drawing/2014/main" id="{AE27A825-24B8-7E44-9F78-2F42478C3137}"/>
              </a:ext>
            </a:extLst>
          </p:cNvPr>
          <p:cNvSpPr txBox="1"/>
          <p:nvPr/>
        </p:nvSpPr>
        <p:spPr>
          <a:xfrm>
            <a:off x="251520" y="4987042"/>
            <a:ext cx="3147015" cy="1754326"/>
          </a:xfrm>
          <a:prstGeom prst="rect">
            <a:avLst/>
          </a:prstGeom>
          <a:solidFill>
            <a:schemeClr val="accent2">
              <a:lumMod val="25000"/>
            </a:schemeClr>
          </a:solidFill>
          <a:ln>
            <a:solidFill>
              <a:schemeClr val="accent2">
                <a:lumMod val="25000"/>
              </a:schemeClr>
            </a:solidFill>
          </a:ln>
        </p:spPr>
        <p:txBody>
          <a:bodyPr wrap="none" rtlCol="0">
            <a:spAutoFit/>
          </a:bodyPr>
          <a:lstStyle/>
          <a:p>
            <a:r>
              <a:rPr lang="en-US" altLang="zh-CN" dirty="0"/>
              <a:t>1.Bestbuy</a:t>
            </a:r>
            <a:r>
              <a:rPr lang="zh-CN" altLang="en-US" dirty="0"/>
              <a:t>一年内在附近开店</a:t>
            </a:r>
            <a:endParaRPr lang="en-US" altLang="zh-CN" dirty="0"/>
          </a:p>
          <a:p>
            <a:r>
              <a:rPr lang="en-US" altLang="zh-CN" dirty="0"/>
              <a:t>2.</a:t>
            </a:r>
            <a:r>
              <a:rPr lang="zh-CN" altLang="en-US" dirty="0"/>
              <a:t>当地大学提供电脑维修</a:t>
            </a:r>
            <a:endParaRPr lang="en-US" altLang="zh-CN" dirty="0"/>
          </a:p>
          <a:p>
            <a:r>
              <a:rPr lang="en-US" altLang="zh-CN" dirty="0"/>
              <a:t>3.</a:t>
            </a:r>
            <a:r>
              <a:rPr lang="zh-CN" altLang="en-US" dirty="0"/>
              <a:t>新高速公路的支线分散流量</a:t>
            </a:r>
            <a:endParaRPr lang="en-US" altLang="zh-CN" dirty="0"/>
          </a:p>
          <a:p>
            <a:r>
              <a:rPr lang="en-US" altLang="zh-CN" dirty="0"/>
              <a:t>4.</a:t>
            </a:r>
            <a:r>
              <a:rPr lang="zh-CN" altLang="en-US" dirty="0"/>
              <a:t>附近在建新的购物中心</a:t>
            </a:r>
            <a:endParaRPr lang="en-US" altLang="zh-CN" dirty="0"/>
          </a:p>
          <a:p>
            <a:r>
              <a:rPr lang="en-US" altLang="zh-CN" dirty="0"/>
              <a:t>5.</a:t>
            </a:r>
            <a:r>
              <a:rPr lang="zh-CN" altLang="en-US" dirty="0"/>
              <a:t>石油价格上涨</a:t>
            </a:r>
            <a:r>
              <a:rPr lang="en-US" altLang="zh-CN" dirty="0"/>
              <a:t>14%</a:t>
            </a:r>
          </a:p>
          <a:p>
            <a:r>
              <a:rPr lang="en-US" altLang="zh-CN" dirty="0"/>
              <a:t>6.</a:t>
            </a:r>
            <a:r>
              <a:rPr lang="zh-CN" altLang="en-US" dirty="0"/>
              <a:t>供应商将价格提高了</a:t>
            </a:r>
            <a:r>
              <a:rPr lang="en-US" altLang="zh-CN" dirty="0"/>
              <a:t>8%</a:t>
            </a:r>
            <a:endParaRPr lang="zh-CN" altLang="en-US" dirty="0"/>
          </a:p>
        </p:txBody>
      </p:sp>
      <p:sp>
        <p:nvSpPr>
          <p:cNvPr id="7" name="文本框 6">
            <a:extLst>
              <a:ext uri="{FF2B5EF4-FFF2-40B4-BE49-F238E27FC236}">
                <a16:creationId xmlns:a16="http://schemas.microsoft.com/office/drawing/2014/main" id="{3D9BAFFF-B989-4840-9487-4B69324F02BE}"/>
              </a:ext>
            </a:extLst>
          </p:cNvPr>
          <p:cNvSpPr txBox="1"/>
          <p:nvPr/>
        </p:nvSpPr>
        <p:spPr>
          <a:xfrm>
            <a:off x="251520" y="2671846"/>
            <a:ext cx="4301177" cy="2308324"/>
          </a:xfrm>
          <a:prstGeom prst="rect">
            <a:avLst/>
          </a:prstGeom>
          <a:solidFill>
            <a:schemeClr val="accent1"/>
          </a:solidFill>
        </p:spPr>
        <p:txBody>
          <a:bodyPr wrap="none" rtlCol="0">
            <a:spAutoFit/>
          </a:bodyPr>
          <a:lstStyle/>
          <a:p>
            <a:r>
              <a:rPr kumimoji="1" lang="en-US" altLang="zh-CN" dirty="0"/>
              <a:t>1.</a:t>
            </a:r>
            <a:r>
              <a:rPr kumimoji="1" lang="zh-CN" altLang="en-US" dirty="0"/>
              <a:t>城市人口增加了</a:t>
            </a:r>
            <a:r>
              <a:rPr kumimoji="1" lang="en-US" altLang="zh-CN" dirty="0"/>
              <a:t>10%</a:t>
            </a:r>
          </a:p>
          <a:p>
            <a:r>
              <a:rPr kumimoji="1" lang="en-US" altLang="zh-CN" dirty="0"/>
              <a:t>2.</a:t>
            </a:r>
            <a:r>
              <a:rPr kumimoji="1" lang="zh-CN" altLang="en-US" dirty="0"/>
              <a:t>竞争对手的店铺开在</a:t>
            </a:r>
            <a:r>
              <a:rPr kumimoji="1" lang="en-US" altLang="zh-CN" dirty="0"/>
              <a:t>1</a:t>
            </a:r>
            <a:r>
              <a:rPr kumimoji="1" lang="zh-CN" altLang="en-US" dirty="0"/>
              <a:t>英里之外</a:t>
            </a:r>
            <a:endParaRPr kumimoji="1" lang="en-US" altLang="zh-CN" dirty="0"/>
          </a:p>
          <a:p>
            <a:r>
              <a:rPr kumimoji="1" lang="en-US" altLang="zh-CN" dirty="0"/>
              <a:t>3.</a:t>
            </a:r>
            <a:r>
              <a:rPr kumimoji="1" lang="zh-CN" altLang="en-US" dirty="0"/>
              <a:t>经过店铺的车流量增加了</a:t>
            </a:r>
            <a:r>
              <a:rPr kumimoji="1" lang="en-US" altLang="zh-CN" dirty="0"/>
              <a:t>12%</a:t>
            </a:r>
          </a:p>
          <a:p>
            <a:r>
              <a:rPr kumimoji="1" lang="en-US" altLang="zh-CN" dirty="0"/>
              <a:t>4.</a:t>
            </a:r>
            <a:r>
              <a:rPr kumimoji="1" lang="zh-CN" altLang="en-US" dirty="0"/>
              <a:t>供应商每年平均发布</a:t>
            </a:r>
            <a:r>
              <a:rPr kumimoji="1" lang="en-US" altLang="zh-CN" dirty="0"/>
              <a:t>6</a:t>
            </a:r>
            <a:r>
              <a:rPr kumimoji="1" lang="zh-CN" altLang="en-US" dirty="0"/>
              <a:t>款新产品</a:t>
            </a:r>
            <a:endParaRPr kumimoji="1" lang="en-US" altLang="zh-CN" dirty="0"/>
          </a:p>
          <a:p>
            <a:r>
              <a:rPr kumimoji="1" lang="en-US" altLang="zh-CN" dirty="0"/>
              <a:t>5.</a:t>
            </a:r>
            <a:r>
              <a:rPr kumimoji="1" lang="zh-CN" altLang="en-US" dirty="0"/>
              <a:t>使用电脑的老年市民人数增加了</a:t>
            </a:r>
            <a:r>
              <a:rPr kumimoji="1" lang="en-US" altLang="zh-CN" dirty="0"/>
              <a:t>8%</a:t>
            </a:r>
          </a:p>
          <a:p>
            <a:r>
              <a:rPr kumimoji="1" lang="en-US" altLang="zh-CN" dirty="0"/>
              <a:t>6.</a:t>
            </a:r>
            <a:r>
              <a:rPr kumimoji="1" lang="zh-CN" altLang="en-US" dirty="0"/>
              <a:t>当地中小企业增加了</a:t>
            </a:r>
            <a:r>
              <a:rPr kumimoji="1" lang="en-US" altLang="zh-CN" dirty="0"/>
              <a:t>10%</a:t>
            </a:r>
          </a:p>
          <a:p>
            <a:r>
              <a:rPr kumimoji="1" lang="en-US" altLang="zh-CN" dirty="0"/>
              <a:t>7.</a:t>
            </a:r>
            <a:r>
              <a:rPr kumimoji="1" lang="zh-CN" altLang="en-US" dirty="0"/>
              <a:t>房地产经纪人对网站的需求上涨了</a:t>
            </a:r>
            <a:r>
              <a:rPr kumimoji="1" lang="en-US" altLang="zh-CN" dirty="0"/>
              <a:t>18%</a:t>
            </a:r>
          </a:p>
          <a:p>
            <a:r>
              <a:rPr kumimoji="1" lang="en-US" altLang="zh-CN" dirty="0"/>
              <a:t>8.</a:t>
            </a:r>
            <a:r>
              <a:rPr kumimoji="1" lang="zh-CN" altLang="en-US" dirty="0"/>
              <a:t>中小企业对网站的需要上涨了</a:t>
            </a:r>
            <a:r>
              <a:rPr kumimoji="1" lang="en-US" altLang="zh-CN" dirty="0"/>
              <a:t>12%</a:t>
            </a:r>
          </a:p>
        </p:txBody>
      </p:sp>
    </p:spTree>
    <p:extLst>
      <p:ext uri="{BB962C8B-B14F-4D97-AF65-F5344CB8AC3E}">
        <p14:creationId xmlns:p14="http://schemas.microsoft.com/office/powerpoint/2010/main" val="3329288615"/>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98702CD4-B793-D242-BB96-D3F26327A706}"/>
              </a:ext>
            </a:extLst>
          </p:cNvPr>
          <p:cNvSpPr>
            <a:spLocks noGrp="1" noChangeArrowheads="1"/>
          </p:cNvSpPr>
          <p:nvPr>
            <p:ph type="ctrTitle"/>
          </p:nvPr>
        </p:nvSpPr>
        <p:spPr/>
        <p:txBody>
          <a:bodyPr/>
          <a:lstStyle/>
          <a:p>
            <a:r>
              <a:rPr lang="zh-CN" altLang="en-US" b="1">
                <a:ea typeface="楷体_GB2312" pitchFamily="49" charset="-122"/>
              </a:rPr>
              <a:t>企业战略与企业文化</a:t>
            </a:r>
          </a:p>
        </p:txBody>
      </p:sp>
      <p:sp>
        <p:nvSpPr>
          <p:cNvPr id="2051" name="Rectangle 3">
            <a:extLst>
              <a:ext uri="{FF2B5EF4-FFF2-40B4-BE49-F238E27FC236}">
                <a16:creationId xmlns:a16="http://schemas.microsoft.com/office/drawing/2014/main" id="{1BD3B5D9-93C1-2F4B-9F92-D227AE112602}"/>
              </a:ext>
            </a:extLst>
          </p:cNvPr>
          <p:cNvSpPr>
            <a:spLocks noGrp="1" noChangeArrowheads="1"/>
          </p:cNvSpPr>
          <p:nvPr>
            <p:ph type="subTitle" idx="1"/>
          </p:nvPr>
        </p:nvSpPr>
        <p:spPr/>
        <p:txBody>
          <a:bodyPr/>
          <a:lstStyle/>
          <a:p>
            <a:endParaRPr lang="zh-CN" altLang="zh-CN"/>
          </a:p>
        </p:txBody>
      </p:sp>
    </p:spTree>
    <p:extLst>
      <p:ext uri="{BB962C8B-B14F-4D97-AF65-F5344CB8AC3E}">
        <p14:creationId xmlns:p14="http://schemas.microsoft.com/office/powerpoint/2010/main" val="619777749"/>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53536"/>
            <a:ext cx="8229600" cy="1143000"/>
          </a:xfrm>
        </p:spPr>
        <p:txBody>
          <a:bodyPr/>
          <a:lstStyle/>
          <a:p>
            <a:pPr marL="54864" indent="0" fontAlgn="auto">
              <a:spcAft>
                <a:spcPts val="0"/>
              </a:spcAft>
              <a:defRPr/>
            </a:pPr>
            <a:r>
              <a:rPr lang="zh-CN" altLang="en-US" dirty="0">
                <a:solidFill>
                  <a:schemeClr val="tx2">
                    <a:tint val="100000"/>
                    <a:shade val="90000"/>
                    <a:satMod val="250000"/>
                    <a:alpha val="100000"/>
                  </a:schemeClr>
                </a:solidFill>
                <a:cs typeface="+mj-cs"/>
              </a:rPr>
              <a:t>企业战略和企业文化的关系</a:t>
            </a:r>
          </a:p>
        </p:txBody>
      </p:sp>
      <p:sp>
        <p:nvSpPr>
          <p:cNvPr id="90114" name="内容占位符 2"/>
          <p:cNvSpPr>
            <a:spLocks noGrp="1"/>
          </p:cNvSpPr>
          <p:nvPr>
            <p:ph idx="1"/>
          </p:nvPr>
        </p:nvSpPr>
        <p:spPr/>
        <p:txBody>
          <a:bodyPr/>
          <a:lstStyle/>
          <a:p>
            <a:r>
              <a:rPr lang="zh-CN" altLang="en-US"/>
              <a:t>企业文化是企业战略成功制定的重要条件</a:t>
            </a:r>
            <a:endParaRPr lang="en-US" altLang="zh-CN"/>
          </a:p>
          <a:p>
            <a:r>
              <a:rPr lang="zh-CN" altLang="en-US"/>
              <a:t>企业文化是企业战略实施的重要手段</a:t>
            </a:r>
            <a:endParaRPr lang="en-US" altLang="zh-CN"/>
          </a:p>
          <a:p>
            <a:r>
              <a:rPr lang="zh-CN" altLang="en-US"/>
              <a:t>企业文化与企业战略必须相互适应与协调</a:t>
            </a:r>
            <a:endParaRPr lang="en-US" altLang="zh-CN"/>
          </a:p>
          <a:p>
            <a:pPr lvl="1"/>
            <a:endParaRPr lang="zh-CN" altLang="en-US"/>
          </a:p>
        </p:txBody>
      </p:sp>
    </p:spTree>
    <p:extLst>
      <p:ext uri="{BB962C8B-B14F-4D97-AF65-F5344CB8AC3E}">
        <p14:creationId xmlns:p14="http://schemas.microsoft.com/office/powerpoint/2010/main" val="2621480601"/>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631FBD64-21F9-A547-9876-3C5535D944A6}"/>
              </a:ext>
            </a:extLst>
          </p:cNvPr>
          <p:cNvSpPr>
            <a:spLocks noGrp="1" noChangeArrowheads="1"/>
          </p:cNvSpPr>
          <p:nvPr>
            <p:ph type="title"/>
          </p:nvPr>
        </p:nvSpPr>
        <p:spPr>
          <a:xfrm>
            <a:off x="1066800" y="381000"/>
            <a:ext cx="7772400" cy="1143000"/>
          </a:xfrm>
        </p:spPr>
        <p:txBody>
          <a:bodyPr/>
          <a:lstStyle/>
          <a:p>
            <a:r>
              <a:rPr lang="zh-CN" altLang="en-US" b="1" dirty="0">
                <a:ea typeface="楷体_GB2312" pitchFamily="49" charset="-122"/>
              </a:rPr>
              <a:t>企业战略与企业文化</a:t>
            </a:r>
          </a:p>
        </p:txBody>
      </p:sp>
      <p:sp>
        <p:nvSpPr>
          <p:cNvPr id="3075" name="Rectangle 3">
            <a:extLst>
              <a:ext uri="{FF2B5EF4-FFF2-40B4-BE49-F238E27FC236}">
                <a16:creationId xmlns:a16="http://schemas.microsoft.com/office/drawing/2014/main" id="{2750A43B-DFD6-3644-9969-AB907507C6C5}"/>
              </a:ext>
            </a:extLst>
          </p:cNvPr>
          <p:cNvSpPr>
            <a:spLocks noGrp="1" noChangeArrowheads="1"/>
          </p:cNvSpPr>
          <p:nvPr>
            <p:ph type="body" idx="1"/>
          </p:nvPr>
        </p:nvSpPr>
        <p:spPr>
          <a:xfrm>
            <a:off x="152400" y="1524000"/>
            <a:ext cx="8839200" cy="4692650"/>
          </a:xfrm>
        </p:spPr>
        <p:txBody>
          <a:bodyPr/>
          <a:lstStyle/>
          <a:p>
            <a:pPr>
              <a:lnSpc>
                <a:spcPct val="90000"/>
              </a:lnSpc>
            </a:pPr>
            <a:r>
              <a:rPr lang="zh-CN" altLang="en-US" sz="2400" b="1" dirty="0">
                <a:ea typeface="楷体_GB2312" pitchFamily="49" charset="-122"/>
              </a:rPr>
              <a:t>在战略管理中，企业战略与企业文化的关系主要表现在以下三个方面：</a:t>
            </a:r>
          </a:p>
          <a:p>
            <a:pPr lvl="1">
              <a:lnSpc>
                <a:spcPct val="90000"/>
              </a:lnSpc>
            </a:pPr>
            <a:r>
              <a:rPr lang="zh-CN" altLang="en-US" sz="1800" b="1" dirty="0">
                <a:ea typeface="楷体_GB2312" pitchFamily="49" charset="-122"/>
              </a:rPr>
              <a:t>优秀的企业文化是企业战略制订获得成功的重要条件。优秀的文化能够突出企业的特色，形成企业成员共同的价值观念，而且企业文化具有鲜明的个性，有利于企业制定处与众不同的、克敌制胜的战略。</a:t>
            </a:r>
          </a:p>
          <a:p>
            <a:pPr lvl="1">
              <a:lnSpc>
                <a:spcPct val="90000"/>
              </a:lnSpc>
            </a:pPr>
            <a:r>
              <a:rPr lang="zh-CN" altLang="en-US" sz="1800" b="1" dirty="0">
                <a:ea typeface="楷体_GB2312" pitchFamily="49" charset="-122"/>
              </a:rPr>
              <a:t>企业文化使战略实施的重要手段。企业战略制订以后，需要全体成员积极有效的贯彻实施，正是企业文化的导向、约束、凝聚、激励等作用，激发了员工的热情，统一了员工的意志及欲望，激励员工为实现企业的目标而努力奋斗。</a:t>
            </a:r>
            <a:endParaRPr lang="en-US" altLang="zh-CN" sz="1800" b="1" dirty="0">
              <a:ea typeface="楷体_GB2312" pitchFamily="49" charset="-122"/>
            </a:endParaRPr>
          </a:p>
          <a:p>
            <a:pPr lvl="1">
              <a:lnSpc>
                <a:spcPct val="90000"/>
              </a:lnSpc>
            </a:pPr>
            <a:r>
              <a:rPr lang="zh-CN" altLang="en-US" sz="1800" b="1" dirty="0">
                <a:ea typeface="楷体_GB2312" pitchFamily="49" charset="-122"/>
              </a:rPr>
              <a:t>企业文化与企业战略必须相互适应和相互协调。严格的讲，当战略制订之后，企业文化应该随着新战略的制订而有所变化。但是，一个企业的文化一旦形成以后，要对企业文化进行变革难度很大，也就是说企业文化具有较大的刚性，而且它还具有一定的持续性，会在企业发展过程中又逐渐强化的趋势。因此从战略实施的角度来看，企业文化要为实施企业战略服务，又会制约企业战略的实施。当企业制定了新的战略要求企业文化与之相配合时，企业的原有文化变革速度非常慢，很难马上对新战略做出反应，者使企业原有的文化就有可能成为实施新战略的阻力，因此在战略管理的过程中，企业内部新旧文化的更替和协调是战略实施获得成功的保证。</a:t>
            </a:r>
          </a:p>
        </p:txBody>
      </p:sp>
    </p:spTree>
    <p:extLst>
      <p:ext uri="{BB962C8B-B14F-4D97-AF65-F5344CB8AC3E}">
        <p14:creationId xmlns:p14="http://schemas.microsoft.com/office/powerpoint/2010/main" val="1480492452"/>
      </p:ext>
    </p:extLst>
  </p:cSld>
  <p:clrMapOvr>
    <a:masterClrMapping/>
  </p:clrMapOvr>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53536"/>
            <a:ext cx="8229600" cy="1143000"/>
          </a:xfrm>
        </p:spPr>
        <p:txBody>
          <a:bodyPr>
            <a:normAutofit fontScale="90000"/>
          </a:bodyPr>
          <a:lstStyle/>
          <a:p>
            <a:pPr marL="54864" indent="0" fontAlgn="auto">
              <a:spcAft>
                <a:spcPts val="0"/>
              </a:spcAft>
              <a:defRPr/>
            </a:pPr>
            <a:r>
              <a:rPr lang="zh-CN" altLang="en-US" dirty="0">
                <a:solidFill>
                  <a:schemeClr val="tx2">
                    <a:tint val="100000"/>
                    <a:shade val="90000"/>
                    <a:satMod val="250000"/>
                    <a:alpha val="100000"/>
                  </a:schemeClr>
                </a:solidFill>
                <a:cs typeface="+mj-cs"/>
              </a:rPr>
              <a:t>企业战略与企业文化相适应的关系形式</a:t>
            </a:r>
          </a:p>
        </p:txBody>
      </p:sp>
      <p:graphicFrame>
        <p:nvGraphicFramePr>
          <p:cNvPr id="4" name="内容占位符 3"/>
          <p:cNvGraphicFramePr>
            <a:graphicFrameLocks noGrp="1"/>
          </p:cNvGraphicFramePr>
          <p:nvPr>
            <p:ph idx="1"/>
          </p:nvPr>
        </p:nvGraphicFramePr>
        <p:xfrm>
          <a:off x="2051050" y="2019300"/>
          <a:ext cx="5760640" cy="2574850"/>
        </p:xfrm>
        <a:graphic>
          <a:graphicData uri="http://schemas.openxmlformats.org/drawingml/2006/table">
            <a:tbl>
              <a:tblPr firstRow="1" bandRow="1">
                <a:tableStyleId>{5C22544A-7EE6-4342-B048-85BDC9FD1C3A}</a:tableStyleId>
              </a:tblPr>
              <a:tblGrid>
                <a:gridCol w="2880320">
                  <a:extLst>
                    <a:ext uri="{9D8B030D-6E8A-4147-A177-3AD203B41FA5}">
                      <a16:colId xmlns:a16="http://schemas.microsoft.com/office/drawing/2014/main" val="20000"/>
                    </a:ext>
                  </a:extLst>
                </a:gridCol>
                <a:gridCol w="2880320">
                  <a:extLst>
                    <a:ext uri="{9D8B030D-6E8A-4147-A177-3AD203B41FA5}">
                      <a16:colId xmlns:a16="http://schemas.microsoft.com/office/drawing/2014/main" val="20001"/>
                    </a:ext>
                  </a:extLst>
                </a:gridCol>
              </a:tblGrid>
              <a:tr h="128742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新战略的战略要素发生很大变化，但这些变化与企业原有的文化相一致</a:t>
                      </a:r>
                    </a:p>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新战略的战略要素发生很大变化，且这些变化与企业原有的文化不一致</a:t>
                      </a:r>
                    </a:p>
                    <a:p>
                      <a:endParaRPr lang="zh-CN" altLang="en-US" dirty="0"/>
                    </a:p>
                  </a:txBody>
                  <a:tcPr/>
                </a:tc>
                <a:extLst>
                  <a:ext uri="{0D108BD9-81ED-4DB2-BD59-A6C34878D82A}">
                    <a16:rowId xmlns:a16="http://schemas.microsoft.com/office/drawing/2014/main" val="10000"/>
                  </a:ext>
                </a:extLst>
              </a:tr>
              <a:tr h="128742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新战略要素变化不大，且这些变化与企业原有的文化相一致</a:t>
                      </a:r>
                    </a:p>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新战略要素变化不大，但这些变化与企业原有的文化不一致</a:t>
                      </a:r>
                    </a:p>
                    <a:p>
                      <a:endParaRPr lang="zh-CN" altLang="en-US" dirty="0"/>
                    </a:p>
                  </a:txBody>
                  <a:tcPr/>
                </a:tc>
                <a:extLst>
                  <a:ext uri="{0D108BD9-81ED-4DB2-BD59-A6C34878D82A}">
                    <a16:rowId xmlns:a16="http://schemas.microsoft.com/office/drawing/2014/main" val="10001"/>
                  </a:ext>
                </a:extLst>
              </a:tr>
            </a:tbl>
          </a:graphicData>
        </a:graphic>
      </p:graphicFrame>
      <p:sp>
        <p:nvSpPr>
          <p:cNvPr id="91149" name="TextBox 4"/>
          <p:cNvSpPr txBox="1">
            <a:spLocks noChangeArrowheads="1"/>
          </p:cNvSpPr>
          <p:nvPr/>
        </p:nvSpPr>
        <p:spPr bwMode="auto">
          <a:xfrm>
            <a:off x="323850" y="2060575"/>
            <a:ext cx="1630363" cy="2400300"/>
          </a:xfrm>
          <a:prstGeom prst="rect">
            <a:avLst/>
          </a:prstGeom>
          <a:noFill/>
          <a:ln w="9525">
            <a:noFill/>
            <a:miter lim="800000"/>
            <a:headEnd/>
            <a:tailEnd/>
          </a:ln>
        </p:spPr>
        <p:txBody>
          <a:bodyPr vert="eaVert" wrap="none">
            <a:spAutoFit/>
          </a:bodyPr>
          <a:lstStyle/>
          <a:p>
            <a:r>
              <a:rPr lang="zh-CN" altLang="en-US" sz="2000">
                <a:latin typeface="Rockwell"/>
                <a:ea typeface="方正姚体"/>
              </a:rPr>
              <a:t>大              小</a:t>
            </a:r>
            <a:endParaRPr lang="en-US" altLang="zh-CN" sz="2000">
              <a:latin typeface="Rockwell"/>
              <a:ea typeface="方正姚体"/>
            </a:endParaRPr>
          </a:p>
          <a:p>
            <a:r>
              <a:rPr lang="zh-CN" altLang="en-US" sz="2000">
                <a:latin typeface="Rockwell"/>
                <a:ea typeface="方正姚体"/>
              </a:rPr>
              <a:t>企业战略要素的变化</a:t>
            </a:r>
            <a:endParaRPr lang="en-US" altLang="zh-CN" sz="2000">
              <a:latin typeface="Rockwell"/>
              <a:ea typeface="方正姚体"/>
            </a:endParaRPr>
          </a:p>
          <a:p>
            <a:endParaRPr lang="en-US" altLang="zh-CN">
              <a:latin typeface="Rockwell"/>
              <a:ea typeface="方正姚体"/>
            </a:endParaRPr>
          </a:p>
          <a:p>
            <a:endParaRPr lang="en-US" altLang="zh-CN">
              <a:latin typeface="Rockwell"/>
              <a:ea typeface="方正姚体"/>
            </a:endParaRPr>
          </a:p>
          <a:p>
            <a:endParaRPr lang="zh-CN" altLang="en-US">
              <a:latin typeface="Rockwell"/>
              <a:ea typeface="方正姚体"/>
            </a:endParaRPr>
          </a:p>
        </p:txBody>
      </p:sp>
      <p:sp>
        <p:nvSpPr>
          <p:cNvPr id="91150" name="TextBox 5"/>
          <p:cNvSpPr txBox="1">
            <a:spLocks noChangeArrowheads="1"/>
          </p:cNvSpPr>
          <p:nvPr/>
        </p:nvSpPr>
        <p:spPr bwMode="auto">
          <a:xfrm>
            <a:off x="2843213" y="4954588"/>
            <a:ext cx="4918075" cy="922337"/>
          </a:xfrm>
          <a:prstGeom prst="rect">
            <a:avLst/>
          </a:prstGeom>
          <a:noFill/>
          <a:ln w="9525">
            <a:noFill/>
            <a:miter lim="800000"/>
            <a:headEnd/>
            <a:tailEnd/>
          </a:ln>
        </p:spPr>
        <p:txBody>
          <a:bodyPr wrap="none">
            <a:spAutoFit/>
          </a:bodyPr>
          <a:lstStyle/>
          <a:p>
            <a:r>
              <a:rPr lang="zh-CN" altLang="en-US">
                <a:latin typeface="Rockwell"/>
                <a:ea typeface="方正姚体"/>
              </a:rPr>
              <a:t>小                                     大</a:t>
            </a:r>
            <a:endParaRPr lang="en-US" altLang="zh-CN">
              <a:latin typeface="Rockwell"/>
              <a:ea typeface="方正姚体"/>
            </a:endParaRPr>
          </a:p>
          <a:p>
            <a:endParaRPr lang="en-US" altLang="zh-CN">
              <a:latin typeface="Rockwell"/>
              <a:ea typeface="方正姚体"/>
            </a:endParaRPr>
          </a:p>
          <a:p>
            <a:r>
              <a:rPr lang="zh-CN" altLang="en-US">
                <a:latin typeface="Rockwell"/>
                <a:ea typeface="方正姚体"/>
              </a:rPr>
              <a:t>企业文化的变化</a:t>
            </a:r>
          </a:p>
        </p:txBody>
      </p:sp>
    </p:spTree>
    <p:extLst>
      <p:ext uri="{BB962C8B-B14F-4D97-AF65-F5344CB8AC3E}">
        <p14:creationId xmlns:p14="http://schemas.microsoft.com/office/powerpoint/2010/main" val="1842235039"/>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A3F5E6E-FCB8-F34C-8E05-855033B343F3}"/>
              </a:ext>
            </a:extLst>
          </p:cNvPr>
          <p:cNvSpPr>
            <a:spLocks noGrp="1" noChangeArrowheads="1"/>
          </p:cNvSpPr>
          <p:nvPr>
            <p:ph type="title"/>
          </p:nvPr>
        </p:nvSpPr>
        <p:spPr/>
        <p:txBody>
          <a:bodyPr/>
          <a:lstStyle/>
          <a:p>
            <a:r>
              <a:rPr lang="en-US" altLang="zh-CN" sz="3000" b="1" dirty="0">
                <a:solidFill>
                  <a:srgbClr val="A11203"/>
                </a:solidFill>
                <a:ea typeface="楷体_GB2312" pitchFamily="49" charset="-122"/>
              </a:rPr>
              <a:t> </a:t>
            </a:r>
            <a:r>
              <a:rPr lang="en-US" altLang="zh-CN" b="1" dirty="0">
                <a:ea typeface="楷体_GB2312" pitchFamily="49" charset="-122"/>
              </a:rPr>
              <a:t> </a:t>
            </a:r>
            <a:r>
              <a:rPr lang="zh-CN" altLang="en-US" b="1" dirty="0">
                <a:ea typeface="楷体_GB2312" pitchFamily="49" charset="-122"/>
              </a:rPr>
              <a:t>企业战略与企业文化</a:t>
            </a:r>
          </a:p>
        </p:txBody>
      </p:sp>
      <p:sp>
        <p:nvSpPr>
          <p:cNvPr id="6147" name="Rectangle 3">
            <a:extLst>
              <a:ext uri="{FF2B5EF4-FFF2-40B4-BE49-F238E27FC236}">
                <a16:creationId xmlns:a16="http://schemas.microsoft.com/office/drawing/2014/main" id="{38BFB346-3AD7-6F4D-84F8-02D7493F97F2}"/>
              </a:ext>
            </a:extLst>
          </p:cNvPr>
          <p:cNvSpPr>
            <a:spLocks noGrp="1" noChangeArrowheads="1"/>
          </p:cNvSpPr>
          <p:nvPr>
            <p:ph type="body" idx="1"/>
          </p:nvPr>
        </p:nvSpPr>
        <p:spPr/>
        <p:txBody>
          <a:bodyPr/>
          <a:lstStyle/>
          <a:p>
            <a:r>
              <a:rPr lang="en-US" altLang="zh-CN" sz="2400" b="1" dirty="0">
                <a:ea typeface="楷体_GB2312" pitchFamily="49" charset="-122"/>
              </a:rPr>
              <a:t>      </a:t>
            </a:r>
            <a:r>
              <a:rPr lang="zh-CN" altLang="en-US" sz="2400" b="1" dirty="0">
                <a:ea typeface="楷体_GB2312" pitchFamily="49" charset="-122"/>
              </a:rPr>
              <a:t>图中左下象限是指企业实施一个新战略，企业组织要素变化不大，而且这种变化与企业原有文化一致。在这种情况下，高层管理者主要考虑两个问题：</a:t>
            </a:r>
          </a:p>
          <a:p>
            <a:r>
              <a:rPr lang="zh-CN" altLang="en-US" sz="2400" b="1" dirty="0">
                <a:ea typeface="楷体_GB2312" pitchFamily="49" charset="-122"/>
              </a:rPr>
              <a:t>       </a:t>
            </a:r>
            <a:r>
              <a:rPr lang="en-US" altLang="zh-CN" sz="2400" b="1" dirty="0">
                <a:ea typeface="楷体_GB2312" pitchFamily="49" charset="-122"/>
              </a:rPr>
              <a:t>1</a:t>
            </a:r>
            <a:r>
              <a:rPr lang="zh-CN" altLang="en-US" sz="2400" b="1" dirty="0">
                <a:ea typeface="楷体_GB2312" pitchFamily="49" charset="-122"/>
              </a:rPr>
              <a:t>。 利用目前的有利条件，巩固和加强企业自己的企业文化；</a:t>
            </a:r>
          </a:p>
          <a:p>
            <a:r>
              <a:rPr lang="zh-CN" altLang="en-US" sz="2400" b="1" dirty="0">
                <a:ea typeface="楷体_GB2312" pitchFamily="49" charset="-122"/>
              </a:rPr>
              <a:t>       </a:t>
            </a:r>
            <a:r>
              <a:rPr lang="en-US" altLang="zh-CN" sz="2400" b="1" dirty="0">
                <a:ea typeface="楷体_GB2312" pitchFamily="49" charset="-122"/>
              </a:rPr>
              <a:t>2</a:t>
            </a:r>
            <a:r>
              <a:rPr lang="zh-CN" altLang="en-US" sz="2400" b="1" dirty="0">
                <a:ea typeface="楷体_GB2312" pitchFamily="49" charset="-122"/>
              </a:rPr>
              <a:t>。 利用企业文化相对稳定及持续性的特点，充分发挥企业文化对企业战略的实施的促进作用。</a:t>
            </a:r>
          </a:p>
        </p:txBody>
      </p:sp>
    </p:spTree>
    <p:extLst>
      <p:ext uri="{BB962C8B-B14F-4D97-AF65-F5344CB8AC3E}">
        <p14:creationId xmlns:p14="http://schemas.microsoft.com/office/powerpoint/2010/main" val="408508003"/>
      </p:ext>
    </p:extLst>
  </p:cSld>
  <p:clrMapOvr>
    <a:masterClrMapping/>
  </p:clrMapOvr>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AD50D794-014C-1D4D-A7C8-39F58B259C92}"/>
              </a:ext>
            </a:extLst>
          </p:cNvPr>
          <p:cNvSpPr>
            <a:spLocks noGrp="1" noChangeArrowheads="1"/>
          </p:cNvSpPr>
          <p:nvPr>
            <p:ph type="title"/>
          </p:nvPr>
        </p:nvSpPr>
        <p:spPr/>
        <p:txBody>
          <a:bodyPr/>
          <a:lstStyle/>
          <a:p>
            <a:r>
              <a:rPr lang="en-US" altLang="zh-CN" sz="3000" b="1">
                <a:solidFill>
                  <a:srgbClr val="A11203"/>
                </a:solidFill>
                <a:ea typeface="楷体_GB2312" pitchFamily="49" charset="-122"/>
              </a:rPr>
              <a:t> </a:t>
            </a:r>
            <a:r>
              <a:rPr lang="zh-CN" altLang="en-US" b="1">
                <a:ea typeface="楷体_GB2312" pitchFamily="49" charset="-122"/>
              </a:rPr>
              <a:t>企业战略与企业文化</a:t>
            </a:r>
          </a:p>
        </p:txBody>
      </p:sp>
      <p:sp>
        <p:nvSpPr>
          <p:cNvPr id="7171" name="Rectangle 3">
            <a:extLst>
              <a:ext uri="{FF2B5EF4-FFF2-40B4-BE49-F238E27FC236}">
                <a16:creationId xmlns:a16="http://schemas.microsoft.com/office/drawing/2014/main" id="{9284A98E-E13E-114F-9378-83E8E4A45DC2}"/>
              </a:ext>
            </a:extLst>
          </p:cNvPr>
          <p:cNvSpPr>
            <a:spLocks noGrp="1" noChangeArrowheads="1"/>
          </p:cNvSpPr>
          <p:nvPr>
            <p:ph type="body" idx="1"/>
          </p:nvPr>
        </p:nvSpPr>
        <p:spPr/>
        <p:txBody>
          <a:bodyPr/>
          <a:lstStyle/>
          <a:p>
            <a:r>
              <a:rPr lang="en-US" altLang="zh-CN" sz="2400" b="1" dirty="0">
                <a:ea typeface="楷体_GB2312" pitchFamily="49" charset="-122"/>
              </a:rPr>
              <a:t>        </a:t>
            </a:r>
            <a:r>
              <a:rPr lang="zh-CN" altLang="en-US" sz="2400" b="1" dirty="0">
                <a:ea typeface="楷体_GB2312" pitchFamily="49" charset="-122"/>
              </a:rPr>
              <a:t>图中左上象限是指企业实施一个新战略，企业的组织要素会发生很大的变化，但这些变化与企业的原有文化有潜在的一致性。这种情况大多是以往企业的效益就比较好，他们根据自己的实力，寻找可以利用的机会，以求得更大的发展，或者他们总是试图扩大自己的主要产品和市场，以求得发展。总之，这种企业处于一种非常有前途的地位，他们可以在企业原有文化的大力支持下，实施新的战略。</a:t>
            </a:r>
          </a:p>
        </p:txBody>
      </p:sp>
    </p:spTree>
    <p:extLst>
      <p:ext uri="{BB962C8B-B14F-4D97-AF65-F5344CB8AC3E}">
        <p14:creationId xmlns:p14="http://schemas.microsoft.com/office/powerpoint/2010/main" val="32576788"/>
      </p:ext>
    </p:extLst>
  </p:cSld>
  <p:clrMapOvr>
    <a:masterClrMapping/>
  </p:clrMapOvr>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5CA682D4-F758-2744-B387-407AD60CF4DA}"/>
              </a:ext>
            </a:extLst>
          </p:cNvPr>
          <p:cNvSpPr>
            <a:spLocks noGrp="1" noChangeArrowheads="1"/>
          </p:cNvSpPr>
          <p:nvPr>
            <p:ph type="title"/>
          </p:nvPr>
        </p:nvSpPr>
        <p:spPr/>
        <p:txBody>
          <a:bodyPr/>
          <a:lstStyle/>
          <a:p>
            <a:r>
              <a:rPr lang="en-US" altLang="zh-CN" b="1" dirty="0">
                <a:ea typeface="楷体_GB2312" pitchFamily="49" charset="-122"/>
              </a:rPr>
              <a:t> </a:t>
            </a:r>
            <a:r>
              <a:rPr lang="zh-CN" altLang="en-US" b="1" dirty="0">
                <a:ea typeface="楷体_GB2312" pitchFamily="49" charset="-122"/>
              </a:rPr>
              <a:t>企业战略与企业文化</a:t>
            </a:r>
          </a:p>
        </p:txBody>
      </p:sp>
      <p:sp>
        <p:nvSpPr>
          <p:cNvPr id="8195" name="Rectangle 3">
            <a:extLst>
              <a:ext uri="{FF2B5EF4-FFF2-40B4-BE49-F238E27FC236}">
                <a16:creationId xmlns:a16="http://schemas.microsoft.com/office/drawing/2014/main" id="{36DD4B16-B8CC-394F-BAF3-891717F1CAD5}"/>
              </a:ext>
            </a:extLst>
          </p:cNvPr>
          <p:cNvSpPr>
            <a:spLocks noGrp="1" noChangeArrowheads="1"/>
          </p:cNvSpPr>
          <p:nvPr>
            <p:ph type="body" idx="1"/>
          </p:nvPr>
        </p:nvSpPr>
        <p:spPr/>
        <p:txBody>
          <a:bodyPr/>
          <a:lstStyle/>
          <a:p>
            <a:r>
              <a:rPr lang="en-US" altLang="zh-CN" sz="2000" b="1" dirty="0">
                <a:ea typeface="楷体_GB2312" pitchFamily="49" charset="-122"/>
              </a:rPr>
              <a:t>    </a:t>
            </a:r>
            <a:r>
              <a:rPr lang="zh-CN" altLang="en-US" sz="2000" b="1" dirty="0">
                <a:ea typeface="楷体_GB2312" pitchFamily="49" charset="-122"/>
              </a:rPr>
              <a:t>在上述情况下，企业处理战略与企业文化关系的重点是：</a:t>
            </a:r>
          </a:p>
          <a:p>
            <a:r>
              <a:rPr lang="zh-CN" altLang="en-US" sz="2000" b="1" dirty="0">
                <a:ea typeface="楷体_GB2312" pitchFamily="49" charset="-122"/>
              </a:rPr>
              <a:t>     </a:t>
            </a:r>
            <a:r>
              <a:rPr lang="en-US" altLang="zh-CN" sz="2000" b="1" dirty="0">
                <a:ea typeface="楷体_GB2312" pitchFamily="49" charset="-122"/>
              </a:rPr>
              <a:t>1. </a:t>
            </a:r>
            <a:r>
              <a:rPr lang="zh-CN" altLang="en-US" sz="2000" b="1" dirty="0">
                <a:ea typeface="楷体_GB2312" pitchFamily="49" charset="-122"/>
              </a:rPr>
              <a:t>企业进行重大的变革时，必须考虑与企业的基本性质与地位的关系问题，即企业的基本性质与地位是确定企业文化的基础。高层管理人员在处理战略与企业文化关系的过程中，一定要注意到企业的任务可以发生变化，但这里战略的变化并没有从根本上改变企业的基本性质和地位，因而仍然与企业原有文化保持着和谐一致。</a:t>
            </a:r>
          </a:p>
          <a:p>
            <a:r>
              <a:rPr lang="zh-CN" altLang="en-US" sz="2000" b="1" dirty="0">
                <a:ea typeface="楷体_GB2312" pitchFamily="49" charset="-122"/>
              </a:rPr>
              <a:t>      </a:t>
            </a:r>
            <a:r>
              <a:rPr lang="en-US" altLang="zh-CN" sz="2000" b="1" dirty="0">
                <a:ea typeface="楷体_GB2312" pitchFamily="49" charset="-122"/>
              </a:rPr>
              <a:t>2. </a:t>
            </a:r>
            <a:r>
              <a:rPr lang="zh-CN" altLang="en-US" sz="2000" b="1" dirty="0">
                <a:ea typeface="楷体_GB2312" pitchFamily="49" charset="-122"/>
              </a:rPr>
              <a:t>要发挥企业现有人员的作用，由于这些人员保持着企业原有的价值观念和行为准则，这样可以保证企业在原有文化一致的条件下实施变革。</a:t>
            </a:r>
            <a:endParaRPr lang="en-US" altLang="zh-CN" sz="2000" b="1" dirty="0">
              <a:ea typeface="楷体_GB2312" pitchFamily="49" charset="-122"/>
            </a:endParaRPr>
          </a:p>
          <a:p>
            <a:pPr>
              <a:lnSpc>
                <a:spcPct val="90000"/>
              </a:lnSpc>
            </a:pPr>
            <a:r>
              <a:rPr lang="en-US" altLang="zh-CN" sz="2000" b="1" dirty="0">
                <a:ea typeface="楷体_GB2312" pitchFamily="49" charset="-122"/>
              </a:rPr>
              <a:t> </a:t>
            </a:r>
            <a:r>
              <a:rPr lang="zh-CN" altLang="en-US" sz="2000" b="1" dirty="0">
                <a:ea typeface="楷体_GB2312" pitchFamily="49" charset="-122"/>
              </a:rPr>
              <a:t>     </a:t>
            </a:r>
            <a:r>
              <a:rPr lang="en-US" altLang="zh-CN" sz="2000" b="1" dirty="0">
                <a:ea typeface="楷体_GB2312" pitchFamily="49" charset="-122"/>
              </a:rPr>
              <a:t>3. </a:t>
            </a:r>
            <a:r>
              <a:rPr lang="zh-CN" altLang="en-US" sz="2000" b="1" dirty="0">
                <a:ea typeface="楷体_GB2312" pitchFamily="49" charset="-122"/>
              </a:rPr>
              <a:t>在必须调整企业奖惩制度的时候，要注意与目前企业的奖励措施相连接。</a:t>
            </a:r>
          </a:p>
          <a:p>
            <a:pPr>
              <a:lnSpc>
                <a:spcPct val="90000"/>
              </a:lnSpc>
            </a:pPr>
            <a:r>
              <a:rPr lang="zh-CN" altLang="en-US" sz="2000" b="1" dirty="0">
                <a:ea typeface="楷体_GB2312" pitchFamily="49" charset="-122"/>
              </a:rPr>
              <a:t>      </a:t>
            </a:r>
            <a:r>
              <a:rPr lang="en-US" altLang="zh-CN" sz="2000" b="1" dirty="0">
                <a:ea typeface="楷体_GB2312" pitchFamily="49" charset="-122"/>
              </a:rPr>
              <a:t>4. </a:t>
            </a:r>
            <a:r>
              <a:rPr lang="zh-CN" altLang="en-US" sz="2000" b="1" dirty="0">
                <a:ea typeface="楷体_GB2312" pitchFamily="49" charset="-122"/>
              </a:rPr>
              <a:t>企业高层管理者要着重考虑与企业原有文化相适应的变革，不要破坏企业已经形成的行为准则。</a:t>
            </a:r>
          </a:p>
        </p:txBody>
      </p:sp>
    </p:spTree>
    <p:extLst>
      <p:ext uri="{BB962C8B-B14F-4D97-AF65-F5344CB8AC3E}">
        <p14:creationId xmlns:p14="http://schemas.microsoft.com/office/powerpoint/2010/main" val="3326372484"/>
      </p:ext>
    </p:extLst>
  </p:cSld>
  <p:clrMapOvr>
    <a:masterClrMapping/>
  </p:clrMapOvr>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B76FC10C-AE8F-3847-9A3D-53048DDFD30E}"/>
              </a:ext>
            </a:extLst>
          </p:cNvPr>
          <p:cNvSpPr>
            <a:spLocks noGrp="1" noChangeArrowheads="1"/>
          </p:cNvSpPr>
          <p:nvPr>
            <p:ph type="title"/>
          </p:nvPr>
        </p:nvSpPr>
        <p:spPr/>
        <p:txBody>
          <a:bodyPr/>
          <a:lstStyle/>
          <a:p>
            <a:r>
              <a:rPr lang="zh-CN" altLang="en-US" b="1">
                <a:ea typeface="楷体_GB2312" pitchFamily="49" charset="-122"/>
              </a:rPr>
              <a:t>企业战略与企业文化</a:t>
            </a:r>
          </a:p>
        </p:txBody>
      </p:sp>
      <p:sp>
        <p:nvSpPr>
          <p:cNvPr id="9219" name="Rectangle 3">
            <a:extLst>
              <a:ext uri="{FF2B5EF4-FFF2-40B4-BE49-F238E27FC236}">
                <a16:creationId xmlns:a16="http://schemas.microsoft.com/office/drawing/2014/main" id="{43EC7888-6D02-8748-B401-3C2C563C08B6}"/>
              </a:ext>
            </a:extLst>
          </p:cNvPr>
          <p:cNvSpPr>
            <a:spLocks noGrp="1" noChangeArrowheads="1"/>
          </p:cNvSpPr>
          <p:nvPr>
            <p:ph type="body" idx="1"/>
          </p:nvPr>
        </p:nvSpPr>
        <p:spPr/>
        <p:txBody>
          <a:bodyPr/>
          <a:lstStyle/>
          <a:p>
            <a:pPr>
              <a:lnSpc>
                <a:spcPct val="90000"/>
              </a:lnSpc>
            </a:pPr>
            <a:r>
              <a:rPr lang="zh-CN" altLang="en-US" sz="2400" b="1" dirty="0">
                <a:ea typeface="楷体_GB2312" pitchFamily="49" charset="-122"/>
              </a:rPr>
              <a:t>图中右下象限是指企业实施一个新的战略，企业的组 织要素变化不太大，但这些要素的变化却与企业原有的文化不太协调。在这种情况下，企业的高层管理者往往在生产经营中，在不影响企业总体文化一致的前提下，对某种经营业务实施不同的文化管理，但同时要注意加强全局性协调。因此，企业要对于企业文化密切相关的因素进行变革时，根据文化的不同要求进行分别管理是一个重要手段</a:t>
            </a:r>
            <a:r>
              <a:rPr lang="zh-CN" altLang="en-US" sz="2000" b="1" dirty="0">
                <a:ea typeface="楷体_GB2312" pitchFamily="49" charset="-122"/>
              </a:rPr>
              <a:t>。</a:t>
            </a:r>
          </a:p>
        </p:txBody>
      </p:sp>
    </p:spTree>
    <p:extLst>
      <p:ext uri="{BB962C8B-B14F-4D97-AF65-F5344CB8AC3E}">
        <p14:creationId xmlns:p14="http://schemas.microsoft.com/office/powerpoint/2010/main" val="917126323"/>
      </p:ext>
    </p:extLst>
  </p:cSld>
  <p:clrMapOvr>
    <a:masterClrMapping/>
  </p:clrMapOvr>
  <p:transition/>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D8DE6674-781F-8442-8FB1-ADBEE1771C06}"/>
              </a:ext>
            </a:extLst>
          </p:cNvPr>
          <p:cNvSpPr>
            <a:spLocks noGrp="1" noChangeArrowheads="1"/>
          </p:cNvSpPr>
          <p:nvPr>
            <p:ph type="title"/>
          </p:nvPr>
        </p:nvSpPr>
        <p:spPr>
          <a:xfrm>
            <a:off x="1066800" y="260648"/>
            <a:ext cx="7772400" cy="1143000"/>
          </a:xfrm>
        </p:spPr>
        <p:txBody>
          <a:bodyPr/>
          <a:lstStyle/>
          <a:p>
            <a:r>
              <a:rPr lang="zh-CN" altLang="en-US" b="1" dirty="0">
                <a:ea typeface="楷体_GB2312" pitchFamily="49" charset="-122"/>
              </a:rPr>
              <a:t>企业战略与企业文化</a:t>
            </a:r>
          </a:p>
        </p:txBody>
      </p:sp>
      <p:sp>
        <p:nvSpPr>
          <p:cNvPr id="10243" name="Rectangle 3">
            <a:extLst>
              <a:ext uri="{FF2B5EF4-FFF2-40B4-BE49-F238E27FC236}">
                <a16:creationId xmlns:a16="http://schemas.microsoft.com/office/drawing/2014/main" id="{B3E668CA-28E2-C14E-A8E9-8CEE2F1326B2}"/>
              </a:ext>
            </a:extLst>
          </p:cNvPr>
          <p:cNvSpPr>
            <a:spLocks noGrp="1" noChangeArrowheads="1"/>
          </p:cNvSpPr>
          <p:nvPr>
            <p:ph type="body" idx="1"/>
          </p:nvPr>
        </p:nvSpPr>
        <p:spPr>
          <a:xfrm>
            <a:off x="683568" y="1600200"/>
            <a:ext cx="8155632" cy="4616450"/>
          </a:xfrm>
        </p:spPr>
        <p:txBody>
          <a:bodyPr/>
          <a:lstStyle/>
          <a:p>
            <a:pPr>
              <a:lnSpc>
                <a:spcPct val="90000"/>
              </a:lnSpc>
            </a:pPr>
            <a:r>
              <a:rPr lang="en-US" altLang="zh-CN" sz="2400" b="1" dirty="0">
                <a:ea typeface="楷体_GB2312" pitchFamily="49" charset="-122"/>
              </a:rPr>
              <a:t>       </a:t>
            </a:r>
            <a:r>
              <a:rPr lang="zh-CN" altLang="en-US" sz="2400" b="1" dirty="0">
                <a:ea typeface="楷体_GB2312" pitchFamily="49" charset="-122"/>
              </a:rPr>
              <a:t>图中右上象限是指企业实施一个新的战略，企业的组织要素发生了很大的变化，而这些变化与企业原有的文化很不一致。在这种情况下，企业就必须考虑采取以下四方面的措施：</a:t>
            </a:r>
          </a:p>
          <a:p>
            <a:pPr>
              <a:lnSpc>
                <a:spcPct val="90000"/>
              </a:lnSpc>
            </a:pPr>
            <a:r>
              <a:rPr lang="zh-CN" altLang="en-US" sz="2400" b="1" dirty="0">
                <a:ea typeface="楷体_GB2312" pitchFamily="49" charset="-122"/>
              </a:rPr>
              <a:t>       </a:t>
            </a:r>
            <a:r>
              <a:rPr lang="en-US" altLang="zh-CN" sz="2400" b="1" dirty="0">
                <a:ea typeface="楷体_GB2312" pitchFamily="49" charset="-122"/>
              </a:rPr>
              <a:t>1. </a:t>
            </a:r>
            <a:r>
              <a:rPr lang="zh-CN" altLang="en-US" sz="2400" b="1" dirty="0">
                <a:ea typeface="楷体_GB2312" pitchFamily="49" charset="-122"/>
              </a:rPr>
              <a:t>企业的高层管理层要下定决心进行变革，并向全体员工讲明变革企业文化的意义。</a:t>
            </a:r>
          </a:p>
          <a:p>
            <a:pPr>
              <a:lnSpc>
                <a:spcPct val="90000"/>
              </a:lnSpc>
            </a:pPr>
            <a:r>
              <a:rPr lang="zh-CN" altLang="en-US" sz="2400" b="1" dirty="0">
                <a:ea typeface="楷体_GB2312" pitchFamily="49" charset="-122"/>
              </a:rPr>
              <a:t>        </a:t>
            </a:r>
            <a:r>
              <a:rPr lang="en-US" altLang="zh-CN" sz="2400" b="1" dirty="0">
                <a:ea typeface="楷体_GB2312" pitchFamily="49" charset="-122"/>
              </a:rPr>
              <a:t>2. </a:t>
            </a:r>
            <a:r>
              <a:rPr lang="zh-CN" altLang="en-US" sz="2400" b="1" dirty="0">
                <a:ea typeface="楷体_GB2312" pitchFamily="49" charset="-122"/>
              </a:rPr>
              <a:t>为形成新的企业文化，企业要招聘一批具有新的企业文化意识的人员，或在企业内部提拔一批与新企业文化相符的人员。</a:t>
            </a:r>
          </a:p>
          <a:p>
            <a:pPr>
              <a:lnSpc>
                <a:spcPct val="90000"/>
              </a:lnSpc>
            </a:pPr>
            <a:r>
              <a:rPr lang="zh-CN" altLang="en-US" sz="2400" b="1" dirty="0">
                <a:ea typeface="楷体_GB2312" pitchFamily="49" charset="-122"/>
              </a:rPr>
              <a:t>        </a:t>
            </a:r>
            <a:r>
              <a:rPr lang="en-US" altLang="zh-CN" sz="2400" b="1" dirty="0">
                <a:ea typeface="楷体_GB2312" pitchFamily="49" charset="-122"/>
              </a:rPr>
              <a:t>3. </a:t>
            </a:r>
            <a:r>
              <a:rPr lang="zh-CN" altLang="en-US" sz="2400" b="1" dirty="0">
                <a:ea typeface="楷体_GB2312" pitchFamily="49" charset="-122"/>
              </a:rPr>
              <a:t>企业要奖励具有新企业文化意识的分部或个人，以促进企业文化的转变。</a:t>
            </a:r>
          </a:p>
          <a:p>
            <a:pPr>
              <a:lnSpc>
                <a:spcPct val="90000"/>
              </a:lnSpc>
            </a:pPr>
            <a:r>
              <a:rPr lang="zh-CN" altLang="en-US" sz="2400" b="1" dirty="0">
                <a:ea typeface="楷体_GB2312" pitchFamily="49" charset="-122"/>
              </a:rPr>
              <a:t>        </a:t>
            </a:r>
            <a:r>
              <a:rPr lang="en-US" altLang="zh-CN" sz="2400" b="1" dirty="0">
                <a:ea typeface="楷体_GB2312" pitchFamily="49" charset="-122"/>
              </a:rPr>
              <a:t>4. </a:t>
            </a:r>
            <a:r>
              <a:rPr lang="zh-CN" altLang="en-US" sz="2400" b="1" dirty="0">
                <a:ea typeface="楷体_GB2312" pitchFamily="49" charset="-122"/>
              </a:rPr>
              <a:t>要让全体职工明确新企业文化所需要的行为，要求企业职工按照变革的要求工作。</a:t>
            </a:r>
          </a:p>
        </p:txBody>
      </p:sp>
    </p:spTree>
    <p:extLst>
      <p:ext uri="{BB962C8B-B14F-4D97-AF65-F5344CB8AC3E}">
        <p14:creationId xmlns:p14="http://schemas.microsoft.com/office/powerpoint/2010/main" val="2211782191"/>
      </p:ext>
    </p:extLst>
  </p:cSld>
  <p:clrMapOvr>
    <a:masterClrMapping/>
  </p:clrMapOvr>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21F83AA0-1DEF-414D-84ED-3346C02671A7}"/>
              </a:ext>
            </a:extLst>
          </p:cNvPr>
          <p:cNvSpPr>
            <a:spLocks noGrp="1" noChangeArrowheads="1"/>
          </p:cNvSpPr>
          <p:nvPr>
            <p:ph type="title"/>
          </p:nvPr>
        </p:nvSpPr>
        <p:spPr>
          <a:xfrm>
            <a:off x="914400" y="0"/>
            <a:ext cx="7772400" cy="1143000"/>
          </a:xfrm>
        </p:spPr>
        <p:txBody>
          <a:bodyPr/>
          <a:lstStyle/>
          <a:p>
            <a:r>
              <a:rPr lang="en-US" altLang="zh-CN" sz="3000" b="1">
                <a:solidFill>
                  <a:srgbClr val="A11203"/>
                </a:solidFill>
                <a:ea typeface="楷体_GB2312" pitchFamily="49" charset="-122"/>
              </a:rPr>
              <a:t> </a:t>
            </a:r>
            <a:r>
              <a:rPr lang="zh-CN" altLang="en-US" b="1">
                <a:ea typeface="楷体_GB2312" pitchFamily="49" charset="-122"/>
              </a:rPr>
              <a:t>企业战略与企业文化</a:t>
            </a:r>
          </a:p>
        </p:txBody>
      </p:sp>
      <p:sp>
        <p:nvSpPr>
          <p:cNvPr id="11267" name="Rectangle 3">
            <a:extLst>
              <a:ext uri="{FF2B5EF4-FFF2-40B4-BE49-F238E27FC236}">
                <a16:creationId xmlns:a16="http://schemas.microsoft.com/office/drawing/2014/main" id="{1E772FC4-A8A8-3D46-BDDE-CC2AD3D0E44F}"/>
              </a:ext>
            </a:extLst>
          </p:cNvPr>
          <p:cNvSpPr>
            <a:spLocks noGrp="1" noChangeArrowheads="1"/>
          </p:cNvSpPr>
          <p:nvPr>
            <p:ph type="body" idx="1"/>
          </p:nvPr>
        </p:nvSpPr>
        <p:spPr>
          <a:xfrm>
            <a:off x="1066800" y="1844824"/>
            <a:ext cx="7772400" cy="4371826"/>
          </a:xfrm>
        </p:spPr>
        <p:txBody>
          <a:bodyPr/>
          <a:lstStyle/>
          <a:p>
            <a:pPr>
              <a:lnSpc>
                <a:spcPct val="90000"/>
              </a:lnSpc>
            </a:pPr>
            <a:r>
              <a:rPr lang="zh-CN" altLang="en-US" sz="2000" b="1" dirty="0">
                <a:ea typeface="楷体_GB2312" pitchFamily="49" charset="-122"/>
              </a:rPr>
              <a:t>企业高层管理这应该认识到改变企业文化的难度是相当大的。原有企业文化持续时间越久，则企业文化变革就越困难；企业规模越大、越复杂，则企业文化的变革就越困难；原有企业文化越深入人心，则企业文化变革就越困难。但不管改变企业文化的难度如何，如果实施的战略与原有的文化不相匹配，就要必须考虑对策，企业高层管理这应该认识到，急剧的、全面的改变企业文化在多数情况下难以办到，但逐步的调整也不是不可能的，当然，这是一个费时费力的过程。因此有人主张，改变企业文化的最方便的办法是更换人员，甚至是更换企业高层管理者，即当企业确有必要实行新的战略，而渐进式的改变企业文化的措施又不能立即取得预期的效果，这是企业只能作重大的人事变动，更换领导人员，聘用新的工作人员，并对他们灌输新的价值观念。对企业职工要加强教育和培训，抓住每一个机会不断使职工理解实施新战略的必要性及重大意义，最终使新战略与职工的价值观念达成一致，从而实现企业文化的变革。</a:t>
            </a:r>
          </a:p>
        </p:txBody>
      </p:sp>
    </p:spTree>
    <p:extLst>
      <p:ext uri="{BB962C8B-B14F-4D97-AF65-F5344CB8AC3E}">
        <p14:creationId xmlns:p14="http://schemas.microsoft.com/office/powerpoint/2010/main" val="416727541"/>
      </p:ext>
    </p:extLst>
  </p:cSld>
  <p:clrMapOvr>
    <a:masterClrMapping/>
  </p:clrMapOvr>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沉稳">
  <a:themeElements>
    <a:clrScheme name="自定义 1">
      <a:dk1>
        <a:srgbClr val="000000"/>
      </a:dk1>
      <a:lt1>
        <a:srgbClr val="FFFFFF"/>
      </a:lt1>
      <a:dk2>
        <a:srgbClr val="464646"/>
      </a:dk2>
      <a:lt2>
        <a:srgbClr val="DEF5FA"/>
      </a:lt2>
      <a:accent1>
        <a:srgbClr val="2DA2BF"/>
      </a:accent1>
      <a:accent2>
        <a:srgbClr val="FCFCFF"/>
      </a:accent2>
      <a:accent3>
        <a:srgbClr val="EB641B"/>
      </a:accent3>
      <a:accent4>
        <a:srgbClr val="39639D"/>
      </a:accent4>
      <a:accent5>
        <a:srgbClr val="474B78"/>
      </a:accent5>
      <a:accent6>
        <a:srgbClr val="7D3C4A"/>
      </a:accent6>
      <a:hlink>
        <a:srgbClr val="FF8119"/>
      </a:hlink>
      <a:folHlink>
        <a:srgbClr val="44B9E8"/>
      </a:folHlink>
    </a:clrScheme>
    <a:fontScheme name="沉稳">
      <a:majorFont>
        <a:latin typeface="Rockwell"/>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沉稳">
      <a:fillStyleLst>
        <a:solidFill>
          <a:schemeClr val="phClr"/>
        </a:solidFill>
        <a:gradFill rotWithShape="1">
          <a:gsLst>
            <a:gs pos="0">
              <a:schemeClr val="phClr">
                <a:tint val="70000"/>
                <a:satMod val="180000"/>
              </a:schemeClr>
            </a:gs>
            <a:gs pos="62000">
              <a:schemeClr val="phClr">
                <a:tint val="30000"/>
                <a:satMod val="180000"/>
              </a:schemeClr>
            </a:gs>
            <a:gs pos="100000">
              <a:schemeClr val="phClr">
                <a:tint val="22000"/>
                <a:satMod val="180000"/>
              </a:schemeClr>
            </a:gs>
          </a:gsLst>
          <a:lin ang="16200000" scaled="0"/>
        </a:gradFill>
        <a:gradFill rotWithShape="1">
          <a:gsLst>
            <a:gs pos="0">
              <a:schemeClr val="phClr">
                <a:shade val="58000"/>
                <a:satMod val="150000"/>
              </a:schemeClr>
            </a:gs>
            <a:gs pos="72000">
              <a:schemeClr val="phClr">
                <a:tint val="90000"/>
                <a:satMod val="135000"/>
              </a:schemeClr>
            </a:gs>
            <a:gs pos="100000">
              <a:schemeClr val="phClr">
                <a:tint val="80000"/>
                <a:satMod val="155000"/>
              </a:schemeClr>
            </a:gs>
          </a:gsLst>
          <a:lin ang="16200000" scaled="0"/>
        </a:gradFill>
      </a:fillStyleLst>
      <a:lnStyleLst>
        <a:ln w="9525" cap="flat" cmpd="sng" algn="ctr">
          <a:solidFill>
            <a:schemeClr val="phClr">
              <a:shade val="80000"/>
            </a:schemeClr>
          </a:solidFill>
          <a:prstDash val="solid"/>
        </a:ln>
        <a:ln w="38100" cap="flat" cmpd="sng" algn="ctr">
          <a:solidFill>
            <a:schemeClr val="phClr"/>
          </a:solidFill>
          <a:prstDash val="solid"/>
        </a:ln>
        <a:ln w="38100" cap="flat" cmpd="sng" algn="ctr">
          <a:solidFill>
            <a:schemeClr val="phClr"/>
          </a:solidFill>
          <a:prstDash val="solid"/>
        </a:ln>
      </a:lnStyleLst>
      <a:effectStyleLst>
        <a:effectStyle>
          <a:effectLst>
            <a:outerShdw blurRad="50800" dist="38100" dir="5400000" rotWithShape="0">
              <a:srgbClr val="000000">
                <a:alpha val="43137"/>
              </a:srgbClr>
            </a:outerShdw>
          </a:effectLst>
        </a:effectStyle>
        <a:effectStyle>
          <a:effectLst>
            <a:outerShdw blurRad="50800" dist="38100" dir="5400000" rotWithShape="0">
              <a:srgbClr val="000000">
                <a:alpha val="43137"/>
              </a:srgbClr>
            </a:outerShdw>
          </a:effectLst>
        </a:effectStyle>
        <a:effectStyle>
          <a:effectLst>
            <a:outerShdw blurRad="50800" dist="38100" dir="5400000" rotWithShape="0">
              <a:srgbClr val="000000">
                <a:alpha val="43137"/>
              </a:srgbClr>
            </a:outerShdw>
          </a:effectLst>
          <a:scene3d>
            <a:camera prst="orthographicFront" fov="0">
              <a:rot lat="0" lon="0" rev="0"/>
            </a:camera>
            <a:lightRig rig="soft" dir="tl">
              <a:rot lat="0" lon="0" rev="20000000"/>
            </a:lightRig>
          </a:scene3d>
          <a:sp3d prstMaterial="matte">
            <a:bevelT w="63500" h="63500" prst="coolSlant"/>
          </a:sp3d>
        </a:effectStyle>
      </a:effectStyleLst>
      <a:bgFillStyleLst>
        <a:solidFill>
          <a:schemeClr val="phClr"/>
        </a:solidFill>
        <a:gradFill rotWithShape="1">
          <a:gsLst>
            <a:gs pos="0">
              <a:schemeClr val="phClr">
                <a:tint val="75000"/>
                <a:satMod val="400000"/>
              </a:schemeClr>
            </a:gs>
            <a:gs pos="20000">
              <a:schemeClr val="phClr">
                <a:tint val="80000"/>
                <a:satMod val="355000"/>
              </a:schemeClr>
            </a:gs>
            <a:gs pos="100000">
              <a:schemeClr val="phClr">
                <a:tint val="95000"/>
                <a:shade val="55000"/>
                <a:satMod val="355000"/>
              </a:schemeClr>
            </a:gs>
          </a:gsLst>
          <a:path path="circle">
            <a:fillToRect l="67500" t="35000" r="32500" b="65000"/>
          </a:path>
        </a:gradFill>
        <a:blipFill>
          <a:blip xmlns:r="http://schemas.openxmlformats.org/officeDocument/2006/relationships" r:embed="rId1">
            <a:duotone>
              <a:schemeClr val="phClr">
                <a:shade val="30000"/>
                <a:satMod val="120000"/>
              </a:schemeClr>
              <a:schemeClr val="phClr">
                <a:tint val="70000"/>
                <a:satMod val="250000"/>
              </a:schemeClr>
            </a:duotone>
          </a:blip>
          <a:tile tx="0" ty="0" sx="50000" sy="50000" flip="none" algn="t"/>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Fan</Template>
  <TotalTime>3263</TotalTime>
  <Words>13334</Words>
  <Application>Microsoft Macintosh PowerPoint</Application>
  <PresentationFormat>全屏显示(4:3)</PresentationFormat>
  <Paragraphs>1550</Paragraphs>
  <Slides>172</Slides>
  <Notes>7</Notes>
  <HiddenSlides>1</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172</vt:i4>
      </vt:variant>
    </vt:vector>
  </HeadingPairs>
  <TitlesOfParts>
    <vt:vector size="185" baseType="lpstr">
      <vt:lpstr>仿宋_GB2312</vt:lpstr>
      <vt:lpstr>华文楷体</vt:lpstr>
      <vt:lpstr>宋体</vt:lpstr>
      <vt:lpstr>Arial</vt:lpstr>
      <vt:lpstr>Calibri</vt:lpstr>
      <vt:lpstr>Futura Medium</vt:lpstr>
      <vt:lpstr>Garamond</vt:lpstr>
      <vt:lpstr>Rockwell</vt:lpstr>
      <vt:lpstr>Tahoma</vt:lpstr>
      <vt:lpstr>Times New Roman</vt:lpstr>
      <vt:lpstr>Wingdings</vt:lpstr>
      <vt:lpstr>Wingdings 2</vt:lpstr>
      <vt:lpstr>沉稳</vt:lpstr>
      <vt:lpstr>战略管理</vt:lpstr>
      <vt:lpstr>战略管理概述</vt:lpstr>
      <vt:lpstr>PowerPoint 演示文稿</vt:lpstr>
      <vt:lpstr>PowerPoint 演示文稿</vt:lpstr>
      <vt:lpstr>战略管理概述</vt:lpstr>
      <vt:lpstr>PowerPoint 演示文稿</vt:lpstr>
      <vt:lpstr>系统思维</vt:lpstr>
      <vt:lpstr>什么是结构</vt:lpstr>
      <vt:lpstr>系统的内部规定性</vt:lpstr>
      <vt:lpstr>结构与功能</vt:lpstr>
      <vt:lpstr>系统的结构分析</vt:lpstr>
      <vt:lpstr>环境观点－系统的外在规定性</vt:lpstr>
      <vt:lpstr>PowerPoint 演示文稿</vt:lpstr>
      <vt:lpstr>环境意识</vt:lpstr>
      <vt:lpstr>系统与环境互塑共生原理</vt:lpstr>
      <vt:lpstr>PowerPoint 演示文稿</vt:lpstr>
      <vt:lpstr>PowerPoint 演示文稿</vt:lpstr>
      <vt:lpstr>PowerPoint 演示文稿</vt:lpstr>
      <vt:lpstr>封闭系统与开放系统及系统的开放性</vt:lpstr>
      <vt:lpstr>内因和外因</vt:lpstr>
      <vt:lpstr>演化观点</vt:lpstr>
      <vt:lpstr>团队学习的动力过程:团队学习不是提高团队成员技能的训练，甚至也不是提高交流能力的训练，其核心是在团队成员彼此完全了解的基础上，通过一种完善的协调和“一体感”，加强队伍以新的协作方式进行思考和行动的能力，团队学习不等于个人学习的总和，它是使一个团队所有成员摊开心中的假设，真正一起思考，提高协作效能，实现共同创造的一项综合技能</vt:lpstr>
      <vt:lpstr>世界观与方法论</vt:lpstr>
      <vt:lpstr>战略管理50年</vt:lpstr>
      <vt:lpstr>PowerPoint 演示文稿</vt:lpstr>
      <vt:lpstr>钱德勒</vt:lpstr>
      <vt:lpstr>安索夫-共同经营主线</vt:lpstr>
      <vt:lpstr>安索夫-战略构成四要素</vt:lpstr>
      <vt:lpstr>产品市场组合矩阵</vt:lpstr>
      <vt:lpstr>安德鲁斯</vt:lpstr>
      <vt:lpstr>安德鲁斯的观点</vt:lpstr>
      <vt:lpstr>PowerPoint 演示文稿</vt:lpstr>
      <vt:lpstr>明茨伯格（H.Mintzberg）的战略5Ps</vt:lpstr>
      <vt:lpstr>PowerPoint 演示文稿</vt:lpstr>
      <vt:lpstr>战略是计划（plan）</vt:lpstr>
      <vt:lpstr>定位（position）和观念（perspective）</vt:lpstr>
      <vt:lpstr>战略是一种行为模式（pattern）</vt:lpstr>
      <vt:lpstr>战略是一种策略（plot）</vt:lpstr>
      <vt:lpstr>战略管理50年</vt:lpstr>
      <vt:lpstr>企业战略的构成要素</vt:lpstr>
      <vt:lpstr>企业战略的层次</vt:lpstr>
      <vt:lpstr>   战略管理及其过程</vt:lpstr>
      <vt:lpstr>PowerPoint 演示文稿</vt:lpstr>
      <vt:lpstr>PowerPoint 演示文稿</vt:lpstr>
      <vt:lpstr>战略管理与业务管理的比较</vt:lpstr>
      <vt:lpstr>战略管理过程</vt:lpstr>
      <vt:lpstr>使命</vt:lpstr>
      <vt:lpstr>使命的确定</vt:lpstr>
      <vt:lpstr>确定企业的经营领域</vt:lpstr>
      <vt:lpstr>用市场导向观念确定企业经营领域</vt:lpstr>
      <vt:lpstr>         一首歌谣</vt:lpstr>
      <vt:lpstr>比较“需求导向”与“产品导向”表述使命</vt:lpstr>
      <vt:lpstr>表达使命时应遵循的基本原则</vt:lpstr>
      <vt:lpstr>表述范围既不能太宽 也不能太窄</vt:lpstr>
      <vt:lpstr>表述范围既不能太宽 也不能太窄</vt:lpstr>
      <vt:lpstr>愿景</vt:lpstr>
      <vt:lpstr>愿景表述的构成要素</vt:lpstr>
      <vt:lpstr>PowerPoint 演示文稿</vt:lpstr>
      <vt:lpstr>例：愿景表述</vt:lpstr>
      <vt:lpstr>PowerPoint 演示文稿</vt:lpstr>
      <vt:lpstr>PowerPoint 演示文稿</vt:lpstr>
      <vt:lpstr>PowerPoint 演示文稿</vt:lpstr>
      <vt:lpstr>企业愿景和企业使命的关系</vt:lpstr>
      <vt:lpstr>  实例分析：松下公司使命</vt:lpstr>
      <vt:lpstr>Avon Products,Inc.雅芳公司使命 </vt:lpstr>
      <vt:lpstr>是谁？</vt:lpstr>
      <vt:lpstr>是谁？</vt:lpstr>
      <vt:lpstr>战略目标</vt:lpstr>
      <vt:lpstr>战略目标的性质</vt:lpstr>
      <vt:lpstr>战略目标的内容</vt:lpstr>
      <vt:lpstr>★ ★ ★集团主要目标</vt:lpstr>
      <vt:lpstr>组织的外部环境分析</vt:lpstr>
      <vt:lpstr>组织的宏观环境分析</vt:lpstr>
      <vt:lpstr>宏观环境分析</vt:lpstr>
      <vt:lpstr>行业结构分析</vt:lpstr>
      <vt:lpstr>  迈克尔·波特对于管理理论的贡献</vt:lpstr>
      <vt:lpstr>行业竞争力量模型</vt:lpstr>
      <vt:lpstr>五种力分析模型</vt:lpstr>
      <vt:lpstr>PowerPoint 演示文稿</vt:lpstr>
      <vt:lpstr>现有竞争者分析</vt:lpstr>
      <vt:lpstr>主要竞争者分析</vt:lpstr>
      <vt:lpstr>潜在进入者</vt:lpstr>
      <vt:lpstr>对行业的分析需要建立两个概念</vt:lpstr>
      <vt:lpstr>    怎样选择具有优势的行业？</vt:lpstr>
      <vt:lpstr>典型的潜在进入者分析</vt:lpstr>
      <vt:lpstr>替代品</vt:lpstr>
      <vt:lpstr>供应商分析</vt:lpstr>
      <vt:lpstr>买方分析</vt:lpstr>
      <vt:lpstr>五种力模型的理论假设</vt:lpstr>
      <vt:lpstr>五种力量会导致的竞争结果 </vt:lpstr>
      <vt:lpstr>1.现有企业间的竞争</vt:lpstr>
      <vt:lpstr>2.新入侵者的威胁</vt:lpstr>
      <vt:lpstr>3.供方的侃价能力</vt:lpstr>
      <vt:lpstr>4.买方的侃价能力</vt:lpstr>
      <vt:lpstr>5.替代品的影响</vt:lpstr>
      <vt:lpstr> 运用五力模型分析企业市场</vt:lpstr>
      <vt:lpstr>如何明确企业市场的替代品？</vt:lpstr>
      <vt:lpstr>如何控制企业的供应商和购买者？</vt:lpstr>
      <vt:lpstr>    如何赢得购买者？</vt:lpstr>
      <vt:lpstr>竞争对手的选择与分析</vt:lpstr>
      <vt:lpstr>行业吸引力</vt:lpstr>
      <vt:lpstr>行业市场集中度</vt:lpstr>
      <vt:lpstr>洛伦茨曲线</vt:lpstr>
      <vt:lpstr>相对集中度</vt:lpstr>
      <vt:lpstr>PowerPoint 演示文稿</vt:lpstr>
      <vt:lpstr>行业市场细分与战略组</vt:lpstr>
      <vt:lpstr>外部因素评价矩阵</vt:lpstr>
      <vt:lpstr>PowerPoint 演示文稿</vt:lpstr>
      <vt:lpstr>PowerPoint 演示文稿</vt:lpstr>
      <vt:lpstr>企业资源观</vt:lpstr>
      <vt:lpstr>企业资源观的核心观点</vt:lpstr>
      <vt:lpstr>组织的资源和能力分析</vt:lpstr>
      <vt:lpstr>企业资源的概念与分类</vt:lpstr>
      <vt:lpstr>能力</vt:lpstr>
      <vt:lpstr>能力与企业管理活动密切相关</vt:lpstr>
      <vt:lpstr>资源和能力的区分</vt:lpstr>
      <vt:lpstr>核心能力的概念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本田公司的产品扩展</vt:lpstr>
      <vt:lpstr>               特别提醒 </vt:lpstr>
      <vt:lpstr>核心竞争能力结构维度</vt:lpstr>
      <vt:lpstr>核心竞争能力结构与维度</vt:lpstr>
      <vt:lpstr>       文献研究核心竞争力因素      （余伟萍，陈维政，任佩瑜， F31,2004第1期）</vt:lpstr>
      <vt:lpstr>实证研究核心竞争力因素</vt:lpstr>
      <vt:lpstr>价值链分析（Value Chain Analysis）</vt:lpstr>
      <vt:lpstr>             </vt:lpstr>
      <vt:lpstr>   价值链的两类活动 </vt:lpstr>
      <vt:lpstr>价值链</vt:lpstr>
      <vt:lpstr>      (2) 支持性活动</vt:lpstr>
      <vt:lpstr>价值链分析</vt:lpstr>
      <vt:lpstr>                          青岛红领制衣</vt:lpstr>
      <vt:lpstr>                           全定制流程</vt:lpstr>
      <vt:lpstr>              </vt:lpstr>
      <vt:lpstr>      价值系统</vt:lpstr>
      <vt:lpstr>    价值链的应用</vt:lpstr>
      <vt:lpstr>内部因素评价矩阵</vt:lpstr>
      <vt:lpstr>PowerPoint 演示文稿</vt:lpstr>
      <vt:lpstr>PowerPoint 演示文稿</vt:lpstr>
      <vt:lpstr>竞争态势矩阵</vt:lpstr>
      <vt:lpstr>分析步骤</vt:lpstr>
      <vt:lpstr>PowerPoint 演示文稿</vt:lpstr>
      <vt:lpstr>CPM与EFE之间区别</vt:lpstr>
      <vt:lpstr>PowerPoint 演示文稿</vt:lpstr>
      <vt:lpstr>PowerPoint 演示文稿</vt:lpstr>
      <vt:lpstr>     何谓SWOT分析？</vt:lpstr>
      <vt:lpstr>PowerPoint 演示文稿</vt:lpstr>
      <vt:lpstr>PowerPoint 演示文稿</vt:lpstr>
      <vt:lpstr>分析步骤</vt:lpstr>
      <vt:lpstr>PowerPoint 演示文稿</vt:lpstr>
      <vt:lpstr>PowerPoint 演示文稿</vt:lpstr>
      <vt:lpstr>    四种可供选择的战略</vt:lpstr>
      <vt:lpstr>PowerPoint 演示文稿</vt:lpstr>
      <vt:lpstr>企业战略与企业文化</vt:lpstr>
      <vt:lpstr>企业战略和企业文化的关系</vt:lpstr>
      <vt:lpstr>企业战略与企业文化</vt:lpstr>
      <vt:lpstr>企业战略与企业文化相适应的关系形式</vt:lpstr>
      <vt:lpstr>  企业战略与企业文化</vt:lpstr>
      <vt:lpstr> 企业战略与企业文化</vt:lpstr>
      <vt:lpstr> 企业战略与企业文化</vt:lpstr>
      <vt:lpstr>企业战略与企业文化</vt:lpstr>
      <vt:lpstr>企业战略与企业文化</vt:lpstr>
      <vt:lpstr> 企业战略与企业文化</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战略管理</dc:title>
  <dc:creator>Julia</dc:creator>
  <cp:lastModifiedBy>zhongjg@ruc.edu.cn</cp:lastModifiedBy>
  <cp:revision>97</cp:revision>
  <dcterms:created xsi:type="dcterms:W3CDTF">2011-03-05T13:56:58Z</dcterms:created>
  <dcterms:modified xsi:type="dcterms:W3CDTF">2019-10-19T12:45:09Z</dcterms:modified>
</cp:coreProperties>
</file>