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327" r:id="rId3"/>
    <p:sldId id="328" r:id="rId4"/>
    <p:sldId id="329" r:id="rId5"/>
    <p:sldId id="330" r:id="rId6"/>
    <p:sldId id="331" r:id="rId7"/>
    <p:sldId id="345" r:id="rId8"/>
    <p:sldId id="332" r:id="rId9"/>
    <p:sldId id="333" r:id="rId10"/>
    <p:sldId id="334" r:id="rId11"/>
    <p:sldId id="335" r:id="rId12"/>
    <p:sldId id="336" r:id="rId13"/>
    <p:sldId id="337" r:id="rId14"/>
    <p:sldId id="338" r:id="rId15"/>
    <p:sldId id="339" r:id="rId16"/>
    <p:sldId id="340" r:id="rId17"/>
    <p:sldId id="341" r:id="rId18"/>
    <p:sldId id="343" r:id="rId19"/>
    <p:sldId id="344" r:id="rId20"/>
    <p:sldId id="342" r:id="rId21"/>
    <p:sldId id="298" r:id="rId22"/>
    <p:sldId id="274" r:id="rId23"/>
    <p:sldId id="275" r:id="rId24"/>
    <p:sldId id="322" r:id="rId25"/>
    <p:sldId id="325" r:id="rId26"/>
    <p:sldId id="347" r:id="rId27"/>
    <p:sldId id="346"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4783" autoAdjust="0"/>
  </p:normalViewPr>
  <p:slideViewPr>
    <p:cSldViewPr>
      <p:cViewPr varScale="1">
        <p:scale>
          <a:sx n="72" d="100"/>
          <a:sy n="72" d="100"/>
        </p:scale>
        <p:origin x="2264"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EFD7A3-7AB6-4ED1-8155-9A84FE5F2D95}" type="datetimeFigureOut">
              <a:rPr lang="zh-CN" altLang="en-US" smtClean="0"/>
              <a:t>2019/5/7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D4D75F-BD74-45A8-AFFB-2D7991B2983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ln/>
        </p:spPr>
        <p:txBody>
          <a:bodyPr/>
          <a:lstStyle/>
          <a:p>
            <a:endParaRPr lang="zh-CN" altLang="en-US"/>
          </a:p>
        </p:txBody>
      </p:sp>
      <p:sp>
        <p:nvSpPr>
          <p:cNvPr id="82948" name="灯片编号占位符 3"/>
          <p:cNvSpPr>
            <a:spLocks noGrp="1"/>
          </p:cNvSpPr>
          <p:nvPr>
            <p:ph type="sldNum" sz="quarter" idx="5"/>
          </p:nvPr>
        </p:nvSpPr>
        <p:spPr>
          <a:noFill/>
        </p:spPr>
        <p:txBody>
          <a:bodyPr/>
          <a:lstStyle/>
          <a:p>
            <a:fld id="{A9AB4DF4-CB49-495E-8E24-52498EF9E062}" type="slidenum">
              <a:rPr lang="en-US" altLang="en-US" smtClean="0"/>
              <a:pPr/>
              <a:t>21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对角圆角矩形 6"/>
          <p:cNvSpPr/>
          <p:nvPr/>
        </p:nvSpPr>
        <p:spPr>
          <a:xfrm>
            <a:off x="164592" y="146304"/>
            <a:ext cx="8814816"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64234" y="381001"/>
            <a:ext cx="8229600" cy="2209800"/>
          </a:xfrm>
        </p:spPr>
        <p:txBody>
          <a:bodyPr lIns="45720" rIns="228600" anchor="b">
            <a:normAutofit/>
          </a:bodyPr>
          <a:lstStyle>
            <a:lvl1pPr marL="0" algn="r">
              <a:defRPr sz="4800"/>
            </a:lvl1pPr>
            <a:extLst/>
          </a:lstStyle>
          <a:p>
            <a:r>
              <a:rPr kumimoji="0" lang="zh-CN" altLang="en-US"/>
              <a:t>单击此处编辑母版标题样式</a:t>
            </a:r>
            <a:endParaRPr kumimoji="0" lang="en-US"/>
          </a:p>
        </p:txBody>
      </p:sp>
      <p:sp>
        <p:nvSpPr>
          <p:cNvPr id="9" name="副标题 8"/>
          <p:cNvSpPr>
            <a:spLocks noGrp="1"/>
          </p:cNvSpPr>
          <p:nvPr>
            <p:ph type="subTitle" idx="1"/>
          </p:nvPr>
        </p:nvSpPr>
        <p:spPr>
          <a:xfrm>
            <a:off x="2133600" y="2819400"/>
            <a:ext cx="6560234"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sp>
        <p:nvSpPr>
          <p:cNvPr id="10" name="日期占位符 9"/>
          <p:cNvSpPr>
            <a:spLocks noGrp="1"/>
          </p:cNvSpPr>
          <p:nvPr>
            <p:ph type="dt" sz="half" idx="10"/>
          </p:nvPr>
        </p:nvSpPr>
        <p:spPr>
          <a:xfrm>
            <a:off x="5562600" y="6509004"/>
            <a:ext cx="3002280" cy="274320"/>
          </a:xfrm>
        </p:spPr>
        <p:txBody>
          <a:bodyPr vert="horz" rtlCol="0"/>
          <a:lstStyle/>
          <a:p>
            <a:fld id="{972DC5C9-9C7B-49C2-A04F-C588CC4912AB}" type="datetimeFigureOut">
              <a:rPr lang="zh-CN" altLang="en-US" smtClean="0"/>
              <a:t>2019/5/7</a:t>
            </a:fld>
            <a:endParaRPr lang="zh-CN" altLang="en-US"/>
          </a:p>
        </p:txBody>
      </p:sp>
      <p:sp>
        <p:nvSpPr>
          <p:cNvPr id="11" name="灯片编号占位符 10"/>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E52E3BEC-05E7-4B02-9FD7-1FADEAA0F2E8}" type="slidenum">
              <a:rPr lang="zh-CN" altLang="en-US" smtClean="0"/>
              <a:t>‹#›</a:t>
            </a:fld>
            <a:endParaRPr lang="zh-CN" altLang="en-US"/>
          </a:p>
        </p:txBody>
      </p:sp>
      <p:sp>
        <p:nvSpPr>
          <p:cNvPr id="12" name="页脚占位符 11"/>
          <p:cNvSpPr>
            <a:spLocks noGrp="1"/>
          </p:cNvSpPr>
          <p:nvPr>
            <p:ph type="ftr" sz="quarter" idx="12"/>
          </p:nvPr>
        </p:nvSpPr>
        <p:spPr>
          <a:xfrm>
            <a:off x="1600200" y="6509004"/>
            <a:ext cx="3907464" cy="274320"/>
          </a:xfrm>
        </p:spPr>
        <p:txBody>
          <a:bodyPr vert="horz" rtlCol="0"/>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72DC5C9-9C7B-49C2-A04F-C588CC4912AB}" type="datetimeFigureOut">
              <a:rPr lang="zh-CN" altLang="en-US" smtClean="0"/>
              <a:t>2019/5/7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2E3BEC-05E7-4B02-9FD7-1FADEAA0F2E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7" name="矩形 6"/>
          <p:cNvSpPr/>
          <p:nvPr/>
        </p:nvSpPr>
        <p:spPr>
          <a:xfrm>
            <a:off x="1000128" y="3267456"/>
            <a:ext cx="74066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722376" y="498230"/>
            <a:ext cx="7772400" cy="2731008"/>
          </a:xfrm>
        </p:spPr>
        <p:txBody>
          <a:bodyPr rIns="100584"/>
          <a:lstStyle>
            <a:lvl1pPr algn="r">
              <a:buNone/>
              <a:defRPr sz="4000" b="1" cap="none">
                <a:solidFill>
                  <a:schemeClr val="accent1">
                    <a:tint val="95000"/>
                    <a:satMod val="200000"/>
                  </a:schemeClr>
                </a:solidFill>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3287713"/>
            <a:ext cx="7772400" cy="1509712"/>
          </a:xfrm>
        </p:spPr>
        <p:txBody>
          <a:bodyPr rIns="128016" anchor="t"/>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8" name="日期占位符 7"/>
          <p:cNvSpPr>
            <a:spLocks noGrp="1"/>
          </p:cNvSpPr>
          <p:nvPr>
            <p:ph type="dt" sz="half" idx="10"/>
          </p:nvPr>
        </p:nvSpPr>
        <p:spPr>
          <a:xfrm>
            <a:off x="5562600" y="6513670"/>
            <a:ext cx="3002280" cy="274320"/>
          </a:xfrm>
        </p:spPr>
        <p:txBody>
          <a:bodyPr vert="horz" rtlCol="0"/>
          <a:lstStyle/>
          <a:p>
            <a:fld id="{972DC5C9-9C7B-49C2-A04F-C588CC4912AB}" type="datetimeFigureOut">
              <a:rPr lang="zh-CN" altLang="en-US" smtClean="0"/>
              <a:t>2019/5/7</a:t>
            </a:fld>
            <a:endParaRPr lang="zh-CN" altLang="en-US"/>
          </a:p>
        </p:txBody>
      </p:sp>
      <p:sp>
        <p:nvSpPr>
          <p:cNvPr id="9" name="灯片编号占位符 8"/>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E52E3BEC-05E7-4B02-9FD7-1FADEAA0F2E8}" type="slidenum">
              <a:rPr lang="zh-CN" altLang="en-US" smtClean="0"/>
              <a:t>‹#›</a:t>
            </a:fld>
            <a:endParaRPr lang="zh-CN" altLang="en-US"/>
          </a:p>
        </p:txBody>
      </p:sp>
      <p:sp>
        <p:nvSpPr>
          <p:cNvPr id="10" name="页脚占位符 9"/>
          <p:cNvSpPr>
            <a:spLocks noGrp="1"/>
          </p:cNvSpPr>
          <p:nvPr>
            <p:ph type="ftr" sz="quarter" idx="12"/>
          </p:nvPr>
        </p:nvSpPr>
        <p:spPr>
          <a:xfrm>
            <a:off x="1600200" y="6513670"/>
            <a:ext cx="3907464" cy="274320"/>
          </a:xfrm>
        </p:spPr>
        <p:txBody>
          <a:bodyPr vert="horz" rtlCol="0"/>
          <a:lstStyle/>
          <a:p>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72DC5C9-9C7B-49C2-A04F-C588CC4912AB}" type="datetimeFigureOut">
              <a:rPr lang="zh-CN" altLang="en-US" smtClean="0"/>
              <a:t>2019/5/7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641080" y="6514568"/>
            <a:ext cx="464288" cy="274320"/>
          </a:xfrm>
        </p:spPr>
        <p:txBody>
          <a:bodyPr/>
          <a:lstStyle/>
          <a:p>
            <a:fld id="{E52E3BEC-05E7-4B02-9FD7-1FADEAA0F2E8}" type="slidenum">
              <a:rPr lang="zh-CN" altLang="en-US" smtClean="0"/>
              <a:t>‹#›</a:t>
            </a:fld>
            <a:endParaRPr lang="zh-CN" altLang="en-US"/>
          </a:p>
        </p:txBody>
      </p:sp>
      <p:sp>
        <p:nvSpPr>
          <p:cNvPr id="10" name="矩形 9"/>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616744"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a:p>
        </p:txBody>
      </p:sp>
      <p:sp>
        <p:nvSpPr>
          <p:cNvPr id="11" name="矩形 10"/>
          <p:cNvSpPr/>
          <p:nvPr/>
        </p:nvSpPr>
        <p:spPr>
          <a:xfrm>
            <a:off x="4800600"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a:p>
        </p:txBody>
      </p:sp>
      <p:sp>
        <p:nvSpPr>
          <p:cNvPr id="2" name="标题 1"/>
          <p:cNvSpPr>
            <a:spLocks noGrp="1"/>
          </p:cNvSpPr>
          <p:nvPr>
            <p:ph type="title"/>
          </p:nvPr>
        </p:nvSpPr>
        <p:spPr>
          <a:xfrm>
            <a:off x="457200" y="251948"/>
            <a:ext cx="8229600" cy="1143000"/>
          </a:xfrm>
        </p:spPr>
        <p:txBody>
          <a:bodyPr anchor="b"/>
          <a:lstStyle>
            <a:lvl1pPr>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5" y="1535113"/>
            <a:ext cx="4041775"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2362200"/>
            <a:ext cx="4040188" cy="3941763"/>
          </a:xfrm>
        </p:spPr>
        <p:txBody>
          <a:bodyPr lIns="91440"/>
          <a:lstStyle>
            <a:lvl1pPr>
              <a:defRPr sz="22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972DC5C9-9C7B-49C2-A04F-C588CC4912AB}" type="datetimeFigureOut">
              <a:rPr lang="zh-CN" altLang="en-US" smtClean="0"/>
              <a:t>2019/5/7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a:xfrm>
            <a:off x="8641080" y="6514568"/>
            <a:ext cx="464288" cy="274320"/>
          </a:xfrm>
        </p:spPr>
        <p:txBody>
          <a:bodyPr/>
          <a:lstStyle/>
          <a:p>
            <a:fld id="{E52E3BEC-05E7-4B02-9FD7-1FADEAA0F2E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218"/>
            <a:ext cx="8229600" cy="1143000"/>
          </a:xfrm>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972DC5C9-9C7B-49C2-A04F-C588CC4912AB}" type="datetimeFigureOut">
              <a:rPr lang="zh-CN" altLang="en-US" smtClean="0"/>
              <a:t>2019/5/7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2E3BEC-05E7-4B02-9FD7-1FADEAA0F2E8}" type="slidenum">
              <a:rPr lang="zh-CN" altLang="en-US" smtClean="0"/>
              <a:t>‹#›</a:t>
            </a:fld>
            <a:endParaRPr lang="zh-CN" altLang="en-US"/>
          </a:p>
        </p:txBody>
      </p:sp>
      <p:sp>
        <p:nvSpPr>
          <p:cNvPr id="7" name="矩形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72DC5C9-9C7B-49C2-A04F-C588CC4912AB}" type="datetimeFigureOut">
              <a:rPr lang="zh-CN" altLang="en-US" smtClean="0"/>
              <a:t>2019/5/7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2E3BEC-05E7-4B02-9FD7-1FADEAA0F2E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1">
        <a:schemeClr val="bg2"/>
      </p:bgRef>
    </p:bg>
    <p:spTree>
      <p:nvGrpSpPr>
        <p:cNvPr id="1" name=""/>
        <p:cNvGrpSpPr/>
        <p:nvPr/>
      </p:nvGrpSpPr>
      <p:grpSpPr>
        <a:xfrm>
          <a:off x="0" y="0"/>
          <a:ext cx="0" cy="0"/>
          <a:chOff x="0" y="0"/>
          <a:chExt cx="0" cy="0"/>
        </a:xfrm>
      </p:grpSpPr>
      <p:sp>
        <p:nvSpPr>
          <p:cNvPr id="8" name="矩形 7"/>
          <p:cNvSpPr/>
          <p:nvPr/>
        </p:nvSpPr>
        <p:spPr>
          <a:xfrm>
            <a:off x="5057552" y="105765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4963136" y="304800"/>
            <a:ext cx="3931920" cy="762000"/>
          </a:xfrm>
        </p:spPr>
        <p:txBody>
          <a:bodyPr anchor="b"/>
          <a:lstStyle>
            <a:lvl1pPr marL="0" algn="r">
              <a:buNone/>
              <a:defRPr sz="2000" b="1"/>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963136" y="1107560"/>
            <a:ext cx="393192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9" name="日期占位符 8"/>
          <p:cNvSpPr>
            <a:spLocks noGrp="1"/>
          </p:cNvSpPr>
          <p:nvPr>
            <p:ph type="dt" sz="half" idx="10"/>
          </p:nvPr>
        </p:nvSpPr>
        <p:spPr>
          <a:xfrm>
            <a:off x="5562600" y="6513670"/>
            <a:ext cx="3002280" cy="274320"/>
          </a:xfrm>
        </p:spPr>
        <p:txBody>
          <a:bodyPr vert="horz" rtlCol="0"/>
          <a:lstStyle/>
          <a:p>
            <a:fld id="{972DC5C9-9C7B-49C2-A04F-C588CC4912AB}" type="datetimeFigureOut">
              <a:rPr lang="zh-CN" altLang="en-US" smtClean="0"/>
              <a:t>2019/5/7</a:t>
            </a:fld>
            <a:endParaRPr lang="zh-CN" altLang="en-US"/>
          </a:p>
        </p:txBody>
      </p:sp>
      <p:sp>
        <p:nvSpPr>
          <p:cNvPr id="10" name="灯片编号占位符 9"/>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E52E3BEC-05E7-4B02-9FD7-1FADEAA0F2E8}" type="slidenum">
              <a:rPr lang="zh-CN" altLang="en-US" smtClean="0"/>
              <a:t>‹#›</a:t>
            </a:fld>
            <a:endParaRPr lang="zh-CN" altLang="en-US"/>
          </a:p>
        </p:txBody>
      </p:sp>
      <p:sp>
        <p:nvSpPr>
          <p:cNvPr id="11" name="页脚占位符 10"/>
          <p:cNvSpPr>
            <a:spLocks noGrp="1"/>
          </p:cNvSpPr>
          <p:nvPr>
            <p:ph type="ftr" sz="quarter" idx="12"/>
          </p:nvPr>
        </p:nvSpPr>
        <p:spPr>
          <a:xfrm>
            <a:off x="1600200" y="6513670"/>
            <a:ext cx="3907464" cy="274320"/>
          </a:xfrm>
        </p:spPr>
        <p:txBody>
          <a:bodyPr vert="horz" rtlCol="0"/>
          <a:lstStyle/>
          <a:p>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040443" y="4724400"/>
            <a:ext cx="5486400" cy="664536"/>
          </a:xfrm>
        </p:spPr>
        <p:txBody>
          <a:bodyPr anchor="b"/>
          <a:lstStyle>
            <a:lvl1pPr marL="0" algn="r">
              <a:buNone/>
              <a:defRPr sz="2000" b="1"/>
            </a:lvl1pPr>
            <a:extLst/>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3040443" y="5388936"/>
            <a:ext cx="54864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eaLnBrk="1" latinLnBrk="0" hangingPunct="1"/>
            <a:r>
              <a:rPr kumimoji="0" lang="zh-CN" altLang="en-US"/>
              <a:t>单击此处编辑母版文本样式</a:t>
            </a:r>
          </a:p>
        </p:txBody>
      </p:sp>
      <p:sp>
        <p:nvSpPr>
          <p:cNvPr id="13" name="图片占位符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extLst/>
          </a:lstStyle>
          <a:p>
            <a:pPr marL="0" algn="l" rtl="0" eaLnBrk="1" latinLnBrk="0" hangingPunct="1"/>
            <a:r>
              <a:rPr kumimoji="0" lang="zh-CN" altLang="en-US">
                <a:solidFill>
                  <a:schemeClr val="lt1"/>
                </a:solidFill>
                <a:latin typeface="+mn-lt"/>
                <a:ea typeface="+mn-ea"/>
                <a:cs typeface="+mn-cs"/>
              </a:rPr>
              <a:t>单击图标添加图片</a:t>
            </a:r>
            <a:endParaRPr kumimoji="0" lang="en-US" dirty="0">
              <a:solidFill>
                <a:schemeClr val="lt1"/>
              </a:solidFill>
              <a:latin typeface="+mn-lt"/>
              <a:ea typeface="+mn-ea"/>
              <a:cs typeface="+mn-cs"/>
            </a:endParaRPr>
          </a:p>
        </p:txBody>
      </p:sp>
      <p:sp>
        <p:nvSpPr>
          <p:cNvPr id="8" name="日期占位符 7"/>
          <p:cNvSpPr>
            <a:spLocks noGrp="1"/>
          </p:cNvSpPr>
          <p:nvPr>
            <p:ph type="dt" sz="half" idx="10"/>
          </p:nvPr>
        </p:nvSpPr>
        <p:spPr>
          <a:xfrm>
            <a:off x="5562600" y="6509004"/>
            <a:ext cx="3002280" cy="274320"/>
          </a:xfrm>
        </p:spPr>
        <p:txBody>
          <a:bodyPr vert="horz" rtlCol="0"/>
          <a:lstStyle/>
          <a:p>
            <a:fld id="{972DC5C9-9C7B-49C2-A04F-C588CC4912AB}" type="datetimeFigureOut">
              <a:rPr lang="zh-CN" altLang="en-US" smtClean="0"/>
              <a:t>2019/5/7</a:t>
            </a:fld>
            <a:endParaRPr lang="zh-CN" altLang="en-US"/>
          </a:p>
        </p:txBody>
      </p:sp>
      <p:sp>
        <p:nvSpPr>
          <p:cNvPr id="9" name="灯片编号占位符 8"/>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E52E3BEC-05E7-4B02-9FD7-1FADEAA0F2E8}" type="slidenum">
              <a:rPr lang="zh-CN" altLang="en-US" smtClean="0"/>
              <a:t>‹#›</a:t>
            </a:fld>
            <a:endParaRPr lang="zh-CN" altLang="en-US"/>
          </a:p>
        </p:txBody>
      </p:sp>
      <p:sp>
        <p:nvSpPr>
          <p:cNvPr id="10" name="页脚占位符 9"/>
          <p:cNvSpPr>
            <a:spLocks noGrp="1"/>
          </p:cNvSpPr>
          <p:nvPr>
            <p:ph type="ftr" sz="quarter" idx="12"/>
          </p:nvPr>
        </p:nvSpPr>
        <p:spPr>
          <a:xfrm>
            <a:off x="1600200" y="6509004"/>
            <a:ext cx="3907464" cy="274320"/>
          </a:xfrm>
        </p:spPr>
        <p:txBody>
          <a:bodyPr vert="horz" rtlCol="0"/>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72DC5C9-9C7B-49C2-A04F-C588CC4912AB}" type="datetimeFigureOut">
              <a:rPr lang="zh-CN" altLang="en-US" smtClean="0"/>
              <a:t>2019/5/7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2E3BEC-05E7-4B02-9FD7-1FADEAA0F2E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lvl1pPr algn="l">
              <a:defRPr/>
            </a:lvl1pPr>
            <a:extLs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72DC5C9-9C7B-49C2-A04F-C588CC4912AB}" type="datetimeFigureOut">
              <a:rPr lang="zh-CN" altLang="en-US" smtClean="0"/>
              <a:t>2019/5/7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2E3BEC-05E7-4B02-9FD7-1FADEAA0F2E8}"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对角圆角矩形 6"/>
          <p:cNvSpPr/>
          <p:nvPr/>
        </p:nvSpPr>
        <p:spPr>
          <a:xfrm>
            <a:off x="164592" y="147085"/>
            <a:ext cx="8810846"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页脚占位符 2"/>
          <p:cNvSpPr>
            <a:spLocks noGrp="1"/>
          </p:cNvSpPr>
          <p:nvPr>
            <p:ph type="ftr" sz="quarter" idx="3"/>
          </p:nvPr>
        </p:nvSpPr>
        <p:spPr>
          <a:xfrm>
            <a:off x="1295400" y="6400800"/>
            <a:ext cx="4212264" cy="274320"/>
          </a:xfrm>
          <a:prstGeom prst="rect">
            <a:avLst/>
          </a:prstGeom>
        </p:spPr>
        <p:txBody>
          <a:bodyPr/>
          <a:lstStyle>
            <a:lvl1pPr algn="r" eaLnBrk="1" latinLnBrk="0" hangingPunct="1">
              <a:defRPr kumimoji="0" sz="1300">
                <a:solidFill>
                  <a:schemeClr val="bg2">
                    <a:tint val="60000"/>
                    <a:satMod val="155000"/>
                  </a:schemeClr>
                </a:solidFill>
              </a:defRPr>
            </a:lvl1pPr>
            <a:extLst/>
          </a:lstStyle>
          <a:p>
            <a:endParaRPr lang="zh-CN" altLang="en-US"/>
          </a:p>
        </p:txBody>
      </p:sp>
      <p:sp>
        <p:nvSpPr>
          <p:cNvPr id="14" name="日期占位符 13"/>
          <p:cNvSpPr>
            <a:spLocks noGrp="1"/>
          </p:cNvSpPr>
          <p:nvPr>
            <p:ph type="dt" sz="half" idx="2"/>
          </p:nvPr>
        </p:nvSpPr>
        <p:spPr>
          <a:xfrm>
            <a:off x="5562600" y="6400800"/>
            <a:ext cx="3002280" cy="274320"/>
          </a:xfrm>
          <a:prstGeom prst="rect">
            <a:avLst/>
          </a:prstGeom>
        </p:spPr>
        <p:txBody>
          <a:bodyPr/>
          <a:lstStyle>
            <a:lvl1pPr algn="l" eaLnBrk="1" latinLnBrk="0" hangingPunct="1">
              <a:defRPr kumimoji="0" sz="1300">
                <a:solidFill>
                  <a:schemeClr val="bg2">
                    <a:tint val="60000"/>
                    <a:satMod val="155000"/>
                  </a:schemeClr>
                </a:solidFill>
              </a:defRPr>
            </a:lvl1pPr>
            <a:extLst/>
          </a:lstStyle>
          <a:p>
            <a:fld id="{972DC5C9-9C7B-49C2-A04F-C588CC4912AB}" type="datetimeFigureOut">
              <a:rPr lang="zh-CN" altLang="en-US" smtClean="0"/>
              <a:t>2019/5/7</a:t>
            </a:fld>
            <a:endParaRPr lang="zh-CN" altLang="en-US"/>
          </a:p>
        </p:txBody>
      </p:sp>
      <p:sp>
        <p:nvSpPr>
          <p:cNvPr id="23" name="灯片编号占位符 22"/>
          <p:cNvSpPr>
            <a:spLocks noGrp="1"/>
          </p:cNvSpPr>
          <p:nvPr>
            <p:ph type="sldNum" sz="quarter" idx="4"/>
          </p:nvPr>
        </p:nvSpPr>
        <p:spPr>
          <a:xfrm>
            <a:off x="8638952" y="6514568"/>
            <a:ext cx="464288" cy="274320"/>
          </a:xfrm>
          <a:prstGeom prst="rect">
            <a:avLst/>
          </a:prstGeom>
        </p:spPr>
        <p:txBody>
          <a:bodyPr anchor="ctr"/>
          <a:lstStyle>
            <a:lvl1pPr algn="r" eaLnBrk="1" latinLnBrk="0" hangingPunct="1">
              <a:defRPr kumimoji="0" sz="1600">
                <a:solidFill>
                  <a:schemeClr val="tx2">
                    <a:shade val="90000"/>
                  </a:schemeClr>
                </a:solidFill>
                <a:effectLst/>
              </a:defRPr>
            </a:lvl1pPr>
            <a:extLst/>
          </a:lstStyle>
          <a:p>
            <a:fld id="{E52E3BEC-05E7-4B02-9FD7-1FADEAA0F2E8}" type="slidenum">
              <a:rPr lang="zh-CN" altLang="en-US" smtClean="0"/>
              <a:t>‹#›</a:t>
            </a:fld>
            <a:endParaRPr lang="zh-CN" altLang="en-US"/>
          </a:p>
        </p:txBody>
      </p:sp>
      <p:sp>
        <p:nvSpPr>
          <p:cNvPr id="22" name="标题占位符 21"/>
          <p:cNvSpPr>
            <a:spLocks noGrp="1"/>
          </p:cNvSpPr>
          <p:nvPr>
            <p:ph type="title"/>
          </p:nvPr>
        </p:nvSpPr>
        <p:spPr>
          <a:xfrm>
            <a:off x="457200" y="253536"/>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457200" y="1646237"/>
            <a:ext cx="8229600" cy="4526280"/>
          </a:xfrm>
          <a:prstGeom prst="rect">
            <a:avLst/>
          </a:prstGeom>
        </p:spPr>
        <p:txBody>
          <a:bodyPr>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p:titleStyle>
    <p:body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file:////E:/&#31649;&#29702;&#23398;/2010/&#39046;&#23548;526.pp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战略管理</a:t>
            </a:r>
            <a:r>
              <a:rPr lang="en-US" altLang="zh-CN" dirty="0"/>
              <a:t>3</a:t>
            </a:r>
            <a:endParaRPr lang="zh-CN" altLang="en-US" dirty="0"/>
          </a:p>
        </p:txBody>
      </p:sp>
      <p:sp>
        <p:nvSpPr>
          <p:cNvPr id="3" name="副标题 2"/>
          <p:cNvSpPr>
            <a:spLocks noGrp="1"/>
          </p:cNvSpPr>
          <p:nvPr>
            <p:ph type="subTitle" idx="1"/>
          </p:nvPr>
        </p:nvSpPr>
        <p:spPr/>
        <p:txBody>
          <a:bodyPr/>
          <a:lstStyle/>
          <a:p>
            <a:r>
              <a:rPr lang="zh-CN" altLang="en-US" dirty="0"/>
              <a:t>战略实施、战略评价与控制</a:t>
            </a:r>
            <a:endParaRPr lang="en-US" altLang="zh-CN" dirty="0"/>
          </a:p>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zh-CN" altLang="en-US"/>
              <a:t>战略实施</a:t>
            </a:r>
          </a:p>
        </p:txBody>
      </p:sp>
      <p:sp>
        <p:nvSpPr>
          <p:cNvPr id="132099" name="Rectangle 3"/>
          <p:cNvSpPr>
            <a:spLocks noGrp="1" noChangeArrowheads="1"/>
          </p:cNvSpPr>
          <p:nvPr>
            <p:ph type="body" idx="1"/>
          </p:nvPr>
        </p:nvSpPr>
        <p:spPr/>
        <p:txBody>
          <a:bodyPr/>
          <a:lstStyle/>
          <a:p>
            <a:r>
              <a:rPr lang="zh-CN" altLang="en-US">
                <a:solidFill>
                  <a:srgbClr val="FF6600"/>
                </a:solidFill>
              </a:rPr>
              <a:t>知难行易与知易行难</a:t>
            </a:r>
          </a:p>
          <a:p>
            <a:r>
              <a:rPr lang="zh-CN" altLang="en-US">
                <a:solidFill>
                  <a:srgbClr val="FF6600"/>
                </a:solidFill>
              </a:rPr>
              <a:t>计划执行</a:t>
            </a:r>
          </a:p>
          <a:p>
            <a:endParaRPr lang="zh-CN" altLang="en-US">
              <a:solidFill>
                <a:srgbClr val="FF6600"/>
              </a:solidFill>
            </a:endParaRPr>
          </a:p>
          <a:p>
            <a:endParaRPr lang="zh-CN" altLang="en-US">
              <a:solidFill>
                <a:srgbClr val="FF6600"/>
              </a:solidFill>
            </a:endParaRPr>
          </a:p>
          <a:p>
            <a:endParaRPr lang="en-US" altLang="zh-CN"/>
          </a:p>
        </p:txBody>
      </p:sp>
      <p:graphicFrame>
        <p:nvGraphicFramePr>
          <p:cNvPr id="132127" name="Group 31"/>
          <p:cNvGraphicFramePr>
            <a:graphicFrameLocks noGrp="1"/>
          </p:cNvGraphicFramePr>
          <p:nvPr/>
        </p:nvGraphicFramePr>
        <p:xfrm>
          <a:off x="609600" y="2819400"/>
          <a:ext cx="7696200" cy="3134044"/>
        </p:xfrm>
        <a:graphic>
          <a:graphicData uri="http://schemas.openxmlformats.org/drawingml/2006/table">
            <a:tbl>
              <a:tblPr/>
              <a:tblGrid>
                <a:gridCol w="3848100">
                  <a:extLst>
                    <a:ext uri="{9D8B030D-6E8A-4147-A177-3AD203B41FA5}">
                      <a16:colId xmlns:a16="http://schemas.microsoft.com/office/drawing/2014/main" val="20000"/>
                    </a:ext>
                  </a:extLst>
                </a:gridCol>
                <a:gridCol w="3848100">
                  <a:extLst>
                    <a:ext uri="{9D8B030D-6E8A-4147-A177-3AD203B41FA5}">
                      <a16:colId xmlns:a16="http://schemas.microsoft.com/office/drawing/2014/main" val="20001"/>
                    </a:ext>
                  </a:extLst>
                </a:gridCol>
              </a:tblGrid>
              <a:tr h="52863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Arial" charset="0"/>
                          <a:ea typeface="宋体" charset="-122"/>
                        </a:rPr>
                        <a:t>战略制定是</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a:ln>
                            <a:noFill/>
                          </a:ln>
                          <a:solidFill>
                            <a:srgbClr val="FFFF00"/>
                          </a:solidFill>
                          <a:effectLst/>
                          <a:latin typeface="Arial" charset="0"/>
                          <a:ea typeface="宋体" charset="-122"/>
                        </a:rPr>
                        <a:t>战略实施是</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863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Arial" charset="0"/>
                          <a:ea typeface="宋体" charset="-122"/>
                        </a:rPr>
                        <a:t>行动前部署力量</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a:ln>
                            <a:noFill/>
                          </a:ln>
                          <a:solidFill>
                            <a:srgbClr val="FFFF00"/>
                          </a:solidFill>
                          <a:effectLst/>
                          <a:latin typeface="Arial" charset="0"/>
                          <a:ea typeface="宋体" charset="-122"/>
                        </a:rPr>
                        <a:t>行动中管理和运用力量</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325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Arial" charset="0"/>
                          <a:ea typeface="宋体" charset="-122"/>
                        </a:rPr>
                        <a:t>注重效能</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Arial" charset="0"/>
                          <a:ea typeface="宋体" charset="-122"/>
                        </a:rPr>
                        <a:t>注重效率</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63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a:ln>
                            <a:noFill/>
                          </a:ln>
                          <a:solidFill>
                            <a:srgbClr val="FFFF00"/>
                          </a:solidFill>
                          <a:effectLst/>
                          <a:latin typeface="Arial" charset="0"/>
                          <a:ea typeface="宋体" charset="-122"/>
                        </a:rPr>
                        <a:t>思维过程</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Arial" charset="0"/>
                          <a:ea typeface="宋体" charset="-122"/>
                        </a:rPr>
                        <a:t>行动过程</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a:ln>
                            <a:noFill/>
                          </a:ln>
                          <a:solidFill>
                            <a:srgbClr val="FFFF00"/>
                          </a:solidFill>
                          <a:effectLst/>
                          <a:latin typeface="Arial" charset="0"/>
                          <a:ea typeface="宋体" charset="-122"/>
                        </a:rPr>
                        <a:t>需要好的直觉与分析技能，对几个人协调</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Arial" charset="0"/>
                          <a:ea typeface="宋体" charset="-122"/>
                        </a:rPr>
                        <a:t>领导与激励技能，对众多人协调</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zh-CN" altLang="en-US"/>
              <a:t>战略实施包括的管理问题</a:t>
            </a:r>
          </a:p>
        </p:txBody>
      </p:sp>
      <p:sp>
        <p:nvSpPr>
          <p:cNvPr id="133123" name="Rectangle 3"/>
          <p:cNvSpPr>
            <a:spLocks noGrp="1" noChangeArrowheads="1"/>
          </p:cNvSpPr>
          <p:nvPr>
            <p:ph type="body" idx="1"/>
          </p:nvPr>
        </p:nvSpPr>
        <p:spPr/>
        <p:txBody>
          <a:bodyPr/>
          <a:lstStyle/>
          <a:p>
            <a:r>
              <a:rPr lang="zh-CN" altLang="en-US" dirty="0"/>
              <a:t>制定分阶段目标，如年度目标；制定政策；配置资源；调整现行组织结构；企业改组和流程再造；调整奖励和激励计划；减小变革阻力；通过培训、沟通使各层管理者适应新的战略；培育支持新战略的企业文化；调整生产作业过程；发展有效的人力资源功能等</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zh-CN" altLang="en-US"/>
              <a:t>建立分阶段目标</a:t>
            </a:r>
          </a:p>
        </p:txBody>
      </p:sp>
      <p:sp>
        <p:nvSpPr>
          <p:cNvPr id="134147" name="Rectangle 3"/>
          <p:cNvSpPr>
            <a:spLocks noGrp="1" noChangeArrowheads="1"/>
          </p:cNvSpPr>
          <p:nvPr>
            <p:ph type="body" idx="1"/>
          </p:nvPr>
        </p:nvSpPr>
        <p:spPr/>
        <p:txBody>
          <a:bodyPr/>
          <a:lstStyle/>
          <a:p>
            <a:r>
              <a:rPr lang="zh-CN" altLang="en-US" sz="2800"/>
              <a:t>配置资源的基础</a:t>
            </a:r>
          </a:p>
          <a:p>
            <a:r>
              <a:rPr lang="zh-CN" altLang="en-US" sz="2800"/>
              <a:t>评价管理者的主要尺度</a:t>
            </a:r>
          </a:p>
          <a:p>
            <a:r>
              <a:rPr lang="zh-CN" altLang="en-US" sz="2800"/>
              <a:t>监测运作过程，实现企业长期目标的工具</a:t>
            </a:r>
          </a:p>
          <a:p>
            <a:r>
              <a:rPr lang="zh-CN" altLang="en-US" sz="2800"/>
              <a:t>突出公司、分部和各职能部门的工作重点</a:t>
            </a:r>
          </a:p>
          <a:p>
            <a:endParaRPr lang="zh-CN" altLang="en-US" sz="2800"/>
          </a:p>
          <a:p>
            <a:r>
              <a:rPr lang="zh-CN" altLang="en-US" sz="2800"/>
              <a:t>目标的横向一致性和纵向一致性</a:t>
            </a:r>
          </a:p>
          <a:p>
            <a:r>
              <a:rPr lang="zh-CN" altLang="en-US" sz="2800"/>
              <a:t>可度量、协调一致、合理、有挑战性、明确、有合理的时间要求、附以相应的奖惩规定</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zh-CN" altLang="en-US"/>
              <a:t>制定政策</a:t>
            </a:r>
          </a:p>
        </p:txBody>
      </p:sp>
      <p:sp>
        <p:nvSpPr>
          <p:cNvPr id="135171" name="Rectangle 3"/>
          <p:cNvSpPr>
            <a:spLocks noGrp="1" noChangeArrowheads="1"/>
          </p:cNvSpPr>
          <p:nvPr>
            <p:ph type="body" idx="1"/>
          </p:nvPr>
        </p:nvSpPr>
        <p:spPr/>
        <p:txBody>
          <a:bodyPr/>
          <a:lstStyle/>
          <a:p>
            <a:r>
              <a:rPr lang="zh-CN" altLang="en-US"/>
              <a:t>政策：实施战略和实现目标的工具，做法</a:t>
            </a:r>
          </a:p>
          <a:p>
            <a:r>
              <a:rPr lang="zh-CN" altLang="en-US"/>
              <a:t>大量的培训还是少量的关键培训</a:t>
            </a:r>
          </a:p>
          <a:p>
            <a:r>
              <a:rPr lang="zh-CN" altLang="en-US"/>
              <a:t>提拔人员是根据业绩还是根据资历</a:t>
            </a:r>
          </a:p>
          <a:p>
            <a:r>
              <a:rPr lang="zh-CN" altLang="en-US"/>
              <a:t>购买设备还是租用设备</a:t>
            </a:r>
          </a:p>
          <a:p>
            <a:r>
              <a:rPr lang="zh-CN" altLang="en-US"/>
              <a:t>高水平库存还是低水平库存</a:t>
            </a:r>
          </a:p>
          <a:p>
            <a:endParaRPr lang="en-US" altLang="zh-CN"/>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zh-CN" altLang="en-US"/>
              <a:t>资源配置</a:t>
            </a:r>
          </a:p>
        </p:txBody>
      </p:sp>
      <p:sp>
        <p:nvSpPr>
          <p:cNvPr id="136195" name="Rectangle 3"/>
          <p:cNvSpPr>
            <a:spLocks noGrp="1" noChangeArrowheads="1"/>
          </p:cNvSpPr>
          <p:nvPr>
            <p:ph type="body" idx="1"/>
          </p:nvPr>
        </p:nvSpPr>
        <p:spPr/>
        <p:txBody>
          <a:bodyPr/>
          <a:lstStyle/>
          <a:p>
            <a:pPr>
              <a:lnSpc>
                <a:spcPct val="90000"/>
              </a:lnSpc>
            </a:pPr>
            <a:r>
              <a:rPr lang="zh-CN" altLang="en-US"/>
              <a:t>战略管理有时也被称为“资源配置的过程”</a:t>
            </a:r>
          </a:p>
          <a:p>
            <a:pPr>
              <a:lnSpc>
                <a:spcPct val="90000"/>
              </a:lnSpc>
            </a:pPr>
            <a:r>
              <a:rPr lang="zh-CN" altLang="en-US"/>
              <a:t>按阶段目标所确定的优先顺序配置资源</a:t>
            </a:r>
          </a:p>
          <a:p>
            <a:pPr>
              <a:lnSpc>
                <a:spcPct val="90000"/>
              </a:lnSpc>
            </a:pPr>
            <a:r>
              <a:rPr lang="zh-CN" altLang="en-US"/>
              <a:t>财力</a:t>
            </a:r>
          </a:p>
          <a:p>
            <a:pPr>
              <a:lnSpc>
                <a:spcPct val="90000"/>
              </a:lnSpc>
            </a:pPr>
            <a:r>
              <a:rPr lang="zh-CN" altLang="en-US"/>
              <a:t>人力</a:t>
            </a:r>
          </a:p>
          <a:p>
            <a:pPr>
              <a:lnSpc>
                <a:spcPct val="90000"/>
              </a:lnSpc>
            </a:pPr>
            <a:r>
              <a:rPr lang="zh-CN" altLang="en-US"/>
              <a:t>物力</a:t>
            </a:r>
          </a:p>
          <a:p>
            <a:pPr>
              <a:lnSpc>
                <a:spcPct val="90000"/>
              </a:lnSpc>
            </a:pPr>
            <a:endParaRPr lang="zh-CN" altLang="en-US"/>
          </a:p>
          <a:p>
            <a:pPr>
              <a:lnSpc>
                <a:spcPct val="90000"/>
              </a:lnSpc>
            </a:pPr>
            <a:r>
              <a:rPr lang="zh-CN" altLang="en-US"/>
              <a:t>妨碍因素：保护资源、战略目标不明确、企业内政治、过于强调短期财务目标</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zh-CN" altLang="en-US"/>
              <a:t>战略实施与资源配置</a:t>
            </a:r>
          </a:p>
        </p:txBody>
      </p:sp>
      <p:sp>
        <p:nvSpPr>
          <p:cNvPr id="82947" name="Rectangle 3"/>
          <p:cNvSpPr>
            <a:spLocks noGrp="1" noChangeArrowheads="1"/>
          </p:cNvSpPr>
          <p:nvPr>
            <p:ph type="body" idx="1"/>
          </p:nvPr>
        </p:nvSpPr>
        <p:spPr/>
        <p:txBody>
          <a:bodyPr/>
          <a:lstStyle/>
          <a:p>
            <a:r>
              <a:rPr lang="zh-CN" altLang="en-US" dirty="0"/>
              <a:t>战略与资源的关系：</a:t>
            </a:r>
          </a:p>
          <a:p>
            <a:r>
              <a:rPr lang="zh-CN" altLang="en-US" dirty="0"/>
              <a:t>1、资源对战略的保证作用</a:t>
            </a:r>
          </a:p>
          <a:p>
            <a:r>
              <a:rPr lang="zh-CN" altLang="en-US" dirty="0"/>
              <a:t>2、战略促使资源的有效利用</a:t>
            </a:r>
          </a:p>
          <a:p>
            <a:r>
              <a:rPr lang="zh-CN" altLang="en-US" dirty="0"/>
              <a:t>3、战略可促使资源的有效储备</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908175" y="0"/>
            <a:ext cx="7235825" cy="1628775"/>
          </a:xfrm>
        </p:spPr>
        <p:txBody>
          <a:bodyPr/>
          <a:lstStyle/>
          <a:p>
            <a:r>
              <a:rPr lang="zh-CN" altLang="en-US" b="1" dirty="0">
                <a:effectLst>
                  <a:outerShdw blurRad="38100" dist="38100" dir="2700000" algn="tl">
                    <a:srgbClr val="C0C0C0"/>
                  </a:outerShdw>
                </a:effectLst>
              </a:rPr>
              <a:t>组织结构与战略匹配</a:t>
            </a:r>
          </a:p>
        </p:txBody>
      </p:sp>
      <p:sp>
        <p:nvSpPr>
          <p:cNvPr id="37891" name="Rectangle 3"/>
          <p:cNvSpPr>
            <a:spLocks noGrp="1" noChangeArrowheads="1"/>
          </p:cNvSpPr>
          <p:nvPr>
            <p:ph type="body" idx="1"/>
          </p:nvPr>
        </p:nvSpPr>
        <p:spPr>
          <a:xfrm>
            <a:off x="0" y="2205038"/>
            <a:ext cx="6877050" cy="3887787"/>
          </a:xfrm>
        </p:spPr>
        <p:txBody>
          <a:bodyPr>
            <a:normAutofit lnSpcReduction="10000"/>
          </a:bodyPr>
          <a:lstStyle/>
          <a:p>
            <a:pPr>
              <a:lnSpc>
                <a:spcPct val="90000"/>
              </a:lnSpc>
              <a:buFont typeface="Wingdings" pitchFamily="2" charset="2"/>
              <a:buNone/>
            </a:pPr>
            <a:r>
              <a:rPr lang="en-US" altLang="zh-CN" b="1" dirty="0"/>
              <a:t>      </a:t>
            </a:r>
            <a:r>
              <a:rPr lang="zh-CN" altLang="en-US" b="1" dirty="0"/>
              <a:t>美国学者钱德勒（</a:t>
            </a:r>
            <a:r>
              <a:rPr lang="en-US" altLang="zh-CN" b="1" dirty="0" err="1"/>
              <a:t>A.D.Chandler</a:t>
            </a:r>
            <a:r>
              <a:rPr lang="zh-CN" altLang="en-US" b="1" dirty="0"/>
              <a:t>）在</a:t>
            </a:r>
            <a:r>
              <a:rPr lang="en-US" altLang="zh-CN" b="1" dirty="0"/>
              <a:t>1962</a:t>
            </a:r>
            <a:r>
              <a:rPr lang="zh-CN" altLang="en-US" b="1" dirty="0"/>
              <a:t>年发表的</a:t>
            </a:r>
            <a:r>
              <a:rPr lang="en-US" altLang="zh-CN" b="1" dirty="0"/>
              <a:t>《</a:t>
            </a:r>
            <a:r>
              <a:rPr lang="zh-CN" altLang="en-US" b="1" dirty="0"/>
              <a:t>战略与结构：美国工业企业历史的篇章</a:t>
            </a:r>
            <a:r>
              <a:rPr lang="en-US" altLang="zh-CN" b="1" dirty="0"/>
              <a:t>》</a:t>
            </a:r>
            <a:r>
              <a:rPr lang="zh-CN" altLang="en-US" b="1" dirty="0"/>
              <a:t>一书中指出：战略与结构关系的基本原则是组织的结构要服从于组织的战略。</a:t>
            </a:r>
          </a:p>
          <a:p>
            <a:pPr>
              <a:lnSpc>
                <a:spcPct val="90000"/>
              </a:lnSpc>
              <a:buFont typeface="Wingdings" pitchFamily="2" charset="2"/>
              <a:buNone/>
            </a:pPr>
            <a:endParaRPr lang="zh-CN" altLang="en-US" b="1" dirty="0"/>
          </a:p>
          <a:p>
            <a:pPr>
              <a:lnSpc>
                <a:spcPct val="90000"/>
              </a:lnSpc>
              <a:buFont typeface="Wingdings" pitchFamily="2" charset="2"/>
              <a:buNone/>
            </a:pPr>
            <a:r>
              <a:rPr lang="zh-CN" altLang="en-US" b="1" dirty="0"/>
              <a:t>战略的制定基于外部环境的要求及竞争性考虑</a:t>
            </a:r>
          </a:p>
        </p:txBody>
      </p:sp>
      <p:pic>
        <p:nvPicPr>
          <p:cNvPr id="37892" name="Picture 4" descr="战略与结构一书"/>
          <p:cNvPicPr>
            <a:picLocks noChangeAspect="1" noChangeArrowheads="1"/>
          </p:cNvPicPr>
          <p:nvPr/>
        </p:nvPicPr>
        <p:blipFill>
          <a:blip r:embed="rId2" cstate="print"/>
          <a:srcRect/>
          <a:stretch>
            <a:fillRect/>
          </a:stretch>
        </p:blipFill>
        <p:spPr bwMode="auto">
          <a:xfrm>
            <a:off x="6846888" y="2225675"/>
            <a:ext cx="2201862" cy="2951163"/>
          </a:xfrm>
          <a:prstGeom prst="rect">
            <a:avLst/>
          </a:prstGeom>
          <a:noFill/>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zh-CN" altLang="en-US"/>
              <a:t>改组、流程再造</a:t>
            </a:r>
          </a:p>
        </p:txBody>
      </p:sp>
      <p:sp>
        <p:nvSpPr>
          <p:cNvPr id="139267" name="Rectangle 3"/>
          <p:cNvSpPr>
            <a:spLocks noGrp="1" noChangeArrowheads="1"/>
          </p:cNvSpPr>
          <p:nvPr>
            <p:ph type="body" idx="1"/>
          </p:nvPr>
        </p:nvSpPr>
        <p:spPr/>
        <p:txBody>
          <a:bodyPr/>
          <a:lstStyle/>
          <a:p>
            <a:r>
              <a:rPr lang="zh-CN" altLang="en-US"/>
              <a:t>改组：也称为精简，规模适度化或减少组织层次，战略决策</a:t>
            </a:r>
          </a:p>
          <a:p>
            <a:r>
              <a:rPr lang="zh-CN" altLang="en-US"/>
              <a:t>流程再造：对工作、岗位、生产过程的重新设计和重新构造，以降低成本、提高质量、提升服务水平等</a:t>
            </a:r>
          </a:p>
          <a:p>
            <a:pPr lvl="1"/>
            <a:r>
              <a:rPr lang="zh-CN" altLang="en-US"/>
              <a:t>战术决策</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zh-CN" altLang="en-US"/>
              <a:t>将业绩与报酬挂钩</a:t>
            </a:r>
          </a:p>
        </p:txBody>
      </p:sp>
      <p:sp>
        <p:nvSpPr>
          <p:cNvPr id="140291" name="Rectangle 3"/>
          <p:cNvSpPr>
            <a:spLocks noGrp="1" noChangeArrowheads="1"/>
          </p:cNvSpPr>
          <p:nvPr>
            <p:ph type="body" idx="1"/>
          </p:nvPr>
        </p:nvSpPr>
        <p:spPr/>
        <p:txBody>
          <a:bodyPr/>
          <a:lstStyle/>
          <a:p>
            <a:pPr>
              <a:lnSpc>
                <a:spcPct val="90000"/>
              </a:lnSpc>
            </a:pPr>
            <a:r>
              <a:rPr lang="zh-CN" altLang="en-US" sz="2800"/>
              <a:t>业绩奖计划有效性的提问式检验</a:t>
            </a:r>
          </a:p>
          <a:p>
            <a:pPr lvl="1">
              <a:lnSpc>
                <a:spcPct val="90000"/>
              </a:lnSpc>
            </a:pPr>
            <a:r>
              <a:rPr lang="zh-CN" altLang="en-US" sz="2400"/>
              <a:t>计划是否引起了人们的注意，人们是否更多地谈论他们的工作并对计划的初步成功感到骄傲</a:t>
            </a:r>
          </a:p>
          <a:p>
            <a:pPr lvl="1">
              <a:lnSpc>
                <a:spcPct val="90000"/>
              </a:lnSpc>
            </a:pPr>
            <a:r>
              <a:rPr lang="zh-CN" altLang="en-US" sz="2400"/>
              <a:t>雇员们是否理解该计划，参与者能否解释计划设计原理，并是否知道为了挣得奖金，他们需要做什么？</a:t>
            </a:r>
          </a:p>
          <a:p>
            <a:pPr lvl="1">
              <a:lnSpc>
                <a:spcPct val="90000"/>
              </a:lnSpc>
            </a:pPr>
            <a:r>
              <a:rPr lang="zh-CN" altLang="en-US" sz="2400"/>
              <a:t>计划是否会促进沟通？雇员对企业任务、计划与目标是否比过去有了更多的了解？</a:t>
            </a:r>
          </a:p>
          <a:p>
            <a:pPr lvl="1">
              <a:lnSpc>
                <a:spcPct val="90000"/>
              </a:lnSpc>
            </a:pPr>
            <a:r>
              <a:rPr lang="zh-CN" altLang="en-US" sz="2400"/>
              <a:t>奖励是否已按计划实施？为了达到预定结果是否已采取各种奖励措施？在目标未达到时，又是否取消了奖励</a:t>
            </a:r>
          </a:p>
          <a:p>
            <a:pPr lvl="1">
              <a:lnSpc>
                <a:spcPct val="90000"/>
              </a:lnSpc>
            </a:pPr>
            <a:r>
              <a:rPr lang="zh-CN" altLang="en-US" sz="2400"/>
              <a:t>公司的绩效是否更佳？利润是否有所增长，市场份额是否得到提高？各种收益又是否部分地由激励措施所致</a:t>
            </a:r>
          </a:p>
          <a:p>
            <a:pPr lvl="1">
              <a:lnSpc>
                <a:spcPct val="90000"/>
              </a:lnSpc>
            </a:pPr>
            <a:endParaRPr lang="zh-CN" altLang="en-US" sz="2400"/>
          </a:p>
          <a:p>
            <a:pPr lvl="1">
              <a:lnSpc>
                <a:spcPct val="90000"/>
              </a:lnSpc>
            </a:pPr>
            <a:endParaRPr lang="zh-CN" altLang="en-US" sz="2400"/>
          </a:p>
          <a:p>
            <a:pPr lvl="1">
              <a:lnSpc>
                <a:spcPct val="90000"/>
              </a:lnSpc>
            </a:pPr>
            <a:endParaRPr lang="en-US" altLang="zh-CN" sz="24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zh-CN" altLang="en-US"/>
              <a:t>克服变革阻力</a:t>
            </a:r>
          </a:p>
        </p:txBody>
      </p:sp>
      <p:sp>
        <p:nvSpPr>
          <p:cNvPr id="141315" name="Rectangle 3"/>
          <p:cNvSpPr>
            <a:spLocks noGrp="1" noChangeArrowheads="1"/>
          </p:cNvSpPr>
          <p:nvPr>
            <p:ph type="body" idx="1"/>
          </p:nvPr>
        </p:nvSpPr>
        <p:spPr/>
        <p:txBody>
          <a:bodyPr/>
          <a:lstStyle/>
          <a:p>
            <a:r>
              <a:rPr lang="zh-CN" altLang="en-US"/>
              <a:t>变革使人忧虑</a:t>
            </a:r>
            <a:r>
              <a:rPr lang="en-US" altLang="zh-CN"/>
              <a:t>-</a:t>
            </a:r>
            <a:r>
              <a:rPr lang="zh-CN" altLang="en-US"/>
              <a:t>可能的利益损失、不方便性、不确定性、关系的破坏</a:t>
            </a:r>
          </a:p>
          <a:p>
            <a:r>
              <a:rPr lang="zh-CN" altLang="en-US"/>
              <a:t>变革阻力是成功实施战略的最大威胁</a:t>
            </a:r>
          </a:p>
          <a:p>
            <a:r>
              <a:rPr lang="zh-CN" altLang="en-US"/>
              <a:t>变革必须被管理者看作是机会而不是威胁</a:t>
            </a:r>
          </a:p>
          <a:p>
            <a:endParaRPr lang="en-US" altLang="zh-C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zh-CN" altLang="en-US"/>
              <a:t>三种变革战略</a:t>
            </a:r>
          </a:p>
        </p:txBody>
      </p:sp>
      <p:sp>
        <p:nvSpPr>
          <p:cNvPr id="142339" name="Rectangle 3"/>
          <p:cNvSpPr>
            <a:spLocks noGrp="1" noChangeArrowheads="1"/>
          </p:cNvSpPr>
          <p:nvPr>
            <p:ph type="body" idx="1"/>
          </p:nvPr>
        </p:nvSpPr>
        <p:spPr/>
        <p:txBody>
          <a:bodyPr/>
          <a:lstStyle/>
          <a:p>
            <a:r>
              <a:rPr lang="zh-CN" altLang="en-US"/>
              <a:t>强制变革战略</a:t>
            </a:r>
          </a:p>
          <a:p>
            <a:r>
              <a:rPr lang="zh-CN" altLang="en-US"/>
              <a:t>教育变革战略</a:t>
            </a:r>
          </a:p>
          <a:p>
            <a:r>
              <a:rPr lang="zh-CN" altLang="en-US"/>
              <a:t>理性或自利变革战略，四步：</a:t>
            </a:r>
          </a:p>
          <a:p>
            <a:pPr lvl="1"/>
            <a:r>
              <a:rPr lang="zh-CN" altLang="en-US"/>
              <a:t>邀请员工参加变革和具体的转变过程</a:t>
            </a:r>
          </a:p>
          <a:p>
            <a:pPr lvl="1"/>
            <a:r>
              <a:rPr lang="zh-CN" altLang="en-US"/>
              <a:t>提供推动变革的激励</a:t>
            </a:r>
          </a:p>
          <a:p>
            <a:pPr lvl="1"/>
            <a:r>
              <a:rPr lang="zh-CN" altLang="en-US"/>
              <a:t>耐性的宣传和沟通，使人们了解变革的目的</a:t>
            </a:r>
          </a:p>
          <a:p>
            <a:pPr lvl="1"/>
            <a:r>
              <a:rPr lang="zh-CN" altLang="en-US"/>
              <a:t>发出和接受反馈</a:t>
            </a:r>
          </a:p>
          <a:p>
            <a:pPr lvl="1"/>
            <a:endParaRPr lang="en-US" altLang="zh-C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zh-CN" altLang="en-US"/>
              <a:t>安索夫：克服变革阻力</a:t>
            </a:r>
          </a:p>
        </p:txBody>
      </p:sp>
      <p:sp>
        <p:nvSpPr>
          <p:cNvPr id="143363" name="Rectangle 3"/>
          <p:cNvSpPr>
            <a:spLocks noGrp="1" noChangeArrowheads="1"/>
          </p:cNvSpPr>
          <p:nvPr>
            <p:ph type="body" idx="1"/>
          </p:nvPr>
        </p:nvSpPr>
        <p:spPr/>
        <p:txBody>
          <a:bodyPr/>
          <a:lstStyle/>
          <a:p>
            <a:r>
              <a:rPr lang="zh-CN" altLang="en-US"/>
              <a:t>对历史上从一种思想观念转变到另一种思想观念的观察表明：如果不积极采取措施以促进这一转变过程，这一过程将变得 充满矛盾、进展迟缓并要耗费大量的人力和财力。对变革阻力的管理包括：第一，预测阻力的中心和强度；第二，消除由误解和不确定性而导致的不必要的阻力；第三，集中力量，确保对变革的支持；最后，在变革过程中对阻力进行监视和控制</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zh-CN" altLang="en-US"/>
              <a:t>管理变化</a:t>
            </a:r>
          </a:p>
        </p:txBody>
      </p:sp>
      <p:sp>
        <p:nvSpPr>
          <p:cNvPr id="144387" name="Rectangle 3"/>
          <p:cNvSpPr>
            <a:spLocks noGrp="1" noChangeArrowheads="1"/>
          </p:cNvSpPr>
          <p:nvPr>
            <p:ph type="body" idx="1"/>
          </p:nvPr>
        </p:nvSpPr>
        <p:spPr/>
        <p:txBody>
          <a:bodyPr/>
          <a:lstStyle/>
          <a:p>
            <a:r>
              <a:rPr lang="zh-CN" altLang="en-US"/>
              <a:t>适应变化</a:t>
            </a:r>
            <a:r>
              <a:rPr lang="en-US" altLang="zh-CN"/>
              <a:t>-</a:t>
            </a:r>
            <a:r>
              <a:rPr lang="zh-CN" altLang="en-US"/>
              <a:t>预测变化</a:t>
            </a:r>
            <a:r>
              <a:rPr lang="en-US" altLang="zh-CN"/>
              <a:t>-</a:t>
            </a:r>
            <a:r>
              <a:rPr lang="zh-CN" altLang="en-US"/>
              <a:t>创造变化</a:t>
            </a:r>
          </a:p>
          <a:p>
            <a:r>
              <a:rPr lang="zh-CN" altLang="en-US"/>
              <a:t>持续的变化</a:t>
            </a:r>
          </a:p>
          <a:p>
            <a:r>
              <a:rPr lang="zh-CN" altLang="en-US"/>
              <a:t>首先变化</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zh-CN" altLang="en-US"/>
              <a:t>其他</a:t>
            </a:r>
          </a:p>
        </p:txBody>
      </p:sp>
      <p:sp>
        <p:nvSpPr>
          <p:cNvPr id="147459" name="Rectangle 3"/>
          <p:cNvSpPr>
            <a:spLocks noGrp="1" noChangeArrowheads="1"/>
          </p:cNvSpPr>
          <p:nvPr>
            <p:ph type="body" idx="1"/>
          </p:nvPr>
        </p:nvSpPr>
        <p:spPr/>
        <p:txBody>
          <a:bodyPr/>
          <a:lstStyle/>
          <a:p>
            <a:r>
              <a:rPr lang="zh-CN" altLang="en-US"/>
              <a:t>培育支持企业战略的文化</a:t>
            </a:r>
          </a:p>
          <a:p>
            <a:r>
              <a:rPr lang="zh-CN" altLang="en-US"/>
              <a:t>战略实施中的生产运作问题</a:t>
            </a:r>
          </a:p>
          <a:p>
            <a:r>
              <a:rPr lang="zh-CN" altLang="en-US"/>
              <a:t>战略实施中的人力资源问题</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419225" y="549275"/>
            <a:ext cx="7724775" cy="922338"/>
          </a:xfrm>
        </p:spPr>
        <p:txBody>
          <a:bodyPr>
            <a:normAutofit fontScale="90000"/>
          </a:bodyPr>
          <a:lstStyle/>
          <a:p>
            <a:r>
              <a:rPr lang="zh-CN" altLang="en-US" b="1" dirty="0">
                <a:ea typeface="幼圆" pitchFamily="49" charset="-122"/>
              </a:rPr>
              <a:t>战略实施的相关变量</a:t>
            </a:r>
            <a:br>
              <a:rPr lang="zh-CN" altLang="en-US" b="1" i="1" dirty="0">
                <a:solidFill>
                  <a:srgbClr val="0000FF"/>
                </a:solidFill>
                <a:ea typeface="幼圆" pitchFamily="49" charset="-122"/>
              </a:rPr>
            </a:br>
            <a:endParaRPr lang="zh-CN" altLang="en-US" b="1" i="1" dirty="0">
              <a:solidFill>
                <a:srgbClr val="0000FF"/>
              </a:solidFill>
              <a:ea typeface="幼圆" pitchFamily="49" charset="-122"/>
            </a:endParaRPr>
          </a:p>
        </p:txBody>
      </p:sp>
      <p:sp>
        <p:nvSpPr>
          <p:cNvPr id="3075" name="Rectangle 3"/>
          <p:cNvSpPr>
            <a:spLocks noGrp="1" noChangeArrowheads="1"/>
          </p:cNvSpPr>
          <p:nvPr>
            <p:ph type="body" idx="1"/>
          </p:nvPr>
        </p:nvSpPr>
        <p:spPr>
          <a:xfrm>
            <a:off x="-900113" y="1628775"/>
            <a:ext cx="9448801" cy="4876800"/>
          </a:xfrm>
        </p:spPr>
        <p:txBody>
          <a:bodyPr/>
          <a:lstStyle/>
          <a:p>
            <a:pPr lvl="4">
              <a:buFontTx/>
              <a:buNone/>
            </a:pPr>
            <a:r>
              <a:rPr lang="zh-CN" altLang="en-US" sz="3600" b="1" dirty="0">
                <a:solidFill>
                  <a:srgbClr val="FF6600"/>
                </a:solidFill>
                <a:effectLst>
                  <a:outerShdw blurRad="38100" dist="38100" dir="2700000" algn="tl">
                    <a:srgbClr val="C0C0C0"/>
                  </a:outerShdw>
                </a:effectLst>
                <a:latin typeface="宋体" charset="-122"/>
              </a:rPr>
              <a:t>麦肯锡</a:t>
            </a:r>
            <a:r>
              <a:rPr lang="zh-CN" altLang="en-US" sz="3600" b="1" dirty="0">
                <a:solidFill>
                  <a:srgbClr val="FF6600"/>
                </a:solidFill>
                <a:effectLst>
                  <a:outerShdw blurRad="38100" dist="38100" dir="2700000" algn="tl">
                    <a:srgbClr val="C0C0C0"/>
                  </a:outerShdw>
                </a:effectLst>
                <a:cs typeface="Arial" charset="0"/>
              </a:rPr>
              <a:t>  </a:t>
            </a:r>
            <a:r>
              <a:rPr lang="en-US" altLang="zh-CN" sz="3600" b="1" dirty="0">
                <a:solidFill>
                  <a:srgbClr val="FF6600"/>
                </a:solidFill>
                <a:effectLst>
                  <a:outerShdw blurRad="38100" dist="38100" dir="2700000" algn="tl">
                    <a:srgbClr val="C0C0C0"/>
                  </a:outerShdw>
                </a:effectLst>
                <a:cs typeface="Arial" charset="0"/>
              </a:rPr>
              <a:t>7</a:t>
            </a:r>
            <a:r>
              <a:rPr lang="en-US" altLang="zh-CN" sz="3600" b="1" dirty="0">
                <a:solidFill>
                  <a:srgbClr val="FF6600"/>
                </a:solidFill>
                <a:effectLst>
                  <a:outerShdw blurRad="38100" dist="38100" dir="2700000" algn="tl">
                    <a:srgbClr val="C0C0C0"/>
                  </a:outerShdw>
                </a:effectLst>
              </a:rPr>
              <a:t>—</a:t>
            </a:r>
            <a:r>
              <a:rPr lang="en-US" altLang="zh-CN" sz="3600" b="1" dirty="0">
                <a:solidFill>
                  <a:srgbClr val="FF6600"/>
                </a:solidFill>
                <a:effectLst>
                  <a:outerShdw blurRad="38100" dist="38100" dir="2700000" algn="tl">
                    <a:srgbClr val="C0C0C0"/>
                  </a:outerShdw>
                </a:effectLst>
                <a:cs typeface="Arial" charset="0"/>
              </a:rPr>
              <a:t>S </a:t>
            </a:r>
            <a:r>
              <a:rPr lang="zh-CN" altLang="en-US" sz="3600" b="1" dirty="0">
                <a:solidFill>
                  <a:srgbClr val="FF6600"/>
                </a:solidFill>
                <a:effectLst>
                  <a:outerShdw blurRad="38100" dist="38100" dir="2700000" algn="tl">
                    <a:srgbClr val="C0C0C0"/>
                  </a:outerShdw>
                </a:effectLst>
                <a:latin typeface="宋体" charset="-122"/>
              </a:rPr>
              <a:t>模式</a:t>
            </a:r>
            <a:r>
              <a:rPr lang="en-US" altLang="zh-CN" sz="3600" dirty="0">
                <a:solidFill>
                  <a:srgbClr val="FF6600"/>
                </a:solidFill>
                <a:effectLst>
                  <a:outerShdw blurRad="38100" dist="38100" dir="2700000" algn="tl">
                    <a:srgbClr val="C0C0C0"/>
                  </a:outerShdw>
                </a:effectLst>
                <a:latin typeface="宋体" charset="-122"/>
              </a:rPr>
              <a:t>-Peters &amp; Waterman</a:t>
            </a:r>
            <a:endParaRPr lang="en-US" altLang="zh-CN" sz="2800" dirty="0">
              <a:latin typeface="宋体" charset="-122"/>
            </a:endParaRPr>
          </a:p>
          <a:p>
            <a:pPr lvl="4"/>
            <a:r>
              <a:rPr lang="zh-CN" altLang="en-US" sz="2800" b="1" dirty="0">
                <a:latin typeface="宋体" charset="-122"/>
              </a:rPr>
              <a:t>战略（</a:t>
            </a:r>
            <a:r>
              <a:rPr lang="en-US" altLang="zh-CN" sz="2800" b="1" dirty="0">
                <a:cs typeface="Arial" charset="0"/>
              </a:rPr>
              <a:t>Strategy</a:t>
            </a:r>
            <a:r>
              <a:rPr lang="zh-CN" altLang="en-US" sz="2800" b="1" dirty="0">
                <a:latin typeface="宋体" charset="-122"/>
              </a:rPr>
              <a:t>）</a:t>
            </a:r>
          </a:p>
          <a:p>
            <a:pPr lvl="4"/>
            <a:r>
              <a:rPr lang="zh-CN" altLang="en-US" sz="2800" b="1" dirty="0">
                <a:latin typeface="宋体" charset="-122"/>
              </a:rPr>
              <a:t>结构（</a:t>
            </a:r>
            <a:r>
              <a:rPr lang="en-US" altLang="zh-CN" sz="2800" b="1" dirty="0">
                <a:cs typeface="Arial" charset="0"/>
              </a:rPr>
              <a:t>Structure</a:t>
            </a:r>
            <a:r>
              <a:rPr lang="zh-CN" altLang="en-US" sz="2800" b="1" dirty="0">
                <a:latin typeface="宋体" charset="-122"/>
              </a:rPr>
              <a:t>）</a:t>
            </a:r>
          </a:p>
          <a:p>
            <a:pPr lvl="4"/>
            <a:r>
              <a:rPr lang="zh-CN" altLang="en-US" sz="2800" b="1" dirty="0">
                <a:latin typeface="宋体" charset="-122"/>
              </a:rPr>
              <a:t>体制（</a:t>
            </a:r>
            <a:r>
              <a:rPr lang="en-US" altLang="zh-CN" sz="2800" b="1" dirty="0">
                <a:cs typeface="Arial" charset="0"/>
              </a:rPr>
              <a:t>System</a:t>
            </a:r>
            <a:r>
              <a:rPr lang="zh-CN" altLang="en-US" sz="2800" b="1" dirty="0">
                <a:latin typeface="宋体" charset="-122"/>
              </a:rPr>
              <a:t>）</a:t>
            </a:r>
          </a:p>
          <a:p>
            <a:pPr lvl="4"/>
            <a:r>
              <a:rPr lang="zh-CN" altLang="en-US" sz="2800" b="1" dirty="0">
                <a:latin typeface="宋体" charset="-122"/>
              </a:rPr>
              <a:t>风格（</a:t>
            </a:r>
            <a:r>
              <a:rPr lang="en-US" altLang="zh-CN" sz="2800" b="1" dirty="0">
                <a:cs typeface="Arial" charset="0"/>
              </a:rPr>
              <a:t>Style</a:t>
            </a:r>
            <a:r>
              <a:rPr lang="zh-CN" altLang="en-US" sz="2800" b="1" dirty="0">
                <a:latin typeface="宋体" charset="-122"/>
              </a:rPr>
              <a:t>）</a:t>
            </a:r>
          </a:p>
          <a:p>
            <a:pPr lvl="4"/>
            <a:r>
              <a:rPr lang="zh-CN" altLang="en-US" sz="2800" b="1" dirty="0">
                <a:latin typeface="宋体" charset="-122"/>
              </a:rPr>
              <a:t>人员（</a:t>
            </a:r>
            <a:r>
              <a:rPr lang="en-US" altLang="zh-CN" sz="2800" b="1" dirty="0">
                <a:cs typeface="Arial" charset="0"/>
              </a:rPr>
              <a:t>Staff</a:t>
            </a:r>
            <a:r>
              <a:rPr lang="zh-CN" altLang="en-US" sz="2800" b="1" dirty="0">
                <a:latin typeface="宋体" charset="-122"/>
              </a:rPr>
              <a:t>）</a:t>
            </a:r>
          </a:p>
          <a:p>
            <a:pPr lvl="4"/>
            <a:r>
              <a:rPr lang="zh-CN" altLang="en-US" sz="2800" b="1" dirty="0">
                <a:latin typeface="宋体" charset="-122"/>
              </a:rPr>
              <a:t>技能（</a:t>
            </a:r>
            <a:r>
              <a:rPr lang="en-US" altLang="zh-CN" sz="2800" b="1" dirty="0">
                <a:cs typeface="Arial" charset="0"/>
              </a:rPr>
              <a:t>Skills</a:t>
            </a:r>
            <a:r>
              <a:rPr lang="zh-CN" altLang="en-US" sz="2800" b="1" dirty="0">
                <a:latin typeface="宋体" charset="-122"/>
              </a:rPr>
              <a:t>）</a:t>
            </a:r>
          </a:p>
          <a:p>
            <a:pPr lvl="4"/>
            <a:r>
              <a:rPr lang="zh-CN" altLang="en-US" sz="2800" b="1" dirty="0">
                <a:latin typeface="宋体" charset="-122"/>
              </a:rPr>
              <a:t>共同价值观（</a:t>
            </a:r>
            <a:r>
              <a:rPr lang="en-US" altLang="zh-CN" sz="2800" b="1" dirty="0">
                <a:cs typeface="Arial" charset="0"/>
              </a:rPr>
              <a:t>Shared Values</a:t>
            </a:r>
            <a:r>
              <a:rPr lang="zh-CN" altLang="en-US" sz="2800" b="1" dirty="0">
                <a:latin typeface="宋体" charset="-122"/>
              </a:rPr>
              <a:t>）</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Oval 4"/>
          <p:cNvSpPr>
            <a:spLocks noChangeArrowheads="1"/>
          </p:cNvSpPr>
          <p:nvPr/>
        </p:nvSpPr>
        <p:spPr bwMode="auto">
          <a:xfrm>
            <a:off x="3886200" y="3657600"/>
            <a:ext cx="1143000" cy="11430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 </a:t>
            </a:r>
            <a:r>
              <a:rPr lang="en-US" altLang="zh-CN" sz="2000">
                <a:solidFill>
                  <a:srgbClr val="FFFF00"/>
                </a:solidFill>
              </a:rPr>
              <a:t>Shared </a:t>
            </a:r>
          </a:p>
          <a:p>
            <a:pPr algn="ctr"/>
            <a:r>
              <a:rPr lang="en-US" altLang="zh-CN" sz="2000">
                <a:solidFill>
                  <a:srgbClr val="FFFF00"/>
                </a:solidFill>
              </a:rPr>
              <a:t>Values</a:t>
            </a:r>
          </a:p>
        </p:txBody>
      </p:sp>
      <p:sp>
        <p:nvSpPr>
          <p:cNvPr id="113669" name="Oval 5"/>
          <p:cNvSpPr>
            <a:spLocks noChangeArrowheads="1"/>
          </p:cNvSpPr>
          <p:nvPr/>
        </p:nvSpPr>
        <p:spPr bwMode="auto">
          <a:xfrm>
            <a:off x="5638800" y="297180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system</a:t>
            </a:r>
          </a:p>
        </p:txBody>
      </p:sp>
      <p:sp>
        <p:nvSpPr>
          <p:cNvPr id="113670" name="Oval 6"/>
          <p:cNvSpPr>
            <a:spLocks noChangeArrowheads="1"/>
          </p:cNvSpPr>
          <p:nvPr/>
        </p:nvSpPr>
        <p:spPr bwMode="auto">
          <a:xfrm>
            <a:off x="5715000" y="449580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style</a:t>
            </a:r>
          </a:p>
        </p:txBody>
      </p:sp>
      <p:sp>
        <p:nvSpPr>
          <p:cNvPr id="113671" name="Oval 7"/>
          <p:cNvSpPr>
            <a:spLocks noChangeArrowheads="1"/>
          </p:cNvSpPr>
          <p:nvPr/>
        </p:nvSpPr>
        <p:spPr bwMode="auto">
          <a:xfrm>
            <a:off x="3962400" y="541020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staff</a:t>
            </a:r>
          </a:p>
        </p:txBody>
      </p:sp>
      <p:sp>
        <p:nvSpPr>
          <p:cNvPr id="113672" name="Oval 8"/>
          <p:cNvSpPr>
            <a:spLocks noChangeArrowheads="1"/>
          </p:cNvSpPr>
          <p:nvPr/>
        </p:nvSpPr>
        <p:spPr bwMode="auto">
          <a:xfrm>
            <a:off x="2209800" y="457200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skill</a:t>
            </a:r>
          </a:p>
        </p:txBody>
      </p:sp>
      <p:sp>
        <p:nvSpPr>
          <p:cNvPr id="113673" name="Oval 9"/>
          <p:cNvSpPr>
            <a:spLocks noChangeArrowheads="1"/>
          </p:cNvSpPr>
          <p:nvPr/>
        </p:nvSpPr>
        <p:spPr bwMode="auto">
          <a:xfrm>
            <a:off x="2362200" y="304800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strategy</a:t>
            </a:r>
          </a:p>
        </p:txBody>
      </p:sp>
      <p:sp>
        <p:nvSpPr>
          <p:cNvPr id="113674" name="Oval 10"/>
          <p:cNvSpPr>
            <a:spLocks noChangeArrowheads="1"/>
          </p:cNvSpPr>
          <p:nvPr/>
        </p:nvSpPr>
        <p:spPr bwMode="auto">
          <a:xfrm>
            <a:off x="3962400" y="2057400"/>
            <a:ext cx="1066800" cy="10668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structure</a:t>
            </a:r>
          </a:p>
        </p:txBody>
      </p:sp>
      <p:sp>
        <p:nvSpPr>
          <p:cNvPr id="113675" name="Line 11"/>
          <p:cNvSpPr>
            <a:spLocks noChangeShapeType="1"/>
          </p:cNvSpPr>
          <p:nvPr/>
        </p:nvSpPr>
        <p:spPr bwMode="auto">
          <a:xfrm flipH="1">
            <a:off x="3429000" y="2743200"/>
            <a:ext cx="533400" cy="3810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76" name="Line 12"/>
          <p:cNvSpPr>
            <a:spLocks noChangeShapeType="1"/>
          </p:cNvSpPr>
          <p:nvPr/>
        </p:nvSpPr>
        <p:spPr bwMode="auto">
          <a:xfrm>
            <a:off x="5029200" y="2667000"/>
            <a:ext cx="685800" cy="5334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77" name="Line 13"/>
          <p:cNvSpPr>
            <a:spLocks noChangeShapeType="1"/>
          </p:cNvSpPr>
          <p:nvPr/>
        </p:nvSpPr>
        <p:spPr bwMode="auto">
          <a:xfrm>
            <a:off x="6172200" y="3962400"/>
            <a:ext cx="0" cy="5334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78" name="Line 14"/>
          <p:cNvSpPr>
            <a:spLocks noChangeShapeType="1"/>
          </p:cNvSpPr>
          <p:nvPr/>
        </p:nvSpPr>
        <p:spPr bwMode="auto">
          <a:xfrm flipH="1">
            <a:off x="5105400" y="5334000"/>
            <a:ext cx="762000" cy="3810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79" name="Line 15"/>
          <p:cNvSpPr>
            <a:spLocks noChangeShapeType="1"/>
          </p:cNvSpPr>
          <p:nvPr/>
        </p:nvSpPr>
        <p:spPr bwMode="auto">
          <a:xfrm>
            <a:off x="3200400" y="5334000"/>
            <a:ext cx="762000" cy="4572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0" name="Line 16"/>
          <p:cNvSpPr>
            <a:spLocks noChangeShapeType="1"/>
          </p:cNvSpPr>
          <p:nvPr/>
        </p:nvSpPr>
        <p:spPr bwMode="auto">
          <a:xfrm>
            <a:off x="2819400" y="4038600"/>
            <a:ext cx="0" cy="4572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1" name="Line 17"/>
          <p:cNvSpPr>
            <a:spLocks noChangeShapeType="1"/>
          </p:cNvSpPr>
          <p:nvPr/>
        </p:nvSpPr>
        <p:spPr bwMode="auto">
          <a:xfrm flipH="1">
            <a:off x="5105400" y="3657600"/>
            <a:ext cx="609600" cy="2286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2" name="Line 18"/>
          <p:cNvSpPr>
            <a:spLocks noChangeShapeType="1"/>
          </p:cNvSpPr>
          <p:nvPr/>
        </p:nvSpPr>
        <p:spPr bwMode="auto">
          <a:xfrm>
            <a:off x="4495800" y="3124200"/>
            <a:ext cx="0" cy="5334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3" name="Line 19"/>
          <p:cNvSpPr>
            <a:spLocks noChangeShapeType="1"/>
          </p:cNvSpPr>
          <p:nvPr/>
        </p:nvSpPr>
        <p:spPr bwMode="auto">
          <a:xfrm>
            <a:off x="4495800" y="4800600"/>
            <a:ext cx="0" cy="6096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4" name="Line 20"/>
          <p:cNvSpPr>
            <a:spLocks noChangeShapeType="1"/>
          </p:cNvSpPr>
          <p:nvPr/>
        </p:nvSpPr>
        <p:spPr bwMode="auto">
          <a:xfrm>
            <a:off x="3352800" y="3810000"/>
            <a:ext cx="609600" cy="2286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5" name="Line 21"/>
          <p:cNvSpPr>
            <a:spLocks noChangeShapeType="1"/>
          </p:cNvSpPr>
          <p:nvPr/>
        </p:nvSpPr>
        <p:spPr bwMode="auto">
          <a:xfrm flipV="1">
            <a:off x="3200400" y="4419600"/>
            <a:ext cx="762000" cy="3810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6" name="Line 22"/>
          <p:cNvSpPr>
            <a:spLocks noChangeShapeType="1"/>
          </p:cNvSpPr>
          <p:nvPr/>
        </p:nvSpPr>
        <p:spPr bwMode="auto">
          <a:xfrm>
            <a:off x="4953000" y="4419600"/>
            <a:ext cx="838200" cy="3810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7" name="Line 23"/>
          <p:cNvSpPr>
            <a:spLocks noChangeShapeType="1"/>
          </p:cNvSpPr>
          <p:nvPr/>
        </p:nvSpPr>
        <p:spPr bwMode="auto">
          <a:xfrm>
            <a:off x="3429000" y="3429000"/>
            <a:ext cx="2209800" cy="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8" name="Line 24"/>
          <p:cNvSpPr>
            <a:spLocks noChangeShapeType="1"/>
          </p:cNvSpPr>
          <p:nvPr/>
        </p:nvSpPr>
        <p:spPr bwMode="auto">
          <a:xfrm>
            <a:off x="4876800" y="2971800"/>
            <a:ext cx="1066800" cy="16002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9" name="Line 25"/>
          <p:cNvSpPr>
            <a:spLocks noChangeShapeType="1"/>
          </p:cNvSpPr>
          <p:nvPr/>
        </p:nvSpPr>
        <p:spPr bwMode="auto">
          <a:xfrm>
            <a:off x="3276600" y="5029200"/>
            <a:ext cx="2438400" cy="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90" name="Line 26"/>
          <p:cNvSpPr>
            <a:spLocks noChangeShapeType="1"/>
          </p:cNvSpPr>
          <p:nvPr/>
        </p:nvSpPr>
        <p:spPr bwMode="auto">
          <a:xfrm flipH="1">
            <a:off x="3048000" y="3048000"/>
            <a:ext cx="1143000" cy="16002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57200" y="304800"/>
            <a:ext cx="7467600" cy="762000"/>
          </a:xfrm>
        </p:spPr>
        <p:txBody>
          <a:bodyPr>
            <a:normAutofit fontScale="90000"/>
          </a:bodyPr>
          <a:lstStyle/>
          <a:p>
            <a:r>
              <a:rPr lang="zh-CN" altLang="en-US"/>
              <a:t>7</a:t>
            </a:r>
            <a:r>
              <a:rPr lang="en-US" altLang="zh-CN"/>
              <a:t>S</a:t>
            </a:r>
            <a:r>
              <a:rPr lang="zh-CN" altLang="en-US"/>
              <a:t>的涵义</a:t>
            </a:r>
          </a:p>
        </p:txBody>
      </p:sp>
      <p:sp>
        <p:nvSpPr>
          <p:cNvPr id="77827" name="Rectangle 3"/>
          <p:cNvSpPr>
            <a:spLocks noGrp="1" noChangeArrowheads="1"/>
          </p:cNvSpPr>
          <p:nvPr>
            <p:ph type="body" idx="1"/>
          </p:nvPr>
        </p:nvSpPr>
        <p:spPr>
          <a:xfrm>
            <a:off x="228600" y="1295400"/>
            <a:ext cx="8591872" cy="4800600"/>
          </a:xfrm>
        </p:spPr>
        <p:txBody>
          <a:bodyPr>
            <a:normAutofit lnSpcReduction="10000"/>
          </a:bodyPr>
          <a:lstStyle/>
          <a:p>
            <a:pPr>
              <a:lnSpc>
                <a:spcPct val="90000"/>
              </a:lnSpc>
            </a:pPr>
            <a:r>
              <a:rPr lang="zh-CN" altLang="en-US" sz="2400" dirty="0"/>
              <a:t>战略（</a:t>
            </a:r>
            <a:r>
              <a:rPr lang="en-US" altLang="zh-CN" sz="2400" dirty="0"/>
              <a:t>Strategy）：</a:t>
            </a:r>
            <a:r>
              <a:rPr lang="zh-CN" altLang="en-US" sz="2400" dirty="0"/>
              <a:t>旨在获得超过竞争对手的持续优势的一组紧密联系的活动</a:t>
            </a:r>
          </a:p>
          <a:p>
            <a:pPr>
              <a:lnSpc>
                <a:spcPct val="90000"/>
              </a:lnSpc>
            </a:pPr>
            <a:r>
              <a:rPr lang="zh-CN" altLang="en-US" sz="2400" dirty="0"/>
              <a:t>结构（</a:t>
            </a:r>
            <a:r>
              <a:rPr lang="en-US" altLang="zh-CN" sz="2400" dirty="0"/>
              <a:t>Structure）：</a:t>
            </a:r>
            <a:r>
              <a:rPr lang="zh-CN" altLang="en-US" sz="2400" dirty="0"/>
              <a:t>指组织结构图及其相应的部分，它表明报告传递者及接受者，任务的分工及整合</a:t>
            </a:r>
          </a:p>
          <a:p>
            <a:pPr>
              <a:lnSpc>
                <a:spcPct val="90000"/>
              </a:lnSpc>
            </a:pPr>
            <a:r>
              <a:rPr lang="zh-CN" altLang="en-US" sz="2400" dirty="0"/>
              <a:t>体制（</a:t>
            </a:r>
            <a:r>
              <a:rPr lang="en-US" altLang="zh-CN" sz="2400" dirty="0"/>
              <a:t>System）：</a:t>
            </a:r>
            <a:r>
              <a:rPr lang="zh-CN" altLang="en-US" sz="2400" dirty="0"/>
              <a:t>指表明使日常工作完成的过程及流程，包括信息系统、资本预算系统、制造过程、质量控制系统、绩效度量系统等</a:t>
            </a:r>
          </a:p>
          <a:p>
            <a:pPr>
              <a:lnSpc>
                <a:spcPct val="90000"/>
              </a:lnSpc>
            </a:pPr>
            <a:r>
              <a:rPr lang="zh-CN" altLang="en-US" sz="2400" dirty="0"/>
              <a:t>作风（</a:t>
            </a:r>
            <a:r>
              <a:rPr lang="en-US" altLang="zh-CN" sz="2400" dirty="0"/>
              <a:t>Style）：</a:t>
            </a:r>
            <a:r>
              <a:rPr lang="zh-CN" altLang="en-US" sz="2400" dirty="0"/>
              <a:t>通过集体管理人员所花费时间和精力的方式，以及他们所采用的代表性的行为方式所表现出的例证</a:t>
            </a:r>
          </a:p>
          <a:p>
            <a:pPr>
              <a:lnSpc>
                <a:spcPct val="90000"/>
              </a:lnSpc>
            </a:pPr>
            <a:r>
              <a:rPr lang="zh-CN" altLang="en-US" sz="2400" dirty="0"/>
              <a:t>人员（</a:t>
            </a:r>
            <a:r>
              <a:rPr lang="en-US" altLang="zh-CN" sz="2400" dirty="0"/>
              <a:t>Staff）：</a:t>
            </a:r>
            <a:r>
              <a:rPr lang="zh-CN" altLang="en-US" sz="2400" dirty="0"/>
              <a:t>企业中的所有人，更重要的是指企业中的人员分布状况</a:t>
            </a:r>
          </a:p>
          <a:p>
            <a:pPr>
              <a:lnSpc>
                <a:spcPct val="90000"/>
              </a:lnSpc>
            </a:pPr>
            <a:r>
              <a:rPr lang="zh-CN" altLang="en-US" sz="2400" dirty="0"/>
              <a:t>共同的价值观（</a:t>
            </a:r>
            <a:r>
              <a:rPr lang="en-US" altLang="zh-CN" sz="2400" dirty="0"/>
              <a:t>Shared Values）：</a:t>
            </a:r>
            <a:r>
              <a:rPr lang="zh-CN" altLang="en-US" sz="2400" dirty="0"/>
              <a:t>它不是指企业正式宣布的目的或目标，而是指使企业保持团结和一体的那些具有指导性的观念、愿望等，也即是企业的哲学或文化</a:t>
            </a:r>
          </a:p>
          <a:p>
            <a:pPr>
              <a:lnSpc>
                <a:spcPct val="90000"/>
              </a:lnSpc>
            </a:pPr>
            <a:r>
              <a:rPr lang="zh-CN" altLang="en-US" sz="2400" dirty="0"/>
              <a:t>技能（</a:t>
            </a:r>
            <a:r>
              <a:rPr lang="en-US" altLang="zh-CN" sz="2400" dirty="0"/>
              <a:t>Skills）：</a:t>
            </a:r>
            <a:r>
              <a:rPr lang="zh-CN" altLang="en-US" sz="2400" dirty="0"/>
              <a:t>指企业做为一个整体所具备的能力</a:t>
            </a:r>
          </a:p>
          <a:p>
            <a:pPr>
              <a:lnSpc>
                <a:spcPct val="90000"/>
              </a:lnSpc>
            </a:pPr>
            <a:endParaRPr lang="zh-CN" alt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26"/>
          <p:cNvSpPr>
            <a:spLocks noGrp="1" noChangeArrowheads="1"/>
          </p:cNvSpPr>
          <p:nvPr>
            <p:ph type="title"/>
          </p:nvPr>
        </p:nvSpPr>
        <p:spPr/>
        <p:txBody>
          <a:bodyPr/>
          <a:lstStyle/>
          <a:p>
            <a:r>
              <a:rPr lang="zh-CN" altLang="en-US"/>
              <a:t>7</a:t>
            </a:r>
            <a:r>
              <a:rPr lang="en-US" altLang="zh-CN"/>
              <a:t>S</a:t>
            </a:r>
            <a:r>
              <a:rPr lang="zh-CN" altLang="en-US"/>
              <a:t>模型的启示</a:t>
            </a:r>
          </a:p>
        </p:txBody>
      </p:sp>
      <p:sp>
        <p:nvSpPr>
          <p:cNvPr id="78851" name="Rectangle 1027"/>
          <p:cNvSpPr>
            <a:spLocks noGrp="1" noChangeArrowheads="1"/>
          </p:cNvSpPr>
          <p:nvPr>
            <p:ph type="body" idx="1"/>
          </p:nvPr>
        </p:nvSpPr>
        <p:spPr/>
        <p:txBody>
          <a:bodyPr/>
          <a:lstStyle/>
          <a:p>
            <a:r>
              <a:rPr lang="zh-CN" altLang="en-US"/>
              <a:t>当这些因素相互适应和匹配时，企业即可实施一项战略；</a:t>
            </a:r>
          </a:p>
          <a:p>
            <a:r>
              <a:rPr lang="zh-CN" altLang="en-US"/>
              <a:t>反之，当这七个因素不互相融洽时，战略实施将不可能成功。</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US" altLang="zh-CN"/>
              <a:t>    </a:t>
            </a:r>
            <a:r>
              <a:rPr lang="zh-CN" altLang="en-US" b="1">
                <a:effectLst>
                  <a:outerShdw blurRad="38100" dist="38100" dir="2700000" algn="tl">
                    <a:srgbClr val="C0C0C0"/>
                  </a:outerShdw>
                </a:effectLst>
              </a:rPr>
              <a:t>几个关键相关变量</a:t>
            </a:r>
          </a:p>
        </p:txBody>
      </p:sp>
      <p:sp>
        <p:nvSpPr>
          <p:cNvPr id="1027" name="Rectangle 3"/>
          <p:cNvSpPr>
            <a:spLocks noGrp="1" noChangeArrowheads="1"/>
          </p:cNvSpPr>
          <p:nvPr>
            <p:ph type="body" idx="1"/>
          </p:nvPr>
        </p:nvSpPr>
        <p:spPr/>
        <p:txBody>
          <a:bodyPr/>
          <a:lstStyle/>
          <a:p>
            <a:r>
              <a:rPr lang="zh-CN" altLang="en-US" sz="4000" b="1"/>
              <a:t>战略实施与组织结构</a:t>
            </a:r>
          </a:p>
          <a:p>
            <a:r>
              <a:rPr lang="zh-CN" altLang="en-US" sz="4000" b="1"/>
              <a:t>战略实施与公司文化</a:t>
            </a:r>
          </a:p>
          <a:p>
            <a:r>
              <a:rPr lang="zh-CN" altLang="en-US" sz="4000" b="1"/>
              <a:t>战略实施与领导</a:t>
            </a:r>
          </a:p>
          <a:p>
            <a:endParaRPr lang="en-US" altLang="zh-CN" sz="4000" b="1"/>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anchor="t">
            <a:noAutofit/>
          </a:bodyPr>
          <a:lstStyle/>
          <a:p>
            <a:r>
              <a:rPr lang="zh-CN" altLang="en-US">
                <a:ea typeface="华文楷体" pitchFamily="2" charset="-122"/>
              </a:rPr>
              <a:t>常见的组织设计</a:t>
            </a:r>
          </a:p>
        </p:txBody>
      </p:sp>
      <p:sp>
        <p:nvSpPr>
          <p:cNvPr id="53251" name="内容占位符 2"/>
          <p:cNvSpPr>
            <a:spLocks noGrp="1"/>
          </p:cNvSpPr>
          <p:nvPr>
            <p:ph idx="4294967295"/>
          </p:nvPr>
        </p:nvSpPr>
        <p:spPr/>
        <p:txBody>
          <a:bodyPr/>
          <a:lstStyle/>
          <a:p>
            <a:r>
              <a:rPr lang="zh-CN" altLang="en-US"/>
              <a:t>传统的组织设计</a:t>
            </a:r>
            <a:endParaRPr lang="en-US" altLang="zh-CN"/>
          </a:p>
          <a:p>
            <a:pPr lvl="1"/>
            <a:r>
              <a:rPr lang="zh-CN" altLang="en-US"/>
              <a:t>简单结构</a:t>
            </a:r>
            <a:endParaRPr lang="en-US" altLang="zh-CN"/>
          </a:p>
          <a:p>
            <a:pPr lvl="1"/>
            <a:r>
              <a:rPr lang="zh-CN" altLang="en-US"/>
              <a:t>职能型结构</a:t>
            </a:r>
            <a:endParaRPr lang="en-US" altLang="zh-CN"/>
          </a:p>
          <a:p>
            <a:pPr lvl="1"/>
            <a:r>
              <a:rPr lang="zh-CN" altLang="en-US"/>
              <a:t>事业部型结构</a:t>
            </a:r>
            <a:endParaRPr lang="en-US" altLang="zh-CN"/>
          </a:p>
          <a:p>
            <a:r>
              <a:rPr lang="zh-CN" altLang="en-US"/>
              <a:t>现代的组织设计</a:t>
            </a:r>
            <a:endParaRPr lang="en-US" altLang="zh-CN"/>
          </a:p>
          <a:p>
            <a:pPr lvl="1"/>
            <a:r>
              <a:rPr lang="zh-CN" altLang="en-US"/>
              <a:t>团队结构</a:t>
            </a:r>
            <a:endParaRPr lang="en-US" altLang="zh-CN"/>
          </a:p>
          <a:p>
            <a:pPr lvl="1"/>
            <a:r>
              <a:rPr lang="zh-CN" altLang="en-US"/>
              <a:t>矩阵型和项目型结构</a:t>
            </a:r>
            <a:endParaRPr lang="en-US" altLang="zh-CN"/>
          </a:p>
          <a:p>
            <a:pPr lvl="1"/>
            <a:r>
              <a:rPr lang="zh-CN" altLang="en-US"/>
              <a:t>无边界组织（虚拟组织、网络组织）</a:t>
            </a:r>
          </a:p>
        </p:txBody>
      </p:sp>
      <p:sp>
        <p:nvSpPr>
          <p:cNvPr id="53252" name="页脚占位符 3"/>
          <p:cNvSpPr>
            <a:spLocks noGrp="1"/>
          </p:cNvSpPr>
          <p:nvPr>
            <p:ph type="ftr" sz="quarter" idx="11"/>
          </p:nvPr>
        </p:nvSpPr>
        <p:spPr bwMode="auto">
          <a:xfrm>
            <a:off x="914400" y="6416675"/>
            <a:ext cx="5562600" cy="365125"/>
          </a:xfrm>
          <a:noFill/>
          <a:ln>
            <a:miter lim="800000"/>
            <a:headEnd/>
            <a:tailEnd/>
          </a:ln>
        </p:spPr>
        <p:txBody>
          <a:bodyPr wrap="square" numCol="1" anchor="b" anchorCtr="0" compatLnSpc="1">
            <a:prstTxWarp prst="textNoShape">
              <a:avLst/>
            </a:prstTxWarp>
          </a:bodyPr>
          <a:lstStyle/>
          <a:p>
            <a:pPr algn="r" eaLnBrk="1" hangingPunct="1"/>
            <a:r>
              <a:rPr lang="en-US" altLang="en-US" sz="1100">
                <a:solidFill>
                  <a:schemeClr val="tx2"/>
                </a:solidFill>
              </a:rPr>
              <a:t>10-</a:t>
            </a:r>
            <a:endParaRPr lang="en-US" altLang="en-US" sz="1100">
              <a:solidFill>
                <a:schemeClr val="tx1"/>
              </a:solidFill>
            </a:endParaRPr>
          </a:p>
        </p:txBody>
      </p:sp>
      <p:sp>
        <p:nvSpPr>
          <p:cNvPr id="53253" name="灯片编号占位符 4"/>
          <p:cNvSpPr>
            <a:spLocks noGrp="1"/>
          </p:cNvSpPr>
          <p:nvPr>
            <p:ph type="sldNum" sz="quarter" idx="12"/>
          </p:nvPr>
        </p:nvSpPr>
        <p:spPr bwMode="auto">
          <a:xfrm>
            <a:off x="8610600" y="6416675"/>
            <a:ext cx="457200" cy="365125"/>
          </a:xfrm>
          <a:noFill/>
          <a:ln>
            <a:miter lim="800000"/>
            <a:headEnd/>
            <a:tailEnd/>
          </a:ln>
        </p:spPr>
        <p:txBody>
          <a:bodyPr wrap="square" numCol="1" anchor="b" anchorCtr="0" compatLnSpc="1">
            <a:prstTxWarp prst="textNoShape">
              <a:avLst/>
            </a:prstTxWarp>
          </a:bodyPr>
          <a:lstStyle/>
          <a:p>
            <a:pPr algn="l" eaLnBrk="1" hangingPunct="1"/>
            <a:fld id="{8D782D0F-567A-4B6A-9F9C-13190F99B97F}" type="slidenum">
              <a:rPr lang="en-US" altLang="en-US">
                <a:solidFill>
                  <a:schemeClr val="tx2"/>
                </a:solidFill>
              </a:rPr>
              <a:pPr algn="l" eaLnBrk="1" hangingPunct="1"/>
              <a:t>21</a:t>
            </a:fld>
            <a:endParaRPr lang="en-US" altLang="en-US" sz="1400">
              <a:solidFill>
                <a:schemeClr val="tx1"/>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战略和组织结构的发展模式</a:t>
            </a:r>
          </a:p>
        </p:txBody>
      </p:sp>
      <p:sp>
        <p:nvSpPr>
          <p:cNvPr id="3" name="内容占位符 2"/>
          <p:cNvSpPr>
            <a:spLocks noGrp="1"/>
          </p:cNvSpPr>
          <p:nvPr>
            <p:ph idx="1"/>
          </p:nvPr>
        </p:nvSpPr>
        <p:spPr/>
        <p:txBody>
          <a:bodyPr/>
          <a:lstStyle/>
          <a:p>
            <a:r>
              <a:rPr lang="zh-CN" altLang="en-US" dirty="0"/>
              <a:t>简单结构</a:t>
            </a:r>
            <a:endParaRPr lang="en-US" altLang="zh-CN" dirty="0"/>
          </a:p>
          <a:p>
            <a:pPr lvl="1"/>
            <a:r>
              <a:rPr lang="zh-CN" altLang="en-US" dirty="0"/>
              <a:t>适合实行集中化战略的小公司</a:t>
            </a:r>
            <a:endParaRPr lang="en-US" altLang="zh-CN" dirty="0"/>
          </a:p>
          <a:p>
            <a:r>
              <a:rPr lang="zh-CN" altLang="en-US" dirty="0"/>
              <a:t>职能型结构</a:t>
            </a:r>
            <a:endParaRPr lang="en-US" altLang="zh-CN" dirty="0"/>
          </a:p>
          <a:p>
            <a:pPr lvl="1"/>
            <a:r>
              <a:rPr lang="zh-CN" altLang="en-US" dirty="0"/>
              <a:t>实施业务层战略的大公司或者产品多样化程度低 的公司</a:t>
            </a:r>
            <a:endParaRPr lang="en-US" altLang="zh-CN" dirty="0"/>
          </a:p>
          <a:p>
            <a:r>
              <a:rPr lang="zh-CN" altLang="en-US" dirty="0"/>
              <a:t>多部门结构</a:t>
            </a:r>
            <a:endParaRPr lang="en-US" altLang="zh-CN" dirty="0"/>
          </a:p>
          <a:p>
            <a:pPr lvl="1"/>
            <a:r>
              <a:rPr lang="zh-CN" altLang="en-US" dirty="0"/>
              <a:t>多元化公司</a:t>
            </a:r>
            <a:endParaRPr lang="en-US" altLang="zh-CN" dirty="0"/>
          </a:p>
          <a:p>
            <a:pPr lvl="1"/>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业务层战略的实施</a:t>
            </a:r>
          </a:p>
        </p:txBody>
      </p:sp>
      <p:sp>
        <p:nvSpPr>
          <p:cNvPr id="3" name="内容占位符 2"/>
          <p:cNvSpPr>
            <a:spLocks noGrp="1"/>
          </p:cNvSpPr>
          <p:nvPr>
            <p:ph idx="1"/>
          </p:nvPr>
        </p:nvSpPr>
        <p:spPr/>
        <p:txBody>
          <a:bodyPr/>
          <a:lstStyle/>
          <a:p>
            <a:r>
              <a:rPr lang="zh-CN" altLang="en-US" dirty="0"/>
              <a:t>成本领先</a:t>
            </a:r>
            <a:endParaRPr lang="en-US" altLang="zh-CN" dirty="0"/>
          </a:p>
          <a:p>
            <a:pPr lvl="1"/>
            <a:r>
              <a:rPr lang="zh-CN" altLang="en-US" dirty="0"/>
              <a:t>集权、规范、专业化职能分工</a:t>
            </a:r>
            <a:endParaRPr lang="en-US" altLang="zh-CN" dirty="0"/>
          </a:p>
          <a:p>
            <a:r>
              <a:rPr lang="zh-CN" altLang="en-US" dirty="0"/>
              <a:t>差异化</a:t>
            </a:r>
            <a:endParaRPr lang="en-US" altLang="zh-CN" dirty="0"/>
          </a:p>
          <a:p>
            <a:pPr lvl="1"/>
            <a:r>
              <a:rPr lang="zh-CN" altLang="en-US" dirty="0"/>
              <a:t>研发和营销非常重要</a:t>
            </a:r>
            <a:endParaRPr lang="en-US" altLang="zh-CN" dirty="0"/>
          </a:p>
          <a:p>
            <a:r>
              <a:rPr lang="zh-CN" altLang="en-US" dirty="0"/>
              <a:t>目标集中</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三种基本竞争战略的比较</a:t>
            </a:r>
          </a:p>
        </p:txBody>
      </p:sp>
      <p:graphicFrame>
        <p:nvGraphicFramePr>
          <p:cNvPr id="4" name="内容占位符 3"/>
          <p:cNvGraphicFramePr>
            <a:graphicFrameLocks noGrp="1"/>
          </p:cNvGraphicFramePr>
          <p:nvPr>
            <p:ph idx="1"/>
          </p:nvPr>
        </p:nvGraphicFramePr>
        <p:xfrm>
          <a:off x="251520" y="1556792"/>
          <a:ext cx="8507288" cy="4856480"/>
        </p:xfrm>
        <a:graphic>
          <a:graphicData uri="http://schemas.openxmlformats.org/drawingml/2006/table">
            <a:tbl>
              <a:tblPr firstRow="1" bandRow="1">
                <a:tableStyleId>{5C22544A-7EE6-4342-B048-85BDC9FD1C3A}</a:tableStyleId>
              </a:tblPr>
              <a:tblGrid>
                <a:gridCol w="2126822">
                  <a:extLst>
                    <a:ext uri="{9D8B030D-6E8A-4147-A177-3AD203B41FA5}">
                      <a16:colId xmlns:a16="http://schemas.microsoft.com/office/drawing/2014/main" val="20000"/>
                    </a:ext>
                  </a:extLst>
                </a:gridCol>
                <a:gridCol w="2126822">
                  <a:extLst>
                    <a:ext uri="{9D8B030D-6E8A-4147-A177-3AD203B41FA5}">
                      <a16:colId xmlns:a16="http://schemas.microsoft.com/office/drawing/2014/main" val="20001"/>
                    </a:ext>
                  </a:extLst>
                </a:gridCol>
                <a:gridCol w="2126822">
                  <a:extLst>
                    <a:ext uri="{9D8B030D-6E8A-4147-A177-3AD203B41FA5}">
                      <a16:colId xmlns:a16="http://schemas.microsoft.com/office/drawing/2014/main" val="20002"/>
                    </a:ext>
                  </a:extLst>
                </a:gridCol>
                <a:gridCol w="2126822">
                  <a:extLst>
                    <a:ext uri="{9D8B030D-6E8A-4147-A177-3AD203B41FA5}">
                      <a16:colId xmlns:a16="http://schemas.microsoft.com/office/drawing/2014/main" val="20003"/>
                    </a:ext>
                  </a:extLst>
                </a:gridCol>
              </a:tblGrid>
              <a:tr h="370840">
                <a:tc>
                  <a:txBody>
                    <a:bodyPr/>
                    <a:lstStyle/>
                    <a:p>
                      <a:endParaRPr lang="zh-CN" altLang="en-US" dirty="0"/>
                    </a:p>
                  </a:txBody>
                  <a:tcPr/>
                </a:tc>
                <a:tc>
                  <a:txBody>
                    <a:bodyPr/>
                    <a:lstStyle/>
                    <a:p>
                      <a:r>
                        <a:rPr lang="zh-CN" altLang="en-US" dirty="0"/>
                        <a:t>成本领先战略</a:t>
                      </a:r>
                    </a:p>
                  </a:txBody>
                  <a:tcPr/>
                </a:tc>
                <a:tc>
                  <a:txBody>
                    <a:bodyPr/>
                    <a:lstStyle/>
                    <a:p>
                      <a:r>
                        <a:rPr lang="zh-CN" altLang="en-US" dirty="0"/>
                        <a:t>差异化战略</a:t>
                      </a:r>
                    </a:p>
                  </a:txBody>
                  <a:tcPr/>
                </a:tc>
                <a:tc>
                  <a:txBody>
                    <a:bodyPr/>
                    <a:lstStyle/>
                    <a:p>
                      <a:r>
                        <a:rPr lang="zh-CN" altLang="en-US" dirty="0"/>
                        <a:t>目标集中战略</a:t>
                      </a:r>
                    </a:p>
                  </a:txBody>
                  <a:tcPr/>
                </a:tc>
                <a:extLst>
                  <a:ext uri="{0D108BD9-81ED-4DB2-BD59-A6C34878D82A}">
                    <a16:rowId xmlns:a16="http://schemas.microsoft.com/office/drawing/2014/main" val="10000"/>
                  </a:ext>
                </a:extLst>
              </a:tr>
              <a:tr h="370840">
                <a:tc>
                  <a:txBody>
                    <a:bodyPr/>
                    <a:lstStyle/>
                    <a:p>
                      <a:r>
                        <a:rPr lang="zh-CN" altLang="en-US" sz="1600" dirty="0"/>
                        <a:t>目标市场</a:t>
                      </a:r>
                    </a:p>
                  </a:txBody>
                  <a:tcPr/>
                </a:tc>
                <a:tc>
                  <a:txBody>
                    <a:bodyPr/>
                    <a:lstStyle/>
                    <a:p>
                      <a:r>
                        <a:rPr lang="zh-CN" altLang="en-US" sz="1600" dirty="0"/>
                        <a:t>全行业市场</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a:t>全行业市场</a:t>
                      </a:r>
                    </a:p>
                  </a:txBody>
                  <a:tcPr/>
                </a:tc>
                <a:tc>
                  <a:txBody>
                    <a:bodyPr/>
                    <a:lstStyle/>
                    <a:p>
                      <a:r>
                        <a:rPr lang="zh-CN" altLang="en-US" sz="1600" dirty="0"/>
                        <a:t>特定细分市场</a:t>
                      </a:r>
                    </a:p>
                  </a:txBody>
                  <a:tcPr/>
                </a:tc>
                <a:extLst>
                  <a:ext uri="{0D108BD9-81ED-4DB2-BD59-A6C34878D82A}">
                    <a16:rowId xmlns:a16="http://schemas.microsoft.com/office/drawing/2014/main" val="10001"/>
                  </a:ext>
                </a:extLst>
              </a:tr>
              <a:tr h="370840">
                <a:tc>
                  <a:txBody>
                    <a:bodyPr/>
                    <a:lstStyle/>
                    <a:p>
                      <a:r>
                        <a:rPr lang="zh-CN" altLang="en-US" sz="1600" dirty="0"/>
                        <a:t>竞争重点</a:t>
                      </a:r>
                    </a:p>
                  </a:txBody>
                  <a:tcPr/>
                </a:tc>
                <a:tc>
                  <a:txBody>
                    <a:bodyPr/>
                    <a:lstStyle/>
                    <a:p>
                      <a:r>
                        <a:rPr lang="zh-CN" altLang="en-US" sz="1600" dirty="0"/>
                        <a:t>低于竞争对手的成本</a:t>
                      </a:r>
                    </a:p>
                  </a:txBody>
                  <a:tcPr/>
                </a:tc>
                <a:tc>
                  <a:txBody>
                    <a:bodyPr/>
                    <a:lstStyle/>
                    <a:p>
                      <a:r>
                        <a:rPr lang="zh-CN" altLang="en-US" sz="1600" dirty="0"/>
                        <a:t>不同于竞争对手的质量、特点、性能</a:t>
                      </a:r>
                    </a:p>
                  </a:txBody>
                  <a:tcPr/>
                </a:tc>
                <a:tc>
                  <a:txBody>
                    <a:bodyPr/>
                    <a:lstStyle/>
                    <a:p>
                      <a:r>
                        <a:rPr lang="zh-CN" altLang="en-US" sz="1600" dirty="0"/>
                        <a:t>细分市场的低成本或细分市场的差异化</a:t>
                      </a:r>
                    </a:p>
                  </a:txBody>
                  <a:tcPr/>
                </a:tc>
                <a:extLst>
                  <a:ext uri="{0D108BD9-81ED-4DB2-BD59-A6C34878D82A}">
                    <a16:rowId xmlns:a16="http://schemas.microsoft.com/office/drawing/2014/main" val="10002"/>
                  </a:ext>
                </a:extLst>
              </a:tr>
              <a:tr h="370840">
                <a:tc>
                  <a:txBody>
                    <a:bodyPr/>
                    <a:lstStyle/>
                    <a:p>
                      <a:r>
                        <a:rPr lang="zh-CN" altLang="en-US" sz="1600" dirty="0"/>
                        <a:t>生产开发重点</a:t>
                      </a:r>
                    </a:p>
                  </a:txBody>
                  <a:tcPr/>
                </a:tc>
                <a:tc>
                  <a:txBody>
                    <a:bodyPr/>
                    <a:lstStyle/>
                    <a:p>
                      <a:r>
                        <a:rPr lang="zh-CN" altLang="en-US" sz="1600" dirty="0"/>
                        <a:t>在保证质量的前提下不断寻求成本降低</a:t>
                      </a:r>
                    </a:p>
                  </a:txBody>
                  <a:tcPr/>
                </a:tc>
                <a:tc>
                  <a:txBody>
                    <a:bodyPr/>
                    <a:lstStyle/>
                    <a:p>
                      <a:r>
                        <a:rPr lang="zh-CN" altLang="en-US" sz="1600" dirty="0"/>
                        <a:t>不断寻求能被顾客认同的产品差异</a:t>
                      </a:r>
                    </a:p>
                  </a:txBody>
                  <a:tcPr/>
                </a:tc>
                <a:tc>
                  <a:txBody>
                    <a:bodyPr/>
                    <a:lstStyle/>
                    <a:p>
                      <a:r>
                        <a:rPr lang="zh-CN" altLang="en-US" sz="1600" dirty="0"/>
                        <a:t>开发细分市场中顾客的特殊需求</a:t>
                      </a:r>
                    </a:p>
                  </a:txBody>
                  <a:tcPr/>
                </a:tc>
                <a:extLst>
                  <a:ext uri="{0D108BD9-81ED-4DB2-BD59-A6C34878D82A}">
                    <a16:rowId xmlns:a16="http://schemas.microsoft.com/office/drawing/2014/main" val="10003"/>
                  </a:ext>
                </a:extLst>
              </a:tr>
              <a:tr h="370840">
                <a:tc>
                  <a:txBody>
                    <a:bodyPr/>
                    <a:lstStyle/>
                    <a:p>
                      <a:r>
                        <a:rPr lang="zh-CN" altLang="en-US" sz="1600" dirty="0"/>
                        <a:t>产品特点</a:t>
                      </a:r>
                    </a:p>
                  </a:txBody>
                  <a:tcPr/>
                </a:tc>
                <a:tc>
                  <a:txBody>
                    <a:bodyPr/>
                    <a:lstStyle/>
                    <a:p>
                      <a:r>
                        <a:rPr lang="zh-CN" altLang="en-US" sz="1600" dirty="0"/>
                        <a:t>特色不多，质量有保证的产品</a:t>
                      </a:r>
                    </a:p>
                  </a:txBody>
                  <a:tcPr/>
                </a:tc>
                <a:tc>
                  <a:txBody>
                    <a:bodyPr/>
                    <a:lstStyle/>
                    <a:p>
                      <a:r>
                        <a:rPr lang="zh-CN" altLang="en-US" sz="1600" dirty="0"/>
                        <a:t>产品型号多，选择余地大，强调产品差异化特色</a:t>
                      </a:r>
                    </a:p>
                  </a:txBody>
                  <a:tcPr/>
                </a:tc>
                <a:tc>
                  <a:txBody>
                    <a:bodyPr/>
                    <a:lstStyle/>
                    <a:p>
                      <a:r>
                        <a:rPr lang="zh-CN" altLang="en-US" sz="1600" dirty="0"/>
                        <a:t>按照目标顾客的特殊需要提供产品和服务</a:t>
                      </a:r>
                    </a:p>
                  </a:txBody>
                  <a:tcPr/>
                </a:tc>
                <a:extLst>
                  <a:ext uri="{0D108BD9-81ED-4DB2-BD59-A6C34878D82A}">
                    <a16:rowId xmlns:a16="http://schemas.microsoft.com/office/drawing/2014/main" val="10004"/>
                  </a:ext>
                </a:extLst>
              </a:tr>
              <a:tr h="370840">
                <a:tc>
                  <a:txBody>
                    <a:bodyPr/>
                    <a:lstStyle/>
                    <a:p>
                      <a:r>
                        <a:rPr lang="zh-CN" altLang="en-US" sz="1600" dirty="0"/>
                        <a:t>市场营销重点</a:t>
                      </a:r>
                    </a:p>
                  </a:txBody>
                  <a:tcPr/>
                </a:tc>
                <a:tc>
                  <a:txBody>
                    <a:bodyPr/>
                    <a:lstStyle/>
                    <a:p>
                      <a:r>
                        <a:rPr lang="zh-CN" altLang="en-US" sz="1600" dirty="0"/>
                        <a:t>低成本的特色营销</a:t>
                      </a:r>
                    </a:p>
                  </a:txBody>
                  <a:tcPr/>
                </a:tc>
                <a:tc>
                  <a:txBody>
                    <a:bodyPr/>
                    <a:lstStyle/>
                    <a:p>
                      <a:r>
                        <a:rPr lang="zh-CN" altLang="en-US" sz="1600" dirty="0"/>
                        <a:t>建立顾客愿意支付的特色营销，收取高价补偿因寻求差异化而承担的高额成本</a:t>
                      </a:r>
                    </a:p>
                  </a:txBody>
                  <a:tcPr/>
                </a:tc>
                <a:tc>
                  <a:txBody>
                    <a:bodyPr/>
                    <a:lstStyle/>
                    <a:p>
                      <a:r>
                        <a:rPr lang="zh-CN" altLang="en-US" sz="1600" dirty="0"/>
                        <a:t>传播本企业有哪些能够满足购买者特殊需求的能力</a:t>
                      </a:r>
                    </a:p>
                  </a:txBody>
                  <a:tcPr/>
                </a:tc>
                <a:extLst>
                  <a:ext uri="{0D108BD9-81ED-4DB2-BD59-A6C34878D82A}">
                    <a16:rowId xmlns:a16="http://schemas.microsoft.com/office/drawing/2014/main" val="10005"/>
                  </a:ext>
                </a:extLst>
              </a:tr>
              <a:tr h="370840">
                <a:tc>
                  <a:txBody>
                    <a:bodyPr/>
                    <a:lstStyle/>
                    <a:p>
                      <a:r>
                        <a:rPr lang="zh-CN" altLang="en-US" sz="1600" dirty="0"/>
                        <a:t>战略的维持途径</a:t>
                      </a:r>
                    </a:p>
                  </a:txBody>
                  <a:tcPr/>
                </a:tc>
                <a:tc>
                  <a:txBody>
                    <a:bodyPr/>
                    <a:lstStyle/>
                    <a:p>
                      <a:r>
                        <a:rPr lang="zh-CN" altLang="en-US" sz="1600" dirty="0"/>
                        <a:t>以获取成本优势为目的，不断挖掘降低成本的潜力</a:t>
                      </a:r>
                    </a:p>
                  </a:txBody>
                  <a:tcPr/>
                </a:tc>
                <a:tc>
                  <a:txBody>
                    <a:bodyPr/>
                    <a:lstStyle/>
                    <a:p>
                      <a:r>
                        <a:rPr lang="zh-CN" altLang="en-US" sz="1600" dirty="0"/>
                        <a:t>不断改善和革新产品的差异性，走在竞争对手的前面</a:t>
                      </a:r>
                    </a:p>
                  </a:txBody>
                  <a:tcPr/>
                </a:tc>
                <a:tc>
                  <a:txBody>
                    <a:bodyPr/>
                    <a:lstStyle/>
                    <a:p>
                      <a:r>
                        <a:rPr lang="zh-CN" altLang="en-US" sz="1600" dirty="0"/>
                        <a:t>比竞争对手更好地为特定细分市场提供低成本的产品或者差异化的产品</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战略实施的领导者</a:t>
            </a:r>
          </a:p>
        </p:txBody>
      </p:sp>
      <p:sp>
        <p:nvSpPr>
          <p:cNvPr id="3" name="内容占位符 2"/>
          <p:cNvSpPr>
            <a:spLocks noGrp="1"/>
          </p:cNvSpPr>
          <p:nvPr>
            <p:ph idx="1"/>
          </p:nvPr>
        </p:nvSpPr>
        <p:spPr/>
        <p:txBody>
          <a:bodyPr/>
          <a:lstStyle/>
          <a:p>
            <a:r>
              <a:rPr lang="zh-CN" altLang="en-US" dirty="0">
                <a:hlinkClick r:id="rId2" action="ppaction://hlinkpres?slideindex=1&amp;slidetitle="/>
              </a:rPr>
              <a:t>领导理论</a:t>
            </a:r>
            <a:endParaRPr lang="en-US" altLang="zh-CN" dirty="0"/>
          </a:p>
          <a:p>
            <a:endParaRPr lang="en-US" altLang="zh-CN" dirty="0"/>
          </a:p>
          <a:p>
            <a:r>
              <a:rPr lang="zh-CN" altLang="en-US" dirty="0"/>
              <a:t>开拓型创业者</a:t>
            </a:r>
            <a:endParaRPr lang="en-US" altLang="zh-CN" dirty="0"/>
          </a:p>
          <a:p>
            <a:r>
              <a:rPr lang="zh-CN" altLang="en-US" dirty="0"/>
              <a:t>征服型创业者</a:t>
            </a:r>
            <a:endParaRPr lang="en-US" altLang="zh-CN" dirty="0"/>
          </a:p>
          <a:p>
            <a:r>
              <a:rPr lang="zh-CN" altLang="en-US" dirty="0"/>
              <a:t>理财专家</a:t>
            </a:r>
            <a:endParaRPr lang="en-US" altLang="zh-CN" dirty="0"/>
          </a:p>
          <a:p>
            <a:r>
              <a:rPr lang="zh-CN" altLang="en-US" dirty="0"/>
              <a:t>冷静型创业者</a:t>
            </a:r>
            <a:endParaRPr lang="en-US" altLang="zh-CN" dirty="0"/>
          </a:p>
          <a:p>
            <a:r>
              <a:rPr lang="zh-CN" altLang="en-US"/>
              <a:t>外交型管理专家</a:t>
            </a:r>
            <a:endParaRPr lang="en-US" altLang="zh-CN" dirty="0"/>
          </a:p>
          <a:p>
            <a:r>
              <a:rPr lang="zh-CN" altLang="en-US" dirty="0"/>
              <a:t>行政型管理专家</a:t>
            </a:r>
            <a:endParaRPr lang="en-US" altLang="zh-CN" dirty="0"/>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50825" y="620713"/>
            <a:ext cx="7467600" cy="701675"/>
          </a:xfrm>
        </p:spPr>
        <p:txBody>
          <a:bodyPr>
            <a:normAutofit/>
          </a:bodyPr>
          <a:lstStyle/>
          <a:p>
            <a:r>
              <a:rPr lang="zh-CN" altLang="en-US" sz="4000" b="1" dirty="0"/>
              <a:t>企业管理人员的战略实施的模式</a:t>
            </a:r>
          </a:p>
        </p:txBody>
      </p:sp>
      <p:sp>
        <p:nvSpPr>
          <p:cNvPr id="60419" name="Rectangle 3"/>
          <p:cNvSpPr>
            <a:spLocks noGrp="1" noChangeArrowheads="1"/>
          </p:cNvSpPr>
          <p:nvPr>
            <p:ph type="body" idx="1"/>
          </p:nvPr>
        </p:nvSpPr>
        <p:spPr/>
        <p:txBody>
          <a:bodyPr/>
          <a:lstStyle/>
          <a:p>
            <a:pPr>
              <a:buFont typeface="Wingdings" pitchFamily="2" charset="2"/>
              <a:buNone/>
            </a:pPr>
            <a:r>
              <a:rPr lang="zh-CN" altLang="en-US" b="1"/>
              <a:t> </a:t>
            </a:r>
          </a:p>
        </p:txBody>
      </p:sp>
      <p:graphicFrame>
        <p:nvGraphicFramePr>
          <p:cNvPr id="60468" name="Group 52"/>
          <p:cNvGraphicFramePr>
            <a:graphicFrameLocks noGrp="1"/>
          </p:cNvGraphicFramePr>
          <p:nvPr>
            <p:extLst>
              <p:ext uri="{D42A27DB-BD31-4B8C-83A1-F6EECF244321}">
                <p14:modId xmlns:p14="http://schemas.microsoft.com/office/powerpoint/2010/main" val="2929420071"/>
              </p:ext>
            </p:extLst>
          </p:nvPr>
        </p:nvGraphicFramePr>
        <p:xfrm>
          <a:off x="152400" y="1752600"/>
          <a:ext cx="8740080" cy="4696460"/>
        </p:xfrm>
        <a:graphic>
          <a:graphicData uri="http://schemas.openxmlformats.org/drawingml/2006/table">
            <a:tbl>
              <a:tblPr/>
              <a:tblGrid>
                <a:gridCol w="1248583">
                  <a:extLst>
                    <a:ext uri="{9D8B030D-6E8A-4147-A177-3AD203B41FA5}">
                      <a16:colId xmlns:a16="http://schemas.microsoft.com/office/drawing/2014/main" val="20000"/>
                    </a:ext>
                  </a:extLst>
                </a:gridCol>
                <a:gridCol w="5351069">
                  <a:extLst>
                    <a:ext uri="{9D8B030D-6E8A-4147-A177-3AD203B41FA5}">
                      <a16:colId xmlns:a16="http://schemas.microsoft.com/office/drawing/2014/main" val="20001"/>
                    </a:ext>
                  </a:extLst>
                </a:gridCol>
                <a:gridCol w="2140428">
                  <a:extLst>
                    <a:ext uri="{9D8B030D-6E8A-4147-A177-3AD203B41FA5}">
                      <a16:colId xmlns:a16="http://schemas.microsoft.com/office/drawing/2014/main" val="20002"/>
                    </a:ext>
                  </a:extLst>
                </a:gridCol>
              </a:tblGrid>
              <a:tr h="7620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400" b="1" i="0" u="none" strike="noStrike" cap="none" normalizeH="0" baseline="0" dirty="0">
                          <a:ln>
                            <a:noFill/>
                          </a:ln>
                          <a:solidFill>
                            <a:schemeClr val="tx1"/>
                          </a:solidFill>
                          <a:effectLst/>
                          <a:latin typeface="Arial" charset="0"/>
                          <a:ea typeface="宋体" charset="-122"/>
                        </a:rPr>
                        <a:t>类型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400" b="1" i="0" u="none" strike="noStrike" cap="none" normalizeH="0" baseline="0">
                          <a:ln>
                            <a:noFill/>
                          </a:ln>
                          <a:solidFill>
                            <a:schemeClr val="tx1"/>
                          </a:solidFill>
                          <a:effectLst/>
                          <a:latin typeface="Arial" charset="0"/>
                          <a:ea typeface="宋体" charset="-122"/>
                        </a:rPr>
                        <a:t>领导者研究的企业战略问题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400" b="1" i="0" u="none" strike="noStrike" cap="none" normalizeH="0" baseline="0">
                          <a:ln>
                            <a:noFill/>
                          </a:ln>
                          <a:solidFill>
                            <a:schemeClr val="tx1"/>
                          </a:solidFill>
                          <a:effectLst/>
                          <a:latin typeface="Arial" charset="0"/>
                          <a:ea typeface="宋体" charset="-122"/>
                        </a:rPr>
                        <a:t>领导者扮演的角色</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74700">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dirty="0">
                          <a:ln>
                            <a:noFill/>
                          </a:ln>
                          <a:solidFill>
                            <a:schemeClr val="tx1"/>
                          </a:solidFill>
                          <a:effectLst/>
                          <a:latin typeface="Arial" charset="0"/>
                          <a:ea typeface="宋体" charset="-122"/>
                        </a:rPr>
                        <a:t>指挥型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a:ln>
                            <a:noFill/>
                          </a:ln>
                          <a:solidFill>
                            <a:schemeClr val="tx1"/>
                          </a:solidFill>
                          <a:effectLst/>
                          <a:latin typeface="Arial" charset="0"/>
                          <a:ea typeface="宋体" charset="-122"/>
                        </a:rPr>
                        <a:t>如何制定出企业最佳的战略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a:ln>
                            <a:noFill/>
                          </a:ln>
                          <a:solidFill>
                            <a:schemeClr val="tx1"/>
                          </a:solidFill>
                          <a:effectLst/>
                          <a:latin typeface="Arial" charset="0"/>
                          <a:ea typeface="宋体" charset="-122"/>
                        </a:rPr>
                        <a:t>理性行动者</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4700">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a:ln>
                            <a:noFill/>
                          </a:ln>
                          <a:solidFill>
                            <a:schemeClr val="tx1"/>
                          </a:solidFill>
                          <a:effectLst/>
                          <a:latin typeface="Arial" charset="0"/>
                          <a:ea typeface="宋体" charset="-122"/>
                        </a:rPr>
                        <a:t>合作型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dirty="0">
                          <a:ln>
                            <a:noFill/>
                          </a:ln>
                          <a:solidFill>
                            <a:schemeClr val="tx1"/>
                          </a:solidFill>
                          <a:effectLst/>
                          <a:latin typeface="Arial" charset="0"/>
                          <a:ea typeface="宋体" charset="-122"/>
                        </a:rPr>
                        <a:t>如何使高层管理人员从一开始就对企业战略承担起自己的责任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a:ln>
                            <a:noFill/>
                          </a:ln>
                          <a:solidFill>
                            <a:schemeClr val="tx1"/>
                          </a:solidFill>
                          <a:effectLst/>
                          <a:latin typeface="Arial" charset="0"/>
                          <a:ea typeface="宋体" charset="-122"/>
                        </a:rPr>
                        <a:t>协调者</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4700">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dirty="0">
                          <a:ln>
                            <a:noFill/>
                          </a:ln>
                          <a:solidFill>
                            <a:schemeClr val="tx1"/>
                          </a:solidFill>
                          <a:effectLst/>
                          <a:latin typeface="Arial" charset="0"/>
                          <a:ea typeface="宋体" charset="-122"/>
                        </a:rPr>
                        <a:t>变革型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dirty="0">
                          <a:ln>
                            <a:noFill/>
                          </a:ln>
                          <a:solidFill>
                            <a:schemeClr val="tx1"/>
                          </a:solidFill>
                          <a:effectLst/>
                          <a:latin typeface="Arial" charset="0"/>
                          <a:ea typeface="宋体" charset="-122"/>
                        </a:rPr>
                        <a:t>如何将制定好的战略推行实施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a:ln>
                            <a:noFill/>
                          </a:ln>
                          <a:solidFill>
                            <a:schemeClr val="tx1"/>
                          </a:solidFill>
                          <a:effectLst/>
                          <a:latin typeface="Arial" charset="0"/>
                          <a:ea typeface="宋体" charset="-122"/>
                        </a:rPr>
                        <a:t>设计者</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74700">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a:ln>
                            <a:noFill/>
                          </a:ln>
                          <a:solidFill>
                            <a:schemeClr val="tx1"/>
                          </a:solidFill>
                          <a:effectLst/>
                          <a:latin typeface="Arial" charset="0"/>
                          <a:ea typeface="宋体" charset="-122"/>
                        </a:rPr>
                        <a:t>增长型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dirty="0">
                          <a:ln>
                            <a:noFill/>
                          </a:ln>
                          <a:solidFill>
                            <a:schemeClr val="tx1"/>
                          </a:solidFill>
                          <a:effectLst/>
                          <a:latin typeface="Arial" charset="0"/>
                          <a:ea typeface="宋体" charset="-122"/>
                        </a:rPr>
                        <a:t>如何激励企业管理人员和全体员工去执行已制定的企业战略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dirty="0">
                          <a:ln>
                            <a:noFill/>
                          </a:ln>
                          <a:solidFill>
                            <a:schemeClr val="tx1"/>
                          </a:solidFill>
                          <a:effectLst/>
                          <a:latin typeface="Arial" charset="0"/>
                          <a:ea typeface="宋体" charset="-122"/>
                        </a:rPr>
                        <a:t>评判者</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74700">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a:ln>
                            <a:noFill/>
                          </a:ln>
                          <a:solidFill>
                            <a:schemeClr val="tx1"/>
                          </a:solidFill>
                          <a:effectLst/>
                          <a:latin typeface="Arial" charset="0"/>
                          <a:ea typeface="宋体" charset="-122"/>
                        </a:rPr>
                        <a:t>文化型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dirty="0">
                          <a:ln>
                            <a:noFill/>
                          </a:ln>
                          <a:solidFill>
                            <a:schemeClr val="tx1"/>
                          </a:solidFill>
                          <a:effectLst/>
                          <a:latin typeface="Arial" charset="0"/>
                          <a:ea typeface="宋体" charset="-122"/>
                        </a:rPr>
                        <a:t>如何使整个企业均确保战略的实施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zh-CN" altLang="en-US" sz="2000" b="1" i="0" u="none" strike="noStrike" cap="none" normalizeH="0" baseline="0" dirty="0">
                          <a:ln>
                            <a:noFill/>
                          </a:ln>
                          <a:solidFill>
                            <a:schemeClr val="tx1"/>
                          </a:solidFill>
                          <a:effectLst/>
                          <a:latin typeface="Arial" charset="0"/>
                          <a:ea typeface="宋体" charset="-122"/>
                        </a:rPr>
                        <a:t>指导者</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a:t>战略实施与人员分配</a:t>
            </a:r>
          </a:p>
        </p:txBody>
      </p:sp>
      <p:sp>
        <p:nvSpPr>
          <p:cNvPr id="83971" name="Rectangle 3"/>
          <p:cNvSpPr>
            <a:spLocks noGrp="1" noChangeArrowheads="1"/>
          </p:cNvSpPr>
          <p:nvPr>
            <p:ph type="body" idx="1"/>
          </p:nvPr>
        </p:nvSpPr>
        <p:spPr/>
        <p:txBody>
          <a:bodyPr/>
          <a:lstStyle/>
          <a:p>
            <a:r>
              <a:rPr lang="zh-CN" altLang="en-US"/>
              <a:t>1、为各个战略岗位配备管理和技术人才，特别是对关键岗位的关键人物的选择</a:t>
            </a:r>
          </a:p>
          <a:p>
            <a:r>
              <a:rPr lang="zh-CN" altLang="en-US"/>
              <a:t>2、为战略实施建立人才及技能的储备，不断为战略实施输送有效的人才</a:t>
            </a:r>
          </a:p>
          <a:p>
            <a:r>
              <a:rPr lang="zh-CN" altLang="en-US"/>
              <a:t>3、在战略实施过程中，注意整个队伍的综合力量搭配和权衡</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沉稳">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沉稳">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沉稳">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Foundry</Template>
  <TotalTime>1247</TotalTime>
  <Words>1624</Words>
  <Application>Microsoft Macintosh PowerPoint</Application>
  <PresentationFormat>全屏显示(4:3)</PresentationFormat>
  <Paragraphs>201</Paragraphs>
  <Slides>27</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宋体</vt:lpstr>
      <vt:lpstr>Arial</vt:lpstr>
      <vt:lpstr>Calibri</vt:lpstr>
      <vt:lpstr>Rockwell</vt:lpstr>
      <vt:lpstr>Times New Roman</vt:lpstr>
      <vt:lpstr>Wingdings</vt:lpstr>
      <vt:lpstr>Wingdings 2</vt:lpstr>
      <vt:lpstr>沉稳</vt:lpstr>
      <vt:lpstr>战略管理3</vt:lpstr>
      <vt:lpstr>战略实施</vt:lpstr>
      <vt:lpstr>战略实施包括的管理问题</vt:lpstr>
      <vt:lpstr>建立分阶段目标</vt:lpstr>
      <vt:lpstr>制定政策</vt:lpstr>
      <vt:lpstr>资源配置</vt:lpstr>
      <vt:lpstr>战略实施与资源配置</vt:lpstr>
      <vt:lpstr>组织结构与战略匹配</vt:lpstr>
      <vt:lpstr>改组、流程再造</vt:lpstr>
      <vt:lpstr>将业绩与报酬挂钩</vt:lpstr>
      <vt:lpstr>克服变革阻力</vt:lpstr>
      <vt:lpstr>三种变革战略</vt:lpstr>
      <vt:lpstr>安索夫：克服变革阻力</vt:lpstr>
      <vt:lpstr>管理变化</vt:lpstr>
      <vt:lpstr>其他</vt:lpstr>
      <vt:lpstr>战略实施的相关变量 </vt:lpstr>
      <vt:lpstr>PowerPoint 演示文稿</vt:lpstr>
      <vt:lpstr>7S的涵义</vt:lpstr>
      <vt:lpstr>7S模型的启示</vt:lpstr>
      <vt:lpstr>    几个关键相关变量</vt:lpstr>
      <vt:lpstr>常见的组织设计</vt:lpstr>
      <vt:lpstr>战略和组织结构的发展模式</vt:lpstr>
      <vt:lpstr>业务层战略的实施</vt:lpstr>
      <vt:lpstr>三种基本竞争战略的比较</vt:lpstr>
      <vt:lpstr>战略实施的领导者</vt:lpstr>
      <vt:lpstr>企业管理人员的战略实施的模式</vt:lpstr>
      <vt:lpstr>战略实施与人员分配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战略管理3</dc:title>
  <dc:creator>Julia</dc:creator>
  <cp:lastModifiedBy>Microsoft Office User</cp:lastModifiedBy>
  <cp:revision>6</cp:revision>
  <dcterms:created xsi:type="dcterms:W3CDTF">2011-03-19T13:53:04Z</dcterms:created>
  <dcterms:modified xsi:type="dcterms:W3CDTF">2019-05-07T10:38:46Z</dcterms:modified>
</cp:coreProperties>
</file>