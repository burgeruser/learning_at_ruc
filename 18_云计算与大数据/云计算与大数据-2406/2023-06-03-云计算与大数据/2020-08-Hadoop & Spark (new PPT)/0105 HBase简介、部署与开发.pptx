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610" r:id="rId2"/>
    <p:sldId id="285" r:id="rId3"/>
    <p:sldId id="611" r:id="rId4"/>
    <p:sldId id="612" r:id="rId5"/>
    <p:sldId id="662" r:id="rId6"/>
    <p:sldId id="663" r:id="rId7"/>
    <p:sldId id="692" r:id="rId8"/>
    <p:sldId id="613" r:id="rId9"/>
    <p:sldId id="614" r:id="rId10"/>
    <p:sldId id="615" r:id="rId11"/>
    <p:sldId id="616" r:id="rId12"/>
    <p:sldId id="617" r:id="rId13"/>
    <p:sldId id="618" r:id="rId14"/>
    <p:sldId id="619" r:id="rId15"/>
    <p:sldId id="620" r:id="rId16"/>
    <p:sldId id="621" r:id="rId17"/>
    <p:sldId id="622" r:id="rId18"/>
    <p:sldId id="623" r:id="rId19"/>
    <p:sldId id="624" r:id="rId20"/>
    <p:sldId id="625" r:id="rId21"/>
    <p:sldId id="626" r:id="rId22"/>
    <p:sldId id="694" r:id="rId23"/>
    <p:sldId id="695" r:id="rId24"/>
    <p:sldId id="627" r:id="rId25"/>
    <p:sldId id="693" r:id="rId26"/>
    <p:sldId id="628" r:id="rId27"/>
    <p:sldId id="629" r:id="rId28"/>
    <p:sldId id="630" r:id="rId29"/>
    <p:sldId id="631" r:id="rId30"/>
    <p:sldId id="632" r:id="rId31"/>
    <p:sldId id="633" r:id="rId32"/>
    <p:sldId id="634" r:id="rId33"/>
    <p:sldId id="635" r:id="rId34"/>
    <p:sldId id="636" r:id="rId35"/>
    <p:sldId id="637" r:id="rId36"/>
    <p:sldId id="638" r:id="rId37"/>
    <p:sldId id="639" r:id="rId38"/>
    <p:sldId id="640" r:id="rId39"/>
    <p:sldId id="641" r:id="rId40"/>
    <p:sldId id="696" r:id="rId41"/>
    <p:sldId id="642" r:id="rId42"/>
    <p:sldId id="643" r:id="rId43"/>
    <p:sldId id="644" r:id="rId44"/>
    <p:sldId id="645" r:id="rId45"/>
    <p:sldId id="697" r:id="rId46"/>
    <p:sldId id="646" r:id="rId47"/>
    <p:sldId id="647" r:id="rId48"/>
    <p:sldId id="648" r:id="rId49"/>
    <p:sldId id="649" r:id="rId50"/>
    <p:sldId id="650" r:id="rId51"/>
    <p:sldId id="651" r:id="rId52"/>
    <p:sldId id="652" r:id="rId53"/>
    <p:sldId id="653" r:id="rId54"/>
    <p:sldId id="654" r:id="rId55"/>
    <p:sldId id="655" r:id="rId56"/>
    <p:sldId id="656" r:id="rId57"/>
    <p:sldId id="657" r:id="rId58"/>
    <p:sldId id="698" r:id="rId59"/>
    <p:sldId id="658" r:id="rId60"/>
    <p:sldId id="659" r:id="rId61"/>
    <p:sldId id="660" r:id="rId62"/>
    <p:sldId id="661" r:id="rId63"/>
    <p:sldId id="699" r:id="rId64"/>
    <p:sldId id="664" r:id="rId65"/>
    <p:sldId id="700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62"/>
            <p14:sldId id="663"/>
            <p14:sldId id="69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94"/>
            <p14:sldId id="695"/>
            <p14:sldId id="627"/>
            <p14:sldId id="693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96"/>
            <p14:sldId id="642"/>
            <p14:sldId id="643"/>
            <p14:sldId id="644"/>
            <p14:sldId id="645"/>
            <p14:sldId id="697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98"/>
            <p14:sldId id="658"/>
            <p14:sldId id="659"/>
            <p14:sldId id="660"/>
            <p14:sldId id="661"/>
            <p14:sldId id="699"/>
            <p14:sldId id="664"/>
            <p14:sldId id="7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74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是一个高可靠、高性能、面向列、可伸缩的分布式数据库系统。利用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，可在廉价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PC 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上搭建起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大规模结构化数据管理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集群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是一款借鉴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Google 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技术实现的开源软件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类似于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GFS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作为其文件存储系统，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作为其文件存储系统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来处理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中的海量数据，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则利用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来处理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中的海量数据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Chubby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实现协同服务，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实现同样的功能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生态系统中，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为一款结构化数据管理工具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提供了高可靠性的底层存储支持，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提供了高性能的计算能力，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提供了稳定服务和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Failover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Sqoop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则为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提供了方便的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RDBMS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数据导入功能，使得从传统数据库向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迁移变的非常方便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19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访问接口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丰富的访问接口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Native Java API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是最常用和高效的访问方式，适合于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MapReduce Job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并行处理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表格的数据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HBase Shell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的命令行工具，适合于对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进行管理使用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(3) Thrift Gateway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Thrift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序列化技术，支持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PHP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等多种语言，适合其它异构系统访问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表格数据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(4) REST Gateway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，支持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REST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风格的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HTTP API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，解除了语言限制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(5) Pig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，可以使用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Pig Latin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编程语言来操作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中的数据，需要编译成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MapReduce Job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来处理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表数据，适合做数据统计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(6) Hive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0.7.0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以上版本的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，使得用户可以使用类似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的查询语言来访问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28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Use Cases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Base Use Cases">
            <a:extLst>
              <a:ext uri="{FF2B5EF4-FFF2-40B4-BE49-F238E27FC236}">
                <a16:creationId xmlns:a16="http://schemas.microsoft.com/office/drawing/2014/main" id="{A55D88EC-2C23-4CCE-99F6-8AAB338D9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379" y="2209800"/>
            <a:ext cx="7193241" cy="376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374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572000" cy="4953000"/>
          </a:xfrm>
        </p:spPr>
        <p:txBody>
          <a:bodyPr>
            <a:normAutofit fontScale="92500"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应用的特点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Data volume</a:t>
            </a: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process petabytes of data in this distributed environment</a:t>
            </a:r>
          </a:p>
          <a:p>
            <a:pPr lvl="1" fontAlgn="base"/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Application Types</a:t>
            </a: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we have a variable schema with slightly different rows </a:t>
            </a:r>
          </a:p>
          <a:p>
            <a:pPr lvl="1" fontAlgn="base"/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Hardware Environment</a:t>
            </a:r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works efficiently with a large number of nodes</a:t>
            </a:r>
          </a:p>
          <a:p>
            <a:pPr lvl="1" fontAlgn="base"/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No requirement of relational features</a:t>
            </a:r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do not need features like transaction, triggers, complex query, complex joins etc. then go for HBase</a:t>
            </a:r>
          </a:p>
          <a:p>
            <a:pPr lvl="1" fontAlgn="base"/>
            <a:endParaRPr lang="en-US" altLang="zh-CN" sz="14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Quick Access to data</a:t>
            </a: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while we require random and real-time access to our data, then we can use HBase</a:t>
            </a:r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l" fontAlgn="base"/>
            <a:endParaRPr lang="en-US" altLang="zh-CN" sz="12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HBase Use Cases">
            <a:extLst>
              <a:ext uri="{FF2B5EF4-FFF2-40B4-BE49-F238E27FC236}">
                <a16:creationId xmlns:a16="http://schemas.microsoft.com/office/drawing/2014/main" id="{F53CDF8F-3AF2-4DEF-8EF7-D8541D54C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7799" y="2667000"/>
            <a:ext cx="3640611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7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就是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的一个表格，类似于关系数据库的表格，但是有所不同，请参考下文描述</a:t>
            </a: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Row Key: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行键，是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的主键，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中的记录按照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Row Key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 (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列簇或者列分组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在垂直方向由一个、或者多个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组成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可以由任意多个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组成，即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支持动态扩展，无需预先定义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的数量以及类型</a:t>
            </a:r>
            <a:endParaRPr lang="en-US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均以二进制格式存储，用户需要自行进行类型转换</a:t>
            </a:r>
            <a:endParaRPr lang="en-US" altLang="zh-CN" sz="14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Timestamp: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时间戳，每次数据操作对应的时间戳，可以看作是数据的版本号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(Version Number)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647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（实例）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这个表格有两个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，分别是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Contents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</a:t>
            </a:r>
          </a:p>
          <a:p>
            <a:pPr lvl="1" indent="260985" algn="just"/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Contents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保留了页面的内容，每个时间戳对应一个页面，可以保留该页面的不同历史版本</a:t>
            </a:r>
            <a:endParaRPr lang="en-US" altLang="zh-CN" sz="13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0985" algn="just"/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则保存了指向这个页面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即引用该页面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的其它页面的锚点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即其它页面的超链接，指向本页面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的文本信息。</a:t>
            </a:r>
            <a:endParaRPr lang="zh-CN" altLang="zh-CN" sz="13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在这个实例里面，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CNN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的主页，被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Sports Illustrated(cnnsi.com)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My Look(my.look.ca)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两个页面所指向，所以每行记录有两列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anchor:cnnsi.com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anchor: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my.look.ca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，它们隶属于同一个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</a:t>
            </a:r>
          </a:p>
          <a:p>
            <a:pPr indent="260985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这个表格有两个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 key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，第一个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 key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保留了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三个时间戳的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contents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列，一个时间戳的</a:t>
            </a:r>
            <a:r>
              <a:rPr lang="en-US" altLang="zh-CN" sz="17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anchor:cnnsi.com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列，以及另外一个时间戳的</a:t>
            </a:r>
            <a:r>
              <a:rPr lang="en-US" altLang="zh-CN" sz="17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anchor:my.look.ca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8DAF82-EA36-4656-818B-00172047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514976"/>
            <a:ext cx="5867400" cy="182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0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</a:p>
          <a:p>
            <a:pPr indent="260985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记录数不断增加而变大后，逐渐分裂成多个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，称为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</a:p>
          <a:p>
            <a:pPr indent="260985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startkey,endkey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表示，不同的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分配给相应的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RegionServer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请参考下文描述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进行管理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中有两张特殊的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“-ROOT-”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“.META.”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.META.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：记录了用户表的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.META.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可以有多个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-ROOT-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：记录了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.META.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-ROOT-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只有一个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中记录了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-ROOT-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表的位置信息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(Location)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Client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访问数据之前需要首先访问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，然后访问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-ROOT-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表，接着访问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.META.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表，进而找到用户数据的位置，最后去访问具体的数据</a:t>
            </a:r>
          </a:p>
          <a:p>
            <a:pPr indent="260985"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3AEA0F-1DFE-4DA0-96F7-B286FF3A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895600"/>
            <a:ext cx="3124200" cy="15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7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是一个典型的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Master-Slave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架构，包含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，以及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</a:p>
          <a:p>
            <a:pPr lvl="1" indent="266700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Client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RPC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机制与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进行通信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对于管理类操作，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RPC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endParaRPr lang="en-US" altLang="zh-CN" sz="12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对于数据读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写类操作，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RPC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endParaRPr lang="zh-CN" altLang="zh-CN" sz="12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 Quorum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-ROOT-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表的地址和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的地址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把自己以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Ephemeral(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短暂的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方式，注册到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中，使得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可以随时感知到各个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的健康状态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引入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，避免了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的单点失败问题</a:t>
            </a:r>
            <a:endParaRPr lang="en-US" altLang="zh-CN" sz="16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hbase architecture 的图像结果">
            <a:extLst>
              <a:ext uri="{FF2B5EF4-FFF2-40B4-BE49-F238E27FC236}">
                <a16:creationId xmlns:a16="http://schemas.microsoft.com/office/drawing/2014/main" id="{D41DFB54-9598-4137-BE5C-2810D41BFF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465638"/>
            <a:ext cx="5105400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9240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负责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的管理工作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，具体包括：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管理用户对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的增、删、改、查操作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管理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的负载均衡，调整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分裂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(Split)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后，负责分配新的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停机后，负责失效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的迁移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可以启动多个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，通过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Master Election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机制，保证总有一个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Active 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运行，所以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没有单点失败问题</a:t>
            </a: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hbase architecture 的图像结果">
            <a:extLst>
              <a:ext uri="{FF2B5EF4-FFF2-40B4-BE49-F238E27FC236}">
                <a16:creationId xmlns:a16="http://schemas.microsoft.com/office/drawing/2014/main" id="{D41DFB54-9598-4137-BE5C-2810D41BFF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267200"/>
            <a:ext cx="5105400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890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主要负责响应用户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请求，向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文件系统读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写数据，是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中最核心的模块。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Region Server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大约可以管理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1000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sz="1800" dirty="0">
                <a:solidFill>
                  <a:srgbClr val="000000"/>
                </a:solidFill>
                <a:effectLst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ea typeface="微软雅黑" panose="020B0503020204020204" pitchFamily="34" charset="-122"/>
              </a:rPr>
              <a:t>Regions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hbase architecture 的图像结果">
            <a:extLst>
              <a:ext uri="{FF2B5EF4-FFF2-40B4-BE49-F238E27FC236}">
                <a16:creationId xmlns:a16="http://schemas.microsoft.com/office/drawing/2014/main" id="{D41DFB54-9598-4137-BE5C-2810D41BFF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91000"/>
            <a:ext cx="5105400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285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的内部结构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内部管理一系列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对象，每个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Region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由多个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组成，每个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的存储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可以看出每个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是一个集中的存储单元，因此最好将具备共同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特性的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放在一个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中，可提高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IO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效率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HRegionServer 的图像结果">
            <a:extLst>
              <a:ext uri="{FF2B5EF4-FFF2-40B4-BE49-F238E27FC236}">
                <a16:creationId xmlns:a16="http://schemas.microsoft.com/office/drawing/2014/main" id="{247C3F08-4A63-4811-A74A-5233CC3C5A3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267200"/>
            <a:ext cx="4572000" cy="251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117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的内部结构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HStore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存储是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存储的核心模块，由两部分组成，分别是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和一系列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Sorted Memory Buffer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，用户写入的数据首先会放入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，当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满了以后，写入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(Flush)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底层实现是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文件数量增长到一定阈值，会触发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Compact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合并操作，将多个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合并成一个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，合并过程中会进行版本合并和数据删除</a:t>
            </a:r>
            <a:endParaRPr lang="en-US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只能增加数据，所有的更新和删除操作都是在后续的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Compact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过程中进行的</a:t>
            </a:r>
            <a:endParaRPr lang="en-US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这使得用户的写操作只要进入内存中就可以立即返回，保证了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I/O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的高性能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HRegionServer 的图像结果">
            <a:extLst>
              <a:ext uri="{FF2B5EF4-FFF2-40B4-BE49-F238E27FC236}">
                <a16:creationId xmlns:a16="http://schemas.microsoft.com/office/drawing/2014/main" id="{247C3F08-4A63-4811-A74A-5233CC3C5A3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267200"/>
            <a:ext cx="4572000" cy="251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91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的内部结构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Compact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后，会逐步形成越来越大的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，当单个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大小超过一定阈值后，会触发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操作，把当前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Region 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父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会下线，新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出的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会被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分配到相应的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上，使得原先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的压力得以分流到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A9A6B3-7233-4782-9ACF-A04CD74F0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4038600"/>
            <a:ext cx="6629400" cy="204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69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在分布式系统环境中，无法避免系统出错或者宕机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一旦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意外退出，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MemStore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中的内存数据将会丢失，需要引入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都有一个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是一个实现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Write Ahead 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的类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在每次用户操作写入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时，首先写一份数据到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文件中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文件定期删除旧的日志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已持久化到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中的数据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意外终止后，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会通过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感知到这个情况，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首先会处理遗留的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文件，将其中不同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数据进行拆分，分别放到相应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的目录下，然后再将失效的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重新分配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领取到这些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在装载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的过程中，会发现有历史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需要处理，因此会重放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(Applying Log Records)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中的数据到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MemStore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中，然后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中，完成数据恢复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606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的所有数据文件都存储在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文件系统上，包括两种文件类型。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的二进制格式文件，实现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KeyValue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数据的存储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是对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做了轻量级包装，即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底层就是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(2)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中实现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WAL(Write Ahead Log)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的存储格式，本质上是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File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677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文件是不定长的，长度固定的只有其中的两块：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Trailer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FileInfo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Trailer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中有指针指向其它数据块的起始点。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FileInfo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中记录了文件的一些元信息，比如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AVG_KEY_LEN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AVG_VALUE_LEN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LAST_KEY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COMPARATOR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MAX_SEQ_ID_KEY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 Index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Meta Index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块记录了每个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块的起始点。形成了一种自描述的文件结构。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I/O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的基本单元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为了提高效率，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中实现了基于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LRU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 Cache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块的大小可以在创建一个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的时候通过参数指定，较大的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有利于顺序扫描，较小的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利于随机查询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8904BD-B74E-431A-8D8D-0A834E26B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4495800"/>
            <a:ext cx="5943600" cy="227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5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块除了开头的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Magic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信息以外，就是由一个个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Key,Value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对拼接而成的。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Magic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内容是一些随机数字，目的是防止数据损坏。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里面的每个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KeyValue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对是一个简单的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数组，但是这个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数组里面包含了很多项，并且有固定的结构。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开始是两个固定长度的数值，分别表示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的长度。紧接着是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部分，开始是固定长度的数值，表示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RowKey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的长度，紧接着是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，然后是固定长度的数值，表示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的长度，然后是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anchor)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，接着是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Qualifier(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cnnsi.com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my.look.ca)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，然后是两个固定长度的数值，表示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 Stamp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 Type(Put/Delete)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部分没有这么复杂的结构，就是纯粹的二进制数据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ED9777-EF61-48BC-B15A-876824299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00600"/>
            <a:ext cx="7391400" cy="135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87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就是一个普通的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Sequence 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File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中记录了写入数据的归属信息，除了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名字外，同时还包括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Number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Timestamp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Timestamp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写入时间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Number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的起始值为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，或者是最近一次存入文件系统的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Number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Sequece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 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对象，即对应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290084-A7B8-44A4-98DB-970622B08A1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86200"/>
            <a:ext cx="4648200" cy="2628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884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HBase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51054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srgbClr val="C00000"/>
                </a:solidFill>
              </a:rPr>
              <a:t>Zookeeper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）维护管理了</a:t>
            </a:r>
            <a:r>
              <a:rPr kumimoji="1" lang="en-US" altLang="zh-CN" dirty="0" err="1"/>
              <a:t>Hbase</a:t>
            </a:r>
            <a:r>
              <a:rPr kumimoji="1" lang="zh-CN" altLang="en-US" dirty="0"/>
              <a:t>相关元数据信息</a:t>
            </a:r>
          </a:p>
          <a:p>
            <a:pPr lvl="2"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dirty="0"/>
              <a:t>ZK</a:t>
            </a:r>
            <a:r>
              <a:rPr kumimoji="1" lang="zh-CN" altLang="en-US" dirty="0"/>
              <a:t>中</a:t>
            </a:r>
            <a:r>
              <a:rPr kumimoji="1" lang="en-US" altLang="zh-CN" dirty="0"/>
              <a:t>meta-region-server</a:t>
            </a:r>
            <a:r>
              <a:rPr kumimoji="1" lang="zh-CN" altLang="en-US" dirty="0"/>
              <a:t>节点维护</a:t>
            </a:r>
            <a:r>
              <a:rPr kumimoji="1" lang="en-US" altLang="zh-CN" dirty="0" err="1"/>
              <a:t>hbase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meta</a:t>
            </a:r>
            <a:r>
              <a:rPr kumimoji="1" lang="zh-CN" altLang="en-US" dirty="0"/>
              <a:t>表所在的节点信息</a:t>
            </a:r>
          </a:p>
          <a:p>
            <a:pPr lvl="2"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dirty="0" err="1"/>
              <a:t>Hbase</a:t>
            </a:r>
            <a:r>
              <a:rPr kumimoji="1" lang="zh-CN" altLang="en-US" dirty="0"/>
              <a:t>集群中会维护着一个</a:t>
            </a:r>
            <a:r>
              <a:rPr kumimoji="1" lang="en-US" altLang="zh-CN" dirty="0"/>
              <a:t>meta</a:t>
            </a:r>
            <a:r>
              <a:rPr kumimoji="1" lang="zh-CN" altLang="en-US" dirty="0"/>
              <a:t>表，这个表存储着</a:t>
            </a:r>
            <a:r>
              <a:rPr kumimoji="1" lang="en-US" altLang="zh-CN" dirty="0" err="1"/>
              <a:t>Hbase</a:t>
            </a:r>
            <a:r>
              <a:rPr kumimoji="1" lang="zh-CN" altLang="en-US" dirty="0"/>
              <a:t>集群所有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的相关信息，包括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所在</a:t>
            </a:r>
            <a:r>
              <a:rPr kumimoji="1" lang="en-US" altLang="zh-CN" dirty="0" err="1"/>
              <a:t>RegionServer</a:t>
            </a:r>
            <a:r>
              <a:rPr kumimoji="1" lang="zh-CN" altLang="en-US" dirty="0"/>
              <a:t>节点，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rowkey</a:t>
            </a:r>
            <a:r>
              <a:rPr kumimoji="1" lang="zh-CN" altLang="en-US" dirty="0"/>
              <a:t>范围，以及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所在表名，列值等信息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）实现</a:t>
            </a:r>
            <a:r>
              <a:rPr kumimoji="1" lang="en-US" altLang="zh-CN" dirty="0" err="1"/>
              <a:t>Hmaster</a:t>
            </a:r>
            <a:r>
              <a:rPr kumimoji="1" lang="zh-CN" altLang="en-US" dirty="0"/>
              <a:t>节点的高可用管理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）对集群所有</a:t>
            </a:r>
            <a:r>
              <a:rPr kumimoji="1" lang="en-US" altLang="zh-CN" dirty="0" err="1"/>
              <a:t>RegionServer</a:t>
            </a:r>
            <a:r>
              <a:rPr kumimoji="1" lang="zh-CN" altLang="en-US" dirty="0"/>
              <a:t>状态监控，宕机后会通知</a:t>
            </a:r>
            <a:r>
              <a:rPr kumimoji="1" lang="en-US" altLang="zh-CN" dirty="0" err="1"/>
              <a:t>Hmaster</a:t>
            </a:r>
            <a:r>
              <a:rPr kumimoji="1" lang="zh-CN" altLang="en-US" dirty="0"/>
              <a:t>；每个</a:t>
            </a:r>
            <a:r>
              <a:rPr kumimoji="1" lang="en-US" altLang="zh-CN" dirty="0"/>
              <a:t>RS</a:t>
            </a:r>
            <a:r>
              <a:rPr kumimoji="1" lang="zh-CN" altLang="en-US" dirty="0"/>
              <a:t>启动时都会在</a:t>
            </a:r>
            <a:r>
              <a:rPr kumimoji="1" lang="en-US" altLang="zh-CN" dirty="0"/>
              <a:t>ZK</a:t>
            </a:r>
            <a:r>
              <a:rPr kumimoji="1" lang="zh-CN" altLang="en-US" dirty="0"/>
              <a:t>上注册，然后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会去监控这个</a:t>
            </a:r>
            <a:r>
              <a:rPr kumimoji="1" lang="en-US" altLang="zh-CN" dirty="0" err="1"/>
              <a:t>znode</a:t>
            </a:r>
            <a:endParaRPr kumimoji="1"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）分布式一致锁的提供，保证数据写入的事务性，表的删除，新建，更新需要维护全局锁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159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296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</a:t>
            </a:r>
            <a:r>
              <a:rPr lang="en-US" altLang="zh-CN" sz="2000" dirty="0">
                <a:latin typeface="微软雅黑" panose="020B0503020204020204" pitchFamily="34" charset="-122"/>
                <a:ea typeface="宋体" panose="02010600030101010101" pitchFamily="2" charset="-122"/>
              </a:rPr>
              <a:t>on</a:t>
            </a:r>
            <a:r>
              <a:rPr lang="zh-CN" altLang="en-US" sz="2000" dirty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系统上运行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，实现数据的批处理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的关系，类似于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 File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的关系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提供了配套的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TableInputFormat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TableOutputFormat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API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，可以方便的将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Source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Sink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应用开发人员来说，不需要关注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系统的细节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F8DCC0-C256-4D63-8AF6-BA435E8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962400"/>
            <a:ext cx="5791200" cy="26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45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747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http://www-eu.apache.org/dist/hbase/stable/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安装包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ea typeface="微软雅黑" panose="020B0503020204020204" pitchFamily="34" charset="-122"/>
              </a:rPr>
              <a:t>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解压缩，对目录进行重新命名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Standalone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、伪分布、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分布式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等模式进行部署，这里只介绍分布式的部署模式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838200" y="2895600"/>
            <a:ext cx="76962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tar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xzvf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-1.2.5-bin.tar.gz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ls hbase-1.2.5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mv hbase-1.2.5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53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/HBase/conf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HBase-env.sh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脚本文件。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JAVA_HOME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的环境变量，以便启动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838200" y="2895600"/>
            <a:ext cx="7696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export JAVA_HOME=/opt/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/java/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export HBASE_CLASSPATH=/opt/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export HBASE_MANAGES_ZK=true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9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修改当前用户目录下的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bashrc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文件，并使之生效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457200" y="2895600"/>
            <a:ext cx="8077200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"export HBASE_HOME=/opt/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"export PATH=\$HBASE_HOME/bin:\$PATH"&gt;&gt;~/.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"export CLASSPATH=\$CLASSPATH:/opt/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/lib/*"&gt;&gt;~/.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cat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739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执行如下命令，建立一些目录，包括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等目录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838200" y="2895600"/>
            <a:ext cx="76962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ls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没有该目录就创建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499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配置文件，即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hbase-site.xml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723900" y="2438400"/>
            <a:ext cx="7696200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&lt;?xml version="1.0"?&gt;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&lt;?xml-stylesheet type="text/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xsl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="configuration.xsl"?&gt;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&lt;configuration&gt;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HBase.rootdir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&lt;/name&gt;&lt;!--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用户无需手动创建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启动的时候会自动创建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--&gt;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&lt;value&gt;hdfs://hd-master:9000/hbase&lt;/value&gt;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HBase.zookeeper.property.dataDir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&lt;value&gt;/opt/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HBase.cluster.distributed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&lt;value&gt;true&lt;/value&gt;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680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配置文件，即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hbase-site.xml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723900" y="2438400"/>
            <a:ext cx="7696200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HBase.zookeeper.quorum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&lt;value&gt;hd-master,hd-slave1,hd-slave2&lt;/value&gt;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HBase.zookeeper.property.dataDir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HBase.zookeeper.property.clientPort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&lt;value&gt;12181&lt;/value&gt;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&lt;/configuration&gt;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88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在一个分布式部署模式下，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集群包含若干节点，运行主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Backup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进程、以及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进程等。</a:t>
            </a: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在这里，我们采用的如下部署规划，注意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的部署，已经在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HBase-site.xml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里面设置。</a:t>
            </a:r>
          </a:p>
          <a:p>
            <a:pPr lvl="1" indent="266700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进程，运行在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-master, hd-slave1(backup)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</a:p>
          <a:p>
            <a:pPr lvl="1" indent="266700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进程，运行在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-master, hd-slave1,hd-slave2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(2)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进程，运行在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hd-slave1,hd-slave2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545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/HBase/conf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regionservers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438400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914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/HBase/conf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backup-masters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注意，这里我们没有看到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的部署位置的配置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当我们在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节点将运行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438400"/>
            <a:ext cx="76962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65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并且测试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拷贝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。并且在三个节点上，使得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文件生效</a:t>
            </a:r>
          </a:p>
          <a:p>
            <a:pPr indent="266700"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971800"/>
            <a:ext cx="76962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hd-slave1:/opt/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hd-slave2:/opt/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hd-slave1:~/.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hd-slave2:~/.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source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root@192.168.31.131 source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547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之前，需要事先启动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首先，清空日志目录，以便启动出错时，方便查看最新出错信息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838200" y="2743200"/>
            <a:ext cx="7696200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ls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/HBase/logs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ls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ls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129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节点上启动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，并且检查相关进程是否都正常启动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三台虚拟机上运行的进程为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HQuromPeer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上有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HQuromPeer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上有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HQuromPeer</a:t>
            </a:r>
            <a:endParaRPr lang="en-US" altLang="zh-CN" sz="16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启动过程中，首先内置的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启动，接着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启动，然后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多个节点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启动，最后是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Backup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需要注意的是，各个节点还应该启动了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YARN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的进程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62000" y="4495800"/>
            <a:ext cx="76962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./bin/start-hbase.sh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39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应该看到如下进程列表，进程号有差别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62000" y="2286000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上的进程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进程号可能不同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20355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20071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HQuorumPeer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20137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上的进程</a:t>
            </a: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15930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16194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15838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HQuorumPeer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16010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上的进程</a:t>
            </a: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13901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13639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HQuorumPeer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13737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BCDCDD-E6ED-4504-928C-AE4C7A44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526794"/>
            <a:ext cx="5731426" cy="188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11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检查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hdfs://hd-master:9000/HBase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分布式文件系统目录是否存在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自动创建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Web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管理界面查看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-ls 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F7B66B-F215-4E23-9668-48F9C0123E52}"/>
              </a:ext>
            </a:extLst>
          </p:cNvPr>
          <p:cNvSpPr txBox="1"/>
          <p:nvPr/>
        </p:nvSpPr>
        <p:spPr>
          <a:xfrm>
            <a:off x="723900" y="3811369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http://192.168.31.129:16010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可以查看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的各个端口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520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432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Shell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\\start up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590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里面，进行建表，增删改查操作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\\Create a table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create 'test',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显示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list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插入数据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'row7',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'value7a'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'row7',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'value7b'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'row7',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'value7c'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'row8',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'value8b'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'row9',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'value9c'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\\cf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的名称，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等为字段名称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73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里面，进行建表，增删改查操作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扫描显示整个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的数据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scan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提取一行数据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get 'test', 'row7'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\\Disable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一个表格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disable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enable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删除表格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drop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退出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quit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536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./bin/stop-hbase.sh</a:t>
            </a: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353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168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导入必要的类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336045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package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com.pai.HBase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org.apache.hadoop.conf.Configuration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org.apache.hadoop.HBase.HBaseConfiguration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org.apache.hadoop.HBase.HColumnDescriptor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org.apache.hadoop.HBase.HTableDescriptor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org.apache.hadoop.HBase.TableName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org.apache.hadoop.HBase.client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.*;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org.apache.hadoop.HBase.util.Bytes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org.apache.log4j.PropertyConfigurator;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org.slf4j.Logger;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org.slf4j.LoggerFactory;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java.io.IOException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java.util.UUID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3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App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类，为其编写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main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Configuration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类的对象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conf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，设置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HBase.zookeeper.quorum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属性为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的内置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地址，并设置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HBase.zookeeper.property.clientPort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属性为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的内置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的端口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conf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对象，创建到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的连接。对于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客户端来讲，只需要指定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服务器在哪里，端口是什么即可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699655" y="3503944"/>
            <a:ext cx="7696200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public class App {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private static final Logger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logger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LoggerFactory.getLogger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App.class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public static void main(String[]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 throws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Configuration conf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HBaseConfiguration.create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Option 1 (recommended): Place HBase-site.xml on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src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/main/resources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// Option 2: Configure the HBase connection properties here: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- Zookeeper addresses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conf.set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HBase.zookeeper.property.clientPort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", "12181");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conf.set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HBase.zookeeper.quorum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", "192.168.31.129");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Create a connection (you can use a try with resources block)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Connection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connection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ConnectionFactory.createConnection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(conf);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9759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如下代码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创建表格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需要指定表格名称和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的名称，可以有多个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Damily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	// Creating a table with a random name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Admin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admin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connection.getAdmin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UUID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uuid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UUID.randomUUID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TableName.valueOf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uuid.toString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HColumnDescriptor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HColumnDescriptor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tableDescriptor.addFamily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logger.info("Creating table {}",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admin.createTable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093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接着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插入一行数据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，然后再利用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for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插入若干行数据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2292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Adding a row and more rows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Table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connection.getTable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logger.info("Adding a row");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Put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Put(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("0001"));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put.addColumn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("Javier"));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table.put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(put);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for (int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2;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&lt; 10;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++) {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Put p = new Put(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("000" +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p.addColumn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("Javier-" +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table.put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(p);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}</a:t>
            </a:r>
            <a:endParaRPr lang="zh-CN" altLang="zh-CN" sz="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6675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读取一行数据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，需要指定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Reading a row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logger.info("Reading a row");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Get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Get(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("0001"));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Result r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(get);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byte[] value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r.getValue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logger.info("Result: Row: {} Value: {}", r,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Bytes.toString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(value));</a:t>
            </a:r>
            <a:endParaRPr lang="zh-CN" altLang="zh-CN" sz="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78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读取所有数据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Full scan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logger.info("Full scan");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Scan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scan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Scan();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ResultScanner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scanner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table.getScanner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(scan);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for (Result res : scanner) {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logger.info("Row: {}", res);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scanner.close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();</a:t>
            </a:r>
            <a:endParaRPr lang="zh-CN" altLang="zh-CN" sz="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581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根据条件，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读取符合条件的数据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0469" y="3047137"/>
            <a:ext cx="7696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Restricted Scan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logger.info("Restricted Scan");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Scan scan2 = new Scan();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scan2.addColumn(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("name")).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setStartRow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("0003"))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.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setStopRow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("0005"));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ResultScanner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scanner2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table.getScanner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(scan2);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for (Result res2 : scanner2) {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(res2);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byte[] value2 = res2.getValue(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("Value: " +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Bytes.toString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(value2));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scanner2.close();</a:t>
            </a:r>
            <a:endParaRPr lang="zh-CN" altLang="zh-CN" sz="3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7457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关闭表格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Disable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表格和删除表格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最后关闭连接，结束程序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62000" y="2615148"/>
            <a:ext cx="76962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Close the table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table.close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Delete the table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logger.info("Disabling table {}",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admin.disableTable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logger.info("Deleting table {}",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admin.deleteTable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Close the connection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connection.close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System.exit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(0);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405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需要注意的是，为了使得程序编译通过，能够运行，需要把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安装包解压缩到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d:\hbase-1.2.5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目录下，并且把解压缩目录的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子目录下的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包加入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项目的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Build Path</a:t>
            </a: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项目上，按右键，选择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Properties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，打开对话框，选择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 Build Path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，显示如下对话框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DB3049-2B4D-4A6E-B782-6EAFDE7B95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2600" y="3352800"/>
            <a:ext cx="5302885" cy="335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95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d:\hadoop-2.7.3\share\hadoop\common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hadoop-common-2.7.3.jar</a:t>
            </a: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以及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d:\hadoop-2.7.3\share\hadoop\common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hadoop-hdfs-2.7.3.jar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还有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d:\hbase-1.2.5\lib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目录下的所有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包，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Add External Jars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按钮，加入项目的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Build Path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DB3049-2B4D-4A6E-B782-6EAFDE7B95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81200" y="3810000"/>
            <a:ext cx="5150485" cy="29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618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为了运行或者调试上述代码，记得启动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当然首先需要启动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YARN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537634"/>
            <a:ext cx="7696200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./bin/start-hbase.sh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4466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关闭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用如下命令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438400"/>
            <a:ext cx="76962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./bin/stop-hbase.sh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./stop-dfs.sh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059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469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端口被占用问题解决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2181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被占用，于是我们改了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/HBase/conf/HBase-site.xml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里面的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HBase.zookeeper.property.clientPort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12181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，从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复制配置文件到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两个节点，然后再启动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438400"/>
            <a:ext cx="7696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hbase.zookeeper.property.clientPort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&lt;value&gt;12181&lt;/value&gt;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&lt;/property&gt;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CC81AC-13A0-448A-972D-0E81F6589BA4}"/>
              </a:ext>
            </a:extLst>
          </p:cNvPr>
          <p:cNvSpPr txBox="1"/>
          <p:nvPr/>
        </p:nvSpPr>
        <p:spPr>
          <a:xfrm>
            <a:off x="762000" y="4953000"/>
            <a:ext cx="76962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/conf/hbase-site.xml hd-slave1:/opt/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/conf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scp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/conf/hbase-site.xml hd-slave2:/opt/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165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提示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QuorumCnxManager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: Cannot open channel to 2 at election address hd-slave2/192.168.31.131:3888”</a:t>
            </a: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上运行如下命令，同步三个节点的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hosts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文件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，从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复制配置文件到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两个节点，然后再启动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895600"/>
            <a:ext cx="76962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/hosts root@192.168.31.130:/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/hosts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/hosts root@192.168.31.131:/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/hosts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5891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提示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zookeeper.MetaTableLocator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: Failed verification of 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HBase:meta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解决办法如下，启动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之前执行如下命令，重建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/HBase/zookeeper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目录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，从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复制配置文件到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两个节点，然后再启动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3733800"/>
            <a:ext cx="76962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mkdir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/zookeeper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191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提示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util.FSUtils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: Waiting for 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dfs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 to exit safe mode...”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解决办法如下，启动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之前执行如下命令，强制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NameNode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退出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SafeMode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模式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895600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dfsadmin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-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safemode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leave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5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8320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调研报告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600" dirty="0">
                <a:latin typeface="微软雅黑" panose="020B0503020204020204" pitchFamily="34" charset="-122"/>
                <a:ea typeface="宋体" panose="02010600030101010101" pitchFamily="2" charset="-122"/>
              </a:rPr>
              <a:t>HBase Secondary Index Support?</a:t>
            </a:r>
            <a:endParaRPr lang="en-US" altLang="zh-CN" sz="14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0DA580-8127-4849-AAAF-4B10ACC38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95600"/>
            <a:ext cx="7391400" cy="272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432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332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3190</TotalTime>
  <Words>3711</Words>
  <Application>Microsoft Office PowerPoint</Application>
  <PresentationFormat>全屏显示(4:3)</PresentationFormat>
  <Paragraphs>606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9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Georgia</vt:lpstr>
      <vt:lpstr>Maiandra GD</vt:lpstr>
      <vt:lpstr>Times New Roman</vt:lpstr>
      <vt:lpstr>Wingdings 2</vt:lpstr>
      <vt:lpstr>Wingdings 3</vt:lpstr>
      <vt:lpstr>Dragon</vt:lpstr>
      <vt:lpstr>Hadoop与Spark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</vt:lpstr>
      <vt:lpstr>pause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809</cp:revision>
  <dcterms:created xsi:type="dcterms:W3CDTF">2006-08-16T00:00:00Z</dcterms:created>
  <dcterms:modified xsi:type="dcterms:W3CDTF">2023-04-24T06:49:17Z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