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610" r:id="rId2"/>
    <p:sldId id="699" r:id="rId3"/>
    <p:sldId id="285" r:id="rId4"/>
    <p:sldId id="700" r:id="rId5"/>
    <p:sldId id="722" r:id="rId6"/>
    <p:sldId id="724" r:id="rId7"/>
    <p:sldId id="725" r:id="rId8"/>
    <p:sldId id="726" r:id="rId9"/>
    <p:sldId id="727" r:id="rId10"/>
    <p:sldId id="728" r:id="rId11"/>
    <p:sldId id="729" r:id="rId12"/>
    <p:sldId id="730" r:id="rId13"/>
    <p:sldId id="731" r:id="rId14"/>
    <p:sldId id="732" r:id="rId15"/>
    <p:sldId id="701" r:id="rId16"/>
    <p:sldId id="702" r:id="rId17"/>
    <p:sldId id="703" r:id="rId18"/>
    <p:sldId id="704" r:id="rId19"/>
    <p:sldId id="705" r:id="rId20"/>
    <p:sldId id="706" r:id="rId21"/>
    <p:sldId id="707" r:id="rId22"/>
    <p:sldId id="733" r:id="rId23"/>
    <p:sldId id="734" r:id="rId24"/>
    <p:sldId id="708" r:id="rId25"/>
    <p:sldId id="709" r:id="rId26"/>
    <p:sldId id="719" r:id="rId27"/>
    <p:sldId id="720" r:id="rId28"/>
    <p:sldId id="721" r:id="rId29"/>
    <p:sldId id="718" r:id="rId30"/>
    <p:sldId id="711" r:id="rId31"/>
    <p:sldId id="712" r:id="rId32"/>
    <p:sldId id="713" r:id="rId33"/>
    <p:sldId id="710" r:id="rId34"/>
    <p:sldId id="714" r:id="rId35"/>
    <p:sldId id="715" r:id="rId36"/>
    <p:sldId id="716" r:id="rId37"/>
    <p:sldId id="717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699"/>
            <p14:sldId id="285"/>
            <p14:sldId id="700"/>
            <p14:sldId id="722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01"/>
            <p14:sldId id="702"/>
            <p14:sldId id="703"/>
            <p14:sldId id="704"/>
            <p14:sldId id="705"/>
            <p14:sldId id="706"/>
            <p14:sldId id="707"/>
            <p14:sldId id="733"/>
            <p14:sldId id="734"/>
            <p14:sldId id="708"/>
            <p14:sldId id="709"/>
            <p14:sldId id="719"/>
            <p14:sldId id="720"/>
            <p14:sldId id="721"/>
            <p14:sldId id="718"/>
            <p14:sldId id="711"/>
            <p14:sldId id="712"/>
            <p14:sldId id="713"/>
            <p14:sldId id="710"/>
            <p14:sldId id="714"/>
            <p14:sldId id="715"/>
            <p14:sldId id="716"/>
            <p14:sldId id="7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 varScale="1">
        <p:scale>
          <a:sx n="76" d="100"/>
          <a:sy n="76" d="100"/>
        </p:scale>
        <p:origin x="1794" y="41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44750696/article/details/123759164" TargetMode="External"/><Relationship Id="rId2" Type="http://schemas.openxmlformats.org/officeDocument/2006/relationships/hyperlink" Target="https://blog.51cto.com/u_15724848/576692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0A2E75-B35B-4060-94AD-2DA746D4C1CC}"/>
              </a:ext>
            </a:extLst>
          </p:cNvPr>
          <p:cNvSpPr/>
          <p:nvPr/>
        </p:nvSpPr>
        <p:spPr>
          <a:xfrm>
            <a:off x="609600" y="48768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https://blog.51cto.com/u_15724848/5766927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https://blog.csdn.net/qq_44750696/article/details/123759164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60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是什么？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是一个开放源码的、​分布式​​​的应用程序​​​协调服务，它是​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Google​​​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Chubby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一个​开源​​的实现，是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的重要组件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它一个为分布式应用提供一致性服务的软件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作为开源的分布式协调框架，将那些复杂且容易出错的分布式一致性服务封装起来，构成一个高效可靠的原语集，并以一系列简单易用的接口提供给用户使用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784D27A-6C53-401A-AB60-BDF0927D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4976812"/>
            <a:ext cx="6391275" cy="17811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FAF8440-2B76-455A-B2FF-D896C889077C}"/>
              </a:ext>
            </a:extLst>
          </p:cNvPr>
          <p:cNvSpPr/>
          <p:nvPr/>
        </p:nvSpPr>
        <p:spPr>
          <a:xfrm>
            <a:off x="1219200" y="4378880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rebuchet MS" panose="020B0603020202020204" pitchFamily="34" charset="0"/>
              </a:rPr>
              <a:t>A Distributed Coordination Service for Distributed Applications</a:t>
            </a:r>
            <a:endParaRPr lang="en-US" altLang="zh-CN" b="1" i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能干什么？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下的一个子项目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它是一个针对大型分布式系统的可靠协调系统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提供的功能包括：配置维护、名字服务、分布式同步服务、组服务等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分布式应用程序可以基于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实现诸如数据发布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订阅、负载均衡、命名服务、集群管理、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选举、分布式锁、分布式队列等功能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</a:p>
          <a:p>
            <a:pPr lvl="1" algn="just">
              <a:spcBef>
                <a:spcPts val="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784D27A-6C53-401A-AB60-BDF0927D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4802187"/>
            <a:ext cx="639127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9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6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之所以能够提供上述一套分布式数据一致性解决方案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核心在于其设计精妙的数据结构、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watcher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机制、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Zab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一致性协议等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7993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ZK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在内存中维护了一个类似文件系统的树状数据结构实现命名空间，树中的节点称为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都对应一个唯一的路径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的数据操作具有原子性，读操作将获取与节点相关的所有数据，写操作也将替换掉节点的所有数据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可存储的最大数据量是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1MB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，但实际上我们在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的数据量应该尽可能小，因为数据过大会导致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的性能明显下降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pic1.zhimg.com/v2-61accfbc6a0228693993e48273d8fcac_r.jpg">
            <a:extLst>
              <a:ext uri="{FF2B5EF4-FFF2-40B4-BE49-F238E27FC236}">
                <a16:creationId xmlns:a16="http://schemas.microsoft.com/office/drawing/2014/main" id="{02D15271-2C51-4000-A53C-D169851D3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343400"/>
            <a:ext cx="5267325" cy="231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65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具有四个属性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acl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children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data: znode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相关的业务数据均存储在这里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children: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存储当前节点的子节点引用信息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节点的状态信息，比如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事务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、版本号、时间戳等，其中事务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的数据一直性、选主相关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acl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记录客户端对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节点的访问权限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pic1.zhimg.com/v2-61accfbc6a0228693993e48273d8fcac_r.jpg">
            <a:extLst>
              <a:ext uri="{FF2B5EF4-FFF2-40B4-BE49-F238E27FC236}">
                <a16:creationId xmlns:a16="http://schemas.microsoft.com/office/drawing/2014/main" id="{02D15271-2C51-4000-A53C-D169851D3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343400"/>
            <a:ext cx="5267325" cy="231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03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具有四个属性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acl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children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data: znode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相关的业务数据均存储在这里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children: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存储当前节点的子节点引用信息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节点的状态信息，比如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事务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、版本号、时间戳等，其中事务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的数据一直性、选主相关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acl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记录客户端对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节点的访问权限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pic1.zhimg.com/v2-61accfbc6a0228693993e48273d8fcac_r.jpg">
            <a:extLst>
              <a:ext uri="{FF2B5EF4-FFF2-40B4-BE49-F238E27FC236}">
                <a16:creationId xmlns:a16="http://schemas.microsoft.com/office/drawing/2014/main" id="{02D15271-2C51-4000-A53C-D169851D3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343400"/>
            <a:ext cx="5267325" cy="231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60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事物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节点生成。当有新写入事件时，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节点生成新的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，并随提案一起广播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epoch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：任期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纪元，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的高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位，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ZAB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协议通过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epoch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编号来区分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周期变化，每次一个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被选出来，它都会有一个新的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epoch=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（原来的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epoch+1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），标识当前属于那个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 统治时期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事务计数器：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位，每次数据变更，计数器都会加一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是递增的，所以谁的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越大，就表示谁的数据是最新的。每个节点都保存了当前最近一次事务的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的数据一致性以及选主都有着重要意义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 descr="https://pic1.zhimg.com/v2-3237122db7dd9469d122cbfa7d7cb37c_r.jpg">
            <a:extLst>
              <a:ext uri="{FF2B5EF4-FFF2-40B4-BE49-F238E27FC236}">
                <a16:creationId xmlns:a16="http://schemas.microsoft.com/office/drawing/2014/main" id="{CACDE885-9C91-4B49-AA9F-F5515DC0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008154"/>
            <a:ext cx="4572000" cy="108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04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znode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节点根据生命周期的不同可以将划分为持久节点和临时节点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持久节点的存活时间不依赖于客户端会话，只有客户端在显式执行删除节点操作时，节点才消失；临时节点的存活时间依赖于客户端会话，当会话结束，临时节点将会被自动删除（当然也可以手动删除临时节点）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命令还有一个可选参数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-s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用于指定创建的节点是否具有顺序特性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创建顺序节点时，</a:t>
            </a:r>
            <a:r>
              <a:rPr lang="en-US" altLang="zh-CN" sz="2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zk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会在路径后面自动追加一个递增的序列号 ，这个序列号可以保证在同一个父节点下是唯一的，利用该特性我们可以实现分布式锁等功能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504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82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b="1" dirty="0"/>
              <a:t>Watcher</a:t>
            </a:r>
            <a:r>
              <a:rPr lang="zh-CN" altLang="en-US" b="1" dirty="0"/>
              <a:t>监听机制</a:t>
            </a:r>
          </a:p>
          <a:p>
            <a:pPr lvl="1" algn="just"/>
            <a:r>
              <a:rPr lang="en-US" altLang="zh-CN" sz="2800" dirty="0"/>
              <a:t>Watcher</a:t>
            </a:r>
            <a:r>
              <a:rPr lang="zh-CN" altLang="en-US" sz="2800" dirty="0"/>
              <a:t>监听机制是</a:t>
            </a:r>
            <a:r>
              <a:rPr lang="en-US" altLang="zh-CN" sz="2800" dirty="0"/>
              <a:t>ZK</a:t>
            </a:r>
            <a:r>
              <a:rPr lang="zh-CN" altLang="en-US" sz="2800" dirty="0"/>
              <a:t>非常重要的一个特性。</a:t>
            </a:r>
            <a:r>
              <a:rPr lang="en-US" altLang="zh-CN" sz="2800" dirty="0"/>
              <a:t>ZK</a:t>
            </a:r>
            <a:r>
              <a:rPr lang="zh-CN" altLang="en-US" sz="2800" dirty="0"/>
              <a:t>允许</a:t>
            </a:r>
            <a:r>
              <a:rPr lang="en-US" altLang="zh-CN" sz="2800" dirty="0"/>
              <a:t>Client</a:t>
            </a:r>
            <a:r>
              <a:rPr lang="zh-CN" altLang="en-US" sz="2800" dirty="0"/>
              <a:t>端在指定节点上注册</a:t>
            </a:r>
            <a:r>
              <a:rPr lang="en-US" altLang="zh-CN" sz="2800" dirty="0"/>
              <a:t>Watcher</a:t>
            </a:r>
            <a:r>
              <a:rPr lang="zh-CN" altLang="en-US" sz="2800" dirty="0"/>
              <a:t>，监听节点数据变更、节点删除、子节点状态变更等事件</a:t>
            </a:r>
            <a:endParaRPr lang="en-US" altLang="zh-CN" sz="2800" dirty="0"/>
          </a:p>
          <a:p>
            <a:pPr lvl="1" algn="just"/>
            <a:r>
              <a:rPr lang="zh-CN" altLang="en-US" sz="2800" dirty="0"/>
              <a:t>当特定事件发生时，</a:t>
            </a:r>
            <a:r>
              <a:rPr lang="en-US" altLang="zh-CN" sz="2800" dirty="0"/>
              <a:t>ZK</a:t>
            </a:r>
            <a:r>
              <a:rPr lang="zh-CN" altLang="en-US" sz="2800" dirty="0"/>
              <a:t>服务端会异步通知注册了相应</a:t>
            </a:r>
            <a:r>
              <a:rPr lang="en-US" altLang="zh-CN" sz="2800" dirty="0"/>
              <a:t>Watcher</a:t>
            </a:r>
            <a:r>
              <a:rPr lang="zh-CN" altLang="en-US" sz="2800" dirty="0"/>
              <a:t>的客户端，通过该机制，我们可以利用</a:t>
            </a:r>
            <a:r>
              <a:rPr lang="en-US" altLang="zh-CN" sz="2800" dirty="0"/>
              <a:t>ZK</a:t>
            </a:r>
            <a:r>
              <a:rPr lang="zh-CN" altLang="en-US" sz="2800" dirty="0"/>
              <a:t>实现数据的发布和订阅功能</a:t>
            </a:r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2206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r>
              <a:rPr lang="en-US" altLang="zh-CN" b="1" dirty="0"/>
              <a:t>Watcher</a:t>
            </a:r>
            <a:r>
              <a:rPr lang="zh-CN" altLang="en-US" b="1" dirty="0"/>
              <a:t>监听机制</a:t>
            </a:r>
          </a:p>
          <a:p>
            <a:pPr lvl="1" algn="just"/>
            <a:r>
              <a:rPr lang="en-US" altLang="zh-CN" sz="2200" dirty="0"/>
              <a:t>Watcher</a:t>
            </a:r>
            <a:r>
              <a:rPr lang="zh-CN" altLang="en-US" sz="2200" dirty="0"/>
              <a:t>监听机制由三部分协作完成：</a:t>
            </a:r>
            <a:r>
              <a:rPr lang="en-US" altLang="zh-CN" sz="2200" dirty="0"/>
              <a:t>ZK</a:t>
            </a:r>
            <a:r>
              <a:rPr lang="zh-CN" altLang="en-US" sz="2200" dirty="0"/>
              <a:t>服务端、</a:t>
            </a:r>
            <a:r>
              <a:rPr lang="en-US" altLang="zh-CN" sz="2200" dirty="0"/>
              <a:t>ZK</a:t>
            </a:r>
            <a:r>
              <a:rPr lang="zh-CN" altLang="en-US" sz="2200" dirty="0"/>
              <a:t>客户端、客户端的</a:t>
            </a:r>
            <a:r>
              <a:rPr lang="en-US" altLang="zh-CN" sz="2200" dirty="0"/>
              <a:t>Watch Manager</a:t>
            </a:r>
            <a:r>
              <a:rPr lang="zh-CN" altLang="en-US" sz="2200" dirty="0"/>
              <a:t>对象</a:t>
            </a:r>
            <a:endParaRPr lang="en-US" altLang="zh-CN" sz="2200" dirty="0"/>
          </a:p>
          <a:p>
            <a:pPr lvl="1" algn="just"/>
            <a:r>
              <a:rPr lang="zh-CN" altLang="en-US" sz="2200" dirty="0"/>
              <a:t>工作时，客户端首先将</a:t>
            </a:r>
            <a:r>
              <a:rPr lang="en-US" altLang="zh-CN" sz="2200" dirty="0"/>
              <a:t>Watcher </a:t>
            </a:r>
            <a:r>
              <a:rPr lang="zh-CN" altLang="en-US" sz="2200" dirty="0"/>
              <a:t>注册到服务端，同时将</a:t>
            </a:r>
            <a:r>
              <a:rPr lang="en-US" altLang="zh-CN" sz="2200" dirty="0"/>
              <a:t>Watcher</a:t>
            </a:r>
            <a:r>
              <a:rPr lang="zh-CN" altLang="en-US" sz="2200" dirty="0"/>
              <a:t>对象保存到客户端的</a:t>
            </a:r>
            <a:r>
              <a:rPr lang="en-US" altLang="zh-CN" sz="2200" dirty="0"/>
              <a:t>Watch</a:t>
            </a:r>
            <a:r>
              <a:rPr lang="zh-CN" altLang="en-US" sz="2200" dirty="0"/>
              <a:t>管理器中</a:t>
            </a:r>
            <a:endParaRPr lang="en-US" altLang="zh-CN" sz="2200" dirty="0"/>
          </a:p>
          <a:p>
            <a:pPr lvl="1" algn="just"/>
            <a:r>
              <a:rPr lang="zh-CN" altLang="en-US" sz="2200" dirty="0"/>
              <a:t>当</a:t>
            </a:r>
            <a:r>
              <a:rPr lang="en-US" altLang="zh-CN" sz="2200" dirty="0"/>
              <a:t>ZK</a:t>
            </a:r>
            <a:r>
              <a:rPr lang="zh-CN" altLang="en-US" sz="2200" dirty="0"/>
              <a:t>服务端监听的数据状态发生变化时，服务端会主动通知客户端，接着客户端的</a:t>
            </a:r>
            <a:r>
              <a:rPr lang="en-US" altLang="zh-CN" sz="2200" dirty="0"/>
              <a:t>Watch</a:t>
            </a:r>
            <a:r>
              <a:rPr lang="zh-CN" altLang="en-US" sz="2200" dirty="0"/>
              <a:t>管理器会触发相关</a:t>
            </a:r>
            <a:r>
              <a:rPr lang="en-US" altLang="zh-CN" sz="2200" dirty="0"/>
              <a:t>Watcher</a:t>
            </a:r>
            <a:r>
              <a:rPr lang="zh-CN" altLang="en-US" sz="2200" dirty="0"/>
              <a:t>来回调相应处理逻辑，从而完成整体的数据发布</a:t>
            </a:r>
            <a:r>
              <a:rPr lang="en-US" altLang="zh-CN" sz="2200" dirty="0"/>
              <a:t>/</a:t>
            </a:r>
            <a:r>
              <a:rPr lang="zh-CN" altLang="en-US" sz="2200" dirty="0"/>
              <a:t>订阅流程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 descr="https://pic3.zhimg.com/v2-85c6f70e24404856f3c03465c5a12d86_r.jpg">
            <a:extLst>
              <a:ext uri="{FF2B5EF4-FFF2-40B4-BE49-F238E27FC236}">
                <a16:creationId xmlns:a16="http://schemas.microsoft.com/office/drawing/2014/main" id="{21BB9710-40DE-4DE1-9050-B0A2B8E50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609732"/>
            <a:ext cx="4876800" cy="223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271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522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架构：</a:t>
            </a:r>
            <a:r>
              <a:rPr lang="zh-CN" altLang="en-US" sz="2400" dirty="0"/>
              <a:t>为了确保服务的高可用性，</a:t>
            </a:r>
            <a:r>
              <a:rPr lang="en-US" altLang="zh-CN" sz="2400" dirty="0"/>
              <a:t>ZK</a:t>
            </a:r>
            <a:r>
              <a:rPr lang="zh-CN" altLang="en-US" sz="2400" dirty="0"/>
              <a:t>采用集群化部署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分为服务器端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(Server)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和客户端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(Client)</a:t>
            </a:r>
          </a:p>
          <a:p>
            <a:pPr lvl="1" algn="just"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客户端可以连接到整个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服务的任意服务器上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除外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启动时，将从实例中选举一个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负责处理数据更新等操作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08C3E7-FFA2-4B91-80D2-3F70061E0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4366219"/>
            <a:ext cx="6781800" cy="20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21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中的四种角色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：领导者，</a:t>
            </a:r>
            <a:r>
              <a:rPr lang="zh-CN" altLang="en-US" dirty="0"/>
              <a:t>一个 </a:t>
            </a:r>
            <a:r>
              <a:rPr lang="en-US" altLang="zh-CN" dirty="0"/>
              <a:t>ZK </a:t>
            </a:r>
            <a:r>
              <a:rPr lang="zh-CN" altLang="en-US" dirty="0"/>
              <a:t>集群同一时间只会有一个实际工作的 </a:t>
            </a:r>
            <a:r>
              <a:rPr lang="en-US" altLang="zh-CN" dirty="0"/>
              <a:t>Leader</a:t>
            </a:r>
            <a:r>
              <a:rPr lang="zh-CN" altLang="en-US" dirty="0"/>
              <a:t>；所有的写操作必须要通过 </a:t>
            </a:r>
            <a:r>
              <a:rPr lang="en-US" altLang="zh-CN" dirty="0"/>
              <a:t>Leader </a:t>
            </a:r>
            <a:r>
              <a:rPr lang="zh-CN" altLang="en-US" dirty="0"/>
              <a:t>完成再由 </a:t>
            </a:r>
            <a:r>
              <a:rPr lang="en-US" altLang="zh-CN" dirty="0"/>
              <a:t>Leader </a:t>
            </a:r>
            <a:r>
              <a:rPr lang="zh-CN" altLang="en-US" dirty="0"/>
              <a:t>将写操作广播给其它服务器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Follower(Learner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的子类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：跟随者，</a:t>
            </a:r>
            <a:r>
              <a:rPr lang="zh-CN" altLang="en-US" dirty="0"/>
              <a:t>一个 </a:t>
            </a:r>
            <a:r>
              <a:rPr lang="en-US" altLang="zh-CN" dirty="0"/>
              <a:t>ZK </a:t>
            </a:r>
            <a:r>
              <a:rPr lang="zh-CN" altLang="en-US" dirty="0"/>
              <a:t>集群可同时存在多个 </a:t>
            </a:r>
            <a:r>
              <a:rPr lang="en-US" altLang="zh-CN" dirty="0"/>
              <a:t>Follower</a:t>
            </a:r>
            <a:r>
              <a:rPr lang="zh-CN" altLang="en-US" dirty="0"/>
              <a:t>；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可以接收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请求，</a:t>
            </a:r>
            <a:r>
              <a:rPr lang="zh-CN" altLang="en-US" dirty="0"/>
              <a:t>直接处理并返回客户端的读请求，同时会将写请求转发给 </a:t>
            </a:r>
            <a:r>
              <a:rPr lang="en-US" altLang="zh-CN" dirty="0"/>
              <a:t>Leader </a:t>
            </a:r>
            <a:r>
              <a:rPr lang="zh-CN" altLang="en-US" dirty="0"/>
              <a:t>处理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en-US" dirty="0"/>
              <a:t>参与事务请求</a:t>
            </a:r>
            <a:r>
              <a:rPr lang="en-US" altLang="zh-CN" dirty="0"/>
              <a:t>Proposal</a:t>
            </a:r>
            <a:r>
              <a:rPr lang="zh-CN" altLang="en-US" dirty="0"/>
              <a:t>的投票及</a:t>
            </a:r>
            <a:r>
              <a:rPr lang="en-US" altLang="zh-CN" dirty="0"/>
              <a:t>Leader</a:t>
            </a:r>
            <a:r>
              <a:rPr lang="zh-CN" altLang="en-US" dirty="0"/>
              <a:t>选举投票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：观察者，</a:t>
            </a:r>
            <a:r>
              <a:rPr lang="en-US" altLang="zh-CN" dirty="0"/>
              <a:t> Observer</a:t>
            </a:r>
            <a:r>
              <a:rPr lang="zh-CN" altLang="en-US" dirty="0"/>
              <a:t>是</a:t>
            </a:r>
            <a:r>
              <a:rPr lang="en-US" altLang="zh-CN" dirty="0"/>
              <a:t>3.3.0 </a:t>
            </a:r>
            <a:r>
              <a:rPr lang="zh-CN" altLang="en-US" dirty="0"/>
              <a:t>版本开始引入的一个服务器角色，一个 </a:t>
            </a:r>
            <a:r>
              <a:rPr lang="en-US" altLang="zh-CN" dirty="0"/>
              <a:t>ZK </a:t>
            </a:r>
            <a:r>
              <a:rPr lang="zh-CN" altLang="en-US" dirty="0"/>
              <a:t>集群可同时存在多个 </a:t>
            </a:r>
            <a:r>
              <a:rPr lang="en-US" altLang="zh-CN" dirty="0"/>
              <a:t>Observer</a:t>
            </a:r>
            <a:r>
              <a:rPr lang="zh-CN" altLang="en-US" dirty="0"/>
              <a:t>；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可以接收客户端连接，将写请求转发给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节点，但是不参与投票过程，只是同步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状态，因为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增多会导致投票阶段延迟增大，影响性能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的目的是为了扩展系统，提高读取数据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Learner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：学习者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065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453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的选举：准备知识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数目一般为奇数？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我们知道在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选举算法采用了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Quorum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算法；该算法的核心思想是当多数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写成功，则任务数据写成功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假设有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，则最多允许一个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挂掉；如果有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，则同样最多允许一个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挂掉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既然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个或者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，同样最多允许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挂掉，那么它们的可靠性是一样的，所以选择奇数个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 Server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即可，这里选择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endParaRPr lang="zh-CN" altLang="en-US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3106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的选举：准备知识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Quorum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在分布式系统中，冗余数据是保证可靠性的手段，因此冗余数据的一致性维护就非常重要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一般而言，一个写操作必须要对所有的冗余数据都更新完成了，才能称为成功结束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比如一份数据在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台设备上有冗余，因为不知道读数据会落在哪一台设备上，那么一次写操作，必须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台设备都更新完成，写操作才能返回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对于写操作比较频繁的系统，这个操作的瓶颈非常大；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Quorum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算法可以让写操作只要写完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台就返回；剩下的由系统内部缓慢同步完成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而读操作，则需要也至少读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台，才能保证至少可以读到一个最新的数据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611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的选举：准备知识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节点的一些状态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LOOKING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：寻找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状态；当服务器处于该状态时，它会认为当前集群中没有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，因此需要进入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选举状态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：说明此节点已经是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节点，处于领导者地位的状态，就是一般集群中的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中，只有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才有写权限，其他节点（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）是没有写权限的，可以读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：跟随者状态，表示当前集群中的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已经选举出来了，本台服务器处于跟随状态；同步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状态，参与投票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OBSERVING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OBSERVING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差不多，同步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状态，不参与投票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640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791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一致性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ZK</a:t>
            </a:r>
            <a:r>
              <a:rPr lang="zh-CN" altLang="en-US" dirty="0"/>
              <a:t>集群是一主多从的结构，所有的所有的写操作必须要通过 </a:t>
            </a:r>
            <a:r>
              <a:rPr lang="en-US" altLang="zh-CN" dirty="0"/>
              <a:t>Leader </a:t>
            </a:r>
            <a:r>
              <a:rPr lang="zh-CN" altLang="en-US" dirty="0"/>
              <a:t>完成，</a:t>
            </a:r>
            <a:r>
              <a:rPr lang="en-US" altLang="zh-CN" dirty="0"/>
              <a:t>Follower </a:t>
            </a:r>
            <a:r>
              <a:rPr lang="zh-CN" altLang="en-US" dirty="0"/>
              <a:t>可直接处理并返回客户端的读请求</a:t>
            </a:r>
            <a:endParaRPr lang="en-US" altLang="zh-CN" dirty="0"/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dirty="0"/>
              <a:t>那么如何保证从</a:t>
            </a:r>
            <a:r>
              <a:rPr lang="en-US" altLang="zh-CN" dirty="0"/>
              <a:t>Follower</a:t>
            </a:r>
            <a:r>
              <a:rPr lang="zh-CN" altLang="en-US" dirty="0"/>
              <a:t>服务器读取的数据与</a:t>
            </a:r>
            <a:r>
              <a:rPr lang="en-US" altLang="zh-CN" dirty="0"/>
              <a:t>Leader</a:t>
            </a:r>
            <a:r>
              <a:rPr lang="zh-CN" altLang="en-US" dirty="0"/>
              <a:t>写入的数据的一致性呢？</a:t>
            </a:r>
            <a:endParaRPr lang="en-US" altLang="zh-CN" dirty="0"/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Leader </a:t>
            </a:r>
            <a:r>
              <a:rPr lang="zh-CN" altLang="en-US" dirty="0"/>
              <a:t>是怎么选出来的？</a:t>
            </a:r>
            <a:endParaRPr lang="en-US" altLang="zh-CN" dirty="0"/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Leader</a:t>
            </a:r>
            <a:r>
              <a:rPr lang="zh-CN" altLang="en-US" dirty="0"/>
              <a:t>万一由于某些原因崩溃了，如何选出新的</a:t>
            </a:r>
            <a:r>
              <a:rPr lang="en-US" altLang="zh-CN" dirty="0"/>
              <a:t>Leader</a:t>
            </a:r>
            <a:r>
              <a:rPr lang="zh-CN" altLang="en-US" dirty="0"/>
              <a:t>，如何保证数据恢复？</a:t>
            </a:r>
            <a:endParaRPr lang="en-US" altLang="zh-CN" dirty="0"/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ZK</a:t>
            </a:r>
            <a:r>
              <a:rPr lang="zh-CN" altLang="en-US" dirty="0"/>
              <a:t>专门设计了</a:t>
            </a:r>
            <a:r>
              <a:rPr lang="en-US" altLang="zh-CN" dirty="0"/>
              <a:t>ZAB</a:t>
            </a:r>
            <a:r>
              <a:rPr lang="zh-CN" altLang="en-US" dirty="0"/>
              <a:t>协议</a:t>
            </a:r>
            <a:r>
              <a:rPr lang="en-US" altLang="zh-CN" dirty="0"/>
              <a:t>(Zookeeper Atomic Broadcast)</a:t>
            </a:r>
            <a:r>
              <a:rPr lang="zh-CN" altLang="en-US" dirty="0"/>
              <a:t>来保证主从节点数据的一致性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0989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326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的选举过程：准备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都有一个唯一标识自己的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；选举过程中每个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都有一票（挂掉的除外）；在这里，从左到右分别将五台服务器的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赋值为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38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的选举过程：准备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类似于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RDBMS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中的事务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，用于标识一次更新操作的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Proposal 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；每次请求对应一个唯一的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zxid,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 a &lt; zxid b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，则可以保证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一定发生在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为了保证数据的有序性，给每个写操作的数据，编写一个全局唯一的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先生成的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较小，后生成的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大，后存储的数据的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一定大于先存储的数据的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26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的选举过程：准备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选举分为两种情况：初始化的时候（还没有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）；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服务器挂掉的时候（重新选举新的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71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的选举过程：选举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原则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集群中只有超过半数以上的服务器启动，此集群才能正常工作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）集群正常工作之前，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小的服务器会给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大的服务器投票，投票一直持续到集群开始正常工作，即选出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）选出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以后，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之前的服务器节点状态要由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looking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，转为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following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之后的节点、新加入节点变成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following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76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602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的选举过程：初始化的情况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）首先第一台服务器启动，投自己一票，然后发投票信息，由于其它机器还没有启动所以它收不到反馈信息，服务器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的状态一直属于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Looking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启动，发现当前没有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，投票给自己，同时与之前启动的服务器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交换结果，由于服务器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的编号大所以服务器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胜出，但此时投票数没有大于半数，所以两个服务器的状态依然是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LOOKING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39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的选举过程：初始化的情况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启动，发现没有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，给自己投票，同时与之前启动的服务器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交换信息，由于服务器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的编号最大所以服务器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胜出，此时投票数正好大于半数，所以服务器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成为领导者，服务器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成为小弟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启动，给自己投票，同时与之前启动的服务器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交换信息，尽管服务器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的编号大，但之前服务器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已经胜出，所以服务器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只能成为小弟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93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的选举过程：初始化的情况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逻辑相同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92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272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的选举过程：从新选举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当选了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，它突然宕机了，那么就需要重新选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宕机之后，剩下的机器会自动进入选举状态，重新选举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）选举的依据是：优先考虑数据的的版本号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，再考虑服务器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越大，代表该服务器的数据越新，越全）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94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的选举过程：从新选举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）由于是运行期间，因此每个服务器上的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可能不同我们假设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Sever5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）在第一轮投票中，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Sever4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都会投给自己，即分别产生投票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(1,123)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(2,122)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(4,143)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(5,120)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184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的选举过程：从新选举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）然后各自将这个投票发给集群中所有机器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）对于投票的处理，在这个情境下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ZXID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143,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是最大的，显然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会成为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，其他服务器成为跟随者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Zookeeper Misc.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723BE-8432-40BD-9F8D-13638D3F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601528"/>
            <a:ext cx="5410200" cy="2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18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7498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3407</TotalTime>
  <Words>2538</Words>
  <Application>Microsoft Office PowerPoint</Application>
  <PresentationFormat>全屏显示(4:3)</PresentationFormat>
  <Paragraphs>155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Trebuchet MS</vt:lpstr>
      <vt:lpstr>Wingdings 2</vt:lpstr>
      <vt:lpstr>Wingdings 3</vt:lpstr>
      <vt:lpstr>Dragon</vt:lpstr>
      <vt:lpstr>Hadoop与Spark</vt:lpstr>
      <vt:lpstr>pause</vt:lpstr>
      <vt:lpstr>Zookeeper Misc.</vt:lpstr>
      <vt:lpstr>Zookeeper Misc.</vt:lpstr>
      <vt:lpstr>pause</vt:lpstr>
      <vt:lpstr>Zookeeper Misc.</vt:lpstr>
      <vt:lpstr>Zookeeper Misc.</vt:lpstr>
      <vt:lpstr>Zookeeper Misc.</vt:lpstr>
      <vt:lpstr>Zookeeper Misc.</vt:lpstr>
      <vt:lpstr>Zookeeper Misc.</vt:lpstr>
      <vt:lpstr>Zookeeper Misc.</vt:lpstr>
      <vt:lpstr>pause</vt:lpstr>
      <vt:lpstr>Zookeeper Misc.</vt:lpstr>
      <vt:lpstr>Zookeeper Misc.</vt:lpstr>
      <vt:lpstr>pause</vt:lpstr>
      <vt:lpstr>Zookeeper Misc.</vt:lpstr>
      <vt:lpstr>Zookeeper Misc.</vt:lpstr>
      <vt:lpstr>pause</vt:lpstr>
      <vt:lpstr>Zookeeper Misc.</vt:lpstr>
      <vt:lpstr>Zookeeper Misc.</vt:lpstr>
      <vt:lpstr>Zookeeper Misc.</vt:lpstr>
      <vt:lpstr>pause</vt:lpstr>
      <vt:lpstr>Zookeeper Misc.</vt:lpstr>
      <vt:lpstr>pause</vt:lpstr>
      <vt:lpstr>Zookeeper Misc.</vt:lpstr>
      <vt:lpstr>Zookeeper Misc.</vt:lpstr>
      <vt:lpstr>Zookeeper Misc.</vt:lpstr>
      <vt:lpstr>Zookeeper Misc.</vt:lpstr>
      <vt:lpstr>pause</vt:lpstr>
      <vt:lpstr>Zookeeper Misc.</vt:lpstr>
      <vt:lpstr>Zookeeper Misc.</vt:lpstr>
      <vt:lpstr>Zookeeper Misc.</vt:lpstr>
      <vt:lpstr>pause</vt:lpstr>
      <vt:lpstr>Zookeeper Misc.</vt:lpstr>
      <vt:lpstr>Zookeeper Misc.</vt:lpstr>
      <vt:lpstr>Zookeeper Misc.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837</cp:revision>
  <dcterms:created xsi:type="dcterms:W3CDTF">2006-08-16T00:00:00Z</dcterms:created>
  <dcterms:modified xsi:type="dcterms:W3CDTF">2023-05-21T10:50:53Z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