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3"/>
  </p:notesMasterIdLst>
  <p:sldIdLst>
    <p:sldId id="610" r:id="rId2"/>
    <p:sldId id="285" r:id="rId3"/>
    <p:sldId id="611" r:id="rId4"/>
    <p:sldId id="612" r:id="rId5"/>
    <p:sldId id="692" r:id="rId6"/>
    <p:sldId id="613" r:id="rId7"/>
    <p:sldId id="614" r:id="rId8"/>
    <p:sldId id="615" r:id="rId9"/>
    <p:sldId id="616" r:id="rId10"/>
    <p:sldId id="617" r:id="rId11"/>
    <p:sldId id="618" r:id="rId12"/>
    <p:sldId id="619" r:id="rId13"/>
    <p:sldId id="620" r:id="rId14"/>
    <p:sldId id="621" r:id="rId15"/>
    <p:sldId id="622" r:id="rId16"/>
    <p:sldId id="693" r:id="rId17"/>
    <p:sldId id="623" r:id="rId18"/>
    <p:sldId id="624" r:id="rId19"/>
    <p:sldId id="625" r:id="rId20"/>
    <p:sldId id="626" r:id="rId21"/>
    <p:sldId id="627" r:id="rId22"/>
    <p:sldId id="628" r:id="rId23"/>
    <p:sldId id="629" r:id="rId24"/>
    <p:sldId id="630" r:id="rId25"/>
    <p:sldId id="694" r:id="rId26"/>
    <p:sldId id="631" r:id="rId27"/>
    <p:sldId id="632" r:id="rId28"/>
    <p:sldId id="633" r:id="rId29"/>
    <p:sldId id="704" r:id="rId30"/>
    <p:sldId id="634" r:id="rId31"/>
    <p:sldId id="695" r:id="rId32"/>
    <p:sldId id="635" r:id="rId33"/>
    <p:sldId id="636" r:id="rId34"/>
    <p:sldId id="696" r:id="rId35"/>
    <p:sldId id="638" r:id="rId36"/>
    <p:sldId id="637" r:id="rId37"/>
    <p:sldId id="639" r:id="rId38"/>
    <p:sldId id="640" r:id="rId39"/>
    <p:sldId id="641" r:id="rId40"/>
    <p:sldId id="642" r:id="rId41"/>
    <p:sldId id="643" r:id="rId42"/>
    <p:sldId id="644" r:id="rId43"/>
    <p:sldId id="697" r:id="rId44"/>
    <p:sldId id="645" r:id="rId45"/>
    <p:sldId id="646" r:id="rId46"/>
    <p:sldId id="647" r:id="rId47"/>
    <p:sldId id="648" r:id="rId48"/>
    <p:sldId id="649" r:id="rId49"/>
    <p:sldId id="650" r:id="rId50"/>
    <p:sldId id="651" r:id="rId51"/>
    <p:sldId id="652" r:id="rId52"/>
    <p:sldId id="698" r:id="rId53"/>
    <p:sldId id="653" r:id="rId54"/>
    <p:sldId id="654" r:id="rId55"/>
    <p:sldId id="655" r:id="rId56"/>
    <p:sldId id="699" r:id="rId57"/>
    <p:sldId id="656" r:id="rId58"/>
    <p:sldId id="700" r:id="rId59"/>
    <p:sldId id="657" r:id="rId60"/>
    <p:sldId id="658" r:id="rId61"/>
    <p:sldId id="659" r:id="rId62"/>
    <p:sldId id="660" r:id="rId63"/>
    <p:sldId id="661" r:id="rId64"/>
    <p:sldId id="662" r:id="rId65"/>
    <p:sldId id="663" r:id="rId66"/>
    <p:sldId id="664" r:id="rId67"/>
    <p:sldId id="665" r:id="rId68"/>
    <p:sldId id="666" r:id="rId69"/>
    <p:sldId id="667" r:id="rId70"/>
    <p:sldId id="668" r:id="rId71"/>
    <p:sldId id="669" r:id="rId72"/>
    <p:sldId id="670" r:id="rId73"/>
    <p:sldId id="701" r:id="rId74"/>
    <p:sldId id="671" r:id="rId75"/>
    <p:sldId id="672" r:id="rId76"/>
    <p:sldId id="702" r:id="rId77"/>
    <p:sldId id="673" r:id="rId78"/>
    <p:sldId id="674" r:id="rId79"/>
    <p:sldId id="675" r:id="rId80"/>
    <p:sldId id="676" r:id="rId81"/>
    <p:sldId id="677" r:id="rId82"/>
    <p:sldId id="678" r:id="rId83"/>
    <p:sldId id="679" r:id="rId84"/>
    <p:sldId id="680" r:id="rId85"/>
    <p:sldId id="681" r:id="rId86"/>
    <p:sldId id="682" r:id="rId87"/>
    <p:sldId id="683" r:id="rId88"/>
    <p:sldId id="684" r:id="rId89"/>
    <p:sldId id="685" r:id="rId90"/>
    <p:sldId id="703" r:id="rId91"/>
    <p:sldId id="686" r:id="rId9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D21623A-C671-2D44-B254-F252EBE76DF6}">
          <p14:sldIdLst>
            <p14:sldId id="610"/>
            <p14:sldId id="285"/>
            <p14:sldId id="611"/>
            <p14:sldId id="612"/>
            <p14:sldId id="692"/>
            <p14:sldId id="613"/>
            <p14:sldId id="614"/>
            <p14:sldId id="615"/>
            <p14:sldId id="616"/>
            <p14:sldId id="617"/>
            <p14:sldId id="618"/>
            <p14:sldId id="619"/>
            <p14:sldId id="620"/>
            <p14:sldId id="621"/>
            <p14:sldId id="622"/>
            <p14:sldId id="693"/>
            <p14:sldId id="623"/>
            <p14:sldId id="624"/>
            <p14:sldId id="625"/>
            <p14:sldId id="626"/>
            <p14:sldId id="627"/>
            <p14:sldId id="628"/>
            <p14:sldId id="629"/>
            <p14:sldId id="630"/>
            <p14:sldId id="694"/>
            <p14:sldId id="631"/>
            <p14:sldId id="632"/>
            <p14:sldId id="633"/>
            <p14:sldId id="704"/>
            <p14:sldId id="634"/>
            <p14:sldId id="695"/>
            <p14:sldId id="635"/>
            <p14:sldId id="636"/>
            <p14:sldId id="696"/>
            <p14:sldId id="638"/>
            <p14:sldId id="637"/>
            <p14:sldId id="639"/>
            <p14:sldId id="640"/>
            <p14:sldId id="641"/>
            <p14:sldId id="642"/>
            <p14:sldId id="643"/>
            <p14:sldId id="644"/>
            <p14:sldId id="697"/>
            <p14:sldId id="645"/>
            <p14:sldId id="646"/>
            <p14:sldId id="647"/>
            <p14:sldId id="648"/>
            <p14:sldId id="649"/>
            <p14:sldId id="650"/>
            <p14:sldId id="651"/>
            <p14:sldId id="652"/>
            <p14:sldId id="698"/>
            <p14:sldId id="653"/>
            <p14:sldId id="654"/>
            <p14:sldId id="655"/>
            <p14:sldId id="699"/>
            <p14:sldId id="656"/>
            <p14:sldId id="700"/>
            <p14:sldId id="657"/>
            <p14:sldId id="658"/>
            <p14:sldId id="659"/>
            <p14:sldId id="660"/>
            <p14:sldId id="661"/>
            <p14:sldId id="662"/>
            <p14:sldId id="663"/>
            <p14:sldId id="664"/>
            <p14:sldId id="665"/>
            <p14:sldId id="666"/>
            <p14:sldId id="667"/>
            <p14:sldId id="668"/>
            <p14:sldId id="669"/>
            <p14:sldId id="670"/>
            <p14:sldId id="701"/>
            <p14:sldId id="671"/>
            <p14:sldId id="672"/>
            <p14:sldId id="702"/>
            <p14:sldId id="673"/>
            <p14:sldId id="674"/>
            <p14:sldId id="675"/>
            <p14:sldId id="676"/>
            <p14:sldId id="677"/>
            <p14:sldId id="678"/>
            <p14:sldId id="679"/>
            <p14:sldId id="680"/>
            <p14:sldId id="681"/>
            <p14:sldId id="682"/>
            <p14:sldId id="683"/>
            <p14:sldId id="684"/>
            <p14:sldId id="685"/>
            <p14:sldId id="703"/>
            <p14:sldId id="686"/>
          </p14:sldIdLst>
        </p14:section>
      </p14:sectionLst>
    </p:ext>
    <p:ext uri="{EFAFB233-063F-42B5-8137-9DF3F51BA10A}">
      <p15:sldGuideLst xmlns:p15="http://schemas.microsoft.com/office/powerpoint/2012/main">
        <p15:guide id="1" orient="horz" pos="218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95" autoAdjust="0"/>
    <p:restoredTop sz="93692" autoAdjust="0"/>
  </p:normalViewPr>
  <p:slideViewPr>
    <p:cSldViewPr>
      <p:cViewPr>
        <p:scale>
          <a:sx n="70" d="100"/>
          <a:sy n="70" d="100"/>
        </p:scale>
        <p:origin x="1984" y="174"/>
      </p:cViewPr>
      <p:guideLst>
        <p:guide orient="horz" pos="21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05AC6C-9512-4B60-88A3-550D11AC211E}" type="datetimeFigureOut">
              <a:rPr lang="en-US" smtClean="0"/>
              <a:t>4/27/2023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BA42DD-6D94-4698-832B-FD6413A899CA}" type="slidenum">
              <a:rPr lang="en-US" smtClean="0"/>
              <a:t>‹#›</a:t>
            </a:fld>
            <a:endParaRPr lang="en-US"/>
          </a:p>
        </p:txBody>
      </p:sp>
    </p:spTree>
    <p:extLst>
      <p:ext uri="{BB962C8B-B14F-4D97-AF65-F5344CB8AC3E}">
        <p14:creationId xmlns:p14="http://schemas.microsoft.com/office/powerpoint/2010/main" val="752445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73157"/>
            <a:ext cx="7772400" cy="1470025"/>
          </a:xfrm>
        </p:spPr>
        <p:txBody>
          <a:bodyPr anchor="b"/>
          <a:lstStyle>
            <a:lvl1pPr algn="l">
              <a:defRPr sz="4800"/>
            </a:lvl1pPr>
          </a:lstStyle>
          <a:p>
            <a:r>
              <a:rPr kumimoji="0" lang="en-US"/>
              <a:t>Click to edit Master title style</a:t>
            </a:r>
          </a:p>
        </p:txBody>
      </p:sp>
      <p:sp>
        <p:nvSpPr>
          <p:cNvPr id="3" name="Subtitle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7" name="灯片编号占位符 3">
            <a:extLst>
              <a:ext uri="{FF2B5EF4-FFF2-40B4-BE49-F238E27FC236}">
                <a16:creationId xmlns:a16="http://schemas.microsoft.com/office/drawing/2014/main" id="{3712DD02-EDF1-4DE5-8819-AAE28276EE89}"/>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微软雅黑" panose="020B0503020204020204" pitchFamily="34" charset="-122"/>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微软雅黑" panose="020B0503020204020204" pitchFamily="34" charset="-122"/>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2924181"/>
            <a:ext cx="7772400" cy="1362075"/>
          </a:xfrm>
        </p:spPr>
        <p:txBody>
          <a:bodyPr anchor="t"/>
          <a:lstStyle>
            <a:lvl1pPr algn="l">
              <a:defRPr sz="4400" b="0" cap="all"/>
            </a:lvl1pPr>
          </a:lstStyle>
          <a:p>
            <a:r>
              <a:rPr kumimoji="0" lang="en-US"/>
              <a:t>Click to edit Master title style</a:t>
            </a:r>
          </a:p>
        </p:txBody>
      </p:sp>
      <p:sp>
        <p:nvSpPr>
          <p:cNvPr id="3" name="Text Placeholder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灯片编号占位符 3">
            <a:extLst>
              <a:ext uri="{FF2B5EF4-FFF2-40B4-BE49-F238E27FC236}">
                <a16:creationId xmlns:a16="http://schemas.microsoft.com/office/drawing/2014/main" id="{18524F79-73A5-4710-9319-220E80AC0C1F}"/>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微软雅黑" panose="020B0503020204020204" pitchFamily="34" charset="-122"/>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微软雅黑" panose="020B0503020204020204" pitchFamily="34" charset="-122"/>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a:xfrm>
            <a:off x="457205" y="285728"/>
            <a:ext cx="8230993" cy="696626"/>
          </a:xfrm>
        </p:spPr>
        <p:txBody>
          <a:bodyPr anchor="ctr"/>
          <a:lstStyle>
            <a:lvl1pPr algn="ctr">
              <a:defRPr sz="3600" b="0"/>
            </a:lvl1pPr>
          </a:lstStyle>
          <a:p>
            <a:r>
              <a:rPr kumimoji="0"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1024" y="642918"/>
            <a:ext cx="785818" cy="4572032"/>
          </a:xfrm>
        </p:spPr>
        <p:txBody>
          <a:bodyPr vert="eaVert" anchor="ctr"/>
          <a:lstStyle>
            <a:lvl1pPr algn="l">
              <a:defRPr sz="2400" b="0"/>
            </a:lvl1pPr>
          </a:lstStyle>
          <a:p>
            <a:r>
              <a:rPr kumimoji="0" lang="en-US"/>
              <a:t>Click to edit Master title style</a:t>
            </a:r>
          </a:p>
        </p:txBody>
      </p:sp>
      <p:sp>
        <p:nvSpPr>
          <p:cNvPr id="3" name="Picture Placeholder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p:nvSpPr>
          <p:cNvPr id="4" name="Text Placeholder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43768" y="274639"/>
            <a:ext cx="1543032"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61513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14"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Rectangle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Rectangle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2" name="Title Placeholder 1"/>
          <p:cNvSpPr>
            <a:spLocks noGrp="1"/>
          </p:cNvSpPr>
          <p:nvPr>
            <p:ph type="title"/>
          </p:nvPr>
        </p:nvSpPr>
        <p:spPr>
          <a:xfrm>
            <a:off x="457200" y="274638"/>
            <a:ext cx="8229600" cy="1143000"/>
          </a:xfrm>
          <a:prstGeom prst="rect">
            <a:avLst/>
          </a:prstGeom>
        </p:spPr>
        <p:txBody>
          <a:bodyPr vert="horz" rtlCol="0" anchor="ctr">
            <a:normAutofit/>
          </a:bodyPr>
          <a:lstStyle/>
          <a:p>
            <a:r>
              <a:rPr kumimoji="0"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2" name="灯片编号占位符 3">
            <a:extLst>
              <a:ext uri="{FF2B5EF4-FFF2-40B4-BE49-F238E27FC236}">
                <a16:creationId xmlns:a16="http://schemas.microsoft.com/office/drawing/2014/main" id="{69D84AD9-88E4-47CB-8F2A-8AB59D90F7ED}"/>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微软雅黑" panose="020B0503020204020204" pitchFamily="34" charset="-122"/>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微软雅黑" panose="020B0503020204020204" pitchFamily="34" charset="-122"/>
              <a:ea typeface="隶书" panose="02010509060101010101" pitchFamily="49" charset="-122"/>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0EB1356-0045-4B4E-84B0-D0BEBDB4E8AC}"/>
                  </a:ext>
                </a:extLst>
              </p:cNvPr>
              <p:cNvSpPr/>
              <p:nvPr userDrawn="1"/>
            </p:nvSpPr>
            <p:spPr>
              <a:xfrm>
                <a:off x="7391400" y="6312003"/>
                <a:ext cx="1399679" cy="369332"/>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en-US" altLang="zh-CN" dirty="0"/>
                  <a:t>Copy right </a:t>
                </a:r>
                <a14:m>
                  <m:oMath xmlns:m="http://schemas.openxmlformats.org/officeDocument/2006/math">
                    <m:r>
                      <a:rPr kumimoji="0" lang="zh-CN" altLang="en-US" i="1" smtClean="0">
                        <a:latin typeface="Cambria Math" panose="02040503050406030204" pitchFamily="18" charset="0"/>
                      </a:rPr>
                      <m:t>𝜋</m:t>
                    </m:r>
                  </m:oMath>
                </a14:m>
                <a:endParaRPr lang="zh-CN" altLang="en-US" dirty="0"/>
              </a:p>
            </p:txBody>
          </p:sp>
        </mc:Choice>
        <mc:Fallback xmlns="">
          <p:sp>
            <p:nvSpPr>
              <p:cNvPr id="9" name="矩形 8">
                <a:extLst>
                  <a:ext uri="{FF2B5EF4-FFF2-40B4-BE49-F238E27FC236}">
                    <a16:creationId xmlns:a16="http://schemas.microsoft.com/office/drawing/2014/main" id="{F0EB1356-0045-4B4E-84B0-D0BEBDB4E8AC}"/>
                  </a:ext>
                </a:extLst>
              </p:cNvPr>
              <p:cNvSpPr>
                <a:spLocks noRot="1" noChangeAspect="1" noMove="1" noResize="1" noEditPoints="1" noAdjustHandles="1" noChangeArrowheads="1" noChangeShapeType="1" noTextEdit="1"/>
              </p:cNvSpPr>
              <p:nvPr userDrawn="1"/>
            </p:nvSpPr>
            <p:spPr>
              <a:xfrm>
                <a:off x="7391400" y="6312003"/>
                <a:ext cx="1399679" cy="369332"/>
              </a:xfrm>
              <a:prstGeom prst="rect">
                <a:avLst/>
              </a:prstGeom>
              <a:blipFill>
                <a:blip r:embed="rId15"/>
                <a:stretch>
                  <a:fillRect l="-3930" t="-9836" b="-22951"/>
                </a:stretch>
              </a:blipFill>
            </p:spPr>
            <p:txBody>
              <a:bodyPr/>
              <a:lstStyle/>
              <a:p>
                <a:r>
                  <a:rPr lang="zh-CN" altLang="en-US">
                    <a:noFill/>
                  </a:rPr>
                  <a:t> </a:t>
                </a:r>
              </a:p>
            </p:txBody>
          </p:sp>
        </mc:Fallback>
      </mc:AlternateContent>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github.com/ebi-wp/kafka-streams-api-websockets" TargetMode="Externa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5D14F7-0E7F-8548-85E8-931FFC6E87CB}"/>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Hadoop</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Spark</a:t>
            </a:r>
            <a:endParaRPr kumimoji="1" lang="zh-CN" altLang="en-US" dirty="0">
              <a:latin typeface="微软雅黑" panose="020B0503020204020204" pitchFamily="34" charset="-122"/>
              <a:ea typeface="微软雅黑" panose="020B0503020204020204" pitchFamily="34" charset="-122"/>
            </a:endParaRPr>
          </a:p>
        </p:txBody>
      </p:sp>
      <p:sp>
        <p:nvSpPr>
          <p:cNvPr id="3" name="副标题 2">
            <a:extLst>
              <a:ext uri="{FF2B5EF4-FFF2-40B4-BE49-F238E27FC236}">
                <a16:creationId xmlns:a16="http://schemas.microsoft.com/office/drawing/2014/main" id="{70829591-AB44-3C4B-B84E-713A444B98F7}"/>
              </a:ext>
            </a:extLst>
          </p:cNvPr>
          <p:cNvSpPr>
            <a:spLocks noGrp="1"/>
          </p:cNvSpPr>
          <p:nvPr>
            <p:ph type="subTitle" idx="1"/>
          </p:nvPr>
        </p:nvSpPr>
        <p:spPr>
          <a:xfrm>
            <a:off x="687716" y="2643182"/>
            <a:ext cx="6670366" cy="2309818"/>
          </a:xfrm>
        </p:spPr>
        <p:txBody>
          <a:bodyPr>
            <a:normAutofit/>
          </a:bodyPr>
          <a:lstStyle/>
          <a:p>
            <a:r>
              <a:rPr lang="en-US" altLang="zh-CN" sz="18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8405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是一个分布式的消息系统</a:t>
            </a:r>
            <a:r>
              <a:rPr lang="en-US" altLang="zh-CN" sz="1800" dirty="0">
                <a:effectLst/>
                <a:latin typeface="微软雅黑" panose="020B0503020204020204" pitchFamily="34" charset="-122"/>
                <a:ea typeface="宋体" panose="02010600030101010101" pitchFamily="2" charset="-122"/>
              </a:rPr>
              <a:t>(Messaging System)</a:t>
            </a:r>
          </a:p>
          <a:p>
            <a:pPr lvl="1" algn="just"/>
            <a:r>
              <a:rPr lang="zh-CN" altLang="en-US" sz="1800" dirty="0">
                <a:effectLst/>
                <a:latin typeface="微软雅黑" panose="020B0503020204020204" pitchFamily="34" charset="-122"/>
                <a:ea typeface="宋体" panose="02010600030101010101" pitchFamily="2" charset="-122"/>
              </a:rPr>
              <a:t>它最初由</a:t>
            </a:r>
            <a:r>
              <a:rPr lang="en-US" altLang="zh-CN" sz="1800" dirty="0">
                <a:effectLst/>
                <a:latin typeface="微软雅黑" panose="020B0503020204020204" pitchFamily="34" charset="-122"/>
                <a:ea typeface="宋体" panose="02010600030101010101" pitchFamily="2" charset="-122"/>
              </a:rPr>
              <a:t>LinkedIn</a:t>
            </a:r>
            <a:r>
              <a:rPr lang="zh-CN" altLang="en-US" sz="1800" dirty="0">
                <a:effectLst/>
                <a:latin typeface="微软雅黑" panose="020B0503020204020204" pitchFamily="34" charset="-122"/>
                <a:ea typeface="宋体" panose="02010600030101010101" pitchFamily="2" charset="-122"/>
              </a:rPr>
              <a:t>公司开发，之后通过</a:t>
            </a:r>
            <a:r>
              <a:rPr lang="en-US" altLang="zh-CN" sz="1800" dirty="0">
                <a:effectLst/>
                <a:latin typeface="微软雅黑" panose="020B0503020204020204" pitchFamily="34" charset="-122"/>
                <a:ea typeface="宋体" panose="02010600030101010101" pitchFamily="2" charset="-122"/>
              </a:rPr>
              <a:t>Apache</a:t>
            </a:r>
            <a:r>
              <a:rPr lang="zh-CN" altLang="en-US" sz="1800" dirty="0">
                <a:effectLst/>
                <a:latin typeface="微软雅黑" panose="020B0503020204020204" pitchFamily="34" charset="-122"/>
                <a:ea typeface="宋体" panose="02010600030101010101" pitchFamily="2" charset="-122"/>
              </a:rPr>
              <a:t>基金会开源</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是一款分布式的、分区的、和可复制的提交日志服务软件系统；由于其特有的设计，</a:t>
            </a:r>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具有高性能、和高可扩展性的优良特点</a:t>
            </a:r>
          </a:p>
          <a:p>
            <a:pPr algn="just"/>
            <a:endParaRPr lang="en-US" altLang="zh-CN" sz="1800" dirty="0">
              <a:effectLst/>
              <a:latin typeface="微软雅黑" panose="020B0503020204020204" pitchFamily="34" charset="-122"/>
              <a:ea typeface="宋体" panose="02010600030101010101" pitchFamily="2" charset="-122"/>
            </a:endParaRPr>
          </a:p>
          <a:p>
            <a:pPr indent="266700"/>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1026" name="Picture 2">
            <a:extLst>
              <a:ext uri="{FF2B5EF4-FFF2-40B4-BE49-F238E27FC236}">
                <a16:creationId xmlns:a16="http://schemas.microsoft.com/office/drawing/2014/main" id="{BC1D74B4-2604-4683-8D1B-032A84C4E6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3429000"/>
            <a:ext cx="6248400" cy="2664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374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微软雅黑" panose="020B0503020204020204" pitchFamily="34" charset="-122"/>
                <a:ea typeface="宋体" panose="02010600030101010101" pitchFamily="2" charset="-122"/>
              </a:rPr>
              <a:t>与传统的消息系统相比，</a:t>
            </a:r>
            <a:r>
              <a:rPr lang="en-US" altLang="zh-CN" sz="1800" dirty="0">
                <a:effectLst/>
                <a:latin typeface="微软雅黑" panose="020B0503020204020204" pitchFamily="34" charset="-122"/>
                <a:ea typeface="宋体" panose="02010600030101010101" pitchFamily="2" charset="-122"/>
              </a:rPr>
              <a:t>Apache Kafka</a:t>
            </a:r>
            <a:r>
              <a:rPr lang="zh-CN" altLang="en-US" sz="1800" dirty="0">
                <a:effectLst/>
                <a:latin typeface="微软雅黑" panose="020B0503020204020204" pitchFamily="34" charset="-122"/>
                <a:ea typeface="宋体" panose="02010600030101010101" pitchFamily="2" charset="-122"/>
              </a:rPr>
              <a:t>具有如下的特点：</a:t>
            </a:r>
          </a:p>
          <a:p>
            <a:pPr lvl="1" algn="just"/>
            <a:r>
              <a:rPr lang="en-US" altLang="zh-CN" sz="1800" dirty="0">
                <a:effectLst/>
                <a:latin typeface="微软雅黑" panose="020B0503020204020204" pitchFamily="34" charset="-122"/>
                <a:ea typeface="宋体" panose="02010600030101010101" pitchFamily="2" charset="-122"/>
              </a:rPr>
              <a:t>(1) Kafka</a:t>
            </a:r>
            <a:r>
              <a:rPr lang="zh-CN" altLang="en-US" sz="1800" dirty="0">
                <a:effectLst/>
                <a:latin typeface="微软雅黑" panose="020B0503020204020204" pitchFamily="34" charset="-122"/>
                <a:ea typeface="宋体" panose="02010600030101010101" pitchFamily="2" charset="-122"/>
              </a:rPr>
              <a:t>是一个完全分布式的系统，易于横向扩展，处理极大规模的数据量；</a:t>
            </a:r>
          </a:p>
          <a:p>
            <a:pPr lvl="1" algn="just"/>
            <a:r>
              <a:rPr lang="en-US" altLang="zh-CN" sz="1800" dirty="0">
                <a:effectLst/>
                <a:latin typeface="微软雅黑" panose="020B0503020204020204" pitchFamily="34" charset="-122"/>
                <a:ea typeface="宋体" panose="02010600030101010101" pitchFamily="2" charset="-122"/>
              </a:rPr>
              <a:t>(2) Kafka</a:t>
            </a:r>
            <a:r>
              <a:rPr lang="zh-CN" altLang="en-US" sz="1800" dirty="0">
                <a:effectLst/>
                <a:latin typeface="微软雅黑" panose="020B0503020204020204" pitchFamily="34" charset="-122"/>
                <a:ea typeface="宋体" panose="02010600030101010101" pitchFamily="2" charset="-122"/>
              </a:rPr>
              <a:t>同时为发布和订阅，提供极高的吞吐能力；</a:t>
            </a:r>
          </a:p>
          <a:p>
            <a:pPr lvl="1" algn="just"/>
            <a:r>
              <a:rPr lang="en-US" altLang="zh-CN" sz="1800" dirty="0">
                <a:effectLst/>
                <a:latin typeface="微软雅黑" panose="020B0503020204020204" pitchFamily="34" charset="-122"/>
                <a:ea typeface="宋体" panose="02010600030101010101" pitchFamily="2" charset="-122"/>
              </a:rPr>
              <a:t>(3) </a:t>
            </a:r>
            <a:r>
              <a:rPr lang="zh-CN" altLang="en-US" sz="1800" dirty="0">
                <a:effectLst/>
                <a:latin typeface="微软雅黑" panose="020B0503020204020204" pitchFamily="34" charset="-122"/>
                <a:ea typeface="宋体" panose="02010600030101010101" pitchFamily="2" charset="-122"/>
              </a:rPr>
              <a:t>它支持多个订阅者，当出现失败状况，可以自动平衡消费者；</a:t>
            </a:r>
          </a:p>
          <a:p>
            <a:pPr lvl="1" algn="just"/>
            <a:r>
              <a:rPr lang="en-US" altLang="zh-CN" sz="1800" dirty="0">
                <a:effectLst/>
                <a:latin typeface="微软雅黑" panose="020B0503020204020204" pitchFamily="34" charset="-122"/>
                <a:ea typeface="宋体" panose="02010600030101010101" pitchFamily="2" charset="-122"/>
              </a:rPr>
              <a:t>(4) </a:t>
            </a:r>
            <a:r>
              <a:rPr lang="zh-CN" altLang="en-US" sz="1800" dirty="0">
                <a:effectLst/>
                <a:latin typeface="微软雅黑" panose="020B0503020204020204" pitchFamily="34" charset="-122"/>
                <a:ea typeface="宋体" panose="02010600030101010101" pitchFamily="2" charset="-122"/>
              </a:rPr>
              <a:t>它将消息持久化到磁盘，保证消息系统的可靠性</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可以用于消息的批量消费应用</a:t>
            </a:r>
            <a:r>
              <a:rPr lang="en-US" altLang="zh-CN" sz="1800" dirty="0">
                <a:effectLst/>
                <a:latin typeface="微软雅黑" panose="020B0503020204020204" pitchFamily="34" charset="-122"/>
                <a:ea typeface="宋体" panose="02010600030101010101" pitchFamily="2" charset="-122"/>
              </a:rPr>
              <a:t>(</a:t>
            </a:r>
            <a:r>
              <a:rPr lang="zh-CN" altLang="en-US" sz="1800" dirty="0">
                <a:effectLst/>
                <a:latin typeface="微软雅黑" panose="020B0503020204020204" pitchFamily="34" charset="-122"/>
                <a:ea typeface="宋体" panose="02010600030101010101" pitchFamily="2" charset="-122"/>
              </a:rPr>
              <a:t>比如</a:t>
            </a:r>
            <a:r>
              <a:rPr lang="en-US" altLang="zh-CN" sz="1800" dirty="0">
                <a:effectLst/>
                <a:latin typeface="微软雅黑" panose="020B0503020204020204" pitchFamily="34" charset="-122"/>
                <a:ea typeface="宋体" panose="02010600030101010101" pitchFamily="2" charset="-122"/>
              </a:rPr>
              <a:t>ETL</a:t>
            </a:r>
            <a:r>
              <a:rPr lang="zh-CN" altLang="en-US" sz="1800" dirty="0">
                <a:effectLst/>
                <a:latin typeface="微软雅黑" panose="020B0503020204020204" pitchFamily="34" charset="-122"/>
                <a:ea typeface="宋体" panose="02010600030101010101" pitchFamily="2" charset="-122"/>
              </a:rPr>
              <a:t>系统</a:t>
            </a:r>
            <a:r>
              <a:rPr lang="en-US" altLang="zh-CN" sz="1800" dirty="0">
                <a:effectLst/>
                <a:latin typeface="微软雅黑" panose="020B0503020204020204" pitchFamily="34" charset="-122"/>
                <a:ea typeface="宋体" panose="02010600030101010101" pitchFamily="2" charset="-122"/>
              </a:rPr>
              <a:t>)</a:t>
            </a:r>
            <a:r>
              <a:rPr lang="zh-CN" altLang="en-US" sz="1800" dirty="0">
                <a:effectLst/>
                <a:latin typeface="微软雅黑" panose="020B0503020204020204" pitchFamily="34" charset="-122"/>
                <a:ea typeface="宋体" panose="02010600030101010101" pitchFamily="2" charset="-122"/>
              </a:rPr>
              <a:t>，以及实时应用程序</a:t>
            </a:r>
          </a:p>
          <a:p>
            <a:pPr indent="266700"/>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61381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的基本概念</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600" dirty="0">
                <a:effectLst/>
                <a:latin typeface="微软雅黑" panose="020B0503020204020204" pitchFamily="34" charset="-122"/>
                <a:ea typeface="宋体" panose="02010600030101010101" pitchFamily="2" charset="-122"/>
              </a:rPr>
              <a:t>Kafka</a:t>
            </a:r>
            <a:r>
              <a:rPr lang="zh-CN" altLang="en-US" sz="1600" dirty="0">
                <a:effectLst/>
                <a:latin typeface="微软雅黑" panose="020B0503020204020204" pitchFamily="34" charset="-122"/>
                <a:ea typeface="宋体" panose="02010600030101010101" pitchFamily="2" charset="-122"/>
              </a:rPr>
              <a:t>消息系统包括如下几个主要组件：</a:t>
            </a:r>
          </a:p>
          <a:p>
            <a:pPr lvl="1" algn="just"/>
            <a:r>
              <a:rPr lang="en-US" altLang="zh-CN" sz="1600" dirty="0">
                <a:effectLst/>
                <a:latin typeface="微软雅黑" panose="020B0503020204020204" pitchFamily="34" charset="-122"/>
                <a:ea typeface="宋体" panose="02010600030101010101" pitchFamily="2" charset="-122"/>
              </a:rPr>
              <a:t>(1) Kafka</a:t>
            </a:r>
            <a:r>
              <a:rPr lang="zh-CN" altLang="en-US" sz="1600" dirty="0">
                <a:effectLst/>
                <a:latin typeface="微软雅黑" panose="020B0503020204020204" pitchFamily="34" charset="-122"/>
                <a:ea typeface="宋体" panose="02010600030101010101" pitchFamily="2" charset="-122"/>
              </a:rPr>
              <a:t>按照类别</a:t>
            </a:r>
            <a:r>
              <a:rPr lang="en-US" altLang="zh-CN" sz="1600" dirty="0">
                <a:effectLst/>
                <a:latin typeface="微软雅黑" panose="020B0503020204020204" pitchFamily="34" charset="-122"/>
                <a:ea typeface="宋体" panose="02010600030101010101" pitchFamily="2" charset="-122"/>
              </a:rPr>
              <a:t>(</a:t>
            </a:r>
            <a:r>
              <a:rPr lang="zh-CN" altLang="en-US" sz="1600" dirty="0">
                <a:effectLst/>
                <a:latin typeface="微软雅黑" panose="020B0503020204020204" pitchFamily="34" charset="-122"/>
                <a:ea typeface="宋体" panose="02010600030101010101" pitchFamily="2" charset="-122"/>
              </a:rPr>
              <a:t>称为</a:t>
            </a:r>
            <a:r>
              <a:rPr lang="zh-CN" altLang="en-US" sz="1600" dirty="0">
                <a:solidFill>
                  <a:srgbClr val="C00000"/>
                </a:solidFill>
                <a:effectLst/>
                <a:latin typeface="微软雅黑" panose="020B0503020204020204" pitchFamily="34" charset="-122"/>
                <a:ea typeface="宋体" panose="02010600030101010101" pitchFamily="2" charset="-122"/>
              </a:rPr>
              <a:t>主题或者话题</a:t>
            </a:r>
            <a:r>
              <a:rPr lang="en-US" altLang="zh-CN" sz="1600" dirty="0">
                <a:solidFill>
                  <a:srgbClr val="C00000"/>
                </a:solidFill>
                <a:effectLst/>
                <a:latin typeface="微软雅黑" panose="020B0503020204020204" pitchFamily="34" charset="-122"/>
                <a:ea typeface="宋体" panose="02010600030101010101" pitchFamily="2" charset="-122"/>
              </a:rPr>
              <a:t>Topic</a:t>
            </a:r>
            <a:r>
              <a:rPr lang="en-US" altLang="zh-CN" sz="1600" dirty="0">
                <a:effectLst/>
                <a:latin typeface="微软雅黑" panose="020B0503020204020204" pitchFamily="34" charset="-122"/>
                <a:ea typeface="宋体" panose="02010600030101010101" pitchFamily="2" charset="-122"/>
              </a:rPr>
              <a:t>)</a:t>
            </a:r>
            <a:r>
              <a:rPr lang="zh-CN" altLang="en-US" sz="1600" dirty="0">
                <a:effectLst/>
                <a:latin typeface="微软雅黑" panose="020B0503020204020204" pitchFamily="34" charset="-122"/>
                <a:ea typeface="宋体" panose="02010600030101010101" pitchFamily="2" charset="-122"/>
              </a:rPr>
              <a:t>维护它接收到的消息。话题</a:t>
            </a:r>
            <a:r>
              <a:rPr lang="en-US" altLang="zh-CN" sz="1600" dirty="0">
                <a:effectLst/>
                <a:latin typeface="微软雅黑" panose="020B0503020204020204" pitchFamily="34" charset="-122"/>
                <a:ea typeface="宋体" panose="02010600030101010101" pitchFamily="2" charset="-122"/>
              </a:rPr>
              <a:t>(Topic)</a:t>
            </a:r>
            <a:r>
              <a:rPr lang="zh-CN" altLang="en-US" sz="1600" dirty="0">
                <a:effectLst/>
                <a:latin typeface="微软雅黑" panose="020B0503020204020204" pitchFamily="34" charset="-122"/>
                <a:ea typeface="宋体" panose="02010600030101010101" pitchFamily="2" charset="-122"/>
              </a:rPr>
              <a:t>是特定类型的消息流。消息是字节的有效载荷</a:t>
            </a:r>
            <a:r>
              <a:rPr lang="en-US" altLang="zh-CN" sz="1600" dirty="0">
                <a:effectLst/>
                <a:latin typeface="微软雅黑" panose="020B0503020204020204" pitchFamily="34" charset="-122"/>
                <a:ea typeface="宋体" panose="02010600030101010101" pitchFamily="2" charset="-122"/>
              </a:rPr>
              <a:t>(Payload)</a:t>
            </a:r>
            <a:endParaRPr lang="zh-CN" altLang="en-US" sz="1600" dirty="0">
              <a:effectLst/>
              <a:latin typeface="微软雅黑" panose="020B0503020204020204" pitchFamily="34" charset="-122"/>
              <a:ea typeface="宋体" panose="02010600030101010101" pitchFamily="2" charset="-122"/>
            </a:endParaRPr>
          </a:p>
          <a:p>
            <a:pPr lvl="1" algn="just"/>
            <a:r>
              <a:rPr lang="en-US" altLang="zh-CN" sz="1600" dirty="0">
                <a:effectLst/>
                <a:latin typeface="微软雅黑" panose="020B0503020204020204" pitchFamily="34" charset="-122"/>
                <a:ea typeface="宋体" panose="02010600030101010101" pitchFamily="2" charset="-122"/>
              </a:rPr>
              <a:t>(2) </a:t>
            </a:r>
            <a:r>
              <a:rPr lang="zh-CN" altLang="en-US" sz="1600" dirty="0">
                <a:effectLst/>
                <a:latin typeface="微软雅黑" panose="020B0503020204020204" pitchFamily="34" charset="-122"/>
                <a:ea typeface="宋体" panose="02010600030101010101" pitchFamily="2" charset="-122"/>
              </a:rPr>
              <a:t>向</a:t>
            </a:r>
            <a:r>
              <a:rPr lang="en-US" altLang="zh-CN" sz="1600" dirty="0">
                <a:effectLst/>
                <a:latin typeface="微软雅黑" panose="020B0503020204020204" pitchFamily="34" charset="-122"/>
                <a:ea typeface="宋体" panose="02010600030101010101" pitchFamily="2" charset="-122"/>
              </a:rPr>
              <a:t>Kafka</a:t>
            </a:r>
            <a:r>
              <a:rPr lang="zh-CN" altLang="en-US" sz="1600" dirty="0">
                <a:effectLst/>
                <a:latin typeface="微软雅黑" panose="020B0503020204020204" pitchFamily="34" charset="-122"/>
                <a:ea typeface="宋体" panose="02010600030101010101" pitchFamily="2" charset="-122"/>
              </a:rPr>
              <a:t>发布消息的进程或者程序，称为</a:t>
            </a:r>
            <a:r>
              <a:rPr lang="zh-CN" altLang="en-US" sz="1600" dirty="0">
                <a:solidFill>
                  <a:srgbClr val="C00000"/>
                </a:solidFill>
                <a:effectLst/>
                <a:latin typeface="微软雅黑" panose="020B0503020204020204" pitchFamily="34" charset="-122"/>
                <a:ea typeface="宋体" panose="02010600030101010101" pitchFamily="2" charset="-122"/>
              </a:rPr>
              <a:t>生产者</a:t>
            </a:r>
            <a:r>
              <a:rPr lang="en-US" altLang="zh-CN" sz="1600" dirty="0">
                <a:solidFill>
                  <a:srgbClr val="C00000"/>
                </a:solidFill>
                <a:effectLst/>
                <a:latin typeface="微软雅黑" panose="020B0503020204020204" pitchFamily="34" charset="-122"/>
                <a:ea typeface="宋体" panose="02010600030101010101" pitchFamily="2" charset="-122"/>
              </a:rPr>
              <a:t>(Producer</a:t>
            </a:r>
            <a:r>
              <a:rPr lang="en-US" altLang="zh-CN" sz="1600" dirty="0">
                <a:effectLst/>
                <a:latin typeface="微软雅黑" panose="020B0503020204020204" pitchFamily="34" charset="-122"/>
                <a:ea typeface="宋体" panose="02010600030101010101" pitchFamily="2" charset="-122"/>
              </a:rPr>
              <a:t>)</a:t>
            </a:r>
            <a:endParaRPr lang="zh-CN" altLang="en-US" sz="1600" dirty="0">
              <a:effectLst/>
              <a:latin typeface="微软雅黑" panose="020B0503020204020204" pitchFamily="34" charset="-122"/>
              <a:ea typeface="宋体" panose="02010600030101010101" pitchFamily="2" charset="-122"/>
            </a:endParaRPr>
          </a:p>
          <a:p>
            <a:pPr lvl="1" algn="just"/>
            <a:r>
              <a:rPr lang="en-US" altLang="zh-CN" sz="1600" dirty="0">
                <a:effectLst/>
                <a:latin typeface="微软雅黑" panose="020B0503020204020204" pitchFamily="34" charset="-122"/>
                <a:ea typeface="宋体" panose="02010600030101010101" pitchFamily="2" charset="-122"/>
              </a:rPr>
              <a:t>(3) </a:t>
            </a:r>
            <a:r>
              <a:rPr lang="zh-CN" altLang="en-US" sz="1600" dirty="0">
                <a:effectLst/>
                <a:latin typeface="微软雅黑" panose="020B0503020204020204" pitchFamily="34" charset="-122"/>
                <a:ea typeface="宋体" panose="02010600030101010101" pitchFamily="2" charset="-122"/>
              </a:rPr>
              <a:t>向</a:t>
            </a:r>
            <a:r>
              <a:rPr lang="en-US" altLang="zh-CN" sz="1600" dirty="0">
                <a:effectLst/>
                <a:latin typeface="微软雅黑" panose="020B0503020204020204" pitchFamily="34" charset="-122"/>
                <a:ea typeface="宋体" panose="02010600030101010101" pitchFamily="2" charset="-122"/>
              </a:rPr>
              <a:t>Kafka</a:t>
            </a:r>
            <a:r>
              <a:rPr lang="zh-CN" altLang="en-US" sz="1600" dirty="0">
                <a:effectLst/>
                <a:latin typeface="微软雅黑" panose="020B0503020204020204" pitchFamily="34" charset="-122"/>
                <a:ea typeface="宋体" panose="02010600030101010101" pitchFamily="2" charset="-122"/>
              </a:rPr>
              <a:t>主题进行订阅</a:t>
            </a:r>
            <a:r>
              <a:rPr lang="en-US" altLang="zh-CN" sz="1600" dirty="0">
                <a:effectLst/>
                <a:latin typeface="微软雅黑" panose="020B0503020204020204" pitchFamily="34" charset="-122"/>
                <a:ea typeface="宋体" panose="02010600030101010101" pitchFamily="2" charset="-122"/>
              </a:rPr>
              <a:t>(Subscribe)</a:t>
            </a:r>
            <a:r>
              <a:rPr lang="zh-CN" altLang="en-US" sz="1600" dirty="0">
                <a:effectLst/>
                <a:latin typeface="微软雅黑" panose="020B0503020204020204" pitchFamily="34" charset="-122"/>
                <a:ea typeface="宋体" panose="02010600030101010101" pitchFamily="2" charset="-122"/>
              </a:rPr>
              <a:t>、以处理</a:t>
            </a:r>
            <a:r>
              <a:rPr lang="en-US" altLang="zh-CN" sz="1600" dirty="0">
                <a:effectLst/>
                <a:latin typeface="微软雅黑" panose="020B0503020204020204" pitchFamily="34" charset="-122"/>
                <a:ea typeface="宋体" panose="02010600030101010101" pitchFamily="2" charset="-122"/>
              </a:rPr>
              <a:t>Kafka</a:t>
            </a:r>
            <a:r>
              <a:rPr lang="zh-CN" altLang="en-US" sz="1600" dirty="0">
                <a:effectLst/>
                <a:latin typeface="微软雅黑" panose="020B0503020204020204" pitchFamily="34" charset="-122"/>
                <a:ea typeface="宋体" panose="02010600030101010101" pitchFamily="2" charset="-122"/>
              </a:rPr>
              <a:t>消息的进程或者程序，称为</a:t>
            </a:r>
            <a:r>
              <a:rPr lang="zh-CN" altLang="en-US" sz="1600" dirty="0">
                <a:solidFill>
                  <a:srgbClr val="C00000"/>
                </a:solidFill>
                <a:effectLst/>
                <a:latin typeface="微软雅黑" panose="020B0503020204020204" pitchFamily="34" charset="-122"/>
                <a:ea typeface="宋体" panose="02010600030101010101" pitchFamily="2" charset="-122"/>
              </a:rPr>
              <a:t>消费者</a:t>
            </a:r>
            <a:r>
              <a:rPr lang="en-US" altLang="zh-CN" sz="1600" dirty="0">
                <a:solidFill>
                  <a:srgbClr val="C00000"/>
                </a:solidFill>
                <a:effectLst/>
                <a:latin typeface="微软雅黑" panose="020B0503020204020204" pitchFamily="34" charset="-122"/>
                <a:ea typeface="宋体" panose="02010600030101010101" pitchFamily="2" charset="-122"/>
              </a:rPr>
              <a:t>(Consumer)</a:t>
            </a:r>
            <a:r>
              <a:rPr lang="zh-CN" altLang="en-US" sz="1600" dirty="0">
                <a:solidFill>
                  <a:srgbClr val="C00000"/>
                </a:solidFill>
                <a:latin typeface="微软雅黑" panose="020B0503020204020204" pitchFamily="34" charset="-122"/>
                <a:ea typeface="宋体" panose="02010600030101010101" pitchFamily="2" charset="-122"/>
              </a:rPr>
              <a:t>；</a:t>
            </a:r>
            <a:r>
              <a:rPr lang="zh-CN" altLang="en-US" sz="1600" dirty="0">
                <a:effectLst/>
                <a:latin typeface="微软雅黑" panose="020B0503020204020204" pitchFamily="34" charset="-122"/>
                <a:ea typeface="宋体" panose="02010600030101010101" pitchFamily="2" charset="-122"/>
              </a:rPr>
              <a:t>消费者可以订阅一个或多个话题，从而消费这些已发布的消息</a:t>
            </a:r>
          </a:p>
          <a:p>
            <a:pPr lvl="1" algn="just"/>
            <a:r>
              <a:rPr lang="en-US" altLang="zh-CN" sz="1600" dirty="0">
                <a:effectLst/>
                <a:latin typeface="微软雅黑" panose="020B0503020204020204" pitchFamily="34" charset="-122"/>
                <a:ea typeface="宋体" panose="02010600030101010101" pitchFamily="2" charset="-122"/>
              </a:rPr>
              <a:t>(4) </a:t>
            </a:r>
            <a:r>
              <a:rPr lang="zh-CN" altLang="en-US" sz="1600" dirty="0">
                <a:effectLst/>
                <a:latin typeface="微软雅黑" panose="020B0503020204020204" pitchFamily="34" charset="-122"/>
                <a:ea typeface="宋体" panose="02010600030101010101" pitchFamily="2" charset="-122"/>
              </a:rPr>
              <a:t>已发布的消息保存在一组服务器中，它们被称为</a:t>
            </a:r>
            <a:r>
              <a:rPr lang="zh-CN" altLang="en-US" sz="1600" dirty="0">
                <a:solidFill>
                  <a:srgbClr val="C00000"/>
                </a:solidFill>
                <a:effectLst/>
                <a:latin typeface="微软雅黑" panose="020B0503020204020204" pitchFamily="34" charset="-122"/>
                <a:ea typeface="宋体" panose="02010600030101010101" pitchFamily="2" charset="-122"/>
              </a:rPr>
              <a:t>代理</a:t>
            </a:r>
            <a:r>
              <a:rPr lang="en-US" altLang="zh-CN" sz="1600" dirty="0">
                <a:solidFill>
                  <a:srgbClr val="C00000"/>
                </a:solidFill>
                <a:effectLst/>
                <a:latin typeface="微软雅黑" panose="020B0503020204020204" pitchFamily="34" charset="-122"/>
                <a:ea typeface="宋体" panose="02010600030101010101" pitchFamily="2" charset="-122"/>
              </a:rPr>
              <a:t>(Broker)</a:t>
            </a:r>
            <a:r>
              <a:rPr lang="zh-CN" altLang="en-US" sz="1600" dirty="0">
                <a:effectLst/>
                <a:latin typeface="微软雅黑" panose="020B0503020204020204" pitchFamily="34" charset="-122"/>
                <a:ea typeface="宋体" panose="02010600030101010101" pitchFamily="2" charset="-122"/>
              </a:rPr>
              <a:t>，它们共同构成</a:t>
            </a:r>
            <a:r>
              <a:rPr lang="en-US" altLang="zh-CN" sz="1600" dirty="0">
                <a:solidFill>
                  <a:srgbClr val="C00000"/>
                </a:solidFill>
                <a:effectLst/>
                <a:latin typeface="微软雅黑" panose="020B0503020204020204" pitchFamily="34" charset="-122"/>
                <a:ea typeface="宋体" panose="02010600030101010101" pitchFamily="2" charset="-122"/>
              </a:rPr>
              <a:t>Kafka</a:t>
            </a:r>
            <a:r>
              <a:rPr lang="zh-CN" altLang="en-US" sz="1600" dirty="0">
                <a:solidFill>
                  <a:srgbClr val="C00000"/>
                </a:solidFill>
                <a:effectLst/>
                <a:latin typeface="微软雅黑" panose="020B0503020204020204" pitchFamily="34" charset="-122"/>
                <a:ea typeface="宋体" panose="02010600030101010101" pitchFamily="2" charset="-122"/>
              </a:rPr>
              <a:t>集群</a:t>
            </a:r>
            <a:r>
              <a:rPr lang="en-US" altLang="zh-CN" sz="1600" dirty="0">
                <a:solidFill>
                  <a:srgbClr val="C00000"/>
                </a:solidFill>
                <a:effectLst/>
                <a:latin typeface="微软雅黑" panose="020B0503020204020204" pitchFamily="34" charset="-122"/>
                <a:ea typeface="宋体" panose="02010600030101010101" pitchFamily="2" charset="-122"/>
              </a:rPr>
              <a:t>(Cluster)</a:t>
            </a:r>
            <a:endParaRPr lang="en-US" altLang="zh-CN" sz="1800" dirty="0">
              <a:solidFill>
                <a:srgbClr val="C00000"/>
              </a:solidFill>
              <a:effectLst/>
              <a:latin typeface="微软雅黑" panose="020B0503020204020204" pitchFamily="34" charset="-122"/>
              <a:ea typeface="宋体" panose="02010600030101010101" pitchFamily="2" charset="-122"/>
            </a:endParaRPr>
          </a:p>
          <a:p>
            <a:pPr indent="266700"/>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811BB394-2A13-41C2-8724-311AFAB1EB2F}"/>
              </a:ext>
            </a:extLst>
          </p:cNvPr>
          <p:cNvPicPr>
            <a:picLocks noChangeAspect="1"/>
          </p:cNvPicPr>
          <p:nvPr/>
        </p:nvPicPr>
        <p:blipFill>
          <a:blip r:embed="rId2"/>
          <a:stretch>
            <a:fillRect/>
          </a:stretch>
        </p:blipFill>
        <p:spPr>
          <a:xfrm>
            <a:off x="2133600" y="4415116"/>
            <a:ext cx="4876800" cy="2411711"/>
          </a:xfrm>
          <a:prstGeom prst="rect">
            <a:avLst/>
          </a:prstGeom>
        </p:spPr>
      </p:pic>
    </p:spTree>
    <p:extLst>
      <p:ext uri="{BB962C8B-B14F-4D97-AF65-F5344CB8AC3E}">
        <p14:creationId xmlns:p14="http://schemas.microsoft.com/office/powerpoint/2010/main" val="2215525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899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700" dirty="0">
                <a:solidFill>
                  <a:srgbClr val="C00000"/>
                </a:solidFill>
                <a:effectLst/>
                <a:latin typeface="微软雅黑" panose="020B0503020204020204" pitchFamily="34" charset="-122"/>
                <a:ea typeface="宋体" panose="02010600030101010101" pitchFamily="2" charset="-122"/>
              </a:rPr>
              <a:t>话题和分区</a:t>
            </a:r>
            <a:endParaRPr lang="en-US" altLang="zh-CN" sz="1700" dirty="0">
              <a:solidFill>
                <a:srgbClr val="C00000"/>
              </a:solidFill>
              <a:effectLst/>
              <a:latin typeface="微软雅黑" panose="020B0503020204020204" pitchFamily="34" charset="-122"/>
              <a:ea typeface="宋体" panose="02010600030101010101" pitchFamily="2" charset="-122"/>
            </a:endParaRPr>
          </a:p>
          <a:p>
            <a:pPr lvl="1" algn="just"/>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话题是消息的分类机制，消息生产者要向</a:t>
            </a:r>
            <a:r>
              <a:rPr lang="en-US" altLang="zh-CN" sz="1700" dirty="0">
                <a:effectLst/>
                <a:latin typeface="Times New Roman" panose="02020603050405020304" pitchFamily="18" charset="0"/>
                <a:ea typeface="宋体" panose="02010600030101010101" pitchFamily="2" charset="-122"/>
              </a:rPr>
              <a:t> Kafka</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发布消息，必须指定发布到哪个话题</a:t>
            </a:r>
            <a:r>
              <a:rPr lang="en-US" altLang="zh-CN" sz="1700" dirty="0">
                <a:effectLst/>
                <a:latin typeface="Times New Roman" panose="02020603050405020304" pitchFamily="18" charset="0"/>
                <a:ea typeface="宋体" panose="02010600030101010101" pitchFamily="2" charset="-122"/>
              </a:rPr>
              <a:t>(Feed Name)</a:t>
            </a:r>
            <a:endParaRPr lang="en-US" altLang="zh-CN" sz="17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对于每个话题，</a:t>
            </a:r>
            <a:r>
              <a:rPr lang="en-US" altLang="zh-CN" sz="1700" dirty="0">
                <a:effectLst/>
                <a:latin typeface="Times New Roman" panose="02020603050405020304" pitchFamily="18" charset="0"/>
                <a:ea typeface="宋体" panose="02010600030101010101" pitchFamily="2" charset="-122"/>
              </a:rPr>
              <a:t>Kafka</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集群维护一个分区的日志文件</a:t>
            </a:r>
            <a:endParaRPr lang="en-US" altLang="zh-CN" sz="17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话题被划分成一系列分区，每个分区是有序的、不可更改的消息序列、可在末尾不断追加提交日志</a:t>
            </a:r>
            <a:r>
              <a:rPr lang="en-US" altLang="zh-CN" sz="1700" dirty="0">
                <a:effectLst/>
                <a:latin typeface="Times New Roman" panose="02020603050405020304" pitchFamily="18" charset="0"/>
                <a:ea typeface="宋体" panose="02010600030101010101" pitchFamily="2" charset="-122"/>
              </a:rPr>
              <a:t>(Commit Log)</a:t>
            </a:r>
            <a:endParaRPr lang="en-US" altLang="zh-CN" sz="1700" dirty="0">
              <a:effectLst/>
              <a:latin typeface="Times New Roman" panose="02020603050405020304" pitchFamily="18" charset="0"/>
              <a:ea typeface="宋体" panose="02010600030101010101" pitchFamily="2" charset="-122"/>
              <a:cs typeface="Times New Roman" panose="02020603050405020304" pitchFamily="18" charset="0"/>
            </a:endParaRPr>
          </a:p>
          <a:p>
            <a:pPr lvl="2" algn="just"/>
            <a:r>
              <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rPr>
              <a:t>分区里的每个消息分配了一个顺序号</a:t>
            </a:r>
            <a:r>
              <a:rPr lang="en-US" altLang="zh-CN" sz="1400" dirty="0">
                <a:effectLst/>
                <a:latin typeface="Times New Roman" panose="02020603050405020304" pitchFamily="18" charset="0"/>
                <a:ea typeface="宋体" panose="02010600030101010101" pitchFamily="2" charset="-122"/>
              </a:rPr>
              <a:t>(Sequential ID Number)</a:t>
            </a:r>
            <a:r>
              <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rPr>
              <a:t>，唯一地标识分区里的每个消息，这个顺序号也称为偏移量</a:t>
            </a:r>
            <a:r>
              <a:rPr lang="en-US" altLang="zh-CN" sz="1400" dirty="0">
                <a:effectLst/>
                <a:latin typeface="Times New Roman" panose="02020603050405020304" pitchFamily="18" charset="0"/>
                <a:ea typeface="宋体" panose="02010600030101010101" pitchFamily="2" charset="-122"/>
              </a:rPr>
              <a:t>(Offset)</a:t>
            </a:r>
            <a:endParaRPr lang="zh-CN" altLang="en-US" sz="13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07369853-867F-4DF0-B18F-847324E44672}"/>
              </a:ext>
            </a:extLst>
          </p:cNvPr>
          <p:cNvPicPr>
            <a:picLocks noChangeAspect="1"/>
          </p:cNvPicPr>
          <p:nvPr/>
        </p:nvPicPr>
        <p:blipFill>
          <a:blip r:embed="rId2"/>
          <a:stretch>
            <a:fillRect/>
          </a:stretch>
        </p:blipFill>
        <p:spPr>
          <a:xfrm>
            <a:off x="1447800" y="4191000"/>
            <a:ext cx="6324600" cy="2622148"/>
          </a:xfrm>
          <a:prstGeom prst="rect">
            <a:avLst/>
          </a:prstGeom>
        </p:spPr>
      </p:pic>
    </p:spTree>
    <p:extLst>
      <p:ext uri="{BB962C8B-B14F-4D97-AF65-F5344CB8AC3E}">
        <p14:creationId xmlns:p14="http://schemas.microsoft.com/office/powerpoint/2010/main" val="2557504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微软雅黑" panose="020B0503020204020204" pitchFamily="34" charset="-122"/>
                <a:ea typeface="宋体" panose="02010600030101010101" pitchFamily="2" charset="-122"/>
              </a:rPr>
              <a:t>话题和分区</a:t>
            </a:r>
            <a:endParaRPr lang="en-US" altLang="zh-CN" sz="1800" dirty="0">
              <a:solidFill>
                <a:srgbClr val="C00000"/>
              </a:solidFill>
              <a:effectLst/>
              <a:latin typeface="微软雅黑" panose="020B0503020204020204" pitchFamily="34" charset="-122"/>
              <a:ea typeface="宋体" panose="02010600030101010101" pitchFamily="2" charset="-122"/>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的消息服务里，使用分区机制，其目的有几个方面</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首先，</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分区机制允许</a:t>
            </a:r>
            <a:r>
              <a:rPr lang="en-US" altLang="zh-CN" sz="1800" dirty="0">
                <a:solidFill>
                  <a:srgbClr val="C00000"/>
                </a:solidFill>
                <a:effectLst/>
                <a:latin typeface="Times New Roman" panose="02020603050405020304" pitchFamily="18" charset="0"/>
                <a:ea typeface="宋体" panose="02010600030101010101" pitchFamily="2" charset="-122"/>
              </a:rPr>
              <a:t>Kafka</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处理超过一台服务器容量的日志规模</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每个独立的分区，可以由一个服务器来进行处理，一个话题有很多分区，这些分区分别由不同的服务器来进行处理，那么就使得</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在设计上可以处理任意规模的数据量。</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其次，</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分区是并行处理的基本单元</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，如果没有分区，就无从进行并行处理</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32374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微软雅黑" panose="020B0503020204020204" pitchFamily="34" charset="-122"/>
                <a:ea typeface="宋体" panose="02010600030101010101" pitchFamily="2" charset="-122"/>
              </a:rPr>
              <a:t>偏移量</a:t>
            </a:r>
            <a:endParaRPr lang="en-US" altLang="zh-CN" sz="1800" dirty="0">
              <a:solidFill>
                <a:srgbClr val="C00000"/>
              </a:solidFill>
              <a:effectLst/>
              <a:latin typeface="微软雅黑" panose="020B0503020204020204" pitchFamily="34" charset="-122"/>
              <a:ea typeface="宋体" panose="02010600030101010101" pitchFamily="2" charset="-122"/>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对分区的消息队列的处理，依赖于一个偏移量</a:t>
            </a:r>
            <a:r>
              <a:rPr lang="en-US" altLang="zh-CN" sz="1800" dirty="0">
                <a:effectLst/>
                <a:latin typeface="Times New Roman" panose="02020603050405020304" pitchFamily="18" charset="0"/>
                <a:ea typeface="宋体" panose="02010600030101010101" pitchFamily="2" charset="-122"/>
              </a:rPr>
              <a:t>(Offset)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偏移量由消费者控制，它指出了每个消费者目前处理到的某个分区的消息队列的位置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一般来讲，当消费者不断地消费消息以后，偏移量不断地向前推进</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但是由于偏移量是由消费者控制的，所以消费者可以以任何顺序来消费消息，也可以把偏移量设定回一个老的偏移量，以便消费已经消费过的消息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用户甚至可以设计这样的消费者，它仅仅偷偷查看话题的每个分区的末尾若干消息，但是并未改变这些消息，其它的消费者仍然可以正常消费这些消息</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6840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集群</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一个</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集群通常包括多个代理</a:t>
            </a:r>
            <a:r>
              <a:rPr lang="en-US" altLang="zh-CN" sz="1800" dirty="0">
                <a:effectLst/>
                <a:latin typeface="Times New Roman" panose="02020603050405020304" pitchFamily="18" charset="0"/>
                <a:ea typeface="宋体" panose="02010600030101010101" pitchFamily="2" charset="-122"/>
              </a:rPr>
              <a:t>(Broker)</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为了均衡负载，将话题分成多个分区</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每个代理存储一个或多个分区</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多个生产者和消费者能够同时生产和获取消息</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093F361C-8808-4EAD-8A96-F5E6254C2BC9}"/>
              </a:ext>
            </a:extLst>
          </p:cNvPr>
          <p:cNvPicPr>
            <a:picLocks noChangeAspect="1"/>
          </p:cNvPicPr>
          <p:nvPr/>
        </p:nvPicPr>
        <p:blipFill>
          <a:blip r:embed="rId2"/>
          <a:stretch>
            <a:fillRect/>
          </a:stretch>
        </p:blipFill>
        <p:spPr>
          <a:xfrm>
            <a:off x="2057400" y="3810000"/>
            <a:ext cx="5334000" cy="2269625"/>
          </a:xfrm>
          <a:prstGeom prst="rect">
            <a:avLst/>
          </a:prstGeom>
        </p:spPr>
      </p:pic>
    </p:spTree>
    <p:extLst>
      <p:ext uri="{BB962C8B-B14F-4D97-AF65-F5344CB8AC3E}">
        <p14:creationId xmlns:p14="http://schemas.microsoft.com/office/powerpoint/2010/main" val="2657913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数据分布与存储</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把消息分区，分布到</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集群的各个服务器上，每个服务器负责这些分区的数据的管理和消息的请求</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每个分区的数据，还被复制</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到一定数量的服务器上</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可以配置服务器的数量</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，以支持容错</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对于每个分区，其中一台服务器作为领导者</a:t>
            </a:r>
            <a:r>
              <a:rPr lang="en-US" altLang="zh-CN" sz="1800" dirty="0">
                <a:effectLst/>
                <a:latin typeface="Times New Roman" panose="02020603050405020304" pitchFamily="18" charset="0"/>
                <a:ea typeface="宋体" panose="02010600030101010101" pitchFamily="2" charset="-122"/>
              </a:rPr>
              <a:t>(</a:t>
            </a:r>
            <a:r>
              <a:rPr lang="en-US" altLang="zh-CN" sz="1800" dirty="0">
                <a:solidFill>
                  <a:srgbClr val="C00000"/>
                </a:solidFill>
                <a:effectLst/>
                <a:latin typeface="Times New Roman" panose="02020603050405020304" pitchFamily="18" charset="0"/>
                <a:ea typeface="宋体" panose="02010600030101010101" pitchFamily="2" charset="-122"/>
              </a:rPr>
              <a:t>Leader</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，若干台服务器作为追随者</a:t>
            </a:r>
            <a:r>
              <a:rPr lang="en-US" altLang="zh-CN" sz="1800" dirty="0">
                <a:effectLst/>
                <a:latin typeface="Times New Roman" panose="02020603050405020304" pitchFamily="18" charset="0"/>
                <a:ea typeface="宋体" panose="02010600030101010101" pitchFamily="2" charset="-122"/>
              </a:rPr>
              <a:t>(</a:t>
            </a:r>
            <a:r>
              <a:rPr lang="en-US" altLang="zh-CN" sz="1800" dirty="0">
                <a:solidFill>
                  <a:srgbClr val="C00000"/>
                </a:solidFill>
                <a:effectLst/>
                <a:latin typeface="Times New Roman" panose="02020603050405020304" pitchFamily="18" charset="0"/>
                <a:ea typeface="宋体" panose="02010600030101010101" pitchFamily="2" charset="-122"/>
              </a:rPr>
              <a:t>Follower</a:t>
            </a:r>
            <a:r>
              <a:rPr lang="en-US" altLang="zh-CN" sz="1800" dirty="0">
                <a:effectLst/>
                <a:latin typeface="Times New Roman" panose="02020603050405020304" pitchFamily="18" charset="0"/>
                <a:ea typeface="宋体" panose="02010600030101010101" pitchFamily="2" charset="-122"/>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领导者负责分区的读、写请求，追随者以被动地方式</a:t>
            </a:r>
            <a:r>
              <a:rPr lang="en-US" altLang="zh-CN" sz="1800" dirty="0">
                <a:effectLst/>
                <a:latin typeface="Times New Roman" panose="02020603050405020304" pitchFamily="18" charset="0"/>
                <a:ea typeface="宋体" panose="02010600030101010101" pitchFamily="2" charset="-122"/>
              </a:rPr>
              <a:t>(Passively)</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对领导者的数据进行复制</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如果领导者发生失败状况，追随者之一将自动地成为新的领导者</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为了保证集群内的负载均衡，每个服务器都担任了一部分分区的领导者、以及一部分分区的追随者的角色</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85613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数据分布与存储</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6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的存储布局非常简单</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话题的每个分区对应一个逻辑日志</a:t>
            </a:r>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物理上，一个日志为相同大小的一组分段文件。每次生产者发布消息到一个分区，代理</a:t>
            </a:r>
            <a:r>
              <a:rPr lang="en-US" altLang="zh-CN" sz="1600" dirty="0">
                <a:effectLst/>
                <a:latin typeface="Times New Roman" panose="02020603050405020304" pitchFamily="18" charset="0"/>
                <a:ea typeface="宋体" panose="02010600030101010101" pitchFamily="2" charset="-122"/>
                <a:cs typeface="宋体" panose="02010600030101010101" pitchFamily="2" charset="-122"/>
              </a:rPr>
              <a:t>(Broker)</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就将消息追加到最后一个分段文件中</a:t>
            </a:r>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当发布的消息数量达到设定值或者经过一定的时间后，分段文件真正写入磁盘中。写入完成后，消息公开给消费者。</a:t>
            </a:r>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与传统的消息系统不同，</a:t>
            </a:r>
            <a:r>
              <a:rPr lang="en-US" altLang="zh-CN" sz="1600" dirty="0">
                <a:effectLst/>
                <a:latin typeface="Times New Roman" panose="02020603050405020304" pitchFamily="18" charset="0"/>
                <a:ea typeface="宋体" panose="02010600030101010101" pitchFamily="2" charset="-122"/>
              </a:rPr>
              <a:t>Kafka</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系统中存储的消息没有明确的消息</a:t>
            </a:r>
            <a:r>
              <a:rPr lang="en-US" altLang="zh-CN" sz="1600" dirty="0">
                <a:effectLst/>
                <a:latin typeface="Times New Roman" panose="02020603050405020304" pitchFamily="18" charset="0"/>
                <a:ea typeface="宋体" panose="02010600030101010101" pitchFamily="2" charset="-122"/>
              </a:rPr>
              <a:t>ID</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。消息通过日志中的逻辑偏移量来公开</a:t>
            </a:r>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消息</a:t>
            </a:r>
            <a:r>
              <a:rPr lang="en-US" altLang="zh-CN" sz="1600" dirty="0">
                <a:effectLst/>
                <a:latin typeface="Times New Roman" panose="02020603050405020304" pitchFamily="18" charset="0"/>
                <a:ea typeface="宋体" panose="02010600030101010101" pitchFamily="2" charset="-122"/>
              </a:rPr>
              <a:t>ID</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是增量的，但不连续。要计算下一消息的</a:t>
            </a:r>
            <a:r>
              <a:rPr lang="en-US" altLang="zh-CN" sz="1600" dirty="0">
                <a:effectLst/>
                <a:latin typeface="Times New Roman" panose="02020603050405020304" pitchFamily="18" charset="0"/>
                <a:ea typeface="宋体" panose="02010600030101010101" pitchFamily="2" charset="-122"/>
              </a:rPr>
              <a:t>ID</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，可以在其逻辑偏移的基础上加上当前消息的长度</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1C253AEC-D838-4A48-BEDF-3C0A893886D4}"/>
              </a:ext>
            </a:extLst>
          </p:cNvPr>
          <p:cNvPicPr>
            <a:picLocks noChangeAspect="1"/>
          </p:cNvPicPr>
          <p:nvPr/>
        </p:nvPicPr>
        <p:blipFill>
          <a:blip r:embed="rId2"/>
          <a:stretch>
            <a:fillRect/>
          </a:stretch>
        </p:blipFill>
        <p:spPr>
          <a:xfrm>
            <a:off x="2400300" y="4495800"/>
            <a:ext cx="4343400" cy="2261834"/>
          </a:xfrm>
          <a:prstGeom prst="rect">
            <a:avLst/>
          </a:prstGeom>
        </p:spPr>
      </p:pic>
    </p:spTree>
    <p:extLst>
      <p:ext uri="{BB962C8B-B14F-4D97-AF65-F5344CB8AC3E}">
        <p14:creationId xmlns:p14="http://schemas.microsoft.com/office/powerpoint/2010/main" val="1180779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代理</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与其它消息系统不同，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代理是</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无状态的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。这意味着消费者必须维护已消费的状态信息。这些信息由消费者自己维护，代理完全不管</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首先，从代理删除消息变得困难，因为代理并不知道消费者是否已经使用了该消息。</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创新性地解决了这个问题，它将一个简单的基于时间的</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SLA(Service Level Agreement)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应用于保留策略。当消息在代理中</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超过一定时间后，将会被自动删除</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其次，这种设计有一个很大的好处，消费者可以倒回到老的偏移量再次消费数据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2" algn="just"/>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虽然违反了队列的常见约定，但是在很多实际应用中，表现出这种消费者的特征</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1222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生产者</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生产者向话题发布数据</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一般是日志数据</a:t>
            </a:r>
            <a:r>
              <a:rPr lang="en-US" altLang="zh-CN" sz="1800" dirty="0">
                <a:effectLst/>
                <a:latin typeface="Times New Roman" panose="02020603050405020304" pitchFamily="18" charset="0"/>
                <a:ea typeface="宋体" panose="02010600030101010101" pitchFamily="2" charset="-122"/>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由于消息系统的每个话题是分区的，</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生产者必须指定把消息分配到哪个分区</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可以采用</a:t>
            </a:r>
            <a:r>
              <a:rPr lang="en-US" altLang="zh-CN" sz="1800" dirty="0">
                <a:effectLst/>
                <a:latin typeface="Times New Roman" panose="02020603050405020304" pitchFamily="18" charset="0"/>
                <a:ea typeface="宋体" panose="02010600030101010101" pitchFamily="2" charset="-122"/>
              </a:rPr>
              <a:t>Round-Robin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的方式，以便均衡负载</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也可以根据某些应用的语义要求，设计专用的分区函数</a:t>
            </a:r>
            <a:r>
              <a:rPr lang="en-US" altLang="zh-CN" sz="1800" dirty="0">
                <a:effectLst/>
                <a:latin typeface="Times New Roman" panose="02020603050405020304" pitchFamily="18" charset="0"/>
                <a:ea typeface="宋体" panose="02010600030101010101" pitchFamily="2" charset="-122"/>
              </a:rPr>
              <a:t>(Partition Function)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，进行消息的分区</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20220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5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5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消费者</a:t>
            </a:r>
            <a:endParaRPr lang="en-US" altLang="zh-CN" sz="15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1500" dirty="0">
                <a:effectLst/>
                <a:latin typeface="Times New Roman" panose="02020603050405020304" pitchFamily="18" charset="0"/>
                <a:ea typeface="宋体" panose="02010600030101010101" pitchFamily="2" charset="-122"/>
                <a:cs typeface="Times New Roman" panose="02020603050405020304" pitchFamily="18" charset="0"/>
              </a:rPr>
              <a:t>下图</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展示了由两个服务器构成的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集群，管理某个话题的四个分区</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(P0-P3)</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，配置了两个消费者组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(Group A, Group B)</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有两个消费者实例，消费者组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有四个消费者实例</a:t>
            </a:r>
            <a:endPar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从各个分区来看，每个分区的消息，被广播给所有的消费者组，比如分区</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P0</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，被广播给消费者组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和消费者组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，分区</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P1</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被广播给消费者组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和消费者组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另外，在每个消费者组内，发布到组内的消息被各个消费者分担处理了。比如发送到消费者组</a:t>
            </a:r>
            <a:r>
              <a:rPr lang="en-US" altLang="zh-CN" sz="1500" dirty="0">
                <a:effectLst/>
                <a:latin typeface="Times New Roman" panose="02020603050405020304" pitchFamily="18" charset="0"/>
                <a:ea typeface="宋体" panose="02010600030101010101" pitchFamily="2" charset="-122"/>
              </a:rPr>
              <a:t>A</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500" dirty="0">
                <a:effectLst/>
                <a:latin typeface="Times New Roman" panose="02020603050405020304" pitchFamily="18" charset="0"/>
                <a:ea typeface="宋体" panose="02010600030101010101" pitchFamily="2" charset="-122"/>
              </a:rPr>
              <a:t>P0</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500" dirty="0">
                <a:effectLst/>
                <a:latin typeface="Times New Roman" panose="02020603050405020304" pitchFamily="18" charset="0"/>
                <a:ea typeface="宋体" panose="02010600030101010101" pitchFamily="2" charset="-122"/>
              </a:rPr>
              <a:t>P1</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分区的消息，被消费者</a:t>
            </a:r>
            <a:r>
              <a:rPr lang="en-US" altLang="zh-CN" sz="1500" dirty="0">
                <a:effectLst/>
                <a:latin typeface="Times New Roman" panose="02020603050405020304" pitchFamily="18" charset="0"/>
                <a:ea typeface="宋体" panose="02010600030101010101" pitchFamily="2" charset="-122"/>
              </a:rPr>
              <a:t>C1</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处理，而发送到该组的</a:t>
            </a:r>
            <a:r>
              <a:rPr lang="en-US" altLang="zh-CN" sz="1500" dirty="0">
                <a:effectLst/>
                <a:latin typeface="Times New Roman" panose="02020603050405020304" pitchFamily="18" charset="0"/>
                <a:ea typeface="宋体" panose="02010600030101010101" pitchFamily="2" charset="-122"/>
              </a:rPr>
              <a:t>P1</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500" dirty="0">
                <a:effectLst/>
                <a:latin typeface="Times New Roman" panose="02020603050405020304" pitchFamily="18" charset="0"/>
                <a:ea typeface="宋体" panose="02010600030101010101" pitchFamily="2" charset="-122"/>
              </a:rPr>
              <a:t>P2</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分区的消息，则被消费者</a:t>
            </a:r>
            <a:r>
              <a:rPr lang="en-US" altLang="zh-CN" sz="1500" dirty="0">
                <a:effectLst/>
                <a:latin typeface="Times New Roman" panose="02020603050405020304" pitchFamily="18" charset="0"/>
                <a:ea typeface="宋体" panose="02010600030101010101" pitchFamily="2" charset="-122"/>
              </a:rPr>
              <a:t>C2</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进行处理</a:t>
            </a:r>
            <a:endParaRPr lang="zh-CN" altLang="en-US" sz="15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3CE86A4-50E6-4A5C-9ED6-3C26CFF8E56A}"/>
              </a:ext>
            </a:extLst>
          </p:cNvPr>
          <p:cNvPicPr>
            <a:picLocks noChangeAspect="1"/>
          </p:cNvPicPr>
          <p:nvPr/>
        </p:nvPicPr>
        <p:blipFill>
          <a:blip r:embed="rId2"/>
          <a:stretch>
            <a:fillRect/>
          </a:stretch>
        </p:blipFill>
        <p:spPr>
          <a:xfrm>
            <a:off x="2247900" y="4038600"/>
            <a:ext cx="4648200" cy="2713393"/>
          </a:xfrm>
          <a:prstGeom prst="rect">
            <a:avLst/>
          </a:prstGeom>
        </p:spPr>
      </p:pic>
    </p:spTree>
    <p:extLst>
      <p:ext uri="{BB962C8B-B14F-4D97-AF65-F5344CB8AC3E}">
        <p14:creationId xmlns:p14="http://schemas.microsoft.com/office/powerpoint/2010/main" val="2227387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消息的有序性</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在存储消息的时候，提供了和传统消息系统一样的顺序保证</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传统的消息队列在服务器上维护消息的顺序，即便有多个消费者从队列中消费这些消息，这些消息以它们存储的顺序，向外递送</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(Hand Out)</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虽然服务器向外递送消息是按照顺序的，但是消息是异步地递送给各个消费者的，它们到达消费者的顺序有可能被打乱了。也就是说，利用多个消费者进行消息的并行处理的时候，消息的顺序丢失了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消息系统也可以仅仅使用一个消费进程</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独占消费者，</a:t>
            </a:r>
            <a:r>
              <a:rPr lang="en-US" altLang="zh-CN" sz="1800" dirty="0">
                <a:effectLst/>
                <a:latin typeface="Times New Roman" panose="02020603050405020304" pitchFamily="18" charset="0"/>
                <a:ea typeface="宋体" panose="02010600030101010101" pitchFamily="2" charset="-122"/>
              </a:rPr>
              <a:t>Exclusive 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从队列中消费消息，以保证消息被消费的顺序，但是这种处理方法舍弃了并行性</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177CC0C-7AAF-41B3-8F15-620021CBD36B}"/>
              </a:ext>
            </a:extLst>
          </p:cNvPr>
          <p:cNvSpPr txBox="1"/>
          <p:nvPr/>
        </p:nvSpPr>
        <p:spPr>
          <a:xfrm>
            <a:off x="990600" y="4953000"/>
            <a:ext cx="7543800" cy="1754326"/>
          </a:xfrm>
          <a:prstGeom prst="rect">
            <a:avLst/>
          </a:prstGeom>
          <a:solidFill>
            <a:schemeClr val="bg1">
              <a:lumMod val="95000"/>
            </a:schemeClr>
          </a:solidFill>
          <a:ln>
            <a:solidFill>
              <a:schemeClr val="accent1"/>
            </a:solidFill>
          </a:ln>
        </p:spPr>
        <p:txBody>
          <a:bodyPr wrap="square">
            <a:spAutoFit/>
          </a:bodyPr>
          <a:lstStyle/>
          <a:p>
            <a:pPr marL="285750" indent="-285750" algn="just">
              <a:buFont typeface="Arial" panose="020B0604020202020204" pitchFamily="34" charset="0"/>
              <a:buChar cha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需要注意的是，</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仅仅提供了</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分区内消息的有序性</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，并不能保证一个话题的不同分区之间的消息的有序性</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对于大量的实际应用来讲，在分区内保证消息的有序性，和数据的分区处理已经足够了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但是，如果用户需要在所有消息上实现顺序处理，只能在一个话题里有一个分区，而且只能由一个消费者进行处理</a:t>
            </a:r>
            <a:endParaRPr lang="zh-CN" altLang="en-US" dirty="0"/>
          </a:p>
        </p:txBody>
      </p:sp>
    </p:spTree>
    <p:extLst>
      <p:ext uri="{BB962C8B-B14F-4D97-AF65-F5344CB8AC3E}">
        <p14:creationId xmlns:p14="http://schemas.microsoft.com/office/powerpoint/2010/main" val="1217235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7971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以高度的扩展能力和高性能，获得了极大的关注，并且在大量的实际系统中得到应用。</a:t>
            </a: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消息传递</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(Messaging)</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在消息处理领域，</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可以作为传统消息队列的替代品，比如</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ActiveMQ</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RabbitMQ</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。使用消息代理</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(Message 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，可以把紧密耦合的系统设计给解耦，可以对未及时处理的消息进行缓存</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相对于大部分传统消息系统，</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具有更高的吞吐能力，并且提供了分区、复制、以及容错的支持，使得它成为大型消息处理系统的优先选择</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在某些应用场合，并不需要很高的吞吐能力，但是要求消息处理的延迟要尽量小，并且需要系统提供消息的可保证，</a:t>
            </a:r>
            <a:r>
              <a:rPr lang="en-US" altLang="zh-CN" sz="1800" dirty="0">
                <a:solidFill>
                  <a:srgbClr val="C00000"/>
                </a:solidFill>
                <a:effectLst/>
                <a:latin typeface="Times New Roman" panose="02020603050405020304" pitchFamily="18" charset="0"/>
                <a:ea typeface="宋体" panose="02010600030101010101" pitchFamily="2" charset="-122"/>
              </a:rPr>
              <a:t>Kafka</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的高性能以及持久化能力</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，正好提供这样的支持</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08255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网站活动跟踪</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(Website Activity Tracking)</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网站上的用户活动，包括查看页面</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(Page Views)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、搜索</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(Search)</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、以及其它动作，可以发布到一些话题上，每类用户活动对应一个话题</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这些消息，可以被一些消费者程序进行订阅和处理，包括一些实时处理程序比如实时监控，也可以装载到</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Hadoop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或者数据仓库系统，以便进行离线式的批处理以及报表生成</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在用户活动跟踪过程中，为了记录大量的用户活动，系统必须能够处理快速产生的消息，每个消息对应用户的一次页面点击、或者一次搜索操作</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的高性能为大量消息的及时处理，提供了保证</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9885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lnSpcReduction="10000"/>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度量</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(Metric)</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经常应用在业务运营数据的监控与汇总中</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在这类应用中，需要把各个应用程序的数据，集中到一起，然后在它上边进行汇总统计</a:t>
            </a: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日志聚集</a:t>
            </a: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日志聚集应用，一般从各个服务器收集日志文件，然后保存到一个集中的存储位置，比如一个文件服务器，或者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HDFS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，然后进行后续的处理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通过抽象，把日志文件里面的日志或者事件，看作是一个消息流</a:t>
            </a:r>
            <a:r>
              <a:rPr lang="en-US" altLang="zh-CN" sz="1800" dirty="0">
                <a:effectLst/>
                <a:latin typeface="Times New Roman" panose="02020603050405020304" pitchFamily="18" charset="0"/>
                <a:ea typeface="宋体" panose="02010600030101010101" pitchFamily="2" charset="-122"/>
              </a:rPr>
              <a:t>(Stream of Message)</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的设计支持低延迟地处理多数据源的数据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相对于</a:t>
            </a:r>
            <a:r>
              <a:rPr lang="en-US" altLang="zh-CN" sz="1800" dirty="0">
                <a:solidFill>
                  <a:srgbClr val="C00000"/>
                </a:solidFill>
                <a:effectLst/>
                <a:latin typeface="Times New Roman" panose="02020603050405020304" pitchFamily="18" charset="0"/>
                <a:ea typeface="宋体" panose="02010600030101010101" pitchFamily="2" charset="-122"/>
              </a:rPr>
              <a:t>Scribe</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C00000"/>
                </a:solidFill>
                <a:effectLst/>
                <a:latin typeface="Times New Roman" panose="02020603050405020304" pitchFamily="18" charset="0"/>
                <a:ea typeface="宋体" panose="02010600030101010101" pitchFamily="2" charset="-122"/>
              </a:rPr>
              <a:t>Flume</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等日志处理系统，</a:t>
            </a:r>
            <a:r>
              <a:rPr lang="en-US" altLang="zh-CN" sz="1800" dirty="0">
                <a:solidFill>
                  <a:srgbClr val="C00000"/>
                </a:solidFill>
                <a:effectLst/>
                <a:latin typeface="Times New Roman" panose="02020603050405020304" pitchFamily="18" charset="0"/>
                <a:ea typeface="宋体" panose="02010600030101010101" pitchFamily="2" charset="-122"/>
              </a:rPr>
              <a:t>Kafka</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提供足够好的性能</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，即它提供更低的处理延迟，并且保证消息的持久性</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0805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流数据处理</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(Stream Processing)</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Storm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Samza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等系统一样，</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同样可以使用于流数据处理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在某些应用中，用户对数据的处理是分阶段进行的，首先从各个数据源进行数据聚集，然后对数据进行标注和语义丰富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(Enrich)</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，进行必要数据转换</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(Transform)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，以便后续的消费和使用</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比如，在文章推荐应用中，整个处理流程大概可以分为如下几个阶段</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首先从</a:t>
            </a:r>
            <a:r>
              <a:rPr lang="en-US" altLang="zh-CN" sz="1800" dirty="0">
                <a:effectLst/>
                <a:latin typeface="Times New Roman" panose="02020603050405020304" pitchFamily="18" charset="0"/>
                <a:ea typeface="宋体" panose="02010600030101010101" pitchFamily="2" charset="-122"/>
              </a:rPr>
              <a:t>RSS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数据源爬取</a:t>
            </a:r>
            <a:r>
              <a:rPr lang="en-US" altLang="zh-CN" sz="1800" dirty="0">
                <a:effectLst/>
                <a:latin typeface="Times New Roman" panose="02020603050405020304" pitchFamily="18" charset="0"/>
                <a:ea typeface="宋体" panose="02010600030101010101" pitchFamily="2" charset="-122"/>
              </a:rPr>
              <a:t>(Crawl)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各类文章，发布到</a:t>
            </a:r>
            <a:r>
              <a:rPr lang="en-US" altLang="zh-CN" sz="1800" dirty="0">
                <a:effectLst/>
                <a:latin typeface="Times New Roman" panose="02020603050405020304" pitchFamily="18" charset="0"/>
                <a:ea typeface="宋体" panose="02010600030101010101" pitchFamily="2" charset="-122"/>
              </a:rPr>
              <a:t>“Article”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主题</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然后，对这些文章进行规范化</a:t>
            </a:r>
            <a:r>
              <a:rPr lang="en-US" altLang="zh-CN" sz="1800" dirty="0">
                <a:effectLst/>
                <a:latin typeface="Times New Roman" panose="02020603050405020304" pitchFamily="18" charset="0"/>
                <a:ea typeface="宋体" panose="02010600030101010101" pitchFamily="2" charset="-122"/>
              </a:rPr>
              <a:t>(Normalize)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、去重</a:t>
            </a:r>
            <a:r>
              <a:rPr lang="en-US" altLang="zh-CN" sz="1800" dirty="0">
                <a:effectLst/>
                <a:latin typeface="Times New Roman" panose="02020603050405020304" pitchFamily="18" charset="0"/>
                <a:ea typeface="宋体" panose="02010600030101010101" pitchFamily="2" charset="-122"/>
              </a:rPr>
              <a:t>(De-Duplicate)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等处理，发布到</a:t>
            </a:r>
            <a:r>
              <a:rPr lang="en-US" altLang="zh-CN" sz="1800" dirty="0">
                <a:effectLst/>
                <a:latin typeface="Times New Roman" panose="02020603050405020304" pitchFamily="18" charset="0"/>
                <a:ea typeface="宋体" panose="02010600030101010101" pitchFamily="2" charset="-122"/>
              </a:rPr>
              <a:t>“Clean Article”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主题</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最后，可以根据用户的喜好，把文章推荐给用户</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这些处理阶段，构成了一个实时数据处理流程，把各个主题链接起来</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52402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事件溯源</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Event Sourcing</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事件溯源，是把应用程序状态的变化，以具有时间顺序的</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每个记录有时间戳</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一系列消息，记录下来</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换句话说，即保存一个对象所经历的每个事件，所有由该对象产生的事件都按照时间先后顺序有序地存放在数据库中</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支持大量日志数据的存储，使得它成为事件溯源系统的后端数据存储的可靠选择</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4528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lnSpcReduction="10000"/>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提交日志</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Commit Log</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可以作为分布式系统提交日志的外部存储服务</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在分布式系统中，这些日志帮助节点之间进行数据复制，并且在节点失败后，利用日志作为重新同步的机制，帮助节点把数据恢复回来</a:t>
            </a:r>
          </a:p>
          <a:p>
            <a:pPr indent="274955"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支持日志压缩</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(Log Compaction)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功能，支持上述应用场景</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在这个应用场景中，</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提供了类似于</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Apache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BookKeeper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的功能</a:t>
            </a:r>
          </a:p>
          <a:p>
            <a:pPr indent="266700" algn="just"/>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简而言之，</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的应用场景很广泛，包括暂时存储各种类型的数据包括网站活动跟踪</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en-US" altLang="zh-CN" sz="1800" dirty="0">
                <a:solidFill>
                  <a:srgbClr val="555555"/>
                </a:solidFill>
                <a:effectLst/>
                <a:latin typeface="Times New Roman" panose="02020603050405020304" pitchFamily="18" charset="0"/>
                <a:ea typeface="宋体" panose="02010600030101010101" pitchFamily="2" charset="-122"/>
                <a:cs typeface="宋体" panose="02010600030101010101" pitchFamily="2" charset="-122"/>
              </a:rPr>
              <a:t>website activity tracking</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、日志集中和聚集</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en-US" altLang="zh-CN" sz="1800" dirty="0">
                <a:solidFill>
                  <a:srgbClr val="555555"/>
                </a:solidFill>
                <a:effectLst/>
                <a:latin typeface="Times New Roman" panose="02020603050405020304" pitchFamily="18" charset="0"/>
                <a:ea typeface="宋体" panose="02010600030101010101" pitchFamily="2" charset="-122"/>
                <a:cs typeface="宋体" panose="02010600030101010101" pitchFamily="2" charset="-122"/>
              </a:rPr>
              <a:t>log aggregation</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、传感器数据收集和监控</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en-US" altLang="zh-CN" sz="1800" dirty="0">
                <a:solidFill>
                  <a:srgbClr val="555555"/>
                </a:solidFill>
                <a:effectLst/>
                <a:latin typeface="Times New Roman" panose="02020603050405020304" pitchFamily="18" charset="0"/>
                <a:ea typeface="宋体" panose="02010600030101010101" pitchFamily="2" charset="-122"/>
                <a:cs typeface="宋体" panose="02010600030101010101" pitchFamily="2" charset="-122"/>
              </a:rPr>
              <a:t>metrics collection and monitoring</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，以及把数据转移到</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Hadoop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Spark</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平台等</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可以保存提交日志</a:t>
            </a:r>
            <a:r>
              <a:rPr lang="en-US" altLang="zh-CN" sz="1800" dirty="0">
                <a:effectLst/>
                <a:latin typeface="Times New Roman" panose="02020603050405020304" pitchFamily="18" charset="0"/>
                <a:ea typeface="宋体" panose="02010600030101010101" pitchFamily="2" charset="-122"/>
              </a:rPr>
              <a:t>(</a:t>
            </a:r>
            <a:r>
              <a:rPr lang="en-US" altLang="zh-CN" sz="1800" dirty="0">
                <a:solidFill>
                  <a:srgbClr val="555555"/>
                </a:solidFill>
                <a:effectLst/>
                <a:latin typeface="Times New Roman" panose="02020603050405020304" pitchFamily="18" charset="0"/>
                <a:ea typeface="宋体" panose="02010600030101010101" pitchFamily="2" charset="-122"/>
              </a:rPr>
              <a:t>commit log for in-memory computing</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，保证内存数据处理系统的可恢复性和可靠性</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4233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E51202DE-4712-4863-AA76-5558FE75CE4C}"/>
              </a:ext>
            </a:extLst>
          </p:cNvPr>
          <p:cNvPicPr>
            <a:picLocks noChangeAspect="1"/>
          </p:cNvPicPr>
          <p:nvPr/>
        </p:nvPicPr>
        <p:blipFill>
          <a:blip r:embed="rId2"/>
          <a:stretch>
            <a:fillRect/>
          </a:stretch>
        </p:blipFill>
        <p:spPr>
          <a:xfrm>
            <a:off x="1143000" y="2171761"/>
            <a:ext cx="6858000" cy="4421992"/>
          </a:xfrm>
          <a:prstGeom prst="rect">
            <a:avLst/>
          </a:prstGeom>
        </p:spPr>
      </p:pic>
    </p:spTree>
    <p:extLst>
      <p:ext uri="{BB962C8B-B14F-4D97-AF65-F5344CB8AC3E}">
        <p14:creationId xmlns:p14="http://schemas.microsoft.com/office/powerpoint/2010/main" val="3478361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小结</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是一款支持大量数据处理的消息系统。它提供低延迟、高吞吐量的消息处理，并且保证消息的持久性</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基于拉</a:t>
            </a:r>
            <a:r>
              <a:rPr lang="en-US" altLang="zh-CN" sz="1800" dirty="0">
                <a:effectLst/>
                <a:latin typeface="Times New Roman" panose="02020603050405020304" pitchFamily="18" charset="0"/>
                <a:ea typeface="宋体" panose="02010600030101010101" pitchFamily="2" charset="-122"/>
              </a:rPr>
              <a:t>(Pull)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的消费模型，让消费者以自己的速度处理消息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如果处理消息时出现了异常，消费者始终可以选择再消费该消息</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53800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421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p>
          <a:p>
            <a:pPr lvl="1" algn="just"/>
            <a:r>
              <a:rPr lang="en-US" altLang="zh-CN" sz="1800" dirty="0">
                <a:solidFill>
                  <a:srgbClr val="C00000"/>
                </a:solidFill>
                <a:effectLst/>
                <a:latin typeface="Times New Roman" panose="02020603050405020304" pitchFamily="18" charset="0"/>
                <a:ea typeface="宋体" panose="02010600030101010101" pitchFamily="2" charset="-122"/>
              </a:rPr>
              <a:t>Zookeeper</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是一款协调服务软件</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我们可以使用</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构建</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可靠的、分布式的数据结构</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提供群组成员维护、领导人选举、工作流协同、分布式系统同步、命名、和配置信息维护等服务，以及广义的分布式数据结构如锁、队列、屏障</a:t>
            </a:r>
            <a:r>
              <a:rPr lang="en-US" altLang="zh-CN" sz="1800" dirty="0">
                <a:effectLst/>
                <a:latin typeface="Times New Roman" panose="02020603050405020304" pitchFamily="18" charset="0"/>
                <a:ea typeface="宋体" panose="02010600030101010101" pitchFamily="2" charset="-122"/>
              </a:rPr>
              <a:t>(Barrier)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和锁存器</a:t>
            </a:r>
            <a:r>
              <a:rPr lang="en-US" altLang="zh-CN" sz="1800" dirty="0">
                <a:effectLst/>
                <a:latin typeface="Times New Roman" panose="02020603050405020304" pitchFamily="18" charset="0"/>
                <a:ea typeface="宋体" panose="02010600030101010101" pitchFamily="2" charset="-122"/>
              </a:rPr>
              <a:t>(Latch)</a:t>
            </a: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许多知名的项目依赖于</a:t>
            </a:r>
            <a:r>
              <a:rPr lang="en-US" altLang="zh-CN" sz="1800" dirty="0">
                <a:effectLst/>
                <a:latin typeface="Times New Roman" panose="02020603050405020304" pitchFamily="18" charset="0"/>
                <a:ea typeface="宋体" panose="02010600030101010101" pitchFamily="2" charset="-122"/>
              </a:rPr>
              <a:t> 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，包括</a:t>
            </a:r>
            <a:r>
              <a:rPr lang="en-US" altLang="zh-CN" sz="1800" dirty="0">
                <a:effectLst/>
                <a:latin typeface="Times New Roman" panose="02020603050405020304" pitchFamily="18" charset="0"/>
                <a:ea typeface="宋体" panose="02010600030101010101" pitchFamily="2" charset="-122"/>
              </a:rPr>
              <a:t>HBase</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77915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下图</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展示了典型的</a:t>
            </a:r>
            <a:r>
              <a:rPr lang="en-US" altLang="zh-CN" sz="1800" dirty="0">
                <a:effectLst/>
                <a:latin typeface="Times New Roman" panose="02020603050405020304" pitchFamily="18" charset="0"/>
                <a:ea typeface="宋体" panose="02010600030101010101" pitchFamily="2" charset="-122"/>
              </a:rPr>
              <a:t>Zookeeper Ensemble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，一台服务器作为</a:t>
            </a:r>
            <a:r>
              <a:rPr lang="en-US" altLang="zh-CN" sz="1800" dirty="0">
                <a:effectLst/>
                <a:latin typeface="Times New Roman" panose="02020603050405020304" pitchFamily="18" charset="0"/>
                <a:ea typeface="宋体" panose="02010600030101010101" pitchFamily="2" charset="-122"/>
              </a:rPr>
              <a:t>Leader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，其它作为</a:t>
            </a:r>
            <a:r>
              <a:rPr lang="en-US" altLang="zh-CN" sz="1800" dirty="0">
                <a:effectLst/>
                <a:latin typeface="Times New Roman" panose="02020603050405020304" pitchFamily="18" charset="0"/>
                <a:ea typeface="宋体" panose="02010600030101010101" pitchFamily="2" charset="-122"/>
              </a:rPr>
              <a:t>Follower</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dirty="0">
                <a:effectLst/>
                <a:latin typeface="Times New Roman" panose="02020603050405020304" pitchFamily="18" charset="0"/>
                <a:ea typeface="宋体" panose="02010600030101010101" pitchFamily="2" charset="-122"/>
              </a:rPr>
              <a:t>Ensemble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启动时，先选出</a:t>
            </a:r>
            <a:r>
              <a:rPr lang="en-US" altLang="zh-CN" sz="1800" dirty="0">
                <a:effectLst/>
                <a:latin typeface="Times New Roman" panose="02020603050405020304" pitchFamily="18" charset="0"/>
                <a:ea typeface="宋体" panose="02010600030101010101" pitchFamily="2" charset="-122"/>
              </a:rPr>
              <a:t>Leader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，然后所有</a:t>
            </a:r>
            <a:r>
              <a:rPr lang="en-US" altLang="zh-CN" sz="1800" dirty="0">
                <a:effectLst/>
                <a:latin typeface="Times New Roman" panose="02020603050405020304" pitchFamily="18" charset="0"/>
                <a:ea typeface="宋体" panose="02010600030101010101" pitchFamily="2" charset="-122"/>
              </a:rPr>
              <a:t>Follower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复制</a:t>
            </a:r>
            <a:r>
              <a:rPr lang="en-US" altLang="zh-CN" sz="1800" dirty="0">
                <a:effectLst/>
                <a:latin typeface="Times New Roman" panose="02020603050405020304" pitchFamily="18" charset="0"/>
                <a:ea typeface="宋体" panose="02010600030101010101" pitchFamily="2" charset="-122"/>
              </a:rPr>
              <a:t>Leader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的状态</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所有写请求都通过</a:t>
            </a:r>
            <a:r>
              <a:rPr lang="en-US" altLang="zh-CN" sz="1800" dirty="0">
                <a:solidFill>
                  <a:srgbClr val="C00000"/>
                </a:solidFill>
                <a:effectLst/>
                <a:latin typeface="Times New Roman" panose="02020603050405020304" pitchFamily="18" charset="0"/>
                <a:ea typeface="宋体" panose="02010600030101010101" pitchFamily="2" charset="-122"/>
              </a:rPr>
              <a:t>Leader</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路由</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，变更会广播给所有</a:t>
            </a:r>
            <a:r>
              <a:rPr lang="en-US" altLang="zh-CN" sz="1800" dirty="0">
                <a:effectLst/>
                <a:latin typeface="Times New Roman" panose="02020603050405020304" pitchFamily="18" charset="0"/>
                <a:ea typeface="宋体" panose="02010600030101010101" pitchFamily="2" charset="-122"/>
              </a:rPr>
              <a:t>Follower</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变更广播被称为</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原子广播</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602C081E-CBF8-435C-9285-32965277E847}"/>
              </a:ext>
            </a:extLst>
          </p:cNvPr>
          <p:cNvPicPr>
            <a:picLocks noChangeAspect="1"/>
          </p:cNvPicPr>
          <p:nvPr/>
        </p:nvPicPr>
        <p:blipFill>
          <a:blip r:embed="rId2"/>
          <a:stretch>
            <a:fillRect/>
          </a:stretch>
        </p:blipFill>
        <p:spPr>
          <a:xfrm>
            <a:off x="1905000" y="4114800"/>
            <a:ext cx="5105400" cy="2453949"/>
          </a:xfrm>
          <a:prstGeom prst="rect">
            <a:avLst/>
          </a:prstGeom>
        </p:spPr>
      </p:pic>
    </p:spTree>
    <p:extLst>
      <p:ext uri="{BB962C8B-B14F-4D97-AF65-F5344CB8AC3E}">
        <p14:creationId xmlns:p14="http://schemas.microsoft.com/office/powerpoint/2010/main" val="1000867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zookeeper</a:t>
            </a: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每个</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代理都通过</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与其它</a:t>
            </a:r>
            <a:r>
              <a:rPr lang="en-US" altLang="zh-CN" sz="1800" dirty="0">
                <a:effectLst/>
                <a:latin typeface="Times New Roman" panose="02020603050405020304" pitchFamily="18" charset="0"/>
                <a:ea typeface="宋体" panose="02010600030101010101" pitchFamily="2" charset="-122"/>
              </a:rPr>
              <a:t> 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代理协同</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系统中新增了代理或者某个代理故障失效时，</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服务将通知生产者和消费者</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生产者和消费者据此开始与其它代理协同工作</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163E069-C65D-41FA-9043-268C92B7FA54}"/>
              </a:ext>
            </a:extLst>
          </p:cNvPr>
          <p:cNvPicPr>
            <a:picLocks noChangeAspect="1"/>
          </p:cNvPicPr>
          <p:nvPr/>
        </p:nvPicPr>
        <p:blipFill>
          <a:blip r:embed="rId2"/>
          <a:stretch>
            <a:fillRect/>
          </a:stretch>
        </p:blipFill>
        <p:spPr>
          <a:xfrm>
            <a:off x="1485900" y="3819425"/>
            <a:ext cx="6172200" cy="3014330"/>
          </a:xfrm>
          <a:prstGeom prst="rect">
            <a:avLst/>
          </a:prstGeom>
        </p:spPr>
      </p:pic>
    </p:spTree>
    <p:extLst>
      <p:ext uri="{BB962C8B-B14F-4D97-AF65-F5344CB8AC3E}">
        <p14:creationId xmlns:p14="http://schemas.microsoft.com/office/powerpoint/2010/main" val="2219170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是一个分布式的协调服务，</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集群依赖于</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来存储和管理</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的元数据信息和配置信息，在</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集群中，</a:t>
            </a:r>
            <a:r>
              <a:rPr lang="en-US" altLang="zh-CN" sz="18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主要负责以下任务</a:t>
            </a:r>
          </a:p>
          <a:p>
            <a:pPr lvl="1"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）存储和管理</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集群的元数据信息和配置信息，包括</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地址、端口号、主题分区的分配方案等</a:t>
            </a:r>
          </a:p>
          <a:p>
            <a:pPr lvl="1"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）管理</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Kafka broker</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节点的状态信息，包括</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的上</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下线状态、主题分区信息、副本信息等</a:t>
            </a:r>
          </a:p>
          <a:p>
            <a:pPr lvl="1"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）通过监控</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Kafka broker</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节点的状态信息，帮助</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集群实现自动故障转移和负载均衡等功能</a:t>
            </a:r>
          </a:p>
          <a:p>
            <a:pPr lvl="1" algn="just"/>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163E069-C65D-41FA-9043-268C92B7FA54}"/>
              </a:ext>
            </a:extLst>
          </p:cNvPr>
          <p:cNvPicPr>
            <a:picLocks noChangeAspect="1"/>
          </p:cNvPicPr>
          <p:nvPr/>
        </p:nvPicPr>
        <p:blipFill>
          <a:blip r:embed="rId2"/>
          <a:stretch>
            <a:fillRect/>
          </a:stretch>
        </p:blipFill>
        <p:spPr>
          <a:xfrm>
            <a:off x="2343150" y="4572000"/>
            <a:ext cx="4533900" cy="2214230"/>
          </a:xfrm>
          <a:prstGeom prst="rect">
            <a:avLst/>
          </a:prstGeom>
        </p:spPr>
      </p:pic>
    </p:spTree>
    <p:extLst>
      <p:ext uri="{BB962C8B-B14F-4D97-AF65-F5344CB8AC3E}">
        <p14:creationId xmlns:p14="http://schemas.microsoft.com/office/powerpoint/2010/main" val="25129106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流数据处理</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rPr>
              <a:t>Kafka Streams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支持对数据流进行实时处理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rPr>
              <a:t>Kafka Stream API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可以对多个数据流进行聚集、连接等操作，支持有状态的计算</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它提供了</a:t>
            </a:r>
            <a:r>
              <a:rPr lang="en-US" altLang="zh-CN" sz="1800" dirty="0">
                <a:effectLst/>
                <a:latin typeface="Times New Roman" panose="02020603050405020304" pitchFamily="18" charset="0"/>
                <a:ea typeface="宋体" panose="02010600030101010101" pitchFamily="2" charset="-122"/>
              </a:rPr>
              <a:t>Stream Processor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，把某个</a:t>
            </a:r>
            <a:r>
              <a:rPr lang="en-US" altLang="zh-CN" sz="1800" dirty="0">
                <a:effectLst/>
                <a:latin typeface="Times New Roman" panose="02020603050405020304" pitchFamily="18" charset="0"/>
                <a:ea typeface="宋体" panose="02010600030101010101" pitchFamily="2" charset="-122"/>
              </a:rPr>
              <a:t>topic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的数据以持续的数据流的形式看待和处理，主要的处理包括转换、聚集等</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rPr>
              <a:t>Stream Processor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产生多个输出流</a:t>
            </a:r>
            <a:r>
              <a:rPr lang="en-US" altLang="zh-CN" sz="1800" dirty="0">
                <a:effectLst/>
                <a:latin typeface="Times New Roman" panose="02020603050405020304" pitchFamily="18" charset="0"/>
                <a:ea typeface="宋体" panose="02010600030101010101" pitchFamily="2" charset="-122"/>
              </a:rPr>
              <a:t>(Output Streams)</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2"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比如，在视频播放应用中，可以监控用户的一系列事件，包括开始观看视频、暂停等，在此基础上进行分析，了解用户的偏好</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2"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基于某个用户的行为、或者很多用户的行为，了解热门的视频节目和片段，改善视频推荐</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633576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88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724400"/>
          </a:xfrm>
        </p:spPr>
        <p:txBody>
          <a:bodyPr>
            <a:normAutofit lnSpcReduction="10000"/>
          </a:bodyPr>
          <a:lstStyle/>
          <a:p>
            <a:pPr algn="just"/>
            <a:r>
              <a:rPr lang="en-US" altLang="zh-CN" sz="2000" dirty="0">
                <a:effectLst/>
                <a:latin typeface="微软雅黑" panose="020B0503020204020204" pitchFamily="34" charset="-122"/>
                <a:ea typeface="宋体" panose="02010600030101010101" pitchFamily="2" charset="-122"/>
              </a:rPr>
              <a:t>Kafka</a:t>
            </a:r>
            <a:r>
              <a:rPr lang="zh-CN" altLang="en-US" sz="2000" dirty="0">
                <a:effectLst/>
                <a:latin typeface="Times New Roman" panose="02020603050405020304" pitchFamily="18" charset="0"/>
                <a:ea typeface="宋体" panose="02010600030101010101" pitchFamily="2" charset="-122"/>
                <a:cs typeface="Times New Roman" panose="02020603050405020304" pitchFamily="18" charset="0"/>
              </a:rPr>
              <a:t>在系统中的位置</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一般来讲，</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用于</a:t>
            </a:r>
            <a:r>
              <a:rPr lang="zh-CN" altLang="zh-CN" sz="20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暂存快速到达的数据，保证数据不丢</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然后通过其它组件，把数据迁移到其它系统比如</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Hadoop</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Spark</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处于中间层，它解开快速数据流和后续的流式处理和批量处理系统的耦合</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2" algn="just"/>
            <a:r>
              <a:rPr lang="en-US" altLang="zh-CN" sz="16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1600" dirty="0">
                <a:effectLst/>
                <a:latin typeface="Times New Roman" panose="02020603050405020304" pitchFamily="18" charset="0"/>
                <a:ea typeface="宋体" panose="02010600030101010101" pitchFamily="2" charset="-122"/>
                <a:cs typeface="宋体" panose="02010600030101010101" pitchFamily="2" charset="-122"/>
              </a:rPr>
              <a:t>Kafka Streaming </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支持流式数据的处理，但是</a:t>
            </a:r>
            <a:r>
              <a:rPr lang="en-US" altLang="zh-CN" sz="16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核心组件是不支持进行流式数据处理的</a:t>
            </a:r>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我们可以把</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暂时存储的数据，拉取到流式数据处理系统里进行实时分析，比如</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Storm</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Flink</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Spark Streaming</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2000" dirty="0">
                <a:effectLst/>
                <a:latin typeface="Times New Roman" panose="02020603050405020304" pitchFamily="18" charset="0"/>
                <a:ea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暂存的数据，也可以拉取到</a:t>
            </a:r>
            <a:r>
              <a:rPr lang="en-US" altLang="zh-CN" sz="2000" dirty="0">
                <a:effectLst/>
                <a:latin typeface="Times New Roman" panose="02020603050405020304" pitchFamily="18" charset="0"/>
                <a:ea typeface="宋体" panose="02010600030101010101" pitchFamily="2" charset="-122"/>
              </a:rPr>
              <a:t>Hadoop</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里，以便进行批量处理。当然也可以把</a:t>
            </a:r>
            <a:r>
              <a:rPr lang="en-US" altLang="zh-CN" sz="2000" dirty="0">
                <a:effectLst/>
                <a:latin typeface="Times New Roman" panose="02020603050405020304" pitchFamily="18" charset="0"/>
                <a:ea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的数据转移到</a:t>
            </a:r>
            <a:r>
              <a:rPr lang="en-US" altLang="zh-CN" sz="2000" dirty="0">
                <a:effectLst/>
                <a:latin typeface="Times New Roman" panose="02020603050405020304" pitchFamily="18" charset="0"/>
                <a:ea typeface="宋体" panose="02010600030101010101" pitchFamily="2" charset="-122"/>
              </a:rPr>
              <a:t>RDBMS</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rPr>
              <a:t>Cassandra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rPr>
              <a:t>Spark</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等系统</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在这些系统里进行数据的统计汇总和报表生成，以及各种深入分析</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95324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latin typeface="微软雅黑" panose="020B0503020204020204" pitchFamily="34" charset="-122"/>
                <a:ea typeface="宋体" panose="02010600030101010101" pitchFamily="2" charset="-122"/>
              </a:rPr>
              <a:t>Kafka</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在系统中的位置</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063BA96E-2153-47D2-A6FD-1434886CD071}"/>
              </a:ext>
            </a:extLst>
          </p:cNvPr>
          <p:cNvPicPr>
            <a:picLocks noChangeAspect="1"/>
          </p:cNvPicPr>
          <p:nvPr/>
        </p:nvPicPr>
        <p:blipFill>
          <a:blip r:embed="rId2"/>
          <a:stretch>
            <a:fillRect/>
          </a:stretch>
        </p:blipFill>
        <p:spPr>
          <a:xfrm>
            <a:off x="1407184" y="1828800"/>
            <a:ext cx="6329632" cy="4905336"/>
          </a:xfrm>
          <a:prstGeom prst="rect">
            <a:avLst/>
          </a:prstGeom>
        </p:spPr>
      </p:pic>
    </p:spTree>
    <p:extLst>
      <p:ext uri="{BB962C8B-B14F-4D97-AF65-F5344CB8AC3E}">
        <p14:creationId xmlns:p14="http://schemas.microsoft.com/office/powerpoint/2010/main" val="2111842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823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下载</a:t>
            </a:r>
            <a:r>
              <a:rPr lang="en-US" altLang="zh-CN" sz="1800" dirty="0">
                <a:effectLst/>
                <a:latin typeface="Times New Roman" panose="02020603050405020304" pitchFamily="18" charset="0"/>
                <a:ea typeface="宋体" panose="02010600030101010101" pitchFamily="2" charset="-122"/>
              </a:rPr>
              <a:t> kafka_2.10-0.10.2.1</a:t>
            </a:r>
            <a:endParaRPr lang="en-US" altLang="zh-CN" sz="1800" dirty="0">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解压和授权</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tar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xzf</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kafka_2.10-0.10.2.1.tgz</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chmod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a+rwx</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chown</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nobody:nobody</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54A6A554-2849-4DC4-8ED7-B2DD492924EC}"/>
              </a:ext>
            </a:extLst>
          </p:cNvPr>
          <p:cNvSpPr txBox="1"/>
          <p:nvPr/>
        </p:nvSpPr>
        <p:spPr>
          <a:xfrm>
            <a:off x="1905000" y="5029200"/>
            <a:ext cx="5791200" cy="923330"/>
          </a:xfrm>
          <a:prstGeom prst="rect">
            <a:avLst/>
          </a:prstGeom>
          <a:solidFill>
            <a:schemeClr val="bg1">
              <a:lumMod val="95000"/>
            </a:schemeClr>
          </a:solidFill>
          <a:ln>
            <a:solidFill>
              <a:schemeClr val="accent1"/>
            </a:solidFill>
          </a:ln>
        </p:spPr>
        <p:txBody>
          <a:bodyPr wrap="square">
            <a:spAutoFit/>
          </a:bodyPr>
          <a:lstStyle/>
          <a:p>
            <a:pPr marL="285750" indent="-285750" algn="just">
              <a:buFont typeface="Arial" panose="020B0604020202020204" pitchFamily="34" charset="0"/>
              <a:buChar char="•"/>
            </a:pP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需要用到</a:t>
            </a:r>
            <a:r>
              <a:rPr lang="en-US" altLang="zh-CN" sz="1800" dirty="0" err="1">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，在这里我们使用内置的</a:t>
            </a:r>
            <a:r>
              <a:rPr lang="en-US" altLang="zh-CN" sz="1800" dirty="0">
                <a:effectLst/>
                <a:latin typeface="Times New Roman" panose="02020603050405020304" pitchFamily="18" charset="0"/>
                <a:ea typeface="宋体" panose="02010600030101010101" pitchFamily="2" charset="-122"/>
              </a:rPr>
              <a:t>Zookeeper</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在生产环境下，建议安装独立的</a:t>
            </a:r>
            <a:r>
              <a:rPr lang="en-US" altLang="zh-CN" sz="1800" dirty="0">
                <a:effectLst/>
                <a:latin typeface="Times New Roman" panose="02020603050405020304" pitchFamily="18" charset="0"/>
                <a:ea typeface="宋体" panose="02010600030101010101" pitchFamily="2" charset="-122"/>
              </a:rPr>
              <a:t>Zookeeper</a:t>
            </a:r>
            <a:endParaRPr lang="zh-CN" altLang="en-US" dirty="0"/>
          </a:p>
        </p:txBody>
      </p:sp>
    </p:spTree>
    <p:extLst>
      <p:ext uri="{BB962C8B-B14F-4D97-AF65-F5344CB8AC3E}">
        <p14:creationId xmlns:p14="http://schemas.microsoft.com/office/powerpoint/2010/main" val="9879369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查看</a:t>
            </a:r>
            <a:r>
              <a:rPr lang="en-US" altLang="zh-CN" sz="1800" dirty="0">
                <a:effectLst/>
                <a:latin typeface="Times New Roman" panose="02020603050405020304" pitchFamily="18" charset="0"/>
                <a:ea typeface="宋体" panose="02010600030101010101" pitchFamily="2" charset="-122"/>
              </a:rPr>
              <a:t>config/</a:t>
            </a:r>
            <a:r>
              <a:rPr lang="en-US" altLang="zh-CN" sz="1800" dirty="0" err="1">
                <a:effectLst/>
                <a:latin typeface="Times New Roman" panose="02020603050405020304" pitchFamily="18" charset="0"/>
                <a:ea typeface="宋体" panose="02010600030101010101" pitchFamily="2" charset="-122"/>
              </a:rPr>
              <a:t>zookeeper.properties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配置文件，确认其内容如下</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2585323"/>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the directory where the snapshot is stored.</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dataDir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tmp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the port at which the clients will connect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clientPort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disable the per-</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ip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limit on the number of connections since this is a non-production config</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rPr>
              <a:t>maxClientCnxns</a:t>
            </a:r>
            <a:r>
              <a:rPr lang="en-US" altLang="zh-CN" sz="1800" dirty="0">
                <a:effectLst/>
                <a:latin typeface="Times New Roman" panose="02020603050405020304" pitchFamily="18" charset="0"/>
                <a:ea typeface="宋体" panose="02010600030101010101" pitchFamily="2" charset="-122"/>
              </a:rPr>
              <a:t>=0</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58138B37-6C34-406F-8A95-CB196112DFA0}"/>
              </a:ext>
            </a:extLst>
          </p:cNvPr>
          <p:cNvSpPr txBox="1"/>
          <p:nvPr/>
        </p:nvSpPr>
        <p:spPr>
          <a:xfrm>
            <a:off x="2057400" y="5638800"/>
            <a:ext cx="4572000" cy="646331"/>
          </a:xfrm>
          <a:prstGeom prst="rect">
            <a:avLst/>
          </a:prstGeom>
          <a:solidFill>
            <a:schemeClr val="bg1">
              <a:lumMod val="95000"/>
            </a:schemeClr>
          </a:solidFill>
          <a:ln>
            <a:solidFill>
              <a:schemeClr val="accent1"/>
            </a:solidFill>
          </a:ln>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的端口改成</a:t>
            </a:r>
            <a:r>
              <a:rPr lang="en-US" altLang="zh-CN" sz="1800" dirty="0">
                <a:solidFill>
                  <a:srgbClr val="0000FF"/>
                </a:solidFill>
                <a:effectLst/>
                <a:latin typeface="Times New Roman" panose="02020603050405020304" pitchFamily="18" charset="0"/>
                <a:ea typeface="宋体" panose="02010600030101010101" pitchFamily="2" charset="-122"/>
              </a:rPr>
              <a:t>12182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1800" dirty="0">
                <a:effectLst/>
                <a:latin typeface="Times New Roman" panose="02020603050405020304" pitchFamily="18" charset="0"/>
                <a:ea typeface="宋体" panose="02010600030101010101" pitchFamily="2" charset="-122"/>
              </a:rPr>
              <a:t>HBase 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使用了</a:t>
            </a:r>
            <a:r>
              <a:rPr lang="en-US" altLang="zh-CN" sz="1800" dirty="0">
                <a:effectLst/>
                <a:latin typeface="Times New Roman" panose="02020603050405020304" pitchFamily="18" charset="0"/>
                <a:ea typeface="宋体" panose="02010600030101010101" pitchFamily="2" charset="-122"/>
              </a:rPr>
              <a:t>12181</a:t>
            </a:r>
            <a:endParaRPr lang="zh-CN" altLang="en-US" dirty="0"/>
          </a:p>
        </p:txBody>
      </p:sp>
    </p:spTree>
    <p:extLst>
      <p:ext uri="{BB962C8B-B14F-4D97-AF65-F5344CB8AC3E}">
        <p14:creationId xmlns:p14="http://schemas.microsoft.com/office/powerpoint/2010/main" val="29491110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修改</a:t>
            </a:r>
            <a:r>
              <a:rPr lang="en-US" altLang="zh-CN" sz="1800" dirty="0">
                <a:effectLst/>
                <a:latin typeface="Times New Roman" panose="02020603050405020304" pitchFamily="18" charset="0"/>
                <a:ea typeface="宋体" panose="02010600030101010101" pitchFamily="2" charset="-122"/>
              </a:rPr>
              <a:t>config/</a:t>
            </a:r>
            <a:r>
              <a:rPr lang="en-US" altLang="zh-CN" sz="1800" dirty="0" err="1">
                <a:effectLst/>
                <a:latin typeface="Times New Roman" panose="02020603050405020304" pitchFamily="18" charset="0"/>
                <a:ea typeface="宋体" panose="02010600030101010101" pitchFamily="2" charset="-122"/>
              </a:rPr>
              <a:t>server.properties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配置文件，具体如下</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1477328"/>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 directory for all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znodes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zookeeper.connect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=192.168.31.129:12182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Timeout in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for connecting to zookeeper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zookeeper.connection.timeout.ms=6000</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82736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启动后台服务器，包括启动</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broker 0</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3139321"/>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1800" dirty="0">
                <a:effectLst/>
                <a:latin typeface="Times New Roman" panose="02020603050405020304" pitchFamily="18" charset="0"/>
                <a:ea typeface="宋体" panose="02010600030101010101" pitchFamily="2" charset="-122"/>
              </a:rPr>
              <a:t>Kafka 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192.168.31.129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启动之后，在</a:t>
            </a:r>
            <a:r>
              <a:rPr lang="en-US" altLang="zh-CN" sz="1800" dirty="0">
                <a:effectLst/>
                <a:latin typeface="Times New Roman" panose="02020603050405020304" pitchFamily="18" charset="0"/>
                <a:ea typeface="宋体" panose="02010600030101010101" pitchFamily="2" charset="-122"/>
              </a:rPr>
              <a:t>9092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端口监听</a:t>
            </a:r>
          </a:p>
        </p:txBody>
      </p:sp>
    </p:spTree>
    <p:extLst>
      <p:ext uri="{BB962C8B-B14F-4D97-AF65-F5344CB8AC3E}">
        <p14:creationId xmlns:p14="http://schemas.microsoft.com/office/powerpoint/2010/main" val="1164202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创建</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主题</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1477328"/>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--create --zookeeper 192.168.31.129:12182 --replication-factor 1 --partitions 1 --topic test1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--list --zookeeper 192.168.31.129:12182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可以用下面的命令删除主题</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--delete --zookeeper 192.168.31.129:12182 --topic test1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72427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r>
              <a:rPr lang="zh-CN" altLang="zh-CN" sz="1800" u="sng" dirty="0">
                <a:effectLst/>
                <a:latin typeface="Times New Roman" panose="02020603050405020304" pitchFamily="18" charset="0"/>
                <a:ea typeface="宋体" panose="02010600030101010101" pitchFamily="2" charset="-122"/>
                <a:cs typeface="Times New Roman" panose="02020603050405020304" pitchFamily="18" charset="0"/>
              </a:rPr>
              <a:t>一个终端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，运行如下命令</a:t>
            </a:r>
            <a:r>
              <a:rPr lang="en-US" altLang="zh-CN" sz="1800" dirty="0">
                <a:effectLst/>
                <a:latin typeface="Times New Roman" panose="02020603050405020304" pitchFamily="18" charset="0"/>
                <a:ea typeface="宋体" panose="02010600030101010101" pitchFamily="2" charset="-122"/>
              </a:rPr>
              <a:t>(Producer)</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bin/kafka-console-producer.sh --broker-list 192.168.31.129:9092 --topic test1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在生产者端，不断输入和回车</a:t>
            </a: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敲</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Ctrl+C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结束输入</a:t>
            </a:r>
          </a:p>
        </p:txBody>
      </p:sp>
    </p:spTree>
    <p:extLst>
      <p:ext uri="{BB962C8B-B14F-4D97-AF65-F5344CB8AC3E}">
        <p14:creationId xmlns:p14="http://schemas.microsoft.com/office/powerpoint/2010/main" val="2941142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u="sng" dirty="0">
                <a:effectLst/>
                <a:latin typeface="Times New Roman" panose="02020603050405020304" pitchFamily="18" charset="0"/>
                <a:ea typeface="宋体" panose="02010600030101010101" pitchFamily="2" charset="-122"/>
                <a:cs typeface="Times New Roman" panose="02020603050405020304" pitchFamily="18" charset="0"/>
              </a:rPr>
              <a:t>启动另外一个终端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，运行如下命令</a:t>
            </a:r>
            <a:r>
              <a:rPr lang="en-US" altLang="zh-CN" sz="1800" dirty="0">
                <a:effectLst/>
                <a:latin typeface="Times New Roman" panose="02020603050405020304" pitchFamily="18" charset="0"/>
                <a:ea typeface="宋体" panose="02010600030101010101" pitchFamily="2" charset="-122"/>
              </a:rPr>
              <a:t>(Consumer)</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bin/kafka-console-consumer.sh --zookeeper 192.168.31.129:12182 --topic test1 --from-beginning</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altLang="zh-CN" sz="1800" dirty="0">
                <a:effectLst/>
                <a:latin typeface="Times New Roman" panose="02020603050405020304" pitchFamily="18" charset="0"/>
                <a:ea typeface="宋体" panose="02010600030101010101" pitchFamily="2" charset="-122"/>
              </a:rPr>
              <a:t>bin/kafka-console-consumer.sh --bootstrap-server 192.168.31.129:9092 --topic test1 --from-beginning</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1A272535-08BB-44D2-936D-B3C02D792936}"/>
              </a:ext>
            </a:extLst>
          </p:cNvPr>
          <p:cNvSpPr txBox="1"/>
          <p:nvPr/>
        </p:nvSpPr>
        <p:spPr>
          <a:xfrm>
            <a:off x="2133600" y="4953000"/>
            <a:ext cx="4572000" cy="1200329"/>
          </a:xfrm>
          <a:prstGeom prst="rect">
            <a:avLst/>
          </a:prstGeom>
          <a:solidFill>
            <a:schemeClr val="bg1">
              <a:lumMod val="95000"/>
            </a:schemeClr>
          </a:solidFill>
          <a:ln>
            <a:solidFill>
              <a:schemeClr val="accent1"/>
            </a:solidFill>
          </a:ln>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随着用户不断在</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终端窗口输入一行行内容和回车，</a:t>
            </a:r>
            <a:r>
              <a:rPr lang="en-US" altLang="zh-CN" sz="1800" dirty="0">
                <a:effectLst/>
                <a:latin typeface="Times New Roman" panose="02020603050405020304" pitchFamily="18" charset="0"/>
                <a:ea typeface="宋体" panose="02010600030101010101" pitchFamily="2" charset="-122"/>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终端窗口不断显示刚刚输入的内容。可以在</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终端窗口敲</a:t>
            </a:r>
            <a:r>
              <a:rPr lang="en-US" altLang="zh-CN" sz="1800" dirty="0" err="1">
                <a:effectLst/>
                <a:latin typeface="Times New Roman" panose="02020603050405020304" pitchFamily="18" charset="0"/>
                <a:ea typeface="宋体" panose="02010600030101010101" pitchFamily="2" charset="-122"/>
              </a:rPr>
              <a:t>Ctrl+C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结束输入</a:t>
            </a:r>
            <a:endParaRPr lang="zh-CN" altLang="en-US" dirty="0"/>
          </a:p>
        </p:txBody>
      </p:sp>
    </p:spTree>
    <p:extLst>
      <p:ext uri="{BB962C8B-B14F-4D97-AF65-F5344CB8AC3E}">
        <p14:creationId xmlns:p14="http://schemas.microsoft.com/office/powerpoint/2010/main" val="20171789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effectLst/>
                <a:latin typeface="Times New Roman" panose="02020603050405020304" pitchFamily="18" charset="0"/>
                <a:ea typeface="宋体" panose="02010600030101010101" pitchFamily="2" charset="-122"/>
                <a:cs typeface="Times New Roman" panose="02020603050405020304" pitchFamily="18" charset="0"/>
              </a:rPr>
              <a:t>停止</a:t>
            </a:r>
            <a:r>
              <a:rPr lang="en-US" altLang="zh-CN" sz="1800" u="sng" dirty="0">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u="sng" dirty="0">
                <a:latin typeface="Times New Roman" panose="02020603050405020304" pitchFamily="18" charset="0"/>
                <a:ea typeface="宋体" panose="02010600030101010101" pitchFamily="2" charset="-122"/>
                <a:cs typeface="Times New Roman" panose="02020603050405020304" pitchFamily="18" charset="0"/>
              </a:rPr>
              <a:t>zookeeper</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1A272535-08BB-44D2-936D-B3C02D792936}"/>
              </a:ext>
            </a:extLst>
          </p:cNvPr>
          <p:cNvSpPr txBox="1"/>
          <p:nvPr/>
        </p:nvSpPr>
        <p:spPr>
          <a:xfrm>
            <a:off x="685800" y="4191000"/>
            <a:ext cx="7620000" cy="2308324"/>
          </a:xfrm>
          <a:prstGeom prst="rect">
            <a:avLst/>
          </a:prstGeom>
          <a:solidFill>
            <a:schemeClr val="bg1">
              <a:lumMod val="95000"/>
            </a:schemeClr>
          </a:solidFill>
          <a:ln>
            <a:solidFill>
              <a:schemeClr val="accent1"/>
            </a:solidFill>
          </a:ln>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只有如下命令不能停止服务器的时候，才使用杀死进程的方法</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grep 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kill -9 60465\\60465</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的进程号</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grep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kill -9 60714 \\ 60714</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的进程号</a:t>
            </a:r>
          </a:p>
          <a:p>
            <a:pPr algn="just"/>
            <a:endParaRPr lang="zh-CN" altLang="en-US" dirty="0"/>
          </a:p>
        </p:txBody>
      </p:sp>
    </p:spTree>
    <p:extLst>
      <p:ext uri="{BB962C8B-B14F-4D97-AF65-F5344CB8AC3E}">
        <p14:creationId xmlns:p14="http://schemas.microsoft.com/office/powerpoint/2010/main" val="818756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3585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1800" dirty="0">
                <a:effectLst/>
                <a:latin typeface="Times New Roman" panose="02020603050405020304" pitchFamily="18" charset="0"/>
                <a:ea typeface="宋体" panose="02010600030101010101" pitchFamily="2" charset="-122"/>
              </a:rPr>
              <a:t>config/</a:t>
            </a:r>
            <a:r>
              <a:rPr lang="en-US" altLang="zh-CN" sz="1800" dirty="0" err="1">
                <a:effectLst/>
                <a:latin typeface="Times New Roman" panose="02020603050405020304" pitchFamily="18" charset="0"/>
                <a:ea typeface="宋体" panose="02010600030101010101" pitchFamily="2" charset="-122"/>
              </a:rPr>
              <a:t>server.properties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拷贝</a:t>
            </a:r>
            <a:r>
              <a:rPr lang="en-US" altLang="zh-CN" sz="1800" dirty="0">
                <a:effectLst/>
                <a:latin typeface="Times New Roman" panose="02020603050405020304" pitchFamily="18" charset="0"/>
                <a:ea typeface="宋体" panose="02010600030101010101" pitchFamily="2" charset="-122"/>
              </a:rPr>
              <a:t>config/server-1.properties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config/server-2.properties</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cp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config/server-1.properties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cp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config/server-2.properties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22171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编辑</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config/server-1.properties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config/server-2.properties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800" dirty="0">
                <a:effectLst/>
                <a:latin typeface="Times New Roman" panose="02020603050405020304" pitchFamily="18" charset="0"/>
                <a:ea typeface="宋体" panose="02010600030101010101" pitchFamily="2" charset="-122"/>
              </a:rPr>
              <a:t>config/server-1.properties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需要改动的内容如下</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config/server-2.properties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需要改动的内容如下</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broker.id=1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listeners = PLAINTEXT://192.168.31.129:9093</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rPr>
              <a:t>log.dirs</a:t>
            </a:r>
            <a:r>
              <a:rPr lang="en-US" altLang="zh-CN" sz="1800" dirty="0">
                <a:effectLst/>
                <a:latin typeface="Times New Roman" panose="02020603050405020304" pitchFamily="18" charset="0"/>
                <a:ea typeface="宋体" panose="02010600030101010101" pitchFamily="2" charset="-122"/>
              </a:rPr>
              <a:t>=/</a:t>
            </a:r>
            <a:r>
              <a:rPr lang="en-US" altLang="zh-CN" sz="1800" dirty="0" err="1">
                <a:effectLst/>
                <a:latin typeface="Times New Roman" panose="02020603050405020304" pitchFamily="18" charset="0"/>
                <a:ea typeface="宋体" panose="02010600030101010101" pitchFamily="2" charset="-122"/>
              </a:rPr>
              <a:t>tmp</a:t>
            </a:r>
            <a:r>
              <a:rPr lang="en-US" altLang="zh-CN" sz="1800" dirty="0">
                <a:effectLst/>
                <a:latin typeface="Times New Roman" panose="02020603050405020304" pitchFamily="18" charset="0"/>
                <a:ea typeface="宋体" panose="02010600030101010101" pitchFamily="2" charset="-122"/>
              </a:rPr>
              <a:t>/kafka-logs1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5533D754-8378-420A-A319-FFBCA0114948}"/>
              </a:ext>
            </a:extLst>
          </p:cNvPr>
          <p:cNvSpPr txBox="1"/>
          <p:nvPr/>
        </p:nvSpPr>
        <p:spPr>
          <a:xfrm>
            <a:off x="685800" y="4724400"/>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broker.id=2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listeners = PLAINTEXT://192.168.31.129:9094</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rPr>
              <a:t>log.dirs</a:t>
            </a:r>
            <a:r>
              <a:rPr lang="en-US" altLang="zh-CN" sz="1800" dirty="0">
                <a:effectLst/>
                <a:latin typeface="Times New Roman" panose="02020603050405020304" pitchFamily="18" charset="0"/>
                <a:ea typeface="宋体" panose="02010600030101010101" pitchFamily="2" charset="-122"/>
              </a:rPr>
              <a:t>=/</a:t>
            </a:r>
            <a:r>
              <a:rPr lang="en-US" altLang="zh-CN" sz="1800" dirty="0" err="1">
                <a:effectLst/>
                <a:latin typeface="Times New Roman" panose="02020603050405020304" pitchFamily="18" charset="0"/>
                <a:ea typeface="宋体" panose="02010600030101010101" pitchFamily="2" charset="-122"/>
              </a:rPr>
              <a:t>tmp</a:t>
            </a:r>
            <a:r>
              <a:rPr lang="en-US" altLang="zh-CN" sz="1800" dirty="0">
                <a:effectLst/>
                <a:latin typeface="Times New Roman" panose="02020603050405020304" pitchFamily="18" charset="0"/>
                <a:ea typeface="宋体" panose="02010600030101010101" pitchFamily="2" charset="-122"/>
              </a:rPr>
              <a:t>/kafka-logs2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389936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启动后台服务器，包括启动</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broker 0</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341632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1800" dirty="0">
                <a:effectLst/>
                <a:latin typeface="Times New Roman" panose="02020603050405020304" pitchFamily="18" charset="0"/>
                <a:ea typeface="宋体" panose="02010600030101010101" pitchFamily="2" charset="-122"/>
              </a:rPr>
              <a:t>Kafka 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192.168.31.129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启动之后，在</a:t>
            </a:r>
            <a:r>
              <a:rPr lang="en-US" altLang="zh-CN" sz="1800" dirty="0">
                <a:effectLst/>
                <a:latin typeface="Times New Roman" panose="02020603050405020304" pitchFamily="18" charset="0"/>
                <a:ea typeface="宋体" panose="02010600030101010101" pitchFamily="2" charset="-122"/>
              </a:rPr>
              <a:t>9092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端口监听</a:t>
            </a:r>
          </a:p>
        </p:txBody>
      </p:sp>
    </p:spTree>
    <p:extLst>
      <p:ext uri="{BB962C8B-B14F-4D97-AF65-F5344CB8AC3E}">
        <p14:creationId xmlns:p14="http://schemas.microsoft.com/office/powerpoint/2010/main" val="26613656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r>
              <a:rPr lang="en-US" altLang="zh-CN" sz="1800" dirty="0">
                <a:effectLst/>
                <a:latin typeface="Times New Roman" panose="02020603050405020304" pitchFamily="18" charset="0"/>
                <a:ea typeface="宋体" panose="02010600030101010101" pitchFamily="2" charset="-122"/>
              </a:rPr>
              <a:t>broker1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broker2</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2031325"/>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config/server-1.properties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config/server-2.properties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broker1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9093</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9094</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958598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创建一个</a:t>
            </a:r>
            <a:r>
              <a:rPr lang="en-US" altLang="zh-CN" sz="1800" dirty="0">
                <a:effectLst/>
                <a:latin typeface="Times New Roman" panose="02020603050405020304" pitchFamily="18" charset="0"/>
                <a:ea typeface="宋体" panose="02010600030101010101" pitchFamily="2" charset="-122"/>
              </a:rPr>
              <a:t>Topic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，复制因子为</a:t>
            </a:r>
            <a:r>
              <a:rPr lang="en-US" altLang="zh-CN" sz="1800" dirty="0">
                <a:effectLst/>
                <a:latin typeface="Times New Roman" panose="02020603050405020304" pitchFamily="18" charset="0"/>
                <a:ea typeface="宋体" panose="02010600030101010101" pitchFamily="2" charset="-122"/>
              </a:rPr>
              <a:t>3</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646331"/>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--create --zookeeper 192.168.31.129:12182 --replication-factor 3 --partitions 1 --topic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07863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了解每个</a:t>
            </a:r>
            <a:r>
              <a:rPr lang="en-US" altLang="zh-CN" sz="1800" dirty="0">
                <a:effectLst/>
                <a:latin typeface="Times New Roman" panose="02020603050405020304" pitchFamily="18" charset="0"/>
                <a:ea typeface="宋体" panose="02010600030101010101" pitchFamily="2" charset="-122"/>
              </a:rPr>
              <a:t>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工作状况</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646331"/>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--describe --zookeeper 192.168.31.129:12182 --topic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02A992AF-756C-4EE0-87AA-E5D48D4AD023}"/>
              </a:ext>
            </a:extLst>
          </p:cNvPr>
          <p:cNvSpPr txBox="1"/>
          <p:nvPr/>
        </p:nvSpPr>
        <p:spPr>
          <a:xfrm>
            <a:off x="762000" y="4114800"/>
            <a:ext cx="7620000" cy="1200329"/>
          </a:xfrm>
          <a:prstGeom prst="rect">
            <a:avLst/>
          </a:prstGeom>
          <a:solidFill>
            <a:schemeClr val="bg1">
              <a:lumMod val="95000"/>
            </a:schemeClr>
          </a:solidFill>
          <a:ln>
            <a:solidFill>
              <a:schemeClr val="accent1"/>
            </a:solidFill>
          </a:ln>
        </p:spPr>
        <p:txBody>
          <a:bodyPr wrap="square">
            <a:spAutoFit/>
          </a:bodyPr>
          <a:lstStyle/>
          <a:p>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显示结果如下，表示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broker0</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Topic:my-replicated-topic</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PartitionCount:1        ReplicationFactor:3  Configs:</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Topic: my-replicated-topic      Partition: 0    Leader: 0   Replicas: 0,2,1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Isr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0,2,1</a:t>
            </a:r>
          </a:p>
        </p:txBody>
      </p:sp>
    </p:spTree>
    <p:extLst>
      <p:ext uri="{BB962C8B-B14F-4D97-AF65-F5344CB8AC3E}">
        <p14:creationId xmlns:p14="http://schemas.microsoft.com/office/powerpoint/2010/main" val="2749911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r>
              <a:rPr lang="zh-CN" altLang="zh-CN" sz="1800" u="sng" dirty="0">
                <a:effectLst/>
                <a:latin typeface="Times New Roman" panose="02020603050405020304" pitchFamily="18" charset="0"/>
                <a:ea typeface="宋体" panose="02010600030101010101" pitchFamily="2" charset="-122"/>
                <a:cs typeface="Times New Roman" panose="02020603050405020304" pitchFamily="18" charset="0"/>
              </a:rPr>
              <a:t>一个终端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，运行如下命令</a:t>
            </a:r>
            <a:r>
              <a:rPr lang="en-US" altLang="zh-CN" sz="1800" dirty="0">
                <a:effectLst/>
                <a:latin typeface="Times New Roman" panose="02020603050405020304" pitchFamily="18" charset="0"/>
                <a:ea typeface="宋体" panose="02010600030101010101" pitchFamily="2" charset="-122"/>
              </a:rPr>
              <a:t>(Producer)</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2031325"/>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bin/kafka-console-producer.sh --broker-list 192.168.31.129:9092 --topic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输入如下内容</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my test message 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my test message 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919476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u="sng" dirty="0">
                <a:effectLst/>
                <a:latin typeface="Times New Roman" panose="02020603050405020304" pitchFamily="18" charset="0"/>
                <a:ea typeface="宋体" panose="02010600030101010101" pitchFamily="2" charset="-122"/>
                <a:cs typeface="Times New Roman" panose="02020603050405020304" pitchFamily="18" charset="0"/>
              </a:rPr>
              <a:t>启动另外一个终端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，运行如下命令</a:t>
            </a:r>
            <a:r>
              <a:rPr lang="en-US" altLang="zh-CN" sz="1800" dirty="0">
                <a:effectLst/>
                <a:latin typeface="Times New Roman" panose="02020603050405020304" pitchFamily="18" charset="0"/>
                <a:ea typeface="宋体" panose="02010600030101010101" pitchFamily="2" charset="-122"/>
              </a:rPr>
              <a:t>(Consumer)</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bin/kafka-console-consumer.sh --bootstrap-server 192.168.31.129:9092 --from-beginning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bin/kafka-console-consumer.sh --zookeeper 192.168.31.129:12182 --from-beginning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81D736E-F56C-4D4C-970A-CE5E6D464789}"/>
              </a:ext>
            </a:extLst>
          </p:cNvPr>
          <p:cNvSpPr txBox="1"/>
          <p:nvPr/>
        </p:nvSpPr>
        <p:spPr>
          <a:xfrm>
            <a:off x="2133600" y="4895591"/>
            <a:ext cx="4572000" cy="1200329"/>
          </a:xfrm>
          <a:prstGeom prst="rect">
            <a:avLst/>
          </a:prstGeom>
          <a:solidFill>
            <a:schemeClr val="bg1">
              <a:lumMod val="95000"/>
            </a:schemeClr>
          </a:solidFill>
          <a:ln>
            <a:solidFill>
              <a:schemeClr val="accent1"/>
            </a:solidFill>
          </a:ln>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随着用户不断在</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终端窗口输入一行行内容和回车，</a:t>
            </a:r>
            <a:r>
              <a:rPr lang="en-US" altLang="zh-CN" sz="1800" dirty="0">
                <a:effectLst/>
                <a:latin typeface="Times New Roman" panose="02020603050405020304" pitchFamily="18" charset="0"/>
                <a:ea typeface="宋体" panose="02010600030101010101" pitchFamily="2" charset="-122"/>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终端窗口不断显示刚刚输入的内容。可以在</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终端窗口敲</a:t>
            </a:r>
            <a:r>
              <a:rPr lang="en-US" altLang="zh-CN" sz="1800" dirty="0" err="1">
                <a:effectLst/>
                <a:latin typeface="Times New Roman" panose="02020603050405020304" pitchFamily="18" charset="0"/>
                <a:ea typeface="宋体" panose="02010600030101010101" pitchFamily="2" charset="-122"/>
              </a:rPr>
              <a:t>Ctrl+C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结束输入</a:t>
            </a:r>
            <a:endParaRPr lang="zh-CN" altLang="en-US" dirty="0"/>
          </a:p>
        </p:txBody>
      </p:sp>
    </p:spTree>
    <p:extLst>
      <p:ext uri="{BB962C8B-B14F-4D97-AF65-F5344CB8AC3E}">
        <p14:creationId xmlns:p14="http://schemas.microsoft.com/office/powerpoint/2010/main" val="23147107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45086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en-US"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测试容错性</a:t>
            </a:r>
            <a:endParaRPr lang="en-US" altLang="zh-CN"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接着上一节的实验，我们可以测试系统的容错性。</a:t>
            </a:r>
          </a:p>
          <a:p>
            <a:r>
              <a:rPr lang="en-US" altLang="zh-CN" sz="1800" dirty="0">
                <a:effectLst/>
                <a:latin typeface="Times New Roman" panose="02020603050405020304" pitchFamily="18" charset="0"/>
                <a:ea typeface="宋体" panose="02010600030101010101" pitchFamily="2" charset="-122"/>
              </a:rPr>
              <a:t>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dirty="0">
                <a:effectLst/>
                <a:latin typeface="Times New Roman" panose="02020603050405020304" pitchFamily="18" charset="0"/>
                <a:ea typeface="宋体" panose="02010600030101010101" pitchFamily="2" charset="-122"/>
              </a:rPr>
              <a:t>leader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，我们试试把它</a:t>
            </a:r>
            <a:r>
              <a:rPr lang="en-US" altLang="zh-CN" sz="1800" dirty="0">
                <a:effectLst/>
                <a:latin typeface="Times New Roman" panose="02020603050405020304" pitchFamily="18" charset="0"/>
                <a:ea typeface="宋体" panose="02010600030101010101" pitchFamily="2" charset="-122"/>
              </a:rPr>
              <a:t>kill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掉。查看</a:t>
            </a:r>
            <a:r>
              <a:rPr lang="en-US" altLang="zh-CN" sz="1800" dirty="0">
                <a:effectLst/>
                <a:latin typeface="Times New Roman" panose="02020603050405020304" pitchFamily="18" charset="0"/>
                <a:ea typeface="宋体" panose="02010600030101010101" pitchFamily="2" charset="-122"/>
              </a:rPr>
              <a:t>broker0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的进程号，然后把它</a:t>
            </a:r>
            <a:r>
              <a:rPr lang="en-US" altLang="zh-CN" sz="1800" dirty="0">
                <a:effectLst/>
                <a:latin typeface="Times New Roman" panose="02020603050405020304" pitchFamily="18" charset="0"/>
                <a:ea typeface="宋体" panose="02010600030101010101" pitchFamily="2" charset="-122"/>
              </a:rPr>
              <a:t>kill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掉</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42825" y="3399387"/>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ps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aux | grep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nltp|grep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kill -9 65072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503474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en-US"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测试容错性</a:t>
            </a:r>
            <a:endParaRPr lang="en-US" altLang="zh-CN"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再查看</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my-replicated-topic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的状况。</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09600" y="3124200"/>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--describe --zookeeper 192.168.31.129:12182 --topic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DB4E9050-A69F-4AC6-89D4-0FC0FAD4F521}"/>
              </a:ext>
            </a:extLst>
          </p:cNvPr>
          <p:cNvSpPr txBox="1"/>
          <p:nvPr/>
        </p:nvSpPr>
        <p:spPr>
          <a:xfrm>
            <a:off x="609600" y="4572000"/>
            <a:ext cx="7620000" cy="1477328"/>
          </a:xfrm>
          <a:prstGeom prst="rect">
            <a:avLst/>
          </a:prstGeom>
          <a:solidFill>
            <a:schemeClr val="bg1">
              <a:lumMod val="95000"/>
            </a:schemeClr>
          </a:solidFill>
          <a:ln>
            <a:solidFill>
              <a:schemeClr val="accent1"/>
            </a:solidFill>
          </a:ln>
        </p:spPr>
        <p:txBody>
          <a:bodyPr wrap="square">
            <a:spAutoFit/>
          </a:bodyPr>
          <a:lstStyle/>
          <a:p>
            <a:r>
              <a:rPr lang="zh-CN" altLang="en-US" dirty="0"/>
              <a:t>结果如下，leader已经变成broker2。</a:t>
            </a:r>
          </a:p>
          <a:p>
            <a:r>
              <a:rPr lang="zh-CN" altLang="en-US" dirty="0"/>
              <a:t>Topic:my-replicated-topic       PartitionCount:1        ReplicationFactor:3  Configs:</a:t>
            </a:r>
          </a:p>
          <a:p>
            <a:r>
              <a:rPr lang="zh-CN" altLang="en-US" dirty="0"/>
              <a:t>        Topic: my-replicated-topic      Partition: 0    Leader: 2   Replicas: 0,2,1  Isr: 2,1</a:t>
            </a:r>
          </a:p>
        </p:txBody>
      </p:sp>
    </p:spTree>
    <p:extLst>
      <p:ext uri="{BB962C8B-B14F-4D97-AF65-F5344CB8AC3E}">
        <p14:creationId xmlns:p14="http://schemas.microsoft.com/office/powerpoint/2010/main" val="33022392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en-US"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测试容错性</a:t>
            </a:r>
            <a:endParaRPr lang="en-US" altLang="zh-CN"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从头查看消息，一点问题没有</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09600" y="3124200"/>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bin/kafka-console-consumer.sh --zookeeper 192.168.31.129:12182 --from-beginning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或者连接到</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看看</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被杀掉了</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bin/kafka-console-consumer.sh --bootstrap-server 192.168.31.129.:9093 --from-beginning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716654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67394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安装问题</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日志越来越大</a:t>
            </a:r>
            <a:endPar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09600" y="3124200"/>
            <a:ext cx="7620000" cy="1477328"/>
          </a:xfrm>
          <a:prstGeom prst="rect">
            <a:avLst/>
          </a:prstGeom>
          <a:solidFill>
            <a:schemeClr val="bg1">
              <a:lumMod val="95000"/>
            </a:schemeClr>
          </a:solidFill>
          <a:ln>
            <a:solidFill>
              <a:schemeClr val="accent1"/>
            </a:solidFill>
          </a:ln>
        </p:spPr>
        <p:txBody>
          <a:bodyPr wrap="square">
            <a:spAutoFit/>
          </a:bodyPr>
          <a:lstStyle/>
          <a:p>
            <a:pPr marL="285750" indent="-285750">
              <a:buFont typeface="Arial" panose="020B0604020202020204" pitchFamily="34" charset="0"/>
              <a:buChar char="•"/>
            </a:pP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日志越积越多，占用空间</a:t>
            </a:r>
          </a:p>
          <a:p>
            <a:pPr marL="285750" indent="-285750">
              <a:buFont typeface="Arial" panose="020B0604020202020204" pitchFamily="34" charset="0"/>
              <a:buChar char="•"/>
            </a:pP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运行过程中，不断累积日志。如果不及时清理，占用极大硬盘空间。</a:t>
            </a:r>
          </a:p>
          <a:p>
            <a:pPr marL="285750" indent="-285750">
              <a:buFont typeface="Arial" panose="020B0604020202020204" pitchFamily="34" charset="0"/>
              <a:buChar char="•"/>
            </a:pP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可以考虑安装独立的</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，版本大于</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3.4.0.0</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，可以配置它自动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purge</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日志</a:t>
            </a:r>
          </a:p>
        </p:txBody>
      </p:sp>
    </p:spTree>
    <p:extLst>
      <p:ext uri="{BB962C8B-B14F-4D97-AF65-F5344CB8AC3E}">
        <p14:creationId xmlns:p14="http://schemas.microsoft.com/office/powerpoint/2010/main" val="8103918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9512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Java</a:t>
            </a:r>
            <a:r>
              <a:rPr lang="zh-CN" altLang="en-US" sz="1800" dirty="0">
                <a:solidFill>
                  <a:srgbClr val="C00000"/>
                </a:solidFill>
                <a:effectLst/>
                <a:latin typeface="微软雅黑" panose="020B0503020204020204" pitchFamily="34" charset="-122"/>
                <a:ea typeface="宋体" panose="02010600030101010101" pitchFamily="2" charset="-122"/>
              </a:rPr>
              <a:t>开发</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下面，</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介绍如何用</a:t>
            </a:r>
            <a:r>
              <a:rPr lang="en-US" altLang="zh-CN" sz="1800" dirty="0">
                <a:solidFill>
                  <a:srgbClr val="C00000"/>
                </a:solidFill>
                <a:effectLst/>
                <a:latin typeface="Times New Roman" panose="02020603050405020304" pitchFamily="18" charset="0"/>
                <a:ea typeface="宋体" panose="02010600030101010101" pitchFamily="2" charset="-122"/>
              </a:rPr>
              <a:t>Java</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语言编写</a:t>
            </a:r>
            <a:r>
              <a:rPr lang="en-US" altLang="zh-CN" sz="1800" dirty="0">
                <a:solidFill>
                  <a:srgbClr val="C00000"/>
                </a:solidFill>
                <a:effectLst/>
                <a:latin typeface="Times New Roman" panose="02020603050405020304" pitchFamily="18" charset="0"/>
                <a:ea typeface="宋体" panose="02010600030101010101" pitchFamily="2" charset="-122"/>
              </a:rPr>
              <a:t>Kafka Producer</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C00000"/>
                </a:solidFill>
                <a:effectLst/>
                <a:latin typeface="Times New Roman" panose="02020603050405020304" pitchFamily="18" charset="0"/>
                <a:ea typeface="宋体" panose="02010600030101010101" pitchFamily="2" charset="-122"/>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，以及如何用</a:t>
            </a:r>
            <a:r>
              <a:rPr lang="en-US" altLang="zh-CN" sz="1800" dirty="0">
                <a:effectLst/>
                <a:latin typeface="Times New Roman" panose="02020603050405020304" pitchFamily="18" charset="0"/>
                <a:ea typeface="宋体" panose="02010600030101010101" pitchFamily="2" charset="-122"/>
              </a:rPr>
              <a:t>Eclipse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进行调试</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dirty="0">
                <a:effectLst/>
                <a:latin typeface="Times New Roman" panose="02020603050405020304" pitchFamily="18" charset="0"/>
                <a:ea typeface="宋体" panose="02010600030101010101" pitchFamily="2" charset="-122"/>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solidFill>
                  <a:srgbClr val="C00000"/>
                </a:solidFill>
                <a:effectLst/>
                <a:latin typeface="Times New Roman" panose="02020603050405020304" pitchFamily="18" charset="0"/>
                <a:ea typeface="宋体" panose="02010600030101010101" pitchFamily="2" charset="-122"/>
              </a:rPr>
              <a:t>(Kafka Producer)</a:t>
            </a:r>
            <a:endParaRPr lang="en-US" altLang="zh-CN" sz="18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关于如何关于如何安装</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，给</a:t>
            </a:r>
            <a:r>
              <a:rPr lang="en-US" altLang="zh-CN" sz="1800" dirty="0">
                <a:effectLst/>
                <a:latin typeface="Times New Roman" panose="02020603050405020304" pitchFamily="18" charset="0"/>
                <a:ea typeface="宋体" panose="02010600030101010101" pitchFamily="2" charset="-122"/>
              </a:rPr>
              <a:t>Eclipse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安装和配置</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插件，以及新建</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项目，请参考</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教材</a:t>
            </a:r>
            <a:r>
              <a:rPr lang="en-US" altLang="zh-CN" sz="1800" dirty="0">
                <a:effectLst/>
                <a:latin typeface="Times New Roman" panose="02020603050405020304" pitchFamily="18" charset="0"/>
                <a:ea typeface="宋体" panose="02010600030101010101" pitchFamily="2" charset="-122"/>
              </a:rPr>
              <a:t>8.4</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节</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57270" y="3657600"/>
            <a:ext cx="7620000" cy="2308324"/>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package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kafka_producer.kafka_producer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org.apache.kafka.clients.producer.KafkaProducer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org.apache.kafka.clients.producer.ProducerConfig</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org.apache.kafka.clients.producer.ProducerRecord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org.apache.kafka.common.serialization.StringSerializer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java.util.Properties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984899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algn="just"/>
            <a:r>
              <a:rPr lang="en-US" altLang="zh-CN" sz="1800" dirty="0">
                <a:effectLst/>
                <a:latin typeface="Times New Roman" panose="02020603050405020304" pitchFamily="18" charset="0"/>
                <a:ea typeface="宋体" panose="02010600030101010101" pitchFamily="2" charset="-122"/>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effectLst/>
                <a:latin typeface="Times New Roman" panose="02020603050405020304" pitchFamily="18" charset="0"/>
                <a:ea typeface="宋体" panose="02010600030101010101" pitchFamily="2" charset="-122"/>
              </a:rPr>
              <a:t>(Kafka Producer)</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3477875"/>
          </a:xfrm>
          <a:prstGeom prst="rect">
            <a:avLst/>
          </a:prstGeom>
          <a:solidFill>
            <a:schemeClr val="bg1">
              <a:lumMod val="95000"/>
            </a:schemeClr>
          </a:solidFill>
          <a:ln>
            <a:solidFill>
              <a:schemeClr val="accent1"/>
            </a:solidFill>
          </a:ln>
        </p:spPr>
        <p:txBody>
          <a:bodyPr wrap="square">
            <a:spAutoFit/>
          </a:bodyPr>
          <a:lstStyle/>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public class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VerySimpleProducer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The topic we are going to write records to</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private static final String KAFKA_TOPIC_NAME =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public static void main(String[]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args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Set producer configuration properties</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Properties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producerProps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new Properties();</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ProducerConfig.BOOTSTRAP_SERVERS_CONFIG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"192.168.31.129:9092");</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ProducerConfig.KEY_SERIALIZER_CLASS_CONFIG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StringSerializer.class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ProducerConfig.VALUE_SERIALIZER_CLASS_CONFIG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StringSerializer.class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Create a new producer</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KafkaProducer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&lt;String, String&gt; producer = new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KafkaProducer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&lt;&gt;(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producerProps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Write 10 records into the topic</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for (int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0;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&lt; 10;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String key = "key-" +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String value = "value-" +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producer.send</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(new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ProducerRecord</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&lt;&gt;(KAFKA_TOPIC_NAME, key, value));</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752191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algn="just"/>
            <a:r>
              <a:rPr lang="en-US" altLang="zh-CN" sz="1800" dirty="0">
                <a:effectLst/>
                <a:latin typeface="Times New Roman" panose="02020603050405020304" pitchFamily="18" charset="0"/>
                <a:ea typeface="宋体" panose="02010600030101010101" pitchFamily="2" charset="-122"/>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effectLst/>
                <a:latin typeface="Times New Roman" panose="02020603050405020304" pitchFamily="18" charset="0"/>
                <a:ea typeface="宋体" panose="02010600030101010101" pitchFamily="2" charset="-122"/>
              </a:rPr>
              <a:t>(Kafka Producer)——pom.xml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文件配置如下</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2839239"/>
          </a:xfrm>
          <a:prstGeom prst="rect">
            <a:avLst/>
          </a:prstGeom>
          <a:solidFill>
            <a:schemeClr val="bg1">
              <a:lumMod val="95000"/>
            </a:schemeClr>
          </a:solidFill>
          <a:ln>
            <a:solidFill>
              <a:schemeClr val="accent1"/>
            </a:solidFill>
          </a:ln>
        </p:spPr>
        <p:txBody>
          <a:bodyPr wrap="square">
            <a:spAutoFit/>
          </a:bodyPr>
          <a:lstStyle/>
          <a:p>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highlight>
                  <a:srgbClr val="D3D3D3"/>
                </a:highlight>
                <a:latin typeface="Times New Roman" panose="02020603050405020304" pitchFamily="18" charset="0"/>
                <a:ea typeface="宋体" panose="02010600030101010101" pitchFamily="2" charset="-122"/>
                <a:cs typeface="Times New Roman" panose="02020603050405020304" pitchFamily="18" charset="0"/>
              </a:rPr>
              <a:t>project</a:t>
            </a:r>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err="1">
                <a:solidFill>
                  <a:srgbClr val="7F007F"/>
                </a:solidFill>
                <a:effectLst/>
                <a:latin typeface="Times New Roman" panose="02020603050405020304" pitchFamily="18" charset="0"/>
                <a:ea typeface="宋体" panose="02010600030101010101" pitchFamily="2" charset="-122"/>
                <a:cs typeface="Times New Roman" panose="02020603050405020304" pitchFamily="18" charset="0"/>
              </a:rPr>
              <a:t>xmlns</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50" dirty="0">
                <a:solidFill>
                  <a:srgbClr val="2A00FF"/>
                </a:solidFill>
                <a:effectLst/>
                <a:latin typeface="Times New Roman" panose="02020603050405020304" pitchFamily="18" charset="0"/>
                <a:ea typeface="宋体" panose="02010600030101010101" pitchFamily="2" charset="-122"/>
                <a:cs typeface="Times New Roman" panose="02020603050405020304" pitchFamily="18" charset="0"/>
              </a:rPr>
              <a:t>"http://maven.apache.org/POM/4.0.0"</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pPr indent="133350"/>
            <a:r>
              <a:rPr lang="en-US" altLang="zh-CN" sz="1050" dirty="0" err="1">
                <a:solidFill>
                  <a:srgbClr val="7F007F"/>
                </a:solidFill>
                <a:effectLst/>
                <a:latin typeface="Times New Roman" panose="02020603050405020304" pitchFamily="18" charset="0"/>
                <a:ea typeface="宋体" panose="02010600030101010101" pitchFamily="2" charset="-122"/>
                <a:cs typeface="Times New Roman" panose="02020603050405020304" pitchFamily="18" charset="0"/>
              </a:rPr>
              <a:t>xmlns:xsi</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50" dirty="0">
                <a:solidFill>
                  <a:srgbClr val="2A00FF"/>
                </a:solidFill>
                <a:effectLst/>
                <a:latin typeface="Times New Roman" panose="02020603050405020304" pitchFamily="18" charset="0"/>
                <a:ea typeface="宋体" panose="02010600030101010101" pitchFamily="2" charset="-122"/>
                <a:cs typeface="Times New Roman" panose="02020603050405020304" pitchFamily="18" charset="0"/>
              </a:rPr>
              <a:t>"http://www.w3.org/2001/XMLSchema-instance"</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pPr indent="114300"/>
            <a:r>
              <a:rPr lang="en-US" altLang="zh-CN" sz="1050" dirty="0" err="1">
                <a:solidFill>
                  <a:srgbClr val="7F007F"/>
                </a:solidFill>
                <a:effectLst/>
                <a:latin typeface="Times New Roman" panose="02020603050405020304" pitchFamily="18" charset="0"/>
                <a:ea typeface="宋体" panose="02010600030101010101" pitchFamily="2" charset="-122"/>
                <a:cs typeface="Times New Roman" panose="02020603050405020304" pitchFamily="18" charset="0"/>
              </a:rPr>
              <a:t>xsi:schemaLocation</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50" dirty="0">
                <a:solidFill>
                  <a:srgbClr val="2A00FF"/>
                </a:solidFill>
                <a:effectLst/>
                <a:latin typeface="Times New Roman" panose="02020603050405020304" pitchFamily="18" charset="0"/>
                <a:ea typeface="宋体" panose="02010600030101010101" pitchFamily="2" charset="-122"/>
                <a:cs typeface="Times New Roman" panose="02020603050405020304" pitchFamily="18" charset="0"/>
              </a:rPr>
              <a:t>"http://maven.apache.org/POM/4.0.0 http://maven.apache.org/xsd/maven-4.0.0.xsd"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modelVersion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4.0.0</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modelVersion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kafka_producer</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kafka_producer</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0.0.1-SNAPSHOT</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packaging</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jar</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packaging</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name</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kafka_producer</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name</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url</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http://maven.apache.org</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url</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properties</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project.build.sourceEncoding</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UTF-8</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project.build.sourceEncoding</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properties</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412805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algn="just"/>
            <a:r>
              <a:rPr lang="en-US" altLang="zh-CN" sz="1800" dirty="0">
                <a:effectLst/>
                <a:latin typeface="Times New Roman" panose="02020603050405020304" pitchFamily="18" charset="0"/>
                <a:ea typeface="宋体" panose="02010600030101010101" pitchFamily="2" charset="-122"/>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effectLst/>
                <a:latin typeface="Times New Roman" panose="02020603050405020304" pitchFamily="18" charset="0"/>
                <a:ea typeface="宋体" panose="02010600030101010101" pitchFamily="2" charset="-122"/>
              </a:rPr>
              <a:t>(Kafka Producer)——pom.xml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文件配置如下</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3970318"/>
          </a:xfrm>
          <a:prstGeom prst="rect">
            <a:avLst/>
          </a:prstGeom>
          <a:solidFill>
            <a:schemeClr val="bg1">
              <a:lumMod val="95000"/>
            </a:schemeClr>
          </a:solidFill>
          <a:ln>
            <a:solidFill>
              <a:schemeClr val="accent1"/>
            </a:solidFill>
          </a:ln>
        </p:spPr>
        <p:txBody>
          <a:bodyPr wrap="square">
            <a:spAutoFit/>
          </a:bodyPr>
          <a:lstStyle/>
          <a:p>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dependencies</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junit</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junit</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3.8.1</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scope</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test</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scope</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org.apache.kafka</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-clients</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0.10.2.1</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org.apache.kafka</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kafka_2.10</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0.10.2.1</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dependencies</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highlight>
                  <a:srgbClr val="D3D3D3"/>
                </a:highlight>
                <a:latin typeface="Times New Roman" panose="02020603050405020304" pitchFamily="18" charset="0"/>
                <a:ea typeface="宋体" panose="02010600030101010101" pitchFamily="2" charset="-122"/>
                <a:cs typeface="Times New Roman" panose="02020603050405020304" pitchFamily="18" charset="0"/>
              </a:rPr>
              <a:t>project</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241923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 Consumer)</a:t>
            </a:r>
            <a:endPar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Consumer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effectLst/>
                <a:latin typeface="Times New Roman" panose="02020603050405020304" pitchFamily="18" charset="0"/>
                <a:ea typeface="宋体" panose="02010600030101010101" pitchFamily="2" charset="-122"/>
              </a:rPr>
              <a:t>Java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代码如下</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606905"/>
            <a:ext cx="7620000" cy="3970318"/>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package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kafka_consumer.kafka_consumer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org.apache.kafka.clients.consumer.ConsumerConfig</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org.apache.kafka.clients.consumer.ConsumerRecord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org.apache.kafka.clients.consumer.ConsumerRecords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org.apache.kafka.clients.consumer.KafkaConsumer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org.apache.kafka.clients.producer.KafkaProducer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org.apache.kafka.clients.producer.ProducerConfig</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org.apache.kafka.clients.producer.ProducerRecord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org.apache.kafka.common.serialization.StringDeserializer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org.apache.kafka.common.serialization.StringSerializer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java.util.Collections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java.util.Properties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246464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 Consumer)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Consumer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effectLst/>
                <a:latin typeface="Times New Roman" panose="02020603050405020304" pitchFamily="18" charset="0"/>
                <a:ea typeface="宋体" panose="02010600030101010101" pitchFamily="2" charset="-122"/>
              </a:rPr>
              <a:t>Java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代码如下</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438400"/>
            <a:ext cx="7620000" cy="4401205"/>
          </a:xfrm>
          <a:prstGeom prst="rect">
            <a:avLst/>
          </a:prstGeom>
          <a:solidFill>
            <a:schemeClr val="bg1">
              <a:lumMod val="95000"/>
            </a:schemeClr>
          </a:solidFill>
          <a:ln>
            <a:solidFill>
              <a:schemeClr val="accent1"/>
            </a:solidFill>
          </a:ln>
        </p:spPr>
        <p:txBody>
          <a:bodyPr wrap="square">
            <a:spAutoFit/>
          </a:bodyPr>
          <a:lstStyle/>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public class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VerySimpleConsumer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The topic we are going to read records from</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private static final String KAFKA_TOPIC_NAME =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public static void main(String[]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args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Set consumer configuration properties</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Properties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new Properties();</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ConsumerConfig.BOOTSTRAP_SERVERS_CONFIG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"192.168.31.129:9092");</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ConsumerConfig.KEY_DESERIALIZER_CLASS_CONFIG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StringDeserializer.class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ConsumerConfig.VALUE_DESERIALIZER_CLASS_CONFIG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StringDeserializer.class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ConsumerConfig.GROUP_ID_CONFIG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"very-simple-consumer");</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Create a new consumer</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KafkaConsumer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&lt;String, String&gt; consumer = new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KafkaConsumer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&lt;&gt;(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Subscribe to the topic</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consumer.subscribe</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Collections.singleton</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(KAFKA_TOPIC_NAME));</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Continuously read records from the topic</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while (true)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ConsumerRecords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&lt;String, String&gt; records =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consumer.poll</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(1000);</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for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&lt;String, String&gt; record : records)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System.out.println</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("Received: " + record);</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563982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 Consumer)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pom.xml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文件配置如下</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461665"/>
          </a:xfrm>
          <a:prstGeom prst="rect">
            <a:avLst/>
          </a:prstGeom>
          <a:solidFill>
            <a:schemeClr val="bg1">
              <a:lumMod val="95000"/>
            </a:schemeClr>
          </a:solidFill>
          <a:ln>
            <a:solidFill>
              <a:schemeClr val="accent1"/>
            </a:solidFill>
          </a:ln>
        </p:spPr>
        <p:txBody>
          <a:bodyPr wrap="square">
            <a:spAutoFit/>
          </a:bodyPr>
          <a:lstStyle/>
          <a:p>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rPr>
              <a:t>producer</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项目的</a:t>
            </a:r>
            <a:r>
              <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rPr>
              <a:t>pom.xml</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文件是一样的</a:t>
            </a:r>
            <a:endPar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242119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Java</a:t>
            </a:r>
            <a:r>
              <a:rPr lang="zh-CN" altLang="en-US" sz="1800" dirty="0">
                <a:solidFill>
                  <a:srgbClr val="C00000"/>
                </a:solidFill>
                <a:effectLst/>
                <a:latin typeface="微软雅黑" panose="020B0503020204020204" pitchFamily="34" charset="-122"/>
                <a:ea typeface="宋体" panose="02010600030101010101" pitchFamily="2" charset="-122"/>
              </a:rPr>
              <a:t>开发</a:t>
            </a:r>
            <a:endParaRPr lang="en-US" altLang="zh-CN" sz="1800" dirty="0">
              <a:solidFill>
                <a:srgbClr val="C00000"/>
              </a:solidFill>
              <a:effectLst/>
              <a:latin typeface="微软雅黑" panose="020B0503020204020204" pitchFamily="34" charset="-122"/>
              <a:ea typeface="宋体" panose="02010600030101010101" pitchFamily="2" charset="-122"/>
            </a:endParaRPr>
          </a:p>
          <a:p>
            <a:pPr indent="266700"/>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启动</a:t>
            </a:r>
            <a:r>
              <a:rPr lang="en-US" altLang="zh-CN" sz="180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 Broker 0</a:t>
            </a:r>
            <a:endPar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使用如下命令，启动</a:t>
            </a:r>
            <a:r>
              <a:rPr lang="en-US" altLang="zh-CN" sz="1800" dirty="0" err="1">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Kafka Broker 0</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3139321"/>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1800" dirty="0">
                <a:effectLst/>
                <a:latin typeface="Times New Roman" panose="02020603050405020304" pitchFamily="18" charset="0"/>
                <a:ea typeface="宋体" panose="02010600030101010101" pitchFamily="2" charset="-122"/>
              </a:rPr>
              <a:t>Kafka 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192.168.31.129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启动之后，在</a:t>
            </a:r>
            <a:r>
              <a:rPr lang="en-US" altLang="zh-CN" sz="1800" dirty="0">
                <a:effectLst/>
                <a:latin typeface="Times New Roman" panose="02020603050405020304" pitchFamily="18" charset="0"/>
                <a:ea typeface="宋体" panose="02010600030101010101" pitchFamily="2" charset="-122"/>
              </a:rPr>
              <a:t>9092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端口监听</a:t>
            </a:r>
            <a:endPar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041579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Java</a:t>
            </a:r>
            <a:r>
              <a:rPr lang="zh-CN" altLang="en-US" sz="1800" dirty="0">
                <a:solidFill>
                  <a:srgbClr val="C00000"/>
                </a:solidFill>
                <a:effectLst/>
                <a:latin typeface="微软雅黑" panose="020B0503020204020204" pitchFamily="34" charset="-122"/>
                <a:ea typeface="宋体" panose="02010600030101010101" pitchFamily="2" charset="-122"/>
              </a:rPr>
              <a:t>开发</a:t>
            </a:r>
            <a:endParaRPr lang="en-US" altLang="zh-CN" sz="1800" dirty="0">
              <a:solidFill>
                <a:srgbClr val="C00000"/>
              </a:solidFill>
              <a:effectLst/>
              <a:latin typeface="微软雅黑" panose="020B0503020204020204" pitchFamily="34" charset="-122"/>
              <a:ea typeface="宋体" panose="02010600030101010101" pitchFamily="2" charset="-122"/>
            </a:endParaRPr>
          </a:p>
          <a:p>
            <a:pPr indent="266700"/>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(4) </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创建一个</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 Topic</a:t>
            </a:r>
            <a:endPar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创建</a:t>
            </a:r>
            <a:r>
              <a:rPr lang="en-US" altLang="zh-CN" sz="1800" dirty="0">
                <a:effectLst/>
                <a:latin typeface="Times New Roman" panose="02020603050405020304" pitchFamily="18" charset="0"/>
                <a:ea typeface="宋体" panose="02010600030101010101" pitchFamily="2" charset="-122"/>
              </a:rPr>
              <a:t>Kafka Topic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，命名为</a:t>
            </a:r>
            <a:r>
              <a:rPr lang="en-US" altLang="zh-CN" sz="1800" dirty="0" err="1">
                <a:effectLst/>
                <a:latin typeface="Times New Roman" panose="02020603050405020304" pitchFamily="18" charset="0"/>
                <a:ea typeface="宋体" panose="02010600030101010101" pitchFamily="2" charset="-122"/>
              </a:rPr>
              <a:t>very_simple_topic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1200329"/>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--create --zookeeper 192.168.31.129:12182 --replication-factor 1 --partitions 1 --topic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--list --zookeeper 192.168.31.129:12182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973994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(5) Run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Debug Consumer</a:t>
            </a: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Eclipse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里，为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，然后运行程序，或者新建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Debug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，然后调试程序</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的命令和菜单序列为，对着项目</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按右键</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As</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Run</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Configurations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双击</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Java Applications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新建一个</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Configuration</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Main</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Tab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选择</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Project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Main</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Tab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选择</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Main Class”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，然后选择</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按钮即可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rPr>
              <a:t>Run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的命令和菜单序列类似</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386399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(6) Run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Debug Producer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Eclipse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里，为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，然后运行程序，或者新建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Debug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，然后调试程序</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端生成</a:t>
            </a:r>
            <a:r>
              <a:rPr lang="en-US" altLang="zh-CN" sz="1800" dirty="0">
                <a:effectLst/>
                <a:latin typeface="Times New Roman" panose="02020603050405020304" pitchFamily="18" charset="0"/>
                <a:ea typeface="宋体" panose="02010600030101010101" pitchFamily="2" charset="-122"/>
              </a:rPr>
              <a:t>10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a:t>
            </a:r>
            <a:r>
              <a:rPr lang="en-US" altLang="zh-CN" sz="1800" dirty="0">
                <a:effectLst/>
                <a:latin typeface="Times New Roman" panose="02020603050405020304" pitchFamily="18" charset="0"/>
                <a:ea typeface="宋体" panose="02010600030101010101" pitchFamily="2" charset="-122"/>
              </a:rPr>
              <a:t>Key Value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，可以在</a:t>
            </a:r>
            <a:r>
              <a:rPr lang="en-US" altLang="zh-CN" sz="1800" dirty="0">
                <a:effectLst/>
                <a:latin typeface="Times New Roman" panose="02020603050405020304" pitchFamily="18" charset="0"/>
                <a:ea typeface="宋体" panose="02010600030101010101" pitchFamily="2" charset="-122"/>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端看到相应的输出</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CF717F6-A84C-4E21-91CA-02ED438F02ED}"/>
              </a:ext>
            </a:extLst>
          </p:cNvPr>
          <p:cNvSpPr txBox="1"/>
          <p:nvPr/>
        </p:nvSpPr>
        <p:spPr>
          <a:xfrm>
            <a:off x="457200" y="3105487"/>
            <a:ext cx="8001000" cy="3477875"/>
          </a:xfrm>
          <a:prstGeom prst="rect">
            <a:avLst/>
          </a:prstGeom>
          <a:solidFill>
            <a:schemeClr val="bg1">
              <a:lumMod val="95000"/>
            </a:schemeClr>
          </a:solidFill>
          <a:ln>
            <a:solidFill>
              <a:schemeClr val="accent1"/>
            </a:solidFill>
          </a:ln>
        </p:spPr>
        <p:txBody>
          <a:bodyPr wrap="square">
            <a:spAutoFit/>
          </a:bodyPr>
          <a:lstStyle/>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1, offset = 0,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1513475276740, checksum = 1161559315, serialized key size = 5, serialized value size = 7, key = key-0, value = value-0)</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1, offset = 1,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3822194193, serialized key size = 5, serialized value size = 7, key = key-7, value = value-7)</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1, offset = 2,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33131761, serialized key size = 5, serialized value size = 7, key = key-8, value = value-8)</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2, offset = 0,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186355086, serialized key size = 5, serialized value size = 7, key = key-2, value = value-2)</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2, offset = 1,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3887722871, serialized key size = 5, serialized value size = 7, key = key-3, value = value-3)</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2, offset = 2,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3790074274, serialized key size = 5, serialized value size = 7, key = key-5, value = value-5)</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2, offset = 3,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259027688, serialized key size = 5, serialized value size = 7, key = key-6, value = value-6)</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0, offset = 0,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1513475276746, checksum = 2052492634, serialized key size = 5, serialized value size = 7, key = key-1, value = value-1)</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0, offset = 1,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222661979, serialized key size = 5, serialized value size = 7, key = key-4, value = value-4)</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100" dirty="0">
                <a:effectLst/>
                <a:latin typeface="Times New Roman" panose="02020603050405020304" pitchFamily="18" charset="0"/>
                <a:ea typeface="宋体" panose="02010600030101010101" pitchFamily="2" charset="-122"/>
              </a:rPr>
              <a:t>Received: </a:t>
            </a:r>
            <a:r>
              <a:rPr lang="en-US" altLang="zh-CN" sz="1100" dirty="0" err="1">
                <a:effectLst/>
                <a:latin typeface="Times New Roman" panose="02020603050405020304" pitchFamily="18" charset="0"/>
                <a:ea typeface="宋体" panose="02010600030101010101" pitchFamily="2" charset="-122"/>
              </a:rPr>
              <a:t>ConsumerRecord</a:t>
            </a:r>
            <a:r>
              <a:rPr lang="en-US" altLang="zh-CN" sz="1100" dirty="0">
                <a:effectLst/>
                <a:latin typeface="Times New Roman" panose="02020603050405020304" pitchFamily="18" charset="0"/>
                <a:ea typeface="宋体" panose="02010600030101010101" pitchFamily="2" charset="-122"/>
              </a:rPr>
              <a:t>(topic = </a:t>
            </a:r>
            <a:r>
              <a:rPr lang="en-US" altLang="zh-CN" sz="1100" dirty="0" err="1">
                <a:effectLst/>
                <a:latin typeface="Times New Roman" panose="02020603050405020304" pitchFamily="18" charset="0"/>
                <a:ea typeface="宋体" panose="02010600030101010101" pitchFamily="2" charset="-122"/>
              </a:rPr>
              <a:t>very_simple_topic</a:t>
            </a:r>
            <a:r>
              <a:rPr lang="en-US" altLang="zh-CN" sz="1100" dirty="0">
                <a:effectLst/>
                <a:latin typeface="Times New Roman" panose="02020603050405020304" pitchFamily="18" charset="0"/>
                <a:ea typeface="宋体" panose="02010600030101010101" pitchFamily="2" charset="-122"/>
              </a:rPr>
              <a:t>, partition = 0, offset = 2, </a:t>
            </a:r>
            <a:r>
              <a:rPr lang="en-US" altLang="zh-CN" sz="1100" dirty="0" err="1">
                <a:effectLst/>
                <a:latin typeface="Times New Roman" panose="02020603050405020304" pitchFamily="18" charset="0"/>
                <a:ea typeface="宋体" panose="02010600030101010101" pitchFamily="2" charset="-122"/>
              </a:rPr>
              <a:t>CreateTime</a:t>
            </a:r>
            <a:r>
              <a:rPr lang="en-US" altLang="zh-CN" sz="1100" dirty="0">
                <a:effectLst/>
                <a:latin typeface="Times New Roman" panose="02020603050405020304" pitchFamily="18" charset="0"/>
                <a:ea typeface="宋体" panose="02010600030101010101" pitchFamily="2" charset="-122"/>
              </a:rPr>
              <a:t> = 1513475276747, checksum = 3982225416, serialized key size = 5, serialized value size = 7, key = key-9, value = value-9)</a:t>
            </a:r>
            <a:endParaRPr lang="zh-CN" altLang="en-US" sz="1100" dirty="0"/>
          </a:p>
        </p:txBody>
      </p:sp>
    </p:spTree>
    <p:extLst>
      <p:ext uri="{BB962C8B-B14F-4D97-AF65-F5344CB8AC3E}">
        <p14:creationId xmlns:p14="http://schemas.microsoft.com/office/powerpoint/2010/main" val="20080332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注意，在</a:t>
            </a:r>
            <a:r>
              <a:rPr lang="en-US" altLang="zh-CN" sz="1800" dirty="0">
                <a:effectLst/>
                <a:latin typeface="Times New Roman" panose="02020603050405020304" pitchFamily="18" charset="0"/>
                <a:ea typeface="宋体" panose="02010600030101010101" pitchFamily="2" charset="-122"/>
              </a:rPr>
              <a:t>Eclipse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中，我们是可以同时调试</a:t>
            </a:r>
            <a:r>
              <a:rPr lang="en-US" altLang="zh-CN" sz="1800" dirty="0">
                <a:effectLst/>
                <a:latin typeface="Times New Roman" panose="02020603050405020304" pitchFamily="18" charset="0"/>
                <a:ea typeface="宋体" panose="02010600030101010101" pitchFamily="2" charset="-122"/>
              </a:rPr>
              <a:t>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个应用程序的</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可以在</a:t>
            </a:r>
            <a:r>
              <a:rPr lang="en-US" altLang="zh-CN" sz="1800" dirty="0">
                <a:effectLst/>
                <a:latin typeface="Times New Roman" panose="02020603050405020304" pitchFamily="18" charset="0"/>
                <a:ea typeface="宋体" panose="02010600030101010101" pitchFamily="2" charset="-122"/>
              </a:rPr>
              <a:t>Console Tab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上，选择</a:t>
            </a:r>
            <a:r>
              <a:rPr lang="en-US" altLang="zh-CN" sz="1800" dirty="0">
                <a:effectLst/>
                <a:latin typeface="Times New Roman" panose="02020603050405020304" pitchFamily="18" charset="0"/>
                <a:ea typeface="宋体" panose="02010600030101010101" pitchFamily="2" charset="-122"/>
              </a:rPr>
              <a:t>Display Selected Console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，查看不同应用程序的</a:t>
            </a:r>
            <a:r>
              <a:rPr lang="en-US" altLang="zh-CN" sz="1800" dirty="0">
                <a:effectLst/>
                <a:latin typeface="Times New Roman" panose="02020603050405020304" pitchFamily="18" charset="0"/>
                <a:ea typeface="宋体" panose="02010600030101010101" pitchFamily="2" charset="-122"/>
              </a:rPr>
              <a:t>Console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输出，如图</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所示</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4160ACFC-E7EA-49ED-957D-9BF832899F2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3394692"/>
            <a:ext cx="7162800" cy="1524000"/>
          </a:xfrm>
          <a:prstGeom prst="rect">
            <a:avLst/>
          </a:prstGeom>
          <a:noFill/>
          <a:ln>
            <a:noFill/>
          </a:ln>
        </p:spPr>
      </p:pic>
      <p:sp>
        <p:nvSpPr>
          <p:cNvPr id="4" name="椭圆 3">
            <a:extLst>
              <a:ext uri="{FF2B5EF4-FFF2-40B4-BE49-F238E27FC236}">
                <a16:creationId xmlns:a16="http://schemas.microsoft.com/office/drawing/2014/main" id="{1C3AD31B-B53E-4EF0-A080-D3788BA5B92C}"/>
              </a:ext>
            </a:extLst>
          </p:cNvPr>
          <p:cNvSpPr/>
          <p:nvPr/>
        </p:nvSpPr>
        <p:spPr>
          <a:xfrm>
            <a:off x="2819400" y="3124200"/>
            <a:ext cx="1371600" cy="990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07801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输出结果如图</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70D66E74-A292-4E00-9728-B984EEE79D23}"/>
              </a:ext>
            </a:extLst>
          </p:cNvPr>
          <p:cNvPicPr/>
          <p:nvPr/>
        </p:nvPicPr>
        <p:blipFill>
          <a:blip r:embed="rId2"/>
          <a:stretch>
            <a:fillRect/>
          </a:stretch>
        </p:blipFill>
        <p:spPr>
          <a:xfrm>
            <a:off x="1143000" y="2286000"/>
            <a:ext cx="7239000" cy="3962400"/>
          </a:xfrm>
          <a:prstGeom prst="rect">
            <a:avLst/>
          </a:prstGeom>
        </p:spPr>
      </p:pic>
    </p:spTree>
    <p:extLst>
      <p:ext uri="{BB962C8B-B14F-4D97-AF65-F5344CB8AC3E}">
        <p14:creationId xmlns:p14="http://schemas.microsoft.com/office/powerpoint/2010/main" val="41738497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(7) </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最后停止</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 broker 0</a:t>
            </a:r>
            <a:endPar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03B62538-5230-4207-8512-8E7D33E13D73}"/>
              </a:ext>
            </a:extLst>
          </p:cNvPr>
          <p:cNvSpPr txBox="1"/>
          <p:nvPr/>
        </p:nvSpPr>
        <p:spPr>
          <a:xfrm>
            <a:off x="571500" y="2438400"/>
            <a:ext cx="8001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62025FE8-186E-4271-8C52-0D0F7F69711D}"/>
              </a:ext>
            </a:extLst>
          </p:cNvPr>
          <p:cNvSpPr txBox="1"/>
          <p:nvPr/>
        </p:nvSpPr>
        <p:spPr>
          <a:xfrm>
            <a:off x="571500" y="3645321"/>
            <a:ext cx="8001000" cy="2308324"/>
          </a:xfrm>
          <a:prstGeom prst="rect">
            <a:avLst/>
          </a:prstGeom>
          <a:solidFill>
            <a:schemeClr val="bg1">
              <a:lumMod val="95000"/>
            </a:schemeClr>
          </a:solidFill>
          <a:ln>
            <a:solidFill>
              <a:schemeClr val="accent2">
                <a:lumMod val="50000"/>
              </a:schemeClr>
            </a:solidFill>
          </a:ln>
        </p:spPr>
        <p:txBody>
          <a:bodyPr wrap="square">
            <a:spAutoFit/>
          </a:bodyPr>
          <a:lstStyle/>
          <a:p>
            <a:r>
              <a:rPr lang="zh-CN" altLang="en-US" dirty="0"/>
              <a:t>如果上述命令不能正常停止进程，可以使用如下命令找出zookeeper和kafka broker 0的进程号，然后kill掉进程。</a:t>
            </a:r>
          </a:p>
          <a:p>
            <a:r>
              <a:rPr lang="zh-CN" altLang="en-US" dirty="0"/>
              <a:t>netstat -ntlp|grep 9092</a:t>
            </a:r>
          </a:p>
          <a:p>
            <a:r>
              <a:rPr lang="zh-CN" altLang="en-US" dirty="0"/>
              <a:t>kill -9 75182 \\ 75182为kafka broker 0的进程号</a:t>
            </a:r>
          </a:p>
          <a:p>
            <a:endParaRPr lang="zh-CN" altLang="en-US" dirty="0"/>
          </a:p>
          <a:p>
            <a:r>
              <a:rPr lang="zh-CN" altLang="en-US" dirty="0"/>
              <a:t>netstat -ntlp|grep 12182</a:t>
            </a:r>
          </a:p>
          <a:p>
            <a:r>
              <a:rPr lang="zh-CN" altLang="en-US" dirty="0"/>
              <a:t>kill -9 74861 \\ 74861为zookeeper的进程号</a:t>
            </a:r>
          </a:p>
          <a:p>
            <a:endParaRPr lang="zh-CN" altLang="en-US" dirty="0"/>
          </a:p>
        </p:txBody>
      </p:sp>
    </p:spTree>
    <p:extLst>
      <p:ext uri="{BB962C8B-B14F-4D97-AF65-F5344CB8AC3E}">
        <p14:creationId xmlns:p14="http://schemas.microsoft.com/office/powerpoint/2010/main" val="29878357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1477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lgn="jus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800" u="sng" dirty="0">
                <a:solidFill>
                  <a:srgbClr val="0000FF"/>
                </a:solidFill>
                <a:effectLst/>
                <a:latin typeface="Times New Roman" panose="02020603050405020304" pitchFamily="18" charset="0"/>
                <a:ea typeface="宋体" panose="02010600030101010101" pitchFamily="2" charset="-122"/>
                <a:hlinkClick r:id="rId2"/>
              </a:rPr>
              <a:t>https://github.com/ebi-wp/kafka-streams-api-websockets</a:t>
            </a:r>
            <a:endParaRPr lang="en-US" altLang="zh-CN" sz="1800" u="sng" dirty="0">
              <a:solidFill>
                <a:srgbClr val="0000FF"/>
              </a:solidFill>
              <a:effectLst/>
              <a:latin typeface="Times New Roman" panose="02020603050405020304" pitchFamily="18" charset="0"/>
              <a:ea typeface="宋体" panose="02010600030101010101" pitchFamily="2" charset="-122"/>
            </a:endParaRPr>
          </a:p>
          <a:p>
            <a:pPr indent="266700" algn="jus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给出了一个利用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 Streams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进行流式数据处理的实例</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这个实例包括几个主要的组件，</a:t>
            </a:r>
            <a:r>
              <a:rPr lang="en-US" altLang="zh-CN" sz="1800" dirty="0">
                <a:effectLst/>
                <a:latin typeface="Times New Roman" panose="02020603050405020304" pitchFamily="18" charset="0"/>
                <a:ea typeface="宋体" panose="02010600030101010101" pitchFamily="2" charset="-122"/>
              </a:rPr>
              <a:t>(1)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一个</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，生成一系列传感器数据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800" dirty="0">
                <a:effectLst/>
                <a:latin typeface="Times New Roman" panose="02020603050405020304" pitchFamily="18" charset="0"/>
                <a:ea typeface="宋体" panose="02010600030101010101" pitchFamily="2" charset="-122"/>
              </a:rPr>
              <a:t>(2)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一个基于</a:t>
            </a:r>
            <a:r>
              <a:rPr lang="en-US" altLang="zh-CN" sz="1800" dirty="0">
                <a:effectLst/>
                <a:latin typeface="Times New Roman" panose="02020603050405020304" pitchFamily="18" charset="0"/>
                <a:ea typeface="宋体" panose="02010600030101010101" pitchFamily="2" charset="-122"/>
              </a:rPr>
              <a:t>Kafka Streams API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进行开发的</a:t>
            </a:r>
            <a:r>
              <a:rPr lang="en-US" altLang="zh-CN" sz="1800" dirty="0">
                <a:effectLst/>
                <a:latin typeface="Times New Roman" panose="02020603050405020304" pitchFamily="18" charset="0"/>
                <a:ea typeface="宋体" panose="02010600030101010101" pitchFamily="2" charset="-122"/>
              </a:rPr>
              <a:t>Java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应用程序，负责对数据流进行适当分组和汇总，生成临时汇总数据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800" dirty="0">
                <a:effectLst/>
                <a:latin typeface="Times New Roman" panose="02020603050405020304" pitchFamily="18" charset="0"/>
                <a:ea typeface="宋体" panose="02010600030101010101" pitchFamily="2" charset="-122"/>
              </a:rPr>
              <a:t>(3)</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一个基于</a:t>
            </a:r>
            <a:r>
              <a:rPr lang="en-US" altLang="zh-CN" sz="1800" dirty="0">
                <a:effectLst/>
                <a:latin typeface="Times New Roman" panose="02020603050405020304" pitchFamily="18" charset="0"/>
                <a:ea typeface="宋体" panose="02010600030101010101" pitchFamily="2" charset="-122"/>
              </a:rPr>
              <a:t>Spring Boot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进行开发的应用程序，把汇总数据读出来，以图表形式在网页上动态显示</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52150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155BB424-2BFD-44B8-85CB-53634E6E4D4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8700" y="2133600"/>
            <a:ext cx="7086600" cy="4106863"/>
          </a:xfrm>
          <a:prstGeom prst="rect">
            <a:avLst/>
          </a:prstGeom>
          <a:noFill/>
          <a:ln>
            <a:noFill/>
          </a:ln>
        </p:spPr>
      </p:pic>
    </p:spTree>
    <p:extLst>
      <p:ext uri="{BB962C8B-B14F-4D97-AF65-F5344CB8AC3E}">
        <p14:creationId xmlns:p14="http://schemas.microsoft.com/office/powerpoint/2010/main" val="37250417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17376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可以作为快速到达的数据临时落地的一个暂存区</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则可以作为一个粘接剂，把</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里的数据，及时地导入到</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Hadoop</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HDFS</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HBase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、或者</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Hive</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这里介绍一个实例，如何通过</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把数据转移到</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Hive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扮演临时数据暂存的角色，</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负责把</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里的数据最终转移到目的地，即</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Hive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数据仓库</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Source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，而</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Sink</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Hive</a:t>
            </a:r>
          </a:p>
          <a:p>
            <a:pPr indent="266700"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2000" dirty="0">
                <a:effectLst/>
                <a:latin typeface="Times New Roman" panose="02020603050405020304" pitchFamily="18" charset="0"/>
                <a:ea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的数据来源可以是各种数据源，比如从</a:t>
            </a:r>
            <a:r>
              <a:rPr lang="en-US" altLang="zh-CN" sz="2000" dirty="0">
                <a:effectLst/>
                <a:latin typeface="Times New Roman" panose="02020603050405020304" pitchFamily="18" charset="0"/>
                <a:ea typeface="宋体" panose="02010600030101010101" pitchFamily="2" charset="-122"/>
              </a:rPr>
              <a:t>Web</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服务器采集的日志、从业务系统采集的订单</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20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71976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准备工作</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为了支持</a:t>
            </a:r>
            <a:r>
              <a:rPr lang="en-US" altLang="zh-CN" sz="1800" dirty="0">
                <a:effectLst/>
                <a:latin typeface="Times New Roman" panose="02020603050405020304" pitchFamily="18" charset="0"/>
                <a:ea typeface="宋体" panose="02010600030101010101" pitchFamily="2" charset="-122"/>
              </a:rPr>
              <a:t>Hive Sink</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，需要打开</a:t>
            </a:r>
            <a:r>
              <a:rPr lang="en-US" altLang="zh-CN" sz="1800" dirty="0">
                <a:solidFill>
                  <a:srgbClr val="000207"/>
                </a:solidFill>
                <a:effectLst/>
                <a:latin typeface="Times New Roman" panose="02020603050405020304" pitchFamily="18" charset="0"/>
                <a:ea typeface="宋体" panose="02010600030101010101" pitchFamily="2" charset="-122"/>
              </a:rPr>
              <a:t>/opt/</a:t>
            </a:r>
            <a:r>
              <a:rPr lang="en-US" altLang="zh-CN" sz="1800" dirty="0" err="1">
                <a:solidFill>
                  <a:srgbClr val="000207"/>
                </a:solidFill>
                <a:effectLst/>
                <a:latin typeface="Times New Roman" panose="02020603050405020304" pitchFamily="18" charset="0"/>
                <a:ea typeface="宋体" panose="02010600030101010101" pitchFamily="2" charset="-122"/>
              </a:rPr>
              <a:t>linuxsir</a:t>
            </a:r>
            <a:r>
              <a:rPr lang="en-US" altLang="zh-CN" sz="1800" dirty="0">
                <a:solidFill>
                  <a:srgbClr val="000207"/>
                </a:solidFill>
                <a:effectLst/>
                <a:latin typeface="Times New Roman" panose="02020603050405020304" pitchFamily="18" charset="0"/>
                <a:ea typeface="宋体" panose="02010600030101010101" pitchFamily="2" charset="-122"/>
              </a:rPr>
              <a:t>/hive/conf/hive-site.xml</a:t>
            </a:r>
            <a:r>
              <a:rPr lang="zh-CN"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rPr>
              <a:t>文件，修改若干配置项</a:t>
            </a:r>
            <a:endParaRPr lang="en-US"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rPr>
              <a:t>并且把</a:t>
            </a:r>
            <a:r>
              <a:rPr lang="en-US" altLang="zh-CN" sz="1800" dirty="0">
                <a:solidFill>
                  <a:srgbClr val="000207"/>
                </a:solidFill>
                <a:effectLst/>
                <a:latin typeface="Times New Roman" panose="02020603050405020304" pitchFamily="18" charset="0"/>
                <a:ea typeface="宋体" panose="02010600030101010101" pitchFamily="2" charset="-122"/>
              </a:rPr>
              <a:t>Hive</a:t>
            </a:r>
            <a:r>
              <a:rPr lang="zh-CN"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rPr>
              <a:t>的相关</a:t>
            </a:r>
            <a:r>
              <a:rPr lang="en-US" altLang="zh-CN" sz="1800" dirty="0">
                <a:solidFill>
                  <a:srgbClr val="000207"/>
                </a:solidFill>
                <a:effectLst/>
                <a:latin typeface="Times New Roman" panose="02020603050405020304" pitchFamily="18" charset="0"/>
                <a:ea typeface="宋体" panose="02010600030101010101" pitchFamily="2" charset="-122"/>
              </a:rPr>
              <a:t>Jar</a:t>
            </a:r>
            <a:r>
              <a:rPr lang="zh-CN"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rPr>
              <a:t>包，拷贝到</a:t>
            </a:r>
            <a:r>
              <a:rPr lang="en-US" altLang="zh-CN" sz="1800" dirty="0">
                <a:solidFill>
                  <a:srgbClr val="000000"/>
                </a:solidFill>
                <a:effectLst/>
                <a:latin typeface="Times New Roman" panose="02020603050405020304" pitchFamily="18" charset="0"/>
                <a:ea typeface="宋体" panose="02010600030101010101" pitchFamily="2" charset="-122"/>
              </a:rPr>
              <a:t>Flume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solidFill>
                  <a:srgbClr val="000000"/>
                </a:solidFill>
                <a:effectLst/>
                <a:latin typeface="Times New Roman" panose="02020603050405020304" pitchFamily="18" charset="0"/>
                <a:ea typeface="宋体" panose="02010600030101010101" pitchFamily="2" charset="-122"/>
              </a:rPr>
              <a:t>lib</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目录下比如</a:t>
            </a:r>
            <a:r>
              <a:rPr lang="en-US" altLang="zh-CN" sz="1800" dirty="0">
                <a:solidFill>
                  <a:srgbClr val="000000"/>
                </a:solidFill>
                <a:effectLst/>
                <a:latin typeface="Times New Roman" panose="02020603050405020304" pitchFamily="18" charset="0"/>
                <a:ea typeface="宋体" panose="02010600030101010101" pitchFamily="2" charset="-122"/>
              </a:rPr>
              <a:t>/opt/</a:t>
            </a:r>
            <a:r>
              <a:rPr lang="en-US" altLang="zh-CN" sz="1800" dirty="0" err="1">
                <a:solidFill>
                  <a:srgbClr val="000000"/>
                </a:solidFill>
                <a:effectLst/>
                <a:latin typeface="Times New Roman" panose="02020603050405020304" pitchFamily="18" charset="0"/>
                <a:ea typeface="宋体" panose="02010600030101010101" pitchFamily="2" charset="-122"/>
              </a:rPr>
              <a:t>linuxsir</a:t>
            </a:r>
            <a:r>
              <a:rPr lang="en-US" altLang="zh-CN" sz="1800" dirty="0">
                <a:solidFill>
                  <a:srgbClr val="000000"/>
                </a:solidFill>
                <a:effectLst/>
                <a:latin typeface="Times New Roman" panose="02020603050405020304" pitchFamily="18" charset="0"/>
                <a:ea typeface="宋体" panose="02010600030101010101" pitchFamily="2" charset="-122"/>
              </a:rPr>
              <a:t>/apache-flume/lib</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请参考</a:t>
            </a:r>
            <a:r>
              <a:rPr lang="zh-CN" altLang="en-US"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教材</a:t>
            </a:r>
            <a:r>
              <a:rPr lang="en-US" altLang="zh-CN" sz="1800" dirty="0">
                <a:solidFill>
                  <a:srgbClr val="000000"/>
                </a:solidFill>
                <a:effectLst/>
                <a:latin typeface="Times New Roman" panose="02020603050405020304" pitchFamily="18" charset="0"/>
                <a:ea typeface="宋体" panose="02010600030101010101" pitchFamily="2" charset="-122"/>
              </a:rPr>
              <a:t>12.7</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节</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285422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配置文件</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solidFill>
                  <a:srgbClr val="000000"/>
                </a:solidFill>
                <a:effectLst/>
                <a:latin typeface="Times New Roman" panose="02020603050405020304" pitchFamily="18" charset="0"/>
                <a:ea typeface="宋体" panose="02010600030101010101" pitchFamily="2" charset="-122"/>
              </a:rPr>
              <a:t>/opt/</a:t>
            </a:r>
            <a:r>
              <a:rPr lang="en-US" altLang="zh-CN" sz="1800" dirty="0" err="1">
                <a:solidFill>
                  <a:srgbClr val="000000"/>
                </a:solidFill>
                <a:effectLst/>
                <a:latin typeface="Times New Roman" panose="02020603050405020304" pitchFamily="18" charset="0"/>
                <a:ea typeface="宋体" panose="02010600030101010101" pitchFamily="2" charset="-122"/>
              </a:rPr>
              <a:t>linuxsir</a:t>
            </a:r>
            <a:r>
              <a:rPr lang="en-US" altLang="zh-CN" sz="1800" dirty="0">
                <a:solidFill>
                  <a:srgbClr val="000000"/>
                </a:solidFill>
                <a:effectLst/>
                <a:latin typeface="Times New Roman" panose="02020603050405020304" pitchFamily="18" charset="0"/>
                <a:ea typeface="宋体" panose="02010600030101010101" pitchFamily="2" charset="-122"/>
              </a:rPr>
              <a:t>/apache-flume/conf</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目录下，创建</a:t>
            </a:r>
            <a:r>
              <a:rPr lang="en-US" altLang="zh-CN" sz="1800" dirty="0" err="1">
                <a:solidFill>
                  <a:srgbClr val="000000"/>
                </a:solidFill>
                <a:effectLst/>
                <a:latin typeface="Times New Roman" panose="02020603050405020304" pitchFamily="18" charset="0"/>
                <a:ea typeface="宋体" panose="02010600030101010101" pitchFamily="2" charset="-122"/>
              </a:rPr>
              <a:t>kafka_source_hive_sink.conf</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，内容如下</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762000" y="2667000"/>
            <a:ext cx="7620000" cy="4108817"/>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kafka_source</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agent1.channels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mem_channel</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hive_sink</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kafka_source</a:t>
            </a:r>
            <a:r>
              <a:rPr lang="zh-CN"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的配置</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agent1.sources.kafka_source.type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org.apache.flume.source.kafka.KafkaSource</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agent1.sources.kafka_source.zookeeperConnect</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=192.168.31.129:</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12182</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agent1.sources.kafka_source.bootstrap.servers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=192.168.31.129:</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9092</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agent1.sources.kafka_source.topic</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kafka_test</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agent1.sources.kafka_source.channels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mem_channel</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agent1.sources.kafka_source.consumer.timeout.ms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1000</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agent1.sources.kafka_source.channels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mem_channel</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hive_sink</a:t>
            </a:r>
            <a:r>
              <a:rPr lang="zh-CN"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的配置</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agent1.sinks.hive_sink.type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=hive</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agent1.sinks.hive_sink.hive.metastore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=thrift://192.168.31.129:</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19083</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agent1.sinks.hive_sink.hive.database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=default</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agent1.sinks.hive_sink.hive.table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kafka_test</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agent1.sinks.hive_sink.hive.txnsPerBatchAsk</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agent1.sinks.hive_sink.batchSize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agent1.sinks.hive_sink.serializer</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=DELIMITED</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agent1.sinks.hive_sink.serializer.delimiter</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agent1.sinks.hive_sink.serializer.fieldnames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id,name,age</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agent1.sinks.hive_sink.channel</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mem_channel</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mem_channel</a:t>
            </a:r>
            <a:r>
              <a:rPr lang="zh-CN"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的配置</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agent1.channels.mem_channel.type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=memory</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agent1.channels.mem_channel.capacity</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1000</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rPr>
              <a:t>agent1.channels.mem_channel.transactionCapacity</a:t>
            </a:r>
            <a:r>
              <a:rPr lang="en-US" altLang="zh-CN" sz="900" dirty="0">
                <a:effectLst/>
                <a:latin typeface="Times New Roman" panose="02020603050405020304" pitchFamily="18" charset="0"/>
                <a:ea typeface="宋体" panose="02010600030101010101" pitchFamily="2" charset="-122"/>
              </a:rPr>
              <a:t>=</a:t>
            </a:r>
            <a:r>
              <a:rPr lang="en-US" altLang="zh-CN" sz="900" dirty="0">
                <a:solidFill>
                  <a:srgbClr val="986801"/>
                </a:solidFill>
                <a:effectLst/>
                <a:latin typeface="Times New Roman" panose="02020603050405020304" pitchFamily="18" charset="0"/>
                <a:ea typeface="宋体" panose="02010600030101010101" pitchFamily="2" charset="-122"/>
              </a:rPr>
              <a:t>100</a:t>
            </a:r>
            <a:endParaRPr lang="zh-CN" altLang="en-US" sz="900" dirty="0"/>
          </a:p>
        </p:txBody>
      </p:sp>
    </p:spTree>
    <p:extLst>
      <p:ext uri="{BB962C8B-B14F-4D97-AF65-F5344CB8AC3E}">
        <p14:creationId xmlns:p14="http://schemas.microsoft.com/office/powerpoint/2010/main" val="7488119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建立</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Hive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表格</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r>
              <a:rPr lang="en-US" altLang="zh-CN" sz="1800" dirty="0">
                <a:effectLst/>
                <a:latin typeface="Times New Roman" panose="02020603050405020304" pitchFamily="18" charset="0"/>
                <a:ea typeface="宋体" panose="02010600030101010101" pitchFamily="2" charset="-122"/>
              </a:rPr>
              <a:t>Hive Shell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，准备建立表格。注意，首先需要启动</a:t>
            </a:r>
            <a:r>
              <a:rPr lang="en-US" altLang="zh-CN" sz="1800" dirty="0">
                <a:effectLst/>
                <a:latin typeface="Times New Roman" panose="02020603050405020304" pitchFamily="18" charset="0"/>
                <a:ea typeface="宋体" panose="02010600030101010101" pitchFamily="2" charset="-122"/>
              </a:rPr>
              <a:t>HDFS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YARN</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590800"/>
            <a:ext cx="7086600" cy="3970318"/>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rm -rf /opt/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/logs/*.*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root@192.168.31.130 rm -rf /opt/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/logs/*.*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root@192.168.31.131 rm -rf /opt/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/logs/*.*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clear</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sbin</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./start-dfs.sh</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./start-yarn.sh</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clear</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root@192.168.31.130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root@192.168.31.131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/hive</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./bin/hive --service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-p 19083&amp;</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lanp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 grep 19083</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cd $HIVE_HOME/bin</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rPr>
              <a:t>./hive</a:t>
            </a:r>
            <a:endParaRPr lang="zh-CN" altLang="en-US" sz="600" dirty="0"/>
          </a:p>
        </p:txBody>
      </p:sp>
    </p:spTree>
    <p:extLst>
      <p:ext uri="{BB962C8B-B14F-4D97-AF65-F5344CB8AC3E}">
        <p14:creationId xmlns:p14="http://schemas.microsoft.com/office/powerpoint/2010/main" val="18652665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建立</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Hive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表格</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ea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Hive Shell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里运行如下</a:t>
            </a:r>
            <a:r>
              <a:rPr lang="en-US" altLang="zh-CN" sz="1800" dirty="0">
                <a:effectLst/>
                <a:latin typeface="Times New Roman" panose="02020603050405020304" pitchFamily="18" charset="0"/>
                <a:ea typeface="宋体" panose="02010600030101010101" pitchFamily="2" charset="-122"/>
              </a:rPr>
              <a:t>SQL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，建立表格</a:t>
            </a:r>
            <a:r>
              <a:rPr lang="en-US" altLang="zh-CN" sz="1800" dirty="0" err="1">
                <a:effectLst/>
                <a:latin typeface="Times New Roman" panose="02020603050405020304" pitchFamily="18" charset="0"/>
                <a:ea typeface="宋体" panose="02010600030101010101" pitchFamily="2" charset="-122"/>
              </a:rPr>
              <a:t>kafka_test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，注意需要设定</a:t>
            </a:r>
            <a:r>
              <a:rPr lang="en-US" altLang="zh-CN" sz="1800" dirty="0">
                <a:effectLst/>
                <a:latin typeface="Times New Roman" panose="02020603050405020304" pitchFamily="18" charset="0"/>
                <a:ea typeface="宋体" panose="02010600030101010101" pitchFamily="2" charset="-122"/>
              </a:rPr>
              <a:t>buckets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，格式为</a:t>
            </a:r>
            <a:r>
              <a:rPr lang="en-US" altLang="zh-CN" sz="1800" dirty="0">
                <a:effectLst/>
                <a:latin typeface="Times New Roman" panose="02020603050405020304" pitchFamily="18" charset="0"/>
                <a:ea typeface="宋体" panose="02010600030101010101" pitchFamily="2" charset="-122"/>
              </a:rPr>
              <a:t>ORC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，支持</a:t>
            </a:r>
            <a:r>
              <a:rPr lang="en-US" altLang="zh-CN" sz="1800" dirty="0">
                <a:effectLst/>
                <a:latin typeface="Times New Roman" panose="02020603050405020304" pitchFamily="18" charset="0"/>
                <a:ea typeface="宋体" panose="02010600030101010101" pitchFamily="2" charset="-122"/>
              </a:rPr>
              <a:t>transaction</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1477328"/>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create table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kafka_test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(id int, name string, age int) clustered by (id) into 2 buckets STORED AS ORC TBLPROPERTIES ("transactional"="true");</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退出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Hive Shell</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quit;</a:t>
            </a:r>
            <a:endParaRPr lang="zh-CN" altLang="en-US" sz="600" dirty="0"/>
          </a:p>
        </p:txBody>
      </p:sp>
    </p:spTree>
    <p:extLst>
      <p:ext uri="{BB962C8B-B14F-4D97-AF65-F5344CB8AC3E}">
        <p14:creationId xmlns:p14="http://schemas.microsoft.com/office/powerpoint/2010/main" val="32607426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effectLst/>
                <a:latin typeface="Times New Roman" panose="02020603050405020304" pitchFamily="18" charset="0"/>
                <a:ea typeface="宋体" panose="02010600030101010101" pitchFamily="2" charset="-122"/>
              </a:rPr>
              <a:t>(4)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Kafka Broker 0</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3139321"/>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 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1800" dirty="0">
                <a:effectLst/>
                <a:latin typeface="Times New Roman" panose="02020603050405020304" pitchFamily="18" charset="0"/>
                <a:ea typeface="宋体" panose="02010600030101010101" pitchFamily="2" charset="-122"/>
              </a:rPr>
              <a:t>Kafka 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192.168.31.129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启动之后，在</a:t>
            </a:r>
            <a:r>
              <a:rPr lang="en-US" altLang="zh-CN" sz="1800" dirty="0">
                <a:effectLst/>
                <a:latin typeface="Times New Roman" panose="02020603050405020304" pitchFamily="18" charset="0"/>
                <a:ea typeface="宋体" panose="02010600030101010101" pitchFamily="2" charset="-122"/>
              </a:rPr>
              <a:t>9092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端口监听</a:t>
            </a:r>
            <a:endParaRPr lang="zh-CN" altLang="en-US" sz="600" dirty="0"/>
          </a:p>
        </p:txBody>
      </p:sp>
    </p:spTree>
    <p:extLst>
      <p:ext uri="{BB962C8B-B14F-4D97-AF65-F5344CB8AC3E}">
        <p14:creationId xmlns:p14="http://schemas.microsoft.com/office/powerpoint/2010/main" val="13567964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(5)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创建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1200329"/>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--create --zookeeper 192.168.31.129:12182 --replication-factor 1 --partitions 1 --topic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kafka_test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--list --zookeeper 192.168.31.129:12182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386836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打开一个终端窗口，通过如下命令</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启动</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Flume Server</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，并启动</a:t>
            </a:r>
            <a:r>
              <a:rPr lang="en-US"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rPr>
              <a:t>agent1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1754326"/>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apache-flume</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bin/flume-ng agent --conf ./conf/ -f ./conf/</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kafka_source_hive_sink.conf</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Dflume.root.logger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DEBUG,console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-n agent1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注意按</a:t>
            </a:r>
            <a:r>
              <a:rPr lang="en-US" altLang="zh-CN" sz="1800" dirty="0" err="1">
                <a:effectLst/>
                <a:latin typeface="Times New Roman" panose="02020603050405020304" pitchFamily="18" charset="0"/>
                <a:ea typeface="宋体" panose="02010600030101010101" pitchFamily="2" charset="-122"/>
              </a:rPr>
              <a:t>Ctrl+C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可以停止</a:t>
            </a:r>
            <a:r>
              <a:rPr lang="en-US" altLang="zh-CN" sz="1800" dirty="0">
                <a:effectLst/>
                <a:latin typeface="Times New Roman" panose="02020603050405020304" pitchFamily="18" charset="0"/>
                <a:ea typeface="宋体" panose="02010600030101010101" pitchFamily="2" charset="-122"/>
              </a:rPr>
              <a:t>Flume Server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005143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启动第二个终端，运行</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 Producer</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3416320"/>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bin/kafka-console-producer.sh --broker-list 192.168.31.129:9092 --topic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kafka_test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输入的格式如下</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1,john,25</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2,mary,26</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3,june,27</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4,april,28</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输入以后回车继续输入</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注意按</a:t>
            </a:r>
            <a:r>
              <a:rPr lang="en-US" altLang="zh-CN" sz="1800" dirty="0" err="1">
                <a:effectLst/>
                <a:latin typeface="Times New Roman" panose="02020603050405020304" pitchFamily="18" charset="0"/>
                <a:ea typeface="宋体" panose="02010600030101010101" pitchFamily="2" charset="-122"/>
              </a:rPr>
              <a:t>Ctrl+C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可以停止</a:t>
            </a:r>
            <a:r>
              <a:rPr lang="en-US" altLang="zh-CN" sz="1800" dirty="0">
                <a:effectLst/>
                <a:latin typeface="Times New Roman" panose="02020603050405020304" pitchFamily="18" charset="0"/>
                <a:ea typeface="宋体" panose="02010600030101010101" pitchFamily="2" charset="-122"/>
              </a:rPr>
              <a:t>Kafka Producer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546671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rPr>
              <a:t>(8)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打开第三个终端，启动</a:t>
            </a:r>
            <a:r>
              <a:rPr lang="en-US" altLang="zh-CN" sz="1800" dirty="0">
                <a:solidFill>
                  <a:srgbClr val="000000"/>
                </a:solidFill>
                <a:effectLst/>
                <a:latin typeface="Times New Roman" panose="02020603050405020304" pitchFamily="18" charset="0"/>
                <a:ea typeface="宋体" panose="02010600030101010101" pitchFamily="2" charset="-122"/>
              </a:rPr>
              <a:t>Hive Shell</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执行如下查询，看看数据是否已经插入到表格中</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1477328"/>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$HIVE_HOME/bin</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./hive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select * from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kafka_test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exit;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38542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rPr>
              <a:t>(8)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打开第三个终端，启动</a:t>
            </a:r>
            <a:r>
              <a:rPr lang="en-US" altLang="zh-CN" sz="1800" dirty="0">
                <a:solidFill>
                  <a:srgbClr val="000000"/>
                </a:solidFill>
                <a:effectLst/>
                <a:latin typeface="Times New Roman" panose="02020603050405020304" pitchFamily="18" charset="0"/>
                <a:ea typeface="宋体" panose="02010600030101010101" pitchFamily="2" charset="-122"/>
              </a:rPr>
              <a:t>Hive Shell</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执行如下查询，看看数据是否已经插入到表格中</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查询到的结果如下</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1754326"/>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OK</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mary</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26</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4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april</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28</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       john    25</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3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june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27</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Time taken: 0.459 seconds, Fetched: 7 row(s)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042492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(9)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停止</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 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923330"/>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491159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(10)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停止</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YARN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HDFS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3139321"/>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lanp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 grep 19083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kill -9 16336 \\16336</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进程号</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sbin</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./stop-yarn.sh</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./stop-dfs.sh</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clear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root@192.168.31.130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root@192.168.31.131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007090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8837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zh-CN" altLang="en-US" sz="1700" dirty="0">
                <a:solidFill>
                  <a:srgbClr val="C00000"/>
                </a:solidFill>
                <a:effectLst/>
                <a:latin typeface="微软雅黑" panose="020B0503020204020204" pitchFamily="34" charset="-122"/>
                <a:ea typeface="宋体" panose="02010600030101010101" pitchFamily="2" charset="-122"/>
              </a:rPr>
              <a:t>流式处理与批处理的结合</a:t>
            </a:r>
          </a:p>
          <a:p>
            <a:pPr algn="just"/>
            <a:r>
              <a:rPr lang="zh-CN" altLang="en-US" sz="1700" dirty="0">
                <a:effectLst/>
                <a:latin typeface="微软雅黑" panose="020B0503020204020204" pitchFamily="34" charset="-122"/>
                <a:ea typeface="宋体" panose="02010600030101010101" pitchFamily="2" charset="-122"/>
              </a:rPr>
              <a:t>有了</a:t>
            </a:r>
            <a:r>
              <a:rPr lang="en-US" altLang="zh-CN" sz="1700" dirty="0">
                <a:effectLst/>
                <a:latin typeface="微软雅黑" panose="020B0503020204020204" pitchFamily="34" charset="-122"/>
                <a:ea typeface="宋体" panose="02010600030101010101" pitchFamily="2" charset="-122"/>
              </a:rPr>
              <a:t>Kafka</a:t>
            </a:r>
            <a:r>
              <a:rPr lang="zh-CN" altLang="en-US" sz="1700" dirty="0">
                <a:effectLst/>
                <a:latin typeface="微软雅黑" panose="020B0503020204020204" pitchFamily="34" charset="-122"/>
                <a:ea typeface="宋体" panose="02010600030101010101" pitchFamily="2" charset="-122"/>
              </a:rPr>
              <a:t>和</a:t>
            </a:r>
            <a:r>
              <a:rPr lang="en-US" altLang="zh-CN" sz="1700" dirty="0">
                <a:effectLst/>
                <a:latin typeface="微软雅黑" panose="020B0503020204020204" pitchFamily="34" charset="-122"/>
                <a:ea typeface="宋体" panose="02010600030101010101" pitchFamily="2" charset="-122"/>
              </a:rPr>
              <a:t>Flume</a:t>
            </a:r>
            <a:r>
              <a:rPr lang="zh-CN" altLang="en-US" sz="1700" dirty="0">
                <a:effectLst/>
                <a:latin typeface="微软雅黑" panose="020B0503020204020204" pitchFamily="34" charset="-122"/>
                <a:ea typeface="宋体" panose="02010600030101010101" pitchFamily="2" charset="-122"/>
              </a:rPr>
              <a:t>，我们就可以把流式处理和批处理结合起来</a:t>
            </a:r>
            <a:endParaRPr lang="en-US" altLang="zh-CN" sz="1700" dirty="0">
              <a:effectLst/>
              <a:latin typeface="微软雅黑" panose="020B0503020204020204" pitchFamily="34" charset="-122"/>
              <a:ea typeface="宋体" panose="02010600030101010101" pitchFamily="2" charset="-122"/>
            </a:endParaRPr>
          </a:p>
          <a:p>
            <a:pPr algn="just"/>
            <a:r>
              <a:rPr lang="en-US" altLang="zh-CN" sz="1700" dirty="0">
                <a:effectLst/>
                <a:latin typeface="微软雅黑" panose="020B0503020204020204" pitchFamily="34" charset="-122"/>
                <a:ea typeface="宋体" panose="02010600030101010101" pitchFamily="2" charset="-122"/>
              </a:rPr>
              <a:t>(1)</a:t>
            </a:r>
            <a:r>
              <a:rPr lang="zh-CN" altLang="en-US" sz="1700" dirty="0">
                <a:effectLst/>
                <a:latin typeface="微软雅黑" panose="020B0503020204020204" pitchFamily="34" charset="-122"/>
                <a:ea typeface="宋体" panose="02010600030101010101" pitchFamily="2" charset="-122"/>
              </a:rPr>
              <a:t>开发</a:t>
            </a:r>
            <a:r>
              <a:rPr lang="en-US" altLang="zh-CN" sz="1700" dirty="0">
                <a:effectLst/>
                <a:latin typeface="微软雅黑" panose="020B0503020204020204" pitchFamily="34" charset="-122"/>
                <a:ea typeface="宋体" panose="02010600030101010101" pitchFamily="2" charset="-122"/>
              </a:rPr>
              <a:t>Kafka Producer</a:t>
            </a:r>
            <a:r>
              <a:rPr lang="zh-CN" altLang="en-US" sz="1700" dirty="0">
                <a:effectLst/>
                <a:latin typeface="微软雅黑" panose="020B0503020204020204" pitchFamily="34" charset="-122"/>
                <a:ea typeface="宋体" panose="02010600030101010101" pitchFamily="2" charset="-122"/>
              </a:rPr>
              <a:t>程序，从数据源拉取数据，分别发送到</a:t>
            </a:r>
            <a:r>
              <a:rPr lang="en-US" altLang="zh-CN" sz="1700" dirty="0">
                <a:effectLst/>
                <a:latin typeface="微软雅黑" panose="020B0503020204020204" pitchFamily="34" charset="-122"/>
                <a:ea typeface="宋体" panose="02010600030101010101" pitchFamily="2" charset="-122"/>
              </a:rPr>
              <a:t>Kafka Topic1</a:t>
            </a:r>
            <a:r>
              <a:rPr lang="zh-CN" altLang="en-US" sz="1700" dirty="0">
                <a:effectLst/>
                <a:latin typeface="微软雅黑" panose="020B0503020204020204" pitchFamily="34" charset="-122"/>
                <a:ea typeface="宋体" panose="02010600030101010101" pitchFamily="2" charset="-122"/>
              </a:rPr>
              <a:t>和</a:t>
            </a:r>
            <a:r>
              <a:rPr lang="en-US" altLang="zh-CN" sz="1700" dirty="0">
                <a:effectLst/>
                <a:latin typeface="微软雅黑" panose="020B0503020204020204" pitchFamily="34" charset="-122"/>
                <a:ea typeface="宋体" panose="02010600030101010101" pitchFamily="2" charset="-122"/>
              </a:rPr>
              <a:t>Topic2</a:t>
            </a:r>
          </a:p>
          <a:p>
            <a:pPr algn="just"/>
            <a:r>
              <a:rPr lang="en-US" altLang="zh-CN" sz="1700" dirty="0">
                <a:effectLst/>
                <a:latin typeface="微软雅黑" panose="020B0503020204020204" pitchFamily="34" charset="-122"/>
                <a:ea typeface="宋体" panose="02010600030101010101" pitchFamily="2" charset="-122"/>
              </a:rPr>
              <a:t>(2)</a:t>
            </a:r>
            <a:r>
              <a:rPr lang="zh-CN" altLang="en-US" sz="1700" dirty="0">
                <a:effectLst/>
                <a:latin typeface="微软雅黑" panose="020B0503020204020204" pitchFamily="34" charset="-122"/>
                <a:ea typeface="宋体" panose="02010600030101010101" pitchFamily="2" charset="-122"/>
              </a:rPr>
              <a:t>利用</a:t>
            </a:r>
            <a:r>
              <a:rPr lang="en-US" altLang="zh-CN" sz="1700" dirty="0">
                <a:effectLst/>
                <a:latin typeface="微软雅黑" panose="020B0503020204020204" pitchFamily="34" charset="-122"/>
                <a:ea typeface="宋体" panose="02010600030101010101" pitchFamily="2" charset="-122"/>
              </a:rPr>
              <a:t>Flume</a:t>
            </a:r>
            <a:r>
              <a:rPr lang="zh-CN" altLang="en-US" sz="1700" dirty="0">
                <a:effectLst/>
                <a:latin typeface="微软雅黑" panose="020B0503020204020204" pitchFamily="34" charset="-122"/>
                <a:ea typeface="宋体" panose="02010600030101010101" pitchFamily="2" charset="-122"/>
              </a:rPr>
              <a:t>把数据从</a:t>
            </a:r>
            <a:r>
              <a:rPr lang="en-US" altLang="zh-CN" sz="1700" dirty="0">
                <a:effectLst/>
                <a:latin typeface="微软雅黑" panose="020B0503020204020204" pitchFamily="34" charset="-122"/>
                <a:ea typeface="宋体" panose="02010600030101010101" pitchFamily="2" charset="-122"/>
              </a:rPr>
              <a:t>Topic1</a:t>
            </a:r>
            <a:r>
              <a:rPr lang="zh-CN" altLang="en-US" sz="1700" dirty="0">
                <a:effectLst/>
                <a:latin typeface="微软雅黑" panose="020B0503020204020204" pitchFamily="34" charset="-122"/>
                <a:ea typeface="宋体" panose="02010600030101010101" pitchFamily="2" charset="-122"/>
              </a:rPr>
              <a:t>转移到</a:t>
            </a:r>
            <a:r>
              <a:rPr lang="en-US" altLang="zh-CN" sz="1700" dirty="0">
                <a:effectLst/>
                <a:latin typeface="微软雅黑" panose="020B0503020204020204" pitchFamily="34" charset="-122"/>
                <a:ea typeface="宋体" panose="02010600030101010101" pitchFamily="2" charset="-122"/>
              </a:rPr>
              <a:t>Hive</a:t>
            </a:r>
          </a:p>
          <a:p>
            <a:pPr algn="just"/>
            <a:r>
              <a:rPr lang="en-US" altLang="zh-CN" sz="1700" dirty="0">
                <a:effectLst/>
                <a:latin typeface="微软雅黑" panose="020B0503020204020204" pitchFamily="34" charset="-122"/>
                <a:ea typeface="宋体" panose="02010600030101010101" pitchFamily="2" charset="-122"/>
              </a:rPr>
              <a:t>(3)</a:t>
            </a:r>
            <a:r>
              <a:rPr lang="zh-CN" altLang="en-US" sz="1700" dirty="0">
                <a:effectLst/>
                <a:latin typeface="微软雅黑" panose="020B0503020204020204" pitchFamily="34" charset="-122"/>
                <a:ea typeface="宋体" panose="02010600030101010101" pitchFamily="2" charset="-122"/>
              </a:rPr>
              <a:t>在网页上提交</a:t>
            </a:r>
            <a:r>
              <a:rPr lang="en-US" altLang="zh-CN" sz="1700" dirty="0">
                <a:effectLst/>
                <a:latin typeface="微软雅黑" panose="020B0503020204020204" pitchFamily="34" charset="-122"/>
                <a:ea typeface="宋体" panose="02010600030101010101" pitchFamily="2" charset="-122"/>
              </a:rPr>
              <a:t>SQL</a:t>
            </a:r>
            <a:r>
              <a:rPr lang="zh-CN" altLang="en-US" sz="1700" dirty="0">
                <a:effectLst/>
                <a:latin typeface="微软雅黑" panose="020B0503020204020204" pitchFamily="34" charset="-122"/>
                <a:ea typeface="宋体" panose="02010600030101010101" pitchFamily="2" charset="-122"/>
              </a:rPr>
              <a:t>查询，利用</a:t>
            </a:r>
            <a:r>
              <a:rPr lang="en-US" altLang="zh-CN" sz="1700" dirty="0">
                <a:effectLst/>
                <a:latin typeface="微软雅黑" panose="020B0503020204020204" pitchFamily="34" charset="-122"/>
                <a:ea typeface="宋体" panose="02010600030101010101" pitchFamily="2" charset="-122"/>
              </a:rPr>
              <a:t>SparkSQL</a:t>
            </a:r>
            <a:r>
              <a:rPr lang="zh-CN" altLang="en-US" sz="1700" dirty="0">
                <a:effectLst/>
                <a:latin typeface="微软雅黑" panose="020B0503020204020204" pitchFamily="34" charset="-122"/>
                <a:ea typeface="宋体" panose="02010600030101010101" pitchFamily="2" charset="-122"/>
              </a:rPr>
              <a:t>对</a:t>
            </a:r>
            <a:r>
              <a:rPr lang="en-US" altLang="zh-CN" sz="1700" dirty="0">
                <a:effectLst/>
                <a:latin typeface="微软雅黑" panose="020B0503020204020204" pitchFamily="34" charset="-122"/>
                <a:ea typeface="宋体" panose="02010600030101010101" pitchFamily="2" charset="-122"/>
              </a:rPr>
              <a:t>Hive</a:t>
            </a:r>
            <a:r>
              <a:rPr lang="zh-CN" altLang="en-US" sz="1700" dirty="0">
                <a:effectLst/>
                <a:latin typeface="微软雅黑" panose="020B0503020204020204" pitchFamily="34" charset="-122"/>
                <a:ea typeface="宋体" panose="02010600030101010101" pitchFamily="2" charset="-122"/>
              </a:rPr>
              <a:t>数据进行查询分析，以图表形式展现查询结果</a:t>
            </a:r>
            <a:endParaRPr lang="en-US" altLang="zh-CN" sz="1700" dirty="0">
              <a:effectLst/>
              <a:latin typeface="微软雅黑" panose="020B0503020204020204" pitchFamily="34" charset="-122"/>
              <a:ea typeface="宋体" panose="02010600030101010101" pitchFamily="2" charset="-122"/>
            </a:endParaRPr>
          </a:p>
          <a:p>
            <a:pPr algn="just"/>
            <a:r>
              <a:rPr lang="en-US" altLang="zh-CN" sz="1700" dirty="0">
                <a:effectLst/>
                <a:latin typeface="微软雅黑" panose="020B0503020204020204" pitchFamily="34" charset="-122"/>
                <a:ea typeface="宋体" panose="02010600030101010101" pitchFamily="2" charset="-122"/>
              </a:rPr>
              <a:t>(4)</a:t>
            </a:r>
            <a:r>
              <a:rPr lang="zh-CN" altLang="en-US" sz="1700" dirty="0">
                <a:effectLst/>
                <a:latin typeface="微软雅黑" panose="020B0503020204020204" pitchFamily="34" charset="-122"/>
                <a:ea typeface="宋体" panose="02010600030101010101" pitchFamily="2" charset="-122"/>
              </a:rPr>
              <a:t>开发</a:t>
            </a:r>
            <a:r>
              <a:rPr lang="en-US" altLang="zh-CN" sz="1700" dirty="0">
                <a:effectLst/>
                <a:latin typeface="微软雅黑" panose="020B0503020204020204" pitchFamily="34" charset="-122"/>
                <a:ea typeface="宋体" panose="02010600030101010101" pitchFamily="2" charset="-122"/>
              </a:rPr>
              <a:t>Kafka Consumer</a:t>
            </a:r>
            <a:r>
              <a:rPr lang="zh-CN" altLang="en-US" sz="1700" dirty="0">
                <a:effectLst/>
                <a:latin typeface="微软雅黑" panose="020B0503020204020204" pitchFamily="34" charset="-122"/>
                <a:ea typeface="宋体" panose="02010600030101010101" pitchFamily="2" charset="-122"/>
              </a:rPr>
              <a:t>程序，从</a:t>
            </a:r>
            <a:r>
              <a:rPr lang="en-US" altLang="zh-CN" sz="1700" dirty="0">
                <a:effectLst/>
                <a:latin typeface="微软雅黑" panose="020B0503020204020204" pitchFamily="34" charset="-122"/>
                <a:ea typeface="宋体" panose="02010600030101010101" pitchFamily="2" charset="-122"/>
              </a:rPr>
              <a:t>Topic2</a:t>
            </a:r>
            <a:r>
              <a:rPr lang="zh-CN" altLang="en-US" sz="1700" dirty="0">
                <a:effectLst/>
                <a:latin typeface="微软雅黑" panose="020B0503020204020204" pitchFamily="34" charset="-122"/>
                <a:ea typeface="宋体" panose="02010600030101010101" pitchFamily="2" charset="-122"/>
              </a:rPr>
              <a:t>拉取数据，自行进行分组统计，写入</a:t>
            </a:r>
            <a:r>
              <a:rPr lang="en-US" altLang="zh-CN" sz="1700" dirty="0">
                <a:effectLst/>
                <a:latin typeface="微软雅黑" panose="020B0503020204020204" pitchFamily="34" charset="-122"/>
                <a:ea typeface="宋体" panose="02010600030101010101" pitchFamily="2" charset="-122"/>
              </a:rPr>
              <a:t>MySQL</a:t>
            </a:r>
          </a:p>
          <a:p>
            <a:pPr algn="just"/>
            <a:r>
              <a:rPr lang="en-US" altLang="zh-CN" sz="1700" dirty="0">
                <a:effectLst/>
                <a:latin typeface="微软雅黑" panose="020B0503020204020204" pitchFamily="34" charset="-122"/>
                <a:ea typeface="宋体" panose="02010600030101010101" pitchFamily="2" charset="-122"/>
              </a:rPr>
              <a:t>(5)</a:t>
            </a:r>
            <a:r>
              <a:rPr lang="zh-CN" altLang="en-US" sz="1700" dirty="0">
                <a:effectLst/>
                <a:latin typeface="微软雅黑" panose="020B0503020204020204" pitchFamily="34" charset="-122"/>
                <a:ea typeface="宋体" panose="02010600030101010101" pitchFamily="2" charset="-122"/>
              </a:rPr>
              <a:t>前端网页可以定时查询</a:t>
            </a:r>
            <a:r>
              <a:rPr lang="en-US" altLang="zh-CN" sz="1700" dirty="0">
                <a:effectLst/>
                <a:latin typeface="微软雅黑" panose="020B0503020204020204" pitchFamily="34" charset="-122"/>
                <a:ea typeface="宋体" panose="02010600030101010101" pitchFamily="2" charset="-122"/>
              </a:rPr>
              <a:t>MySQL</a:t>
            </a:r>
            <a:r>
              <a:rPr lang="zh-CN" altLang="en-US" sz="1700" dirty="0">
                <a:effectLst/>
                <a:latin typeface="微软雅黑" panose="020B0503020204020204" pitchFamily="34" charset="-122"/>
                <a:ea typeface="宋体" panose="02010600030101010101" pitchFamily="2" charset="-122"/>
              </a:rPr>
              <a:t>，以图表的形式显示汇总结果</a:t>
            </a:r>
            <a:endParaRPr lang="en-US" altLang="zh-CN" sz="1700" dirty="0">
              <a:effectLst/>
              <a:latin typeface="微软雅黑" panose="020B0503020204020204" pitchFamily="34" charset="-122"/>
              <a:ea typeface="宋体" panose="02010600030101010101" pitchFamily="2" charset="-122"/>
            </a:endParaRPr>
          </a:p>
          <a:p>
            <a:pPr algn="just"/>
            <a:r>
              <a:rPr lang="en-US" altLang="zh-CN" sz="1700" dirty="0">
                <a:effectLst/>
                <a:latin typeface="Times New Roman" panose="02020603050405020304" pitchFamily="18" charset="0"/>
                <a:ea typeface="宋体" panose="02010600030101010101" pitchFamily="2" charset="-122"/>
              </a:rPr>
              <a:t>(4)</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700" dirty="0">
                <a:effectLst/>
                <a:latin typeface="Times New Roman" panose="02020603050405020304" pitchFamily="18" charset="0"/>
                <a:ea typeface="宋体" panose="02010600030101010101" pitchFamily="2" charset="-122"/>
              </a:rPr>
              <a:t>(5)</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也可以采用</a:t>
            </a:r>
            <a:r>
              <a:rPr lang="zh-CN" altLang="en-US" sz="1700" dirty="0">
                <a:effectLst/>
                <a:latin typeface="Times New Roman" panose="02020603050405020304" pitchFamily="18" charset="0"/>
                <a:ea typeface="宋体" panose="02010600030101010101" pitchFamily="2" charset="-122"/>
              </a:rPr>
              <a:t>前文</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介绍的方式，即利用</a:t>
            </a:r>
            <a:r>
              <a:rPr lang="en-US" altLang="zh-CN" sz="1700" dirty="0">
                <a:effectLst/>
                <a:latin typeface="Times New Roman" panose="02020603050405020304" pitchFamily="18" charset="0"/>
                <a:ea typeface="宋体" panose="02010600030101010101" pitchFamily="2" charset="-122"/>
              </a:rPr>
              <a:t>Kafka Stream API</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进行流式处理，然后使用</a:t>
            </a:r>
            <a:r>
              <a:rPr lang="en-US" altLang="zh-CN" sz="1700" dirty="0">
                <a:effectLst/>
                <a:latin typeface="Times New Roman" panose="02020603050405020304" pitchFamily="18" charset="0"/>
                <a:ea typeface="宋体" panose="02010600030101010101" pitchFamily="2" charset="-122"/>
              </a:rPr>
              <a:t>Spring Boot</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实时地把结果显示在网页上</a:t>
            </a:r>
            <a:endParaRPr lang="zh-CN" altLang="en-US" sz="17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26A8B1BF-66F4-4B69-A026-144680CA4641}"/>
              </a:ext>
            </a:extLst>
          </p:cNvPr>
          <p:cNvPicPr>
            <a:picLocks noChangeAspect="1"/>
          </p:cNvPicPr>
          <p:nvPr/>
        </p:nvPicPr>
        <p:blipFill>
          <a:blip r:embed="rId2"/>
          <a:stretch>
            <a:fillRect/>
          </a:stretch>
        </p:blipFill>
        <p:spPr>
          <a:xfrm>
            <a:off x="1043420" y="5181600"/>
            <a:ext cx="7057160" cy="1524000"/>
          </a:xfrm>
          <a:prstGeom prst="rect">
            <a:avLst/>
          </a:prstGeom>
        </p:spPr>
      </p:pic>
    </p:spTree>
    <p:extLst>
      <p:ext uri="{BB962C8B-B14F-4D97-AF65-F5344CB8AC3E}">
        <p14:creationId xmlns:p14="http://schemas.microsoft.com/office/powerpoint/2010/main" val="33320838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Dragon">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Dragon">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ragon">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3352</TotalTime>
  <Words>6414</Words>
  <Application>Microsoft Office PowerPoint</Application>
  <PresentationFormat>全屏显示(4:3)</PresentationFormat>
  <Paragraphs>801</Paragraphs>
  <Slides>91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91</vt:i4>
      </vt:variant>
    </vt:vector>
  </HeadingPairs>
  <TitlesOfParts>
    <vt:vector size="105" baseType="lpstr">
      <vt:lpstr>华文楷体</vt:lpstr>
      <vt:lpstr>隶书</vt:lpstr>
      <vt:lpstr>宋体</vt:lpstr>
      <vt:lpstr>微软雅黑</vt:lpstr>
      <vt:lpstr>Arial</vt:lpstr>
      <vt:lpstr>Calibri</vt:lpstr>
      <vt:lpstr>Cambria</vt:lpstr>
      <vt:lpstr>Cambria Math</vt:lpstr>
      <vt:lpstr>Maiandra GD</vt:lpstr>
      <vt:lpstr>Times New Roman</vt:lpstr>
      <vt:lpstr>Wingdings</vt:lpstr>
      <vt:lpstr>Wingdings 2</vt:lpstr>
      <vt:lpstr>Wingdings 3</vt:lpstr>
      <vt:lpstr>Dragon</vt:lpstr>
      <vt:lpstr>Hadoop与Spark</vt:lpstr>
      <vt:lpstr>Kafka</vt:lpstr>
      <vt:lpstr>Kafka</vt:lpstr>
      <vt:lpstr>Kafka</vt:lpstr>
      <vt:lpstr>pause</vt:lpstr>
      <vt:lpstr>Kafka</vt:lpstr>
      <vt:lpstr>Kafka</vt:lpstr>
      <vt:lpstr>Kafka</vt:lpstr>
      <vt:lpstr>Kafka</vt:lpstr>
      <vt:lpstr>Kafka</vt:lpstr>
      <vt:lpstr>Kafka</vt:lpstr>
      <vt:lpstr>Kafka</vt:lpstr>
      <vt:lpstr>Kafka</vt:lpstr>
      <vt:lpstr>Kafka</vt:lpstr>
      <vt:lpstr>Kafka</vt:lpstr>
      <vt:lpstr>pause</vt:lpstr>
      <vt:lpstr>Kafka</vt:lpstr>
      <vt:lpstr>Kafka</vt:lpstr>
      <vt:lpstr>Kafka</vt:lpstr>
      <vt:lpstr>Kafka</vt:lpstr>
      <vt:lpstr>Kafka</vt:lpstr>
      <vt:lpstr>Kafka</vt:lpstr>
      <vt:lpstr>Kafka</vt:lpstr>
      <vt:lpstr>Kafka</vt:lpstr>
      <vt:lpstr>pause</vt:lpstr>
      <vt:lpstr>Kafka</vt:lpstr>
      <vt:lpstr>Kafka</vt:lpstr>
      <vt:lpstr>Kafka</vt:lpstr>
      <vt:lpstr>Kafka</vt:lpstr>
      <vt:lpstr>Kafka</vt:lpstr>
      <vt:lpstr>pause</vt:lpstr>
      <vt:lpstr>Kafka</vt:lpstr>
      <vt:lpstr>Kafka</vt:lpstr>
      <vt:lpstr>pause</vt:lpstr>
      <vt:lpstr>Kafka</vt:lpstr>
      <vt:lpstr>Kafka</vt:lpstr>
      <vt:lpstr>Kafka</vt:lpstr>
      <vt:lpstr>Kafka</vt:lpstr>
      <vt:lpstr>Kafka</vt:lpstr>
      <vt:lpstr>Kafka</vt:lpstr>
      <vt:lpstr>Kafka</vt:lpstr>
      <vt:lpstr>Kafka</vt:lpstr>
      <vt:lpstr>pause</vt:lpstr>
      <vt:lpstr>Kafka</vt:lpstr>
      <vt:lpstr>Kafka</vt:lpstr>
      <vt:lpstr>Kafka</vt:lpstr>
      <vt:lpstr>Kafka</vt:lpstr>
      <vt:lpstr>Kafka</vt:lpstr>
      <vt:lpstr>Kafka</vt:lpstr>
      <vt:lpstr>Kafka</vt:lpstr>
      <vt:lpstr>Kafka</vt:lpstr>
      <vt:lpstr>pause</vt:lpstr>
      <vt:lpstr>Kafka</vt:lpstr>
      <vt:lpstr>Kafka</vt:lpstr>
      <vt:lpstr>Kafka</vt:lpstr>
      <vt:lpstr>pause</vt:lpstr>
      <vt:lpstr>Kafka</vt:lpstr>
      <vt:lpstr>pause</vt:lpstr>
      <vt:lpstr>Kafka</vt:lpstr>
      <vt:lpstr>Kafka</vt:lpstr>
      <vt:lpstr>Kafka</vt:lpstr>
      <vt:lpstr>Kafka</vt:lpstr>
      <vt:lpstr>Kafka</vt:lpstr>
      <vt:lpstr>Kafka</vt:lpstr>
      <vt:lpstr>Kafka</vt:lpstr>
      <vt:lpstr>Kafka</vt:lpstr>
      <vt:lpstr>Kafka</vt:lpstr>
      <vt:lpstr>Kafka</vt:lpstr>
      <vt:lpstr>Kafka</vt:lpstr>
      <vt:lpstr>Kafka</vt:lpstr>
      <vt:lpstr>Kafka</vt:lpstr>
      <vt:lpstr>Kafka</vt:lpstr>
      <vt:lpstr>pause</vt:lpstr>
      <vt:lpstr>Kafka</vt:lpstr>
      <vt:lpstr>Kafka</vt:lpstr>
      <vt:lpstr>pause</vt:lpstr>
      <vt:lpstr>Kafka</vt:lpstr>
      <vt:lpstr>Kafka</vt:lpstr>
      <vt:lpstr>Kafka</vt:lpstr>
      <vt:lpstr>Kafka</vt:lpstr>
      <vt:lpstr>Kafka</vt:lpstr>
      <vt:lpstr>Kafka</vt:lpstr>
      <vt:lpstr>Kafka</vt:lpstr>
      <vt:lpstr>Kafka</vt:lpstr>
      <vt:lpstr>Kafka</vt:lpstr>
      <vt:lpstr>Kafka</vt:lpstr>
      <vt:lpstr>Kafka</vt:lpstr>
      <vt:lpstr>Kafka</vt:lpstr>
      <vt:lpstr>Kafka</vt:lpstr>
      <vt:lpstr>pause</vt:lpstr>
      <vt:lpstr>Kafka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Pebble</dc:creator>
  <cp:lastModifiedBy>雄派 覃</cp:lastModifiedBy>
  <cp:revision>830</cp:revision>
  <dcterms:created xsi:type="dcterms:W3CDTF">2006-08-16T00:00:00Z</dcterms:created>
  <dcterms:modified xsi:type="dcterms:W3CDTF">2023-04-27T08:59:21Z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