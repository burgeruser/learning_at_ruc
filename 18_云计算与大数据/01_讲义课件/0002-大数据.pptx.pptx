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9"/>
  </p:notesMasterIdLst>
  <p:handoutMasterIdLst>
    <p:handoutMasterId r:id="rId70"/>
  </p:handoutMasterIdLst>
  <p:sldIdLst>
    <p:sldId id="301" r:id="rId2"/>
    <p:sldId id="521" r:id="rId3"/>
    <p:sldId id="643" r:id="rId4"/>
    <p:sldId id="652" r:id="rId5"/>
    <p:sldId id="653" r:id="rId6"/>
    <p:sldId id="665" r:id="rId7"/>
    <p:sldId id="666" r:id="rId8"/>
    <p:sldId id="654" r:id="rId9"/>
    <p:sldId id="670" r:id="rId10"/>
    <p:sldId id="672" r:id="rId11"/>
    <p:sldId id="680" r:id="rId12"/>
    <p:sldId id="681" r:id="rId13"/>
    <p:sldId id="682" r:id="rId14"/>
    <p:sldId id="683" r:id="rId15"/>
    <p:sldId id="684" r:id="rId16"/>
    <p:sldId id="641" r:id="rId17"/>
    <p:sldId id="570" r:id="rId18"/>
    <p:sldId id="651" r:id="rId19"/>
    <p:sldId id="685" r:id="rId20"/>
    <p:sldId id="657" r:id="rId21"/>
    <p:sldId id="660" r:id="rId22"/>
    <p:sldId id="688" r:id="rId23"/>
    <p:sldId id="722" r:id="rId24"/>
    <p:sldId id="642" r:id="rId25"/>
    <p:sldId id="723" r:id="rId26"/>
    <p:sldId id="724" r:id="rId27"/>
    <p:sldId id="663" r:id="rId28"/>
    <p:sldId id="664" r:id="rId29"/>
    <p:sldId id="686" r:id="rId30"/>
    <p:sldId id="687" r:id="rId31"/>
    <p:sldId id="640" r:id="rId32"/>
    <p:sldId id="690" r:id="rId33"/>
    <p:sldId id="695" r:id="rId34"/>
    <p:sldId id="696" r:id="rId35"/>
    <p:sldId id="726" r:id="rId36"/>
    <p:sldId id="728" r:id="rId37"/>
    <p:sldId id="727" r:id="rId38"/>
    <p:sldId id="725" r:id="rId39"/>
    <p:sldId id="691" r:id="rId40"/>
    <p:sldId id="697" r:id="rId41"/>
    <p:sldId id="692" r:id="rId42"/>
    <p:sldId id="700" r:id="rId43"/>
    <p:sldId id="698" r:id="rId44"/>
    <p:sldId id="693" r:id="rId45"/>
    <p:sldId id="708" r:id="rId46"/>
    <p:sldId id="709" r:id="rId47"/>
    <p:sldId id="702" r:id="rId48"/>
    <p:sldId id="710" r:id="rId49"/>
    <p:sldId id="711" r:id="rId50"/>
    <p:sldId id="703" r:id="rId51"/>
    <p:sldId id="712" r:id="rId52"/>
    <p:sldId id="713" r:id="rId53"/>
    <p:sldId id="714" r:id="rId54"/>
    <p:sldId id="701" r:id="rId55"/>
    <p:sldId id="715" r:id="rId56"/>
    <p:sldId id="716" r:id="rId57"/>
    <p:sldId id="717" r:id="rId58"/>
    <p:sldId id="694" r:id="rId59"/>
    <p:sldId id="718" r:id="rId60"/>
    <p:sldId id="719" r:id="rId61"/>
    <p:sldId id="720" r:id="rId62"/>
    <p:sldId id="721" r:id="rId63"/>
    <p:sldId id="704" r:id="rId64"/>
    <p:sldId id="705" r:id="rId65"/>
    <p:sldId id="706" r:id="rId66"/>
    <p:sldId id="707" r:id="rId67"/>
    <p:sldId id="689" r:id="rId68"/>
  </p:sldIdLst>
  <p:sldSz cx="9144000" cy="5143500" type="screen16x9"/>
  <p:notesSz cx="6858000" cy="9144000"/>
  <p:custDataLst>
    <p:tags r:id="rId7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3F6C"/>
    <a:srgbClr val="46BCDE"/>
    <a:srgbClr val="0E223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987" autoAdjust="0"/>
    <p:restoredTop sz="95160" autoAdjust="0"/>
  </p:normalViewPr>
  <p:slideViewPr>
    <p:cSldViewPr snapToGrid="0">
      <p:cViewPr>
        <p:scale>
          <a:sx n="80" d="100"/>
          <a:sy n="80" d="100"/>
        </p:scale>
        <p:origin x="1559" y="389"/>
      </p:cViewPr>
      <p:guideLst>
        <p:guide orient="horz" pos="1620"/>
        <p:guide pos="2880"/>
      </p:guideLst>
    </p:cSldViewPr>
  </p:slideViewPr>
  <p:notesTextViewPr>
    <p:cViewPr>
      <p:scale>
        <a:sx n="1" d="1"/>
        <a:sy n="1" d="1"/>
      </p:scale>
      <p:origin x="0" y="0"/>
    </p:cViewPr>
  </p:notesTextViewPr>
  <p:notesViewPr>
    <p:cSldViewPr snapToGrid="0">
      <p:cViewPr varScale="1">
        <p:scale>
          <a:sx n="60" d="100"/>
          <a:sy n="60" d="100"/>
        </p:scale>
        <p:origin x="2994" y="1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handoutMaster" Target="handoutMasters/handout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C19C575C-0021-4828-A7E9-C59CF694506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18830754-66A2-4637-AB08-5E81E11D0D2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6AF7FEF-3E61-4FCB-BA10-F567F0CD6662}" type="datetimeFigureOut">
              <a:rPr lang="zh-CN" altLang="en-US" smtClean="0"/>
              <a:t>2023/4/21</a:t>
            </a:fld>
            <a:endParaRPr lang="zh-CN" altLang="en-US"/>
          </a:p>
        </p:txBody>
      </p:sp>
      <p:sp>
        <p:nvSpPr>
          <p:cNvPr id="4" name="页脚占位符 3">
            <a:extLst>
              <a:ext uri="{FF2B5EF4-FFF2-40B4-BE49-F238E27FC236}">
                <a16:creationId xmlns:a16="http://schemas.microsoft.com/office/drawing/2014/main" id="{F6310471-26A4-415B-AAA8-870B82A871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7C4C6F3D-5D3F-412A-B556-23411F80BBF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168D688-D778-49D3-AFB7-FD4052B68E8A}" type="slidenum">
              <a:rPr lang="zh-CN" altLang="en-US" smtClean="0"/>
              <a:t>‹#›</a:t>
            </a:fld>
            <a:endParaRPr lang="zh-CN" altLang="en-US"/>
          </a:p>
        </p:txBody>
      </p:sp>
    </p:spTree>
    <p:extLst>
      <p:ext uri="{BB962C8B-B14F-4D97-AF65-F5344CB8AC3E}">
        <p14:creationId xmlns:p14="http://schemas.microsoft.com/office/powerpoint/2010/main" val="7353507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737FD7A-F41B-4FED-8E35-F78DB9F4D037}" type="datetimeFigureOut">
              <a:rPr lang="zh-CN" altLang="en-US" smtClean="0"/>
              <a:t>2023/4/21</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537CBA-0E44-4282-A4F0-C3BCC1A4C2D1}" type="slidenum">
              <a:rPr lang="zh-CN" altLang="en-US" smtClean="0"/>
              <a:t>‹#›</a:t>
            </a:fld>
            <a:endParaRPr lang="zh-CN" altLang="en-US"/>
          </a:p>
        </p:txBody>
      </p:sp>
    </p:spTree>
    <p:extLst>
      <p:ext uri="{BB962C8B-B14F-4D97-AF65-F5344CB8AC3E}">
        <p14:creationId xmlns:p14="http://schemas.microsoft.com/office/powerpoint/2010/main" val="13658367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0DEAE63-D6C4-437F-B8DA-DA689F991AA7}" type="slidenum">
              <a:rPr lang="zh-CN" altLang="en-US" smtClean="0"/>
              <a:pPr/>
              <a:t>1</a:t>
            </a:fld>
            <a:endParaRPr lang="en-US" altLang="zh-CN"/>
          </a:p>
        </p:txBody>
      </p:sp>
    </p:spTree>
    <p:extLst>
      <p:ext uri="{BB962C8B-B14F-4D97-AF65-F5344CB8AC3E}">
        <p14:creationId xmlns:p14="http://schemas.microsoft.com/office/powerpoint/2010/main" val="10622027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2</a:t>
            </a:fld>
            <a:endParaRPr lang="zh-CN" altLang="en-US" dirty="0"/>
          </a:p>
        </p:txBody>
      </p:sp>
    </p:spTree>
    <p:extLst>
      <p:ext uri="{BB962C8B-B14F-4D97-AF65-F5344CB8AC3E}">
        <p14:creationId xmlns:p14="http://schemas.microsoft.com/office/powerpoint/2010/main" val="8887091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dirty="0"/>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
        <p:nvSpPr>
          <p:cNvPr id="7" name="矩形 6">
            <a:extLst>
              <a:ext uri="{FF2B5EF4-FFF2-40B4-BE49-F238E27FC236}">
                <a16:creationId xmlns:a16="http://schemas.microsoft.com/office/drawing/2014/main" id="{C3CF4CA7-7AAC-4C45-88E6-57EAF6DA16C9}"/>
              </a:ext>
            </a:extLst>
          </p:cNvPr>
          <p:cNvSpPr/>
          <p:nvPr userDrawn="1"/>
        </p:nvSpPr>
        <p:spPr>
          <a:xfrm>
            <a:off x="0" y="4835507"/>
            <a:ext cx="9144000" cy="307777"/>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p>
        </p:txBody>
      </p:sp>
    </p:spTree>
    <p:extLst>
      <p:ext uri="{BB962C8B-B14F-4D97-AF65-F5344CB8AC3E}">
        <p14:creationId xmlns:p14="http://schemas.microsoft.com/office/powerpoint/2010/main" val="8150112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498872"/>
          </a:xfrm>
        </p:spPr>
        <p:txBody>
          <a:bodyPr>
            <a:noAutofit/>
          </a:bodyPr>
          <a:lstStyle>
            <a:lvl1pPr>
              <a:defRPr sz="28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a:xfrm>
            <a:off x="457200" y="819150"/>
            <a:ext cx="8229600" cy="3937000"/>
          </a:xfrm>
        </p:spPr>
        <p:txBody>
          <a:bodyPr>
            <a:normAutofit/>
          </a:bodyPr>
          <a:lstStyle>
            <a:lvl1pPr>
              <a:defRPr sz="2000">
                <a:latin typeface="微软雅黑" panose="020B0503020204020204" pitchFamily="34" charset="-122"/>
                <a:ea typeface="微软雅黑" panose="020B0503020204020204" pitchFamily="34" charset="-122"/>
              </a:defRPr>
            </a:lvl1pPr>
            <a:lvl2pPr>
              <a:defRPr sz="1800">
                <a:latin typeface="微软雅黑" panose="020B0503020204020204" pitchFamily="34" charset="-122"/>
                <a:ea typeface="微软雅黑" panose="020B0503020204020204" pitchFamily="34" charset="-122"/>
              </a:defRPr>
            </a:lvl2pPr>
            <a:lvl3pPr>
              <a:defRPr sz="1600">
                <a:latin typeface="微软雅黑" panose="020B0503020204020204" pitchFamily="34" charset="-122"/>
                <a:ea typeface="微软雅黑" panose="020B0503020204020204" pitchFamily="34" charset="-122"/>
              </a:defRPr>
            </a:lvl3pPr>
            <a:lvl4pPr>
              <a:defRPr sz="1400">
                <a:latin typeface="微软雅黑" panose="020B0503020204020204" pitchFamily="34" charset="-122"/>
                <a:ea typeface="微软雅黑" panose="020B0503020204020204" pitchFamily="34" charset="-122"/>
              </a:defRPr>
            </a:lvl4pPr>
            <a:lvl5pPr>
              <a:defRPr sz="1400">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椭圆 6">
            <a:extLst>
              <a:ext uri="{FF2B5EF4-FFF2-40B4-BE49-F238E27FC236}">
                <a16:creationId xmlns:a16="http://schemas.microsoft.com/office/drawing/2014/main" id="{0EDCEBCB-EE73-45D6-92CE-B2AE1D434CFB}"/>
              </a:ext>
            </a:extLst>
          </p:cNvPr>
          <p:cNvSpPr/>
          <p:nvPr userDrawn="1"/>
        </p:nvSpPr>
        <p:spPr>
          <a:xfrm>
            <a:off x="646880" y="268997"/>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806774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11722181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10518509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11348612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21013438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42937121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32173828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36347447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31053657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81"/>
            <a:ext cx="6019800" cy="329088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6198478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09573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cSld name="1_标题幻灯片">
    <p:bg>
      <p:bgPr>
        <a:pattFill prst="ltUpDiag">
          <a:fgClr>
            <a:schemeClr val="accent6">
              <a:lumMod val="85000"/>
            </a:schemeClr>
          </a:fgClr>
          <a:bgClr>
            <a:schemeClr val="bg1"/>
          </a:bgClr>
        </a:pattFill>
        <a:effectLst/>
      </p:bgPr>
    </p:bg>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6B1EA47-AA99-4F55-AEF3-3DA66267A0C2}"/>
              </a:ext>
            </a:extLst>
          </p:cNvPr>
          <p:cNvSpPr/>
          <p:nvPr userDrawn="1"/>
        </p:nvSpPr>
        <p:spPr>
          <a:xfrm>
            <a:off x="0" y="4835507"/>
            <a:ext cx="9144000" cy="307777"/>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p>
        </p:txBody>
      </p:sp>
      <p:pic>
        <p:nvPicPr>
          <p:cNvPr id="4" name="图片 3">
            <a:extLst>
              <a:ext uri="{FF2B5EF4-FFF2-40B4-BE49-F238E27FC236}">
                <a16:creationId xmlns:a16="http://schemas.microsoft.com/office/drawing/2014/main" id="{B9470B42-93C0-4049-B9CB-A8EBAAC7803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085054" y="0"/>
            <a:ext cx="1064467" cy="963887"/>
          </a:xfrm>
          <a:prstGeom prst="rect">
            <a:avLst/>
          </a:prstGeom>
        </p:spPr>
      </p:pic>
    </p:spTree>
    <p:extLst>
      <p:ext uri="{BB962C8B-B14F-4D97-AF65-F5344CB8AC3E}">
        <p14:creationId xmlns:p14="http://schemas.microsoft.com/office/powerpoint/2010/main" val="639374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8"/>
            <a:ext cx="8229600" cy="730647"/>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457200" y="1060450"/>
            <a:ext cx="8229600" cy="3534173"/>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E1BEBC7A-FD02-486B-81B5-A845787C689C}" type="slidenum">
              <a:rPr lang="zh-CN" altLang="en-US" smtClean="0"/>
              <a:t>‹#›</a:t>
            </a:fld>
            <a:endParaRPr lang="zh-CN" altLang="en-US"/>
          </a:p>
        </p:txBody>
      </p:sp>
      <p:pic>
        <p:nvPicPr>
          <p:cNvPr id="7" name="图片 6">
            <a:extLst>
              <a:ext uri="{FF2B5EF4-FFF2-40B4-BE49-F238E27FC236}">
                <a16:creationId xmlns:a16="http://schemas.microsoft.com/office/drawing/2014/main" id="{341F63DC-E866-4077-8215-C471E38E7305}"/>
              </a:ext>
            </a:extLst>
          </p:cNvPr>
          <p:cNvPicPr>
            <a:picLocks noChangeAspect="1"/>
          </p:cNvPicPr>
          <p:nvPr userDrawn="1"/>
        </p:nvPicPr>
        <p:blipFill>
          <a:blip r:embed="rId16" cstate="email">
            <a:extLst>
              <a:ext uri="{28A0092B-C50C-407E-A947-70E740481C1C}">
                <a14:useLocalDpi xmlns:a14="http://schemas.microsoft.com/office/drawing/2010/main"/>
              </a:ext>
            </a:extLst>
          </a:blip>
          <a:stretch>
            <a:fillRect/>
          </a:stretch>
        </p:blipFill>
        <p:spPr>
          <a:xfrm>
            <a:off x="8085054" y="0"/>
            <a:ext cx="1064467" cy="963887"/>
          </a:xfrm>
          <a:prstGeom prst="rect">
            <a:avLst/>
          </a:prstGeom>
        </p:spPr>
      </p:pic>
      <p:sp>
        <p:nvSpPr>
          <p:cNvPr id="8" name="矩形 7">
            <a:extLst>
              <a:ext uri="{FF2B5EF4-FFF2-40B4-BE49-F238E27FC236}">
                <a16:creationId xmlns:a16="http://schemas.microsoft.com/office/drawing/2014/main" id="{3FFCFCD4-6DCF-4A23-AD20-AF62BB293DA8}"/>
              </a:ext>
            </a:extLst>
          </p:cNvPr>
          <p:cNvSpPr/>
          <p:nvPr userDrawn="1"/>
        </p:nvSpPr>
        <p:spPr>
          <a:xfrm>
            <a:off x="0" y="4838441"/>
            <a:ext cx="9144000" cy="307777"/>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p>
        </p:txBody>
      </p:sp>
      <p:sp>
        <p:nvSpPr>
          <p:cNvPr id="9" name="灯片编号占位符 5">
            <a:extLst>
              <a:ext uri="{FF2B5EF4-FFF2-40B4-BE49-F238E27FC236}">
                <a16:creationId xmlns:a16="http://schemas.microsoft.com/office/drawing/2014/main" id="{EB133451-4163-4C06-B844-3C1EE95F8FCF}"/>
              </a:ext>
            </a:extLst>
          </p:cNvPr>
          <p:cNvSpPr txBox="1">
            <a:spLocks/>
          </p:cNvSpPr>
          <p:nvPr userDrawn="1"/>
        </p:nvSpPr>
        <p:spPr>
          <a:xfrm>
            <a:off x="8639175" y="4838441"/>
            <a:ext cx="457199" cy="273844"/>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1BEBC7A-FD02-486B-81B5-A845787C689C}" type="slidenum">
              <a:rPr lang="zh-CN" altLang="en-US" sz="1600" smtClean="0">
                <a:solidFill>
                  <a:schemeClr val="bg1">
                    <a:lumMod val="95000"/>
                  </a:schemeClr>
                </a:solidFill>
              </a:rPr>
              <a:pPr/>
              <a:t>‹#›</a:t>
            </a:fld>
            <a:endParaRPr lang="zh-CN" altLang="en-US" sz="1600" dirty="0">
              <a:solidFill>
                <a:schemeClr val="bg1">
                  <a:lumMod val="95000"/>
                </a:schemeClr>
              </a:solidFill>
            </a:endParaRPr>
          </a:p>
        </p:txBody>
      </p:sp>
      <mc:AlternateContent xmlns:mc="http://schemas.openxmlformats.org/markup-compatibility/2006" xmlns:a14="http://schemas.microsoft.com/office/drawing/2010/main">
        <mc:Choice Requires="a14">
          <p:sp>
            <p:nvSpPr>
              <p:cNvPr id="11" name="矩形 10"/>
              <p:cNvSpPr/>
              <p:nvPr userDrawn="1"/>
            </p:nvSpPr>
            <p:spPr>
              <a:xfrm>
                <a:off x="8730114" y="1549667"/>
                <a:ext cx="366260" cy="2258729"/>
              </a:xfrm>
              <a:prstGeom prst="rect">
                <a:avLst/>
              </a:prstGeom>
              <a:solidFill>
                <a:schemeClr val="bg1">
                  <a:lumMod val="95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zh-CN" altLang="en-US" i="1" smtClean="0">
                          <a:solidFill>
                            <a:schemeClr val="bg1">
                              <a:lumMod val="85000"/>
                            </a:schemeClr>
                          </a:solidFill>
                          <a:latin typeface="Cambria Math" panose="02040503050406030204" pitchFamily="18" charset="0"/>
                        </a:rPr>
                        <m:t>𝜋</m:t>
                      </m:r>
                    </m:oMath>
                  </m:oMathPara>
                </a14:m>
                <a:endParaRPr lang="en-US" altLang="zh-CN" dirty="0">
                  <a:solidFill>
                    <a:schemeClr val="bg1">
                      <a:lumMod val="85000"/>
                    </a:schemeClr>
                  </a:solidFill>
                </a:endParaRPr>
              </a:p>
              <a:p>
                <a:pPr algn="ctr"/>
                <a:r>
                  <a:rPr lang="en-US" altLang="zh-CN" dirty="0">
                    <a:solidFill>
                      <a:schemeClr val="bg1">
                        <a:lumMod val="85000"/>
                      </a:schemeClr>
                    </a:solidFill>
                  </a:rPr>
                  <a:t>@</a:t>
                </a:r>
              </a:p>
              <a:p>
                <a:pPr algn="ctr"/>
                <a:r>
                  <a:rPr lang="en-US" altLang="zh-CN" dirty="0">
                    <a:solidFill>
                      <a:schemeClr val="bg1">
                        <a:lumMod val="85000"/>
                      </a:schemeClr>
                    </a:solidFill>
                  </a:rPr>
                  <a:t>R</a:t>
                </a:r>
              </a:p>
              <a:p>
                <a:pPr algn="ctr"/>
                <a:r>
                  <a:rPr lang="en-US" altLang="zh-CN" dirty="0">
                    <a:solidFill>
                      <a:schemeClr val="bg1">
                        <a:lumMod val="85000"/>
                      </a:schemeClr>
                    </a:solidFill>
                  </a:rPr>
                  <a:t>U</a:t>
                </a:r>
              </a:p>
              <a:p>
                <a:pPr algn="ctr"/>
                <a:r>
                  <a:rPr lang="en-US" altLang="zh-CN" dirty="0">
                    <a:solidFill>
                      <a:schemeClr val="bg1">
                        <a:lumMod val="85000"/>
                      </a:schemeClr>
                    </a:solidFill>
                  </a:rPr>
                  <a:t>C</a:t>
                </a:r>
                <a:endParaRPr lang="zh-CN" altLang="en-US" dirty="0">
                  <a:solidFill>
                    <a:schemeClr val="bg1">
                      <a:lumMod val="85000"/>
                    </a:schemeClr>
                  </a:solidFill>
                </a:endParaRPr>
              </a:p>
            </p:txBody>
          </p:sp>
        </mc:Choice>
        <mc:Fallback xmlns="">
          <p:sp>
            <p:nvSpPr>
              <p:cNvPr id="11" name="矩形 10"/>
              <p:cNvSpPr>
                <a:spLocks noRot="1" noChangeAspect="1" noMove="1" noResize="1" noEditPoints="1" noAdjustHandles="1" noChangeArrowheads="1" noChangeShapeType="1" noTextEdit="1"/>
              </p:cNvSpPr>
              <p:nvPr userDrawn="1"/>
            </p:nvSpPr>
            <p:spPr>
              <a:xfrm>
                <a:off x="8730114" y="1549667"/>
                <a:ext cx="366260" cy="2258729"/>
              </a:xfrm>
              <a:prstGeom prst="rect">
                <a:avLst/>
              </a:prstGeom>
              <a:blipFill>
                <a:blip r:embed="rId17"/>
                <a:stretch>
                  <a:fillRect l="-13846" r="-10769"/>
                </a:stretch>
              </a:blipFill>
              <a:ln>
                <a:noFill/>
              </a:ln>
              <a:effectLst/>
            </p:spPr>
            <p:txBody>
              <a:bodyPr/>
              <a:lstStyle/>
              <a:p>
                <a:r>
                  <a:rPr lang="zh-CN" altLang="en-US">
                    <a:noFill/>
                  </a:rPr>
                  <a:t> </a:t>
                </a:r>
              </a:p>
            </p:txBody>
          </p:sp>
        </mc:Fallback>
      </mc:AlternateContent>
    </p:spTree>
    <p:extLst>
      <p:ext uri="{BB962C8B-B14F-4D97-AF65-F5344CB8AC3E}">
        <p14:creationId xmlns:p14="http://schemas.microsoft.com/office/powerpoint/2010/main" val="39897878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4" r:id="rId12"/>
    <p:sldLayoutId id="2147483669" r:id="rId13"/>
  </p:sldLayoutIdLst>
  <mc:AlternateContent xmlns:mc="http://schemas.openxmlformats.org/markup-compatibility/2006" xmlns:p14="http://schemas.microsoft.com/office/powerpoint/2010/main">
    <mc:Choice Requires="p14">
      <p:transition p14:dur="10"/>
    </mc:Choice>
    <mc:Fallback xmlns="">
      <p:transition/>
    </mc:Fallback>
  </mc:AlternateConten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Cambria Math" panose="02040503050406030204" pitchFamily="18" charset="0"/>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5.png"/><Relationship Id="rId5" Type="http://schemas.microsoft.com/office/2007/relationships/hdphoto" Target="../media/hdphoto1.wdp"/><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hyperlink" Target="https://www.tiobe.com/tiobe-index/"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xml"/><Relationship Id="rId1" Type="http://schemas.openxmlformats.org/officeDocument/2006/relationships/tags" Target="../tags/tag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43.jpeg"/><Relationship Id="rId3" Type="http://schemas.openxmlformats.org/officeDocument/2006/relationships/image" Target="../media/image38.jpeg"/><Relationship Id="rId7" Type="http://schemas.openxmlformats.org/officeDocument/2006/relationships/image" Target="../media/image42.png"/><Relationship Id="rId2" Type="http://schemas.openxmlformats.org/officeDocument/2006/relationships/image" Target="../media/image37.jpeg"/><Relationship Id="rId1" Type="http://schemas.openxmlformats.org/officeDocument/2006/relationships/slideLayout" Target="../slideLayouts/slideLayout2.xml"/><Relationship Id="rId6" Type="http://schemas.openxmlformats.org/officeDocument/2006/relationships/image" Target="../media/image41.jpeg"/><Relationship Id="rId5" Type="http://schemas.openxmlformats.org/officeDocument/2006/relationships/image" Target="../media/image40.jpeg"/><Relationship Id="rId4" Type="http://schemas.openxmlformats.org/officeDocument/2006/relationships/image" Target="../media/image39.jpeg"/></Relationships>
</file>

<file path=ppt/slides/_rels/slide28.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jpeg"/><Relationship Id="rId1" Type="http://schemas.openxmlformats.org/officeDocument/2006/relationships/slideLayout" Target="../slideLayouts/slideLayout2.xml"/><Relationship Id="rId4" Type="http://schemas.openxmlformats.org/officeDocument/2006/relationships/image" Target="../media/image50.jpeg"/></Relationships>
</file>

<file path=ppt/slides/_rels/slide31.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矩形 3"/>
          <p:cNvSpPr/>
          <p:nvPr/>
        </p:nvSpPr>
        <p:spPr>
          <a:xfrm>
            <a:off x="0" y="2059145"/>
            <a:ext cx="9144000" cy="854123"/>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r>
              <a:rPr lang="zh-CN" altLang="en-US" sz="3600" dirty="0">
                <a:solidFill>
                  <a:schemeClr val="bg1"/>
                </a:solidFill>
                <a:latin typeface="微软雅黑" panose="020B0503020204020204" pitchFamily="34" charset="-122"/>
                <a:ea typeface="微软雅黑" panose="020B0503020204020204" pitchFamily="34" charset="-122"/>
              </a:rPr>
              <a:t>大数据</a:t>
            </a:r>
          </a:p>
        </p:txBody>
      </p:sp>
      <p:pic>
        <p:nvPicPr>
          <p:cNvPr id="103" name="Picture 2" descr="C:\Users\Administrator\Desktop\微立体创业计划\001.png"/>
          <p:cNvPicPr>
            <a:picLocks noChangeAspect="1" noChangeArrowheads="1"/>
          </p:cNvPicPr>
          <p:nvPr/>
        </p:nvPicPr>
        <p:blipFill>
          <a:blip r:embed="rId4" cstate="email">
            <a:extLst>
              <a:ext uri="{BEBA8EAE-BF5A-486C-A8C5-ECC9F3942E4B}">
                <a14:imgProps xmlns:a14="http://schemas.microsoft.com/office/drawing/2010/main">
                  <a14:imgLayer r:embed="rId5">
                    <a14:imgEffect>
                      <a14:brightnessContrast bright="-3000"/>
                    </a14:imgEffect>
                  </a14:imgLayer>
                </a14:imgProps>
              </a:ext>
              <a:ext uri="{28A0092B-C50C-407E-A947-70E740481C1C}">
                <a14:useLocalDpi xmlns:a14="http://schemas.microsoft.com/office/drawing/2010/main"/>
              </a:ext>
            </a:extLst>
          </a:blip>
          <a:srcRect/>
          <a:stretch>
            <a:fillRect/>
          </a:stretch>
        </p:blipFill>
        <p:spPr bwMode="auto">
          <a:xfrm>
            <a:off x="2825941" y="158700"/>
            <a:ext cx="1967244" cy="1966978"/>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104" name="Picture 3" descr="C:\Users\Administrator\Desktop\微立体创业计划\002.png"/>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3891057" y="27073"/>
            <a:ext cx="2230535" cy="2230233"/>
          </a:xfrm>
          <a:prstGeom prst="rect">
            <a:avLst/>
          </a:prstGeom>
          <a:noFill/>
          <a:effectLst>
            <a:outerShdw blurRad="292100" dist="177800" dir="2460000" sx="99000" sy="99000" algn="l" rotWithShape="0">
              <a:prstClr val="black">
                <a:alpha val="39000"/>
              </a:prstClr>
            </a:outerShdw>
          </a:effectLst>
          <a:extLst>
            <a:ext uri="{909E8E84-426E-40DD-AFC4-6F175D3DCCD1}">
              <a14:hiddenFill xmlns:a14="http://schemas.microsoft.com/office/drawing/2010/main">
                <a:solidFill>
                  <a:srgbClr val="FFFFFF"/>
                </a:solidFill>
              </a14:hiddenFill>
            </a:ext>
          </a:extLst>
        </p:spPr>
      </p:pic>
      <p:sp>
        <p:nvSpPr>
          <p:cNvPr id="23" name="圆角矩形 22"/>
          <p:cNvSpPr/>
          <p:nvPr/>
        </p:nvSpPr>
        <p:spPr>
          <a:xfrm>
            <a:off x="2349114" y="3309842"/>
            <a:ext cx="2611144" cy="409134"/>
          </a:xfrm>
          <a:prstGeom prst="roundRect">
            <a:avLst/>
          </a:prstGeom>
          <a:solidFill>
            <a:schemeClr val="tx1">
              <a:lumMod val="50000"/>
              <a:lumOff val="50000"/>
            </a:schemeClr>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r>
              <a:rPr lang="zh-CN" altLang="en-US" dirty="0">
                <a:latin typeface="微软雅黑" panose="020B0503020204020204" pitchFamily="34" charset="-122"/>
                <a:ea typeface="微软雅黑" panose="020B0503020204020204" pitchFamily="34" charset="-122"/>
              </a:rPr>
              <a:t>覃雄派</a:t>
            </a:r>
            <a:endParaRPr lang="mr-IN" altLang="zh-CN" dirty="0">
              <a:latin typeface="微软雅黑" panose="020B0503020204020204" pitchFamily="34" charset="-122"/>
              <a:ea typeface="微软雅黑" panose="020B0503020204020204" pitchFamily="34" charset="-122"/>
            </a:endParaRPr>
          </a:p>
        </p:txBody>
      </p:sp>
      <p:grpSp>
        <p:nvGrpSpPr>
          <p:cNvPr id="25" name="Group 91"/>
          <p:cNvGrpSpPr>
            <a:grpSpLocks/>
          </p:cNvGrpSpPr>
          <p:nvPr/>
        </p:nvGrpSpPr>
        <p:grpSpPr bwMode="auto">
          <a:xfrm>
            <a:off x="1822357" y="3309841"/>
            <a:ext cx="390552" cy="616758"/>
            <a:chOff x="936" y="1480"/>
            <a:chExt cx="1589" cy="2510"/>
          </a:xfrm>
        </p:grpSpPr>
        <p:grpSp>
          <p:nvGrpSpPr>
            <p:cNvPr id="26" name="组合 33"/>
            <p:cNvGrpSpPr>
              <a:grpSpLocks/>
            </p:cNvGrpSpPr>
            <p:nvPr/>
          </p:nvGrpSpPr>
          <p:grpSpPr bwMode="auto">
            <a:xfrm>
              <a:off x="985" y="1583"/>
              <a:ext cx="1441" cy="2407"/>
              <a:chOff x="1754168" y="3653262"/>
              <a:chExt cx="1857599" cy="3107815"/>
            </a:xfrm>
          </p:grpSpPr>
          <p:sp>
            <p:nvSpPr>
              <p:cNvPr id="31" name="椭圆 30"/>
              <p:cNvSpPr/>
              <p:nvPr/>
            </p:nvSpPr>
            <p:spPr>
              <a:xfrm>
                <a:off x="1754168" y="3653262"/>
                <a:ext cx="1857599" cy="1857597"/>
              </a:xfrm>
              <a:prstGeom prst="ellipse">
                <a:avLst/>
              </a:prstGeom>
              <a:solidFill>
                <a:schemeClr val="tx1">
                  <a:lumMod val="50000"/>
                  <a:lumOff val="50000"/>
                </a:schemeClr>
              </a:solidFill>
              <a:ln>
                <a:noFill/>
              </a:ln>
              <a:effectLst>
                <a:innerShdw blurRad="889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sz="3000" dirty="0">
                  <a:latin typeface="微软雅黑" panose="020B0503020204020204" pitchFamily="34" charset="-122"/>
                  <a:ea typeface="微软雅黑" panose="020B0503020204020204" pitchFamily="34" charset="-122"/>
                </a:endParaRPr>
              </a:p>
            </p:txBody>
          </p:sp>
          <p:sp>
            <p:nvSpPr>
              <p:cNvPr id="32" name="椭圆 31"/>
              <p:cNvSpPr/>
              <p:nvPr/>
            </p:nvSpPr>
            <p:spPr>
              <a:xfrm>
                <a:off x="1911556" y="3810650"/>
                <a:ext cx="1542822" cy="1542820"/>
              </a:xfrm>
              <a:prstGeom prst="ellipse">
                <a:avLst/>
              </a:prstGeom>
              <a:solidFill>
                <a:srgbClr val="C20100"/>
              </a:solidFill>
              <a:ln w="28575">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微软雅黑" panose="020B0503020204020204" pitchFamily="34" charset="-122"/>
                  <a:ea typeface="微软雅黑" panose="020B0503020204020204" pitchFamily="34" charset="-122"/>
                </a:endParaRPr>
              </a:p>
            </p:txBody>
          </p:sp>
          <p:sp>
            <p:nvSpPr>
              <p:cNvPr id="33" name="椭圆 32"/>
              <p:cNvSpPr/>
              <p:nvPr/>
            </p:nvSpPr>
            <p:spPr>
              <a:xfrm>
                <a:off x="1890879" y="3789973"/>
                <a:ext cx="1584176" cy="1584174"/>
              </a:xfrm>
              <a:prstGeom prst="ellipse">
                <a:avLst/>
              </a:prstGeom>
              <a:solidFill>
                <a:srgbClr val="1A3F6C"/>
              </a:solidFill>
              <a:ln>
                <a:noFill/>
              </a:ln>
              <a:effectLst>
                <a:innerShdw blurRad="889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sz="3000" dirty="0">
                  <a:solidFill>
                    <a:srgbClr val="0087CF"/>
                  </a:solidFill>
                  <a:latin typeface="微软雅黑" panose="020B0503020204020204" pitchFamily="34" charset="-122"/>
                  <a:ea typeface="微软雅黑" panose="020B0503020204020204" pitchFamily="34" charset="-122"/>
                </a:endParaRPr>
              </a:p>
            </p:txBody>
          </p:sp>
          <p:sp>
            <p:nvSpPr>
              <p:cNvPr id="34" name="矩形 33"/>
              <p:cNvSpPr/>
              <p:nvPr/>
            </p:nvSpPr>
            <p:spPr>
              <a:xfrm>
                <a:off x="2196990" y="4093185"/>
                <a:ext cx="968886" cy="2667892"/>
              </a:xfrm>
              <a:prstGeom prst="rect">
                <a:avLst/>
              </a:prstGeom>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fontAlgn="base">
                  <a:spcBef>
                    <a:spcPct val="0"/>
                  </a:spcBef>
                  <a:spcAft>
                    <a:spcPct val="0"/>
                  </a:spcAft>
                  <a:defRPr>
                    <a:solidFill>
                      <a:schemeClr val="tx1"/>
                    </a:solidFill>
                    <a:latin typeface="Arial" charset="0"/>
                    <a:ea typeface="宋体" pitchFamily="2" charset="-122"/>
                  </a:defRPr>
                </a:lvl6pPr>
                <a:lvl7pPr marL="2971800" indent="-228600" fontAlgn="base">
                  <a:spcBef>
                    <a:spcPct val="0"/>
                  </a:spcBef>
                  <a:spcAft>
                    <a:spcPct val="0"/>
                  </a:spcAft>
                  <a:defRPr>
                    <a:solidFill>
                      <a:schemeClr val="tx1"/>
                    </a:solidFill>
                    <a:latin typeface="Arial" charset="0"/>
                    <a:ea typeface="宋体" pitchFamily="2" charset="-122"/>
                  </a:defRPr>
                </a:lvl7pPr>
                <a:lvl8pPr marL="3429000" indent="-228600" fontAlgn="base">
                  <a:spcBef>
                    <a:spcPct val="0"/>
                  </a:spcBef>
                  <a:spcAft>
                    <a:spcPct val="0"/>
                  </a:spcAft>
                  <a:defRPr>
                    <a:solidFill>
                      <a:schemeClr val="tx1"/>
                    </a:solidFill>
                    <a:latin typeface="Arial" charset="0"/>
                    <a:ea typeface="宋体" pitchFamily="2" charset="-122"/>
                  </a:defRPr>
                </a:lvl8pPr>
                <a:lvl9pPr marL="3886200" indent="-228600" fontAlgn="base">
                  <a:spcBef>
                    <a:spcPct val="0"/>
                  </a:spcBef>
                  <a:spcAft>
                    <a:spcPct val="0"/>
                  </a:spcAft>
                  <a:defRPr>
                    <a:solidFill>
                      <a:schemeClr val="tx1"/>
                    </a:solidFill>
                    <a:latin typeface="Arial" charset="0"/>
                    <a:ea typeface="宋体" pitchFamily="2" charset="-122"/>
                  </a:defRPr>
                </a:lvl9pPr>
              </a:lstStyle>
              <a:p>
                <a:pPr algn="ctr"/>
                <a:endParaRPr lang="zh-CN" altLang="zh-CN" sz="2700">
                  <a:solidFill>
                    <a:srgbClr val="CA0098"/>
                  </a:solidFill>
                  <a:latin typeface="微软雅黑" panose="020B0503020204020204" pitchFamily="34" charset="-122"/>
                  <a:ea typeface="微软雅黑" panose="020B0503020204020204" pitchFamily="34" charset="-122"/>
                </a:endParaRPr>
              </a:p>
            </p:txBody>
          </p:sp>
        </p:grpSp>
        <p:grpSp>
          <p:nvGrpSpPr>
            <p:cNvPr id="27" name="组合 4"/>
            <p:cNvGrpSpPr>
              <a:grpSpLocks/>
            </p:cNvGrpSpPr>
            <p:nvPr/>
          </p:nvGrpSpPr>
          <p:grpSpPr bwMode="auto">
            <a:xfrm>
              <a:off x="936" y="1480"/>
              <a:ext cx="1589" cy="1588"/>
              <a:chOff x="3733576" y="3930057"/>
              <a:chExt cx="1801556" cy="1800152"/>
            </a:xfrm>
          </p:grpSpPr>
          <p:sp>
            <p:nvSpPr>
              <p:cNvPr id="28" name="椭圆 27"/>
              <p:cNvSpPr/>
              <p:nvPr/>
            </p:nvSpPr>
            <p:spPr>
              <a:xfrm>
                <a:off x="4003576" y="4200057"/>
                <a:ext cx="1260000" cy="1260000"/>
              </a:xfrm>
              <a:prstGeom prst="ellipse">
                <a:avLst/>
              </a:prstGeom>
              <a:noFill/>
              <a:ln>
                <a:gradFill flip="none" rotWithShape="1">
                  <a:gsLst>
                    <a:gs pos="100000">
                      <a:schemeClr val="bg1"/>
                    </a:gs>
                    <a:gs pos="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29" name="任意多边形 6"/>
              <p:cNvSpPr/>
              <p:nvPr/>
            </p:nvSpPr>
            <p:spPr>
              <a:xfrm>
                <a:off x="3734710" y="3930057"/>
                <a:ext cx="1800422" cy="1800152"/>
              </a:xfrm>
              <a:custGeom>
                <a:avLst/>
                <a:gdLst>
                  <a:gd name="connsiteX0" fmla="*/ 900000 w 1800000"/>
                  <a:gd name="connsiteY0" fmla="*/ 0 h 1800000"/>
                  <a:gd name="connsiteX1" fmla="*/ 1800000 w 1800000"/>
                  <a:gd name="connsiteY1" fmla="*/ 900000 h 1800000"/>
                  <a:gd name="connsiteX2" fmla="*/ 900000 w 1800000"/>
                  <a:gd name="connsiteY2" fmla="*/ 1800000 h 1800000"/>
                  <a:gd name="connsiteX3" fmla="*/ 0 w 1800000"/>
                  <a:gd name="connsiteY3" fmla="*/ 900000 h 1800000"/>
                  <a:gd name="connsiteX4" fmla="*/ 900000 w 1800000"/>
                  <a:gd name="connsiteY4" fmla="*/ 0 h 1800000"/>
                  <a:gd name="connsiteX5" fmla="*/ 900000 w 1800000"/>
                  <a:gd name="connsiteY5" fmla="*/ 270000 h 1800000"/>
                  <a:gd name="connsiteX6" fmla="*/ 270000 w 1800000"/>
                  <a:gd name="connsiteY6" fmla="*/ 900000 h 1800000"/>
                  <a:gd name="connsiteX7" fmla="*/ 900000 w 1800000"/>
                  <a:gd name="connsiteY7" fmla="*/ 1530000 h 1800000"/>
                  <a:gd name="connsiteX8" fmla="*/ 1530000 w 1800000"/>
                  <a:gd name="connsiteY8" fmla="*/ 900000 h 1800000"/>
                  <a:gd name="connsiteX9" fmla="*/ 900000 w 1800000"/>
                  <a:gd name="connsiteY9" fmla="*/ 270000 h 18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000" h="1800000">
                    <a:moveTo>
                      <a:pt x="900000" y="0"/>
                    </a:moveTo>
                    <a:cubicBezTo>
                      <a:pt x="1397056" y="0"/>
                      <a:pt x="1800000" y="402944"/>
                      <a:pt x="1800000" y="900000"/>
                    </a:cubicBezTo>
                    <a:cubicBezTo>
                      <a:pt x="1800000" y="1397056"/>
                      <a:pt x="1397056" y="1800000"/>
                      <a:pt x="900000" y="1800000"/>
                    </a:cubicBezTo>
                    <a:cubicBezTo>
                      <a:pt x="402944" y="1800000"/>
                      <a:pt x="0" y="1397056"/>
                      <a:pt x="0" y="900000"/>
                    </a:cubicBezTo>
                    <a:cubicBezTo>
                      <a:pt x="0" y="402944"/>
                      <a:pt x="402944" y="0"/>
                      <a:pt x="900000" y="0"/>
                    </a:cubicBezTo>
                    <a:close/>
                    <a:moveTo>
                      <a:pt x="900000" y="270000"/>
                    </a:moveTo>
                    <a:cubicBezTo>
                      <a:pt x="552061" y="270000"/>
                      <a:pt x="270000" y="552061"/>
                      <a:pt x="270000" y="900000"/>
                    </a:cubicBezTo>
                    <a:cubicBezTo>
                      <a:pt x="270000" y="1247939"/>
                      <a:pt x="552061" y="1530000"/>
                      <a:pt x="900000" y="1530000"/>
                    </a:cubicBezTo>
                    <a:cubicBezTo>
                      <a:pt x="1247939" y="1530000"/>
                      <a:pt x="1530000" y="1247939"/>
                      <a:pt x="1530000" y="900000"/>
                    </a:cubicBezTo>
                    <a:cubicBezTo>
                      <a:pt x="1530000" y="552061"/>
                      <a:pt x="1247939" y="270000"/>
                      <a:pt x="900000" y="270000"/>
                    </a:cubicBezTo>
                    <a:close/>
                  </a:path>
                </a:pathLst>
              </a:custGeom>
              <a:gradFill>
                <a:gsLst>
                  <a:gs pos="0">
                    <a:srgbClr val="F0F0F0"/>
                  </a:gs>
                  <a:gs pos="100000">
                    <a:srgbClr val="DBDBDB"/>
                  </a:gs>
                </a:gsLst>
                <a:lin ang="2700000" scaled="1"/>
              </a:gradFill>
              <a:ln>
                <a:noFill/>
              </a:ln>
              <a:effectLst>
                <a:outerShdw blurRad="889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30" name="椭圆 7"/>
              <p:cNvSpPr/>
              <p:nvPr/>
            </p:nvSpPr>
            <p:spPr>
              <a:xfrm>
                <a:off x="3733576" y="3930057"/>
                <a:ext cx="1800000" cy="1800000"/>
              </a:xfrm>
              <a:prstGeom prst="ellipse">
                <a:avLst/>
              </a:prstGeom>
              <a:noFill/>
              <a:ln>
                <a:gradFill flip="none" rotWithShape="1">
                  <a:gsLst>
                    <a:gs pos="0">
                      <a:schemeClr val="bg1"/>
                    </a:gs>
                    <a:gs pos="10000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微软雅黑" panose="020B0503020204020204" pitchFamily="34" charset="-122"/>
                  <a:ea typeface="微软雅黑" panose="020B0503020204020204" pitchFamily="34" charset="-122"/>
                </a:endParaRPr>
              </a:p>
            </p:txBody>
          </p:sp>
        </p:grpSp>
      </p:grpSp>
    </p:spTree>
    <p:extLst>
      <p:ext uri="{BB962C8B-B14F-4D97-AF65-F5344CB8AC3E}">
        <p14:creationId xmlns:p14="http://schemas.microsoft.com/office/powerpoint/2010/main" val="677344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3779912" cy="485394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2" name="TextBox 1"/>
          <p:cNvSpPr txBox="1"/>
          <p:nvPr/>
        </p:nvSpPr>
        <p:spPr>
          <a:xfrm>
            <a:off x="3995935" y="157880"/>
            <a:ext cx="3787693" cy="707886"/>
          </a:xfrm>
          <a:prstGeom prst="rect">
            <a:avLst/>
          </a:prstGeom>
          <a:noFill/>
        </p:spPr>
        <p:txBody>
          <a:bodyPr wrap="square" rtlCol="0">
            <a:spAutoFit/>
          </a:bodyPr>
          <a:lstStyle/>
          <a:p>
            <a:r>
              <a:rPr lang="zh-CN" altLang="en-US" sz="4000" dirty="0">
                <a:latin typeface="微软雅黑" panose="020B0503020204020204" pitchFamily="34" charset="-122"/>
                <a:ea typeface="微软雅黑" panose="020B0503020204020204" pitchFamily="34" charset="-122"/>
              </a:rPr>
              <a:t>大数据</a:t>
            </a:r>
          </a:p>
        </p:txBody>
      </p:sp>
      <p:sp>
        <p:nvSpPr>
          <p:cNvPr id="3" name="TextBox 2"/>
          <p:cNvSpPr txBox="1"/>
          <p:nvPr/>
        </p:nvSpPr>
        <p:spPr>
          <a:xfrm>
            <a:off x="492101" y="3053758"/>
            <a:ext cx="2697829" cy="307777"/>
          </a:xfrm>
          <a:prstGeom prst="rect">
            <a:avLst/>
          </a:prstGeom>
          <a:noFill/>
        </p:spPr>
        <p:txBody>
          <a:bodyPr wrap="square" lIns="0" tIns="0" rIns="0" bIns="0" rtlCol="0">
            <a:spAutoFit/>
          </a:bodyPr>
          <a:lstStyle/>
          <a:p>
            <a:pPr algn="ctr"/>
            <a:r>
              <a:rPr lang="en-US" altLang="zh-CN" sz="2000" dirty="0">
                <a:solidFill>
                  <a:schemeClr val="bg1"/>
                </a:solidFill>
                <a:latin typeface="微软雅黑" panose="020B0503020204020204" pitchFamily="34" charset="-122"/>
                <a:ea typeface="微软雅黑" panose="020B0503020204020204" pitchFamily="34" charset="-122"/>
              </a:rPr>
              <a:t>Page rank</a:t>
            </a:r>
            <a:endParaRPr lang="zh-CN" altLang="en-US" sz="2000" dirty="0">
              <a:solidFill>
                <a:schemeClr val="bg1"/>
              </a:solidFill>
              <a:latin typeface="微软雅黑" panose="020B0503020204020204" pitchFamily="34" charset="-122"/>
              <a:ea typeface="微软雅黑" panose="020B0503020204020204" pitchFamily="34" charset="-122"/>
            </a:endParaRPr>
          </a:p>
        </p:txBody>
      </p:sp>
      <p:grpSp>
        <p:nvGrpSpPr>
          <p:cNvPr id="33" name="组合 32"/>
          <p:cNvGrpSpPr/>
          <p:nvPr/>
        </p:nvGrpSpPr>
        <p:grpSpPr>
          <a:xfrm>
            <a:off x="817418" y="581891"/>
            <a:ext cx="2178627" cy="1891145"/>
            <a:chOff x="2262782" y="1446400"/>
            <a:chExt cx="1301106" cy="1301106"/>
          </a:xfrm>
        </p:grpSpPr>
        <p:sp>
          <p:nvSpPr>
            <p:cNvPr id="5" name="椭圆 4"/>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20" name="KSO_Shape"/>
            <p:cNvSpPr>
              <a:spLocks/>
            </p:cNvSpPr>
            <p:nvPr/>
          </p:nvSpPr>
          <p:spPr bwMode="auto">
            <a:xfrm>
              <a:off x="2523120" y="1821416"/>
              <a:ext cx="836342" cy="57428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dirty="0">
                <a:latin typeface="微软雅黑" panose="020B0503020204020204" pitchFamily="34" charset="-122"/>
                <a:ea typeface="微软雅黑" panose="020B0503020204020204" pitchFamily="34" charset="-122"/>
              </a:endParaRPr>
            </a:p>
          </p:txBody>
        </p:sp>
      </p:grpSp>
      <p:sp>
        <p:nvSpPr>
          <p:cNvPr id="15" name="TextBox 14"/>
          <p:cNvSpPr txBox="1"/>
          <p:nvPr/>
        </p:nvSpPr>
        <p:spPr>
          <a:xfrm>
            <a:off x="3779913" y="1035978"/>
            <a:ext cx="4960888" cy="2893100"/>
          </a:xfrm>
          <a:prstGeom prst="rect">
            <a:avLst/>
          </a:prstGeom>
          <a:noFill/>
        </p:spPr>
        <p:txBody>
          <a:bodyPr wrap="square" rtlCol="0">
            <a:spAutoFit/>
          </a:bodyPr>
          <a:lstStyle/>
          <a:p>
            <a:pPr marL="285750" indent="-285750">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大数据时代已经到来</a:t>
            </a:r>
            <a:endParaRPr lang="en-US" altLang="zh-CN"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大数据的概念</a:t>
            </a:r>
            <a:endParaRPr lang="en-US" altLang="zh-CN"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大数据的特点</a:t>
            </a:r>
            <a:endParaRPr lang="en-US" altLang="zh-CN" sz="1400" dirty="0">
              <a:latin typeface="微软雅黑" panose="020B0503020204020204" pitchFamily="34" charset="-122"/>
              <a:ea typeface="微软雅黑" panose="020B0503020204020204" pitchFamily="34" charset="-122"/>
            </a:endParaRPr>
          </a:p>
          <a:p>
            <a:pPr marL="742950" lvl="1" indent="-285750">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结构化数据、非结构化数据</a:t>
            </a:r>
            <a:endParaRPr lang="en-US" altLang="zh-CN" sz="1400" dirty="0">
              <a:latin typeface="微软雅黑" panose="020B0503020204020204" pitchFamily="34" charset="-122"/>
              <a:ea typeface="微软雅黑" panose="020B0503020204020204" pitchFamily="34" charset="-122"/>
            </a:endParaRPr>
          </a:p>
          <a:p>
            <a:pPr marL="742950" lvl="1" indent="-285750">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批处理、流式数据处理</a:t>
            </a:r>
            <a:endParaRPr lang="en-US" altLang="zh-CN"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大数据的应用</a:t>
            </a:r>
            <a:endParaRPr lang="en-US" altLang="zh-CN"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纵向扩展、横向扩展、分布式计算</a:t>
            </a:r>
            <a:endParaRPr lang="en-US" altLang="zh-CN" sz="1400" dirty="0">
              <a:latin typeface="微软雅黑" panose="020B0503020204020204" pitchFamily="34" charset="-122"/>
              <a:ea typeface="微软雅黑" panose="020B0503020204020204" pitchFamily="34" charset="-122"/>
            </a:endParaRPr>
          </a:p>
          <a:p>
            <a:pPr marL="742950" lvl="1" indent="-285750">
              <a:buFont typeface="Arial" panose="020B0604020202020204" pitchFamily="34" charset="0"/>
              <a:buChar char="•"/>
            </a:pPr>
            <a:r>
              <a:rPr lang="en-US" altLang="zh-CN" sz="1400" dirty="0">
                <a:latin typeface="微软雅黑" panose="020B0503020204020204" pitchFamily="34" charset="-122"/>
                <a:ea typeface="微软雅黑" panose="020B0503020204020204" pitchFamily="34" charset="-122"/>
              </a:rPr>
              <a:t>RDBMS</a:t>
            </a:r>
            <a:r>
              <a:rPr lang="zh-CN" altLang="en-US" sz="1400" dirty="0">
                <a:latin typeface="微软雅黑" panose="020B0503020204020204" pitchFamily="34" charset="-122"/>
                <a:ea typeface="微软雅黑" panose="020B0503020204020204" pitchFamily="34" charset="-122"/>
              </a:rPr>
              <a:t>与</a:t>
            </a:r>
            <a:r>
              <a:rPr lang="en-US" altLang="zh-CN" sz="1400" dirty="0">
                <a:latin typeface="微软雅黑" panose="020B0503020204020204" pitchFamily="34" charset="-122"/>
                <a:ea typeface="微软雅黑" panose="020B0503020204020204" pitchFamily="34" charset="-122"/>
              </a:rPr>
              <a:t>ACID</a:t>
            </a:r>
            <a:r>
              <a:rPr lang="zh-CN" altLang="en-US" sz="1400" dirty="0">
                <a:latin typeface="微软雅黑" panose="020B0503020204020204" pitchFamily="34" charset="-122"/>
                <a:ea typeface="微软雅黑" panose="020B0503020204020204" pitchFamily="34" charset="-122"/>
              </a:rPr>
              <a:t>保证</a:t>
            </a:r>
            <a:endParaRPr lang="en-US" altLang="zh-CN" sz="1400" dirty="0">
              <a:latin typeface="微软雅黑" panose="020B0503020204020204" pitchFamily="34" charset="-122"/>
              <a:ea typeface="微软雅黑" panose="020B0503020204020204" pitchFamily="34" charset="-122"/>
            </a:endParaRPr>
          </a:p>
          <a:p>
            <a:pPr marL="742950" lvl="1" indent="-285750">
              <a:buFont typeface="Arial" panose="020B0604020202020204" pitchFamily="34" charset="0"/>
              <a:buChar char="•"/>
            </a:pPr>
            <a:r>
              <a:rPr lang="en-US" altLang="zh-CN" sz="1400" dirty="0">
                <a:latin typeface="微软雅黑" panose="020B0503020204020204" pitchFamily="34" charset="-122"/>
                <a:ea typeface="微软雅黑" panose="020B0503020204020204" pitchFamily="34" charset="-122"/>
              </a:rPr>
              <a:t>CAP</a:t>
            </a:r>
            <a:r>
              <a:rPr lang="zh-CN" altLang="en-US" sz="1400" dirty="0">
                <a:latin typeface="微软雅黑" panose="020B0503020204020204" pitchFamily="34" charset="-122"/>
                <a:ea typeface="微软雅黑" panose="020B0503020204020204" pitchFamily="34" charset="-122"/>
              </a:rPr>
              <a:t>理论</a:t>
            </a:r>
            <a:endParaRPr lang="en-US" altLang="zh-CN" sz="1400" dirty="0">
              <a:latin typeface="微软雅黑" panose="020B0503020204020204" pitchFamily="34" charset="-122"/>
              <a:ea typeface="微软雅黑" panose="020B0503020204020204" pitchFamily="34" charset="-122"/>
            </a:endParaRPr>
          </a:p>
          <a:p>
            <a:pPr marL="742950" lvl="1" indent="-285750">
              <a:buFont typeface="Arial" panose="020B0604020202020204" pitchFamily="34" charset="0"/>
              <a:buChar char="•"/>
            </a:pPr>
            <a:r>
              <a:rPr lang="en-US" altLang="zh-CN" sz="1400" dirty="0">
                <a:latin typeface="微软雅黑" panose="020B0503020204020204" pitchFamily="34" charset="-122"/>
                <a:ea typeface="微软雅黑" panose="020B0503020204020204" pitchFamily="34" charset="-122"/>
              </a:rPr>
              <a:t>NoSQL</a:t>
            </a:r>
          </a:p>
          <a:p>
            <a:pPr marL="1200150" lvl="2" indent="-285750">
              <a:buFont typeface="Arial" panose="020B0604020202020204" pitchFamily="34" charset="0"/>
              <a:buChar char="•"/>
            </a:pPr>
            <a:r>
              <a:rPr lang="en-US" altLang="zh-CN" sz="1400" dirty="0">
                <a:latin typeface="微软雅黑" panose="020B0503020204020204" pitchFamily="34" charset="-122"/>
                <a:ea typeface="微软雅黑" panose="020B0503020204020204" pitchFamily="34" charset="-122"/>
              </a:rPr>
              <a:t>KV</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Column Family</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Document</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Graph</a:t>
            </a:r>
          </a:p>
          <a:p>
            <a:pPr marL="742950" lvl="1" indent="-285750">
              <a:buFont typeface="Arial" panose="020B0604020202020204" pitchFamily="34" charset="0"/>
              <a:buChar char="•"/>
            </a:pPr>
            <a:r>
              <a:rPr lang="en-US" altLang="zh-CN" sz="1400" dirty="0">
                <a:latin typeface="微软雅黑" panose="020B0503020204020204" pitchFamily="34" charset="-122"/>
                <a:ea typeface="微软雅黑" panose="020B0503020204020204" pitchFamily="34" charset="-122"/>
              </a:rPr>
              <a:t>NewSQL</a:t>
            </a:r>
          </a:p>
          <a:p>
            <a:pPr marL="742950" lvl="1" indent="-285750">
              <a:buFont typeface="Arial" panose="020B0604020202020204" pitchFamily="34" charset="0"/>
              <a:buChar char="•"/>
            </a:pPr>
            <a:endParaRPr lang="zh-CN" altLang="en-US" sz="1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194150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大数据时代</a:t>
            </a:r>
          </a:p>
        </p:txBody>
      </p:sp>
      <p:sp>
        <p:nvSpPr>
          <p:cNvPr id="13" name="Content Placeholder 2"/>
          <p:cNvSpPr>
            <a:spLocks noGrp="1"/>
          </p:cNvSpPr>
          <p:nvPr>
            <p:ph idx="1"/>
          </p:nvPr>
        </p:nvSpPr>
        <p:spPr>
          <a:xfrm>
            <a:off x="457200" y="819150"/>
            <a:ext cx="8229600" cy="3937000"/>
          </a:xfrm>
        </p:spPr>
        <p:txBody>
          <a:bodyPr>
            <a:normAutofit/>
          </a:bodyPr>
          <a:lstStyle/>
          <a:p>
            <a:r>
              <a:rPr lang="zh-CN" altLang="en-US" dirty="0"/>
              <a:t>数据以史无前例的速度在增长</a:t>
            </a:r>
            <a:endParaRPr lang="en-US" altLang="zh-CN" dirty="0"/>
          </a:p>
          <a:p>
            <a:pPr lvl="1"/>
            <a:r>
              <a:rPr lang="zh-CN" altLang="en-US" dirty="0"/>
              <a:t>如图，</a:t>
            </a:r>
            <a:r>
              <a:rPr lang="en-US" altLang="zh-CN" dirty="0"/>
              <a:t>1986</a:t>
            </a:r>
            <a:r>
              <a:rPr lang="zh-CN" altLang="en-US" dirty="0"/>
              <a:t>年到</a:t>
            </a:r>
            <a:r>
              <a:rPr lang="en-US" altLang="zh-CN" dirty="0"/>
              <a:t>2007</a:t>
            </a:r>
            <a:r>
              <a:rPr lang="zh-CN" altLang="en-US" dirty="0"/>
              <a:t>年的数据变化</a:t>
            </a:r>
          </a:p>
          <a:p>
            <a:pPr lvl="2"/>
            <a:r>
              <a:rPr lang="zh-CN" altLang="en-US" dirty="0"/>
              <a:t>模拟数据 </a:t>
            </a:r>
            <a:r>
              <a:rPr lang="en-US" altLang="zh-CN" dirty="0">
                <a:sym typeface="Wingdings" panose="05000000000000000000" pitchFamily="2" charset="2"/>
              </a:rPr>
              <a:t> </a:t>
            </a:r>
            <a:r>
              <a:rPr lang="zh-CN" altLang="en-US" dirty="0"/>
              <a:t>数字数据</a:t>
            </a:r>
            <a:endParaRPr lang="en-US" altLang="zh-CN" dirty="0"/>
          </a:p>
          <a:p>
            <a:pPr lvl="1"/>
            <a:r>
              <a:rPr lang="zh-CN" altLang="en-US" dirty="0"/>
              <a:t>推动数字数据增长的重要动力</a:t>
            </a:r>
            <a:endParaRPr lang="en-US" altLang="zh-CN" dirty="0"/>
          </a:p>
          <a:p>
            <a:pPr lvl="2"/>
            <a:r>
              <a:rPr lang="en-US" altLang="zh-CN" dirty="0"/>
              <a:t>Web</a:t>
            </a:r>
            <a:r>
              <a:rPr lang="zh-CN" altLang="en-US" dirty="0"/>
              <a:t> </a:t>
            </a:r>
            <a:r>
              <a:rPr lang="zh-CN" altLang="en-US" dirty="0">
                <a:sym typeface="Wingdings"/>
              </a:rPr>
              <a:t> 搜索引擎</a:t>
            </a:r>
            <a:endParaRPr lang="en-US" altLang="zh-CN" dirty="0">
              <a:sym typeface="Wingdings"/>
            </a:endParaRPr>
          </a:p>
          <a:p>
            <a:pPr lvl="2"/>
            <a:r>
              <a:rPr lang="zh-CN" altLang="en-US" dirty="0">
                <a:sym typeface="Wingdings"/>
              </a:rPr>
              <a:t>社交媒体</a:t>
            </a:r>
            <a:endParaRPr lang="en-US" altLang="zh-CN" dirty="0">
              <a:sym typeface="Wingdings"/>
            </a:endParaRPr>
          </a:p>
          <a:p>
            <a:pPr lvl="2"/>
            <a:r>
              <a:rPr lang="zh-CN" altLang="en-US" dirty="0">
                <a:sym typeface="Wingdings"/>
              </a:rPr>
              <a:t>云计算</a:t>
            </a:r>
            <a:endParaRPr lang="en-US" altLang="zh-CN" dirty="0">
              <a:sym typeface="Wingdings"/>
            </a:endParaRPr>
          </a:p>
          <a:p>
            <a:pPr lvl="1"/>
            <a:r>
              <a:rPr lang="zh-CN" altLang="en-US" sz="2200" dirty="0">
                <a:solidFill>
                  <a:srgbClr val="C00000"/>
                </a:solidFill>
                <a:sym typeface="Wingdings"/>
              </a:rPr>
              <a:t>大数据时代已经到来</a:t>
            </a:r>
            <a:endParaRPr lang="en-US" altLang="zh-CN" sz="2200" dirty="0">
              <a:solidFill>
                <a:srgbClr val="C00000"/>
              </a:solidFill>
            </a:endParaRPr>
          </a:p>
          <a:p>
            <a:pPr lvl="1"/>
            <a:endParaRPr lang="en-US" dirty="0"/>
          </a:p>
        </p:txBody>
      </p:sp>
      <p:pic>
        <p:nvPicPr>
          <p:cNvPr id="4" name="Content Placeholder 5"/>
          <p:cNvPicPr>
            <a:picLocks noChangeAspect="1"/>
          </p:cNvPicPr>
          <p:nvPr/>
        </p:nvPicPr>
        <p:blipFill rotWithShape="1">
          <a:blip r:embed="rId2">
            <a:extLst>
              <a:ext uri="{28A0092B-C50C-407E-A947-70E740481C1C}">
                <a14:useLocalDpi xmlns:a14="http://schemas.microsoft.com/office/drawing/2010/main" val="0"/>
              </a:ext>
            </a:extLst>
          </a:blip>
          <a:srcRect t="1163" b="3502"/>
          <a:stretch/>
        </p:blipFill>
        <p:spPr>
          <a:xfrm>
            <a:off x="4396555" y="1622454"/>
            <a:ext cx="4224234" cy="3020408"/>
          </a:xfrm>
          <a:prstGeom prst="rect">
            <a:avLst/>
          </a:prstGeom>
        </p:spPr>
      </p:pic>
    </p:spTree>
    <p:extLst>
      <p:ext uri="{BB962C8B-B14F-4D97-AF65-F5344CB8AC3E}">
        <p14:creationId xmlns:p14="http://schemas.microsoft.com/office/powerpoint/2010/main" val="30603668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大数据时代</a:t>
            </a:r>
          </a:p>
        </p:txBody>
      </p:sp>
      <p:sp>
        <p:nvSpPr>
          <p:cNvPr id="13" name="Content Placeholder 2"/>
          <p:cNvSpPr>
            <a:spLocks noGrp="1"/>
          </p:cNvSpPr>
          <p:nvPr>
            <p:ph idx="1"/>
          </p:nvPr>
        </p:nvSpPr>
        <p:spPr>
          <a:xfrm>
            <a:off x="457200" y="819150"/>
            <a:ext cx="8229600" cy="3937000"/>
          </a:xfrm>
        </p:spPr>
        <p:txBody>
          <a:bodyPr>
            <a:normAutofit/>
          </a:bodyPr>
          <a:lstStyle/>
          <a:p>
            <a:r>
              <a:rPr lang="zh-CN" altLang="en-US" dirty="0"/>
              <a:t>人们的行为发生了深刻变化</a:t>
            </a:r>
            <a:r>
              <a:rPr lang="en-US" altLang="zh-CN" dirty="0"/>
              <a:t>……</a:t>
            </a:r>
            <a:endParaRPr lang="en-US" dirty="0"/>
          </a:p>
        </p:txBody>
      </p:sp>
      <p:pic>
        <p:nvPicPr>
          <p:cNvPr id="4" name="Content Placeholder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9870" y="1209218"/>
            <a:ext cx="3572540" cy="3600450"/>
          </a:xfrm>
          <a:prstGeom prst="rect">
            <a:avLst/>
          </a:prstGeom>
        </p:spPr>
      </p:pic>
      <p:pic>
        <p:nvPicPr>
          <p:cNvPr id="5"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68422" y="1329686"/>
            <a:ext cx="1485000" cy="1257239"/>
          </a:xfrm>
          <a:prstGeom prst="rect">
            <a:avLst/>
          </a:prstGeom>
        </p:spPr>
      </p:pic>
      <p:sp>
        <p:nvSpPr>
          <p:cNvPr id="6" name="Rectangle 6"/>
          <p:cNvSpPr/>
          <p:nvPr/>
        </p:nvSpPr>
        <p:spPr>
          <a:xfrm>
            <a:off x="4132410" y="2589789"/>
            <a:ext cx="2348880" cy="369332"/>
          </a:xfrm>
          <a:prstGeom prst="rect">
            <a:avLst/>
          </a:prstGeom>
        </p:spPr>
        <p:txBody>
          <a:bodyPr wrap="square">
            <a:spAutoFit/>
          </a:bodyPr>
          <a:lstStyle/>
          <a:p>
            <a:pPr algn="ctr">
              <a:defRPr/>
            </a:pPr>
            <a:r>
              <a:rPr lang="zh-CN" altLang="en-US" dirty="0">
                <a:solidFill>
                  <a:srgbClr val="0000CC"/>
                </a:solidFill>
                <a:latin typeface="Microsoft YaHei" charset="-122"/>
                <a:ea typeface="Microsoft YaHei" charset="-122"/>
                <a:cs typeface="Microsoft YaHei" charset="-122"/>
              </a:rPr>
              <a:t>教宗本笃十六世</a:t>
            </a:r>
            <a:endParaRPr lang="en-US" sz="1500" dirty="0">
              <a:solidFill>
                <a:srgbClr val="0000CC"/>
              </a:solidFill>
              <a:latin typeface="Microsoft YaHei" charset="-122"/>
              <a:ea typeface="Microsoft YaHei" charset="-122"/>
              <a:cs typeface="Microsoft YaHei" charset="-122"/>
            </a:endParaRPr>
          </a:p>
        </p:txBody>
      </p:sp>
      <p:pic>
        <p:nvPicPr>
          <p:cNvPr id="7"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68422" y="3127046"/>
            <a:ext cx="1485000" cy="1233000"/>
          </a:xfrm>
          <a:prstGeom prst="rect">
            <a:avLst/>
          </a:prstGeom>
        </p:spPr>
      </p:pic>
      <p:sp>
        <p:nvSpPr>
          <p:cNvPr id="8" name="Rectangle 8"/>
          <p:cNvSpPr/>
          <p:nvPr/>
        </p:nvSpPr>
        <p:spPr>
          <a:xfrm>
            <a:off x="4132410" y="4440336"/>
            <a:ext cx="2348880" cy="369332"/>
          </a:xfrm>
          <a:prstGeom prst="rect">
            <a:avLst/>
          </a:prstGeom>
        </p:spPr>
        <p:txBody>
          <a:bodyPr wrap="square">
            <a:spAutoFit/>
          </a:bodyPr>
          <a:lstStyle/>
          <a:p>
            <a:pPr algn="ctr">
              <a:defRPr/>
            </a:pPr>
            <a:r>
              <a:rPr lang="zh-CN" altLang="en-US" dirty="0">
                <a:solidFill>
                  <a:srgbClr val="0000CC"/>
                </a:solidFill>
                <a:latin typeface="Microsoft YaHei" charset="-122"/>
                <a:ea typeface="Microsoft YaHei" charset="-122"/>
                <a:cs typeface="Microsoft YaHei" charset="-122"/>
              </a:rPr>
              <a:t>教宗方济各</a:t>
            </a:r>
            <a:endParaRPr lang="en-US" sz="1500" dirty="0">
              <a:solidFill>
                <a:srgbClr val="0000CC"/>
              </a:solidFill>
              <a:latin typeface="Microsoft YaHei" charset="-122"/>
              <a:ea typeface="Microsoft YaHei" charset="-122"/>
              <a:cs typeface="Microsoft YaHei" charset="-122"/>
            </a:endParaRPr>
          </a:p>
        </p:txBody>
      </p:sp>
      <p:sp>
        <p:nvSpPr>
          <p:cNvPr id="9" name="Title 1"/>
          <p:cNvSpPr txBox="1">
            <a:spLocks/>
          </p:cNvSpPr>
          <p:nvPr/>
        </p:nvSpPr>
        <p:spPr>
          <a:xfrm>
            <a:off x="6211238" y="2202955"/>
            <a:ext cx="2788173"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28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20000"/>
              </a:lnSpc>
            </a:pPr>
            <a:r>
              <a:rPr lang="zh-CN" altLang="en-US" dirty="0"/>
              <a:t>数字痕迹</a:t>
            </a:r>
            <a:endParaRPr lang="en-US" altLang="zh-CN" dirty="0"/>
          </a:p>
          <a:p>
            <a:pPr>
              <a:lnSpc>
                <a:spcPct val="120000"/>
              </a:lnSpc>
            </a:pPr>
            <a:r>
              <a:rPr lang="en-US" altLang="zh-CN" dirty="0">
                <a:latin typeface="Calibri" charset="0"/>
                <a:ea typeface="Calibri" charset="0"/>
                <a:cs typeface="Calibri" charset="0"/>
              </a:rPr>
              <a:t>Digital</a:t>
            </a:r>
            <a:r>
              <a:rPr lang="zh-CN" altLang="en-US" dirty="0">
                <a:latin typeface="Calibri" charset="0"/>
                <a:ea typeface="Calibri" charset="0"/>
                <a:cs typeface="Calibri" charset="0"/>
              </a:rPr>
              <a:t> </a:t>
            </a:r>
            <a:r>
              <a:rPr lang="en-US" altLang="zh-CN" dirty="0">
                <a:latin typeface="Calibri" charset="0"/>
                <a:ea typeface="Calibri" charset="0"/>
                <a:cs typeface="Calibri" charset="0"/>
              </a:rPr>
              <a:t>Traces</a:t>
            </a:r>
            <a:endParaRPr lang="en-US" dirty="0"/>
          </a:p>
        </p:txBody>
      </p:sp>
    </p:spTree>
    <p:extLst>
      <p:ext uri="{BB962C8B-B14F-4D97-AF65-F5344CB8AC3E}">
        <p14:creationId xmlns:p14="http://schemas.microsoft.com/office/powerpoint/2010/main" val="33174887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大数据时代</a:t>
            </a:r>
          </a:p>
        </p:txBody>
      </p:sp>
      <p:sp>
        <p:nvSpPr>
          <p:cNvPr id="13" name="Content Placeholder 2"/>
          <p:cNvSpPr>
            <a:spLocks noGrp="1"/>
          </p:cNvSpPr>
          <p:nvPr>
            <p:ph idx="1"/>
          </p:nvPr>
        </p:nvSpPr>
        <p:spPr>
          <a:xfrm>
            <a:off x="457200" y="819150"/>
            <a:ext cx="5821680" cy="3937000"/>
          </a:xfrm>
        </p:spPr>
        <p:txBody>
          <a:bodyPr>
            <a:normAutofit/>
          </a:bodyPr>
          <a:lstStyle/>
          <a:p>
            <a:r>
              <a:rPr lang="zh-CN" altLang="en-US" dirty="0"/>
              <a:t>数字痕迹</a:t>
            </a:r>
            <a:r>
              <a:rPr lang="en-US" altLang="zh-CN" dirty="0"/>
              <a:t>(</a:t>
            </a:r>
            <a:r>
              <a:rPr lang="en-US" altLang="zh-CN" dirty="0">
                <a:latin typeface="Calibri" charset="0"/>
                <a:ea typeface="Calibri" charset="0"/>
                <a:cs typeface="Calibri" charset="0"/>
              </a:rPr>
              <a:t>Digital</a:t>
            </a:r>
            <a:r>
              <a:rPr lang="zh-CN" altLang="en-US" dirty="0">
                <a:latin typeface="Calibri" charset="0"/>
                <a:ea typeface="Calibri" charset="0"/>
                <a:cs typeface="Calibri" charset="0"/>
              </a:rPr>
              <a:t> </a:t>
            </a:r>
            <a:r>
              <a:rPr lang="en-US" altLang="zh-CN" dirty="0">
                <a:latin typeface="Calibri" charset="0"/>
                <a:ea typeface="Calibri" charset="0"/>
                <a:cs typeface="Calibri" charset="0"/>
              </a:rPr>
              <a:t>Traces</a:t>
            </a:r>
            <a:r>
              <a:rPr lang="en-US" altLang="zh-CN" dirty="0"/>
              <a:t>)</a:t>
            </a:r>
          </a:p>
          <a:p>
            <a:pPr lvl="1">
              <a:spcAft>
                <a:spcPts val="1800"/>
              </a:spcAft>
            </a:pPr>
            <a:r>
              <a:rPr lang="zh-CN" altLang="en-US" dirty="0"/>
              <a:t>纽约证交所每个交易日生成 </a:t>
            </a:r>
            <a:r>
              <a:rPr lang="en-US" altLang="zh-CN" dirty="0">
                <a:latin typeface="Calibri" charset="0"/>
                <a:ea typeface="Calibri" charset="0"/>
                <a:cs typeface="Calibri" charset="0"/>
              </a:rPr>
              <a:t>1TB</a:t>
            </a:r>
            <a:r>
              <a:rPr lang="zh-CN" altLang="en-US" dirty="0">
                <a:latin typeface="Calibri" charset="0"/>
                <a:ea typeface="Calibri" charset="0"/>
                <a:cs typeface="Calibri" charset="0"/>
              </a:rPr>
              <a:t> </a:t>
            </a:r>
            <a:r>
              <a:rPr lang="zh-CN" altLang="en-US" dirty="0"/>
              <a:t>的交易数据</a:t>
            </a:r>
            <a:endParaRPr lang="en-US" altLang="zh-CN" dirty="0"/>
          </a:p>
          <a:p>
            <a:pPr lvl="1">
              <a:spcAft>
                <a:spcPts val="1800"/>
              </a:spcAft>
            </a:pPr>
            <a:r>
              <a:rPr lang="en-US" altLang="zh-CN" dirty="0">
                <a:latin typeface="Calibri" charset="0"/>
                <a:ea typeface="Calibri" charset="0"/>
                <a:cs typeface="Calibri" charset="0"/>
              </a:rPr>
              <a:t>Facebook</a:t>
            </a:r>
            <a:r>
              <a:rPr lang="zh-CN" altLang="en-US" dirty="0"/>
              <a:t>每天大概接收用户</a:t>
            </a:r>
            <a:r>
              <a:rPr lang="en-US" altLang="zh-CN" dirty="0">
                <a:latin typeface="Calibri" charset="0"/>
                <a:ea typeface="Calibri" charset="0"/>
                <a:cs typeface="Calibri" charset="0"/>
              </a:rPr>
              <a:t>500+T</a:t>
            </a:r>
            <a:r>
              <a:rPr lang="zh-CN" altLang="en-US" dirty="0"/>
              <a:t>的社交数据，主要是照片、视频、文本消息、评论等</a:t>
            </a:r>
            <a:endParaRPr lang="en-US" altLang="zh-CN" dirty="0"/>
          </a:p>
          <a:p>
            <a:pPr lvl="1">
              <a:spcAft>
                <a:spcPts val="1800"/>
              </a:spcAft>
            </a:pPr>
            <a:r>
              <a:rPr lang="en-US" altLang="zh-CN" dirty="0"/>
              <a:t>2019</a:t>
            </a:r>
            <a:r>
              <a:rPr lang="zh-CN" altLang="en-US" dirty="0"/>
              <a:t>年春晚全球观众参与百度</a:t>
            </a:r>
            <a:r>
              <a:rPr lang="en-US" altLang="zh-CN" dirty="0">
                <a:latin typeface="Calibri" charset="0"/>
                <a:ea typeface="Calibri" charset="0"/>
                <a:cs typeface="Calibri" charset="0"/>
              </a:rPr>
              <a:t>APP</a:t>
            </a:r>
            <a:r>
              <a:rPr lang="zh-CN" altLang="en-US" dirty="0"/>
              <a:t>互动次数达到</a:t>
            </a:r>
            <a:r>
              <a:rPr lang="en-US" altLang="zh-CN" dirty="0">
                <a:latin typeface="Calibri" charset="0"/>
                <a:ea typeface="Calibri" charset="0"/>
                <a:cs typeface="Calibri" charset="0"/>
              </a:rPr>
              <a:t>208</a:t>
            </a:r>
            <a:r>
              <a:rPr lang="zh-CN" altLang="en-US" dirty="0"/>
              <a:t>亿次</a:t>
            </a:r>
          </a:p>
          <a:p>
            <a:endParaRPr lang="en-US" dirty="0"/>
          </a:p>
        </p:txBody>
      </p:sp>
      <p:pic>
        <p:nvPicPr>
          <p:cNvPr id="4" name="Picture 2" descr=" Introduction to BIG DATA: Types, Characteristics &amp; Benefi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39984" y="621393"/>
            <a:ext cx="1917468" cy="127831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8" descr=" Introduction to BIG DATA: Types, Characteristics &amp; Benefit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2347" y="2018268"/>
            <a:ext cx="1932561" cy="122552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837694" y="3306163"/>
            <a:ext cx="1322047" cy="1449987"/>
          </a:xfrm>
          <a:prstGeom prst="rect">
            <a:avLst/>
          </a:prstGeom>
        </p:spPr>
      </p:pic>
      <p:sp>
        <p:nvSpPr>
          <p:cNvPr id="7" name="Rectangle 10"/>
          <p:cNvSpPr/>
          <p:nvPr/>
        </p:nvSpPr>
        <p:spPr>
          <a:xfrm>
            <a:off x="1136360" y="3339046"/>
            <a:ext cx="4924877" cy="1077218"/>
          </a:xfrm>
          <a:prstGeom prst="rect">
            <a:avLst/>
          </a:prstGeom>
        </p:spPr>
        <p:txBody>
          <a:bodyPr wrap="square">
            <a:spAutoFit/>
          </a:bodyPr>
          <a:lstStyle/>
          <a:p>
            <a:pPr algn="ctr">
              <a:defRPr/>
            </a:pPr>
            <a:r>
              <a:rPr lang="zh-CN" altLang="en-US" sz="3200" b="1" dirty="0">
                <a:solidFill>
                  <a:srgbClr val="0000CC"/>
                </a:solidFill>
              </a:rPr>
              <a:t>趋势</a:t>
            </a:r>
            <a:r>
              <a:rPr lang="en-US" altLang="zh-CN" sz="3200" b="1" dirty="0">
                <a:solidFill>
                  <a:srgbClr val="0000CC"/>
                </a:solidFill>
              </a:rPr>
              <a:t>1</a:t>
            </a:r>
            <a:r>
              <a:rPr lang="zh-CN" altLang="en-US" sz="3200" dirty="0">
                <a:solidFill>
                  <a:srgbClr val="0000CC"/>
                </a:solidFill>
              </a:rPr>
              <a:t>：数据比以往任何时候都更容易产生与获取</a:t>
            </a:r>
            <a:endParaRPr lang="en-US" sz="2800" dirty="0">
              <a:solidFill>
                <a:srgbClr val="0000CC"/>
              </a:solidFill>
              <a:latin typeface="+mn-lt"/>
              <a:ea typeface="+mn-ea"/>
              <a:cs typeface="+mn-cs"/>
            </a:endParaRPr>
          </a:p>
        </p:txBody>
      </p:sp>
    </p:spTree>
    <p:extLst>
      <p:ext uri="{BB962C8B-B14F-4D97-AF65-F5344CB8AC3E}">
        <p14:creationId xmlns:p14="http://schemas.microsoft.com/office/powerpoint/2010/main" val="38269605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lang="zh-CN" altLang="en-US" dirty="0"/>
              <a:t>大数据时代</a:t>
            </a:r>
            <a:endParaRPr kumimoji="1" lang="zh-CN" altLang="en-US" dirty="0"/>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r>
              <a:rPr lang="zh-CN" altLang="en-US" dirty="0"/>
              <a:t>“数据驱动”的科学研究</a:t>
            </a:r>
            <a:endParaRPr lang="en-US" altLang="zh-CN" dirty="0"/>
          </a:p>
          <a:p>
            <a:pPr lvl="1"/>
            <a:r>
              <a:rPr lang="en-US" altLang="zh-CN" dirty="0"/>
              <a:t>2007</a:t>
            </a:r>
            <a:r>
              <a:rPr lang="zh-CN" altLang="en-US" dirty="0"/>
              <a:t>年，图灵奖得主</a:t>
            </a:r>
            <a:r>
              <a:rPr lang="en-US" altLang="zh-CN" dirty="0"/>
              <a:t>Jim Gray</a:t>
            </a:r>
            <a:r>
              <a:rPr lang="zh-CN" altLang="en-US" dirty="0"/>
              <a:t>提出数据密集型科学为科学的第四范式</a:t>
            </a:r>
            <a:endParaRPr lang="en-US" altLang="zh-CN" dirty="0"/>
          </a:p>
          <a:p>
            <a:pPr lvl="2"/>
            <a:r>
              <a:rPr lang="en-US" altLang="zh-CN" sz="1400" dirty="0"/>
              <a:t>Empirical(</a:t>
            </a:r>
            <a:r>
              <a:rPr lang="zh-CN" altLang="en-US" sz="1400" dirty="0"/>
              <a:t>实验科学，实验归纳</a:t>
            </a:r>
            <a:r>
              <a:rPr lang="en-US" altLang="zh-CN" sz="1400" dirty="0"/>
              <a:t>)- </a:t>
            </a:r>
            <a:r>
              <a:rPr lang="zh-CN" altLang="en-US" sz="1400" dirty="0"/>
              <a:t>钻木取火</a:t>
            </a:r>
            <a:endParaRPr lang="en-US" altLang="zh-CN" sz="1400" dirty="0"/>
          </a:p>
          <a:p>
            <a:pPr lvl="2"/>
            <a:r>
              <a:rPr lang="en-US" altLang="zh-CN" sz="1400" dirty="0"/>
              <a:t>Theoretical (</a:t>
            </a:r>
            <a:r>
              <a:rPr lang="zh-CN" altLang="en-US" sz="1400" dirty="0"/>
              <a:t>理论科学，归纳总结</a:t>
            </a:r>
            <a:r>
              <a:rPr lang="en-US" altLang="zh-CN" sz="1400" dirty="0"/>
              <a:t>)- </a:t>
            </a:r>
            <a:r>
              <a:rPr lang="zh-CN" altLang="en-US" sz="1400" dirty="0"/>
              <a:t>牛顿三定律</a:t>
            </a:r>
            <a:endParaRPr lang="en-US" altLang="zh-CN" sz="1400" dirty="0"/>
          </a:p>
          <a:p>
            <a:pPr lvl="2"/>
            <a:r>
              <a:rPr lang="en-US" altLang="zh-CN" sz="1400" dirty="0"/>
              <a:t>Computational (</a:t>
            </a:r>
            <a:r>
              <a:rPr lang="zh-CN" altLang="en-US" sz="1400" dirty="0"/>
              <a:t>计算科学，计算机仿真</a:t>
            </a:r>
            <a:r>
              <a:rPr lang="en-US" altLang="zh-CN" sz="1400" dirty="0"/>
              <a:t>)- </a:t>
            </a:r>
            <a:r>
              <a:rPr lang="zh-CN" altLang="en-US" sz="1400" dirty="0"/>
              <a:t>模拟核试验，天气预报</a:t>
            </a:r>
            <a:endParaRPr lang="en-US" altLang="zh-CN" sz="1400" dirty="0"/>
          </a:p>
          <a:p>
            <a:pPr lvl="2"/>
            <a:r>
              <a:rPr lang="en-US" altLang="zh-CN" sz="1400" dirty="0"/>
              <a:t>And now </a:t>
            </a:r>
            <a:r>
              <a:rPr lang="en-US" altLang="zh-CN" sz="1400" dirty="0">
                <a:solidFill>
                  <a:srgbClr val="C00000"/>
                </a:solidFill>
              </a:rPr>
              <a:t>data-driven (data-Intensive)</a:t>
            </a:r>
          </a:p>
          <a:p>
            <a:endParaRPr lang="en-US" altLang="zh-CN" dirty="0"/>
          </a:p>
          <a:p>
            <a:endParaRPr kumimoji="1" lang="en-US" altLang="zh-CN" dirty="0"/>
          </a:p>
        </p:txBody>
      </p:sp>
      <p:pic>
        <p:nvPicPr>
          <p:cNvPr id="6" name="Picture 2" descr="https://ss0.baidu.com/6ONWsjip0QIZ8tyhnq/it/u=1786672278,1858521916&amp;fm=58&amp;bpow=433&amp;bpoh=53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2892" y="2501254"/>
            <a:ext cx="1663306" cy="1924487"/>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p:cNvSpPr/>
          <p:nvPr/>
        </p:nvSpPr>
        <p:spPr>
          <a:xfrm>
            <a:off x="371428" y="2724834"/>
            <a:ext cx="6070862" cy="1477328"/>
          </a:xfrm>
          <a:prstGeom prst="rect">
            <a:avLst/>
          </a:prstGeom>
          <a:solidFill>
            <a:schemeClr val="accent3">
              <a:lumMod val="20000"/>
              <a:lumOff val="80000"/>
            </a:schemeClr>
          </a:solidFill>
          <a:ln>
            <a:solidFill>
              <a:schemeClr val="accent1"/>
            </a:solidFill>
          </a:ln>
        </p:spPr>
        <p:txBody>
          <a:bodyPr wrap="square">
            <a:spAutoFit/>
          </a:bodyPr>
          <a:lstStyle/>
          <a:p>
            <a:pPr marL="61913" algn="just">
              <a:spcBef>
                <a:spcPts val="450"/>
              </a:spcBef>
              <a:buClr>
                <a:schemeClr val="accent1"/>
              </a:buClr>
              <a:buSzPct val="80000"/>
            </a:pPr>
            <a:r>
              <a:rPr lang="en-US" altLang="zh-CN" dirty="0">
                <a:latin typeface="Calibri" charset="0"/>
                <a:ea typeface="Calibri" charset="0"/>
                <a:cs typeface="Calibri" charset="0"/>
              </a:rPr>
              <a:t>Data-driven science is the "</a:t>
            </a:r>
            <a:r>
              <a:rPr lang="en-US" altLang="zh-CN" dirty="0">
                <a:solidFill>
                  <a:srgbClr val="00B050"/>
                </a:solidFill>
                <a:latin typeface="Calibri" charset="0"/>
                <a:ea typeface="Calibri" charset="0"/>
                <a:cs typeface="Calibri" charset="0"/>
              </a:rPr>
              <a:t>fourth paradigm</a:t>
            </a:r>
            <a:r>
              <a:rPr lang="en-US" altLang="zh-CN" dirty="0">
                <a:latin typeface="Calibri" charset="0"/>
                <a:ea typeface="Calibri" charset="0"/>
                <a:cs typeface="Calibri" charset="0"/>
              </a:rPr>
              <a:t>" of science that uses the </a:t>
            </a:r>
            <a:r>
              <a:rPr lang="en-US" altLang="zh-CN" dirty="0">
                <a:solidFill>
                  <a:srgbClr val="00B050"/>
                </a:solidFill>
                <a:latin typeface="Calibri" charset="0"/>
                <a:ea typeface="Calibri" charset="0"/>
                <a:cs typeface="Calibri" charset="0"/>
              </a:rPr>
              <a:t>computational analysis of large data </a:t>
            </a:r>
            <a:r>
              <a:rPr lang="en-US" altLang="zh-CN" dirty="0">
                <a:latin typeface="Calibri" charset="0"/>
                <a:ea typeface="Calibri" charset="0"/>
                <a:cs typeface="Calibri" charset="0"/>
              </a:rPr>
              <a:t>as primary scientific method and "to have a world in which all of the science literature is online, all of the science data is online, and they interoperate with each other ".</a:t>
            </a:r>
            <a:endParaRPr lang="en-US" altLang="zh-CN" sz="1500" dirty="0">
              <a:solidFill>
                <a:srgbClr val="0000CC"/>
              </a:solidFill>
              <a:latin typeface="Calibri" charset="0"/>
              <a:ea typeface="Calibri" charset="0"/>
              <a:cs typeface="Calibri" charset="0"/>
            </a:endParaRPr>
          </a:p>
        </p:txBody>
      </p:sp>
    </p:spTree>
    <p:extLst>
      <p:ext uri="{BB962C8B-B14F-4D97-AF65-F5344CB8AC3E}">
        <p14:creationId xmlns:p14="http://schemas.microsoft.com/office/powerpoint/2010/main" val="20758760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lang="zh-CN" altLang="en-US" dirty="0"/>
              <a:t>大数据时代</a:t>
            </a:r>
            <a:endParaRPr kumimoji="1" lang="zh-CN" altLang="en-US" dirty="0"/>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r>
              <a:rPr lang="zh-CN" altLang="en-US" dirty="0"/>
              <a:t>计算社会科学</a:t>
            </a:r>
            <a:endParaRPr lang="en-US" altLang="zh-CN" dirty="0"/>
          </a:p>
          <a:p>
            <a:pPr lvl="1"/>
            <a:r>
              <a:rPr lang="zh-CN" altLang="en-US" dirty="0"/>
              <a:t>数据驱动的社会科学 </a:t>
            </a:r>
            <a:r>
              <a:rPr lang="en-US" altLang="zh-CN" dirty="0"/>
              <a:t>Data-Driven Social Science</a:t>
            </a:r>
          </a:p>
          <a:p>
            <a:pPr lvl="2"/>
            <a:r>
              <a:rPr lang="zh-CN" altLang="en-US" dirty="0"/>
              <a:t>从海量数据挖掘中理解社会现象的有价知识</a:t>
            </a:r>
            <a:endParaRPr lang="en-US" altLang="zh-CN" dirty="0"/>
          </a:p>
          <a:p>
            <a:pPr lvl="2"/>
            <a:r>
              <a:rPr lang="zh-CN" altLang="en-US" dirty="0"/>
              <a:t>综合应用社会科学和计算技术解释社会现象</a:t>
            </a:r>
            <a:endParaRPr lang="en-US" altLang="zh-CN" dirty="0"/>
          </a:p>
          <a:p>
            <a:endParaRPr kumimoji="1" lang="en-US" altLang="zh-CN" dirty="0"/>
          </a:p>
        </p:txBody>
      </p:sp>
      <p:pic>
        <p:nvPicPr>
          <p:cNvPr id="4" name="Picture 3"/>
          <p:cNvPicPr>
            <a:picLocks noChangeAspect="1"/>
          </p:cNvPicPr>
          <p:nvPr/>
        </p:nvPicPr>
        <p:blipFill rotWithShape="1">
          <a:blip r:embed="rId2" cstate="print">
            <a:extLst>
              <a:ext uri="{28A0092B-C50C-407E-A947-70E740481C1C}">
                <a14:useLocalDpi xmlns:a14="http://schemas.microsoft.com/office/drawing/2010/main" val="0"/>
              </a:ext>
            </a:extLst>
          </a:blip>
          <a:srcRect b="3294"/>
          <a:stretch/>
        </p:blipFill>
        <p:spPr>
          <a:xfrm>
            <a:off x="612883" y="2295990"/>
            <a:ext cx="5184187" cy="2122263"/>
          </a:xfrm>
          <a:prstGeom prst="rect">
            <a:avLst/>
          </a:prstGeom>
        </p:spPr>
      </p:pic>
      <p:sp>
        <p:nvSpPr>
          <p:cNvPr id="5" name="Rectangle 4"/>
          <p:cNvSpPr/>
          <p:nvPr/>
        </p:nvSpPr>
        <p:spPr>
          <a:xfrm>
            <a:off x="6178142" y="2508468"/>
            <a:ext cx="2584533" cy="1815882"/>
          </a:xfrm>
          <a:prstGeom prst="rect">
            <a:avLst/>
          </a:prstGeom>
          <a:solidFill>
            <a:schemeClr val="accent3">
              <a:lumMod val="20000"/>
              <a:lumOff val="80000"/>
            </a:schemeClr>
          </a:solidFill>
          <a:ln>
            <a:solidFill>
              <a:schemeClr val="accent1"/>
            </a:solidFill>
          </a:ln>
        </p:spPr>
        <p:txBody>
          <a:bodyPr wrap="square">
            <a:spAutoFit/>
          </a:bodyPr>
          <a:lstStyle/>
          <a:p>
            <a:pPr>
              <a:defRPr/>
            </a:pPr>
            <a:r>
              <a:rPr lang="zh-CN" altLang="en-US" sz="1600" dirty="0">
                <a:latin typeface="STZhongsong" charset="-122"/>
                <a:ea typeface="STZhongsong" charset="-122"/>
                <a:cs typeface="STZhongsong" charset="-122"/>
              </a:rPr>
              <a:t>左图是</a:t>
            </a:r>
            <a:r>
              <a:rPr lang="en-US" altLang="zh-CN" sz="1600" dirty="0">
                <a:latin typeface="Calibri" charset="0"/>
                <a:ea typeface="Calibri" charset="0"/>
                <a:cs typeface="Calibri" charset="0"/>
              </a:rPr>
              <a:t>2004</a:t>
            </a:r>
            <a:r>
              <a:rPr lang="zh-CN" altLang="en-US" sz="1600" dirty="0">
                <a:latin typeface="STZhongsong" charset="-122"/>
                <a:ea typeface="STZhongsong" charset="-122"/>
                <a:cs typeface="STZhongsong" charset="-122"/>
              </a:rPr>
              <a:t>年美国大选前，政治博客之间的链接网络。</a:t>
            </a:r>
            <a:endParaRPr lang="en-US" altLang="zh-CN" sz="1600" dirty="0">
              <a:latin typeface="STZhongsong" charset="-122"/>
              <a:ea typeface="STZhongsong" charset="-122"/>
              <a:cs typeface="STZhongsong" charset="-122"/>
            </a:endParaRPr>
          </a:p>
          <a:p>
            <a:pPr>
              <a:defRPr/>
            </a:pPr>
            <a:endParaRPr lang="en-US" altLang="zh-CN" sz="1600" dirty="0">
              <a:solidFill>
                <a:srgbClr val="0000CC"/>
              </a:solidFill>
              <a:latin typeface="STZhongsong" charset="-122"/>
              <a:ea typeface="STZhongsong" charset="-122"/>
              <a:cs typeface="STZhongsong" charset="-122"/>
            </a:endParaRPr>
          </a:p>
          <a:p>
            <a:pPr>
              <a:defRPr/>
            </a:pPr>
            <a:r>
              <a:rPr lang="zh-CN" altLang="en-US" sz="1600" dirty="0">
                <a:solidFill>
                  <a:srgbClr val="0000CC"/>
                </a:solidFill>
                <a:latin typeface="STZhongsong" charset="-122"/>
                <a:ea typeface="STZhongsong" charset="-122"/>
                <a:cs typeface="STZhongsong" charset="-122"/>
              </a:rPr>
              <a:t>你能发现什么特点？</a:t>
            </a:r>
            <a:endParaRPr lang="en-US" altLang="zh-CN" sz="1600" dirty="0">
              <a:latin typeface="STZhongsong" charset="-122"/>
              <a:ea typeface="STZhongsong" charset="-122"/>
              <a:cs typeface="STZhongsong" charset="-122"/>
            </a:endParaRPr>
          </a:p>
          <a:p>
            <a:pPr>
              <a:defRPr/>
            </a:pPr>
            <a:r>
              <a:rPr lang="zh-CN" altLang="en-US" sz="1600" dirty="0">
                <a:latin typeface="STZhongsong" charset="-122"/>
                <a:ea typeface="STZhongsong" charset="-122"/>
                <a:cs typeface="STZhongsong" charset="-122"/>
              </a:rPr>
              <a:t>注：</a:t>
            </a:r>
            <a:r>
              <a:rPr lang="zh-CN" altLang="en-US" sz="1600" dirty="0">
                <a:solidFill>
                  <a:srgbClr val="FF0000"/>
                </a:solidFill>
                <a:latin typeface="STZhongsong" charset="-122"/>
                <a:ea typeface="STZhongsong" charset="-122"/>
                <a:cs typeface="STZhongsong" charset="-122"/>
              </a:rPr>
              <a:t>红色</a:t>
            </a:r>
            <a:r>
              <a:rPr lang="zh-CN" altLang="en-US" sz="1600" dirty="0">
                <a:latin typeface="STZhongsong" charset="-122"/>
                <a:ea typeface="STZhongsong" charset="-122"/>
                <a:cs typeface="STZhongsong" charset="-122"/>
              </a:rPr>
              <a:t>代表支持民主党，而</a:t>
            </a:r>
            <a:r>
              <a:rPr lang="zh-CN" altLang="en-US" sz="1600" dirty="0">
                <a:solidFill>
                  <a:srgbClr val="0000CC"/>
                </a:solidFill>
                <a:latin typeface="STZhongsong" charset="-122"/>
                <a:ea typeface="STZhongsong" charset="-122"/>
                <a:cs typeface="STZhongsong" charset="-122"/>
              </a:rPr>
              <a:t>蓝色</a:t>
            </a:r>
            <a:r>
              <a:rPr lang="zh-CN" altLang="en-US" sz="1600" dirty="0">
                <a:latin typeface="STZhongsong" charset="-122"/>
                <a:ea typeface="STZhongsong" charset="-122"/>
                <a:cs typeface="STZhongsong" charset="-122"/>
              </a:rPr>
              <a:t>代表支持共和党</a:t>
            </a:r>
            <a:endParaRPr lang="en-US" altLang="zh-CN" sz="1600" dirty="0">
              <a:latin typeface="STZhongsong" charset="-122"/>
              <a:ea typeface="STZhongsong" charset="-122"/>
              <a:cs typeface="STZhongsong" charset="-122"/>
            </a:endParaRPr>
          </a:p>
          <a:p>
            <a:pPr>
              <a:defRPr/>
            </a:pPr>
            <a:endParaRPr lang="en-US" sz="1600" dirty="0">
              <a:solidFill>
                <a:srgbClr val="0000CC"/>
              </a:solidFill>
              <a:latin typeface="STZhongsong" charset="-122"/>
              <a:ea typeface="STZhongsong" charset="-122"/>
              <a:cs typeface="STZhongsong" charset="-122"/>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7345495" y="1811438"/>
            <a:ext cx="582730" cy="582730"/>
          </a:xfrm>
          <a:prstGeom prst="rect">
            <a:avLst/>
          </a:prstGeom>
        </p:spPr>
      </p:pic>
    </p:spTree>
    <p:extLst>
      <p:ext uri="{BB962C8B-B14F-4D97-AF65-F5344CB8AC3E}">
        <p14:creationId xmlns:p14="http://schemas.microsoft.com/office/powerpoint/2010/main" val="33571225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大数据时代</a:t>
            </a:r>
          </a:p>
        </p:txBody>
      </p:sp>
      <p:sp>
        <p:nvSpPr>
          <p:cNvPr id="13" name="Content Placeholder 2"/>
          <p:cNvSpPr>
            <a:spLocks noGrp="1"/>
          </p:cNvSpPr>
          <p:nvPr>
            <p:ph idx="1"/>
          </p:nvPr>
        </p:nvSpPr>
        <p:spPr>
          <a:xfrm>
            <a:off x="457199" y="819150"/>
            <a:ext cx="4891635" cy="3937000"/>
          </a:xfrm>
        </p:spPr>
        <p:txBody>
          <a:bodyPr>
            <a:normAutofit/>
          </a:bodyPr>
          <a:lstStyle/>
          <a:p>
            <a:pPr algn="just">
              <a:lnSpc>
                <a:spcPct val="110000"/>
              </a:lnSpc>
            </a:pPr>
            <a:r>
              <a:rPr lang="zh-CN" altLang="en-US" dirty="0"/>
              <a:t>这个世界变得越来越“数据驱动”</a:t>
            </a:r>
            <a:endParaRPr lang="en-US" altLang="zh-CN" dirty="0"/>
          </a:p>
          <a:p>
            <a:pPr lvl="1" algn="just">
              <a:lnSpc>
                <a:spcPct val="110000"/>
              </a:lnSpc>
            </a:pPr>
            <a:r>
              <a:rPr lang="zh-CN" altLang="en-US" dirty="0"/>
              <a:t>智能推荐</a:t>
            </a:r>
            <a:endParaRPr lang="en-US" altLang="zh-CN" dirty="0"/>
          </a:p>
          <a:p>
            <a:pPr lvl="2" algn="just">
              <a:lnSpc>
                <a:spcPct val="110000"/>
              </a:lnSpc>
            </a:pPr>
            <a:r>
              <a:rPr lang="zh-CN" altLang="en-US" dirty="0"/>
              <a:t>信息的极度爆炸，使得人们找到他们需要的信息变得越来越难</a:t>
            </a:r>
            <a:endParaRPr lang="en-US" altLang="zh-CN" dirty="0"/>
          </a:p>
          <a:p>
            <a:pPr lvl="2" algn="just">
              <a:lnSpc>
                <a:spcPct val="110000"/>
              </a:lnSpc>
            </a:pPr>
            <a:r>
              <a:rPr lang="zh-CN" altLang="en-US" dirty="0"/>
              <a:t>面对海量的数据，用户需要更加智能的、更加了解他们需求、口味和喜好的信息发现机制，于是推荐系统应运而生</a:t>
            </a:r>
            <a:endParaRPr lang="en-US" altLang="zh-CN" dirty="0"/>
          </a:p>
          <a:p>
            <a:pPr lvl="2" algn="just">
              <a:lnSpc>
                <a:spcPct val="110000"/>
              </a:lnSpc>
            </a:pPr>
            <a:r>
              <a:rPr lang="zh-CN" altLang="en-US" dirty="0"/>
              <a:t>推荐算法能够根据用户的喜好，向用户推荐商品或者服务。在电子商务 </a:t>
            </a:r>
            <a:r>
              <a:rPr lang="en-US" altLang="zh-CN" dirty="0"/>
              <a:t>(E-commerce</a:t>
            </a:r>
            <a:r>
              <a:rPr lang="zh-CN" altLang="en-US" dirty="0"/>
              <a:t>，比如</a:t>
            </a:r>
            <a:r>
              <a:rPr lang="en-US" altLang="zh-CN" dirty="0"/>
              <a:t>Amazon</a:t>
            </a:r>
            <a:r>
              <a:rPr lang="zh-CN" altLang="en-US" dirty="0"/>
              <a:t>等</a:t>
            </a:r>
            <a:r>
              <a:rPr lang="en-US" altLang="zh-CN" dirty="0"/>
              <a:t>)</a:t>
            </a:r>
            <a:r>
              <a:rPr lang="zh-CN" altLang="en-US" dirty="0"/>
              <a:t>网站、音乐、电影、和图书分享网站，推荐引擎取得了巨大的成功。</a:t>
            </a:r>
          </a:p>
          <a:p>
            <a:pPr lvl="1" algn="just">
              <a:lnSpc>
                <a:spcPct val="110000"/>
              </a:lnSpc>
            </a:pPr>
            <a:endParaRPr lang="zh-CN" altLang="en-US" dirty="0"/>
          </a:p>
          <a:p>
            <a:pPr algn="just">
              <a:lnSpc>
                <a:spcPct val="110000"/>
              </a:lnSpc>
            </a:pPr>
            <a:endParaRPr lang="en-US" altLang="zh-CN" dirty="0"/>
          </a:p>
          <a:p>
            <a:pPr algn="just">
              <a:lnSpc>
                <a:spcPct val="110000"/>
              </a:lnSpc>
            </a:pPr>
            <a:endParaRPr lang="en-US" dirty="0"/>
          </a:p>
        </p:txBody>
      </p:sp>
      <p:pic>
        <p:nvPicPr>
          <p:cNvPr id="4"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44194" y="933232"/>
            <a:ext cx="3085913" cy="1771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3044" y="3004084"/>
            <a:ext cx="3230373" cy="1752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768933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lang="zh-CN" altLang="en-US" dirty="0"/>
              <a:t>大数据时代</a:t>
            </a:r>
            <a:endParaRPr kumimoji="1" lang="zh-CN" altLang="en-US" dirty="0"/>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r>
              <a:rPr lang="zh-CN" altLang="en-US" dirty="0"/>
              <a:t>数据驱动的决策支持</a:t>
            </a:r>
            <a:endParaRPr kumimoji="1" lang="en-US" altLang="zh-CN" dirty="0"/>
          </a:p>
        </p:txBody>
      </p:sp>
      <p:pic>
        <p:nvPicPr>
          <p:cNvPr id="4"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4340" y="1245125"/>
            <a:ext cx="1597078" cy="1592475"/>
          </a:xfrm>
          <a:prstGeom prst="rect">
            <a:avLst/>
          </a:prstGeom>
        </p:spPr>
      </p:pic>
      <p:sp>
        <p:nvSpPr>
          <p:cNvPr id="5" name="Rectangle 5"/>
          <p:cNvSpPr/>
          <p:nvPr/>
        </p:nvSpPr>
        <p:spPr>
          <a:xfrm>
            <a:off x="1193801" y="2890517"/>
            <a:ext cx="2124108" cy="830997"/>
          </a:xfrm>
          <a:prstGeom prst="rect">
            <a:avLst/>
          </a:prstGeom>
        </p:spPr>
        <p:txBody>
          <a:bodyPr wrap="square">
            <a:spAutoFit/>
          </a:bodyPr>
          <a:lstStyle/>
          <a:p>
            <a:pPr algn="ctr">
              <a:defRPr/>
            </a:pPr>
            <a:r>
              <a:rPr lang="zh-CN" altLang="en-US" dirty="0">
                <a:latin typeface="Microsoft YaHei" charset="-122"/>
                <a:ea typeface="Microsoft YaHei" charset="-122"/>
                <a:cs typeface="Microsoft YaHei" charset="-122"/>
              </a:rPr>
              <a:t>传统的企业</a:t>
            </a:r>
            <a:endParaRPr lang="en-US" altLang="zh-CN" dirty="0">
              <a:latin typeface="Microsoft YaHei" charset="-122"/>
              <a:ea typeface="Microsoft YaHei" charset="-122"/>
              <a:cs typeface="Microsoft YaHei" charset="-122"/>
            </a:endParaRPr>
          </a:p>
          <a:p>
            <a:pPr algn="ctr">
              <a:defRPr/>
            </a:pPr>
            <a:r>
              <a:rPr lang="zh-CN" altLang="en-US" sz="1500" dirty="0">
                <a:latin typeface="Microsoft YaHei" charset="-122"/>
                <a:ea typeface="Microsoft YaHei" charset="-122"/>
                <a:cs typeface="Microsoft YaHei" charset="-122"/>
              </a:rPr>
              <a:t>数据只有数据库管理员或</a:t>
            </a:r>
            <a:r>
              <a:rPr lang="en-US" altLang="zh-CN" sz="1500" dirty="0">
                <a:latin typeface="Microsoft YaHei" charset="-122"/>
                <a:ea typeface="Microsoft YaHei" charset="-122"/>
                <a:cs typeface="Microsoft YaHei" charset="-122"/>
              </a:rPr>
              <a:t>CIO</a:t>
            </a:r>
            <a:r>
              <a:rPr lang="zh-CN" altLang="en-US" sz="1500" dirty="0">
                <a:latin typeface="Microsoft YaHei" charset="-122"/>
                <a:ea typeface="Microsoft YaHei" charset="-122"/>
                <a:cs typeface="Microsoft YaHei" charset="-122"/>
              </a:rPr>
              <a:t>关心</a:t>
            </a:r>
            <a:endParaRPr lang="en-US" sz="1500" dirty="0">
              <a:latin typeface="Microsoft YaHei" charset="-122"/>
              <a:ea typeface="Microsoft YaHei" charset="-122"/>
              <a:cs typeface="Microsoft YaHei" charset="-122"/>
            </a:endParaRPr>
          </a:p>
        </p:txBody>
      </p:sp>
      <p:pic>
        <p:nvPicPr>
          <p:cNvPr id="6"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4686" y="1188996"/>
            <a:ext cx="2111311" cy="1701521"/>
          </a:xfrm>
          <a:prstGeom prst="rect">
            <a:avLst/>
          </a:prstGeom>
        </p:spPr>
      </p:pic>
      <p:sp>
        <p:nvSpPr>
          <p:cNvPr id="7" name="Rectangle 7"/>
          <p:cNvSpPr/>
          <p:nvPr/>
        </p:nvSpPr>
        <p:spPr>
          <a:xfrm>
            <a:off x="5690915" y="2890516"/>
            <a:ext cx="2318852" cy="830997"/>
          </a:xfrm>
          <a:prstGeom prst="rect">
            <a:avLst/>
          </a:prstGeom>
        </p:spPr>
        <p:txBody>
          <a:bodyPr wrap="square">
            <a:spAutoFit/>
          </a:bodyPr>
          <a:lstStyle/>
          <a:p>
            <a:pPr algn="ctr">
              <a:defRPr/>
            </a:pPr>
            <a:r>
              <a:rPr lang="zh-CN" altLang="en-US" dirty="0">
                <a:latin typeface="Microsoft YaHei" charset="-122"/>
                <a:ea typeface="Microsoft YaHei" charset="-122"/>
                <a:cs typeface="Microsoft YaHei" charset="-122"/>
              </a:rPr>
              <a:t>今天的企业</a:t>
            </a:r>
            <a:endParaRPr lang="en-US" altLang="zh-CN" dirty="0">
              <a:latin typeface="Microsoft YaHei" charset="-122"/>
              <a:ea typeface="Microsoft YaHei" charset="-122"/>
              <a:cs typeface="Microsoft YaHei" charset="-122"/>
            </a:endParaRPr>
          </a:p>
          <a:p>
            <a:pPr algn="ctr">
              <a:defRPr/>
            </a:pPr>
            <a:r>
              <a:rPr lang="zh-CN" altLang="en-US" sz="1500" dirty="0">
                <a:latin typeface="Microsoft YaHei" charset="-122"/>
                <a:ea typeface="Microsoft YaHei" charset="-122"/>
                <a:cs typeface="Microsoft YaHei" charset="-122"/>
              </a:rPr>
              <a:t>数据是企业的核心，所有事情都越来越数据驱动</a:t>
            </a:r>
            <a:endParaRPr lang="en-US" sz="1500" dirty="0">
              <a:latin typeface="Microsoft YaHei" charset="-122"/>
              <a:ea typeface="Microsoft YaHei" charset="-122"/>
              <a:cs typeface="Microsoft YaHei" charset="-122"/>
            </a:endParaRPr>
          </a:p>
        </p:txBody>
      </p:sp>
      <p:sp>
        <p:nvSpPr>
          <p:cNvPr id="8" name="Right Arrow 8"/>
          <p:cNvSpPr/>
          <p:nvPr/>
        </p:nvSpPr>
        <p:spPr>
          <a:xfrm>
            <a:off x="4306626" y="1662684"/>
            <a:ext cx="697583" cy="754144"/>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9" name="Rectangle 3"/>
          <p:cNvSpPr/>
          <p:nvPr/>
        </p:nvSpPr>
        <p:spPr>
          <a:xfrm>
            <a:off x="1598530" y="3831748"/>
            <a:ext cx="5754435" cy="1077218"/>
          </a:xfrm>
          <a:prstGeom prst="rect">
            <a:avLst/>
          </a:prstGeom>
        </p:spPr>
        <p:txBody>
          <a:bodyPr wrap="square">
            <a:spAutoFit/>
          </a:bodyPr>
          <a:lstStyle/>
          <a:p>
            <a:pPr algn="ctr">
              <a:defRPr/>
            </a:pPr>
            <a:r>
              <a:rPr lang="zh-CN" altLang="en-US" sz="3200" b="1" dirty="0">
                <a:solidFill>
                  <a:srgbClr val="0000CC"/>
                </a:solidFill>
              </a:rPr>
              <a:t>趋势</a:t>
            </a:r>
            <a:r>
              <a:rPr lang="en-US" altLang="zh-CN" sz="3200" b="1" dirty="0">
                <a:solidFill>
                  <a:srgbClr val="0000CC"/>
                </a:solidFill>
              </a:rPr>
              <a:t>2</a:t>
            </a:r>
            <a:r>
              <a:rPr lang="zh-CN" altLang="en-US" sz="3200" dirty="0">
                <a:solidFill>
                  <a:srgbClr val="0000CC"/>
                </a:solidFill>
              </a:rPr>
              <a:t>：人们的决策比以往任何时候都更基于数据驱动</a:t>
            </a:r>
            <a:endParaRPr lang="en-US" sz="2800" dirty="0">
              <a:solidFill>
                <a:srgbClr val="0000CC"/>
              </a:solidFill>
              <a:latin typeface="+mn-lt"/>
              <a:ea typeface="+mn-ea"/>
              <a:cs typeface="+mn-cs"/>
            </a:endParaRPr>
          </a:p>
        </p:txBody>
      </p:sp>
    </p:spTree>
    <p:extLst>
      <p:ext uri="{BB962C8B-B14F-4D97-AF65-F5344CB8AC3E}">
        <p14:creationId xmlns:p14="http://schemas.microsoft.com/office/powerpoint/2010/main" val="39507679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lang="zh-CN" altLang="en-US" dirty="0"/>
              <a:t>大数据时代</a:t>
            </a:r>
            <a:endParaRPr kumimoji="1" lang="zh-CN" altLang="en-US" dirty="0"/>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r>
              <a:rPr lang="zh-CN" altLang="en-US" sz="1800" dirty="0"/>
              <a:t>人们处理数据的能力与日俱增</a:t>
            </a:r>
            <a:endParaRPr lang="en-US" altLang="zh-CN" sz="1800" dirty="0"/>
          </a:p>
          <a:p>
            <a:endParaRPr lang="en-US" altLang="zh-CN" sz="1800" dirty="0"/>
          </a:p>
        </p:txBody>
      </p:sp>
      <p:pic>
        <p:nvPicPr>
          <p:cNvPr id="6"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5928" y="1309936"/>
            <a:ext cx="4564758" cy="3381940"/>
          </a:xfrm>
          <a:prstGeom prst="rect">
            <a:avLst/>
          </a:prstGeom>
        </p:spPr>
      </p:pic>
      <p:sp>
        <p:nvSpPr>
          <p:cNvPr id="7" name="Rectangle 4"/>
          <p:cNvSpPr/>
          <p:nvPr/>
        </p:nvSpPr>
        <p:spPr>
          <a:xfrm>
            <a:off x="6277429" y="2160173"/>
            <a:ext cx="2206695" cy="646331"/>
          </a:xfrm>
          <a:prstGeom prst="rect">
            <a:avLst/>
          </a:prstGeom>
        </p:spPr>
        <p:txBody>
          <a:bodyPr wrap="square">
            <a:spAutoFit/>
          </a:bodyPr>
          <a:lstStyle/>
          <a:p>
            <a:r>
              <a:rPr lang="zh-CN" altLang="en-US" dirty="0">
                <a:latin typeface="Microsoft YaHei" charset="-122"/>
                <a:ea typeface="Microsoft YaHei" charset="-122"/>
                <a:cs typeface="Microsoft YaHei" charset="-122"/>
              </a:rPr>
              <a:t>从计算机的视野看数据科学与大数据 </a:t>
            </a:r>
          </a:p>
        </p:txBody>
      </p:sp>
    </p:spTree>
    <p:extLst>
      <p:ext uri="{BB962C8B-B14F-4D97-AF65-F5344CB8AC3E}">
        <p14:creationId xmlns:p14="http://schemas.microsoft.com/office/powerpoint/2010/main" val="20738496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lang="zh-CN" altLang="en-US" dirty="0"/>
              <a:t>大数据时代</a:t>
            </a:r>
            <a:endParaRPr kumimoji="1" lang="zh-CN" altLang="en-US" dirty="0"/>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r>
              <a:rPr lang="zh-CN" altLang="en-US" dirty="0"/>
              <a:t>编程语言 </a:t>
            </a:r>
            <a:endParaRPr kumimoji="1" lang="en-US" altLang="zh-CN" dirty="0"/>
          </a:p>
        </p:txBody>
      </p:sp>
      <p:pic>
        <p:nvPicPr>
          <p:cNvPr id="4"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6328" y="1234879"/>
            <a:ext cx="4383335" cy="2529840"/>
          </a:xfrm>
          <a:prstGeom prst="rect">
            <a:avLst/>
          </a:prstGeom>
        </p:spPr>
      </p:pic>
      <p:pic>
        <p:nvPicPr>
          <p:cNvPr id="5" name="图片 4">
            <a:extLst>
              <a:ext uri="{FF2B5EF4-FFF2-40B4-BE49-F238E27FC236}">
                <a16:creationId xmlns:a16="http://schemas.microsoft.com/office/drawing/2014/main" id="{6602E45E-1955-43C4-990D-53EF312772C9}"/>
              </a:ext>
            </a:extLst>
          </p:cNvPr>
          <p:cNvPicPr>
            <a:picLocks noChangeAspect="1"/>
          </p:cNvPicPr>
          <p:nvPr/>
        </p:nvPicPr>
        <p:blipFill>
          <a:blip r:embed="rId3"/>
          <a:stretch>
            <a:fillRect/>
          </a:stretch>
        </p:blipFill>
        <p:spPr>
          <a:xfrm>
            <a:off x="5098241" y="2425387"/>
            <a:ext cx="3648085" cy="2330763"/>
          </a:xfrm>
          <a:prstGeom prst="rect">
            <a:avLst/>
          </a:prstGeom>
        </p:spPr>
      </p:pic>
      <p:sp>
        <p:nvSpPr>
          <p:cNvPr id="6" name="文本框 5">
            <a:extLst>
              <a:ext uri="{FF2B5EF4-FFF2-40B4-BE49-F238E27FC236}">
                <a16:creationId xmlns:a16="http://schemas.microsoft.com/office/drawing/2014/main" id="{8926CDE6-8AC4-4FD1-B710-1796314A39D9}"/>
              </a:ext>
            </a:extLst>
          </p:cNvPr>
          <p:cNvSpPr txBox="1"/>
          <p:nvPr/>
        </p:nvSpPr>
        <p:spPr>
          <a:xfrm>
            <a:off x="5135873" y="1711675"/>
            <a:ext cx="3767137" cy="369332"/>
          </a:xfrm>
          <a:prstGeom prst="rect">
            <a:avLst/>
          </a:prstGeom>
          <a:solidFill>
            <a:schemeClr val="accent3">
              <a:lumMod val="20000"/>
              <a:lumOff val="80000"/>
            </a:schemeClr>
          </a:solidFill>
          <a:ln>
            <a:solidFill>
              <a:srgbClr val="C00000"/>
            </a:solidFill>
          </a:ln>
        </p:spPr>
        <p:txBody>
          <a:bodyPr wrap="square">
            <a:spAutoFit/>
          </a:bodyPr>
          <a:lstStyle/>
          <a:p>
            <a:r>
              <a:rPr lang="zh-CN" altLang="en-US" dirty="0">
                <a:hlinkClick r:id="rId4"/>
              </a:rPr>
              <a:t>https://www.tiobe.com/tiobe-index/</a:t>
            </a:r>
            <a:endParaRPr lang="zh-CN" altLang="en-US" dirty="0"/>
          </a:p>
        </p:txBody>
      </p:sp>
    </p:spTree>
    <p:extLst>
      <p:ext uri="{BB962C8B-B14F-4D97-AF65-F5344CB8AC3E}">
        <p14:creationId xmlns:p14="http://schemas.microsoft.com/office/powerpoint/2010/main" val="2296010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lang="zh-CN" altLang="en-US" dirty="0"/>
              <a:t>大数据时代</a:t>
            </a:r>
            <a:endParaRPr kumimoji="1" lang="zh-CN" altLang="en-US" dirty="0"/>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r>
              <a:rPr lang="zh-CN" altLang="en-US" dirty="0"/>
              <a:t>数据采集与治理</a:t>
            </a:r>
            <a:endParaRPr kumimoji="1" lang="en-US" altLang="zh-CN" dirty="0"/>
          </a:p>
        </p:txBody>
      </p:sp>
      <p:pic>
        <p:nvPicPr>
          <p:cNvPr id="4"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50909" y="1570342"/>
            <a:ext cx="5242182" cy="3137794"/>
          </a:xfrm>
          <a:prstGeom prst="rect">
            <a:avLst/>
          </a:prstGeom>
        </p:spPr>
      </p:pic>
    </p:spTree>
    <p:extLst>
      <p:ext uri="{BB962C8B-B14F-4D97-AF65-F5344CB8AC3E}">
        <p14:creationId xmlns:p14="http://schemas.microsoft.com/office/powerpoint/2010/main" val="38570887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lang="zh-CN" altLang="en-US" dirty="0"/>
              <a:t>大数据时代</a:t>
            </a:r>
            <a:endParaRPr kumimoji="1" lang="zh-CN" altLang="en-US" dirty="0"/>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r>
              <a:rPr lang="zh-CN" altLang="en-US" dirty="0"/>
              <a:t>数据存储与计算平台</a:t>
            </a:r>
            <a:endParaRPr kumimoji="1" lang="en-US" altLang="zh-CN" dirty="0"/>
          </a:p>
        </p:txBody>
      </p:sp>
      <p:pic>
        <p:nvPicPr>
          <p:cNvPr id="4"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68383" y="1416323"/>
            <a:ext cx="5459275" cy="3379213"/>
          </a:xfrm>
          <a:prstGeom prst="rect">
            <a:avLst/>
          </a:prstGeom>
        </p:spPr>
      </p:pic>
    </p:spTree>
    <p:extLst>
      <p:ext uri="{BB962C8B-B14F-4D97-AF65-F5344CB8AC3E}">
        <p14:creationId xmlns:p14="http://schemas.microsoft.com/office/powerpoint/2010/main" val="23217127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lang="zh-CN" altLang="en-US" dirty="0"/>
              <a:t>大数据时代</a:t>
            </a:r>
            <a:endParaRPr kumimoji="1" lang="zh-CN" altLang="en-US" dirty="0"/>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r>
              <a:rPr lang="zh-CN" altLang="en-US" dirty="0"/>
              <a:t>分析平台与工具</a:t>
            </a:r>
            <a:endParaRPr kumimoji="1" lang="en-US" altLang="zh-CN" dirty="0"/>
          </a:p>
        </p:txBody>
      </p:sp>
      <p:pic>
        <p:nvPicPr>
          <p:cNvPr id="4"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40401" y="1281545"/>
            <a:ext cx="4076564" cy="3474605"/>
          </a:xfrm>
          <a:prstGeom prst="rect">
            <a:avLst/>
          </a:prstGeom>
        </p:spPr>
      </p:pic>
    </p:spTree>
    <p:extLst>
      <p:ext uri="{BB962C8B-B14F-4D97-AF65-F5344CB8AC3E}">
        <p14:creationId xmlns:p14="http://schemas.microsoft.com/office/powerpoint/2010/main" val="39876158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lang="zh-CN" altLang="en-US" dirty="0"/>
              <a:t>大数据时代</a:t>
            </a:r>
            <a:endParaRPr kumimoji="1" lang="zh-CN" altLang="en-US" dirty="0"/>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r>
              <a:rPr lang="zh-CN" altLang="en-US" dirty="0"/>
              <a:t>数据可视化</a:t>
            </a:r>
            <a:endParaRPr kumimoji="1" lang="en-US" altLang="zh-CN" dirty="0"/>
          </a:p>
        </p:txBody>
      </p:sp>
      <p:pic>
        <p:nvPicPr>
          <p:cNvPr id="4"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6485" y="1343032"/>
            <a:ext cx="3870036" cy="1867043"/>
          </a:xfrm>
          <a:prstGeom prst="rect">
            <a:avLst/>
          </a:prstGeom>
        </p:spPr>
      </p:pic>
      <p:pic>
        <p:nvPicPr>
          <p:cNvPr id="5" name="图片 4">
            <a:extLst>
              <a:ext uri="{FF2B5EF4-FFF2-40B4-BE49-F238E27FC236}">
                <a16:creationId xmlns:a16="http://schemas.microsoft.com/office/drawing/2014/main" id="{771A3FB7-9A5D-4024-9FF6-FBD2D552A978}"/>
              </a:ext>
            </a:extLst>
          </p:cNvPr>
          <p:cNvPicPr>
            <a:picLocks noChangeAspect="1"/>
          </p:cNvPicPr>
          <p:nvPr/>
        </p:nvPicPr>
        <p:blipFill>
          <a:blip r:embed="rId3"/>
          <a:stretch>
            <a:fillRect/>
          </a:stretch>
        </p:blipFill>
        <p:spPr>
          <a:xfrm>
            <a:off x="4841299" y="1491901"/>
            <a:ext cx="3800995" cy="1556084"/>
          </a:xfrm>
          <a:prstGeom prst="rect">
            <a:avLst/>
          </a:prstGeom>
        </p:spPr>
      </p:pic>
      <p:sp>
        <p:nvSpPr>
          <p:cNvPr id="6" name="Rectangle 3"/>
          <p:cNvSpPr/>
          <p:nvPr/>
        </p:nvSpPr>
        <p:spPr>
          <a:xfrm>
            <a:off x="1694782" y="3651599"/>
            <a:ext cx="5754435" cy="1077218"/>
          </a:xfrm>
          <a:prstGeom prst="rect">
            <a:avLst/>
          </a:prstGeom>
        </p:spPr>
        <p:txBody>
          <a:bodyPr wrap="square">
            <a:spAutoFit/>
          </a:bodyPr>
          <a:lstStyle/>
          <a:p>
            <a:pPr algn="ctr">
              <a:defRPr/>
            </a:pPr>
            <a:r>
              <a:rPr lang="zh-CN" altLang="en-US" sz="3200" b="1" dirty="0">
                <a:solidFill>
                  <a:srgbClr val="0000CC"/>
                </a:solidFill>
              </a:rPr>
              <a:t>趋势</a:t>
            </a:r>
            <a:r>
              <a:rPr lang="en-US" altLang="zh-CN" sz="3200" b="1" dirty="0">
                <a:solidFill>
                  <a:srgbClr val="0000CC"/>
                </a:solidFill>
              </a:rPr>
              <a:t>3</a:t>
            </a:r>
            <a:r>
              <a:rPr lang="zh-CN" altLang="en-US" sz="3200" dirty="0">
                <a:solidFill>
                  <a:srgbClr val="0000CC"/>
                </a:solidFill>
              </a:rPr>
              <a:t>：人们处理数据的能力比以往任何时候都强大</a:t>
            </a:r>
            <a:endParaRPr lang="en-US" sz="2800" dirty="0">
              <a:solidFill>
                <a:srgbClr val="0000CC"/>
              </a:solidFill>
              <a:latin typeface="+mn-lt"/>
              <a:ea typeface="+mn-ea"/>
              <a:cs typeface="+mn-cs"/>
            </a:endParaRPr>
          </a:p>
        </p:txBody>
      </p:sp>
    </p:spTree>
    <p:extLst>
      <p:ext uri="{BB962C8B-B14F-4D97-AF65-F5344CB8AC3E}">
        <p14:creationId xmlns:p14="http://schemas.microsoft.com/office/powerpoint/2010/main" val="33645963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大数据</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endParaRPr kumimoji="1" lang="en-US" altLang="zh-CN"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459182" y="819150"/>
            <a:ext cx="3926897" cy="40041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26021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大数据</a:t>
            </a:r>
          </a:p>
        </p:txBody>
      </p:sp>
      <p:sp>
        <p:nvSpPr>
          <p:cNvPr id="13" name="Content Placeholder 2"/>
          <p:cNvSpPr>
            <a:spLocks noGrp="1"/>
          </p:cNvSpPr>
          <p:nvPr>
            <p:ph idx="1"/>
          </p:nvPr>
        </p:nvSpPr>
        <p:spPr>
          <a:xfrm>
            <a:off x="457200" y="819150"/>
            <a:ext cx="8229600" cy="3937000"/>
          </a:xfrm>
        </p:spPr>
        <p:txBody>
          <a:bodyPr>
            <a:normAutofit/>
          </a:bodyPr>
          <a:lstStyle/>
          <a:p>
            <a:r>
              <a:rPr lang="zh-CN" altLang="en-US" dirty="0"/>
              <a:t>什么是</a:t>
            </a:r>
            <a:r>
              <a:rPr lang="zh-CN" altLang="en-US" dirty="0">
                <a:solidFill>
                  <a:srgbClr val="C00000"/>
                </a:solidFill>
              </a:rPr>
              <a:t>大数据</a:t>
            </a:r>
            <a:r>
              <a:rPr lang="zh-CN" altLang="en-US" dirty="0"/>
              <a:t>？</a:t>
            </a:r>
            <a:endParaRPr lang="en-US" altLang="zh-CN" dirty="0"/>
          </a:p>
          <a:p>
            <a:pPr lvl="1"/>
            <a:r>
              <a:rPr lang="zh-CN" altLang="en-US" dirty="0">
                <a:solidFill>
                  <a:srgbClr val="C00000"/>
                </a:solidFill>
              </a:rPr>
              <a:t>大数据</a:t>
            </a:r>
            <a:r>
              <a:rPr lang="en-US" altLang="zh-CN" dirty="0">
                <a:solidFill>
                  <a:srgbClr val="C00000"/>
                </a:solidFill>
              </a:rPr>
              <a:t>(big data) </a:t>
            </a:r>
            <a:r>
              <a:rPr lang="zh-CN" altLang="en-US" dirty="0"/>
              <a:t>，指的是所涉及的数据规模巨大到无法透过主流软件工具，在合理时间内完成采集、管理、处理和分析，并整理成为帮助企业、政府、机构决策目的的有用信息的一类数据</a:t>
            </a:r>
            <a:endParaRPr lang="en-US" altLang="zh-CN" dirty="0"/>
          </a:p>
          <a:p>
            <a:pPr lvl="1"/>
            <a:r>
              <a:rPr lang="zh-CN" altLang="en-US" dirty="0"/>
              <a:t>大数据可以被定义为数据量巨大、来源多样、结构复杂、需要高效处理、分析和管理的数据</a:t>
            </a:r>
            <a:endParaRPr lang="en-US" dirty="0"/>
          </a:p>
        </p:txBody>
      </p:sp>
      <p:pic>
        <p:nvPicPr>
          <p:cNvPr id="1026" name="Picture 2" descr="https://img0.baidu.com/it/u=4230627575,4136128588&amp;fm=253&amp;fmt=auto&amp;app=138&amp;f=JPEG?w=836&amp;h=500">
            <a:extLst>
              <a:ext uri="{FF2B5EF4-FFF2-40B4-BE49-F238E27FC236}">
                <a16:creationId xmlns:a16="http://schemas.microsoft.com/office/drawing/2014/main" id="{101023A4-100E-4967-82F9-BF823E91D237}"/>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297504" y="2370061"/>
            <a:ext cx="3989541" cy="23860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8764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大数据</a:t>
            </a:r>
          </a:p>
        </p:txBody>
      </p:sp>
      <p:sp>
        <p:nvSpPr>
          <p:cNvPr id="13" name="Content Placeholder 2"/>
          <p:cNvSpPr>
            <a:spLocks noGrp="1"/>
          </p:cNvSpPr>
          <p:nvPr>
            <p:ph idx="1"/>
          </p:nvPr>
        </p:nvSpPr>
        <p:spPr>
          <a:xfrm>
            <a:off x="457200" y="819150"/>
            <a:ext cx="8229600" cy="3937000"/>
          </a:xfrm>
        </p:spPr>
        <p:txBody>
          <a:bodyPr>
            <a:normAutofit/>
          </a:bodyPr>
          <a:lstStyle/>
          <a:p>
            <a:r>
              <a:rPr lang="zh-CN" altLang="en-US" dirty="0">
                <a:solidFill>
                  <a:srgbClr val="C00000"/>
                </a:solidFill>
              </a:rPr>
              <a:t>大数据的三个</a:t>
            </a:r>
            <a:r>
              <a:rPr lang="en-US" altLang="zh-CN" dirty="0">
                <a:solidFill>
                  <a:srgbClr val="C00000"/>
                </a:solidFill>
              </a:rPr>
              <a:t>V</a:t>
            </a:r>
          </a:p>
          <a:p>
            <a:pPr lvl="1"/>
            <a:r>
              <a:rPr lang="en-US" altLang="zh-CN" sz="1600" dirty="0"/>
              <a:t>Volume</a:t>
            </a:r>
          </a:p>
          <a:p>
            <a:pPr lvl="2"/>
            <a:r>
              <a:rPr lang="en-US" altLang="zh-CN" sz="1400" dirty="0"/>
              <a:t>GB</a:t>
            </a:r>
            <a:r>
              <a:rPr lang="en-US" altLang="zh-CN" sz="1400" dirty="0">
                <a:sym typeface="Wingdings"/>
              </a:rPr>
              <a:t></a:t>
            </a:r>
            <a:r>
              <a:rPr lang="en-US" altLang="zh-CN" sz="1400" dirty="0"/>
              <a:t>TB</a:t>
            </a:r>
            <a:r>
              <a:rPr lang="en-US" altLang="zh-CN" sz="1400" dirty="0">
                <a:sym typeface="Wingdings"/>
              </a:rPr>
              <a:t></a:t>
            </a:r>
            <a:r>
              <a:rPr lang="en-US" altLang="zh-CN" sz="1400" dirty="0"/>
              <a:t>PB</a:t>
            </a:r>
            <a:r>
              <a:rPr lang="en-US" altLang="zh-CN" sz="1400" dirty="0">
                <a:sym typeface="Wingdings"/>
              </a:rPr>
              <a:t>EB</a:t>
            </a:r>
            <a:r>
              <a:rPr lang="en-US" altLang="zh-CN" sz="1400" dirty="0">
                <a:sym typeface="Wingdings" panose="05000000000000000000" pitchFamily="2" charset="2"/>
              </a:rPr>
              <a:t>…</a:t>
            </a:r>
            <a:endParaRPr lang="en-US" altLang="zh-CN" sz="1400" dirty="0">
              <a:sym typeface="Wingdings"/>
            </a:endParaRPr>
          </a:p>
          <a:p>
            <a:pPr lvl="2"/>
            <a:endParaRPr lang="en-US" altLang="zh-CN" sz="1400" dirty="0"/>
          </a:p>
          <a:p>
            <a:pPr lvl="1"/>
            <a:r>
              <a:rPr lang="en-US" altLang="zh-CN" sz="1600" dirty="0"/>
              <a:t>Velocity</a:t>
            </a:r>
          </a:p>
          <a:p>
            <a:pPr lvl="2"/>
            <a:r>
              <a:rPr lang="zh-CN" altLang="en-US" sz="1400" dirty="0"/>
              <a:t>数据快速处理分析</a:t>
            </a:r>
            <a:endParaRPr lang="en-US" altLang="zh-CN" sz="1400" dirty="0"/>
          </a:p>
          <a:p>
            <a:pPr lvl="2"/>
            <a:endParaRPr lang="en-US" altLang="zh-CN" sz="1400" dirty="0"/>
          </a:p>
          <a:p>
            <a:pPr lvl="1"/>
            <a:r>
              <a:rPr lang="en-US" altLang="zh-CN" sz="1600" dirty="0"/>
              <a:t>Variety</a:t>
            </a:r>
          </a:p>
          <a:p>
            <a:pPr lvl="2"/>
            <a:r>
              <a:rPr lang="zh-CN" altLang="en-US" sz="1400" dirty="0"/>
              <a:t>企业内部</a:t>
            </a:r>
            <a:r>
              <a:rPr lang="en-US" altLang="zh-CN" sz="1400" dirty="0"/>
              <a:t>/</a:t>
            </a:r>
            <a:r>
              <a:rPr lang="zh-CN" altLang="en-US" sz="1400" dirty="0"/>
              <a:t>外部</a:t>
            </a:r>
            <a:endParaRPr lang="en-US" altLang="zh-CN" sz="1400" dirty="0"/>
          </a:p>
          <a:p>
            <a:pPr lvl="2"/>
            <a:r>
              <a:rPr lang="zh-CN" altLang="en-US" sz="1400" dirty="0"/>
              <a:t>结构化</a:t>
            </a:r>
            <a:r>
              <a:rPr lang="en-US" altLang="zh-CN" sz="1400" dirty="0"/>
              <a:t>/</a:t>
            </a:r>
            <a:r>
              <a:rPr lang="zh-CN" altLang="en-US" sz="1400" dirty="0"/>
              <a:t>非结构化</a:t>
            </a:r>
            <a:endParaRPr lang="en-US" altLang="zh-CN" sz="1400" dirty="0"/>
          </a:p>
          <a:p>
            <a:pPr lvl="2"/>
            <a:r>
              <a:rPr lang="zh-CN" altLang="en-US" sz="1400" dirty="0"/>
              <a:t>文本、图片、视频</a:t>
            </a:r>
            <a:r>
              <a:rPr lang="en-US" altLang="zh-CN" sz="1400" dirty="0"/>
              <a:t>……</a:t>
            </a:r>
            <a:endParaRPr lang="en-US" altLang="zh-CN" dirty="0"/>
          </a:p>
          <a:p>
            <a:endParaRPr lang="en-US" dirty="0"/>
          </a:p>
        </p:txBody>
      </p:sp>
      <p:pic>
        <p:nvPicPr>
          <p:cNvPr id="3" name="图片 2">
            <a:extLst>
              <a:ext uri="{FF2B5EF4-FFF2-40B4-BE49-F238E27FC236}">
                <a16:creationId xmlns:a16="http://schemas.microsoft.com/office/drawing/2014/main" id="{D1CE06E6-FE6D-4C3E-96AA-FA626EB1CCAA}"/>
              </a:ext>
            </a:extLst>
          </p:cNvPr>
          <p:cNvPicPr>
            <a:picLocks noChangeAspect="1"/>
          </p:cNvPicPr>
          <p:nvPr/>
        </p:nvPicPr>
        <p:blipFill>
          <a:blip r:embed="rId2"/>
          <a:stretch>
            <a:fillRect/>
          </a:stretch>
        </p:blipFill>
        <p:spPr>
          <a:xfrm>
            <a:off x="4325789" y="94270"/>
            <a:ext cx="2444816" cy="2380343"/>
          </a:xfrm>
          <a:prstGeom prst="rect">
            <a:avLst/>
          </a:prstGeom>
        </p:spPr>
      </p:pic>
      <p:pic>
        <p:nvPicPr>
          <p:cNvPr id="4" name="Content Placeholder 5"/>
          <p:cNvPicPr>
            <a:picLocks noChangeAspect="1"/>
          </p:cNvPicPr>
          <p:nvPr/>
        </p:nvPicPr>
        <p:blipFill rotWithShape="1">
          <a:blip r:embed="rId3">
            <a:extLst>
              <a:ext uri="{28A0092B-C50C-407E-A947-70E740481C1C}">
                <a14:useLocalDpi xmlns:a14="http://schemas.microsoft.com/office/drawing/2010/main" val="0"/>
              </a:ext>
            </a:extLst>
          </a:blip>
          <a:srcRect l="21664" t="7779" r="32246" b="43655"/>
          <a:stretch/>
        </p:blipFill>
        <p:spPr>
          <a:xfrm>
            <a:off x="3939425" y="2588913"/>
            <a:ext cx="3422370" cy="2281537"/>
          </a:xfrm>
          <a:prstGeom prst="rect">
            <a:avLst/>
          </a:prstGeom>
        </p:spPr>
      </p:pic>
      <p:pic>
        <p:nvPicPr>
          <p:cNvPr id="1026" name="Picture 2" descr="KiBãMiBä¸KBãMBçåºå«_JefferySimonçåå®¢-CSDNåå®¢_mibæ¯ä»ä¹åä½"/>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841721" y="938850"/>
            <a:ext cx="2262531" cy="1535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35294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a:xfrm>
            <a:off x="1485900" y="205978"/>
            <a:ext cx="6172200" cy="536972"/>
          </a:xfrm>
        </p:spPr>
        <p:txBody>
          <a:bodyPr>
            <a:normAutofit/>
          </a:bodyPr>
          <a:lstStyle/>
          <a:p>
            <a:r>
              <a:rPr kumimoji="1" lang="zh-CN" altLang="en-US" dirty="0">
                <a:latin typeface="Times New Roman" panose="02020603050405020304" pitchFamily="18" charset="0"/>
                <a:ea typeface="微软雅黑" panose="020B0503020204020204" pitchFamily="34" charset="-122"/>
                <a:cs typeface="Times New Roman" panose="02020603050405020304" pitchFamily="18" charset="0"/>
              </a:rPr>
              <a:t>大数据</a:t>
            </a:r>
          </a:p>
        </p:txBody>
      </p:sp>
      <p:pic>
        <p:nvPicPr>
          <p:cNvPr id="4" name="Picture 2" descr="C:\Users\laoyao\Desktop\b3109034bdb860580d3d6118e84ec557.png">
            <a:extLst>
              <a:ext uri="{FF2B5EF4-FFF2-40B4-BE49-F238E27FC236}">
                <a16:creationId xmlns:a16="http://schemas.microsoft.com/office/drawing/2014/main" id="{AAECD376-D79B-4A56-9763-08392F8EEA4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70623" y="2224298"/>
            <a:ext cx="2669381" cy="1560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a:extLst>
              <a:ext uri="{FF2B5EF4-FFF2-40B4-BE49-F238E27FC236}">
                <a16:creationId xmlns:a16="http://schemas.microsoft.com/office/drawing/2014/main" id="{F902F6D3-A80E-45F0-A7A9-24E6BC6900FF}"/>
              </a:ext>
            </a:extLst>
          </p:cNvPr>
          <p:cNvSpPr>
            <a:spLocks noChangeArrowheads="1"/>
          </p:cNvSpPr>
          <p:nvPr/>
        </p:nvSpPr>
        <p:spPr bwMode="auto">
          <a:xfrm>
            <a:off x="1688306" y="1739714"/>
            <a:ext cx="1976438"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ea typeface="宋体" panose="02010600030101010101" pitchFamily="2" charset="-122"/>
              </a:defRPr>
            </a:lvl1pPr>
            <a:lvl2pPr>
              <a:defRPr>
                <a:solidFill>
                  <a:schemeClr val="tx1"/>
                </a:solidFill>
                <a:latin typeface="Arial" panose="020B0604020202090204" pitchFamily="34" charset="0"/>
                <a:ea typeface="宋体" panose="02010600030101010101" pitchFamily="2" charset="-122"/>
              </a:defRPr>
            </a:lvl2pPr>
            <a:lvl3pPr>
              <a:defRPr>
                <a:solidFill>
                  <a:schemeClr val="tx1"/>
                </a:solidFill>
                <a:latin typeface="Arial" panose="020B0604020202090204" pitchFamily="34" charset="0"/>
                <a:ea typeface="宋体" panose="02010600030101010101" pitchFamily="2" charset="-122"/>
              </a:defRPr>
            </a:lvl3pPr>
            <a:lvl4pPr>
              <a:defRPr>
                <a:solidFill>
                  <a:schemeClr val="tx1"/>
                </a:solidFill>
                <a:latin typeface="Arial" panose="020B0604020202090204" pitchFamily="34" charset="0"/>
                <a:ea typeface="宋体" panose="02010600030101010101" pitchFamily="2" charset="-122"/>
              </a:defRPr>
            </a:lvl4pPr>
            <a:lvl5pPr>
              <a:defRPr>
                <a:solidFill>
                  <a:schemeClr val="tx1"/>
                </a:solidFill>
                <a:latin typeface="Arial" panose="020B0604020202090204" pitchFamily="34" charset="0"/>
                <a:ea typeface="宋体" panose="02010600030101010101" pitchFamily="2" charset="-122"/>
              </a:defRPr>
            </a:lvl5pPr>
            <a:lvl6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6pPr>
            <a:lvl7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7pPr>
            <a:lvl8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8pPr>
            <a:lvl9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9pPr>
          </a:lstStyle>
          <a:p>
            <a:pPr algn="r"/>
            <a:r>
              <a:rPr lang="zh-CN" altLang="zh-CN" sz="1050"/>
              <a:t>互联网每天产生的全部内容可以刻满</a:t>
            </a:r>
            <a:r>
              <a:rPr lang="en-US" altLang="zh-CN" sz="1050"/>
              <a:t>6.4</a:t>
            </a:r>
            <a:r>
              <a:rPr lang="zh-CN" altLang="zh-CN" sz="1050"/>
              <a:t>亿张</a:t>
            </a:r>
            <a:r>
              <a:rPr lang="en-US" altLang="zh-CN" sz="1050"/>
              <a:t>DVD</a:t>
            </a:r>
            <a:endParaRPr lang="zh-CN" altLang="en-US" sz="1050"/>
          </a:p>
        </p:txBody>
      </p:sp>
      <p:sp>
        <p:nvSpPr>
          <p:cNvPr id="6" name="矩形 5">
            <a:extLst>
              <a:ext uri="{FF2B5EF4-FFF2-40B4-BE49-F238E27FC236}">
                <a16:creationId xmlns:a16="http://schemas.microsoft.com/office/drawing/2014/main" id="{8AF6C308-1B1D-45E6-9E0B-B602ACD51FF0}"/>
              </a:ext>
            </a:extLst>
          </p:cNvPr>
          <p:cNvSpPr>
            <a:spLocks noChangeArrowheads="1"/>
          </p:cNvSpPr>
          <p:nvPr/>
        </p:nvSpPr>
        <p:spPr bwMode="auto">
          <a:xfrm>
            <a:off x="1727597" y="2877951"/>
            <a:ext cx="1343025"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ea typeface="宋体" panose="02010600030101010101" pitchFamily="2" charset="-122"/>
              </a:defRPr>
            </a:lvl1pPr>
            <a:lvl2pPr>
              <a:defRPr>
                <a:solidFill>
                  <a:schemeClr val="tx1"/>
                </a:solidFill>
                <a:latin typeface="Arial" panose="020B0604020202090204" pitchFamily="34" charset="0"/>
                <a:ea typeface="宋体" panose="02010600030101010101" pitchFamily="2" charset="-122"/>
              </a:defRPr>
            </a:lvl2pPr>
            <a:lvl3pPr>
              <a:defRPr>
                <a:solidFill>
                  <a:schemeClr val="tx1"/>
                </a:solidFill>
                <a:latin typeface="Arial" panose="020B0604020202090204" pitchFamily="34" charset="0"/>
                <a:ea typeface="宋体" panose="02010600030101010101" pitchFamily="2" charset="-122"/>
              </a:defRPr>
            </a:lvl3pPr>
            <a:lvl4pPr>
              <a:defRPr>
                <a:solidFill>
                  <a:schemeClr val="tx1"/>
                </a:solidFill>
                <a:latin typeface="Arial" panose="020B0604020202090204" pitchFamily="34" charset="0"/>
                <a:ea typeface="宋体" panose="02010600030101010101" pitchFamily="2" charset="-122"/>
              </a:defRPr>
            </a:lvl4pPr>
            <a:lvl5pPr>
              <a:defRPr>
                <a:solidFill>
                  <a:schemeClr val="tx1"/>
                </a:solidFill>
                <a:latin typeface="Arial" panose="020B0604020202090204" pitchFamily="34" charset="0"/>
                <a:ea typeface="宋体" panose="02010600030101010101" pitchFamily="2" charset="-122"/>
              </a:defRPr>
            </a:lvl5pPr>
            <a:lvl6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6pPr>
            <a:lvl7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7pPr>
            <a:lvl8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8pPr>
            <a:lvl9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9pPr>
          </a:lstStyle>
          <a:p>
            <a:pPr algn="r"/>
            <a:r>
              <a:rPr lang="en-US" altLang="zh-CN" sz="1050" dirty="0">
                <a:solidFill>
                  <a:srgbClr val="C00000"/>
                </a:solidFill>
              </a:rPr>
              <a:t>Google</a:t>
            </a:r>
            <a:r>
              <a:rPr lang="zh-CN" altLang="zh-CN" sz="1050" dirty="0"/>
              <a:t>每天需要处理</a:t>
            </a:r>
            <a:r>
              <a:rPr lang="en-US" altLang="zh-CN" sz="1050" dirty="0"/>
              <a:t>24PB</a:t>
            </a:r>
            <a:r>
              <a:rPr lang="zh-CN" altLang="zh-CN" sz="1050" dirty="0"/>
              <a:t>的数据</a:t>
            </a:r>
            <a:endParaRPr lang="zh-CN" altLang="en-US" sz="1050" dirty="0"/>
          </a:p>
        </p:txBody>
      </p:sp>
      <p:sp>
        <p:nvSpPr>
          <p:cNvPr id="7" name="矩形 6">
            <a:extLst>
              <a:ext uri="{FF2B5EF4-FFF2-40B4-BE49-F238E27FC236}">
                <a16:creationId xmlns:a16="http://schemas.microsoft.com/office/drawing/2014/main" id="{2C552CE4-FA01-4C8C-B79D-C1580EDAD78C}"/>
              </a:ext>
            </a:extLst>
          </p:cNvPr>
          <p:cNvSpPr>
            <a:spLocks noChangeArrowheads="1"/>
          </p:cNvSpPr>
          <p:nvPr/>
        </p:nvSpPr>
        <p:spPr bwMode="auto">
          <a:xfrm>
            <a:off x="1651398" y="3741155"/>
            <a:ext cx="2050256" cy="577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ea typeface="宋体" panose="02010600030101010101" pitchFamily="2" charset="-122"/>
              </a:defRPr>
            </a:lvl1pPr>
            <a:lvl2pPr>
              <a:defRPr>
                <a:solidFill>
                  <a:schemeClr val="tx1"/>
                </a:solidFill>
                <a:latin typeface="Arial" panose="020B0604020202090204" pitchFamily="34" charset="0"/>
                <a:ea typeface="宋体" panose="02010600030101010101" pitchFamily="2" charset="-122"/>
              </a:defRPr>
            </a:lvl2pPr>
            <a:lvl3pPr>
              <a:defRPr>
                <a:solidFill>
                  <a:schemeClr val="tx1"/>
                </a:solidFill>
                <a:latin typeface="Arial" panose="020B0604020202090204" pitchFamily="34" charset="0"/>
                <a:ea typeface="宋体" panose="02010600030101010101" pitchFamily="2" charset="-122"/>
              </a:defRPr>
            </a:lvl3pPr>
            <a:lvl4pPr>
              <a:defRPr>
                <a:solidFill>
                  <a:schemeClr val="tx1"/>
                </a:solidFill>
                <a:latin typeface="Arial" panose="020B0604020202090204" pitchFamily="34" charset="0"/>
                <a:ea typeface="宋体" panose="02010600030101010101" pitchFamily="2" charset="-122"/>
              </a:defRPr>
            </a:lvl4pPr>
            <a:lvl5pPr>
              <a:defRPr>
                <a:solidFill>
                  <a:schemeClr val="tx1"/>
                </a:solidFill>
                <a:latin typeface="Arial" panose="020B0604020202090204" pitchFamily="34" charset="0"/>
                <a:ea typeface="宋体" panose="02010600030101010101" pitchFamily="2" charset="-122"/>
              </a:defRPr>
            </a:lvl5pPr>
            <a:lvl6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6pPr>
            <a:lvl7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7pPr>
            <a:lvl8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8pPr>
            <a:lvl9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9pPr>
          </a:lstStyle>
          <a:p>
            <a:pPr algn="r"/>
            <a:r>
              <a:rPr lang="zh-CN" altLang="zh-CN" sz="1050" dirty="0"/>
              <a:t>网民每天在</a:t>
            </a:r>
            <a:r>
              <a:rPr lang="en-US" altLang="zh-CN" sz="1050" dirty="0">
                <a:solidFill>
                  <a:srgbClr val="C00000"/>
                </a:solidFill>
              </a:rPr>
              <a:t>Facebook</a:t>
            </a:r>
            <a:r>
              <a:rPr lang="zh-CN" altLang="zh-CN" sz="1050" dirty="0"/>
              <a:t>上要花费</a:t>
            </a:r>
            <a:r>
              <a:rPr lang="en-US" altLang="zh-CN" sz="1050" dirty="0"/>
              <a:t>234</a:t>
            </a:r>
            <a:r>
              <a:rPr lang="zh-CN" altLang="zh-CN" sz="1050" dirty="0"/>
              <a:t>亿分钟，被移动互联网使用者发送和接收的数据高达</a:t>
            </a:r>
            <a:r>
              <a:rPr lang="en-US" altLang="zh-CN" sz="1050" dirty="0"/>
              <a:t>44PB</a:t>
            </a:r>
            <a:endParaRPr lang="zh-CN" altLang="zh-CN" sz="1050" dirty="0"/>
          </a:p>
        </p:txBody>
      </p:sp>
      <p:sp>
        <p:nvSpPr>
          <p:cNvPr id="8" name="矩形 7">
            <a:extLst>
              <a:ext uri="{FF2B5EF4-FFF2-40B4-BE49-F238E27FC236}">
                <a16:creationId xmlns:a16="http://schemas.microsoft.com/office/drawing/2014/main" id="{06CE9219-DE12-4902-BE0D-C626020F3906}"/>
              </a:ext>
            </a:extLst>
          </p:cNvPr>
          <p:cNvSpPr>
            <a:spLocks noChangeArrowheads="1"/>
          </p:cNvSpPr>
          <p:nvPr/>
        </p:nvSpPr>
        <p:spPr bwMode="auto">
          <a:xfrm>
            <a:off x="5551885" y="1658751"/>
            <a:ext cx="2006203" cy="577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ea typeface="宋体" panose="02010600030101010101" pitchFamily="2" charset="-122"/>
              </a:defRPr>
            </a:lvl1pPr>
            <a:lvl2pPr>
              <a:defRPr>
                <a:solidFill>
                  <a:schemeClr val="tx1"/>
                </a:solidFill>
                <a:latin typeface="Arial" panose="020B0604020202090204" pitchFamily="34" charset="0"/>
                <a:ea typeface="宋体" panose="02010600030101010101" pitchFamily="2" charset="-122"/>
              </a:defRPr>
            </a:lvl2pPr>
            <a:lvl3pPr>
              <a:defRPr>
                <a:solidFill>
                  <a:schemeClr val="tx1"/>
                </a:solidFill>
                <a:latin typeface="Arial" panose="020B0604020202090204" pitchFamily="34" charset="0"/>
                <a:ea typeface="宋体" panose="02010600030101010101" pitchFamily="2" charset="-122"/>
              </a:defRPr>
            </a:lvl3pPr>
            <a:lvl4pPr>
              <a:defRPr>
                <a:solidFill>
                  <a:schemeClr val="tx1"/>
                </a:solidFill>
                <a:latin typeface="Arial" panose="020B0604020202090204" pitchFamily="34" charset="0"/>
                <a:ea typeface="宋体" panose="02010600030101010101" pitchFamily="2" charset="-122"/>
              </a:defRPr>
            </a:lvl4pPr>
            <a:lvl5pPr>
              <a:defRPr>
                <a:solidFill>
                  <a:schemeClr val="tx1"/>
                </a:solidFill>
                <a:latin typeface="Arial" panose="020B0604020202090204" pitchFamily="34" charset="0"/>
                <a:ea typeface="宋体" panose="02010600030101010101" pitchFamily="2" charset="-122"/>
              </a:defRPr>
            </a:lvl5pPr>
            <a:lvl6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6pPr>
            <a:lvl7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7pPr>
            <a:lvl8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8pPr>
            <a:lvl9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9pPr>
          </a:lstStyle>
          <a:p>
            <a:r>
              <a:rPr lang="zh-CN" altLang="zh-CN" sz="1050" dirty="0"/>
              <a:t>全球每秒发送</a:t>
            </a:r>
            <a:r>
              <a:rPr lang="en-US" altLang="zh-CN" sz="1050" dirty="0"/>
              <a:t>290</a:t>
            </a:r>
            <a:r>
              <a:rPr lang="zh-CN" altLang="zh-CN" sz="1050" dirty="0"/>
              <a:t>万封</a:t>
            </a:r>
            <a:r>
              <a:rPr lang="zh-CN" altLang="zh-CN" sz="1050" dirty="0">
                <a:solidFill>
                  <a:srgbClr val="C00000"/>
                </a:solidFill>
              </a:rPr>
              <a:t>电子邮件</a:t>
            </a:r>
            <a:r>
              <a:rPr lang="zh-CN" altLang="zh-CN" sz="1050" dirty="0"/>
              <a:t>，一分钟读一篇的话，足够一个人昼夜不停地读</a:t>
            </a:r>
            <a:r>
              <a:rPr lang="en-US" altLang="zh-CN" sz="1050" dirty="0"/>
              <a:t>5.5</a:t>
            </a:r>
            <a:r>
              <a:rPr lang="zh-CN" altLang="zh-CN" sz="1050" dirty="0"/>
              <a:t>年</a:t>
            </a:r>
            <a:endParaRPr lang="zh-CN" altLang="en-US" sz="1050" dirty="0"/>
          </a:p>
        </p:txBody>
      </p:sp>
      <p:sp>
        <p:nvSpPr>
          <p:cNvPr id="9" name="矩形 9">
            <a:extLst>
              <a:ext uri="{FF2B5EF4-FFF2-40B4-BE49-F238E27FC236}">
                <a16:creationId xmlns:a16="http://schemas.microsoft.com/office/drawing/2014/main" id="{5F72107B-6003-4401-BA40-889D9B578601}"/>
              </a:ext>
            </a:extLst>
          </p:cNvPr>
          <p:cNvSpPr>
            <a:spLocks noChangeArrowheads="1"/>
          </p:cNvSpPr>
          <p:nvPr/>
        </p:nvSpPr>
        <p:spPr bwMode="auto">
          <a:xfrm>
            <a:off x="5787628" y="2796989"/>
            <a:ext cx="1870472" cy="577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ea typeface="宋体" panose="02010600030101010101" pitchFamily="2" charset="-122"/>
              </a:defRPr>
            </a:lvl1pPr>
            <a:lvl2pPr>
              <a:defRPr>
                <a:solidFill>
                  <a:schemeClr val="tx1"/>
                </a:solidFill>
                <a:latin typeface="Arial" panose="020B0604020202090204" pitchFamily="34" charset="0"/>
                <a:ea typeface="宋体" panose="02010600030101010101" pitchFamily="2" charset="-122"/>
              </a:defRPr>
            </a:lvl2pPr>
            <a:lvl3pPr>
              <a:defRPr>
                <a:solidFill>
                  <a:schemeClr val="tx1"/>
                </a:solidFill>
                <a:latin typeface="Arial" panose="020B0604020202090204" pitchFamily="34" charset="0"/>
                <a:ea typeface="宋体" panose="02010600030101010101" pitchFamily="2" charset="-122"/>
              </a:defRPr>
            </a:lvl3pPr>
            <a:lvl4pPr>
              <a:defRPr>
                <a:solidFill>
                  <a:schemeClr val="tx1"/>
                </a:solidFill>
                <a:latin typeface="Arial" panose="020B0604020202090204" pitchFamily="34" charset="0"/>
                <a:ea typeface="宋体" panose="02010600030101010101" pitchFamily="2" charset="-122"/>
              </a:defRPr>
            </a:lvl4pPr>
            <a:lvl5pPr>
              <a:defRPr>
                <a:solidFill>
                  <a:schemeClr val="tx1"/>
                </a:solidFill>
                <a:latin typeface="Arial" panose="020B0604020202090204" pitchFamily="34" charset="0"/>
                <a:ea typeface="宋体" panose="02010600030101010101" pitchFamily="2" charset="-122"/>
              </a:defRPr>
            </a:lvl5pPr>
            <a:lvl6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6pPr>
            <a:lvl7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7pPr>
            <a:lvl8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8pPr>
            <a:lvl9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9pPr>
          </a:lstStyle>
          <a:p>
            <a:r>
              <a:rPr lang="zh-CN" altLang="zh-CN" sz="1050" dirty="0"/>
              <a:t>每天会有</a:t>
            </a:r>
            <a:r>
              <a:rPr lang="en-US" altLang="zh-CN" sz="1050" dirty="0"/>
              <a:t>2.88</a:t>
            </a:r>
            <a:r>
              <a:rPr lang="zh-CN" altLang="zh-CN" sz="1050" dirty="0"/>
              <a:t>万个小时的视频上传到</a:t>
            </a:r>
            <a:r>
              <a:rPr lang="en-US" altLang="zh-CN" sz="1050" dirty="0">
                <a:solidFill>
                  <a:srgbClr val="C00000"/>
                </a:solidFill>
              </a:rPr>
              <a:t>YouTube</a:t>
            </a:r>
            <a:r>
              <a:rPr lang="zh-CN" altLang="zh-CN" sz="1050" dirty="0"/>
              <a:t>，足够一个人昼夜不停地观看</a:t>
            </a:r>
            <a:r>
              <a:rPr lang="en-US" altLang="zh-CN" sz="1050" dirty="0"/>
              <a:t>3.3</a:t>
            </a:r>
            <a:r>
              <a:rPr lang="zh-CN" altLang="zh-CN" sz="1050" dirty="0"/>
              <a:t>年</a:t>
            </a:r>
            <a:endParaRPr lang="zh-CN" altLang="en-US" sz="1050" dirty="0"/>
          </a:p>
        </p:txBody>
      </p:sp>
      <p:sp>
        <p:nvSpPr>
          <p:cNvPr id="10" name="矩形 10">
            <a:extLst>
              <a:ext uri="{FF2B5EF4-FFF2-40B4-BE49-F238E27FC236}">
                <a16:creationId xmlns:a16="http://schemas.microsoft.com/office/drawing/2014/main" id="{AA90073C-B1B4-458E-BB27-7157DEBCF604}"/>
              </a:ext>
            </a:extLst>
          </p:cNvPr>
          <p:cNvSpPr>
            <a:spLocks noChangeArrowheads="1"/>
          </p:cNvSpPr>
          <p:nvPr/>
        </p:nvSpPr>
        <p:spPr bwMode="auto">
          <a:xfrm>
            <a:off x="4956572" y="3741154"/>
            <a:ext cx="2701528" cy="577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ea typeface="宋体" panose="02010600030101010101" pitchFamily="2" charset="-122"/>
              </a:defRPr>
            </a:lvl1pPr>
            <a:lvl2pPr>
              <a:defRPr>
                <a:solidFill>
                  <a:schemeClr val="tx1"/>
                </a:solidFill>
                <a:latin typeface="Arial" panose="020B0604020202090204" pitchFamily="34" charset="0"/>
                <a:ea typeface="宋体" panose="02010600030101010101" pitchFamily="2" charset="-122"/>
              </a:defRPr>
            </a:lvl2pPr>
            <a:lvl3pPr>
              <a:defRPr>
                <a:solidFill>
                  <a:schemeClr val="tx1"/>
                </a:solidFill>
                <a:latin typeface="Arial" panose="020B0604020202090204" pitchFamily="34" charset="0"/>
                <a:ea typeface="宋体" panose="02010600030101010101" pitchFamily="2" charset="-122"/>
              </a:defRPr>
            </a:lvl3pPr>
            <a:lvl4pPr>
              <a:defRPr>
                <a:solidFill>
                  <a:schemeClr val="tx1"/>
                </a:solidFill>
                <a:latin typeface="Arial" panose="020B0604020202090204" pitchFamily="34" charset="0"/>
                <a:ea typeface="宋体" panose="02010600030101010101" pitchFamily="2" charset="-122"/>
              </a:defRPr>
            </a:lvl4pPr>
            <a:lvl5pPr>
              <a:defRPr>
                <a:solidFill>
                  <a:schemeClr val="tx1"/>
                </a:solidFill>
                <a:latin typeface="Arial" panose="020B0604020202090204" pitchFamily="34" charset="0"/>
                <a:ea typeface="宋体" panose="02010600030101010101" pitchFamily="2" charset="-122"/>
              </a:defRPr>
            </a:lvl5pPr>
            <a:lvl6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6pPr>
            <a:lvl7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7pPr>
            <a:lvl8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8pPr>
            <a:lvl9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9pPr>
          </a:lstStyle>
          <a:p>
            <a:r>
              <a:rPr lang="en-US" altLang="zh-CN" sz="1050" dirty="0">
                <a:solidFill>
                  <a:srgbClr val="C00000"/>
                </a:solidFill>
              </a:rPr>
              <a:t>Twitter</a:t>
            </a:r>
            <a:r>
              <a:rPr lang="zh-CN" altLang="zh-CN" sz="1050" dirty="0"/>
              <a:t>上每天发布</a:t>
            </a:r>
            <a:r>
              <a:rPr lang="en-US" altLang="zh-CN" sz="1050" dirty="0"/>
              <a:t>5000</a:t>
            </a:r>
            <a:r>
              <a:rPr lang="zh-CN" altLang="zh-CN" sz="1050" dirty="0"/>
              <a:t>万条消息，假设</a:t>
            </a:r>
            <a:r>
              <a:rPr lang="en-US" altLang="zh-CN" sz="1050" dirty="0"/>
              <a:t>10</a:t>
            </a:r>
            <a:r>
              <a:rPr lang="zh-CN" altLang="zh-CN" sz="1050" dirty="0"/>
              <a:t>秒就浏览一条消息，足够一个人昼夜不停地浏览</a:t>
            </a:r>
            <a:r>
              <a:rPr lang="en-US" altLang="zh-CN" sz="1050" dirty="0"/>
              <a:t>16</a:t>
            </a:r>
            <a:r>
              <a:rPr lang="zh-CN" altLang="zh-CN" sz="1050" dirty="0"/>
              <a:t>年</a:t>
            </a:r>
            <a:endParaRPr lang="zh-CN" altLang="en-US" sz="1050" dirty="0"/>
          </a:p>
        </p:txBody>
      </p:sp>
      <p:cxnSp>
        <p:nvCxnSpPr>
          <p:cNvPr id="11" name="直接连接符 10">
            <a:extLst>
              <a:ext uri="{FF2B5EF4-FFF2-40B4-BE49-F238E27FC236}">
                <a16:creationId xmlns:a16="http://schemas.microsoft.com/office/drawing/2014/main" id="{C94AF890-7448-43B8-A544-B4725862BA55}"/>
              </a:ext>
            </a:extLst>
          </p:cNvPr>
          <p:cNvCxnSpPr/>
          <p:nvPr/>
        </p:nvCxnSpPr>
        <p:spPr>
          <a:xfrm>
            <a:off x="1893094" y="2269542"/>
            <a:ext cx="1546622"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5E00DE8D-BDCC-45FC-9D7D-A5AE6ECC8FF6}"/>
              </a:ext>
            </a:extLst>
          </p:cNvPr>
          <p:cNvCxnSpPr/>
          <p:nvPr/>
        </p:nvCxnSpPr>
        <p:spPr>
          <a:xfrm>
            <a:off x="1893094" y="3354202"/>
            <a:ext cx="1546622"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71C29D0A-7BB7-47A0-9790-D7B9484277BD}"/>
              </a:ext>
            </a:extLst>
          </p:cNvPr>
          <p:cNvCxnSpPr/>
          <p:nvPr/>
        </p:nvCxnSpPr>
        <p:spPr>
          <a:xfrm>
            <a:off x="1893094" y="4363852"/>
            <a:ext cx="1650206"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97820FB3-E30D-4109-BD1F-78E08C2FFD7E}"/>
              </a:ext>
            </a:extLst>
          </p:cNvPr>
          <p:cNvCxnSpPr/>
          <p:nvPr/>
        </p:nvCxnSpPr>
        <p:spPr>
          <a:xfrm>
            <a:off x="5033962" y="4363852"/>
            <a:ext cx="2371725"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5170840B-CAFB-47E4-A450-2ED0B6733EFA}"/>
              </a:ext>
            </a:extLst>
          </p:cNvPr>
          <p:cNvCxnSpPr/>
          <p:nvPr/>
        </p:nvCxnSpPr>
        <p:spPr>
          <a:xfrm>
            <a:off x="5847160" y="3457786"/>
            <a:ext cx="1545431"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16BD429D-B7FF-457F-8ED6-A1FB9E9EB7AD}"/>
              </a:ext>
            </a:extLst>
          </p:cNvPr>
          <p:cNvCxnSpPr/>
          <p:nvPr/>
        </p:nvCxnSpPr>
        <p:spPr>
          <a:xfrm flipV="1">
            <a:off x="5781675" y="2251683"/>
            <a:ext cx="1659731" cy="595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7" name="椭圆 16">
            <a:extLst>
              <a:ext uri="{FF2B5EF4-FFF2-40B4-BE49-F238E27FC236}">
                <a16:creationId xmlns:a16="http://schemas.microsoft.com/office/drawing/2014/main" id="{50453863-19C0-4670-B0EE-629081D02013}"/>
              </a:ext>
            </a:extLst>
          </p:cNvPr>
          <p:cNvSpPr/>
          <p:nvPr/>
        </p:nvSpPr>
        <p:spPr>
          <a:xfrm>
            <a:off x="1800225" y="2202867"/>
            <a:ext cx="97631" cy="9763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1350" noProof="1"/>
          </a:p>
        </p:txBody>
      </p:sp>
      <p:sp>
        <p:nvSpPr>
          <p:cNvPr id="18" name="椭圆 17">
            <a:extLst>
              <a:ext uri="{FF2B5EF4-FFF2-40B4-BE49-F238E27FC236}">
                <a16:creationId xmlns:a16="http://schemas.microsoft.com/office/drawing/2014/main" id="{40326764-C809-4E06-986B-97190E9604CF}"/>
              </a:ext>
            </a:extLst>
          </p:cNvPr>
          <p:cNvSpPr/>
          <p:nvPr/>
        </p:nvSpPr>
        <p:spPr>
          <a:xfrm>
            <a:off x="1800225" y="3305386"/>
            <a:ext cx="97631" cy="9763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1350" noProof="1"/>
          </a:p>
        </p:txBody>
      </p:sp>
      <p:sp>
        <p:nvSpPr>
          <p:cNvPr id="19" name="椭圆 18">
            <a:extLst>
              <a:ext uri="{FF2B5EF4-FFF2-40B4-BE49-F238E27FC236}">
                <a16:creationId xmlns:a16="http://schemas.microsoft.com/office/drawing/2014/main" id="{14173C2A-908F-4DD1-AD4F-E00A2A43D471}"/>
              </a:ext>
            </a:extLst>
          </p:cNvPr>
          <p:cNvSpPr/>
          <p:nvPr/>
        </p:nvSpPr>
        <p:spPr>
          <a:xfrm>
            <a:off x="1800225" y="4295986"/>
            <a:ext cx="97631" cy="9644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1350" noProof="1"/>
          </a:p>
        </p:txBody>
      </p:sp>
      <p:sp>
        <p:nvSpPr>
          <p:cNvPr id="20" name="椭圆 19">
            <a:extLst>
              <a:ext uri="{FF2B5EF4-FFF2-40B4-BE49-F238E27FC236}">
                <a16:creationId xmlns:a16="http://schemas.microsoft.com/office/drawing/2014/main" id="{91A4902B-0C1D-43FD-8B39-D8580D19F6BE}"/>
              </a:ext>
            </a:extLst>
          </p:cNvPr>
          <p:cNvSpPr/>
          <p:nvPr/>
        </p:nvSpPr>
        <p:spPr>
          <a:xfrm>
            <a:off x="7392591" y="3408971"/>
            <a:ext cx="97631" cy="9763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1350" noProof="1"/>
          </a:p>
        </p:txBody>
      </p:sp>
      <p:sp>
        <p:nvSpPr>
          <p:cNvPr id="21" name="椭圆 20">
            <a:extLst>
              <a:ext uri="{FF2B5EF4-FFF2-40B4-BE49-F238E27FC236}">
                <a16:creationId xmlns:a16="http://schemas.microsoft.com/office/drawing/2014/main" id="{3BD1888D-CFD7-42BB-A73C-CCA9D58A40B6}"/>
              </a:ext>
            </a:extLst>
          </p:cNvPr>
          <p:cNvSpPr/>
          <p:nvPr/>
        </p:nvSpPr>
        <p:spPr>
          <a:xfrm>
            <a:off x="7392591" y="2205248"/>
            <a:ext cx="97631" cy="9644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1350" noProof="1"/>
          </a:p>
        </p:txBody>
      </p:sp>
      <p:sp>
        <p:nvSpPr>
          <p:cNvPr id="22" name="椭圆 21">
            <a:extLst>
              <a:ext uri="{FF2B5EF4-FFF2-40B4-BE49-F238E27FC236}">
                <a16:creationId xmlns:a16="http://schemas.microsoft.com/office/drawing/2014/main" id="{97B28FA2-36D1-48BE-9930-6AC2DB495692}"/>
              </a:ext>
            </a:extLst>
          </p:cNvPr>
          <p:cNvSpPr/>
          <p:nvPr/>
        </p:nvSpPr>
        <p:spPr>
          <a:xfrm>
            <a:off x="7392591" y="4303129"/>
            <a:ext cx="97631" cy="9644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1350" noProof="1"/>
          </a:p>
        </p:txBody>
      </p:sp>
      <p:cxnSp>
        <p:nvCxnSpPr>
          <p:cNvPr id="23" name="直接连接符 22">
            <a:extLst>
              <a:ext uri="{FF2B5EF4-FFF2-40B4-BE49-F238E27FC236}">
                <a16:creationId xmlns:a16="http://schemas.microsoft.com/office/drawing/2014/main" id="{8D30CA13-A855-4970-83E3-FE9908F70E11}"/>
              </a:ext>
            </a:extLst>
          </p:cNvPr>
          <p:cNvCxnSpPr/>
          <p:nvPr/>
        </p:nvCxnSpPr>
        <p:spPr>
          <a:xfrm flipV="1">
            <a:off x="5551885" y="2269542"/>
            <a:ext cx="229790" cy="28813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C3D12690-C950-4DF7-9D94-F5B46753D4E4}"/>
              </a:ext>
            </a:extLst>
          </p:cNvPr>
          <p:cNvCxnSpPr/>
          <p:nvPr/>
        </p:nvCxnSpPr>
        <p:spPr>
          <a:xfrm flipH="1" flipV="1">
            <a:off x="3439716" y="2269542"/>
            <a:ext cx="208359" cy="17264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8C91EA62-A807-4324-912B-289A4E90D973}"/>
              </a:ext>
            </a:extLst>
          </p:cNvPr>
          <p:cNvCxnSpPr/>
          <p:nvPr/>
        </p:nvCxnSpPr>
        <p:spPr>
          <a:xfrm flipV="1">
            <a:off x="3543300" y="3737583"/>
            <a:ext cx="509588" cy="62626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16E20ACA-EEB6-47DE-A957-0B680DAB63FC}"/>
              </a:ext>
            </a:extLst>
          </p:cNvPr>
          <p:cNvCxnSpPr/>
          <p:nvPr/>
        </p:nvCxnSpPr>
        <p:spPr>
          <a:xfrm flipH="1" flipV="1">
            <a:off x="4530328" y="3785208"/>
            <a:ext cx="503634" cy="57864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7" name="矩形 54">
            <a:extLst>
              <a:ext uri="{FF2B5EF4-FFF2-40B4-BE49-F238E27FC236}">
                <a16:creationId xmlns:a16="http://schemas.microsoft.com/office/drawing/2014/main" id="{1D797C8B-3C42-4D15-AB5C-D4899C625F7C}"/>
              </a:ext>
            </a:extLst>
          </p:cNvPr>
          <p:cNvSpPr>
            <a:spLocks noChangeArrowheads="1"/>
          </p:cNvSpPr>
          <p:nvPr/>
        </p:nvSpPr>
        <p:spPr bwMode="auto">
          <a:xfrm>
            <a:off x="2647113" y="4598139"/>
            <a:ext cx="3907873" cy="323165"/>
          </a:xfrm>
          <a:prstGeom prst="rect">
            <a:avLst/>
          </a:prstGeom>
          <a:solidFill>
            <a:schemeClr val="accent3">
              <a:lumMod val="20000"/>
              <a:lumOff val="80000"/>
            </a:schemeClr>
          </a:solidFill>
          <a:ln>
            <a:solidFill>
              <a:schemeClr val="accent1"/>
            </a:solidFill>
          </a:ln>
          <a:extLst/>
        </p:spPr>
        <p:txBody>
          <a:bodyPr wrap="square">
            <a:spAutoFit/>
          </a:bodyPr>
          <a:lstStyle>
            <a:lvl1pPr>
              <a:defRPr>
                <a:solidFill>
                  <a:schemeClr val="tx1"/>
                </a:solidFill>
                <a:latin typeface="Arial" panose="020B0604020202090204" pitchFamily="34" charset="0"/>
                <a:ea typeface="宋体" panose="02010600030101010101" pitchFamily="2" charset="-122"/>
              </a:defRPr>
            </a:lvl1pPr>
            <a:lvl2pPr>
              <a:defRPr>
                <a:solidFill>
                  <a:schemeClr val="tx1"/>
                </a:solidFill>
                <a:latin typeface="Arial" panose="020B0604020202090204" pitchFamily="34" charset="0"/>
                <a:ea typeface="宋体" panose="02010600030101010101" pitchFamily="2" charset="-122"/>
              </a:defRPr>
            </a:lvl2pPr>
            <a:lvl3pPr>
              <a:defRPr>
                <a:solidFill>
                  <a:schemeClr val="tx1"/>
                </a:solidFill>
                <a:latin typeface="Arial" panose="020B0604020202090204" pitchFamily="34" charset="0"/>
                <a:ea typeface="宋体" panose="02010600030101010101" pitchFamily="2" charset="-122"/>
              </a:defRPr>
            </a:lvl3pPr>
            <a:lvl4pPr>
              <a:defRPr>
                <a:solidFill>
                  <a:schemeClr val="tx1"/>
                </a:solidFill>
                <a:latin typeface="Arial" panose="020B0604020202090204" pitchFamily="34" charset="0"/>
                <a:ea typeface="宋体" panose="02010600030101010101" pitchFamily="2" charset="-122"/>
              </a:defRPr>
            </a:lvl4pPr>
            <a:lvl5pPr>
              <a:defRPr>
                <a:solidFill>
                  <a:schemeClr val="tx1"/>
                </a:solidFill>
                <a:latin typeface="Arial" panose="020B0604020202090204" pitchFamily="34" charset="0"/>
                <a:ea typeface="宋体" panose="02010600030101010101" pitchFamily="2" charset="-122"/>
              </a:defRPr>
            </a:lvl5pPr>
            <a:lvl6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6pPr>
            <a:lvl7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7pPr>
            <a:lvl8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8pPr>
            <a:lvl9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9pPr>
          </a:lstStyle>
          <a:p>
            <a:r>
              <a:rPr lang="zh-CN" altLang="zh-CN" sz="1500" b="1" dirty="0">
                <a:solidFill>
                  <a:schemeClr val="accent1"/>
                </a:solidFill>
              </a:rPr>
              <a:t>大数据</a:t>
            </a:r>
            <a:r>
              <a:rPr lang="zh-CN" altLang="zh-CN" sz="1500" dirty="0"/>
              <a:t>到底有多</a:t>
            </a:r>
            <a:r>
              <a:rPr lang="zh-CN" altLang="zh-CN" sz="1500" b="1" dirty="0">
                <a:solidFill>
                  <a:schemeClr val="accent1"/>
                </a:solidFill>
              </a:rPr>
              <a:t>大？</a:t>
            </a:r>
            <a:r>
              <a:rPr lang="en-US" altLang="zh-CN" sz="1500" b="1" dirty="0"/>
              <a:t>     </a:t>
            </a:r>
            <a:r>
              <a:rPr lang="zh-CN" altLang="en-US" sz="1500" dirty="0"/>
              <a:t>这是</a:t>
            </a:r>
            <a:r>
              <a:rPr lang="zh-CN" altLang="zh-CN" sz="1500" dirty="0"/>
              <a:t>一组互联网数据</a:t>
            </a:r>
            <a:endParaRPr lang="zh-CN" altLang="en-US" sz="1500" dirty="0"/>
          </a:p>
        </p:txBody>
      </p:sp>
      <p:sp>
        <p:nvSpPr>
          <p:cNvPr id="28" name="内容占位符 6">
            <a:extLst>
              <a:ext uri="{FF2B5EF4-FFF2-40B4-BE49-F238E27FC236}">
                <a16:creationId xmlns:a16="http://schemas.microsoft.com/office/drawing/2014/main" id="{B23A7AE8-3CCF-4FB0-8733-F3C44A8DDD0B}"/>
              </a:ext>
            </a:extLst>
          </p:cNvPr>
          <p:cNvSpPr>
            <a:spLocks noGrp="1"/>
          </p:cNvSpPr>
          <p:nvPr>
            <p:ph idx="1"/>
          </p:nvPr>
        </p:nvSpPr>
        <p:spPr>
          <a:xfrm>
            <a:off x="457200" y="819150"/>
            <a:ext cx="8229600" cy="3937000"/>
          </a:xfrm>
        </p:spPr>
        <p:txBody>
          <a:bodyPr/>
          <a:lstStyle/>
          <a:p>
            <a:r>
              <a:rPr lang="zh-CN" altLang="en-US" dirty="0"/>
              <a:t>大数据的来源：大数据到底有多大？</a:t>
            </a:r>
          </a:p>
        </p:txBody>
      </p:sp>
    </p:spTree>
    <p:extLst>
      <p:ext uri="{BB962C8B-B14F-4D97-AF65-F5344CB8AC3E}">
        <p14:creationId xmlns:p14="http://schemas.microsoft.com/office/powerpoint/2010/main" val="40977983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6">
            <a:extLst>
              <a:ext uri="{FF2B5EF4-FFF2-40B4-BE49-F238E27FC236}">
                <a16:creationId xmlns:a16="http://schemas.microsoft.com/office/drawing/2014/main" id="{68F5FC3C-D03C-41CA-9D98-F25834474D38}"/>
              </a:ext>
            </a:extLst>
          </p:cNvPr>
          <p:cNvSpPr>
            <a:spLocks noGrp="1"/>
          </p:cNvSpPr>
          <p:nvPr>
            <p:ph idx="1"/>
          </p:nvPr>
        </p:nvSpPr>
        <p:spPr>
          <a:xfrm>
            <a:off x="457200" y="819150"/>
            <a:ext cx="8229600" cy="3937000"/>
          </a:xfrm>
        </p:spPr>
        <p:txBody>
          <a:bodyPr/>
          <a:lstStyle/>
          <a:p>
            <a:r>
              <a:rPr lang="zh-CN" altLang="en-US" dirty="0"/>
              <a:t>大数据来源的分类</a:t>
            </a:r>
          </a:p>
        </p:txBody>
      </p:sp>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a:xfrm>
            <a:off x="1485900" y="205978"/>
            <a:ext cx="6172200" cy="536972"/>
          </a:xfrm>
        </p:spPr>
        <p:txBody>
          <a:bodyPr>
            <a:normAutofit/>
          </a:bodyPr>
          <a:lstStyle/>
          <a:p>
            <a:r>
              <a:rPr kumimoji="1" lang="zh-CN" altLang="en-US" dirty="0">
                <a:latin typeface="Times New Roman" panose="02020603050405020304" pitchFamily="18" charset="0"/>
                <a:ea typeface="微软雅黑" panose="020B0503020204020204" pitchFamily="34" charset="-122"/>
                <a:cs typeface="Times New Roman" panose="02020603050405020304" pitchFamily="18" charset="0"/>
              </a:rPr>
              <a:t>大数据</a:t>
            </a:r>
          </a:p>
        </p:txBody>
      </p:sp>
      <p:sp>
        <p:nvSpPr>
          <p:cNvPr id="4" name="矩形 3">
            <a:extLst>
              <a:ext uri="{FF2B5EF4-FFF2-40B4-BE49-F238E27FC236}">
                <a16:creationId xmlns:a16="http://schemas.microsoft.com/office/drawing/2014/main" id="{7959C254-10B6-4A5F-A8C3-28C776EFABA4}"/>
              </a:ext>
            </a:extLst>
          </p:cNvPr>
          <p:cNvSpPr/>
          <p:nvPr>
            <p:custDataLst>
              <p:tags r:id="rId1"/>
            </p:custDataLst>
          </p:nvPr>
        </p:nvSpPr>
        <p:spPr bwMode="auto">
          <a:xfrm>
            <a:off x="1347239" y="1771650"/>
            <a:ext cx="6694474" cy="356712"/>
          </a:xfrm>
          <a:prstGeom prst="rect">
            <a:avLst/>
          </a:prstGeom>
        </p:spPr>
        <p:txBody>
          <a:bodyPr>
            <a:noAutofit/>
          </a:bodyPr>
          <a:lstStyle>
            <a:lvl1pPr>
              <a:defRPr>
                <a:solidFill>
                  <a:schemeClr val="tx1"/>
                </a:solidFill>
                <a:latin typeface="Arial" panose="020B0604020202090204" pitchFamily="34" charset="0"/>
                <a:ea typeface="宋体" panose="02010600030101010101" pitchFamily="2" charset="-122"/>
              </a:defRPr>
            </a:lvl1pPr>
            <a:lvl2pPr>
              <a:defRPr>
                <a:solidFill>
                  <a:schemeClr val="tx1"/>
                </a:solidFill>
                <a:latin typeface="Arial" panose="020B0604020202090204" pitchFamily="34" charset="0"/>
                <a:ea typeface="宋体" panose="02010600030101010101" pitchFamily="2" charset="-122"/>
              </a:defRPr>
            </a:lvl2pPr>
            <a:lvl3pPr>
              <a:defRPr>
                <a:solidFill>
                  <a:schemeClr val="tx1"/>
                </a:solidFill>
                <a:latin typeface="Arial" panose="020B0604020202090204" pitchFamily="34" charset="0"/>
                <a:ea typeface="宋体" panose="02010600030101010101" pitchFamily="2" charset="-122"/>
              </a:defRPr>
            </a:lvl3pPr>
            <a:lvl4pPr>
              <a:defRPr>
                <a:solidFill>
                  <a:schemeClr val="tx1"/>
                </a:solidFill>
                <a:latin typeface="Arial" panose="020B0604020202090204" pitchFamily="34" charset="0"/>
                <a:ea typeface="宋体" panose="02010600030101010101" pitchFamily="2" charset="-122"/>
              </a:defRPr>
            </a:lvl4pPr>
            <a:lvl5pPr>
              <a:defRPr>
                <a:solidFill>
                  <a:schemeClr val="tx1"/>
                </a:solidFill>
                <a:latin typeface="Arial" panose="020B0604020202090204" pitchFamily="34" charset="0"/>
                <a:ea typeface="宋体" panose="02010600030101010101" pitchFamily="2" charset="-122"/>
              </a:defRPr>
            </a:lvl5pPr>
            <a:lvl6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6pPr>
            <a:lvl7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7pPr>
            <a:lvl8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8pPr>
            <a:lvl9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9pPr>
          </a:lstStyle>
          <a:p>
            <a:r>
              <a:rPr lang="zh-CN" altLang="en-US" sz="1600" b="1" dirty="0">
                <a:solidFill>
                  <a:schemeClr val="accent1"/>
                </a:solidFill>
                <a:latin typeface="华文彩云" panose="02010800040101010101" pitchFamily="2" charset="-122"/>
                <a:ea typeface="华文彩云" panose="02010800040101010101" pitchFamily="2" charset="-122"/>
                <a:sym typeface="Arial" panose="020B0604020202090204" pitchFamily="34" charset="0"/>
              </a:rPr>
              <a:t>按产生数据的主体划分</a:t>
            </a:r>
          </a:p>
        </p:txBody>
      </p:sp>
      <p:sp>
        <p:nvSpPr>
          <p:cNvPr id="5" name="矩形 8">
            <a:extLst>
              <a:ext uri="{FF2B5EF4-FFF2-40B4-BE49-F238E27FC236}">
                <a16:creationId xmlns:a16="http://schemas.microsoft.com/office/drawing/2014/main" id="{66E9FAD5-1ED9-4F80-A55B-C604417ABA3A}"/>
              </a:ext>
            </a:extLst>
          </p:cNvPr>
          <p:cNvSpPr>
            <a:spLocks noChangeArrowheads="1"/>
          </p:cNvSpPr>
          <p:nvPr>
            <p:custDataLst>
              <p:tags r:id="rId2"/>
            </p:custDataLst>
          </p:nvPr>
        </p:nvSpPr>
        <p:spPr bwMode="auto">
          <a:xfrm>
            <a:off x="898216" y="2114550"/>
            <a:ext cx="7303062" cy="271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90204" pitchFamily="34" charset="0"/>
                <a:ea typeface="宋体" panose="02010600030101010101" pitchFamily="2" charset="-122"/>
              </a:defRPr>
            </a:lvl1pPr>
            <a:lvl2pPr>
              <a:defRPr>
                <a:solidFill>
                  <a:schemeClr val="tx1"/>
                </a:solidFill>
                <a:latin typeface="Arial" panose="020B0604020202090204" pitchFamily="34" charset="0"/>
                <a:ea typeface="宋体" panose="02010600030101010101" pitchFamily="2" charset="-122"/>
              </a:defRPr>
            </a:lvl2pPr>
            <a:lvl3pPr>
              <a:defRPr>
                <a:solidFill>
                  <a:schemeClr val="tx1"/>
                </a:solidFill>
                <a:latin typeface="Arial" panose="020B0604020202090204" pitchFamily="34" charset="0"/>
                <a:ea typeface="宋体" panose="02010600030101010101" pitchFamily="2" charset="-122"/>
              </a:defRPr>
            </a:lvl3pPr>
            <a:lvl4pPr>
              <a:defRPr>
                <a:solidFill>
                  <a:schemeClr val="tx1"/>
                </a:solidFill>
                <a:latin typeface="Arial" panose="020B0604020202090204" pitchFamily="34" charset="0"/>
                <a:ea typeface="宋体" panose="02010600030101010101" pitchFamily="2" charset="-122"/>
              </a:defRPr>
            </a:lvl4pPr>
            <a:lvl5pPr>
              <a:defRPr>
                <a:solidFill>
                  <a:schemeClr val="tx1"/>
                </a:solidFill>
                <a:latin typeface="Arial" panose="020B0604020202090204" pitchFamily="34" charset="0"/>
                <a:ea typeface="宋体" panose="02010600030101010101" pitchFamily="2" charset="-122"/>
              </a:defRPr>
            </a:lvl5pPr>
            <a:lvl6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6pPr>
            <a:lvl7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7pPr>
            <a:lvl8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8pPr>
            <a:lvl9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9pPr>
          </a:lstStyle>
          <a:p>
            <a:pPr algn="just">
              <a:lnSpc>
                <a:spcPct val="150000"/>
              </a:lnSpc>
            </a:pPr>
            <a:r>
              <a:rPr lang="zh-CN" altLang="zh-CN" sz="1400" b="1" dirty="0">
                <a:sym typeface="Arial" panose="020B0604020202090204" pitchFamily="34" charset="0"/>
              </a:rPr>
              <a:t>1</a:t>
            </a:r>
            <a:r>
              <a:rPr lang="en-US" altLang="zh-CN" sz="1400" b="1" dirty="0">
                <a:sym typeface="Arial" panose="020B0604020202090204" pitchFamily="34" charset="0"/>
              </a:rPr>
              <a:t>)</a:t>
            </a:r>
            <a:r>
              <a:rPr lang="zh-CN" altLang="zh-CN" sz="1400" b="1" dirty="0">
                <a:sym typeface="Arial" panose="020B0604020202090204" pitchFamily="34" charset="0"/>
              </a:rPr>
              <a:t>少量</a:t>
            </a:r>
            <a:r>
              <a:rPr lang="zh-CN" altLang="zh-CN" sz="1400" b="1" dirty="0">
                <a:solidFill>
                  <a:srgbClr val="C00000"/>
                </a:solidFill>
                <a:sym typeface="Arial" panose="020B0604020202090204" pitchFamily="34" charset="0"/>
              </a:rPr>
              <a:t>企业</a:t>
            </a:r>
            <a:r>
              <a:rPr lang="zh-CN" altLang="en-US" sz="1400" b="1" dirty="0">
                <a:solidFill>
                  <a:srgbClr val="C00000"/>
                </a:solidFill>
                <a:sym typeface="Arial" panose="020B0604020202090204" pitchFamily="34" charset="0"/>
              </a:rPr>
              <a:t>（机构）</a:t>
            </a:r>
            <a:r>
              <a:rPr lang="zh-CN" altLang="zh-CN" sz="1400" b="1" dirty="0">
                <a:sym typeface="Arial" panose="020B0604020202090204" pitchFamily="34" charset="0"/>
              </a:rPr>
              <a:t>应用产生的数据</a:t>
            </a:r>
          </a:p>
          <a:p>
            <a:pPr algn="just">
              <a:lnSpc>
                <a:spcPct val="150000"/>
              </a:lnSpc>
            </a:pPr>
            <a:r>
              <a:rPr lang="en-US" altLang="zh-CN" sz="1400" dirty="0">
                <a:sym typeface="Arial" panose="020B0604020202090204" pitchFamily="34" charset="0"/>
              </a:rPr>
              <a:t>    </a:t>
            </a:r>
            <a:r>
              <a:rPr lang="zh-CN" altLang="zh-CN" sz="1400" dirty="0">
                <a:sym typeface="Arial" panose="020B0604020202090204" pitchFamily="34" charset="0"/>
              </a:rPr>
              <a:t>如关系型数据库中的数据和数据仓库中的数据等</a:t>
            </a:r>
          </a:p>
          <a:p>
            <a:pPr algn="just">
              <a:lnSpc>
                <a:spcPct val="150000"/>
              </a:lnSpc>
            </a:pPr>
            <a:r>
              <a:rPr lang="zh-CN" altLang="zh-CN" sz="1400" b="1" dirty="0">
                <a:sym typeface="Arial" panose="020B0604020202090204" pitchFamily="34" charset="0"/>
              </a:rPr>
              <a:t>2</a:t>
            </a:r>
            <a:r>
              <a:rPr lang="en-US" altLang="zh-CN" sz="1400" b="1" dirty="0">
                <a:sym typeface="Arial" panose="020B0604020202090204" pitchFamily="34" charset="0"/>
              </a:rPr>
              <a:t>)</a:t>
            </a:r>
            <a:r>
              <a:rPr lang="zh-CN" altLang="zh-CN" sz="1400" b="1" dirty="0">
                <a:sym typeface="Arial" panose="020B0604020202090204" pitchFamily="34" charset="0"/>
              </a:rPr>
              <a:t>大量</a:t>
            </a:r>
            <a:r>
              <a:rPr lang="zh-CN" altLang="zh-CN" sz="1400" b="1" dirty="0">
                <a:solidFill>
                  <a:srgbClr val="C00000"/>
                </a:solidFill>
                <a:sym typeface="Arial" panose="020B0604020202090204" pitchFamily="34" charset="0"/>
              </a:rPr>
              <a:t>人</a:t>
            </a:r>
            <a:r>
              <a:rPr lang="zh-CN" altLang="zh-CN" sz="1400" b="1" dirty="0">
                <a:sym typeface="Arial" panose="020B0604020202090204" pitchFamily="34" charset="0"/>
              </a:rPr>
              <a:t>产生的数据</a:t>
            </a:r>
          </a:p>
          <a:p>
            <a:pPr algn="just">
              <a:lnSpc>
                <a:spcPct val="150000"/>
              </a:lnSpc>
            </a:pPr>
            <a:r>
              <a:rPr lang="en-US" altLang="zh-CN" sz="1400" dirty="0">
                <a:sym typeface="Arial" panose="020B0604020202090204" pitchFamily="34" charset="0"/>
              </a:rPr>
              <a:t>   </a:t>
            </a:r>
            <a:r>
              <a:rPr lang="zh-CN" altLang="zh-CN" sz="1400" dirty="0">
                <a:sym typeface="Arial" panose="020B0604020202090204" pitchFamily="34" charset="0"/>
              </a:rPr>
              <a:t>如推特、微博、通信软件、移动通信数据、电子商务在线交易日志数据、企业应用的相关评论数据等</a:t>
            </a:r>
          </a:p>
          <a:p>
            <a:pPr algn="just">
              <a:lnSpc>
                <a:spcPct val="150000"/>
              </a:lnSpc>
            </a:pPr>
            <a:r>
              <a:rPr lang="zh-CN" altLang="zh-CN" sz="1400" b="1" dirty="0">
                <a:sym typeface="Arial" panose="020B0604020202090204" pitchFamily="34" charset="0"/>
              </a:rPr>
              <a:t>3</a:t>
            </a:r>
            <a:r>
              <a:rPr lang="en-US" altLang="zh-CN" sz="1400" b="1" dirty="0">
                <a:sym typeface="Arial" panose="020B0604020202090204" pitchFamily="34" charset="0"/>
              </a:rPr>
              <a:t>)</a:t>
            </a:r>
            <a:r>
              <a:rPr lang="zh-CN" altLang="zh-CN" sz="1400" b="1" dirty="0">
                <a:sym typeface="Arial" panose="020B0604020202090204" pitchFamily="34" charset="0"/>
              </a:rPr>
              <a:t>巨量</a:t>
            </a:r>
            <a:r>
              <a:rPr lang="zh-CN" altLang="zh-CN" sz="1400" b="1" dirty="0">
                <a:solidFill>
                  <a:srgbClr val="C00000"/>
                </a:solidFill>
                <a:sym typeface="Arial" panose="020B0604020202090204" pitchFamily="34" charset="0"/>
              </a:rPr>
              <a:t>机器</a:t>
            </a:r>
            <a:r>
              <a:rPr lang="zh-CN" altLang="zh-CN" sz="1400" b="1" dirty="0">
                <a:sym typeface="Arial" panose="020B0604020202090204" pitchFamily="34" charset="0"/>
              </a:rPr>
              <a:t>产生的数据</a:t>
            </a:r>
          </a:p>
          <a:p>
            <a:pPr algn="just">
              <a:lnSpc>
                <a:spcPct val="150000"/>
              </a:lnSpc>
            </a:pPr>
            <a:r>
              <a:rPr lang="en-US" altLang="zh-CN" sz="1400" dirty="0">
                <a:sym typeface="Arial" panose="020B0604020202090204" pitchFamily="34" charset="0"/>
              </a:rPr>
              <a:t>    </a:t>
            </a:r>
            <a:r>
              <a:rPr lang="zh-CN" altLang="zh-CN" sz="1400" dirty="0">
                <a:sym typeface="Arial" panose="020B0604020202090204" pitchFamily="34" charset="0"/>
              </a:rPr>
              <a:t>如应用服务器日志、各类传感器数据、图像和视频监控数据、二维码和条形码</a:t>
            </a:r>
            <a:r>
              <a:rPr lang="en-US" altLang="zh-CN" sz="1400" dirty="0">
                <a:sym typeface="Arial" panose="020B0604020202090204" pitchFamily="34" charset="0"/>
              </a:rPr>
              <a:t>(</a:t>
            </a:r>
            <a:r>
              <a:rPr lang="zh-CN" altLang="zh-CN" sz="1400" dirty="0">
                <a:sym typeface="Arial" panose="020B0604020202090204" pitchFamily="34" charset="0"/>
              </a:rPr>
              <a:t>条码</a:t>
            </a:r>
            <a:r>
              <a:rPr lang="en-US" altLang="zh-CN" sz="1400" dirty="0">
                <a:sym typeface="Arial" panose="020B0604020202090204" pitchFamily="34" charset="0"/>
              </a:rPr>
              <a:t>)</a:t>
            </a:r>
            <a:r>
              <a:rPr lang="zh-CN" altLang="zh-CN" sz="1400" dirty="0">
                <a:sym typeface="Arial" panose="020B0604020202090204" pitchFamily="34" charset="0"/>
              </a:rPr>
              <a:t>扫描数据等</a:t>
            </a:r>
          </a:p>
        </p:txBody>
      </p:sp>
    </p:spTree>
    <p:extLst>
      <p:ext uri="{BB962C8B-B14F-4D97-AF65-F5344CB8AC3E}">
        <p14:creationId xmlns:p14="http://schemas.microsoft.com/office/powerpoint/2010/main" val="7404763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6">
            <a:extLst>
              <a:ext uri="{FF2B5EF4-FFF2-40B4-BE49-F238E27FC236}">
                <a16:creationId xmlns:a16="http://schemas.microsoft.com/office/drawing/2014/main" id="{5E7DABFA-9589-49C7-9435-C598B589740C}"/>
              </a:ext>
            </a:extLst>
          </p:cNvPr>
          <p:cNvSpPr>
            <a:spLocks noGrp="1"/>
          </p:cNvSpPr>
          <p:nvPr>
            <p:ph idx="1"/>
          </p:nvPr>
        </p:nvSpPr>
        <p:spPr>
          <a:xfrm>
            <a:off x="457200" y="819150"/>
            <a:ext cx="8229600" cy="3937000"/>
          </a:xfrm>
        </p:spPr>
        <p:txBody>
          <a:bodyPr/>
          <a:lstStyle/>
          <a:p>
            <a:r>
              <a:rPr lang="zh-CN" altLang="en-US" dirty="0"/>
              <a:t>结构化数据与非结构化数据</a:t>
            </a:r>
            <a:endParaRPr lang="en-US" altLang="zh-CN" dirty="0"/>
          </a:p>
          <a:p>
            <a:pPr marL="614363" lvl="1" indent="-214313" algn="just">
              <a:lnSpc>
                <a:spcPct val="150000"/>
              </a:lnSpc>
            </a:pPr>
            <a:r>
              <a:rPr lang="zh-CN" altLang="zh-CN" sz="1500" dirty="0">
                <a:sym typeface="Arial" panose="020B0604020202090204" pitchFamily="34" charset="0"/>
              </a:rPr>
              <a:t>大数据不仅仅体现在数据量大，还体现在数据类型多。如此海量的数据中，仅有20%左右属于结构化的数据，80%的数据属于广泛存在于社交网络、物联网、电子商务等领域的非结构化数据</a:t>
            </a:r>
          </a:p>
          <a:p>
            <a:pPr marL="614363" lvl="1" indent="-214313" algn="just">
              <a:lnSpc>
                <a:spcPct val="150000"/>
              </a:lnSpc>
            </a:pPr>
            <a:r>
              <a:rPr lang="zh-CN" altLang="zh-CN" sz="1500" b="1" dirty="0">
                <a:solidFill>
                  <a:srgbClr val="C00000"/>
                </a:solidFill>
                <a:sym typeface="Arial" panose="020B0604020202090204" pitchFamily="34" charset="0"/>
              </a:rPr>
              <a:t>结构化数据</a:t>
            </a:r>
            <a:r>
              <a:rPr lang="zh-CN" altLang="zh-CN" sz="1500" dirty="0">
                <a:sym typeface="Arial" panose="020B0604020202090204" pitchFamily="34" charset="0"/>
              </a:rPr>
              <a:t>简单来说</a:t>
            </a:r>
            <a:r>
              <a:rPr lang="zh-CN" altLang="en-US" sz="1500" dirty="0">
                <a:sym typeface="Arial" panose="020B0604020202090204" pitchFamily="34" charset="0"/>
              </a:rPr>
              <a:t>是传统关系数据库的数据（关系表）</a:t>
            </a:r>
            <a:r>
              <a:rPr lang="zh-CN" altLang="zh-CN" sz="1500" dirty="0">
                <a:sym typeface="Arial" panose="020B0604020202090204" pitchFamily="34" charset="0"/>
              </a:rPr>
              <a:t>，如企业ERP、财务系统、医疗HIS数据库、教育一卡通、政府行政审批、其他核心数据库等数据</a:t>
            </a:r>
          </a:p>
          <a:p>
            <a:pPr marL="614363" lvl="1" indent="-214313" algn="just">
              <a:lnSpc>
                <a:spcPct val="150000"/>
              </a:lnSpc>
            </a:pPr>
            <a:r>
              <a:rPr lang="zh-CN" altLang="zh-CN" sz="1500" b="1" dirty="0">
                <a:solidFill>
                  <a:srgbClr val="C00000"/>
                </a:solidFill>
                <a:sym typeface="Arial" panose="020B0604020202090204" pitchFamily="34" charset="0"/>
              </a:rPr>
              <a:t>非结构化数据</a:t>
            </a:r>
            <a:r>
              <a:rPr lang="zh-CN" altLang="zh-CN" sz="1500" dirty="0">
                <a:sym typeface="Arial" panose="020B0604020202090204" pitchFamily="34" charset="0"/>
              </a:rPr>
              <a:t>包括所有格式的办公文档、文本、图片、XML、HTML、各类报表、图像和音频、视频信息等数据</a:t>
            </a:r>
          </a:p>
          <a:p>
            <a:pPr lvl="1"/>
            <a:endParaRPr lang="zh-CN" altLang="en-US" dirty="0"/>
          </a:p>
        </p:txBody>
      </p:sp>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a:xfrm>
            <a:off x="1485900" y="205978"/>
            <a:ext cx="6172200" cy="536972"/>
          </a:xfrm>
        </p:spPr>
        <p:txBody>
          <a:bodyPr>
            <a:normAutofit/>
          </a:bodyPr>
          <a:lstStyle/>
          <a:p>
            <a:r>
              <a:rPr kumimoji="1" lang="zh-CN" altLang="en-US" dirty="0">
                <a:latin typeface="Times New Roman" panose="02020603050405020304" pitchFamily="18" charset="0"/>
                <a:cs typeface="Times New Roman" panose="02020603050405020304" pitchFamily="18" charset="0"/>
              </a:rPr>
              <a:t>大数据</a:t>
            </a:r>
            <a:endParaRPr kumimoji="1"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1210515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a:xfrm>
            <a:off x="1485900" y="205978"/>
            <a:ext cx="6172200" cy="536972"/>
          </a:xfrm>
        </p:spPr>
        <p:txBody>
          <a:bodyPr>
            <a:normAutofit/>
          </a:bodyPr>
          <a:lstStyle/>
          <a:p>
            <a:r>
              <a:rPr kumimoji="1" lang="zh-CN" altLang="en-US" dirty="0">
                <a:latin typeface="Times New Roman" panose="02020603050405020304" pitchFamily="18" charset="0"/>
                <a:cs typeface="Times New Roman" panose="02020603050405020304" pitchFamily="18" charset="0"/>
              </a:rPr>
              <a:t>大数据</a:t>
            </a:r>
            <a:endParaRPr kumimoji="1"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内容占位符 6">
            <a:extLst>
              <a:ext uri="{FF2B5EF4-FFF2-40B4-BE49-F238E27FC236}">
                <a16:creationId xmlns:a16="http://schemas.microsoft.com/office/drawing/2014/main" id="{8F512822-2648-49F6-B015-89D0629C152D}"/>
              </a:ext>
            </a:extLst>
          </p:cNvPr>
          <p:cNvSpPr>
            <a:spLocks noGrp="1"/>
          </p:cNvSpPr>
          <p:nvPr>
            <p:ph idx="1"/>
          </p:nvPr>
        </p:nvSpPr>
        <p:spPr>
          <a:xfrm>
            <a:off x="457200" y="819150"/>
            <a:ext cx="8229600" cy="3937000"/>
          </a:xfrm>
        </p:spPr>
        <p:txBody>
          <a:bodyPr/>
          <a:lstStyle/>
          <a:p>
            <a:r>
              <a:rPr lang="zh-CN" altLang="en-US" dirty="0"/>
              <a:t>批处理与流式数据处理</a:t>
            </a:r>
          </a:p>
          <a:p>
            <a:pPr lvl="1"/>
            <a:r>
              <a:rPr lang="zh-CN" altLang="en-US" dirty="0"/>
              <a:t>对于</a:t>
            </a:r>
            <a:r>
              <a:rPr lang="zh-CN" altLang="en-US" dirty="0">
                <a:solidFill>
                  <a:srgbClr val="C00000"/>
                </a:solidFill>
              </a:rPr>
              <a:t>批处理</a:t>
            </a:r>
            <a:r>
              <a:rPr lang="zh-CN" altLang="en-US" dirty="0"/>
              <a:t>来讲，首先数据被不断地采集，保存到数据库中，然后进行分析处理（包括</a:t>
            </a:r>
            <a:r>
              <a:rPr lang="en-US" altLang="zh-CN" dirty="0"/>
              <a:t>SQL</a:t>
            </a:r>
            <a:r>
              <a:rPr lang="zh-CN" altLang="en-US" dirty="0"/>
              <a:t>查询）</a:t>
            </a:r>
            <a:endParaRPr lang="en-US" altLang="zh-CN" dirty="0"/>
          </a:p>
          <a:p>
            <a:pPr lvl="2"/>
            <a:r>
              <a:rPr lang="zh-CN" altLang="en-US" dirty="0"/>
              <a:t>批处理适用于对大量数据（</a:t>
            </a:r>
            <a:r>
              <a:rPr lang="en-US" altLang="zh-CN" dirty="0"/>
              <a:t>High Volume</a:t>
            </a:r>
            <a:r>
              <a:rPr lang="zh-CN" altLang="en-US" dirty="0"/>
              <a:t>）进行处理的场合</a:t>
            </a:r>
            <a:endParaRPr lang="en-US" altLang="zh-CN" dirty="0"/>
          </a:p>
          <a:p>
            <a:pPr lvl="2"/>
            <a:r>
              <a:rPr lang="zh-CN" altLang="en-US" dirty="0"/>
              <a:t>人们需要等到整个分析处理任务完成，才能获得最终结果。</a:t>
            </a:r>
          </a:p>
          <a:p>
            <a:pPr lvl="1"/>
            <a:r>
              <a:rPr lang="zh-CN" altLang="en-US" dirty="0"/>
              <a:t>在</a:t>
            </a:r>
            <a:r>
              <a:rPr lang="zh-CN" altLang="en-US" dirty="0">
                <a:solidFill>
                  <a:srgbClr val="C00000"/>
                </a:solidFill>
              </a:rPr>
              <a:t>流式数据处理</a:t>
            </a:r>
            <a:r>
              <a:rPr lang="zh-CN" altLang="en-US" dirty="0"/>
              <a:t>模式里，数据持续到达，系统及时处理新到达的数据，并不断产生输出</a:t>
            </a:r>
            <a:endParaRPr lang="en-US" altLang="zh-CN" dirty="0"/>
          </a:p>
          <a:p>
            <a:pPr lvl="2"/>
            <a:r>
              <a:rPr lang="zh-CN" altLang="en-US" dirty="0"/>
              <a:t>处理过的数据一般丢弃掉，当然也可以保存起来</a:t>
            </a:r>
            <a:endParaRPr lang="en-US" altLang="zh-CN" dirty="0"/>
          </a:p>
          <a:p>
            <a:pPr lvl="2"/>
            <a:r>
              <a:rPr lang="zh-CN" altLang="en-US" dirty="0"/>
              <a:t>流式数据处理模式强调数据处理的速度（</a:t>
            </a:r>
            <a:r>
              <a:rPr lang="en-US" altLang="zh-CN" dirty="0"/>
              <a:t>Velocity</a:t>
            </a:r>
            <a:r>
              <a:rPr lang="zh-CN" altLang="en-US" dirty="0"/>
              <a:t>）</a:t>
            </a:r>
          </a:p>
          <a:p>
            <a:pPr lvl="1"/>
            <a:endParaRPr lang="zh-CN" altLang="en-US" dirty="0"/>
          </a:p>
        </p:txBody>
      </p:sp>
    </p:spTree>
    <p:extLst>
      <p:ext uri="{BB962C8B-B14F-4D97-AF65-F5344CB8AC3E}">
        <p14:creationId xmlns:p14="http://schemas.microsoft.com/office/powerpoint/2010/main" val="1805803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大数据</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pPr algn="just"/>
            <a:r>
              <a:rPr lang="en-US" altLang="zh-CN" sz="1600" dirty="0">
                <a:solidFill>
                  <a:srgbClr val="C00000"/>
                </a:solidFill>
              </a:rPr>
              <a:t>Lambda </a:t>
            </a:r>
            <a:r>
              <a:rPr lang="zh-CN" altLang="en-US" sz="1600" dirty="0">
                <a:solidFill>
                  <a:srgbClr val="C00000"/>
                </a:solidFill>
              </a:rPr>
              <a:t>架构</a:t>
            </a:r>
            <a:r>
              <a:rPr lang="zh-CN" altLang="en-US" sz="1600" dirty="0"/>
              <a:t>（</a:t>
            </a:r>
            <a:r>
              <a:rPr lang="en-US" altLang="zh-CN" sz="1600" dirty="0"/>
              <a:t>Lambda Architecture</a:t>
            </a:r>
            <a:r>
              <a:rPr lang="zh-CN" altLang="en-US" sz="1600" dirty="0"/>
              <a:t>）是由 </a:t>
            </a:r>
            <a:r>
              <a:rPr lang="en-US" altLang="zh-CN" sz="1600" dirty="0"/>
              <a:t>Twitter </a:t>
            </a:r>
            <a:r>
              <a:rPr lang="zh-CN" altLang="en-US" sz="1600" dirty="0"/>
              <a:t>工程师南森</a:t>
            </a:r>
            <a:r>
              <a:rPr lang="en-US" altLang="zh-CN" sz="1600" dirty="0"/>
              <a:t>·</a:t>
            </a:r>
            <a:r>
              <a:rPr lang="zh-CN" altLang="en-US" sz="1600" dirty="0"/>
              <a:t>马茨（</a:t>
            </a:r>
            <a:r>
              <a:rPr lang="en-US" altLang="zh-CN" sz="1600" dirty="0"/>
              <a:t>Nathan Marz</a:t>
            </a:r>
            <a:r>
              <a:rPr lang="zh-CN" altLang="en-US" sz="1600" dirty="0"/>
              <a:t>）提出的大数据处理架构</a:t>
            </a:r>
            <a:endParaRPr lang="en-US" altLang="zh-CN" sz="1600" dirty="0"/>
          </a:p>
          <a:p>
            <a:pPr lvl="1" algn="just"/>
            <a:r>
              <a:rPr kumimoji="1" lang="en-US" altLang="zh-CN" sz="1400" dirty="0"/>
              <a:t>Lambda </a:t>
            </a:r>
            <a:r>
              <a:rPr kumimoji="1" lang="zh-CN" altLang="en-US" sz="1400" dirty="0"/>
              <a:t>架构总共由三层系统组成：批处理层（</a:t>
            </a:r>
            <a:r>
              <a:rPr kumimoji="1" lang="en-US" altLang="zh-CN" sz="1400" dirty="0"/>
              <a:t>Batch Layer</a:t>
            </a:r>
            <a:r>
              <a:rPr kumimoji="1" lang="zh-CN" altLang="en-US" sz="1400" dirty="0"/>
              <a:t>），速度处理层（</a:t>
            </a:r>
            <a:r>
              <a:rPr kumimoji="1" lang="en-US" altLang="zh-CN" sz="1400" dirty="0"/>
              <a:t>Speed Layer</a:t>
            </a:r>
            <a:r>
              <a:rPr kumimoji="1" lang="zh-CN" altLang="en-US" sz="1400" dirty="0"/>
              <a:t>），以及用于响应查询的服务层（</a:t>
            </a:r>
            <a:r>
              <a:rPr kumimoji="1" lang="en-US" altLang="zh-CN" sz="1400" dirty="0"/>
              <a:t>Serving Layer</a:t>
            </a:r>
            <a:r>
              <a:rPr kumimoji="1" lang="zh-CN" altLang="en-US" sz="1400" dirty="0"/>
              <a:t>）</a:t>
            </a:r>
            <a:endParaRPr kumimoji="1" lang="en-US" altLang="zh-CN" sz="1400" dirty="0"/>
          </a:p>
          <a:p>
            <a:pPr lvl="1" algn="just"/>
            <a:r>
              <a:rPr kumimoji="1" lang="zh-CN" altLang="en-US" sz="1400" dirty="0">
                <a:solidFill>
                  <a:srgbClr val="C00000"/>
                </a:solidFill>
              </a:rPr>
              <a:t>批处理层：</a:t>
            </a:r>
            <a:r>
              <a:rPr kumimoji="1" lang="zh-CN" altLang="en-US" sz="1400" dirty="0"/>
              <a:t>使用可处理大量数据的分布式处理系统预先计算结果；它通过处理所有的已有历史数据来实现数据的准确性</a:t>
            </a:r>
          </a:p>
          <a:p>
            <a:pPr lvl="1" algn="just"/>
            <a:r>
              <a:rPr kumimoji="1" lang="zh-CN" altLang="en-US" sz="1400" dirty="0">
                <a:solidFill>
                  <a:srgbClr val="C00000"/>
                </a:solidFill>
              </a:rPr>
              <a:t>速度层：</a:t>
            </a:r>
            <a:r>
              <a:rPr kumimoji="1" lang="zh-CN" altLang="en-US" sz="1400" dirty="0"/>
              <a:t>通过提供最新数据的实时视图来最小化延迟；速度层所生成的数据视图可能不如批处理层最终生成的视图那样准确或完整，但它们几乎在收到数据后立即可用</a:t>
            </a:r>
          </a:p>
          <a:p>
            <a:pPr lvl="1" algn="just"/>
            <a:r>
              <a:rPr kumimoji="1" lang="zh-CN" altLang="en-US" sz="1400" dirty="0">
                <a:solidFill>
                  <a:srgbClr val="C00000"/>
                </a:solidFill>
              </a:rPr>
              <a:t>服务层：</a:t>
            </a:r>
            <a:r>
              <a:rPr kumimoji="1" lang="zh-CN" altLang="en-US" sz="1400" dirty="0"/>
              <a:t>可以整合两者的数据，得到最终结果</a:t>
            </a:r>
            <a:endParaRPr kumimoji="1" lang="en-US" altLang="zh-CN" sz="1400" dirty="0"/>
          </a:p>
        </p:txBody>
      </p:sp>
      <p:pic>
        <p:nvPicPr>
          <p:cNvPr id="6" name="图片 5"/>
          <p:cNvPicPr>
            <a:picLocks noChangeAspect="1"/>
          </p:cNvPicPr>
          <p:nvPr/>
        </p:nvPicPr>
        <p:blipFill>
          <a:blip r:embed="rId2"/>
          <a:stretch>
            <a:fillRect/>
          </a:stretch>
        </p:blipFill>
        <p:spPr>
          <a:xfrm>
            <a:off x="1924334" y="3146948"/>
            <a:ext cx="5285734" cy="1846213"/>
          </a:xfrm>
          <a:prstGeom prst="rect">
            <a:avLst/>
          </a:prstGeom>
        </p:spPr>
      </p:pic>
    </p:spTree>
    <p:extLst>
      <p:ext uri="{BB962C8B-B14F-4D97-AF65-F5344CB8AC3E}">
        <p14:creationId xmlns:p14="http://schemas.microsoft.com/office/powerpoint/2010/main" val="39827001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大数据</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r>
              <a:rPr kumimoji="1" lang="zh-CN" altLang="en-US" sz="1800" dirty="0"/>
              <a:t>随着 </a:t>
            </a:r>
            <a:r>
              <a:rPr kumimoji="1" lang="en-US" altLang="zh-CN" sz="1800" dirty="0"/>
              <a:t>Flink </a:t>
            </a:r>
            <a:r>
              <a:rPr kumimoji="1" lang="zh-CN" altLang="en-US" sz="1800" dirty="0"/>
              <a:t>等流处理引擎的出现，流处理技术很成熟了，这时为了解决两套代码的问题，</a:t>
            </a:r>
            <a:r>
              <a:rPr kumimoji="1" lang="en-US" altLang="zh-CN" sz="1800" dirty="0"/>
              <a:t>LickedIn </a:t>
            </a:r>
            <a:r>
              <a:rPr kumimoji="1" lang="zh-CN" altLang="en-US" sz="1800" dirty="0"/>
              <a:t>的 </a:t>
            </a:r>
            <a:r>
              <a:rPr kumimoji="1" lang="en-US" altLang="zh-CN" sz="1800" dirty="0"/>
              <a:t>Jay Kreps </a:t>
            </a:r>
            <a:r>
              <a:rPr kumimoji="1" lang="zh-CN" altLang="en-US" sz="1800" dirty="0"/>
              <a:t>提出了 </a:t>
            </a:r>
            <a:r>
              <a:rPr kumimoji="1" lang="en-US" altLang="zh-CN" sz="1800" dirty="0">
                <a:solidFill>
                  <a:srgbClr val="C00000"/>
                </a:solidFill>
              </a:rPr>
              <a:t>Kappa </a:t>
            </a:r>
            <a:r>
              <a:rPr kumimoji="1" lang="zh-CN" altLang="en-US" sz="1800" dirty="0">
                <a:solidFill>
                  <a:srgbClr val="C00000"/>
                </a:solidFill>
              </a:rPr>
              <a:t>架构</a:t>
            </a:r>
          </a:p>
          <a:p>
            <a:pPr lvl="1"/>
            <a:r>
              <a:rPr kumimoji="1" lang="en-US" altLang="zh-CN" sz="1600" dirty="0"/>
              <a:t>Kappa </a:t>
            </a:r>
            <a:r>
              <a:rPr kumimoji="1" lang="zh-CN" altLang="en-US" sz="1600" dirty="0"/>
              <a:t>架构可以认为是 </a:t>
            </a:r>
            <a:r>
              <a:rPr kumimoji="1" lang="en-US" altLang="zh-CN" sz="1600" dirty="0"/>
              <a:t>Lambda </a:t>
            </a:r>
            <a:r>
              <a:rPr kumimoji="1" lang="zh-CN" altLang="en-US" sz="1600" dirty="0"/>
              <a:t>架构的简化版</a:t>
            </a:r>
          </a:p>
          <a:p>
            <a:pPr lvl="1"/>
            <a:r>
              <a:rPr kumimoji="1" lang="zh-CN" altLang="en-US" sz="1600" dirty="0"/>
              <a:t>在 </a:t>
            </a:r>
            <a:r>
              <a:rPr kumimoji="1" lang="en-US" altLang="zh-CN" sz="1600" dirty="0"/>
              <a:t>Kappa </a:t>
            </a:r>
            <a:r>
              <a:rPr kumimoji="1" lang="zh-CN" altLang="en-US" sz="1600" dirty="0"/>
              <a:t>架构中，</a:t>
            </a:r>
            <a:r>
              <a:rPr kumimoji="1" lang="zh-CN" altLang="en-US" sz="1600" dirty="0">
                <a:solidFill>
                  <a:srgbClr val="C00000"/>
                </a:solidFill>
              </a:rPr>
              <a:t>历史数据重新处理都通过上游重放完成</a:t>
            </a:r>
            <a:endParaRPr kumimoji="1" lang="en-US" altLang="zh-CN" sz="1600" dirty="0">
              <a:solidFill>
                <a:srgbClr val="C00000"/>
              </a:solidFill>
            </a:endParaRPr>
          </a:p>
        </p:txBody>
      </p:sp>
      <p:pic>
        <p:nvPicPr>
          <p:cNvPr id="4" name="图片 3"/>
          <p:cNvPicPr>
            <a:picLocks noChangeAspect="1"/>
          </p:cNvPicPr>
          <p:nvPr/>
        </p:nvPicPr>
        <p:blipFill>
          <a:blip r:embed="rId2"/>
          <a:stretch>
            <a:fillRect/>
          </a:stretch>
        </p:blipFill>
        <p:spPr>
          <a:xfrm>
            <a:off x="2033517" y="2174544"/>
            <a:ext cx="4769892" cy="2581606"/>
          </a:xfrm>
          <a:prstGeom prst="rect">
            <a:avLst/>
          </a:prstGeom>
        </p:spPr>
      </p:pic>
    </p:spTree>
    <p:extLst>
      <p:ext uri="{BB962C8B-B14F-4D97-AF65-F5344CB8AC3E}">
        <p14:creationId xmlns:p14="http://schemas.microsoft.com/office/powerpoint/2010/main" val="23655628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大数据</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r>
              <a:rPr kumimoji="1" lang="en-US" altLang="zh-CN" dirty="0"/>
              <a:t>Lambda </a:t>
            </a:r>
            <a:r>
              <a:rPr kumimoji="1" lang="zh-CN" altLang="en-US" dirty="0"/>
              <a:t>与</a:t>
            </a:r>
            <a:r>
              <a:rPr kumimoji="1" lang="en-US" altLang="zh-CN" dirty="0"/>
              <a:t>Kappa</a:t>
            </a:r>
            <a:r>
              <a:rPr kumimoji="1" lang="zh-CN" altLang="en-US" dirty="0"/>
              <a:t>架构对比</a:t>
            </a:r>
            <a:endParaRPr kumimoji="1" lang="en-US" altLang="zh-CN" dirty="0"/>
          </a:p>
        </p:txBody>
      </p:sp>
      <p:pic>
        <p:nvPicPr>
          <p:cNvPr id="4" name="图片 3"/>
          <p:cNvPicPr>
            <a:picLocks noChangeAspect="1"/>
          </p:cNvPicPr>
          <p:nvPr/>
        </p:nvPicPr>
        <p:blipFill>
          <a:blip r:embed="rId2"/>
          <a:stretch>
            <a:fillRect/>
          </a:stretch>
        </p:blipFill>
        <p:spPr>
          <a:xfrm>
            <a:off x="1351128" y="1226551"/>
            <a:ext cx="6066430" cy="3735225"/>
          </a:xfrm>
          <a:prstGeom prst="rect">
            <a:avLst/>
          </a:prstGeom>
        </p:spPr>
      </p:pic>
    </p:spTree>
    <p:extLst>
      <p:ext uri="{BB962C8B-B14F-4D97-AF65-F5344CB8AC3E}">
        <p14:creationId xmlns:p14="http://schemas.microsoft.com/office/powerpoint/2010/main" val="37591711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大数据</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endParaRPr kumimoji="1" lang="en-US" altLang="zh-CN"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459182" y="819150"/>
            <a:ext cx="3926897" cy="40041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60393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a:xfrm>
            <a:off x="1485900" y="205978"/>
            <a:ext cx="6172200" cy="536972"/>
          </a:xfrm>
        </p:spPr>
        <p:txBody>
          <a:bodyPr>
            <a:normAutofit/>
          </a:bodyPr>
          <a:lstStyle/>
          <a:p>
            <a:r>
              <a:rPr kumimoji="1" lang="zh-CN" altLang="en-US" dirty="0">
                <a:latin typeface="Times New Roman" panose="02020603050405020304" pitchFamily="18" charset="0"/>
                <a:cs typeface="Times New Roman" panose="02020603050405020304" pitchFamily="18" charset="0"/>
              </a:rPr>
              <a:t>大数据</a:t>
            </a:r>
            <a:endParaRPr kumimoji="1"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4" name="Picture 3" descr="E:\PPT 胡占利 工作\《大数据》随书美化PPT\2-12060Q45929.jpg">
            <a:extLst>
              <a:ext uri="{FF2B5EF4-FFF2-40B4-BE49-F238E27FC236}">
                <a16:creationId xmlns:a16="http://schemas.microsoft.com/office/drawing/2014/main" id="{8B0C552F-F50C-469E-A209-F206B5566CD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94235" y="1864519"/>
            <a:ext cx="2027634" cy="126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descr="E:\PPT 胡占利 工作\《大数据》随书美化PPT\made-in-china.jpg">
            <a:extLst>
              <a:ext uri="{FF2B5EF4-FFF2-40B4-BE49-F238E27FC236}">
                <a16:creationId xmlns:a16="http://schemas.microsoft.com/office/drawing/2014/main" id="{473068B2-ADF2-4DBC-AD26-D7D2AA8D299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16191" y="1850231"/>
            <a:ext cx="1803797" cy="128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829943FE-61C8-4A40-94B4-13C626C4B5F3}"/>
              </a:ext>
            </a:extLst>
          </p:cNvPr>
          <p:cNvSpPr/>
          <p:nvPr/>
        </p:nvSpPr>
        <p:spPr>
          <a:xfrm>
            <a:off x="1371600" y="1657351"/>
            <a:ext cx="6249591" cy="2937272"/>
          </a:xfrm>
          <a:prstGeom prst="rect">
            <a:avLst/>
          </a:prstGeom>
          <a:no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013" noProof="1">
              <a:solidFill>
                <a:prstClr val="white"/>
              </a:solidFill>
            </a:endParaRPr>
          </a:p>
        </p:txBody>
      </p:sp>
      <p:grpSp>
        <p:nvGrpSpPr>
          <p:cNvPr id="7" name="组合 29">
            <a:extLst>
              <a:ext uri="{FF2B5EF4-FFF2-40B4-BE49-F238E27FC236}">
                <a16:creationId xmlns:a16="http://schemas.microsoft.com/office/drawing/2014/main" id="{35CD6D56-5662-4B6F-BAE1-A11074207F25}"/>
              </a:ext>
            </a:extLst>
          </p:cNvPr>
          <p:cNvGrpSpPr/>
          <p:nvPr/>
        </p:nvGrpSpPr>
        <p:grpSpPr bwMode="auto">
          <a:xfrm>
            <a:off x="1494235" y="1864519"/>
            <a:ext cx="6032897" cy="2643188"/>
            <a:chOff x="585193" y="1672292"/>
            <a:chExt cx="10813680" cy="4736037"/>
          </a:xfrm>
        </p:grpSpPr>
        <p:pic>
          <p:nvPicPr>
            <p:cNvPr id="8" name="图片 31">
              <a:extLst>
                <a:ext uri="{FF2B5EF4-FFF2-40B4-BE49-F238E27FC236}">
                  <a16:creationId xmlns:a16="http://schemas.microsoft.com/office/drawing/2014/main" id="{4E1E9A49-090D-4119-8B47-077E573514C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10372" y="1672292"/>
              <a:ext cx="3763395" cy="2278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36">
              <a:extLst>
                <a:ext uri="{FF2B5EF4-FFF2-40B4-BE49-F238E27FC236}">
                  <a16:creationId xmlns:a16="http://schemas.microsoft.com/office/drawing/2014/main" id="{74AA8A7C-B3D8-4B3A-91D2-222B0067854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85193" y="3992777"/>
              <a:ext cx="2578315" cy="2397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37">
              <a:extLst>
                <a:ext uri="{FF2B5EF4-FFF2-40B4-BE49-F238E27FC236}">
                  <a16:creationId xmlns:a16="http://schemas.microsoft.com/office/drawing/2014/main" id="{E2A2BB68-C946-4B9A-83B0-7DC09986B505}"/>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l="5554" r="6943" b="11198"/>
            <a:stretch>
              <a:fillRect/>
            </a:stretch>
          </p:blipFill>
          <p:spPr bwMode="auto">
            <a:xfrm>
              <a:off x="3239305" y="4000780"/>
              <a:ext cx="3439885" cy="2389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图片 38">
              <a:extLst>
                <a:ext uri="{FF2B5EF4-FFF2-40B4-BE49-F238E27FC236}">
                  <a16:creationId xmlns:a16="http://schemas.microsoft.com/office/drawing/2014/main" id="{05AE90C9-C0A9-486F-B9BF-57D4CCDB1E26}"/>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l="7410" t="11636" r="4762"/>
            <a:stretch>
              <a:fillRect/>
            </a:stretch>
          </p:blipFill>
          <p:spPr bwMode="auto">
            <a:xfrm>
              <a:off x="6735877" y="4000780"/>
              <a:ext cx="2416745" cy="2390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图片 39">
              <a:extLst>
                <a:ext uri="{FF2B5EF4-FFF2-40B4-BE49-F238E27FC236}">
                  <a16:creationId xmlns:a16="http://schemas.microsoft.com/office/drawing/2014/main" id="{C70F1C07-31FC-4F8D-8820-06EEF8770709}"/>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l="15625" r="13000"/>
            <a:stretch>
              <a:fillRect/>
            </a:stretch>
          </p:blipFill>
          <p:spPr bwMode="auto">
            <a:xfrm>
              <a:off x="9221096" y="4000780"/>
              <a:ext cx="2177777" cy="2407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3" name="矩形 12">
            <a:extLst>
              <a:ext uri="{FF2B5EF4-FFF2-40B4-BE49-F238E27FC236}">
                <a16:creationId xmlns:a16="http://schemas.microsoft.com/office/drawing/2014/main" id="{20E2C8D0-7FA1-425A-9ED7-FC25A90F2663}"/>
              </a:ext>
            </a:extLst>
          </p:cNvPr>
          <p:cNvSpPr/>
          <p:nvPr/>
        </p:nvSpPr>
        <p:spPr>
          <a:xfrm>
            <a:off x="3614738" y="1510904"/>
            <a:ext cx="2948294" cy="334707"/>
          </a:xfrm>
          <a:prstGeom prst="rect">
            <a:avLst/>
          </a:prstGeom>
          <a:solidFill>
            <a:schemeClr val="tx1">
              <a:lumMod val="65000"/>
              <a:lumOff val="35000"/>
            </a:schemeClr>
          </a:solidFill>
        </p:spPr>
        <p:txBody>
          <a:bodyPr wrap="square">
            <a:spAutoFit/>
          </a:bodyPr>
          <a:lstStyle>
            <a:lvl1pPr>
              <a:defRPr>
                <a:solidFill>
                  <a:schemeClr val="tx1"/>
                </a:solidFill>
                <a:latin typeface="Arial" panose="020B0604020202090204" pitchFamily="34" charset="0"/>
                <a:ea typeface="宋体" panose="02010600030101010101" pitchFamily="2" charset="-122"/>
              </a:defRPr>
            </a:lvl1pPr>
            <a:lvl2pPr>
              <a:defRPr>
                <a:solidFill>
                  <a:schemeClr val="tx1"/>
                </a:solidFill>
                <a:latin typeface="Arial" panose="020B0604020202090204" pitchFamily="34" charset="0"/>
                <a:ea typeface="宋体" panose="02010600030101010101" pitchFamily="2" charset="-122"/>
              </a:defRPr>
            </a:lvl2pPr>
            <a:lvl3pPr>
              <a:defRPr>
                <a:solidFill>
                  <a:schemeClr val="tx1"/>
                </a:solidFill>
                <a:latin typeface="Arial" panose="020B0604020202090204" pitchFamily="34" charset="0"/>
                <a:ea typeface="宋体" panose="02010600030101010101" pitchFamily="2" charset="-122"/>
              </a:defRPr>
            </a:lvl3pPr>
            <a:lvl4pPr>
              <a:defRPr>
                <a:solidFill>
                  <a:schemeClr val="tx1"/>
                </a:solidFill>
                <a:latin typeface="Arial" panose="020B0604020202090204" pitchFamily="34" charset="0"/>
                <a:ea typeface="宋体" panose="02010600030101010101" pitchFamily="2" charset="-122"/>
              </a:defRPr>
            </a:lvl4pPr>
            <a:lvl5pPr>
              <a:defRPr>
                <a:solidFill>
                  <a:schemeClr val="tx1"/>
                </a:solidFill>
                <a:latin typeface="Arial" panose="020B0604020202090204" pitchFamily="34" charset="0"/>
                <a:ea typeface="宋体" panose="02010600030101010101" pitchFamily="2" charset="-122"/>
              </a:defRPr>
            </a:lvl5pPr>
            <a:lvl6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6pPr>
            <a:lvl7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7pPr>
            <a:lvl8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8pPr>
            <a:lvl9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9pPr>
          </a:lstStyle>
          <a:p>
            <a:r>
              <a:rPr lang="zh-CN" altLang="en-US" sz="1575" dirty="0">
                <a:solidFill>
                  <a:srgbClr val="FFFFFF"/>
                </a:solidFill>
                <a:ea typeface="华文中宋" panose="02010600040101010101" pitchFamily="2" charset="-122"/>
              </a:rPr>
              <a:t>大数据</a:t>
            </a:r>
            <a:r>
              <a:rPr lang="en-US" altLang="zh-CN" sz="1575" dirty="0">
                <a:solidFill>
                  <a:srgbClr val="FFFFFF"/>
                </a:solidFill>
                <a:ea typeface="华文中宋" panose="02010600040101010101" pitchFamily="2" charset="-122"/>
              </a:rPr>
              <a:t>7</a:t>
            </a:r>
            <a:r>
              <a:rPr lang="zh-CN" altLang="en-US" sz="1575" dirty="0">
                <a:solidFill>
                  <a:srgbClr val="FFFFFF"/>
                </a:solidFill>
                <a:ea typeface="华文中宋" panose="02010600040101010101" pitchFamily="2" charset="-122"/>
              </a:rPr>
              <a:t>个应用场景</a:t>
            </a:r>
            <a:r>
              <a:rPr lang="en-US" altLang="zh-CN" sz="1575" dirty="0">
                <a:solidFill>
                  <a:srgbClr val="FFFFFF"/>
                </a:solidFill>
                <a:ea typeface="华文中宋" panose="02010600040101010101" pitchFamily="2" charset="-122"/>
              </a:rPr>
              <a:t>……</a:t>
            </a:r>
            <a:endParaRPr lang="zh-CN" altLang="en-US" sz="1575" dirty="0">
              <a:solidFill>
                <a:srgbClr val="FFFFFF"/>
              </a:solidFill>
              <a:ea typeface="华文中宋" panose="02010600040101010101" pitchFamily="2" charset="-122"/>
            </a:endParaRPr>
          </a:p>
        </p:txBody>
      </p:sp>
      <p:grpSp>
        <p:nvGrpSpPr>
          <p:cNvPr id="14" name="组合 41">
            <a:extLst>
              <a:ext uri="{FF2B5EF4-FFF2-40B4-BE49-F238E27FC236}">
                <a16:creationId xmlns:a16="http://schemas.microsoft.com/office/drawing/2014/main" id="{A1A04E53-5F33-4C03-B582-48DC2DE8F533}"/>
              </a:ext>
            </a:extLst>
          </p:cNvPr>
          <p:cNvGrpSpPr/>
          <p:nvPr/>
        </p:nvGrpSpPr>
        <p:grpSpPr bwMode="auto">
          <a:xfrm>
            <a:off x="1768079" y="2524125"/>
            <a:ext cx="1427559" cy="485775"/>
            <a:chOff x="1307154" y="2302514"/>
            <a:chExt cx="2539132" cy="865180"/>
          </a:xfrm>
        </p:grpSpPr>
        <p:sp>
          <p:nvSpPr>
            <p:cNvPr id="15" name="矩形 14">
              <a:extLst>
                <a:ext uri="{FF2B5EF4-FFF2-40B4-BE49-F238E27FC236}">
                  <a16:creationId xmlns:a16="http://schemas.microsoft.com/office/drawing/2014/main" id="{2881CFC0-499F-4A66-9C0B-F0A28A9E4784}"/>
                </a:ext>
              </a:extLst>
            </p:cNvPr>
            <p:cNvSpPr/>
            <p:nvPr/>
          </p:nvSpPr>
          <p:spPr>
            <a:xfrm>
              <a:off x="1307154" y="2302514"/>
              <a:ext cx="2539132" cy="865180"/>
            </a:xfrm>
            <a:prstGeom prst="rect">
              <a:avLst/>
            </a:prstGeom>
            <a:solidFill>
              <a:schemeClr val="tx1">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013" noProof="1">
                <a:solidFill>
                  <a:prstClr val="white"/>
                </a:solidFill>
              </a:endParaRPr>
            </a:p>
          </p:txBody>
        </p:sp>
        <p:sp>
          <p:nvSpPr>
            <p:cNvPr id="16" name="矩形 15">
              <a:extLst>
                <a:ext uri="{FF2B5EF4-FFF2-40B4-BE49-F238E27FC236}">
                  <a16:creationId xmlns:a16="http://schemas.microsoft.com/office/drawing/2014/main" id="{99A7D733-98C6-4296-8261-A9F8BB72164D}"/>
                </a:ext>
              </a:extLst>
            </p:cNvPr>
            <p:cNvSpPr/>
            <p:nvPr/>
          </p:nvSpPr>
          <p:spPr>
            <a:xfrm>
              <a:off x="1423627" y="2361889"/>
              <a:ext cx="2325244" cy="74643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013" noProof="1">
                <a:solidFill>
                  <a:prstClr val="white"/>
                </a:solidFill>
              </a:endParaRPr>
            </a:p>
          </p:txBody>
        </p:sp>
        <p:sp>
          <p:nvSpPr>
            <p:cNvPr id="17" name="文本框 23">
              <a:extLst>
                <a:ext uri="{FF2B5EF4-FFF2-40B4-BE49-F238E27FC236}">
                  <a16:creationId xmlns:a16="http://schemas.microsoft.com/office/drawing/2014/main" id="{F66313BD-2B04-4902-A095-F6D86E530A97}"/>
                </a:ext>
              </a:extLst>
            </p:cNvPr>
            <p:cNvSpPr txBox="1">
              <a:spLocks noChangeArrowheads="1"/>
            </p:cNvSpPr>
            <p:nvPr/>
          </p:nvSpPr>
          <p:spPr bwMode="auto">
            <a:xfrm>
              <a:off x="1696263" y="2442717"/>
              <a:ext cx="1983038" cy="6577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ea typeface="宋体" panose="02010600030101010101" pitchFamily="2" charset="-122"/>
                </a:defRPr>
              </a:lvl1pPr>
              <a:lvl2pPr>
                <a:defRPr>
                  <a:solidFill>
                    <a:schemeClr val="tx1"/>
                  </a:solidFill>
                  <a:latin typeface="Arial" panose="020B0604020202090204" pitchFamily="34" charset="0"/>
                  <a:ea typeface="宋体" panose="02010600030101010101" pitchFamily="2" charset="-122"/>
                </a:defRPr>
              </a:lvl2pPr>
              <a:lvl3pPr>
                <a:defRPr>
                  <a:solidFill>
                    <a:schemeClr val="tx1"/>
                  </a:solidFill>
                  <a:latin typeface="Arial" panose="020B0604020202090204" pitchFamily="34" charset="0"/>
                  <a:ea typeface="宋体" panose="02010600030101010101" pitchFamily="2" charset="-122"/>
                </a:defRPr>
              </a:lvl3pPr>
              <a:lvl4pPr>
                <a:defRPr>
                  <a:solidFill>
                    <a:schemeClr val="tx1"/>
                  </a:solidFill>
                  <a:latin typeface="Arial" panose="020B0604020202090204" pitchFamily="34" charset="0"/>
                  <a:ea typeface="宋体" panose="02010600030101010101" pitchFamily="2" charset="-122"/>
                </a:defRPr>
              </a:lvl4pPr>
              <a:lvl5pPr>
                <a:defRPr>
                  <a:solidFill>
                    <a:schemeClr val="tx1"/>
                  </a:solidFill>
                  <a:latin typeface="Arial" panose="020B0604020202090204" pitchFamily="34" charset="0"/>
                  <a:ea typeface="宋体" panose="02010600030101010101" pitchFamily="2" charset="-122"/>
                </a:defRPr>
              </a:lvl5pPr>
              <a:lvl6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6pPr>
              <a:lvl7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7pPr>
              <a:lvl8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8pPr>
              <a:lvl9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9pPr>
            </a:lstStyle>
            <a:p>
              <a:r>
                <a:rPr lang="zh-CN" altLang="en-US" b="1">
                  <a:solidFill>
                    <a:srgbClr val="FFFFFF"/>
                  </a:solidFill>
                  <a:ea typeface="华文中宋" panose="02010600040101010101" pitchFamily="2" charset="-122"/>
                </a:rPr>
                <a:t>   环境</a:t>
              </a:r>
            </a:p>
          </p:txBody>
        </p:sp>
      </p:grpSp>
      <p:grpSp>
        <p:nvGrpSpPr>
          <p:cNvPr id="18" name="组合 45">
            <a:extLst>
              <a:ext uri="{FF2B5EF4-FFF2-40B4-BE49-F238E27FC236}">
                <a16:creationId xmlns:a16="http://schemas.microsoft.com/office/drawing/2014/main" id="{64169C22-6233-4FE7-A80A-C660EF8BD3FC}"/>
              </a:ext>
            </a:extLst>
          </p:cNvPr>
          <p:cNvGrpSpPr/>
          <p:nvPr/>
        </p:nvGrpSpPr>
        <p:grpSpPr bwMode="auto">
          <a:xfrm>
            <a:off x="3920729" y="2524125"/>
            <a:ext cx="1428750" cy="485775"/>
            <a:chOff x="1307154" y="2302514"/>
            <a:chExt cx="2539132" cy="865180"/>
          </a:xfrm>
        </p:grpSpPr>
        <p:sp>
          <p:nvSpPr>
            <p:cNvPr id="19" name="矩形 18">
              <a:extLst>
                <a:ext uri="{FF2B5EF4-FFF2-40B4-BE49-F238E27FC236}">
                  <a16:creationId xmlns:a16="http://schemas.microsoft.com/office/drawing/2014/main" id="{4085530F-9A20-48BD-B798-4627C56C8E7B}"/>
                </a:ext>
              </a:extLst>
            </p:cNvPr>
            <p:cNvSpPr/>
            <p:nvPr/>
          </p:nvSpPr>
          <p:spPr>
            <a:xfrm>
              <a:off x="1307154" y="2302514"/>
              <a:ext cx="2539132" cy="865180"/>
            </a:xfrm>
            <a:prstGeom prst="rect">
              <a:avLst/>
            </a:prstGeom>
            <a:solidFill>
              <a:schemeClr val="tx1">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013" noProof="1">
                <a:solidFill>
                  <a:prstClr val="white"/>
                </a:solidFill>
              </a:endParaRPr>
            </a:p>
          </p:txBody>
        </p:sp>
        <p:sp>
          <p:nvSpPr>
            <p:cNvPr id="20" name="矩形 19">
              <a:extLst>
                <a:ext uri="{FF2B5EF4-FFF2-40B4-BE49-F238E27FC236}">
                  <a16:creationId xmlns:a16="http://schemas.microsoft.com/office/drawing/2014/main" id="{AC19A57E-CED9-43A3-9494-DF7B556898B5}"/>
                </a:ext>
              </a:extLst>
            </p:cNvPr>
            <p:cNvSpPr/>
            <p:nvPr/>
          </p:nvSpPr>
          <p:spPr>
            <a:xfrm>
              <a:off x="1423530" y="2361889"/>
              <a:ext cx="2325422" cy="74643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013" noProof="1">
                <a:solidFill>
                  <a:prstClr val="white"/>
                </a:solidFill>
              </a:endParaRPr>
            </a:p>
          </p:txBody>
        </p:sp>
        <p:sp>
          <p:nvSpPr>
            <p:cNvPr id="21" name="文本框 34">
              <a:extLst>
                <a:ext uri="{FF2B5EF4-FFF2-40B4-BE49-F238E27FC236}">
                  <a16:creationId xmlns:a16="http://schemas.microsoft.com/office/drawing/2014/main" id="{351B37DB-C420-451C-BF8E-353618958E72}"/>
                </a:ext>
              </a:extLst>
            </p:cNvPr>
            <p:cNvSpPr txBox="1">
              <a:spLocks noChangeArrowheads="1"/>
            </p:cNvSpPr>
            <p:nvPr/>
          </p:nvSpPr>
          <p:spPr bwMode="auto">
            <a:xfrm>
              <a:off x="1781957" y="2431329"/>
              <a:ext cx="1983039" cy="6577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ea typeface="宋体" panose="02010600030101010101" pitchFamily="2" charset="-122"/>
                </a:defRPr>
              </a:lvl1pPr>
              <a:lvl2pPr>
                <a:defRPr>
                  <a:solidFill>
                    <a:schemeClr val="tx1"/>
                  </a:solidFill>
                  <a:latin typeface="Arial" panose="020B0604020202090204" pitchFamily="34" charset="0"/>
                  <a:ea typeface="宋体" panose="02010600030101010101" pitchFamily="2" charset="-122"/>
                </a:defRPr>
              </a:lvl2pPr>
              <a:lvl3pPr>
                <a:defRPr>
                  <a:solidFill>
                    <a:schemeClr val="tx1"/>
                  </a:solidFill>
                  <a:latin typeface="Arial" panose="020B0604020202090204" pitchFamily="34" charset="0"/>
                  <a:ea typeface="宋体" panose="02010600030101010101" pitchFamily="2" charset="-122"/>
                </a:defRPr>
              </a:lvl3pPr>
              <a:lvl4pPr>
                <a:defRPr>
                  <a:solidFill>
                    <a:schemeClr val="tx1"/>
                  </a:solidFill>
                  <a:latin typeface="Arial" panose="020B0604020202090204" pitchFamily="34" charset="0"/>
                  <a:ea typeface="宋体" panose="02010600030101010101" pitchFamily="2" charset="-122"/>
                </a:defRPr>
              </a:lvl4pPr>
              <a:lvl5pPr>
                <a:defRPr>
                  <a:solidFill>
                    <a:schemeClr val="tx1"/>
                  </a:solidFill>
                  <a:latin typeface="Arial" panose="020B0604020202090204" pitchFamily="34" charset="0"/>
                  <a:ea typeface="宋体" panose="02010600030101010101" pitchFamily="2" charset="-122"/>
                </a:defRPr>
              </a:lvl5pPr>
              <a:lvl6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6pPr>
              <a:lvl7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7pPr>
              <a:lvl8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8pPr>
              <a:lvl9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9pPr>
            </a:lstStyle>
            <a:p>
              <a:r>
                <a:rPr lang="zh-CN" altLang="en-US" b="1">
                  <a:solidFill>
                    <a:srgbClr val="FFFFFF"/>
                  </a:solidFill>
                  <a:ea typeface="华文中宋" panose="02010600040101010101" pitchFamily="2" charset="-122"/>
                </a:rPr>
                <a:t>教育行业</a:t>
              </a:r>
            </a:p>
          </p:txBody>
        </p:sp>
      </p:grpSp>
      <p:grpSp>
        <p:nvGrpSpPr>
          <p:cNvPr id="22" name="组合 49">
            <a:extLst>
              <a:ext uri="{FF2B5EF4-FFF2-40B4-BE49-F238E27FC236}">
                <a16:creationId xmlns:a16="http://schemas.microsoft.com/office/drawing/2014/main" id="{D0D0E07A-BF48-476E-8C38-ECB66B802752}"/>
              </a:ext>
            </a:extLst>
          </p:cNvPr>
          <p:cNvGrpSpPr/>
          <p:nvPr/>
        </p:nvGrpSpPr>
        <p:grpSpPr bwMode="auto">
          <a:xfrm>
            <a:off x="5912644" y="2524125"/>
            <a:ext cx="1428750" cy="485775"/>
            <a:chOff x="1307154" y="2302514"/>
            <a:chExt cx="2539132" cy="865180"/>
          </a:xfrm>
        </p:grpSpPr>
        <p:sp>
          <p:nvSpPr>
            <p:cNvPr id="23" name="矩形 22">
              <a:extLst>
                <a:ext uri="{FF2B5EF4-FFF2-40B4-BE49-F238E27FC236}">
                  <a16:creationId xmlns:a16="http://schemas.microsoft.com/office/drawing/2014/main" id="{821880CA-8AB8-4DFF-9E57-17E6712CD89F}"/>
                </a:ext>
              </a:extLst>
            </p:cNvPr>
            <p:cNvSpPr/>
            <p:nvPr/>
          </p:nvSpPr>
          <p:spPr>
            <a:xfrm>
              <a:off x="1307154" y="2302514"/>
              <a:ext cx="2539132" cy="865180"/>
            </a:xfrm>
            <a:prstGeom prst="rect">
              <a:avLst/>
            </a:prstGeom>
            <a:solidFill>
              <a:schemeClr val="tx1">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013" noProof="1">
                <a:solidFill>
                  <a:prstClr val="white"/>
                </a:solidFill>
              </a:endParaRPr>
            </a:p>
          </p:txBody>
        </p:sp>
        <p:sp>
          <p:nvSpPr>
            <p:cNvPr id="24" name="矩形 23">
              <a:extLst>
                <a:ext uri="{FF2B5EF4-FFF2-40B4-BE49-F238E27FC236}">
                  <a16:creationId xmlns:a16="http://schemas.microsoft.com/office/drawing/2014/main" id="{774F06D0-28A3-453A-9421-B4C81BBA9254}"/>
                </a:ext>
              </a:extLst>
            </p:cNvPr>
            <p:cNvSpPr/>
            <p:nvPr/>
          </p:nvSpPr>
          <p:spPr>
            <a:xfrm>
              <a:off x="1423532" y="2361889"/>
              <a:ext cx="2325421" cy="74643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013" noProof="1">
                <a:solidFill>
                  <a:prstClr val="white"/>
                </a:solidFill>
              </a:endParaRPr>
            </a:p>
          </p:txBody>
        </p:sp>
        <p:sp>
          <p:nvSpPr>
            <p:cNvPr id="25" name="文本框 38">
              <a:extLst>
                <a:ext uri="{FF2B5EF4-FFF2-40B4-BE49-F238E27FC236}">
                  <a16:creationId xmlns:a16="http://schemas.microsoft.com/office/drawing/2014/main" id="{05389585-E7D5-41E7-8B93-791C3901141D}"/>
                </a:ext>
              </a:extLst>
            </p:cNvPr>
            <p:cNvSpPr txBox="1">
              <a:spLocks noChangeArrowheads="1"/>
            </p:cNvSpPr>
            <p:nvPr/>
          </p:nvSpPr>
          <p:spPr bwMode="auto">
            <a:xfrm>
              <a:off x="1712950" y="2431329"/>
              <a:ext cx="1983039" cy="6577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ea typeface="宋体" panose="02010600030101010101" pitchFamily="2" charset="-122"/>
                </a:defRPr>
              </a:lvl1pPr>
              <a:lvl2pPr>
                <a:defRPr>
                  <a:solidFill>
                    <a:schemeClr val="tx1"/>
                  </a:solidFill>
                  <a:latin typeface="Arial" panose="020B0604020202090204" pitchFamily="34" charset="0"/>
                  <a:ea typeface="宋体" panose="02010600030101010101" pitchFamily="2" charset="-122"/>
                </a:defRPr>
              </a:lvl2pPr>
              <a:lvl3pPr>
                <a:defRPr>
                  <a:solidFill>
                    <a:schemeClr val="tx1"/>
                  </a:solidFill>
                  <a:latin typeface="Arial" panose="020B0604020202090204" pitchFamily="34" charset="0"/>
                  <a:ea typeface="宋体" panose="02010600030101010101" pitchFamily="2" charset="-122"/>
                </a:defRPr>
              </a:lvl3pPr>
              <a:lvl4pPr>
                <a:defRPr>
                  <a:solidFill>
                    <a:schemeClr val="tx1"/>
                  </a:solidFill>
                  <a:latin typeface="Arial" panose="020B0604020202090204" pitchFamily="34" charset="0"/>
                  <a:ea typeface="宋体" panose="02010600030101010101" pitchFamily="2" charset="-122"/>
                </a:defRPr>
              </a:lvl4pPr>
              <a:lvl5pPr>
                <a:defRPr>
                  <a:solidFill>
                    <a:schemeClr val="tx1"/>
                  </a:solidFill>
                  <a:latin typeface="Arial" panose="020B0604020202090204" pitchFamily="34" charset="0"/>
                  <a:ea typeface="宋体" panose="02010600030101010101" pitchFamily="2" charset="-122"/>
                </a:defRPr>
              </a:lvl5pPr>
              <a:lvl6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6pPr>
              <a:lvl7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7pPr>
              <a:lvl8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8pPr>
              <a:lvl9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9pPr>
            </a:lstStyle>
            <a:p>
              <a:r>
                <a:rPr lang="zh-CN" altLang="en-US" b="1">
                  <a:solidFill>
                    <a:srgbClr val="FFFFFF"/>
                  </a:solidFill>
                  <a:ea typeface="华文中宋" panose="02010600040101010101" pitchFamily="2" charset="-122"/>
                </a:rPr>
                <a:t>医疗行业</a:t>
              </a:r>
            </a:p>
          </p:txBody>
        </p:sp>
      </p:grpSp>
      <p:grpSp>
        <p:nvGrpSpPr>
          <p:cNvPr id="26" name="组合 55">
            <a:extLst>
              <a:ext uri="{FF2B5EF4-FFF2-40B4-BE49-F238E27FC236}">
                <a16:creationId xmlns:a16="http://schemas.microsoft.com/office/drawing/2014/main" id="{AA6DB4D4-EA5D-4F1C-A669-B1ACE73D3E8F}"/>
              </a:ext>
            </a:extLst>
          </p:cNvPr>
          <p:cNvGrpSpPr/>
          <p:nvPr/>
        </p:nvGrpSpPr>
        <p:grpSpPr bwMode="auto">
          <a:xfrm>
            <a:off x="1504950" y="3926681"/>
            <a:ext cx="1427560" cy="486966"/>
            <a:chOff x="1307154" y="2302514"/>
            <a:chExt cx="2539132" cy="865180"/>
          </a:xfrm>
        </p:grpSpPr>
        <p:sp>
          <p:nvSpPr>
            <p:cNvPr id="27" name="矩形 26">
              <a:extLst>
                <a:ext uri="{FF2B5EF4-FFF2-40B4-BE49-F238E27FC236}">
                  <a16:creationId xmlns:a16="http://schemas.microsoft.com/office/drawing/2014/main" id="{24931543-76CD-4A95-A337-3FAC1407783B}"/>
                </a:ext>
              </a:extLst>
            </p:cNvPr>
            <p:cNvSpPr/>
            <p:nvPr/>
          </p:nvSpPr>
          <p:spPr>
            <a:xfrm>
              <a:off x="1307154" y="2302514"/>
              <a:ext cx="2539132" cy="865180"/>
            </a:xfrm>
            <a:prstGeom prst="rect">
              <a:avLst/>
            </a:prstGeom>
            <a:solidFill>
              <a:schemeClr val="tx1">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013" noProof="1">
                <a:solidFill>
                  <a:prstClr val="white"/>
                </a:solidFill>
              </a:endParaRPr>
            </a:p>
          </p:txBody>
        </p:sp>
        <p:sp>
          <p:nvSpPr>
            <p:cNvPr id="28" name="矩形 27">
              <a:extLst>
                <a:ext uri="{FF2B5EF4-FFF2-40B4-BE49-F238E27FC236}">
                  <a16:creationId xmlns:a16="http://schemas.microsoft.com/office/drawing/2014/main" id="{3C5FEA7E-A8E8-48B0-BFB6-82D52ABC06AF}"/>
                </a:ext>
              </a:extLst>
            </p:cNvPr>
            <p:cNvSpPr/>
            <p:nvPr/>
          </p:nvSpPr>
          <p:spPr>
            <a:xfrm>
              <a:off x="1423629" y="2361744"/>
              <a:ext cx="2325243" cy="74672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013" noProof="1">
                <a:solidFill>
                  <a:prstClr val="white"/>
                </a:solidFill>
              </a:endParaRPr>
            </a:p>
          </p:txBody>
        </p:sp>
        <p:sp>
          <p:nvSpPr>
            <p:cNvPr id="29" name="文本框 42">
              <a:extLst>
                <a:ext uri="{FF2B5EF4-FFF2-40B4-BE49-F238E27FC236}">
                  <a16:creationId xmlns:a16="http://schemas.microsoft.com/office/drawing/2014/main" id="{51C53F63-EB4B-4DE8-8F08-167B62DF3FE0}"/>
                </a:ext>
              </a:extLst>
            </p:cNvPr>
            <p:cNvSpPr txBox="1">
              <a:spLocks noChangeArrowheads="1"/>
            </p:cNvSpPr>
            <p:nvPr/>
          </p:nvSpPr>
          <p:spPr bwMode="auto">
            <a:xfrm>
              <a:off x="1765050" y="2442718"/>
              <a:ext cx="1983038" cy="656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ea typeface="宋体" panose="02010600030101010101" pitchFamily="2" charset="-122"/>
                </a:defRPr>
              </a:lvl1pPr>
              <a:lvl2pPr>
                <a:defRPr>
                  <a:solidFill>
                    <a:schemeClr val="tx1"/>
                  </a:solidFill>
                  <a:latin typeface="Arial" panose="020B0604020202090204" pitchFamily="34" charset="0"/>
                  <a:ea typeface="宋体" panose="02010600030101010101" pitchFamily="2" charset="-122"/>
                </a:defRPr>
              </a:lvl2pPr>
              <a:lvl3pPr>
                <a:defRPr>
                  <a:solidFill>
                    <a:schemeClr val="tx1"/>
                  </a:solidFill>
                  <a:latin typeface="Arial" panose="020B0604020202090204" pitchFamily="34" charset="0"/>
                  <a:ea typeface="宋体" panose="02010600030101010101" pitchFamily="2" charset="-122"/>
                </a:defRPr>
              </a:lvl3pPr>
              <a:lvl4pPr>
                <a:defRPr>
                  <a:solidFill>
                    <a:schemeClr val="tx1"/>
                  </a:solidFill>
                  <a:latin typeface="Arial" panose="020B0604020202090204" pitchFamily="34" charset="0"/>
                  <a:ea typeface="宋体" panose="02010600030101010101" pitchFamily="2" charset="-122"/>
                </a:defRPr>
              </a:lvl4pPr>
              <a:lvl5pPr>
                <a:defRPr>
                  <a:solidFill>
                    <a:schemeClr val="tx1"/>
                  </a:solidFill>
                  <a:latin typeface="Arial" panose="020B0604020202090204" pitchFamily="34" charset="0"/>
                  <a:ea typeface="宋体" panose="02010600030101010101" pitchFamily="2" charset="-122"/>
                </a:defRPr>
              </a:lvl5pPr>
              <a:lvl6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6pPr>
              <a:lvl7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7pPr>
              <a:lvl8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8pPr>
              <a:lvl9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9pPr>
            </a:lstStyle>
            <a:p>
              <a:r>
                <a:rPr lang="zh-CN" altLang="en-US" b="1">
                  <a:solidFill>
                    <a:srgbClr val="FFFFFF"/>
                  </a:solidFill>
                  <a:ea typeface="华文中宋" panose="02010600040101010101" pitchFamily="2" charset="-122"/>
                </a:rPr>
                <a:t>  农业</a:t>
              </a:r>
            </a:p>
          </p:txBody>
        </p:sp>
      </p:grpSp>
      <p:grpSp>
        <p:nvGrpSpPr>
          <p:cNvPr id="30" name="组合 62">
            <a:extLst>
              <a:ext uri="{FF2B5EF4-FFF2-40B4-BE49-F238E27FC236}">
                <a16:creationId xmlns:a16="http://schemas.microsoft.com/office/drawing/2014/main" id="{0A9BBFA3-4778-4DF9-9B6E-EDA0D421E702}"/>
              </a:ext>
            </a:extLst>
          </p:cNvPr>
          <p:cNvGrpSpPr/>
          <p:nvPr/>
        </p:nvGrpSpPr>
        <p:grpSpPr bwMode="auto">
          <a:xfrm>
            <a:off x="3220641" y="3926681"/>
            <a:ext cx="1428750" cy="486966"/>
            <a:chOff x="1307154" y="2302514"/>
            <a:chExt cx="2539132" cy="865180"/>
          </a:xfrm>
        </p:grpSpPr>
        <p:sp>
          <p:nvSpPr>
            <p:cNvPr id="31" name="矩形 30">
              <a:extLst>
                <a:ext uri="{FF2B5EF4-FFF2-40B4-BE49-F238E27FC236}">
                  <a16:creationId xmlns:a16="http://schemas.microsoft.com/office/drawing/2014/main" id="{4540427A-43AF-4827-8314-E51100151B37}"/>
                </a:ext>
              </a:extLst>
            </p:cNvPr>
            <p:cNvSpPr/>
            <p:nvPr/>
          </p:nvSpPr>
          <p:spPr>
            <a:xfrm>
              <a:off x="1307154" y="2302514"/>
              <a:ext cx="2539132" cy="865180"/>
            </a:xfrm>
            <a:prstGeom prst="rect">
              <a:avLst/>
            </a:prstGeom>
            <a:solidFill>
              <a:schemeClr val="tx1">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013" noProof="1">
                <a:solidFill>
                  <a:prstClr val="white"/>
                </a:solidFill>
              </a:endParaRPr>
            </a:p>
          </p:txBody>
        </p:sp>
        <p:sp>
          <p:nvSpPr>
            <p:cNvPr id="32" name="矩形 31">
              <a:extLst>
                <a:ext uri="{FF2B5EF4-FFF2-40B4-BE49-F238E27FC236}">
                  <a16:creationId xmlns:a16="http://schemas.microsoft.com/office/drawing/2014/main" id="{1506B322-BC89-4853-9816-9FCAC30C5CCF}"/>
                </a:ext>
              </a:extLst>
            </p:cNvPr>
            <p:cNvSpPr/>
            <p:nvPr/>
          </p:nvSpPr>
          <p:spPr>
            <a:xfrm>
              <a:off x="1423530" y="2361744"/>
              <a:ext cx="2325422" cy="74672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013" noProof="1">
                <a:solidFill>
                  <a:prstClr val="white"/>
                </a:solidFill>
              </a:endParaRPr>
            </a:p>
          </p:txBody>
        </p:sp>
        <p:sp>
          <p:nvSpPr>
            <p:cNvPr id="33" name="文本框 46">
              <a:extLst>
                <a:ext uri="{FF2B5EF4-FFF2-40B4-BE49-F238E27FC236}">
                  <a16:creationId xmlns:a16="http://schemas.microsoft.com/office/drawing/2014/main" id="{84CE231D-FFE3-4A44-A325-56C37875BBF5}"/>
                </a:ext>
              </a:extLst>
            </p:cNvPr>
            <p:cNvSpPr txBox="1">
              <a:spLocks noChangeArrowheads="1"/>
            </p:cNvSpPr>
            <p:nvPr/>
          </p:nvSpPr>
          <p:spPr bwMode="auto">
            <a:xfrm>
              <a:off x="1436040" y="2442718"/>
              <a:ext cx="2324100" cy="656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ea typeface="宋体" panose="02010600030101010101" pitchFamily="2" charset="-122"/>
                </a:defRPr>
              </a:lvl1pPr>
              <a:lvl2pPr>
                <a:defRPr>
                  <a:solidFill>
                    <a:schemeClr val="tx1"/>
                  </a:solidFill>
                  <a:latin typeface="Arial" panose="020B0604020202090204" pitchFamily="34" charset="0"/>
                  <a:ea typeface="宋体" panose="02010600030101010101" pitchFamily="2" charset="-122"/>
                </a:defRPr>
              </a:lvl2pPr>
              <a:lvl3pPr>
                <a:defRPr>
                  <a:solidFill>
                    <a:schemeClr val="tx1"/>
                  </a:solidFill>
                  <a:latin typeface="Arial" panose="020B0604020202090204" pitchFamily="34" charset="0"/>
                  <a:ea typeface="宋体" panose="02010600030101010101" pitchFamily="2" charset="-122"/>
                </a:defRPr>
              </a:lvl3pPr>
              <a:lvl4pPr>
                <a:defRPr>
                  <a:solidFill>
                    <a:schemeClr val="tx1"/>
                  </a:solidFill>
                  <a:latin typeface="Arial" panose="020B0604020202090204" pitchFamily="34" charset="0"/>
                  <a:ea typeface="宋体" panose="02010600030101010101" pitchFamily="2" charset="-122"/>
                </a:defRPr>
              </a:lvl4pPr>
              <a:lvl5pPr>
                <a:defRPr>
                  <a:solidFill>
                    <a:schemeClr val="tx1"/>
                  </a:solidFill>
                  <a:latin typeface="Arial" panose="020B0604020202090204" pitchFamily="34" charset="0"/>
                  <a:ea typeface="宋体" panose="02010600030101010101" pitchFamily="2" charset="-122"/>
                </a:defRPr>
              </a:lvl5pPr>
              <a:lvl6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6pPr>
              <a:lvl7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7pPr>
              <a:lvl8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8pPr>
              <a:lvl9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9pPr>
            </a:lstStyle>
            <a:p>
              <a:r>
                <a:rPr lang="zh-CN" altLang="en-US" b="1">
                  <a:solidFill>
                    <a:srgbClr val="FFFFFF"/>
                  </a:solidFill>
                  <a:ea typeface="华文中宋" panose="02010600040101010101" pitchFamily="2" charset="-122"/>
                </a:rPr>
                <a:t>  智慧城市</a:t>
              </a:r>
            </a:p>
          </p:txBody>
        </p:sp>
      </p:grpSp>
      <p:grpSp>
        <p:nvGrpSpPr>
          <p:cNvPr id="34" name="组合 66">
            <a:extLst>
              <a:ext uri="{FF2B5EF4-FFF2-40B4-BE49-F238E27FC236}">
                <a16:creationId xmlns:a16="http://schemas.microsoft.com/office/drawing/2014/main" id="{1F7A11B1-B458-4D64-A686-301A044E33FE}"/>
              </a:ext>
            </a:extLst>
          </p:cNvPr>
          <p:cNvGrpSpPr/>
          <p:nvPr/>
        </p:nvGrpSpPr>
        <p:grpSpPr bwMode="auto">
          <a:xfrm>
            <a:off x="4960144" y="3926681"/>
            <a:ext cx="1331119" cy="486966"/>
            <a:chOff x="1307154" y="2302514"/>
            <a:chExt cx="2605864" cy="865180"/>
          </a:xfrm>
        </p:grpSpPr>
        <p:sp>
          <p:nvSpPr>
            <p:cNvPr id="35" name="矩形 34">
              <a:extLst>
                <a:ext uri="{FF2B5EF4-FFF2-40B4-BE49-F238E27FC236}">
                  <a16:creationId xmlns:a16="http://schemas.microsoft.com/office/drawing/2014/main" id="{15B05506-3848-4AAD-94C9-DB10FDE48584}"/>
                </a:ext>
              </a:extLst>
            </p:cNvPr>
            <p:cNvSpPr/>
            <p:nvPr/>
          </p:nvSpPr>
          <p:spPr>
            <a:xfrm>
              <a:off x="1307154" y="2302514"/>
              <a:ext cx="2538271" cy="865180"/>
            </a:xfrm>
            <a:prstGeom prst="rect">
              <a:avLst/>
            </a:prstGeom>
            <a:solidFill>
              <a:schemeClr val="tx1">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013" noProof="1">
                <a:solidFill>
                  <a:prstClr val="white"/>
                </a:solidFill>
              </a:endParaRPr>
            </a:p>
          </p:txBody>
        </p:sp>
        <p:sp>
          <p:nvSpPr>
            <p:cNvPr id="36" name="矩形 35">
              <a:extLst>
                <a:ext uri="{FF2B5EF4-FFF2-40B4-BE49-F238E27FC236}">
                  <a16:creationId xmlns:a16="http://schemas.microsoft.com/office/drawing/2014/main" id="{97796EE8-6003-4FED-A959-94D0F4F08F88}"/>
                </a:ext>
              </a:extLst>
            </p:cNvPr>
            <p:cNvSpPr/>
            <p:nvPr/>
          </p:nvSpPr>
          <p:spPr>
            <a:xfrm>
              <a:off x="1423695" y="2361744"/>
              <a:ext cx="2323835" cy="74672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013" noProof="1">
                <a:solidFill>
                  <a:prstClr val="white"/>
                </a:solidFill>
              </a:endParaRPr>
            </a:p>
          </p:txBody>
        </p:sp>
        <p:sp>
          <p:nvSpPr>
            <p:cNvPr id="37" name="文本框 50">
              <a:extLst>
                <a:ext uri="{FF2B5EF4-FFF2-40B4-BE49-F238E27FC236}">
                  <a16:creationId xmlns:a16="http://schemas.microsoft.com/office/drawing/2014/main" id="{D56F7375-2942-4EFD-AF8E-42D45962D625}"/>
                </a:ext>
              </a:extLst>
            </p:cNvPr>
            <p:cNvSpPr txBox="1">
              <a:spLocks noChangeArrowheads="1"/>
            </p:cNvSpPr>
            <p:nvPr/>
          </p:nvSpPr>
          <p:spPr bwMode="auto">
            <a:xfrm>
              <a:off x="1588918" y="2442718"/>
              <a:ext cx="2324100" cy="656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ea typeface="宋体" panose="02010600030101010101" pitchFamily="2" charset="-122"/>
                </a:defRPr>
              </a:lvl1pPr>
              <a:lvl2pPr>
                <a:defRPr>
                  <a:solidFill>
                    <a:schemeClr val="tx1"/>
                  </a:solidFill>
                  <a:latin typeface="Arial" panose="020B0604020202090204" pitchFamily="34" charset="0"/>
                  <a:ea typeface="宋体" panose="02010600030101010101" pitchFamily="2" charset="-122"/>
                </a:defRPr>
              </a:lvl2pPr>
              <a:lvl3pPr>
                <a:defRPr>
                  <a:solidFill>
                    <a:schemeClr val="tx1"/>
                  </a:solidFill>
                  <a:latin typeface="Arial" panose="020B0604020202090204" pitchFamily="34" charset="0"/>
                  <a:ea typeface="宋体" panose="02010600030101010101" pitchFamily="2" charset="-122"/>
                </a:defRPr>
              </a:lvl3pPr>
              <a:lvl4pPr>
                <a:defRPr>
                  <a:solidFill>
                    <a:schemeClr val="tx1"/>
                  </a:solidFill>
                  <a:latin typeface="Arial" panose="020B0604020202090204" pitchFamily="34" charset="0"/>
                  <a:ea typeface="宋体" panose="02010600030101010101" pitchFamily="2" charset="-122"/>
                </a:defRPr>
              </a:lvl4pPr>
              <a:lvl5pPr>
                <a:defRPr>
                  <a:solidFill>
                    <a:schemeClr val="tx1"/>
                  </a:solidFill>
                  <a:latin typeface="Arial" panose="020B0604020202090204" pitchFamily="34" charset="0"/>
                  <a:ea typeface="宋体" panose="02010600030101010101" pitchFamily="2" charset="-122"/>
                </a:defRPr>
              </a:lvl5pPr>
              <a:lvl6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6pPr>
              <a:lvl7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7pPr>
              <a:lvl8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8pPr>
              <a:lvl9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9pPr>
            </a:lstStyle>
            <a:p>
              <a:r>
                <a:rPr lang="zh-CN" altLang="en-US" b="1">
                  <a:solidFill>
                    <a:srgbClr val="FFFFFF"/>
                  </a:solidFill>
                  <a:ea typeface="华文中宋" panose="02010600040101010101" pitchFamily="2" charset="-122"/>
                </a:rPr>
                <a:t>零售行业</a:t>
              </a:r>
            </a:p>
          </p:txBody>
        </p:sp>
      </p:grpSp>
      <p:grpSp>
        <p:nvGrpSpPr>
          <p:cNvPr id="38" name="组合 70">
            <a:extLst>
              <a:ext uri="{FF2B5EF4-FFF2-40B4-BE49-F238E27FC236}">
                <a16:creationId xmlns:a16="http://schemas.microsoft.com/office/drawing/2014/main" id="{BCB4AA6E-D187-4A19-83B7-EE737698CE13}"/>
              </a:ext>
            </a:extLst>
          </p:cNvPr>
          <p:cNvGrpSpPr/>
          <p:nvPr/>
        </p:nvGrpSpPr>
        <p:grpSpPr bwMode="auto">
          <a:xfrm>
            <a:off x="6321029" y="3926681"/>
            <a:ext cx="1229915" cy="725245"/>
            <a:chOff x="1307154" y="2302514"/>
            <a:chExt cx="2605864" cy="1288524"/>
          </a:xfrm>
        </p:grpSpPr>
        <p:sp>
          <p:nvSpPr>
            <p:cNvPr id="39" name="矩形 38">
              <a:extLst>
                <a:ext uri="{FF2B5EF4-FFF2-40B4-BE49-F238E27FC236}">
                  <a16:creationId xmlns:a16="http://schemas.microsoft.com/office/drawing/2014/main" id="{D313F640-2204-4197-897C-3BB4E8E3230F}"/>
                </a:ext>
              </a:extLst>
            </p:cNvPr>
            <p:cNvSpPr/>
            <p:nvPr/>
          </p:nvSpPr>
          <p:spPr>
            <a:xfrm>
              <a:off x="1307154" y="2302514"/>
              <a:ext cx="2540276" cy="865180"/>
            </a:xfrm>
            <a:prstGeom prst="rect">
              <a:avLst/>
            </a:prstGeom>
            <a:solidFill>
              <a:schemeClr val="tx1">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013" noProof="1">
                <a:solidFill>
                  <a:prstClr val="white"/>
                </a:solidFill>
              </a:endParaRPr>
            </a:p>
          </p:txBody>
        </p:sp>
        <p:sp>
          <p:nvSpPr>
            <p:cNvPr id="40" name="矩形 39">
              <a:extLst>
                <a:ext uri="{FF2B5EF4-FFF2-40B4-BE49-F238E27FC236}">
                  <a16:creationId xmlns:a16="http://schemas.microsoft.com/office/drawing/2014/main" id="{9DBB29A1-14B2-4F2B-AD30-B0BC8EF8FCB8}"/>
                </a:ext>
              </a:extLst>
            </p:cNvPr>
            <p:cNvSpPr/>
            <p:nvPr/>
          </p:nvSpPr>
          <p:spPr>
            <a:xfrm>
              <a:off x="1423194" y="2361744"/>
              <a:ext cx="2325854" cy="74672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013" noProof="1">
                <a:solidFill>
                  <a:prstClr val="white"/>
                </a:solidFill>
              </a:endParaRPr>
            </a:p>
          </p:txBody>
        </p:sp>
        <p:sp>
          <p:nvSpPr>
            <p:cNvPr id="41" name="文本框 54">
              <a:extLst>
                <a:ext uri="{FF2B5EF4-FFF2-40B4-BE49-F238E27FC236}">
                  <a16:creationId xmlns:a16="http://schemas.microsoft.com/office/drawing/2014/main" id="{B1DDD8D8-6766-4B76-A28E-BD2EFC7FF66E}"/>
                </a:ext>
              </a:extLst>
            </p:cNvPr>
            <p:cNvSpPr txBox="1">
              <a:spLocks noChangeArrowheads="1"/>
            </p:cNvSpPr>
            <p:nvPr/>
          </p:nvSpPr>
          <p:spPr bwMode="auto">
            <a:xfrm>
              <a:off x="1588916" y="2442718"/>
              <a:ext cx="2324102" cy="1148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ea typeface="宋体" panose="02010600030101010101" pitchFamily="2" charset="-122"/>
                </a:defRPr>
              </a:lvl1pPr>
              <a:lvl2pPr>
                <a:defRPr>
                  <a:solidFill>
                    <a:schemeClr val="tx1"/>
                  </a:solidFill>
                  <a:latin typeface="Arial" panose="020B0604020202090204" pitchFamily="34" charset="0"/>
                  <a:ea typeface="宋体" panose="02010600030101010101" pitchFamily="2" charset="-122"/>
                </a:defRPr>
              </a:lvl2pPr>
              <a:lvl3pPr>
                <a:defRPr>
                  <a:solidFill>
                    <a:schemeClr val="tx1"/>
                  </a:solidFill>
                  <a:latin typeface="Arial" panose="020B0604020202090204" pitchFamily="34" charset="0"/>
                  <a:ea typeface="宋体" panose="02010600030101010101" pitchFamily="2" charset="-122"/>
                </a:defRPr>
              </a:lvl3pPr>
              <a:lvl4pPr>
                <a:defRPr>
                  <a:solidFill>
                    <a:schemeClr val="tx1"/>
                  </a:solidFill>
                  <a:latin typeface="Arial" panose="020B0604020202090204" pitchFamily="34" charset="0"/>
                  <a:ea typeface="宋体" panose="02010600030101010101" pitchFamily="2" charset="-122"/>
                </a:defRPr>
              </a:lvl4pPr>
              <a:lvl5pPr>
                <a:defRPr>
                  <a:solidFill>
                    <a:schemeClr val="tx1"/>
                  </a:solidFill>
                  <a:latin typeface="Arial" panose="020B0604020202090204" pitchFamily="34" charset="0"/>
                  <a:ea typeface="宋体" panose="02010600030101010101" pitchFamily="2" charset="-122"/>
                </a:defRPr>
              </a:lvl5pPr>
              <a:lvl6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6pPr>
              <a:lvl7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7pPr>
              <a:lvl8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8pPr>
              <a:lvl9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9pPr>
            </a:lstStyle>
            <a:p>
              <a:r>
                <a:rPr lang="zh-CN" altLang="en-US" b="1">
                  <a:solidFill>
                    <a:srgbClr val="FFFFFF"/>
                  </a:solidFill>
                  <a:ea typeface="华文中宋" panose="02010600040101010101" pitchFamily="2" charset="-122"/>
                </a:rPr>
                <a:t>金融行业</a:t>
              </a:r>
            </a:p>
          </p:txBody>
        </p:sp>
      </p:grpSp>
      <p:sp>
        <p:nvSpPr>
          <p:cNvPr id="43" name="内容占位符 42">
            <a:extLst>
              <a:ext uri="{FF2B5EF4-FFF2-40B4-BE49-F238E27FC236}">
                <a16:creationId xmlns:a16="http://schemas.microsoft.com/office/drawing/2014/main" id="{8EB294AC-EECC-4779-BD20-2F7F53230B7D}"/>
              </a:ext>
            </a:extLst>
          </p:cNvPr>
          <p:cNvSpPr>
            <a:spLocks noGrp="1"/>
          </p:cNvSpPr>
          <p:nvPr>
            <p:ph idx="1"/>
          </p:nvPr>
        </p:nvSpPr>
        <p:spPr/>
        <p:txBody>
          <a:bodyPr/>
          <a:lstStyle/>
          <a:p>
            <a:r>
              <a:rPr lang="zh-CN" altLang="en-US" dirty="0"/>
              <a:t>大数据应用</a:t>
            </a:r>
          </a:p>
        </p:txBody>
      </p:sp>
    </p:spTree>
    <p:extLst>
      <p:ext uri="{BB962C8B-B14F-4D97-AF65-F5344CB8AC3E}">
        <p14:creationId xmlns:p14="http://schemas.microsoft.com/office/powerpoint/2010/main" val="19066610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内容占位符 18">
            <a:extLst>
              <a:ext uri="{FF2B5EF4-FFF2-40B4-BE49-F238E27FC236}">
                <a16:creationId xmlns:a16="http://schemas.microsoft.com/office/drawing/2014/main" id="{B641E7AE-1739-4E56-9B36-8610D9329F16}"/>
              </a:ext>
            </a:extLst>
          </p:cNvPr>
          <p:cNvSpPr>
            <a:spLocks noGrp="1"/>
          </p:cNvSpPr>
          <p:nvPr>
            <p:ph idx="1"/>
          </p:nvPr>
        </p:nvSpPr>
        <p:spPr>
          <a:xfrm>
            <a:off x="457200" y="815104"/>
            <a:ext cx="8229600" cy="3937000"/>
          </a:xfrm>
        </p:spPr>
        <p:txBody>
          <a:bodyPr/>
          <a:lstStyle/>
          <a:p>
            <a:r>
              <a:rPr lang="zh-CN" altLang="en-US" dirty="0"/>
              <a:t>大数据应用场景</a:t>
            </a:r>
          </a:p>
        </p:txBody>
      </p:sp>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a:xfrm>
            <a:off x="1485900" y="205978"/>
            <a:ext cx="6172200" cy="536972"/>
          </a:xfrm>
        </p:spPr>
        <p:txBody>
          <a:bodyPr>
            <a:normAutofit/>
          </a:bodyPr>
          <a:lstStyle/>
          <a:p>
            <a:r>
              <a:rPr kumimoji="1" lang="zh-CN" altLang="en-US" dirty="0">
                <a:latin typeface="Times New Roman" panose="02020603050405020304" pitchFamily="18" charset="0"/>
                <a:ea typeface="微软雅黑" panose="020B0503020204020204" pitchFamily="34" charset="-122"/>
                <a:cs typeface="Times New Roman" panose="02020603050405020304" pitchFamily="18" charset="0"/>
              </a:rPr>
              <a:t>大数据基础引论</a:t>
            </a:r>
          </a:p>
        </p:txBody>
      </p:sp>
      <p:pic>
        <p:nvPicPr>
          <p:cNvPr id="4" name="图片 75">
            <a:extLst>
              <a:ext uri="{FF2B5EF4-FFF2-40B4-BE49-F238E27FC236}">
                <a16:creationId xmlns:a16="http://schemas.microsoft.com/office/drawing/2014/main" id="{70691EF2-99DC-4BFE-A285-D4927E939DC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7410" t="11636" r="4762"/>
          <a:stretch>
            <a:fillRect/>
          </a:stretch>
        </p:blipFill>
        <p:spPr bwMode="auto">
          <a:xfrm>
            <a:off x="1719557" y="1472316"/>
            <a:ext cx="504825" cy="498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组合 76">
            <a:extLst>
              <a:ext uri="{FF2B5EF4-FFF2-40B4-BE49-F238E27FC236}">
                <a16:creationId xmlns:a16="http://schemas.microsoft.com/office/drawing/2014/main" id="{03192703-38F2-49D0-9067-EF68D18B1A87}"/>
              </a:ext>
            </a:extLst>
          </p:cNvPr>
          <p:cNvGrpSpPr/>
          <p:nvPr/>
        </p:nvGrpSpPr>
        <p:grpSpPr bwMode="auto">
          <a:xfrm>
            <a:off x="2313679" y="1472316"/>
            <a:ext cx="1838325" cy="713095"/>
            <a:chOff x="1307154" y="2302514"/>
            <a:chExt cx="2539132" cy="1245620"/>
          </a:xfrm>
        </p:grpSpPr>
        <p:sp>
          <p:nvSpPr>
            <p:cNvPr id="6" name="矩形 5">
              <a:extLst>
                <a:ext uri="{FF2B5EF4-FFF2-40B4-BE49-F238E27FC236}">
                  <a16:creationId xmlns:a16="http://schemas.microsoft.com/office/drawing/2014/main" id="{8F8D2D84-9734-4766-85E9-A94583E0950A}"/>
                </a:ext>
              </a:extLst>
            </p:cNvPr>
            <p:cNvSpPr/>
            <p:nvPr/>
          </p:nvSpPr>
          <p:spPr>
            <a:xfrm>
              <a:off x="1307154" y="2302514"/>
              <a:ext cx="2539132" cy="865180"/>
            </a:xfrm>
            <a:prstGeom prst="rect">
              <a:avLst/>
            </a:prstGeom>
            <a:solidFill>
              <a:schemeClr val="tx1">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1013" noProof="1">
                <a:solidFill>
                  <a:prstClr val="white"/>
                </a:solidFill>
              </a:endParaRPr>
            </a:p>
          </p:txBody>
        </p:sp>
        <p:sp>
          <p:nvSpPr>
            <p:cNvPr id="7" name="矩形 6">
              <a:extLst>
                <a:ext uri="{FF2B5EF4-FFF2-40B4-BE49-F238E27FC236}">
                  <a16:creationId xmlns:a16="http://schemas.microsoft.com/office/drawing/2014/main" id="{604D7221-7BFB-4934-90B6-900AB8A47FDA}"/>
                </a:ext>
              </a:extLst>
            </p:cNvPr>
            <p:cNvSpPr/>
            <p:nvPr/>
          </p:nvSpPr>
          <p:spPr>
            <a:xfrm>
              <a:off x="1423167" y="2360747"/>
              <a:ext cx="2324619" cy="748713"/>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1013" noProof="1">
                <a:solidFill>
                  <a:prstClr val="white"/>
                </a:solidFill>
              </a:endParaRPr>
            </a:p>
          </p:txBody>
        </p:sp>
        <p:sp>
          <p:nvSpPr>
            <p:cNvPr id="8" name="文本框 50">
              <a:extLst>
                <a:ext uri="{FF2B5EF4-FFF2-40B4-BE49-F238E27FC236}">
                  <a16:creationId xmlns:a16="http://schemas.microsoft.com/office/drawing/2014/main" id="{AE940226-7676-4303-B5AF-5201414AF5FB}"/>
                </a:ext>
              </a:extLst>
            </p:cNvPr>
            <p:cNvSpPr txBox="1">
              <a:spLocks noChangeArrowheads="1"/>
            </p:cNvSpPr>
            <p:nvPr/>
          </p:nvSpPr>
          <p:spPr bwMode="auto">
            <a:xfrm>
              <a:off x="1602698" y="2419136"/>
              <a:ext cx="1966675" cy="1128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ea typeface="宋体" panose="02010600030101010101" pitchFamily="2" charset="-122"/>
                </a:defRPr>
              </a:lvl1pPr>
              <a:lvl2pPr>
                <a:defRPr>
                  <a:solidFill>
                    <a:schemeClr val="tx1"/>
                  </a:solidFill>
                  <a:latin typeface="Arial" panose="020B0604020202090204" pitchFamily="34" charset="0"/>
                  <a:ea typeface="宋体" panose="02010600030101010101" pitchFamily="2" charset="-122"/>
                </a:defRPr>
              </a:lvl2pPr>
              <a:lvl3pPr>
                <a:defRPr>
                  <a:solidFill>
                    <a:schemeClr val="tx1"/>
                  </a:solidFill>
                  <a:latin typeface="Arial" panose="020B0604020202090204" pitchFamily="34" charset="0"/>
                  <a:ea typeface="宋体" panose="02010600030101010101" pitchFamily="2" charset="-122"/>
                </a:defRPr>
              </a:lvl3pPr>
              <a:lvl4pPr>
                <a:defRPr>
                  <a:solidFill>
                    <a:schemeClr val="tx1"/>
                  </a:solidFill>
                  <a:latin typeface="Arial" panose="020B0604020202090204" pitchFamily="34" charset="0"/>
                  <a:ea typeface="宋体" panose="02010600030101010101" pitchFamily="2" charset="-122"/>
                </a:defRPr>
              </a:lvl4pPr>
              <a:lvl5pPr>
                <a:defRPr>
                  <a:solidFill>
                    <a:schemeClr val="tx1"/>
                  </a:solidFill>
                  <a:latin typeface="Arial" panose="020B0604020202090204" pitchFamily="34" charset="0"/>
                  <a:ea typeface="宋体" panose="02010600030101010101" pitchFamily="2" charset="-122"/>
                </a:defRPr>
              </a:lvl5pPr>
              <a:lvl6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6pPr>
              <a:lvl7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7pPr>
              <a:lvl8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8pPr>
              <a:lvl9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9pPr>
            </a:lstStyle>
            <a:p>
              <a:pPr algn="ctr"/>
              <a:r>
                <a:rPr lang="zh-CN" altLang="en-US" b="1">
                  <a:solidFill>
                    <a:srgbClr val="FFFFFF"/>
                  </a:solidFill>
                </a:rPr>
                <a:t>零售行业</a:t>
              </a:r>
            </a:p>
          </p:txBody>
        </p:sp>
      </p:grpSp>
      <p:sp>
        <p:nvSpPr>
          <p:cNvPr id="9" name="矩形 8">
            <a:extLst>
              <a:ext uri="{FF2B5EF4-FFF2-40B4-BE49-F238E27FC236}">
                <a16:creationId xmlns:a16="http://schemas.microsoft.com/office/drawing/2014/main" id="{12F1DFDC-91DA-469E-97FE-CA74950F0D32}"/>
              </a:ext>
            </a:extLst>
          </p:cNvPr>
          <p:cNvSpPr/>
          <p:nvPr/>
        </p:nvSpPr>
        <p:spPr>
          <a:xfrm>
            <a:off x="1719557" y="2073581"/>
            <a:ext cx="2562225" cy="2567201"/>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1350" noProof="1"/>
          </a:p>
        </p:txBody>
      </p:sp>
      <p:sp>
        <p:nvSpPr>
          <p:cNvPr id="10" name="矩形 2">
            <a:extLst>
              <a:ext uri="{FF2B5EF4-FFF2-40B4-BE49-F238E27FC236}">
                <a16:creationId xmlns:a16="http://schemas.microsoft.com/office/drawing/2014/main" id="{1753EF03-0924-419A-B99A-8B8B9DE43F12}"/>
              </a:ext>
            </a:extLst>
          </p:cNvPr>
          <p:cNvSpPr>
            <a:spLocks noChangeArrowheads="1"/>
          </p:cNvSpPr>
          <p:nvPr/>
        </p:nvSpPr>
        <p:spPr bwMode="auto">
          <a:xfrm>
            <a:off x="1836239" y="2278370"/>
            <a:ext cx="2315765" cy="2262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ea typeface="宋体" panose="02010600030101010101" pitchFamily="2" charset="-122"/>
              </a:defRPr>
            </a:lvl1pPr>
            <a:lvl2pPr>
              <a:defRPr>
                <a:solidFill>
                  <a:schemeClr val="tx1"/>
                </a:solidFill>
                <a:latin typeface="Arial" panose="020B0604020202090204" pitchFamily="34" charset="0"/>
                <a:ea typeface="宋体" panose="02010600030101010101" pitchFamily="2" charset="-122"/>
              </a:defRPr>
            </a:lvl2pPr>
            <a:lvl3pPr>
              <a:defRPr>
                <a:solidFill>
                  <a:schemeClr val="tx1"/>
                </a:solidFill>
                <a:latin typeface="Arial" panose="020B0604020202090204" pitchFamily="34" charset="0"/>
                <a:ea typeface="宋体" panose="02010600030101010101" pitchFamily="2" charset="-122"/>
              </a:defRPr>
            </a:lvl3pPr>
            <a:lvl4pPr>
              <a:defRPr>
                <a:solidFill>
                  <a:schemeClr val="tx1"/>
                </a:solidFill>
                <a:latin typeface="Arial" panose="020B0604020202090204" pitchFamily="34" charset="0"/>
                <a:ea typeface="宋体" panose="02010600030101010101" pitchFamily="2" charset="-122"/>
              </a:defRPr>
            </a:lvl4pPr>
            <a:lvl5pPr>
              <a:defRPr>
                <a:solidFill>
                  <a:schemeClr val="tx1"/>
                </a:solidFill>
                <a:latin typeface="Arial" panose="020B0604020202090204" pitchFamily="34" charset="0"/>
                <a:ea typeface="宋体" panose="02010600030101010101" pitchFamily="2" charset="-122"/>
              </a:defRPr>
            </a:lvl5pPr>
            <a:lvl6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6pPr>
            <a:lvl7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7pPr>
            <a:lvl8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8pPr>
            <a:lvl9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9pPr>
          </a:lstStyle>
          <a:p>
            <a:pPr marL="171450" indent="-171450">
              <a:lnSpc>
                <a:spcPct val="150000"/>
              </a:lnSpc>
              <a:buFont typeface="Arial" panose="020B0604020202020204" pitchFamily="34" charset="0"/>
              <a:buChar char="•"/>
            </a:pPr>
            <a:r>
              <a:rPr lang="zh-CN" altLang="en-US" sz="1600" dirty="0"/>
              <a:t>消费习惯</a:t>
            </a:r>
            <a:endParaRPr lang="en-US" altLang="zh-CN" sz="1600" dirty="0"/>
          </a:p>
          <a:p>
            <a:pPr marL="171450" indent="-171450">
              <a:lnSpc>
                <a:spcPct val="150000"/>
              </a:lnSpc>
              <a:buFont typeface="Arial" panose="020B0604020202020204" pitchFamily="34" charset="0"/>
              <a:buChar char="•"/>
            </a:pPr>
            <a:r>
              <a:rPr lang="zh-CN" altLang="en-US" sz="1600" dirty="0"/>
              <a:t>精准营销</a:t>
            </a:r>
            <a:endParaRPr lang="en-US" altLang="zh-CN" sz="1600" dirty="0"/>
          </a:p>
          <a:p>
            <a:pPr marL="171450" indent="-171450">
              <a:lnSpc>
                <a:spcPct val="150000"/>
              </a:lnSpc>
              <a:buFont typeface="Arial" panose="020B0604020202020204" pitchFamily="34" charset="0"/>
              <a:buChar char="•"/>
            </a:pPr>
            <a:r>
              <a:rPr lang="zh-CN" altLang="en-US" sz="1600" dirty="0"/>
              <a:t>交叉销售</a:t>
            </a:r>
            <a:endParaRPr lang="en-US" altLang="zh-CN" sz="1600" dirty="0"/>
          </a:p>
          <a:p>
            <a:pPr marL="171450" indent="-171450">
              <a:lnSpc>
                <a:spcPct val="150000"/>
              </a:lnSpc>
              <a:buFont typeface="Arial" panose="020B0604020202020204" pitchFamily="34" charset="0"/>
              <a:buChar char="•"/>
            </a:pPr>
            <a:r>
              <a:rPr lang="zh-CN" altLang="en-US" sz="1600" dirty="0"/>
              <a:t>客户评价的分析，产品质量的提高</a:t>
            </a:r>
            <a:endParaRPr lang="en-US" altLang="zh-CN" sz="1600" dirty="0"/>
          </a:p>
          <a:p>
            <a:pPr>
              <a:lnSpc>
                <a:spcPct val="150000"/>
              </a:lnSpc>
            </a:pPr>
            <a:r>
              <a:rPr lang="en-US" altLang="zh-CN" sz="1600" dirty="0"/>
              <a:t>…… </a:t>
            </a:r>
            <a:endParaRPr lang="zh-CN" altLang="zh-CN" sz="1600" dirty="0"/>
          </a:p>
        </p:txBody>
      </p:sp>
      <p:grpSp>
        <p:nvGrpSpPr>
          <p:cNvPr id="11" name="组合 87">
            <a:extLst>
              <a:ext uri="{FF2B5EF4-FFF2-40B4-BE49-F238E27FC236}">
                <a16:creationId xmlns:a16="http://schemas.microsoft.com/office/drawing/2014/main" id="{1B634E88-41AB-4FD0-A24A-24243493E9D5}"/>
              </a:ext>
            </a:extLst>
          </p:cNvPr>
          <p:cNvGrpSpPr/>
          <p:nvPr/>
        </p:nvGrpSpPr>
        <p:grpSpPr bwMode="auto">
          <a:xfrm>
            <a:off x="5415852" y="1472316"/>
            <a:ext cx="1911486" cy="713095"/>
            <a:chOff x="1307154" y="2302514"/>
            <a:chExt cx="2539132" cy="1245620"/>
          </a:xfrm>
        </p:grpSpPr>
        <p:sp>
          <p:nvSpPr>
            <p:cNvPr id="12" name="矩形 11">
              <a:extLst>
                <a:ext uri="{FF2B5EF4-FFF2-40B4-BE49-F238E27FC236}">
                  <a16:creationId xmlns:a16="http://schemas.microsoft.com/office/drawing/2014/main" id="{94A4DB8D-3438-4BBA-9376-AFAE00B0710E}"/>
                </a:ext>
              </a:extLst>
            </p:cNvPr>
            <p:cNvSpPr/>
            <p:nvPr/>
          </p:nvSpPr>
          <p:spPr>
            <a:xfrm>
              <a:off x="1307154" y="2302514"/>
              <a:ext cx="2539132" cy="865180"/>
            </a:xfrm>
            <a:prstGeom prst="rect">
              <a:avLst/>
            </a:prstGeom>
            <a:solidFill>
              <a:schemeClr val="tx1">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1013" noProof="1">
                <a:solidFill>
                  <a:prstClr val="white"/>
                </a:solidFill>
              </a:endParaRPr>
            </a:p>
          </p:txBody>
        </p:sp>
        <p:sp>
          <p:nvSpPr>
            <p:cNvPr id="13" name="矩形 12">
              <a:extLst>
                <a:ext uri="{FF2B5EF4-FFF2-40B4-BE49-F238E27FC236}">
                  <a16:creationId xmlns:a16="http://schemas.microsoft.com/office/drawing/2014/main" id="{47F67361-C2C2-4A72-9342-1391B22FDCCE}"/>
                </a:ext>
              </a:extLst>
            </p:cNvPr>
            <p:cNvSpPr/>
            <p:nvPr/>
          </p:nvSpPr>
          <p:spPr>
            <a:xfrm>
              <a:off x="1423167" y="2360747"/>
              <a:ext cx="2324619" cy="748713"/>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1013" noProof="1">
                <a:solidFill>
                  <a:prstClr val="white"/>
                </a:solidFill>
              </a:endParaRPr>
            </a:p>
          </p:txBody>
        </p:sp>
        <p:sp>
          <p:nvSpPr>
            <p:cNvPr id="14" name="文本框 50">
              <a:extLst>
                <a:ext uri="{FF2B5EF4-FFF2-40B4-BE49-F238E27FC236}">
                  <a16:creationId xmlns:a16="http://schemas.microsoft.com/office/drawing/2014/main" id="{FFA1E098-AB4F-4E98-8FC6-65A13E1AB745}"/>
                </a:ext>
              </a:extLst>
            </p:cNvPr>
            <p:cNvSpPr txBox="1">
              <a:spLocks noChangeArrowheads="1"/>
            </p:cNvSpPr>
            <p:nvPr/>
          </p:nvSpPr>
          <p:spPr bwMode="auto">
            <a:xfrm>
              <a:off x="1602698" y="2419136"/>
              <a:ext cx="1966675" cy="1128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ea typeface="宋体" panose="02010600030101010101" pitchFamily="2" charset="-122"/>
                </a:defRPr>
              </a:lvl1pPr>
              <a:lvl2pPr>
                <a:defRPr>
                  <a:solidFill>
                    <a:schemeClr val="tx1"/>
                  </a:solidFill>
                  <a:latin typeface="Arial" panose="020B0604020202090204" pitchFamily="34" charset="0"/>
                  <a:ea typeface="宋体" panose="02010600030101010101" pitchFamily="2" charset="-122"/>
                </a:defRPr>
              </a:lvl2pPr>
              <a:lvl3pPr>
                <a:defRPr>
                  <a:solidFill>
                    <a:schemeClr val="tx1"/>
                  </a:solidFill>
                  <a:latin typeface="Arial" panose="020B0604020202090204" pitchFamily="34" charset="0"/>
                  <a:ea typeface="宋体" panose="02010600030101010101" pitchFamily="2" charset="-122"/>
                </a:defRPr>
              </a:lvl3pPr>
              <a:lvl4pPr>
                <a:defRPr>
                  <a:solidFill>
                    <a:schemeClr val="tx1"/>
                  </a:solidFill>
                  <a:latin typeface="Arial" panose="020B0604020202090204" pitchFamily="34" charset="0"/>
                  <a:ea typeface="宋体" panose="02010600030101010101" pitchFamily="2" charset="-122"/>
                </a:defRPr>
              </a:lvl4pPr>
              <a:lvl5pPr>
                <a:defRPr>
                  <a:solidFill>
                    <a:schemeClr val="tx1"/>
                  </a:solidFill>
                  <a:latin typeface="Arial" panose="020B0604020202090204" pitchFamily="34" charset="0"/>
                  <a:ea typeface="宋体" panose="02010600030101010101" pitchFamily="2" charset="-122"/>
                </a:defRPr>
              </a:lvl5pPr>
              <a:lvl6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6pPr>
              <a:lvl7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7pPr>
              <a:lvl8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8pPr>
              <a:lvl9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9pPr>
            </a:lstStyle>
            <a:p>
              <a:pPr algn="ctr"/>
              <a:r>
                <a:rPr lang="zh-CN" altLang="en-US" b="1">
                  <a:solidFill>
                    <a:srgbClr val="FFFFFF"/>
                  </a:solidFill>
                </a:rPr>
                <a:t>金融行业</a:t>
              </a:r>
            </a:p>
          </p:txBody>
        </p:sp>
      </p:grpSp>
      <p:sp>
        <p:nvSpPr>
          <p:cNvPr id="15" name="矩形 14">
            <a:extLst>
              <a:ext uri="{FF2B5EF4-FFF2-40B4-BE49-F238E27FC236}">
                <a16:creationId xmlns:a16="http://schemas.microsoft.com/office/drawing/2014/main" id="{3C1A68AA-63E4-46AA-86EF-E7D8EE87EE61}"/>
              </a:ext>
            </a:extLst>
          </p:cNvPr>
          <p:cNvSpPr/>
          <p:nvPr/>
        </p:nvSpPr>
        <p:spPr>
          <a:xfrm>
            <a:off x="4824708" y="2073581"/>
            <a:ext cx="2563415" cy="2567201"/>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1350" noProof="1"/>
          </a:p>
        </p:txBody>
      </p:sp>
      <p:sp>
        <p:nvSpPr>
          <p:cNvPr id="16" name="矩形 92">
            <a:extLst>
              <a:ext uri="{FF2B5EF4-FFF2-40B4-BE49-F238E27FC236}">
                <a16:creationId xmlns:a16="http://schemas.microsoft.com/office/drawing/2014/main" id="{5D0BDFB6-28ED-4F80-986E-1E2B84087CD2}"/>
              </a:ext>
            </a:extLst>
          </p:cNvPr>
          <p:cNvSpPr>
            <a:spLocks noChangeArrowheads="1"/>
          </p:cNvSpPr>
          <p:nvPr/>
        </p:nvSpPr>
        <p:spPr bwMode="auto">
          <a:xfrm>
            <a:off x="4937421" y="2278370"/>
            <a:ext cx="2315765" cy="2262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ea typeface="宋体" panose="02010600030101010101" pitchFamily="2" charset="-122"/>
              </a:defRPr>
            </a:lvl1pPr>
            <a:lvl2pPr>
              <a:defRPr>
                <a:solidFill>
                  <a:schemeClr val="tx1"/>
                </a:solidFill>
                <a:latin typeface="Arial" panose="020B0604020202090204" pitchFamily="34" charset="0"/>
                <a:ea typeface="宋体" panose="02010600030101010101" pitchFamily="2" charset="-122"/>
              </a:defRPr>
            </a:lvl2pPr>
            <a:lvl3pPr>
              <a:defRPr>
                <a:solidFill>
                  <a:schemeClr val="tx1"/>
                </a:solidFill>
                <a:latin typeface="Arial" panose="020B0604020202090204" pitchFamily="34" charset="0"/>
                <a:ea typeface="宋体" panose="02010600030101010101" pitchFamily="2" charset="-122"/>
              </a:defRPr>
            </a:lvl3pPr>
            <a:lvl4pPr>
              <a:defRPr>
                <a:solidFill>
                  <a:schemeClr val="tx1"/>
                </a:solidFill>
                <a:latin typeface="Arial" panose="020B0604020202090204" pitchFamily="34" charset="0"/>
                <a:ea typeface="宋体" panose="02010600030101010101" pitchFamily="2" charset="-122"/>
              </a:defRPr>
            </a:lvl4pPr>
            <a:lvl5pPr>
              <a:defRPr>
                <a:solidFill>
                  <a:schemeClr val="tx1"/>
                </a:solidFill>
                <a:latin typeface="Arial" panose="020B0604020202090204" pitchFamily="34" charset="0"/>
                <a:ea typeface="宋体" panose="02010600030101010101" pitchFamily="2" charset="-122"/>
              </a:defRPr>
            </a:lvl5pPr>
            <a:lvl6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6pPr>
            <a:lvl7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7pPr>
            <a:lvl8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8pPr>
            <a:lvl9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9pPr>
          </a:lstStyle>
          <a:p>
            <a:pPr marL="171450" indent="-171450">
              <a:lnSpc>
                <a:spcPct val="150000"/>
              </a:lnSpc>
              <a:buFont typeface="Arial" panose="020B0604020202020204" pitchFamily="34" charset="0"/>
              <a:buChar char="•"/>
            </a:pPr>
            <a:r>
              <a:rPr lang="zh-CN" altLang="en-US" sz="1600" dirty="0"/>
              <a:t>客户服务</a:t>
            </a:r>
            <a:endParaRPr lang="en-US" altLang="zh-CN" sz="1600" dirty="0"/>
          </a:p>
          <a:p>
            <a:pPr marL="171450" indent="-171450">
              <a:lnSpc>
                <a:spcPct val="150000"/>
              </a:lnSpc>
              <a:buFont typeface="Arial" panose="020B0604020202020204" pitchFamily="34" charset="0"/>
              <a:buChar char="•"/>
            </a:pPr>
            <a:r>
              <a:rPr lang="zh-CN" altLang="en-US" sz="1600" dirty="0"/>
              <a:t>交叉销售</a:t>
            </a:r>
            <a:endParaRPr lang="en-US" altLang="zh-CN" sz="1600" dirty="0"/>
          </a:p>
          <a:p>
            <a:pPr marL="171450" indent="-171450">
              <a:lnSpc>
                <a:spcPct val="150000"/>
              </a:lnSpc>
              <a:buFont typeface="Arial" panose="020B0604020202020204" pitchFamily="34" charset="0"/>
              <a:buChar char="•"/>
            </a:pPr>
            <a:r>
              <a:rPr lang="zh-CN" altLang="en-US" sz="1600" dirty="0"/>
              <a:t>信用评估、风险控制</a:t>
            </a:r>
            <a:endParaRPr lang="en-US" altLang="zh-CN" sz="1600" dirty="0"/>
          </a:p>
          <a:p>
            <a:pPr marL="171450" indent="-171450">
              <a:lnSpc>
                <a:spcPct val="150000"/>
              </a:lnSpc>
              <a:buFont typeface="Arial" panose="020B0604020202020204" pitchFamily="34" charset="0"/>
              <a:buChar char="•"/>
            </a:pPr>
            <a:r>
              <a:rPr lang="zh-CN" altLang="en-US" sz="1600" dirty="0"/>
              <a:t>欺诈检测</a:t>
            </a:r>
            <a:endParaRPr lang="en-US" altLang="zh-CN" sz="1600" dirty="0"/>
          </a:p>
          <a:p>
            <a:pPr marL="171450" indent="-171450">
              <a:lnSpc>
                <a:spcPct val="150000"/>
              </a:lnSpc>
              <a:buFont typeface="Arial" panose="020B0604020202020204" pitchFamily="34" charset="0"/>
              <a:buChar char="•"/>
            </a:pPr>
            <a:r>
              <a:rPr lang="zh-CN" altLang="en-US" sz="1600" dirty="0"/>
              <a:t>量化交易</a:t>
            </a:r>
            <a:endParaRPr lang="en-US" altLang="zh-CN" sz="1600" dirty="0"/>
          </a:p>
          <a:p>
            <a:pPr>
              <a:lnSpc>
                <a:spcPct val="150000"/>
              </a:lnSpc>
            </a:pPr>
            <a:r>
              <a:rPr lang="en-US" altLang="zh-CN" sz="1600" dirty="0"/>
              <a:t>……</a:t>
            </a:r>
          </a:p>
        </p:txBody>
      </p:sp>
      <p:pic>
        <p:nvPicPr>
          <p:cNvPr id="17" name="图片 93">
            <a:extLst>
              <a:ext uri="{FF2B5EF4-FFF2-40B4-BE49-F238E27FC236}">
                <a16:creationId xmlns:a16="http://schemas.microsoft.com/office/drawing/2014/main" id="{705FD44B-3083-4FEC-B087-CAF5DC28F7D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15625" r="13000"/>
          <a:stretch>
            <a:fillRect/>
          </a:stretch>
        </p:blipFill>
        <p:spPr bwMode="auto">
          <a:xfrm>
            <a:off x="4810420" y="1467553"/>
            <a:ext cx="551259"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476489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内容占位符 18">
            <a:extLst>
              <a:ext uri="{FF2B5EF4-FFF2-40B4-BE49-F238E27FC236}">
                <a16:creationId xmlns:a16="http://schemas.microsoft.com/office/drawing/2014/main" id="{685C09C5-01A8-4A28-82A3-1A3A8E4424B4}"/>
              </a:ext>
            </a:extLst>
          </p:cNvPr>
          <p:cNvSpPr>
            <a:spLocks noGrp="1"/>
          </p:cNvSpPr>
          <p:nvPr>
            <p:ph idx="1"/>
          </p:nvPr>
        </p:nvSpPr>
        <p:spPr/>
        <p:txBody>
          <a:bodyPr/>
          <a:lstStyle/>
          <a:p>
            <a:r>
              <a:rPr lang="zh-CN" altLang="en-US" dirty="0"/>
              <a:t>大数据应用场景</a:t>
            </a:r>
          </a:p>
          <a:p>
            <a:endParaRPr lang="zh-CN" altLang="en-US" dirty="0"/>
          </a:p>
        </p:txBody>
      </p:sp>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a:xfrm>
            <a:off x="1485900" y="205978"/>
            <a:ext cx="6172200" cy="536972"/>
          </a:xfrm>
        </p:spPr>
        <p:txBody>
          <a:bodyPr>
            <a:normAutofit/>
          </a:bodyPr>
          <a:lstStyle/>
          <a:p>
            <a:r>
              <a:rPr kumimoji="1" lang="zh-CN" altLang="en-US" dirty="0">
                <a:latin typeface="Times New Roman" panose="02020603050405020304" pitchFamily="18" charset="0"/>
                <a:ea typeface="微软雅黑" panose="020B0503020204020204" pitchFamily="34" charset="-122"/>
                <a:cs typeface="Times New Roman" panose="02020603050405020304" pitchFamily="18" charset="0"/>
              </a:rPr>
              <a:t>大数据基础引论</a:t>
            </a:r>
          </a:p>
        </p:txBody>
      </p:sp>
      <p:pic>
        <p:nvPicPr>
          <p:cNvPr id="4" name="Picture 2" descr="E:\PPT 胡占利 工作\《大数据》随书美化PPT\made-in-china.jpg">
            <a:extLst>
              <a:ext uri="{FF2B5EF4-FFF2-40B4-BE49-F238E27FC236}">
                <a16:creationId xmlns:a16="http://schemas.microsoft.com/office/drawing/2014/main" id="{A5D463A1-A8AF-40D3-B5A0-E76EE99E850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57350" y="1371601"/>
            <a:ext cx="828675" cy="498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组合 81">
            <a:extLst>
              <a:ext uri="{FF2B5EF4-FFF2-40B4-BE49-F238E27FC236}">
                <a16:creationId xmlns:a16="http://schemas.microsoft.com/office/drawing/2014/main" id="{B92F4349-0561-4FF7-8C03-CD506CF112E0}"/>
              </a:ext>
            </a:extLst>
          </p:cNvPr>
          <p:cNvGrpSpPr/>
          <p:nvPr/>
        </p:nvGrpSpPr>
        <p:grpSpPr bwMode="auto">
          <a:xfrm>
            <a:off x="2571751" y="1371602"/>
            <a:ext cx="1740694" cy="716804"/>
            <a:chOff x="1307154" y="2302514"/>
            <a:chExt cx="2539132" cy="1243133"/>
          </a:xfrm>
        </p:grpSpPr>
        <p:sp>
          <p:nvSpPr>
            <p:cNvPr id="6" name="矩形 5">
              <a:extLst>
                <a:ext uri="{FF2B5EF4-FFF2-40B4-BE49-F238E27FC236}">
                  <a16:creationId xmlns:a16="http://schemas.microsoft.com/office/drawing/2014/main" id="{72D0EF44-AE08-462D-9B57-BE6CD873B998}"/>
                </a:ext>
              </a:extLst>
            </p:cNvPr>
            <p:cNvSpPr/>
            <p:nvPr/>
          </p:nvSpPr>
          <p:spPr>
            <a:xfrm>
              <a:off x="1307154" y="2302514"/>
              <a:ext cx="2539132" cy="865180"/>
            </a:xfrm>
            <a:prstGeom prst="rect">
              <a:avLst/>
            </a:prstGeom>
            <a:solidFill>
              <a:schemeClr val="tx1">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1013" noProof="1">
                <a:solidFill>
                  <a:prstClr val="white"/>
                </a:solidFill>
              </a:endParaRPr>
            </a:p>
          </p:txBody>
        </p:sp>
        <p:sp>
          <p:nvSpPr>
            <p:cNvPr id="7" name="矩形 6">
              <a:extLst>
                <a:ext uri="{FF2B5EF4-FFF2-40B4-BE49-F238E27FC236}">
                  <a16:creationId xmlns:a16="http://schemas.microsoft.com/office/drawing/2014/main" id="{8FA8087E-F62E-4D80-9F6E-68C22913E0D6}"/>
                </a:ext>
              </a:extLst>
            </p:cNvPr>
            <p:cNvSpPr/>
            <p:nvPr/>
          </p:nvSpPr>
          <p:spPr>
            <a:xfrm>
              <a:off x="1423870" y="2360330"/>
              <a:ext cx="2323318" cy="749547"/>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1013" noProof="1">
                <a:solidFill>
                  <a:prstClr val="white"/>
                </a:solidFill>
              </a:endParaRPr>
            </a:p>
          </p:txBody>
        </p:sp>
        <p:sp>
          <p:nvSpPr>
            <p:cNvPr id="8" name="文本框 38">
              <a:extLst>
                <a:ext uri="{FF2B5EF4-FFF2-40B4-BE49-F238E27FC236}">
                  <a16:creationId xmlns:a16="http://schemas.microsoft.com/office/drawing/2014/main" id="{36588362-C8ED-4ED1-BB88-7775A3BE06B6}"/>
                </a:ext>
              </a:extLst>
            </p:cNvPr>
            <p:cNvSpPr txBox="1">
              <a:spLocks noChangeArrowheads="1"/>
            </p:cNvSpPr>
            <p:nvPr/>
          </p:nvSpPr>
          <p:spPr bwMode="auto">
            <a:xfrm>
              <a:off x="1585197" y="2424733"/>
              <a:ext cx="1983040" cy="112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ea typeface="宋体" panose="02010600030101010101" pitchFamily="2" charset="-122"/>
                </a:defRPr>
              </a:lvl1pPr>
              <a:lvl2pPr>
                <a:defRPr>
                  <a:solidFill>
                    <a:schemeClr val="tx1"/>
                  </a:solidFill>
                  <a:latin typeface="Arial" panose="020B0604020202090204" pitchFamily="34" charset="0"/>
                  <a:ea typeface="宋体" panose="02010600030101010101" pitchFamily="2" charset="-122"/>
                </a:defRPr>
              </a:lvl2pPr>
              <a:lvl3pPr>
                <a:defRPr>
                  <a:solidFill>
                    <a:schemeClr val="tx1"/>
                  </a:solidFill>
                  <a:latin typeface="Arial" panose="020B0604020202090204" pitchFamily="34" charset="0"/>
                  <a:ea typeface="宋体" panose="02010600030101010101" pitchFamily="2" charset="-122"/>
                </a:defRPr>
              </a:lvl3pPr>
              <a:lvl4pPr>
                <a:defRPr>
                  <a:solidFill>
                    <a:schemeClr val="tx1"/>
                  </a:solidFill>
                  <a:latin typeface="Arial" panose="020B0604020202090204" pitchFamily="34" charset="0"/>
                  <a:ea typeface="宋体" panose="02010600030101010101" pitchFamily="2" charset="-122"/>
                </a:defRPr>
              </a:lvl4pPr>
              <a:lvl5pPr>
                <a:defRPr>
                  <a:solidFill>
                    <a:schemeClr val="tx1"/>
                  </a:solidFill>
                  <a:latin typeface="Arial" panose="020B0604020202090204" pitchFamily="34" charset="0"/>
                  <a:ea typeface="宋体" panose="02010600030101010101" pitchFamily="2" charset="-122"/>
                </a:defRPr>
              </a:lvl5pPr>
              <a:lvl6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6pPr>
              <a:lvl7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7pPr>
              <a:lvl8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8pPr>
              <a:lvl9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9pPr>
            </a:lstStyle>
            <a:p>
              <a:pPr algn="ctr"/>
              <a:r>
                <a:rPr lang="zh-CN" altLang="en-US" b="1" dirty="0">
                  <a:solidFill>
                    <a:srgbClr val="FFFFFF"/>
                  </a:solidFill>
                </a:rPr>
                <a:t>医疗行业</a:t>
              </a:r>
            </a:p>
          </p:txBody>
        </p:sp>
      </p:grpSp>
      <p:sp>
        <p:nvSpPr>
          <p:cNvPr id="9" name="矩形 8">
            <a:extLst>
              <a:ext uri="{FF2B5EF4-FFF2-40B4-BE49-F238E27FC236}">
                <a16:creationId xmlns:a16="http://schemas.microsoft.com/office/drawing/2014/main" id="{CC8E3DC7-1279-479F-98E7-C199CD878780}"/>
              </a:ext>
            </a:extLst>
          </p:cNvPr>
          <p:cNvSpPr/>
          <p:nvPr/>
        </p:nvSpPr>
        <p:spPr>
          <a:xfrm>
            <a:off x="1657350" y="1972866"/>
            <a:ext cx="2562225" cy="2656284"/>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1350" noProof="1"/>
          </a:p>
        </p:txBody>
      </p:sp>
      <p:sp>
        <p:nvSpPr>
          <p:cNvPr id="10" name="矩形 86">
            <a:extLst>
              <a:ext uri="{FF2B5EF4-FFF2-40B4-BE49-F238E27FC236}">
                <a16:creationId xmlns:a16="http://schemas.microsoft.com/office/drawing/2014/main" id="{A66DE5EF-B77C-4465-B370-1B0E804D7835}"/>
              </a:ext>
            </a:extLst>
          </p:cNvPr>
          <p:cNvSpPr>
            <a:spLocks noChangeArrowheads="1"/>
          </p:cNvSpPr>
          <p:nvPr/>
        </p:nvSpPr>
        <p:spPr bwMode="auto">
          <a:xfrm>
            <a:off x="1779985" y="2177654"/>
            <a:ext cx="2316956"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ea typeface="宋体" panose="02010600030101010101" pitchFamily="2" charset="-122"/>
              </a:defRPr>
            </a:lvl1pPr>
            <a:lvl2pPr>
              <a:defRPr>
                <a:solidFill>
                  <a:schemeClr val="tx1"/>
                </a:solidFill>
                <a:latin typeface="Arial" panose="020B0604020202090204" pitchFamily="34" charset="0"/>
                <a:ea typeface="宋体" panose="02010600030101010101" pitchFamily="2" charset="-122"/>
              </a:defRPr>
            </a:lvl2pPr>
            <a:lvl3pPr>
              <a:defRPr>
                <a:solidFill>
                  <a:schemeClr val="tx1"/>
                </a:solidFill>
                <a:latin typeface="Arial" panose="020B0604020202090204" pitchFamily="34" charset="0"/>
                <a:ea typeface="宋体" panose="02010600030101010101" pitchFamily="2" charset="-122"/>
              </a:defRPr>
            </a:lvl3pPr>
            <a:lvl4pPr>
              <a:defRPr>
                <a:solidFill>
                  <a:schemeClr val="tx1"/>
                </a:solidFill>
                <a:latin typeface="Arial" panose="020B0604020202090204" pitchFamily="34" charset="0"/>
                <a:ea typeface="宋体" panose="02010600030101010101" pitchFamily="2" charset="-122"/>
              </a:defRPr>
            </a:lvl4pPr>
            <a:lvl5pPr>
              <a:defRPr>
                <a:solidFill>
                  <a:schemeClr val="tx1"/>
                </a:solidFill>
                <a:latin typeface="Arial" panose="020B0604020202090204" pitchFamily="34" charset="0"/>
                <a:ea typeface="宋体" panose="02010600030101010101" pitchFamily="2" charset="-122"/>
              </a:defRPr>
            </a:lvl5pPr>
            <a:lvl6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6pPr>
            <a:lvl7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7pPr>
            <a:lvl8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8pPr>
            <a:lvl9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9pPr>
          </a:lstStyle>
          <a:p>
            <a:pPr marL="285750" indent="-285750">
              <a:buFont typeface="Arial" panose="020B0604020202020204" pitchFamily="34" charset="0"/>
              <a:buChar char="•"/>
            </a:pPr>
            <a:r>
              <a:rPr lang="zh-CN" altLang="en-US" sz="1600" dirty="0"/>
              <a:t>辅助诊断、制定个性化治疗方案</a:t>
            </a:r>
            <a:endParaRPr lang="en-US" altLang="zh-CN" sz="1600" dirty="0"/>
          </a:p>
          <a:p>
            <a:r>
              <a:rPr lang="en-US" altLang="zh-CN" sz="1200" dirty="0">
                <a:sym typeface="Wingdings" panose="05000000000000000000" pitchFamily="2" charset="2"/>
              </a:rPr>
              <a:t> </a:t>
            </a:r>
            <a:r>
              <a:rPr lang="zh-CN" altLang="zh-CN" sz="1200" dirty="0">
                <a:solidFill>
                  <a:srgbClr val="C00000"/>
                </a:solidFill>
              </a:rPr>
              <a:t>病例</a:t>
            </a:r>
            <a:r>
              <a:rPr lang="zh-CN" altLang="en-US" sz="1200" dirty="0">
                <a:solidFill>
                  <a:srgbClr val="C00000"/>
                </a:solidFill>
              </a:rPr>
              <a:t>、治疗方案、药物报告</a:t>
            </a:r>
            <a:endParaRPr lang="en-US" altLang="zh-CN" sz="1600" dirty="0"/>
          </a:p>
          <a:p>
            <a:pPr marL="285750" indent="-285750">
              <a:buFont typeface="Arial" panose="020B0604020202020204" pitchFamily="34" charset="0"/>
              <a:buChar char="•"/>
            </a:pPr>
            <a:r>
              <a:rPr lang="zh-CN" altLang="en-US" sz="1600" dirty="0"/>
              <a:t>预测病情</a:t>
            </a:r>
            <a:endParaRPr lang="en-US" altLang="zh-CN" sz="1600" dirty="0"/>
          </a:p>
          <a:p>
            <a:r>
              <a:rPr lang="en-US" altLang="zh-CN" sz="1600" dirty="0"/>
              <a:t>……</a:t>
            </a:r>
            <a:endParaRPr lang="zh-CN" altLang="zh-CN" sz="1600" dirty="0"/>
          </a:p>
        </p:txBody>
      </p:sp>
      <p:grpSp>
        <p:nvGrpSpPr>
          <p:cNvPr id="11" name="组合 33">
            <a:extLst>
              <a:ext uri="{FF2B5EF4-FFF2-40B4-BE49-F238E27FC236}">
                <a16:creationId xmlns:a16="http://schemas.microsoft.com/office/drawing/2014/main" id="{4B9830BC-000A-4A24-915B-9FA9117065B3}"/>
              </a:ext>
            </a:extLst>
          </p:cNvPr>
          <p:cNvGrpSpPr/>
          <p:nvPr/>
        </p:nvGrpSpPr>
        <p:grpSpPr bwMode="auto">
          <a:xfrm>
            <a:off x="5676901" y="1371602"/>
            <a:ext cx="1690897" cy="716804"/>
            <a:chOff x="1307154" y="2302514"/>
            <a:chExt cx="2539132" cy="1243133"/>
          </a:xfrm>
        </p:grpSpPr>
        <p:sp>
          <p:nvSpPr>
            <p:cNvPr id="12" name="矩形 11">
              <a:extLst>
                <a:ext uri="{FF2B5EF4-FFF2-40B4-BE49-F238E27FC236}">
                  <a16:creationId xmlns:a16="http://schemas.microsoft.com/office/drawing/2014/main" id="{4C678267-BB76-4FAB-9A40-23651BE421F0}"/>
                </a:ext>
              </a:extLst>
            </p:cNvPr>
            <p:cNvSpPr/>
            <p:nvPr/>
          </p:nvSpPr>
          <p:spPr>
            <a:xfrm>
              <a:off x="1307154" y="2302514"/>
              <a:ext cx="2539132" cy="865180"/>
            </a:xfrm>
            <a:prstGeom prst="rect">
              <a:avLst/>
            </a:prstGeom>
            <a:solidFill>
              <a:schemeClr val="tx1">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1013" noProof="1">
                <a:solidFill>
                  <a:prstClr val="white"/>
                </a:solidFill>
              </a:endParaRPr>
            </a:p>
          </p:txBody>
        </p:sp>
        <p:sp>
          <p:nvSpPr>
            <p:cNvPr id="13" name="矩形 12">
              <a:extLst>
                <a:ext uri="{FF2B5EF4-FFF2-40B4-BE49-F238E27FC236}">
                  <a16:creationId xmlns:a16="http://schemas.microsoft.com/office/drawing/2014/main" id="{FE73D5AF-06A8-4468-89ED-A7092A18EAFE}"/>
                </a:ext>
              </a:extLst>
            </p:cNvPr>
            <p:cNvSpPr/>
            <p:nvPr/>
          </p:nvSpPr>
          <p:spPr>
            <a:xfrm>
              <a:off x="1423769" y="2360330"/>
              <a:ext cx="2323504" cy="749547"/>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1013" noProof="1">
                <a:solidFill>
                  <a:prstClr val="white"/>
                </a:solidFill>
              </a:endParaRPr>
            </a:p>
          </p:txBody>
        </p:sp>
        <p:sp>
          <p:nvSpPr>
            <p:cNvPr id="14" name="文本框 38">
              <a:extLst>
                <a:ext uri="{FF2B5EF4-FFF2-40B4-BE49-F238E27FC236}">
                  <a16:creationId xmlns:a16="http://schemas.microsoft.com/office/drawing/2014/main" id="{E1CA7183-C1E3-48D1-826C-B50FA389A22F}"/>
                </a:ext>
              </a:extLst>
            </p:cNvPr>
            <p:cNvSpPr txBox="1">
              <a:spLocks noChangeArrowheads="1"/>
            </p:cNvSpPr>
            <p:nvPr/>
          </p:nvSpPr>
          <p:spPr bwMode="auto">
            <a:xfrm>
              <a:off x="1585198" y="2424733"/>
              <a:ext cx="1983040" cy="112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ea typeface="宋体" panose="02010600030101010101" pitchFamily="2" charset="-122"/>
                </a:defRPr>
              </a:lvl1pPr>
              <a:lvl2pPr>
                <a:defRPr>
                  <a:solidFill>
                    <a:schemeClr val="tx1"/>
                  </a:solidFill>
                  <a:latin typeface="Arial" panose="020B0604020202090204" pitchFamily="34" charset="0"/>
                  <a:ea typeface="宋体" panose="02010600030101010101" pitchFamily="2" charset="-122"/>
                </a:defRPr>
              </a:lvl2pPr>
              <a:lvl3pPr>
                <a:defRPr>
                  <a:solidFill>
                    <a:schemeClr val="tx1"/>
                  </a:solidFill>
                  <a:latin typeface="Arial" panose="020B0604020202090204" pitchFamily="34" charset="0"/>
                  <a:ea typeface="宋体" panose="02010600030101010101" pitchFamily="2" charset="-122"/>
                </a:defRPr>
              </a:lvl3pPr>
              <a:lvl4pPr>
                <a:defRPr>
                  <a:solidFill>
                    <a:schemeClr val="tx1"/>
                  </a:solidFill>
                  <a:latin typeface="Arial" panose="020B0604020202090204" pitchFamily="34" charset="0"/>
                  <a:ea typeface="宋体" panose="02010600030101010101" pitchFamily="2" charset="-122"/>
                </a:defRPr>
              </a:lvl4pPr>
              <a:lvl5pPr>
                <a:defRPr>
                  <a:solidFill>
                    <a:schemeClr val="tx1"/>
                  </a:solidFill>
                  <a:latin typeface="Arial" panose="020B0604020202090204" pitchFamily="34" charset="0"/>
                  <a:ea typeface="宋体" panose="02010600030101010101" pitchFamily="2" charset="-122"/>
                </a:defRPr>
              </a:lvl5pPr>
              <a:lvl6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6pPr>
              <a:lvl7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7pPr>
              <a:lvl8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8pPr>
              <a:lvl9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9pPr>
            </a:lstStyle>
            <a:p>
              <a:pPr algn="ctr"/>
              <a:r>
                <a:rPr lang="zh-CN" altLang="en-US" b="1" dirty="0">
                  <a:solidFill>
                    <a:srgbClr val="FFFFFF"/>
                  </a:solidFill>
                </a:rPr>
                <a:t>教育行业</a:t>
              </a:r>
            </a:p>
          </p:txBody>
        </p:sp>
      </p:grpSp>
      <p:sp>
        <p:nvSpPr>
          <p:cNvPr id="15" name="矩形 14">
            <a:extLst>
              <a:ext uri="{FF2B5EF4-FFF2-40B4-BE49-F238E27FC236}">
                <a16:creationId xmlns:a16="http://schemas.microsoft.com/office/drawing/2014/main" id="{6898D47A-AE85-4FE1-B9F9-BCECC992392E}"/>
              </a:ext>
            </a:extLst>
          </p:cNvPr>
          <p:cNvSpPr/>
          <p:nvPr/>
        </p:nvSpPr>
        <p:spPr>
          <a:xfrm>
            <a:off x="4762501" y="1972866"/>
            <a:ext cx="2563415" cy="2599134"/>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1350" noProof="1"/>
          </a:p>
        </p:txBody>
      </p:sp>
      <p:sp>
        <p:nvSpPr>
          <p:cNvPr id="16" name="矩形 38">
            <a:extLst>
              <a:ext uri="{FF2B5EF4-FFF2-40B4-BE49-F238E27FC236}">
                <a16:creationId xmlns:a16="http://schemas.microsoft.com/office/drawing/2014/main" id="{DE31F006-06B4-4F09-8C01-27A7C4839E90}"/>
              </a:ext>
            </a:extLst>
          </p:cNvPr>
          <p:cNvSpPr>
            <a:spLocks noChangeArrowheads="1"/>
          </p:cNvSpPr>
          <p:nvPr/>
        </p:nvSpPr>
        <p:spPr bwMode="auto">
          <a:xfrm>
            <a:off x="4886326" y="2177654"/>
            <a:ext cx="2315765" cy="160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ea typeface="宋体" panose="02010600030101010101" pitchFamily="2" charset="-122"/>
              </a:defRPr>
            </a:lvl1pPr>
            <a:lvl2pPr>
              <a:defRPr>
                <a:solidFill>
                  <a:schemeClr val="tx1"/>
                </a:solidFill>
                <a:latin typeface="Arial" panose="020B0604020202090204" pitchFamily="34" charset="0"/>
                <a:ea typeface="宋体" panose="02010600030101010101" pitchFamily="2" charset="-122"/>
              </a:defRPr>
            </a:lvl2pPr>
            <a:lvl3pPr>
              <a:defRPr>
                <a:solidFill>
                  <a:schemeClr val="tx1"/>
                </a:solidFill>
                <a:latin typeface="Arial" panose="020B0604020202090204" pitchFamily="34" charset="0"/>
                <a:ea typeface="宋体" panose="02010600030101010101" pitchFamily="2" charset="-122"/>
              </a:defRPr>
            </a:lvl3pPr>
            <a:lvl4pPr>
              <a:defRPr>
                <a:solidFill>
                  <a:schemeClr val="tx1"/>
                </a:solidFill>
                <a:latin typeface="Arial" panose="020B0604020202090204" pitchFamily="34" charset="0"/>
                <a:ea typeface="宋体" panose="02010600030101010101" pitchFamily="2" charset="-122"/>
              </a:defRPr>
            </a:lvl4pPr>
            <a:lvl5pPr>
              <a:defRPr>
                <a:solidFill>
                  <a:schemeClr val="tx1"/>
                </a:solidFill>
                <a:latin typeface="Arial" panose="020B0604020202090204" pitchFamily="34" charset="0"/>
                <a:ea typeface="宋体" panose="02010600030101010101" pitchFamily="2" charset="-122"/>
              </a:defRPr>
            </a:lvl5pPr>
            <a:lvl6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6pPr>
            <a:lvl7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7pPr>
            <a:lvl8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8pPr>
            <a:lvl9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9pPr>
          </a:lstStyle>
          <a:p>
            <a:pPr marL="171450" indent="-171450">
              <a:buFont typeface="Arial" panose="020B0604020202020204" pitchFamily="34" charset="0"/>
              <a:buChar char="•"/>
            </a:pPr>
            <a:r>
              <a:rPr lang="zh-CN" altLang="en-US" sz="1400" dirty="0"/>
              <a:t>教、学、评、管，各个环节的数字化；分析这些积淀的数据，为教育现代化服务</a:t>
            </a:r>
            <a:endParaRPr lang="en-US" altLang="zh-CN" sz="1400" dirty="0"/>
          </a:p>
          <a:p>
            <a:pPr marL="171450" indent="-171450">
              <a:buFont typeface="Arial" panose="020B0604020202020204" pitchFamily="34" charset="0"/>
              <a:buChar char="•"/>
            </a:pPr>
            <a:r>
              <a:rPr lang="zh-CN" altLang="en-US" sz="1400" dirty="0"/>
              <a:t>个性化学习：正确评估每一位学生，因材施教</a:t>
            </a:r>
            <a:endParaRPr lang="en-US" altLang="zh-CN" sz="1400" dirty="0"/>
          </a:p>
          <a:p>
            <a:pPr marL="171450" indent="-171450">
              <a:buFont typeface="Arial" panose="020B0604020202020204" pitchFamily="34" charset="0"/>
              <a:buChar char="•"/>
            </a:pPr>
            <a:r>
              <a:rPr lang="en-US" altLang="zh-CN" sz="1400" dirty="0"/>
              <a:t>……</a:t>
            </a:r>
            <a:endParaRPr lang="zh-CN" altLang="zh-CN" sz="1050" dirty="0"/>
          </a:p>
        </p:txBody>
      </p:sp>
      <p:pic>
        <p:nvPicPr>
          <p:cNvPr id="17" name="图片 39">
            <a:extLst>
              <a:ext uri="{FF2B5EF4-FFF2-40B4-BE49-F238E27FC236}">
                <a16:creationId xmlns:a16="http://schemas.microsoft.com/office/drawing/2014/main" id="{773E3753-6BA6-4833-91D4-AD32A33B224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63690" y="1371601"/>
            <a:ext cx="820341" cy="498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248552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内容占位符 27">
            <a:extLst>
              <a:ext uri="{FF2B5EF4-FFF2-40B4-BE49-F238E27FC236}">
                <a16:creationId xmlns:a16="http://schemas.microsoft.com/office/drawing/2014/main" id="{287F5608-3843-4132-BE5D-B45C91B2B136}"/>
              </a:ext>
            </a:extLst>
          </p:cNvPr>
          <p:cNvSpPr>
            <a:spLocks noGrp="1"/>
          </p:cNvSpPr>
          <p:nvPr>
            <p:ph idx="1"/>
          </p:nvPr>
        </p:nvSpPr>
        <p:spPr>
          <a:xfrm>
            <a:off x="457200" y="819474"/>
            <a:ext cx="8229600" cy="3937000"/>
          </a:xfrm>
        </p:spPr>
        <p:txBody>
          <a:bodyPr/>
          <a:lstStyle/>
          <a:p>
            <a:r>
              <a:rPr lang="zh-CN" altLang="en-US" dirty="0"/>
              <a:t>大数据应用场景</a:t>
            </a:r>
          </a:p>
          <a:p>
            <a:endParaRPr lang="zh-CN" altLang="en-US" dirty="0"/>
          </a:p>
        </p:txBody>
      </p:sp>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a:xfrm>
            <a:off x="1485900" y="205978"/>
            <a:ext cx="6172200" cy="536972"/>
          </a:xfrm>
        </p:spPr>
        <p:txBody>
          <a:bodyPr>
            <a:normAutofit/>
          </a:bodyPr>
          <a:lstStyle/>
          <a:p>
            <a:r>
              <a:rPr kumimoji="1" lang="zh-CN" altLang="en-US" dirty="0">
                <a:latin typeface="Times New Roman" panose="02020603050405020304" pitchFamily="18" charset="0"/>
                <a:ea typeface="微软雅黑" panose="020B0503020204020204" pitchFamily="34" charset="-122"/>
                <a:cs typeface="Times New Roman" panose="02020603050405020304" pitchFamily="18" charset="0"/>
              </a:rPr>
              <a:t>大数据基础引论</a:t>
            </a:r>
          </a:p>
        </p:txBody>
      </p:sp>
      <p:pic>
        <p:nvPicPr>
          <p:cNvPr id="4" name="图片 31">
            <a:extLst>
              <a:ext uri="{FF2B5EF4-FFF2-40B4-BE49-F238E27FC236}">
                <a16:creationId xmlns:a16="http://schemas.microsoft.com/office/drawing/2014/main" id="{465C7D79-4540-47F0-8715-CEFED9ACF91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43050" y="1445064"/>
            <a:ext cx="498872" cy="497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组合 76">
            <a:extLst>
              <a:ext uri="{FF2B5EF4-FFF2-40B4-BE49-F238E27FC236}">
                <a16:creationId xmlns:a16="http://schemas.microsoft.com/office/drawing/2014/main" id="{EA895A11-7E01-4A66-91F5-252A2AE43A28}"/>
              </a:ext>
            </a:extLst>
          </p:cNvPr>
          <p:cNvGrpSpPr/>
          <p:nvPr/>
        </p:nvGrpSpPr>
        <p:grpSpPr bwMode="auto">
          <a:xfrm>
            <a:off x="2066925" y="1447445"/>
            <a:ext cx="1348978" cy="495300"/>
            <a:chOff x="1307154" y="2302514"/>
            <a:chExt cx="2539132" cy="865180"/>
          </a:xfrm>
        </p:grpSpPr>
        <p:sp>
          <p:nvSpPr>
            <p:cNvPr id="6" name="矩形 5">
              <a:extLst>
                <a:ext uri="{FF2B5EF4-FFF2-40B4-BE49-F238E27FC236}">
                  <a16:creationId xmlns:a16="http://schemas.microsoft.com/office/drawing/2014/main" id="{BF366295-26FC-4E5F-AE8B-0562B10C8428}"/>
                </a:ext>
              </a:extLst>
            </p:cNvPr>
            <p:cNvSpPr/>
            <p:nvPr/>
          </p:nvSpPr>
          <p:spPr>
            <a:xfrm>
              <a:off x="1307154" y="2302514"/>
              <a:ext cx="2539132" cy="865180"/>
            </a:xfrm>
            <a:prstGeom prst="rect">
              <a:avLst/>
            </a:prstGeom>
            <a:solidFill>
              <a:schemeClr val="tx1">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1013" noProof="1">
                <a:solidFill>
                  <a:prstClr val="white"/>
                </a:solidFill>
              </a:endParaRPr>
            </a:p>
          </p:txBody>
        </p:sp>
        <p:sp>
          <p:nvSpPr>
            <p:cNvPr id="7" name="矩形 6">
              <a:extLst>
                <a:ext uri="{FF2B5EF4-FFF2-40B4-BE49-F238E27FC236}">
                  <a16:creationId xmlns:a16="http://schemas.microsoft.com/office/drawing/2014/main" id="{2EE0F29E-EE74-430E-B602-D88BFAF2F465}"/>
                </a:ext>
              </a:extLst>
            </p:cNvPr>
            <p:cNvSpPr/>
            <p:nvPr/>
          </p:nvSpPr>
          <p:spPr>
            <a:xfrm>
              <a:off x="1423690" y="2360747"/>
              <a:ext cx="2323989" cy="748713"/>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1013" noProof="1">
                <a:solidFill>
                  <a:prstClr val="white"/>
                </a:solidFill>
              </a:endParaRPr>
            </a:p>
          </p:txBody>
        </p:sp>
        <p:sp>
          <p:nvSpPr>
            <p:cNvPr id="8" name="文本框 50">
              <a:extLst>
                <a:ext uri="{FF2B5EF4-FFF2-40B4-BE49-F238E27FC236}">
                  <a16:creationId xmlns:a16="http://schemas.microsoft.com/office/drawing/2014/main" id="{BA9424B8-011C-41B7-9477-58B6543E7F44}"/>
                </a:ext>
              </a:extLst>
            </p:cNvPr>
            <p:cNvSpPr txBox="1">
              <a:spLocks noChangeArrowheads="1"/>
            </p:cNvSpPr>
            <p:nvPr/>
          </p:nvSpPr>
          <p:spPr bwMode="auto">
            <a:xfrm>
              <a:off x="1423988" y="2419136"/>
              <a:ext cx="2323014" cy="645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ea typeface="宋体" panose="02010600030101010101" pitchFamily="2" charset="-122"/>
                </a:defRPr>
              </a:lvl1pPr>
              <a:lvl2pPr>
                <a:defRPr>
                  <a:solidFill>
                    <a:schemeClr val="tx1"/>
                  </a:solidFill>
                  <a:latin typeface="Arial" panose="020B0604020202090204" pitchFamily="34" charset="0"/>
                  <a:ea typeface="宋体" panose="02010600030101010101" pitchFamily="2" charset="-122"/>
                </a:defRPr>
              </a:lvl2pPr>
              <a:lvl3pPr>
                <a:defRPr>
                  <a:solidFill>
                    <a:schemeClr val="tx1"/>
                  </a:solidFill>
                  <a:latin typeface="Arial" panose="020B0604020202090204" pitchFamily="34" charset="0"/>
                  <a:ea typeface="宋体" panose="02010600030101010101" pitchFamily="2" charset="-122"/>
                </a:defRPr>
              </a:lvl3pPr>
              <a:lvl4pPr>
                <a:defRPr>
                  <a:solidFill>
                    <a:schemeClr val="tx1"/>
                  </a:solidFill>
                  <a:latin typeface="Arial" panose="020B0604020202090204" pitchFamily="34" charset="0"/>
                  <a:ea typeface="宋体" panose="02010600030101010101" pitchFamily="2" charset="-122"/>
                </a:defRPr>
              </a:lvl4pPr>
              <a:lvl5pPr>
                <a:defRPr>
                  <a:solidFill>
                    <a:schemeClr val="tx1"/>
                  </a:solidFill>
                  <a:latin typeface="Arial" panose="020B0604020202090204" pitchFamily="34" charset="0"/>
                  <a:ea typeface="宋体" panose="02010600030101010101" pitchFamily="2" charset="-122"/>
                </a:defRPr>
              </a:lvl5pPr>
              <a:lvl6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6pPr>
              <a:lvl7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7pPr>
              <a:lvl8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8pPr>
              <a:lvl9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9pPr>
            </a:lstStyle>
            <a:p>
              <a:pPr algn="ctr"/>
              <a:r>
                <a:rPr lang="zh-CN" altLang="en-US" b="1">
                  <a:solidFill>
                    <a:srgbClr val="FFFFFF"/>
                  </a:solidFill>
                </a:rPr>
                <a:t>农业行业</a:t>
              </a:r>
            </a:p>
          </p:txBody>
        </p:sp>
      </p:grpSp>
      <p:grpSp>
        <p:nvGrpSpPr>
          <p:cNvPr id="9" name="组合 81">
            <a:extLst>
              <a:ext uri="{FF2B5EF4-FFF2-40B4-BE49-F238E27FC236}">
                <a16:creationId xmlns:a16="http://schemas.microsoft.com/office/drawing/2014/main" id="{A1CF5948-A86F-4034-9566-42577B455C8D}"/>
              </a:ext>
            </a:extLst>
          </p:cNvPr>
          <p:cNvGrpSpPr/>
          <p:nvPr/>
        </p:nvGrpSpPr>
        <p:grpSpPr bwMode="auto">
          <a:xfrm>
            <a:off x="4224338" y="1441492"/>
            <a:ext cx="1273969" cy="500063"/>
            <a:chOff x="1236420" y="2302514"/>
            <a:chExt cx="2609866" cy="865180"/>
          </a:xfrm>
        </p:grpSpPr>
        <p:sp>
          <p:nvSpPr>
            <p:cNvPr id="10" name="矩形 9">
              <a:extLst>
                <a:ext uri="{FF2B5EF4-FFF2-40B4-BE49-F238E27FC236}">
                  <a16:creationId xmlns:a16="http://schemas.microsoft.com/office/drawing/2014/main" id="{B1D0BE1F-4E26-4E2A-B730-3AD4B2D66215}"/>
                </a:ext>
              </a:extLst>
            </p:cNvPr>
            <p:cNvSpPr/>
            <p:nvPr/>
          </p:nvSpPr>
          <p:spPr>
            <a:xfrm>
              <a:off x="1307154" y="2302514"/>
              <a:ext cx="2539132" cy="865180"/>
            </a:xfrm>
            <a:prstGeom prst="rect">
              <a:avLst/>
            </a:prstGeom>
            <a:solidFill>
              <a:schemeClr val="tx1">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1013" noProof="1">
                <a:solidFill>
                  <a:prstClr val="white"/>
                </a:solidFill>
              </a:endParaRPr>
            </a:p>
          </p:txBody>
        </p:sp>
        <p:sp>
          <p:nvSpPr>
            <p:cNvPr id="11" name="矩形 10">
              <a:extLst>
                <a:ext uri="{FF2B5EF4-FFF2-40B4-BE49-F238E27FC236}">
                  <a16:creationId xmlns:a16="http://schemas.microsoft.com/office/drawing/2014/main" id="{12ABF2D0-A65C-45A2-BFC7-0A431C4BB55D}"/>
                </a:ext>
              </a:extLst>
            </p:cNvPr>
            <p:cNvSpPr/>
            <p:nvPr/>
          </p:nvSpPr>
          <p:spPr>
            <a:xfrm>
              <a:off x="1424232" y="2362252"/>
              <a:ext cx="2324489" cy="745703"/>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1013" noProof="1">
                <a:solidFill>
                  <a:prstClr val="white"/>
                </a:solidFill>
              </a:endParaRPr>
            </a:p>
          </p:txBody>
        </p:sp>
        <p:sp>
          <p:nvSpPr>
            <p:cNvPr id="12" name="文本框 38">
              <a:extLst>
                <a:ext uri="{FF2B5EF4-FFF2-40B4-BE49-F238E27FC236}">
                  <a16:creationId xmlns:a16="http://schemas.microsoft.com/office/drawing/2014/main" id="{4EE9AFB1-36DC-4501-8120-7D9FB27AD039}"/>
                </a:ext>
              </a:extLst>
            </p:cNvPr>
            <p:cNvSpPr txBox="1">
              <a:spLocks noChangeArrowheads="1"/>
            </p:cNvSpPr>
            <p:nvPr/>
          </p:nvSpPr>
          <p:spPr bwMode="auto">
            <a:xfrm>
              <a:off x="1236420" y="2424733"/>
              <a:ext cx="2511666" cy="638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90204" pitchFamily="34" charset="0"/>
                  <a:ea typeface="宋体" panose="02010600030101010101" pitchFamily="2" charset="-122"/>
                </a:defRPr>
              </a:lvl1pPr>
              <a:lvl2pPr>
                <a:defRPr>
                  <a:solidFill>
                    <a:schemeClr val="tx1"/>
                  </a:solidFill>
                  <a:latin typeface="Arial" panose="020B0604020202090204" pitchFamily="34" charset="0"/>
                  <a:ea typeface="宋体" panose="02010600030101010101" pitchFamily="2" charset="-122"/>
                </a:defRPr>
              </a:lvl2pPr>
              <a:lvl3pPr>
                <a:defRPr>
                  <a:solidFill>
                    <a:schemeClr val="tx1"/>
                  </a:solidFill>
                  <a:latin typeface="Arial" panose="020B0604020202090204" pitchFamily="34" charset="0"/>
                  <a:ea typeface="宋体" panose="02010600030101010101" pitchFamily="2" charset="-122"/>
                </a:defRPr>
              </a:lvl3pPr>
              <a:lvl4pPr>
                <a:defRPr>
                  <a:solidFill>
                    <a:schemeClr val="tx1"/>
                  </a:solidFill>
                  <a:latin typeface="Arial" panose="020B0604020202090204" pitchFamily="34" charset="0"/>
                  <a:ea typeface="宋体" panose="02010600030101010101" pitchFamily="2" charset="-122"/>
                </a:defRPr>
              </a:lvl4pPr>
              <a:lvl5pPr>
                <a:defRPr>
                  <a:solidFill>
                    <a:schemeClr val="tx1"/>
                  </a:solidFill>
                  <a:latin typeface="Arial" panose="020B0604020202090204" pitchFamily="34" charset="0"/>
                  <a:ea typeface="宋体" panose="02010600030101010101" pitchFamily="2" charset="-122"/>
                </a:defRPr>
              </a:lvl5pPr>
              <a:lvl6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6pPr>
              <a:lvl7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7pPr>
              <a:lvl8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8pPr>
              <a:lvl9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9pPr>
            </a:lstStyle>
            <a:p>
              <a:pPr algn="ctr"/>
              <a:r>
                <a:rPr lang="zh-CN" altLang="en-US" b="1" dirty="0">
                  <a:solidFill>
                    <a:srgbClr val="FFFFFF"/>
                  </a:solidFill>
                </a:rPr>
                <a:t>环境行业</a:t>
              </a:r>
            </a:p>
          </p:txBody>
        </p:sp>
      </p:grpSp>
      <p:grpSp>
        <p:nvGrpSpPr>
          <p:cNvPr id="13" name="组合 4">
            <a:extLst>
              <a:ext uri="{FF2B5EF4-FFF2-40B4-BE49-F238E27FC236}">
                <a16:creationId xmlns:a16="http://schemas.microsoft.com/office/drawing/2014/main" id="{E580A9CC-5E83-4621-A1D5-966DB3212B17}"/>
              </a:ext>
            </a:extLst>
          </p:cNvPr>
          <p:cNvGrpSpPr/>
          <p:nvPr/>
        </p:nvGrpSpPr>
        <p:grpSpPr bwMode="auto">
          <a:xfrm>
            <a:off x="1590675" y="2049034"/>
            <a:ext cx="1825228" cy="2637590"/>
            <a:chOff x="508958" y="1837426"/>
            <a:chExt cx="3417723" cy="3890514"/>
          </a:xfrm>
        </p:grpSpPr>
        <p:sp>
          <p:nvSpPr>
            <p:cNvPr id="14" name="矩形 13">
              <a:extLst>
                <a:ext uri="{FF2B5EF4-FFF2-40B4-BE49-F238E27FC236}">
                  <a16:creationId xmlns:a16="http://schemas.microsoft.com/office/drawing/2014/main" id="{5ECEAEF0-617B-4F21-83AA-E9E0D544CA62}"/>
                </a:ext>
              </a:extLst>
            </p:cNvPr>
            <p:cNvSpPr/>
            <p:nvPr/>
          </p:nvSpPr>
          <p:spPr>
            <a:xfrm>
              <a:off x="508958" y="1837426"/>
              <a:ext cx="3417723" cy="3890514"/>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1350" noProof="1"/>
            </a:p>
          </p:txBody>
        </p:sp>
        <p:sp>
          <p:nvSpPr>
            <p:cNvPr id="15" name="矩形 2">
              <a:extLst>
                <a:ext uri="{FF2B5EF4-FFF2-40B4-BE49-F238E27FC236}">
                  <a16:creationId xmlns:a16="http://schemas.microsoft.com/office/drawing/2014/main" id="{010CFB96-43C2-4B53-8593-9C4CF4C6AA21}"/>
                </a:ext>
              </a:extLst>
            </p:cNvPr>
            <p:cNvSpPr>
              <a:spLocks noChangeArrowheads="1"/>
            </p:cNvSpPr>
            <p:nvPr/>
          </p:nvSpPr>
          <p:spPr bwMode="auto">
            <a:xfrm>
              <a:off x="664481" y="2109151"/>
              <a:ext cx="3163431" cy="341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90204" pitchFamily="34" charset="0"/>
                  <a:ea typeface="宋体" panose="02010600030101010101" pitchFamily="2" charset="-122"/>
                </a:defRPr>
              </a:lvl1pPr>
              <a:lvl2pPr>
                <a:defRPr>
                  <a:solidFill>
                    <a:schemeClr val="tx1"/>
                  </a:solidFill>
                  <a:latin typeface="Arial" panose="020B0604020202090204" pitchFamily="34" charset="0"/>
                  <a:ea typeface="宋体" panose="02010600030101010101" pitchFamily="2" charset="-122"/>
                </a:defRPr>
              </a:lvl2pPr>
              <a:lvl3pPr>
                <a:defRPr>
                  <a:solidFill>
                    <a:schemeClr val="tx1"/>
                  </a:solidFill>
                  <a:latin typeface="Arial" panose="020B0604020202090204" pitchFamily="34" charset="0"/>
                  <a:ea typeface="宋体" panose="02010600030101010101" pitchFamily="2" charset="-122"/>
                </a:defRPr>
              </a:lvl3pPr>
              <a:lvl4pPr>
                <a:defRPr>
                  <a:solidFill>
                    <a:schemeClr val="tx1"/>
                  </a:solidFill>
                  <a:latin typeface="Arial" panose="020B0604020202090204" pitchFamily="34" charset="0"/>
                  <a:ea typeface="宋体" panose="02010600030101010101" pitchFamily="2" charset="-122"/>
                </a:defRPr>
              </a:lvl4pPr>
              <a:lvl5pPr>
                <a:defRPr>
                  <a:solidFill>
                    <a:schemeClr val="tx1"/>
                  </a:solidFill>
                  <a:latin typeface="Arial" panose="020B0604020202090204" pitchFamily="34" charset="0"/>
                  <a:ea typeface="宋体" panose="02010600030101010101" pitchFamily="2" charset="-122"/>
                </a:defRPr>
              </a:lvl5pPr>
              <a:lvl6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6pPr>
              <a:lvl7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7pPr>
              <a:lvl8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8pPr>
              <a:lvl9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9pPr>
            </a:lstStyle>
            <a:p>
              <a:pPr marL="285750" indent="-285750">
                <a:lnSpc>
                  <a:spcPct val="150000"/>
                </a:lnSpc>
                <a:buFont typeface="Arial" panose="020B0604020202020204" pitchFamily="34" charset="0"/>
                <a:buChar char="•"/>
              </a:pPr>
              <a:r>
                <a:rPr lang="zh-CN" altLang="en-US" sz="1400" dirty="0"/>
                <a:t>预测天气、灾害，灾害预防</a:t>
              </a:r>
              <a:endParaRPr lang="en-US" altLang="zh-CN" sz="1400" dirty="0"/>
            </a:p>
            <a:p>
              <a:pPr marL="285750" indent="-285750">
                <a:lnSpc>
                  <a:spcPct val="150000"/>
                </a:lnSpc>
                <a:buFont typeface="Arial" panose="020B0604020202020204" pitchFamily="34" charset="0"/>
                <a:buChar char="•"/>
              </a:pPr>
              <a:r>
                <a:rPr lang="zh-CN" altLang="en-US" sz="1400" dirty="0"/>
                <a:t>预测需求，安排生产</a:t>
              </a:r>
              <a:endParaRPr lang="en-US" altLang="zh-CN" sz="1400" dirty="0"/>
            </a:p>
            <a:p>
              <a:pPr marL="285750" indent="-285750">
                <a:lnSpc>
                  <a:spcPct val="150000"/>
                </a:lnSpc>
                <a:buFont typeface="Arial" panose="020B0604020202020204" pitchFamily="34" charset="0"/>
                <a:buChar char="•"/>
              </a:pPr>
              <a:r>
                <a:rPr lang="zh-CN" altLang="en-US" sz="1400" dirty="0"/>
                <a:t>病虫害诊断</a:t>
              </a:r>
              <a:endParaRPr lang="en-US" altLang="zh-CN" sz="1400" dirty="0"/>
            </a:p>
            <a:p>
              <a:pPr>
                <a:lnSpc>
                  <a:spcPct val="150000"/>
                </a:lnSpc>
              </a:pPr>
              <a:r>
                <a:rPr lang="en-US" altLang="zh-CN" sz="1400" dirty="0"/>
                <a:t>……</a:t>
              </a:r>
              <a:endParaRPr lang="zh-CN" altLang="zh-CN" sz="1400" dirty="0"/>
            </a:p>
            <a:p>
              <a:pPr>
                <a:lnSpc>
                  <a:spcPct val="150000"/>
                </a:lnSpc>
              </a:pPr>
              <a:r>
                <a:rPr lang="en-US" altLang="zh-CN" sz="1400" dirty="0"/>
                <a:t> </a:t>
              </a:r>
              <a:r>
                <a:rPr lang="en-US" altLang="zh-CN" sz="1400" dirty="0">
                  <a:solidFill>
                    <a:srgbClr val="C00000"/>
                  </a:solidFill>
                </a:rPr>
                <a:t> </a:t>
              </a:r>
              <a:endParaRPr lang="zh-CN" altLang="zh-CN" sz="1400" dirty="0"/>
            </a:p>
          </p:txBody>
        </p:sp>
      </p:grpSp>
      <p:grpSp>
        <p:nvGrpSpPr>
          <p:cNvPr id="16" name="组合 5">
            <a:extLst>
              <a:ext uri="{FF2B5EF4-FFF2-40B4-BE49-F238E27FC236}">
                <a16:creationId xmlns:a16="http://schemas.microsoft.com/office/drawing/2014/main" id="{FDA45A9B-D7AD-421F-9C14-6EB50DF97A88}"/>
              </a:ext>
            </a:extLst>
          </p:cNvPr>
          <p:cNvGrpSpPr/>
          <p:nvPr/>
        </p:nvGrpSpPr>
        <p:grpSpPr bwMode="auto">
          <a:xfrm>
            <a:off x="3673078" y="2036805"/>
            <a:ext cx="1825229" cy="2636515"/>
            <a:chOff x="4650255" y="1837426"/>
            <a:chExt cx="3417723" cy="3890514"/>
          </a:xfrm>
        </p:grpSpPr>
        <p:sp>
          <p:nvSpPr>
            <p:cNvPr id="17" name="矩形 16">
              <a:extLst>
                <a:ext uri="{FF2B5EF4-FFF2-40B4-BE49-F238E27FC236}">
                  <a16:creationId xmlns:a16="http://schemas.microsoft.com/office/drawing/2014/main" id="{A6A7A797-5B7A-418A-BC44-CDD897264F69}"/>
                </a:ext>
              </a:extLst>
            </p:cNvPr>
            <p:cNvSpPr/>
            <p:nvPr/>
          </p:nvSpPr>
          <p:spPr>
            <a:xfrm>
              <a:off x="4650255" y="1837426"/>
              <a:ext cx="3417723" cy="3890514"/>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1350" noProof="1"/>
            </a:p>
          </p:txBody>
        </p:sp>
        <p:sp>
          <p:nvSpPr>
            <p:cNvPr id="18" name="矩形 86">
              <a:extLst>
                <a:ext uri="{FF2B5EF4-FFF2-40B4-BE49-F238E27FC236}">
                  <a16:creationId xmlns:a16="http://schemas.microsoft.com/office/drawing/2014/main" id="{9E859362-BC54-43E1-8033-C5F107C16278}"/>
                </a:ext>
              </a:extLst>
            </p:cNvPr>
            <p:cNvSpPr>
              <a:spLocks noChangeArrowheads="1"/>
            </p:cNvSpPr>
            <p:nvPr/>
          </p:nvSpPr>
          <p:spPr bwMode="auto">
            <a:xfrm>
              <a:off x="4717657" y="2109151"/>
              <a:ext cx="3260563" cy="2938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90204" pitchFamily="34" charset="0"/>
                  <a:ea typeface="宋体" panose="02010600030101010101" pitchFamily="2" charset="-122"/>
                </a:defRPr>
              </a:lvl1pPr>
              <a:lvl2pPr>
                <a:defRPr>
                  <a:solidFill>
                    <a:schemeClr val="tx1"/>
                  </a:solidFill>
                  <a:latin typeface="Arial" panose="020B0604020202090204" pitchFamily="34" charset="0"/>
                  <a:ea typeface="宋体" panose="02010600030101010101" pitchFamily="2" charset="-122"/>
                </a:defRPr>
              </a:lvl2pPr>
              <a:lvl3pPr>
                <a:defRPr>
                  <a:solidFill>
                    <a:schemeClr val="tx1"/>
                  </a:solidFill>
                  <a:latin typeface="Arial" panose="020B0604020202090204" pitchFamily="34" charset="0"/>
                  <a:ea typeface="宋体" panose="02010600030101010101" pitchFamily="2" charset="-122"/>
                </a:defRPr>
              </a:lvl3pPr>
              <a:lvl4pPr>
                <a:defRPr>
                  <a:solidFill>
                    <a:schemeClr val="tx1"/>
                  </a:solidFill>
                  <a:latin typeface="Arial" panose="020B0604020202090204" pitchFamily="34" charset="0"/>
                  <a:ea typeface="宋体" panose="02010600030101010101" pitchFamily="2" charset="-122"/>
                </a:defRPr>
              </a:lvl4pPr>
              <a:lvl5pPr>
                <a:defRPr>
                  <a:solidFill>
                    <a:schemeClr val="tx1"/>
                  </a:solidFill>
                  <a:latin typeface="Arial" panose="020B0604020202090204" pitchFamily="34" charset="0"/>
                  <a:ea typeface="宋体" panose="02010600030101010101" pitchFamily="2" charset="-122"/>
                </a:defRPr>
              </a:lvl5pPr>
              <a:lvl6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6pPr>
              <a:lvl7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7pPr>
              <a:lvl8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8pPr>
              <a:lvl9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9pPr>
            </a:lstStyle>
            <a:p>
              <a:pPr marL="285750" indent="-285750">
                <a:lnSpc>
                  <a:spcPct val="150000"/>
                </a:lnSpc>
                <a:buFont typeface="Arial" panose="020B0604020202020204" pitchFamily="34" charset="0"/>
                <a:buChar char="•"/>
              </a:pPr>
              <a:r>
                <a:rPr lang="zh-CN" altLang="en-US" sz="1400" dirty="0"/>
                <a:t>提高天气预报时效性、准确性</a:t>
              </a:r>
              <a:endParaRPr lang="en-US" altLang="zh-CN" sz="1400" dirty="0"/>
            </a:p>
            <a:p>
              <a:pPr marL="285750" indent="-285750">
                <a:lnSpc>
                  <a:spcPct val="150000"/>
                </a:lnSpc>
                <a:buFont typeface="Arial" panose="020B0604020202020204" pitchFamily="34" charset="0"/>
                <a:buChar char="•"/>
              </a:pPr>
              <a:r>
                <a:rPr lang="zh-CN" altLang="en-US" sz="1400" dirty="0"/>
                <a:t>实时追踪重大灾害，比如龙卷风，及时应对</a:t>
              </a:r>
              <a:endParaRPr lang="en-US" altLang="zh-CN" sz="1400" dirty="0"/>
            </a:p>
            <a:p>
              <a:pPr>
                <a:lnSpc>
                  <a:spcPct val="150000"/>
                </a:lnSpc>
              </a:pPr>
              <a:r>
                <a:rPr lang="en-US" altLang="zh-CN" sz="1400" dirty="0"/>
                <a:t>……</a:t>
              </a:r>
              <a:endParaRPr lang="zh-CN" altLang="zh-CN" sz="1000" dirty="0"/>
            </a:p>
          </p:txBody>
        </p:sp>
      </p:grpSp>
      <p:pic>
        <p:nvPicPr>
          <p:cNvPr id="19" name="Picture 3" descr="E:\PPT 胡占利 工作\《大数据》随书美化PPT\2-12060Q45929.jpg">
            <a:extLst>
              <a:ext uri="{FF2B5EF4-FFF2-40B4-BE49-F238E27FC236}">
                <a16:creationId xmlns:a16="http://schemas.microsoft.com/office/drawing/2014/main" id="{94305E0A-A376-4DDA-88DD-BEC06B195B4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25453" y="1434348"/>
            <a:ext cx="594122" cy="502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矩形 19">
            <a:extLst>
              <a:ext uri="{FF2B5EF4-FFF2-40B4-BE49-F238E27FC236}">
                <a16:creationId xmlns:a16="http://schemas.microsoft.com/office/drawing/2014/main" id="{45F82414-4EC5-43FD-ADB0-A34C342334C9}"/>
              </a:ext>
            </a:extLst>
          </p:cNvPr>
          <p:cNvSpPr/>
          <p:nvPr/>
        </p:nvSpPr>
        <p:spPr>
          <a:xfrm>
            <a:off x="5749528" y="2036805"/>
            <a:ext cx="1825229" cy="2636514"/>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1350" noProof="1"/>
          </a:p>
        </p:txBody>
      </p:sp>
      <p:sp>
        <p:nvSpPr>
          <p:cNvPr id="21" name="矩形 38">
            <a:extLst>
              <a:ext uri="{FF2B5EF4-FFF2-40B4-BE49-F238E27FC236}">
                <a16:creationId xmlns:a16="http://schemas.microsoft.com/office/drawing/2014/main" id="{017328E2-CC34-445E-8766-FFD250237923}"/>
              </a:ext>
            </a:extLst>
          </p:cNvPr>
          <p:cNvSpPr>
            <a:spLocks noChangeArrowheads="1"/>
          </p:cNvSpPr>
          <p:nvPr/>
        </p:nvSpPr>
        <p:spPr bwMode="auto">
          <a:xfrm>
            <a:off x="5804321" y="2240401"/>
            <a:ext cx="1740669"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90204" pitchFamily="34" charset="0"/>
                <a:ea typeface="宋体" panose="02010600030101010101" pitchFamily="2" charset="-122"/>
              </a:defRPr>
            </a:lvl1pPr>
            <a:lvl2pPr>
              <a:defRPr>
                <a:solidFill>
                  <a:schemeClr val="tx1"/>
                </a:solidFill>
                <a:latin typeface="Arial" panose="020B0604020202090204" pitchFamily="34" charset="0"/>
                <a:ea typeface="宋体" panose="02010600030101010101" pitchFamily="2" charset="-122"/>
              </a:defRPr>
            </a:lvl2pPr>
            <a:lvl3pPr>
              <a:defRPr>
                <a:solidFill>
                  <a:schemeClr val="tx1"/>
                </a:solidFill>
                <a:latin typeface="Arial" panose="020B0604020202090204" pitchFamily="34" charset="0"/>
                <a:ea typeface="宋体" panose="02010600030101010101" pitchFamily="2" charset="-122"/>
              </a:defRPr>
            </a:lvl3pPr>
            <a:lvl4pPr>
              <a:defRPr>
                <a:solidFill>
                  <a:schemeClr val="tx1"/>
                </a:solidFill>
                <a:latin typeface="Arial" panose="020B0604020202090204" pitchFamily="34" charset="0"/>
                <a:ea typeface="宋体" panose="02010600030101010101" pitchFamily="2" charset="-122"/>
              </a:defRPr>
            </a:lvl4pPr>
            <a:lvl5pPr>
              <a:defRPr>
                <a:solidFill>
                  <a:schemeClr val="tx1"/>
                </a:solidFill>
                <a:latin typeface="Arial" panose="020B0604020202090204" pitchFamily="34" charset="0"/>
                <a:ea typeface="宋体" panose="02010600030101010101" pitchFamily="2" charset="-122"/>
              </a:defRPr>
            </a:lvl5pPr>
            <a:lvl6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6pPr>
            <a:lvl7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7pPr>
            <a:lvl8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8pPr>
            <a:lvl9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9pPr>
          </a:lstStyle>
          <a:p>
            <a:pPr marL="285750" indent="-285750">
              <a:lnSpc>
                <a:spcPct val="150000"/>
              </a:lnSpc>
              <a:buFont typeface="Arial" panose="020B0604020202020204" pitchFamily="34" charset="0"/>
              <a:buChar char="•"/>
            </a:pPr>
            <a:r>
              <a:rPr lang="zh-CN" altLang="en-US" sz="1600" dirty="0"/>
              <a:t>交通疏导</a:t>
            </a:r>
            <a:endParaRPr lang="en-US" altLang="zh-CN" sz="1600" dirty="0"/>
          </a:p>
          <a:p>
            <a:pPr marL="285750" indent="-285750">
              <a:lnSpc>
                <a:spcPct val="150000"/>
              </a:lnSpc>
              <a:buFont typeface="Arial" panose="020B0604020202020204" pitchFamily="34" charset="0"/>
              <a:buChar char="•"/>
            </a:pPr>
            <a:r>
              <a:rPr lang="zh-CN" altLang="en-US" sz="1600" dirty="0"/>
              <a:t>公共安全</a:t>
            </a:r>
            <a:endParaRPr lang="en-US" altLang="zh-CN" sz="1600" dirty="0"/>
          </a:p>
          <a:p>
            <a:pPr marL="285750" indent="-285750">
              <a:lnSpc>
                <a:spcPct val="150000"/>
              </a:lnSpc>
              <a:buFont typeface="Arial" panose="020B0604020202020204" pitchFamily="34" charset="0"/>
              <a:buChar char="•"/>
            </a:pPr>
            <a:r>
              <a:rPr lang="zh-CN" altLang="en-US" sz="1600" dirty="0"/>
              <a:t>提高行政效率</a:t>
            </a:r>
            <a:endParaRPr lang="en-US" altLang="zh-CN" sz="1600" dirty="0"/>
          </a:p>
          <a:p>
            <a:r>
              <a:rPr lang="en-US" altLang="zh-CN" sz="1600" dirty="0"/>
              <a:t>……</a:t>
            </a:r>
            <a:endParaRPr lang="en-US" altLang="zh-CN" sz="1050" dirty="0"/>
          </a:p>
        </p:txBody>
      </p:sp>
      <p:pic>
        <p:nvPicPr>
          <p:cNvPr id="22" name="图片 39">
            <a:extLst>
              <a:ext uri="{FF2B5EF4-FFF2-40B4-BE49-F238E27FC236}">
                <a16:creationId xmlns:a16="http://schemas.microsoft.com/office/drawing/2014/main" id="{FBE29DAF-F027-4ED3-883B-7BBF125EE6E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5554" r="6943" b="11198"/>
          <a:stretch>
            <a:fillRect/>
          </a:stretch>
        </p:blipFill>
        <p:spPr bwMode="auto">
          <a:xfrm>
            <a:off x="5749528" y="1439111"/>
            <a:ext cx="589360" cy="503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 name="组合 40">
            <a:extLst>
              <a:ext uri="{FF2B5EF4-FFF2-40B4-BE49-F238E27FC236}">
                <a16:creationId xmlns:a16="http://schemas.microsoft.com/office/drawing/2014/main" id="{1A001979-6BA2-47FA-BCD4-9F9972355EE3}"/>
              </a:ext>
            </a:extLst>
          </p:cNvPr>
          <p:cNvGrpSpPr/>
          <p:nvPr/>
        </p:nvGrpSpPr>
        <p:grpSpPr bwMode="auto">
          <a:xfrm>
            <a:off x="6373415" y="1441492"/>
            <a:ext cx="1219200" cy="500063"/>
            <a:chOff x="1307154" y="2302514"/>
            <a:chExt cx="2539132" cy="865180"/>
          </a:xfrm>
        </p:grpSpPr>
        <p:sp>
          <p:nvSpPr>
            <p:cNvPr id="24" name="矩形 23">
              <a:extLst>
                <a:ext uri="{FF2B5EF4-FFF2-40B4-BE49-F238E27FC236}">
                  <a16:creationId xmlns:a16="http://schemas.microsoft.com/office/drawing/2014/main" id="{A7B74131-DA53-4864-9F2C-DC030BA07EF7}"/>
                </a:ext>
              </a:extLst>
            </p:cNvPr>
            <p:cNvSpPr/>
            <p:nvPr/>
          </p:nvSpPr>
          <p:spPr>
            <a:xfrm>
              <a:off x="1307154" y="2302514"/>
              <a:ext cx="2539132" cy="865180"/>
            </a:xfrm>
            <a:prstGeom prst="rect">
              <a:avLst/>
            </a:prstGeom>
            <a:solidFill>
              <a:schemeClr val="tx1">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1013" noProof="1">
                <a:solidFill>
                  <a:prstClr val="white"/>
                </a:solidFill>
              </a:endParaRPr>
            </a:p>
          </p:txBody>
        </p:sp>
        <p:sp>
          <p:nvSpPr>
            <p:cNvPr id="25" name="矩形 24">
              <a:extLst>
                <a:ext uri="{FF2B5EF4-FFF2-40B4-BE49-F238E27FC236}">
                  <a16:creationId xmlns:a16="http://schemas.microsoft.com/office/drawing/2014/main" id="{2E4F22E6-4037-45BF-899A-2283AFEC4161}"/>
                </a:ext>
              </a:extLst>
            </p:cNvPr>
            <p:cNvSpPr/>
            <p:nvPr/>
          </p:nvSpPr>
          <p:spPr>
            <a:xfrm>
              <a:off x="1423697" y="2362252"/>
              <a:ext cx="2323404" cy="745703"/>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1013" noProof="1">
                <a:solidFill>
                  <a:prstClr val="white"/>
                </a:solidFill>
              </a:endParaRPr>
            </a:p>
          </p:txBody>
        </p:sp>
        <p:sp>
          <p:nvSpPr>
            <p:cNvPr id="26" name="文本框 38">
              <a:extLst>
                <a:ext uri="{FF2B5EF4-FFF2-40B4-BE49-F238E27FC236}">
                  <a16:creationId xmlns:a16="http://schemas.microsoft.com/office/drawing/2014/main" id="{512E1EA3-98A2-4FDB-8B82-5D93D9D4C7C4}"/>
                </a:ext>
              </a:extLst>
            </p:cNvPr>
            <p:cNvSpPr txBox="1">
              <a:spLocks noChangeArrowheads="1"/>
            </p:cNvSpPr>
            <p:nvPr/>
          </p:nvSpPr>
          <p:spPr bwMode="auto">
            <a:xfrm>
              <a:off x="1423987" y="2424733"/>
              <a:ext cx="2422299" cy="638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ea typeface="宋体" panose="02010600030101010101" pitchFamily="2" charset="-122"/>
                </a:defRPr>
              </a:lvl1pPr>
              <a:lvl2pPr>
                <a:defRPr>
                  <a:solidFill>
                    <a:schemeClr val="tx1"/>
                  </a:solidFill>
                  <a:latin typeface="Arial" panose="020B0604020202090204" pitchFamily="34" charset="0"/>
                  <a:ea typeface="宋体" panose="02010600030101010101" pitchFamily="2" charset="-122"/>
                </a:defRPr>
              </a:lvl2pPr>
              <a:lvl3pPr>
                <a:defRPr>
                  <a:solidFill>
                    <a:schemeClr val="tx1"/>
                  </a:solidFill>
                  <a:latin typeface="Arial" panose="020B0604020202090204" pitchFamily="34" charset="0"/>
                  <a:ea typeface="宋体" panose="02010600030101010101" pitchFamily="2" charset="-122"/>
                </a:defRPr>
              </a:lvl3pPr>
              <a:lvl4pPr>
                <a:defRPr>
                  <a:solidFill>
                    <a:schemeClr val="tx1"/>
                  </a:solidFill>
                  <a:latin typeface="Arial" panose="020B0604020202090204" pitchFamily="34" charset="0"/>
                  <a:ea typeface="宋体" panose="02010600030101010101" pitchFamily="2" charset="-122"/>
                </a:defRPr>
              </a:lvl4pPr>
              <a:lvl5pPr>
                <a:defRPr>
                  <a:solidFill>
                    <a:schemeClr val="tx1"/>
                  </a:solidFill>
                  <a:latin typeface="Arial" panose="020B0604020202090204" pitchFamily="34" charset="0"/>
                  <a:ea typeface="宋体" panose="02010600030101010101" pitchFamily="2" charset="-122"/>
                </a:defRPr>
              </a:lvl5pPr>
              <a:lvl6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6pPr>
              <a:lvl7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7pPr>
              <a:lvl8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8pPr>
              <a:lvl9pPr fontAlgn="base">
                <a:spcBef>
                  <a:spcPct val="0"/>
                </a:spcBef>
                <a:spcAft>
                  <a:spcPct val="0"/>
                </a:spcAft>
                <a:buFont typeface="Arial" panose="020B0604020202090204" pitchFamily="34" charset="0"/>
                <a:defRPr>
                  <a:solidFill>
                    <a:schemeClr val="tx1"/>
                  </a:solidFill>
                  <a:latin typeface="Arial" panose="020B0604020202090204" pitchFamily="34" charset="0"/>
                  <a:ea typeface="宋体" panose="02010600030101010101" pitchFamily="2" charset="-122"/>
                </a:defRPr>
              </a:lvl9pPr>
            </a:lstStyle>
            <a:p>
              <a:pPr algn="ctr"/>
              <a:r>
                <a:rPr lang="zh-CN" altLang="en-US" b="1">
                  <a:solidFill>
                    <a:srgbClr val="FFFFFF"/>
                  </a:solidFill>
                </a:rPr>
                <a:t>智慧城市</a:t>
              </a:r>
            </a:p>
          </p:txBody>
        </p:sp>
      </p:grpSp>
    </p:spTree>
    <p:extLst>
      <p:ext uri="{BB962C8B-B14F-4D97-AF65-F5344CB8AC3E}">
        <p14:creationId xmlns:p14="http://schemas.microsoft.com/office/powerpoint/2010/main" val="42042372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大数据</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endParaRPr kumimoji="1" lang="en-US" altLang="zh-CN"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459182" y="819150"/>
            <a:ext cx="3926897" cy="40041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15191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大数据</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pPr marL="285750" indent="-285750"/>
            <a:r>
              <a:rPr lang="zh-CN" altLang="en-US" sz="1600" dirty="0">
                <a:solidFill>
                  <a:srgbClr val="C00000"/>
                </a:solidFill>
              </a:rPr>
              <a:t>纵向扩展、</a:t>
            </a:r>
            <a:r>
              <a:rPr lang="zh-CN" altLang="en-US" sz="1600" dirty="0"/>
              <a:t>横向扩展、分布式计算</a:t>
            </a:r>
            <a:endParaRPr lang="en-US" altLang="zh-CN" sz="1600" dirty="0"/>
          </a:p>
          <a:p>
            <a:pPr marL="685800" lvl="1"/>
            <a:r>
              <a:rPr lang="en-US" altLang="zh-CN" sz="1600" dirty="0"/>
              <a:t>Scale up</a:t>
            </a:r>
          </a:p>
          <a:p>
            <a:pPr marL="685800" lvl="1"/>
            <a:r>
              <a:rPr lang="zh-CN" altLang="en-US" sz="1600" dirty="0"/>
              <a:t>通过增加</a:t>
            </a:r>
            <a:r>
              <a:rPr lang="en-US" altLang="zh-CN" sz="1600" dirty="0"/>
              <a:t>CPU</a:t>
            </a:r>
            <a:r>
              <a:rPr lang="zh-CN" altLang="en-US" sz="1600" dirty="0"/>
              <a:t>、内存容量、硬盘容量、网络带宽，增加节点的处理能力</a:t>
            </a:r>
            <a:endParaRPr lang="en-US" altLang="zh-CN" sz="1600" dirty="0"/>
          </a:p>
          <a:p>
            <a:pPr marL="685800" lvl="1"/>
            <a:endParaRPr lang="en-US" altLang="zh-CN" sz="1600" dirty="0"/>
          </a:p>
          <a:p>
            <a:pPr marL="685800" lvl="1"/>
            <a:r>
              <a:rPr lang="zh-CN" altLang="en-US" sz="1600" dirty="0"/>
              <a:t>扩展性有限</a:t>
            </a:r>
            <a:endParaRPr lang="en-US" altLang="zh-CN" sz="1600" dirty="0"/>
          </a:p>
          <a:p>
            <a:pPr marL="685800" lvl="1"/>
            <a:r>
              <a:rPr lang="zh-CN" altLang="en-US" sz="1600" dirty="0"/>
              <a:t>无法应对大数据处理的挑战</a:t>
            </a:r>
            <a:endParaRPr lang="en-US" altLang="zh-CN" sz="1600" dirty="0"/>
          </a:p>
          <a:p>
            <a:pPr lvl="1"/>
            <a:endParaRPr kumimoji="1" lang="en-US" altLang="zh-CN" dirty="0"/>
          </a:p>
        </p:txBody>
      </p:sp>
      <p:pic>
        <p:nvPicPr>
          <p:cNvPr id="4" name="图片 3">
            <a:extLst>
              <a:ext uri="{FF2B5EF4-FFF2-40B4-BE49-F238E27FC236}">
                <a16:creationId xmlns:a16="http://schemas.microsoft.com/office/drawing/2014/main" id="{8F30DF10-429D-4EBC-9A0F-B247D1FE4EB4}"/>
              </a:ext>
            </a:extLst>
          </p:cNvPr>
          <p:cNvPicPr>
            <a:picLocks noChangeAspect="1"/>
          </p:cNvPicPr>
          <p:nvPr/>
        </p:nvPicPr>
        <p:blipFill>
          <a:blip r:embed="rId2"/>
          <a:stretch>
            <a:fillRect/>
          </a:stretch>
        </p:blipFill>
        <p:spPr>
          <a:xfrm>
            <a:off x="614995" y="2975411"/>
            <a:ext cx="3362242" cy="1850400"/>
          </a:xfrm>
          <a:prstGeom prst="rect">
            <a:avLst/>
          </a:prstGeom>
        </p:spPr>
      </p:pic>
      <p:pic>
        <p:nvPicPr>
          <p:cNvPr id="6" name="图片 5">
            <a:extLst>
              <a:ext uri="{FF2B5EF4-FFF2-40B4-BE49-F238E27FC236}">
                <a16:creationId xmlns:a16="http://schemas.microsoft.com/office/drawing/2014/main" id="{BEAEE588-828C-4366-906F-B91E59EE27A3}"/>
              </a:ext>
            </a:extLst>
          </p:cNvPr>
          <p:cNvPicPr>
            <a:picLocks noChangeAspect="1"/>
          </p:cNvPicPr>
          <p:nvPr/>
        </p:nvPicPr>
        <p:blipFill>
          <a:blip r:embed="rId3"/>
          <a:stretch>
            <a:fillRect/>
          </a:stretch>
        </p:blipFill>
        <p:spPr>
          <a:xfrm>
            <a:off x="4640782" y="3038741"/>
            <a:ext cx="3985327" cy="1729364"/>
          </a:xfrm>
          <a:prstGeom prst="rect">
            <a:avLst/>
          </a:prstGeom>
        </p:spPr>
      </p:pic>
    </p:spTree>
    <p:extLst>
      <p:ext uri="{BB962C8B-B14F-4D97-AF65-F5344CB8AC3E}">
        <p14:creationId xmlns:p14="http://schemas.microsoft.com/office/powerpoint/2010/main" val="15122761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大数据</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pPr marL="285750" indent="-285750"/>
            <a:r>
              <a:rPr lang="zh-CN" altLang="en-US" sz="1600" dirty="0"/>
              <a:t>纵向扩展、</a:t>
            </a:r>
            <a:r>
              <a:rPr lang="zh-CN" altLang="en-US" sz="1600" dirty="0">
                <a:solidFill>
                  <a:srgbClr val="C00000"/>
                </a:solidFill>
              </a:rPr>
              <a:t>横向扩展</a:t>
            </a:r>
            <a:r>
              <a:rPr lang="zh-CN" altLang="en-US" sz="1600" dirty="0"/>
              <a:t>、分布式计算</a:t>
            </a:r>
            <a:endParaRPr lang="en-US" altLang="zh-CN" sz="1600" dirty="0"/>
          </a:p>
          <a:p>
            <a:pPr marL="685800" lvl="1"/>
            <a:r>
              <a:rPr lang="en-US" altLang="zh-CN" sz="1600" dirty="0"/>
              <a:t>Scale Out</a:t>
            </a:r>
          </a:p>
          <a:p>
            <a:pPr marL="685800" lvl="1"/>
            <a:r>
              <a:rPr lang="zh-CN" altLang="en-US" sz="1600" dirty="0"/>
              <a:t>通过增加节点、提高整体处理能力，应对大数据处理的挑战</a:t>
            </a:r>
            <a:endParaRPr lang="en-US" altLang="zh-CN" sz="1600" dirty="0"/>
          </a:p>
          <a:p>
            <a:pPr marL="685800" lvl="1"/>
            <a:endParaRPr lang="en-US" altLang="zh-CN" sz="1600" dirty="0"/>
          </a:p>
          <a:p>
            <a:pPr marL="685800" lvl="1"/>
            <a:r>
              <a:rPr lang="zh-CN" altLang="en-US" sz="1600" dirty="0"/>
              <a:t>扩展性强</a:t>
            </a:r>
            <a:endParaRPr lang="en-US" altLang="zh-CN" sz="1600" dirty="0"/>
          </a:p>
          <a:p>
            <a:pPr marL="685800" lvl="1"/>
            <a:r>
              <a:rPr lang="zh-CN" altLang="en-US" sz="1600" dirty="0"/>
              <a:t>研发分布式计算软件框架</a:t>
            </a:r>
            <a:endParaRPr kumimoji="1" lang="en-US" altLang="zh-CN" dirty="0"/>
          </a:p>
        </p:txBody>
      </p:sp>
      <p:pic>
        <p:nvPicPr>
          <p:cNvPr id="4" name="图片 3">
            <a:extLst>
              <a:ext uri="{FF2B5EF4-FFF2-40B4-BE49-F238E27FC236}">
                <a16:creationId xmlns:a16="http://schemas.microsoft.com/office/drawing/2014/main" id="{8F30DF10-429D-4EBC-9A0F-B247D1FE4EB4}"/>
              </a:ext>
            </a:extLst>
          </p:cNvPr>
          <p:cNvPicPr>
            <a:picLocks noChangeAspect="1"/>
          </p:cNvPicPr>
          <p:nvPr/>
        </p:nvPicPr>
        <p:blipFill>
          <a:blip r:embed="rId2"/>
          <a:stretch>
            <a:fillRect/>
          </a:stretch>
        </p:blipFill>
        <p:spPr>
          <a:xfrm>
            <a:off x="614995" y="2975411"/>
            <a:ext cx="3362242" cy="1850400"/>
          </a:xfrm>
          <a:prstGeom prst="rect">
            <a:avLst/>
          </a:prstGeom>
        </p:spPr>
      </p:pic>
      <p:pic>
        <p:nvPicPr>
          <p:cNvPr id="6" name="图片 5">
            <a:extLst>
              <a:ext uri="{FF2B5EF4-FFF2-40B4-BE49-F238E27FC236}">
                <a16:creationId xmlns:a16="http://schemas.microsoft.com/office/drawing/2014/main" id="{BEAEE588-828C-4366-906F-B91E59EE27A3}"/>
              </a:ext>
            </a:extLst>
          </p:cNvPr>
          <p:cNvPicPr>
            <a:picLocks noChangeAspect="1"/>
          </p:cNvPicPr>
          <p:nvPr/>
        </p:nvPicPr>
        <p:blipFill>
          <a:blip r:embed="rId3"/>
          <a:stretch>
            <a:fillRect/>
          </a:stretch>
        </p:blipFill>
        <p:spPr>
          <a:xfrm>
            <a:off x="4640782" y="3038741"/>
            <a:ext cx="3985327" cy="1729364"/>
          </a:xfrm>
          <a:prstGeom prst="rect">
            <a:avLst/>
          </a:prstGeom>
        </p:spPr>
      </p:pic>
    </p:spTree>
    <p:extLst>
      <p:ext uri="{BB962C8B-B14F-4D97-AF65-F5344CB8AC3E}">
        <p14:creationId xmlns:p14="http://schemas.microsoft.com/office/powerpoint/2010/main" val="33740802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大数据</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pPr marL="285750" indent="-285750"/>
            <a:r>
              <a:rPr lang="zh-CN" altLang="en-US" sz="1800" dirty="0"/>
              <a:t>纵向扩展、横向扩展、</a:t>
            </a:r>
            <a:r>
              <a:rPr lang="zh-CN" altLang="en-US" sz="1800" dirty="0">
                <a:solidFill>
                  <a:srgbClr val="C00000"/>
                </a:solidFill>
              </a:rPr>
              <a:t>分布式计算</a:t>
            </a:r>
            <a:endParaRPr lang="en-US" altLang="zh-CN" sz="1800" dirty="0">
              <a:solidFill>
                <a:srgbClr val="C00000"/>
              </a:solidFill>
            </a:endParaRPr>
          </a:p>
          <a:p>
            <a:pPr marL="685800" lvl="1"/>
            <a:r>
              <a:rPr lang="zh-CN" altLang="en-US" sz="1600" dirty="0"/>
              <a:t>分布式计算是横向扩展策略的具体实现方式</a:t>
            </a:r>
            <a:endParaRPr lang="en-US" altLang="zh-CN" sz="1600" dirty="0"/>
          </a:p>
          <a:p>
            <a:pPr marL="685800" lvl="1"/>
            <a:r>
              <a:rPr lang="zh-CN" altLang="en-US" sz="1600" dirty="0"/>
              <a:t>分布式计算，是把一个大计算任务拆分成多个小计算任务分布到若干台机器上去计算，然后再进行结果汇总</a:t>
            </a:r>
            <a:endParaRPr lang="en-US" altLang="zh-CN" sz="1600" dirty="0"/>
          </a:p>
          <a:p>
            <a:pPr marL="685800" lvl="1"/>
            <a:endParaRPr lang="en-US" altLang="zh-CN" sz="1600" dirty="0"/>
          </a:p>
        </p:txBody>
      </p:sp>
      <p:pic>
        <p:nvPicPr>
          <p:cNvPr id="2050" name="Picture 2" descr="https://bkimg.cdn.bcebos.com/pic/b3b7d0a20cf431ad5801a79e4536acaf2fdd9842">
            <a:extLst>
              <a:ext uri="{FF2B5EF4-FFF2-40B4-BE49-F238E27FC236}">
                <a16:creationId xmlns:a16="http://schemas.microsoft.com/office/drawing/2014/main" id="{E77EFA79-554B-4DAD-8032-34C7784AF3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9585" y="2044256"/>
            <a:ext cx="4089175" cy="26221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62857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大数据</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r>
              <a:rPr kumimoji="1" lang="zh-CN" altLang="en-US" dirty="0"/>
              <a:t>系统的</a:t>
            </a:r>
            <a:r>
              <a:rPr kumimoji="1" lang="zh-CN" altLang="en-US" dirty="0">
                <a:solidFill>
                  <a:srgbClr val="C00000"/>
                </a:solidFill>
              </a:rPr>
              <a:t>扩展性</a:t>
            </a:r>
            <a:r>
              <a:rPr kumimoji="1" lang="en-US" altLang="zh-CN" dirty="0">
                <a:solidFill>
                  <a:srgbClr val="C00000"/>
                </a:solidFill>
              </a:rPr>
              <a:t>Scalability</a:t>
            </a:r>
          </a:p>
          <a:p>
            <a:pPr lvl="1"/>
            <a:r>
              <a:rPr kumimoji="1" lang="zh-CN" altLang="en-US" dirty="0"/>
              <a:t>通过增加系统的硬件（增加</a:t>
            </a:r>
            <a:r>
              <a:rPr kumimoji="1" lang="en-US" altLang="zh-CN" dirty="0"/>
              <a:t>CPU</a:t>
            </a:r>
            <a:r>
              <a:rPr kumimoji="1" lang="zh-CN" altLang="en-US" dirty="0"/>
              <a:t>、内存、硬盘、网络带宽、更多节点）和相关软件模块，提高系统的处理能力</a:t>
            </a:r>
            <a:endParaRPr kumimoji="1" lang="en-US" altLang="zh-CN" dirty="0"/>
          </a:p>
          <a:p>
            <a:pPr lvl="1"/>
            <a:r>
              <a:rPr kumimoji="1" lang="zh-CN" altLang="en-US" dirty="0"/>
              <a:t>以应对更高的负载</a:t>
            </a:r>
            <a:endParaRPr kumimoji="1" lang="en-US" altLang="zh-CN" dirty="0"/>
          </a:p>
        </p:txBody>
      </p:sp>
      <p:pic>
        <p:nvPicPr>
          <p:cNvPr id="6" name="图片 5">
            <a:extLst>
              <a:ext uri="{FF2B5EF4-FFF2-40B4-BE49-F238E27FC236}">
                <a16:creationId xmlns:a16="http://schemas.microsoft.com/office/drawing/2014/main" id="{47D0DDD5-5530-4AE6-8CBC-FCBAF7E59D3A}"/>
              </a:ext>
            </a:extLst>
          </p:cNvPr>
          <p:cNvPicPr>
            <a:picLocks noChangeAspect="1"/>
          </p:cNvPicPr>
          <p:nvPr/>
        </p:nvPicPr>
        <p:blipFill>
          <a:blip r:embed="rId2"/>
          <a:stretch>
            <a:fillRect/>
          </a:stretch>
        </p:blipFill>
        <p:spPr>
          <a:xfrm>
            <a:off x="614995" y="2975411"/>
            <a:ext cx="3362242" cy="1850400"/>
          </a:xfrm>
          <a:prstGeom prst="rect">
            <a:avLst/>
          </a:prstGeom>
        </p:spPr>
      </p:pic>
      <p:pic>
        <p:nvPicPr>
          <p:cNvPr id="7" name="图片 6">
            <a:extLst>
              <a:ext uri="{FF2B5EF4-FFF2-40B4-BE49-F238E27FC236}">
                <a16:creationId xmlns:a16="http://schemas.microsoft.com/office/drawing/2014/main" id="{A6CE57FC-1089-4073-80C7-BC91DB7D1DBB}"/>
              </a:ext>
            </a:extLst>
          </p:cNvPr>
          <p:cNvPicPr>
            <a:picLocks noChangeAspect="1"/>
          </p:cNvPicPr>
          <p:nvPr/>
        </p:nvPicPr>
        <p:blipFill>
          <a:blip r:embed="rId3"/>
          <a:stretch>
            <a:fillRect/>
          </a:stretch>
        </p:blipFill>
        <p:spPr>
          <a:xfrm>
            <a:off x="4640782" y="3038741"/>
            <a:ext cx="3985327" cy="1729364"/>
          </a:xfrm>
          <a:prstGeom prst="rect">
            <a:avLst/>
          </a:prstGeom>
        </p:spPr>
      </p:pic>
    </p:spTree>
    <p:extLst>
      <p:ext uri="{BB962C8B-B14F-4D97-AF65-F5344CB8AC3E}">
        <p14:creationId xmlns:p14="http://schemas.microsoft.com/office/powerpoint/2010/main" val="7424016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大数据</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r>
              <a:rPr kumimoji="1" lang="zh-CN" altLang="en-US" dirty="0"/>
              <a:t>系统的</a:t>
            </a:r>
            <a:r>
              <a:rPr kumimoji="1" lang="zh-CN" altLang="en-US" dirty="0">
                <a:solidFill>
                  <a:srgbClr val="C00000"/>
                </a:solidFill>
              </a:rPr>
              <a:t>容错性</a:t>
            </a:r>
            <a:r>
              <a:rPr lang="en-US" altLang="zh-CN" dirty="0">
                <a:solidFill>
                  <a:srgbClr val="C00000"/>
                </a:solidFill>
              </a:rPr>
              <a:t>Fault Tolerance</a:t>
            </a:r>
            <a:endParaRPr kumimoji="1" lang="en-US" altLang="zh-CN" dirty="0">
              <a:solidFill>
                <a:srgbClr val="C00000"/>
              </a:solidFill>
            </a:endParaRPr>
          </a:p>
          <a:p>
            <a:pPr lvl="1"/>
            <a:r>
              <a:rPr kumimoji="1" lang="zh-CN" altLang="en-US" dirty="0"/>
              <a:t>软件能够检测到应用程序运行的底层系统软件和硬件平台的错误，并且从错误中恢复的能力</a:t>
            </a:r>
            <a:endParaRPr kumimoji="1" lang="en-US" altLang="zh-CN" dirty="0"/>
          </a:p>
          <a:p>
            <a:pPr lvl="1"/>
            <a:endParaRPr kumimoji="1" lang="en-US" altLang="zh-CN" dirty="0"/>
          </a:p>
          <a:p>
            <a:pPr lvl="1"/>
            <a:r>
              <a:rPr kumimoji="1" lang="zh-CN" altLang="en-US" dirty="0"/>
              <a:t>存储层的容错：多副本、</a:t>
            </a:r>
            <a:r>
              <a:rPr kumimoji="1" lang="en-US" altLang="zh-CN" dirty="0"/>
              <a:t>RAID</a:t>
            </a:r>
          </a:p>
          <a:p>
            <a:pPr lvl="1"/>
            <a:endParaRPr kumimoji="1" lang="en-US" altLang="zh-CN" dirty="0"/>
          </a:p>
          <a:p>
            <a:pPr lvl="1"/>
            <a:r>
              <a:rPr kumimoji="1" lang="zh-CN" altLang="en-US" dirty="0"/>
              <a:t>计算层的容错：中间结果存盘、检查点</a:t>
            </a:r>
            <a:endParaRPr kumimoji="1" lang="en-US" altLang="zh-CN" dirty="0"/>
          </a:p>
          <a:p>
            <a:pPr lvl="1"/>
            <a:endParaRPr kumimoji="1" lang="en-US" altLang="zh-CN" dirty="0"/>
          </a:p>
          <a:p>
            <a:endParaRPr kumimoji="1" lang="en-US" altLang="zh-CN" dirty="0">
              <a:solidFill>
                <a:srgbClr val="C00000"/>
              </a:solidFill>
            </a:endParaRPr>
          </a:p>
        </p:txBody>
      </p:sp>
    </p:spTree>
    <p:extLst>
      <p:ext uri="{BB962C8B-B14F-4D97-AF65-F5344CB8AC3E}">
        <p14:creationId xmlns:p14="http://schemas.microsoft.com/office/powerpoint/2010/main" val="35794345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大数据</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endParaRPr kumimoji="1" lang="en-US" altLang="zh-CN"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459182" y="819150"/>
            <a:ext cx="3926897" cy="40041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81380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大数据</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endParaRPr kumimoji="1" lang="en-US" altLang="zh-CN"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459182" y="819150"/>
            <a:ext cx="3926897" cy="40041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18869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大数据</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r>
              <a:rPr lang="en-US" altLang="zh-CN" dirty="0">
                <a:solidFill>
                  <a:srgbClr val="C00000"/>
                </a:solidFill>
              </a:rPr>
              <a:t>RDBMS</a:t>
            </a:r>
            <a:r>
              <a:rPr lang="zh-CN" altLang="en-US" dirty="0"/>
              <a:t>与</a:t>
            </a:r>
            <a:r>
              <a:rPr lang="en-US" altLang="zh-CN" dirty="0"/>
              <a:t>ACID</a:t>
            </a:r>
            <a:r>
              <a:rPr lang="zh-CN" altLang="en-US" dirty="0"/>
              <a:t>保证</a:t>
            </a:r>
            <a:endParaRPr lang="en-US" altLang="zh-CN" dirty="0"/>
          </a:p>
          <a:p>
            <a:pPr lvl="1"/>
            <a:r>
              <a:rPr lang="en-US" altLang="zh-CN" dirty="0"/>
              <a:t>RDBMS</a:t>
            </a:r>
            <a:r>
              <a:rPr lang="zh-CN" altLang="en-US" dirty="0"/>
              <a:t>即关系数据库管理系统，是数据管理的传统工具</a:t>
            </a:r>
            <a:endParaRPr lang="en-US" altLang="zh-CN" dirty="0"/>
          </a:p>
          <a:p>
            <a:pPr lvl="1"/>
            <a:r>
              <a:rPr lang="zh-CN" altLang="en-US" dirty="0"/>
              <a:t>主要特点如下</a:t>
            </a:r>
            <a:endParaRPr lang="en-US" altLang="zh-CN" dirty="0"/>
          </a:p>
          <a:p>
            <a:pPr lvl="2"/>
            <a:r>
              <a:rPr lang="zh-CN" altLang="en-US" sz="1800" dirty="0"/>
              <a:t>采用关系模型</a:t>
            </a:r>
            <a:endParaRPr lang="en-US" altLang="zh-CN" sz="1800" dirty="0"/>
          </a:p>
          <a:p>
            <a:pPr lvl="2"/>
            <a:r>
              <a:rPr lang="zh-CN" altLang="en-US" sz="1800" dirty="0"/>
              <a:t>支持关系操作</a:t>
            </a:r>
            <a:endParaRPr lang="en-US" altLang="zh-CN" sz="1800" dirty="0"/>
          </a:p>
          <a:p>
            <a:pPr lvl="2"/>
            <a:r>
              <a:rPr lang="zh-CN" altLang="en-US" sz="1800" dirty="0"/>
              <a:t>保证数据的完整性</a:t>
            </a:r>
            <a:endParaRPr lang="en-US" altLang="zh-CN" sz="1800" dirty="0"/>
          </a:p>
          <a:p>
            <a:pPr lvl="2"/>
            <a:r>
              <a:rPr lang="zh-CN" altLang="en-US" sz="1800" dirty="0"/>
              <a:t>支持事务处理</a:t>
            </a:r>
            <a:endParaRPr lang="en-US" altLang="zh-CN" sz="1800" dirty="0"/>
          </a:p>
          <a:p>
            <a:pPr lvl="2"/>
            <a:r>
              <a:rPr lang="zh-CN" altLang="en-US" sz="1800" dirty="0"/>
              <a:t>支持故障恢复</a:t>
            </a:r>
            <a:endParaRPr lang="en-US" altLang="zh-CN" sz="1800" dirty="0"/>
          </a:p>
          <a:p>
            <a:pPr lvl="2"/>
            <a:r>
              <a:rPr lang="zh-CN" altLang="en-US" sz="1800" dirty="0"/>
              <a:t>提供数据共享</a:t>
            </a:r>
            <a:endParaRPr lang="en-US" altLang="zh-CN" sz="1800" dirty="0"/>
          </a:p>
          <a:p>
            <a:pPr lvl="1"/>
            <a:endParaRPr lang="en-US" altLang="zh-CN" sz="2000" dirty="0"/>
          </a:p>
          <a:p>
            <a:endParaRPr kumimoji="1" lang="en-US" altLang="zh-CN" dirty="0"/>
          </a:p>
        </p:txBody>
      </p:sp>
      <p:pic>
        <p:nvPicPr>
          <p:cNvPr id="3074" name="Picture 2" descr="https://www2.edu-edu.com.cn/lesson_crs78/self/j_4735/soft/images/ch02/23.jpg">
            <a:extLst>
              <a:ext uri="{FF2B5EF4-FFF2-40B4-BE49-F238E27FC236}">
                <a16:creationId xmlns:a16="http://schemas.microsoft.com/office/drawing/2014/main" id="{9E64F9BA-7FF0-4543-B3B5-8BCADB4B62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81221" y="1877352"/>
            <a:ext cx="4793446" cy="26744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17383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大数据</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a:xfrm>
            <a:off x="457200" y="819150"/>
            <a:ext cx="8229600" cy="4064393"/>
          </a:xfrm>
        </p:spPr>
        <p:txBody>
          <a:bodyPr>
            <a:normAutofit fontScale="55000" lnSpcReduction="20000"/>
          </a:bodyPr>
          <a:lstStyle/>
          <a:p>
            <a:r>
              <a:rPr lang="en-US" altLang="zh-CN" sz="3800" dirty="0"/>
              <a:t>RDBMS</a:t>
            </a:r>
            <a:r>
              <a:rPr lang="zh-CN" altLang="en-US" sz="3800" dirty="0"/>
              <a:t>与</a:t>
            </a:r>
            <a:r>
              <a:rPr lang="en-US" altLang="zh-CN" sz="3800" dirty="0">
                <a:solidFill>
                  <a:srgbClr val="C00000"/>
                </a:solidFill>
              </a:rPr>
              <a:t>ACID</a:t>
            </a:r>
            <a:r>
              <a:rPr lang="zh-CN" altLang="en-US" sz="3800" dirty="0">
                <a:solidFill>
                  <a:srgbClr val="C00000"/>
                </a:solidFill>
              </a:rPr>
              <a:t>保证</a:t>
            </a:r>
            <a:endParaRPr lang="en-US" altLang="zh-CN" sz="3800" dirty="0">
              <a:solidFill>
                <a:srgbClr val="C00000"/>
              </a:solidFill>
            </a:endParaRPr>
          </a:p>
          <a:p>
            <a:pPr lvl="1">
              <a:lnSpc>
                <a:spcPct val="120000"/>
              </a:lnSpc>
            </a:pPr>
            <a:r>
              <a:rPr lang="zh-CN" altLang="en-US" sz="2500" dirty="0"/>
              <a:t>关系数据库关系系统，支持事务处理，保证事务的</a:t>
            </a:r>
            <a:r>
              <a:rPr lang="en-US" altLang="zh-CN" sz="2500" dirty="0"/>
              <a:t>ACID</a:t>
            </a:r>
            <a:r>
              <a:rPr lang="zh-CN" altLang="en-US" sz="2500" dirty="0"/>
              <a:t>特性</a:t>
            </a:r>
            <a:endParaRPr lang="en-US" altLang="zh-CN" sz="2500" dirty="0"/>
          </a:p>
          <a:p>
            <a:pPr lvl="1">
              <a:lnSpc>
                <a:spcPct val="120000"/>
              </a:lnSpc>
            </a:pPr>
            <a:r>
              <a:rPr lang="zh-CN" altLang="en-US" sz="2500" dirty="0">
                <a:solidFill>
                  <a:srgbClr val="C00000"/>
                </a:solidFill>
              </a:rPr>
              <a:t>原子性（</a:t>
            </a:r>
            <a:r>
              <a:rPr lang="en-US" altLang="zh-CN" sz="2500" dirty="0">
                <a:solidFill>
                  <a:srgbClr val="C00000"/>
                </a:solidFill>
              </a:rPr>
              <a:t>Atomicity</a:t>
            </a:r>
            <a:r>
              <a:rPr lang="zh-CN" altLang="en-US" sz="2500" dirty="0">
                <a:solidFill>
                  <a:srgbClr val="C00000"/>
                </a:solidFill>
              </a:rPr>
              <a:t>）</a:t>
            </a:r>
          </a:p>
          <a:p>
            <a:pPr lvl="2">
              <a:lnSpc>
                <a:spcPct val="120000"/>
              </a:lnSpc>
            </a:pPr>
            <a:r>
              <a:rPr lang="zh-CN" altLang="en-US" sz="2500" dirty="0"/>
              <a:t>事务被视为不可分割的最小单元，事务的所有操作要么全部提交成功，要么全部失败回滚</a:t>
            </a:r>
          </a:p>
          <a:p>
            <a:pPr lvl="2">
              <a:lnSpc>
                <a:spcPct val="120000"/>
              </a:lnSpc>
            </a:pPr>
            <a:r>
              <a:rPr lang="zh-CN" altLang="en-US" sz="2500" dirty="0"/>
              <a:t>回滚可以用回滚日志来实现，回滚日志记录着事务所执行的修改操作，在回滚时反向执行这些修改操作即可</a:t>
            </a:r>
          </a:p>
          <a:p>
            <a:pPr lvl="1">
              <a:lnSpc>
                <a:spcPct val="120000"/>
              </a:lnSpc>
            </a:pPr>
            <a:r>
              <a:rPr lang="zh-CN" altLang="en-US" sz="2500" dirty="0">
                <a:solidFill>
                  <a:srgbClr val="C00000"/>
                </a:solidFill>
              </a:rPr>
              <a:t>一致性（</a:t>
            </a:r>
            <a:r>
              <a:rPr lang="en-US" altLang="zh-CN" sz="2500" dirty="0">
                <a:solidFill>
                  <a:srgbClr val="C00000"/>
                </a:solidFill>
              </a:rPr>
              <a:t>Consistency</a:t>
            </a:r>
            <a:r>
              <a:rPr lang="zh-CN" altLang="en-US" sz="2500" dirty="0">
                <a:solidFill>
                  <a:srgbClr val="C00000"/>
                </a:solidFill>
              </a:rPr>
              <a:t>）</a:t>
            </a:r>
          </a:p>
          <a:p>
            <a:pPr lvl="2">
              <a:lnSpc>
                <a:spcPct val="120000"/>
              </a:lnSpc>
            </a:pPr>
            <a:r>
              <a:rPr lang="zh-CN" altLang="en-US" sz="2500" dirty="0"/>
              <a:t>数据库在事务执行前后都保持一致性状态，在一致性状态下，所有事务对一个数据的读取结果都是相同的</a:t>
            </a:r>
          </a:p>
          <a:p>
            <a:pPr lvl="1">
              <a:lnSpc>
                <a:spcPct val="120000"/>
              </a:lnSpc>
            </a:pPr>
            <a:r>
              <a:rPr lang="zh-CN" altLang="en-US" sz="2500" dirty="0">
                <a:solidFill>
                  <a:srgbClr val="C00000"/>
                </a:solidFill>
              </a:rPr>
              <a:t>隔离性（</a:t>
            </a:r>
            <a:r>
              <a:rPr lang="en-US" altLang="zh-CN" sz="2500" dirty="0">
                <a:solidFill>
                  <a:srgbClr val="C00000"/>
                </a:solidFill>
              </a:rPr>
              <a:t>Isolation</a:t>
            </a:r>
            <a:r>
              <a:rPr lang="zh-CN" altLang="en-US" sz="2500" dirty="0">
                <a:solidFill>
                  <a:srgbClr val="C00000"/>
                </a:solidFill>
              </a:rPr>
              <a:t>）</a:t>
            </a:r>
          </a:p>
          <a:p>
            <a:pPr lvl="2">
              <a:lnSpc>
                <a:spcPct val="120000"/>
              </a:lnSpc>
            </a:pPr>
            <a:r>
              <a:rPr lang="zh-CN" altLang="en-US" sz="2500" dirty="0"/>
              <a:t>一个事务所做的修改在最终提交以前，对其它事务是不可见的</a:t>
            </a:r>
          </a:p>
          <a:p>
            <a:pPr lvl="2">
              <a:lnSpc>
                <a:spcPct val="120000"/>
              </a:lnSpc>
            </a:pPr>
            <a:r>
              <a:rPr lang="zh-CN" altLang="en-US" sz="2500" dirty="0"/>
              <a:t>并发执行的事务，其结果与某种串行调度一致</a:t>
            </a:r>
          </a:p>
          <a:p>
            <a:pPr lvl="1">
              <a:lnSpc>
                <a:spcPct val="120000"/>
              </a:lnSpc>
            </a:pPr>
            <a:r>
              <a:rPr lang="zh-CN" altLang="en-US" sz="2500" dirty="0">
                <a:solidFill>
                  <a:srgbClr val="C00000"/>
                </a:solidFill>
              </a:rPr>
              <a:t>持久性（</a:t>
            </a:r>
            <a:r>
              <a:rPr lang="en-US" altLang="zh-CN" sz="2500" dirty="0">
                <a:solidFill>
                  <a:srgbClr val="C00000"/>
                </a:solidFill>
              </a:rPr>
              <a:t>Durability</a:t>
            </a:r>
            <a:r>
              <a:rPr lang="zh-CN" altLang="en-US" sz="2500" dirty="0">
                <a:solidFill>
                  <a:srgbClr val="C00000"/>
                </a:solidFill>
              </a:rPr>
              <a:t>）</a:t>
            </a:r>
          </a:p>
          <a:p>
            <a:pPr lvl="2">
              <a:lnSpc>
                <a:spcPct val="120000"/>
              </a:lnSpc>
            </a:pPr>
            <a:r>
              <a:rPr lang="zh-CN" altLang="en-US" sz="2500" dirty="0"/>
              <a:t>一旦事务提交，则其所做的修改将会永远保存到数据库中</a:t>
            </a:r>
            <a:endParaRPr lang="en-US" altLang="zh-CN" sz="2500" dirty="0"/>
          </a:p>
          <a:p>
            <a:pPr lvl="2">
              <a:lnSpc>
                <a:spcPct val="120000"/>
              </a:lnSpc>
            </a:pPr>
            <a:r>
              <a:rPr lang="zh-CN" altLang="en-US" sz="2500" dirty="0"/>
              <a:t>即使系统发生崩溃，事务执行的结果也不能丢失；使用重做日志来保证持久性</a:t>
            </a:r>
            <a:endParaRPr kumimoji="1" lang="en-US" altLang="zh-CN" dirty="0"/>
          </a:p>
        </p:txBody>
      </p:sp>
    </p:spTree>
    <p:extLst>
      <p:ext uri="{BB962C8B-B14F-4D97-AF65-F5344CB8AC3E}">
        <p14:creationId xmlns:p14="http://schemas.microsoft.com/office/powerpoint/2010/main" val="26220589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大数据</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pPr algn="just"/>
            <a:r>
              <a:rPr lang="en-US" altLang="zh-CN" sz="1800" dirty="0">
                <a:solidFill>
                  <a:srgbClr val="C00000"/>
                </a:solidFill>
              </a:rPr>
              <a:t>CAP</a:t>
            </a:r>
            <a:r>
              <a:rPr lang="zh-CN" altLang="en-US" sz="1800" dirty="0">
                <a:solidFill>
                  <a:srgbClr val="C00000"/>
                </a:solidFill>
              </a:rPr>
              <a:t>理论</a:t>
            </a:r>
            <a:endParaRPr lang="en-US" altLang="zh-CN" sz="1800" dirty="0">
              <a:solidFill>
                <a:srgbClr val="C00000"/>
              </a:solidFill>
            </a:endParaRPr>
          </a:p>
          <a:p>
            <a:pPr lvl="1" algn="just"/>
            <a:r>
              <a:rPr lang="en-US" altLang="zh-CN" sz="1600" dirty="0"/>
              <a:t>CAP</a:t>
            </a:r>
            <a:r>
              <a:rPr lang="zh-CN" altLang="en-US" sz="1600" dirty="0"/>
              <a:t>原则又称</a:t>
            </a:r>
            <a:r>
              <a:rPr lang="en-US" altLang="zh-CN" sz="1600" dirty="0"/>
              <a:t>CAP</a:t>
            </a:r>
            <a:r>
              <a:rPr lang="zh-CN" altLang="en-US" sz="1600" dirty="0"/>
              <a:t>定理</a:t>
            </a:r>
            <a:endParaRPr lang="en-US" altLang="zh-CN" sz="1600" dirty="0"/>
          </a:p>
          <a:p>
            <a:pPr lvl="1" algn="just"/>
            <a:r>
              <a:rPr lang="zh-CN" altLang="en-US" sz="1600" dirty="0"/>
              <a:t>指的是在一个分布式系统中，一致性（</a:t>
            </a:r>
            <a:r>
              <a:rPr lang="en-US" altLang="zh-CN" sz="1600" dirty="0"/>
              <a:t>Consistency</a:t>
            </a:r>
            <a:r>
              <a:rPr lang="zh-CN" altLang="en-US" sz="1600" dirty="0"/>
              <a:t>）、可用性（</a:t>
            </a:r>
            <a:r>
              <a:rPr lang="en-US" altLang="zh-CN" sz="1600" dirty="0"/>
              <a:t>Availability</a:t>
            </a:r>
            <a:r>
              <a:rPr lang="zh-CN" altLang="en-US" sz="1600" dirty="0"/>
              <a:t>）、分区容错性（</a:t>
            </a:r>
            <a:r>
              <a:rPr lang="en-US" altLang="zh-CN" sz="1600" dirty="0"/>
              <a:t>Partition tolerance</a:t>
            </a:r>
            <a:r>
              <a:rPr lang="zh-CN" altLang="en-US" sz="1600" dirty="0"/>
              <a:t>）</a:t>
            </a:r>
            <a:endParaRPr lang="en-US" altLang="zh-CN" sz="1600" dirty="0"/>
          </a:p>
          <a:p>
            <a:pPr lvl="1" algn="just"/>
            <a:r>
              <a:rPr lang="en-US" altLang="zh-CN" sz="1600" dirty="0"/>
              <a:t>CAP </a:t>
            </a:r>
            <a:r>
              <a:rPr lang="zh-CN" altLang="en-US" sz="1600" dirty="0"/>
              <a:t>原则指的是，这三个要素最多只能同时实现两点，不可能三者兼顾</a:t>
            </a:r>
            <a:endParaRPr lang="en-US" altLang="zh-CN" sz="1600" dirty="0"/>
          </a:p>
          <a:p>
            <a:pPr lvl="1" algn="just"/>
            <a:endParaRPr lang="en-US" altLang="zh-CN" sz="1600" dirty="0"/>
          </a:p>
          <a:p>
            <a:pPr lvl="1" algn="just"/>
            <a:endParaRPr lang="en-US" altLang="zh-CN" sz="1600" dirty="0"/>
          </a:p>
          <a:p>
            <a:pPr lvl="1" algn="just"/>
            <a:endParaRPr lang="en-US" altLang="zh-CN" sz="1600" dirty="0"/>
          </a:p>
          <a:p>
            <a:pPr lvl="1" algn="just"/>
            <a:endParaRPr lang="en-US" altLang="zh-CN" sz="1600" dirty="0"/>
          </a:p>
          <a:p>
            <a:pPr lvl="1" algn="just"/>
            <a:endParaRPr lang="en-US" altLang="zh-CN" sz="1600" dirty="0"/>
          </a:p>
          <a:p>
            <a:pPr lvl="1" algn="just"/>
            <a:endParaRPr lang="en-US" altLang="zh-CN" sz="1600" dirty="0"/>
          </a:p>
          <a:p>
            <a:pPr lvl="1" algn="just"/>
            <a:endParaRPr lang="en-US" altLang="zh-CN" sz="1600" dirty="0"/>
          </a:p>
          <a:p>
            <a:pPr lvl="1" algn="just"/>
            <a:endParaRPr lang="en-US" altLang="zh-CN" sz="1600" dirty="0"/>
          </a:p>
          <a:p>
            <a:pPr algn="just"/>
            <a:endParaRPr kumimoji="1" lang="en-US" altLang="zh-CN" dirty="0"/>
          </a:p>
        </p:txBody>
      </p:sp>
      <p:sp>
        <p:nvSpPr>
          <p:cNvPr id="5" name="矩形 4">
            <a:extLst>
              <a:ext uri="{FF2B5EF4-FFF2-40B4-BE49-F238E27FC236}">
                <a16:creationId xmlns:a16="http://schemas.microsoft.com/office/drawing/2014/main" id="{B5B40192-0E5C-4B97-AF82-94354B04734E}"/>
              </a:ext>
            </a:extLst>
          </p:cNvPr>
          <p:cNvSpPr/>
          <p:nvPr/>
        </p:nvSpPr>
        <p:spPr>
          <a:xfrm>
            <a:off x="4151214" y="2830091"/>
            <a:ext cx="4572000" cy="1477328"/>
          </a:xfrm>
          <a:prstGeom prst="rect">
            <a:avLst/>
          </a:prstGeom>
        </p:spPr>
        <p:txBody>
          <a:bodyPr>
            <a:spAutoFit/>
          </a:bodyPr>
          <a:lstStyle/>
          <a:p>
            <a:pPr marL="285750" indent="-285750">
              <a:buFont typeface="Arial" panose="020B0604020202020204" pitchFamily="34" charset="0"/>
              <a:buChar char="•"/>
            </a:pPr>
            <a:r>
              <a:rPr lang="zh-CN" altLang="en-US" dirty="0"/>
              <a:t>RDBMS追求一致性consistency，以及可用性Availability，所以它不能保证分区容忍性，即其扩展性有限</a:t>
            </a:r>
          </a:p>
          <a:p>
            <a:pPr marL="285750" indent="-285750">
              <a:buFont typeface="Arial" panose="020B0604020202020204" pitchFamily="34" charset="0"/>
              <a:buChar char="•"/>
            </a:pPr>
            <a:r>
              <a:rPr lang="zh-CN" altLang="en-US" dirty="0"/>
              <a:t>传统RDBMS很难扩展到1000个节点以上，称为大数据处理的瓶颈</a:t>
            </a:r>
          </a:p>
        </p:txBody>
      </p:sp>
      <p:pic>
        <p:nvPicPr>
          <p:cNvPr id="7" name="Picture 2" descr="https://pic.wangt.cc/download/pic_router.php?path=https://www.wangt.cc/wp-content/uploads/2020/08/20200823_5f421d08a8f79.png">
            <a:extLst>
              <a:ext uri="{FF2B5EF4-FFF2-40B4-BE49-F238E27FC236}">
                <a16:creationId xmlns:a16="http://schemas.microsoft.com/office/drawing/2014/main" id="{CD6D3862-AC1C-4958-86B8-A74929E7327E}"/>
              </a:ext>
            </a:extLst>
          </p:cNvPr>
          <p:cNvPicPr>
            <a:picLocks noChangeAspect="1" noChangeArrowheads="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23457" r="19506"/>
          <a:stretch/>
        </p:blipFill>
        <p:spPr bwMode="auto">
          <a:xfrm>
            <a:off x="809204" y="2692781"/>
            <a:ext cx="2803890" cy="2099504"/>
          </a:xfrm>
          <a:prstGeom prst="rect">
            <a:avLst/>
          </a:prstGeom>
          <a:noFill/>
          <a:extLst>
            <a:ext uri="{909E8E84-426E-40DD-AFC4-6F175D3DCCD1}">
              <a14:hiddenFill xmlns:a14="http://schemas.microsoft.com/office/drawing/2010/main">
                <a:solidFill>
                  <a:srgbClr val="FFFFFF"/>
                </a:solidFill>
              </a14:hiddenFill>
            </a:ext>
          </a:extLst>
        </p:spPr>
      </p:pic>
      <p:sp>
        <p:nvSpPr>
          <p:cNvPr id="6" name="椭圆 5">
            <a:extLst>
              <a:ext uri="{FF2B5EF4-FFF2-40B4-BE49-F238E27FC236}">
                <a16:creationId xmlns:a16="http://schemas.microsoft.com/office/drawing/2014/main" id="{C3075478-E92D-4C9E-9C45-1B5BC253596F}"/>
              </a:ext>
            </a:extLst>
          </p:cNvPr>
          <p:cNvSpPr/>
          <p:nvPr/>
        </p:nvSpPr>
        <p:spPr>
          <a:xfrm rot="18301267">
            <a:off x="800375" y="3449648"/>
            <a:ext cx="1918497" cy="598811"/>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97984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大数据</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r>
              <a:rPr lang="zh-CN" altLang="en-US" sz="1800" dirty="0">
                <a:solidFill>
                  <a:srgbClr val="C00000"/>
                </a:solidFill>
              </a:rPr>
              <a:t>通过</a:t>
            </a:r>
            <a:r>
              <a:rPr lang="en-US" altLang="zh-CN" sz="1800" dirty="0">
                <a:solidFill>
                  <a:srgbClr val="C00000"/>
                </a:solidFill>
              </a:rPr>
              <a:t>2PC</a:t>
            </a:r>
            <a:r>
              <a:rPr lang="zh-CN" altLang="en-US" sz="1800" dirty="0">
                <a:solidFill>
                  <a:srgbClr val="C00000"/>
                </a:solidFill>
              </a:rPr>
              <a:t>两阶段提交了解</a:t>
            </a:r>
            <a:r>
              <a:rPr lang="en-US" altLang="zh-CN" sz="1800" dirty="0">
                <a:solidFill>
                  <a:srgbClr val="C00000"/>
                </a:solidFill>
              </a:rPr>
              <a:t>RDBMS</a:t>
            </a:r>
            <a:r>
              <a:rPr lang="zh-CN" altLang="en-US" sz="1800" dirty="0">
                <a:solidFill>
                  <a:srgbClr val="C00000"/>
                </a:solidFill>
              </a:rPr>
              <a:t>扩展性的困难</a:t>
            </a:r>
            <a:endParaRPr lang="en-US" altLang="zh-CN" sz="1600" dirty="0"/>
          </a:p>
          <a:p>
            <a:pPr lvl="1"/>
            <a:endParaRPr lang="en-US" altLang="zh-CN" sz="1600" dirty="0"/>
          </a:p>
          <a:p>
            <a:pPr lvl="1"/>
            <a:endParaRPr lang="en-US" altLang="zh-CN" sz="1600" dirty="0"/>
          </a:p>
          <a:p>
            <a:pPr lvl="1"/>
            <a:endParaRPr lang="en-US" altLang="zh-CN" sz="1600" dirty="0"/>
          </a:p>
          <a:p>
            <a:pPr lvl="1"/>
            <a:endParaRPr lang="en-US" altLang="zh-CN" sz="1600" dirty="0"/>
          </a:p>
          <a:p>
            <a:pPr lvl="1"/>
            <a:endParaRPr lang="en-US" altLang="zh-CN" sz="1600" dirty="0"/>
          </a:p>
          <a:p>
            <a:pPr lvl="1"/>
            <a:endParaRPr lang="en-US" altLang="zh-CN" sz="1600" dirty="0"/>
          </a:p>
          <a:p>
            <a:pPr lvl="1"/>
            <a:endParaRPr lang="en-US" altLang="zh-CN" sz="1600" dirty="0"/>
          </a:p>
          <a:p>
            <a:endParaRPr kumimoji="1" lang="en-US" altLang="zh-CN" dirty="0"/>
          </a:p>
        </p:txBody>
      </p:sp>
      <p:sp>
        <p:nvSpPr>
          <p:cNvPr id="5" name="矩形 4">
            <a:extLst>
              <a:ext uri="{FF2B5EF4-FFF2-40B4-BE49-F238E27FC236}">
                <a16:creationId xmlns:a16="http://schemas.microsoft.com/office/drawing/2014/main" id="{B5B40192-0E5C-4B97-AF82-94354B04734E}"/>
              </a:ext>
            </a:extLst>
          </p:cNvPr>
          <p:cNvSpPr/>
          <p:nvPr/>
        </p:nvSpPr>
        <p:spPr>
          <a:xfrm>
            <a:off x="5231500" y="2518549"/>
            <a:ext cx="3694013" cy="1754326"/>
          </a:xfrm>
          <a:prstGeom prst="rect">
            <a:avLst/>
          </a:prstGeom>
        </p:spPr>
        <p:txBody>
          <a:bodyPr wrap="square">
            <a:spAutoFit/>
          </a:bodyPr>
          <a:lstStyle/>
          <a:p>
            <a:pPr marL="285750" indent="-285750">
              <a:buFont typeface="Arial" panose="020B0604020202020204" pitchFamily="34" charset="0"/>
              <a:buChar char="•"/>
            </a:pPr>
            <a:r>
              <a:rPr lang="zh-CN" altLang="en-US" dirty="0"/>
              <a:t>RDBMS追求一致性consistency，以及可用性Availability，所以它不能保证分区容忍性，即其扩展性有限</a:t>
            </a:r>
          </a:p>
          <a:p>
            <a:pPr marL="285750" indent="-285750">
              <a:buFont typeface="Arial" panose="020B0604020202020204" pitchFamily="34" charset="0"/>
              <a:buChar char="•"/>
            </a:pPr>
            <a:r>
              <a:rPr lang="zh-CN" altLang="en-US" dirty="0"/>
              <a:t>传统RDBMS很难扩展到1000个节点以上，称为大数据处理的瓶颈</a:t>
            </a:r>
          </a:p>
        </p:txBody>
      </p:sp>
      <p:pic>
        <p:nvPicPr>
          <p:cNvPr id="7" name="Picture 2" descr="https://pic.wangt.cc/download/pic_router.php?path=https://www.wangt.cc/wp-content/uploads/2020/08/20200823_5f421d08a8f79.png">
            <a:extLst>
              <a:ext uri="{FF2B5EF4-FFF2-40B4-BE49-F238E27FC236}">
                <a16:creationId xmlns:a16="http://schemas.microsoft.com/office/drawing/2014/main" id="{CD6D3862-AC1C-4958-86B8-A74929E7327E}"/>
              </a:ext>
            </a:extLst>
          </p:cNvPr>
          <p:cNvPicPr>
            <a:picLocks noChangeAspect="1" noChangeArrowheads="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23457" r="19506"/>
          <a:stretch/>
        </p:blipFill>
        <p:spPr bwMode="auto">
          <a:xfrm>
            <a:off x="5623965" y="205978"/>
            <a:ext cx="2803890" cy="2099504"/>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https://img0.baidu.com/it/u=2205662596,861920871&amp;fm=253&amp;fmt=auto&amp;app=138&amp;f=JPEG?w=505&amp;h=305">
            <a:extLst>
              <a:ext uri="{FF2B5EF4-FFF2-40B4-BE49-F238E27FC236}">
                <a16:creationId xmlns:a16="http://schemas.microsoft.com/office/drawing/2014/main" id="{7F55610E-2087-4E8A-BF20-CD0824CFCB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6701" y="1255730"/>
            <a:ext cx="3455299" cy="2086864"/>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a:extLst>
              <a:ext uri="{FF2B5EF4-FFF2-40B4-BE49-F238E27FC236}">
                <a16:creationId xmlns:a16="http://schemas.microsoft.com/office/drawing/2014/main" id="{9BDECE5A-A9C0-48E0-91CF-11D5AB35A3B5}"/>
              </a:ext>
            </a:extLst>
          </p:cNvPr>
          <p:cNvSpPr/>
          <p:nvPr/>
        </p:nvSpPr>
        <p:spPr>
          <a:xfrm>
            <a:off x="339213" y="3441912"/>
            <a:ext cx="4855873" cy="1600438"/>
          </a:xfrm>
          <a:prstGeom prst="rect">
            <a:avLst/>
          </a:prstGeom>
          <a:solidFill>
            <a:schemeClr val="accent3">
              <a:lumMod val="20000"/>
              <a:lumOff val="80000"/>
            </a:schemeClr>
          </a:solidFill>
          <a:ln>
            <a:solidFill>
              <a:schemeClr val="accent1"/>
            </a:solidFill>
          </a:ln>
        </p:spPr>
        <p:txBody>
          <a:bodyPr wrap="square">
            <a:spAutoFit/>
          </a:bodyPr>
          <a:lstStyle/>
          <a:p>
            <a:pPr marL="285750" indent="-285750" algn="just">
              <a:buFont typeface="Arial" panose="020B0604020202020204" pitchFamily="34" charset="0"/>
              <a:buChar char="•"/>
            </a:pPr>
            <a:r>
              <a:rPr lang="zh-CN" altLang="en-US" sz="1400" dirty="0">
                <a:solidFill>
                  <a:srgbClr val="333333"/>
                </a:solidFill>
                <a:latin typeface="pingfang SC"/>
              </a:rPr>
              <a:t>在第二阶段中，当协调者向参与者发送提交请求之后，如果发生了局部网络异常或者在发送提交请求过程中协调者发生了故障，这会导致只有一部分参与者接受到了提交请求。而在这部分参与者接到提交请求之后就会执行提交操作。但是其他未接到提交请求的机器则无法执行事务提交。于是整个分布式系统便出现了数据不一致性的现象。</a:t>
            </a:r>
            <a:endParaRPr lang="zh-CN" altLang="en-US" sz="1400" dirty="0"/>
          </a:p>
        </p:txBody>
      </p:sp>
      <p:sp>
        <p:nvSpPr>
          <p:cNvPr id="8" name="椭圆 7">
            <a:extLst>
              <a:ext uri="{FF2B5EF4-FFF2-40B4-BE49-F238E27FC236}">
                <a16:creationId xmlns:a16="http://schemas.microsoft.com/office/drawing/2014/main" id="{3767F595-C689-4EDC-B741-44C153D3C2EA}"/>
              </a:ext>
            </a:extLst>
          </p:cNvPr>
          <p:cNvSpPr/>
          <p:nvPr/>
        </p:nvSpPr>
        <p:spPr>
          <a:xfrm rot="18301267">
            <a:off x="5670152" y="1082727"/>
            <a:ext cx="1918497" cy="598811"/>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88533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大数据</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r>
              <a:rPr lang="en-US" altLang="zh-CN" sz="1800" dirty="0">
                <a:solidFill>
                  <a:srgbClr val="C00000"/>
                </a:solidFill>
              </a:rPr>
              <a:t>NoSQL</a:t>
            </a:r>
            <a:r>
              <a:rPr lang="zh-CN" altLang="en-US" sz="1800" dirty="0">
                <a:solidFill>
                  <a:srgbClr val="C00000"/>
                </a:solidFill>
              </a:rPr>
              <a:t>数据库</a:t>
            </a:r>
            <a:endParaRPr lang="en-US" altLang="zh-CN" sz="1800" dirty="0">
              <a:solidFill>
                <a:srgbClr val="C00000"/>
              </a:solidFill>
            </a:endParaRPr>
          </a:p>
          <a:p>
            <a:pPr lvl="1"/>
            <a:r>
              <a:rPr lang="en-US" altLang="zh-CN" dirty="0"/>
              <a:t>NoSQL</a:t>
            </a:r>
            <a:r>
              <a:rPr lang="zh-CN" altLang="en-US" dirty="0"/>
              <a:t>，泛指非关系型的数据库，不是指某一个数据库</a:t>
            </a:r>
            <a:endParaRPr lang="en-US" altLang="zh-CN" dirty="0"/>
          </a:p>
          <a:p>
            <a:pPr lvl="1"/>
            <a:r>
              <a:rPr lang="zh-CN" altLang="en-US" dirty="0"/>
              <a:t>传统的关系数据库在处理互联网应用时力不从心</a:t>
            </a:r>
            <a:endParaRPr lang="en-US" altLang="zh-CN" dirty="0"/>
          </a:p>
          <a:p>
            <a:pPr lvl="1"/>
            <a:r>
              <a:rPr lang="zh-CN" altLang="en-US" dirty="0"/>
              <a:t>为应对大数据处理的挑战，非关系型的数据库</a:t>
            </a:r>
            <a:r>
              <a:rPr lang="en-US" altLang="zh-CN" dirty="0"/>
              <a:t>NoSQL</a:t>
            </a:r>
            <a:r>
              <a:rPr lang="zh-CN" altLang="en-US" dirty="0"/>
              <a:t>，以其高度扩展能力，得到了非常迅速的发展</a:t>
            </a:r>
            <a:endParaRPr lang="en-US" altLang="zh-CN" sz="1600" dirty="0"/>
          </a:p>
          <a:p>
            <a:pPr lvl="1"/>
            <a:endParaRPr lang="en-US" altLang="zh-CN" sz="1600" dirty="0"/>
          </a:p>
          <a:p>
            <a:pPr lvl="1"/>
            <a:endParaRPr lang="en-US" altLang="zh-CN" sz="1600" dirty="0"/>
          </a:p>
          <a:p>
            <a:pPr lvl="1"/>
            <a:endParaRPr lang="en-US" altLang="zh-CN" sz="1600" dirty="0"/>
          </a:p>
          <a:p>
            <a:pPr lvl="1"/>
            <a:endParaRPr lang="en-US" altLang="zh-CN" sz="1600" dirty="0"/>
          </a:p>
          <a:p>
            <a:pPr lvl="1"/>
            <a:endParaRPr lang="en-US" altLang="zh-CN" sz="1600" dirty="0"/>
          </a:p>
          <a:p>
            <a:pPr lvl="1"/>
            <a:endParaRPr lang="en-US" altLang="zh-CN" sz="1600" dirty="0"/>
          </a:p>
          <a:p>
            <a:endParaRPr kumimoji="1" lang="en-US" altLang="zh-CN" dirty="0"/>
          </a:p>
        </p:txBody>
      </p:sp>
      <p:pic>
        <p:nvPicPr>
          <p:cNvPr id="4098" name="Picture 2" descr="https://pic.wangt.cc/download/pic_router.php?path=https://www.wangt.cc/wp-content/uploads/2020/08/20200823_5f421d08a8f79.png">
            <a:extLst>
              <a:ext uri="{FF2B5EF4-FFF2-40B4-BE49-F238E27FC236}">
                <a16:creationId xmlns:a16="http://schemas.microsoft.com/office/drawing/2014/main" id="{2CE4A326-6129-4EF3-AE44-F18B22547064}"/>
              </a:ext>
            </a:extLst>
          </p:cNvPr>
          <p:cNvPicPr>
            <a:picLocks noChangeAspect="1" noChangeArrowheads="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23457" r="19506"/>
          <a:stretch/>
        </p:blipFill>
        <p:spPr bwMode="auto">
          <a:xfrm>
            <a:off x="809204" y="2692781"/>
            <a:ext cx="2803890" cy="2099504"/>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a:extLst>
              <a:ext uri="{FF2B5EF4-FFF2-40B4-BE49-F238E27FC236}">
                <a16:creationId xmlns:a16="http://schemas.microsoft.com/office/drawing/2014/main" id="{B5B40192-0E5C-4B97-AF82-94354B04734E}"/>
              </a:ext>
            </a:extLst>
          </p:cNvPr>
          <p:cNvSpPr/>
          <p:nvPr/>
        </p:nvSpPr>
        <p:spPr>
          <a:xfrm>
            <a:off x="3857519" y="2692781"/>
            <a:ext cx="4910756" cy="2031325"/>
          </a:xfrm>
          <a:prstGeom prst="rect">
            <a:avLst/>
          </a:prstGeom>
        </p:spPr>
        <p:txBody>
          <a:bodyPr wrap="square">
            <a:spAutoFit/>
          </a:bodyPr>
          <a:lstStyle/>
          <a:p>
            <a:pPr marL="285750" indent="-285750" algn="just">
              <a:buFont typeface="Arial" panose="020B0604020202020204" pitchFamily="34" charset="0"/>
              <a:buChar char="•"/>
            </a:pPr>
            <a:r>
              <a:rPr lang="en-US" altLang="zh-CN" dirty="0"/>
              <a:t>NoSQL</a:t>
            </a:r>
            <a:r>
              <a:rPr lang="zh-CN" altLang="en-US" dirty="0"/>
              <a:t>数据的设计目标是提供高度的扩展能力，提供网络分区容忍性</a:t>
            </a:r>
            <a:endParaRPr lang="en-US" altLang="zh-CN" dirty="0"/>
          </a:p>
          <a:p>
            <a:pPr marL="285750" indent="-285750" algn="just">
              <a:buFont typeface="Arial" panose="020B0604020202020204" pitchFamily="34" charset="0"/>
              <a:buChar char="•"/>
            </a:pPr>
            <a:r>
              <a:rPr lang="zh-CN" altLang="en-US" dirty="0"/>
              <a:t>提供系统的持续服务能力，即可用性</a:t>
            </a:r>
            <a:endParaRPr lang="en-US" altLang="zh-CN" dirty="0"/>
          </a:p>
          <a:p>
            <a:pPr marL="285750" indent="-285750" algn="just">
              <a:buFont typeface="Arial" panose="020B0604020202020204" pitchFamily="34" charset="0"/>
              <a:buChar char="•"/>
            </a:pPr>
            <a:r>
              <a:rPr lang="zh-CN" altLang="en-US" dirty="0"/>
              <a:t>于是数据的一致性容易受损，一般采用最终一致性（允许数据副本出现不一致情况，最终是一致的，或者客户端看到一致的正确的数据）</a:t>
            </a:r>
          </a:p>
        </p:txBody>
      </p:sp>
      <p:sp>
        <p:nvSpPr>
          <p:cNvPr id="6" name="椭圆 5">
            <a:extLst>
              <a:ext uri="{FF2B5EF4-FFF2-40B4-BE49-F238E27FC236}">
                <a16:creationId xmlns:a16="http://schemas.microsoft.com/office/drawing/2014/main" id="{817ACAE7-909A-4672-AC94-EB94473AA37A}"/>
              </a:ext>
            </a:extLst>
          </p:cNvPr>
          <p:cNvSpPr/>
          <p:nvPr/>
        </p:nvSpPr>
        <p:spPr>
          <a:xfrm>
            <a:off x="1188792" y="3912136"/>
            <a:ext cx="1918497" cy="598811"/>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5506821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大数据</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pPr algn="just"/>
            <a:r>
              <a:rPr lang="en-US" altLang="zh-CN" sz="1800" dirty="0"/>
              <a:t>NoSQL</a:t>
            </a:r>
            <a:r>
              <a:rPr lang="zh-CN" altLang="en-US" sz="1800" dirty="0"/>
              <a:t>之</a:t>
            </a:r>
            <a:r>
              <a:rPr lang="en-US" altLang="zh-CN" sz="1800" dirty="0">
                <a:solidFill>
                  <a:srgbClr val="C00000"/>
                </a:solidFill>
              </a:rPr>
              <a:t>Key value</a:t>
            </a:r>
            <a:r>
              <a:rPr lang="zh-CN" altLang="en-US" sz="1800" dirty="0">
                <a:solidFill>
                  <a:srgbClr val="C00000"/>
                </a:solidFill>
              </a:rPr>
              <a:t>数据库</a:t>
            </a:r>
            <a:endParaRPr lang="en-US" altLang="zh-CN" sz="1800" dirty="0">
              <a:solidFill>
                <a:srgbClr val="C00000"/>
              </a:solidFill>
            </a:endParaRPr>
          </a:p>
          <a:p>
            <a:pPr lvl="1" algn="just"/>
            <a:r>
              <a:rPr lang="zh-CN" altLang="en-US" dirty="0"/>
              <a:t>典型代表</a:t>
            </a:r>
            <a:endParaRPr lang="en-US" altLang="zh-CN" dirty="0"/>
          </a:p>
          <a:p>
            <a:pPr lvl="1" algn="just"/>
            <a:r>
              <a:rPr lang="en-US" altLang="zh-CN" dirty="0">
                <a:solidFill>
                  <a:srgbClr val="C00000"/>
                </a:solidFill>
              </a:rPr>
              <a:t>Dynamo</a:t>
            </a:r>
            <a:r>
              <a:rPr lang="zh-CN" altLang="en-US" dirty="0"/>
              <a:t>是</a:t>
            </a:r>
            <a:r>
              <a:rPr lang="en-US" altLang="zh-CN" dirty="0"/>
              <a:t>2006</a:t>
            </a:r>
            <a:r>
              <a:rPr lang="zh-CN" altLang="en-US" dirty="0"/>
              <a:t>年</a:t>
            </a:r>
            <a:r>
              <a:rPr lang="en-US" altLang="zh-CN" dirty="0"/>
              <a:t>Amazon</a:t>
            </a:r>
            <a:r>
              <a:rPr lang="zh-CN" altLang="en-US" dirty="0"/>
              <a:t>为了支撑内部应用而设计的键值数据库</a:t>
            </a:r>
            <a:endParaRPr lang="en-US" altLang="zh-CN" dirty="0"/>
          </a:p>
          <a:p>
            <a:pPr lvl="1" algn="just"/>
            <a:r>
              <a:rPr lang="zh-CN" altLang="en-US" dirty="0"/>
              <a:t>主要为了满足以下需求而构建</a:t>
            </a:r>
            <a:endParaRPr lang="en-US" altLang="zh-CN" dirty="0"/>
          </a:p>
          <a:p>
            <a:pPr lvl="2" algn="just"/>
            <a:r>
              <a:rPr lang="zh-CN" altLang="en-US" dirty="0"/>
              <a:t>在购物车、客户偏好、商品目录等应用场景下往往只需要以主键（</a:t>
            </a:r>
            <a:r>
              <a:rPr lang="en-US" altLang="zh-CN" dirty="0"/>
              <a:t>Primary Key</a:t>
            </a:r>
            <a:r>
              <a:rPr lang="zh-CN" altLang="en-US" dirty="0"/>
              <a:t>）去检索一个对应的值（</a:t>
            </a:r>
            <a:r>
              <a:rPr lang="en-US" altLang="zh-CN" dirty="0"/>
              <a:t>Value</a:t>
            </a:r>
            <a:r>
              <a:rPr lang="zh-CN" altLang="en-US" dirty="0"/>
              <a:t>），关系型数据库在这些场景下效率会非常低下</a:t>
            </a:r>
            <a:endParaRPr lang="en-US" altLang="zh-CN" dirty="0"/>
          </a:p>
          <a:p>
            <a:pPr lvl="2" algn="just"/>
            <a:r>
              <a:rPr lang="zh-CN" altLang="en-US" dirty="0"/>
              <a:t>而面对日益增长的用户数量，系统应该具有良好的扩展性，通过增加设备的数量提供更强大的服务能力</a:t>
            </a:r>
            <a:endParaRPr lang="en-US" altLang="zh-CN" dirty="0"/>
          </a:p>
          <a:p>
            <a:pPr lvl="2" algn="just"/>
            <a:r>
              <a:rPr lang="zh-CN" altLang="en-US" dirty="0"/>
              <a:t>保证一部分设备下线或数据中心断电后仍能向客户提供稳定服务，需要系统保证数据的可用性</a:t>
            </a:r>
            <a:endParaRPr kumimoji="1" lang="en-US" altLang="zh-CN" dirty="0"/>
          </a:p>
        </p:txBody>
      </p:sp>
    </p:spTree>
    <p:extLst>
      <p:ext uri="{BB962C8B-B14F-4D97-AF65-F5344CB8AC3E}">
        <p14:creationId xmlns:p14="http://schemas.microsoft.com/office/powerpoint/2010/main" val="29241904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大数据</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r>
              <a:rPr lang="en-US" altLang="zh-CN" sz="1800" dirty="0"/>
              <a:t>NoSQL</a:t>
            </a:r>
            <a:r>
              <a:rPr lang="zh-CN" altLang="en-US" sz="1800" dirty="0"/>
              <a:t>之</a:t>
            </a:r>
            <a:r>
              <a:rPr lang="en-US" altLang="zh-CN" sz="1800" dirty="0">
                <a:solidFill>
                  <a:srgbClr val="C00000"/>
                </a:solidFill>
              </a:rPr>
              <a:t>Key value</a:t>
            </a:r>
            <a:r>
              <a:rPr lang="zh-CN" altLang="en-US" sz="1800" dirty="0">
                <a:solidFill>
                  <a:srgbClr val="C00000"/>
                </a:solidFill>
              </a:rPr>
              <a:t>数据库</a:t>
            </a:r>
            <a:endParaRPr lang="en-US" altLang="zh-CN" sz="1800" dirty="0">
              <a:solidFill>
                <a:srgbClr val="C00000"/>
              </a:solidFill>
            </a:endParaRPr>
          </a:p>
          <a:p>
            <a:pPr lvl="1"/>
            <a:r>
              <a:rPr lang="zh-CN" altLang="en-US" dirty="0"/>
              <a:t>典型代表分析</a:t>
            </a:r>
            <a:endParaRPr lang="en-US" altLang="zh-CN" dirty="0"/>
          </a:p>
          <a:p>
            <a:pPr lvl="1"/>
            <a:r>
              <a:rPr lang="en-US" altLang="zh-CN" dirty="0">
                <a:solidFill>
                  <a:srgbClr val="C00000"/>
                </a:solidFill>
              </a:rPr>
              <a:t>Dynamo</a:t>
            </a:r>
            <a:r>
              <a:rPr lang="zh-CN" altLang="en-US" dirty="0"/>
              <a:t>是</a:t>
            </a:r>
            <a:r>
              <a:rPr lang="en-US" altLang="zh-CN" dirty="0"/>
              <a:t>2006</a:t>
            </a:r>
            <a:r>
              <a:rPr lang="zh-CN" altLang="en-US" dirty="0"/>
              <a:t>年</a:t>
            </a:r>
            <a:r>
              <a:rPr lang="en-US" altLang="zh-CN" dirty="0"/>
              <a:t>Amazon</a:t>
            </a:r>
            <a:r>
              <a:rPr lang="zh-CN" altLang="en-US" dirty="0"/>
              <a:t>为了支撑内部应用而设计的键值数据库</a:t>
            </a:r>
            <a:endParaRPr lang="en-US" altLang="zh-CN" dirty="0"/>
          </a:p>
          <a:p>
            <a:pPr lvl="1"/>
            <a:endParaRPr lang="en-US" altLang="zh-CN" dirty="0"/>
          </a:p>
          <a:p>
            <a:pPr lvl="1"/>
            <a:r>
              <a:rPr lang="zh-CN" altLang="en-US" dirty="0"/>
              <a:t>主要技术特色</a:t>
            </a:r>
            <a:endParaRPr lang="en-US" altLang="zh-CN" dirty="0"/>
          </a:p>
          <a:p>
            <a:pPr lvl="1"/>
            <a:r>
              <a:rPr lang="zh-CN" altLang="en-US" dirty="0">
                <a:solidFill>
                  <a:srgbClr val="C00000"/>
                </a:solidFill>
              </a:rPr>
              <a:t>一致性</a:t>
            </a:r>
            <a:r>
              <a:rPr lang="en-US" altLang="zh-CN" dirty="0">
                <a:solidFill>
                  <a:srgbClr val="C00000"/>
                </a:solidFill>
              </a:rPr>
              <a:t>Hash</a:t>
            </a:r>
          </a:p>
          <a:p>
            <a:pPr lvl="2"/>
            <a:r>
              <a:rPr lang="en-US" altLang="zh-CN" dirty="0"/>
              <a:t>Dynamo</a:t>
            </a:r>
            <a:r>
              <a:rPr lang="zh-CN" altLang="en-US" dirty="0"/>
              <a:t>在数据分区的基础上</a:t>
            </a:r>
          </a:p>
          <a:p>
            <a:pPr lvl="2"/>
            <a:r>
              <a:rPr lang="zh-CN" altLang="en-US" dirty="0"/>
              <a:t>利用</a:t>
            </a:r>
            <a:r>
              <a:rPr lang="en-US" altLang="zh-CN" dirty="0"/>
              <a:t>Hash</a:t>
            </a:r>
            <a:r>
              <a:rPr lang="zh-CN" altLang="en-US" dirty="0"/>
              <a:t>函数映射到节点</a:t>
            </a:r>
            <a:endParaRPr lang="en-US" altLang="zh-CN" dirty="0"/>
          </a:p>
          <a:p>
            <a:pPr lvl="3"/>
            <a:r>
              <a:rPr lang="zh-CN" altLang="en-US" dirty="0"/>
              <a:t>（节点组织成虚拟环状）</a:t>
            </a:r>
          </a:p>
          <a:p>
            <a:pPr lvl="2"/>
            <a:r>
              <a:rPr lang="zh-CN" altLang="en-US" dirty="0"/>
              <a:t>将同一份数据拷贝到</a:t>
            </a:r>
            <a:r>
              <a:rPr lang="en-US" altLang="zh-CN" dirty="0"/>
              <a:t>N</a:t>
            </a:r>
            <a:r>
              <a:rPr lang="zh-CN" altLang="en-US" dirty="0"/>
              <a:t>个节点上</a:t>
            </a:r>
          </a:p>
          <a:p>
            <a:pPr lvl="2"/>
            <a:r>
              <a:rPr lang="zh-CN" altLang="en-US" dirty="0"/>
              <a:t>方便增加删除节点</a:t>
            </a:r>
            <a:endParaRPr lang="en-US" altLang="zh-CN" dirty="0"/>
          </a:p>
          <a:p>
            <a:pPr lvl="1"/>
            <a:endParaRPr lang="en-US" altLang="zh-CN" dirty="0"/>
          </a:p>
          <a:p>
            <a:endParaRPr kumimoji="1" lang="en-US" altLang="zh-CN" dirty="0"/>
          </a:p>
        </p:txBody>
      </p:sp>
      <p:pic>
        <p:nvPicPr>
          <p:cNvPr id="4" name="图片 3"/>
          <p:cNvPicPr>
            <a:picLocks noChangeAspect="1"/>
          </p:cNvPicPr>
          <p:nvPr/>
        </p:nvPicPr>
        <p:blipFill>
          <a:blip r:embed="rId2"/>
          <a:stretch>
            <a:fillRect/>
          </a:stretch>
        </p:blipFill>
        <p:spPr>
          <a:xfrm>
            <a:off x="4962833" y="1959084"/>
            <a:ext cx="3320845" cy="2568466"/>
          </a:xfrm>
          <a:prstGeom prst="rect">
            <a:avLst/>
          </a:prstGeom>
        </p:spPr>
      </p:pic>
    </p:spTree>
    <p:extLst>
      <p:ext uri="{BB962C8B-B14F-4D97-AF65-F5344CB8AC3E}">
        <p14:creationId xmlns:p14="http://schemas.microsoft.com/office/powerpoint/2010/main" val="396563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大数据</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r>
              <a:rPr lang="en-US" altLang="zh-CN" sz="1800" dirty="0"/>
              <a:t>NoSQL</a:t>
            </a:r>
            <a:r>
              <a:rPr lang="zh-CN" altLang="en-US" sz="1800" dirty="0"/>
              <a:t>之</a:t>
            </a:r>
            <a:r>
              <a:rPr lang="en-US" altLang="zh-CN" sz="1800" dirty="0">
                <a:solidFill>
                  <a:srgbClr val="C00000"/>
                </a:solidFill>
              </a:rPr>
              <a:t>Key value</a:t>
            </a:r>
            <a:r>
              <a:rPr lang="zh-CN" altLang="en-US" sz="1800" dirty="0">
                <a:solidFill>
                  <a:srgbClr val="C00000"/>
                </a:solidFill>
              </a:rPr>
              <a:t>数据库</a:t>
            </a:r>
            <a:endParaRPr lang="en-US" altLang="zh-CN" sz="1800" dirty="0">
              <a:solidFill>
                <a:srgbClr val="C00000"/>
              </a:solidFill>
            </a:endParaRPr>
          </a:p>
          <a:p>
            <a:pPr lvl="1"/>
            <a:r>
              <a:rPr lang="zh-CN" altLang="en-US" dirty="0"/>
              <a:t>典型代表分析</a:t>
            </a:r>
            <a:endParaRPr lang="en-US" altLang="zh-CN" dirty="0"/>
          </a:p>
          <a:p>
            <a:pPr lvl="1"/>
            <a:r>
              <a:rPr lang="en-US" altLang="zh-CN" dirty="0">
                <a:solidFill>
                  <a:srgbClr val="C00000"/>
                </a:solidFill>
              </a:rPr>
              <a:t>Dynamo</a:t>
            </a:r>
            <a:r>
              <a:rPr lang="zh-CN" altLang="en-US" dirty="0"/>
              <a:t>是</a:t>
            </a:r>
            <a:r>
              <a:rPr lang="en-US" altLang="zh-CN" dirty="0"/>
              <a:t>2006</a:t>
            </a:r>
            <a:r>
              <a:rPr lang="zh-CN" altLang="en-US" dirty="0"/>
              <a:t>年</a:t>
            </a:r>
            <a:r>
              <a:rPr lang="en-US" altLang="zh-CN" dirty="0"/>
              <a:t>Amazon</a:t>
            </a:r>
            <a:r>
              <a:rPr lang="zh-CN" altLang="en-US" dirty="0"/>
              <a:t>为了支撑内部应用而设计的键值数据库</a:t>
            </a:r>
            <a:endParaRPr lang="en-US" altLang="zh-CN" dirty="0"/>
          </a:p>
          <a:p>
            <a:pPr lvl="1"/>
            <a:endParaRPr lang="en-US" altLang="zh-CN" dirty="0"/>
          </a:p>
          <a:p>
            <a:pPr lvl="1"/>
            <a:r>
              <a:rPr lang="zh-CN" altLang="en-US" dirty="0"/>
              <a:t>主要技术特色</a:t>
            </a:r>
            <a:endParaRPr lang="en-US" altLang="zh-CN" dirty="0"/>
          </a:p>
          <a:p>
            <a:pPr lvl="1"/>
            <a:r>
              <a:rPr lang="zh-CN" altLang="en-US" dirty="0">
                <a:solidFill>
                  <a:srgbClr val="C00000"/>
                </a:solidFill>
              </a:rPr>
              <a:t>向量时钟技术</a:t>
            </a:r>
            <a:endParaRPr lang="en-US" altLang="zh-CN" dirty="0">
              <a:solidFill>
                <a:srgbClr val="C00000"/>
              </a:solidFill>
            </a:endParaRPr>
          </a:p>
        </p:txBody>
      </p:sp>
      <p:sp>
        <p:nvSpPr>
          <p:cNvPr id="6" name="矩形 5"/>
          <p:cNvSpPr/>
          <p:nvPr/>
        </p:nvSpPr>
        <p:spPr>
          <a:xfrm>
            <a:off x="287593" y="2961336"/>
            <a:ext cx="4572000" cy="1323439"/>
          </a:xfrm>
          <a:prstGeom prst="rect">
            <a:avLst/>
          </a:prstGeom>
          <a:solidFill>
            <a:schemeClr val="accent3">
              <a:lumMod val="20000"/>
              <a:lumOff val="80000"/>
            </a:schemeClr>
          </a:solidFill>
          <a:ln>
            <a:solidFill>
              <a:schemeClr val="accent1"/>
            </a:solidFill>
          </a:ln>
        </p:spPr>
        <p:txBody>
          <a:bodyPr>
            <a:spAutoFit/>
          </a:bodyPr>
          <a:lstStyle/>
          <a:p>
            <a:pPr marL="285750" indent="-285750">
              <a:buFont typeface="Arial" panose="020B0604020202020204" pitchFamily="34" charset="0"/>
              <a:buChar char="•"/>
            </a:pPr>
            <a:r>
              <a:rPr lang="zh-CN" altLang="en-US" sz="1600" dirty="0"/>
              <a:t>客户端进行写入时需要先进行读取，从数据的context可以知道该数据目前有多少个版本</a:t>
            </a:r>
            <a:endParaRPr lang="en-US" altLang="zh-CN" sz="1600" dirty="0"/>
          </a:p>
          <a:p>
            <a:pPr marL="285750" indent="-285750">
              <a:buFont typeface="Arial" panose="020B0604020202020204" pitchFamily="34" charset="0"/>
              <a:buChar char="•"/>
            </a:pPr>
            <a:r>
              <a:rPr lang="zh-CN" altLang="en-US" sz="1600" dirty="0"/>
              <a:t>如图存在D3和D4两个冲突版本</a:t>
            </a:r>
            <a:endParaRPr lang="en-US" altLang="zh-CN" sz="1600" dirty="0"/>
          </a:p>
          <a:p>
            <a:pPr marL="285750" indent="-285750">
              <a:buFont typeface="Arial" panose="020B0604020202020204" pitchFamily="34" charset="0"/>
              <a:buChar char="•"/>
            </a:pPr>
            <a:r>
              <a:rPr lang="zh-CN" altLang="en-US" sz="1600" dirty="0"/>
              <a:t>某个客户端读取时会读取所有版本并在本地进行合并后，由Sx作为协调节点进行写回</a:t>
            </a:r>
          </a:p>
        </p:txBody>
      </p:sp>
      <p:pic>
        <p:nvPicPr>
          <p:cNvPr id="7" name="图片 6"/>
          <p:cNvPicPr>
            <a:picLocks noChangeAspect="1"/>
          </p:cNvPicPr>
          <p:nvPr/>
        </p:nvPicPr>
        <p:blipFill>
          <a:blip r:embed="rId2"/>
          <a:stretch>
            <a:fillRect/>
          </a:stretch>
        </p:blipFill>
        <p:spPr>
          <a:xfrm>
            <a:off x="4992927" y="1093481"/>
            <a:ext cx="3413056" cy="3614737"/>
          </a:xfrm>
          <a:prstGeom prst="rect">
            <a:avLst/>
          </a:prstGeom>
        </p:spPr>
      </p:pic>
    </p:spTree>
    <p:extLst>
      <p:ext uri="{BB962C8B-B14F-4D97-AF65-F5344CB8AC3E}">
        <p14:creationId xmlns:p14="http://schemas.microsoft.com/office/powerpoint/2010/main" val="42386487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大数据</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r>
              <a:rPr lang="en-US" altLang="zh-CN" sz="1800" dirty="0"/>
              <a:t>NoSQL</a:t>
            </a:r>
            <a:r>
              <a:rPr lang="zh-CN" altLang="en-US" sz="1800" dirty="0"/>
              <a:t>之</a:t>
            </a:r>
            <a:r>
              <a:rPr lang="en-US" altLang="zh-CN" sz="1800" dirty="0">
                <a:solidFill>
                  <a:srgbClr val="C00000"/>
                </a:solidFill>
              </a:rPr>
              <a:t>Column Family</a:t>
            </a:r>
            <a:r>
              <a:rPr lang="zh-CN" altLang="en-US" sz="1800" dirty="0">
                <a:solidFill>
                  <a:srgbClr val="C00000"/>
                </a:solidFill>
              </a:rPr>
              <a:t>数据库</a:t>
            </a:r>
            <a:endParaRPr lang="en-US" altLang="zh-CN" sz="1800" dirty="0">
              <a:solidFill>
                <a:srgbClr val="C00000"/>
              </a:solidFill>
            </a:endParaRPr>
          </a:p>
          <a:p>
            <a:pPr lvl="1"/>
            <a:r>
              <a:rPr lang="zh-CN" altLang="en-US" dirty="0"/>
              <a:t>典型代表分析</a:t>
            </a:r>
            <a:endParaRPr lang="en-US" altLang="zh-CN" dirty="0"/>
          </a:p>
          <a:p>
            <a:pPr lvl="1"/>
            <a:r>
              <a:rPr lang="en-US" altLang="zh-CN" dirty="0">
                <a:solidFill>
                  <a:srgbClr val="C00000"/>
                </a:solidFill>
              </a:rPr>
              <a:t>Big Table</a:t>
            </a:r>
          </a:p>
          <a:p>
            <a:pPr lvl="1"/>
            <a:r>
              <a:rPr lang="en-US" altLang="zh-CN" dirty="0"/>
              <a:t>Big table</a:t>
            </a:r>
            <a:r>
              <a:rPr lang="zh-CN" altLang="en-US" dirty="0"/>
              <a:t>最初是谷歌设计用来存储大规模结构化数据的分布式系统，其可以在数以千计的商用服务器上存储高达</a:t>
            </a:r>
            <a:r>
              <a:rPr lang="en-US" altLang="zh-CN" dirty="0"/>
              <a:t>PB</a:t>
            </a:r>
            <a:r>
              <a:rPr lang="zh-CN" altLang="en-US" dirty="0"/>
              <a:t>级别的数据量</a:t>
            </a:r>
            <a:endParaRPr lang="en-US" altLang="zh-CN" dirty="0"/>
          </a:p>
          <a:p>
            <a:pPr lvl="2"/>
            <a:r>
              <a:rPr lang="en-US" altLang="zh-CN" dirty="0"/>
              <a:t>Big table</a:t>
            </a:r>
            <a:r>
              <a:rPr lang="zh-CN" altLang="en-US" dirty="0"/>
              <a:t>的设计目标是：适应性广泛，可扩展，高性能和高可用</a:t>
            </a:r>
            <a:endParaRPr lang="en-US" altLang="zh-CN" dirty="0"/>
          </a:p>
          <a:p>
            <a:pPr lvl="2"/>
            <a:r>
              <a:rPr lang="zh-CN" altLang="en-US" dirty="0"/>
              <a:t>其优势在于提供了高效的随机读写</a:t>
            </a:r>
            <a:endParaRPr lang="en-US" altLang="zh-CN" dirty="0"/>
          </a:p>
          <a:p>
            <a:pPr lvl="2"/>
            <a:r>
              <a:rPr lang="zh-CN" altLang="en-US" dirty="0"/>
              <a:t>缺陷在于不（原生）支持类</a:t>
            </a:r>
            <a:r>
              <a:rPr lang="en-US" altLang="zh-CN" dirty="0"/>
              <a:t>SQL</a:t>
            </a:r>
            <a:r>
              <a:rPr lang="zh-CN" altLang="en-US" dirty="0"/>
              <a:t>的数据分析</a:t>
            </a:r>
            <a:endParaRPr kumimoji="1" lang="en-US" altLang="zh-CN" dirty="0"/>
          </a:p>
          <a:p>
            <a:pPr lvl="1"/>
            <a:r>
              <a:rPr lang="zh-CN" altLang="en-US" dirty="0"/>
              <a:t>开源社区根据</a:t>
            </a:r>
            <a:r>
              <a:rPr lang="en-US" altLang="zh-CN" dirty="0"/>
              <a:t>Big table</a:t>
            </a:r>
            <a:r>
              <a:rPr lang="zh-CN" altLang="en-US" dirty="0"/>
              <a:t>的设计思路开发了</a:t>
            </a:r>
            <a:r>
              <a:rPr lang="en-US" altLang="zh-CN" dirty="0"/>
              <a:t>HBase</a:t>
            </a:r>
          </a:p>
        </p:txBody>
      </p:sp>
    </p:spTree>
    <p:extLst>
      <p:ext uri="{BB962C8B-B14F-4D97-AF65-F5344CB8AC3E}">
        <p14:creationId xmlns:p14="http://schemas.microsoft.com/office/powerpoint/2010/main" val="11914104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大数据</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r>
              <a:rPr lang="en-US" altLang="zh-CN" sz="1800" dirty="0"/>
              <a:t>NoSQL</a:t>
            </a:r>
            <a:r>
              <a:rPr lang="zh-CN" altLang="en-US" sz="1800" dirty="0"/>
              <a:t>之</a:t>
            </a:r>
            <a:r>
              <a:rPr lang="en-US" altLang="zh-CN" sz="1800" dirty="0">
                <a:solidFill>
                  <a:srgbClr val="C00000"/>
                </a:solidFill>
              </a:rPr>
              <a:t>Column Family</a:t>
            </a:r>
            <a:r>
              <a:rPr lang="zh-CN" altLang="en-US" sz="1800" dirty="0">
                <a:solidFill>
                  <a:srgbClr val="C00000"/>
                </a:solidFill>
              </a:rPr>
              <a:t>数据库</a:t>
            </a:r>
            <a:endParaRPr lang="en-US" altLang="zh-CN" sz="1800" dirty="0">
              <a:solidFill>
                <a:srgbClr val="C00000"/>
              </a:solidFill>
            </a:endParaRPr>
          </a:p>
          <a:p>
            <a:pPr lvl="1"/>
            <a:r>
              <a:rPr lang="zh-CN" altLang="en-US" dirty="0"/>
              <a:t>典型代表分析</a:t>
            </a:r>
            <a:endParaRPr lang="en-US" altLang="zh-CN" dirty="0"/>
          </a:p>
          <a:p>
            <a:pPr lvl="1"/>
            <a:r>
              <a:rPr lang="en-US" altLang="zh-CN" dirty="0">
                <a:solidFill>
                  <a:srgbClr val="C00000"/>
                </a:solidFill>
              </a:rPr>
              <a:t>Big Table</a:t>
            </a:r>
          </a:p>
          <a:p>
            <a:pPr lvl="1"/>
            <a:r>
              <a:rPr kumimoji="1" lang="zh-CN" altLang="en-US" dirty="0">
                <a:solidFill>
                  <a:srgbClr val="C00000"/>
                </a:solidFill>
              </a:rPr>
              <a:t>数据模型</a:t>
            </a:r>
            <a:r>
              <a:rPr kumimoji="1" lang="zh-CN" altLang="en-US" dirty="0"/>
              <a:t>：</a:t>
            </a:r>
            <a:r>
              <a:rPr kumimoji="1" lang="en-US" altLang="zh-CN" dirty="0"/>
              <a:t>row</a:t>
            </a:r>
            <a:r>
              <a:rPr kumimoji="1" lang="zh-CN" altLang="en-US" dirty="0"/>
              <a:t>，</a:t>
            </a:r>
            <a:r>
              <a:rPr kumimoji="1" lang="en-US" altLang="zh-CN" dirty="0"/>
              <a:t>column family, column, </a:t>
            </a:r>
            <a:r>
              <a:rPr kumimoji="1" lang="en-US" altLang="zh-CN" dirty="0" err="1"/>
              <a:t>timestamp</a:t>
            </a:r>
            <a:r>
              <a:rPr kumimoji="1" lang="en-US" altLang="zh-CN" dirty="0" err="1">
                <a:sym typeface="Wingdings" panose="05000000000000000000" pitchFamily="2" charset="2"/>
              </a:rPr>
              <a:t></a:t>
            </a:r>
            <a:r>
              <a:rPr kumimoji="1" lang="en-US" altLang="zh-CN" dirty="0" err="1"/>
              <a:t>cell</a:t>
            </a:r>
            <a:endParaRPr kumimoji="1" lang="en-US" altLang="zh-CN" dirty="0"/>
          </a:p>
          <a:p>
            <a:pPr lvl="2"/>
            <a:r>
              <a:rPr lang="en-US" altLang="zh-CN" dirty="0"/>
              <a:t>Big table</a:t>
            </a:r>
            <a:r>
              <a:rPr lang="zh-CN" altLang="en-US" dirty="0"/>
              <a:t>的键有三维，分别是行键（</a:t>
            </a:r>
            <a:r>
              <a:rPr lang="en-US" altLang="zh-CN" dirty="0"/>
              <a:t>row key</a:t>
            </a:r>
            <a:r>
              <a:rPr lang="zh-CN" altLang="en-US" dirty="0"/>
              <a:t>）、列键（</a:t>
            </a:r>
            <a:r>
              <a:rPr lang="en-US" altLang="zh-CN" dirty="0"/>
              <a:t>column key</a:t>
            </a:r>
            <a:r>
              <a:rPr lang="zh-CN" altLang="en-US" dirty="0"/>
              <a:t>）和时间戳（</a:t>
            </a:r>
            <a:r>
              <a:rPr lang="en-US" altLang="zh-CN" dirty="0"/>
              <a:t>timestamp</a:t>
            </a:r>
            <a:r>
              <a:rPr lang="zh-CN" altLang="en-US" dirty="0"/>
              <a:t>），行键和列键都是字节串，时间戳是</a:t>
            </a:r>
            <a:r>
              <a:rPr lang="en-US" altLang="zh-CN" dirty="0"/>
              <a:t>64</a:t>
            </a:r>
            <a:r>
              <a:rPr lang="zh-CN" altLang="en-US" dirty="0"/>
              <a:t>位整型；而值是一个字节串</a:t>
            </a:r>
            <a:endParaRPr kumimoji="1" lang="en-US" altLang="zh-CN" dirty="0"/>
          </a:p>
          <a:p>
            <a:pPr lvl="1"/>
            <a:endParaRPr kumimoji="1" lang="en-US" altLang="zh-CN" dirty="0"/>
          </a:p>
        </p:txBody>
      </p:sp>
      <p:pic>
        <p:nvPicPr>
          <p:cNvPr id="4" name="图片 3"/>
          <p:cNvPicPr>
            <a:picLocks noChangeAspect="1"/>
          </p:cNvPicPr>
          <p:nvPr/>
        </p:nvPicPr>
        <p:blipFill>
          <a:blip r:embed="rId2"/>
          <a:stretch>
            <a:fillRect/>
          </a:stretch>
        </p:blipFill>
        <p:spPr>
          <a:xfrm>
            <a:off x="1452562" y="3146425"/>
            <a:ext cx="6238875" cy="1609725"/>
          </a:xfrm>
          <a:prstGeom prst="rect">
            <a:avLst/>
          </a:prstGeom>
        </p:spPr>
      </p:pic>
    </p:spTree>
    <p:extLst>
      <p:ext uri="{BB962C8B-B14F-4D97-AF65-F5344CB8AC3E}">
        <p14:creationId xmlns:p14="http://schemas.microsoft.com/office/powerpoint/2010/main" val="38199584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大数据</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r>
              <a:rPr lang="en-US" altLang="zh-CN" sz="1800" dirty="0"/>
              <a:t>NoSQL</a:t>
            </a:r>
            <a:r>
              <a:rPr lang="zh-CN" altLang="en-US" sz="1800" dirty="0"/>
              <a:t>之</a:t>
            </a:r>
            <a:r>
              <a:rPr lang="en-US" altLang="zh-CN" sz="1800" dirty="0">
                <a:solidFill>
                  <a:srgbClr val="C00000"/>
                </a:solidFill>
              </a:rPr>
              <a:t>Column Family</a:t>
            </a:r>
            <a:r>
              <a:rPr lang="zh-CN" altLang="en-US" sz="1800" dirty="0">
                <a:solidFill>
                  <a:srgbClr val="C00000"/>
                </a:solidFill>
              </a:rPr>
              <a:t>数据库</a:t>
            </a:r>
            <a:endParaRPr lang="en-US" altLang="zh-CN" sz="1800" dirty="0">
              <a:solidFill>
                <a:srgbClr val="C00000"/>
              </a:solidFill>
            </a:endParaRPr>
          </a:p>
          <a:p>
            <a:pPr lvl="1"/>
            <a:r>
              <a:rPr lang="zh-CN" altLang="en-US" dirty="0"/>
              <a:t>典型代表分析</a:t>
            </a:r>
            <a:endParaRPr lang="en-US" altLang="zh-CN" dirty="0"/>
          </a:p>
          <a:p>
            <a:pPr lvl="1"/>
            <a:r>
              <a:rPr lang="en-US" altLang="zh-CN" dirty="0">
                <a:solidFill>
                  <a:srgbClr val="C00000"/>
                </a:solidFill>
              </a:rPr>
              <a:t>Big Table</a:t>
            </a:r>
            <a:r>
              <a:rPr kumimoji="1" lang="zh-CN" altLang="en-US" dirty="0"/>
              <a:t>架构</a:t>
            </a:r>
            <a:endParaRPr kumimoji="1" lang="en-US" altLang="zh-CN" dirty="0"/>
          </a:p>
        </p:txBody>
      </p:sp>
      <p:sp>
        <p:nvSpPr>
          <p:cNvPr id="5" name="矩形 4"/>
          <p:cNvSpPr/>
          <p:nvPr/>
        </p:nvSpPr>
        <p:spPr>
          <a:xfrm>
            <a:off x="162232" y="2113983"/>
            <a:ext cx="4284407" cy="2554545"/>
          </a:xfrm>
          <a:prstGeom prst="rect">
            <a:avLst/>
          </a:prstGeom>
          <a:solidFill>
            <a:schemeClr val="accent3">
              <a:lumMod val="20000"/>
              <a:lumOff val="80000"/>
            </a:schemeClr>
          </a:solidFill>
          <a:ln>
            <a:solidFill>
              <a:schemeClr val="accent1"/>
            </a:solidFill>
          </a:ln>
        </p:spPr>
        <p:txBody>
          <a:bodyPr wrap="square">
            <a:spAutoFit/>
          </a:bodyPr>
          <a:lstStyle/>
          <a:p>
            <a:pPr marL="285750" indent="-285750" algn="just">
              <a:buFont typeface="Arial" panose="020B0604020202020204" pitchFamily="34" charset="0"/>
              <a:buChar char="•"/>
            </a:pPr>
            <a:r>
              <a:rPr lang="zh-CN" altLang="en-US" sz="1600" dirty="0"/>
              <a:t>Bigtable 构建在 GFS 之上，为文件系统增加了一层分布式索引层</a:t>
            </a:r>
            <a:endParaRPr lang="en-US" altLang="zh-CN" sz="1600" dirty="0"/>
          </a:p>
          <a:p>
            <a:pPr marL="285750" indent="-285750" algn="just">
              <a:buFont typeface="Arial" panose="020B0604020202020204" pitchFamily="34" charset="0"/>
              <a:buChar char="•"/>
            </a:pPr>
            <a:r>
              <a:rPr lang="zh-CN" altLang="en-US" sz="1600" dirty="0"/>
              <a:t>Bigtable 依赖 Google 的 </a:t>
            </a:r>
            <a:r>
              <a:rPr lang="zh-CN" altLang="en-US" sz="1600" dirty="0">
                <a:solidFill>
                  <a:srgbClr val="C00000"/>
                </a:solidFill>
              </a:rPr>
              <a:t>Chubby</a:t>
            </a:r>
            <a:r>
              <a:rPr lang="zh-CN" altLang="en-US" sz="1600" dirty="0"/>
              <a:t> (分布式锁服务)进行服务器选举及全局信息维护</a:t>
            </a:r>
          </a:p>
          <a:p>
            <a:pPr marL="285750" indent="-285750" algn="just">
              <a:buFont typeface="Arial" panose="020B0604020202020204" pitchFamily="34" charset="0"/>
              <a:buChar char="•"/>
            </a:pPr>
            <a:r>
              <a:rPr lang="zh-CN" altLang="en-US" sz="1600" dirty="0"/>
              <a:t>如图，Bigtable 将大表划分为大小在 100-200MB 的子表(tablet)，每个子表对应一个连续的数据范围</a:t>
            </a:r>
            <a:endParaRPr lang="en-US" altLang="zh-CN" sz="1600" dirty="0"/>
          </a:p>
          <a:p>
            <a:pPr marL="285750" indent="-285750" algn="just">
              <a:buFont typeface="Arial" panose="020B0604020202020204" pitchFamily="34" charset="0"/>
              <a:buChar char="•"/>
            </a:pPr>
            <a:r>
              <a:rPr lang="zh-CN" altLang="en-US" sz="1600" dirty="0"/>
              <a:t>Bigtable 主要由三个部分组成：客户端程序库(Client)、一个主控服务器(</a:t>
            </a:r>
            <a:r>
              <a:rPr lang="zh-CN" altLang="en-US" sz="1600" dirty="0">
                <a:solidFill>
                  <a:srgbClr val="C00000"/>
                </a:solidFill>
              </a:rPr>
              <a:t>Master</a:t>
            </a:r>
            <a:r>
              <a:rPr lang="zh-CN" altLang="en-US" sz="1600" dirty="0"/>
              <a:t>)和多个子表服务器(</a:t>
            </a:r>
            <a:r>
              <a:rPr lang="zh-CN" altLang="en-US" sz="1600" dirty="0">
                <a:solidFill>
                  <a:srgbClr val="C00000"/>
                </a:solidFill>
              </a:rPr>
              <a:t>Tablet Server</a:t>
            </a:r>
            <a:r>
              <a:rPr lang="zh-CN" altLang="en-US" sz="1600" dirty="0"/>
              <a:t>)</a:t>
            </a:r>
          </a:p>
        </p:txBody>
      </p:sp>
      <p:pic>
        <p:nvPicPr>
          <p:cNvPr id="1026" name="Picture 2" descr="https://img-blog.csdnimg.cn/20190512124645648.png?x-oss-process=image/watermark,type_ZmFuZ3poZW5naGVpdGk,shadow_10,text_aHR0cHM6Ly9ibG9nLmNzZG4ubmV0L3FxXzM4Mjg5ODE1,size_16,color_FFFFFF,t_7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49878" y="1127741"/>
            <a:ext cx="4376504" cy="24413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21525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大数据</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r>
              <a:rPr lang="en-US" altLang="zh-CN" sz="1800" dirty="0"/>
              <a:t>NoSQL</a:t>
            </a:r>
            <a:r>
              <a:rPr lang="zh-CN" altLang="en-US" sz="1800" dirty="0"/>
              <a:t>之</a:t>
            </a:r>
            <a:r>
              <a:rPr lang="en-US" altLang="zh-CN" sz="1800" dirty="0">
                <a:solidFill>
                  <a:srgbClr val="C00000"/>
                </a:solidFill>
              </a:rPr>
              <a:t>Document</a:t>
            </a:r>
            <a:r>
              <a:rPr lang="zh-CN" altLang="en-US" sz="1800" dirty="0">
                <a:solidFill>
                  <a:srgbClr val="C00000"/>
                </a:solidFill>
              </a:rPr>
              <a:t>数据库</a:t>
            </a:r>
            <a:endParaRPr lang="en-US" altLang="zh-CN" sz="1800" dirty="0">
              <a:solidFill>
                <a:srgbClr val="C00000"/>
              </a:solidFill>
            </a:endParaRPr>
          </a:p>
          <a:p>
            <a:pPr lvl="1"/>
            <a:r>
              <a:rPr lang="zh-CN" altLang="en-US" dirty="0"/>
              <a:t>典型代表分析</a:t>
            </a:r>
            <a:endParaRPr lang="en-US" altLang="zh-CN" dirty="0"/>
          </a:p>
          <a:p>
            <a:pPr lvl="1"/>
            <a:r>
              <a:rPr lang="en-US" altLang="zh-CN" dirty="0">
                <a:solidFill>
                  <a:srgbClr val="C00000"/>
                </a:solidFill>
              </a:rPr>
              <a:t>MongoDB</a:t>
            </a:r>
            <a:r>
              <a:rPr lang="en-US" altLang="zh-CN" dirty="0"/>
              <a:t> </a:t>
            </a:r>
            <a:r>
              <a:rPr lang="zh-CN" altLang="en-US" dirty="0"/>
              <a:t>是一个 基于分布式文件存储的数据库。它具有开源、高性能、无模式等优点，由 </a:t>
            </a:r>
            <a:r>
              <a:rPr lang="en-US" altLang="zh-CN" dirty="0"/>
              <a:t>C++ </a:t>
            </a:r>
            <a:r>
              <a:rPr lang="zh-CN" altLang="en-US" dirty="0"/>
              <a:t>语言编写</a:t>
            </a:r>
            <a:endParaRPr lang="en-US" altLang="zh-CN" dirty="0"/>
          </a:p>
          <a:p>
            <a:pPr lvl="1"/>
            <a:r>
              <a:rPr lang="en-US" altLang="zh-CN" dirty="0"/>
              <a:t>MongoDB</a:t>
            </a:r>
            <a:r>
              <a:rPr lang="zh-CN" altLang="en-US" dirty="0"/>
              <a:t>支持的数据结构类似于</a:t>
            </a:r>
            <a:r>
              <a:rPr lang="en-US" altLang="zh-CN" dirty="0"/>
              <a:t>JSON</a:t>
            </a:r>
            <a:r>
              <a:rPr lang="zh-CN" altLang="en-US" dirty="0"/>
              <a:t>，叫做 </a:t>
            </a:r>
            <a:r>
              <a:rPr lang="en-US" altLang="zh-CN" dirty="0"/>
              <a:t>BSON</a:t>
            </a:r>
            <a:r>
              <a:rPr lang="zh-CN" altLang="en-US" dirty="0"/>
              <a:t>，所以它既可以存储比较复杂的数据类型，又相当的灵活</a:t>
            </a:r>
            <a:endParaRPr lang="en-US" altLang="zh-CN" dirty="0"/>
          </a:p>
          <a:p>
            <a:pPr lvl="1"/>
            <a:r>
              <a:rPr lang="en-US" altLang="zh-CN" dirty="0">
                <a:solidFill>
                  <a:srgbClr val="C00000"/>
                </a:solidFill>
              </a:rPr>
              <a:t>MongoDB</a:t>
            </a:r>
            <a:r>
              <a:rPr lang="en-US" altLang="zh-CN" dirty="0"/>
              <a:t> vs. </a:t>
            </a:r>
            <a:r>
              <a:rPr lang="en-US" altLang="zh-CN" dirty="0">
                <a:solidFill>
                  <a:srgbClr val="C00000"/>
                </a:solidFill>
              </a:rPr>
              <a:t>RDBMS</a:t>
            </a:r>
          </a:p>
          <a:p>
            <a:endParaRPr kumimoji="1" lang="en-US" altLang="zh-CN" dirty="0"/>
          </a:p>
        </p:txBody>
      </p:sp>
      <p:pic>
        <p:nvPicPr>
          <p:cNvPr id="2050" name="Picture 2" descr="å¨è¿éæå¥å¾çæè¿°"/>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95020" y="2707563"/>
            <a:ext cx="3933004" cy="22589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17714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大数据</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r>
              <a:rPr lang="en-US" altLang="zh-CN" sz="1800" dirty="0"/>
              <a:t>NoSQL</a:t>
            </a:r>
            <a:r>
              <a:rPr lang="zh-CN" altLang="en-US" sz="1800" dirty="0"/>
              <a:t>之</a:t>
            </a:r>
            <a:r>
              <a:rPr lang="en-US" altLang="zh-CN" sz="1800" dirty="0">
                <a:solidFill>
                  <a:srgbClr val="C00000"/>
                </a:solidFill>
              </a:rPr>
              <a:t>Document</a:t>
            </a:r>
            <a:r>
              <a:rPr lang="zh-CN" altLang="en-US" sz="1800" dirty="0">
                <a:solidFill>
                  <a:srgbClr val="C00000"/>
                </a:solidFill>
              </a:rPr>
              <a:t>数据库</a:t>
            </a:r>
            <a:endParaRPr lang="en-US" altLang="zh-CN" sz="1800" dirty="0">
              <a:solidFill>
                <a:srgbClr val="C00000"/>
              </a:solidFill>
            </a:endParaRPr>
          </a:p>
          <a:p>
            <a:pPr lvl="1"/>
            <a:r>
              <a:rPr lang="zh-CN" altLang="en-US" dirty="0"/>
              <a:t>典型代表分析</a:t>
            </a:r>
            <a:endParaRPr lang="en-US" altLang="zh-CN" dirty="0"/>
          </a:p>
          <a:p>
            <a:pPr lvl="1"/>
            <a:r>
              <a:rPr lang="en-US" altLang="zh-CN" dirty="0">
                <a:solidFill>
                  <a:srgbClr val="C00000"/>
                </a:solidFill>
              </a:rPr>
              <a:t>MongoDB</a:t>
            </a:r>
            <a:r>
              <a:rPr lang="en-US" altLang="zh-CN" dirty="0"/>
              <a:t> </a:t>
            </a:r>
            <a:r>
              <a:rPr lang="zh-CN" altLang="en-US" dirty="0"/>
              <a:t>是一个 基于分布式文件存储的数据库。它具有开源、高性能、无模式等优点，由 </a:t>
            </a:r>
            <a:r>
              <a:rPr lang="en-US" altLang="zh-CN" dirty="0"/>
              <a:t>C++ </a:t>
            </a:r>
            <a:r>
              <a:rPr lang="zh-CN" altLang="en-US" dirty="0"/>
              <a:t>语言编写</a:t>
            </a:r>
            <a:endParaRPr lang="en-US" altLang="zh-CN" dirty="0"/>
          </a:p>
          <a:p>
            <a:pPr lvl="1"/>
            <a:r>
              <a:rPr lang="en-US" altLang="zh-CN" dirty="0">
                <a:solidFill>
                  <a:srgbClr val="C00000"/>
                </a:solidFill>
              </a:rPr>
              <a:t>JSON</a:t>
            </a:r>
            <a:r>
              <a:rPr lang="zh-CN" altLang="en-US" dirty="0"/>
              <a:t>与</a:t>
            </a:r>
            <a:r>
              <a:rPr lang="en-US" altLang="zh-CN" dirty="0">
                <a:solidFill>
                  <a:srgbClr val="C00000"/>
                </a:solidFill>
              </a:rPr>
              <a:t>BSON</a:t>
            </a:r>
          </a:p>
        </p:txBody>
      </p:sp>
      <p:pic>
        <p:nvPicPr>
          <p:cNvPr id="4" name="图片 3"/>
          <p:cNvPicPr>
            <a:picLocks noChangeAspect="1"/>
          </p:cNvPicPr>
          <p:nvPr/>
        </p:nvPicPr>
        <p:blipFill>
          <a:blip r:embed="rId2"/>
          <a:stretch>
            <a:fillRect/>
          </a:stretch>
        </p:blipFill>
        <p:spPr>
          <a:xfrm>
            <a:off x="5398370" y="2369574"/>
            <a:ext cx="2771775" cy="2247900"/>
          </a:xfrm>
          <a:prstGeom prst="rect">
            <a:avLst/>
          </a:prstGeom>
        </p:spPr>
      </p:pic>
      <p:sp>
        <p:nvSpPr>
          <p:cNvPr id="5" name="矩形 4"/>
          <p:cNvSpPr/>
          <p:nvPr/>
        </p:nvSpPr>
        <p:spPr>
          <a:xfrm>
            <a:off x="317090" y="2787650"/>
            <a:ext cx="4837472" cy="1754326"/>
          </a:xfrm>
          <a:prstGeom prst="rect">
            <a:avLst/>
          </a:prstGeom>
          <a:solidFill>
            <a:schemeClr val="accent3">
              <a:lumMod val="20000"/>
              <a:lumOff val="80000"/>
            </a:schemeClr>
          </a:solidFill>
          <a:ln>
            <a:solidFill>
              <a:schemeClr val="accent1"/>
            </a:solidFill>
          </a:ln>
        </p:spPr>
        <p:txBody>
          <a:bodyPr wrap="square">
            <a:spAutoFit/>
          </a:bodyPr>
          <a:lstStyle/>
          <a:p>
            <a:pPr marL="285750" indent="-285750">
              <a:buFont typeface="Arial" panose="020B0604020202020204" pitchFamily="34" charset="0"/>
              <a:buChar char="•"/>
            </a:pPr>
            <a:r>
              <a:rPr lang="zh-CN" altLang="en-US" dirty="0"/>
              <a:t>BSON是一种 类似JSON格式的存储格式，简称Binary-JSON</a:t>
            </a:r>
            <a:endParaRPr lang="en-US" altLang="zh-CN" dirty="0"/>
          </a:p>
          <a:p>
            <a:pPr marL="285750" indent="-285750">
              <a:buFont typeface="Arial" panose="020B0604020202020204" pitchFamily="34" charset="0"/>
              <a:buChar char="•"/>
            </a:pPr>
            <a:r>
              <a:rPr lang="zh-CN" altLang="en-US" dirty="0"/>
              <a:t>BSON和JSON一样，支持内嵌的文档对象和数据对象，但是BSON的数据格式比JSON更加丰富，比如Date类型和BinData类型</a:t>
            </a:r>
          </a:p>
          <a:p>
            <a:endParaRPr lang="zh-CN" altLang="en-US" dirty="0"/>
          </a:p>
        </p:txBody>
      </p:sp>
    </p:spTree>
    <p:extLst>
      <p:ext uri="{BB962C8B-B14F-4D97-AF65-F5344CB8AC3E}">
        <p14:creationId xmlns:p14="http://schemas.microsoft.com/office/powerpoint/2010/main" val="18387918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大数据</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r>
              <a:rPr lang="en-US" altLang="zh-CN" sz="1800" dirty="0"/>
              <a:t>NoSQL</a:t>
            </a:r>
            <a:r>
              <a:rPr lang="zh-CN" altLang="en-US" sz="1800" dirty="0"/>
              <a:t>之</a:t>
            </a:r>
            <a:r>
              <a:rPr lang="en-US" altLang="zh-CN" sz="1800" dirty="0">
                <a:solidFill>
                  <a:srgbClr val="C00000"/>
                </a:solidFill>
              </a:rPr>
              <a:t>Document</a:t>
            </a:r>
            <a:r>
              <a:rPr lang="zh-CN" altLang="en-US" sz="1800" dirty="0">
                <a:solidFill>
                  <a:srgbClr val="C00000"/>
                </a:solidFill>
              </a:rPr>
              <a:t>数据库</a:t>
            </a:r>
            <a:endParaRPr lang="en-US" altLang="zh-CN" sz="1800" dirty="0">
              <a:solidFill>
                <a:srgbClr val="C00000"/>
              </a:solidFill>
            </a:endParaRPr>
          </a:p>
          <a:p>
            <a:pPr lvl="1"/>
            <a:r>
              <a:rPr lang="zh-CN" altLang="en-US" dirty="0"/>
              <a:t>典型代表分析</a:t>
            </a:r>
            <a:endParaRPr lang="en-US" altLang="zh-CN" dirty="0"/>
          </a:p>
          <a:p>
            <a:pPr lvl="1"/>
            <a:r>
              <a:rPr lang="en-US" altLang="zh-CN" dirty="0">
                <a:solidFill>
                  <a:srgbClr val="C00000"/>
                </a:solidFill>
              </a:rPr>
              <a:t>MongoDB</a:t>
            </a:r>
            <a:r>
              <a:rPr lang="en-US" altLang="zh-CN" dirty="0"/>
              <a:t> </a:t>
            </a:r>
            <a:r>
              <a:rPr lang="zh-CN" altLang="en-US" dirty="0"/>
              <a:t>是一个 基于分布式文件存储的数据库。它具有开源、高性能、无模式等优点，由 </a:t>
            </a:r>
            <a:r>
              <a:rPr lang="en-US" altLang="zh-CN" dirty="0"/>
              <a:t>C++ </a:t>
            </a:r>
            <a:r>
              <a:rPr lang="zh-CN" altLang="en-US" dirty="0"/>
              <a:t>语言编写</a:t>
            </a:r>
            <a:endParaRPr lang="en-US" altLang="zh-CN" dirty="0"/>
          </a:p>
        </p:txBody>
      </p:sp>
      <p:sp>
        <p:nvSpPr>
          <p:cNvPr id="6" name="矩形 5"/>
          <p:cNvSpPr/>
          <p:nvPr/>
        </p:nvSpPr>
        <p:spPr>
          <a:xfrm>
            <a:off x="671051" y="2367250"/>
            <a:ext cx="3989439" cy="2308324"/>
          </a:xfrm>
          <a:prstGeom prst="rect">
            <a:avLst/>
          </a:prstGeom>
          <a:solidFill>
            <a:schemeClr val="accent3">
              <a:lumMod val="20000"/>
              <a:lumOff val="80000"/>
            </a:schemeClr>
          </a:solidFill>
          <a:ln>
            <a:solidFill>
              <a:schemeClr val="accent1"/>
            </a:solidFill>
          </a:ln>
        </p:spPr>
        <p:txBody>
          <a:bodyPr wrap="square">
            <a:spAutoFit/>
          </a:bodyPr>
          <a:lstStyle/>
          <a:p>
            <a:pPr marL="285750" indent="-285750" algn="just">
              <a:buFont typeface="Arial" panose="020B0604020202020204" pitchFamily="34" charset="0"/>
              <a:buChar char="•"/>
            </a:pPr>
            <a:r>
              <a:rPr lang="zh-CN" altLang="en-US" sz="1600" dirty="0">
                <a:solidFill>
                  <a:srgbClr val="C00000"/>
                </a:solidFill>
              </a:rPr>
              <a:t>一个MongoDB实例</a:t>
            </a:r>
            <a:r>
              <a:rPr lang="zh-CN" altLang="en-US" sz="1600" dirty="0"/>
              <a:t>中可以存放多个数据库（图中的MongoDB数据库1、MongoDB数据库2、MongoDB数据库3）</a:t>
            </a:r>
            <a:endParaRPr lang="en-US" altLang="zh-CN" sz="1600" dirty="0"/>
          </a:p>
          <a:p>
            <a:pPr marL="285750" indent="-285750" algn="just">
              <a:buFont typeface="Arial" panose="020B0604020202020204" pitchFamily="34" charset="0"/>
              <a:buChar char="•"/>
            </a:pPr>
            <a:r>
              <a:rPr lang="zh-CN" altLang="en-US" sz="1600" dirty="0"/>
              <a:t>数据库中存放的是一个个Collection（集合，对应关系型数据库的table）</a:t>
            </a:r>
            <a:endParaRPr lang="en-US" altLang="zh-CN" sz="1600" dirty="0"/>
          </a:p>
          <a:p>
            <a:pPr marL="285750" indent="-285750" algn="just">
              <a:buFont typeface="Arial" panose="020B0604020202020204" pitchFamily="34" charset="0"/>
              <a:buChar char="•"/>
            </a:pPr>
            <a:r>
              <a:rPr lang="zh-CN" altLang="en-US" sz="1600" dirty="0"/>
              <a:t>集合中又存放Document（文档，对应关系型的记录）</a:t>
            </a:r>
            <a:endParaRPr lang="en-US" altLang="zh-CN" sz="1600" dirty="0"/>
          </a:p>
          <a:p>
            <a:pPr marL="285750" indent="-285750" algn="just">
              <a:buFont typeface="Arial" panose="020B0604020202020204" pitchFamily="34" charset="0"/>
              <a:buChar char="•"/>
            </a:pPr>
            <a:r>
              <a:rPr lang="zh-CN" altLang="en-US" sz="1600" dirty="0"/>
              <a:t>Document中存放Field（字段，对应关系型数据库列）</a:t>
            </a:r>
          </a:p>
        </p:txBody>
      </p:sp>
      <p:pic>
        <p:nvPicPr>
          <p:cNvPr id="3074" name="Picture 2" descr="https://pics7.baidu.com/feed/838ba61ea8d3fd1f2b27a47dba16a91795ca5f2f.jpeg@f_auto?token=23878c8fd5496cd662ed59beada8c92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7369" y="2433618"/>
            <a:ext cx="4053282" cy="2064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82792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大数据</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r>
              <a:rPr lang="en-US" altLang="zh-CN" sz="1800" dirty="0"/>
              <a:t>NoSQL</a:t>
            </a:r>
            <a:r>
              <a:rPr lang="zh-CN" altLang="en-US" sz="1800" dirty="0"/>
              <a:t>之</a:t>
            </a:r>
            <a:r>
              <a:rPr lang="en-US" altLang="zh-CN" sz="1800" dirty="0">
                <a:solidFill>
                  <a:srgbClr val="C00000"/>
                </a:solidFill>
              </a:rPr>
              <a:t>Document</a:t>
            </a:r>
            <a:r>
              <a:rPr lang="zh-CN" altLang="en-US" sz="1800" dirty="0">
                <a:solidFill>
                  <a:srgbClr val="C00000"/>
                </a:solidFill>
              </a:rPr>
              <a:t>数据库</a:t>
            </a:r>
            <a:endParaRPr lang="en-US" altLang="zh-CN" sz="1800" dirty="0">
              <a:solidFill>
                <a:srgbClr val="C00000"/>
              </a:solidFill>
            </a:endParaRPr>
          </a:p>
          <a:p>
            <a:pPr lvl="1"/>
            <a:r>
              <a:rPr lang="zh-CN" altLang="en-US" dirty="0"/>
              <a:t>典型代表分析</a:t>
            </a:r>
            <a:endParaRPr lang="en-US" altLang="zh-CN" dirty="0"/>
          </a:p>
          <a:p>
            <a:pPr lvl="1"/>
            <a:r>
              <a:rPr lang="en-US" altLang="zh-CN" dirty="0">
                <a:solidFill>
                  <a:srgbClr val="C00000"/>
                </a:solidFill>
              </a:rPr>
              <a:t>MongoDB</a:t>
            </a:r>
            <a:r>
              <a:rPr lang="en-US" altLang="zh-CN" dirty="0"/>
              <a:t> </a:t>
            </a:r>
            <a:r>
              <a:rPr lang="zh-CN" altLang="en-US" dirty="0"/>
              <a:t>是一个 基于分布式文件存储的数据库，它具有开源、高性能、无模式等优点，由 </a:t>
            </a:r>
            <a:r>
              <a:rPr lang="en-US" altLang="zh-CN" dirty="0"/>
              <a:t>C++ </a:t>
            </a:r>
            <a:r>
              <a:rPr lang="zh-CN" altLang="en-US" dirty="0"/>
              <a:t>语言编写</a:t>
            </a:r>
            <a:endParaRPr lang="en-US" altLang="zh-CN" dirty="0"/>
          </a:p>
        </p:txBody>
      </p:sp>
      <p:sp>
        <p:nvSpPr>
          <p:cNvPr id="6" name="矩形 5"/>
          <p:cNvSpPr/>
          <p:nvPr/>
        </p:nvSpPr>
        <p:spPr>
          <a:xfrm>
            <a:off x="1010265" y="2190269"/>
            <a:ext cx="3989439" cy="2800767"/>
          </a:xfrm>
          <a:prstGeom prst="rect">
            <a:avLst/>
          </a:prstGeom>
          <a:solidFill>
            <a:schemeClr val="accent3">
              <a:lumMod val="20000"/>
              <a:lumOff val="80000"/>
            </a:schemeClr>
          </a:solidFill>
          <a:ln>
            <a:solidFill>
              <a:schemeClr val="accent1"/>
            </a:solidFill>
          </a:ln>
        </p:spPr>
        <p:txBody>
          <a:bodyPr wrap="square">
            <a:spAutoFit/>
          </a:bodyPr>
          <a:lstStyle/>
          <a:p>
            <a:pPr marL="285750" indent="-285750" algn="just">
              <a:buFont typeface="Arial" panose="020B0604020202020204" pitchFamily="34" charset="0"/>
              <a:buChar char="•"/>
            </a:pPr>
            <a:r>
              <a:rPr lang="zh-CN" altLang="en-US" sz="1600" dirty="0">
                <a:solidFill>
                  <a:srgbClr val="C00000"/>
                </a:solidFill>
              </a:rPr>
              <a:t>复制集（</a:t>
            </a:r>
            <a:r>
              <a:rPr lang="en-US" altLang="zh-CN" sz="1600" dirty="0">
                <a:solidFill>
                  <a:srgbClr val="C00000"/>
                </a:solidFill>
              </a:rPr>
              <a:t>Replica Set</a:t>
            </a:r>
            <a:r>
              <a:rPr lang="zh-CN" altLang="en-US" sz="1600" dirty="0">
                <a:solidFill>
                  <a:srgbClr val="C00000"/>
                </a:solidFill>
              </a:rPr>
              <a:t>）</a:t>
            </a:r>
            <a:r>
              <a:rPr lang="zh-CN" altLang="en-US" sz="1600" dirty="0"/>
              <a:t>是</a:t>
            </a:r>
            <a:r>
              <a:rPr lang="en-US" altLang="zh-CN" sz="1600" dirty="0"/>
              <a:t>MongoDB</a:t>
            </a:r>
            <a:r>
              <a:rPr lang="zh-CN" altLang="en-US" sz="1600" dirty="0"/>
              <a:t>的数据复制架构</a:t>
            </a:r>
            <a:endParaRPr lang="en-US" altLang="zh-CN" sz="1600" dirty="0"/>
          </a:p>
          <a:p>
            <a:pPr marL="285750" indent="-285750" algn="just">
              <a:buFont typeface="Arial" panose="020B0604020202020204" pitchFamily="34" charset="0"/>
              <a:buChar char="•"/>
            </a:pPr>
            <a:r>
              <a:rPr lang="zh-CN" altLang="en-US" sz="1600" dirty="0"/>
              <a:t>通常是三个对等的节点构成一个复制集，有</a:t>
            </a:r>
            <a:r>
              <a:rPr lang="en-US" altLang="zh-CN" sz="1600" dirty="0"/>
              <a:t>Primary</a:t>
            </a:r>
            <a:r>
              <a:rPr lang="zh-CN" altLang="en-US" sz="1600" dirty="0"/>
              <a:t>和</a:t>
            </a:r>
            <a:r>
              <a:rPr lang="en-US" altLang="zh-CN" sz="1600" dirty="0"/>
              <a:t>Secondary</a:t>
            </a:r>
            <a:r>
              <a:rPr lang="zh-CN" altLang="en-US" sz="1600" dirty="0"/>
              <a:t>两种角色，其中</a:t>
            </a:r>
            <a:r>
              <a:rPr lang="en-US" altLang="zh-CN" sz="1600" dirty="0"/>
              <a:t>Primary</a:t>
            </a:r>
            <a:r>
              <a:rPr lang="zh-CN" altLang="en-US" sz="1600" dirty="0"/>
              <a:t>负责读写请求，</a:t>
            </a:r>
            <a:r>
              <a:rPr lang="en-US" altLang="zh-CN" sz="1600" dirty="0"/>
              <a:t>Secondary</a:t>
            </a:r>
            <a:r>
              <a:rPr lang="zh-CN" altLang="en-US" sz="1600" dirty="0"/>
              <a:t>负责读请求</a:t>
            </a:r>
            <a:endParaRPr lang="en-US" altLang="zh-CN" sz="1600" dirty="0"/>
          </a:p>
          <a:p>
            <a:pPr marL="285750" indent="-285750" algn="just">
              <a:buFont typeface="Arial" panose="020B0604020202020204" pitchFamily="34" charset="0"/>
              <a:buChar char="•"/>
            </a:pPr>
            <a:r>
              <a:rPr lang="en-US" altLang="zh-CN" sz="1600" dirty="0"/>
              <a:t>Primary</a:t>
            </a:r>
            <a:r>
              <a:rPr lang="zh-CN" altLang="en-US" sz="1600" dirty="0"/>
              <a:t>和</a:t>
            </a:r>
            <a:r>
              <a:rPr lang="en-US" altLang="zh-CN" sz="1600" dirty="0"/>
              <a:t>Secondary</a:t>
            </a:r>
            <a:r>
              <a:rPr lang="zh-CN" altLang="en-US" sz="1600" dirty="0"/>
              <a:t>节点之间在数据写入过程当中实现数据的异步复制</a:t>
            </a:r>
            <a:endParaRPr lang="en-US" altLang="zh-CN" sz="1600" dirty="0"/>
          </a:p>
          <a:p>
            <a:pPr marL="285750" indent="-285750" algn="just">
              <a:buFont typeface="Arial" panose="020B0604020202020204" pitchFamily="34" charset="0"/>
              <a:buChar char="•"/>
            </a:pPr>
            <a:r>
              <a:rPr lang="zh-CN" altLang="en-US" sz="1600" dirty="0"/>
              <a:t>节点之间通过</a:t>
            </a:r>
            <a:r>
              <a:rPr lang="en-US" altLang="zh-CN" sz="1600" dirty="0"/>
              <a:t>Heartbeat</a:t>
            </a:r>
            <a:r>
              <a:rPr lang="zh-CN" altLang="en-US" sz="1600" dirty="0"/>
              <a:t>实现健康侦测，当</a:t>
            </a:r>
            <a:r>
              <a:rPr lang="en-US" altLang="zh-CN" sz="1600" dirty="0"/>
              <a:t>Primary</a:t>
            </a:r>
            <a:r>
              <a:rPr lang="zh-CN" altLang="en-US" sz="1600" dirty="0"/>
              <a:t>失败，集群可以通过多数派选举新的</a:t>
            </a:r>
            <a:r>
              <a:rPr lang="en-US" altLang="zh-CN" sz="1600" dirty="0"/>
              <a:t>Primary</a:t>
            </a:r>
            <a:r>
              <a:rPr lang="zh-CN" altLang="en-US" sz="1600" dirty="0"/>
              <a:t>，并且实现</a:t>
            </a:r>
            <a:r>
              <a:rPr lang="en-US" altLang="zh-CN" sz="1600" dirty="0"/>
              <a:t>Failover</a:t>
            </a:r>
            <a:r>
              <a:rPr lang="zh-CN" altLang="en-US" sz="1600" dirty="0"/>
              <a:t>机制</a:t>
            </a:r>
          </a:p>
        </p:txBody>
      </p:sp>
      <p:pic>
        <p:nvPicPr>
          <p:cNvPr id="4" name="图片 3"/>
          <p:cNvPicPr>
            <a:picLocks noChangeAspect="1"/>
          </p:cNvPicPr>
          <p:nvPr/>
        </p:nvPicPr>
        <p:blipFill>
          <a:blip r:embed="rId2"/>
          <a:stretch>
            <a:fillRect/>
          </a:stretch>
        </p:blipFill>
        <p:spPr>
          <a:xfrm>
            <a:off x="5308191" y="2435020"/>
            <a:ext cx="2819400" cy="1733550"/>
          </a:xfrm>
          <a:prstGeom prst="rect">
            <a:avLst/>
          </a:prstGeom>
        </p:spPr>
      </p:pic>
    </p:spTree>
    <p:extLst>
      <p:ext uri="{BB962C8B-B14F-4D97-AF65-F5344CB8AC3E}">
        <p14:creationId xmlns:p14="http://schemas.microsoft.com/office/powerpoint/2010/main" val="32029243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大数据</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fontScale="85000" lnSpcReduction="20000"/>
          </a:bodyPr>
          <a:lstStyle/>
          <a:p>
            <a:pPr>
              <a:lnSpc>
                <a:spcPct val="120000"/>
              </a:lnSpc>
            </a:pPr>
            <a:r>
              <a:rPr lang="en-US" altLang="zh-CN" sz="1800" dirty="0"/>
              <a:t>NoSQL</a:t>
            </a:r>
            <a:r>
              <a:rPr lang="zh-CN" altLang="en-US" sz="1800" dirty="0"/>
              <a:t>之</a:t>
            </a:r>
            <a:r>
              <a:rPr lang="en-US" altLang="zh-CN" sz="1800" dirty="0"/>
              <a:t>Graph</a:t>
            </a:r>
            <a:r>
              <a:rPr lang="zh-CN" altLang="en-US" sz="1800" dirty="0"/>
              <a:t>数据库</a:t>
            </a:r>
            <a:endParaRPr lang="en-US" altLang="zh-CN" sz="1800" dirty="0"/>
          </a:p>
          <a:p>
            <a:pPr lvl="1">
              <a:lnSpc>
                <a:spcPct val="120000"/>
              </a:lnSpc>
            </a:pPr>
            <a:r>
              <a:rPr lang="zh-CN" altLang="en-US" dirty="0"/>
              <a:t>典型代表</a:t>
            </a:r>
            <a:r>
              <a:rPr lang="en-US" altLang="zh-CN" dirty="0">
                <a:solidFill>
                  <a:srgbClr val="C00000"/>
                </a:solidFill>
              </a:rPr>
              <a:t>Neo4j</a:t>
            </a:r>
            <a:endParaRPr lang="en-US" altLang="zh-CN" dirty="0"/>
          </a:p>
          <a:p>
            <a:pPr lvl="1">
              <a:lnSpc>
                <a:spcPct val="120000"/>
              </a:lnSpc>
            </a:pPr>
            <a:r>
              <a:rPr lang="zh-CN" altLang="en-US" dirty="0"/>
              <a:t> </a:t>
            </a:r>
            <a:r>
              <a:rPr lang="en-US" altLang="zh-CN" dirty="0">
                <a:solidFill>
                  <a:srgbClr val="C00000"/>
                </a:solidFill>
              </a:rPr>
              <a:t>Neo4j</a:t>
            </a:r>
            <a:r>
              <a:rPr lang="zh-CN" altLang="en-US" dirty="0"/>
              <a:t>是由 </a:t>
            </a:r>
            <a:r>
              <a:rPr lang="en-US" altLang="zh-CN" dirty="0"/>
              <a:t>Java </a:t>
            </a:r>
            <a:r>
              <a:rPr lang="zh-CN" altLang="en-US" dirty="0"/>
              <a:t>实现的开源 </a:t>
            </a:r>
            <a:r>
              <a:rPr lang="en-US" altLang="zh-CN" dirty="0"/>
              <a:t>NoSQL </a:t>
            </a:r>
            <a:r>
              <a:rPr lang="zh-CN" altLang="en-US" dirty="0"/>
              <a:t>图数据库</a:t>
            </a:r>
            <a:endParaRPr lang="en-US" altLang="zh-CN" dirty="0"/>
          </a:p>
          <a:p>
            <a:pPr lvl="2">
              <a:lnSpc>
                <a:spcPct val="120000"/>
              </a:lnSpc>
            </a:pPr>
            <a:r>
              <a:rPr lang="zh-CN" altLang="en-US" dirty="0"/>
              <a:t>采用</a:t>
            </a:r>
            <a:r>
              <a:rPr lang="zh-CN" altLang="en-US" dirty="0">
                <a:solidFill>
                  <a:srgbClr val="C00000"/>
                </a:solidFill>
              </a:rPr>
              <a:t>原生图</a:t>
            </a:r>
            <a:r>
              <a:rPr lang="en-US" altLang="zh-CN" dirty="0">
                <a:solidFill>
                  <a:srgbClr val="C00000"/>
                </a:solidFill>
              </a:rPr>
              <a:t>(Native Graph)</a:t>
            </a:r>
            <a:r>
              <a:rPr lang="zh-CN" altLang="en-US" dirty="0">
                <a:solidFill>
                  <a:srgbClr val="C00000"/>
                </a:solidFill>
              </a:rPr>
              <a:t>存储和处理数据</a:t>
            </a:r>
            <a:r>
              <a:rPr lang="zh-CN" altLang="en-US" dirty="0"/>
              <a:t>：提供最优化的关系遍历执行效率，比关系数据库的表连接快上千倍。</a:t>
            </a:r>
          </a:p>
          <a:p>
            <a:pPr lvl="2">
              <a:lnSpc>
                <a:spcPct val="120000"/>
              </a:lnSpc>
            </a:pPr>
            <a:r>
              <a:rPr lang="zh-CN" altLang="en-US" dirty="0"/>
              <a:t>基于</a:t>
            </a:r>
            <a:r>
              <a:rPr lang="en-US" altLang="zh-CN" dirty="0"/>
              <a:t>(</a:t>
            </a:r>
            <a:r>
              <a:rPr lang="zh-CN" altLang="en-US" dirty="0"/>
              <a:t>标签</a:t>
            </a:r>
            <a:r>
              <a:rPr lang="en-US" altLang="zh-CN" dirty="0"/>
              <a:t>)</a:t>
            </a:r>
            <a:r>
              <a:rPr lang="zh-CN" altLang="en-US" dirty="0">
                <a:solidFill>
                  <a:srgbClr val="C00000"/>
                </a:solidFill>
              </a:rPr>
              <a:t>属性图模型</a:t>
            </a:r>
            <a:r>
              <a:rPr lang="zh-CN" altLang="en-US" dirty="0"/>
              <a:t>：支持丰富的数据语义描述、并且兼具灵活性。</a:t>
            </a:r>
          </a:p>
          <a:p>
            <a:pPr lvl="2">
              <a:lnSpc>
                <a:spcPct val="120000"/>
              </a:lnSpc>
            </a:pPr>
            <a:r>
              <a:rPr lang="zh-CN" altLang="en-US" dirty="0"/>
              <a:t>基于</a:t>
            </a:r>
            <a:r>
              <a:rPr lang="zh-CN" altLang="en-US" dirty="0">
                <a:solidFill>
                  <a:srgbClr val="C00000"/>
                </a:solidFill>
              </a:rPr>
              <a:t>纯</a:t>
            </a:r>
            <a:r>
              <a:rPr lang="en-US" altLang="zh-CN" dirty="0">
                <a:solidFill>
                  <a:srgbClr val="C00000"/>
                </a:solidFill>
              </a:rPr>
              <a:t>Java</a:t>
            </a:r>
            <a:r>
              <a:rPr lang="zh-CN" altLang="en-US" dirty="0">
                <a:solidFill>
                  <a:srgbClr val="C00000"/>
                </a:solidFill>
              </a:rPr>
              <a:t>实现</a:t>
            </a:r>
            <a:r>
              <a:rPr lang="zh-CN" altLang="en-US" dirty="0"/>
              <a:t>，支持最广泛的操作系统和最便捷的部署，支持云端和容器部署。</a:t>
            </a:r>
          </a:p>
          <a:p>
            <a:pPr lvl="2">
              <a:lnSpc>
                <a:spcPct val="120000"/>
              </a:lnSpc>
            </a:pPr>
            <a:r>
              <a:rPr lang="zh-CN" altLang="en-US" dirty="0"/>
              <a:t>提供面向图分析和模式匹配、声明型的</a:t>
            </a:r>
            <a:r>
              <a:rPr lang="en-US" altLang="zh-CN" dirty="0">
                <a:solidFill>
                  <a:srgbClr val="C00000"/>
                </a:solidFill>
              </a:rPr>
              <a:t>Cypher</a:t>
            </a:r>
            <a:r>
              <a:rPr lang="zh-CN" altLang="en-US" dirty="0">
                <a:solidFill>
                  <a:srgbClr val="C00000"/>
                </a:solidFill>
              </a:rPr>
              <a:t>查询语言</a:t>
            </a:r>
            <a:r>
              <a:rPr lang="zh-CN" altLang="en-US" dirty="0"/>
              <a:t>，直观、简介、易于理解。</a:t>
            </a:r>
          </a:p>
          <a:p>
            <a:pPr lvl="2">
              <a:lnSpc>
                <a:spcPct val="120000"/>
              </a:lnSpc>
            </a:pPr>
            <a:r>
              <a:rPr lang="zh-CN" altLang="en-US" dirty="0"/>
              <a:t>完全</a:t>
            </a:r>
            <a:r>
              <a:rPr lang="en-US" altLang="zh-CN" dirty="0">
                <a:solidFill>
                  <a:srgbClr val="C00000"/>
                </a:solidFill>
              </a:rPr>
              <a:t>ACID</a:t>
            </a:r>
            <a:r>
              <a:rPr lang="zh-CN" altLang="en-US" dirty="0"/>
              <a:t>兼容、保证数据一致性，因此同样适用于事务型</a:t>
            </a:r>
            <a:r>
              <a:rPr lang="en-US" altLang="zh-CN" dirty="0"/>
              <a:t>(OLTP)</a:t>
            </a:r>
            <a:r>
              <a:rPr lang="zh-CN" altLang="en-US" dirty="0"/>
              <a:t>和分析型</a:t>
            </a:r>
            <a:r>
              <a:rPr lang="en-US" altLang="zh-CN" dirty="0"/>
              <a:t>(OLAP)</a:t>
            </a:r>
            <a:r>
              <a:rPr lang="zh-CN" altLang="en-US" dirty="0"/>
              <a:t>应用</a:t>
            </a:r>
          </a:p>
          <a:p>
            <a:pPr lvl="2">
              <a:lnSpc>
                <a:spcPct val="120000"/>
              </a:lnSpc>
            </a:pPr>
            <a:r>
              <a:rPr lang="zh-CN" altLang="en-US" dirty="0"/>
              <a:t>基于因果集群</a:t>
            </a:r>
            <a:r>
              <a:rPr lang="en-US" altLang="zh-CN" dirty="0"/>
              <a:t>(Causal Clustering)</a:t>
            </a:r>
            <a:r>
              <a:rPr lang="zh-CN" altLang="en-US" dirty="0"/>
              <a:t>的分布式数据库，提供高可用性、故障切换、数据冗余和可扩展的吞吐量</a:t>
            </a:r>
          </a:p>
          <a:p>
            <a:pPr lvl="2">
              <a:lnSpc>
                <a:spcPct val="120000"/>
              </a:lnSpc>
            </a:pPr>
            <a:r>
              <a:rPr lang="zh-CN" altLang="en-US" dirty="0"/>
              <a:t>丰富的驱动语言支持：官方发布的有</a:t>
            </a:r>
            <a:r>
              <a:rPr lang="en-US" altLang="zh-CN" dirty="0"/>
              <a:t>Java, JavaScript, Python, </a:t>
            </a:r>
            <a:r>
              <a:rPr lang="en-US" altLang="zh-CN" dirty="0" err="1"/>
              <a:t>.Net</a:t>
            </a:r>
            <a:r>
              <a:rPr lang="zh-CN" altLang="en-US" dirty="0"/>
              <a:t>和</a:t>
            </a:r>
            <a:r>
              <a:rPr lang="en-US" altLang="zh-CN" dirty="0"/>
              <a:t>GO</a:t>
            </a:r>
            <a:r>
              <a:rPr lang="zh-CN" altLang="en-US" dirty="0"/>
              <a:t>；另外还有社区用户提供的</a:t>
            </a:r>
            <a:r>
              <a:rPr lang="en-US" altLang="zh-CN" dirty="0"/>
              <a:t>C/C++, R, JDBC, Python</a:t>
            </a:r>
            <a:r>
              <a:rPr lang="zh-CN" altLang="en-US" dirty="0"/>
              <a:t>等各类语言驱动。</a:t>
            </a:r>
          </a:p>
          <a:p>
            <a:pPr lvl="2">
              <a:lnSpc>
                <a:spcPct val="120000"/>
              </a:lnSpc>
            </a:pPr>
            <a:r>
              <a:rPr lang="zh-CN" altLang="en-US" dirty="0"/>
              <a:t>最具规模和最活跃的社区：社区版累计下载次数超过</a:t>
            </a:r>
            <a:r>
              <a:rPr lang="en-US" altLang="zh-CN" dirty="0"/>
              <a:t>1</a:t>
            </a:r>
            <a:r>
              <a:rPr lang="zh-CN" altLang="en-US" dirty="0"/>
              <a:t>千</a:t>
            </a:r>
            <a:r>
              <a:rPr lang="en-US" altLang="zh-CN" dirty="0"/>
              <a:t>3</a:t>
            </a:r>
            <a:r>
              <a:rPr lang="zh-CN" altLang="en-US" dirty="0"/>
              <a:t>百万，社区活跃技术人员超过</a:t>
            </a:r>
            <a:r>
              <a:rPr lang="en-US" altLang="zh-CN" dirty="0"/>
              <a:t>5</a:t>
            </a:r>
            <a:r>
              <a:rPr lang="zh-CN" altLang="en-US" dirty="0"/>
              <a:t>万，每年线上线下技术交流聚会超过</a:t>
            </a:r>
            <a:r>
              <a:rPr lang="en-US" altLang="zh-CN" dirty="0"/>
              <a:t>400</a:t>
            </a:r>
            <a:r>
              <a:rPr lang="zh-CN" altLang="en-US" dirty="0"/>
              <a:t>场；</a:t>
            </a:r>
            <a:r>
              <a:rPr lang="en-US" altLang="zh-CN" dirty="0"/>
              <a:t>GitHub</a:t>
            </a:r>
            <a:r>
              <a:rPr lang="zh-CN" altLang="en-US" dirty="0"/>
              <a:t>上与</a:t>
            </a:r>
            <a:r>
              <a:rPr lang="en-US" altLang="zh-CN" dirty="0"/>
              <a:t>Neo4j</a:t>
            </a:r>
            <a:r>
              <a:rPr lang="zh-CN" altLang="en-US" dirty="0"/>
              <a:t>相关项目超过</a:t>
            </a:r>
            <a:r>
              <a:rPr lang="en-US" altLang="zh-CN" dirty="0"/>
              <a:t>1</a:t>
            </a:r>
            <a:r>
              <a:rPr lang="zh-CN" altLang="en-US" dirty="0"/>
              <a:t>万个</a:t>
            </a:r>
            <a:endParaRPr lang="en-US" altLang="zh-CN" dirty="0"/>
          </a:p>
          <a:p>
            <a:pPr>
              <a:lnSpc>
                <a:spcPct val="120000"/>
              </a:lnSpc>
            </a:pPr>
            <a:endParaRPr kumimoji="1" lang="en-US" altLang="zh-CN" dirty="0"/>
          </a:p>
        </p:txBody>
      </p:sp>
    </p:spTree>
    <p:extLst>
      <p:ext uri="{BB962C8B-B14F-4D97-AF65-F5344CB8AC3E}">
        <p14:creationId xmlns:p14="http://schemas.microsoft.com/office/powerpoint/2010/main" val="31181789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大数据</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pPr>
              <a:lnSpc>
                <a:spcPct val="120000"/>
              </a:lnSpc>
            </a:pPr>
            <a:r>
              <a:rPr lang="en-US" altLang="zh-CN" sz="1800" dirty="0"/>
              <a:t>NoSQL</a:t>
            </a:r>
            <a:r>
              <a:rPr lang="zh-CN" altLang="en-US" sz="1800" dirty="0"/>
              <a:t>之</a:t>
            </a:r>
            <a:r>
              <a:rPr lang="en-US" altLang="zh-CN" sz="1800" dirty="0"/>
              <a:t>Graph</a:t>
            </a:r>
            <a:r>
              <a:rPr lang="zh-CN" altLang="en-US" sz="1800" dirty="0"/>
              <a:t>数据库</a:t>
            </a:r>
            <a:endParaRPr lang="en-US" altLang="zh-CN" sz="1800" dirty="0"/>
          </a:p>
          <a:p>
            <a:pPr lvl="1">
              <a:lnSpc>
                <a:spcPct val="120000"/>
              </a:lnSpc>
            </a:pPr>
            <a:r>
              <a:rPr lang="zh-CN" altLang="en-US" dirty="0"/>
              <a:t>典型代表</a:t>
            </a:r>
            <a:r>
              <a:rPr lang="en-US" altLang="zh-CN" dirty="0">
                <a:solidFill>
                  <a:srgbClr val="C00000"/>
                </a:solidFill>
              </a:rPr>
              <a:t>Neo4j</a:t>
            </a:r>
            <a:endParaRPr lang="en-US" altLang="zh-CN" dirty="0"/>
          </a:p>
          <a:p>
            <a:pPr lvl="1">
              <a:lnSpc>
                <a:spcPct val="120000"/>
              </a:lnSpc>
            </a:pPr>
            <a:r>
              <a:rPr lang="zh-CN" altLang="en-US" dirty="0"/>
              <a:t> </a:t>
            </a:r>
            <a:r>
              <a:rPr lang="en-US" altLang="zh-CN" dirty="0">
                <a:solidFill>
                  <a:srgbClr val="C00000"/>
                </a:solidFill>
              </a:rPr>
              <a:t>Neo4j</a:t>
            </a:r>
            <a:r>
              <a:rPr lang="zh-CN" altLang="en-US" dirty="0"/>
              <a:t>是由 </a:t>
            </a:r>
            <a:r>
              <a:rPr lang="en-US" altLang="zh-CN" dirty="0"/>
              <a:t>Java </a:t>
            </a:r>
            <a:r>
              <a:rPr lang="zh-CN" altLang="en-US" dirty="0"/>
              <a:t>实现的开源 </a:t>
            </a:r>
            <a:r>
              <a:rPr lang="en-US" altLang="zh-CN" dirty="0"/>
              <a:t>NoSQL </a:t>
            </a:r>
            <a:r>
              <a:rPr lang="zh-CN" altLang="en-US" dirty="0"/>
              <a:t>图数据库</a:t>
            </a:r>
            <a:endParaRPr lang="en-US" altLang="zh-CN" dirty="0"/>
          </a:p>
          <a:p>
            <a:pPr lvl="1">
              <a:lnSpc>
                <a:spcPct val="120000"/>
              </a:lnSpc>
            </a:pPr>
            <a:r>
              <a:rPr kumimoji="1" lang="zh-CN" altLang="en-US" dirty="0"/>
              <a:t>属性图</a:t>
            </a:r>
            <a:endParaRPr kumimoji="1" lang="en-US" altLang="zh-CN" dirty="0"/>
          </a:p>
          <a:p>
            <a:pPr lvl="2">
              <a:lnSpc>
                <a:spcPct val="120000"/>
              </a:lnSpc>
            </a:pPr>
            <a:r>
              <a:rPr kumimoji="1" lang="zh-CN" altLang="en-US" dirty="0"/>
              <a:t>实体：节点、关系</a:t>
            </a:r>
            <a:endParaRPr kumimoji="1" lang="en-US" altLang="zh-CN" dirty="0"/>
          </a:p>
          <a:p>
            <a:pPr lvl="2">
              <a:lnSpc>
                <a:spcPct val="120000"/>
              </a:lnSpc>
            </a:pPr>
            <a:r>
              <a:rPr lang="zh-CN" altLang="en-US" dirty="0"/>
              <a:t>记号（</a:t>
            </a:r>
            <a:r>
              <a:rPr lang="en-US" altLang="zh-CN" dirty="0"/>
              <a:t>Token</a:t>
            </a:r>
            <a:r>
              <a:rPr lang="zh-CN" altLang="en-US" dirty="0"/>
              <a:t>）</a:t>
            </a:r>
            <a:endParaRPr kumimoji="1" lang="en-US" altLang="zh-CN" dirty="0"/>
          </a:p>
          <a:p>
            <a:pPr lvl="2">
              <a:lnSpc>
                <a:spcPct val="120000"/>
              </a:lnSpc>
            </a:pPr>
            <a:r>
              <a:rPr kumimoji="1" lang="zh-CN" altLang="en-US" dirty="0"/>
              <a:t>属性：键值对</a:t>
            </a:r>
            <a:endParaRPr kumimoji="1" lang="en-US" altLang="zh-CN" dirty="0"/>
          </a:p>
        </p:txBody>
      </p:sp>
      <p:pic>
        <p:nvPicPr>
          <p:cNvPr id="5" name="图片 4"/>
          <p:cNvPicPr>
            <a:picLocks noChangeAspect="1"/>
          </p:cNvPicPr>
          <p:nvPr/>
        </p:nvPicPr>
        <p:blipFill>
          <a:blip r:embed="rId2"/>
          <a:stretch>
            <a:fillRect/>
          </a:stretch>
        </p:blipFill>
        <p:spPr>
          <a:xfrm>
            <a:off x="4041057" y="2333691"/>
            <a:ext cx="4164269" cy="2279328"/>
          </a:xfrm>
          <a:prstGeom prst="rect">
            <a:avLst/>
          </a:prstGeom>
        </p:spPr>
      </p:pic>
    </p:spTree>
    <p:extLst>
      <p:ext uri="{BB962C8B-B14F-4D97-AF65-F5344CB8AC3E}">
        <p14:creationId xmlns:p14="http://schemas.microsoft.com/office/powerpoint/2010/main" val="4567315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大数据</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pPr>
              <a:lnSpc>
                <a:spcPct val="120000"/>
              </a:lnSpc>
            </a:pPr>
            <a:r>
              <a:rPr lang="en-US" altLang="zh-CN" sz="1800" dirty="0"/>
              <a:t>NoSQL</a:t>
            </a:r>
            <a:r>
              <a:rPr lang="zh-CN" altLang="en-US" sz="1800" dirty="0"/>
              <a:t>之</a:t>
            </a:r>
            <a:r>
              <a:rPr lang="en-US" altLang="zh-CN" sz="1800" dirty="0"/>
              <a:t>Graph</a:t>
            </a:r>
            <a:r>
              <a:rPr lang="zh-CN" altLang="en-US" sz="1800" dirty="0"/>
              <a:t>数据库</a:t>
            </a:r>
            <a:endParaRPr lang="en-US" altLang="zh-CN" sz="1800" dirty="0"/>
          </a:p>
          <a:p>
            <a:pPr lvl="1">
              <a:lnSpc>
                <a:spcPct val="120000"/>
              </a:lnSpc>
            </a:pPr>
            <a:r>
              <a:rPr lang="zh-CN" altLang="en-US" dirty="0"/>
              <a:t>典型代表</a:t>
            </a:r>
            <a:r>
              <a:rPr lang="en-US" altLang="zh-CN" dirty="0">
                <a:solidFill>
                  <a:srgbClr val="C00000"/>
                </a:solidFill>
              </a:rPr>
              <a:t>Neo4j</a:t>
            </a:r>
            <a:endParaRPr lang="en-US" altLang="zh-CN" dirty="0"/>
          </a:p>
          <a:p>
            <a:pPr lvl="1">
              <a:lnSpc>
                <a:spcPct val="120000"/>
              </a:lnSpc>
            </a:pPr>
            <a:r>
              <a:rPr lang="zh-CN" altLang="en-US" dirty="0"/>
              <a:t> </a:t>
            </a:r>
            <a:r>
              <a:rPr lang="en-US" altLang="zh-CN" dirty="0">
                <a:solidFill>
                  <a:srgbClr val="C00000"/>
                </a:solidFill>
              </a:rPr>
              <a:t>Neo4j</a:t>
            </a:r>
            <a:r>
              <a:rPr lang="zh-CN" altLang="en-US" dirty="0"/>
              <a:t>是由 </a:t>
            </a:r>
            <a:r>
              <a:rPr lang="en-US" altLang="zh-CN" dirty="0"/>
              <a:t>Java </a:t>
            </a:r>
            <a:r>
              <a:rPr lang="zh-CN" altLang="en-US" dirty="0"/>
              <a:t>实现的开源 </a:t>
            </a:r>
            <a:r>
              <a:rPr lang="en-US" altLang="zh-CN" dirty="0"/>
              <a:t>NoSQL </a:t>
            </a:r>
            <a:r>
              <a:rPr lang="zh-CN" altLang="en-US" dirty="0"/>
              <a:t>图数据库</a:t>
            </a:r>
            <a:endParaRPr lang="en-US" altLang="zh-CN" dirty="0"/>
          </a:p>
          <a:p>
            <a:pPr lvl="2">
              <a:lnSpc>
                <a:spcPct val="120000"/>
              </a:lnSpc>
            </a:pPr>
            <a:r>
              <a:rPr kumimoji="1" lang="en-US" altLang="zh-CN" dirty="0"/>
              <a:t>Neo4j</a:t>
            </a:r>
            <a:r>
              <a:rPr kumimoji="1" lang="zh-CN" altLang="en-US" dirty="0"/>
              <a:t>数据库内部的逻辑架构</a:t>
            </a:r>
            <a:endParaRPr kumimoji="1" lang="en-US" altLang="zh-CN" dirty="0"/>
          </a:p>
          <a:p>
            <a:pPr lvl="2">
              <a:lnSpc>
                <a:spcPct val="120000"/>
              </a:lnSpc>
            </a:pPr>
            <a:r>
              <a:rPr kumimoji="1" lang="zh-CN" altLang="en-US" dirty="0"/>
              <a:t>从上到下，纵向分为三个大的层次，分别是接口层、数据管理层以及存储层</a:t>
            </a:r>
            <a:endParaRPr kumimoji="1" lang="en-US" altLang="zh-CN" dirty="0"/>
          </a:p>
        </p:txBody>
      </p:sp>
      <p:pic>
        <p:nvPicPr>
          <p:cNvPr id="4" name="图片 3"/>
          <p:cNvPicPr>
            <a:picLocks noChangeAspect="1"/>
          </p:cNvPicPr>
          <p:nvPr/>
        </p:nvPicPr>
        <p:blipFill>
          <a:blip r:embed="rId2"/>
          <a:stretch>
            <a:fillRect/>
          </a:stretch>
        </p:blipFill>
        <p:spPr>
          <a:xfrm>
            <a:off x="2702795" y="2636889"/>
            <a:ext cx="3590925" cy="2362200"/>
          </a:xfrm>
          <a:prstGeom prst="rect">
            <a:avLst/>
          </a:prstGeom>
        </p:spPr>
      </p:pic>
    </p:spTree>
    <p:extLst>
      <p:ext uri="{BB962C8B-B14F-4D97-AF65-F5344CB8AC3E}">
        <p14:creationId xmlns:p14="http://schemas.microsoft.com/office/powerpoint/2010/main" val="42716202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大数据</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pPr>
              <a:lnSpc>
                <a:spcPct val="120000"/>
              </a:lnSpc>
            </a:pPr>
            <a:r>
              <a:rPr lang="en-US" altLang="zh-CN" sz="1800" dirty="0"/>
              <a:t>NoSQL</a:t>
            </a:r>
            <a:r>
              <a:rPr lang="zh-CN" altLang="en-US" sz="1800" dirty="0"/>
              <a:t>之</a:t>
            </a:r>
            <a:r>
              <a:rPr lang="en-US" altLang="zh-CN" sz="1800" dirty="0"/>
              <a:t>Graph</a:t>
            </a:r>
            <a:r>
              <a:rPr lang="zh-CN" altLang="en-US" sz="1800" dirty="0"/>
              <a:t>数据库</a:t>
            </a:r>
            <a:endParaRPr lang="en-US" altLang="zh-CN" sz="1800" dirty="0"/>
          </a:p>
          <a:p>
            <a:pPr lvl="1">
              <a:lnSpc>
                <a:spcPct val="120000"/>
              </a:lnSpc>
            </a:pPr>
            <a:r>
              <a:rPr lang="zh-CN" altLang="en-US" dirty="0"/>
              <a:t>典型代表</a:t>
            </a:r>
            <a:r>
              <a:rPr lang="en-US" altLang="zh-CN" dirty="0">
                <a:solidFill>
                  <a:srgbClr val="C00000"/>
                </a:solidFill>
              </a:rPr>
              <a:t>Neo4j</a:t>
            </a:r>
            <a:endParaRPr lang="en-US" altLang="zh-CN" dirty="0"/>
          </a:p>
          <a:p>
            <a:pPr lvl="1">
              <a:lnSpc>
                <a:spcPct val="120000"/>
              </a:lnSpc>
            </a:pPr>
            <a:r>
              <a:rPr lang="zh-CN" altLang="en-US" dirty="0"/>
              <a:t> </a:t>
            </a:r>
            <a:r>
              <a:rPr lang="en-US" altLang="zh-CN" dirty="0">
                <a:solidFill>
                  <a:srgbClr val="C00000"/>
                </a:solidFill>
              </a:rPr>
              <a:t>Neo4j</a:t>
            </a:r>
            <a:r>
              <a:rPr lang="zh-CN" altLang="en-US" dirty="0"/>
              <a:t>是由 </a:t>
            </a:r>
            <a:r>
              <a:rPr lang="en-US" altLang="zh-CN" dirty="0"/>
              <a:t>Java </a:t>
            </a:r>
            <a:r>
              <a:rPr lang="zh-CN" altLang="en-US" dirty="0"/>
              <a:t>实现的开源 </a:t>
            </a:r>
            <a:r>
              <a:rPr lang="en-US" altLang="zh-CN" dirty="0"/>
              <a:t>NoSQL </a:t>
            </a:r>
            <a:r>
              <a:rPr lang="zh-CN" altLang="en-US" dirty="0"/>
              <a:t>图数据库</a:t>
            </a:r>
            <a:endParaRPr lang="en-US" altLang="zh-CN" dirty="0"/>
          </a:p>
        </p:txBody>
      </p:sp>
      <p:sp>
        <p:nvSpPr>
          <p:cNvPr id="5" name="矩形 4"/>
          <p:cNvSpPr/>
          <p:nvPr/>
        </p:nvSpPr>
        <p:spPr>
          <a:xfrm>
            <a:off x="250722" y="2202513"/>
            <a:ext cx="4962833" cy="2800767"/>
          </a:xfrm>
          <a:prstGeom prst="rect">
            <a:avLst/>
          </a:prstGeom>
          <a:solidFill>
            <a:schemeClr val="accent3">
              <a:lumMod val="20000"/>
              <a:lumOff val="80000"/>
            </a:schemeClr>
          </a:solidFill>
          <a:ln>
            <a:solidFill>
              <a:schemeClr val="accent1"/>
            </a:solidFill>
          </a:ln>
        </p:spPr>
        <p:txBody>
          <a:bodyPr wrap="square">
            <a:spAutoFit/>
          </a:bodyPr>
          <a:lstStyle/>
          <a:p>
            <a:pPr marL="285750" indent="-285750" algn="just">
              <a:buFont typeface="Arial" panose="020B0604020202020204" pitchFamily="34" charset="0"/>
              <a:buChar char="•"/>
            </a:pPr>
            <a:r>
              <a:rPr lang="zh-CN" altLang="en-US" sz="1600" dirty="0"/>
              <a:t>Neo4j的集群架构是指 Causal cluster </a:t>
            </a:r>
            <a:endParaRPr lang="en-US" altLang="zh-CN" sz="1600" dirty="0"/>
          </a:p>
          <a:p>
            <a:pPr marL="285750" indent="-285750" algn="just">
              <a:buFont typeface="Arial" panose="020B0604020202020204" pitchFamily="34" charset="0"/>
              <a:buChar char="•"/>
            </a:pPr>
            <a:r>
              <a:rPr lang="zh-CN" altLang="en-US" sz="1600" dirty="0"/>
              <a:t>该集群架构由两个不同的角色Core Servers和Read Replicas组成，在管理整个集群的容错性和可伸缩性方面承担着不同的角色</a:t>
            </a:r>
          </a:p>
          <a:p>
            <a:pPr marL="285750" indent="-285750" algn="just">
              <a:buFont typeface="Arial" panose="020B0604020202020204" pitchFamily="34" charset="0"/>
              <a:buChar char="•"/>
            </a:pPr>
            <a:r>
              <a:rPr lang="zh-CN" altLang="en-US" sz="1600" b="1" dirty="0"/>
              <a:t>核心服务器（Core Servers）：</a:t>
            </a:r>
            <a:r>
              <a:rPr lang="zh-CN" altLang="en-US" sz="1600" dirty="0"/>
              <a:t>核心服务器通过使用Raft协议复制所有事务来实现对数据保护的目的。在确认向最终用户应用程序提交事务之前，Raft确保数据安全持久，集群（N / 2 + 1）中的大多数核心服务器都需要确认了事务</a:t>
            </a:r>
          </a:p>
          <a:p>
            <a:pPr marL="285750" indent="-285750" algn="just">
              <a:buFont typeface="Arial" panose="020B0604020202020204" pitchFamily="34" charset="0"/>
              <a:buChar char="•"/>
            </a:pPr>
            <a:r>
              <a:rPr lang="zh-CN" altLang="en-US" sz="1600" b="1" dirty="0"/>
              <a:t>副本服务器（Read Replicas）：</a:t>
            </a:r>
            <a:r>
              <a:rPr lang="zh-CN" altLang="en-US" sz="1600" dirty="0"/>
              <a:t>副本服务器的主要职责是扩展图数据负载能力</a:t>
            </a:r>
          </a:p>
        </p:txBody>
      </p:sp>
      <p:pic>
        <p:nvPicPr>
          <p:cNvPr id="6" name="图片 5"/>
          <p:cNvPicPr>
            <a:picLocks noChangeAspect="1"/>
          </p:cNvPicPr>
          <p:nvPr/>
        </p:nvPicPr>
        <p:blipFill>
          <a:blip r:embed="rId2"/>
          <a:stretch>
            <a:fillRect/>
          </a:stretch>
        </p:blipFill>
        <p:spPr>
          <a:xfrm>
            <a:off x="5507630" y="2162065"/>
            <a:ext cx="2885095" cy="2841215"/>
          </a:xfrm>
          <a:prstGeom prst="rect">
            <a:avLst/>
          </a:prstGeom>
        </p:spPr>
      </p:pic>
    </p:spTree>
    <p:extLst>
      <p:ext uri="{BB962C8B-B14F-4D97-AF65-F5344CB8AC3E}">
        <p14:creationId xmlns:p14="http://schemas.microsoft.com/office/powerpoint/2010/main" val="26060649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大数据</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r>
              <a:rPr lang="en-US" altLang="zh-CN" sz="1800" dirty="0"/>
              <a:t>NewSQL</a:t>
            </a:r>
          </a:p>
          <a:p>
            <a:pPr lvl="1"/>
            <a:r>
              <a:rPr lang="zh-CN" altLang="en-US" sz="1600" dirty="0"/>
              <a:t>什么是</a:t>
            </a:r>
            <a:r>
              <a:rPr lang="en-US" altLang="zh-CN" sz="1600" dirty="0">
                <a:solidFill>
                  <a:srgbClr val="C00000"/>
                </a:solidFill>
              </a:rPr>
              <a:t>NewSQL</a:t>
            </a:r>
            <a:r>
              <a:rPr lang="zh-CN" altLang="en-US" sz="1600" dirty="0"/>
              <a:t>？</a:t>
            </a:r>
            <a:endParaRPr lang="en-US" altLang="zh-CN" sz="1600" dirty="0"/>
          </a:p>
          <a:p>
            <a:pPr lvl="1"/>
            <a:r>
              <a:rPr lang="en-US" altLang="zh-CN" dirty="0">
                <a:solidFill>
                  <a:srgbClr val="C00000"/>
                </a:solidFill>
              </a:rPr>
              <a:t>NewSQL</a:t>
            </a:r>
            <a:r>
              <a:rPr lang="zh-CN" altLang="en-US" dirty="0"/>
              <a:t>是指这样一类新式的关系型数据库管理系统</a:t>
            </a:r>
            <a:endParaRPr lang="en-US" altLang="zh-CN" dirty="0"/>
          </a:p>
          <a:p>
            <a:pPr lvl="1"/>
            <a:r>
              <a:rPr lang="zh-CN" altLang="en-US" dirty="0"/>
              <a:t>针对</a:t>
            </a:r>
            <a:r>
              <a:rPr lang="en-US" altLang="zh-CN" dirty="0"/>
              <a:t>OLTP</a:t>
            </a:r>
            <a:r>
              <a:rPr lang="zh-CN" altLang="en-US" dirty="0"/>
              <a:t>（读</a:t>
            </a:r>
            <a:r>
              <a:rPr lang="en-US" altLang="zh-CN" dirty="0"/>
              <a:t>-</a:t>
            </a:r>
            <a:r>
              <a:rPr lang="zh-CN" altLang="en-US" dirty="0"/>
              <a:t>写）工作负载，追求提供和</a:t>
            </a:r>
            <a:r>
              <a:rPr lang="en-US" altLang="zh-CN" dirty="0"/>
              <a:t>NoSQL</a:t>
            </a:r>
            <a:r>
              <a:rPr lang="zh-CN" altLang="en-US" dirty="0"/>
              <a:t>系统相同的扩展性能，且仍然保持</a:t>
            </a:r>
            <a:r>
              <a:rPr lang="en-US" altLang="zh-CN" dirty="0"/>
              <a:t>ACID</a:t>
            </a:r>
            <a:r>
              <a:rPr lang="zh-CN" altLang="en-US" dirty="0"/>
              <a:t>和</a:t>
            </a:r>
            <a:r>
              <a:rPr lang="en-US" altLang="zh-CN" dirty="0"/>
              <a:t>SQL</a:t>
            </a:r>
            <a:r>
              <a:rPr lang="zh-CN" altLang="en-US" dirty="0"/>
              <a:t>等特性</a:t>
            </a:r>
            <a:endParaRPr kumimoji="1" lang="en-US" altLang="zh-CN" dirty="0"/>
          </a:p>
        </p:txBody>
      </p:sp>
    </p:spTree>
    <p:extLst>
      <p:ext uri="{BB962C8B-B14F-4D97-AF65-F5344CB8AC3E}">
        <p14:creationId xmlns:p14="http://schemas.microsoft.com/office/powerpoint/2010/main" val="24628695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大数据</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r>
              <a:rPr lang="en-US" altLang="zh-CN" sz="1800" dirty="0"/>
              <a:t>NewSQL</a:t>
            </a:r>
          </a:p>
          <a:p>
            <a:pPr lvl="1"/>
            <a:r>
              <a:rPr kumimoji="1" lang="zh-CN" altLang="en-US" dirty="0"/>
              <a:t>典型代表</a:t>
            </a:r>
            <a:r>
              <a:rPr kumimoji="1" lang="en-US" altLang="zh-CN" dirty="0">
                <a:solidFill>
                  <a:srgbClr val="C00000"/>
                </a:solidFill>
              </a:rPr>
              <a:t>Ocean Base</a:t>
            </a:r>
          </a:p>
          <a:p>
            <a:pPr lvl="1"/>
            <a:r>
              <a:rPr lang="en-US" altLang="zh-CN" dirty="0"/>
              <a:t>Ocean Base </a:t>
            </a:r>
            <a:r>
              <a:rPr lang="zh-CN" altLang="en-US" dirty="0"/>
              <a:t>已连续 </a:t>
            </a:r>
            <a:r>
              <a:rPr lang="en-US" altLang="zh-CN" dirty="0"/>
              <a:t>10 </a:t>
            </a:r>
            <a:r>
              <a:rPr lang="zh-CN" altLang="en-US" dirty="0"/>
              <a:t>年稳定支撑双 </a:t>
            </a:r>
            <a:r>
              <a:rPr lang="en-US" altLang="zh-CN" dirty="0"/>
              <a:t>11</a:t>
            </a:r>
            <a:r>
              <a:rPr lang="zh-CN" altLang="en-US" dirty="0"/>
              <a:t>，创新推出“三地五中心”城市级容灾新标准，在被誉为“数据库世界杯”的 </a:t>
            </a:r>
            <a:r>
              <a:rPr lang="en-US" altLang="zh-CN" dirty="0"/>
              <a:t>TPC-C </a:t>
            </a:r>
            <a:r>
              <a:rPr lang="zh-CN" altLang="en-US" dirty="0"/>
              <a:t>和 </a:t>
            </a:r>
            <a:r>
              <a:rPr lang="en-US" altLang="zh-CN" dirty="0"/>
              <a:t>TPC-H </a:t>
            </a:r>
            <a:r>
              <a:rPr lang="zh-CN" altLang="en-US" dirty="0"/>
              <a:t>测试上都刷新过世界纪录</a:t>
            </a:r>
            <a:endParaRPr lang="en-US" altLang="zh-CN" dirty="0"/>
          </a:p>
          <a:p>
            <a:pPr lvl="1"/>
            <a:r>
              <a:rPr lang="zh-CN" altLang="en-US" dirty="0"/>
              <a:t>自研一体化架构，兼顾分布式架构的扩展性与集中式架构的性能优势</a:t>
            </a:r>
            <a:endParaRPr lang="en-US" altLang="zh-CN" dirty="0"/>
          </a:p>
          <a:p>
            <a:pPr lvl="1"/>
            <a:r>
              <a:rPr lang="zh-CN" altLang="en-US" dirty="0"/>
              <a:t>用一套引擎同时支持 </a:t>
            </a:r>
            <a:r>
              <a:rPr lang="en-US" altLang="zh-CN" dirty="0"/>
              <a:t>OLTP </a:t>
            </a:r>
            <a:r>
              <a:rPr lang="zh-CN" altLang="en-US" dirty="0"/>
              <a:t>和 </a:t>
            </a:r>
            <a:r>
              <a:rPr lang="en-US" altLang="zh-CN" dirty="0"/>
              <a:t>OLAP </a:t>
            </a:r>
            <a:r>
              <a:rPr lang="zh-CN" altLang="en-US" dirty="0"/>
              <a:t>的混合负载，具备数据强一致、高扩展、高可用、高性价比、高度兼容 </a:t>
            </a:r>
            <a:r>
              <a:rPr lang="en-US" altLang="zh-CN" dirty="0"/>
              <a:t>Oracle/MySQL</a:t>
            </a:r>
            <a:r>
              <a:rPr lang="zh-CN" altLang="en-US" dirty="0"/>
              <a:t>、稳定可靠等特征，不断用技术降低企业使用数据库的门槛</a:t>
            </a:r>
            <a:endParaRPr lang="en-US" altLang="zh-CN" dirty="0"/>
          </a:p>
          <a:p>
            <a:pPr lvl="1"/>
            <a:r>
              <a:rPr lang="zh-CN" altLang="en-US" dirty="0"/>
              <a:t>现已助力金融、政府、运营商、零售、互联网等多个行业的客户实现核心系统升级</a:t>
            </a:r>
          </a:p>
          <a:p>
            <a:pPr lvl="1"/>
            <a:endParaRPr kumimoji="1" lang="en-US" altLang="zh-CN" dirty="0"/>
          </a:p>
        </p:txBody>
      </p:sp>
    </p:spTree>
    <p:extLst>
      <p:ext uri="{BB962C8B-B14F-4D97-AF65-F5344CB8AC3E}">
        <p14:creationId xmlns:p14="http://schemas.microsoft.com/office/powerpoint/2010/main" val="38329847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大数据</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r>
              <a:rPr lang="en-US" altLang="zh-CN" sz="1800" dirty="0"/>
              <a:t>NewSQL</a:t>
            </a:r>
          </a:p>
          <a:p>
            <a:pPr lvl="1"/>
            <a:r>
              <a:rPr kumimoji="1" lang="en-US" altLang="zh-CN" dirty="0">
                <a:solidFill>
                  <a:srgbClr val="C00000"/>
                </a:solidFill>
              </a:rPr>
              <a:t>Ocean Base</a:t>
            </a:r>
            <a:r>
              <a:rPr kumimoji="1" lang="zh-CN" altLang="en-US" dirty="0"/>
              <a:t>的</a:t>
            </a:r>
            <a:r>
              <a:rPr kumimoji="1" lang="en-US" altLang="zh-CN" dirty="0">
                <a:solidFill>
                  <a:srgbClr val="C00000"/>
                </a:solidFill>
              </a:rPr>
              <a:t>TPCC</a:t>
            </a:r>
            <a:r>
              <a:rPr kumimoji="1" lang="zh-CN" altLang="en-US" dirty="0"/>
              <a:t>评测成绩</a:t>
            </a:r>
            <a:endParaRPr kumimoji="1" lang="en-US" altLang="zh-CN" dirty="0"/>
          </a:p>
        </p:txBody>
      </p:sp>
      <p:pic>
        <p:nvPicPr>
          <p:cNvPr id="1026" name="Picture 2" descr="OceanBase äºæ¬¡ TPC-C æµè¯æ§è½æå 10 åOceanBase äºæ¬¡ TPC-C æµè¯æ§è½æå 10 å"/>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29025" y="1568853"/>
            <a:ext cx="5151437" cy="3017434"/>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195263" y="2251413"/>
            <a:ext cx="3340100" cy="1384995"/>
          </a:xfrm>
          <a:prstGeom prst="rect">
            <a:avLst/>
          </a:prstGeom>
          <a:solidFill>
            <a:schemeClr val="accent3">
              <a:lumMod val="20000"/>
              <a:lumOff val="80000"/>
            </a:schemeClr>
          </a:solidFill>
          <a:ln>
            <a:solidFill>
              <a:schemeClr val="accent1"/>
            </a:solidFill>
          </a:ln>
        </p:spPr>
        <p:txBody>
          <a:bodyPr wrap="square">
            <a:spAutoFit/>
          </a:bodyPr>
          <a:lstStyle/>
          <a:p>
            <a:r>
              <a:rPr lang="zh-CN" altLang="en-US" sz="1200" dirty="0"/>
              <a:t>TPC-C 制定了五种事务的百分比，分别是：</a:t>
            </a:r>
          </a:p>
          <a:p>
            <a:r>
              <a:rPr lang="zh-CN" altLang="en-US" sz="1200" dirty="0"/>
              <a:t>订单创建（New-Order）事务，占比 &lt;= 45%</a:t>
            </a:r>
          </a:p>
          <a:p>
            <a:r>
              <a:rPr lang="zh-CN" altLang="en-US" sz="1200" dirty="0"/>
              <a:t>订单支付（Payment）事务，占比 &gt;= 43%</a:t>
            </a:r>
          </a:p>
          <a:p>
            <a:r>
              <a:rPr lang="zh-CN" altLang="en-US" sz="1200" dirty="0"/>
              <a:t>订单查询（Order-Status）事务，占比 &gt;= 4%</a:t>
            </a:r>
          </a:p>
          <a:p>
            <a:r>
              <a:rPr lang="zh-CN" altLang="en-US" sz="1200" dirty="0"/>
              <a:t>订单配送（Delivery）事务，占比 &gt;= 4%</a:t>
            </a:r>
          </a:p>
          <a:p>
            <a:r>
              <a:rPr lang="zh-CN" altLang="en-US" sz="1200" dirty="0"/>
              <a:t>库存查询（Stock-Level）事务，占比 &gt;= 4%</a:t>
            </a:r>
          </a:p>
          <a:p>
            <a:endParaRPr lang="zh-CN" altLang="en-US" sz="1200" dirty="0"/>
          </a:p>
        </p:txBody>
      </p:sp>
    </p:spTree>
    <p:extLst>
      <p:ext uri="{BB962C8B-B14F-4D97-AF65-F5344CB8AC3E}">
        <p14:creationId xmlns:p14="http://schemas.microsoft.com/office/powerpoint/2010/main" val="41167032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大数据</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r>
              <a:rPr lang="en-US" altLang="zh-CN" sz="1800" dirty="0"/>
              <a:t>NewSQL</a:t>
            </a:r>
          </a:p>
          <a:p>
            <a:pPr lvl="1"/>
            <a:r>
              <a:rPr kumimoji="1" lang="en-US" altLang="zh-CN" dirty="0"/>
              <a:t>Ocean Base</a:t>
            </a:r>
          </a:p>
          <a:p>
            <a:pPr lvl="1"/>
            <a:r>
              <a:rPr kumimoji="1" lang="zh-CN" altLang="en-US" dirty="0">
                <a:solidFill>
                  <a:srgbClr val="C00000"/>
                </a:solidFill>
              </a:rPr>
              <a:t>系统架构</a:t>
            </a:r>
          </a:p>
        </p:txBody>
      </p:sp>
      <p:pic>
        <p:nvPicPr>
          <p:cNvPr id="5" name="图片 4"/>
          <p:cNvPicPr>
            <a:picLocks noChangeAspect="1"/>
          </p:cNvPicPr>
          <p:nvPr/>
        </p:nvPicPr>
        <p:blipFill>
          <a:blip r:embed="rId2"/>
          <a:stretch>
            <a:fillRect/>
          </a:stretch>
        </p:blipFill>
        <p:spPr>
          <a:xfrm>
            <a:off x="2371725" y="1665800"/>
            <a:ext cx="5657849" cy="2963350"/>
          </a:xfrm>
          <a:prstGeom prst="rect">
            <a:avLst/>
          </a:prstGeom>
        </p:spPr>
      </p:pic>
    </p:spTree>
    <p:extLst>
      <p:ext uri="{BB962C8B-B14F-4D97-AF65-F5344CB8AC3E}">
        <p14:creationId xmlns:p14="http://schemas.microsoft.com/office/powerpoint/2010/main" val="8489248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大数据</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pPr algn="just"/>
            <a:r>
              <a:rPr lang="en-US" altLang="zh-CN" sz="1800" dirty="0"/>
              <a:t>NewSQL</a:t>
            </a:r>
          </a:p>
          <a:p>
            <a:pPr lvl="1" algn="just"/>
            <a:r>
              <a:rPr kumimoji="1" lang="en-US" altLang="zh-CN" dirty="0"/>
              <a:t>Ocean Base</a:t>
            </a:r>
            <a:r>
              <a:rPr kumimoji="1" lang="zh-CN" altLang="en-US" dirty="0">
                <a:solidFill>
                  <a:srgbClr val="C00000"/>
                </a:solidFill>
              </a:rPr>
              <a:t>事务处理</a:t>
            </a:r>
            <a:endParaRPr kumimoji="1" lang="en-US" altLang="zh-CN" dirty="0">
              <a:solidFill>
                <a:srgbClr val="C00000"/>
              </a:solidFill>
            </a:endParaRPr>
          </a:p>
          <a:p>
            <a:pPr lvl="1" algn="just"/>
            <a:r>
              <a:rPr lang="en-US" altLang="zh-CN" sz="1600" dirty="0"/>
              <a:t>Tablet</a:t>
            </a:r>
            <a:r>
              <a:rPr lang="zh-CN" altLang="en-US" sz="1600" dirty="0"/>
              <a:t>是数据管理的最小切片，每个</a:t>
            </a:r>
            <a:r>
              <a:rPr lang="en-US" altLang="zh-CN" sz="1600" dirty="0"/>
              <a:t>Tablet</a:t>
            </a:r>
            <a:r>
              <a:rPr lang="zh-CN" altLang="en-US" sz="1600" dirty="0"/>
              <a:t>是一个</a:t>
            </a:r>
            <a:r>
              <a:rPr lang="en-US" altLang="zh-CN" sz="1600" dirty="0"/>
              <a:t>paxos</a:t>
            </a:r>
            <a:r>
              <a:rPr lang="zh-CN" altLang="en-US" sz="1600" dirty="0"/>
              <a:t>组，并拥有属于这个</a:t>
            </a:r>
            <a:r>
              <a:rPr lang="en-US" altLang="zh-CN" sz="1600" dirty="0"/>
              <a:t>paxos</a:t>
            </a:r>
            <a:r>
              <a:rPr lang="zh-CN" altLang="en-US" sz="1600" dirty="0"/>
              <a:t>组的独立日志流</a:t>
            </a:r>
            <a:endParaRPr lang="en-US" altLang="zh-CN" sz="1600" dirty="0"/>
          </a:p>
          <a:p>
            <a:pPr lvl="2" algn="just"/>
            <a:r>
              <a:rPr lang="zh-CN" altLang="en-US" sz="1400" dirty="0"/>
              <a:t>逻辑上，数据库中的每个</a:t>
            </a:r>
            <a:r>
              <a:rPr lang="en-US" altLang="zh-CN" sz="1400" dirty="0"/>
              <a:t>transaction</a:t>
            </a:r>
            <a:r>
              <a:rPr lang="zh-CN" altLang="en-US" sz="1400" dirty="0"/>
              <a:t>可能修改若干个表的多个分区</a:t>
            </a:r>
            <a:endParaRPr lang="en-US" altLang="zh-CN" sz="1400" dirty="0"/>
          </a:p>
          <a:p>
            <a:pPr lvl="2" algn="just"/>
            <a:r>
              <a:rPr lang="zh-CN" altLang="en-US" sz="1400" dirty="0"/>
              <a:t>物理上，这些修改操作可能涉及到若干个</a:t>
            </a:r>
            <a:r>
              <a:rPr lang="en-US" altLang="zh-CN" sz="1400" dirty="0"/>
              <a:t>Tablet</a:t>
            </a:r>
          </a:p>
          <a:p>
            <a:pPr lvl="2" algn="just"/>
            <a:r>
              <a:rPr lang="en-US" altLang="zh-CN" sz="1400" dirty="0"/>
              <a:t>OB</a:t>
            </a:r>
            <a:r>
              <a:rPr lang="zh-CN" altLang="en-US" sz="1400" dirty="0"/>
              <a:t>的事务处理，结合</a:t>
            </a:r>
            <a:r>
              <a:rPr lang="en-US" altLang="zh-CN" sz="1400" dirty="0"/>
              <a:t>Paxos</a:t>
            </a:r>
            <a:r>
              <a:rPr lang="zh-CN" altLang="en-US" sz="1400" dirty="0"/>
              <a:t>和</a:t>
            </a:r>
            <a:r>
              <a:rPr lang="en-US" altLang="zh-CN" sz="1400" dirty="0"/>
              <a:t>2PC</a:t>
            </a:r>
            <a:r>
              <a:rPr lang="zh-CN" altLang="en-US" sz="1400" dirty="0"/>
              <a:t>（两阶段提交协议），实现了</a:t>
            </a:r>
            <a:r>
              <a:rPr lang="en-US" altLang="zh-CN" sz="1400" dirty="0"/>
              <a:t>transaction</a:t>
            </a:r>
            <a:r>
              <a:rPr lang="zh-CN" altLang="en-US" sz="1400" dirty="0"/>
              <a:t>对这些</a:t>
            </a:r>
            <a:r>
              <a:rPr lang="en-US" altLang="zh-CN" sz="1400" dirty="0"/>
              <a:t>Tablet</a:t>
            </a:r>
            <a:r>
              <a:rPr lang="zh-CN" altLang="en-US" sz="1400" dirty="0"/>
              <a:t>增删改查的</a:t>
            </a:r>
            <a:r>
              <a:rPr lang="en-US" altLang="zh-CN" sz="1400" dirty="0"/>
              <a:t>ACID</a:t>
            </a:r>
            <a:r>
              <a:rPr lang="zh-CN" altLang="en-US" sz="1400" dirty="0"/>
              <a:t>特性</a:t>
            </a:r>
            <a:endParaRPr kumimoji="1" lang="zh-CN" altLang="en-US" sz="1400" dirty="0"/>
          </a:p>
        </p:txBody>
      </p:sp>
      <p:pic>
        <p:nvPicPr>
          <p:cNvPr id="4" name="图片 3"/>
          <p:cNvPicPr>
            <a:picLocks noChangeAspect="1"/>
          </p:cNvPicPr>
          <p:nvPr/>
        </p:nvPicPr>
        <p:blipFill>
          <a:blip r:embed="rId2"/>
          <a:stretch>
            <a:fillRect/>
          </a:stretch>
        </p:blipFill>
        <p:spPr>
          <a:xfrm>
            <a:off x="2919412" y="3133665"/>
            <a:ext cx="3588543" cy="1919348"/>
          </a:xfrm>
          <a:prstGeom prst="rect">
            <a:avLst/>
          </a:prstGeom>
        </p:spPr>
      </p:pic>
    </p:spTree>
    <p:extLst>
      <p:ext uri="{BB962C8B-B14F-4D97-AF65-F5344CB8AC3E}">
        <p14:creationId xmlns:p14="http://schemas.microsoft.com/office/powerpoint/2010/main" val="2633751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大数据</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endParaRPr kumimoji="1" lang="en-US" altLang="zh-CN"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459182" y="819150"/>
            <a:ext cx="3926897" cy="40041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45898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大数据处理平台</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a:xfrm>
            <a:off x="457200" y="819150"/>
            <a:ext cx="8229600" cy="3937000"/>
          </a:xfrm>
        </p:spPr>
        <p:txBody>
          <a:bodyPr>
            <a:normAutofit/>
          </a:bodyPr>
          <a:lstStyle/>
          <a:p>
            <a:pPr algn="just"/>
            <a:r>
              <a:rPr kumimoji="1" lang="en-US" altLang="zh-CN" dirty="0">
                <a:solidFill>
                  <a:srgbClr val="C00000"/>
                </a:solidFill>
              </a:rPr>
              <a:t>Hadoop</a:t>
            </a:r>
          </a:p>
          <a:p>
            <a:pPr lvl="1" algn="just"/>
            <a:r>
              <a:rPr lang="en-US" altLang="zh-CN" dirty="0"/>
              <a:t>Hadoop</a:t>
            </a:r>
            <a:r>
              <a:rPr lang="zh-CN" altLang="en-US" dirty="0"/>
              <a:t>是其中最著名的开源分布式存储和处理框架，它由</a:t>
            </a:r>
            <a:r>
              <a:rPr lang="en-US" altLang="zh-CN" dirty="0"/>
              <a:t>Apache</a:t>
            </a:r>
            <a:r>
              <a:rPr lang="zh-CN" altLang="en-US" dirty="0"/>
              <a:t>基金会开发</a:t>
            </a:r>
            <a:endParaRPr lang="en-US" altLang="zh-CN" dirty="0"/>
          </a:p>
          <a:p>
            <a:pPr lvl="1" algn="just"/>
            <a:r>
              <a:rPr lang="en-US" altLang="zh-CN" dirty="0"/>
              <a:t>Hadoop</a:t>
            </a:r>
            <a:r>
              <a:rPr lang="zh-CN" altLang="en-US" dirty="0"/>
              <a:t>使用</a:t>
            </a:r>
            <a:r>
              <a:rPr lang="en-US" altLang="zh-CN" dirty="0"/>
              <a:t>Hadoop</a:t>
            </a:r>
            <a:r>
              <a:rPr lang="zh-CN" altLang="en-US" dirty="0"/>
              <a:t>分布式文件系统（</a:t>
            </a:r>
            <a:r>
              <a:rPr lang="en-US" altLang="zh-CN" dirty="0">
                <a:solidFill>
                  <a:srgbClr val="C00000"/>
                </a:solidFill>
              </a:rPr>
              <a:t>HDFS</a:t>
            </a:r>
            <a:r>
              <a:rPr lang="zh-CN" altLang="en-US" dirty="0"/>
              <a:t>）存储海量数据，并使用</a:t>
            </a:r>
            <a:r>
              <a:rPr lang="en-US" altLang="zh-CN" dirty="0">
                <a:solidFill>
                  <a:srgbClr val="C00000"/>
                </a:solidFill>
              </a:rPr>
              <a:t>MapReduce</a:t>
            </a:r>
            <a:r>
              <a:rPr lang="zh-CN" altLang="en-US" dirty="0"/>
              <a:t>处理数据</a:t>
            </a:r>
            <a:endParaRPr lang="en-US" altLang="zh-CN" dirty="0"/>
          </a:p>
          <a:p>
            <a:pPr lvl="1" algn="just"/>
            <a:r>
              <a:rPr lang="zh-CN" altLang="en-US" dirty="0"/>
              <a:t>这种技术可以让数据在多个计算节点之间</a:t>
            </a:r>
            <a:r>
              <a:rPr lang="zh-CN" altLang="en-US" dirty="0">
                <a:solidFill>
                  <a:srgbClr val="C00000"/>
                </a:solidFill>
              </a:rPr>
              <a:t>分布式存储和处理</a:t>
            </a:r>
            <a:endParaRPr lang="en-US" altLang="zh-CN" dirty="0"/>
          </a:p>
          <a:p>
            <a:pPr lvl="2" algn="just"/>
            <a:r>
              <a:rPr lang="zh-CN" altLang="en-US" dirty="0"/>
              <a:t>从而加快数据处理速度和可靠性</a:t>
            </a:r>
            <a:endParaRPr kumimoji="1" lang="en-US" altLang="zh-CN" dirty="0"/>
          </a:p>
        </p:txBody>
      </p:sp>
    </p:spTree>
    <p:extLst>
      <p:ext uri="{BB962C8B-B14F-4D97-AF65-F5344CB8AC3E}">
        <p14:creationId xmlns:p14="http://schemas.microsoft.com/office/powerpoint/2010/main" val="16886156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大数据处理平台</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a:xfrm>
            <a:off x="457200" y="819150"/>
            <a:ext cx="8229600" cy="3937000"/>
          </a:xfrm>
        </p:spPr>
        <p:txBody>
          <a:bodyPr>
            <a:normAutofit/>
          </a:bodyPr>
          <a:lstStyle/>
          <a:p>
            <a:pPr algn="just"/>
            <a:r>
              <a:rPr kumimoji="1" lang="en-US" altLang="zh-CN" dirty="0">
                <a:solidFill>
                  <a:srgbClr val="C00000"/>
                </a:solidFill>
              </a:rPr>
              <a:t>Spark</a:t>
            </a:r>
          </a:p>
          <a:p>
            <a:pPr lvl="1" algn="just"/>
            <a:r>
              <a:rPr lang="en-US" altLang="zh-CN" dirty="0"/>
              <a:t>Spark </a:t>
            </a:r>
            <a:r>
              <a:rPr lang="zh-CN" altLang="en-US" dirty="0"/>
              <a:t>最初由加州大学伯克利分校的 </a:t>
            </a:r>
            <a:r>
              <a:rPr lang="en-US" altLang="zh-CN" dirty="0"/>
              <a:t>AMP Lab </a:t>
            </a:r>
            <a:r>
              <a:rPr lang="zh-CN" altLang="en-US" dirty="0"/>
              <a:t>开发，是 </a:t>
            </a:r>
            <a:r>
              <a:rPr lang="en-US" altLang="zh-CN" dirty="0"/>
              <a:t>Hadoop MapReduce </a:t>
            </a:r>
            <a:r>
              <a:rPr lang="zh-CN" altLang="en-US" dirty="0"/>
              <a:t>的替代品</a:t>
            </a:r>
            <a:endParaRPr lang="en-US" altLang="zh-CN" dirty="0"/>
          </a:p>
          <a:p>
            <a:pPr lvl="1" algn="just"/>
            <a:r>
              <a:rPr lang="en-US" altLang="zh-CN" dirty="0"/>
              <a:t>Spark</a:t>
            </a:r>
            <a:r>
              <a:rPr lang="zh-CN" altLang="en-US" dirty="0"/>
              <a:t>是一种</a:t>
            </a:r>
            <a:r>
              <a:rPr lang="zh-CN" altLang="en-US" dirty="0">
                <a:solidFill>
                  <a:srgbClr val="C00000"/>
                </a:solidFill>
              </a:rPr>
              <a:t>内存</a:t>
            </a:r>
            <a:r>
              <a:rPr lang="zh-CN" altLang="en-US" dirty="0"/>
              <a:t>计算框架</a:t>
            </a:r>
            <a:endParaRPr lang="en-US" altLang="zh-CN" dirty="0"/>
          </a:p>
          <a:p>
            <a:pPr lvl="1" algn="just"/>
            <a:r>
              <a:rPr lang="en-US" altLang="zh-CN" dirty="0"/>
              <a:t>Apache Spark </a:t>
            </a:r>
            <a:r>
              <a:rPr lang="zh-CN" altLang="en-US" dirty="0"/>
              <a:t>是用 </a:t>
            </a:r>
            <a:r>
              <a:rPr lang="en-US" altLang="zh-CN" dirty="0"/>
              <a:t>Scala </a:t>
            </a:r>
            <a:r>
              <a:rPr lang="zh-CN" altLang="en-US" dirty="0"/>
              <a:t>语言开发的，但也提供了 </a:t>
            </a:r>
            <a:r>
              <a:rPr lang="en-US" altLang="zh-CN" dirty="0"/>
              <a:t>Python</a:t>
            </a:r>
            <a:r>
              <a:rPr lang="zh-CN" altLang="en-US" dirty="0"/>
              <a:t>、</a:t>
            </a:r>
            <a:r>
              <a:rPr lang="en-US" altLang="zh-CN" dirty="0"/>
              <a:t>Java</a:t>
            </a:r>
            <a:r>
              <a:rPr lang="zh-CN" altLang="en-US" dirty="0"/>
              <a:t>、</a:t>
            </a:r>
            <a:r>
              <a:rPr lang="en-US" altLang="zh-CN" dirty="0"/>
              <a:t>R </a:t>
            </a:r>
            <a:r>
              <a:rPr lang="zh-CN" altLang="en-US" dirty="0"/>
              <a:t>和 </a:t>
            </a:r>
            <a:r>
              <a:rPr lang="en-US" altLang="zh-CN" dirty="0"/>
              <a:t>SQL </a:t>
            </a:r>
            <a:r>
              <a:rPr lang="zh-CN" altLang="en-US" dirty="0"/>
              <a:t>等多种编程语言的支持</a:t>
            </a:r>
            <a:endParaRPr lang="en-US" altLang="zh-CN" dirty="0"/>
          </a:p>
          <a:p>
            <a:pPr lvl="1" algn="just"/>
            <a:r>
              <a:rPr lang="zh-CN" altLang="en-US" dirty="0"/>
              <a:t>它使用</a:t>
            </a:r>
            <a:r>
              <a:rPr lang="en-US" altLang="zh-CN" dirty="0">
                <a:solidFill>
                  <a:srgbClr val="C00000"/>
                </a:solidFill>
              </a:rPr>
              <a:t>RDD</a:t>
            </a:r>
            <a:r>
              <a:rPr lang="zh-CN" altLang="en-US" dirty="0"/>
              <a:t>（</a:t>
            </a:r>
            <a:r>
              <a:rPr lang="en-US" altLang="zh-CN" dirty="0"/>
              <a:t>Resilient Distributed Datasets</a:t>
            </a:r>
            <a:r>
              <a:rPr lang="zh-CN" altLang="en-US" dirty="0"/>
              <a:t>）作为基本数据结构，具有快速的计算速度和高效的内存管理能力</a:t>
            </a:r>
            <a:endParaRPr lang="en-US" altLang="zh-CN" dirty="0"/>
          </a:p>
          <a:p>
            <a:pPr lvl="1" algn="just"/>
            <a:r>
              <a:rPr lang="en-US" altLang="zh-CN" dirty="0"/>
              <a:t>Spark</a:t>
            </a:r>
            <a:r>
              <a:rPr lang="zh-CN" altLang="en-US" dirty="0"/>
              <a:t>在一个平台上支持结构化数据处理</a:t>
            </a:r>
            <a:r>
              <a:rPr lang="en-US" altLang="zh-CN" dirty="0">
                <a:solidFill>
                  <a:srgbClr val="C00000"/>
                </a:solidFill>
              </a:rPr>
              <a:t>SparkSQL</a:t>
            </a:r>
            <a:r>
              <a:rPr lang="zh-CN" altLang="en-US" dirty="0"/>
              <a:t>，图数据处理</a:t>
            </a:r>
            <a:r>
              <a:rPr lang="en-US" altLang="zh-CN" dirty="0">
                <a:solidFill>
                  <a:srgbClr val="C00000"/>
                </a:solidFill>
              </a:rPr>
              <a:t>GraphX</a:t>
            </a:r>
            <a:r>
              <a:rPr lang="zh-CN" altLang="en-US" dirty="0"/>
              <a:t>，流数据处理</a:t>
            </a:r>
            <a:r>
              <a:rPr lang="en-US" altLang="zh-CN" dirty="0">
                <a:solidFill>
                  <a:srgbClr val="C00000"/>
                </a:solidFill>
              </a:rPr>
              <a:t>Spark Streaming</a:t>
            </a:r>
            <a:r>
              <a:rPr lang="zh-CN" altLang="en-US" dirty="0"/>
              <a:t>，机器学习</a:t>
            </a:r>
            <a:r>
              <a:rPr lang="en-US" altLang="zh-CN" dirty="0">
                <a:solidFill>
                  <a:srgbClr val="C00000"/>
                </a:solidFill>
              </a:rPr>
              <a:t>MLLib</a:t>
            </a:r>
            <a:endParaRPr kumimoji="1" lang="en-US" altLang="zh-CN" dirty="0">
              <a:solidFill>
                <a:srgbClr val="C00000"/>
              </a:solidFill>
            </a:endParaRPr>
          </a:p>
        </p:txBody>
      </p:sp>
    </p:spTree>
    <p:extLst>
      <p:ext uri="{BB962C8B-B14F-4D97-AF65-F5344CB8AC3E}">
        <p14:creationId xmlns:p14="http://schemas.microsoft.com/office/powerpoint/2010/main" val="32806163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大数据处理平台</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a:xfrm>
            <a:off x="457200" y="819150"/>
            <a:ext cx="8229600" cy="3937000"/>
          </a:xfrm>
        </p:spPr>
        <p:txBody>
          <a:bodyPr>
            <a:normAutofit/>
          </a:bodyPr>
          <a:lstStyle/>
          <a:p>
            <a:pPr algn="just"/>
            <a:r>
              <a:rPr kumimoji="1" lang="en-US" altLang="zh-CN" dirty="0">
                <a:solidFill>
                  <a:srgbClr val="C00000"/>
                </a:solidFill>
              </a:rPr>
              <a:t>Spark</a:t>
            </a:r>
          </a:p>
          <a:p>
            <a:pPr lvl="1" algn="just"/>
            <a:r>
              <a:rPr lang="en-US" altLang="zh-CN" dirty="0"/>
              <a:t>Spark </a:t>
            </a:r>
            <a:r>
              <a:rPr lang="zh-CN" altLang="en-US" dirty="0"/>
              <a:t>的开发者们深刻认识到 </a:t>
            </a:r>
            <a:r>
              <a:rPr lang="en-US" altLang="zh-CN" dirty="0"/>
              <a:t>Hadoop </a:t>
            </a:r>
            <a:r>
              <a:rPr lang="zh-CN" altLang="en-US" dirty="0"/>
              <a:t>存在一些问题，比如在磁盘上读写大量数据会导致 </a:t>
            </a:r>
            <a:r>
              <a:rPr lang="en-US" altLang="zh-CN" dirty="0"/>
              <a:t>IO </a:t>
            </a:r>
            <a:r>
              <a:rPr lang="zh-CN" altLang="en-US" dirty="0"/>
              <a:t>瓶颈</a:t>
            </a:r>
            <a:endParaRPr lang="en-US" altLang="zh-CN" dirty="0"/>
          </a:p>
          <a:p>
            <a:pPr lvl="1" algn="just"/>
            <a:r>
              <a:rPr lang="zh-CN" altLang="en-US" dirty="0"/>
              <a:t>而且 </a:t>
            </a:r>
            <a:r>
              <a:rPr lang="en-US" altLang="zh-CN" dirty="0"/>
              <a:t>Hadoop </a:t>
            </a:r>
            <a:r>
              <a:rPr lang="zh-CN" altLang="en-US" dirty="0"/>
              <a:t>的 </a:t>
            </a:r>
            <a:r>
              <a:rPr lang="en-US" altLang="zh-CN" dirty="0"/>
              <a:t>MapReduce </a:t>
            </a:r>
            <a:r>
              <a:rPr lang="zh-CN" altLang="en-US" dirty="0"/>
              <a:t>计算模型的表达能力过于简单，不适合处理一些复杂的数据分析和处理任务</a:t>
            </a:r>
            <a:endParaRPr kumimoji="1" lang="en-US" altLang="zh-CN" dirty="0"/>
          </a:p>
        </p:txBody>
      </p:sp>
    </p:spTree>
    <p:extLst>
      <p:ext uri="{BB962C8B-B14F-4D97-AF65-F5344CB8AC3E}">
        <p14:creationId xmlns:p14="http://schemas.microsoft.com/office/powerpoint/2010/main" val="26324078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大数据</a:t>
            </a:r>
          </a:p>
        </p:txBody>
      </p:sp>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a:bodyPr>
          <a:lstStyle/>
          <a:p>
            <a:endParaRPr kumimoji="1" lang="en-US" altLang="zh-CN"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459182" y="819150"/>
            <a:ext cx="3926897" cy="40041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61978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1111111111"/>
</p:tagLst>
</file>

<file path=ppt/tags/tag2.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99"/>
  <p:tag name="KSO_WM_UNIT_TYPE" val="l_h_a"/>
  <p:tag name="KSO_WM_UNIT_INDEX" val="1_1_1"/>
  <p:tag name="KSO_WM_UNIT_ID" val="260*l_h_a*1_1_1"/>
  <p:tag name="KSO_WM_UNIT_CLEAR" val="1"/>
  <p:tag name="KSO_WM_UNIT_LAYERLEVEL" val="1_1_1"/>
  <p:tag name="KSO_WM_UNIT_VALUE" val="19"/>
  <p:tag name="KSO_WM_UNIT_HIGHLIGHT" val="0"/>
  <p:tag name="KSO_WM_UNIT_COMPATIBLE" val="0"/>
  <p:tag name="KSO_WM_BEAUTIFY_FLAG" val="#wm#"/>
  <p:tag name="KSO_WM_UNIT_PRESET_TEXT_INDEX" val="4"/>
  <p:tag name="KSO_WM_UNIT_PRESET_TEXT_LEN" val="12"/>
  <p:tag name="KSO_WM_DIAGRAM_GROUP_CODE" val="l1-1"/>
  <p:tag name="KSO_WM_TAG_VERSION" val="1.0"/>
  <p:tag name="KSO_WM_UNIT_TEXT_FILL_FORE_SCHEMECOLOR_INDEX" val="5"/>
  <p:tag name="KSO_WM_UNIT_TEXT_FILL_TYPE" val="1"/>
  <p:tag name="KSO_WM_UNIT_USESOURCEFORMAT_APPLY" val="0"/>
</p:tagLst>
</file>

<file path=ppt/tags/tag3.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99"/>
  <p:tag name="KSO_WM_UNIT_TYPE" val="l_h_f"/>
  <p:tag name="KSO_WM_UNIT_INDEX" val="1_1_1"/>
  <p:tag name="KSO_WM_UNIT_ID" val="260*l_h_f*1_1_1"/>
  <p:tag name="KSO_WM_UNIT_CLEAR" val="1"/>
  <p:tag name="KSO_WM_UNIT_LAYERLEVEL" val="1_1_1"/>
  <p:tag name="KSO_WM_UNIT_VALUE" val="38"/>
  <p:tag name="KSO_WM_UNIT_HIGHLIGHT" val="0"/>
  <p:tag name="KSO_WM_UNIT_COMPATIBLE" val="0"/>
  <p:tag name="KSO_WM_BEAUTIFY_FLAG" val="#wm#"/>
  <p:tag name="KSO_WM_UNIT_PRESET_TEXT_INDEX" val="4"/>
  <p:tag name="KSO_WM_UNIT_PRESET_TEXT_LEN" val="55"/>
  <p:tag name="KSO_WM_DIAGRAM_GROUP_CODE" val="l1-1"/>
  <p:tag name="KSO_WM_TAG_VERSION" val="1.0"/>
  <p:tag name="KSO_WM_UNIT_TEXT_FILL_FORE_SCHEMECOLOR_INDEX" val="13"/>
  <p:tag name="KSO_WM_UNIT_TEXT_FILL_TYPE" val="1"/>
  <p:tag name="KSO_WM_UNIT_USESOURCEFORMAT_APPLY" val="0"/>
</p:tagLst>
</file>

<file path=ppt/theme/theme1.xml><?xml version="1.0" encoding="utf-8"?>
<a:theme xmlns:a="http://schemas.openxmlformats.org/drawingml/2006/main" name="清风素材 https://12sc.taobao.co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6950</TotalTime>
  <Words>3777</Words>
  <Application>Microsoft Office PowerPoint</Application>
  <PresentationFormat>全屏显示(16:9)</PresentationFormat>
  <Paragraphs>460</Paragraphs>
  <Slides>67</Slides>
  <Notes>2</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67</vt:i4>
      </vt:variant>
    </vt:vector>
  </HeadingPairs>
  <TitlesOfParts>
    <vt:vector size="82" baseType="lpstr">
      <vt:lpstr>pingfang SC</vt:lpstr>
      <vt:lpstr>等线</vt:lpstr>
      <vt:lpstr>华文彩云</vt:lpstr>
      <vt:lpstr>STZhongsong</vt:lpstr>
      <vt:lpstr>STZhongsong</vt:lpstr>
      <vt:lpstr>宋体</vt:lpstr>
      <vt:lpstr>微软雅黑</vt:lpstr>
      <vt:lpstr>微软雅黑</vt:lpstr>
      <vt:lpstr>Arial</vt:lpstr>
      <vt:lpstr>Calibri</vt:lpstr>
      <vt:lpstr>Cambria Math</vt:lpstr>
      <vt:lpstr>Mangal</vt:lpstr>
      <vt:lpstr>Times New Roman</vt:lpstr>
      <vt:lpstr>Wingdings</vt:lpstr>
      <vt:lpstr>清风素材 https://12sc.taobao.com/</vt:lpstr>
      <vt:lpstr>PowerPoint 演示文稿</vt:lpstr>
      <vt:lpstr>PowerPoint 演示文稿</vt:lpstr>
      <vt:lpstr>大数据时代</vt:lpstr>
      <vt:lpstr>大数据时代</vt:lpstr>
      <vt:lpstr>大数据时代</vt:lpstr>
      <vt:lpstr>大数据时代</vt:lpstr>
      <vt:lpstr>大数据时代</vt:lpstr>
      <vt:lpstr>大数据时代</vt:lpstr>
      <vt:lpstr>大数据时代</vt:lpstr>
      <vt:lpstr>大数据时代</vt:lpstr>
      <vt:lpstr>大数据时代</vt:lpstr>
      <vt:lpstr>大数据时代</vt:lpstr>
      <vt:lpstr>大数据时代</vt:lpstr>
      <vt:lpstr>大数据时代</vt:lpstr>
      <vt:lpstr>大数据时代</vt:lpstr>
      <vt:lpstr>大数据</vt:lpstr>
      <vt:lpstr>大数据</vt:lpstr>
      <vt:lpstr>大数据</vt:lpstr>
      <vt:lpstr>大数据</vt:lpstr>
      <vt:lpstr>大数据</vt:lpstr>
      <vt:lpstr>大数据</vt:lpstr>
      <vt:lpstr>大数据</vt:lpstr>
      <vt:lpstr>大数据</vt:lpstr>
      <vt:lpstr>大数据</vt:lpstr>
      <vt:lpstr>大数据</vt:lpstr>
      <vt:lpstr>大数据</vt:lpstr>
      <vt:lpstr>大数据</vt:lpstr>
      <vt:lpstr>大数据基础引论</vt:lpstr>
      <vt:lpstr>大数据基础引论</vt:lpstr>
      <vt:lpstr>大数据基础引论</vt:lpstr>
      <vt:lpstr>大数据</vt:lpstr>
      <vt:lpstr>大数据</vt:lpstr>
      <vt:lpstr>大数据</vt:lpstr>
      <vt:lpstr>大数据</vt:lpstr>
      <vt:lpstr>大数据</vt:lpstr>
      <vt:lpstr>大数据</vt:lpstr>
      <vt:lpstr>大数据</vt:lpstr>
      <vt:lpstr>大数据</vt:lpstr>
      <vt:lpstr>大数据</vt:lpstr>
      <vt:lpstr>大数据</vt:lpstr>
      <vt:lpstr>大数据</vt:lpstr>
      <vt:lpstr>大数据</vt:lpstr>
      <vt:lpstr>大数据</vt:lpstr>
      <vt:lpstr>大数据</vt:lpstr>
      <vt:lpstr>大数据</vt:lpstr>
      <vt:lpstr>大数据</vt:lpstr>
      <vt:lpstr>大数据</vt:lpstr>
      <vt:lpstr>大数据</vt:lpstr>
      <vt:lpstr>大数据</vt:lpstr>
      <vt:lpstr>大数据</vt:lpstr>
      <vt:lpstr>大数据</vt:lpstr>
      <vt:lpstr>大数据</vt:lpstr>
      <vt:lpstr>大数据</vt:lpstr>
      <vt:lpstr>大数据</vt:lpstr>
      <vt:lpstr>大数据</vt:lpstr>
      <vt:lpstr>大数据</vt:lpstr>
      <vt:lpstr>大数据</vt:lpstr>
      <vt:lpstr>大数据</vt:lpstr>
      <vt:lpstr>大数据</vt:lpstr>
      <vt:lpstr>大数据</vt:lpstr>
      <vt:lpstr>大数据</vt:lpstr>
      <vt:lpstr>大数据</vt:lpstr>
      <vt:lpstr>大数据</vt:lpstr>
      <vt:lpstr>大数据处理平台</vt:lpstr>
      <vt:lpstr>大数据处理平台</vt:lpstr>
      <vt:lpstr>大数据处理平台</vt:lpstr>
      <vt:lpstr>大数据</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Administrator</dc:creator>
  <cp:keywords/>
  <dc:description/>
  <cp:lastModifiedBy>雄派 覃</cp:lastModifiedBy>
  <cp:revision>406</cp:revision>
  <cp:lastPrinted>2020-03-27T09:34:47Z</cp:lastPrinted>
  <dcterms:created xsi:type="dcterms:W3CDTF">2015-01-23T04:02:45Z</dcterms:created>
  <dcterms:modified xsi:type="dcterms:W3CDTF">2023-04-21T08:28:13Z</dcterms:modified>
  <cp:category/>
  <cp:contentStatus>12sc.taobao.com</cp:contentStatus>
</cp:coreProperties>
</file>