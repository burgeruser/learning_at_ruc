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610" r:id="rId2"/>
    <p:sldId id="285" r:id="rId3"/>
    <p:sldId id="611" r:id="rId4"/>
    <p:sldId id="612" r:id="rId5"/>
    <p:sldId id="692" r:id="rId6"/>
    <p:sldId id="618" r:id="rId7"/>
    <p:sldId id="619" r:id="rId8"/>
    <p:sldId id="620" r:id="rId9"/>
    <p:sldId id="621" r:id="rId10"/>
    <p:sldId id="622" r:id="rId11"/>
    <p:sldId id="623" r:id="rId12"/>
    <p:sldId id="624" r:id="rId13"/>
    <p:sldId id="625" r:id="rId14"/>
    <p:sldId id="693" r:id="rId15"/>
    <p:sldId id="626" r:id="rId16"/>
    <p:sldId id="627" r:id="rId17"/>
    <p:sldId id="628" r:id="rId18"/>
    <p:sldId id="629" r:id="rId19"/>
    <p:sldId id="630" r:id="rId20"/>
    <p:sldId id="631" r:id="rId21"/>
    <p:sldId id="632" r:id="rId22"/>
    <p:sldId id="633" r:id="rId23"/>
    <p:sldId id="694" r:id="rId24"/>
    <p:sldId id="634" r:id="rId25"/>
    <p:sldId id="635" r:id="rId26"/>
    <p:sldId id="636" r:id="rId27"/>
    <p:sldId id="637" r:id="rId28"/>
    <p:sldId id="638" r:id="rId29"/>
    <p:sldId id="639" r:id="rId30"/>
    <p:sldId id="695" r:id="rId31"/>
    <p:sldId id="640" r:id="rId32"/>
    <p:sldId id="641" r:id="rId33"/>
    <p:sldId id="642" r:id="rId34"/>
    <p:sldId id="643" r:id="rId35"/>
    <p:sldId id="644" r:id="rId36"/>
    <p:sldId id="645" r:id="rId37"/>
    <p:sldId id="696" r:id="rId38"/>
    <p:sldId id="646" r:id="rId39"/>
    <p:sldId id="647" r:id="rId40"/>
    <p:sldId id="648" r:id="rId41"/>
    <p:sldId id="650" r:id="rId42"/>
    <p:sldId id="649" r:id="rId43"/>
    <p:sldId id="651" r:id="rId44"/>
    <p:sldId id="652" r:id="rId45"/>
    <p:sldId id="653" r:id="rId46"/>
    <p:sldId id="654" r:id="rId47"/>
    <p:sldId id="655" r:id="rId48"/>
    <p:sldId id="656" r:id="rId49"/>
    <p:sldId id="697" r:id="rId50"/>
    <p:sldId id="613" r:id="rId51"/>
    <p:sldId id="614" r:id="rId52"/>
    <p:sldId id="615" r:id="rId53"/>
    <p:sldId id="616" r:id="rId54"/>
    <p:sldId id="617" r:id="rId55"/>
    <p:sldId id="698"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D21623A-C671-2D44-B254-F252EBE76DF6}">
          <p14:sldIdLst>
            <p14:sldId id="610"/>
            <p14:sldId id="285"/>
            <p14:sldId id="611"/>
            <p14:sldId id="612"/>
            <p14:sldId id="692"/>
            <p14:sldId id="618"/>
            <p14:sldId id="619"/>
            <p14:sldId id="620"/>
            <p14:sldId id="621"/>
            <p14:sldId id="622"/>
            <p14:sldId id="623"/>
            <p14:sldId id="624"/>
            <p14:sldId id="625"/>
            <p14:sldId id="693"/>
            <p14:sldId id="626"/>
            <p14:sldId id="627"/>
            <p14:sldId id="628"/>
            <p14:sldId id="629"/>
            <p14:sldId id="630"/>
            <p14:sldId id="631"/>
            <p14:sldId id="632"/>
            <p14:sldId id="633"/>
            <p14:sldId id="694"/>
            <p14:sldId id="634"/>
            <p14:sldId id="635"/>
            <p14:sldId id="636"/>
            <p14:sldId id="637"/>
            <p14:sldId id="638"/>
            <p14:sldId id="639"/>
            <p14:sldId id="695"/>
            <p14:sldId id="640"/>
            <p14:sldId id="641"/>
            <p14:sldId id="642"/>
            <p14:sldId id="643"/>
            <p14:sldId id="644"/>
            <p14:sldId id="645"/>
            <p14:sldId id="696"/>
            <p14:sldId id="646"/>
            <p14:sldId id="647"/>
            <p14:sldId id="648"/>
            <p14:sldId id="650"/>
            <p14:sldId id="649"/>
            <p14:sldId id="651"/>
            <p14:sldId id="652"/>
            <p14:sldId id="653"/>
            <p14:sldId id="654"/>
            <p14:sldId id="655"/>
            <p14:sldId id="656"/>
            <p14:sldId id="697"/>
            <p14:sldId id="613"/>
            <p14:sldId id="614"/>
            <p14:sldId id="615"/>
            <p14:sldId id="616"/>
            <p14:sldId id="617"/>
            <p14:sldId id="698"/>
          </p14:sldIdLst>
        </p14:section>
      </p14:sectionLst>
    </p:ext>
    <p:ext uri="{EFAFB233-063F-42B5-8137-9DF3F51BA10A}">
      <p15:sldGuideLst xmlns:p15="http://schemas.microsoft.com/office/powerpoint/2012/main">
        <p15:guide id="1" orient="horz" pos="218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95" autoAdjust="0"/>
    <p:restoredTop sz="93692" autoAdjust="0"/>
  </p:normalViewPr>
  <p:slideViewPr>
    <p:cSldViewPr>
      <p:cViewPr varScale="1">
        <p:scale>
          <a:sx n="76" d="100"/>
          <a:sy n="76" d="100"/>
        </p:scale>
        <p:origin x="1808" y="41"/>
      </p:cViewPr>
      <p:guideLst>
        <p:guide orient="horz" pos="21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05AC6C-9512-4B60-88A3-550D11AC211E}" type="datetimeFigureOut">
              <a:rPr lang="en-US" smtClean="0"/>
              <a:t>5/5/2023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BA42DD-6D94-4698-832B-FD6413A899CA}" type="slidenum">
              <a:rPr lang="en-US" smtClean="0"/>
              <a:t>‹#›</a:t>
            </a:fld>
            <a:endParaRPr lang="en-US"/>
          </a:p>
        </p:txBody>
      </p:sp>
    </p:spTree>
    <p:extLst>
      <p:ext uri="{BB962C8B-B14F-4D97-AF65-F5344CB8AC3E}">
        <p14:creationId xmlns:p14="http://schemas.microsoft.com/office/powerpoint/2010/main" val="752445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73157"/>
            <a:ext cx="7772400" cy="1470025"/>
          </a:xfrm>
        </p:spPr>
        <p:txBody>
          <a:bodyPr anchor="b"/>
          <a:lstStyle>
            <a:lvl1pPr algn="l">
              <a:defRPr sz="4800"/>
            </a:lvl1pPr>
          </a:lstStyle>
          <a:p>
            <a:r>
              <a:rPr kumimoji="0" lang="en-US"/>
              <a:t>Click to edit Master title style</a:t>
            </a:r>
          </a:p>
        </p:txBody>
      </p:sp>
      <p:sp>
        <p:nvSpPr>
          <p:cNvPr id="3" name="Subtitle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7" name="灯片编号占位符 3">
            <a:extLst>
              <a:ext uri="{FF2B5EF4-FFF2-40B4-BE49-F238E27FC236}">
                <a16:creationId xmlns:a16="http://schemas.microsoft.com/office/drawing/2014/main" id="{3712DD02-EDF1-4DE5-8819-AAE28276EE89}"/>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微软雅黑" panose="020B0503020204020204" pitchFamily="34" charset="-122"/>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微软雅黑" panose="020B0503020204020204" pitchFamily="34" charset="-122"/>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2924181"/>
            <a:ext cx="7772400" cy="1362075"/>
          </a:xfrm>
        </p:spPr>
        <p:txBody>
          <a:bodyPr anchor="t"/>
          <a:lstStyle>
            <a:lvl1pPr algn="l">
              <a:defRPr sz="4400" b="0" cap="all"/>
            </a:lvl1pPr>
          </a:lstStyle>
          <a:p>
            <a:r>
              <a:rPr kumimoji="0" lang="en-US"/>
              <a:t>Click to edit Master title style</a:t>
            </a:r>
          </a:p>
        </p:txBody>
      </p:sp>
      <p:sp>
        <p:nvSpPr>
          <p:cNvPr id="3" name="Text Placeholder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灯片编号占位符 3">
            <a:extLst>
              <a:ext uri="{FF2B5EF4-FFF2-40B4-BE49-F238E27FC236}">
                <a16:creationId xmlns:a16="http://schemas.microsoft.com/office/drawing/2014/main" id="{18524F79-73A5-4710-9319-220E80AC0C1F}"/>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微软雅黑" panose="020B0503020204020204" pitchFamily="34" charset="-122"/>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微软雅黑" panose="020B0503020204020204" pitchFamily="34" charset="-122"/>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457205" y="285728"/>
            <a:ext cx="8230993" cy="696626"/>
          </a:xfrm>
        </p:spPr>
        <p:txBody>
          <a:bodyPr anchor="ctr"/>
          <a:lstStyle>
            <a:lvl1pPr algn="ctr">
              <a:defRPr sz="3600" b="0"/>
            </a:lvl1pPr>
          </a:lstStyle>
          <a:p>
            <a:r>
              <a:rPr kumimoji="0"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1024" y="642918"/>
            <a:ext cx="785818" cy="4572032"/>
          </a:xfrm>
        </p:spPr>
        <p:txBody>
          <a:bodyPr vert="eaVert" anchor="ctr"/>
          <a:lstStyle>
            <a:lvl1pPr algn="l">
              <a:defRPr sz="2400" b="0"/>
            </a:lvl1pPr>
          </a:lstStyle>
          <a:p>
            <a:r>
              <a:rPr kumimoji="0" lang="en-US"/>
              <a:t>Click to edit Master title style</a:t>
            </a:r>
          </a:p>
        </p:txBody>
      </p:sp>
      <p:sp>
        <p:nvSpPr>
          <p:cNvPr id="3" name="Picture Placeholder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p:nvSpPr>
          <p:cNvPr id="4" name="Text Placeholder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68" y="274639"/>
            <a:ext cx="1543032"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61513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4"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Rectangle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Rectangle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2" name="Title Placeholder 1"/>
          <p:cNvSpPr>
            <a:spLocks noGrp="1"/>
          </p:cNvSpPr>
          <p:nvPr>
            <p:ph type="title"/>
          </p:nvPr>
        </p:nvSpPr>
        <p:spPr>
          <a:xfrm>
            <a:off x="457200" y="274638"/>
            <a:ext cx="8229600" cy="1143000"/>
          </a:xfrm>
          <a:prstGeom prst="rect">
            <a:avLst/>
          </a:prstGeom>
        </p:spPr>
        <p:txBody>
          <a:bodyPr vert="horz" rtlCol="0" anchor="ctr">
            <a:normAutofit/>
          </a:bodyPr>
          <a:lstStyle/>
          <a:p>
            <a:r>
              <a:rPr kumimoji="0"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2" name="灯片编号占位符 3">
            <a:extLst>
              <a:ext uri="{FF2B5EF4-FFF2-40B4-BE49-F238E27FC236}">
                <a16:creationId xmlns:a16="http://schemas.microsoft.com/office/drawing/2014/main" id="{69D84AD9-88E4-47CB-8F2A-8AB59D90F7ED}"/>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微软雅黑" panose="020B0503020204020204" pitchFamily="34" charset="-122"/>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微软雅黑" panose="020B0503020204020204" pitchFamily="34" charset="-122"/>
              <a:ea typeface="隶书" panose="02010509060101010101" pitchFamily="49"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0EB1356-0045-4B4E-84B0-D0BEBDB4E8AC}"/>
                  </a:ext>
                </a:extLst>
              </p:cNvPr>
              <p:cNvSpPr/>
              <p:nvPr userDrawn="1"/>
            </p:nvSpPr>
            <p:spPr>
              <a:xfrm>
                <a:off x="7391400" y="6312003"/>
                <a:ext cx="1399679"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en-US" altLang="zh-CN" dirty="0"/>
                  <a:t>Copy right </a:t>
                </a:r>
                <a14:m>
                  <m:oMath xmlns:m="http://schemas.openxmlformats.org/officeDocument/2006/math">
                    <m:r>
                      <a:rPr kumimoji="0" lang="zh-CN" altLang="en-US" i="1" smtClean="0">
                        <a:latin typeface="Cambria Math" panose="02040503050406030204" pitchFamily="18" charset="0"/>
                      </a:rPr>
                      <m:t>𝜋</m:t>
                    </m:r>
                  </m:oMath>
                </a14:m>
                <a:endParaRPr lang="zh-CN" altLang="en-US" dirty="0"/>
              </a:p>
            </p:txBody>
          </p:sp>
        </mc:Choice>
        <mc:Fallback xmlns="">
          <p:sp>
            <p:nvSpPr>
              <p:cNvPr id="9" name="矩形 8">
                <a:extLst>
                  <a:ext uri="{FF2B5EF4-FFF2-40B4-BE49-F238E27FC236}">
                    <a16:creationId xmlns:a16="http://schemas.microsoft.com/office/drawing/2014/main" id="{F0EB1356-0045-4B4E-84B0-D0BEBDB4E8AC}"/>
                  </a:ext>
                </a:extLst>
              </p:cNvPr>
              <p:cNvSpPr>
                <a:spLocks noRot="1" noChangeAspect="1" noMove="1" noResize="1" noEditPoints="1" noAdjustHandles="1" noChangeArrowheads="1" noChangeShapeType="1" noTextEdit="1"/>
              </p:cNvSpPr>
              <p:nvPr userDrawn="1"/>
            </p:nvSpPr>
            <p:spPr>
              <a:xfrm>
                <a:off x="7391400" y="6312003"/>
                <a:ext cx="1399679" cy="369332"/>
              </a:xfrm>
              <a:prstGeom prst="rect">
                <a:avLst/>
              </a:prstGeom>
              <a:blipFill>
                <a:blip r:embed="rId15"/>
                <a:stretch>
                  <a:fillRect l="-3930" t="-9836" b="-22951"/>
                </a:stretch>
              </a:blipFill>
            </p:spPr>
            <p:txBody>
              <a:bodyPr/>
              <a:lstStyle/>
              <a:p>
                <a:r>
                  <a:rPr lang="zh-CN" altLang="en-US">
                    <a:noFill/>
                  </a:rPr>
                  <a:t> </a:t>
                </a:r>
              </a:p>
            </p:txBody>
          </p:sp>
        </mc:Fallback>
      </mc:AlternateContent>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ayoyu/Spark_ML_Classification_of_texts"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ayoyu/Spark_ML_Classification_of_texts"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github.com/ayoyu/Spark_ML_Classification_of_texts"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ayoyu/Spark_ML_Classification_of_texts"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ayoyu/Spark_ML_Classification_of_texts"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ayoyu/Spark_ML_Classification_of_texts" TargetMode="Externa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ayoyu/Spark_ML_Classification_of_texts" TargetMode="Externa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ayoyu/Spark_ML_Classification_of_texts" TargetMode="Externa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D14F7-0E7F-8548-85E8-931FFC6E87CB}"/>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Hadoop</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Spark</a:t>
            </a:r>
            <a:endParaRPr kumimoji="1" lang="zh-CN" altLang="en-US" dirty="0">
              <a:latin typeface="微软雅黑" panose="020B0503020204020204" pitchFamily="34" charset="-122"/>
              <a:ea typeface="微软雅黑" panose="020B0503020204020204" pitchFamily="34" charset="-122"/>
            </a:endParaRPr>
          </a:p>
        </p:txBody>
      </p:sp>
      <p:sp>
        <p:nvSpPr>
          <p:cNvPr id="3" name="副标题 2">
            <a:extLst>
              <a:ext uri="{FF2B5EF4-FFF2-40B4-BE49-F238E27FC236}">
                <a16:creationId xmlns:a16="http://schemas.microsoft.com/office/drawing/2014/main" id="{70829591-AB44-3C4B-B84E-713A444B98F7}"/>
              </a:ext>
            </a:extLst>
          </p:cNvPr>
          <p:cNvSpPr>
            <a:spLocks noGrp="1"/>
          </p:cNvSpPr>
          <p:nvPr>
            <p:ph type="subTitle" idx="1"/>
          </p:nvPr>
        </p:nvSpPr>
        <p:spPr>
          <a:xfrm>
            <a:off x="687716" y="2643182"/>
            <a:ext cx="6670366" cy="2309818"/>
          </a:xfrm>
        </p:spPr>
        <p:txBody>
          <a:bodyPr>
            <a:normAutofit/>
          </a:bodyPr>
          <a:lstStyle/>
          <a:p>
            <a:r>
              <a:rPr lang="en-US" altLang="zh-CN" sz="1800" dirty="0">
                <a:effectLst/>
                <a:latin typeface="微软雅黑" panose="020B0503020204020204" pitchFamily="34" charset="-122"/>
                <a:ea typeface="宋体" panose="02010600030101010101" pitchFamily="2" charset="-122"/>
              </a:rPr>
              <a:t>Spark MLLib </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840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lnSpcReduction="10000"/>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传统的机器学习算法，由于单机存储的限制，只能在少量数据上运行，迫使我们有时候首先对大数据进行抽样，才能进行后续处理。在数据抽样上进行机器学习，训练得到的模型不是很准确。随着</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Hadoop(MapReduce)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Spark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等大数据平台的流行，在全量数据上进行学习已经成为可能。</a:t>
            </a: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Spark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平台上运行机器学习算法，相对于</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MapReduce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计算平台，区别如下：</a:t>
            </a:r>
          </a:p>
          <a:p>
            <a:pPr indent="266700"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机器学习算法的计算，一般需要多趟迭代过程，才能获得足够小的误差，达到收敛然后停止。如果使用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Hadoop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MapReduce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计算框架，每次迭代都要读</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写磁盘，</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I/O</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消耗很大。此外</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Map/Reduce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任务的启动也消耗时间。</a:t>
            </a:r>
          </a:p>
          <a:p>
            <a:pPr indent="266700"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 Spark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是基于内存计算模型，多次迭代直接在内存中完成，只有在必要时才会写入磁盘、或者通过网络交换数据。</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Spark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是机器学习的理想的平台。</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1800" kern="100" dirty="0" err="1">
                <a:effectLst/>
                <a:latin typeface="Times New Roman" panose="02020603050405020304" pitchFamily="18" charset="0"/>
                <a:ea typeface="宋体" panose="02010600030101010101" pitchFamily="2" charset="-122"/>
              </a:rPr>
              <a:t>Mllib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kern="100" dirty="0">
                <a:effectLst/>
                <a:latin typeface="Times New Roman" panose="02020603050405020304" pitchFamily="18" charset="0"/>
                <a:ea typeface="宋体" panose="02010600030101010101" pitchFamily="2" charset="-122"/>
              </a:rPr>
              <a:t>Spark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平台的机器学习组件，直接操作</a:t>
            </a:r>
            <a:r>
              <a:rPr lang="en-US" altLang="zh-CN" sz="1800" kern="100" dirty="0">
                <a:effectLst/>
                <a:latin typeface="Times New Roman" panose="02020603050405020304" pitchFamily="18" charset="0"/>
                <a:ea typeface="宋体" panose="02010600030101010101" pitchFamily="2" charset="-122"/>
              </a:rPr>
              <a:t>RDD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数据集，天生就可以与</a:t>
            </a:r>
            <a:r>
              <a:rPr lang="en-US" altLang="zh-CN" sz="1800" kern="100" dirty="0">
                <a:effectLst/>
                <a:latin typeface="Times New Roman" panose="02020603050405020304" pitchFamily="18" charset="0"/>
                <a:ea typeface="宋体" panose="02010600030101010101" pitchFamily="2" charset="-122"/>
              </a:rPr>
              <a:t>Spark SQL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GraphX</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rPr>
              <a:t>Spark Streaming</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等组件无缝集成</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737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kern="100" dirty="0" err="1">
                <a:effectLst/>
                <a:latin typeface="Times New Roman" panose="02020603050405020304" pitchFamily="18" charset="0"/>
                <a:ea typeface="宋体" panose="02010600030101010101" pitchFamily="2" charset="-122"/>
              </a:rPr>
              <a:t>MLlib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目前支持</a:t>
            </a:r>
            <a:r>
              <a:rPr lang="en-US" altLang="zh-CN" sz="1800" kern="100" dirty="0">
                <a:effectLst/>
                <a:latin typeface="Times New Roman" panose="02020603050405020304" pitchFamily="18" charset="0"/>
                <a:ea typeface="宋体" panose="02010600030101010101" pitchFamily="2" charset="-122"/>
              </a:rPr>
              <a:t>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种常见的机器学习问题</a:t>
            </a:r>
            <a:r>
              <a:rPr lang="en-US" altLang="zh-CN" sz="1800" kern="100" dirty="0">
                <a:effectLst/>
                <a:latin typeface="Times New Roman" panose="02020603050405020304" pitchFamily="18" charset="0"/>
                <a:ea typeface="宋体" panose="02010600030101010101" pitchFamily="2" charset="-122"/>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分类、回归、聚类和协同过滤</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FDE84EEB-AD9E-4FA4-81A7-454F52DE5253}"/>
              </a:ext>
            </a:extLst>
          </p:cNvPr>
          <p:cNvPicPr>
            <a:picLocks noChangeAspect="1"/>
          </p:cNvPicPr>
          <p:nvPr/>
        </p:nvPicPr>
        <p:blipFill>
          <a:blip r:embed="rId2"/>
          <a:stretch>
            <a:fillRect/>
          </a:stretch>
        </p:blipFill>
        <p:spPr>
          <a:xfrm>
            <a:off x="228600" y="2641863"/>
            <a:ext cx="8063912" cy="2844537"/>
          </a:xfrm>
          <a:prstGeom prst="rect">
            <a:avLst/>
          </a:prstGeom>
        </p:spPr>
      </p:pic>
    </p:spTree>
    <p:extLst>
      <p:ext uri="{BB962C8B-B14F-4D97-AF65-F5344CB8AC3E}">
        <p14:creationId xmlns:p14="http://schemas.microsoft.com/office/powerpoint/2010/main" val="1426150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Spark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机器学习库从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版本以后被分为两个包：</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spark.mllib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，包含基于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RDD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的原始算法</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API</a:t>
            </a:r>
            <a:endParaRPr lang="en-US" altLang="zh-CN" sz="18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rPr>
              <a:t>(2) spark.ml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，则提供了基于</a:t>
            </a:r>
            <a:r>
              <a:rPr lang="en-US" altLang="zh-CN" sz="1800" kern="100" dirty="0" err="1">
                <a:effectLst/>
                <a:latin typeface="Times New Roman" panose="02020603050405020304" pitchFamily="18" charset="0"/>
                <a:ea typeface="宋体" panose="02010600030101010101" pitchFamily="2" charset="-122"/>
              </a:rPr>
              <a:t>DataFrames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高层次的</a:t>
            </a:r>
            <a:r>
              <a:rPr lang="en-US" altLang="zh-CN" sz="1800" kern="100" dirty="0">
                <a:effectLst/>
                <a:latin typeface="Times New Roman" panose="02020603050405020304" pitchFamily="18" charset="0"/>
                <a:ea typeface="宋体" panose="02010600030101010101" pitchFamily="2" charset="-122"/>
              </a:rPr>
              <a:t>API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，可以用来构建机器学习工作流</a:t>
            </a:r>
            <a:r>
              <a:rPr lang="en-US" altLang="zh-CN" sz="1800" kern="100" dirty="0">
                <a:effectLst/>
                <a:latin typeface="Times New Roman" panose="02020603050405020304" pitchFamily="18" charset="0"/>
                <a:ea typeface="宋体" panose="02010600030101010101" pitchFamily="2" charset="-122"/>
              </a:rPr>
              <a:t>(</a:t>
            </a:r>
            <a:r>
              <a:rPr lang="en-US" altLang="zh-CN" sz="1800" kern="100" dirty="0" err="1">
                <a:effectLst/>
                <a:latin typeface="Times New Roman" panose="02020603050405020304" pitchFamily="18" charset="0"/>
                <a:ea typeface="宋体" panose="02010600030101010101" pitchFamily="2" charset="-122"/>
              </a:rPr>
              <a:t>PipeLine</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，有利于在整个工作流中集成特征抽取、转换功能；此外，在</a:t>
            </a:r>
            <a:r>
              <a:rPr lang="en-US" altLang="zh-CN" sz="1800" kern="100" dirty="0">
                <a:effectLst/>
                <a:latin typeface="Times New Roman" panose="02020603050405020304" pitchFamily="18" charset="0"/>
                <a:ea typeface="宋体" panose="02010600030101010101" pitchFamily="2" charset="-122"/>
              </a:rPr>
              <a:t>DataFrame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基础上，</a:t>
            </a:r>
            <a:r>
              <a:rPr lang="en-US" altLang="zh-CN" sz="1800" kern="100" dirty="0">
                <a:effectLst/>
                <a:latin typeface="Times New Roman" panose="02020603050405020304" pitchFamily="18" charset="0"/>
                <a:ea typeface="宋体" panose="02010600030101010101" pitchFamily="2" charset="-122"/>
              </a:rPr>
              <a:t>Spark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提供了跨语言的统一的</a:t>
            </a:r>
            <a:r>
              <a:rPr lang="en-US" altLang="zh-CN" sz="1800" kern="100" dirty="0">
                <a:effectLst/>
                <a:latin typeface="Times New Roman" panose="02020603050405020304" pitchFamily="18" charset="0"/>
                <a:ea typeface="宋体" panose="02010600030101010101" pitchFamily="2" charset="-122"/>
              </a:rPr>
              <a:t>API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，有利于开发人员掌握</a:t>
            </a:r>
            <a:r>
              <a:rPr lang="en-US" altLang="zh-CN" sz="1800" kern="100" dirty="0">
                <a:effectLst/>
                <a:latin typeface="Times New Roman" panose="02020603050405020304" pitchFamily="18" charset="0"/>
                <a:ea typeface="宋体" panose="02010600030101010101" pitchFamily="2" charset="-122"/>
              </a:rPr>
              <a:t>Spark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编程</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1800" kern="100" dirty="0">
                <a:effectLst/>
                <a:latin typeface="Times New Roman" panose="02020603050405020304" pitchFamily="18" charset="0"/>
                <a:ea typeface="宋体" panose="02010600030101010101" pitchFamily="2" charset="-122"/>
              </a:rPr>
              <a:t>Spark</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官方推荐使用</a:t>
            </a:r>
            <a:r>
              <a:rPr lang="en-US" altLang="zh-CN" sz="1800" kern="100" dirty="0">
                <a:effectLst/>
                <a:latin typeface="Times New Roman" panose="02020603050405020304" pitchFamily="18" charset="0"/>
                <a:ea typeface="宋体" panose="02010600030101010101" pitchFamily="2" charset="-122"/>
              </a:rPr>
              <a:t>ml,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1800" kern="100" dirty="0">
                <a:effectLst/>
                <a:latin typeface="Times New Roman" panose="02020603050405020304" pitchFamily="18" charset="0"/>
                <a:ea typeface="宋体" panose="02010600030101010101" pitchFamily="2" charset="-122"/>
              </a:rPr>
              <a:t>ml</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功能更全面更灵活，未来会主要支持</a:t>
            </a:r>
            <a:r>
              <a:rPr lang="en-US" altLang="zh-CN" sz="1800" kern="100" dirty="0">
                <a:effectLst/>
                <a:latin typeface="Times New Roman" panose="02020603050405020304" pitchFamily="18" charset="0"/>
                <a:ea typeface="宋体" panose="02010600030101010101" pitchFamily="2" charset="-122"/>
              </a:rPr>
              <a:t>ml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kern="100" dirty="0">
                <a:effectLst/>
                <a:latin typeface="Times New Roman" panose="02020603050405020304" pitchFamily="18" charset="0"/>
                <a:ea typeface="宋体" panose="02010600030101010101" pitchFamily="2" charset="-122"/>
              </a:rPr>
              <a:t>Spark3.0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a:t>
            </a:r>
            <a:r>
              <a:rPr lang="en-US" altLang="zh-CN" sz="1800" kern="100" dirty="0" err="1">
                <a:effectLst/>
                <a:latin typeface="Times New Roman" panose="02020603050405020304" pitchFamily="18" charset="0"/>
                <a:ea typeface="宋体" panose="02010600030101010101" pitchFamily="2" charset="-122"/>
              </a:rPr>
              <a:t>mllib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将被彻底废弃</a:t>
            </a:r>
            <a:r>
              <a:rPr lang="en-US" altLang="zh-CN" sz="1800" kern="100" dirty="0">
                <a:effectLst/>
                <a:latin typeface="Times New Roman" panose="02020603050405020304" pitchFamily="18" charset="0"/>
                <a:ea typeface="宋体" panose="02010600030101010101" pitchFamily="2" charset="-122"/>
              </a:rPr>
              <a:t>)</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86311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858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Mllib</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提供了大量的分类算法，包括</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Logistic Regression</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Decision Tree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Random Forest</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Gradient-Boosted Tree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Multilayer Perceptron Classifier</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Support Vector Machine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One-vs-Rest Classifier</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Naive Bayes</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559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这些算法的实例都可以在</a:t>
            </a:r>
            <a:r>
              <a:rPr lang="en-US" altLang="zh-CN" sz="1800" dirty="0">
                <a:solidFill>
                  <a:srgbClr val="000000"/>
                </a:solidFill>
                <a:effectLst/>
                <a:latin typeface="Times New Roman" panose="02020603050405020304" pitchFamily="18" charset="0"/>
                <a:ea typeface="宋体" panose="02010600030101010101" pitchFamily="2" charset="-122"/>
              </a:rPr>
              <a:t>“</a:t>
            </a:r>
            <a:r>
              <a:rPr lang="en-US" altLang="zh-CN" sz="1800" dirty="0">
                <a:effectLst/>
                <a:latin typeface="Times New Roman" panose="02020603050405020304" pitchFamily="18" charset="0"/>
                <a:ea typeface="宋体" panose="02010600030101010101" pitchFamily="2" charset="-122"/>
              </a:rPr>
              <a:t>/opt/</a:t>
            </a:r>
            <a:r>
              <a:rPr lang="en-US" altLang="zh-CN" sz="1800" dirty="0" err="1">
                <a:effectLst/>
                <a:latin typeface="Times New Roman" panose="02020603050405020304" pitchFamily="18" charset="0"/>
                <a:ea typeface="宋体" panose="02010600030101010101" pitchFamily="2" charset="-122"/>
              </a:rPr>
              <a:t>linuxsir</a:t>
            </a:r>
            <a:r>
              <a:rPr lang="en-US" altLang="zh-CN" sz="1800" dirty="0">
                <a:effectLst/>
                <a:latin typeface="Times New Roman" panose="02020603050405020304" pitchFamily="18" charset="0"/>
                <a:ea typeface="宋体" panose="02010600030101010101" pitchFamily="2" charset="-122"/>
              </a:rPr>
              <a:t>/spark/examples</a:t>
            </a:r>
            <a:r>
              <a:rPr lang="en-US" altLang="zh-CN" sz="1800" dirty="0">
                <a:solidFill>
                  <a:srgbClr val="000000"/>
                </a:solidFill>
                <a:effectLst/>
                <a:latin typeface="Times New Roman" panose="02020603050405020304" pitchFamily="18" charset="0"/>
                <a:ea typeface="宋体" panose="02010600030101010101" pitchFamily="2" charset="-122"/>
              </a:rPr>
              <a:t>”</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目录下找到，数据文件则在</a:t>
            </a:r>
            <a:r>
              <a:rPr lang="en-US" altLang="zh-CN" sz="1800" dirty="0">
                <a:solidFill>
                  <a:srgbClr val="000000"/>
                </a:solidFill>
                <a:effectLst/>
                <a:latin typeface="Times New Roman" panose="02020603050405020304" pitchFamily="18" charset="0"/>
                <a:ea typeface="宋体" panose="02010600030101010101" pitchFamily="2" charset="-122"/>
              </a:rPr>
              <a:t>“</a:t>
            </a:r>
            <a:r>
              <a:rPr lang="en-US" altLang="zh-CN" sz="1800" dirty="0">
                <a:effectLst/>
                <a:latin typeface="Times New Roman" panose="02020603050405020304" pitchFamily="18" charset="0"/>
                <a:ea typeface="宋体" panose="02010600030101010101" pitchFamily="2" charset="-122"/>
              </a:rPr>
              <a:t>/opt/</a:t>
            </a:r>
            <a:r>
              <a:rPr lang="en-US" altLang="zh-CN" sz="1800" dirty="0" err="1">
                <a:effectLst/>
                <a:latin typeface="Times New Roman" panose="02020603050405020304" pitchFamily="18" charset="0"/>
                <a:ea typeface="宋体" panose="02010600030101010101" pitchFamily="2" charset="-122"/>
              </a:rPr>
              <a:t>linuxsir</a:t>
            </a:r>
            <a:r>
              <a:rPr lang="en-US" altLang="zh-CN" sz="1800" dirty="0">
                <a:effectLst/>
                <a:latin typeface="Times New Roman" panose="02020603050405020304" pitchFamily="18" charset="0"/>
                <a:ea typeface="宋体" panose="02010600030101010101" pitchFamily="2" charset="-122"/>
              </a:rPr>
              <a:t>/spark/</a:t>
            </a:r>
            <a:r>
              <a:rPr lang="en-US" altLang="zh-CN" sz="1800" dirty="0">
                <a:solidFill>
                  <a:srgbClr val="000000"/>
                </a:solidFill>
                <a:effectLst/>
                <a:latin typeface="Times New Roman" panose="02020603050405020304" pitchFamily="18" charset="0"/>
                <a:ea typeface="宋体" panose="02010600030101010101" pitchFamily="2" charset="-122"/>
              </a:rPr>
              <a:t>data”</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目录下</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54505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1</a:t>
            </a:r>
            <a:r>
              <a:rPr lang="zh-CN" altLang="en-US" sz="1800" dirty="0">
                <a:effectLst/>
                <a:latin typeface="微软雅黑" panose="020B0503020204020204" pitchFamily="34" charset="-122"/>
                <a:ea typeface="宋体" panose="02010600030101010101" pitchFamily="2" charset="-122"/>
              </a:rPr>
              <a:t>，分类实例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基于决策树分类的示例代码</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1466" y="2667000"/>
            <a:ext cx="7467600" cy="3139321"/>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首先导入必要的类。</a:t>
            </a:r>
          </a:p>
          <a:p>
            <a:r>
              <a:rPr lang="zh-CN" altLang="en-US" dirty="0"/>
              <a:t>from pyspark.ml import Pipeline</a:t>
            </a:r>
          </a:p>
          <a:p>
            <a:r>
              <a:rPr lang="zh-CN" altLang="en-US" dirty="0"/>
              <a:t>from pyspark.ml.classification import DecisionTreeClassifier</a:t>
            </a:r>
          </a:p>
          <a:p>
            <a:r>
              <a:rPr lang="zh-CN" altLang="en-US" dirty="0"/>
              <a:t>from pyspark.ml.feature import StringIndexer, VectorIndexer</a:t>
            </a:r>
          </a:p>
          <a:p>
            <a:r>
              <a:rPr lang="zh-CN" altLang="en-US" dirty="0"/>
              <a:t>from pyspark.ml.evaluation import MulticlassClassificationEvaluator</a:t>
            </a:r>
          </a:p>
          <a:p>
            <a:endParaRPr lang="en-US" altLang="zh-CN" dirty="0"/>
          </a:p>
          <a:p>
            <a:r>
              <a:rPr lang="en-US" altLang="zh-CN" dirty="0"/>
              <a:t>#</a:t>
            </a:r>
            <a:r>
              <a:rPr lang="zh-CN" altLang="en-US" dirty="0"/>
              <a:t>创建SparkSession。</a:t>
            </a:r>
          </a:p>
          <a:p>
            <a:r>
              <a:rPr lang="zh-CN" altLang="en-US" dirty="0"/>
              <a:t>spark = SparkSession\</a:t>
            </a:r>
          </a:p>
          <a:p>
            <a:r>
              <a:rPr lang="zh-CN" altLang="en-US" dirty="0"/>
              <a:t>    .builder\</a:t>
            </a:r>
          </a:p>
          <a:p>
            <a:r>
              <a:rPr lang="zh-CN" altLang="en-US" dirty="0"/>
              <a:t>    .appName("DecisionTreeClassificationExample")\</a:t>
            </a:r>
          </a:p>
          <a:p>
            <a:r>
              <a:rPr lang="zh-CN" altLang="en-US" dirty="0"/>
              <a:t>    .getOrCreate()</a:t>
            </a:r>
          </a:p>
        </p:txBody>
      </p:sp>
    </p:spTree>
    <p:extLst>
      <p:ext uri="{BB962C8B-B14F-4D97-AF65-F5344CB8AC3E}">
        <p14:creationId xmlns:p14="http://schemas.microsoft.com/office/powerpoint/2010/main" val="3079797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lnSpcReduction="10000"/>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1</a:t>
            </a:r>
            <a:r>
              <a:rPr lang="zh-CN" altLang="en-US" sz="1800" dirty="0">
                <a:effectLst/>
                <a:latin typeface="微软雅黑" panose="020B0503020204020204" pitchFamily="34" charset="-122"/>
                <a:ea typeface="宋体" panose="02010600030101010101" pitchFamily="2" charset="-122"/>
              </a:rPr>
              <a:t>，分类实例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基于决策树分类的示例代码</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5590" algn="just"/>
            <a:endParaRPr lang="en-US" altLang="zh-CN"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275590" algn="just"/>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5590" algn="just"/>
            <a:endParaRPr lang="en-US" altLang="zh-CN"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275590" algn="just"/>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5590" algn="just"/>
            <a:endParaRPr lang="en-US" altLang="zh-CN"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indent="275590" algn="just"/>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5590" algn="just"/>
            <a:r>
              <a:rPr lang="zh-CN" altLang="en-US" sz="1800" dirty="0">
                <a:effectLst/>
                <a:latin typeface="微软雅黑" panose="020B0503020204020204" pitchFamily="34" charset="-122"/>
                <a:ea typeface="宋体" panose="02010600030101010101" pitchFamily="2" charset="-122"/>
              </a:rPr>
              <a:t>数据文件具有特定的格式，每一行具有如下的形式。</a:t>
            </a:r>
          </a:p>
          <a:p>
            <a:pPr indent="275590" algn="just"/>
            <a:r>
              <a:rPr lang="en-US" altLang="zh-CN" sz="1800" dirty="0">
                <a:effectLst/>
                <a:latin typeface="微软雅黑" panose="020B0503020204020204" pitchFamily="34" charset="-122"/>
                <a:ea typeface="宋体" panose="02010600030101010101" pitchFamily="2" charset="-122"/>
              </a:rPr>
              <a:t>0 128:51 129:159 130:253 131:159 132:50 155:48 156:238 157:252 158:252 159:252……</a:t>
            </a:r>
          </a:p>
          <a:p>
            <a:pPr indent="275590" algn="just"/>
            <a:r>
              <a:rPr lang="zh-CN" altLang="en-US" sz="1800" dirty="0">
                <a:effectLst/>
                <a:latin typeface="微软雅黑" panose="020B0503020204020204" pitchFamily="34" charset="-122"/>
                <a:ea typeface="宋体" panose="02010600030101010101" pitchFamily="2" charset="-122"/>
              </a:rPr>
              <a:t>数据格式为“标签 特征</a:t>
            </a:r>
            <a:r>
              <a:rPr lang="en-US" altLang="zh-CN" sz="1800" dirty="0">
                <a:effectLst/>
                <a:latin typeface="微软雅黑" panose="020B0503020204020204" pitchFamily="34" charset="-122"/>
                <a:ea typeface="宋体" panose="02010600030101010101" pitchFamily="2" charset="-122"/>
              </a:rPr>
              <a:t>1 </a:t>
            </a:r>
            <a:r>
              <a:rPr lang="zh-CN" altLang="en-US" sz="1800" dirty="0">
                <a:effectLst/>
                <a:latin typeface="微软雅黑" panose="020B0503020204020204" pitchFamily="34" charset="-122"/>
                <a:ea typeface="宋体" panose="02010600030101010101" pitchFamily="2" charset="-122"/>
              </a:rPr>
              <a:t>特征</a:t>
            </a:r>
            <a:r>
              <a:rPr lang="en-US" altLang="zh-CN" sz="1800" dirty="0">
                <a:effectLst/>
                <a:latin typeface="微软雅黑" panose="020B0503020204020204" pitchFamily="34" charset="-122"/>
                <a:ea typeface="宋体" panose="02010600030101010101" pitchFamily="2" charset="-122"/>
              </a:rPr>
              <a:t>2 </a:t>
            </a:r>
            <a:r>
              <a:rPr lang="zh-CN" altLang="en-US" sz="1800" dirty="0">
                <a:effectLst/>
                <a:latin typeface="微软雅黑" panose="020B0503020204020204" pitchFamily="34" charset="-122"/>
                <a:ea typeface="宋体" panose="02010600030101010101" pitchFamily="2" charset="-122"/>
              </a:rPr>
              <a:t>特征</a:t>
            </a:r>
            <a:r>
              <a:rPr lang="en-US" altLang="zh-CN" sz="1800" dirty="0">
                <a:effectLst/>
                <a:latin typeface="微软雅黑" panose="020B0503020204020204" pitchFamily="34" charset="-122"/>
                <a:ea typeface="宋体" panose="02010600030101010101" pitchFamily="2" charset="-122"/>
              </a:rPr>
              <a:t>3 …”</a:t>
            </a:r>
            <a:r>
              <a:rPr lang="zh-CN" altLang="en-US" sz="1800" dirty="0">
                <a:effectLst/>
                <a:latin typeface="微软雅黑" panose="020B0503020204020204" pitchFamily="34" charset="-122"/>
                <a:ea typeface="宋体" panose="02010600030101010101" pitchFamily="2" charset="-122"/>
              </a:rPr>
              <a:t>。对于二值分类，标签有两个取值，即</a:t>
            </a:r>
            <a:r>
              <a:rPr lang="en-US" altLang="zh-CN" sz="1800" dirty="0">
                <a:effectLst/>
                <a:latin typeface="微软雅黑" panose="020B0503020204020204" pitchFamily="34" charset="-122"/>
                <a:ea typeface="宋体" panose="02010600030101010101" pitchFamily="2" charset="-122"/>
              </a:rPr>
              <a:t>0</a:t>
            </a:r>
            <a:r>
              <a:rPr lang="zh-CN" altLang="en-US" sz="1800" dirty="0">
                <a:effectLst/>
                <a:latin typeface="微软雅黑" panose="020B0503020204020204" pitchFamily="34" charset="-122"/>
                <a:ea typeface="宋体" panose="02010600030101010101" pitchFamily="2" charset="-122"/>
              </a:rPr>
              <a:t>和</a:t>
            </a:r>
            <a:r>
              <a:rPr lang="en-US" altLang="zh-CN" sz="1800" dirty="0">
                <a:effectLst/>
                <a:latin typeface="微软雅黑" panose="020B0503020204020204" pitchFamily="34" charset="-122"/>
                <a:ea typeface="宋体" panose="02010600030101010101" pitchFamily="2" charset="-122"/>
              </a:rPr>
              <a:t>1</a:t>
            </a:r>
            <a:r>
              <a:rPr lang="zh-CN" altLang="en-US" sz="1800" dirty="0">
                <a:effectLst/>
                <a:latin typeface="微软雅黑" panose="020B0503020204020204" pitchFamily="34" charset="-122"/>
                <a:ea typeface="宋体" panose="02010600030101010101" pitchFamily="2" charset="-122"/>
              </a:rPr>
              <a:t>。由于每个样本为一个稀疏的高维向量 ，所以对于每个特征采用“特征编号：特征值”的编码方式，比如“</a:t>
            </a:r>
            <a:r>
              <a:rPr lang="en-US" altLang="zh-CN" sz="1800" dirty="0">
                <a:effectLst/>
                <a:latin typeface="微软雅黑" panose="020B0503020204020204" pitchFamily="34" charset="-122"/>
                <a:ea typeface="宋体" panose="02010600030101010101" pitchFamily="2" charset="-122"/>
              </a:rPr>
              <a:t>128:51”</a:t>
            </a:r>
            <a:r>
              <a:rPr lang="zh-CN" altLang="en-US" sz="1800" dirty="0">
                <a:effectLst/>
                <a:latin typeface="微软雅黑" panose="020B0503020204020204" pitchFamily="34" charset="-122"/>
                <a:ea typeface="宋体" panose="02010600030101010101" pitchFamily="2" charset="-122"/>
              </a:rPr>
              <a:t>，表示第</a:t>
            </a:r>
            <a:r>
              <a:rPr lang="en-US" altLang="zh-CN" sz="1800" dirty="0">
                <a:effectLst/>
                <a:latin typeface="微软雅黑" panose="020B0503020204020204" pitchFamily="34" charset="-122"/>
                <a:ea typeface="宋体" panose="02010600030101010101" pitchFamily="2" charset="-122"/>
              </a:rPr>
              <a:t>128</a:t>
            </a:r>
            <a:r>
              <a:rPr lang="zh-CN" altLang="en-US" sz="1800" dirty="0">
                <a:effectLst/>
                <a:latin typeface="微软雅黑" panose="020B0503020204020204" pitchFamily="34" charset="-122"/>
                <a:ea typeface="宋体" panose="02010600030101010101" pitchFamily="2" charset="-122"/>
              </a:rPr>
              <a:t>号特征取值为</a:t>
            </a:r>
            <a:r>
              <a:rPr lang="en-US" altLang="zh-CN" sz="1800" dirty="0">
                <a:effectLst/>
                <a:latin typeface="微软雅黑" panose="020B0503020204020204" pitchFamily="34" charset="-122"/>
                <a:ea typeface="宋体" panose="02010600030101010101" pitchFamily="2" charset="-122"/>
              </a:rPr>
              <a:t>51</a:t>
            </a:r>
            <a:r>
              <a:rPr lang="zh-CN" altLang="en-US" sz="1800" dirty="0">
                <a:effectLst/>
                <a:latin typeface="微软雅黑" panose="020B0503020204020204" pitchFamily="34" charset="-122"/>
                <a:ea typeface="宋体" panose="02010600030101010101" pitchFamily="2" charset="-122"/>
              </a:rPr>
              <a:t>，没有列出来的其它特征取缺省值</a:t>
            </a:r>
            <a:r>
              <a:rPr lang="en-US" altLang="zh-CN" sz="1800" dirty="0">
                <a:effectLst/>
                <a:latin typeface="微软雅黑" panose="020B0503020204020204" pitchFamily="34" charset="-122"/>
                <a:ea typeface="宋体" panose="02010600030101010101" pitchFamily="2" charset="-122"/>
              </a:rPr>
              <a:t>(0)</a:t>
            </a: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1477328"/>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装载数据文件到内存，形成</a:t>
            </a:r>
            <a:r>
              <a:rPr lang="en-US" altLang="zh-CN" dirty="0"/>
              <a:t>DataFrame</a:t>
            </a:r>
            <a:r>
              <a:rPr lang="zh-CN" altLang="en-US" dirty="0"/>
              <a:t>。</a:t>
            </a:r>
          </a:p>
          <a:p>
            <a:r>
              <a:rPr lang="en-US" altLang="zh-CN" dirty="0"/>
              <a:t># Load the data stored in LIBSVM format as a DataFrame.</a:t>
            </a:r>
          </a:p>
          <a:p>
            <a:r>
              <a:rPr lang="en-US" altLang="zh-CN" dirty="0"/>
              <a:t>data = </a:t>
            </a:r>
            <a:r>
              <a:rPr lang="en-US" altLang="zh-CN" dirty="0" err="1"/>
              <a:t>spark.read.format</a:t>
            </a:r>
            <a:r>
              <a:rPr lang="en-US" altLang="zh-CN" dirty="0"/>
              <a:t>("</a:t>
            </a:r>
            <a:r>
              <a:rPr lang="en-US" altLang="zh-CN" dirty="0" err="1"/>
              <a:t>libsvm</a:t>
            </a:r>
            <a:r>
              <a:rPr lang="en-US" altLang="zh-CN" dirty="0"/>
              <a:t>").load("file:///opt/linuxsir/spark/data/mllib/sample_libsvm_data.txt")</a:t>
            </a:r>
          </a:p>
        </p:txBody>
      </p:sp>
    </p:spTree>
    <p:extLst>
      <p:ext uri="{BB962C8B-B14F-4D97-AF65-F5344CB8AC3E}">
        <p14:creationId xmlns:p14="http://schemas.microsoft.com/office/powerpoint/2010/main" val="1106028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1</a:t>
            </a:r>
            <a:r>
              <a:rPr lang="zh-CN" altLang="en-US" sz="1800" dirty="0">
                <a:effectLst/>
                <a:latin typeface="微软雅黑" panose="020B0503020204020204" pitchFamily="34" charset="-122"/>
                <a:ea typeface="宋体" panose="02010600030101010101" pitchFamily="2" charset="-122"/>
              </a:rPr>
              <a:t>，分类实例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基于决策树分类的示例代码</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3293209"/>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把每行数据的字符型标签</a:t>
            </a:r>
            <a:r>
              <a:rPr lang="en-US" altLang="zh-CN" sz="1600" dirty="0"/>
              <a:t>(label)</a:t>
            </a:r>
            <a:r>
              <a:rPr lang="zh-CN" altLang="en-US" sz="1600" dirty="0"/>
              <a:t>映射到一个整数</a:t>
            </a:r>
            <a:r>
              <a:rPr lang="en-US" altLang="zh-CN" sz="1600" dirty="0"/>
              <a:t>(</a:t>
            </a:r>
            <a:r>
              <a:rPr lang="en-US" altLang="zh-CN" sz="1600" dirty="0" err="1"/>
              <a:t>indexedLabel</a:t>
            </a:r>
            <a:r>
              <a:rPr lang="en-US" altLang="zh-CN" sz="1600" dirty="0"/>
              <a:t>)</a:t>
            </a:r>
            <a:r>
              <a:rPr lang="zh-CN" altLang="en-US" sz="1600" dirty="0"/>
              <a:t>。</a:t>
            </a:r>
          </a:p>
          <a:p>
            <a:r>
              <a:rPr lang="en-US" altLang="zh-CN" sz="1600" dirty="0"/>
              <a:t># Index labels, adding metadata to the label column.</a:t>
            </a:r>
          </a:p>
          <a:p>
            <a:r>
              <a:rPr lang="en-US" altLang="zh-CN" sz="1600" dirty="0"/>
              <a:t># Fit on whole dataset to include all labels in index.</a:t>
            </a:r>
          </a:p>
          <a:p>
            <a:r>
              <a:rPr lang="en-US" altLang="zh-CN" sz="1600" dirty="0" err="1"/>
              <a:t>labelIndexer</a:t>
            </a:r>
            <a:r>
              <a:rPr lang="en-US" altLang="zh-CN" sz="1600" dirty="0"/>
              <a:t> = </a:t>
            </a:r>
            <a:r>
              <a:rPr lang="en-US" altLang="zh-CN" sz="1600" dirty="0" err="1"/>
              <a:t>StringIndexer</a:t>
            </a:r>
            <a:r>
              <a:rPr lang="en-US" altLang="zh-CN" sz="1600" dirty="0"/>
              <a:t>(</a:t>
            </a:r>
            <a:r>
              <a:rPr lang="en-US" altLang="zh-CN" sz="1600" dirty="0" err="1"/>
              <a:t>inputCol</a:t>
            </a:r>
            <a:r>
              <a:rPr lang="en-US" altLang="zh-CN" sz="1600" dirty="0"/>
              <a:t>="label", </a:t>
            </a:r>
            <a:r>
              <a:rPr lang="en-US" altLang="zh-CN" sz="1600" dirty="0" err="1"/>
              <a:t>outputCol</a:t>
            </a:r>
            <a:r>
              <a:rPr lang="en-US" altLang="zh-CN" sz="1600" dirty="0"/>
              <a:t>="</a:t>
            </a:r>
            <a:r>
              <a:rPr lang="en-US" altLang="zh-CN" sz="1600" dirty="0" err="1"/>
              <a:t>indexedLabel</a:t>
            </a:r>
            <a:r>
              <a:rPr lang="en-US" altLang="zh-CN" sz="1600" dirty="0"/>
              <a:t>").fit(data)</a:t>
            </a:r>
          </a:p>
          <a:p>
            <a:endParaRPr lang="en-US" altLang="zh-CN" sz="1600" dirty="0"/>
          </a:p>
          <a:p>
            <a:r>
              <a:rPr lang="en-US" altLang="zh-CN" sz="1600" dirty="0"/>
              <a:t>#</a:t>
            </a:r>
            <a:r>
              <a:rPr lang="zh-CN" altLang="en-US" sz="1600" dirty="0"/>
              <a:t>对不同值的数量</a:t>
            </a:r>
            <a:r>
              <a:rPr lang="en-US" altLang="zh-CN" sz="1600" dirty="0"/>
              <a:t>&lt;=4</a:t>
            </a:r>
            <a:r>
              <a:rPr lang="zh-CN" altLang="en-US" sz="1600" dirty="0"/>
              <a:t>的特征，认为是离散特征，每个特征的取值映射到一个整数；对于其它特征，则认为是连续型特征。</a:t>
            </a:r>
          </a:p>
          <a:p>
            <a:r>
              <a:rPr lang="en-US" altLang="zh-CN" sz="1600" dirty="0"/>
              <a:t># Automatically identify categorical features, and index them.</a:t>
            </a:r>
          </a:p>
          <a:p>
            <a:r>
              <a:rPr lang="en-US" altLang="zh-CN" sz="1600" dirty="0"/>
              <a:t># We specify </a:t>
            </a:r>
            <a:r>
              <a:rPr lang="en-US" altLang="zh-CN" sz="1600" dirty="0" err="1"/>
              <a:t>maxCategories</a:t>
            </a:r>
            <a:r>
              <a:rPr lang="en-US" altLang="zh-CN" sz="1600" dirty="0"/>
              <a:t> so features with &gt; 4 distinct values are treated as continuous.</a:t>
            </a:r>
          </a:p>
          <a:p>
            <a:r>
              <a:rPr lang="en-US" altLang="zh-CN" sz="1600" dirty="0" err="1"/>
              <a:t>featureIndexer</a:t>
            </a:r>
            <a:r>
              <a:rPr lang="en-US" altLang="zh-CN" sz="1600" dirty="0"/>
              <a:t> =\</a:t>
            </a:r>
          </a:p>
          <a:p>
            <a:r>
              <a:rPr lang="en-US" altLang="zh-CN" sz="1600" dirty="0"/>
              <a:t>    </a:t>
            </a:r>
            <a:r>
              <a:rPr lang="en-US" altLang="zh-CN" sz="1600" dirty="0" err="1"/>
              <a:t>VectorIndexer</a:t>
            </a:r>
            <a:r>
              <a:rPr lang="en-US" altLang="zh-CN" sz="1600" dirty="0"/>
              <a:t>(</a:t>
            </a:r>
            <a:r>
              <a:rPr lang="en-US" altLang="zh-CN" sz="1600" dirty="0" err="1"/>
              <a:t>inputCol</a:t>
            </a:r>
            <a:r>
              <a:rPr lang="en-US" altLang="zh-CN" sz="1600" dirty="0"/>
              <a:t>="features", </a:t>
            </a:r>
            <a:r>
              <a:rPr lang="en-US" altLang="zh-CN" sz="1600" dirty="0" err="1"/>
              <a:t>outputCol</a:t>
            </a:r>
            <a:r>
              <a:rPr lang="en-US" altLang="zh-CN" sz="1600" dirty="0"/>
              <a:t>="</a:t>
            </a:r>
            <a:r>
              <a:rPr lang="en-US" altLang="zh-CN" sz="1600" dirty="0" err="1"/>
              <a:t>indexedFeatures</a:t>
            </a:r>
            <a:r>
              <a:rPr lang="en-US" altLang="zh-CN" sz="1600" dirty="0"/>
              <a:t>", </a:t>
            </a:r>
            <a:r>
              <a:rPr lang="en-US" altLang="zh-CN" sz="1600" dirty="0" err="1"/>
              <a:t>maxCategories</a:t>
            </a:r>
            <a:r>
              <a:rPr lang="en-US" altLang="zh-CN" sz="1600" dirty="0"/>
              <a:t>=4).fit(data)</a:t>
            </a:r>
          </a:p>
        </p:txBody>
      </p:sp>
    </p:spTree>
    <p:extLst>
      <p:ext uri="{BB962C8B-B14F-4D97-AF65-F5344CB8AC3E}">
        <p14:creationId xmlns:p14="http://schemas.microsoft.com/office/powerpoint/2010/main" val="2820817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1</a:t>
            </a:r>
            <a:r>
              <a:rPr lang="zh-CN" altLang="en-US" sz="1800" dirty="0">
                <a:effectLst/>
                <a:latin typeface="微软雅黑" panose="020B0503020204020204" pitchFamily="34" charset="-122"/>
                <a:ea typeface="宋体" panose="02010600030101010101" pitchFamily="2" charset="-122"/>
              </a:rPr>
              <a:t>，分类实例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基于决策树分类的示例代码</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4278094"/>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划分训练数据集和测试数据集。</a:t>
            </a:r>
          </a:p>
          <a:p>
            <a:r>
              <a:rPr lang="en-US" altLang="zh-CN" sz="1600" dirty="0"/>
              <a:t># Split the data into training and test sets (30% held out for testing)</a:t>
            </a:r>
          </a:p>
          <a:p>
            <a:r>
              <a:rPr lang="en-US" altLang="zh-CN" sz="1600" dirty="0"/>
              <a:t>(</a:t>
            </a:r>
            <a:r>
              <a:rPr lang="en-US" altLang="zh-CN" sz="1600" dirty="0" err="1"/>
              <a:t>trainingData</a:t>
            </a:r>
            <a:r>
              <a:rPr lang="en-US" altLang="zh-CN" sz="1600" dirty="0"/>
              <a:t>, </a:t>
            </a:r>
            <a:r>
              <a:rPr lang="en-US" altLang="zh-CN" sz="1600" dirty="0" err="1"/>
              <a:t>testData</a:t>
            </a:r>
            <a:r>
              <a:rPr lang="en-US" altLang="zh-CN" sz="1600" dirty="0"/>
              <a:t>) = </a:t>
            </a:r>
            <a:r>
              <a:rPr lang="en-US" altLang="zh-CN" sz="1600" dirty="0" err="1"/>
              <a:t>data.randomSplit</a:t>
            </a:r>
            <a:r>
              <a:rPr lang="en-US" altLang="zh-CN" sz="1600" dirty="0"/>
              <a:t>([0.7, 0.3])</a:t>
            </a:r>
          </a:p>
          <a:p>
            <a:endParaRPr lang="en-US" altLang="zh-CN" sz="1600" dirty="0"/>
          </a:p>
          <a:p>
            <a:r>
              <a:rPr lang="en-US" altLang="zh-CN" sz="1600" dirty="0"/>
              <a:t>#</a:t>
            </a:r>
            <a:r>
              <a:rPr lang="zh-CN" altLang="en-US" sz="1600" dirty="0"/>
              <a:t>创建</a:t>
            </a:r>
            <a:r>
              <a:rPr lang="en-US" altLang="zh-CN" sz="1600" dirty="0" err="1"/>
              <a:t>DecisionTreeClassifier</a:t>
            </a:r>
            <a:r>
              <a:rPr lang="zh-CN" altLang="en-US" sz="1600" dirty="0"/>
              <a:t>类的一个对象，即决策树模型。</a:t>
            </a:r>
          </a:p>
          <a:p>
            <a:r>
              <a:rPr lang="en-US" altLang="zh-CN" sz="1600" dirty="0"/>
              <a:t># Train a </a:t>
            </a:r>
            <a:r>
              <a:rPr lang="en-US" altLang="zh-CN" sz="1600" dirty="0" err="1"/>
              <a:t>DecisionTree</a:t>
            </a:r>
            <a:r>
              <a:rPr lang="en-US" altLang="zh-CN" sz="1600" dirty="0"/>
              <a:t> model.</a:t>
            </a:r>
          </a:p>
          <a:p>
            <a:r>
              <a:rPr lang="en-US" altLang="zh-CN" sz="1600" dirty="0"/>
              <a:t>dt = </a:t>
            </a:r>
            <a:r>
              <a:rPr lang="en-US" altLang="zh-CN" sz="1600" dirty="0" err="1"/>
              <a:t>DecisionTreeClassifier</a:t>
            </a:r>
            <a:r>
              <a:rPr lang="en-US" altLang="zh-CN" sz="1600" dirty="0"/>
              <a:t>(</a:t>
            </a:r>
            <a:r>
              <a:rPr lang="en-US" altLang="zh-CN" sz="1600" dirty="0" err="1"/>
              <a:t>labelCol</a:t>
            </a:r>
            <a:r>
              <a:rPr lang="en-US" altLang="zh-CN" sz="1600" dirty="0"/>
              <a:t>="</a:t>
            </a:r>
            <a:r>
              <a:rPr lang="en-US" altLang="zh-CN" sz="1600" dirty="0" err="1"/>
              <a:t>indexedLabel</a:t>
            </a:r>
            <a:r>
              <a:rPr lang="en-US" altLang="zh-CN" sz="1600" dirty="0"/>
              <a:t>", </a:t>
            </a:r>
            <a:r>
              <a:rPr lang="en-US" altLang="zh-CN" sz="1600" dirty="0" err="1"/>
              <a:t>featuresCol</a:t>
            </a:r>
            <a:r>
              <a:rPr lang="en-US" altLang="zh-CN" sz="1600" dirty="0"/>
              <a:t>="</a:t>
            </a:r>
            <a:r>
              <a:rPr lang="en-US" altLang="zh-CN" sz="1600" dirty="0" err="1"/>
              <a:t>indexedFeatures</a:t>
            </a:r>
            <a:r>
              <a:rPr lang="en-US" altLang="zh-CN" sz="1600" dirty="0"/>
              <a:t>")</a:t>
            </a:r>
          </a:p>
          <a:p>
            <a:endParaRPr lang="en-US" altLang="zh-CN" sz="1600" dirty="0"/>
          </a:p>
          <a:p>
            <a:r>
              <a:rPr lang="en-US" altLang="zh-CN" sz="1600" dirty="0"/>
              <a:t>#</a:t>
            </a:r>
            <a:r>
              <a:rPr lang="zh-CN" altLang="en-US" sz="1600" dirty="0"/>
              <a:t>建立流水线，包含数据预处理和决策树模型等不同构件，这些构件也可以看作是数据处理的不同阶段。</a:t>
            </a:r>
          </a:p>
          <a:p>
            <a:r>
              <a:rPr lang="en-US" altLang="zh-CN" sz="1600" dirty="0"/>
              <a:t># Chain indexers and tree in a Pipeline</a:t>
            </a:r>
          </a:p>
          <a:p>
            <a:r>
              <a:rPr lang="en-US" altLang="zh-CN" sz="1600" dirty="0"/>
              <a:t>pipeline = Pipeline(stages=[</a:t>
            </a:r>
            <a:r>
              <a:rPr lang="en-US" altLang="zh-CN" sz="1600" dirty="0" err="1"/>
              <a:t>labelIndexer</a:t>
            </a:r>
            <a:r>
              <a:rPr lang="en-US" altLang="zh-CN" sz="1600" dirty="0"/>
              <a:t>, </a:t>
            </a:r>
            <a:r>
              <a:rPr lang="en-US" altLang="zh-CN" sz="1600" dirty="0" err="1"/>
              <a:t>featureIndexer</a:t>
            </a:r>
            <a:r>
              <a:rPr lang="en-US" altLang="zh-CN" sz="1600" dirty="0"/>
              <a:t>, dt])</a:t>
            </a:r>
          </a:p>
          <a:p>
            <a:endParaRPr lang="en-US" altLang="zh-CN" sz="1600" dirty="0"/>
          </a:p>
          <a:p>
            <a:r>
              <a:rPr lang="en-US" altLang="zh-CN" sz="1600" dirty="0"/>
              <a:t>#</a:t>
            </a:r>
            <a:r>
              <a:rPr lang="zh-CN" altLang="en-US" sz="1600" dirty="0"/>
              <a:t>把训练数据馈入流水线，训练机器学习模型。</a:t>
            </a:r>
          </a:p>
          <a:p>
            <a:r>
              <a:rPr lang="en-US" altLang="zh-CN" sz="1600" dirty="0"/>
              <a:t># Train model.  This also runs the indexers.</a:t>
            </a:r>
          </a:p>
          <a:p>
            <a:r>
              <a:rPr lang="en-US" altLang="zh-CN" sz="1600" dirty="0"/>
              <a:t>model = </a:t>
            </a:r>
            <a:r>
              <a:rPr lang="en-US" altLang="zh-CN" sz="1600" dirty="0" err="1"/>
              <a:t>pipeline.fit</a:t>
            </a:r>
            <a:r>
              <a:rPr lang="en-US" altLang="zh-CN" sz="1600" dirty="0"/>
              <a:t>(</a:t>
            </a:r>
            <a:r>
              <a:rPr lang="en-US" altLang="zh-CN" sz="1600" dirty="0" err="1"/>
              <a:t>trainingData</a:t>
            </a:r>
            <a:r>
              <a:rPr lang="en-US" altLang="zh-CN" sz="1600" dirty="0"/>
              <a:t>)</a:t>
            </a:r>
          </a:p>
        </p:txBody>
      </p:sp>
    </p:spTree>
    <p:extLst>
      <p:ext uri="{BB962C8B-B14F-4D97-AF65-F5344CB8AC3E}">
        <p14:creationId xmlns:p14="http://schemas.microsoft.com/office/powerpoint/2010/main" val="3875527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1</a:t>
            </a:r>
            <a:r>
              <a:rPr lang="zh-CN" altLang="en-US" sz="1800" dirty="0">
                <a:effectLst/>
                <a:latin typeface="微软雅黑" panose="020B0503020204020204" pitchFamily="34" charset="-122"/>
                <a:ea typeface="宋体" panose="02010600030101010101" pitchFamily="2" charset="-122"/>
              </a:rPr>
              <a:t>，分类实例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基于决策树分类的示例代码</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1815882"/>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利用已经训练好的模型，进行预测。</a:t>
            </a:r>
          </a:p>
          <a:p>
            <a:r>
              <a:rPr lang="en-US" altLang="zh-CN" sz="1600" dirty="0"/>
              <a:t># Make predictions.</a:t>
            </a:r>
          </a:p>
          <a:p>
            <a:r>
              <a:rPr lang="en-US" altLang="zh-CN" sz="1600" dirty="0"/>
              <a:t>predictions = </a:t>
            </a:r>
            <a:r>
              <a:rPr lang="en-US" altLang="zh-CN" sz="1600" dirty="0" err="1"/>
              <a:t>model.transform</a:t>
            </a:r>
            <a:r>
              <a:rPr lang="en-US" altLang="zh-CN" sz="1600" dirty="0"/>
              <a:t>(</a:t>
            </a:r>
            <a:r>
              <a:rPr lang="en-US" altLang="zh-CN" sz="1600" dirty="0" err="1"/>
              <a:t>testData</a:t>
            </a:r>
            <a:r>
              <a:rPr lang="en-US" altLang="zh-CN" sz="1600" dirty="0"/>
              <a:t>)</a:t>
            </a:r>
          </a:p>
          <a:p>
            <a:endParaRPr lang="en-US" altLang="zh-CN" sz="1600" dirty="0"/>
          </a:p>
          <a:p>
            <a:r>
              <a:rPr lang="en-US" altLang="zh-CN" sz="1600" dirty="0"/>
              <a:t>#</a:t>
            </a:r>
            <a:r>
              <a:rPr lang="zh-CN" altLang="en-US" sz="1600" dirty="0"/>
              <a:t>显示模型的预测结果，最多显示</a:t>
            </a:r>
            <a:r>
              <a:rPr lang="en-US" altLang="zh-CN" sz="1600" dirty="0"/>
              <a:t>5</a:t>
            </a:r>
            <a:r>
              <a:rPr lang="zh-CN" altLang="en-US" sz="1600" dirty="0"/>
              <a:t>条。</a:t>
            </a:r>
          </a:p>
          <a:p>
            <a:r>
              <a:rPr lang="en-US" altLang="zh-CN" sz="1600" dirty="0"/>
              <a:t># Select example rows to display.</a:t>
            </a:r>
          </a:p>
          <a:p>
            <a:r>
              <a:rPr lang="en-US" altLang="zh-CN" sz="1600" dirty="0" err="1"/>
              <a:t>predictions.select</a:t>
            </a:r>
            <a:r>
              <a:rPr lang="en-US" altLang="zh-CN" sz="1600" dirty="0"/>
              <a:t>("prediction", "</a:t>
            </a:r>
            <a:r>
              <a:rPr lang="en-US" altLang="zh-CN" sz="1600" dirty="0" err="1"/>
              <a:t>indexedLabel</a:t>
            </a:r>
            <a:r>
              <a:rPr lang="en-US" altLang="zh-CN" sz="1600" dirty="0"/>
              <a:t>", "features").show(5)</a:t>
            </a:r>
          </a:p>
        </p:txBody>
      </p:sp>
    </p:spTree>
    <p:extLst>
      <p:ext uri="{BB962C8B-B14F-4D97-AF65-F5344CB8AC3E}">
        <p14:creationId xmlns:p14="http://schemas.microsoft.com/office/powerpoint/2010/main" val="1141765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1</a:t>
            </a:r>
            <a:r>
              <a:rPr lang="zh-CN" altLang="en-US" sz="1800" dirty="0">
                <a:effectLst/>
                <a:latin typeface="微软雅黑" panose="020B0503020204020204" pitchFamily="34" charset="-122"/>
                <a:ea typeface="宋体" panose="02010600030101010101" pitchFamily="2" charset="-122"/>
              </a:rPr>
              <a:t>，分类实例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基于决策树分类的示例代码</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2062103"/>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对模型进行评价，评价指标是模型的正确率</a:t>
            </a:r>
            <a:r>
              <a:rPr lang="en-US" altLang="zh-CN" sz="1600" dirty="0"/>
              <a:t>(Accuracy)</a:t>
            </a:r>
            <a:r>
              <a:rPr lang="zh-CN" altLang="en-US" sz="1600" dirty="0"/>
              <a:t>。</a:t>
            </a:r>
          </a:p>
          <a:p>
            <a:r>
              <a:rPr lang="en-US" altLang="zh-CN" sz="1600" dirty="0"/>
              <a:t>#</a:t>
            </a:r>
            <a:r>
              <a:rPr lang="zh-CN" altLang="en-US" sz="1600" dirty="0"/>
              <a:t>在下文中，有时候模型指的是机器学习模型，有时候模型指的是完整的流水线，请读者加以区分。</a:t>
            </a:r>
          </a:p>
          <a:p>
            <a:r>
              <a:rPr lang="en-US" altLang="zh-CN" sz="1600" dirty="0"/>
              <a:t># Select (prediction, true label) and compute test error</a:t>
            </a:r>
          </a:p>
          <a:p>
            <a:r>
              <a:rPr lang="en-US" altLang="zh-CN" sz="1600" dirty="0"/>
              <a:t>evaluator = </a:t>
            </a:r>
            <a:r>
              <a:rPr lang="en-US" altLang="zh-CN" sz="1600" dirty="0" err="1"/>
              <a:t>MulticlassClassificationEvaluator</a:t>
            </a:r>
            <a:r>
              <a:rPr lang="en-US" altLang="zh-CN" sz="1600" dirty="0"/>
              <a:t>(</a:t>
            </a:r>
          </a:p>
          <a:p>
            <a:r>
              <a:rPr lang="en-US" altLang="zh-CN" sz="1600" dirty="0"/>
              <a:t>    </a:t>
            </a:r>
            <a:r>
              <a:rPr lang="en-US" altLang="zh-CN" sz="1600" dirty="0" err="1"/>
              <a:t>labelCol</a:t>
            </a:r>
            <a:r>
              <a:rPr lang="en-US" altLang="zh-CN" sz="1600" dirty="0"/>
              <a:t>="</a:t>
            </a:r>
            <a:r>
              <a:rPr lang="en-US" altLang="zh-CN" sz="1600" dirty="0" err="1"/>
              <a:t>indexedLabel</a:t>
            </a:r>
            <a:r>
              <a:rPr lang="en-US" altLang="zh-CN" sz="1600" dirty="0"/>
              <a:t>", </a:t>
            </a:r>
            <a:r>
              <a:rPr lang="en-US" altLang="zh-CN" sz="1600" dirty="0" err="1"/>
              <a:t>predictionCol</a:t>
            </a:r>
            <a:r>
              <a:rPr lang="en-US" altLang="zh-CN" sz="1600" dirty="0"/>
              <a:t>="prediction", </a:t>
            </a:r>
            <a:r>
              <a:rPr lang="en-US" altLang="zh-CN" sz="1600" dirty="0" err="1"/>
              <a:t>metricName</a:t>
            </a:r>
            <a:r>
              <a:rPr lang="en-US" altLang="zh-CN" sz="1600" dirty="0"/>
              <a:t>="accuracy")</a:t>
            </a:r>
          </a:p>
          <a:p>
            <a:r>
              <a:rPr lang="en-US" altLang="zh-CN" sz="1600" dirty="0"/>
              <a:t>accuracy = </a:t>
            </a:r>
            <a:r>
              <a:rPr lang="en-US" altLang="zh-CN" sz="1600" dirty="0" err="1"/>
              <a:t>evaluator.evaluate</a:t>
            </a:r>
            <a:r>
              <a:rPr lang="en-US" altLang="zh-CN" sz="1600" dirty="0"/>
              <a:t>(predictions)</a:t>
            </a:r>
          </a:p>
          <a:p>
            <a:r>
              <a:rPr lang="en-US" altLang="zh-CN" sz="1600" dirty="0"/>
              <a:t>print("Test Error = %g " % (1.0 - accuracy))</a:t>
            </a:r>
          </a:p>
        </p:txBody>
      </p:sp>
    </p:spTree>
    <p:extLst>
      <p:ext uri="{BB962C8B-B14F-4D97-AF65-F5344CB8AC3E}">
        <p14:creationId xmlns:p14="http://schemas.microsoft.com/office/powerpoint/2010/main" val="2714982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1</a:t>
            </a:r>
            <a:r>
              <a:rPr lang="zh-CN" altLang="en-US" sz="1800" dirty="0">
                <a:effectLst/>
                <a:latin typeface="微软雅黑" panose="020B0503020204020204" pitchFamily="34" charset="-122"/>
                <a:ea typeface="宋体" panose="02010600030101010101" pitchFamily="2" charset="-122"/>
              </a:rPr>
              <a:t>，分类实例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基于决策树分类的示例代码</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1815882"/>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显示训练后的决策树的信息。</a:t>
            </a:r>
          </a:p>
          <a:p>
            <a:r>
              <a:rPr lang="en-US" altLang="zh-CN" sz="1600" dirty="0" err="1"/>
              <a:t>treeModel</a:t>
            </a:r>
            <a:r>
              <a:rPr lang="en-US" altLang="zh-CN" sz="1600" dirty="0"/>
              <a:t> = </a:t>
            </a:r>
            <a:r>
              <a:rPr lang="en-US" altLang="zh-CN" sz="1600" dirty="0" err="1"/>
              <a:t>model.stages</a:t>
            </a:r>
            <a:r>
              <a:rPr lang="en-US" altLang="zh-CN" sz="1600" dirty="0"/>
              <a:t>[2]</a:t>
            </a:r>
          </a:p>
          <a:p>
            <a:r>
              <a:rPr lang="en-US" altLang="zh-CN" sz="1600" dirty="0"/>
              <a:t># summary only</a:t>
            </a:r>
          </a:p>
          <a:p>
            <a:r>
              <a:rPr lang="en-US" altLang="zh-CN" sz="1600" dirty="0"/>
              <a:t>print(</a:t>
            </a:r>
            <a:r>
              <a:rPr lang="en-US" altLang="zh-CN" sz="1600" dirty="0" err="1"/>
              <a:t>treeModel</a:t>
            </a:r>
            <a:r>
              <a:rPr lang="en-US" altLang="zh-CN" sz="1600" dirty="0"/>
              <a:t>)</a:t>
            </a:r>
          </a:p>
          <a:p>
            <a:endParaRPr lang="en-US" altLang="zh-CN" sz="1600" dirty="0"/>
          </a:p>
          <a:p>
            <a:r>
              <a:rPr lang="en-US" altLang="zh-CN" sz="1600" dirty="0"/>
              <a:t>#</a:t>
            </a:r>
            <a:r>
              <a:rPr lang="zh-CN" altLang="en-US" sz="1600" dirty="0"/>
              <a:t>停止</a:t>
            </a:r>
            <a:r>
              <a:rPr lang="en-US" altLang="zh-CN" sz="1600" dirty="0" err="1"/>
              <a:t>SparkSession</a:t>
            </a:r>
            <a:r>
              <a:rPr lang="zh-CN" altLang="en-US" sz="1600" dirty="0"/>
              <a:t>。</a:t>
            </a:r>
          </a:p>
          <a:p>
            <a:r>
              <a:rPr lang="en-US" altLang="zh-CN" sz="1600" dirty="0" err="1"/>
              <a:t>spark.stop</a:t>
            </a:r>
            <a:r>
              <a:rPr lang="en-US" altLang="zh-CN" sz="1600" dirty="0"/>
              <a:t>()</a:t>
            </a:r>
          </a:p>
        </p:txBody>
      </p:sp>
    </p:spTree>
    <p:extLst>
      <p:ext uri="{BB962C8B-B14F-4D97-AF65-F5344CB8AC3E}">
        <p14:creationId xmlns:p14="http://schemas.microsoft.com/office/powerpoint/2010/main" val="3280926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587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2</a:t>
            </a:r>
            <a:r>
              <a:rPr lang="zh-CN" altLang="en-US" sz="1800" dirty="0">
                <a:effectLst/>
                <a:latin typeface="微软雅黑" panose="020B0503020204020204" pitchFamily="34" charset="-122"/>
                <a:ea typeface="宋体" panose="02010600030101010101" pitchFamily="2" charset="-122"/>
              </a:rPr>
              <a:t>，文本分类</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微软雅黑" panose="020B0503020204020204" pitchFamily="34" charset="-122"/>
                <a:ea typeface="宋体" panose="02010600030101010101" pitchFamily="2" charset="-122"/>
              </a:rPr>
              <a:t>参考</a:t>
            </a:r>
            <a:r>
              <a:rPr lang="en-US" altLang="zh-CN" sz="1800" dirty="0">
                <a:effectLst/>
                <a:latin typeface="Times New Roman" panose="02020603050405020304" pitchFamily="18" charset="0"/>
                <a:ea typeface="宋体" panose="02010600030101010101" pitchFamily="2" charset="-122"/>
                <a:hlinkClick r:id="rId2"/>
              </a:rPr>
              <a:t>https://github.com/ayoyu/Spark_ML_Classification_of_texts</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1323439"/>
          </a:xfrm>
          <a:prstGeom prst="rect">
            <a:avLst/>
          </a:prstGeom>
          <a:solidFill>
            <a:schemeClr val="bg1">
              <a:lumMod val="95000"/>
            </a:schemeClr>
          </a:solidFill>
          <a:ln>
            <a:solidFill>
              <a:schemeClr val="accent1"/>
            </a:solidFill>
          </a:ln>
        </p:spPr>
        <p:txBody>
          <a:bodyPr wrap="square">
            <a:spAutoFit/>
          </a:bodyPr>
          <a:lstStyle/>
          <a:p>
            <a:r>
              <a:rPr lang="zh-CN" altLang="en-US" sz="1600" dirty="0"/>
              <a:t>首先把数据文件上传到</a:t>
            </a:r>
            <a:r>
              <a:rPr lang="en-US" altLang="zh-CN" sz="1600" dirty="0"/>
              <a:t>HDFS</a:t>
            </a:r>
            <a:r>
              <a:rPr lang="zh-CN" altLang="en-US" sz="1600" dirty="0"/>
              <a:t>。</a:t>
            </a:r>
          </a:p>
          <a:p>
            <a:r>
              <a:rPr lang="en-US" altLang="zh-CN" sz="1600" dirty="0"/>
              <a:t>cd /opt/</a:t>
            </a:r>
            <a:r>
              <a:rPr lang="en-US" altLang="zh-CN" sz="1600" dirty="0" err="1"/>
              <a:t>linuxsir</a:t>
            </a:r>
            <a:r>
              <a:rPr lang="en-US" altLang="zh-CN" sz="1600" dirty="0"/>
              <a:t>/</a:t>
            </a:r>
            <a:r>
              <a:rPr lang="en-US" altLang="zh-CN" sz="1600" dirty="0" err="1"/>
              <a:t>hadoop</a:t>
            </a:r>
            <a:r>
              <a:rPr lang="en-US" altLang="zh-CN" sz="1600" dirty="0"/>
              <a:t>/bin</a:t>
            </a:r>
          </a:p>
          <a:p>
            <a:r>
              <a:rPr lang="en-US" altLang="zh-CN" sz="1600" dirty="0"/>
              <a:t>./</a:t>
            </a:r>
            <a:r>
              <a:rPr lang="en-US" altLang="zh-CN" sz="1600" dirty="0" err="1"/>
              <a:t>hdfs</a:t>
            </a:r>
            <a:r>
              <a:rPr lang="en-US" altLang="zh-CN" sz="1600" dirty="0"/>
              <a:t> </a:t>
            </a:r>
            <a:r>
              <a:rPr lang="en-US" altLang="zh-CN" sz="1600" dirty="0" err="1"/>
              <a:t>dfs</a:t>
            </a:r>
            <a:r>
              <a:rPr lang="en-US" altLang="zh-CN" sz="1600" dirty="0"/>
              <a:t> -</a:t>
            </a:r>
            <a:r>
              <a:rPr lang="en-US" altLang="zh-CN" sz="1600" dirty="0" err="1"/>
              <a:t>copyFromLocal</a:t>
            </a:r>
            <a:r>
              <a:rPr lang="en-US" altLang="zh-CN" sz="1600" dirty="0"/>
              <a:t> /opt/</a:t>
            </a:r>
            <a:r>
              <a:rPr lang="en-US" altLang="zh-CN" sz="1600" dirty="0" err="1"/>
              <a:t>linuxsir</a:t>
            </a:r>
            <a:r>
              <a:rPr lang="en-US" altLang="zh-CN" sz="1600" dirty="0"/>
              <a:t>/20ng-train-all-terms.txt /input</a:t>
            </a:r>
          </a:p>
          <a:p>
            <a:r>
              <a:rPr lang="en-US" altLang="zh-CN" sz="1600" dirty="0"/>
              <a:t>./</a:t>
            </a:r>
            <a:r>
              <a:rPr lang="en-US" altLang="zh-CN" sz="1600" dirty="0" err="1"/>
              <a:t>hdfs</a:t>
            </a:r>
            <a:r>
              <a:rPr lang="en-US" altLang="zh-CN" sz="1600" dirty="0"/>
              <a:t> </a:t>
            </a:r>
            <a:r>
              <a:rPr lang="en-US" altLang="zh-CN" sz="1600" dirty="0" err="1"/>
              <a:t>dfs</a:t>
            </a:r>
            <a:r>
              <a:rPr lang="en-US" altLang="zh-CN" sz="1600" dirty="0"/>
              <a:t> -</a:t>
            </a:r>
            <a:r>
              <a:rPr lang="en-US" altLang="zh-CN" sz="1600" dirty="0" err="1"/>
              <a:t>copyFromLocal</a:t>
            </a:r>
            <a:r>
              <a:rPr lang="en-US" altLang="zh-CN" sz="1600" dirty="0"/>
              <a:t> /opt/</a:t>
            </a:r>
            <a:r>
              <a:rPr lang="en-US" altLang="zh-CN" sz="1600" dirty="0" err="1"/>
              <a:t>linuxsir</a:t>
            </a:r>
            <a:r>
              <a:rPr lang="en-US" altLang="zh-CN" sz="1600" dirty="0"/>
              <a:t>/20ng-test-all-terms.txt /input</a:t>
            </a:r>
          </a:p>
          <a:p>
            <a:r>
              <a:rPr lang="en-US" altLang="zh-CN" sz="1600" dirty="0"/>
              <a:t>./</a:t>
            </a:r>
            <a:r>
              <a:rPr lang="en-US" altLang="zh-CN" sz="1600" dirty="0" err="1"/>
              <a:t>hdfs</a:t>
            </a:r>
            <a:r>
              <a:rPr lang="en-US" altLang="zh-CN" sz="1600" dirty="0"/>
              <a:t> </a:t>
            </a:r>
            <a:r>
              <a:rPr lang="en-US" altLang="zh-CN" sz="1600" dirty="0" err="1"/>
              <a:t>dfs</a:t>
            </a:r>
            <a:r>
              <a:rPr lang="en-US" altLang="zh-CN" sz="1600" dirty="0"/>
              <a:t> -ls /input</a:t>
            </a:r>
          </a:p>
        </p:txBody>
      </p:sp>
    </p:spTree>
    <p:extLst>
      <p:ext uri="{BB962C8B-B14F-4D97-AF65-F5344CB8AC3E}">
        <p14:creationId xmlns:p14="http://schemas.microsoft.com/office/powerpoint/2010/main" val="4275512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2</a:t>
            </a:r>
            <a:r>
              <a:rPr lang="zh-CN" altLang="en-US" sz="1800" dirty="0">
                <a:effectLst/>
                <a:latin typeface="微软雅黑" panose="020B0503020204020204" pitchFamily="34" charset="-122"/>
                <a:ea typeface="宋体" panose="02010600030101010101" pitchFamily="2" charset="-122"/>
              </a:rPr>
              <a:t>，文本分类</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微软雅黑" panose="020B0503020204020204" pitchFamily="34" charset="-122"/>
                <a:ea typeface="宋体" panose="02010600030101010101" pitchFamily="2" charset="-122"/>
              </a:rPr>
              <a:t>参考</a:t>
            </a:r>
            <a:r>
              <a:rPr lang="en-US" altLang="zh-CN" sz="1800" dirty="0">
                <a:effectLst/>
                <a:latin typeface="Times New Roman" panose="02020603050405020304" pitchFamily="18" charset="0"/>
                <a:ea typeface="宋体" panose="02010600030101010101" pitchFamily="2" charset="-122"/>
                <a:hlinkClick r:id="rId2"/>
              </a:rPr>
              <a:t>https://github.com/ayoyu/Spark_ML_Classification_of_texts</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3293209"/>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首先，导入必要的类。</a:t>
            </a:r>
          </a:p>
          <a:p>
            <a:r>
              <a:rPr lang="en-US" altLang="zh-CN" sz="1600" dirty="0"/>
              <a:t>from </a:t>
            </a:r>
            <a:r>
              <a:rPr lang="en-US" altLang="zh-CN" sz="1600" dirty="0" err="1"/>
              <a:t>pyspark</a:t>
            </a:r>
            <a:r>
              <a:rPr lang="en-US" altLang="zh-CN" sz="1600" dirty="0"/>
              <a:t> import </a:t>
            </a:r>
            <a:r>
              <a:rPr lang="en-US" altLang="zh-CN" sz="1600" dirty="0" err="1"/>
              <a:t>SparkContext</a:t>
            </a:r>
            <a:endParaRPr lang="en-US" altLang="zh-CN" sz="1600" dirty="0"/>
          </a:p>
          <a:p>
            <a:r>
              <a:rPr lang="en-US" altLang="zh-CN" sz="1600" dirty="0"/>
              <a:t>from </a:t>
            </a:r>
            <a:r>
              <a:rPr lang="en-US" altLang="zh-CN" sz="1600" dirty="0" err="1"/>
              <a:t>pyspark.sql</a:t>
            </a:r>
            <a:r>
              <a:rPr lang="en-US" altLang="zh-CN" sz="1600" dirty="0"/>
              <a:t> import Row</a:t>
            </a:r>
          </a:p>
          <a:p>
            <a:r>
              <a:rPr lang="en-US" altLang="zh-CN" sz="1600" dirty="0"/>
              <a:t>from </a:t>
            </a:r>
            <a:r>
              <a:rPr lang="en-US" altLang="zh-CN" sz="1600" dirty="0" err="1"/>
              <a:t>pyspark.sql</a:t>
            </a:r>
            <a:r>
              <a:rPr lang="en-US" altLang="zh-CN" sz="1600" dirty="0"/>
              <a:t> import </a:t>
            </a:r>
            <a:r>
              <a:rPr lang="en-US" altLang="zh-CN" sz="1600" dirty="0" err="1"/>
              <a:t>SparkSession</a:t>
            </a:r>
            <a:endParaRPr lang="en-US" altLang="zh-CN" sz="1600" dirty="0"/>
          </a:p>
          <a:p>
            <a:r>
              <a:rPr lang="en-US" altLang="zh-CN" sz="1600" dirty="0"/>
              <a:t>from </a:t>
            </a:r>
            <a:r>
              <a:rPr lang="en-US" altLang="zh-CN" sz="1600" dirty="0" err="1"/>
              <a:t>pyspark.ml.feature</a:t>
            </a:r>
            <a:r>
              <a:rPr lang="en-US" altLang="zh-CN" sz="1600" dirty="0"/>
              <a:t> import </a:t>
            </a:r>
            <a:r>
              <a:rPr lang="en-US" altLang="zh-CN" sz="1600" dirty="0" err="1"/>
              <a:t>CountVectorizer</a:t>
            </a:r>
            <a:endParaRPr lang="en-US" altLang="zh-CN" sz="1600" dirty="0"/>
          </a:p>
          <a:p>
            <a:r>
              <a:rPr lang="en-US" altLang="zh-CN" sz="1600" dirty="0"/>
              <a:t>from </a:t>
            </a:r>
            <a:r>
              <a:rPr lang="en-US" altLang="zh-CN" sz="1600" dirty="0" err="1"/>
              <a:t>pyspark.ml.feature</a:t>
            </a:r>
            <a:r>
              <a:rPr lang="en-US" altLang="zh-CN" sz="1600" dirty="0"/>
              <a:t> import </a:t>
            </a:r>
            <a:r>
              <a:rPr lang="en-US" altLang="zh-CN" sz="1600" dirty="0" err="1"/>
              <a:t>StringIndexer</a:t>
            </a:r>
            <a:endParaRPr lang="en-US" altLang="zh-CN" sz="1600" dirty="0"/>
          </a:p>
          <a:p>
            <a:r>
              <a:rPr lang="en-US" altLang="zh-CN" sz="1600" dirty="0"/>
              <a:t>from </a:t>
            </a:r>
            <a:r>
              <a:rPr lang="en-US" altLang="zh-CN" sz="1600" dirty="0" err="1"/>
              <a:t>pyspark.ml.classification</a:t>
            </a:r>
            <a:r>
              <a:rPr lang="en-US" altLang="zh-CN" sz="1600" dirty="0"/>
              <a:t> import </a:t>
            </a:r>
            <a:r>
              <a:rPr lang="en-US" altLang="zh-CN" sz="1600" dirty="0" err="1"/>
              <a:t>NaiveBayes</a:t>
            </a:r>
            <a:endParaRPr lang="en-US" altLang="zh-CN" sz="1600" dirty="0"/>
          </a:p>
          <a:p>
            <a:r>
              <a:rPr lang="en-US" altLang="zh-CN" sz="1600" dirty="0"/>
              <a:t>from </a:t>
            </a:r>
            <a:r>
              <a:rPr lang="en-US" altLang="zh-CN" sz="1600" dirty="0" err="1"/>
              <a:t>pyspark.ml.evaluation</a:t>
            </a:r>
            <a:r>
              <a:rPr lang="en-US" altLang="zh-CN" sz="1600" dirty="0"/>
              <a:t> import </a:t>
            </a:r>
            <a:r>
              <a:rPr lang="en-US" altLang="zh-CN" sz="1600" dirty="0" err="1"/>
              <a:t>MulticlassClassificationEvaluator</a:t>
            </a:r>
            <a:endParaRPr lang="en-US" altLang="zh-CN" sz="1600" dirty="0"/>
          </a:p>
          <a:p>
            <a:r>
              <a:rPr lang="en-US" altLang="zh-CN" sz="1600" dirty="0"/>
              <a:t>from pyspark.ml import Pipeline</a:t>
            </a:r>
          </a:p>
          <a:p>
            <a:endParaRPr lang="en-US" altLang="zh-CN" sz="1600" dirty="0"/>
          </a:p>
          <a:p>
            <a:r>
              <a:rPr lang="en-US" altLang="zh-CN" sz="1600" dirty="0"/>
              <a:t>#</a:t>
            </a:r>
            <a:r>
              <a:rPr lang="zh-CN" altLang="en-US" sz="1600" dirty="0"/>
              <a:t>创建</a:t>
            </a:r>
            <a:r>
              <a:rPr lang="en-US" altLang="zh-CN" sz="1600" dirty="0" err="1"/>
              <a:t>SparkSession</a:t>
            </a:r>
            <a:r>
              <a:rPr lang="zh-CN" altLang="en-US" sz="1600" dirty="0"/>
              <a:t>。</a:t>
            </a:r>
          </a:p>
          <a:p>
            <a:r>
              <a:rPr lang="en-US" altLang="zh-CN" sz="1600" dirty="0" err="1"/>
              <a:t>sc</a:t>
            </a:r>
            <a:r>
              <a:rPr lang="en-US" altLang="zh-CN" sz="1600" dirty="0"/>
              <a:t> = </a:t>
            </a:r>
            <a:r>
              <a:rPr lang="en-US" altLang="zh-CN" sz="1600" dirty="0" err="1"/>
              <a:t>SparkContext</a:t>
            </a:r>
            <a:r>
              <a:rPr lang="en-US" altLang="zh-CN" sz="1600" dirty="0"/>
              <a:t>()</a:t>
            </a:r>
          </a:p>
          <a:p>
            <a:r>
              <a:rPr lang="en-US" altLang="zh-CN" sz="1600" dirty="0"/>
              <a:t>spark = </a:t>
            </a:r>
            <a:r>
              <a:rPr lang="en-US" altLang="zh-CN" sz="1600" dirty="0" err="1"/>
              <a:t>SparkSession.builder.getOrCreate</a:t>
            </a:r>
            <a:r>
              <a:rPr lang="en-US" altLang="zh-CN" sz="1600" dirty="0"/>
              <a:t>()</a:t>
            </a:r>
          </a:p>
        </p:txBody>
      </p:sp>
    </p:spTree>
    <p:extLst>
      <p:ext uri="{BB962C8B-B14F-4D97-AF65-F5344CB8AC3E}">
        <p14:creationId xmlns:p14="http://schemas.microsoft.com/office/powerpoint/2010/main" val="1077162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2</a:t>
            </a:r>
            <a:r>
              <a:rPr lang="zh-CN" altLang="en-US" sz="1800" dirty="0">
                <a:effectLst/>
                <a:latin typeface="微软雅黑" panose="020B0503020204020204" pitchFamily="34" charset="-122"/>
                <a:ea typeface="宋体" panose="02010600030101010101" pitchFamily="2" charset="-122"/>
              </a:rPr>
              <a:t>，文本分类</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微软雅黑" panose="020B0503020204020204" pitchFamily="34" charset="-122"/>
                <a:ea typeface="宋体" panose="02010600030101010101" pitchFamily="2" charset="-122"/>
              </a:rPr>
              <a:t>参考</a:t>
            </a:r>
            <a:r>
              <a:rPr lang="en-US" altLang="zh-CN" sz="1800" dirty="0">
                <a:effectLst/>
                <a:latin typeface="Times New Roman" panose="02020603050405020304" pitchFamily="18" charset="0"/>
                <a:ea typeface="宋体" panose="02010600030101010101" pitchFamily="2" charset="-122"/>
                <a:hlinkClick r:id="rId2"/>
              </a:rPr>
              <a:t>https://github.com/ayoyu/Spark_ML_Classification_of_texts</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2554545"/>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定义数据装载函数。</a:t>
            </a:r>
          </a:p>
          <a:p>
            <a:r>
              <a:rPr lang="en-US" altLang="zh-CN" sz="1600" dirty="0"/>
              <a:t>def </a:t>
            </a:r>
            <a:r>
              <a:rPr lang="en-US" altLang="zh-CN" sz="1600" dirty="0" err="1"/>
              <a:t>load_data</a:t>
            </a:r>
            <a:r>
              <a:rPr lang="en-US" altLang="zh-CN" sz="1600" dirty="0"/>
              <a:t>(path):</a:t>
            </a:r>
          </a:p>
          <a:p>
            <a:r>
              <a:rPr lang="en-US" altLang="zh-CN" sz="1600" dirty="0"/>
              <a:t>    </a:t>
            </a:r>
            <a:r>
              <a:rPr lang="en-US" altLang="zh-CN" sz="1600" dirty="0" err="1"/>
              <a:t>rdd</a:t>
            </a:r>
            <a:r>
              <a:rPr lang="en-US" altLang="zh-CN" sz="1600" dirty="0"/>
              <a:t> = </a:t>
            </a:r>
            <a:r>
              <a:rPr lang="en-US" altLang="zh-CN" sz="1600" dirty="0" err="1"/>
              <a:t>sc.textFile</a:t>
            </a:r>
            <a:r>
              <a:rPr lang="en-US" altLang="zh-CN" sz="1600" dirty="0"/>
              <a:t>(path).\</a:t>
            </a:r>
          </a:p>
          <a:p>
            <a:r>
              <a:rPr lang="en-US" altLang="zh-CN" sz="1600" dirty="0"/>
              <a:t>        map(lambda </a:t>
            </a:r>
            <a:r>
              <a:rPr lang="en-US" altLang="zh-CN" sz="1600" dirty="0" err="1"/>
              <a:t>line:line.split</a:t>
            </a:r>
            <a:r>
              <a:rPr lang="en-US" altLang="zh-CN" sz="1600" dirty="0"/>
              <a:t>()).map(lambda </a:t>
            </a:r>
            <a:r>
              <a:rPr lang="en-US" altLang="zh-CN" sz="1600" dirty="0" err="1"/>
              <a:t>word:Row</a:t>
            </a:r>
            <a:r>
              <a:rPr lang="en-US" altLang="zh-CN" sz="1600" dirty="0"/>
              <a:t>(label=word[0],words=word[1:]))</a:t>
            </a:r>
          </a:p>
          <a:p>
            <a:r>
              <a:rPr lang="en-US" altLang="zh-CN" sz="1600" dirty="0"/>
              <a:t>    return </a:t>
            </a:r>
            <a:r>
              <a:rPr lang="en-US" altLang="zh-CN" sz="1600" dirty="0" err="1"/>
              <a:t>spark.createDataFrame</a:t>
            </a:r>
            <a:r>
              <a:rPr lang="en-US" altLang="zh-CN" sz="1600" dirty="0"/>
              <a:t>(</a:t>
            </a:r>
            <a:r>
              <a:rPr lang="en-US" altLang="zh-CN" sz="1600" dirty="0" err="1"/>
              <a:t>rdd</a:t>
            </a:r>
            <a:r>
              <a:rPr lang="en-US" altLang="zh-CN" sz="1600" dirty="0"/>
              <a:t>)</a:t>
            </a:r>
          </a:p>
          <a:p>
            <a:endParaRPr lang="en-US" altLang="zh-CN" sz="1600" dirty="0"/>
          </a:p>
          <a:p>
            <a:r>
              <a:rPr lang="en-US" altLang="zh-CN" sz="1600" dirty="0"/>
              <a:t>#</a:t>
            </a:r>
            <a:r>
              <a:rPr lang="zh-CN" altLang="en-US" sz="1600" dirty="0"/>
              <a:t>装载训练集和测试集。</a:t>
            </a:r>
          </a:p>
          <a:p>
            <a:r>
              <a:rPr lang="en-US" altLang="zh-CN" sz="1600" dirty="0" err="1"/>
              <a:t>train_data</a:t>
            </a:r>
            <a:r>
              <a:rPr lang="en-US" altLang="zh-CN" sz="1600" dirty="0"/>
              <a:t> = </a:t>
            </a:r>
            <a:r>
              <a:rPr lang="en-US" altLang="zh-CN" sz="1600" dirty="0" err="1"/>
              <a:t>load_data</a:t>
            </a:r>
            <a:r>
              <a:rPr lang="en-US" altLang="zh-CN" sz="1600" dirty="0"/>
              <a:t>("/input/20ng-train-all-terms.txt")</a:t>
            </a:r>
          </a:p>
          <a:p>
            <a:r>
              <a:rPr lang="en-US" altLang="zh-CN" sz="1600" dirty="0" err="1"/>
              <a:t>test_data</a:t>
            </a:r>
            <a:r>
              <a:rPr lang="en-US" altLang="zh-CN" sz="1600" dirty="0"/>
              <a:t> = </a:t>
            </a:r>
            <a:r>
              <a:rPr lang="en-US" altLang="zh-CN" sz="1600" dirty="0" err="1"/>
              <a:t>load_data</a:t>
            </a:r>
            <a:r>
              <a:rPr lang="en-US" altLang="zh-CN" sz="1600" dirty="0"/>
              <a:t>("/input/20ng-test-all-terms.txt")</a:t>
            </a:r>
          </a:p>
        </p:txBody>
      </p:sp>
    </p:spTree>
    <p:extLst>
      <p:ext uri="{BB962C8B-B14F-4D97-AF65-F5344CB8AC3E}">
        <p14:creationId xmlns:p14="http://schemas.microsoft.com/office/powerpoint/2010/main" val="2237582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2</a:t>
            </a:r>
            <a:r>
              <a:rPr lang="zh-CN" altLang="en-US" sz="1800" dirty="0">
                <a:effectLst/>
                <a:latin typeface="微软雅黑" panose="020B0503020204020204" pitchFamily="34" charset="-122"/>
                <a:ea typeface="宋体" panose="02010600030101010101" pitchFamily="2" charset="-122"/>
              </a:rPr>
              <a:t>，文本分类</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微软雅黑" panose="020B0503020204020204" pitchFamily="34" charset="-122"/>
                <a:ea typeface="宋体" panose="02010600030101010101" pitchFamily="2" charset="-122"/>
              </a:rPr>
              <a:t>参考</a:t>
            </a:r>
            <a:r>
              <a:rPr lang="en-US" altLang="zh-CN" sz="1800" dirty="0">
                <a:effectLst/>
                <a:latin typeface="Times New Roman" panose="02020603050405020304" pitchFamily="18" charset="0"/>
                <a:ea typeface="宋体" panose="02010600030101010101" pitchFamily="2" charset="-122"/>
                <a:hlinkClick r:id="rId2"/>
              </a:rPr>
              <a:t>https://github.com/ayoyu/Spark_ML_Classification_of_texts</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2800767"/>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创建</a:t>
            </a:r>
            <a:r>
              <a:rPr lang="en-US" altLang="zh-CN" sz="1600" dirty="0" err="1"/>
              <a:t>CountVectorizer</a:t>
            </a:r>
            <a:r>
              <a:rPr lang="zh-CN" altLang="en-US" sz="1600" dirty="0"/>
              <a:t>、</a:t>
            </a:r>
            <a:r>
              <a:rPr lang="en-US" altLang="zh-CN" sz="1600" dirty="0" err="1"/>
              <a:t>StringIndexer</a:t>
            </a:r>
            <a:r>
              <a:rPr lang="zh-CN" altLang="en-US" sz="1600" dirty="0"/>
              <a:t>、以及</a:t>
            </a:r>
            <a:r>
              <a:rPr lang="en-US" altLang="zh-CN" sz="1600" dirty="0" err="1"/>
              <a:t>NaiveBayes</a:t>
            </a:r>
            <a:r>
              <a:rPr lang="zh-CN" altLang="en-US" sz="1600" dirty="0"/>
              <a:t>分类器。关于</a:t>
            </a:r>
            <a:r>
              <a:rPr lang="en-US" altLang="zh-CN" sz="1600" dirty="0" err="1"/>
              <a:t>StringIndexer</a:t>
            </a:r>
            <a:r>
              <a:rPr lang="zh-CN" altLang="en-US" sz="1600" dirty="0"/>
              <a:t>，请参考前一个实例的说明。</a:t>
            </a:r>
          </a:p>
          <a:p>
            <a:r>
              <a:rPr lang="en-US" altLang="zh-CN" sz="1600" dirty="0"/>
              <a:t>vectorizer = </a:t>
            </a:r>
            <a:r>
              <a:rPr lang="en-US" altLang="zh-CN" sz="1600" dirty="0" err="1"/>
              <a:t>CountVectorizer</a:t>
            </a:r>
            <a:r>
              <a:rPr lang="en-US" altLang="zh-CN" sz="1600" dirty="0"/>
              <a:t>(</a:t>
            </a:r>
            <a:r>
              <a:rPr lang="en-US" altLang="zh-CN" sz="1600" dirty="0" err="1"/>
              <a:t>inputCol</a:t>
            </a:r>
            <a:r>
              <a:rPr lang="en-US" altLang="zh-CN" sz="1600" dirty="0"/>
              <a:t> = 'words',</a:t>
            </a:r>
            <a:r>
              <a:rPr lang="en-US" altLang="zh-CN" sz="1600" dirty="0" err="1"/>
              <a:t>outputCol</a:t>
            </a:r>
            <a:r>
              <a:rPr lang="en-US" altLang="zh-CN" sz="1600" dirty="0"/>
              <a:t>='</a:t>
            </a:r>
            <a:r>
              <a:rPr lang="en-US" altLang="zh-CN" sz="1600" dirty="0" err="1"/>
              <a:t>bag_of_words</a:t>
            </a:r>
            <a:r>
              <a:rPr lang="en-US" altLang="zh-CN" sz="1600" dirty="0"/>
              <a:t>')</a:t>
            </a:r>
          </a:p>
          <a:p>
            <a:r>
              <a:rPr lang="en-US" altLang="zh-CN" sz="1600" dirty="0" err="1"/>
              <a:t>label_indexer</a:t>
            </a:r>
            <a:r>
              <a:rPr lang="en-US" altLang="zh-CN" sz="1600" dirty="0"/>
              <a:t> = </a:t>
            </a:r>
            <a:r>
              <a:rPr lang="en-US" altLang="zh-CN" sz="1600" dirty="0" err="1"/>
              <a:t>StringIndexer</a:t>
            </a:r>
            <a:r>
              <a:rPr lang="en-US" altLang="zh-CN" sz="1600" dirty="0"/>
              <a:t>(</a:t>
            </a:r>
            <a:r>
              <a:rPr lang="en-US" altLang="zh-CN" sz="1600" dirty="0" err="1"/>
              <a:t>inputCol</a:t>
            </a:r>
            <a:r>
              <a:rPr lang="en-US" altLang="zh-CN" sz="1600" dirty="0"/>
              <a:t> = 'label', </a:t>
            </a:r>
            <a:r>
              <a:rPr lang="en-US" altLang="zh-CN" sz="1600" dirty="0" err="1"/>
              <a:t>outputCol</a:t>
            </a:r>
            <a:r>
              <a:rPr lang="en-US" altLang="zh-CN" sz="1600" dirty="0"/>
              <a:t> = '</a:t>
            </a:r>
            <a:r>
              <a:rPr lang="en-US" altLang="zh-CN" sz="1600" dirty="0" err="1"/>
              <a:t>label_index</a:t>
            </a:r>
            <a:r>
              <a:rPr lang="en-US" altLang="zh-CN" sz="1600" dirty="0"/>
              <a:t>')</a:t>
            </a:r>
          </a:p>
          <a:p>
            <a:r>
              <a:rPr lang="en-US" altLang="zh-CN" sz="1600" dirty="0" err="1"/>
              <a:t>classifier_naive</a:t>
            </a:r>
            <a:r>
              <a:rPr lang="en-US" altLang="zh-CN" sz="1600" dirty="0"/>
              <a:t> = </a:t>
            </a:r>
            <a:r>
              <a:rPr lang="en-US" altLang="zh-CN" sz="1600" dirty="0" err="1"/>
              <a:t>NaiveBayes</a:t>
            </a:r>
            <a:r>
              <a:rPr lang="en-US" altLang="zh-CN" sz="1600" dirty="0"/>
              <a:t>(</a:t>
            </a:r>
            <a:r>
              <a:rPr lang="en-US" altLang="zh-CN" sz="1600" dirty="0" err="1"/>
              <a:t>labelCol</a:t>
            </a:r>
            <a:r>
              <a:rPr lang="en-US" altLang="zh-CN" sz="1600" dirty="0"/>
              <a:t> = '</a:t>
            </a:r>
            <a:r>
              <a:rPr lang="en-US" altLang="zh-CN" sz="1600" dirty="0" err="1"/>
              <a:t>label_index</a:t>
            </a:r>
            <a:r>
              <a:rPr lang="en-US" altLang="zh-CN" sz="1600" dirty="0"/>
              <a:t>', \</a:t>
            </a:r>
          </a:p>
          <a:p>
            <a:r>
              <a:rPr lang="en-US" altLang="zh-CN" sz="1600" dirty="0"/>
              <a:t>    </a:t>
            </a:r>
            <a:r>
              <a:rPr lang="en-US" altLang="zh-CN" sz="1600" dirty="0" err="1"/>
              <a:t>featuresCol</a:t>
            </a:r>
            <a:r>
              <a:rPr lang="en-US" altLang="zh-CN" sz="1600" dirty="0"/>
              <a:t> = '</a:t>
            </a:r>
            <a:r>
              <a:rPr lang="en-US" altLang="zh-CN" sz="1600" dirty="0" err="1"/>
              <a:t>bag_of_words</a:t>
            </a:r>
            <a:r>
              <a:rPr lang="en-US" altLang="zh-CN" sz="1600" dirty="0"/>
              <a:t>', </a:t>
            </a:r>
            <a:r>
              <a:rPr lang="en-US" altLang="zh-CN" sz="1600" dirty="0" err="1"/>
              <a:t>predictionCol</a:t>
            </a:r>
            <a:r>
              <a:rPr lang="en-US" altLang="zh-CN" sz="1600" dirty="0"/>
              <a:t> ='</a:t>
            </a:r>
            <a:r>
              <a:rPr lang="en-US" altLang="zh-CN" sz="1600" dirty="0" err="1"/>
              <a:t>label_pred</a:t>
            </a:r>
            <a:r>
              <a:rPr lang="en-US" altLang="zh-CN" sz="1600" dirty="0"/>
              <a:t>')</a:t>
            </a:r>
          </a:p>
          <a:p>
            <a:endParaRPr lang="en-US" altLang="zh-CN" sz="1600" dirty="0"/>
          </a:p>
          <a:p>
            <a:r>
              <a:rPr lang="en-US" altLang="zh-CN" sz="1600" dirty="0"/>
              <a:t>#</a:t>
            </a:r>
            <a:r>
              <a:rPr lang="zh-CN" altLang="en-US" sz="1600" dirty="0"/>
              <a:t>在</a:t>
            </a:r>
            <a:r>
              <a:rPr lang="en-US" altLang="zh-CN" sz="1600" dirty="0" err="1"/>
              <a:t>CountVectorizer</a:t>
            </a:r>
            <a:r>
              <a:rPr lang="zh-CN" altLang="en-US" sz="1600" dirty="0"/>
              <a:t>、</a:t>
            </a:r>
            <a:r>
              <a:rPr lang="en-US" altLang="zh-CN" sz="1600" dirty="0" err="1"/>
              <a:t>StringIndexer</a:t>
            </a:r>
            <a:r>
              <a:rPr lang="zh-CN" altLang="en-US" sz="1600" dirty="0"/>
              <a:t>、以及</a:t>
            </a:r>
            <a:r>
              <a:rPr lang="en-US" altLang="zh-CN" sz="1600" dirty="0" err="1"/>
              <a:t>NaiveBayes</a:t>
            </a:r>
            <a:r>
              <a:rPr lang="zh-CN" altLang="en-US" sz="1600" dirty="0"/>
              <a:t>分类器基础上，构建</a:t>
            </a:r>
            <a:r>
              <a:rPr lang="en-US" altLang="zh-CN" sz="1600" dirty="0"/>
              <a:t>Pipeline</a:t>
            </a:r>
            <a:r>
              <a:rPr lang="zh-CN" altLang="en-US" sz="1600" dirty="0"/>
              <a:t>。并且用训练数据进行训练。</a:t>
            </a:r>
          </a:p>
          <a:p>
            <a:r>
              <a:rPr lang="en-US" altLang="zh-CN" sz="1600" dirty="0"/>
              <a:t>pipeline = Pipeline(stages = [vectorizer, </a:t>
            </a:r>
            <a:r>
              <a:rPr lang="en-US" altLang="zh-CN" sz="1600" dirty="0" err="1"/>
              <a:t>label_indexer</a:t>
            </a:r>
            <a:r>
              <a:rPr lang="en-US" altLang="zh-CN" sz="1600" dirty="0"/>
              <a:t>, </a:t>
            </a:r>
            <a:r>
              <a:rPr lang="en-US" altLang="zh-CN" sz="1600" dirty="0" err="1"/>
              <a:t>classifier_naive</a:t>
            </a:r>
            <a:r>
              <a:rPr lang="en-US" altLang="zh-CN" sz="1600" dirty="0"/>
              <a:t>])</a:t>
            </a:r>
          </a:p>
          <a:p>
            <a:r>
              <a:rPr lang="en-US" altLang="zh-CN" sz="1600" dirty="0" err="1"/>
              <a:t>pipeline_model</a:t>
            </a:r>
            <a:r>
              <a:rPr lang="en-US" altLang="zh-CN" sz="1600" dirty="0"/>
              <a:t> = </a:t>
            </a:r>
            <a:r>
              <a:rPr lang="en-US" altLang="zh-CN" sz="1600" dirty="0" err="1"/>
              <a:t>pipeline.fit</a:t>
            </a:r>
            <a:r>
              <a:rPr lang="en-US" altLang="zh-CN" sz="1600" dirty="0"/>
              <a:t>(</a:t>
            </a:r>
            <a:r>
              <a:rPr lang="en-US" altLang="zh-CN" sz="1600" dirty="0" err="1"/>
              <a:t>train_data</a:t>
            </a:r>
            <a:r>
              <a:rPr lang="en-US" altLang="zh-CN" sz="1600" dirty="0"/>
              <a:t>)</a:t>
            </a:r>
          </a:p>
        </p:txBody>
      </p:sp>
    </p:spTree>
    <p:extLst>
      <p:ext uri="{BB962C8B-B14F-4D97-AF65-F5344CB8AC3E}">
        <p14:creationId xmlns:p14="http://schemas.microsoft.com/office/powerpoint/2010/main" val="2862060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2</a:t>
            </a:r>
            <a:r>
              <a:rPr lang="zh-CN" altLang="en-US" sz="1800" dirty="0">
                <a:effectLst/>
                <a:latin typeface="微软雅黑" panose="020B0503020204020204" pitchFamily="34" charset="-122"/>
                <a:ea typeface="宋体" panose="02010600030101010101" pitchFamily="2" charset="-122"/>
              </a:rPr>
              <a:t>，文本分类</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微软雅黑" panose="020B0503020204020204" pitchFamily="34" charset="-122"/>
                <a:ea typeface="宋体" panose="02010600030101010101" pitchFamily="2" charset="-122"/>
              </a:rPr>
              <a:t>参考</a:t>
            </a:r>
            <a:r>
              <a:rPr lang="en-US" altLang="zh-CN" sz="1800" dirty="0">
                <a:effectLst/>
                <a:latin typeface="Times New Roman" panose="02020603050405020304" pitchFamily="18" charset="0"/>
                <a:ea typeface="宋体" panose="02010600030101010101" pitchFamily="2" charset="-122"/>
                <a:hlinkClick r:id="rId2"/>
              </a:rPr>
              <a:t>https://github.com/ayoyu/Spark_ML_Classification_of_texts</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2062103"/>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利用测试集进行验证，计算分类器的正确率。</a:t>
            </a:r>
          </a:p>
          <a:p>
            <a:r>
              <a:rPr lang="en-US" altLang="zh-CN" sz="1600" dirty="0" err="1"/>
              <a:t>test_pred</a:t>
            </a:r>
            <a:r>
              <a:rPr lang="en-US" altLang="zh-CN" sz="1600" dirty="0"/>
              <a:t> = </a:t>
            </a:r>
            <a:r>
              <a:rPr lang="en-US" altLang="zh-CN" sz="1600" dirty="0" err="1"/>
              <a:t>pipeline_model.transform</a:t>
            </a:r>
            <a:r>
              <a:rPr lang="en-US" altLang="zh-CN" sz="1600" dirty="0"/>
              <a:t>(</a:t>
            </a:r>
            <a:r>
              <a:rPr lang="en-US" altLang="zh-CN" sz="1600" dirty="0" err="1"/>
              <a:t>test_data</a:t>
            </a:r>
            <a:r>
              <a:rPr lang="en-US" altLang="zh-CN" sz="1600" dirty="0"/>
              <a:t>)</a:t>
            </a:r>
          </a:p>
          <a:p>
            <a:r>
              <a:rPr lang="en-US" altLang="zh-CN" sz="1600" dirty="0"/>
              <a:t>evaluator = </a:t>
            </a:r>
            <a:r>
              <a:rPr lang="en-US" altLang="zh-CN" sz="1600" dirty="0" err="1"/>
              <a:t>MulticlassClassificationEvaluator</a:t>
            </a:r>
            <a:r>
              <a:rPr lang="en-US" altLang="zh-CN" sz="1600" dirty="0"/>
              <a:t>(</a:t>
            </a:r>
            <a:r>
              <a:rPr lang="en-US" altLang="zh-CN" sz="1600" dirty="0" err="1"/>
              <a:t>labelCol</a:t>
            </a:r>
            <a:r>
              <a:rPr lang="en-US" altLang="zh-CN" sz="1600" dirty="0"/>
              <a:t> = '</a:t>
            </a:r>
            <a:r>
              <a:rPr lang="en-US" altLang="zh-CN" sz="1600" dirty="0" err="1"/>
              <a:t>label_index</a:t>
            </a:r>
            <a:r>
              <a:rPr lang="en-US" altLang="zh-CN" sz="1600" dirty="0"/>
              <a:t>', \</a:t>
            </a:r>
          </a:p>
          <a:p>
            <a:r>
              <a:rPr lang="en-US" altLang="zh-CN" sz="1600" dirty="0"/>
              <a:t>    </a:t>
            </a:r>
            <a:r>
              <a:rPr lang="en-US" altLang="zh-CN" sz="1600" dirty="0" err="1"/>
              <a:t>predictionCol</a:t>
            </a:r>
            <a:r>
              <a:rPr lang="en-US" altLang="zh-CN" sz="1600" dirty="0"/>
              <a:t> = '</a:t>
            </a:r>
            <a:r>
              <a:rPr lang="en-US" altLang="zh-CN" sz="1600" dirty="0" err="1"/>
              <a:t>label_pred</a:t>
            </a:r>
            <a:r>
              <a:rPr lang="en-US" altLang="zh-CN" sz="1600" dirty="0"/>
              <a:t>', </a:t>
            </a:r>
            <a:r>
              <a:rPr lang="en-US" altLang="zh-CN" sz="1600" dirty="0" err="1"/>
              <a:t>metricName</a:t>
            </a:r>
            <a:r>
              <a:rPr lang="en-US" altLang="zh-CN" sz="1600" dirty="0"/>
              <a:t> = 'accuracy')</a:t>
            </a:r>
          </a:p>
          <a:p>
            <a:endParaRPr lang="en-US" altLang="zh-CN" sz="1600" dirty="0"/>
          </a:p>
          <a:p>
            <a:r>
              <a:rPr lang="en-US" altLang="zh-CN" sz="1600" dirty="0"/>
              <a:t>accuracy = </a:t>
            </a:r>
            <a:r>
              <a:rPr lang="en-US" altLang="zh-CN" sz="1600" dirty="0" err="1"/>
              <a:t>evaluator.evaluate</a:t>
            </a:r>
            <a:r>
              <a:rPr lang="en-US" altLang="zh-CN" sz="1600" dirty="0"/>
              <a:t>(</a:t>
            </a:r>
            <a:r>
              <a:rPr lang="en-US" altLang="zh-CN" sz="1600" dirty="0" err="1"/>
              <a:t>test_pred</a:t>
            </a:r>
            <a:r>
              <a:rPr lang="en-US" altLang="zh-CN" sz="1600" dirty="0"/>
              <a:t>)</a:t>
            </a:r>
          </a:p>
          <a:p>
            <a:r>
              <a:rPr lang="en-US" altLang="zh-CN" sz="1600" dirty="0"/>
              <a:t>print('</a:t>
            </a:r>
            <a:r>
              <a:rPr lang="en-US" altLang="zh-CN" sz="1600" dirty="0" err="1"/>
              <a:t>NaiveBayes</a:t>
            </a:r>
            <a:r>
              <a:rPr lang="en-US" altLang="zh-CN" sz="1600" dirty="0"/>
              <a:t> model </a:t>
            </a:r>
            <a:r>
              <a:rPr lang="en-US" altLang="zh-CN" sz="1600" dirty="0" err="1"/>
              <a:t>accuracy_score</a:t>
            </a:r>
            <a:r>
              <a:rPr lang="en-US" altLang="zh-CN" sz="1600" dirty="0"/>
              <a:t> = {:.2f}'.format(accuracy))</a:t>
            </a:r>
          </a:p>
          <a:p>
            <a:r>
              <a:rPr lang="en-US" altLang="zh-CN" sz="1600" dirty="0"/>
              <a:t>#</a:t>
            </a:r>
            <a:r>
              <a:rPr lang="zh-CN" altLang="en-US" sz="1600" dirty="0"/>
              <a:t>该</a:t>
            </a:r>
            <a:r>
              <a:rPr lang="en-US" altLang="zh-CN" sz="1600" dirty="0" err="1"/>
              <a:t>NaiveBayes</a:t>
            </a:r>
            <a:r>
              <a:rPr lang="zh-CN" altLang="en-US" sz="1600" dirty="0"/>
              <a:t>分类器的正确率为</a:t>
            </a:r>
            <a:r>
              <a:rPr lang="en-US" altLang="zh-CN" sz="1600" dirty="0"/>
              <a:t>0.80</a:t>
            </a:r>
            <a:r>
              <a:rPr lang="zh-CN" altLang="en-US" sz="1600" dirty="0"/>
              <a:t>，还可以</a:t>
            </a:r>
          </a:p>
        </p:txBody>
      </p:sp>
    </p:spTree>
    <p:extLst>
      <p:ext uri="{BB962C8B-B14F-4D97-AF65-F5344CB8AC3E}">
        <p14:creationId xmlns:p14="http://schemas.microsoft.com/office/powerpoint/2010/main" val="435050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2</a:t>
            </a:r>
            <a:r>
              <a:rPr lang="zh-CN" altLang="en-US" sz="1800" dirty="0">
                <a:effectLst/>
                <a:latin typeface="微软雅黑" panose="020B0503020204020204" pitchFamily="34" charset="-122"/>
                <a:ea typeface="宋体" panose="02010600030101010101" pitchFamily="2" charset="-122"/>
              </a:rPr>
              <a:t>，文本分类</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微软雅黑" panose="020B0503020204020204" pitchFamily="34" charset="-122"/>
                <a:ea typeface="宋体" panose="02010600030101010101" pitchFamily="2" charset="-122"/>
              </a:rPr>
              <a:t>参考</a:t>
            </a:r>
            <a:r>
              <a:rPr lang="en-US" altLang="zh-CN" sz="1800" dirty="0">
                <a:effectLst/>
                <a:latin typeface="Times New Roman" panose="02020603050405020304" pitchFamily="18" charset="0"/>
                <a:ea typeface="宋体" panose="02010600030101010101" pitchFamily="2" charset="-122"/>
                <a:hlinkClick r:id="rId2"/>
              </a:rPr>
              <a:t>https://github.com/ayoyu/Spark_ML_Classification_of_texts</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584775"/>
          </a:xfrm>
          <a:prstGeom prst="rect">
            <a:avLst/>
          </a:prstGeom>
          <a:solidFill>
            <a:schemeClr val="bg1">
              <a:lumMod val="95000"/>
            </a:schemeClr>
          </a:solidFill>
          <a:ln>
            <a:solidFill>
              <a:schemeClr val="accent1"/>
            </a:solidFill>
          </a:ln>
        </p:spPr>
        <p:txBody>
          <a:bodyPr wrap="square">
            <a:spAutoFit/>
          </a:bodyPr>
          <a:lstStyle/>
          <a:p>
            <a:r>
              <a:rPr lang="en-US" altLang="zh-CN" sz="1600" dirty="0"/>
              <a:t>#</a:t>
            </a:r>
            <a:r>
              <a:rPr lang="zh-CN" altLang="en-US" sz="1600" dirty="0"/>
              <a:t>提取并显示测试集的前</a:t>
            </a:r>
            <a:r>
              <a:rPr lang="en-US" altLang="zh-CN" sz="1600" dirty="0"/>
              <a:t>30</a:t>
            </a:r>
            <a:r>
              <a:rPr lang="zh-CN" altLang="en-US" sz="1600" dirty="0"/>
              <a:t>行预测结果。</a:t>
            </a:r>
          </a:p>
          <a:p>
            <a:r>
              <a:rPr lang="en-US" altLang="zh-CN" sz="1600" dirty="0" err="1"/>
              <a:t>test_pred.select</a:t>
            </a:r>
            <a:r>
              <a:rPr lang="en-US" altLang="zh-CN" sz="1600" dirty="0"/>
              <a:t>("label", "words", "</a:t>
            </a:r>
            <a:r>
              <a:rPr lang="en-US" altLang="zh-CN" sz="1600" dirty="0" err="1"/>
              <a:t>label_index</a:t>
            </a:r>
            <a:r>
              <a:rPr lang="en-US" altLang="zh-CN" sz="1600" dirty="0"/>
              <a:t>", "</a:t>
            </a:r>
            <a:r>
              <a:rPr lang="en-US" altLang="zh-CN" sz="1600" dirty="0" err="1"/>
              <a:t>label_pred</a:t>
            </a:r>
            <a:r>
              <a:rPr lang="en-US" altLang="zh-CN" sz="1600" dirty="0"/>
              <a:t>").show(30)</a:t>
            </a:r>
          </a:p>
        </p:txBody>
      </p:sp>
    </p:spTree>
    <p:extLst>
      <p:ext uri="{BB962C8B-B14F-4D97-AF65-F5344CB8AC3E}">
        <p14:creationId xmlns:p14="http://schemas.microsoft.com/office/powerpoint/2010/main" val="3596175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2</a:t>
            </a:r>
            <a:r>
              <a:rPr lang="zh-CN" altLang="en-US" sz="1800" dirty="0">
                <a:effectLst/>
                <a:latin typeface="微软雅黑" panose="020B0503020204020204" pitchFamily="34" charset="-122"/>
                <a:ea typeface="宋体" panose="02010600030101010101" pitchFamily="2" charset="-122"/>
              </a:rPr>
              <a:t>，文本分类</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微软雅黑" panose="020B0503020204020204" pitchFamily="34" charset="-122"/>
                <a:ea typeface="宋体" panose="02010600030101010101" pitchFamily="2" charset="-122"/>
              </a:rPr>
              <a:t>参考</a:t>
            </a:r>
            <a:r>
              <a:rPr lang="en-US" altLang="zh-CN" sz="1800" dirty="0">
                <a:effectLst/>
                <a:latin typeface="Times New Roman" panose="02020603050405020304" pitchFamily="18" charset="0"/>
                <a:ea typeface="宋体" panose="02010600030101010101" pitchFamily="2" charset="-122"/>
                <a:hlinkClick r:id="rId2"/>
              </a:rPr>
              <a:t>https://github.com/ayoyu/Spark_ML_Classification_of_texts</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3985706"/>
          </a:xfrm>
          <a:prstGeom prst="rect">
            <a:avLst/>
          </a:prstGeom>
          <a:solidFill>
            <a:schemeClr val="bg1">
              <a:lumMod val="95000"/>
            </a:schemeClr>
          </a:solidFill>
          <a:ln>
            <a:solidFill>
              <a:schemeClr val="accent1"/>
            </a:solidFill>
          </a:ln>
        </p:spPr>
        <p:txBody>
          <a:bodyPr wrap="square">
            <a:spAutoFit/>
          </a:bodyPr>
          <a:lstStyle/>
          <a:p>
            <a:pPr algn="just"/>
            <a:r>
              <a:rPr lang="en-US" altLang="zh-CN" sz="1100" dirty="0"/>
              <a:t>#</a:t>
            </a:r>
            <a:r>
              <a:rPr lang="zh-CN" altLang="en-US" sz="1100" dirty="0"/>
              <a:t>对单独一行数据进行预测。</a:t>
            </a:r>
          </a:p>
          <a:p>
            <a:pPr algn="just"/>
            <a:r>
              <a:rPr lang="en-US" altLang="zh-CN" sz="1100" dirty="0" err="1"/>
              <a:t>one_row_all</a:t>
            </a:r>
            <a:r>
              <a:rPr lang="en-US" altLang="zh-CN" sz="1100" dirty="0"/>
              <a:t> = ['</a:t>
            </a:r>
            <a:r>
              <a:rPr lang="en-US" altLang="zh-CN" sz="1100" dirty="0" err="1"/>
              <a:t>alt.atheism</a:t>
            </a:r>
            <a:r>
              <a:rPr lang="en-US" altLang="zh-CN" sz="1100" dirty="0"/>
              <a:t> re societally acceptable behavior in </a:t>
            </a:r>
            <a:r>
              <a:rPr lang="en-US" altLang="zh-CN" sz="1100" dirty="0" err="1"/>
              <a:t>qvh</a:t>
            </a:r>
            <a:r>
              <a:rPr lang="en-US" altLang="zh-CN" sz="1100" dirty="0"/>
              <a:t> </a:t>
            </a:r>
            <a:r>
              <a:rPr lang="en-US" altLang="zh-CN" sz="1100" dirty="0" err="1"/>
              <a:t>tinnsg</a:t>
            </a:r>
            <a:r>
              <a:rPr lang="en-US" altLang="zh-CN" sz="1100" dirty="0"/>
              <a:t> citation </a:t>
            </a:r>
            <a:r>
              <a:rPr lang="en-US" altLang="zh-CN" sz="1100" dirty="0" err="1"/>
              <a:t>ksu</a:t>
            </a:r>
            <a:r>
              <a:rPr lang="en-US" altLang="zh-CN" sz="1100" dirty="0"/>
              <a:t> </a:t>
            </a:r>
            <a:r>
              <a:rPr lang="en-US" altLang="zh-CN" sz="1100" dirty="0" err="1"/>
              <a:t>ksu</a:t>
            </a:r>
            <a:r>
              <a:rPr lang="en-US" altLang="zh-CN" sz="1100" dirty="0"/>
              <a:t> </a:t>
            </a:r>
            <a:r>
              <a:rPr lang="en-US" altLang="zh-CN" sz="1100" dirty="0" err="1"/>
              <a:t>edu</a:t>
            </a:r>
            <a:r>
              <a:rPr lang="en-US" altLang="zh-CN" sz="1100" dirty="0"/>
              <a:t> </a:t>
            </a:r>
            <a:r>
              <a:rPr lang="en-US" altLang="zh-CN" sz="1100" dirty="0" err="1"/>
              <a:t>yohan</a:t>
            </a:r>
            <a:r>
              <a:rPr lang="en-US" altLang="zh-CN" sz="1100" dirty="0"/>
              <a:t> citation </a:t>
            </a:r>
            <a:r>
              <a:rPr lang="en-US" altLang="zh-CN" sz="1100" dirty="0" err="1"/>
              <a:t>ksu</a:t>
            </a:r>
            <a:r>
              <a:rPr lang="en-US" altLang="zh-CN" sz="1100" dirty="0"/>
              <a:t> </a:t>
            </a:r>
            <a:r>
              <a:rPr lang="en-US" altLang="zh-CN" sz="1100" dirty="0" err="1"/>
              <a:t>ksu</a:t>
            </a:r>
            <a:r>
              <a:rPr lang="en-US" altLang="zh-CN" sz="1100" dirty="0"/>
              <a:t> </a:t>
            </a:r>
            <a:r>
              <a:rPr lang="en-US" altLang="zh-CN" sz="1100" dirty="0" err="1"/>
              <a:t>edu</a:t>
            </a:r>
            <a:r>
              <a:rPr lang="en-US" altLang="zh-CN" sz="1100" dirty="0"/>
              <a:t> </a:t>
            </a:r>
            <a:r>
              <a:rPr lang="en-US" altLang="zh-CN" sz="1100" dirty="0" err="1"/>
              <a:t>jonathan</a:t>
            </a:r>
            <a:r>
              <a:rPr lang="en-US" altLang="zh-CN" sz="1100" dirty="0"/>
              <a:t> w newton writes in article c </a:t>
            </a:r>
            <a:r>
              <a:rPr lang="en-US" altLang="zh-CN" sz="1100" dirty="0" err="1"/>
              <a:t>qgm</a:t>
            </a:r>
            <a:r>
              <a:rPr lang="en-US" altLang="zh-CN" sz="1100" dirty="0"/>
              <a:t> dl news </a:t>
            </a:r>
            <a:r>
              <a:rPr lang="en-US" altLang="zh-CN" sz="1100" dirty="0" err="1"/>
              <a:t>cso</a:t>
            </a:r>
            <a:r>
              <a:rPr lang="en-US" altLang="zh-CN" sz="1100" dirty="0"/>
              <a:t> </a:t>
            </a:r>
            <a:r>
              <a:rPr lang="en-US" altLang="zh-CN" sz="1100" dirty="0" err="1"/>
              <a:t>uiuc</a:t>
            </a:r>
            <a:r>
              <a:rPr lang="en-US" altLang="zh-CN" sz="1100" dirty="0"/>
              <a:t> </a:t>
            </a:r>
            <a:r>
              <a:rPr lang="en-US" altLang="zh-CN" sz="1100" dirty="0" err="1"/>
              <a:t>edu</a:t>
            </a:r>
            <a:r>
              <a:rPr lang="en-US" altLang="zh-CN" sz="1100" dirty="0"/>
              <a:t> cobb alexia </a:t>
            </a:r>
            <a:r>
              <a:rPr lang="en-US" altLang="zh-CN" sz="1100" dirty="0" err="1"/>
              <a:t>lis</a:t>
            </a:r>
            <a:r>
              <a:rPr lang="en-US" altLang="zh-CN" sz="1100" dirty="0"/>
              <a:t> </a:t>
            </a:r>
            <a:r>
              <a:rPr lang="en-US" altLang="zh-CN" sz="1100" dirty="0" err="1"/>
              <a:t>uiuc</a:t>
            </a:r>
            <a:r>
              <a:rPr lang="en-US" altLang="zh-CN" sz="1100" dirty="0"/>
              <a:t> </a:t>
            </a:r>
            <a:r>
              <a:rPr lang="en-US" altLang="zh-CN" sz="1100" dirty="0" err="1"/>
              <a:t>edu</a:t>
            </a:r>
            <a:r>
              <a:rPr lang="en-US" altLang="zh-CN" sz="1100" dirty="0"/>
              <a:t> mike cobb writes merely a question for the basis of morality moral ethical behavior societally acceptable behavior </a:t>
            </a:r>
            <a:r>
              <a:rPr lang="en-US" altLang="zh-CN" sz="1100" dirty="0" err="1"/>
              <a:t>i</a:t>
            </a:r>
            <a:r>
              <a:rPr lang="en-US" altLang="zh-CN" sz="1100" dirty="0"/>
              <a:t> disagree with these what society thinks should be irrelevant what the individual decides is all that is important this </a:t>
            </a:r>
            <a:r>
              <a:rPr lang="en-US" altLang="zh-CN" sz="1100" dirty="0" err="1"/>
              <a:t>doesn</a:t>
            </a:r>
            <a:r>
              <a:rPr lang="en-US" altLang="zh-CN" sz="1100" dirty="0"/>
              <a:t> t seem right if </a:t>
            </a:r>
            <a:r>
              <a:rPr lang="en-US" altLang="zh-CN" sz="1100" dirty="0" err="1"/>
              <a:t>i</a:t>
            </a:r>
            <a:r>
              <a:rPr lang="en-US" altLang="zh-CN" sz="1100" dirty="0"/>
              <a:t> want to kill you </a:t>
            </a:r>
            <a:r>
              <a:rPr lang="en-US" altLang="zh-CN" sz="1100" dirty="0" err="1"/>
              <a:t>i</a:t>
            </a:r>
            <a:r>
              <a:rPr lang="en-US" altLang="zh-CN" sz="1100" dirty="0"/>
              <a:t> can because that is what </a:t>
            </a:r>
            <a:r>
              <a:rPr lang="en-US" altLang="zh-CN" sz="1100" dirty="0" err="1"/>
              <a:t>i</a:t>
            </a:r>
            <a:r>
              <a:rPr lang="en-US" altLang="zh-CN" sz="1100" dirty="0"/>
              <a:t> decide who is society </a:t>
            </a:r>
            <a:r>
              <a:rPr lang="en-US" altLang="zh-CN" sz="1100" dirty="0" err="1"/>
              <a:t>i</a:t>
            </a:r>
            <a:r>
              <a:rPr lang="en-US" altLang="zh-CN" sz="1100" dirty="0"/>
              <a:t> think this is fairly obvious not really if whatever a particular society mandates as ok is ok there are always some in the society who disagree with the mandates so which societal mandates make the standard for morality how do they define what is acceptable generally by what they feel is right which is the most idiotic policy </a:t>
            </a:r>
            <a:r>
              <a:rPr lang="en-US" altLang="zh-CN" sz="1100" dirty="0" err="1"/>
              <a:t>i</a:t>
            </a:r>
            <a:r>
              <a:rPr lang="en-US" altLang="zh-CN" sz="1100" dirty="0"/>
              <a:t> can think of so what should be the basis unfortunately </a:t>
            </a:r>
            <a:r>
              <a:rPr lang="en-US" altLang="zh-CN" sz="1100" dirty="0" err="1"/>
              <a:t>i</a:t>
            </a:r>
            <a:r>
              <a:rPr lang="en-US" altLang="zh-CN" sz="1100" dirty="0"/>
              <a:t> have to admit to being tied at least loosely to the feeling in that </a:t>
            </a:r>
            <a:r>
              <a:rPr lang="en-US" altLang="zh-CN" sz="1100" dirty="0" err="1"/>
              <a:t>i</a:t>
            </a:r>
            <a:r>
              <a:rPr lang="en-US" altLang="zh-CN" sz="1100" dirty="0"/>
              <a:t> think we intuitively know some things to be wrong awfully hard to defend though how do we keep from a whatever is legal is what is moral position by thinking for ourselves </a:t>
            </a:r>
            <a:r>
              <a:rPr lang="en-US" altLang="zh-CN" sz="1100" dirty="0" err="1"/>
              <a:t>i</a:t>
            </a:r>
            <a:r>
              <a:rPr lang="en-US" altLang="zh-CN" sz="1100" dirty="0"/>
              <a:t> might agree here just because certain actions are legal does not make them moral mac </a:t>
            </a:r>
            <a:r>
              <a:rPr lang="en-US" altLang="zh-CN" sz="1100" dirty="0" err="1"/>
              <a:t>michael</a:t>
            </a:r>
            <a:r>
              <a:rPr lang="en-US" altLang="zh-CN" sz="1100" dirty="0"/>
              <a:t> a cobb and </a:t>
            </a:r>
            <a:r>
              <a:rPr lang="en-US" altLang="zh-CN" sz="1100" dirty="0" err="1"/>
              <a:t>i</a:t>
            </a:r>
            <a:r>
              <a:rPr lang="en-US" altLang="zh-CN" sz="1100" dirty="0"/>
              <a:t> won t raise taxes on the middle university of </a:t>
            </a:r>
            <a:r>
              <a:rPr lang="en-US" altLang="zh-CN" sz="1100" dirty="0" err="1"/>
              <a:t>illinois</a:t>
            </a:r>
            <a:r>
              <a:rPr lang="en-US" altLang="zh-CN" sz="1100" dirty="0"/>
              <a:t> class to pay for my programs champaign </a:t>
            </a:r>
            <a:r>
              <a:rPr lang="en-US" altLang="zh-CN" sz="1100" dirty="0" err="1"/>
              <a:t>urbana</a:t>
            </a:r>
            <a:r>
              <a:rPr lang="en-US" altLang="zh-CN" sz="1100" dirty="0"/>
              <a:t> bill </a:t>
            </a:r>
            <a:r>
              <a:rPr lang="en-US" altLang="zh-CN" sz="1100" dirty="0" err="1"/>
              <a:t>clinton</a:t>
            </a:r>
            <a:r>
              <a:rPr lang="en-US" altLang="zh-CN" sz="1100" dirty="0"/>
              <a:t> </a:t>
            </a:r>
            <a:r>
              <a:rPr lang="en-US" altLang="zh-CN" sz="1100" dirty="0" err="1"/>
              <a:t>rd</a:t>
            </a:r>
            <a:r>
              <a:rPr lang="en-US" altLang="zh-CN" sz="1100" dirty="0"/>
              <a:t> debate cobb alexia </a:t>
            </a:r>
            <a:r>
              <a:rPr lang="en-US" altLang="zh-CN" sz="1100" dirty="0" err="1"/>
              <a:t>lis</a:t>
            </a:r>
            <a:r>
              <a:rPr lang="en-US" altLang="zh-CN" sz="1100" dirty="0"/>
              <a:t> </a:t>
            </a:r>
            <a:r>
              <a:rPr lang="en-US" altLang="zh-CN" sz="1100" dirty="0" err="1"/>
              <a:t>uiuc</a:t>
            </a:r>
            <a:r>
              <a:rPr lang="en-US" altLang="zh-CN" sz="1100" dirty="0"/>
              <a:t> </a:t>
            </a:r>
            <a:r>
              <a:rPr lang="en-US" altLang="zh-CN" sz="1100" dirty="0" err="1"/>
              <a:t>edu</a:t>
            </a:r>
            <a:r>
              <a:rPr lang="en-US" altLang="zh-CN" sz="1100" dirty="0"/>
              <a:t> with new taxes and spending cuts we </a:t>
            </a:r>
            <a:r>
              <a:rPr lang="en-US" altLang="zh-CN" sz="1100" dirty="0" err="1"/>
              <a:t>ll</a:t>
            </a:r>
            <a:r>
              <a:rPr lang="en-US" altLang="zh-CN" sz="1100" dirty="0"/>
              <a:t> still have billion dollar deficits </a:t>
            </a:r>
            <a:r>
              <a:rPr lang="en-US" altLang="zh-CN" sz="1100" dirty="0" err="1"/>
              <a:t>michael</a:t>
            </a:r>
            <a:r>
              <a:rPr lang="en-US" altLang="zh-CN" sz="1100" dirty="0"/>
              <a:t> a cobb and </a:t>
            </a:r>
            <a:r>
              <a:rPr lang="en-US" altLang="zh-CN" sz="1100" dirty="0" err="1"/>
              <a:t>i</a:t>
            </a:r>
            <a:r>
              <a:rPr lang="en-US" altLang="zh-CN" sz="1100" dirty="0"/>
              <a:t> won t raise taxes on the middle university of </a:t>
            </a:r>
            <a:r>
              <a:rPr lang="en-US" altLang="zh-CN" sz="1100" dirty="0" err="1"/>
              <a:t>illinois</a:t>
            </a:r>
            <a:r>
              <a:rPr lang="en-US" altLang="zh-CN" sz="1100" dirty="0"/>
              <a:t> class to pay for my programs champaign </a:t>
            </a:r>
            <a:r>
              <a:rPr lang="en-US" altLang="zh-CN" sz="1100" dirty="0" err="1"/>
              <a:t>urbana</a:t>
            </a:r>
            <a:r>
              <a:rPr lang="en-US" altLang="zh-CN" sz="1100" dirty="0"/>
              <a:t> bill </a:t>
            </a:r>
            <a:r>
              <a:rPr lang="en-US" altLang="zh-CN" sz="1100" dirty="0" err="1"/>
              <a:t>clinton</a:t>
            </a:r>
            <a:r>
              <a:rPr lang="en-US" altLang="zh-CN" sz="1100" dirty="0"/>
              <a:t> </a:t>
            </a:r>
            <a:r>
              <a:rPr lang="en-US" altLang="zh-CN" sz="1100" dirty="0" err="1"/>
              <a:t>rd</a:t>
            </a:r>
            <a:r>
              <a:rPr lang="en-US" altLang="zh-CN" sz="1100" dirty="0"/>
              <a:t> debate cobb alexia </a:t>
            </a:r>
            <a:r>
              <a:rPr lang="en-US" altLang="zh-CN" sz="1100" dirty="0" err="1"/>
              <a:t>lis</a:t>
            </a:r>
            <a:r>
              <a:rPr lang="en-US" altLang="zh-CN" sz="1100" dirty="0"/>
              <a:t> </a:t>
            </a:r>
            <a:r>
              <a:rPr lang="en-US" altLang="zh-CN" sz="1100" dirty="0" err="1"/>
              <a:t>uiuc</a:t>
            </a:r>
            <a:r>
              <a:rPr lang="en-US" altLang="zh-CN" sz="1100" dirty="0"/>
              <a:t> </a:t>
            </a:r>
            <a:r>
              <a:rPr lang="en-US" altLang="zh-CN" sz="1100" dirty="0" err="1"/>
              <a:t>edu</a:t>
            </a:r>
            <a:r>
              <a:rPr lang="en-US" altLang="zh-CN" sz="1100" dirty="0"/>
              <a:t> nobody can explain everything to anybody g k </a:t>
            </a:r>
            <a:r>
              <a:rPr lang="en-US" altLang="zh-CN" sz="1100" dirty="0" err="1"/>
              <a:t>chesterton</a:t>
            </a:r>
            <a:r>
              <a:rPr lang="en-US" altLang="zh-CN" sz="1100" dirty="0"/>
              <a:t>']</a:t>
            </a:r>
          </a:p>
          <a:p>
            <a:pPr algn="just"/>
            <a:r>
              <a:rPr lang="en-US" altLang="zh-CN" sz="1100" dirty="0" err="1"/>
              <a:t>one_row_all_rdd</a:t>
            </a:r>
            <a:r>
              <a:rPr lang="en-US" altLang="zh-CN" sz="1100" dirty="0"/>
              <a:t> = </a:t>
            </a:r>
            <a:r>
              <a:rPr lang="en-US" altLang="zh-CN" sz="1100" dirty="0" err="1"/>
              <a:t>sc.parallelize</a:t>
            </a:r>
            <a:r>
              <a:rPr lang="en-US" altLang="zh-CN" sz="1100" dirty="0"/>
              <a:t>(</a:t>
            </a:r>
            <a:r>
              <a:rPr lang="en-US" altLang="zh-CN" sz="1100" dirty="0" err="1"/>
              <a:t>one_row_all</a:t>
            </a:r>
            <a:r>
              <a:rPr lang="en-US" altLang="zh-CN" sz="1100" dirty="0"/>
              <a:t>)</a:t>
            </a:r>
          </a:p>
          <a:p>
            <a:pPr algn="just"/>
            <a:endParaRPr lang="en-US" altLang="zh-CN" sz="1100" dirty="0"/>
          </a:p>
          <a:p>
            <a:pPr algn="just"/>
            <a:r>
              <a:rPr lang="en-US" altLang="zh-CN" sz="1100" dirty="0" err="1"/>
              <a:t>one_row_rdd</a:t>
            </a:r>
            <a:r>
              <a:rPr lang="en-US" altLang="zh-CN" sz="1100" dirty="0"/>
              <a:t> = </a:t>
            </a:r>
            <a:r>
              <a:rPr lang="en-US" altLang="zh-CN" sz="1100" dirty="0" err="1"/>
              <a:t>one_row_all_rdd.map</a:t>
            </a:r>
            <a:r>
              <a:rPr lang="en-US" altLang="zh-CN" sz="1100" dirty="0"/>
              <a:t>(lambda </a:t>
            </a:r>
            <a:r>
              <a:rPr lang="en-US" altLang="zh-CN" sz="1100" dirty="0" err="1"/>
              <a:t>line:line.split</a:t>
            </a:r>
            <a:r>
              <a:rPr lang="en-US" altLang="zh-CN" sz="1100" dirty="0"/>
              <a:t>()).map(lambda </a:t>
            </a:r>
            <a:r>
              <a:rPr lang="en-US" altLang="zh-CN" sz="1100" dirty="0" err="1"/>
              <a:t>word:Row</a:t>
            </a:r>
            <a:r>
              <a:rPr lang="en-US" altLang="zh-CN" sz="1100" dirty="0"/>
              <a:t>(label=word[0],words=word[1:]))</a:t>
            </a:r>
          </a:p>
          <a:p>
            <a:pPr algn="just"/>
            <a:r>
              <a:rPr lang="en-US" altLang="zh-CN" sz="1100" dirty="0" err="1"/>
              <a:t>one_row_df</a:t>
            </a:r>
            <a:r>
              <a:rPr lang="en-US" altLang="zh-CN" sz="1100" dirty="0"/>
              <a:t> = </a:t>
            </a:r>
            <a:r>
              <a:rPr lang="en-US" altLang="zh-CN" sz="1100" dirty="0" err="1"/>
              <a:t>spark.createDataFrame</a:t>
            </a:r>
            <a:r>
              <a:rPr lang="en-US" altLang="zh-CN" sz="1100" dirty="0"/>
              <a:t>(</a:t>
            </a:r>
            <a:r>
              <a:rPr lang="en-US" altLang="zh-CN" sz="1100" dirty="0" err="1"/>
              <a:t>one_row_rdd</a:t>
            </a:r>
            <a:r>
              <a:rPr lang="en-US" altLang="zh-CN" sz="1100" dirty="0"/>
              <a:t>)</a:t>
            </a:r>
          </a:p>
          <a:p>
            <a:pPr algn="just"/>
            <a:endParaRPr lang="en-US" altLang="zh-CN" sz="1100" dirty="0"/>
          </a:p>
          <a:p>
            <a:pPr algn="just"/>
            <a:r>
              <a:rPr lang="en-US" altLang="zh-CN" sz="1100" dirty="0" err="1"/>
              <a:t>one_row_pred</a:t>
            </a:r>
            <a:r>
              <a:rPr lang="en-US" altLang="zh-CN" sz="1100" dirty="0"/>
              <a:t> = </a:t>
            </a:r>
            <a:r>
              <a:rPr lang="en-US" altLang="zh-CN" sz="1100" dirty="0" err="1"/>
              <a:t>pipeline_model.transform</a:t>
            </a:r>
            <a:r>
              <a:rPr lang="en-US" altLang="zh-CN" sz="1100" dirty="0"/>
              <a:t>(</a:t>
            </a:r>
            <a:r>
              <a:rPr lang="en-US" altLang="zh-CN" sz="1100" dirty="0" err="1"/>
              <a:t>one_row_df</a:t>
            </a:r>
            <a:r>
              <a:rPr lang="en-US" altLang="zh-CN" sz="1100" dirty="0"/>
              <a:t>)</a:t>
            </a:r>
          </a:p>
          <a:p>
            <a:pPr algn="just"/>
            <a:r>
              <a:rPr lang="en-US" altLang="zh-CN" sz="1100" dirty="0" err="1"/>
              <a:t>one_row_pred.select</a:t>
            </a:r>
            <a:r>
              <a:rPr lang="en-US" altLang="zh-CN" sz="1100" dirty="0"/>
              <a:t>("label", "words", "</a:t>
            </a:r>
            <a:r>
              <a:rPr lang="en-US" altLang="zh-CN" sz="1100" dirty="0" err="1"/>
              <a:t>label_index</a:t>
            </a:r>
            <a:r>
              <a:rPr lang="en-US" altLang="zh-CN" sz="1100" dirty="0"/>
              <a:t>", "</a:t>
            </a:r>
            <a:r>
              <a:rPr lang="en-US" altLang="zh-CN" sz="1100" dirty="0" err="1"/>
              <a:t>label_pred</a:t>
            </a:r>
            <a:r>
              <a:rPr lang="en-US" altLang="zh-CN" sz="1100" dirty="0"/>
              <a:t>").show(30)</a:t>
            </a:r>
          </a:p>
        </p:txBody>
      </p:sp>
    </p:spTree>
    <p:extLst>
      <p:ext uri="{BB962C8B-B14F-4D97-AF65-F5344CB8AC3E}">
        <p14:creationId xmlns:p14="http://schemas.microsoft.com/office/powerpoint/2010/main" val="1242309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a:effectLst/>
                <a:latin typeface="微软雅黑" panose="020B0503020204020204" pitchFamily="34" charset="-122"/>
                <a:ea typeface="宋体" panose="02010600030101010101" pitchFamily="2" charset="-122"/>
              </a:rPr>
              <a:t>2</a:t>
            </a:r>
            <a:r>
              <a:rPr lang="zh-CN" altLang="en-US" sz="1800" dirty="0">
                <a:effectLst/>
                <a:latin typeface="微软雅黑" panose="020B0503020204020204" pitchFamily="34" charset="-122"/>
                <a:ea typeface="宋体" panose="02010600030101010101" pitchFamily="2" charset="-122"/>
              </a:rPr>
              <a:t>，文本分类</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微软雅黑" panose="020B0503020204020204" pitchFamily="34" charset="-122"/>
                <a:ea typeface="宋体" panose="02010600030101010101" pitchFamily="2" charset="-122"/>
              </a:rPr>
              <a:t>参考</a:t>
            </a:r>
            <a:r>
              <a:rPr lang="en-US" altLang="zh-CN" sz="1800" dirty="0">
                <a:effectLst/>
                <a:latin typeface="Times New Roman" panose="02020603050405020304" pitchFamily="18" charset="0"/>
                <a:ea typeface="宋体" panose="02010600030101010101" pitchFamily="2" charset="-122"/>
                <a:hlinkClick r:id="rId2"/>
              </a:rPr>
              <a:t>https://github.com/ayoyu/Spark_ML_Classification_of_texts</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DF7448D-925B-4290-AEC9-F205D37AF89B}"/>
              </a:ext>
            </a:extLst>
          </p:cNvPr>
          <p:cNvSpPr txBox="1"/>
          <p:nvPr/>
        </p:nvSpPr>
        <p:spPr>
          <a:xfrm>
            <a:off x="685800" y="2514600"/>
            <a:ext cx="7467600" cy="707886"/>
          </a:xfrm>
          <a:prstGeom prst="rect">
            <a:avLst/>
          </a:prstGeom>
          <a:solidFill>
            <a:schemeClr val="bg1">
              <a:lumMod val="95000"/>
            </a:schemeClr>
          </a:solidFill>
          <a:ln>
            <a:solidFill>
              <a:schemeClr val="accent1"/>
            </a:solidFill>
          </a:ln>
        </p:spPr>
        <p:txBody>
          <a:bodyPr wrap="square">
            <a:spAutoFit/>
          </a:bodyPr>
          <a:lstStyle/>
          <a:p>
            <a:pPr algn="just"/>
            <a:r>
              <a:rPr lang="en-US" altLang="zh-CN" sz="2000" dirty="0"/>
              <a:t>#</a:t>
            </a:r>
            <a:r>
              <a:rPr lang="zh-CN" altLang="en-US" sz="2000" dirty="0"/>
              <a:t>最后停止</a:t>
            </a:r>
            <a:r>
              <a:rPr lang="en-US" altLang="zh-CN" sz="2000" dirty="0" err="1"/>
              <a:t>SparkSession</a:t>
            </a:r>
            <a:r>
              <a:rPr lang="zh-CN" altLang="en-US" sz="2000" dirty="0"/>
              <a:t>。</a:t>
            </a:r>
          </a:p>
          <a:p>
            <a:pPr algn="just"/>
            <a:r>
              <a:rPr lang="en-US" altLang="zh-CN" sz="2000" dirty="0" err="1"/>
              <a:t>spark.stop</a:t>
            </a:r>
            <a:r>
              <a:rPr lang="en-US" altLang="zh-CN" sz="2000" dirty="0"/>
              <a:t>()</a:t>
            </a:r>
          </a:p>
        </p:txBody>
      </p:sp>
    </p:spTree>
    <p:extLst>
      <p:ext uri="{BB962C8B-B14F-4D97-AF65-F5344CB8AC3E}">
        <p14:creationId xmlns:p14="http://schemas.microsoft.com/office/powerpoint/2010/main" val="3265998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8983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err="1">
                <a:effectLst/>
                <a:latin typeface="Times New Roman" panose="02020603050405020304" pitchFamily="18" charset="0"/>
                <a:ea typeface="宋体" panose="02010600030101010101" pitchFamily="2" charset="-122"/>
              </a:rPr>
              <a:t>MLLIb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提供</a:t>
            </a:r>
            <a:r>
              <a:rPr lang="en-US" altLang="zh-CN" sz="1800" dirty="0">
                <a:effectLst/>
                <a:latin typeface="Times New Roman" panose="02020603050405020304" pitchFamily="18" charset="0"/>
                <a:ea typeface="宋体" panose="02010600030101010101" pitchFamily="2" charset="-122"/>
              </a:rPr>
              <a:t>K-means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Latent Dirichlet allocation (LDA)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Bisecting k-means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Gaussian Mixture Model (GMM)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等聚类算法</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23123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3</a:t>
            </a:r>
            <a:r>
              <a:rPr lang="zh-CN" altLang="en-US" sz="1800" dirty="0">
                <a:effectLst/>
                <a:latin typeface="Times New Roman" panose="02020603050405020304" pitchFamily="18" charset="0"/>
                <a:ea typeface="宋体" panose="02010600030101010101" pitchFamily="2" charset="-122"/>
              </a:rPr>
              <a:t>：聚类实例</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2585323"/>
          </a:xfrm>
          <a:prstGeom prst="rect">
            <a:avLst/>
          </a:prstGeom>
          <a:solidFill>
            <a:schemeClr val="bg1">
              <a:lumMod val="95000"/>
            </a:schemeClr>
          </a:solidFill>
          <a:ln>
            <a:solidFill>
              <a:schemeClr val="accent1"/>
            </a:solidFill>
          </a:ln>
        </p:spPr>
        <p:txBody>
          <a:bodyPr wrap="square">
            <a:spAutoFit/>
          </a:bodyPr>
          <a:lstStyle/>
          <a:p>
            <a:r>
              <a:rPr lang="zh-CN" altLang="en-US" dirty="0"/>
              <a:t>#首先，导入必要的类。</a:t>
            </a:r>
          </a:p>
          <a:p>
            <a:r>
              <a:rPr lang="zh-CN" altLang="en-US" dirty="0"/>
              <a:t>from pyspark.ml.clustering import KMeans</a:t>
            </a:r>
          </a:p>
          <a:p>
            <a:r>
              <a:rPr lang="zh-CN" altLang="en-US" dirty="0"/>
              <a:t>from pyspark.sql import SparkSession</a:t>
            </a:r>
            <a:endParaRPr lang="en-US" altLang="zh-CN" dirty="0"/>
          </a:p>
          <a:p>
            <a:endParaRPr lang="zh-CN" altLang="en-US" dirty="0"/>
          </a:p>
          <a:p>
            <a:r>
              <a:rPr lang="zh-CN" altLang="en-US" dirty="0"/>
              <a:t>#创建SparkSession。</a:t>
            </a:r>
          </a:p>
          <a:p>
            <a:r>
              <a:rPr lang="zh-CN" altLang="en-US" dirty="0"/>
              <a:t>spark = SparkSession\</a:t>
            </a:r>
          </a:p>
          <a:p>
            <a:r>
              <a:rPr lang="zh-CN" altLang="en-US" dirty="0"/>
              <a:t>    .builder\</a:t>
            </a:r>
          </a:p>
          <a:p>
            <a:r>
              <a:rPr lang="zh-CN" altLang="en-US" dirty="0"/>
              <a:t>    .appName("KMeansExample")\</a:t>
            </a:r>
          </a:p>
          <a:p>
            <a:r>
              <a:rPr lang="zh-CN" altLang="en-US" dirty="0"/>
              <a:t>    .getOrCreate()</a:t>
            </a:r>
          </a:p>
        </p:txBody>
      </p:sp>
    </p:spTree>
    <p:extLst>
      <p:ext uri="{BB962C8B-B14F-4D97-AF65-F5344CB8AC3E}">
        <p14:creationId xmlns:p14="http://schemas.microsoft.com/office/powerpoint/2010/main" val="3090987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3</a:t>
            </a:r>
            <a:r>
              <a:rPr lang="zh-CN" altLang="en-US" sz="1800" dirty="0">
                <a:effectLst/>
                <a:latin typeface="Times New Roman" panose="02020603050405020304" pitchFamily="18" charset="0"/>
                <a:ea typeface="宋体" panose="02010600030101010101" pitchFamily="2" charset="-122"/>
              </a:rPr>
              <a:t>：聚类实例</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1477328"/>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接着，装载数据。</a:t>
            </a:r>
          </a:p>
          <a:p>
            <a:r>
              <a:rPr lang="en-US" altLang="zh-CN" dirty="0"/>
              <a:t># Loads data.</a:t>
            </a:r>
          </a:p>
          <a:p>
            <a:r>
              <a:rPr lang="en-US" altLang="zh-CN" dirty="0"/>
              <a:t>dataset = </a:t>
            </a:r>
            <a:r>
              <a:rPr lang="en-US" altLang="zh-CN" dirty="0" err="1"/>
              <a:t>spark.read.format</a:t>
            </a:r>
            <a:r>
              <a:rPr lang="en-US" altLang="zh-CN" dirty="0"/>
              <a:t>("</a:t>
            </a:r>
            <a:r>
              <a:rPr lang="en-US" altLang="zh-CN" dirty="0" err="1"/>
              <a:t>libsvm</a:t>
            </a:r>
            <a:r>
              <a:rPr lang="en-US" altLang="zh-CN" dirty="0"/>
              <a:t>").load("file:///opt/linuxsir/spark/data/mllib/sample_kmeans_data.txt")</a:t>
            </a:r>
          </a:p>
        </p:txBody>
      </p:sp>
      <p:sp>
        <p:nvSpPr>
          <p:cNvPr id="6" name="文本框 5">
            <a:extLst>
              <a:ext uri="{FF2B5EF4-FFF2-40B4-BE49-F238E27FC236}">
                <a16:creationId xmlns:a16="http://schemas.microsoft.com/office/drawing/2014/main" id="{C6DF6423-12DC-4EED-B0F6-B00957D9754D}"/>
              </a:ext>
            </a:extLst>
          </p:cNvPr>
          <p:cNvSpPr txBox="1"/>
          <p:nvPr/>
        </p:nvSpPr>
        <p:spPr>
          <a:xfrm>
            <a:off x="838200" y="4114800"/>
            <a:ext cx="7315200" cy="2585323"/>
          </a:xfrm>
          <a:prstGeom prst="rect">
            <a:avLst/>
          </a:prstGeom>
          <a:solidFill>
            <a:schemeClr val="bg1">
              <a:lumMod val="95000"/>
            </a:schemeClr>
          </a:solidFill>
          <a:ln>
            <a:solidFill>
              <a:schemeClr val="accent1"/>
            </a:solidFill>
          </a:ln>
        </p:spPr>
        <p:txBody>
          <a:bodyPr wrap="square">
            <a:spAutoFit/>
          </a:bodyPr>
          <a:lstStyle/>
          <a:p>
            <a:r>
              <a:rPr lang="zh-CN" altLang="en-US" dirty="0"/>
              <a:t>数据文件具有特定的格式，文件内容如下。</a:t>
            </a:r>
          </a:p>
          <a:p>
            <a:r>
              <a:rPr lang="zh-CN" altLang="en-US" dirty="0"/>
              <a:t>0 1:0.0 2:0.0 3:0.0</a:t>
            </a:r>
          </a:p>
          <a:p>
            <a:r>
              <a:rPr lang="zh-CN" altLang="en-US" dirty="0"/>
              <a:t>1 1:0.1 2:0.1 3:0.1</a:t>
            </a:r>
          </a:p>
          <a:p>
            <a:r>
              <a:rPr lang="zh-CN" altLang="en-US" dirty="0"/>
              <a:t>2 1:0.2 2:0.2 3:0.2</a:t>
            </a:r>
          </a:p>
          <a:p>
            <a:r>
              <a:rPr lang="zh-CN" altLang="en-US" dirty="0"/>
              <a:t>3 1:9.0 2:9.0 3:9.0</a:t>
            </a:r>
          </a:p>
          <a:p>
            <a:r>
              <a:rPr lang="zh-CN" altLang="en-US" dirty="0"/>
              <a:t>4 1:9.1 2:9.1 3:9.1</a:t>
            </a:r>
          </a:p>
          <a:p>
            <a:r>
              <a:rPr lang="zh-CN" altLang="en-US" dirty="0"/>
              <a:t>5 1:9.2 2:9.2 3:9.2</a:t>
            </a:r>
          </a:p>
          <a:p>
            <a:r>
              <a:rPr lang="zh-CN" altLang="en-US" dirty="0"/>
              <a:t>每一行的第一个数字为序号，接着给出每个特征的取值，每个特征采用“特征编号：特征值”的编码方式</a:t>
            </a:r>
          </a:p>
        </p:txBody>
      </p:sp>
    </p:spTree>
    <p:extLst>
      <p:ext uri="{BB962C8B-B14F-4D97-AF65-F5344CB8AC3E}">
        <p14:creationId xmlns:p14="http://schemas.microsoft.com/office/powerpoint/2010/main" val="1853172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3</a:t>
            </a:r>
            <a:r>
              <a:rPr lang="zh-CN" altLang="en-US" sz="1800" dirty="0">
                <a:effectLst/>
                <a:latin typeface="Times New Roman" panose="02020603050405020304" pitchFamily="18" charset="0"/>
                <a:ea typeface="宋体" panose="02010600030101010101" pitchFamily="2" charset="-122"/>
              </a:rPr>
              <a:t>：聚类实例</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2585323"/>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创建</a:t>
            </a:r>
            <a:r>
              <a:rPr lang="en-US" altLang="zh-CN" dirty="0"/>
              <a:t>K-Means</a:t>
            </a:r>
            <a:r>
              <a:rPr lang="zh-CN" altLang="en-US" dirty="0"/>
              <a:t>模型，并进行训练。</a:t>
            </a:r>
          </a:p>
          <a:p>
            <a:r>
              <a:rPr lang="en-US" altLang="zh-CN" dirty="0"/>
              <a:t># Trains a k-means model.</a:t>
            </a:r>
          </a:p>
          <a:p>
            <a:r>
              <a:rPr lang="en-US" altLang="zh-CN" dirty="0" err="1"/>
              <a:t>kmeans</a:t>
            </a:r>
            <a:r>
              <a:rPr lang="en-US" altLang="zh-CN" dirty="0"/>
              <a:t> = </a:t>
            </a:r>
            <a:r>
              <a:rPr lang="en-US" altLang="zh-CN" dirty="0" err="1"/>
              <a:t>KMeans</a:t>
            </a:r>
            <a:r>
              <a:rPr lang="en-US" altLang="zh-CN" dirty="0"/>
              <a:t>().</a:t>
            </a:r>
            <a:r>
              <a:rPr lang="en-US" altLang="zh-CN" dirty="0" err="1"/>
              <a:t>setK</a:t>
            </a:r>
            <a:r>
              <a:rPr lang="en-US" altLang="zh-CN" dirty="0"/>
              <a:t>(2).</a:t>
            </a:r>
            <a:r>
              <a:rPr lang="en-US" altLang="zh-CN" dirty="0" err="1"/>
              <a:t>setSeed</a:t>
            </a:r>
            <a:r>
              <a:rPr lang="en-US" altLang="zh-CN" dirty="0"/>
              <a:t>(1)</a:t>
            </a:r>
          </a:p>
          <a:p>
            <a:r>
              <a:rPr lang="en-US" altLang="zh-CN" dirty="0"/>
              <a:t>model = </a:t>
            </a:r>
            <a:r>
              <a:rPr lang="en-US" altLang="zh-CN" dirty="0" err="1"/>
              <a:t>kmeans.fit</a:t>
            </a:r>
            <a:r>
              <a:rPr lang="en-US" altLang="zh-CN" dirty="0"/>
              <a:t>(dataset)</a:t>
            </a:r>
          </a:p>
          <a:p>
            <a:endParaRPr lang="en-US" altLang="zh-CN" dirty="0"/>
          </a:p>
          <a:p>
            <a:r>
              <a:rPr lang="en-US" altLang="zh-CN" dirty="0"/>
              <a:t>#</a:t>
            </a:r>
            <a:r>
              <a:rPr lang="zh-CN" altLang="en-US" dirty="0"/>
              <a:t>利用训练好的模型，进行预测，即预测每个数据点的</a:t>
            </a:r>
            <a:r>
              <a:rPr lang="en-US" altLang="zh-CN" dirty="0"/>
              <a:t>Cluster</a:t>
            </a:r>
            <a:r>
              <a:rPr lang="zh-CN" altLang="en-US" dirty="0"/>
              <a:t>。</a:t>
            </a:r>
          </a:p>
          <a:p>
            <a:r>
              <a:rPr lang="en-US" altLang="zh-CN" dirty="0"/>
              <a:t># Make predictions</a:t>
            </a:r>
          </a:p>
          <a:p>
            <a:r>
              <a:rPr lang="en-US" altLang="zh-CN" dirty="0"/>
              <a:t>predictions = </a:t>
            </a:r>
            <a:r>
              <a:rPr lang="en-US" altLang="zh-CN" dirty="0" err="1"/>
              <a:t>model.transform</a:t>
            </a:r>
            <a:r>
              <a:rPr lang="en-US" altLang="zh-CN" dirty="0"/>
              <a:t>(dataset)</a:t>
            </a:r>
          </a:p>
          <a:p>
            <a:r>
              <a:rPr lang="en-US" altLang="zh-CN" dirty="0" err="1"/>
              <a:t>predictions.select</a:t>
            </a:r>
            <a:r>
              <a:rPr lang="en-US" altLang="zh-CN" dirty="0"/>
              <a:t>("prediction", "label", "features").show(5)</a:t>
            </a:r>
          </a:p>
        </p:txBody>
      </p:sp>
    </p:spTree>
    <p:extLst>
      <p:ext uri="{BB962C8B-B14F-4D97-AF65-F5344CB8AC3E}">
        <p14:creationId xmlns:p14="http://schemas.microsoft.com/office/powerpoint/2010/main" val="2578530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3</a:t>
            </a:r>
            <a:r>
              <a:rPr lang="zh-CN" altLang="en-US" sz="1800" dirty="0">
                <a:effectLst/>
                <a:latin typeface="Times New Roman" panose="02020603050405020304" pitchFamily="18" charset="0"/>
                <a:ea typeface="宋体" panose="02010600030101010101" pitchFamily="2" charset="-122"/>
              </a:rPr>
              <a:t>：聚类实例</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1200329"/>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对</a:t>
            </a:r>
            <a:r>
              <a:rPr lang="en-US" altLang="zh-CN" dirty="0"/>
              <a:t>K-Means</a:t>
            </a:r>
            <a:r>
              <a:rPr lang="zh-CN" altLang="en-US" dirty="0"/>
              <a:t>模型进行评价。</a:t>
            </a:r>
          </a:p>
          <a:p>
            <a:r>
              <a:rPr lang="en-US" altLang="zh-CN" dirty="0"/>
              <a:t># Evaluate clustering by computing Within Set Sum of Squared Errors.</a:t>
            </a:r>
          </a:p>
          <a:p>
            <a:r>
              <a:rPr lang="en-US" altLang="zh-CN" dirty="0" err="1"/>
              <a:t>wssse</a:t>
            </a:r>
            <a:r>
              <a:rPr lang="en-US" altLang="zh-CN" dirty="0"/>
              <a:t> = </a:t>
            </a:r>
            <a:r>
              <a:rPr lang="en-US" altLang="zh-CN" dirty="0" err="1"/>
              <a:t>model.computeCost</a:t>
            </a:r>
            <a:r>
              <a:rPr lang="en-US" altLang="zh-CN" dirty="0"/>
              <a:t>(dataset)</a:t>
            </a:r>
          </a:p>
          <a:p>
            <a:r>
              <a:rPr lang="en-US" altLang="zh-CN" dirty="0"/>
              <a:t>print("Within Set Sum of Squared Errors = " + str(</a:t>
            </a:r>
            <a:r>
              <a:rPr lang="en-US" altLang="zh-CN" dirty="0" err="1"/>
              <a:t>wssse</a:t>
            </a:r>
            <a:r>
              <a:rPr lang="en-US" altLang="zh-CN" dirty="0"/>
              <a:t>))</a:t>
            </a:r>
          </a:p>
        </p:txBody>
      </p:sp>
    </p:spTree>
    <p:extLst>
      <p:ext uri="{BB962C8B-B14F-4D97-AF65-F5344CB8AC3E}">
        <p14:creationId xmlns:p14="http://schemas.microsoft.com/office/powerpoint/2010/main" val="22034853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3</a:t>
            </a:r>
            <a:r>
              <a:rPr lang="zh-CN" altLang="en-US" sz="1800" dirty="0">
                <a:effectLst/>
                <a:latin typeface="Times New Roman" panose="02020603050405020304" pitchFamily="18" charset="0"/>
                <a:ea typeface="宋体" panose="02010600030101010101" pitchFamily="2" charset="-122"/>
              </a:rPr>
              <a:t>：聚类实例</a:t>
            </a:r>
            <a:endParaRPr lang="en-US" altLang="zh-CN" sz="1800" dirty="0">
              <a:effectLst/>
              <a:latin typeface="Times New Roman" panose="02020603050405020304" pitchFamily="18" charset="0"/>
              <a:ea typeface="宋体" panose="02010600030101010101" pitchFamily="2" charset="-122"/>
            </a:endParaRPr>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2585323"/>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显示类簇的中心。</a:t>
            </a:r>
          </a:p>
          <a:p>
            <a:r>
              <a:rPr lang="en-US" altLang="zh-CN" dirty="0"/>
              <a:t># Shows the result.</a:t>
            </a:r>
          </a:p>
          <a:p>
            <a:r>
              <a:rPr lang="en-US" altLang="zh-CN" dirty="0"/>
              <a:t>centers = </a:t>
            </a:r>
            <a:r>
              <a:rPr lang="en-US" altLang="zh-CN" dirty="0" err="1"/>
              <a:t>model.clusterCenters</a:t>
            </a:r>
            <a:r>
              <a:rPr lang="en-US" altLang="zh-CN" dirty="0"/>
              <a:t>()</a:t>
            </a:r>
          </a:p>
          <a:p>
            <a:r>
              <a:rPr lang="en-US" altLang="zh-CN" dirty="0"/>
              <a:t>print("Cluster Centers: ")</a:t>
            </a:r>
          </a:p>
          <a:p>
            <a:r>
              <a:rPr lang="en-US" altLang="zh-CN" dirty="0"/>
              <a:t>for center in centers:</a:t>
            </a:r>
          </a:p>
          <a:p>
            <a:r>
              <a:rPr lang="en-US" altLang="zh-CN" dirty="0"/>
              <a:t>print(center)</a:t>
            </a:r>
          </a:p>
          <a:p>
            <a:endParaRPr lang="en-US" altLang="zh-CN" dirty="0"/>
          </a:p>
          <a:p>
            <a:r>
              <a:rPr lang="en-US" altLang="zh-CN" dirty="0"/>
              <a:t>#</a:t>
            </a:r>
            <a:r>
              <a:rPr lang="zh-CN" altLang="en-US" dirty="0"/>
              <a:t>停止</a:t>
            </a:r>
            <a:r>
              <a:rPr lang="en-US" altLang="zh-CN" dirty="0" err="1"/>
              <a:t>SparkSession</a:t>
            </a:r>
            <a:r>
              <a:rPr lang="zh-CN" altLang="en-US" dirty="0"/>
              <a:t>。</a:t>
            </a:r>
          </a:p>
          <a:p>
            <a:r>
              <a:rPr lang="en-US" altLang="zh-CN" dirty="0" err="1"/>
              <a:t>spark.stop</a:t>
            </a:r>
            <a:r>
              <a:rPr lang="en-US" altLang="zh-CN" dirty="0"/>
              <a:t>()</a:t>
            </a:r>
          </a:p>
        </p:txBody>
      </p:sp>
    </p:spTree>
    <p:extLst>
      <p:ext uri="{BB962C8B-B14F-4D97-AF65-F5344CB8AC3E}">
        <p14:creationId xmlns:p14="http://schemas.microsoft.com/office/powerpoint/2010/main" val="3822981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64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err="1">
                <a:effectLst/>
                <a:latin typeface="Times New Roman" panose="02020603050405020304" pitchFamily="18" charset="0"/>
                <a:ea typeface="宋体" panose="02010600030101010101" pitchFamily="2" charset="-122"/>
              </a:rPr>
              <a:t>MLLIb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提供了</a:t>
            </a:r>
            <a:r>
              <a:rPr lang="en-US" altLang="zh-CN" sz="1800" dirty="0">
                <a:effectLst/>
                <a:latin typeface="Times New Roman" panose="02020603050405020304" pitchFamily="18" charset="0"/>
                <a:ea typeface="宋体" panose="02010600030101010101" pitchFamily="2" charset="-122"/>
              </a:rPr>
              <a:t>Linear Regression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Generalized Linear Regression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Decision Tree Regression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Random Forest Regression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Gradient-Boosted Tree </a:t>
            </a:r>
            <a:r>
              <a:rPr lang="en-US" altLang="zh-CN" sz="1800" dirty="0" err="1">
                <a:effectLst/>
                <a:latin typeface="Times New Roman" panose="02020603050405020304" pitchFamily="18" charset="0"/>
                <a:ea typeface="宋体" panose="02010600030101010101" pitchFamily="2" charset="-122"/>
              </a:rPr>
              <a:t>Tegression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Survival Regression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Isotonic Regression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等回归算法</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385768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4</a:t>
            </a:r>
            <a:r>
              <a:rPr lang="zh-CN" altLang="en-US" sz="1800" dirty="0">
                <a:effectLst/>
                <a:latin typeface="Times New Roman" panose="02020603050405020304" pitchFamily="18" charset="0"/>
                <a:ea typeface="宋体" panose="02010600030101010101" pitchFamily="2" charset="-122"/>
              </a:rPr>
              <a:t>：线性回归</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2585323"/>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首先，导入必要的类。</a:t>
            </a:r>
          </a:p>
          <a:p>
            <a:r>
              <a:rPr lang="en-US" altLang="zh-CN" dirty="0"/>
              <a:t>from </a:t>
            </a:r>
            <a:r>
              <a:rPr lang="en-US" altLang="zh-CN" dirty="0" err="1"/>
              <a:t>pyspark.ml.regression</a:t>
            </a:r>
            <a:r>
              <a:rPr lang="en-US" altLang="zh-CN" dirty="0"/>
              <a:t> import </a:t>
            </a:r>
            <a:r>
              <a:rPr lang="en-US" altLang="zh-CN" dirty="0" err="1"/>
              <a:t>LinearRegression</a:t>
            </a:r>
            <a:endParaRPr lang="en-US" altLang="zh-CN" dirty="0"/>
          </a:p>
          <a:p>
            <a:r>
              <a:rPr lang="en-US" altLang="zh-CN" dirty="0"/>
              <a:t>from </a:t>
            </a:r>
            <a:r>
              <a:rPr lang="en-US" altLang="zh-CN" dirty="0" err="1"/>
              <a:t>pyspark.sql</a:t>
            </a:r>
            <a:r>
              <a:rPr lang="en-US" altLang="zh-CN" dirty="0"/>
              <a:t> import </a:t>
            </a:r>
            <a:r>
              <a:rPr lang="en-US" altLang="zh-CN" dirty="0" err="1"/>
              <a:t>SparkSession</a:t>
            </a:r>
            <a:endParaRPr lang="en-US" altLang="zh-CN" dirty="0"/>
          </a:p>
          <a:p>
            <a:endParaRPr lang="en-US" altLang="zh-CN" dirty="0"/>
          </a:p>
          <a:p>
            <a:r>
              <a:rPr lang="en-US" altLang="zh-CN" dirty="0"/>
              <a:t>#</a:t>
            </a:r>
            <a:r>
              <a:rPr lang="zh-CN" altLang="en-US" dirty="0"/>
              <a:t>创建</a:t>
            </a:r>
            <a:r>
              <a:rPr lang="en-US" altLang="zh-CN" dirty="0" err="1"/>
              <a:t>SparkSession</a:t>
            </a:r>
            <a:r>
              <a:rPr lang="zh-CN" altLang="en-US" dirty="0"/>
              <a:t>。</a:t>
            </a:r>
          </a:p>
          <a:p>
            <a:r>
              <a:rPr lang="en-US" altLang="zh-CN" dirty="0"/>
              <a:t>spark = </a:t>
            </a:r>
            <a:r>
              <a:rPr lang="en-US" altLang="zh-CN" dirty="0" err="1"/>
              <a:t>SparkSession</a:t>
            </a:r>
            <a:r>
              <a:rPr lang="en-US" altLang="zh-CN" dirty="0"/>
              <a:t>\</a:t>
            </a:r>
          </a:p>
          <a:p>
            <a:r>
              <a:rPr lang="en-US" altLang="zh-CN" dirty="0"/>
              <a:t>    .builder\</a:t>
            </a:r>
          </a:p>
          <a:p>
            <a:r>
              <a:rPr lang="en-US" altLang="zh-CN" dirty="0"/>
              <a:t>    .</a:t>
            </a:r>
            <a:r>
              <a:rPr lang="en-US" altLang="zh-CN" dirty="0" err="1"/>
              <a:t>appName</a:t>
            </a:r>
            <a:r>
              <a:rPr lang="en-US" altLang="zh-CN" dirty="0"/>
              <a:t>("</a:t>
            </a:r>
            <a:r>
              <a:rPr lang="en-US" altLang="zh-CN" dirty="0" err="1"/>
              <a:t>LinearRegressionWithElasticNet</a:t>
            </a:r>
            <a:r>
              <a:rPr lang="en-US" altLang="zh-CN" dirty="0"/>
              <a:t>")\</a:t>
            </a:r>
          </a:p>
          <a:p>
            <a:r>
              <a:rPr lang="en-US" altLang="zh-CN" dirty="0"/>
              <a:t>    .</a:t>
            </a:r>
            <a:r>
              <a:rPr lang="en-US" altLang="zh-CN" dirty="0" err="1"/>
              <a:t>getOrCreate</a:t>
            </a:r>
            <a:r>
              <a:rPr lang="en-US" altLang="zh-CN" dirty="0"/>
              <a:t>()</a:t>
            </a:r>
          </a:p>
        </p:txBody>
      </p:sp>
    </p:spTree>
    <p:extLst>
      <p:ext uri="{BB962C8B-B14F-4D97-AF65-F5344CB8AC3E}">
        <p14:creationId xmlns:p14="http://schemas.microsoft.com/office/powerpoint/2010/main" val="2054660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4</a:t>
            </a:r>
            <a:r>
              <a:rPr lang="zh-CN" altLang="en-US" sz="1800" dirty="0">
                <a:effectLst/>
                <a:latin typeface="Times New Roman" panose="02020603050405020304" pitchFamily="18" charset="0"/>
                <a:ea typeface="宋体" panose="02010600030101010101" pitchFamily="2" charset="-122"/>
              </a:rPr>
              <a:t>：线性回归</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1477328"/>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装载数据，准备训练机器学习模型。</a:t>
            </a:r>
          </a:p>
          <a:p>
            <a:r>
              <a:rPr lang="en-US" altLang="zh-CN" dirty="0"/>
              <a:t># Load training data</a:t>
            </a:r>
          </a:p>
          <a:p>
            <a:r>
              <a:rPr lang="en-US" altLang="zh-CN" dirty="0"/>
              <a:t>training = </a:t>
            </a:r>
            <a:r>
              <a:rPr lang="en-US" altLang="zh-CN" dirty="0" err="1"/>
              <a:t>spark.read.format</a:t>
            </a:r>
            <a:r>
              <a:rPr lang="en-US" altLang="zh-CN" dirty="0"/>
              <a:t>("</a:t>
            </a:r>
            <a:r>
              <a:rPr lang="en-US" altLang="zh-CN" dirty="0" err="1"/>
              <a:t>libsvm</a:t>
            </a:r>
            <a:r>
              <a:rPr lang="en-US" altLang="zh-CN" dirty="0"/>
              <a:t>")\</a:t>
            </a:r>
          </a:p>
          <a:p>
            <a:r>
              <a:rPr lang="en-US" altLang="zh-CN" dirty="0"/>
              <a:t>    .load("file:///opt/linuxsir/spark/data/mllib/sample_linear_regression_data.txt")</a:t>
            </a:r>
          </a:p>
        </p:txBody>
      </p:sp>
      <p:sp>
        <p:nvSpPr>
          <p:cNvPr id="6" name="文本框 5">
            <a:extLst>
              <a:ext uri="{FF2B5EF4-FFF2-40B4-BE49-F238E27FC236}">
                <a16:creationId xmlns:a16="http://schemas.microsoft.com/office/drawing/2014/main" id="{7C5BBDFB-2CB7-4CD5-93DD-0E18CCA09AFD}"/>
              </a:ext>
            </a:extLst>
          </p:cNvPr>
          <p:cNvSpPr txBox="1"/>
          <p:nvPr/>
        </p:nvSpPr>
        <p:spPr>
          <a:xfrm>
            <a:off x="762000" y="3962400"/>
            <a:ext cx="7620000" cy="2308324"/>
          </a:xfrm>
          <a:prstGeom prst="rect">
            <a:avLst/>
          </a:prstGeom>
          <a:solidFill>
            <a:schemeClr val="bg1">
              <a:lumMod val="95000"/>
            </a:schemeClr>
          </a:solidFill>
          <a:ln>
            <a:solidFill>
              <a:schemeClr val="accent1"/>
            </a:solidFill>
          </a:ln>
        </p:spPr>
        <p:txBody>
          <a:bodyPr wrap="square">
            <a:spAutoFit/>
          </a:bodyPr>
          <a:lstStyle/>
          <a:p>
            <a:r>
              <a:rPr lang="zh-CN" altLang="en-US" dirty="0"/>
              <a:t>数据文件具有特定的格式，每一行的格式如下。</a:t>
            </a:r>
          </a:p>
          <a:p>
            <a:r>
              <a:rPr lang="zh-CN" altLang="en-US" dirty="0"/>
              <a:t>-9.490009878824548 1:0.4551273600657362 2:0.36644694351969087 3:-0.38256108933468047 4:-0.4458430198517267 5:0.33109790358914726 6:0.8067445293443565 7:-0.2624341731773887 8:-0.44850386111659524 9:-0.07269284838169332 10:0.5658035575800715</a:t>
            </a:r>
          </a:p>
          <a:p>
            <a:r>
              <a:rPr lang="zh-CN" altLang="en-US" dirty="0"/>
              <a:t>第一个数值表示因变量，接着给出每个特征的取值，每个特征采用“特征编号：特征值”的编码方式。</a:t>
            </a:r>
          </a:p>
        </p:txBody>
      </p:sp>
    </p:spTree>
    <p:extLst>
      <p:ext uri="{BB962C8B-B14F-4D97-AF65-F5344CB8AC3E}">
        <p14:creationId xmlns:p14="http://schemas.microsoft.com/office/powerpoint/2010/main" val="42747842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4</a:t>
            </a:r>
            <a:r>
              <a:rPr lang="zh-CN" altLang="en-US" sz="1800" dirty="0">
                <a:effectLst/>
                <a:latin typeface="Times New Roman" panose="02020603050405020304" pitchFamily="18" charset="0"/>
                <a:ea typeface="宋体" panose="02010600030101010101" pitchFamily="2" charset="-122"/>
              </a:rPr>
              <a:t>：线性回归</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1477328"/>
          </a:xfrm>
          <a:prstGeom prst="rect">
            <a:avLst/>
          </a:prstGeom>
          <a:solidFill>
            <a:schemeClr val="bg1">
              <a:lumMod val="95000"/>
            </a:schemeClr>
          </a:solidFill>
          <a:ln>
            <a:solidFill>
              <a:schemeClr val="accent1"/>
            </a:solidFill>
          </a:ln>
        </p:spPr>
        <p:txBody>
          <a:bodyPr wrap="square">
            <a:spAutoFit/>
          </a:bodyPr>
          <a:lstStyle/>
          <a:p>
            <a:r>
              <a:rPr lang="zh-CN" altLang="en-US" dirty="0"/>
              <a:t>创建线性回归模型，并进行训练。</a:t>
            </a:r>
          </a:p>
          <a:p>
            <a:r>
              <a:rPr lang="en-US" altLang="zh-CN" dirty="0" err="1"/>
              <a:t>lr</a:t>
            </a:r>
            <a:r>
              <a:rPr lang="en-US" altLang="zh-CN" dirty="0"/>
              <a:t> = </a:t>
            </a:r>
            <a:r>
              <a:rPr lang="en-US" altLang="zh-CN" dirty="0" err="1"/>
              <a:t>LinearRegression</a:t>
            </a:r>
            <a:r>
              <a:rPr lang="en-US" altLang="zh-CN" dirty="0"/>
              <a:t>(</a:t>
            </a:r>
            <a:r>
              <a:rPr lang="en-US" altLang="zh-CN" dirty="0" err="1"/>
              <a:t>maxIter</a:t>
            </a:r>
            <a:r>
              <a:rPr lang="en-US" altLang="zh-CN" dirty="0"/>
              <a:t>=10, </a:t>
            </a:r>
            <a:r>
              <a:rPr lang="en-US" altLang="zh-CN" dirty="0" err="1"/>
              <a:t>regParam</a:t>
            </a:r>
            <a:r>
              <a:rPr lang="en-US" altLang="zh-CN" dirty="0"/>
              <a:t>=0.3, </a:t>
            </a:r>
            <a:r>
              <a:rPr lang="en-US" altLang="zh-CN" dirty="0" err="1"/>
              <a:t>elasticNetParam</a:t>
            </a:r>
            <a:r>
              <a:rPr lang="en-US" altLang="zh-CN" dirty="0"/>
              <a:t>=0.8)</a:t>
            </a:r>
          </a:p>
          <a:p>
            <a:endParaRPr lang="en-US" altLang="zh-CN" dirty="0"/>
          </a:p>
          <a:p>
            <a:r>
              <a:rPr lang="en-US" altLang="zh-CN" dirty="0"/>
              <a:t># Fit the model</a:t>
            </a:r>
          </a:p>
          <a:p>
            <a:r>
              <a:rPr lang="en-US" altLang="zh-CN" dirty="0" err="1"/>
              <a:t>lrModel</a:t>
            </a:r>
            <a:r>
              <a:rPr lang="en-US" altLang="zh-CN" dirty="0"/>
              <a:t> = </a:t>
            </a:r>
            <a:r>
              <a:rPr lang="en-US" altLang="zh-CN" dirty="0" err="1"/>
              <a:t>lr.fit</a:t>
            </a:r>
            <a:r>
              <a:rPr lang="en-US" altLang="zh-CN" dirty="0"/>
              <a:t>(training)</a:t>
            </a:r>
          </a:p>
        </p:txBody>
      </p:sp>
    </p:spTree>
    <p:extLst>
      <p:ext uri="{BB962C8B-B14F-4D97-AF65-F5344CB8AC3E}">
        <p14:creationId xmlns:p14="http://schemas.microsoft.com/office/powerpoint/2010/main" val="2533850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4</a:t>
            </a:r>
            <a:r>
              <a:rPr lang="zh-CN" altLang="en-US" sz="1800" dirty="0">
                <a:effectLst/>
                <a:latin typeface="Times New Roman" panose="02020603050405020304" pitchFamily="18" charset="0"/>
                <a:ea typeface="宋体" panose="02010600030101010101" pitchFamily="2" charset="-122"/>
              </a:rPr>
              <a:t>：线性回归</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2862322"/>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显示线性回归模型的</a:t>
            </a:r>
            <a:r>
              <a:rPr lang="en-US" altLang="zh-CN" dirty="0"/>
              <a:t>(</a:t>
            </a:r>
            <a:r>
              <a:rPr lang="zh-CN" altLang="en-US" dirty="0"/>
              <a:t>各个变量的</a:t>
            </a:r>
            <a:r>
              <a:rPr lang="en-US" altLang="zh-CN" dirty="0"/>
              <a:t>)</a:t>
            </a:r>
            <a:r>
              <a:rPr lang="zh-CN" altLang="en-US" dirty="0"/>
              <a:t>系数和截距。</a:t>
            </a:r>
          </a:p>
          <a:p>
            <a:r>
              <a:rPr lang="en-US" altLang="zh-CN" dirty="0"/>
              <a:t># Print the coefficients and intercept for linear regression</a:t>
            </a:r>
          </a:p>
          <a:p>
            <a:r>
              <a:rPr lang="en-US" altLang="zh-CN" dirty="0"/>
              <a:t>print("Coefficients: %s" % str(</a:t>
            </a:r>
            <a:r>
              <a:rPr lang="en-US" altLang="zh-CN" dirty="0" err="1"/>
              <a:t>lrModel.coefficients</a:t>
            </a:r>
            <a:r>
              <a:rPr lang="en-US" altLang="zh-CN" dirty="0"/>
              <a:t>))</a:t>
            </a:r>
          </a:p>
          <a:p>
            <a:r>
              <a:rPr lang="en-US" altLang="zh-CN" dirty="0"/>
              <a:t>print("Intercept: %s" % str(</a:t>
            </a:r>
            <a:r>
              <a:rPr lang="en-US" altLang="zh-CN" dirty="0" err="1"/>
              <a:t>lrModel.intercept</a:t>
            </a:r>
            <a:r>
              <a:rPr lang="en-US" altLang="zh-CN" dirty="0"/>
              <a:t>))</a:t>
            </a:r>
          </a:p>
          <a:p>
            <a:endParaRPr lang="en-US" altLang="zh-CN" dirty="0"/>
          </a:p>
          <a:p>
            <a:r>
              <a:rPr lang="en-US" altLang="zh-CN" dirty="0"/>
              <a:t>#</a:t>
            </a:r>
            <a:r>
              <a:rPr lang="zh-CN" altLang="en-US" dirty="0"/>
              <a:t>显示迭代次数和目标函数变化情况</a:t>
            </a:r>
            <a:r>
              <a:rPr lang="en-US" altLang="zh-CN" dirty="0"/>
              <a:t>(</a:t>
            </a:r>
            <a:r>
              <a:rPr lang="zh-CN" altLang="en-US" dirty="0"/>
              <a:t>一般为</a:t>
            </a:r>
            <a:r>
              <a:rPr lang="en-US" altLang="zh-CN" dirty="0"/>
              <a:t>RMSE)</a:t>
            </a:r>
            <a:r>
              <a:rPr lang="zh-CN" altLang="en-US" dirty="0"/>
              <a:t>。</a:t>
            </a:r>
          </a:p>
          <a:p>
            <a:r>
              <a:rPr lang="en-US" altLang="zh-CN" dirty="0"/>
              <a:t># Summarize the model over the training set and print out some metrics</a:t>
            </a:r>
          </a:p>
          <a:p>
            <a:r>
              <a:rPr lang="en-US" altLang="zh-CN" dirty="0" err="1"/>
              <a:t>trainingSummary</a:t>
            </a:r>
            <a:r>
              <a:rPr lang="en-US" altLang="zh-CN" dirty="0"/>
              <a:t> = </a:t>
            </a:r>
            <a:r>
              <a:rPr lang="en-US" altLang="zh-CN" dirty="0" err="1"/>
              <a:t>lrModel.summary</a:t>
            </a:r>
            <a:endParaRPr lang="en-US" altLang="zh-CN" dirty="0"/>
          </a:p>
          <a:p>
            <a:r>
              <a:rPr lang="en-US" altLang="zh-CN" dirty="0"/>
              <a:t>print("</a:t>
            </a:r>
            <a:r>
              <a:rPr lang="en-US" altLang="zh-CN" dirty="0" err="1"/>
              <a:t>numIterations</a:t>
            </a:r>
            <a:r>
              <a:rPr lang="en-US" altLang="zh-CN" dirty="0"/>
              <a:t>: %d" % </a:t>
            </a:r>
            <a:r>
              <a:rPr lang="en-US" altLang="zh-CN" dirty="0" err="1"/>
              <a:t>trainingSummary.totalIterations</a:t>
            </a:r>
            <a:r>
              <a:rPr lang="en-US" altLang="zh-CN" dirty="0"/>
              <a:t>)</a:t>
            </a:r>
          </a:p>
          <a:p>
            <a:r>
              <a:rPr lang="en-US" altLang="zh-CN" dirty="0"/>
              <a:t>print("</a:t>
            </a:r>
            <a:r>
              <a:rPr lang="en-US" altLang="zh-CN" dirty="0" err="1"/>
              <a:t>objectiveHistory</a:t>
            </a:r>
            <a:r>
              <a:rPr lang="en-US" altLang="zh-CN" dirty="0"/>
              <a:t>: %s" % str(</a:t>
            </a:r>
            <a:r>
              <a:rPr lang="en-US" altLang="zh-CN" dirty="0" err="1"/>
              <a:t>trainingSummary.objectiveHistory</a:t>
            </a:r>
            <a:r>
              <a:rPr lang="en-US" altLang="zh-CN" dirty="0"/>
              <a:t>))</a:t>
            </a:r>
          </a:p>
        </p:txBody>
      </p:sp>
    </p:spTree>
    <p:extLst>
      <p:ext uri="{BB962C8B-B14F-4D97-AF65-F5344CB8AC3E}">
        <p14:creationId xmlns:p14="http://schemas.microsoft.com/office/powerpoint/2010/main" val="21659747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effectLst/>
                <a:latin typeface="Times New Roman" panose="02020603050405020304" pitchFamily="18" charset="0"/>
                <a:ea typeface="宋体" panose="02010600030101010101" pitchFamily="2" charset="-122"/>
              </a:rPr>
              <a:t>实例</a:t>
            </a:r>
            <a:r>
              <a:rPr lang="en-US" altLang="zh-CN" sz="1800" dirty="0">
                <a:effectLst/>
                <a:latin typeface="Times New Roman" panose="02020603050405020304" pitchFamily="18" charset="0"/>
                <a:ea typeface="宋体" panose="02010600030101010101" pitchFamily="2" charset="-122"/>
              </a:rPr>
              <a:t>4</a:t>
            </a:r>
            <a:r>
              <a:rPr lang="zh-CN" altLang="en-US" sz="1800" dirty="0">
                <a:effectLst/>
                <a:latin typeface="Times New Roman" panose="02020603050405020304" pitchFamily="18" charset="0"/>
                <a:ea typeface="宋体" panose="02010600030101010101" pitchFamily="2" charset="-122"/>
              </a:rPr>
              <a:t>：线性回归</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362200"/>
            <a:ext cx="7620000" cy="2031325"/>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显示模型的残差、</a:t>
            </a:r>
            <a:r>
              <a:rPr lang="en-US" altLang="zh-CN" dirty="0"/>
              <a:t>RMSE</a:t>
            </a:r>
            <a:r>
              <a:rPr lang="zh-CN" altLang="en-US" dirty="0"/>
              <a:t>指标、和</a:t>
            </a:r>
            <a:r>
              <a:rPr lang="en-US" altLang="zh-CN" dirty="0"/>
              <a:t>R2</a:t>
            </a:r>
            <a:r>
              <a:rPr lang="zh-CN" altLang="en-US" dirty="0"/>
              <a:t>指标。</a:t>
            </a:r>
          </a:p>
          <a:p>
            <a:r>
              <a:rPr lang="en-US" altLang="zh-CN" dirty="0" err="1"/>
              <a:t>trainingSummary.residuals.show</a:t>
            </a:r>
            <a:r>
              <a:rPr lang="en-US" altLang="zh-CN" dirty="0"/>
              <a:t>()</a:t>
            </a:r>
          </a:p>
          <a:p>
            <a:r>
              <a:rPr lang="en-US" altLang="zh-CN" dirty="0"/>
              <a:t>print("RMSE: %f" % </a:t>
            </a:r>
            <a:r>
              <a:rPr lang="en-US" altLang="zh-CN" dirty="0" err="1"/>
              <a:t>trainingSummary.rootMeanSquaredError</a:t>
            </a:r>
            <a:r>
              <a:rPr lang="en-US" altLang="zh-CN" dirty="0"/>
              <a:t>)</a:t>
            </a:r>
          </a:p>
          <a:p>
            <a:r>
              <a:rPr lang="en-US" altLang="zh-CN" dirty="0"/>
              <a:t>print("r2: %f" % trainingSummary.r2)</a:t>
            </a:r>
          </a:p>
          <a:p>
            <a:endParaRPr lang="en-US" altLang="zh-CN" dirty="0"/>
          </a:p>
          <a:p>
            <a:r>
              <a:rPr lang="en-US" altLang="zh-CN" dirty="0"/>
              <a:t>#</a:t>
            </a:r>
            <a:r>
              <a:rPr lang="zh-CN" altLang="en-US" dirty="0"/>
              <a:t>停止</a:t>
            </a:r>
            <a:r>
              <a:rPr lang="en-US" altLang="zh-CN" dirty="0" err="1"/>
              <a:t>SparkSession</a:t>
            </a:r>
            <a:r>
              <a:rPr lang="zh-CN" altLang="en-US" dirty="0"/>
              <a:t>。</a:t>
            </a:r>
          </a:p>
          <a:p>
            <a:r>
              <a:rPr lang="en-US" altLang="zh-CN" dirty="0" err="1"/>
              <a:t>spark.stop</a:t>
            </a:r>
            <a:r>
              <a:rPr lang="en-US" altLang="zh-CN" dirty="0"/>
              <a:t>()</a:t>
            </a:r>
          </a:p>
        </p:txBody>
      </p:sp>
    </p:spTree>
    <p:extLst>
      <p:ext uri="{BB962C8B-B14F-4D97-AF65-F5344CB8AC3E}">
        <p14:creationId xmlns:p14="http://schemas.microsoft.com/office/powerpoint/2010/main" val="17368608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923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en-US" altLang="zh-CN" sz="1800" dirty="0" err="1">
                <a:effectLst/>
                <a:latin typeface="Times New Roman" panose="02020603050405020304" pitchFamily="18" charset="0"/>
                <a:ea typeface="宋体" panose="02010600030101010101" pitchFamily="2" charset="-122"/>
              </a:rPr>
              <a:t>MLLIb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提供了</a:t>
            </a:r>
            <a:r>
              <a:rPr lang="en-US" altLang="zh-CN" sz="1800" dirty="0">
                <a:effectLst/>
                <a:latin typeface="Times New Roman" panose="02020603050405020304" pitchFamily="18" charset="0"/>
                <a:ea typeface="宋体" panose="02010600030101010101" pitchFamily="2" charset="-122"/>
              </a:rPr>
              <a:t>Collaborative Filtering(</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协同过滤推荐</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用于推荐</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870537"/>
            <a:ext cx="7620000" cy="3139321"/>
          </a:xfrm>
          <a:prstGeom prst="rect">
            <a:avLst/>
          </a:prstGeom>
          <a:solidFill>
            <a:schemeClr val="bg1">
              <a:lumMod val="95000"/>
            </a:schemeClr>
          </a:solidFill>
          <a:ln>
            <a:solidFill>
              <a:schemeClr val="accent1"/>
            </a:solidFill>
          </a:ln>
        </p:spPr>
        <p:txBody>
          <a:bodyPr wrap="square">
            <a:spAutoFit/>
          </a:bodyPr>
          <a:lstStyle/>
          <a:p>
            <a:r>
              <a:rPr lang="en-US" altLang="zh-CN" dirty="0"/>
              <a:t>#</a:t>
            </a:r>
            <a:r>
              <a:rPr lang="zh-CN" altLang="en-US" dirty="0"/>
              <a:t>首先，导入必要的类。</a:t>
            </a:r>
          </a:p>
          <a:p>
            <a:r>
              <a:rPr lang="en-US" altLang="zh-CN" dirty="0"/>
              <a:t>from </a:t>
            </a:r>
            <a:r>
              <a:rPr lang="en-US" altLang="zh-CN" dirty="0" err="1"/>
              <a:t>pyspark.sql</a:t>
            </a:r>
            <a:r>
              <a:rPr lang="en-US" altLang="zh-CN" dirty="0"/>
              <a:t> import </a:t>
            </a:r>
            <a:r>
              <a:rPr lang="en-US" altLang="zh-CN" dirty="0" err="1"/>
              <a:t>SparkSession</a:t>
            </a:r>
            <a:endParaRPr lang="en-US" altLang="zh-CN" dirty="0"/>
          </a:p>
          <a:p>
            <a:r>
              <a:rPr lang="en-US" altLang="zh-CN" dirty="0"/>
              <a:t>from </a:t>
            </a:r>
            <a:r>
              <a:rPr lang="en-US" altLang="zh-CN" dirty="0" err="1"/>
              <a:t>pyspark.ml.evaluation</a:t>
            </a:r>
            <a:r>
              <a:rPr lang="en-US" altLang="zh-CN" dirty="0"/>
              <a:t> import </a:t>
            </a:r>
            <a:r>
              <a:rPr lang="en-US" altLang="zh-CN" dirty="0" err="1"/>
              <a:t>RegressionEvaluator</a:t>
            </a:r>
            <a:endParaRPr lang="en-US" altLang="zh-CN" dirty="0"/>
          </a:p>
          <a:p>
            <a:r>
              <a:rPr lang="en-US" altLang="zh-CN" dirty="0"/>
              <a:t>from </a:t>
            </a:r>
            <a:r>
              <a:rPr lang="en-US" altLang="zh-CN" dirty="0" err="1"/>
              <a:t>pyspark.ml.recommendation</a:t>
            </a:r>
            <a:r>
              <a:rPr lang="en-US" altLang="zh-CN" dirty="0"/>
              <a:t> import ALS</a:t>
            </a:r>
          </a:p>
          <a:p>
            <a:r>
              <a:rPr lang="en-US" altLang="zh-CN" dirty="0"/>
              <a:t>from </a:t>
            </a:r>
            <a:r>
              <a:rPr lang="en-US" altLang="zh-CN" dirty="0" err="1"/>
              <a:t>pyspark.sql</a:t>
            </a:r>
            <a:r>
              <a:rPr lang="en-US" altLang="zh-CN" dirty="0"/>
              <a:t> import Row</a:t>
            </a:r>
          </a:p>
          <a:p>
            <a:endParaRPr lang="en-US" altLang="zh-CN" dirty="0"/>
          </a:p>
          <a:p>
            <a:r>
              <a:rPr lang="en-US" altLang="zh-CN" dirty="0"/>
              <a:t>#</a:t>
            </a:r>
            <a:r>
              <a:rPr lang="zh-CN" altLang="en-US" dirty="0"/>
              <a:t>创建</a:t>
            </a:r>
            <a:r>
              <a:rPr lang="en-US" altLang="zh-CN" dirty="0" err="1"/>
              <a:t>SparkSession</a:t>
            </a:r>
            <a:r>
              <a:rPr lang="zh-CN" altLang="en-US" dirty="0"/>
              <a:t>。</a:t>
            </a:r>
          </a:p>
          <a:p>
            <a:r>
              <a:rPr lang="en-US" altLang="zh-CN" dirty="0"/>
              <a:t>spark = </a:t>
            </a:r>
            <a:r>
              <a:rPr lang="en-US" altLang="zh-CN" dirty="0" err="1"/>
              <a:t>SparkSession</a:t>
            </a:r>
            <a:r>
              <a:rPr lang="en-US" altLang="zh-CN" dirty="0"/>
              <a:t>\</a:t>
            </a:r>
          </a:p>
          <a:p>
            <a:r>
              <a:rPr lang="en-US" altLang="zh-CN" dirty="0"/>
              <a:t>    .builder\</a:t>
            </a:r>
          </a:p>
          <a:p>
            <a:r>
              <a:rPr lang="en-US" altLang="zh-CN" dirty="0"/>
              <a:t>    .</a:t>
            </a:r>
            <a:r>
              <a:rPr lang="en-US" altLang="zh-CN" dirty="0" err="1"/>
              <a:t>appName</a:t>
            </a:r>
            <a:r>
              <a:rPr lang="en-US" altLang="zh-CN" dirty="0"/>
              <a:t>("</a:t>
            </a:r>
            <a:r>
              <a:rPr lang="en-US" altLang="zh-CN" dirty="0" err="1"/>
              <a:t>ALSExample</a:t>
            </a:r>
            <a:r>
              <a:rPr lang="en-US" altLang="zh-CN" dirty="0"/>
              <a:t>")\</a:t>
            </a:r>
          </a:p>
          <a:p>
            <a:r>
              <a:rPr lang="en-US" altLang="zh-CN" dirty="0"/>
              <a:t>    .</a:t>
            </a:r>
            <a:r>
              <a:rPr lang="en-US" altLang="zh-CN" dirty="0" err="1"/>
              <a:t>getOrCreate</a:t>
            </a:r>
            <a:r>
              <a:rPr lang="en-US" altLang="zh-CN" dirty="0"/>
              <a:t>()</a:t>
            </a:r>
          </a:p>
        </p:txBody>
      </p:sp>
    </p:spTree>
    <p:extLst>
      <p:ext uri="{BB962C8B-B14F-4D97-AF65-F5344CB8AC3E}">
        <p14:creationId xmlns:p14="http://schemas.microsoft.com/office/powerpoint/2010/main" val="35166003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75590" algn="just"/>
            <a:r>
              <a:rPr lang="zh-CN" altLang="en-US" sz="1800" dirty="0"/>
              <a:t>读取数据文件。</a:t>
            </a:r>
            <a:endParaRPr lang="en-US" altLang="zh-CN" sz="1800" dirty="0"/>
          </a:p>
          <a:p>
            <a:pPr indent="275590"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870537"/>
            <a:ext cx="7620000" cy="2308324"/>
          </a:xfrm>
          <a:prstGeom prst="rect">
            <a:avLst/>
          </a:prstGeom>
          <a:solidFill>
            <a:schemeClr val="bg1">
              <a:lumMod val="95000"/>
            </a:schemeClr>
          </a:solidFill>
          <a:ln>
            <a:solidFill>
              <a:schemeClr val="accent1"/>
            </a:solidFill>
          </a:ln>
        </p:spPr>
        <p:txBody>
          <a:bodyPr wrap="square">
            <a:spAutoFit/>
          </a:bodyPr>
          <a:lstStyle/>
          <a:p>
            <a:endParaRPr lang="en-US" altLang="zh-CN" dirty="0"/>
          </a:p>
          <a:p>
            <a:r>
              <a:rPr lang="zh-CN" altLang="en-US" dirty="0"/>
              <a:t>文件采用特殊的格式，前五行内容如下。每行由用“</a:t>
            </a:r>
            <a:r>
              <a:rPr lang="en-US" altLang="zh-CN" dirty="0"/>
              <a:t>::”</a:t>
            </a:r>
            <a:r>
              <a:rPr lang="zh-CN" altLang="en-US" dirty="0"/>
              <a:t>分割开的三个数值组成，这三个数值表示用户</a:t>
            </a:r>
            <a:r>
              <a:rPr lang="en-US" altLang="zh-CN" dirty="0"/>
              <a:t>id</a:t>
            </a:r>
            <a:r>
              <a:rPr lang="zh-CN" altLang="en-US" dirty="0"/>
              <a:t>、电影</a:t>
            </a:r>
            <a:r>
              <a:rPr lang="en-US" altLang="zh-CN" dirty="0"/>
              <a:t>id</a:t>
            </a:r>
            <a:r>
              <a:rPr lang="zh-CN" altLang="en-US" dirty="0"/>
              <a:t>、以及评分。</a:t>
            </a:r>
          </a:p>
          <a:p>
            <a:r>
              <a:rPr lang="en-US" altLang="zh-CN" dirty="0"/>
              <a:t>0::2::3</a:t>
            </a:r>
          </a:p>
          <a:p>
            <a:r>
              <a:rPr lang="en-US" altLang="zh-CN" dirty="0"/>
              <a:t>0::3::1</a:t>
            </a:r>
          </a:p>
          <a:p>
            <a:r>
              <a:rPr lang="en-US" altLang="zh-CN" dirty="0"/>
              <a:t>0::5::2</a:t>
            </a:r>
          </a:p>
          <a:p>
            <a:r>
              <a:rPr lang="en-US" altLang="zh-CN" dirty="0"/>
              <a:t>0::9::4</a:t>
            </a:r>
          </a:p>
          <a:p>
            <a:r>
              <a:rPr lang="en-US" altLang="zh-CN" dirty="0"/>
              <a:t>0::11::1</a:t>
            </a:r>
          </a:p>
        </p:txBody>
      </p:sp>
    </p:spTree>
    <p:extLst>
      <p:ext uri="{BB962C8B-B14F-4D97-AF65-F5344CB8AC3E}">
        <p14:creationId xmlns:p14="http://schemas.microsoft.com/office/powerpoint/2010/main" val="38742204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75590"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数据文件处理</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870537"/>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lines =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spark.read.text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("file:///opt/linuxsir/spark/data/mllib/als/sample_movielens_ratings.txt").rdd</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parts =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lines.map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(lambda row: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row.value.split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ratingsRDD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parts.map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(lambda p: Row(</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userId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=int(p[0]),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movieId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=int(p[1]),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rating=float(p[2]), timestamp=long(p[3])))</a:t>
            </a:r>
            <a:endParaRPr lang="en-US" altLang="zh-CN" dirty="0"/>
          </a:p>
        </p:txBody>
      </p:sp>
      <p:sp>
        <p:nvSpPr>
          <p:cNvPr id="6" name="文本框 5">
            <a:extLst>
              <a:ext uri="{FF2B5EF4-FFF2-40B4-BE49-F238E27FC236}">
                <a16:creationId xmlns:a16="http://schemas.microsoft.com/office/drawing/2014/main" id="{9BFDE91C-F811-4CDE-98A6-89F83E3E3D25}"/>
              </a:ext>
            </a:extLst>
          </p:cNvPr>
          <p:cNvSpPr txBox="1"/>
          <p:nvPr/>
        </p:nvSpPr>
        <p:spPr>
          <a:xfrm>
            <a:off x="697356" y="4893438"/>
            <a:ext cx="7620000" cy="1477328"/>
          </a:xfrm>
          <a:prstGeom prst="rect">
            <a:avLst/>
          </a:prstGeom>
          <a:solidFill>
            <a:schemeClr val="bg1">
              <a:lumMod val="95000"/>
            </a:schemeClr>
          </a:solidFill>
          <a:ln>
            <a:solidFill>
              <a:schemeClr val="accent1"/>
            </a:solidFill>
          </a:ln>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对数据文件的处理过程是，读取</a:t>
            </a:r>
            <a:r>
              <a:rPr lang="en-US" altLang="zh-CN" sz="1800" dirty="0">
                <a:effectLst/>
                <a:latin typeface="Times New Roman" panose="02020603050405020304" pitchFamily="18" charset="0"/>
                <a:ea typeface="宋体" panose="02010600030101010101" pitchFamily="2" charset="-122"/>
              </a:rPr>
              <a:t>sample_movielens_ratings.txt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，形成内存</a:t>
            </a:r>
            <a:r>
              <a:rPr lang="en-US" altLang="zh-CN" sz="1800" dirty="0">
                <a:effectLst/>
                <a:latin typeface="Times New Roman" panose="02020603050405020304" pitchFamily="18" charset="0"/>
                <a:ea typeface="宋体" panose="02010600030101010101" pitchFamily="2" charset="-122"/>
              </a:rPr>
              <a:t>RDD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；然后用</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作为间隔符切割</a:t>
            </a:r>
            <a:r>
              <a:rPr lang="en-US" altLang="zh-CN" sz="1800" dirty="0">
                <a:effectLst/>
                <a:latin typeface="Times New Roman" panose="02020603050405020304" pitchFamily="18" charset="0"/>
                <a:ea typeface="宋体" panose="02010600030101010101" pitchFamily="2" charset="-122"/>
              </a:rPr>
              <a:t>RDD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的每一行；然后把每一行切割下来的第</a:t>
            </a:r>
            <a:r>
              <a:rPr lang="en-US" altLang="zh-CN" sz="1800" dirty="0">
                <a:effectLst/>
                <a:latin typeface="Times New Roman" panose="02020603050405020304" pitchFamily="18" charset="0"/>
                <a:ea typeface="宋体" panose="02010600030101010101" pitchFamily="2" charset="-122"/>
              </a:rPr>
              <a:t>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个、第</a:t>
            </a:r>
            <a:r>
              <a:rPr lang="en-US" altLang="zh-CN" sz="1800" dirty="0">
                <a:effectLst/>
                <a:latin typeface="Times New Roman" panose="02020603050405020304" pitchFamily="18" charset="0"/>
                <a:ea typeface="宋体" panose="02010600030101010101" pitchFamily="2" charset="-122"/>
              </a:rPr>
              <a:t>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个、第</a:t>
            </a:r>
            <a:r>
              <a:rPr lang="en-US" altLang="zh-CN" sz="1800" dirty="0">
                <a:effectLst/>
                <a:latin typeface="Times New Roman" panose="02020603050405020304" pitchFamily="18" charset="0"/>
                <a:ea typeface="宋体" panose="02010600030101010101" pitchFamily="2" charset="-122"/>
              </a:rPr>
              <a:t>3</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个、第</a:t>
            </a:r>
            <a:r>
              <a:rPr lang="en-US" altLang="zh-CN" sz="1800" dirty="0">
                <a:effectLst/>
                <a:latin typeface="Times New Roman" panose="02020603050405020304" pitchFamily="18" charset="0"/>
                <a:ea typeface="宋体" panose="02010600030101010101" pitchFamily="2" charset="-122"/>
              </a:rPr>
              <a:t>4</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个成分，分别解释为</a:t>
            </a:r>
            <a:r>
              <a:rPr lang="en-US" altLang="zh-CN" sz="1800" dirty="0">
                <a:effectLst/>
                <a:latin typeface="Times New Roman" panose="02020603050405020304" pitchFamily="18" charset="0"/>
                <a:ea typeface="宋体" panose="02010600030101010101" pitchFamily="2" charset="-122"/>
              </a:rPr>
              <a:t>int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int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float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long</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等类型，分别赋予</a:t>
            </a:r>
            <a:r>
              <a:rPr lang="en-US" altLang="zh-CN" sz="1800" dirty="0" err="1">
                <a:effectLst/>
                <a:latin typeface="Times New Roman" panose="02020603050405020304" pitchFamily="18" charset="0"/>
                <a:ea typeface="宋体" panose="02010600030101010101" pitchFamily="2" charset="-122"/>
              </a:rPr>
              <a:t>userId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rPr>
              <a:t>movieId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rating</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timestamp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，构造一个</a:t>
            </a:r>
            <a:r>
              <a:rPr lang="en-US" altLang="zh-CN" sz="1800" dirty="0">
                <a:effectLst/>
                <a:latin typeface="Times New Roman" panose="02020603050405020304" pitchFamily="18" charset="0"/>
                <a:ea typeface="宋体" panose="02010600030101010101" pitchFamily="2" charset="-122"/>
              </a:rPr>
              <a:t>Row</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对象，重新组织成一个新的</a:t>
            </a:r>
            <a:r>
              <a:rPr lang="en-US" altLang="zh-CN" sz="1800" dirty="0">
                <a:effectLst/>
                <a:latin typeface="Times New Roman" panose="02020603050405020304" pitchFamily="18" charset="0"/>
                <a:ea typeface="宋体" panose="02010600030101010101" pitchFamily="2" charset="-122"/>
              </a:rPr>
              <a:t>RDD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，即</a:t>
            </a:r>
            <a:r>
              <a:rPr lang="en-US" altLang="zh-CN" sz="1800" dirty="0" err="1">
                <a:effectLst/>
                <a:latin typeface="Times New Roman" panose="02020603050405020304" pitchFamily="18" charset="0"/>
                <a:ea typeface="宋体" panose="02010600030101010101" pitchFamily="2" charset="-122"/>
              </a:rPr>
              <a:t>ratingsRDD</a:t>
            </a:r>
            <a:endParaRPr lang="zh-CN" altLang="en-US" dirty="0"/>
          </a:p>
        </p:txBody>
      </p:sp>
    </p:spTree>
    <p:extLst>
      <p:ext uri="{BB962C8B-B14F-4D97-AF65-F5344CB8AC3E}">
        <p14:creationId xmlns:p14="http://schemas.microsoft.com/office/powerpoint/2010/main" val="41963632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训练集和测试集</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7291CDDC-85F7-47E1-AD5A-72B817694CA5}"/>
              </a:ext>
            </a:extLst>
          </p:cNvPr>
          <p:cNvSpPr txBox="1"/>
          <p:nvPr/>
        </p:nvSpPr>
        <p:spPr>
          <a:xfrm>
            <a:off x="762000" y="2870537"/>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RDD</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，并且进行训练集和测试集的划分。</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ratings =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spark.createDataFrame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ratingsRDD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(training, test) =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ratings.randomSplit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([0.8, 0.2])</a:t>
            </a:r>
          </a:p>
        </p:txBody>
      </p:sp>
    </p:spTree>
    <p:extLst>
      <p:ext uri="{BB962C8B-B14F-4D97-AF65-F5344CB8AC3E}">
        <p14:creationId xmlns:p14="http://schemas.microsoft.com/office/powerpoint/2010/main" val="2270358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8768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7559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1800" dirty="0">
                <a:effectLst/>
                <a:latin typeface="Times New Roman" panose="02020603050405020304" pitchFamily="18" charset="0"/>
                <a:ea typeface="宋体" panose="02010600030101010101" pitchFamily="2" charset="-122"/>
              </a:rPr>
              <a:t>ALS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模型，并进行训练。</a:t>
            </a:r>
            <a:r>
              <a:rPr lang="en-US" altLang="zh-CN" sz="1800" dirty="0">
                <a:effectLst/>
                <a:latin typeface="Times New Roman" panose="02020603050405020304" pitchFamily="18" charset="0"/>
                <a:ea typeface="宋体" panose="02010600030101010101" pitchFamily="2" charset="-122"/>
              </a:rPr>
              <a:t>ALS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模型的原理简述如下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559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交替最小二乘法</a:t>
            </a:r>
            <a:r>
              <a:rPr lang="en-US" altLang="zh-CN" sz="1800" dirty="0">
                <a:solidFill>
                  <a:srgbClr val="000000"/>
                </a:solidFill>
                <a:effectLst/>
                <a:latin typeface="Times New Roman" panose="02020603050405020304" pitchFamily="18" charset="0"/>
                <a:ea typeface="宋体" panose="02010600030101010101" pitchFamily="2" charset="-122"/>
              </a:rPr>
              <a:t>(ALS)</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是统计分析中常用的一种逼近计算的算法。</a:t>
            </a:r>
            <a:r>
              <a:rPr lang="en-US" altLang="zh-CN" sz="1800" dirty="0">
                <a:solidFill>
                  <a:srgbClr val="000000"/>
                </a:solidFill>
                <a:effectLst/>
                <a:latin typeface="Times New Roman" panose="02020603050405020304" pitchFamily="18" charset="0"/>
                <a:ea typeface="宋体" panose="02010600030101010101" pitchFamily="2" charset="-122"/>
              </a:rPr>
              <a:t>ALS</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的基础是最小二乘法</a:t>
            </a:r>
            <a:r>
              <a:rPr lang="en-US" altLang="zh-CN" sz="1800" dirty="0">
                <a:solidFill>
                  <a:srgbClr val="000000"/>
                </a:solidFill>
                <a:effectLst/>
                <a:latin typeface="Times New Roman" panose="02020603050405020304" pitchFamily="18" charset="0"/>
                <a:ea typeface="宋体" panose="02010600030101010101" pitchFamily="2" charset="-122"/>
              </a:rPr>
              <a:t>(LS</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1800" dirty="0">
                <a:solidFill>
                  <a:srgbClr val="000000"/>
                </a:solidFill>
                <a:effectLst/>
                <a:latin typeface="Times New Roman" panose="02020603050405020304" pitchFamily="18" charset="0"/>
                <a:ea typeface="宋体" panose="02010600030101010101" pitchFamily="2" charset="-122"/>
              </a:rPr>
              <a:t>)</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，这是一种常用的机器学习算法，通过最小化误差的平方和，寻找数据的最佳函数匹配</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52CD2572-2CBC-4B49-A008-36A5F6D5E5EC}"/>
              </a:ext>
            </a:extLst>
          </p:cNvPr>
          <p:cNvPicPr>
            <a:picLocks noChangeAspect="1"/>
          </p:cNvPicPr>
          <p:nvPr/>
        </p:nvPicPr>
        <p:blipFill>
          <a:blip r:embed="rId2"/>
          <a:stretch>
            <a:fillRect/>
          </a:stretch>
        </p:blipFill>
        <p:spPr>
          <a:xfrm>
            <a:off x="1524000" y="3352800"/>
            <a:ext cx="5791200" cy="3079048"/>
          </a:xfrm>
          <a:prstGeom prst="rect">
            <a:avLst/>
          </a:prstGeom>
        </p:spPr>
      </p:pic>
    </p:spTree>
    <p:extLst>
      <p:ext uri="{BB962C8B-B14F-4D97-AF65-F5344CB8AC3E}">
        <p14:creationId xmlns:p14="http://schemas.microsoft.com/office/powerpoint/2010/main" val="2888261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3657600"/>
          </a:xfrm>
        </p:spPr>
        <p:txBody>
          <a:bodyPr>
            <a:normAutofit fontScale="92500" lnSpcReduction="20000"/>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假设现有用户对电影的评分矩阵</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，里面有很多的空缺项，是个稀疏矩阵。</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可以把这个评分矩阵，分解成两个矩阵，两个矩阵都不是稀疏矩阵，即</a:t>
            </a:r>
            <a:r>
              <a:rPr lang="en-US" altLang="zh-CN" sz="1800" dirty="0">
                <a:solidFill>
                  <a:srgbClr val="000000"/>
                </a:solidFill>
                <a:effectLst/>
                <a:latin typeface="Times New Roman" panose="02020603050405020304" pitchFamily="18" charset="0"/>
                <a:ea typeface="宋体" panose="02010600030101010101" pitchFamily="2" charset="-122"/>
              </a:rPr>
              <a:t>U</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000000"/>
                </a:solidFill>
                <a:effectLst/>
                <a:latin typeface="Times New Roman" panose="02020603050405020304" pitchFamily="18" charset="0"/>
                <a:ea typeface="宋体" panose="02010600030101010101" pitchFamily="2" charset="-122"/>
              </a:rPr>
              <a:t>V</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rPr>
              <a:t>U</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是用户的特征矩阵，</a:t>
            </a:r>
            <a:r>
              <a:rPr lang="en-US" altLang="zh-CN" sz="1800" dirty="0">
                <a:solidFill>
                  <a:srgbClr val="000000"/>
                </a:solidFill>
                <a:effectLst/>
                <a:latin typeface="Times New Roman" panose="02020603050405020304" pitchFamily="18" charset="0"/>
                <a:ea typeface="宋体" panose="02010600030101010101" pitchFamily="2" charset="-122"/>
              </a:rPr>
              <a:t>V</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是电影的特征矩阵，</a:t>
            </a:r>
            <a:r>
              <a:rPr lang="en-US" altLang="zh-CN" sz="1800" dirty="0">
                <a:solidFill>
                  <a:srgbClr val="000000"/>
                </a:solidFill>
                <a:effectLst/>
                <a:latin typeface="Times New Roman" panose="02020603050405020304" pitchFamily="18" charset="0"/>
                <a:ea typeface="宋体" panose="02010600030101010101" pitchFamily="2" charset="-122"/>
              </a:rPr>
              <a:t>M = U</a:t>
            </a:r>
            <a:r>
              <a:rPr lang="en-US" altLang="zh-CN" sz="1800" baseline="30000" dirty="0">
                <a:solidFill>
                  <a:srgbClr val="000000"/>
                </a:solidFill>
                <a:effectLst/>
                <a:latin typeface="Times New Roman" panose="02020603050405020304" pitchFamily="18" charset="0"/>
                <a:ea typeface="宋体" panose="02010600030101010101" pitchFamily="2" charset="-122"/>
              </a:rPr>
              <a:t>T</a:t>
            </a:r>
            <a:r>
              <a:rPr lang="en-US" altLang="zh-CN" sz="1800" dirty="0">
                <a:solidFill>
                  <a:srgbClr val="000000"/>
                </a:solidFill>
                <a:effectLst/>
                <a:latin typeface="Times New Roman" panose="02020603050405020304" pitchFamily="18" charset="0"/>
                <a:ea typeface="宋体" panose="02010600030101010101" pitchFamily="2" charset="-122"/>
              </a:rPr>
              <a:t>V</a:t>
            </a: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利用</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ALS</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进行求解的过程中，先固定矩阵</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，求取</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，然后再固定矩阵</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，求取</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矩阵；这样交替迭代计算，直到误差达到一定的阀值，或者达到一定的迭代次数为止。</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求得</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之后，我们就可以进行推荐。</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基于用户的推荐：利用用户特征矩阵</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，就可以计算用户相似度。给用户</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进行推荐的时候，就可以利用它的</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个近邻。</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个近邻评价比较高</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看过觉得好</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的电影，可以给用户</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做推荐。</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rPr>
              <a:t>(2)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基于物品的推荐：假设用户</a:t>
            </a:r>
            <a:r>
              <a:rPr lang="en-US" altLang="zh-CN" sz="1800" dirty="0">
                <a:solidFill>
                  <a:srgbClr val="000000"/>
                </a:solidFill>
                <a:effectLst/>
                <a:latin typeface="Times New Roman" panose="02020603050405020304" pitchFamily="18" charset="0"/>
                <a:ea typeface="宋体" panose="02010600030101010101" pitchFamily="2" charset="-122"/>
              </a:rPr>
              <a:t>u</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看过电影</a:t>
            </a:r>
            <a:r>
              <a:rPr lang="en-US" altLang="zh-CN" sz="1800" dirty="0">
                <a:solidFill>
                  <a:srgbClr val="000000"/>
                </a:solidFill>
                <a:effectLst/>
                <a:latin typeface="Times New Roman" panose="02020603050405020304" pitchFamily="18" charset="0"/>
                <a:ea typeface="宋体" panose="02010600030101010101" pitchFamily="2" charset="-122"/>
              </a:rPr>
              <a:t>m1</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000000"/>
                </a:solidFill>
                <a:effectLst/>
                <a:latin typeface="Times New Roman" panose="02020603050405020304" pitchFamily="18" charset="0"/>
                <a:ea typeface="宋体" panose="02010600030101010101" pitchFamily="2" charset="-122"/>
              </a:rPr>
              <a:t>m2</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，评分比较高。我们就可以根据电影特征矩阵，找出和</a:t>
            </a:r>
            <a:r>
              <a:rPr lang="en-US" altLang="zh-CN" sz="1800" dirty="0">
                <a:solidFill>
                  <a:srgbClr val="000000"/>
                </a:solidFill>
                <a:effectLst/>
                <a:latin typeface="Times New Roman" panose="02020603050405020304" pitchFamily="18" charset="0"/>
                <a:ea typeface="宋体" panose="02010600030101010101" pitchFamily="2" charset="-122"/>
              </a:rPr>
              <a:t>m1</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0000"/>
                </a:solidFill>
                <a:effectLst/>
                <a:latin typeface="Times New Roman" panose="02020603050405020304" pitchFamily="18" charset="0"/>
                <a:ea typeface="宋体" panose="02010600030101010101" pitchFamily="2" charset="-122"/>
              </a:rPr>
              <a:t>m2</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相似的电影。利用用户对电影</a:t>
            </a:r>
            <a:r>
              <a:rPr lang="en-US" altLang="zh-CN" sz="1800" dirty="0">
                <a:solidFill>
                  <a:srgbClr val="000000"/>
                </a:solidFill>
                <a:effectLst/>
                <a:latin typeface="Times New Roman" panose="02020603050405020304" pitchFamily="18" charset="0"/>
                <a:ea typeface="宋体" panose="02010600030101010101" pitchFamily="2" charset="-122"/>
              </a:rPr>
              <a:t>m1</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000000"/>
                </a:solidFill>
                <a:effectLst/>
                <a:latin typeface="Times New Roman" panose="02020603050405020304" pitchFamily="18" charset="0"/>
                <a:ea typeface="宋体" panose="02010600030101010101" pitchFamily="2" charset="-122"/>
              </a:rPr>
              <a:t>m2</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的评分作为权重，适当对这些电影进行排序，推荐给用户</a:t>
            </a:r>
            <a:r>
              <a:rPr lang="en-US" altLang="zh-CN" sz="1800" dirty="0">
                <a:solidFill>
                  <a:srgbClr val="000000"/>
                </a:solidFill>
                <a:effectLst/>
                <a:latin typeface="Times New Roman" panose="02020603050405020304" pitchFamily="18" charset="0"/>
                <a:ea typeface="宋体" panose="02010600030101010101" pitchFamily="2" charset="-122"/>
              </a:rPr>
              <a:t>u</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330DE8B7-FA73-4188-A64C-BE5F42EF0D22}"/>
              </a:ext>
            </a:extLst>
          </p:cNvPr>
          <p:cNvPicPr>
            <a:picLocks noChangeAspect="1"/>
          </p:cNvPicPr>
          <p:nvPr/>
        </p:nvPicPr>
        <p:blipFill>
          <a:blip r:embed="rId2"/>
          <a:stretch>
            <a:fillRect/>
          </a:stretch>
        </p:blipFill>
        <p:spPr>
          <a:xfrm>
            <a:off x="1066800" y="5181600"/>
            <a:ext cx="7362825" cy="1500598"/>
          </a:xfrm>
          <a:prstGeom prst="rect">
            <a:avLst/>
          </a:prstGeom>
        </p:spPr>
      </p:pic>
    </p:spTree>
    <p:extLst>
      <p:ext uri="{BB962C8B-B14F-4D97-AF65-F5344CB8AC3E}">
        <p14:creationId xmlns:p14="http://schemas.microsoft.com/office/powerpoint/2010/main" val="3639452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32004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ALS model</a:t>
            </a: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可以把</a:t>
            </a:r>
            <a:r>
              <a:rPr lang="en-US" altLang="zh-CN" sz="1800" dirty="0">
                <a:effectLst/>
                <a:latin typeface="Times New Roman" panose="02020603050405020304" pitchFamily="18" charset="0"/>
                <a:ea typeface="宋体" panose="02010600030101010101" pitchFamily="2" charset="-122"/>
              </a:rPr>
              <a:t>ALS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模型的</a:t>
            </a:r>
            <a:r>
              <a:rPr lang="en-US" altLang="zh-CN" sz="1800" dirty="0" err="1">
                <a:effectLst/>
                <a:latin typeface="Times New Roman" panose="02020603050405020304" pitchFamily="18" charset="0"/>
                <a:ea typeface="宋体" panose="02010600030101010101" pitchFamily="2" charset="-122"/>
              </a:rPr>
              <a:t>coldStartStrategy</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设置为</a:t>
            </a:r>
            <a:r>
              <a:rPr lang="en-US" altLang="zh-CN" sz="1800" dirty="0">
                <a:effectLst/>
                <a:latin typeface="Times New Roman" panose="02020603050405020304" pitchFamily="18" charset="0"/>
                <a:ea typeface="宋体" panose="02010600030101010101" pitchFamily="2" charset="-122"/>
              </a:rPr>
              <a:t>drop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，以便保证不会得到</a:t>
            </a:r>
            <a:r>
              <a:rPr lang="en-US" altLang="zh-CN" sz="1800" dirty="0" err="1">
                <a:effectLst/>
                <a:latin typeface="Times New Roman" panose="02020603050405020304" pitchFamily="18" charset="0"/>
                <a:ea typeface="宋体" panose="02010600030101010101" pitchFamily="2" charset="-122"/>
              </a:rPr>
              <a:t>NaN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的分值</a:t>
            </a:r>
            <a:r>
              <a:rPr lang="en-US" altLang="zh-CN" sz="1800" dirty="0">
                <a:effectLst/>
                <a:latin typeface="Times New Roman" panose="02020603050405020304" pitchFamily="18" charset="0"/>
                <a:ea typeface="宋体" panose="02010600030101010101" pitchFamily="2" charset="-122"/>
              </a:rPr>
              <a:t>(Evaluation Metrics)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，即把代码改为</a:t>
            </a:r>
            <a:r>
              <a:rPr lang="en-US" altLang="zh-CN" sz="1800" dirty="0" err="1">
                <a:effectLst/>
                <a:latin typeface="Times New Roman" panose="02020603050405020304" pitchFamily="18" charset="0"/>
                <a:ea typeface="宋体" panose="02010600030101010101" pitchFamily="2" charset="-122"/>
              </a:rPr>
              <a:t>als</a:t>
            </a:r>
            <a:r>
              <a:rPr lang="en-US" altLang="zh-CN" sz="1800" dirty="0">
                <a:effectLst/>
                <a:latin typeface="Times New Roman" panose="02020603050405020304" pitchFamily="18" charset="0"/>
                <a:ea typeface="宋体" panose="02010600030101010101" pitchFamily="2" charset="-122"/>
              </a:rPr>
              <a:t> = ALS(</a:t>
            </a:r>
            <a:r>
              <a:rPr lang="en-US" altLang="zh-CN" sz="1800" dirty="0" err="1">
                <a:effectLst/>
                <a:latin typeface="Times New Roman" panose="02020603050405020304" pitchFamily="18" charset="0"/>
                <a:ea typeface="宋体" panose="02010600030101010101" pitchFamily="2" charset="-122"/>
              </a:rPr>
              <a:t>maxIter</a:t>
            </a:r>
            <a:r>
              <a:rPr lang="en-US" altLang="zh-CN" sz="1800" dirty="0">
                <a:effectLst/>
                <a:latin typeface="Times New Roman" panose="02020603050405020304" pitchFamily="18" charset="0"/>
                <a:ea typeface="宋体" panose="02010600030101010101" pitchFamily="2" charset="-122"/>
              </a:rPr>
              <a:t>=5, </a:t>
            </a:r>
            <a:r>
              <a:rPr lang="en-US" altLang="zh-CN" sz="1800" dirty="0" err="1">
                <a:effectLst/>
                <a:latin typeface="Times New Roman" panose="02020603050405020304" pitchFamily="18" charset="0"/>
                <a:ea typeface="宋体" panose="02010600030101010101" pitchFamily="2" charset="-122"/>
              </a:rPr>
              <a:t>regParam</a:t>
            </a:r>
            <a:r>
              <a:rPr lang="en-US" altLang="zh-CN" sz="1800" dirty="0">
                <a:effectLst/>
                <a:latin typeface="Times New Roman" panose="02020603050405020304" pitchFamily="18" charset="0"/>
                <a:ea typeface="宋体" panose="02010600030101010101" pitchFamily="2" charset="-122"/>
              </a:rPr>
              <a:t>=0.01, </a:t>
            </a:r>
            <a:r>
              <a:rPr lang="en-US" altLang="zh-CN" sz="1800" dirty="0" err="1">
                <a:effectLst/>
                <a:latin typeface="Times New Roman" panose="02020603050405020304" pitchFamily="18" charset="0"/>
                <a:ea typeface="宋体" panose="02010600030101010101" pitchFamily="2" charset="-122"/>
              </a:rPr>
              <a:t>userCol</a:t>
            </a:r>
            <a:r>
              <a:rPr lang="en-US" altLang="zh-CN" sz="1800" dirty="0">
                <a:effectLst/>
                <a:latin typeface="Times New Roman" panose="02020603050405020304" pitchFamily="18" charset="0"/>
                <a:ea typeface="宋体" panose="02010600030101010101" pitchFamily="2" charset="-122"/>
              </a:rPr>
              <a:t>="</a:t>
            </a:r>
            <a:r>
              <a:rPr lang="en-US" altLang="zh-CN" sz="1800" dirty="0" err="1">
                <a:effectLst/>
                <a:latin typeface="Times New Roman" panose="02020603050405020304" pitchFamily="18" charset="0"/>
                <a:ea typeface="宋体" panose="02010600030101010101" pitchFamily="2" charset="-122"/>
              </a:rPr>
              <a:t>userId</a:t>
            </a:r>
            <a:r>
              <a:rPr lang="en-US" altLang="zh-CN" sz="1800" dirty="0">
                <a:effectLst/>
                <a:latin typeface="Times New Roman" panose="02020603050405020304" pitchFamily="18" charset="0"/>
                <a:ea typeface="宋体" panose="02010600030101010101" pitchFamily="2" charset="-122"/>
              </a:rPr>
              <a:t>", </a:t>
            </a:r>
            <a:r>
              <a:rPr lang="en-US" altLang="zh-CN" sz="1800" dirty="0" err="1">
                <a:effectLst/>
                <a:latin typeface="Times New Roman" panose="02020603050405020304" pitchFamily="18" charset="0"/>
                <a:ea typeface="宋体" panose="02010600030101010101" pitchFamily="2" charset="-122"/>
              </a:rPr>
              <a:t>itemCol</a:t>
            </a:r>
            <a:r>
              <a:rPr lang="en-US" altLang="zh-CN" sz="1800" dirty="0">
                <a:effectLst/>
                <a:latin typeface="Times New Roman" panose="02020603050405020304" pitchFamily="18" charset="0"/>
                <a:ea typeface="宋体" panose="02010600030101010101" pitchFamily="2" charset="-122"/>
              </a:rPr>
              <a:t>="</a:t>
            </a:r>
            <a:r>
              <a:rPr lang="en-US" altLang="zh-CN" sz="1800" dirty="0" err="1">
                <a:effectLst/>
                <a:latin typeface="Times New Roman" panose="02020603050405020304" pitchFamily="18" charset="0"/>
                <a:ea typeface="宋体" panose="02010600030101010101" pitchFamily="2" charset="-122"/>
              </a:rPr>
              <a:t>movieId</a:t>
            </a:r>
            <a:r>
              <a:rPr lang="en-US" altLang="zh-CN" sz="1800" dirty="0">
                <a:effectLst/>
                <a:latin typeface="Times New Roman" panose="02020603050405020304" pitchFamily="18" charset="0"/>
                <a:ea typeface="宋体" panose="02010600030101010101" pitchFamily="2" charset="-122"/>
              </a:rPr>
              <a:t>", </a:t>
            </a:r>
            <a:r>
              <a:rPr lang="en-US" altLang="zh-CN" sz="1800" dirty="0" err="1">
                <a:effectLst/>
                <a:latin typeface="Times New Roman" panose="02020603050405020304" pitchFamily="18" charset="0"/>
                <a:ea typeface="宋体" panose="02010600030101010101" pitchFamily="2" charset="-122"/>
              </a:rPr>
              <a:t>ratingCol</a:t>
            </a:r>
            <a:r>
              <a:rPr lang="en-US" altLang="zh-CN" sz="1800" dirty="0">
                <a:effectLst/>
                <a:latin typeface="Times New Roman" panose="02020603050405020304" pitchFamily="18" charset="0"/>
                <a:ea typeface="宋体" panose="02010600030101010101" pitchFamily="2" charset="-122"/>
              </a:rPr>
              <a:t>="rating", </a:t>
            </a:r>
            <a:r>
              <a:rPr lang="en-US" altLang="zh-CN" sz="1800" dirty="0" err="1">
                <a:effectLst/>
                <a:latin typeface="Times New Roman" panose="02020603050405020304" pitchFamily="18" charset="0"/>
                <a:ea typeface="宋体" panose="02010600030101010101" pitchFamily="2" charset="-122"/>
              </a:rPr>
              <a:t>coldStartStrategy</a:t>
            </a:r>
            <a:r>
              <a:rPr lang="en-US" altLang="zh-CN" sz="1800" dirty="0">
                <a:effectLst/>
                <a:latin typeface="Times New Roman" panose="02020603050405020304" pitchFamily="18" charset="0"/>
                <a:ea typeface="宋体" panose="02010600030101010101" pitchFamily="2" charset="-122"/>
              </a:rPr>
              <a:t>="drop")</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9F11F81-B532-41E0-BF71-7E3751FF58C9}"/>
              </a:ext>
            </a:extLst>
          </p:cNvPr>
          <p:cNvSpPr txBox="1"/>
          <p:nvPr/>
        </p:nvSpPr>
        <p:spPr>
          <a:xfrm>
            <a:off x="800100" y="3962400"/>
            <a:ext cx="7620000" cy="1200329"/>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Build the recommendation model using ALS on the training data</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als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 ALS(</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maxIter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=5,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regParam</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=0.01,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userCol</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userId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itemCol</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movieId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ratingCol</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="rating")</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model =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als.fit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(training)</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69796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32004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预测</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9F11F81-B532-41E0-BF71-7E3751FF58C9}"/>
              </a:ext>
            </a:extLst>
          </p:cNvPr>
          <p:cNvSpPr txBox="1"/>
          <p:nvPr/>
        </p:nvSpPr>
        <p:spPr>
          <a:xfrm>
            <a:off x="762000" y="3074075"/>
            <a:ext cx="7620000" cy="2031325"/>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用测试集进行预测，评价指标是</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RMSE</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Evaluate the model by computing the RMSE on the test data</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predictions =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model.transform</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(test)</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evaluator =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RegressionEvaluator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metricName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rmse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labelCol</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="rating",</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predictionCol</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="prediction")</a:t>
            </a: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rmse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evaluator.evaluate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(predictions)</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print("Root-mean-square error = " + str(</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rmse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42949654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32004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预测</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9F11F81-B532-41E0-BF71-7E3751FF58C9}"/>
              </a:ext>
            </a:extLst>
          </p:cNvPr>
          <p:cNvSpPr txBox="1"/>
          <p:nvPr/>
        </p:nvSpPr>
        <p:spPr>
          <a:xfrm>
            <a:off x="762000" y="2478375"/>
            <a:ext cx="7620000" cy="4339650"/>
          </a:xfrm>
          <a:prstGeom prst="rect">
            <a:avLst/>
          </a:prstGeom>
          <a:solidFill>
            <a:schemeClr val="bg1">
              <a:lumMod val="95000"/>
            </a:schemeClr>
          </a:solidFill>
          <a:ln>
            <a:solidFill>
              <a:schemeClr val="accent1"/>
            </a:solidFill>
          </a:ln>
        </p:spPr>
        <p:txBody>
          <a:bodyPr wrap="square">
            <a:spAutoFit/>
          </a:bodyPr>
          <a:lstStyle/>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200" dirty="0">
                <a:effectLst/>
                <a:latin typeface="Times New Roman" panose="02020603050405020304" pitchFamily="18" charset="0"/>
                <a:ea typeface="宋体" panose="02010600030101010101" pitchFamily="2" charset="-122"/>
                <a:cs typeface="Times New Roman" panose="02020603050405020304" pitchFamily="18" charset="0"/>
              </a:rPr>
              <a:t>如下代码显示</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30</a:t>
            </a:r>
            <a:r>
              <a:rPr lang="zh-CN" altLang="en-US" sz="1200" dirty="0">
                <a:effectLst/>
                <a:latin typeface="Times New Roman" panose="02020603050405020304" pitchFamily="18" charset="0"/>
                <a:ea typeface="宋体" panose="02010600030101010101" pitchFamily="2" charset="-122"/>
                <a:cs typeface="Times New Roman" panose="02020603050405020304" pitchFamily="18" charset="0"/>
              </a:rPr>
              <a:t>部</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Id</a:t>
            </a:r>
            <a:r>
              <a:rPr lang="zh-CN" altLang="en-US" sz="12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28</a:t>
            </a:r>
            <a:r>
              <a:rPr lang="zh-CN" altLang="en-US" sz="1200" dirty="0">
                <a:effectLst/>
                <a:latin typeface="Times New Roman" panose="02020603050405020304" pitchFamily="18" charset="0"/>
                <a:ea typeface="宋体" panose="02010600030101010101" pitchFamily="2" charset="-122"/>
                <a:cs typeface="Times New Roman" panose="02020603050405020304" pitchFamily="18" charset="0"/>
              </a:rPr>
              <a:t>的用户预测评分高的电影。</a:t>
            </a: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predict</a:t>
            </a: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predictions =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model.transform</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(test)</a:t>
            </a:r>
          </a:p>
          <a:p>
            <a:endPar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select some columns</a:t>
            </a: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predictions.select</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userId</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movieId</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rating","prediction</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sub_predict.show</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(30)</a:t>
            </a:r>
          </a:p>
          <a:p>
            <a:endPar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select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userId</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 28</a:t>
            </a: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userId</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isin</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([28])]</a:t>
            </a: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sub_predict.show</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(30)</a:t>
            </a:r>
          </a:p>
          <a:p>
            <a:endPar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sort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asc</a:t>
            </a:r>
            <a:endPar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sub_predict.orderBy</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("prediction")</a:t>
            </a: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sub_predict.show</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(30)</a:t>
            </a:r>
          </a:p>
          <a:p>
            <a:endPar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sort desc</a:t>
            </a: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from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pyspark.sql.functions</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import desc</a:t>
            </a: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sub_predict.orderBy</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(desc("prediction"))</a:t>
            </a: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sub_predict.show</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(30)</a:t>
            </a:r>
          </a:p>
          <a:p>
            <a:endPar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200" dirty="0">
                <a:effectLst/>
                <a:latin typeface="Times New Roman" panose="02020603050405020304" pitchFamily="18" charset="0"/>
                <a:ea typeface="宋体" panose="02010600030101010101" pitchFamily="2" charset="-122"/>
                <a:cs typeface="Times New Roman" panose="02020603050405020304" pitchFamily="18" charset="0"/>
              </a:rPr>
              <a:t>停止</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SparkSession</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2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spark.stop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18423525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32004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预测</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9F11F81-B532-41E0-BF71-7E3751FF58C9}"/>
              </a:ext>
            </a:extLst>
          </p:cNvPr>
          <p:cNvSpPr txBox="1"/>
          <p:nvPr/>
        </p:nvSpPr>
        <p:spPr>
          <a:xfrm>
            <a:off x="838200" y="2518350"/>
            <a:ext cx="7620000" cy="1815882"/>
          </a:xfrm>
          <a:prstGeom prst="rect">
            <a:avLst/>
          </a:prstGeom>
          <a:solidFill>
            <a:schemeClr val="bg1">
              <a:lumMod val="95000"/>
            </a:schemeClr>
          </a:solidFill>
          <a:ln>
            <a:solidFill>
              <a:schemeClr val="accent1"/>
            </a:solidFill>
          </a:ln>
        </p:spPr>
        <p:txBody>
          <a:bodyPr wrap="square">
            <a:spAutoFit/>
          </a:bodyPr>
          <a:lstStyle/>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如下的代码，为每个用户各推荐</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部电影，并且为每部电影各推荐</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个用户。</a:t>
            </a:r>
          </a:p>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备注：</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Spark2.2.0 </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以上版本才支持如下接口。</a:t>
            </a:r>
          </a:p>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Generate top 10 movie recommendations for each user</a:t>
            </a:r>
          </a:p>
          <a:p>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userRecs</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model.recommendForAllUsers</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(10)</a:t>
            </a:r>
          </a:p>
          <a:p>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Generate top 10 user recommendations for each movie</a:t>
            </a:r>
          </a:p>
          <a:p>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movieRecs</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model.recommendForAllItems</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(10)</a:t>
            </a:r>
          </a:p>
        </p:txBody>
      </p:sp>
    </p:spTree>
    <p:extLst>
      <p:ext uri="{BB962C8B-B14F-4D97-AF65-F5344CB8AC3E}">
        <p14:creationId xmlns:p14="http://schemas.microsoft.com/office/powerpoint/2010/main" val="41276277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32004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75590" algn="just"/>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实例</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：协同过滤推荐</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预测</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9F11F81-B532-41E0-BF71-7E3751FF58C9}"/>
              </a:ext>
            </a:extLst>
          </p:cNvPr>
          <p:cNvSpPr txBox="1"/>
          <p:nvPr/>
        </p:nvSpPr>
        <p:spPr>
          <a:xfrm>
            <a:off x="838200" y="2518350"/>
            <a:ext cx="7620000" cy="2308324"/>
          </a:xfrm>
          <a:prstGeom prst="rect">
            <a:avLst/>
          </a:prstGeom>
          <a:solidFill>
            <a:schemeClr val="bg1">
              <a:lumMod val="95000"/>
            </a:schemeClr>
          </a:solidFill>
          <a:ln>
            <a:solidFill>
              <a:schemeClr val="accent1"/>
            </a:solidFill>
          </a:ln>
        </p:spPr>
        <p:txBody>
          <a:bodyPr wrap="square">
            <a:spAutoFit/>
          </a:bodyPr>
          <a:lstStyle/>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如下的代码，为特定用户各推荐</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部电影，并且为特定电影各推荐</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个用户。</a:t>
            </a:r>
          </a:p>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备注：</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Spark2.2.0</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以上版本才支持如下接口。</a:t>
            </a:r>
          </a:p>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Generate top 10 movie recommendations for a specified set of users</a:t>
            </a:r>
          </a:p>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users = </a:t>
            </a:r>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ratings.select</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als.getUserCol</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()).distinct().limit(3)</a:t>
            </a:r>
          </a:p>
          <a:p>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userSubsetRecs</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model.recommendForUserSubset</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(users, 10)</a:t>
            </a:r>
          </a:p>
          <a:p>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Generate top 10 user recommendations for a specified set of movies</a:t>
            </a:r>
          </a:p>
          <a:p>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movies = </a:t>
            </a:r>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ratings.select</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als.getItemCol</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()).distinct().limit(3)</a:t>
            </a:r>
          </a:p>
          <a:p>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movieSubSetRecs</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600" dirty="0" err="1">
                <a:effectLst/>
                <a:latin typeface="Times New Roman" panose="02020603050405020304" pitchFamily="18" charset="0"/>
                <a:ea typeface="宋体" panose="02010600030101010101" pitchFamily="2" charset="-122"/>
                <a:cs typeface="Times New Roman" panose="02020603050405020304" pitchFamily="18" charset="0"/>
              </a:rPr>
              <a:t>model.recommendForItemSubset</a:t>
            </a:r>
            <a:r>
              <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rPr>
              <a:t>(movies, 10)</a:t>
            </a:r>
          </a:p>
        </p:txBody>
      </p:sp>
    </p:spTree>
    <p:extLst>
      <p:ext uri="{BB962C8B-B14F-4D97-AF65-F5344CB8AC3E}">
        <p14:creationId xmlns:p14="http://schemas.microsoft.com/office/powerpoint/2010/main" val="1371454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3991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为了运行本章介绍的机器学习实例，需要把相关的大数据平台软件启动起来。</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具体来讲，需要启动</a:t>
            </a:r>
            <a:r>
              <a:rPr lang="en-US" altLang="zh-CN" sz="1800" dirty="0">
                <a:effectLst/>
                <a:latin typeface="Times New Roman" panose="02020603050405020304" pitchFamily="18" charset="0"/>
                <a:ea typeface="宋体" panose="02010600030101010101" pitchFamily="2" charset="-122"/>
              </a:rPr>
              <a:t>HDFS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YARN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Hive </a:t>
            </a:r>
            <a:r>
              <a:rPr lang="en-US" altLang="zh-CN" sz="1800" dirty="0" err="1">
                <a:effectLst/>
                <a:latin typeface="Times New Roman" panose="02020603050405020304" pitchFamily="18" charset="0"/>
                <a:ea typeface="宋体" panose="02010600030101010101" pitchFamily="2" charset="-122"/>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、以及</a:t>
            </a:r>
            <a:r>
              <a:rPr lang="en-US" altLang="zh-CN" sz="1800" dirty="0">
                <a:effectLst/>
                <a:latin typeface="Times New Roman" panose="02020603050405020304" pitchFamily="18" charset="0"/>
                <a:ea typeface="宋体" panose="02010600030101010101" pitchFamily="2" charset="-122"/>
              </a:rPr>
              <a:t>Spark</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275D42C8-5AFD-49C9-AFBE-9CBBA55BBF99}"/>
              </a:ext>
            </a:extLst>
          </p:cNvPr>
          <p:cNvSpPr txBox="1"/>
          <p:nvPr/>
        </p:nvSpPr>
        <p:spPr>
          <a:xfrm>
            <a:off x="838200" y="2895600"/>
            <a:ext cx="7315200" cy="3693319"/>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rm -rf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/logs/*.*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root@192.168.31.130 rm -rf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/logs/*.*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root@192.168.31.131 rm -rf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/logs/*.*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clear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sbin</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./start-dfs.sh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./start-yarn.sh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clear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root@192.168.31.130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root@192.168.31.131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753350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为了运行本章介绍的机器学习实例，需要把相关的大数据平台软件启动起来。</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具体来讲，需要启动</a:t>
            </a:r>
            <a:r>
              <a:rPr lang="en-US" altLang="zh-CN" sz="1800" dirty="0">
                <a:effectLst/>
                <a:latin typeface="Times New Roman" panose="02020603050405020304" pitchFamily="18" charset="0"/>
                <a:ea typeface="宋体" panose="02010600030101010101" pitchFamily="2" charset="-122"/>
              </a:rPr>
              <a:t>HDFS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YARN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Hive </a:t>
            </a:r>
            <a:r>
              <a:rPr lang="en-US" altLang="zh-CN" sz="1800" dirty="0" err="1">
                <a:effectLst/>
                <a:latin typeface="Times New Roman" panose="02020603050405020304" pitchFamily="18" charset="0"/>
                <a:ea typeface="宋体" panose="02010600030101010101" pitchFamily="2" charset="-122"/>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、以及</a:t>
            </a:r>
            <a:r>
              <a:rPr lang="en-US" altLang="zh-CN" sz="1800" dirty="0">
                <a:effectLst/>
                <a:latin typeface="Times New Roman" panose="02020603050405020304" pitchFamily="18" charset="0"/>
                <a:ea typeface="宋体" panose="02010600030101010101" pitchFamily="2" charset="-122"/>
              </a:rPr>
              <a:t>Spark</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275D42C8-5AFD-49C9-AFBE-9CBBA55BBF99}"/>
              </a:ext>
            </a:extLst>
          </p:cNvPr>
          <p:cNvSpPr txBox="1"/>
          <p:nvPr/>
        </p:nvSpPr>
        <p:spPr>
          <a:xfrm>
            <a:off x="838200" y="2895600"/>
            <a:ext cx="7315200" cy="2031325"/>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/hive</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./bin/hive --service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-p 19083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lanp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 grep 19083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确认</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已经在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19083</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端口监听</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778071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为了运行本章介绍的机器学习实例，需要把相关的大数据平台软件启动起来。</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具体来讲，需要启动</a:t>
            </a:r>
            <a:r>
              <a:rPr lang="en-US" altLang="zh-CN" sz="1800" dirty="0">
                <a:effectLst/>
                <a:latin typeface="Times New Roman" panose="02020603050405020304" pitchFamily="18" charset="0"/>
                <a:ea typeface="宋体" panose="02010600030101010101" pitchFamily="2" charset="-122"/>
              </a:rPr>
              <a:t>HDFS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YARN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Hive </a:t>
            </a:r>
            <a:r>
              <a:rPr lang="en-US" altLang="zh-CN" sz="1800" dirty="0" err="1">
                <a:effectLst/>
                <a:latin typeface="Times New Roman" panose="02020603050405020304" pitchFamily="18" charset="0"/>
                <a:ea typeface="宋体" panose="02010600030101010101" pitchFamily="2" charset="-122"/>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、以及</a:t>
            </a:r>
            <a:r>
              <a:rPr lang="en-US" altLang="zh-CN" sz="1800" dirty="0">
                <a:effectLst/>
                <a:latin typeface="Times New Roman" panose="02020603050405020304" pitchFamily="18" charset="0"/>
                <a:ea typeface="宋体" panose="02010600030101010101" pitchFamily="2" charset="-122"/>
              </a:rPr>
              <a:t>Spark</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275D42C8-5AFD-49C9-AFBE-9CBBA55BBF99}"/>
              </a:ext>
            </a:extLst>
          </p:cNvPr>
          <p:cNvSpPr txBox="1"/>
          <p:nvPr/>
        </p:nvSpPr>
        <p:spPr>
          <a:xfrm>
            <a:off x="838200" y="2895600"/>
            <a:ext cx="7315200" cy="2031325"/>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/spark</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./sbin/start-all.sh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root@192.168.31.130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rPr>
              <a:t>ssh</a:t>
            </a:r>
            <a:r>
              <a:rPr lang="en-US" altLang="zh-CN" sz="1800" dirty="0">
                <a:effectLst/>
                <a:latin typeface="Times New Roman" panose="02020603050405020304" pitchFamily="18" charset="0"/>
                <a:ea typeface="宋体" panose="02010600030101010101" pitchFamily="2" charset="-122"/>
              </a:rPr>
              <a:t> root@192.168.31.131 </a:t>
            </a:r>
            <a:r>
              <a:rPr lang="en-US" altLang="zh-CN" sz="1800" dirty="0" err="1">
                <a:effectLst/>
                <a:latin typeface="Times New Roman" panose="02020603050405020304" pitchFamily="18" charset="0"/>
                <a:ea typeface="宋体" panose="02010600030101010101" pitchFamily="2" charset="-122"/>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943880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启动完成后，需要运行</a:t>
            </a:r>
            <a:r>
              <a:rPr lang="en-US" altLang="zh-CN" sz="1800" dirty="0" err="1">
                <a:effectLst/>
                <a:latin typeface="Times New Roman" panose="02020603050405020304" pitchFamily="18" charset="0"/>
                <a:ea typeface="宋体" panose="02010600030101010101" pitchFamily="2" charset="-122"/>
              </a:rPr>
              <a:t>pyspark</a:t>
            </a:r>
            <a:endParaRPr lang="en-US" altLang="zh-CN" sz="1800" dirty="0">
              <a:effectLst/>
              <a:latin typeface="Times New Roman" panose="02020603050405020304" pitchFamily="18" charset="0"/>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以便运行分类、聚类、线性回归和协同过滤等机器学习实例，这些实例用</a:t>
            </a:r>
            <a:r>
              <a:rPr lang="en-US" altLang="zh-CN" sz="1800" dirty="0">
                <a:effectLst/>
                <a:latin typeface="Times New Roman" panose="02020603050405020304" pitchFamily="18" charset="0"/>
                <a:ea typeface="宋体" panose="02010600030101010101" pitchFamily="2" charset="-122"/>
              </a:rPr>
              <a:t>Python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语言来编写</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275D42C8-5AFD-49C9-AFBE-9CBBA55BBF99}"/>
              </a:ext>
            </a:extLst>
          </p:cNvPr>
          <p:cNvSpPr txBox="1"/>
          <p:nvPr/>
        </p:nvSpPr>
        <p:spPr>
          <a:xfrm>
            <a:off x="838200" y="2895600"/>
            <a:ext cx="7315200" cy="1200329"/>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/spark</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MASTER=spark://hd-master:17077 ./bin/</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pyspark</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退出用</a:t>
            </a:r>
            <a:r>
              <a:rPr lang="en-US" altLang="zh-CN" sz="1800" dirty="0">
                <a:effectLst/>
                <a:latin typeface="Times New Roman" panose="02020603050405020304" pitchFamily="18" charset="0"/>
                <a:ea typeface="宋体" panose="02010600030101010101" pitchFamily="2" charset="-122"/>
              </a:rPr>
              <a:t>quit()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015977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Spark </a:t>
            </a:r>
            <a:r>
              <a:rPr lang="en-US" altLang="zh-CN" sz="1800" dirty="0" err="1">
                <a:effectLst/>
                <a:latin typeface="微软雅黑" panose="020B0503020204020204" pitchFamily="34" charset="-122"/>
                <a:ea typeface="宋体" panose="02010600030101010101" pitchFamily="2" charset="-122"/>
              </a:rPr>
              <a:t>MLLib</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完成机器学习实例的实验后，按照相反顺序，停止上述软件</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Spark </a:t>
            </a:r>
            <a:r>
              <a:rPr lang="en-US" altLang="zh-CN" sz="3200" dirty="0" err="1">
                <a:effectLst/>
                <a:latin typeface="微软雅黑" panose="020B0503020204020204" pitchFamily="34" charset="-122"/>
                <a:ea typeface="宋体" panose="02010600030101010101" pitchFamily="2" charset="-122"/>
              </a:rPr>
              <a:t>MLLib</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275D42C8-5AFD-49C9-AFBE-9CBBA55BBF99}"/>
              </a:ext>
            </a:extLst>
          </p:cNvPr>
          <p:cNvSpPr txBox="1"/>
          <p:nvPr/>
        </p:nvSpPr>
        <p:spPr>
          <a:xfrm>
            <a:off x="838200" y="2743200"/>
            <a:ext cx="7315200" cy="3693319"/>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/spark</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./sbin/stop-all.sh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lanp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 grep 19083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kill -9 16336 \\16336</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进程号</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sbin</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./stop-yarn.sh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./stop-dfs.sh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root@192.168.31.130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rPr>
              <a:t>ssh</a:t>
            </a:r>
            <a:r>
              <a:rPr lang="en-US" altLang="zh-CN" sz="1800" dirty="0">
                <a:effectLst/>
                <a:latin typeface="Times New Roman" panose="02020603050405020304" pitchFamily="18" charset="0"/>
                <a:ea typeface="宋体" panose="02010600030101010101" pitchFamily="2" charset="-122"/>
              </a:rPr>
              <a:t> root@192.168.31.131 </a:t>
            </a:r>
            <a:r>
              <a:rPr lang="en-US" altLang="zh-CN" sz="1800" dirty="0" err="1">
                <a:effectLst/>
                <a:latin typeface="Times New Roman" panose="02020603050405020304" pitchFamily="18" charset="0"/>
                <a:ea typeface="宋体" panose="02010600030101010101" pitchFamily="2" charset="-122"/>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641122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14055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Dragon">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Dragon">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ragon">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3253</TotalTime>
  <Words>4873</Words>
  <Application>Microsoft Office PowerPoint</Application>
  <PresentationFormat>全屏显示(4:3)</PresentationFormat>
  <Paragraphs>520</Paragraphs>
  <Slides>55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55</vt:i4>
      </vt:variant>
    </vt:vector>
  </HeadingPairs>
  <TitlesOfParts>
    <vt:vector size="68" baseType="lpstr">
      <vt:lpstr>华文楷体</vt:lpstr>
      <vt:lpstr>隶书</vt:lpstr>
      <vt:lpstr>宋体</vt:lpstr>
      <vt:lpstr>微软雅黑</vt:lpstr>
      <vt:lpstr>Arial</vt:lpstr>
      <vt:lpstr>Calibri</vt:lpstr>
      <vt:lpstr>Cambria</vt:lpstr>
      <vt:lpstr>Cambria Math</vt:lpstr>
      <vt:lpstr>Maiandra GD</vt:lpstr>
      <vt:lpstr>Times New Roman</vt:lpstr>
      <vt:lpstr>Wingdings 2</vt:lpstr>
      <vt:lpstr>Wingdings 3</vt:lpstr>
      <vt:lpstr>Dragon</vt:lpstr>
      <vt:lpstr>Hadoop与Spark</vt:lpstr>
      <vt:lpstr>Spark MLLib</vt:lpstr>
      <vt:lpstr>Spark MLLib</vt:lpstr>
      <vt:lpstr>Spark MLLib</vt:lpstr>
      <vt:lpstr>pause</vt:lpstr>
      <vt:lpstr>Spark MLLib</vt:lpstr>
      <vt:lpstr>Spark MLLib</vt:lpstr>
      <vt:lpstr>Spark MLLib</vt:lpstr>
      <vt:lpstr>Spark MLLib</vt:lpstr>
      <vt:lpstr>Spark MLLib</vt:lpstr>
      <vt:lpstr>Spark MLLib</vt:lpstr>
      <vt:lpstr>Spark MLLib</vt:lpstr>
      <vt:lpstr>Spark MLLib</vt:lpstr>
      <vt:lpstr>pause</vt:lpstr>
      <vt:lpstr>Spark MLLib</vt:lpstr>
      <vt:lpstr>Spark MLLib</vt:lpstr>
      <vt:lpstr>Spark MLLib</vt:lpstr>
      <vt:lpstr>Spark MLLib</vt:lpstr>
      <vt:lpstr>Spark MLLib</vt:lpstr>
      <vt:lpstr>Spark MLLib</vt:lpstr>
      <vt:lpstr>Spark MLLib</vt:lpstr>
      <vt:lpstr>Spark MLLib</vt:lpstr>
      <vt:lpstr>pause</vt:lpstr>
      <vt:lpstr>Spark MLLib</vt:lpstr>
      <vt:lpstr>Spark MLLib</vt:lpstr>
      <vt:lpstr>Spark MLLib</vt:lpstr>
      <vt:lpstr>Spark MLLib</vt:lpstr>
      <vt:lpstr>Spark MLLib</vt:lpstr>
      <vt:lpstr>Spark MLLib</vt:lpstr>
      <vt:lpstr>pause</vt:lpstr>
      <vt:lpstr>Spark MLLib</vt:lpstr>
      <vt:lpstr>Spark MLLib</vt:lpstr>
      <vt:lpstr>Spark MLLib</vt:lpstr>
      <vt:lpstr>Spark MLLib</vt:lpstr>
      <vt:lpstr>Spark MLLib</vt:lpstr>
      <vt:lpstr>Spark MLLib</vt:lpstr>
      <vt:lpstr>pause</vt:lpstr>
      <vt:lpstr>Spark MLLib</vt:lpstr>
      <vt:lpstr>Spark MLLib</vt:lpstr>
      <vt:lpstr>Spark MLLib</vt:lpstr>
      <vt:lpstr>Spark MLLib</vt:lpstr>
      <vt:lpstr>Spark MLLib</vt:lpstr>
      <vt:lpstr>Spark MLLib</vt:lpstr>
      <vt:lpstr>Spark MLLib</vt:lpstr>
      <vt:lpstr>Spark MLLib</vt:lpstr>
      <vt:lpstr>Spark MLLib</vt:lpstr>
      <vt:lpstr>Spark MLLib</vt:lpstr>
      <vt:lpstr>Spark MLLib</vt:lpstr>
      <vt:lpstr>pause</vt:lpstr>
      <vt:lpstr>Spark MLLib</vt:lpstr>
      <vt:lpstr>Spark MLLib</vt:lpstr>
      <vt:lpstr>Spark MLLib</vt:lpstr>
      <vt:lpstr>Spark MLLib</vt:lpstr>
      <vt:lpstr>Spark MLLib</vt:lpstr>
      <vt:lpstr>pause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Pebble</dc:creator>
  <cp:lastModifiedBy>雄派 覃</cp:lastModifiedBy>
  <cp:revision>819</cp:revision>
  <dcterms:created xsi:type="dcterms:W3CDTF">2006-08-16T00:00:00Z</dcterms:created>
  <dcterms:modified xsi:type="dcterms:W3CDTF">2023-05-05T12:10:55Z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