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0"/>
  </p:notesMasterIdLst>
  <p:sldIdLst>
    <p:sldId id="610" r:id="rId2"/>
    <p:sldId id="615" r:id="rId3"/>
    <p:sldId id="616" r:id="rId4"/>
    <p:sldId id="611" r:id="rId5"/>
    <p:sldId id="692" r:id="rId6"/>
    <p:sldId id="285" r:id="rId7"/>
    <p:sldId id="612" r:id="rId8"/>
    <p:sldId id="613" r:id="rId9"/>
    <p:sldId id="614" r:id="rId10"/>
    <p:sldId id="617" r:id="rId11"/>
    <p:sldId id="618" r:id="rId12"/>
    <p:sldId id="619" r:id="rId13"/>
    <p:sldId id="693" r:id="rId14"/>
    <p:sldId id="620" r:id="rId15"/>
    <p:sldId id="621" r:id="rId16"/>
    <p:sldId id="622" r:id="rId17"/>
    <p:sldId id="623" r:id="rId18"/>
    <p:sldId id="624" r:id="rId19"/>
    <p:sldId id="625" r:id="rId20"/>
    <p:sldId id="626" r:id="rId21"/>
    <p:sldId id="627" r:id="rId22"/>
    <p:sldId id="694" r:id="rId23"/>
    <p:sldId id="628" r:id="rId24"/>
    <p:sldId id="629" r:id="rId25"/>
    <p:sldId id="630" r:id="rId26"/>
    <p:sldId id="631" r:id="rId27"/>
    <p:sldId id="632" r:id="rId28"/>
    <p:sldId id="633" r:id="rId29"/>
    <p:sldId id="634" r:id="rId30"/>
    <p:sldId id="635" r:id="rId31"/>
    <p:sldId id="636" r:id="rId32"/>
    <p:sldId id="637" r:id="rId33"/>
    <p:sldId id="638" r:id="rId34"/>
    <p:sldId id="639" r:id="rId35"/>
    <p:sldId id="640" r:id="rId36"/>
    <p:sldId id="641" r:id="rId37"/>
    <p:sldId id="642" r:id="rId38"/>
    <p:sldId id="643" r:id="rId39"/>
    <p:sldId id="695" r:id="rId40"/>
    <p:sldId id="644" r:id="rId41"/>
    <p:sldId id="645" r:id="rId42"/>
    <p:sldId id="646" r:id="rId43"/>
    <p:sldId id="647" r:id="rId44"/>
    <p:sldId id="648" r:id="rId45"/>
    <p:sldId id="649" r:id="rId46"/>
    <p:sldId id="650" r:id="rId47"/>
    <p:sldId id="651" r:id="rId48"/>
    <p:sldId id="652" r:id="rId49"/>
    <p:sldId id="696" r:id="rId50"/>
    <p:sldId id="653" r:id="rId51"/>
    <p:sldId id="654" r:id="rId52"/>
    <p:sldId id="697" r:id="rId53"/>
    <p:sldId id="655" r:id="rId54"/>
    <p:sldId id="656" r:id="rId55"/>
    <p:sldId id="657" r:id="rId56"/>
    <p:sldId id="658" r:id="rId57"/>
    <p:sldId id="698" r:id="rId58"/>
    <p:sldId id="659" r:id="rId59"/>
    <p:sldId id="660" r:id="rId60"/>
    <p:sldId id="661" r:id="rId61"/>
    <p:sldId id="662" r:id="rId62"/>
    <p:sldId id="663" r:id="rId63"/>
    <p:sldId id="664" r:id="rId64"/>
    <p:sldId id="665" r:id="rId65"/>
    <p:sldId id="699" r:id="rId66"/>
    <p:sldId id="666" r:id="rId67"/>
    <p:sldId id="667" r:id="rId68"/>
    <p:sldId id="668" r:id="rId69"/>
    <p:sldId id="669" r:id="rId70"/>
    <p:sldId id="670" r:id="rId71"/>
    <p:sldId id="671" r:id="rId72"/>
    <p:sldId id="672" r:id="rId73"/>
    <p:sldId id="673" r:id="rId74"/>
    <p:sldId id="674" r:id="rId75"/>
    <p:sldId id="675" r:id="rId76"/>
    <p:sldId id="676" r:id="rId77"/>
    <p:sldId id="677" r:id="rId78"/>
    <p:sldId id="700" r:id="rId79"/>
    <p:sldId id="680" r:id="rId80"/>
    <p:sldId id="681" r:id="rId81"/>
    <p:sldId id="682" r:id="rId82"/>
    <p:sldId id="683" r:id="rId83"/>
    <p:sldId id="701" r:id="rId84"/>
    <p:sldId id="684" r:id="rId85"/>
    <p:sldId id="702" r:id="rId86"/>
    <p:sldId id="679" r:id="rId87"/>
    <p:sldId id="703" r:id="rId88"/>
    <p:sldId id="704" r:id="rId8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D21623A-C671-2D44-B254-F252EBE76DF6}">
          <p14:sldIdLst>
            <p14:sldId id="610"/>
            <p14:sldId id="615"/>
            <p14:sldId id="616"/>
            <p14:sldId id="611"/>
            <p14:sldId id="692"/>
            <p14:sldId id="285"/>
            <p14:sldId id="612"/>
            <p14:sldId id="613"/>
            <p14:sldId id="614"/>
            <p14:sldId id="617"/>
            <p14:sldId id="618"/>
            <p14:sldId id="619"/>
            <p14:sldId id="693"/>
            <p14:sldId id="620"/>
            <p14:sldId id="621"/>
            <p14:sldId id="622"/>
            <p14:sldId id="623"/>
            <p14:sldId id="624"/>
            <p14:sldId id="625"/>
            <p14:sldId id="626"/>
            <p14:sldId id="627"/>
            <p14:sldId id="694"/>
            <p14:sldId id="628"/>
            <p14:sldId id="629"/>
            <p14:sldId id="630"/>
            <p14:sldId id="631"/>
            <p14:sldId id="632"/>
            <p14:sldId id="633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42"/>
            <p14:sldId id="643"/>
            <p14:sldId id="695"/>
            <p14:sldId id="644"/>
            <p14:sldId id="645"/>
            <p14:sldId id="646"/>
            <p14:sldId id="647"/>
            <p14:sldId id="648"/>
            <p14:sldId id="649"/>
            <p14:sldId id="650"/>
            <p14:sldId id="651"/>
            <p14:sldId id="652"/>
            <p14:sldId id="696"/>
            <p14:sldId id="653"/>
            <p14:sldId id="654"/>
            <p14:sldId id="697"/>
            <p14:sldId id="655"/>
            <p14:sldId id="656"/>
            <p14:sldId id="657"/>
            <p14:sldId id="658"/>
            <p14:sldId id="698"/>
            <p14:sldId id="659"/>
            <p14:sldId id="660"/>
            <p14:sldId id="661"/>
            <p14:sldId id="662"/>
            <p14:sldId id="663"/>
            <p14:sldId id="664"/>
            <p14:sldId id="665"/>
            <p14:sldId id="699"/>
            <p14:sldId id="666"/>
            <p14:sldId id="667"/>
            <p14:sldId id="668"/>
            <p14:sldId id="669"/>
            <p14:sldId id="670"/>
            <p14:sldId id="671"/>
            <p14:sldId id="672"/>
            <p14:sldId id="673"/>
            <p14:sldId id="674"/>
            <p14:sldId id="675"/>
            <p14:sldId id="676"/>
            <p14:sldId id="677"/>
            <p14:sldId id="700"/>
            <p14:sldId id="680"/>
            <p14:sldId id="681"/>
            <p14:sldId id="682"/>
            <p14:sldId id="683"/>
            <p14:sldId id="701"/>
            <p14:sldId id="684"/>
            <p14:sldId id="702"/>
            <p14:sldId id="679"/>
            <p14:sldId id="703"/>
            <p14:sldId id="7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5" autoAdjust="0"/>
    <p:restoredTop sz="93692" autoAdjust="0"/>
  </p:normalViewPr>
  <p:slideViewPr>
    <p:cSldViewPr>
      <p:cViewPr varScale="1">
        <p:scale>
          <a:sx n="76" d="100"/>
          <a:sy n="76" d="100"/>
        </p:scale>
        <p:origin x="1808" y="43"/>
      </p:cViewPr>
      <p:guideLst>
        <p:guide orient="horz" pos="21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5AC6C-9512-4B60-88A3-550D11AC211E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A42DD-6D94-4698-832B-FD6413A89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4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3712DD02-EDF1-4DE5-8819-AAE28276EE89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Times New Roman" panose="02020603050405020304" pitchFamily="18" charset="0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8524F79-73A5-4710-9319-220E80AC0C1F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Times New Roman" panose="02020603050405020304" pitchFamily="18" charset="0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69D84AD9-88E4-47CB-8F2A-8AB59D90F7ED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Times New Roman" panose="02020603050405020304" pitchFamily="18" charset="0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/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zh-CN" dirty="0"/>
                  <a:t>Copy right </a:t>
                </a:r>
                <a14:m>
                  <m:oMath xmlns:m="http://schemas.openxmlformats.org/officeDocument/2006/math">
                    <m:r>
                      <a:rPr kumimoji="0"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  <a:blipFill>
                <a:blip r:embed="rId15"/>
                <a:stretch>
                  <a:fillRect l="-3930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D14F7-0E7F-8548-85E8-931FFC6E8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829591-AB44-3C4B-B84E-713A444B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30981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</p:spTree>
    <p:extLst>
      <p:ext uri="{BB962C8B-B14F-4D97-AF65-F5344CB8AC3E}">
        <p14:creationId xmlns:p14="http://schemas.microsoft.com/office/powerpoint/2010/main" val="23284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新建虚拟机集群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在一台虚拟机上安装了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以后，可以复制该虚拟机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复制虚拟机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Image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所在目录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，并且修改主机名、进行网络配置修改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(IP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，构造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台虚拟机构成的集群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如果通过复制虚拟机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Image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的方式，建立另外两个虚拟机碰到问题，不好解决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可以参考第二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所描述的，新建虚拟机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和虚拟机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，全新安装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和进行相关配置，包括网络配置、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Samba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Yum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7F8EEB8-5163-4657-AA90-F18588BE7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039564"/>
            <a:ext cx="4572000" cy="2295427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4498489A-DAB3-4C40-8DE4-C82C25CA26E2}"/>
              </a:ext>
            </a:extLst>
          </p:cNvPr>
          <p:cNvSpPr/>
          <p:nvPr/>
        </p:nvSpPr>
        <p:spPr>
          <a:xfrm>
            <a:off x="3733800" y="4343400"/>
            <a:ext cx="3886200" cy="762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711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新建虚拟机集群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集群网络配置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92FEC09-A27C-4ED3-9E22-09841D86E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743200"/>
            <a:ext cx="7010400" cy="3437607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0151CF01-382A-478E-B5C0-EA0C15C6E2EC}"/>
              </a:ext>
            </a:extLst>
          </p:cNvPr>
          <p:cNvSpPr/>
          <p:nvPr/>
        </p:nvSpPr>
        <p:spPr>
          <a:xfrm>
            <a:off x="914400" y="2590800"/>
            <a:ext cx="3962400" cy="1905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480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endParaRPr kumimoji="1"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介绍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的安装和配置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并且进行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文件操作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6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WordCount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程序的实验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A6B337-F404-417C-B04E-0CAFE4C62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895600"/>
            <a:ext cx="6096000" cy="372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29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899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kumimoji="1"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JDK</a:t>
            </a: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为了安装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，首先需要安装特定版本的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JDK</a:t>
            </a: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查看安装的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JDK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kumimoji="1"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kumimoji="1"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卸载当前的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jdk</a:t>
            </a:r>
            <a:endParaRPr kumimoji="1"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7612FA-296D-47E8-83D8-EC5F1A914641}"/>
              </a:ext>
            </a:extLst>
          </p:cNvPr>
          <p:cNvSpPr txBox="1"/>
          <p:nvPr/>
        </p:nvSpPr>
        <p:spPr>
          <a:xfrm>
            <a:off x="1752600" y="2590800"/>
            <a:ext cx="45720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rpm -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qa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| grep java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BE585B-A080-44D8-870B-1573A64BB627}"/>
              </a:ext>
            </a:extLst>
          </p:cNvPr>
          <p:cNvSpPr txBox="1"/>
          <p:nvPr/>
        </p:nvSpPr>
        <p:spPr>
          <a:xfrm>
            <a:off x="533400" y="3788364"/>
            <a:ext cx="8153400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rpm -e --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nodeps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java-1.7.0-openjdk-headless-1.7.0.75-2.5.4.2.el7_0.x86_64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rpm -e --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nodeps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java-1.8.0-openjdk-headless-1.8.0.31-2.b13.el7.x86_64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rpm -e --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nodeps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tzdata-java-2015a-1.el7.noarch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rpm -e --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nodeps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java-1.8.0-openjdk-1.8.0.31-2.b13.el7.x86_64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rpm -e --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nodeps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java-1.7.0-openjdk-1.7.0.75-2.5.4.2.el7_0.x86_64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rpm -e --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nodeps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java-1.6.0-openjdk-1.6.0.34-1.13.6.1.el7_0.x86_64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374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JDK</a:t>
            </a:r>
          </a:p>
          <a:p>
            <a:pPr lvl="1" algn="just"/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下载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jdk-8u144-linux-x64.tar.gz</a:t>
            </a:r>
          </a:p>
          <a:p>
            <a:pPr lvl="1" algn="just"/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解压和安装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BE585B-A080-44D8-870B-1573A64BB627}"/>
              </a:ext>
            </a:extLst>
          </p:cNvPr>
          <p:cNvSpPr txBox="1"/>
          <p:nvPr/>
        </p:nvSpPr>
        <p:spPr>
          <a:xfrm>
            <a:off x="685800" y="3443084"/>
            <a:ext cx="7848600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mkdir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-p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/java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/java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tar -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zxvf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/jdk-8u144-linux-x64.tar.gz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ls jdk1.8.0_144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mv jdk1.8.0_144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ls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/java/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552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JDK</a:t>
            </a:r>
          </a:p>
          <a:p>
            <a:pPr lvl="1" algn="just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编辑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bashrc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文件，增加如下内容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BE585B-A080-44D8-870B-1573A64BB627}"/>
              </a:ext>
            </a:extLst>
          </p:cNvPr>
          <p:cNvSpPr txBox="1"/>
          <p:nvPr/>
        </p:nvSpPr>
        <p:spPr>
          <a:xfrm>
            <a:off x="609600" y="2514600"/>
            <a:ext cx="8001000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ls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/java/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jre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/lib/rt.jar           \\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查看文件是否存在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ls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/java/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/lib/dt.jar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ls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/java/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/lib/tools.jar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"export JAVA_HOME=/opt/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/java/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 &gt;&gt; 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"export JRE_HOME=\$JAVA_HOME/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jre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 &gt;&gt; 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"export PATH=\$JAVA_HOME/bin:\$JRE_HOME/bin:\$PATH" &gt;&gt; 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"export CLASSPATH=.:\$CLASSPATH:\$JAVA_HOME/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jre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/lib/rt.jar:\$JAVA_HOME/lib/dt.jar:\$JAVA_HOME/lib/tools.jar" &gt;&gt; 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cat 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BAB680-D611-4C3B-AB16-50173B522DDD}"/>
              </a:ext>
            </a:extLst>
          </p:cNvPr>
          <p:cNvSpPr txBox="1"/>
          <p:nvPr/>
        </p:nvSpPr>
        <p:spPr>
          <a:xfrm>
            <a:off x="609600" y="6096000"/>
            <a:ext cx="80010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                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进入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/root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目录，即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root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用户的主目录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source 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291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JDK</a:t>
            </a:r>
          </a:p>
          <a:p>
            <a:pPr algn="just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同步三台虚拟机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BE585B-A080-44D8-870B-1573A64BB627}"/>
              </a:ext>
            </a:extLst>
          </p:cNvPr>
          <p:cNvSpPr txBox="1"/>
          <p:nvPr/>
        </p:nvSpPr>
        <p:spPr>
          <a:xfrm>
            <a:off x="228600" y="2895600"/>
            <a:ext cx="8458200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/java/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root@192.168.31.130:/opt/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/java \\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拷贝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  <a:endParaRPr lang="zh-CN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/java/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root@192.168.31.131:/opt/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/java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root@192.168.31.130:/root/.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\\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拷贝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/root/.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root@192.168.31.131:/root/.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source ~/.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\\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刷新环境变量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 source ~/.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java -version \\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查看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版本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root@192.168.31.131 java -version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193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05400"/>
          </a:xfrm>
        </p:spPr>
        <p:txBody>
          <a:bodyPr>
            <a:normAutofit/>
          </a:bodyPr>
          <a:lstStyle/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配置各个虚拟机别名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/hostname</a:t>
            </a: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192.168.31.129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192.168.31.131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台虚拟机配置别名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三台机器的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/hostname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的内容分别是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-master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hd-slave1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hd-slave2</a:t>
            </a:r>
          </a:p>
          <a:p>
            <a:pPr lvl="1" algn="just"/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另外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个主机运行类似的命令，注意主机名分别为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hd-slave1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hd-slave2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BE585B-A080-44D8-870B-1573A64BB627}"/>
              </a:ext>
            </a:extLst>
          </p:cNvPr>
          <p:cNvSpPr txBox="1"/>
          <p:nvPr/>
        </p:nvSpPr>
        <p:spPr>
          <a:xfrm>
            <a:off x="914400" y="2971800"/>
            <a:ext cx="7772400" cy="28315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192.168.31.129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cat 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/hostname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rm -rf 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/hostname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touch 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/hostname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-master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 &gt;&gt; 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/hostname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cat 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/hostname| grep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-master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383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配置各个虚拟机的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/hosts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192.168.31.129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192.168.31.131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三台虚拟机的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hosts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一样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BE585B-A080-44D8-870B-1573A64BB627}"/>
              </a:ext>
            </a:extLst>
          </p:cNvPr>
          <p:cNvSpPr txBox="1"/>
          <p:nvPr/>
        </p:nvSpPr>
        <p:spPr>
          <a:xfrm>
            <a:off x="723900" y="2743200"/>
            <a:ext cx="7772400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192.168.31.129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-master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192.168.31.130 hd-slave1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192.168.31.131 hd-slave2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127.0.0.1 localhost                \\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这行放在最后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746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配置各个虚拟机的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/hosts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192.168.31.129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192.168.31.131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三台虚拟机的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hosts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一样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BE585B-A080-44D8-870B-1573A64BB627}"/>
              </a:ext>
            </a:extLst>
          </p:cNvPr>
          <p:cNvSpPr txBox="1"/>
          <p:nvPr/>
        </p:nvSpPr>
        <p:spPr>
          <a:xfrm>
            <a:off x="762000" y="2514600"/>
            <a:ext cx="7772400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192.168.31.129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-master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192.168.31.130 hd-slave1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192.168.31.131 hd-slave2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127.0.0.1 localhost                \\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这行放在最后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9CF95E-37E4-42B1-8C7F-0A41AE462081}"/>
              </a:ext>
            </a:extLst>
          </p:cNvPr>
          <p:cNvSpPr txBox="1"/>
          <p:nvPr/>
        </p:nvSpPr>
        <p:spPr>
          <a:xfrm>
            <a:off x="746110" y="4121149"/>
            <a:ext cx="7804180" cy="2462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在三台虚拟机上执行如下命令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rm -rf 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/hosts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touch 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/hosts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"192.168.31.129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-master" &gt;&gt;/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/hosts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"192.168.31.130 hd-slave1" &gt;&gt;/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/hosts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"192.168.31.131 hd-slave2" &gt;&gt;/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/hosts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"127.0.0.1 localhost" &gt;&gt;/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/hosts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"" &gt;&gt;/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/hosts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cat 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/hosts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123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5287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无密码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登录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虚拟机之间的无密码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登录，使得我们可以在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-master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上，方便地启动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服务进程，这些服务进程包括主节点的进程和从节点的进程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当从主节点启动从节点的进程的时候，系统无需等待用户输入密码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2DB6541-8F8E-4E83-B2B2-9BB5E30DC84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76400" y="3048000"/>
            <a:ext cx="57912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91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无密码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登录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192.168.31.129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192.168.31.130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192.168.31.131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三台虚拟机上执行如下命令，配置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sshd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编辑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sshd_config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，去掉以下两行注释，即把行首的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去掉，并且设置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AuthorizedKeysFile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DA1A9C-A294-4EBF-B696-37AE35FFF5B5}"/>
              </a:ext>
            </a:extLst>
          </p:cNvPr>
          <p:cNvSpPr txBox="1"/>
          <p:nvPr/>
        </p:nvSpPr>
        <p:spPr>
          <a:xfrm>
            <a:off x="381000" y="3733800"/>
            <a:ext cx="8229600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#RSAAuthentication yes   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RSA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认证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#PubkeyAuthentication yes   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启用公钥私钥配对认证方式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AuthorizedKeysFile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authorized_keys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公钥文件路径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和下面生成的文件同名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9415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无密码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登录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192.168.31.129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192.168.31.131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上执行如下命令，生成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DA1A9C-A294-4EBF-B696-37AE35FFF5B5}"/>
              </a:ext>
            </a:extLst>
          </p:cNvPr>
          <p:cNvSpPr txBox="1"/>
          <p:nvPr/>
        </p:nvSpPr>
        <p:spPr>
          <a:xfrm>
            <a:off x="755138" y="2743200"/>
            <a:ext cx="7633723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u="none" strike="noStrike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whoami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pwd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-keygen -t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rsa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生成密钥文件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ls /root/.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id_rsa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/root/.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id_rsa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844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无密码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登录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192.168.1.129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上执行如下命令，从另外两台机器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(130/131)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，合并公钥到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authorized_keys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DA1A9C-A294-4EBF-B696-37AE35FFF5B5}"/>
              </a:ext>
            </a:extLst>
          </p:cNvPr>
          <p:cNvSpPr txBox="1"/>
          <p:nvPr/>
        </p:nvSpPr>
        <p:spPr>
          <a:xfrm>
            <a:off x="755138" y="2743200"/>
            <a:ext cx="7633723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~/.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ls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authorized_keys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rm -rf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authorized_keys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cat id_rsa.pub &gt;&gt;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authorized_keys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cat ~/.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/id_rsa.pub &gt;&gt;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authorized_keys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 cat ~/.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/id_rsa.pub &gt;&gt;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authorized_keys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992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无密码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登录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192.168.31.129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，复制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~/.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authorized_keys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~/.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known_hosts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两个文件到另外两台机器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192.3168.1.131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这时候，每台机器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(CentOS)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均有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台机器的公钥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DA1A9C-A294-4EBF-B696-37AE35FFF5B5}"/>
              </a:ext>
            </a:extLst>
          </p:cNvPr>
          <p:cNvSpPr txBox="1"/>
          <p:nvPr/>
        </p:nvSpPr>
        <p:spPr>
          <a:xfrm>
            <a:off x="793238" y="3657600"/>
            <a:ext cx="7633723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~/.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authorized_keys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root@192.168.31.130:~/.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authorized_keys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root@192.168.31.131:~/.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known_hosts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root@192.168.31.130:~/.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known_hosts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root@192.168.31.131:~/.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35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无密码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登录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192.168.31.129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上执行如下命令，修改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192.168.31.129/130/131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等三台机器上的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~/.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authorized_keys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权限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DA1A9C-A294-4EBF-B696-37AE35FFF5B5}"/>
              </a:ext>
            </a:extLst>
          </p:cNvPr>
          <p:cNvSpPr txBox="1"/>
          <p:nvPr/>
        </p:nvSpPr>
        <p:spPr>
          <a:xfrm>
            <a:off x="755138" y="2743200"/>
            <a:ext cx="7633723" cy="25853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~/.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ls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authorized_keys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ls ~/.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authorized_keys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 ls ~/.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authorized_keys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~/.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chmod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700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authorized_keys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chmod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700 ~/.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authorized_keys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chmod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700 ~/.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authorized_keys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110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无密码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登录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192.168.31.129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192.3168.1.131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上执行如下命令，重启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sshd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DA1A9C-A294-4EBF-B696-37AE35FFF5B5}"/>
              </a:ext>
            </a:extLst>
          </p:cNvPr>
          <p:cNvSpPr txBox="1"/>
          <p:nvPr/>
        </p:nvSpPr>
        <p:spPr>
          <a:xfrm>
            <a:off x="755138" y="2743200"/>
            <a:ext cx="7633723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service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restart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或者用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init.d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restart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290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无密码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登录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测试无密码登录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DA1A9C-A294-4EBF-B696-37AE35FFF5B5}"/>
              </a:ext>
            </a:extLst>
          </p:cNvPr>
          <p:cNvSpPr txBox="1"/>
          <p:nvPr/>
        </p:nvSpPr>
        <p:spPr>
          <a:xfrm>
            <a:off x="755138" y="2438400"/>
            <a:ext cx="7633723" cy="42780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\\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192.168.31.129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上，测试无密码登录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130/131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exit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exit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\\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192.168.31.130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上，测试无密码登录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129/131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root@192.168.31.129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exit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exit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\\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192.168.31.131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上，测试无密码登录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129/130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root@192.168.31.129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exit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exit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920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5946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下载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，我们使用的版本是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Hadoop2.7.3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解压缩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安装包，并且对安装目录进行重命名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DA1A9C-A294-4EBF-B696-37AE35FFF5B5}"/>
              </a:ext>
            </a:extLst>
          </p:cNvPr>
          <p:cNvSpPr txBox="1"/>
          <p:nvPr/>
        </p:nvSpPr>
        <p:spPr>
          <a:xfrm>
            <a:off x="793238" y="2918936"/>
            <a:ext cx="7633723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tar -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zxvf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hadoop-2.7.3.tar.gz 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mv hadoop-2.7.3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031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192.168.31.129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虚拟机上编辑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bashrc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文件，然后复制到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DA1A9C-A294-4EBF-B696-37AE35FFF5B5}"/>
              </a:ext>
            </a:extLst>
          </p:cNvPr>
          <p:cNvSpPr txBox="1"/>
          <p:nvPr/>
        </p:nvSpPr>
        <p:spPr>
          <a:xfrm>
            <a:off x="381000" y="2590800"/>
            <a:ext cx="8382000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"" &gt;&gt; /root/.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"export HADOOP_PREFIX=/opt/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 &gt;&gt; /root/.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"export HADOOP_HOME=\$HADOOP_PREFIX" &gt;&gt; /root/.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"export HADOOP_COMMON_HOME=\$HADOOP_PREFIX" &gt;&gt; /root/.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"export HADOOP_CONF_DIR=\$HADOOP_PREFIX/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 &gt;&gt; /root/.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"export HADOOP_HDFS_HOME=\$HADOOP_PREFIX" &gt;&gt; /root/.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"export HADOOP_MAPRED_HOME=\$HADOOP_PREFIX" &gt;&gt; /root/.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"export HADOOP_YARN_HOME=\$HADOOP_PREFIX" &gt;&gt; /root/.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"export PATH=\$PATH:\$HADOOP_PREFIX/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sbin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:\$HADOOP_PREFIX/bin" &gt;&gt; /root/.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"export HADOOP_OPTS=\"-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Djava.library.path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=\$HADOOP_HOME/lib/native\"" &gt;&gt; /root/.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"export HADOOP_COMMON_LIB_NATIVE_DIR=\$HADOOP_HOME/lib/native" &gt;&gt; /root/.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"export CLASSPATH=\$CLASSPATH:/opt/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/lib/*" &gt;&gt; /root/.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cat /root/.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038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192.168.31.129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虚拟机上编辑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/root/.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bashrc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文件，然后复制到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192.168.31.130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192.168.31.131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DA1A9C-A294-4EBF-B696-37AE35FFF5B5}"/>
              </a:ext>
            </a:extLst>
          </p:cNvPr>
          <p:cNvSpPr txBox="1"/>
          <p:nvPr/>
        </p:nvSpPr>
        <p:spPr>
          <a:xfrm>
            <a:off x="381000" y="2743200"/>
            <a:ext cx="8305800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\\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192.168.31.129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上，复制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130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131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root@192.168.31.130:/root/.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root@192.168.31.131:/root/.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\\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192.168.31.129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上，在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129/130/131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三台机器上运行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，刷新环境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source 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source 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 source 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0369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创建数据存放目录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DA1A9C-A294-4EBF-B696-37AE35FFF5B5}"/>
              </a:ext>
            </a:extLst>
          </p:cNvPr>
          <p:cNvSpPr txBox="1"/>
          <p:nvPr/>
        </p:nvSpPr>
        <p:spPr>
          <a:xfrm>
            <a:off x="755138" y="2226439"/>
            <a:ext cx="7633723" cy="44781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\\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进入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/opt/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</a:t>
            </a:r>
            <a:endParaRPr lang="zh-CN" altLang="zh-CN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rm -rf /opt/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tmp</a:t>
            </a:r>
            <a:endParaRPr lang="zh-CN" altLang="zh-CN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rm -rf /opt/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endParaRPr lang="zh-CN" altLang="zh-CN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mkdir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/opt/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tmp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\\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tmp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</a:t>
            </a:r>
            <a:endParaRPr lang="zh-CN" altLang="zh-CN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mkdir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-p /opt/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/data /opt/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/name \\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子目录</a:t>
            </a:r>
            <a:endParaRPr lang="zh-CN" altLang="zh-CN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\\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还要针对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hd-slave1,hd-slave2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等两个节点上执行上述命令，然后再初始化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endParaRPr lang="zh-CN" altLang="zh-CN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rm -rf /opt/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tmp</a:t>
            </a:r>
            <a:endParaRPr lang="zh-CN" altLang="zh-CN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rm -rf /opt/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endParaRPr lang="zh-CN" altLang="zh-CN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mkdir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/opt/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tmp</a:t>
            </a:r>
            <a:endParaRPr lang="zh-CN" altLang="zh-CN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mkdir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-p /opt/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/data /opt/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/name</a:t>
            </a:r>
            <a:endParaRPr lang="zh-CN" altLang="zh-CN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 rm -rf /opt/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tmp</a:t>
            </a:r>
            <a:endParaRPr lang="zh-CN" altLang="zh-CN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 rm -rf /opt/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endParaRPr lang="zh-CN" altLang="zh-CN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mkdir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/opt/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tmp</a:t>
            </a:r>
            <a:endParaRPr lang="zh-CN" altLang="zh-CN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mkdir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-p /opt/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/data /opt/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/name</a:t>
            </a:r>
            <a:endParaRPr lang="zh-CN" altLang="zh-CN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191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对若干配置文件进行设置，保证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能够正常启动。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主要的配置文件包括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HADOOP_HOME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目录下的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/core-site.xml</a:t>
            </a:r>
          </a:p>
          <a:p>
            <a:pPr lvl="1" indent="266700" algn="just"/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/hdfs-site.xml</a:t>
            </a:r>
          </a:p>
          <a:p>
            <a:pPr lvl="1" indent="266700" algn="just"/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/yarn-site.xml</a:t>
            </a:r>
          </a:p>
          <a:p>
            <a:pPr lvl="1" indent="266700" algn="just"/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/mapred-site.xml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等文件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并且为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如下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文件配置环境变量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etc/hadoop/hadoop-env.sh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etc/hadoop/yarn-env.sh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etc/hadoop/mapred-env.sh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(3)master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slave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masters</a:t>
            </a:r>
          </a:p>
          <a:p>
            <a:pPr lvl="1" indent="266700" algn="just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slaves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</p:spTree>
    <p:extLst>
      <p:ext uri="{BB962C8B-B14F-4D97-AF65-F5344CB8AC3E}">
        <p14:creationId xmlns:p14="http://schemas.microsoft.com/office/powerpoint/2010/main" val="193279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目录下的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core-site.xml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B623BC-9C39-40B0-A254-B3AE87359D41}"/>
              </a:ext>
            </a:extLst>
          </p:cNvPr>
          <p:cNvSpPr txBox="1"/>
          <p:nvPr/>
        </p:nvSpPr>
        <p:spPr>
          <a:xfrm>
            <a:off x="755138" y="2226439"/>
            <a:ext cx="7633723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&lt;?xml version="1.0" encoding="UTF-8"?&gt;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&lt;?xml-stylesheet type="text/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xsl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href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="configuration.xsl"?&gt;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&lt;configuration&gt;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hadoop.tmp.dir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&lt;value&gt;file:///opt/linuxsir/hadoop/tmp&lt;/value&gt;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fs.defaultFS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&lt;value&gt;hdfs://hd-master:9000&lt;/value&gt;&lt;!-- NameNode URI --&gt;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io.file.buffer.size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&lt;value&gt;131702&lt;/value&gt;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&lt;/configuration&gt;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2340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编辑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/opt/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linuxsir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目录下的</a:t>
            </a:r>
            <a:r>
              <a:rPr lang="en-US" altLang="zh-CN" sz="15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hdfs-site.xml</a:t>
            </a:r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文件，内容如下</a:t>
            </a:r>
            <a:endParaRPr lang="zh-CN" altLang="en-US" sz="155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B623BC-9C39-40B0-A254-B3AE87359D41}"/>
              </a:ext>
            </a:extLst>
          </p:cNvPr>
          <p:cNvSpPr txBox="1"/>
          <p:nvPr/>
        </p:nvSpPr>
        <p:spPr>
          <a:xfrm>
            <a:off x="755138" y="2226439"/>
            <a:ext cx="7633723" cy="4616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&lt;?xml version="1.0" encoding="UTF-8"?&gt;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&lt;?xml-stylesheet type="text/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xsl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href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="configuration.xsl"?&gt;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&lt;configuration&gt;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dfs.namenode.name.dir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&lt;value&gt;file:///opt/linuxsir/hadoop/hdfs/name&lt;/value&gt; &lt;!-- </a:t>
            </a:r>
            <a:r>
              <a:rPr lang="zh-CN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本机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</a:t>
            </a:r>
            <a:r>
              <a:rPr lang="zh-CN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for NameNode --&gt;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dfs.datanode.data.dir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&lt;value&gt;file:///opt/linuxsir/hadoop/hdfs/data&lt;/value&gt; &lt;!-- </a:t>
            </a:r>
            <a:r>
              <a:rPr lang="zh-CN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本机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</a:t>
            </a:r>
            <a:r>
              <a:rPr lang="zh-CN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for DataNode --&gt;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dfs.replication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 &lt;!-- </a:t>
            </a:r>
            <a:r>
              <a:rPr lang="zh-CN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数据块副本数量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--&gt;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&lt;value&gt;2&lt;/value&gt;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dfs.webhdfs.enabled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&lt;value&gt;true&lt;/value&gt;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dfs.namenode.secondary.http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-address&lt;/name&gt;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&lt;value&gt;hd-master:9001&lt;/value&gt;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&lt;/configuration&gt;</a:t>
            </a:r>
            <a:endParaRPr lang="zh-CN" altLang="zh-CN" sz="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8007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目录下，复制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mapred-site.xml.template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mapred-site.xml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，并且进行编辑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B623BC-9C39-40B0-A254-B3AE87359D41}"/>
              </a:ext>
            </a:extLst>
          </p:cNvPr>
          <p:cNvSpPr txBox="1"/>
          <p:nvPr/>
        </p:nvSpPr>
        <p:spPr>
          <a:xfrm>
            <a:off x="755138" y="2438400"/>
            <a:ext cx="7633723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&lt;?xml version="1.0" encoding="UTF-8"?&gt;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&lt;?xml-stylesheet type="text/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xsl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href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="configuration.xsl"?&gt;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&lt;configuration&gt;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&lt;name&gt;mapreduce.framework.name&lt;/name&gt;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&lt;value&gt;yarn&lt;/value&gt; &lt;!--yarn or yarn-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tez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--&gt;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mapreduce.jobhistory.address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&lt;value&gt;hd-master:10020&lt;/value&gt;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mapreduce.jobhistory.webapp.address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&lt;value&gt;hd-master:19888&lt;/value&gt;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756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目录下，复制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mapred-site.xml.template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mapred-site.xml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，并且进行编辑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B623BC-9C39-40B0-A254-B3AE87359D41}"/>
              </a:ext>
            </a:extLst>
          </p:cNvPr>
          <p:cNvSpPr txBox="1"/>
          <p:nvPr/>
        </p:nvSpPr>
        <p:spPr>
          <a:xfrm>
            <a:off x="755138" y="2438400"/>
            <a:ext cx="7633723" cy="41549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mapreduce.map.memory.mb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 &lt;!-- memory for map task --&gt;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&lt;value&gt;64&lt;/value&gt;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mapreduce.reduce.memory.mb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 &lt;!-- memory for reduce task --&gt;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&lt;value&gt;128&lt;/value&gt;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mapreduce.task.io.sort.mb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&lt;value&gt;32&lt;/value&gt;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mapreduce.map.java.opts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 &lt;!-- settings for JVM map task --&gt;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&lt;value&gt;-Xms128m -Xmx256m&lt;/value&gt;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mapreduce.reduce.java.opts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 &lt;!-- settings for JVM reduce task --&gt;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&lt;value&gt;-Xms128m -Xmx256m&lt;/value&gt;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&lt;/configuration&gt;</a:t>
            </a:r>
            <a:endParaRPr lang="zh-CN" altLang="zh-CN" sz="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089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/opt/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linuxsir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编辑</a:t>
            </a:r>
            <a:r>
              <a:rPr lang="en-US" altLang="zh-CN" sz="15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yarn-site.xml</a:t>
            </a:r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文件，对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</a:t>
            </a:r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资源管理器的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NodeManagers</a:t>
            </a:r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节点、端口、内存分配等进行配置</a:t>
            </a:r>
            <a:endParaRPr lang="zh-CN" altLang="en-US" sz="155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B623BC-9C39-40B0-A254-B3AE87359D41}"/>
              </a:ext>
            </a:extLst>
          </p:cNvPr>
          <p:cNvSpPr txBox="1"/>
          <p:nvPr/>
        </p:nvSpPr>
        <p:spPr>
          <a:xfrm>
            <a:off x="755138" y="2438400"/>
            <a:ext cx="7633723" cy="440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&lt;?xml version="1.0" encoding="UTF-8"?&gt;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&lt;?xml-stylesheet type="text/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xsl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href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="configuration.xsl"?&gt;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&lt;configuration&gt;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yarn.resourcemanager.hostname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-master&lt;/value&gt;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yarn.resourcemanager.address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&lt;value&gt;hd-master:9032&lt;/value&gt;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yarn.resourcemanager.scheduler.address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&lt;value&gt;hd-master:9030&lt;/value&gt;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yarn.resourcemanager.resource-tracker.address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&lt;value&gt;hd-master:9031&lt;/value&gt;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yarn.resourcemanager.admin.address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&lt;value&gt;hd-master:9033&lt;/value&gt;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yarn.resourcemanager.webapp.address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&lt;value&gt;hd-master:9099&lt;/value&gt;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1703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/opt/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linuxsir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编辑</a:t>
            </a:r>
            <a:r>
              <a:rPr lang="en-US" altLang="zh-CN" sz="15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yarn-site.xml</a:t>
            </a:r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文件，对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</a:t>
            </a:r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资源管理器的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NodeManagers</a:t>
            </a:r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节点、端口、内存分配等进行配置</a:t>
            </a:r>
            <a:endParaRPr lang="zh-CN" altLang="en-US" sz="155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B623BC-9C39-40B0-A254-B3AE87359D41}"/>
              </a:ext>
            </a:extLst>
          </p:cNvPr>
          <p:cNvSpPr txBox="1"/>
          <p:nvPr/>
        </p:nvSpPr>
        <p:spPr>
          <a:xfrm>
            <a:off x="755138" y="2438400"/>
            <a:ext cx="7633723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yarn.nodemanager.resource.memory-mb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&lt;value&gt;2048&lt;/value&gt;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yarn.scheduler.maximum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-allocation-mb&lt;/name&gt;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&lt;value&gt;2048&lt;/value&gt;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yarn.scheduler.minimum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-allocation-mb&lt;/name&gt;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&lt;value&gt;1024&lt;/value&gt;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yarn.app.mapreduce.am.resource.mb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&lt;value&gt;1024&lt;/value&gt;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yarn.app.mapreduce.am.command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-opts&lt;/name&gt;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&lt;value&gt;-Xms128m -Xmx256m&lt;/value&gt;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213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/opt/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linuxsir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编辑</a:t>
            </a:r>
            <a:r>
              <a:rPr lang="en-US" altLang="zh-CN" sz="15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yarn-site.xml</a:t>
            </a:r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文件，对</a:t>
            </a:r>
            <a:r>
              <a:rPr lang="en-US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</a:t>
            </a:r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资源管理器的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5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NodeManagers</a:t>
            </a:r>
            <a:r>
              <a:rPr lang="zh-CN" altLang="zh-CN" sz="15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节点、端口、内存分配等进行配置</a:t>
            </a:r>
            <a:endParaRPr lang="zh-CN" altLang="en-US" sz="155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B623BC-9C39-40B0-A254-B3AE87359D41}"/>
              </a:ext>
            </a:extLst>
          </p:cNvPr>
          <p:cNvSpPr txBox="1"/>
          <p:nvPr/>
        </p:nvSpPr>
        <p:spPr>
          <a:xfrm>
            <a:off x="755138" y="2438400"/>
            <a:ext cx="7633723" cy="41549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yarn.nodemanager.vmem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-check-enabled&lt;/name&gt;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&lt;value&gt;false&lt;/value&gt;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yarn.nodemanager.vmem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pmem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-ratio&lt;/name&gt;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&lt;value&gt;8&lt;/value&gt;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yarn.nodemanager.resource.cpu-vcores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&lt;value&gt;1&lt;/value&gt;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yarn.nodemanager.aux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-services&lt;/name&gt;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mapreduce_shuffle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&lt;/value&gt;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yarn.nodemanager.aux-services.mapreduce.shuffle.class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org.apache.hadoop.mapred.ShuffleHandler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&lt;/value&gt;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&lt;/configuration&gt;</a:t>
            </a:r>
            <a:endParaRPr lang="zh-CN" altLang="zh-CN" sz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9164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进入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hadoop-env.sh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脚本文件所在目录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/Hadoop</a:t>
            </a: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hadoop-env.sh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文件，设置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JAVA_HOME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变量，内容如下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B623BC-9C39-40B0-A254-B3AE87359D41}"/>
              </a:ext>
            </a:extLst>
          </p:cNvPr>
          <p:cNvSpPr txBox="1"/>
          <p:nvPr/>
        </p:nvSpPr>
        <p:spPr>
          <a:xfrm>
            <a:off x="755138" y="2438400"/>
            <a:ext cx="763372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export JAVA_HOME=/opt/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/java/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2753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接着，设置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目录下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yarn-env.sh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脚本文件的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JAVA_HOME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变量，内容如下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NodeManager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因为内存不足，而启动不起来，那么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yarn-env.sh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文件需要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做如下修改，即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JAVA_HEAP_MAX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改为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3G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B623BC-9C39-40B0-A254-B3AE87359D41}"/>
              </a:ext>
            </a:extLst>
          </p:cNvPr>
          <p:cNvSpPr txBox="1"/>
          <p:nvPr/>
        </p:nvSpPr>
        <p:spPr>
          <a:xfrm>
            <a:off x="755138" y="2438400"/>
            <a:ext cx="763372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export JAVA_HOME=/opt/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/java/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jdk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8C1668-D2F7-424B-90A0-95B645713CE4}"/>
              </a:ext>
            </a:extLst>
          </p:cNvPr>
          <p:cNvSpPr txBox="1"/>
          <p:nvPr/>
        </p:nvSpPr>
        <p:spPr>
          <a:xfrm>
            <a:off x="826644" y="4648200"/>
            <a:ext cx="763372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JAVA_HEAP_MAX=-Xmx3072m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2267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修改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masters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slaves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文件，目的是指定主节点和从节点列表。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opt/</a:t>
            </a:r>
            <a:r>
              <a:rPr lang="en-US" altLang="zh-CN" sz="14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linuxsir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/masters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文件的内容如下，即主节点为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-master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opt/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linuxsir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/slaves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文件的内容如下，即从节点为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hd-slave1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hd-slave2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B623BC-9C39-40B0-A254-B3AE87359D41}"/>
              </a:ext>
            </a:extLst>
          </p:cNvPr>
          <p:cNvSpPr txBox="1"/>
          <p:nvPr/>
        </p:nvSpPr>
        <p:spPr>
          <a:xfrm>
            <a:off x="762000" y="3352800"/>
            <a:ext cx="763372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-master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8C1668-D2F7-424B-90A0-95B645713CE4}"/>
              </a:ext>
            </a:extLst>
          </p:cNvPr>
          <p:cNvSpPr txBox="1"/>
          <p:nvPr/>
        </p:nvSpPr>
        <p:spPr>
          <a:xfrm>
            <a:off x="826644" y="4648200"/>
            <a:ext cx="7633723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hd-slave1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hd-slave2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6467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192.168.31.129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虚拟机复制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到其它各个节点，包括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192.168.31.130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192.168.31.131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192.168.31.129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上运行如下命令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B623BC-9C39-40B0-A254-B3AE87359D41}"/>
              </a:ext>
            </a:extLst>
          </p:cNvPr>
          <p:cNvSpPr txBox="1"/>
          <p:nvPr/>
        </p:nvSpPr>
        <p:spPr>
          <a:xfrm>
            <a:off x="755138" y="2890043"/>
            <a:ext cx="7931662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chmod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a+rwx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\\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的存取权限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chmod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a+rwx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chmod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a+rwx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root@192.168.31.130:/root/.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\\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复制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/root/.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root@192.168.31.131:/root/.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hd-slave1:/opt/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\\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复制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opt/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endParaRPr lang="zh-CN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hd-slave2:/opt/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source ~/.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\\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刷新环境变量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source ~/.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 source ~/.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4374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07845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格式化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文件系统之前，需要对其进行格式化；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格式化只需做一次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192.168.31.129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上执行如下命令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B623BC-9C39-40B0-A254-B3AE87359D41}"/>
              </a:ext>
            </a:extLst>
          </p:cNvPr>
          <p:cNvSpPr txBox="1"/>
          <p:nvPr/>
        </p:nvSpPr>
        <p:spPr>
          <a:xfrm>
            <a:off x="755138" y="3276600"/>
            <a:ext cx="7633723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/bin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namenode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-format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5034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</a:p>
          <a:p>
            <a:pPr indent="266700"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清理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日志</a:t>
            </a:r>
            <a:endParaRPr lang="zh-CN" altLang="en-US" sz="17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B623BC-9C39-40B0-A254-B3AE87359D41}"/>
              </a:ext>
            </a:extLst>
          </p:cNvPr>
          <p:cNvSpPr txBox="1"/>
          <p:nvPr/>
        </p:nvSpPr>
        <p:spPr>
          <a:xfrm>
            <a:off x="755138" y="2890043"/>
            <a:ext cx="7633723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rm -rf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/logs/*.*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rm -rf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/logs/*.*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 rm -rf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/logs/*.*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1855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endParaRPr lang="zh-CN" altLang="en-US" sz="17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B623BC-9C39-40B0-A254-B3AE87359D41}"/>
              </a:ext>
            </a:extLst>
          </p:cNvPr>
          <p:cNvSpPr txBox="1"/>
          <p:nvPr/>
        </p:nvSpPr>
        <p:spPr>
          <a:xfrm>
            <a:off x="755138" y="2890043"/>
            <a:ext cx="7633723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./start-all.sh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85999" y="4343400"/>
            <a:ext cx="4572000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\\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如果要停止，请执行如下命令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sbin</a:t>
            </a:r>
            <a:endParaRPr lang="zh-CN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./stop-all.sh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3533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也可以分开启动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</a:t>
            </a:r>
            <a:endParaRPr lang="zh-CN" altLang="en-US" sz="17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B623BC-9C39-40B0-A254-B3AE87359D41}"/>
              </a:ext>
            </a:extLst>
          </p:cNvPr>
          <p:cNvSpPr txBox="1"/>
          <p:nvPr/>
        </p:nvSpPr>
        <p:spPr>
          <a:xfrm>
            <a:off x="793238" y="2895600"/>
            <a:ext cx="7633723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clear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./start-dfs.sh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./start-yarn.sh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24099" y="4847272"/>
            <a:ext cx="4572000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\\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如果要停止，请执行如下命令，即分开停止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sbin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./stop-yarn.sh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./stop-dfs.sh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9069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现在，可以在三个节点上，查看进程，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验证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是否成功启动</a:t>
            </a:r>
            <a:endParaRPr lang="zh-CN" altLang="en-US" sz="17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B623BC-9C39-40B0-A254-B3AE87359D41}"/>
              </a:ext>
            </a:extLst>
          </p:cNvPr>
          <p:cNvSpPr txBox="1"/>
          <p:nvPr/>
        </p:nvSpPr>
        <p:spPr>
          <a:xfrm>
            <a:off x="755138" y="2457271"/>
            <a:ext cx="7633723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clear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3BBF1B-F9D9-4292-80A5-DA96EE3BD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962400"/>
            <a:ext cx="5105400" cy="247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287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到目前为止，启动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以后，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各个节点的进程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，如下图所示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B00328E-3707-4B7C-82A6-BA175166B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819400"/>
            <a:ext cx="7239000" cy="180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6563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-master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上运行如下命令，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报告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的基本信息</a:t>
            </a:r>
            <a:endParaRPr lang="zh-CN" altLang="en-US" sz="17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55138" y="2890043"/>
            <a:ext cx="7633723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./bin/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dfsadmin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-report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1995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使用日志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启动出问题，可以通过查看日志来寻找原因。每次启动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，应该首先清空三个节点的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logs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目录，方便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寻找错误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/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当启动出错，可以到相应节点上，查看日志文件</a:t>
            </a:r>
            <a:r>
              <a:rPr lang="zh-CN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。哪个节点启动出错，就看哪个节点的日志文件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。由于有无密码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登录，可以通过主节点登录到其它节点，去查看所有节点的日志文件。</a:t>
            </a:r>
          </a:p>
          <a:p>
            <a:pPr lvl="1" indent="266700" algn="just"/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日志文件分别在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-master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hd-slave1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hd-slave2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/opt/</a:t>
            </a:r>
            <a:r>
              <a:rPr lang="en-US" altLang="zh-CN" sz="14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/logs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目录下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之前，删除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如果启动出问题，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文件里就是最新的出错信息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685800" y="4648200"/>
            <a:ext cx="7633723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rm -rf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/logs/*.*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rm -rf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/logs/*.*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 rm -rf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/logs/*.*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4477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管理界面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若干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管理界面，列表如下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93238" y="2819400"/>
            <a:ext cx="7633723" cy="3139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访问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NameNode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管理页面，监控文件系统。</a:t>
            </a: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http://192.168.31.129:50070/</a:t>
            </a:r>
          </a:p>
          <a:p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访问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ResourceManager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整个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Cluster)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管理页面，监控集群状况。</a:t>
            </a: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http://192.168.31.129:9099/</a:t>
            </a: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\\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这个端口缺省是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8088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，由于端口冲突，改成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9099,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参考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yarn-site.xml</a:t>
            </a:r>
          </a:p>
          <a:p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JobHistory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Server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的管理页面，查看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作业提交历史；需要事先启动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JobHistory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Server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http://192.168.31.129:19888/</a:t>
            </a:r>
          </a:p>
          <a:p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757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31172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 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常用文件操作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命令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93238" y="2286000"/>
            <a:ext cx="7633723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/bin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dfsadmin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safemode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leave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\\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用户可以通过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dfsadmin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safemode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value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来操作安全模式，参数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value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的说明如下：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\\ enter -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进入安全模式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\\ leave -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强制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NameNode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离开安全模式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\\ get -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返回安全模式是否开启的信息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\\ wait -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等待，一直到安全模式结束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/bin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</a:t>
            </a:r>
            <a:r>
              <a:rPr lang="en-US" altLang="zh-CN" sz="14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rmr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/input                  \\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递归式删除目录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</a:t>
            </a:r>
            <a:r>
              <a:rPr lang="en-US" altLang="zh-CN" sz="14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mkdir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/input                \\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创建目录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</a:t>
            </a:r>
            <a:r>
              <a:rPr lang="en-US" altLang="zh-CN" sz="14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chmod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a+rwx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/input          \\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授权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</a:t>
            </a:r>
            <a:r>
              <a:rPr lang="en-US" altLang="zh-CN" sz="14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mkdir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/output               \\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创建目录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</a:t>
            </a:r>
            <a:r>
              <a:rPr lang="en-US" altLang="zh-CN" sz="14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copyFromLocal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/test.txt /input \\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拷贝文件到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\\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或者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put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/test.txt /input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/input/test.txt | head        \\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显示文件的头几行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7193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执行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Wordcount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MapReduce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注意，需要事先启动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</a:t>
            </a: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为了运行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wordcount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，必须保证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分布式文件系统的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/output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不存在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。如果存在可以把它删除，命令如下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97031" y="2438400"/>
            <a:ext cx="7633723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/bin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-cat /input/test.txt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jar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/share/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/hadoop-mapreduce-examples-2.7.3.jar wordcount /input/test.txt /output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-ls /output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-cat /output/part-r-00000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965042-787C-44A4-B186-7342E7E75F97}"/>
              </a:ext>
            </a:extLst>
          </p:cNvPr>
          <p:cNvSpPr txBox="1"/>
          <p:nvPr/>
        </p:nvSpPr>
        <p:spPr>
          <a:xfrm>
            <a:off x="797031" y="5334000"/>
            <a:ext cx="7633723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/bin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-ls /output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-rm /output/*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rmdir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/output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9966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4089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r>
              <a:rPr lang="en-US" altLang="zh-CN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History Server</a:t>
            </a:r>
          </a:p>
          <a:p>
            <a:pPr lvl="1" algn="just"/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节点上，配置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History Server</a:t>
            </a:r>
          </a:p>
          <a:p>
            <a:pPr lvl="1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.../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/mapred-site.xml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中配置以下内容</a:t>
            </a:r>
            <a:endParaRPr lang="en-US" altLang="zh-CN" sz="1600" b="1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93238" y="2895600"/>
            <a:ext cx="7633723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  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533400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&lt;name&gt;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mapreduce.jobhistory.address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  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&lt;value&gt;hd-master:10020&lt;/value&gt;  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 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  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&lt;name&gt;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mapreduce.jobhistory.webapp.address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  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&lt;value&gt;hd-master:19888&lt;/value&gt;  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6156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History Server</a:t>
            </a:r>
          </a:p>
          <a:p>
            <a:pPr lvl="1" algn="just"/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把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-master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的新配置分发到所有节点即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hd-slave1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hd-slave2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228600" y="2895600"/>
            <a:ext cx="8458200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clear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/opt/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/mapred-site.xml hd-slave1:/opt/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/opt/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/mapred-site.xml hd-slave2:/opt/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6247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History Server</a:t>
            </a:r>
          </a:p>
          <a:p>
            <a:pPr lvl="1" algn="just"/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启动服务，在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这台服务器上执行以下语句。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注意，需要事先启动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93238" y="2895600"/>
            <a:ext cx="7633723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mr-jobhistory-daemon.sh start 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historyserver</a:t>
            </a:r>
            <a:endParaRPr lang="zh-CN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clear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5004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History Server</a:t>
            </a:r>
          </a:p>
          <a:p>
            <a:pPr lvl="1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访问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JobHistory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Server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93238" y="2895600"/>
            <a:ext cx="763372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http://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192.168.31.129:19888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0206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50699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6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问题</a:t>
            </a:r>
            <a:r>
              <a:rPr lang="en-US" altLang="zh-CN" sz="16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pPr lvl="1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DataNode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启动不全，总共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DataNode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，只启动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个。解决办法如下，即需要重新格式化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endParaRPr lang="en-US" altLang="zh-CN" sz="16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/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824477" y="3332832"/>
            <a:ext cx="7633723" cy="34394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rm -rf /opt/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rm -rf /opt/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\\</a:t>
            </a:r>
            <a:r>
              <a:rPr lang="zh-CN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zh-CN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mkdir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-p /opt/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/data /opt/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/name \\</a:t>
            </a:r>
            <a:r>
              <a:rPr lang="zh-CN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  <a:r>
              <a:rPr lang="zh-CN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  <a:r>
              <a:rPr lang="zh-CN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子目录</a:t>
            </a:r>
            <a:endParaRPr lang="en-US" altLang="zh-CN" sz="1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rm -rf /opt/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rm -rf /opt/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-p /opt/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/data /opt/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/name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rm -rf /opt/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rm -rf /opt/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-p /opt/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/data /opt/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/name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000" dirty="0"/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/bin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-format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C3E901-5EE7-42A7-8E3F-0BBFBA4E1828}"/>
              </a:ext>
            </a:extLst>
          </p:cNvPr>
          <p:cNvSpPr txBox="1"/>
          <p:nvPr/>
        </p:nvSpPr>
        <p:spPr>
          <a:xfrm>
            <a:off x="824477" y="2667000"/>
            <a:ext cx="7633723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删除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个节点上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目录下的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tmp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./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/data, ./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/name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等目录的内容。重建这些目录，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再格式化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endParaRPr lang="zh-CN" altLang="zh-CN" sz="16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9586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lvl="1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相关进程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(Node Manager)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不能正常启动，在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hd-slave1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hd-slave2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/logs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目录下，查看日志文件，发现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Node Manager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不能绑定到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8040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提示信息为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“error starting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nodemanager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does not contain a valid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host:port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authority 8040.”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228600" y="4039969"/>
            <a:ext cx="8610599" cy="16004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上述问题的解决办法是修改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-master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yarn-site.xml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配置文件，设定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9030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9031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9032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9033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等端口，</a:t>
            </a:r>
            <a:r>
              <a:rPr lang="zh-CN" altLang="zh-CN" sz="1400" u="sng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可以参考前文给出的</a:t>
            </a:r>
            <a:r>
              <a:rPr lang="en-US" altLang="zh-CN" sz="1400" u="sng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yarn-site.xml</a:t>
            </a:r>
            <a:r>
              <a:rPr lang="zh-CN" altLang="zh-CN" sz="1400" u="sng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的内容</a:t>
            </a:r>
            <a:endParaRPr lang="en-US" altLang="zh-CN" sz="1400" u="sng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并且把修改传播到整个集群</a:t>
            </a:r>
            <a:endParaRPr lang="en-US" altLang="zh-CN" sz="1400" u="sng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/yarn-site.xml hd-slave1:/opt/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/yarn-site.xml hd-slave2:/opt/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1701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lvl="1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提示信息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“Invalid resource request, requested memory &lt; 0, or requested memory &gt; max configured,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requestedMemory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=1536,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maxMemory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=1024.”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900677" y="2971800"/>
            <a:ext cx="7709923" cy="3816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1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对配置文件</a:t>
            </a:r>
            <a:r>
              <a:rPr lang="en-US" altLang="zh-CN" sz="1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yarn-site.xml</a:t>
            </a:r>
            <a:r>
              <a:rPr lang="zh-CN" altLang="zh-CN" sz="1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做如下修改</a:t>
            </a:r>
            <a:endParaRPr lang="en-US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yarn.nodemanager.resource.memory-mb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&lt;value&gt;2048&lt;/value&gt;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yarn.scheduler.maximum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-allocation-mb&lt;/name&gt;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&lt;value&gt;2048&lt;/value&gt;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yarn.scheduler.minimum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-allocation-mb&lt;/name&gt;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&lt;value&gt;1024&lt;/value&gt;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yarn.app.mapreduce.am.resource.mb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&lt;value&gt;1024&lt;/value&gt;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yarn.app.mapreduce.am.command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-opts&lt;/name&gt;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&lt;value&gt;-Xms128m -Xmx256m&lt;/value&gt;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4577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lvl="1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提示信息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“Invalid resource request, requested memory &lt; 0, or requested memory &gt; max configured,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requestedMemory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=1536,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maxMemory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=1024.”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15433" y="3200400"/>
            <a:ext cx="7633723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对配置文件</a:t>
            </a:r>
            <a:r>
              <a:rPr lang="en-US" altLang="zh-CN" sz="1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mapred-site.xml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做如下修改</a:t>
            </a:r>
            <a:endParaRPr lang="en-US" altLang="zh-CN" sz="12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mapreduce.map.java.opts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&lt;/name&gt;&lt;!-- settings for JVM map task --&gt;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&lt;value&gt;-Xms128m -Xmx256m&lt;/value&gt;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mapreduce.reduce.java.opts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&lt;/name&gt;&lt;!-- settings for JVM reduce task --&gt;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&lt;value&gt;-Xms128m -Xmx256m&lt;/value&gt;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&lt;/property&gt;</a:t>
            </a:r>
            <a:endParaRPr lang="zh-CN" altLang="zh-CN" sz="9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F6DDDB-CB5D-4EDE-B9D2-2A1E708DEF21}"/>
              </a:ext>
            </a:extLst>
          </p:cNvPr>
          <p:cNvSpPr txBox="1"/>
          <p:nvPr/>
        </p:nvSpPr>
        <p:spPr>
          <a:xfrm>
            <a:off x="715433" y="5257800"/>
            <a:ext cx="7633723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并且把修改传播到整个集群</a:t>
            </a:r>
            <a:endParaRPr lang="en-US" altLang="zh-CN" sz="1200" u="sng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/yarn-site.xml hd-slave1:/opt/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/yarn-site.xml hd-slave2:/opt/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endParaRPr lang="en-US" altLang="zh-CN" sz="12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/mapred-site.xml hd-slave1:/opt/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/mapred-site.xml hd-slave2:/opt/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6266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 lvl="1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 manager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8032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端口被占用，连接不上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93238" y="2743200"/>
            <a:ext cx="763372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参考问题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解决办法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4872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  <a:p>
            <a:pPr lvl="1" indent="266700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提示信息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“running beyond virtual memory limits. Current usage: 49.2 MB of 384 MB physical memory used; 1.6 GB of 806.4 MB virtual memory used. Killing container.”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对配置文件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yarn-site.xml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做如下修改，表示把虚拟内存开辟到物理内存容量的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倍的大小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93238" y="3886200"/>
            <a:ext cx="7633723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yarn.nodemanager.vmem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-check-enabled&lt;/name&gt;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&lt;value&gt;false&lt;/value&gt;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yarn.nodemanager.vmem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pmem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-ratio&lt;/name&gt;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&lt;value&gt;8&lt;/value&gt;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&lt;/property&gt;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6394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1600" b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</a:p>
          <a:p>
            <a:pPr lvl="1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提示信息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“running beyond physical memory limits. Current usage: 183.2 MB of 128 MB physical memory used; 817.1 MB of 1 GB virtual memory used. Killing container.”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55138" y="3657600"/>
            <a:ext cx="763372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参考问题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和问题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解决办法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1600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7817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程序分析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为了顺利运行该实例，需要编辑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opt/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linuxsir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/hdfs-site.xml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配置文件，添加如下配置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55138" y="3352800"/>
            <a:ext cx="7633723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&lt;!-- 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for windows access 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HDFS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--&gt;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&lt;property&gt;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dfs.permissions.enabled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&lt;/name&gt;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&lt;value&gt;false&lt;/value&gt;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&lt;/property&gt;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5867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 Java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程序分析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</a:t>
            </a:r>
            <a:endParaRPr lang="zh-CN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55138" y="2631281"/>
            <a:ext cx="7633723" cy="36933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rm -rf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/logs/*.*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rm -rf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/logs/*.*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 rm -rf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/logs/*.*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clear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./start-dfs.sh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./start-yarn.sh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clear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8872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程序分析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存取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的代码分析如下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首先导入必要的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55138" y="2819400"/>
            <a:ext cx="7633723" cy="3139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package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com.pai.hdfs_demo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org.apache.commons.io.IOUtils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org.apache.hadoop.conf.Configuration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org.apache.hadoop.fs.FSDataInputStream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org.apache.hadoop.fs.FSDataOutputStream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org.apache.hadoop.fs.FileSystem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org.apache.hadoop.fs.Path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java.io.*;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java.nio.charset.StandardCharsets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44079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 Java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程序分析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新建一个类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ReadWriteHDFSExample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，编写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函数如下。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函数调用其它函数，创建目录，写入数据，添加数据，然后再读取数据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93238" y="2971800"/>
            <a:ext cx="7633723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public class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ReadWriteHDFSExample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{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// main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public static void main(String[]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throws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IOException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{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//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ReadWriteHDFSExample.checkExists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ReadWriteHDFSExample.createDirectory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ReadWriteHDFSExample.writeFileToHDFS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ReadWriteHDFSExample.appendToHDFSFile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ReadWriteHDFSExample.readFileFromHDFS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4956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程序分析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readFileFromHDFS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函数如下，该函数读取文件内容，以字符串形式显示出来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93238" y="2667000"/>
            <a:ext cx="7633723" cy="4131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readFileFromHDFS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public static void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readFileFromHDFS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 throws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IOException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{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Configuration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configuration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Configuration();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configuration.set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fs.defaultFS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", "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://192.168.31.129:9000");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FileSystem.get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(configuration);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// Create a path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String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fileName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"read_write_hdfs_example.txt";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Path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hdfsReadPath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Path("/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javareadwriteexample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/" +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fileName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// initialize input stream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FSDataInputStream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fileSystem.open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hdfsReadPath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// Classical input stream usage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String out =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IOUtils.toString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"UTF-8");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(out);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//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BufferedReader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bufferedReader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BufferedReader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// new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InputStreamReader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StandardCharsets.UTF_8));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// String line = null;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// while ((line=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bufferedReader.readLine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())!=null){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//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(line);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// }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inputStream.close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fileSystem.close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8914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程序分析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writeFileToHDFS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函数打开文件，写入一行文本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304800" y="2667000"/>
            <a:ext cx="8382000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writeFileToHDFS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public static void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writeFileToHDFS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 throws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IOException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{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Configuration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configuration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Configuration();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configuration.set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fs.defaultFS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", "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://192.168.31.129:9000");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FileSystem.get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(configuration);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// Create a path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String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fileName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"read_write_hdfs_example.txt";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Path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hdfsWritePath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Path("/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javareadwriteexample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/" +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fileName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FSDataOutputStream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fsDataOutputStream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fileSystem.create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hdfsWritePath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true);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new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OutputStreamWriter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fsDataOutputStream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StandardCharsets.UTF_8));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bufferedWriter.write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("Java API to write data in HDFS");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bufferedWriter.newLine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bufferedWriter.close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fileSystem.close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  <a:endParaRPr lang="zh-CN" altLang="zh-CN" sz="7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6666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程序分析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appendToHDFSFile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函数打开文件，添加一行文本。需要注意的是，需要对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Configuration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类的对象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configuration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进行适当设置，否则出错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510919" y="2895600"/>
            <a:ext cx="8122161" cy="3808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appendToHDFSFile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public static void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appendToHDFSFile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 throws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IOException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{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Configuration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configuration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Configuration();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configuration.set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fs.defaultFS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", "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://192.168.31.129:9000");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//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configuration.setBoolean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dfs.client.block.write.replace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-on-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failure.enabled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", true);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configuration.set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("dfs.client.block.write.replace-datanode-on-failure.policy","NEVER");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configuration.set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("dfs.client.block.write.replace-datanode-on-failure.enable","true"); 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FileSystem.get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(configuration);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// Create a path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String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fileName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"read_write_hdfs_example.txt";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Path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hdfsWritePath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Path("/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javareadwriteexample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/" +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fileName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FSDataOutputStream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fsDataOutputStream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fileSystem.append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hdfsWritePath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new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OutputStreamWriter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fsDataOutputStream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StandardCharsets.UTF_8));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bufferedWriter.write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("Java API to append data in HDFS file");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bufferedWriter.newLine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bufferedWriter.close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fileSystem.close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zh-CN" altLang="zh-CN" sz="105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8105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程序分析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createDirectory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函数创建一个目录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93238" y="2667000"/>
            <a:ext cx="7633723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//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createDirectory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public static void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createDirectory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 throws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IOException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{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Configuration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configuration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Configuration();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configuration.set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fs.defaultFS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", "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://192.168.31.129:9000");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FileSystem.get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(configuration);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String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directoryName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"/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javareadwriteexample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Path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path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Path(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directoryName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fileSystem.mkdirs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(path);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264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程序分析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checkExists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检查目录或者文件是否存在。注意如下代码的最后一个括号是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ReadWriteHDFSExample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类的结束括号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93238" y="2667000"/>
            <a:ext cx="7633723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//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checkExists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public static void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checkExists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 throws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IOException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{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Configuration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configuration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Configuration();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configuration.set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fs.defaultFS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", "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://192.168.31.129:9000");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FileSystem.get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(configuration);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String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directoryName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"/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javareadwriteexample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Path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path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Path(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directoryName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if 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fileSystem.exists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(path)) {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("File/Folder Exists : " +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path.getName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} else {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("File/Folder does not Exists : " +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path.getName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}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15106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程序分析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>
              <a:spcBef>
                <a:spcPts val="0"/>
              </a:spcBef>
            </a:pP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为了编译通过上述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代码，需要把如下目录下的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jar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包导入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Eclipse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项目的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Build Path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>
              <a:spcBef>
                <a:spcPts val="0"/>
              </a:spcBef>
            </a:pP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操作序列为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“Eclipse Java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项目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右键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Properties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Build Path 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Libraries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External Jars”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55138" y="3581400"/>
            <a:ext cx="7633723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D:\hadoop-2.7.3\share\hadoop\common\lib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D:\hadoop-2.7.3\share\hadoop\common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D:\hadoop-2.7.3\share\hadoop\hdfs</a:t>
            </a:r>
            <a:endParaRPr lang="zh-CN" altLang="zh-CN" sz="1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7918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程序分析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执行完毕上述代码后，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-master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主机上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可以通过如下命令，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检查已经写入的文件</a:t>
            </a:r>
            <a:endParaRPr lang="zh-CN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93238" y="2971800"/>
            <a:ext cx="7633723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/bin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-ls /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javareadwriteexample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/read_write_hdfs_example.txt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-cat /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javareadwriteexample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/read_write_hdfs_example.txt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38365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程序分析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为了多次进行实验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或者为了调试代码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可以把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文件删除，然后再执行或者调试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代码，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否则一经存在该目录，执行创建目录的代码就会出错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Bef>
                <a:spcPts val="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Bef>
                <a:spcPts val="0"/>
              </a:spcBef>
            </a:pP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Bef>
                <a:spcPts val="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Bef>
                <a:spcPts val="0"/>
              </a:spcBef>
            </a:pP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Bef>
                <a:spcPts val="0"/>
              </a:spcBef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停止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93238" y="2971800"/>
            <a:ext cx="7633723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/bin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-rm /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javareadwriteexample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/*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rmdir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javareadwriteexample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077587-A169-4CAE-BFD6-5C30B46AFFAC}"/>
              </a:ext>
            </a:extLst>
          </p:cNvPr>
          <p:cNvSpPr txBox="1"/>
          <p:nvPr/>
        </p:nvSpPr>
        <p:spPr>
          <a:xfrm>
            <a:off x="755138" y="4419600"/>
            <a:ext cx="7633723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./stop-yarn.sh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./stop-dfs.sh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root@192.168.31.131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6500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04920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Word Count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程序代码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首先导入必要的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 Package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93238" y="2514600"/>
            <a:ext cx="7633723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package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mywordcount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java.io.IOException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java.util.StringTokenizer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org.apache.hadoop.conf.Configuration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org.apache.hadoop.fs.Path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org.apache.hadoop.io.IntWritable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org.apache.hadoop.io.Text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org.apache.hadoop.mapreduce.Job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org.apache.hadoop.mapreduce.Mapper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org.apache.hadoop.mapreduce.Reducer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org.apache.hadoop.mapreduce.lib.input.FileInputFormat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org.apache.hadoop.mapreduce.lib.output.FileOutputFormat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import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org.apache.hadoop.util.GenericOptionsParser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9101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Word Count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程序代码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WordCount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类的内部类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TokenizerMapper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该类实现了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函数，把从文件读取的每个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变成一个形式为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&lt;word,1&gt;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Key Value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对，输出到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函数的参数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对象，由执行引擎完成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Shuffle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793238" y="3124200"/>
            <a:ext cx="7633723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public static class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TokenizerMapper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extends Mapper&lt;Object, Text, Text,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IntWritable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&gt;{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private final static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IntWritable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one = new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IntWritable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(1);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private Text word = new Text();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public void map(Object key, Text value, Context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context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) throws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IOException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InterruptedException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{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StringTokenizer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StringTokenizer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value.toString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while (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itr.hasMoreTokens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 {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word.set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itr.nextToken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());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context.write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(word, one);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}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}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85996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Word Count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程序代码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WordCount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类的内部类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IntSumReducer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该类实现了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函数，它收拢所有相同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的、形式为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&lt;word,1&gt;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Key-Value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对，对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部分进行累加，输出一个计数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824477" y="2895600"/>
            <a:ext cx="7633723" cy="3754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public static class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IntSumReducer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extends Reducer&lt;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Text,IntWritable,Text,IntWritable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&gt; {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private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IntWritable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result = new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IntWritable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public void reduce(Text key,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Iterable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IntWritable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&gt; values, 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Context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context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) throws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IOException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InterruptedException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{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int sum = 0;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for 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IntWritable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val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: values) {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sum +=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val.get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}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result.set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(sum);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context.write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(key, result);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String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thekey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key.toString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int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thevalue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sum;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}</a:t>
            </a:r>
            <a:endParaRPr lang="zh-CN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38287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Word Count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程序代码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(4) 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WordCount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类实现</a:t>
            </a:r>
            <a:r>
              <a:rPr lang="en-US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main</a:t>
            </a:r>
            <a:r>
              <a:rPr lang="zh-CN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endParaRPr lang="en-US" altLang="zh-CN" sz="15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WordCount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类的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main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函数，负责配置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Job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的若干关键的参数，并且启动这个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Job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5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函数中，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conf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对象包含了一个属性即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fs.defaultFS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，它的值为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://192.168.31.129:9000”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，使得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WordCount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程序知道如何存取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endParaRPr lang="zh-CN" altLang="zh-CN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5D764D-3161-4A51-9B26-687FCBA25FC6}"/>
              </a:ext>
            </a:extLst>
          </p:cNvPr>
          <p:cNvSpPr txBox="1"/>
          <p:nvPr/>
        </p:nvSpPr>
        <p:spPr>
          <a:xfrm>
            <a:off x="881359" y="3048000"/>
            <a:ext cx="7633723" cy="36317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public class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WordCount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{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public static void main(String[]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throws Exception {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Configuration conf = new Configuration();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String[]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otherArgs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GenericOptionsParser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(conf,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args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).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getRemainingArgs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if (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otherArgs.length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!= 2) {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System.err.println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("Usage: wordcount &lt;in&gt; &lt;out&gt;");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System.exit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(2);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000" b="1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conf.set</a:t>
            </a:r>
            <a:r>
              <a:rPr lang="en-US" altLang="zh-CN" sz="10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en-US" altLang="zh-CN" sz="1000" b="1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fs.defaultFS</a:t>
            </a:r>
            <a:r>
              <a:rPr lang="en-US" altLang="zh-CN" sz="10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", "</a:t>
            </a:r>
            <a:r>
              <a:rPr lang="en-US" altLang="zh-CN" sz="1000" b="1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en-US" altLang="zh-CN" sz="1000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://192.168.31.129:9000");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Job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job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new Job(conf, "word count");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job.setJarByClass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WordCount.class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job.setMapperClass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TokenizerMapper.class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job.setCombinerClass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IntSumReducer.class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job.setReducerClass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IntSumReducer.class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job.setOutputKeyClass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Text.class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job.setOutputValueClass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IntWritable.class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FileInputFormat.addInputPath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(job, new Path(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otherArgs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[0]));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FileOutputFormat.setOutputPath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(job, new Path(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otherArgs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[1]));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System.exit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job.waitForCompletion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(true) ? 0 : 1);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}</a:t>
            </a:r>
            <a:endParaRPr lang="zh-CN" altLang="zh-CN" sz="1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zh-CN" sz="7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1193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25387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调研报告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spcBef>
                <a:spcPts val="0"/>
              </a:spcBef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如何用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编写程序建立倒排索引？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2ED8F2-CE4B-4FAD-B7F6-5D3DBF48F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3124200"/>
            <a:ext cx="6934200" cy="243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7423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404444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安装、配置和启动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 Sort </a:t>
            </a:r>
          </a:p>
          <a:p>
            <a:pPr lvl="1" indent="266700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当我们查看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Terasort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应用程序的代码时，没有看到有关的排序功能。但是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Terasort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程序又能够对大规模的数据进行排序，这是为什么呢？这是由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内部运行机制提供保证的。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每个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mapper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生成的数据首先缓存，缓存达到一定大小后，对数据进行排序，写入磁盘。一系列的磁盘小文件要进行合并，合并的过程，也保持数据的有序性。每个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mapper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的输出都划分为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份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(Segment)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，对应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Reducer task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对于每个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reducer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，从所有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mappper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接收应该由它处理的部分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(Segment)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，这个过程称为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Shuffle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。然后进行合并，合并的过程保持数据的有序性，即这是一个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Merge Sort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的过程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1FBA94-DE04-4EF7-9345-61162E233C0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17501"/>
            <a:ext cx="4495800" cy="167865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12BDB66-B5DE-4598-9C62-662A352E0C3D}"/>
              </a:ext>
            </a:extLst>
          </p:cNvPr>
          <p:cNvSpPr txBox="1"/>
          <p:nvPr/>
        </p:nvSpPr>
        <p:spPr>
          <a:xfrm>
            <a:off x="5486400" y="4572000"/>
            <a:ext cx="3124200" cy="11695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根据上述原理，我们看到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Terasort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reduce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函数都写得比较简单，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Terasort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程序依靠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运行平台的内部运行机制，实现了数据的排序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627812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Total sort order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2C9D08-33E2-4A4A-B0FE-AFBA7DE326F9}"/>
              </a:ext>
            </a:extLst>
          </p:cNvPr>
          <p:cNvSpPr/>
          <p:nvPr/>
        </p:nvSpPr>
        <p:spPr>
          <a:xfrm>
            <a:off x="533400" y="6477000"/>
            <a:ext cx="7696200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/>
              <a:t>http://blog.ditullio.fr/wp-content/uploads/2015/12/totalorderpartitioner_illustration.png</a:t>
            </a:r>
          </a:p>
        </p:txBody>
      </p:sp>
      <p:pic>
        <p:nvPicPr>
          <p:cNvPr id="1026" name="Picture 2" descr="http://blog.ditullio.fr/wp-content/uploads/2015/12/totalorderpartitioner_illustration.png">
            <a:extLst>
              <a:ext uri="{FF2B5EF4-FFF2-40B4-BE49-F238E27FC236}">
                <a16:creationId xmlns:a16="http://schemas.microsoft.com/office/drawing/2014/main" id="{A1CF5F56-18D5-4763-B2DB-7E469CBBA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976" y="79177"/>
            <a:ext cx="4327416" cy="6397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086699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07881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ragon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Dragon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ragon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3214</TotalTime>
  <Words>6472</Words>
  <Application>Microsoft Office PowerPoint</Application>
  <PresentationFormat>全屏显示(4:3)</PresentationFormat>
  <Paragraphs>1083</Paragraphs>
  <Slides>88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88</vt:i4>
      </vt:variant>
    </vt:vector>
  </HeadingPairs>
  <TitlesOfParts>
    <vt:vector size="102" baseType="lpstr">
      <vt:lpstr>华文楷体</vt:lpstr>
      <vt:lpstr>隶书</vt:lpstr>
      <vt:lpstr>宋体</vt:lpstr>
      <vt:lpstr>微软雅黑</vt:lpstr>
      <vt:lpstr>Arial</vt:lpstr>
      <vt:lpstr>Calibri</vt:lpstr>
      <vt:lpstr>Cambria</vt:lpstr>
      <vt:lpstr>Cambria Math</vt:lpstr>
      <vt:lpstr>Maiandra GD</vt:lpstr>
      <vt:lpstr>Times New Roman</vt:lpstr>
      <vt:lpstr>Wingdings</vt:lpstr>
      <vt:lpstr>Wingdings 2</vt:lpstr>
      <vt:lpstr>Wingdings 3</vt:lpstr>
      <vt:lpstr>Dragon</vt:lpstr>
      <vt:lpstr>Hadoop与Spark</vt:lpstr>
      <vt:lpstr>Hadoop安装与HDFS、MapReduce实验</vt:lpstr>
      <vt:lpstr>Hadoop安装与HDFS、MapReduce实验</vt:lpstr>
      <vt:lpstr>Hadoop安装与HDFS、MapReduce实验</vt:lpstr>
      <vt:lpstr>pause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pause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pause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pause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pause</vt:lpstr>
      <vt:lpstr>Hadoop安装与HDFS、MapReduce实验</vt:lpstr>
      <vt:lpstr>Hadoop安装与HDFS、MapReduce实验</vt:lpstr>
      <vt:lpstr>pause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pause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pause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pause</vt:lpstr>
      <vt:lpstr>Hadoop安装与HDFS、MapReduce实验</vt:lpstr>
      <vt:lpstr>Hadoop安装与HDFS、MapReduce实验</vt:lpstr>
      <vt:lpstr>Hadoop安装与HDFS、MapReduce实验</vt:lpstr>
      <vt:lpstr>Hadoop安装与HDFS、MapReduce实验</vt:lpstr>
      <vt:lpstr>pause</vt:lpstr>
      <vt:lpstr>Hadoop安装与HDFS、MapReduce实验</vt:lpstr>
      <vt:lpstr>pause</vt:lpstr>
      <vt:lpstr>Hadoop安装与HDFS、MapReduce实验</vt:lpstr>
      <vt:lpstr>Total sort order</vt:lpstr>
      <vt:lpstr>pause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Pebble</dc:creator>
  <cp:lastModifiedBy>雄派 覃</cp:lastModifiedBy>
  <cp:revision>813</cp:revision>
  <dcterms:created xsi:type="dcterms:W3CDTF">2006-08-16T00:00:00Z</dcterms:created>
  <dcterms:modified xsi:type="dcterms:W3CDTF">2023-04-24T09:45:15Z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