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610" r:id="rId2"/>
    <p:sldId id="285" r:id="rId3"/>
    <p:sldId id="611" r:id="rId4"/>
    <p:sldId id="692" r:id="rId5"/>
    <p:sldId id="612" r:id="rId6"/>
    <p:sldId id="613" r:id="rId7"/>
    <p:sldId id="614" r:id="rId8"/>
    <p:sldId id="693" r:id="rId9"/>
    <p:sldId id="615" r:id="rId10"/>
    <p:sldId id="616" r:id="rId11"/>
    <p:sldId id="617" r:id="rId12"/>
    <p:sldId id="618" r:id="rId13"/>
    <p:sldId id="619" r:id="rId14"/>
    <p:sldId id="620" r:id="rId15"/>
    <p:sldId id="62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D21623A-C671-2D44-B254-F252EBE76DF6}">
          <p14:sldIdLst>
            <p14:sldId id="610"/>
            <p14:sldId id="285"/>
            <p14:sldId id="611"/>
            <p14:sldId id="692"/>
            <p14:sldId id="612"/>
            <p14:sldId id="613"/>
            <p14:sldId id="614"/>
            <p14:sldId id="693"/>
            <p14:sldId id="615"/>
            <p14:sldId id="616"/>
            <p14:sldId id="617"/>
            <p14:sldId id="618"/>
            <p14:sldId id="619"/>
            <p14:sldId id="620"/>
            <p14:sldId id="62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95" autoAdjust="0"/>
    <p:restoredTop sz="93692" autoAdjust="0"/>
  </p:normalViewPr>
  <p:slideViewPr>
    <p:cSldViewPr>
      <p:cViewPr varScale="1">
        <p:scale>
          <a:sx n="76" d="100"/>
          <a:sy n="76" d="100"/>
        </p:scale>
        <p:origin x="1808" y="41"/>
      </p:cViewPr>
      <p:guideLst>
        <p:guide orient="horz" pos="21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5AC6C-9512-4B60-88A3-550D11AC211E}" type="datetimeFigureOut">
              <a:rPr lang="en-US" smtClean="0"/>
              <a:t>5/5/2023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A42DD-6D94-4698-832B-FD6413A89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45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3712DD02-EDF1-4DE5-8819-AAE28276EE89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18524F79-73A5-4710-9319-220E80AC0C1F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69D84AD9-88E4-47CB-8F2A-8AB59D90F7ED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/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en-US" altLang="zh-CN" dirty="0"/>
                  <a:t>Copy right </a:t>
                </a:r>
                <a14:m>
                  <m:oMath xmlns:m="http://schemas.openxmlformats.org/officeDocument/2006/math">
                    <m:r>
                      <a:rPr kumimoji="0"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  <a:blipFill>
                <a:blip r:embed="rId15"/>
                <a:stretch>
                  <a:fillRect l="-3930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D14F7-0E7F-8548-85E8-931FFC6E8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Spark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829591-AB44-3C4B-B84E-713A444B9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309818"/>
          </a:xfrm>
        </p:spPr>
        <p:txBody>
          <a:bodyPr>
            <a:norm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 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840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GraphX</a:t>
            </a:r>
            <a:r>
              <a:rPr lang="zh-CN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的一个组件，用于对图数据进行分析</a:t>
            </a:r>
            <a:endParaRPr lang="en-US" altLang="zh-CN" sz="2000" dirty="0">
              <a:solidFill>
                <a:srgbClr val="1D1F2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GraphX</a:t>
            </a:r>
            <a:r>
              <a:rPr lang="zh-CN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</a:t>
            </a:r>
            <a:r>
              <a:rPr lang="zh-CN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数据集进行了扩展，用来描述图数据</a:t>
            </a:r>
            <a:endParaRPr lang="en-US" altLang="zh-CN" sz="2000" dirty="0">
              <a:solidFill>
                <a:srgbClr val="1D1F2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的图，是一种有向的属性图，即可以给顶点和边设置属性</a:t>
            </a:r>
            <a:endParaRPr lang="en-US" altLang="zh-CN" sz="2000" dirty="0">
              <a:solidFill>
                <a:srgbClr val="1D1F2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2000" dirty="0">
              <a:solidFill>
                <a:srgbClr val="1D1F2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为了支持图数据的处理和分析，</a:t>
            </a:r>
            <a:r>
              <a:rPr lang="en-US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GraphX</a:t>
            </a:r>
            <a:r>
              <a:rPr lang="zh-CN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实现了一系列基本操作符</a:t>
            </a:r>
            <a:r>
              <a:rPr lang="en-US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(Operator)</a:t>
            </a:r>
            <a:r>
              <a:rPr lang="zh-CN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，包括子图</a:t>
            </a:r>
            <a:r>
              <a:rPr lang="en-US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SubGraph</a:t>
            </a:r>
            <a:r>
              <a:rPr lang="en-US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、顶点连接</a:t>
            </a:r>
            <a:r>
              <a:rPr lang="en-US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JoinVertices</a:t>
            </a:r>
            <a:r>
              <a:rPr lang="en-US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、以及消息聚集等</a:t>
            </a:r>
            <a:r>
              <a:rPr lang="en-US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AggregateMessages</a:t>
            </a:r>
            <a:r>
              <a:rPr lang="en-US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pPr indent="266700" algn="just"/>
            <a:r>
              <a:rPr lang="zh-CN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此外，</a:t>
            </a:r>
            <a:r>
              <a:rPr lang="en-US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GraphX</a:t>
            </a:r>
            <a:r>
              <a:rPr lang="zh-CN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还提供了</a:t>
            </a:r>
            <a:r>
              <a:rPr lang="en-US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Pregel API</a:t>
            </a:r>
            <a:r>
              <a:rPr lang="zh-CN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的变种，方便用户编程。在此基础上，</a:t>
            </a:r>
            <a:r>
              <a:rPr lang="en-US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GraphX</a:t>
            </a:r>
            <a:r>
              <a:rPr lang="zh-CN" altLang="zh-CN" sz="20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已经实现了一批图数据处理算法，以加快用户开发图数据处理软件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7374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GraphX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的属性图是一种有向图，它的顶点和边被赋予了各种属性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标签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展示了一个简单的属性图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比如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的顶点有两个标签，即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rxin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student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，而顶点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有两个标签，即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franklin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professor</a:t>
            </a: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从顶点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到顶点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有一条边，这条边有一个标签，即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PI</a:t>
            </a: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这个图，描述了若干教授、博士后、学生之间的导师、同事、合作、项目负责人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(PI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Principal Investigator)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等关系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The Property Graph">
            <a:extLst>
              <a:ext uri="{FF2B5EF4-FFF2-40B4-BE49-F238E27FC236}">
                <a16:creationId xmlns:a16="http://schemas.microsoft.com/office/drawing/2014/main" id="{6345F0B8-B71C-4F4D-8E2B-E45F0FCF4BB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093210"/>
            <a:ext cx="3886200" cy="26123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1619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7858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属性图实例代码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可以使用如下代码建立这个属性图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The Property Graph">
            <a:extLst>
              <a:ext uri="{FF2B5EF4-FFF2-40B4-BE49-F238E27FC236}">
                <a16:creationId xmlns:a16="http://schemas.microsoft.com/office/drawing/2014/main" id="{6345F0B8-B71C-4F4D-8E2B-E45F0FCF4BB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533" y="1010824"/>
            <a:ext cx="2978785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29F4A73-C5E5-4670-8ABE-F300DE9A3945}"/>
              </a:ext>
            </a:extLst>
          </p:cNvPr>
          <p:cNvSpPr txBox="1"/>
          <p:nvPr/>
        </p:nvSpPr>
        <p:spPr>
          <a:xfrm>
            <a:off x="568007" y="2895600"/>
            <a:ext cx="8084185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org.apache.spark.graphx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.{Edge, Graph,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VertexId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org.apache.spark.rdd.RDD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org.apache.spark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.{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SparkConf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SparkContext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conf = new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SparkConf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().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setAppName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MyGraphX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new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SparkContext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(conf)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Assume the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SparkContext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has already been constructed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Create an RDD for the vertices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users: RDD[(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VertexId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(String, String))] =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sc.parallelize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(Array((3L, ("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rxin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", "student")), (7L, ("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jgonzal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", "postdoc")),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(5L, ("franklin", "prof")), (2L, ("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istoica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", "prof"))))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Create an RDD for edges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relationships: RDD[Edge[String]] =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sc.parallelize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(Array(Edge(3L, 7L, "collab"),    Edge(5L, 3L, "advisor"),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Edge(2L, 5L, "colleague"), Edge(5L, 7L, "pi")))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Define a default user in case there are relationship with missing user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defaultUser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("John Doe", "Missing")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Build the initial Graph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val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graph = Graph(users, relationships,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defaultUser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31358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属性图实例代码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属性图建立好以后，可以对顶点进行查询，对边进行查询。下面的代码把第二个顶点属性为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postdoc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的顶点查出来，把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source id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大于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dest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id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的边查出来，最后把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dest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id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的边查出来</a:t>
            </a:r>
            <a:r>
              <a:rPr lang="zh-CN" altLang="zh-CN" sz="1100" dirty="0">
                <a:effectLst/>
              </a:rPr>
              <a:t> 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https://www.cnblogs.com/chenmingjun/p/10797753.html.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9F4A73-C5E5-4670-8ABE-F300DE9A3945}"/>
              </a:ext>
            </a:extLst>
          </p:cNvPr>
          <p:cNvSpPr txBox="1"/>
          <p:nvPr/>
        </p:nvSpPr>
        <p:spPr>
          <a:xfrm>
            <a:off x="568007" y="2895600"/>
            <a:ext cx="8084185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Count all users which are postdocs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verticesCount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graph.vertices.filter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{ case (id, (name, pos)) =&gt; pos == "postdoc" }.count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println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verticesCount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Count all the edges where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src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&gt;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dst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edgeCount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graph.edges.filter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(e =&gt;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e.srcId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&gt;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e.dstId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).count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println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edgeCount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Count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dst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is 7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edgeCount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graph.edges.filter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(e =&gt;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e.dstId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==7L ).count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println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edgeCount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show edges who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dst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is 7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someEdges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graph.edges.filter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(e =&gt;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e.dstId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==7L 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someEdges.glom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().collect()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712850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属性图实例代码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这段代码是用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scala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编写的，可以用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shell(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scala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来运行。启动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shell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的命令为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注意，应该首先启动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YARN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Hive 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metastore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9F4A73-C5E5-4670-8ABE-F300DE9A3945}"/>
              </a:ext>
            </a:extLst>
          </p:cNvPr>
          <p:cNvSpPr txBox="1"/>
          <p:nvPr/>
        </p:nvSpPr>
        <p:spPr>
          <a:xfrm>
            <a:off x="568007" y="2895600"/>
            <a:ext cx="8084185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/spark/bin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MASTER=spark://hd-master:17077 ./spark-shell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\\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退出用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:quit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393412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6478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Page Rank</a:t>
            </a:r>
          </a:p>
          <a:p>
            <a:pPr indent="266700" algn="just"/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在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软件包的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/opt/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/spark/data/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graphx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目录下，有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users.txt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以及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follower.txt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等两个文件，分别表示用户和用户的关系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这两个文件具有特定的格式</a:t>
            </a:r>
          </a:p>
          <a:p>
            <a:pPr indent="266700" algn="just"/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users.txt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文件的内容如下。每一行表示一个节点，首先是节点编号，接着是节点的名称，最后是节点的描述</a:t>
            </a:r>
          </a:p>
          <a:p>
            <a:pPr indent="266700" algn="just"/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9F4A73-C5E5-4670-8ABE-F300DE9A3945}"/>
              </a:ext>
            </a:extLst>
          </p:cNvPr>
          <p:cNvSpPr txBox="1"/>
          <p:nvPr/>
        </p:nvSpPr>
        <p:spPr>
          <a:xfrm>
            <a:off x="632228" y="3581400"/>
            <a:ext cx="8084185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1,BarackObama,Barack Obama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2,ladygaga,Goddess of Love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3,jeresig,John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Resig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4,justinbieber,Justin Bieber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6,matei_zaharia,Matei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Zaharia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7,odersky,Martin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Odersky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8,anonsys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76329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Page Rank</a:t>
            </a:r>
          </a:p>
          <a:p>
            <a:pPr indent="266700" algn="just"/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follower.txt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文件的内容如下。每一行给出一条边，用开始节点编号和结束节点编号表示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9F4A73-C5E5-4670-8ABE-F300DE9A3945}"/>
              </a:ext>
            </a:extLst>
          </p:cNvPr>
          <p:cNvSpPr txBox="1"/>
          <p:nvPr/>
        </p:nvSpPr>
        <p:spPr>
          <a:xfrm>
            <a:off x="632228" y="3581400"/>
            <a:ext cx="8084185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2 1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4 1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1 2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6 3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7 3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7 6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6 7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3 7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225527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Page Rank</a:t>
            </a: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可以在这个数据集上运行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PageRank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算法，计算每个用户的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PageRank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值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PageRank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的示例代码，用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scala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语言缩写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首先，导入必要的类</a:t>
            </a:r>
            <a:endParaRPr lang="en-US" altLang="zh-CN" sz="1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装载数据集，把边表</a:t>
            </a:r>
            <a:r>
              <a:rPr lang="en-US" altLang="zh-CN" sz="18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8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即关系表</a:t>
            </a:r>
            <a:r>
              <a:rPr lang="en-US" altLang="zh-CN" sz="18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装载进来，创建</a:t>
            </a:r>
            <a:r>
              <a:rPr lang="en-US" altLang="zh-CN" sz="18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Graph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zh-CN" altLang="zh-CN" sz="16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9F4A73-C5E5-4670-8ABE-F300DE9A3945}"/>
              </a:ext>
            </a:extLst>
          </p:cNvPr>
          <p:cNvSpPr txBox="1"/>
          <p:nvPr/>
        </p:nvSpPr>
        <p:spPr>
          <a:xfrm>
            <a:off x="529907" y="4113074"/>
            <a:ext cx="8084185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org.apache.spark.graphx.GraphLoader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Load the edges as a graph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graph =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GraphLoader.edgeListFile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"file:///opt/linuxsir/spark/data/graphx/followers.txt")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097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Page Rank</a:t>
            </a:r>
          </a:p>
          <a:p>
            <a:pPr indent="266700" algn="just"/>
            <a:r>
              <a:rPr lang="zh-CN" altLang="zh-CN" sz="18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</a:t>
            </a:r>
            <a:r>
              <a:rPr lang="en-US" altLang="zh-CN" sz="18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PageRank</a:t>
            </a:r>
            <a:r>
              <a:rPr lang="zh-CN" altLang="zh-CN" sz="18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9F4A73-C5E5-4670-8ABE-F300DE9A3945}"/>
              </a:ext>
            </a:extLst>
          </p:cNvPr>
          <p:cNvSpPr txBox="1"/>
          <p:nvPr/>
        </p:nvSpPr>
        <p:spPr>
          <a:xfrm>
            <a:off x="529907" y="3543547"/>
            <a:ext cx="8084185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Run PageRank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ranks =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graph.pageRank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(0.0001).vertices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220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Page Rank</a:t>
            </a:r>
          </a:p>
          <a:p>
            <a:pPr indent="266700" algn="just"/>
            <a:r>
              <a:rPr lang="zh-CN" altLang="zh-CN" sz="18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把算出的</a:t>
            </a:r>
            <a:r>
              <a:rPr lang="en-US" altLang="zh-CN" sz="18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PageRank</a:t>
            </a:r>
            <a:r>
              <a:rPr lang="zh-CN" altLang="zh-CN" sz="18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值，和</a:t>
            </a:r>
            <a:r>
              <a:rPr lang="en-US" altLang="zh-CN" sz="18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User</a:t>
            </a:r>
            <a:r>
              <a:rPr lang="zh-CN" altLang="zh-CN" sz="18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数据做关联，以便显示每个用户的</a:t>
            </a:r>
            <a:r>
              <a:rPr lang="en-US" altLang="zh-CN" sz="18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PageRank</a:t>
            </a:r>
            <a:r>
              <a:rPr lang="zh-CN" altLang="zh-CN" sz="18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，而不是把用户的编号显示出来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9F4A73-C5E5-4670-8ABE-F300DE9A3945}"/>
              </a:ext>
            </a:extLst>
          </p:cNvPr>
          <p:cNvSpPr txBox="1"/>
          <p:nvPr/>
        </p:nvSpPr>
        <p:spPr>
          <a:xfrm>
            <a:off x="529907" y="3543547"/>
            <a:ext cx="8084185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Join the ranks with the usernames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users =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sc.textFile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("file:///opt/linuxsir/spark/data/graphx/users.txt").map { line =&gt;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fields =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line.split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(",")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(fields(0).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toLong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fields(1))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ranksByUsername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users.join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(ranks).map {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case (id, (username, rank)) =&gt; (username, rank)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219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Page Rank</a:t>
            </a:r>
          </a:p>
          <a:p>
            <a:pPr indent="266700" algn="just"/>
            <a:r>
              <a:rPr lang="zh-CN" altLang="zh-CN" sz="1800" dirty="0">
                <a:solidFill>
                  <a:srgbClr val="1D1F2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显示结果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9F4A73-C5E5-4670-8ABE-F300DE9A3945}"/>
              </a:ext>
            </a:extLst>
          </p:cNvPr>
          <p:cNvSpPr txBox="1"/>
          <p:nvPr/>
        </p:nvSpPr>
        <p:spPr>
          <a:xfrm>
            <a:off x="529907" y="2667000"/>
            <a:ext cx="8084185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Print the result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println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ranksByUsername.collect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mkString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("\n"))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E7E060-F255-4C02-A985-7371EA75CEBF}"/>
              </a:ext>
            </a:extLst>
          </p:cNvPr>
          <p:cNvSpPr txBox="1"/>
          <p:nvPr/>
        </p:nvSpPr>
        <p:spPr>
          <a:xfrm>
            <a:off x="568007" y="3655072"/>
            <a:ext cx="8084185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输出结果如下。</a:t>
            </a: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(justinbieber,0.15)</a:t>
            </a: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(matei_zaharia,0.7013599933629602)</a:t>
            </a: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(ladygaga,1.390049198216498)</a:t>
            </a: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(BarackObama,1.4588814096664682)</a:t>
            </a: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(jeresig,0.9993442038507723)</a:t>
            </a: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(odersky,1.2973176314422592)</a:t>
            </a:r>
          </a:p>
        </p:txBody>
      </p:sp>
    </p:spTree>
    <p:extLst>
      <p:ext uri="{BB962C8B-B14F-4D97-AF65-F5344CB8AC3E}">
        <p14:creationId xmlns:p14="http://schemas.microsoft.com/office/powerpoint/2010/main" val="2404925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Page Rank</a:t>
            </a: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这段代码是用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scala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编写的，可以用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shell(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scala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来运行。启动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shell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的命令为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注意，首先启动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YARN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Hive 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metastore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、以及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</a:p>
          <a:p>
            <a:pPr indent="266700" algn="just"/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关闭软件的顺序为退出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spark-shell</a:t>
            </a:r>
          </a:p>
          <a:p>
            <a:pPr indent="266700" algn="just"/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关闭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 metastore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YARN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GraphX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9F4A73-C5E5-4670-8ABE-F300DE9A3945}"/>
              </a:ext>
            </a:extLst>
          </p:cNvPr>
          <p:cNvSpPr txBox="1"/>
          <p:nvPr/>
        </p:nvSpPr>
        <p:spPr>
          <a:xfrm>
            <a:off x="529907" y="2895600"/>
            <a:ext cx="8084185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/spark/bin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MASTER=spark://hd-master:17077 ./spark-shell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\\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退出用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:quit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6556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ragon">
  <a:themeElements>
    <a:clrScheme name="Dragon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Dragon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Dragon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3229</TotalTime>
  <Words>1030</Words>
  <Application>Microsoft Office PowerPoint</Application>
  <PresentationFormat>全屏显示(4:3)</PresentationFormat>
  <Paragraphs>162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华文楷体</vt:lpstr>
      <vt:lpstr>隶书</vt:lpstr>
      <vt:lpstr>宋体</vt:lpstr>
      <vt:lpstr>微软雅黑</vt:lpstr>
      <vt:lpstr>Arial</vt:lpstr>
      <vt:lpstr>Calibri</vt:lpstr>
      <vt:lpstr>Cambria</vt:lpstr>
      <vt:lpstr>Cambria Math</vt:lpstr>
      <vt:lpstr>Maiandra GD</vt:lpstr>
      <vt:lpstr>Times New Roman</vt:lpstr>
      <vt:lpstr>Wingdings 2</vt:lpstr>
      <vt:lpstr>Wingdings 3</vt:lpstr>
      <vt:lpstr>Dragon</vt:lpstr>
      <vt:lpstr>Hadoop与Spark</vt:lpstr>
      <vt:lpstr>Spark GraphX</vt:lpstr>
      <vt:lpstr>Spark GraphX</vt:lpstr>
      <vt:lpstr>pause</vt:lpstr>
      <vt:lpstr>Spark GraphX</vt:lpstr>
      <vt:lpstr>Spark GraphX</vt:lpstr>
      <vt:lpstr>Spark GraphX</vt:lpstr>
      <vt:lpstr>pause</vt:lpstr>
      <vt:lpstr>Spark GraphX</vt:lpstr>
      <vt:lpstr>Spark GraphX</vt:lpstr>
      <vt:lpstr>Spark GraphX</vt:lpstr>
      <vt:lpstr>Spark GraphX</vt:lpstr>
      <vt:lpstr>Spark GraphX</vt:lpstr>
      <vt:lpstr>Spark GraphX</vt:lpstr>
      <vt:lpstr>Spark GraphX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Pebble</dc:creator>
  <cp:lastModifiedBy>雄派 覃</cp:lastModifiedBy>
  <cp:revision>818</cp:revision>
  <dcterms:created xsi:type="dcterms:W3CDTF">2006-08-16T00:00:00Z</dcterms:created>
  <dcterms:modified xsi:type="dcterms:W3CDTF">2023-05-05T12:14:38Z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