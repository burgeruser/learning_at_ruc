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610" r:id="rId2"/>
    <p:sldId id="285" r:id="rId3"/>
    <p:sldId id="611" r:id="rId4"/>
    <p:sldId id="612" r:id="rId5"/>
    <p:sldId id="613" r:id="rId6"/>
    <p:sldId id="614" r:id="rId7"/>
    <p:sldId id="615" r:id="rId8"/>
    <p:sldId id="616" r:id="rId9"/>
    <p:sldId id="617" r:id="rId10"/>
    <p:sldId id="618" r:id="rId11"/>
    <p:sldId id="619" r:id="rId12"/>
    <p:sldId id="620" r:id="rId13"/>
    <p:sldId id="692" r:id="rId14"/>
    <p:sldId id="621" r:id="rId15"/>
    <p:sldId id="623" r:id="rId16"/>
    <p:sldId id="622" r:id="rId17"/>
    <p:sldId id="624" r:id="rId18"/>
    <p:sldId id="625" r:id="rId19"/>
    <p:sldId id="626" r:id="rId20"/>
    <p:sldId id="627" r:id="rId21"/>
    <p:sldId id="628" r:id="rId22"/>
    <p:sldId id="629" r:id="rId23"/>
    <p:sldId id="630" r:id="rId24"/>
    <p:sldId id="631" r:id="rId25"/>
    <p:sldId id="632" r:id="rId26"/>
    <p:sldId id="633" r:id="rId27"/>
    <p:sldId id="634" r:id="rId28"/>
    <p:sldId id="635" r:id="rId29"/>
    <p:sldId id="636" r:id="rId30"/>
    <p:sldId id="637" r:id="rId31"/>
    <p:sldId id="638" r:id="rId32"/>
    <p:sldId id="639" r:id="rId33"/>
    <p:sldId id="640" r:id="rId34"/>
    <p:sldId id="641" r:id="rId35"/>
    <p:sldId id="642" r:id="rId36"/>
    <p:sldId id="643" r:id="rId37"/>
    <p:sldId id="693" r:id="rId38"/>
    <p:sldId id="644" r:id="rId39"/>
    <p:sldId id="645" r:id="rId40"/>
    <p:sldId id="646" r:id="rId41"/>
    <p:sldId id="647" r:id="rId42"/>
    <p:sldId id="648" r:id="rId43"/>
    <p:sldId id="649" r:id="rId44"/>
    <p:sldId id="650" r:id="rId45"/>
    <p:sldId id="651" r:id="rId46"/>
    <p:sldId id="694" r:id="rId47"/>
    <p:sldId id="652" r:id="rId48"/>
    <p:sldId id="653" r:id="rId49"/>
    <p:sldId id="654" r:id="rId50"/>
    <p:sldId id="655" r:id="rId51"/>
    <p:sldId id="656" r:id="rId52"/>
    <p:sldId id="657" r:id="rId53"/>
    <p:sldId id="695" r:id="rId54"/>
    <p:sldId id="658" r:id="rId55"/>
    <p:sldId id="659" r:id="rId56"/>
    <p:sldId id="660" r:id="rId57"/>
    <p:sldId id="661" r:id="rId58"/>
    <p:sldId id="696" r:id="rId59"/>
    <p:sldId id="662" r:id="rId60"/>
    <p:sldId id="663" r:id="rId61"/>
    <p:sldId id="697" r:id="rId62"/>
    <p:sldId id="664" r:id="rId63"/>
    <p:sldId id="665" r:id="rId64"/>
    <p:sldId id="666" r:id="rId65"/>
    <p:sldId id="667" r:id="rId66"/>
    <p:sldId id="668" r:id="rId67"/>
    <p:sldId id="698" r:id="rId68"/>
    <p:sldId id="669" r:id="rId69"/>
    <p:sldId id="704" r:id="rId70"/>
    <p:sldId id="670" r:id="rId71"/>
    <p:sldId id="671" r:id="rId72"/>
    <p:sldId id="672" r:id="rId73"/>
    <p:sldId id="673" r:id="rId74"/>
    <p:sldId id="699" r:id="rId75"/>
    <p:sldId id="701" r:id="rId76"/>
    <p:sldId id="702" r:id="rId77"/>
    <p:sldId id="703" r:id="rId78"/>
    <p:sldId id="674" r:id="rId79"/>
    <p:sldId id="675" r:id="rId80"/>
    <p:sldId id="676" r:id="rId81"/>
    <p:sldId id="677" r:id="rId82"/>
    <p:sldId id="678" r:id="rId83"/>
    <p:sldId id="679" r:id="rId84"/>
    <p:sldId id="680" r:id="rId85"/>
    <p:sldId id="681" r:id="rId86"/>
    <p:sldId id="682" r:id="rId87"/>
    <p:sldId id="683" r:id="rId88"/>
    <p:sldId id="684" r:id="rId89"/>
    <p:sldId id="685" r:id="rId90"/>
    <p:sldId id="700" r:id="rId9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92"/>
            <p14:sldId id="621"/>
            <p14:sldId id="623"/>
            <p14:sldId id="622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9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94"/>
            <p14:sldId id="652"/>
            <p14:sldId id="653"/>
            <p14:sldId id="654"/>
            <p14:sldId id="655"/>
            <p14:sldId id="656"/>
            <p14:sldId id="657"/>
            <p14:sldId id="695"/>
            <p14:sldId id="658"/>
            <p14:sldId id="659"/>
            <p14:sldId id="660"/>
            <p14:sldId id="661"/>
            <p14:sldId id="696"/>
            <p14:sldId id="662"/>
            <p14:sldId id="663"/>
            <p14:sldId id="697"/>
            <p14:sldId id="664"/>
            <p14:sldId id="665"/>
            <p14:sldId id="666"/>
            <p14:sldId id="667"/>
            <p14:sldId id="668"/>
            <p14:sldId id="698"/>
            <p14:sldId id="669"/>
            <p14:sldId id="704"/>
            <p14:sldId id="670"/>
            <p14:sldId id="671"/>
            <p14:sldId id="672"/>
            <p14:sldId id="673"/>
            <p14:sldId id="699"/>
            <p14:sldId id="701"/>
            <p14:sldId id="702"/>
            <p14:sldId id="70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7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>
        <p:scale>
          <a:sx n="70" d="100"/>
          <a:sy n="70" d="100"/>
        </p:scale>
        <p:origin x="1979" y="174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.apache.org/docs/latest/sql-data-sources-parquet.html" TargetMode="External"/><Relationship Id="rId2" Type="http://schemas.openxmlformats.org/officeDocument/2006/relationships/hyperlink" Target="http://blog.cloudera.com/blog/2014/03/how-to-use-parquet-with-impala-hive-pig-mapreduce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kontext.tech/column/spark/257/write-and-read-parquet-files-in-hdfs-through-sparkscala" TargetMode="Externa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 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是基于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的一个数据仓库系统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它将结构化的数据文件映射为一张数据库表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查询语言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(Hive Query Language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，简称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，类似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的查询语言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所编写的语句，转换为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(Job)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，然后在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平台上运行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，用户通过类似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的查询语言，快速实现简单的数据分析和统计，学习成本低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大量熟悉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语言的开发者、数据分析人员，都可以很快地学会使用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进行数据分析，</a:t>
            </a:r>
            <a:r>
              <a:rPr lang="zh-CN" altLang="zh-CN" sz="18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不必开发专门的</a:t>
            </a:r>
            <a:r>
              <a:rPr lang="en-US" altLang="zh-CN" sz="18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18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简介：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与传统的关系数据库的差别</a:t>
            </a:r>
            <a:endParaRPr lang="zh-CN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分布式文件系统存储数据库数据，而关系数据库则是使用服务器的本地文件系统存储数据库数据。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计算模型实现查询处理，关系数据库则是使用自有的查询处理模型，比如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Shared Nothing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无共享架构下的并行查询处理模型。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关系数据库主要为高性能查询而设计，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的设计目标则是对海量数据进行分析处理，其实时性没有关系数据库好，因此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和关系数据库的应用场景是不同的。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具有强大的扩展能力，可以很容易地对存储能力和计算能力进行扩展。而关系数据库在扩展性方面则要差很多，目前没有关系数据库系统能够扩展到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1,000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台以上的集群规模。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(5)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关系数据库在数据加载的时候，要求数据必须符合数据库表的模式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表结构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，否则不能加载，称为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写时模式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 (Writing Time Schema)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在数据加载的时候，无需进行模式检查，在读取数据的时候，再对数据以一定的模式进行解释，称为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读时模式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”(Reading Time Schema)</a:t>
            </a: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(6)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关系数据库，可以对某行数据进行更新、删除等操作，并且支持事务处理。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不支持某个具体数据行的修改，它只支持数据的追加功能。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也不支持事务和索引。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的设计目标是对海量数据进行分析处理，一般需要对数据进行全部扫描。对于更新操作，需要将原来表格里的数据进行更改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后，写入一个新的表格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0916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的组件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系统，包括如下组件：命令行接口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CLI (Command Line Interface)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JDBC/ODBC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驱动程序、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Thrift Server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WEB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图形用户界面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(Graphic User Interface, GUI)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、元信息管理器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Driver(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Complier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Optimizer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Executor)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这些组件可以分为两大类，即服务端组件和客户端组件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4DF860-8248-4381-ADF1-1D2AF9996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3962400"/>
            <a:ext cx="5181600" cy="202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2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的组件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服务器端组件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的服务端组件包括：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(1) Driver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：该组件包括编译器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(Complier)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、优化器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(Optimizer)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、和执行器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(Executor)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，它的作用是将用户编写的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查询语句进行解析、编译、优化，生成执行计划，然后调用底层的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计算模型来执行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元信息管理器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：是元数据管理组件，负责存储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的元数据。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的元数据存储在关系数据库里，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支持的关系数据库有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Derby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Oracle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等。元数据对于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的正确运行，举足轻重。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允许把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服务独立出来，安装到远程的服务器集群里，从而解耦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服务和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服务，保证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运行的健壮性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(3) Thrift Server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Thrift Server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Facebook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开发的一个软件框架，用于开发可扩展的、跨语言的服务接口。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集成了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Thrift Server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服务器，支持不同的编程语言调用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的接口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5463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的组件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客户端组件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的客户端组件包括：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命令行接口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CLI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：命令行接口允许用户交互式地使用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 Thrift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客户端：包括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JDBC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ODBC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驱动程序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(3) WEB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图形用户界面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(GUI)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客户端提供了一种通过网页，访问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服务的方式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图形用户界面访问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，必须首先启动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HWI(Hive Web Interface)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8347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查询处理过程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用户提交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查询给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Driver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Driver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把查询交给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Compiler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进行编译和检查，中间需要参考元信息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查询转换成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 Job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以后，交给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Execution Engine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执行，调用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RunTime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 Job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 Job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存取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，对数据进行处理。查询结果返回给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Driver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，并最后返回用户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8FF8ED-5394-462E-860B-2AE47AFD5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038600"/>
            <a:ext cx="4800600" cy="237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0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数据模型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支持的数据类型，包括整型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(Integer)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、浮点型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(Float)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、双精度浮点型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(Double)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，以及字符串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(String)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还支持更加复杂的数据类型，包括映射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(Map)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、列表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(List)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和结构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(Struct)</a:t>
            </a: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这些复杂类型可以通过嵌套，表达更加复杂的类型。除此之外，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允许用户自己定义类型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(Type)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和函数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(Function)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，来扩展系统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和标准的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语言非常相似，熟悉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语言的开发者和数据分析者，很容易理解和掌握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349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数据模型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使用传统数据库使用的表格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(Table)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(Row)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(Column)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、分区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(Partition)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等概念，易于理解。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的数据模型包括几个主要的管理层次，分别是数据库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(Database)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、表格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(Table)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、分区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(Partition)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(Bucket)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等。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(Database)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：相当于关系数据库里的命名空间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(Namespace)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。它的作用是将不同用户的数据，隔离到不同的数据库和模式中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表格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(Table)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的表格，逻辑上由数据和描述数据格式的元数据组成。表格的数据存放在分布式文件系统里，即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，元数据存储在关系数据库里。当我们创建一张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表格，还没有为表格加载数据的时候，该表格在分布式文件系统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上，就是一个目录。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里的表格分为两种类型，一种叫托管表，这种表的数据文件存储在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的数据仓库里，一种叫外部表，这种表的数据文件可以存放在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数据仓库外部的分布式文件系统上，也可以放到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数据仓库里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的数据仓库就是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上的一个目录，这个目录是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数据文件存储的默认路径，相关元信息会存放到元数据库里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714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数据模型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(3)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分区</a:t>
            </a:r>
            <a:r>
              <a:rPr lang="en-US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(Partition)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里的分区是根据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分区列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的值，对表格的数据进行粗略划分的机制。在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存储上，表格的主目录下的一个子目录，它的名字就是我们定义的分区列的名字。分区列不是表里的某个实际字段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，而是一个虚拟的属性列。根据这个列，划分和存储表格里的数据。使用分区是为了加快查询速度而设计的，如果我们的查询，仅仅需要存取部分数据的时候，就没有必要进行全表扫描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比如，我们通过如下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语句建立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logs(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日志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表格，表格的字段包括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line(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日志的内容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，并且进行分区，分区字段为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dt(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日期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country(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国家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我们可以在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命令行程序里，执行如何语句把数据导入这张表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9D6C5D-23BF-45DB-87FB-648730969416}"/>
              </a:ext>
            </a:extLst>
          </p:cNvPr>
          <p:cNvSpPr txBox="1"/>
          <p:nvPr/>
        </p:nvSpPr>
        <p:spPr>
          <a:xfrm>
            <a:off x="990600" y="4572000"/>
            <a:ext cx="76200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Create Table logs 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bigint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line string) Partitioned By (dt string, country string);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CE0679-C5AF-4366-8DA3-2C0F3064DBE9}"/>
              </a:ext>
            </a:extLst>
          </p:cNvPr>
          <p:cNvSpPr txBox="1"/>
          <p:nvPr/>
        </p:nvSpPr>
        <p:spPr>
          <a:xfrm>
            <a:off x="914400" y="5435118"/>
            <a:ext cx="76962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Load data local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inpath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‘/home/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/file01.txt’ into table logs partition (dt=’2013-06-02’, country=’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340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数据模型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(3)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分区</a:t>
            </a:r>
            <a:r>
              <a:rPr lang="en-US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(Partition)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那么在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数据仓库里，数据实际存储的路径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分布式文件系统路径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如下所示。注意，我们还通过另外的命令，把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dt=2013-06-02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country=us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的数据导了进去。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我们看到在表格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对应的目录下，有了两层子目录，比如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dt=2013-06-02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country=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。当我们执行如下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查询的时候，查询操作只会扫描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file1.txt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file2.txt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9D6C5D-23BF-45DB-87FB-648730969416}"/>
              </a:ext>
            </a:extLst>
          </p:cNvPr>
          <p:cNvSpPr txBox="1"/>
          <p:nvPr/>
        </p:nvSpPr>
        <p:spPr>
          <a:xfrm>
            <a:off x="990600" y="3230791"/>
            <a:ext cx="76200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/user/hive/warehouse/logs/dt=2013-06-02/country=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/file1.txt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/user/hive/warehouse/logs/dt=2013-06-02/country=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/file2.txt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/user/hive/warehouse/logs/dt=2013-06-02/country=us/file3.txt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/user/hive/warehouse/logs/dt=2013-06-02/country=us/file4.txt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CE0679-C5AF-4366-8DA3-2C0F3064DBE9}"/>
              </a:ext>
            </a:extLst>
          </p:cNvPr>
          <p:cNvSpPr txBox="1"/>
          <p:nvPr/>
        </p:nvSpPr>
        <p:spPr>
          <a:xfrm>
            <a:off x="914400" y="5715000"/>
            <a:ext cx="76962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Select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dt, line from logs where country=’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9490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数据模型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970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桶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Bucket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Partition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都是目录级别的数据拆分。使用桶的表格，将数据文件按一定规律拆分成多个文件，每个桶就是表目录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或者分区子目录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里的一个文件。数据的分桶，一般通过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Hash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函数实现。创建表的时候，用户指定需要的桶的数量，以及使用哪个数据列进行分桶操作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(Bucket the Data)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当用户执行一个采样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(Sample)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查询的时候，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可以使用分桶信息，有效地裁剪数据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(Prune Data)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。比如有一个数据库表，每个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个桶。我们可以提取每个目录下的第一个桶文件，生成一个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1/32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数据量的采样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1743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99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之前，首先安装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，并且停止所有的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服务，包括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在进行查询处理时，只是做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的转换，并且把元数据存在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MySQL/Derby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所以只需要在主节点安装、配置一个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即可，适用于单节点部署，也适用于集群部署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771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进行元信息管理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DA2B7E-278B-4EDF-A9B7-FBAB6E64A5C7}"/>
              </a:ext>
            </a:extLst>
          </p:cNvPr>
          <p:cNvSpPr txBox="1"/>
          <p:nvPr/>
        </p:nvSpPr>
        <p:spPr>
          <a:xfrm>
            <a:off x="685800" y="2286000"/>
            <a:ext cx="7772400" cy="28315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安装MySQL。</a:t>
            </a:r>
          </a:p>
          <a:p>
            <a:r>
              <a:rPr lang="zh-CN" altLang="en-US" sz="1600" dirty="0"/>
              <a:t>yum install mariadb mariadb-server \\询问是否要安装，输入Y即可自动安装</a:t>
            </a:r>
          </a:p>
          <a:p>
            <a:endParaRPr lang="zh-CN" altLang="en-US" sz="1600" dirty="0"/>
          </a:p>
          <a:p>
            <a:r>
              <a:rPr lang="zh-CN" altLang="en-US" sz="1600" dirty="0"/>
              <a:t>拷贝MySQL缺省配置文件。</a:t>
            </a:r>
          </a:p>
          <a:p>
            <a:r>
              <a:rPr lang="zh-CN" altLang="en-US" sz="1600" dirty="0"/>
              <a:t>cp /usr/share/mysql/my-huge.cnf /etc/my.cnf </a:t>
            </a:r>
          </a:p>
          <a:p>
            <a:r>
              <a:rPr lang="zh-CN" altLang="en-US" sz="1600" dirty="0"/>
              <a:t>\\ 拷贝配置文件，如果/etc目录下面默认有一个my.cnf，直接覆盖即可</a:t>
            </a:r>
          </a:p>
          <a:p>
            <a:endParaRPr lang="zh-CN" altLang="en-US" sz="1600" dirty="0"/>
          </a:p>
          <a:p>
            <a:r>
              <a:rPr lang="zh-CN" altLang="en-US" sz="1600" dirty="0"/>
              <a:t>第一次运行MySQL，要初始化数据库。</a:t>
            </a:r>
          </a:p>
          <a:p>
            <a:r>
              <a:rPr lang="zh-CN" altLang="en-US" sz="1600" dirty="0"/>
              <a:t>mysql_secure_installation</a:t>
            </a:r>
          </a:p>
          <a:p>
            <a:r>
              <a:rPr lang="zh-CN" altLang="en-US" sz="1600" dirty="0"/>
              <a:t>\\ 设置user name root</a:t>
            </a:r>
          </a:p>
          <a:p>
            <a:r>
              <a:rPr lang="zh-CN" altLang="en-US" sz="1600" dirty="0"/>
              <a:t>\\ 设置password rootroot</a:t>
            </a:r>
          </a:p>
        </p:txBody>
      </p:sp>
    </p:spTree>
    <p:extLst>
      <p:ext uri="{BB962C8B-B14F-4D97-AF65-F5344CB8AC3E}">
        <p14:creationId xmlns:p14="http://schemas.microsoft.com/office/powerpoint/2010/main" val="3477648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进行元信息管理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DA2B7E-278B-4EDF-A9B7-FBAB6E64A5C7}"/>
              </a:ext>
            </a:extLst>
          </p:cNvPr>
          <p:cNvSpPr txBox="1"/>
          <p:nvPr/>
        </p:nvSpPr>
        <p:spPr>
          <a:xfrm>
            <a:off x="685800" y="2286000"/>
            <a:ext cx="77724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运行</a:t>
            </a:r>
            <a:r>
              <a:rPr lang="en-US" altLang="zh-CN" dirty="0"/>
              <a:t>MySQL</a:t>
            </a:r>
            <a:r>
              <a:rPr lang="zh-CN" altLang="en-US" dirty="0"/>
              <a:t>。</a:t>
            </a:r>
          </a:p>
          <a:p>
            <a:r>
              <a:rPr lang="en-US" altLang="zh-CN" dirty="0" err="1"/>
              <a:t>systemctl</a:t>
            </a:r>
            <a:r>
              <a:rPr lang="en-US" altLang="zh-CN" dirty="0"/>
              <a:t> start </a:t>
            </a:r>
            <a:r>
              <a:rPr lang="en-US" altLang="zh-CN" dirty="0" err="1"/>
              <a:t>mariadb.service</a:t>
            </a:r>
            <a:r>
              <a:rPr lang="en-US" altLang="zh-CN" dirty="0"/>
              <a:t> \\ </a:t>
            </a:r>
            <a:r>
              <a:rPr lang="zh-CN" altLang="en-US" dirty="0"/>
              <a:t>启动</a:t>
            </a:r>
            <a:r>
              <a:rPr lang="en-US" altLang="zh-CN" dirty="0"/>
              <a:t>MariaDB</a:t>
            </a:r>
          </a:p>
          <a:p>
            <a:r>
              <a:rPr lang="en-US" altLang="zh-CN" dirty="0" err="1"/>
              <a:t>systemctl</a:t>
            </a:r>
            <a:r>
              <a:rPr lang="en-US" altLang="zh-CN" dirty="0"/>
              <a:t> stop </a:t>
            </a:r>
            <a:r>
              <a:rPr lang="en-US" altLang="zh-CN" dirty="0" err="1"/>
              <a:t>mariadb.service</a:t>
            </a:r>
            <a:r>
              <a:rPr lang="en-US" altLang="zh-CN" dirty="0"/>
              <a:t> \\ </a:t>
            </a:r>
            <a:r>
              <a:rPr lang="zh-CN" altLang="en-US" dirty="0"/>
              <a:t>停止</a:t>
            </a:r>
            <a:r>
              <a:rPr lang="en-US" altLang="zh-CN" dirty="0"/>
              <a:t>MariaDB</a:t>
            </a:r>
          </a:p>
          <a:p>
            <a:r>
              <a:rPr lang="en-US" altLang="zh-CN" dirty="0" err="1"/>
              <a:t>systemctl</a:t>
            </a:r>
            <a:r>
              <a:rPr lang="en-US" altLang="zh-CN" dirty="0"/>
              <a:t> restart </a:t>
            </a:r>
            <a:r>
              <a:rPr lang="en-US" altLang="zh-CN" dirty="0" err="1"/>
              <a:t>mariadb.service</a:t>
            </a:r>
            <a:r>
              <a:rPr lang="en-US" altLang="zh-CN" dirty="0"/>
              <a:t> \\ </a:t>
            </a:r>
            <a:r>
              <a:rPr lang="zh-CN" altLang="en-US" dirty="0"/>
              <a:t>重启</a:t>
            </a:r>
            <a:r>
              <a:rPr lang="en-US" altLang="zh-CN" dirty="0"/>
              <a:t>MariaDB</a:t>
            </a:r>
          </a:p>
          <a:p>
            <a:r>
              <a:rPr lang="en-US" altLang="zh-CN" dirty="0" err="1"/>
              <a:t>systemctl</a:t>
            </a:r>
            <a:r>
              <a:rPr lang="en-US" altLang="zh-CN" dirty="0"/>
              <a:t> enable </a:t>
            </a:r>
            <a:r>
              <a:rPr lang="en-US" altLang="zh-CN" dirty="0" err="1"/>
              <a:t>mariadb.service</a:t>
            </a:r>
            <a:r>
              <a:rPr lang="en-US" altLang="zh-CN" dirty="0"/>
              <a:t> \\ </a:t>
            </a:r>
            <a:r>
              <a:rPr lang="zh-CN" altLang="en-US" dirty="0"/>
              <a:t>设置开机启动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通过</a:t>
            </a:r>
            <a:r>
              <a:rPr lang="en-US" altLang="zh-CN" dirty="0" err="1"/>
              <a:t>mysql</a:t>
            </a:r>
            <a:r>
              <a:rPr lang="zh-CN" altLang="en-US" dirty="0"/>
              <a:t>客户端程序连接</a:t>
            </a:r>
            <a:r>
              <a:rPr lang="en-US" altLang="zh-CN" dirty="0"/>
              <a:t>MySQL</a:t>
            </a:r>
            <a:r>
              <a:rPr lang="zh-CN" altLang="en-US" dirty="0"/>
              <a:t>。</a:t>
            </a:r>
          </a:p>
          <a:p>
            <a:r>
              <a:rPr lang="en-US" altLang="zh-CN" dirty="0" err="1"/>
              <a:t>mysql</a:t>
            </a:r>
            <a:r>
              <a:rPr lang="en-US" altLang="zh-CN" dirty="0"/>
              <a:t> -</a:t>
            </a:r>
            <a:r>
              <a:rPr lang="en-US" altLang="zh-CN" dirty="0" err="1"/>
              <a:t>uroot</a:t>
            </a:r>
            <a:r>
              <a:rPr lang="en-US" altLang="zh-CN" dirty="0"/>
              <a:t> -</a:t>
            </a:r>
            <a:r>
              <a:rPr lang="en-US" altLang="zh-CN" dirty="0" err="1"/>
              <a:t>prootroot</a:t>
            </a:r>
            <a:endParaRPr lang="en-US" altLang="zh-CN" dirty="0"/>
          </a:p>
          <a:p>
            <a:r>
              <a:rPr lang="en-US" altLang="zh-CN" dirty="0"/>
              <a:t>\\ </a:t>
            </a:r>
            <a:r>
              <a:rPr lang="zh-CN" altLang="en-US" dirty="0"/>
              <a:t>用客户端软件</a:t>
            </a:r>
            <a:r>
              <a:rPr lang="en-US" altLang="zh-CN" dirty="0" err="1"/>
              <a:t>mysql</a:t>
            </a:r>
            <a:r>
              <a:rPr lang="zh-CN" altLang="en-US" dirty="0"/>
              <a:t>连接</a:t>
            </a:r>
            <a:r>
              <a:rPr lang="en-US" altLang="zh-CN" dirty="0" err="1"/>
              <a:t>mysql</a:t>
            </a:r>
            <a:r>
              <a:rPr lang="zh-CN" altLang="en-US" dirty="0"/>
              <a:t>服务器</a:t>
            </a:r>
          </a:p>
          <a:p>
            <a:r>
              <a:rPr lang="en-US" altLang="zh-CN" dirty="0"/>
              <a:t>\\ </a:t>
            </a:r>
            <a:r>
              <a:rPr lang="zh-CN" altLang="en-US" dirty="0"/>
              <a:t>连接成功，表示</a:t>
            </a:r>
            <a:r>
              <a:rPr lang="en-US" altLang="zh-CN" dirty="0"/>
              <a:t>MySQL</a:t>
            </a:r>
            <a:r>
              <a:rPr lang="zh-CN" altLang="en-US" dirty="0"/>
              <a:t>已经安装好</a:t>
            </a:r>
          </a:p>
        </p:txBody>
      </p:sp>
    </p:spTree>
    <p:extLst>
      <p:ext uri="{BB962C8B-B14F-4D97-AF65-F5344CB8AC3E}">
        <p14:creationId xmlns:p14="http://schemas.microsoft.com/office/powerpoint/2010/main" val="343086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进行元信息管理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DA2B7E-278B-4EDF-A9B7-FBAB6E64A5C7}"/>
              </a:ext>
            </a:extLst>
          </p:cNvPr>
          <p:cNvSpPr txBox="1"/>
          <p:nvPr/>
        </p:nvSpPr>
        <p:spPr>
          <a:xfrm>
            <a:off x="685800" y="2286000"/>
            <a:ext cx="7772400" cy="36317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对</a:t>
            </a:r>
            <a:r>
              <a:rPr lang="en-US" altLang="zh-CN" sz="1600" dirty="0"/>
              <a:t>MySQL</a:t>
            </a:r>
            <a:r>
              <a:rPr lang="zh-CN" altLang="en-US" sz="1600" dirty="0"/>
              <a:t>进行授权。</a:t>
            </a:r>
          </a:p>
          <a:p>
            <a:r>
              <a:rPr lang="en-US" altLang="zh-CN" sz="1600" dirty="0" err="1"/>
              <a:t>mysql</a:t>
            </a:r>
            <a:r>
              <a:rPr lang="en-US" altLang="zh-CN" sz="1600" dirty="0"/>
              <a:t> -</a:t>
            </a:r>
            <a:r>
              <a:rPr lang="en-US" altLang="zh-CN" sz="1600" dirty="0" err="1"/>
              <a:t>uroot</a:t>
            </a:r>
            <a:r>
              <a:rPr lang="en-US" altLang="zh-CN" sz="1600" dirty="0"/>
              <a:t> -</a:t>
            </a:r>
            <a:r>
              <a:rPr lang="en-US" altLang="zh-CN" sz="1600" dirty="0" err="1"/>
              <a:t>prootroot</a:t>
            </a:r>
            <a:endParaRPr lang="en-US" altLang="zh-CN" sz="1600" dirty="0"/>
          </a:p>
          <a:p>
            <a:r>
              <a:rPr lang="en-US" altLang="zh-CN" sz="1600" dirty="0"/>
              <a:t>\\ </a:t>
            </a:r>
            <a:r>
              <a:rPr lang="zh-CN" altLang="en-US" sz="1600" dirty="0"/>
              <a:t>运行</a:t>
            </a:r>
            <a:r>
              <a:rPr lang="en-US" altLang="zh-CN" sz="1600" dirty="0" err="1"/>
              <a:t>mysql</a:t>
            </a:r>
            <a:r>
              <a:rPr lang="zh-CN" altLang="en-US" sz="1600" dirty="0"/>
              <a:t>客户端，执行如下</a:t>
            </a:r>
            <a:r>
              <a:rPr lang="en-US" altLang="zh-CN" sz="1600" dirty="0"/>
              <a:t>SQL</a:t>
            </a:r>
            <a:r>
              <a:rPr lang="zh-CN" altLang="en-US" sz="1600" dirty="0"/>
              <a:t>命令</a:t>
            </a:r>
          </a:p>
          <a:p>
            <a:r>
              <a:rPr lang="en-US" altLang="zh-CN" sz="1600" dirty="0"/>
              <a:t>show databases;</a:t>
            </a:r>
          </a:p>
          <a:p>
            <a:r>
              <a:rPr lang="en-US" altLang="zh-CN" sz="1600" dirty="0"/>
              <a:t>CREATE USER 'root'@'192.168.31.129' IDENTIFIED BY '</a:t>
            </a:r>
            <a:r>
              <a:rPr lang="en-US" altLang="zh-CN" sz="1600" dirty="0" err="1"/>
              <a:t>rootroot</a:t>
            </a:r>
            <a:r>
              <a:rPr lang="en-US" altLang="zh-CN" sz="1600" dirty="0"/>
              <a:t>';</a:t>
            </a:r>
          </a:p>
          <a:p>
            <a:endParaRPr lang="en-US" altLang="zh-CN" sz="1600" dirty="0"/>
          </a:p>
          <a:p>
            <a:r>
              <a:rPr lang="en-US" altLang="zh-CN" sz="1600" dirty="0"/>
              <a:t>GRANT ALL PRIVILEGES ON metastore_db.* TO 'root'@'192.168.31.129'  WITH GRANT OPTION;</a:t>
            </a:r>
          </a:p>
          <a:p>
            <a:r>
              <a:rPr lang="en-US" altLang="zh-CN" sz="1600" dirty="0"/>
              <a:t>\\ </a:t>
            </a:r>
            <a:r>
              <a:rPr lang="zh-CN" altLang="en-US" sz="1600" dirty="0"/>
              <a:t>或者授予更大权限</a:t>
            </a:r>
          </a:p>
          <a:p>
            <a:r>
              <a:rPr lang="en-US" altLang="zh-CN" sz="1600" dirty="0"/>
              <a:t>GRANT ALL PRIVILEGES ON *.* TO 'root'@'%' IDENTIFIED BY '</a:t>
            </a:r>
            <a:r>
              <a:rPr lang="en-US" altLang="zh-CN" sz="1600" dirty="0" err="1"/>
              <a:t>rootroot</a:t>
            </a:r>
            <a:r>
              <a:rPr lang="en-US" altLang="zh-CN" sz="1600" dirty="0"/>
              <a:t>' WITH GRANT OPTION;</a:t>
            </a:r>
          </a:p>
          <a:p>
            <a:endParaRPr lang="en-US" altLang="zh-CN" sz="1600" dirty="0"/>
          </a:p>
          <a:p>
            <a:r>
              <a:rPr lang="en-US" altLang="zh-CN" sz="1600" dirty="0"/>
              <a:t>FLUSH PRIVILEGES;</a:t>
            </a:r>
          </a:p>
          <a:p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673496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进行元信息管理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800" dirty="0"/>
              <a:t>从</a:t>
            </a:r>
            <a:r>
              <a:rPr lang="en-US" altLang="zh-CN" sz="1800" dirty="0"/>
              <a:t>https://downloads.mariadb.org/connector-java/</a:t>
            </a:r>
            <a:r>
              <a:rPr lang="zh-CN" altLang="en-US" sz="1800" dirty="0"/>
              <a:t>下载</a:t>
            </a:r>
            <a:r>
              <a:rPr lang="en-US" altLang="zh-CN" sz="1800" dirty="0"/>
              <a:t>mariadb-java-client-1.3.7.jar</a:t>
            </a:r>
            <a:r>
              <a:rPr lang="zh-CN" altLang="en-US" sz="1800" dirty="0"/>
              <a:t>到</a:t>
            </a:r>
            <a:r>
              <a:rPr lang="en-US" altLang="zh-CN" sz="1800" dirty="0"/>
              <a:t>/opt/</a:t>
            </a:r>
            <a:r>
              <a:rPr lang="en-US" altLang="zh-CN" sz="1800" dirty="0" err="1"/>
              <a:t>linuxsir</a:t>
            </a:r>
            <a:r>
              <a:rPr lang="en-US" altLang="zh-CN" sz="1800" dirty="0"/>
              <a:t>/hive/lib</a:t>
            </a:r>
            <a:r>
              <a:rPr lang="zh-CN" altLang="en-US" sz="1800" dirty="0"/>
              <a:t>目录下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DA2B7E-278B-4EDF-A9B7-FBAB6E64A5C7}"/>
              </a:ext>
            </a:extLst>
          </p:cNvPr>
          <p:cNvSpPr txBox="1"/>
          <p:nvPr/>
        </p:nvSpPr>
        <p:spPr>
          <a:xfrm>
            <a:off x="723900" y="2890391"/>
            <a:ext cx="77724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cp /opt/</a:t>
            </a:r>
            <a:r>
              <a:rPr lang="en-US" altLang="zh-CN" sz="1600" dirty="0" err="1"/>
              <a:t>linuxsir</a:t>
            </a:r>
            <a:r>
              <a:rPr lang="en-US" altLang="zh-CN" sz="1600" dirty="0"/>
              <a:t>/mariadb-java-client-1.3.7.jar /opt/</a:t>
            </a:r>
            <a:r>
              <a:rPr lang="en-US" altLang="zh-CN" sz="1600" dirty="0" err="1"/>
              <a:t>linuxsir</a:t>
            </a:r>
            <a:r>
              <a:rPr lang="en-US" altLang="zh-CN" sz="1600" dirty="0"/>
              <a:t>/hive/lib</a:t>
            </a:r>
          </a:p>
          <a:p>
            <a:r>
              <a:rPr lang="en-US" altLang="zh-CN" sz="1600" dirty="0"/>
              <a:t>ls /opt/</a:t>
            </a:r>
            <a:r>
              <a:rPr lang="en-US" altLang="zh-CN" sz="1600" dirty="0" err="1"/>
              <a:t>linuxsir</a:t>
            </a:r>
            <a:r>
              <a:rPr lang="en-US" altLang="zh-CN" sz="1600" dirty="0"/>
              <a:t>/hive/lib/mariadb-java-client-1.3.7.jar</a:t>
            </a:r>
          </a:p>
          <a:p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557243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进行元信息管理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800" dirty="0"/>
              <a:t>从</a:t>
            </a:r>
            <a:r>
              <a:rPr lang="en-US" altLang="zh-CN" sz="1800" dirty="0"/>
              <a:t>https://downloads.mariadb.org/connector-java/</a:t>
            </a:r>
            <a:r>
              <a:rPr lang="zh-CN" altLang="en-US" sz="1800" dirty="0"/>
              <a:t>下载</a:t>
            </a:r>
            <a:r>
              <a:rPr lang="en-US" altLang="zh-CN" sz="1800" dirty="0"/>
              <a:t>mariadb-java-client-1.3.7.jar</a:t>
            </a:r>
            <a:r>
              <a:rPr lang="zh-CN" altLang="en-US" sz="1800" dirty="0"/>
              <a:t>到</a:t>
            </a:r>
            <a:r>
              <a:rPr lang="en-US" altLang="zh-CN" sz="1800" dirty="0"/>
              <a:t>/opt/</a:t>
            </a:r>
            <a:r>
              <a:rPr lang="en-US" altLang="zh-CN" sz="1800" dirty="0" err="1"/>
              <a:t>linuxsir</a:t>
            </a:r>
            <a:r>
              <a:rPr lang="en-US" altLang="zh-CN" sz="1800" dirty="0"/>
              <a:t>/hive/lib</a:t>
            </a:r>
            <a:r>
              <a:rPr lang="zh-CN" altLang="en-US" sz="1800" dirty="0"/>
              <a:t>目录下</a:t>
            </a:r>
            <a:endParaRPr lang="en-US" altLang="zh-CN" sz="1800" dirty="0"/>
          </a:p>
          <a:p>
            <a:pPr indent="266700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先下载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，解压缩安装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DA2B7E-278B-4EDF-A9B7-FBAB6E64A5C7}"/>
              </a:ext>
            </a:extLst>
          </p:cNvPr>
          <p:cNvSpPr txBox="1"/>
          <p:nvPr/>
        </p:nvSpPr>
        <p:spPr>
          <a:xfrm>
            <a:off x="719025" y="3352800"/>
            <a:ext cx="77724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cp /opt/</a:t>
            </a:r>
            <a:r>
              <a:rPr lang="en-US" altLang="zh-CN" sz="1600" dirty="0" err="1"/>
              <a:t>linuxsir</a:t>
            </a:r>
            <a:r>
              <a:rPr lang="en-US" altLang="zh-CN" sz="1600" dirty="0"/>
              <a:t>/mariadb-java-client-1.3.7.jar /opt/</a:t>
            </a:r>
            <a:r>
              <a:rPr lang="en-US" altLang="zh-CN" sz="1600" dirty="0" err="1"/>
              <a:t>linuxsir</a:t>
            </a:r>
            <a:r>
              <a:rPr lang="en-US" altLang="zh-CN" sz="1600" dirty="0"/>
              <a:t>/hive/lib</a:t>
            </a:r>
          </a:p>
          <a:p>
            <a:r>
              <a:rPr lang="en-US" altLang="zh-CN" sz="1600" dirty="0"/>
              <a:t>ls /opt/</a:t>
            </a:r>
            <a:r>
              <a:rPr lang="en-US" altLang="zh-CN" sz="1600" dirty="0" err="1"/>
              <a:t>linuxsir</a:t>
            </a:r>
            <a:r>
              <a:rPr lang="en-US" altLang="zh-CN" sz="1600" dirty="0"/>
              <a:t>/hive/lib/mariadb-java-client-1.3.7.jar</a:t>
            </a:r>
          </a:p>
          <a:p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938768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下载和安装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http://www-eu.apache.org/dist/hive/stable-2/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，上传到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，然后解压并重命名为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74002-C0DC-4830-986E-01EFD5D2CA2E}"/>
              </a:ext>
            </a:extLst>
          </p:cNvPr>
          <p:cNvSpPr txBox="1"/>
          <p:nvPr/>
        </p:nvSpPr>
        <p:spPr>
          <a:xfrm>
            <a:off x="762000" y="3048000"/>
            <a:ext cx="77724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tar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xzvf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apache-hive-2.3.3-bin.tar.gz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ls apache-hive-2.3.3-bin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 apache-hive-2.3.3-bin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957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数据存储文件夹，修改文件夹权限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74002-C0DC-4830-986E-01EFD5D2CA2E}"/>
              </a:ext>
            </a:extLst>
          </p:cNvPr>
          <p:cNvSpPr txBox="1"/>
          <p:nvPr/>
        </p:nvSpPr>
        <p:spPr>
          <a:xfrm>
            <a:off x="762000" y="2667000"/>
            <a:ext cx="77724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/hive/data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chmod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a+rwx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/hive/data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981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环境变量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74002-C0DC-4830-986E-01EFD5D2CA2E}"/>
              </a:ext>
            </a:extLst>
          </p:cNvPr>
          <p:cNvSpPr txBox="1"/>
          <p:nvPr/>
        </p:nvSpPr>
        <p:spPr>
          <a:xfrm>
            <a:off x="762000" y="2667000"/>
            <a:ext cx="77724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"# Hive Variables"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HIVE_HOME=/opt/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HIVE_CONF_DIR=\$HIVE_HOME/conf"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PATH=\$HIVE_HOME/bin:\$PATH"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CLASSPATH=\$CLASSPATH:/opt/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/hive/lib/*"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653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上为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创建目录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需要启动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74002-C0DC-4830-986E-01EFD5D2CA2E}"/>
              </a:ext>
            </a:extLst>
          </p:cNvPr>
          <p:cNvSpPr txBox="1"/>
          <p:nvPr/>
        </p:nvSpPr>
        <p:spPr>
          <a:xfrm>
            <a:off x="762000" y="2667000"/>
            <a:ext cx="77724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/user/hive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/user/hive/warehouse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/user/hive/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/user/hive/log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chmod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a+rwx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/user/hive/warehouse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chmod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a+rwx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/user/hive/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chmod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a+rwx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/user/hive/log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-ls /user/hive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252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的日志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(logs)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74002-C0DC-4830-986E-01EFD5D2CA2E}"/>
              </a:ext>
            </a:extLst>
          </p:cNvPr>
          <p:cNvSpPr txBox="1"/>
          <p:nvPr/>
        </p:nvSpPr>
        <p:spPr>
          <a:xfrm>
            <a:off x="762000" y="2667000"/>
            <a:ext cx="77724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/hive/logs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686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目录下，从模板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拷贝并编辑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hive-exec-log4j2.properties</a:t>
            </a: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修改内容如下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74002-C0DC-4830-986E-01EFD5D2CA2E}"/>
              </a:ext>
            </a:extLst>
          </p:cNvPr>
          <p:cNvSpPr txBox="1"/>
          <p:nvPr/>
        </p:nvSpPr>
        <p:spPr>
          <a:xfrm>
            <a:off x="762000" y="2667000"/>
            <a:ext cx="77724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hive-exec-log4j2.properties.template hive-exec-log4j2.properties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7F914D-7D9A-4658-BB66-D44EDBE717AD}"/>
              </a:ext>
            </a:extLst>
          </p:cNvPr>
          <p:cNvSpPr txBox="1"/>
          <p:nvPr/>
        </p:nvSpPr>
        <p:spPr>
          <a:xfrm>
            <a:off x="762722" y="4134534"/>
            <a:ext cx="77724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property.hive.log.dir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/hive/logs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840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目录下，从模板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拷贝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hive-log4j2.properties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74002-C0DC-4830-986E-01EFD5D2CA2E}"/>
              </a:ext>
            </a:extLst>
          </p:cNvPr>
          <p:cNvSpPr txBox="1"/>
          <p:nvPr/>
        </p:nvSpPr>
        <p:spPr>
          <a:xfrm>
            <a:off x="762000" y="2667000"/>
            <a:ext cx="77724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hive-log4j2.properties.template hive-log4j2.properties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809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目录下，从模板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拷贝并编辑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hive-env.sh</a:t>
            </a: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修改内容如下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74002-C0DC-4830-986E-01EFD5D2CA2E}"/>
              </a:ext>
            </a:extLst>
          </p:cNvPr>
          <p:cNvSpPr txBox="1"/>
          <p:nvPr/>
        </p:nvSpPr>
        <p:spPr>
          <a:xfrm>
            <a:off x="762000" y="2667000"/>
            <a:ext cx="77724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hive-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env.sh.template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hive-env.sh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17941" y="4419600"/>
            <a:ext cx="77724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JAVA_HOME=/opt/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/java/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HADOOP_HOME=/opt/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HIVE_CONF_DIR=/opt/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export HIVE_AUX_JARS_PATH=/opt/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/hive/lib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866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目录下，从模板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拷贝并编辑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hive-site.xml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做文件内容的局部修改，具体如下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74002-C0DC-4830-986E-01EFD5D2CA2E}"/>
              </a:ext>
            </a:extLst>
          </p:cNvPr>
          <p:cNvSpPr txBox="1"/>
          <p:nvPr/>
        </p:nvSpPr>
        <p:spPr>
          <a:xfrm>
            <a:off x="762000" y="2209800"/>
            <a:ext cx="77724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hive-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default.xml.template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hive-site.xml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62000" y="3505200"/>
            <a:ext cx="7772400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javax.jdo.option.ConnectionURL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  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jdbc:mysql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://hd-master:3306/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metastore_db?createDatabaseIfNotExist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=true &lt;/value&gt;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javax.jdo.option.ConnectionDriverName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&lt;/name&gt;  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org.mariadb.jdbc.Driver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&lt;/value&gt;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javax.jdo.option.ConnectionUserName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&lt;/name&gt;  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&lt;value&gt;root&lt;/value&gt;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javax.jdo.option.ConnectionPassword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&lt;/name&gt;  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rootroot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&lt;/value&gt;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930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目录下，从模板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拷贝并编辑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hive-site.xml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做文件内容的局部修改，具体如下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74002-C0DC-4830-986E-01EFD5D2CA2E}"/>
              </a:ext>
            </a:extLst>
          </p:cNvPr>
          <p:cNvSpPr txBox="1"/>
          <p:nvPr/>
        </p:nvSpPr>
        <p:spPr>
          <a:xfrm>
            <a:off x="762000" y="2209800"/>
            <a:ext cx="77724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hive-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default.xml.template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hive-site.xml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62000" y="3505200"/>
            <a:ext cx="7772400" cy="3323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hive.metastore.warehouse.dir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  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&lt;value&gt;/user/hive/warehouse&lt;/value&gt;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&lt;!-- &lt;value&gt;hdfs://hd-master:9000/user/hive/warehouse&lt;/value&gt; --&gt;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  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  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hive.exec.scratchdir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  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&lt;value&gt;/user/hive/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&lt;/value&gt;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&lt;!-- &lt;value&gt;hdfs://hd-master:9000/user/hive/tmp&lt;/value&gt; --&gt;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hive.querylog.location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&lt;value&gt;/user/hive/log&lt;/value&gt;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&lt;!-- &lt;value&gt;hdfs://hd-master:9000/user/hive/log&lt;/value&gt; --&gt;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&lt;/property&gt;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728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/hive/conf/hive-site.xml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文件里，进行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hive.metastore.uris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的配置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hive.metastore.uris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的端口设置缺省为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9083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，修改成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19083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23900" y="3124200"/>
            <a:ext cx="77724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hive.metastore.uris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&lt;/name&gt;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 thrift://192.168.31.129:19083&lt;/value&gt;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442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hive-site.xml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文件里，查找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${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system:java.io.tmpdir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替换成指定文件夹，即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tmp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62000" y="2667000"/>
            <a:ext cx="77724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${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system:java.io.tmpdir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替换成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需要事先创建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目录，在终端上运行命令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156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之前，必须先启动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62000" y="2667000"/>
            <a:ext cx="77724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./start-dfs.sh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./start-yarn.sh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root@192.168.31.140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root@192.168.31.141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872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删除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metasotre_db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之前，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初始化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metastore_db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62000" y="2667000"/>
            <a:ext cx="77724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mysql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uroot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prootroot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MySQL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后，把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metasotre_db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删除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drop database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metastore_db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exit;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云形 1">
            <a:extLst>
              <a:ext uri="{FF2B5EF4-FFF2-40B4-BE49-F238E27FC236}">
                <a16:creationId xmlns:a16="http://schemas.microsoft.com/office/drawing/2014/main" id="{BFEFE47C-9BD9-4EB1-9898-2C1379DB83F3}"/>
              </a:ext>
            </a:extLst>
          </p:cNvPr>
          <p:cNvSpPr/>
          <p:nvPr/>
        </p:nvSpPr>
        <p:spPr>
          <a:xfrm>
            <a:off x="5181600" y="990600"/>
            <a:ext cx="3429000" cy="1371600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初始化</a:t>
            </a:r>
            <a:r>
              <a:rPr lang="en-US" altLang="zh-CN" dirty="0" err="1">
                <a:solidFill>
                  <a:schemeClr val="tx1"/>
                </a:solidFill>
              </a:rPr>
              <a:t>mysql</a:t>
            </a:r>
            <a:r>
              <a:rPr lang="zh-CN" altLang="en-US" dirty="0">
                <a:solidFill>
                  <a:schemeClr val="tx1"/>
                </a:solidFill>
              </a:rPr>
              <a:t>只做一次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431137-8C1C-4D00-96F4-316136E338DE}"/>
              </a:ext>
            </a:extLst>
          </p:cNvPr>
          <p:cNvSpPr txBox="1"/>
          <p:nvPr/>
        </p:nvSpPr>
        <p:spPr>
          <a:xfrm>
            <a:off x="685800" y="4876800"/>
            <a:ext cx="7772400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schematool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dbType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mysql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initSchema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如果出错的话，对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my.cnf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配置文件进行改动，具体为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binlog_format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=mixed”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然后重启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参考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6.3.1)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，删除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metastore_db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数据库，再运行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schematool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166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新建数据文件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62000" y="2667000"/>
            <a:ext cx="7772400" cy="25853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touch hive-test.txt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"1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 &gt;&gt; hive-test.txt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"2 hive" &gt;&gt;hive-test.txt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"3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 &gt;&gt;hive-test.txt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"4 hello" &gt;&gt;hive-test.txt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 hive-test.txt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330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如果已经在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/hive/conf/hive-site.xml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里面配置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hive.metastore.uris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，那么必须首先启动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也就是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首先运行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，再运行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shell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shell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62000" y="3276600"/>
            <a:ext cx="77724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./bin/hive --service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19083&amp;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C91E86-449E-41C0-8872-D0410FD31CF9}"/>
              </a:ext>
            </a:extLst>
          </p:cNvPr>
          <p:cNvSpPr txBox="1"/>
          <p:nvPr/>
        </p:nvSpPr>
        <p:spPr>
          <a:xfrm>
            <a:off x="762000" y="5029200"/>
            <a:ext cx="77724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$HIVE_HOME/bin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574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Shell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里面，进行创建数据库表，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进行增、删、改、查等操作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shell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62000" y="2514600"/>
            <a:ext cx="7772400" cy="4185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hive.execution.engine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 databases;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table test(a string, b int); 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 tables; 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desc test;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TABLE IF NOT EXISTS words (id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INT,word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STRING)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ROW FORMAT DELIMITED FIELDS TERMINATED BY " " 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LINES TERMINATED BY "\n";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LOAD DATA LOCAL INPATH '/opt/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/hive-test.txt' OVERWRITE INTO TABLE words;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words;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insert into words values(5,'nihao');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words;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words order by id;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id, count(*) from words group by id order by id;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08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5378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“FAILED: Execution Error, return code -101 from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org.apache.hadoop.hive.ql.exec.mr.MapRedTask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yarn-root-resourcemanager-hd-master.log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，有提示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“Invalid resource request, requested memory &lt; 0, or requested memory &gt; max configured,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requestedMemory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=1280,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maxMemory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=512”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23900" y="3404082"/>
            <a:ext cx="7772400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/Hadoop/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/yarn-site.xml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yarn.nodemanager.resource.memory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-mb&lt;/name&gt;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&lt;value&gt;2048&lt;/value&gt;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</a:p>
          <a:p>
            <a:endParaRPr lang="en-US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yarn.scheduler.maximum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-allocation-mb&lt;/name&gt;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&lt;value&gt;2048&lt;/value&gt;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</a:p>
          <a:p>
            <a:endParaRPr lang="en-US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0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“FAILED: Execution Error, return code -101 from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org.apache.hadoop.hive.ql.exec.mr.MapRedTask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yarn-root-resourcemanager-hd-master.log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，有提示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“Invalid resource request, requested memory &lt; 0, or requested memory &gt; max configured,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requestedMemory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=1280,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maxMemory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=512”</a:t>
            </a: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然后停止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，停止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命令把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yarn-site.xml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复制到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hd-slave2</a:t>
            </a:r>
          </a:p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然后再启动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，再试一试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23900" y="3404082"/>
            <a:ext cx="7772400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/user/hive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目录的权限。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chmod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a+rwx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/user/hive</a:t>
            </a:r>
          </a:p>
          <a:p>
            <a:endParaRPr lang="en-US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zh-CN" altLang="en-US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8677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cli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界面由于</a:t>
            </a:r>
            <a:r>
              <a:rPr lang="en-US" altLang="zh-CN" sz="1800" b="1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in </a:t>
            </a:r>
            <a:r>
              <a:rPr lang="en-US" altLang="zh-CN" sz="1800" b="1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safemode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启动不起来</a:t>
            </a:r>
          </a:p>
          <a:p>
            <a:pPr lvl="1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解决办法如下。退出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shell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，执行如下命令，再启动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shell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试一试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723900" y="3404082"/>
            <a:ext cx="77724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dfsadmin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safemode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leave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329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“FAILED: Execution Error, return code -101 from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org.apache.hadoop.hive.ql.exec.mr.MapRedTask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org.apache.hadoop.mapreduce.v2.util.MRApps.addLog4jSystemProperties(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Lorg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/apache/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Task;Ljava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/util/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List;Lorg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/apache/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/conf/Configuration;)V”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914400" y="3657600"/>
            <a:ext cx="77724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hive/conf/ hive-log4j.properties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文件中进行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日志配置，具体如下。</a:t>
            </a: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hive.root.logger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=WARN,DRFA</a:t>
            </a: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hive.log.dir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/${user.name} #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默认的存储位置，可以改成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/hive/logs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hive.log.file=hive.log  #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默认的文件名</a:t>
            </a:r>
          </a:p>
          <a:p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出错以后查看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/hive/logs/hive.log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文件，了解出错信息</a:t>
            </a:r>
          </a:p>
        </p:txBody>
      </p:sp>
    </p:spTree>
    <p:extLst>
      <p:ext uri="{BB962C8B-B14F-4D97-AF65-F5344CB8AC3E}">
        <p14:creationId xmlns:p14="http://schemas.microsoft.com/office/powerpoint/2010/main" val="42495778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“FAILED: Execution Error, return code -101 from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org.apache.hadoop.hive.ql.exec.mr.MapRedTask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org.apache.hadoop.mapreduce.v2.util.MRApps.addLog4jSystemProperties(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Lorg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/apache/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Task;Ljava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/util/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List;Lorg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/apache/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/conf/Configuration;)V”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7B31BC-2298-4F60-B20E-A2A48174EDEE}"/>
              </a:ext>
            </a:extLst>
          </p:cNvPr>
          <p:cNvSpPr txBox="1"/>
          <p:nvPr/>
        </p:nvSpPr>
        <p:spPr>
          <a:xfrm>
            <a:off x="914400" y="3657600"/>
            <a:ext cx="77724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这个问题的解决办法如下。</a:t>
            </a:r>
          </a:p>
          <a:p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/share/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hadoop-mapreduce-client-*.jar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/hive/lib</a:t>
            </a:r>
          </a:p>
        </p:txBody>
      </p:sp>
    </p:spTree>
    <p:extLst>
      <p:ext uri="{BB962C8B-B14F-4D97-AF65-F5344CB8AC3E}">
        <p14:creationId xmlns:p14="http://schemas.microsoft.com/office/powerpoint/2010/main" val="1051080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：访问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http://hd-master:50070/dfshealth.html#tab-overview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，得到如下信息。</a:t>
            </a:r>
          </a:p>
          <a:p>
            <a:pPr lvl="1"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2438400"/>
            <a:ext cx="7391400" cy="3877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Diagnostics: org.apache.hadoop.hdfs.BlockMissingException</a:t>
            </a:r>
          </a:p>
          <a:p>
            <a:r>
              <a:rPr lang="zh-CN" altLang="en-US" sz="1600" dirty="0"/>
              <a:t>There are 6 missing blocks. The following files may be corrupted:</a:t>
            </a:r>
          </a:p>
          <a:p>
            <a:endParaRPr lang="zh-CN" altLang="en-US" sz="1600" dirty="0"/>
          </a:p>
          <a:p>
            <a:r>
              <a:rPr lang="zh-CN" altLang="en-US" sz="1600" dirty="0"/>
              <a:t>blk_1073742055 /user/root/.hiveJars/hive-exec-2.1.1-5f4a7e952d29bb8013edd30bbc39476ec56bc381b96b0530a6b2fbbf28e309d3.jar</a:t>
            </a:r>
          </a:p>
          <a:p>
            <a:r>
              <a:rPr lang="zh-CN" altLang="en-US" sz="1600" dirty="0"/>
              <a:t>blk_1073745585 /apps/tez.tar.gz</a:t>
            </a:r>
          </a:p>
          <a:p>
            <a:r>
              <a:rPr lang="zh-CN" altLang="en-US" sz="1600" dirty="0"/>
              <a:t>blk_1073756690 /tmp/hadoop-yarn/staging/root/.staging/job_1519795952327_0001/job.jar</a:t>
            </a:r>
          </a:p>
          <a:p>
            <a:r>
              <a:rPr lang="zh-CN" altLang="en-US" sz="1600" dirty="0"/>
              <a:t>blk_1073756691 /tmp/hadoop-yarn/staging/root/.staging/job_1519795952327_0001/job.split</a:t>
            </a:r>
          </a:p>
          <a:p>
            <a:r>
              <a:rPr lang="zh-CN" altLang="en-US" sz="1600" dirty="0"/>
              <a:t>blk_1073756692 /tmp/hadoop-yarn/staging/root/.staging/job_1519795952327_0001/job.splitmetainfo</a:t>
            </a:r>
          </a:p>
          <a:p>
            <a:r>
              <a:rPr lang="zh-CN" altLang="en-US" sz="1600" dirty="0"/>
              <a:t>blk_1073756693 /tmp/hadoop-yarn/staging/root/.staging/job_1519795952327_0001/job.xml</a:t>
            </a: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272948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：访问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http://hd-master:50070/dfshealth.html#tab-overview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，得到如下信息。</a:t>
            </a:r>
          </a:p>
          <a:p>
            <a:pPr lvl="1"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2438400"/>
            <a:ext cx="7391400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/>
              <a:t>退出</a:t>
            </a:r>
            <a:r>
              <a:rPr lang="en-US" altLang="zh-CN" sz="1400" dirty="0"/>
              <a:t>hive shell</a:t>
            </a:r>
            <a:r>
              <a:rPr lang="zh-CN" altLang="en-US" sz="1400" dirty="0"/>
              <a:t>，通过删除和重新创建</a:t>
            </a:r>
            <a:r>
              <a:rPr lang="en-US" altLang="zh-CN" sz="1400" dirty="0"/>
              <a:t>Hive</a:t>
            </a:r>
            <a:r>
              <a:rPr lang="zh-CN" altLang="en-US" sz="1400" dirty="0"/>
              <a:t>在</a:t>
            </a:r>
            <a:r>
              <a:rPr lang="en-US" altLang="zh-CN" sz="1400" dirty="0"/>
              <a:t>HDFS</a:t>
            </a:r>
            <a:r>
              <a:rPr lang="zh-CN" altLang="en-US" sz="1400" dirty="0"/>
              <a:t>的目录，再启动</a:t>
            </a:r>
            <a:r>
              <a:rPr lang="en-US" altLang="zh-CN" sz="1400" dirty="0"/>
              <a:t>hive shell</a:t>
            </a:r>
            <a:r>
              <a:rPr lang="zh-CN" altLang="en-US" sz="1400" dirty="0"/>
              <a:t>试一试。</a:t>
            </a:r>
          </a:p>
          <a:p>
            <a:r>
              <a:rPr lang="en-US" altLang="zh-CN" sz="1400" dirty="0"/>
              <a:t>cd /opt/</a:t>
            </a:r>
            <a:r>
              <a:rPr lang="en-US" altLang="zh-CN" sz="1400" dirty="0" err="1"/>
              <a:t>linuxsir</a:t>
            </a:r>
            <a:r>
              <a:rPr lang="en-US" altLang="zh-CN" sz="1400" dirty="0"/>
              <a:t>/</a:t>
            </a:r>
            <a:r>
              <a:rPr lang="en-US" altLang="zh-CN" sz="1400" dirty="0" err="1"/>
              <a:t>hadoop</a:t>
            </a:r>
            <a:r>
              <a:rPr lang="en-US" altLang="zh-CN" sz="1400" dirty="0"/>
              <a:t>/bin \\</a:t>
            </a:r>
            <a:r>
              <a:rPr lang="zh-CN" altLang="en-US" sz="1400" dirty="0"/>
              <a:t>删除目录</a:t>
            </a:r>
          </a:p>
          <a:p>
            <a:r>
              <a:rPr lang="en-US" altLang="zh-CN" sz="1400" dirty="0"/>
              <a:t>./</a:t>
            </a:r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rmr</a:t>
            </a:r>
            <a:r>
              <a:rPr lang="en-US" altLang="zh-CN" sz="1400" dirty="0"/>
              <a:t> /</a:t>
            </a:r>
            <a:r>
              <a:rPr lang="en-US" altLang="zh-CN" sz="1400" dirty="0" err="1"/>
              <a:t>tmp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cd /opt/</a:t>
            </a:r>
            <a:r>
              <a:rPr lang="en-US" altLang="zh-CN" sz="1400" dirty="0" err="1"/>
              <a:t>linuxsir</a:t>
            </a:r>
            <a:r>
              <a:rPr lang="en-US" altLang="zh-CN" sz="1400" dirty="0"/>
              <a:t>/</a:t>
            </a:r>
            <a:r>
              <a:rPr lang="en-US" altLang="zh-CN" sz="1400" dirty="0" err="1"/>
              <a:t>hadoop</a:t>
            </a:r>
            <a:r>
              <a:rPr lang="en-US" altLang="zh-CN" sz="1400" dirty="0"/>
              <a:t>/bin \\</a:t>
            </a:r>
            <a:r>
              <a:rPr lang="zh-CN" altLang="en-US" sz="1400" dirty="0"/>
              <a:t>删除目录</a:t>
            </a:r>
          </a:p>
          <a:p>
            <a:r>
              <a:rPr lang="en-US" altLang="zh-CN" sz="1400" dirty="0"/>
              <a:t>./</a:t>
            </a:r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rmr</a:t>
            </a:r>
            <a:r>
              <a:rPr lang="en-US" altLang="zh-CN" sz="1400" dirty="0"/>
              <a:t> /user/root</a:t>
            </a:r>
          </a:p>
          <a:p>
            <a:endParaRPr lang="en-US" altLang="zh-CN" sz="1400" dirty="0"/>
          </a:p>
          <a:p>
            <a:r>
              <a:rPr lang="en-US" altLang="zh-CN" sz="1400" dirty="0"/>
              <a:t>./</a:t>
            </a:r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rmr</a:t>
            </a:r>
            <a:r>
              <a:rPr lang="en-US" altLang="zh-CN" sz="1400" dirty="0"/>
              <a:t> /user/hive/warehouse \\</a:t>
            </a:r>
            <a:r>
              <a:rPr lang="zh-CN" altLang="en-US" sz="1400" dirty="0"/>
              <a:t>删除目录</a:t>
            </a:r>
          </a:p>
          <a:p>
            <a:r>
              <a:rPr lang="en-US" altLang="zh-CN" sz="1400" dirty="0"/>
              <a:t>./</a:t>
            </a:r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rmr</a:t>
            </a:r>
            <a:r>
              <a:rPr lang="en-US" altLang="zh-CN" sz="1400" dirty="0"/>
              <a:t> /user/hive/</a:t>
            </a:r>
            <a:r>
              <a:rPr lang="en-US" altLang="zh-CN" sz="1400" dirty="0" err="1"/>
              <a:t>tmp</a:t>
            </a:r>
            <a:endParaRPr lang="en-US" altLang="zh-CN" sz="1400" dirty="0"/>
          </a:p>
          <a:p>
            <a:r>
              <a:rPr lang="en-US" altLang="zh-CN" sz="1400" dirty="0"/>
              <a:t>./</a:t>
            </a:r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rmr</a:t>
            </a:r>
            <a:r>
              <a:rPr lang="en-US" altLang="zh-CN" sz="1400" dirty="0"/>
              <a:t> /user/hive/log</a:t>
            </a:r>
          </a:p>
          <a:p>
            <a:endParaRPr lang="en-US" altLang="zh-CN" sz="1400" dirty="0"/>
          </a:p>
          <a:p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mkdir</a:t>
            </a:r>
            <a:r>
              <a:rPr lang="en-US" altLang="zh-CN" sz="1400" dirty="0"/>
              <a:t> -p /user/hive/warehouse \\</a:t>
            </a:r>
            <a:r>
              <a:rPr lang="zh-CN" altLang="en-US" sz="1400" dirty="0"/>
              <a:t>创建目录</a:t>
            </a:r>
          </a:p>
          <a:p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mkdir</a:t>
            </a:r>
            <a:r>
              <a:rPr lang="en-US" altLang="zh-CN" sz="1400" dirty="0"/>
              <a:t> -p /user/hive/</a:t>
            </a:r>
            <a:r>
              <a:rPr lang="en-US" altLang="zh-CN" sz="1400" dirty="0" err="1"/>
              <a:t>tmp</a:t>
            </a:r>
            <a:endParaRPr lang="en-US" altLang="zh-CN" sz="1400" dirty="0"/>
          </a:p>
          <a:p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mkdir</a:t>
            </a:r>
            <a:r>
              <a:rPr lang="en-US" altLang="zh-CN" sz="1400" dirty="0"/>
              <a:t> -p /user/hive/log</a:t>
            </a:r>
          </a:p>
          <a:p>
            <a:endParaRPr lang="en-US" altLang="zh-CN" sz="1400" dirty="0"/>
          </a:p>
          <a:p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chmod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a+rwx</a:t>
            </a:r>
            <a:r>
              <a:rPr lang="en-US" altLang="zh-CN" sz="1400" dirty="0"/>
              <a:t> /user/hive/warehouse \\</a:t>
            </a:r>
            <a:r>
              <a:rPr lang="zh-CN" altLang="en-US" sz="1400" dirty="0"/>
              <a:t>授权</a:t>
            </a:r>
          </a:p>
          <a:p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chmod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a+rwx</a:t>
            </a:r>
            <a:r>
              <a:rPr lang="en-US" altLang="zh-CN" sz="1400" dirty="0"/>
              <a:t> /user/hive/</a:t>
            </a:r>
            <a:r>
              <a:rPr lang="en-US" altLang="zh-CN" sz="1400" dirty="0" err="1"/>
              <a:t>tmp</a:t>
            </a:r>
            <a:endParaRPr lang="en-US" altLang="zh-CN" sz="1400" dirty="0"/>
          </a:p>
          <a:p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</a:t>
            </a:r>
            <a:r>
              <a:rPr lang="en-US" altLang="zh-CN" sz="1400" dirty="0" err="1"/>
              <a:t>chmod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a+rwx</a:t>
            </a:r>
            <a:r>
              <a:rPr lang="en-US" altLang="zh-CN" sz="1400" dirty="0"/>
              <a:t> /user/hive/log</a:t>
            </a:r>
          </a:p>
          <a:p>
            <a:endParaRPr lang="en-US" altLang="zh-CN" sz="1400" dirty="0"/>
          </a:p>
          <a:p>
            <a:r>
              <a:rPr lang="en-US" altLang="zh-CN" sz="1400" dirty="0"/>
              <a:t>./</a:t>
            </a:r>
            <a:r>
              <a:rPr lang="en-US" altLang="zh-CN" sz="1400" dirty="0" err="1"/>
              <a:t>hdfs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dfs</a:t>
            </a:r>
            <a:r>
              <a:rPr lang="en-US" altLang="zh-CN" sz="1400" dirty="0"/>
              <a:t> -ls /user/hive</a:t>
            </a:r>
          </a:p>
        </p:txBody>
      </p:sp>
    </p:spTree>
    <p:extLst>
      <p:ext uri="{BB962C8B-B14F-4D97-AF65-F5344CB8AC3E}">
        <p14:creationId xmlns:p14="http://schemas.microsoft.com/office/powerpoint/2010/main" val="29565644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：访问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http://hd-master:50070/dfshealth.html#tab-overview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，得到如下信息。</a:t>
            </a:r>
          </a:p>
          <a:p>
            <a:pPr lvl="1"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2438400"/>
            <a:ext cx="7391400" cy="41780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050" dirty="0"/>
              <a:t>如果</a:t>
            </a:r>
            <a:r>
              <a:rPr lang="en-US" altLang="zh-CN" sz="1050" dirty="0"/>
              <a:t>HDFS</a:t>
            </a:r>
            <a:r>
              <a:rPr lang="zh-CN" altLang="en-US" sz="1050" dirty="0"/>
              <a:t>分布式文件系统有问题，可以参考第</a:t>
            </a:r>
            <a:r>
              <a:rPr lang="en-US" altLang="zh-CN" sz="1050" dirty="0"/>
              <a:t>4</a:t>
            </a:r>
            <a:r>
              <a:rPr lang="zh-CN" altLang="en-US" sz="1050" dirty="0"/>
              <a:t>章，重新格式化</a:t>
            </a:r>
            <a:r>
              <a:rPr lang="en-US" altLang="zh-CN" sz="1050" dirty="0"/>
              <a:t>HDFS</a:t>
            </a:r>
          </a:p>
          <a:p>
            <a:endParaRPr lang="en-US" altLang="zh-CN" sz="1050" dirty="0"/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\\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mkdir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-p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/data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/name \\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子目录</a:t>
            </a:r>
            <a:endParaRPr lang="en-US" altLang="zh-CN" sz="105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05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/data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/name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/data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/name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050" dirty="0"/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-format</a:t>
            </a:r>
            <a:endParaRPr lang="zh-CN" altLang="zh-CN" sz="105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19238871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4650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</a:p>
          <a:p>
            <a:pPr lvl="1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我们可以启动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Hiveserver2(JDBC Server)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 (JDBC Client)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对数据进行操作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需要先启动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/yarn</a:t>
            </a:r>
          </a:p>
          <a:p>
            <a:pPr lvl="1"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3429000"/>
            <a:ext cx="73914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./start-dfs.sh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./start-yarn.sh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查看进程是否已经正常启动</a:t>
            </a: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root@192.168.31.131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jps</a:t>
            </a:r>
            <a:endParaRPr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557983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</a:p>
          <a:p>
            <a:pPr lvl="1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endParaRPr lang="zh-CN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3429000"/>
            <a:ext cx="7391400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./bin/hive --service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19083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等待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netstat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ntlp|grep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19083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0744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</a:p>
          <a:p>
            <a:pPr lvl="1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“netstat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ntlp|grep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10011”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是否已经启动，并且绑定到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10011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端口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3429000"/>
            <a:ext cx="73914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默认端口为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，这里改为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10011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./bin/hive --service hiveserver2 --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hiveconf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hive.server2.thrift.port=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10011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netstat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ntlp|grep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10011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2089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</a:p>
          <a:p>
            <a:pPr lvl="1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在一个机器上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用如下方法，启动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</a:p>
          <a:p>
            <a:pPr lvl="1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提示符下执行如下命令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2743200"/>
            <a:ext cx="73914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./bin/beeline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./bin/beeline -u jdbc:hive2://192.168.31.129:10011 -n root  -p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rootroot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490A20-1B91-4109-BD5D-0A76B3FF1BA9}"/>
              </a:ext>
            </a:extLst>
          </p:cNvPr>
          <p:cNvSpPr txBox="1"/>
          <p:nvPr/>
        </p:nvSpPr>
        <p:spPr>
          <a:xfrm>
            <a:off x="876300" y="4394537"/>
            <a:ext cx="73914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!connect jdbc:hive2://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用户名密码为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rootroot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beeline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提示符下，执行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words;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words order by id;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!quit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1726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</a:p>
          <a:p>
            <a:pPr lvl="1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如果需要从另外一台机器启动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，存取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2743200"/>
            <a:ext cx="73914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./bin/beeline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beeline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提示符下执行如下命令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!connect jdbc:hive2://192.168.31.129:10011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用户名密码为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rootroot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beeline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提示符下，执行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words;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words order by id;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id, count(*) from words group by id order by id;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!quit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276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</a:p>
          <a:p>
            <a:pPr lvl="1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，可以使用如下命令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endParaRPr lang="zh-CN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2971800"/>
            <a:ext cx="73914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，用如下命令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netstat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ntlp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|grep 19083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kill -9 4688 \\4688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进程号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，用如下命令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netstat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ntlp|grep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10011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kill -9 11745 \\11745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进程号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./stop-yarn.sh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./stop-dfs.sh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5199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1707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</a:p>
          <a:p>
            <a:pPr lvl="1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“User: root is not allowed to impersonate root (state=,code=0)”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。解决办法如下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注意传播配置，在启动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HDFS/YARN/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/Hiveserver2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做实验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2971800"/>
            <a:ext cx="7391400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/core-site.xml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，增加如下内容。</a:t>
            </a:r>
          </a:p>
          <a:p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&lt;!-- 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用户“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root”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可以代理所有主机上的所有用户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&lt;property&gt;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&lt;name&gt;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hadoop.proxyuser.root.hosts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&lt;value&gt;*&lt;/value&gt;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&lt;/property&gt;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&lt;property&gt;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&lt;name&gt;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hadoop.proxyuser.root.groups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 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&lt;value&gt;*&lt;/value&gt;</a:t>
            </a: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&lt;/property&gt;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6F471F-854D-4741-93FC-483DAFC35237}"/>
              </a:ext>
            </a:extLst>
          </p:cNvPr>
          <p:cNvSpPr txBox="1"/>
          <p:nvPr/>
        </p:nvSpPr>
        <p:spPr>
          <a:xfrm>
            <a:off x="609600" y="5867400"/>
            <a:ext cx="792480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/core-site.xml root@192.168.31.130:/opt/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/core-site.xml root@192.168.31.131:/opt/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0114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其他问题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启动出错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2971800"/>
            <a:ext cx="73914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 algn="just"/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 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hive-site.xml 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中的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${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system:java.io.tmpdir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，替换成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tmp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lvl="1" algn="just"/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 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hive-site.xml 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中的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${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system:user.name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，替换成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${user.name}</a:t>
            </a:r>
          </a:p>
          <a:p>
            <a:pPr lvl="1" algn="just"/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1116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其他问题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jdbc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client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的安全认证出问题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915BE-1455-465D-B651-8252C18F83C8}"/>
              </a:ext>
            </a:extLst>
          </p:cNvPr>
          <p:cNvSpPr txBox="1"/>
          <p:nvPr/>
        </p:nvSpPr>
        <p:spPr>
          <a:xfrm>
            <a:off x="914400" y="2667000"/>
            <a:ext cx="7391400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 algn="just"/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/hive/conf/hive-site.xml</a:t>
            </a:r>
            <a:r>
              <a:rPr lang="zh-CN" alt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，具体如下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&lt;property&gt;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&lt;name&gt;hive.server2.authentication&lt;/name&gt;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&lt;value&gt;NONE&lt;/value&gt;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&lt;/property&gt;</a:t>
            </a:r>
          </a:p>
          <a:p>
            <a:pPr lvl="1" algn="just"/>
            <a:endParaRPr lang="en-US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&lt;property&gt;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&lt;name&gt;hive.server2.thrift.client.user&lt;/name&gt;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&lt;value&gt;root&lt;/value&gt;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&lt;description&gt;Username to use against thrift client&lt;/description&gt;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&lt;/property&gt;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&lt;property&gt;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&lt;name&gt;hive.server2.thrift.client.password&lt;/name&gt;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&lt;value&gt;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rootroot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&lt;/value&gt;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&lt;description&gt;Password to use against thrift client&lt;/description&gt;</a:t>
            </a:r>
          </a:p>
          <a:p>
            <a:pPr lvl="1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&lt;/property&gt;</a:t>
            </a:r>
          </a:p>
        </p:txBody>
      </p:sp>
    </p:spTree>
    <p:extLst>
      <p:ext uri="{BB962C8B-B14F-4D97-AF65-F5344CB8AC3E}">
        <p14:creationId xmlns:p14="http://schemas.microsoft.com/office/powerpoint/2010/main" val="9537154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问题处置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需要注意的是，每次更新配置文件，需要按照如下步骤关闭软件、复制配置文件、以及重新启动软件，进行实验。</a:t>
            </a: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停止服务进程，比如停止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，停止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-master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节点上修改配置文件，把配置文件复制到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hd-slave2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节点。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是多点部署的，所以需要进行配置文件的传播；而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是单点部署的，所以不需要这个操作。</a:t>
            </a: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重新启动服务进程，比如启动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，再做实验，比如通过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beeline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进行查询。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读者不难发现，停止服务的顺序和启动服务的顺序正好相反，符合进程间的依赖关系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15290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6013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HWI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Web Interface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的缩写，是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管理界面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HWI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的配置请参考文献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http://hive.praveendeshmane.co.in/hive/hive-web-interface-hwi.jsp </a:t>
            </a: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HWI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服务的命令如下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DDDE09-55DB-44A6-92F2-3645F27BCE4A}"/>
              </a:ext>
            </a:extLst>
          </p:cNvPr>
          <p:cNvSpPr txBox="1"/>
          <p:nvPr/>
        </p:nvSpPr>
        <p:spPr>
          <a:xfrm>
            <a:off x="990600" y="3429000"/>
            <a:ext cx="73914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bin/hive –service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hwi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&amp;</a:t>
            </a:r>
            <a:endParaRPr lang="en-US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23308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部署总结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B1B2EE-C2C0-48F3-AE6B-DCBABED20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62200"/>
            <a:ext cx="7924800" cy="383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799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6152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开发</a:t>
            </a:r>
          </a:p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程序里存取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数据库，和编写普通的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JDBC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程序是一样的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完整的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代码如下。这个实例首先建立到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Thrift Server)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的连接，然后执行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，显示查询结果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B68B5A-5136-4DA7-877B-08936DB0D32A}"/>
              </a:ext>
            </a:extLst>
          </p:cNvPr>
          <p:cNvSpPr txBox="1"/>
          <p:nvPr/>
        </p:nvSpPr>
        <p:spPr>
          <a:xfrm>
            <a:off x="914400" y="3352800"/>
            <a:ext cx="73914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package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com.pai.mvndemo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java.sql.Connection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java.sql.DriverManager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java.sql.ResultSet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java.sql.SQLException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java.sql.Statement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311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开发</a:t>
            </a:r>
          </a:p>
          <a:p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B68B5A-5136-4DA7-877B-08936DB0D32A}"/>
              </a:ext>
            </a:extLst>
          </p:cNvPr>
          <p:cNvSpPr txBox="1"/>
          <p:nvPr/>
        </p:nvSpPr>
        <p:spPr>
          <a:xfrm>
            <a:off x="876300" y="2122656"/>
            <a:ext cx="7391400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public class App {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public static void main(String[]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args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throws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SQLException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Connection conn;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Statement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stmt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ResultSet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res;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String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try {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String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driverName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"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org.apache.hive.jdbc.HiveDriver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Class.forName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driverName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Connection con = null;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// </a:t>
            </a:r>
            <a:r>
              <a:rPr lang="zh-CN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端口号默认为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10011</a:t>
            </a:r>
            <a:r>
              <a:rPr lang="zh-CN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，根据实际情况修改；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// </a:t>
            </a:r>
            <a:r>
              <a:rPr lang="zh-CN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用户名：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</a:t>
            </a:r>
            <a:r>
              <a:rPr lang="zh-CN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，密码：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rootroot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con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DriverManager.getConnection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("jdbc:hive2://192.168.31.129:10011/default", "root", "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rootroot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stmt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con.createStatement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res = null;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"SELECT * FROM words";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("Running" +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res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stmt.executeQuery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while 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res.next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()) {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("id: " +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res.getInt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+ "\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tword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" +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res.getString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}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 catch (Exception e) {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e.printStackTrace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("error");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837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开发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，利用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pom.xml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文件，很方便进行项目依赖的设置，无需用户为项目导入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pom.xml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文件的具体内容如下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B68B5A-5136-4DA7-877B-08936DB0D32A}"/>
              </a:ext>
            </a:extLst>
          </p:cNvPr>
          <p:cNvSpPr txBox="1"/>
          <p:nvPr/>
        </p:nvSpPr>
        <p:spPr>
          <a:xfrm>
            <a:off x="838200" y="2895600"/>
            <a:ext cx="7391400" cy="3754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effectLst/>
                <a:highlight>
                  <a:srgbClr val="D3D3D3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xmlns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="http://maven.apache.org/POM/4.0.0"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xmlns:xsi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="http://www.w3.org/2001/XMLSchema-instance"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03200"/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xsi:schemaLocation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="http://maven.apache.org/POM/4.0.0 http://maven.apache.org/xsd/maven-4.0.0.xsd"&gt;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modelVersion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&gt;4.0.0&lt;/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modelVersion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com.pai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mvndemo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&lt;version&gt;0.0.1-SNAPSHOT&lt;/version&gt;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&lt;packaging&gt;jar&lt;/packaging&gt;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mvndemo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&gt;http://maven.apache.org&lt;/url&gt;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&lt;properties&gt;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project.build.sourceEncoding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&gt;UTF-8&lt;/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project.build.sourceEncoding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&lt;/properties&gt;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2021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开发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，利用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pom.xml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文件，很方便进行项目依赖的设置，无需用户为项目导入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pom.xml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文件的具体内容如下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B68B5A-5136-4DA7-877B-08936DB0D32A}"/>
              </a:ext>
            </a:extLst>
          </p:cNvPr>
          <p:cNvSpPr txBox="1"/>
          <p:nvPr/>
        </p:nvSpPr>
        <p:spPr>
          <a:xfrm>
            <a:off x="876300" y="2796838"/>
            <a:ext cx="7391400" cy="3908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&lt;dependencies&gt;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&lt;dependency&gt;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junit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junit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&lt;version&gt;3.8.1&lt;/version&gt;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&lt;scope&gt;test&lt;/scope&gt;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&lt;/dependency&gt;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&lt;dependency&gt;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org.apache.hive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&gt;hive-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&lt;version&gt;1.2.1&lt;/version&gt;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&lt;/dependency&gt;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&lt;dependency&gt;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org.apache.hadoop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-common&lt;/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&lt;version&gt;2.7.3&lt;/version&gt;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&lt;/dependency&gt;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&lt;dependency&gt;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jdk.tools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jdk.tools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&lt;version&gt;1.8&lt;/version&gt;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&lt;scope&gt;system&lt;/scope&gt;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systemPath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&gt;C:/Program Files/Java/jdk1.8.0_131/lib/tools.jar&lt;/</a:t>
            </a:r>
            <a:r>
              <a:rPr lang="en-US" altLang="zh-CN" sz="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systemPath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&lt;/dependency&gt;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&lt;/dependencies&gt;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>
                <a:solidFill>
                  <a:srgbClr val="000000"/>
                </a:solidFill>
                <a:effectLst/>
                <a:highlight>
                  <a:srgbClr val="D3D3D3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</a:t>
            </a:r>
            <a:r>
              <a:rPr lang="en-US" altLang="zh-CN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6310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开发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关于如何安装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，给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安装和配置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插件，以及新建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项目，请参考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教材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8.4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为了运行和调试该代码，应该在集群上启动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、以及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。结束以后，按照逆序停止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Hiveserver2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74348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7421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en-US" sz="2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查询引擎</a:t>
            </a:r>
            <a:endParaRPr lang="en-US" altLang="zh-CN" sz="22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/>
            <a:r>
              <a:rPr lang="en-US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on </a:t>
            </a:r>
            <a:r>
              <a:rPr lang="en-US" altLang="zh-CN" sz="2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翻译成</a:t>
            </a:r>
            <a:r>
              <a:rPr lang="en-US" altLang="zh-CN" sz="2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</a:t>
            </a:r>
            <a:r>
              <a:rPr lang="en-US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(Job)</a:t>
            </a:r>
            <a:r>
              <a:rPr lang="zh-CN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，效率较低</a:t>
            </a:r>
            <a:endParaRPr lang="en-US" altLang="zh-CN" sz="2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主要的原因，是每个迭代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(Iteration)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都作为一个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作业实现，这个作业从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读取数据，并且把中间结果写入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endParaRPr lang="en-US" altLang="zh-CN" sz="2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这种执行模式，造成很大的延迟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</a:t>
            </a:r>
            <a:r>
              <a:rPr lang="zh-CN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可以把执行引擎改为</a:t>
            </a:r>
            <a:r>
              <a:rPr lang="en-US" altLang="zh-CN" sz="2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，提高</a:t>
            </a:r>
            <a:r>
              <a:rPr lang="en-US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查询性能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63502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en-US" sz="2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查询引擎</a:t>
            </a:r>
            <a:endParaRPr lang="en-US" altLang="zh-CN" sz="22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Apache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构建在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之上的支持分布式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Directed Acyclic Graph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）的计算框架</a:t>
            </a:r>
          </a:p>
          <a:p>
            <a:pPr lvl="1" algn="just"/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）支持通过复杂的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描述并处理大数据任务，将多个有依赖的作业转换为一个作业，提高作业执行效率</a:t>
            </a:r>
          </a:p>
          <a:p>
            <a:pPr lvl="1" algn="just"/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Cost-Based Optimization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，选择合适的执行计划</a:t>
            </a:r>
          </a:p>
          <a:p>
            <a:pPr lvl="1" algn="just"/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）配合列存储格式，向量化查询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</a:rPr>
              <a:t>执行模式，提高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查询执行效率</a:t>
            </a:r>
          </a:p>
          <a:p>
            <a:pPr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23833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查询引擎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为了解决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Hadoop/MapReduce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计算模型执行过程中的延迟问题，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HortonWorks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提出了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，作为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Apache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培育项目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(Incubator Project)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项目的目标，是建立一个执行框架，支持大数据上的以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DAG(Directed Acyclic Graph)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表达的作业的处理。它是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Hadoop2.0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平台上可扩展的、高效的执行引擎。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Pig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Cascading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作业，通过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引擎来运行，可以运行得更快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Hadoop2.0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的提出，使得在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平台上执行用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表达的作业成为可能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C95BFE-B396-47BC-91BE-4DCBE5416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267200"/>
            <a:ext cx="5257800" cy="248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212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查询引擎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把数据处理逻辑建模成一个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连接起来的任务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有向无环图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DAG(Directed Acyclic Graph)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，定义一个数据处理应用程序的数据处理流程。其中，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的顶点表示数据处理任务，它反映了一定的业务逻辑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(Business Logic)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，即如何对数据进行转换和分析。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的边，表示数据在不同顶点间的传递。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把每个顶点建模成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Processor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Output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模块的组合。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Output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模块决定了数据的格式，以及数据应该从哪里读，写入到哪里去等。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代表一个顶点的输入来源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或者管道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Processor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、或者另外一个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顶点的输出，获得输入数据。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Output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则代表一个顶点的输出的去向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管道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Output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Processor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可以为另外一个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顶点递送数据，或者把生成的数据保存到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Processor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则包装了数据转换和处理的逻辑，它从一个或者多个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消费数据，进行相关处理，然后产生多个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Output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。用户把不同的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Processor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Output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模块组合成顶点。在此之上，创建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数据处理工作流，执行特定数据处理逻辑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85853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查询引擎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把数据处理逻辑建模成一个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连接起来的任务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E8BF9BA-6062-4BD9-8859-087488EDA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505874"/>
            <a:ext cx="5021292" cy="404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904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安装、配置和运行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查询引擎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把数据处理逻辑建模成一个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连接起来的任务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的安装、配置和运行，请读者参考官方文档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目前，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SQL(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另一个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 on 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在性能上优于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，并且社区活跃，形成了对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Tez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的替代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7E169F-923E-4269-8EB5-2866E4908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9" y="3581400"/>
            <a:ext cx="4182115" cy="24520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D84A51A-1860-4D4C-AE27-F63E0BBDE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581400"/>
            <a:ext cx="4063232" cy="245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586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9214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Hive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行存储、列存储及其优缺点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D4D56C-9411-4A06-B15E-D443BDC0C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232023"/>
            <a:ext cx="6248400" cy="431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716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Hive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行存储</a:t>
            </a:r>
            <a:r>
              <a:rPr kumimoji="1" lang="zh-CN" altLang="en-US" dirty="0"/>
              <a:t>、列存储及其优缺点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</a:t>
            </a:r>
            <a:endParaRPr kumimoji="1" lang="en-US" altLang="zh-CN" dirty="0"/>
          </a:p>
          <a:p>
            <a:pPr lvl="2"/>
            <a:r>
              <a:rPr lang="zh-CN" altLang="en-US" dirty="0"/>
              <a:t>更新和插入比较方便，写入效率高</a:t>
            </a:r>
            <a:endParaRPr lang="en-US" altLang="zh-CN" dirty="0"/>
          </a:p>
          <a:p>
            <a:pPr lvl="2"/>
            <a:r>
              <a:rPr lang="zh-CN" altLang="en-US" dirty="0"/>
              <a:t>容易实现事务性、一致性控制</a:t>
            </a:r>
            <a:endParaRPr lang="en-US" altLang="zh-CN" dirty="0"/>
          </a:p>
          <a:p>
            <a:pPr lvl="1"/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对于分析型查询，</a:t>
            </a:r>
            <a:r>
              <a:rPr lang="zh-CN" altLang="en-US" dirty="0"/>
              <a:t>如果只查某几个字段，</a:t>
            </a:r>
            <a:r>
              <a:rPr kumimoji="1" lang="zh-CN" altLang="en-US" dirty="0"/>
              <a:t>有可能存取不必要的数据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应用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事务型应用</a:t>
            </a:r>
          </a:p>
        </p:txBody>
      </p:sp>
    </p:spTree>
    <p:extLst>
      <p:ext uri="{BB962C8B-B14F-4D97-AF65-F5344CB8AC3E}">
        <p14:creationId xmlns:p14="http://schemas.microsoft.com/office/powerpoint/2010/main" val="13576572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Hive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行存储、</a:t>
            </a:r>
            <a:r>
              <a:rPr kumimoji="1" lang="zh-CN" altLang="en-US" dirty="0">
                <a:solidFill>
                  <a:srgbClr val="C00000"/>
                </a:solidFill>
              </a:rPr>
              <a:t>列存储</a:t>
            </a:r>
            <a:r>
              <a:rPr kumimoji="1" lang="zh-CN" altLang="en-US" dirty="0"/>
              <a:t>及其优缺点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优点：吞吐量高，性能强</a:t>
            </a:r>
            <a:endParaRPr kumimoji="1" lang="en-US" altLang="zh-CN" dirty="0"/>
          </a:p>
          <a:p>
            <a:pPr lvl="2"/>
            <a:r>
              <a:rPr lang="zh-CN" altLang="en-US" dirty="0"/>
              <a:t>适合压缩</a:t>
            </a:r>
            <a:endParaRPr lang="en-US" altLang="zh-CN" dirty="0"/>
          </a:p>
          <a:p>
            <a:pPr lvl="2"/>
            <a:r>
              <a:rPr lang="zh-CN" altLang="en-US" dirty="0"/>
              <a:t>提高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效率、</a:t>
            </a:r>
            <a:r>
              <a:rPr lang="zh-CN" altLang="en-US" dirty="0"/>
              <a:t>提高</a:t>
            </a:r>
            <a:r>
              <a:rPr kumimoji="1" lang="en-US" altLang="zh-CN" dirty="0"/>
              <a:t>CPU Cache</a:t>
            </a:r>
            <a:r>
              <a:rPr kumimoji="1" lang="zh-CN" altLang="en-US" dirty="0"/>
              <a:t>效率</a:t>
            </a:r>
            <a:endParaRPr kumimoji="1" lang="en-US" altLang="zh-CN" dirty="0"/>
          </a:p>
          <a:p>
            <a:pPr lvl="2"/>
            <a:r>
              <a:rPr lang="zh-CN" altLang="en-US" dirty="0"/>
              <a:t>针对某几个字段的读取效率较高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2"/>
            <a:r>
              <a:rPr lang="zh-CN" altLang="en-US" dirty="0"/>
              <a:t>一致性、事务性较弱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应用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分析型应用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028088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平台上的列存储技术及其优势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在分析型应用中，列存储技术具有若干明显的优势：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更少的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操作：读取数据的时候，可以把投影下推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(Project Pushdown)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，只需读取查询需要的列，可以大大减少每次查询的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数据量。甚至可以支持谓词下推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(Predicate Pushdown)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，跳过不满足条件的数据行。通过减少不必要的数据扫描，提高查询性能。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更高的压缩比：每一列中的数据，类型相同，由于相同类型的数据连续存放，可以使用针对性的编码和压缩方法对数据进行压缩，大大降低数据存储空间。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由于每一列的数据类型相同，可以使用更加适合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流水线的编码方式，减少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的缓存失效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(Cache Miss)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生态圈涌现出一系列列存储格式，包括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RC File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ORC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这里介绍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71321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平台上的列存储技术及其优势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平台上的一种列存储格式。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的灵感来自于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Google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发表的关于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Dremel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系统的论文。该论文介绍了一种支持嵌套结构的列存储格式，以提升查询性能。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生态系统中的所有项目，提供支持高压缩率的列存储格式。它兼容各种数据处理框架、对象模型，支持各种查询引擎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Impala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Presto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，与编程语言无关。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最初由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Twitter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Cloudera(Impala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的开发者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合作开发完成，然后开源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2015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Apache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的孵化器里孵化完成，成为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Apache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顶级项目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48922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平台上的列存储技术及其优势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数据模型</a:t>
            </a:r>
            <a:endParaRPr lang="zh-CN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67D6DF-9C5F-41BE-A33C-E8FF90FB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743200"/>
            <a:ext cx="4219575" cy="25512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FFEEE6-576F-47BE-AFB0-79E3E4360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434" y="2819401"/>
            <a:ext cx="409404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421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平台上的列存储技术及其优势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数据模型</a:t>
            </a:r>
            <a:endParaRPr lang="en-US" altLang="zh-CN" sz="18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如何把内存中的每个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AddressBook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对象，按照列存储格式保存到硬盘文件中？在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格式的存储中，一个数据模式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(Schema)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的树结构有几个叶子节点，实际的存储中就会有多少列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(Column)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。于是，上述实例中的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AddressBook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数据模式，在存储上共有四个列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(Column)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81DCE7-B116-4084-A16D-36587EB5C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14801"/>
            <a:ext cx="8079516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881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平台上的列存储技术及其优势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Parquet</a:t>
            </a:r>
            <a:r>
              <a:rPr lang="zh-CN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文件结构</a:t>
            </a:r>
            <a:endParaRPr lang="zh-CN" altLang="zh-CN" sz="1800" dirty="0">
              <a:solidFill>
                <a:srgbClr val="C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文件结构涉及如下几个重要的层次，如图所示。这是一种自描述的文件结构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4FB93E-794F-4B77-B65C-FFA5D9778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048000"/>
            <a:ext cx="5334000" cy="371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065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3556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Parquet</a:t>
            </a:r>
            <a:r>
              <a:rPr lang="zh-CN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文件结构</a:t>
            </a:r>
            <a:endParaRPr lang="zh-CN" altLang="zh-CN" sz="1800" dirty="0">
              <a:solidFill>
                <a:srgbClr val="C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HDFS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(File)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文件，包括数据和元数据。数据存储在多个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中。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HDFS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数据块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(Block)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上最小的存储单位。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保存到本地磁盘，并且在不同的机器上，维护另外两个副本。通常情况下，一个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的大小为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256M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512M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(Row Group)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按照行，将数据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表格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物理上划分为多个组。每一个行组，包含一定的行数。一个行组包含该行组数据的各个列对应的列块。一般建议采用更大的行组大小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(512MB-1GB)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。更大的行组，意味着更大的列块，有利于在硬盘上做串行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I/O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由于一次可能需要读取整个行组，所以一般让一个行组刚好在一个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数据块中，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数据块的大小需要设得更大。比如，采用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1GB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数据块大小，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数据块放一个行组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(4)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列块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(Column Chunk)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在一个行组中，每一列保存在一个列块中。行组中的所有列连续地存储在这个行组中。不同的列块，可以使用不同的算法进行压缩。一个列块由多个页组成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(5)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(Page)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每一个列块，划分为多个页，页是压缩和编码的单元。在同一个列块内的不同页，可以使用不同的编码方式。典型的页面大小为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1MB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(After Encoding)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19819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35562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Parquet</a:t>
            </a:r>
            <a:r>
              <a:rPr lang="zh-CN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文件结构</a:t>
            </a:r>
            <a:endParaRPr lang="zh-CN" altLang="zh-CN" sz="1800" dirty="0">
              <a:solidFill>
                <a:srgbClr val="C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列存储给数据压缩提供了更大的发挥空间。除了我们常见的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Snappy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GZIP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等通用压缩方法以外，由于同一列的数据类型是一致的，可以使用不同的压缩算法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7C62CA-3622-4320-B651-CF5C3FA8A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05200"/>
            <a:ext cx="7618864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243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35562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Parquet</a:t>
            </a:r>
            <a:r>
              <a:rPr lang="zh-CN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文件结构</a:t>
            </a:r>
            <a:endParaRPr lang="zh-CN" altLang="zh-CN" sz="1800" dirty="0">
              <a:solidFill>
                <a:srgbClr val="C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在数据库系统中，最常用的查询优化手段之一是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谓词下推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通过将一些过滤条件尽可能早地执行，可以减少查询计划后续需要处理的数据量，从而提升性能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如果首先对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表执行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Table Scan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操作，然后进行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Join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操作，再执行过滤，最后计算聚集函数返回，效率是不高的。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但是，如果把过滤条件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A.a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&gt; 10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B.b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&lt; 100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，分别移动到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Table Scan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Table Scan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的时候执行，遴选出符合条件的记录，就可以大大降低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Join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操作的输入数据，加快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Join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操作，并且提高整个查询的效率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665209-48FF-4686-9E52-AD7CA72FFC99}"/>
              </a:ext>
            </a:extLst>
          </p:cNvPr>
          <p:cNvSpPr txBox="1"/>
          <p:nvPr/>
        </p:nvSpPr>
        <p:spPr>
          <a:xfrm>
            <a:off x="2324100" y="2895600"/>
            <a:ext cx="45720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(*)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Join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A.id = B.id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Where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A.a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&gt;10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And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and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B.b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&lt; 100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2405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35562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Parquet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文件结构</a:t>
            </a: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列存储格式的另外一个优势，是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映射下推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在获取表中的数据的时候，只需要扫描查询中需要的列。由于避免了不必要的数据列的提取，查询的效率得到提高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666EDE4-E4F0-4B5C-B7F7-71B104F51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533046"/>
              </p:ext>
            </p:extLst>
          </p:nvPr>
        </p:nvGraphicFramePr>
        <p:xfrm>
          <a:off x="1447800" y="3397827"/>
          <a:ext cx="609599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31142507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95743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1626751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312616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2813776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4296062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952895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03859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81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79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035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047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054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745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218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104098"/>
                  </a:ext>
                </a:extLst>
              </a:tr>
            </a:tbl>
          </a:graphicData>
        </a:graphic>
      </p:graphicFrame>
      <p:sp>
        <p:nvSpPr>
          <p:cNvPr id="4" name="矩形: 圆角 3">
            <a:extLst>
              <a:ext uri="{FF2B5EF4-FFF2-40B4-BE49-F238E27FC236}">
                <a16:creationId xmlns:a16="http://schemas.microsoft.com/office/drawing/2014/main" id="{D2BC524B-0ECD-43D0-B4F6-2BD2373EBB71}"/>
              </a:ext>
            </a:extLst>
          </p:cNvPr>
          <p:cNvSpPr/>
          <p:nvPr/>
        </p:nvSpPr>
        <p:spPr>
          <a:xfrm>
            <a:off x="1752600" y="3200400"/>
            <a:ext cx="1295400" cy="338296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D69B5A0-4D13-4628-B8E1-8086EF6126AC}"/>
              </a:ext>
            </a:extLst>
          </p:cNvPr>
          <p:cNvSpPr/>
          <p:nvPr/>
        </p:nvSpPr>
        <p:spPr>
          <a:xfrm>
            <a:off x="5410200" y="3124200"/>
            <a:ext cx="1600200" cy="345916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8944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35562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Parquet</a:t>
            </a:r>
            <a:r>
              <a:rPr lang="zh-CN" alt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的性能</a:t>
            </a:r>
            <a:endParaRPr lang="en-US" altLang="zh-CN" sz="18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Criteo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公司在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数据仓库中，使用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两种列存储格式，执行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TPC-DS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测试基准的结果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D8537D0-8FA3-4C31-9B28-86FA7D0EDE2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895600"/>
            <a:ext cx="6248400" cy="2819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325630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35562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Parquet</a:t>
            </a:r>
            <a:r>
              <a:rPr lang="zh-CN" alt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的性能</a:t>
            </a:r>
            <a:endParaRPr lang="en-US" altLang="zh-CN" sz="18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在这个实验中，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TPC-DS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Scale Factor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。相对于文本文件，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ORC Snappy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把文件压缩到原来文件大小的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35%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 Snappy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把文件压缩到原来文件大小的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33%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从测试结果可以看出，在数据存储方面，两种存储格式在使用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Snappy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压缩的情况下，占用的空间相差并不大，在查询性能上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格式稍微好于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格式，各有优缺点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格式原生地支持嵌套式数据结构，而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ORC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对此支持得较差。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不支持数据的修改和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ACID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事务语义，但是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ORC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对此提供支持</a:t>
            </a:r>
            <a:endParaRPr lang="en-US" altLang="zh-C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OLAP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环境下，我们很少会对单条数据进行修改，更多的是对数据进行批量导入</a:t>
            </a:r>
            <a:endParaRPr lang="en-US" altLang="zh-C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0303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35562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Parquet</a:t>
            </a:r>
            <a:r>
              <a:rPr lang="zh-CN" alt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的使用</a:t>
            </a:r>
            <a:endParaRPr lang="en-US" altLang="zh-CN" sz="18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如何在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里面使用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列存储文件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，可以参考文献</a:t>
            </a:r>
            <a:endParaRPr lang="en-US" altLang="zh-C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http://blog.cloudera.com/blog/2014/03/how-to-use-parquet-with-impala-hive-pig-mapreduce/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SQL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系统的实验部分，将介绍如何使用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列存储格式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3"/>
              </a:rPr>
              <a:t>https://spark.apache.org/docs/latest/sql-data-sources-parquet.html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4"/>
              </a:rPr>
              <a:t>https://kontext.tech/column/spark/257/write-and-read-parquet-files-in-hdfs-through-sparkscala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01403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7942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3358</TotalTime>
  <Words>8363</Words>
  <Application>Microsoft Office PowerPoint</Application>
  <PresentationFormat>全屏显示(4:3)</PresentationFormat>
  <Paragraphs>870</Paragraphs>
  <Slides>90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90</vt:i4>
      </vt:variant>
    </vt:vector>
  </HeadingPairs>
  <TitlesOfParts>
    <vt:vector size="103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 2</vt:lpstr>
      <vt:lpstr>Wingdings 3</vt:lpstr>
      <vt:lpstr>Dragon</vt:lpstr>
      <vt:lpstr>Hadoop与Spark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pause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pause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pause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pause</vt:lpstr>
      <vt:lpstr>Hive简介、部署与开发</vt:lpstr>
      <vt:lpstr>Hive简介、部署与开发</vt:lpstr>
      <vt:lpstr>Hive简介、部署与开发</vt:lpstr>
      <vt:lpstr>Hive简介、部署与开发</vt:lpstr>
      <vt:lpstr>pause</vt:lpstr>
      <vt:lpstr>Hive简介、部署与开发</vt:lpstr>
      <vt:lpstr>Hive简介、部署与开发</vt:lpstr>
      <vt:lpstr>pause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pause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pause</vt:lpstr>
      <vt:lpstr>Hive</vt:lpstr>
      <vt:lpstr>Hive</vt:lpstr>
      <vt:lpstr>Hive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Hive简介、部署与开发</vt:lpstr>
      <vt:lpstr>pause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821</cp:revision>
  <dcterms:created xsi:type="dcterms:W3CDTF">2006-08-16T00:00:00Z</dcterms:created>
  <dcterms:modified xsi:type="dcterms:W3CDTF">2023-04-24T08:15:01Z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