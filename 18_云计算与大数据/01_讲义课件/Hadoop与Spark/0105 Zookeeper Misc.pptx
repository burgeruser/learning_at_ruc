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610" r:id="rId2"/>
    <p:sldId id="285" r:id="rId3"/>
    <p:sldId id="700" r:id="rId4"/>
    <p:sldId id="722" r:id="rId5"/>
    <p:sldId id="724" r:id="rId6"/>
    <p:sldId id="749" r:id="rId7"/>
    <p:sldId id="725" r:id="rId8"/>
    <p:sldId id="750" r:id="rId9"/>
    <p:sldId id="727" r:id="rId10"/>
    <p:sldId id="728" r:id="rId11"/>
    <p:sldId id="729" r:id="rId12"/>
    <p:sldId id="730" r:id="rId13"/>
    <p:sldId id="731" r:id="rId14"/>
    <p:sldId id="732" r:id="rId15"/>
    <p:sldId id="708" r:id="rId16"/>
    <p:sldId id="734" r:id="rId17"/>
    <p:sldId id="735" r:id="rId18"/>
    <p:sldId id="736" r:id="rId19"/>
    <p:sldId id="737" r:id="rId20"/>
    <p:sldId id="738" r:id="rId21"/>
    <p:sldId id="739" r:id="rId22"/>
    <p:sldId id="701" r:id="rId23"/>
    <p:sldId id="702" r:id="rId24"/>
    <p:sldId id="703" r:id="rId25"/>
    <p:sldId id="704" r:id="rId26"/>
    <p:sldId id="705" r:id="rId27"/>
    <p:sldId id="706" r:id="rId28"/>
    <p:sldId id="707" r:id="rId29"/>
    <p:sldId id="733" r:id="rId30"/>
    <p:sldId id="709" r:id="rId31"/>
    <p:sldId id="719" r:id="rId32"/>
    <p:sldId id="720" r:id="rId33"/>
    <p:sldId id="721" r:id="rId34"/>
    <p:sldId id="718" r:id="rId35"/>
    <p:sldId id="711" r:id="rId36"/>
    <p:sldId id="712" r:id="rId37"/>
    <p:sldId id="713" r:id="rId38"/>
    <p:sldId id="710" r:id="rId39"/>
    <p:sldId id="714" r:id="rId40"/>
    <p:sldId id="715" r:id="rId41"/>
    <p:sldId id="716" r:id="rId42"/>
    <p:sldId id="717" r:id="rId43"/>
    <p:sldId id="742" r:id="rId44"/>
    <p:sldId id="743" r:id="rId45"/>
    <p:sldId id="744" r:id="rId46"/>
    <p:sldId id="745" r:id="rId47"/>
    <p:sldId id="746" r:id="rId48"/>
    <p:sldId id="747" r:id="rId49"/>
    <p:sldId id="748" r:id="rId50"/>
    <p:sldId id="741" r:id="rId51"/>
    <p:sldId id="751" r:id="rId52"/>
    <p:sldId id="752" r:id="rId53"/>
    <p:sldId id="753" r:id="rId54"/>
    <p:sldId id="754" r:id="rId55"/>
    <p:sldId id="755" r:id="rId56"/>
    <p:sldId id="756" r:id="rId57"/>
    <p:sldId id="757" r:id="rId58"/>
    <p:sldId id="758" r:id="rId59"/>
    <p:sldId id="759" r:id="rId60"/>
    <p:sldId id="699"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D21623A-C671-2D44-B254-F252EBE76DF6}">
          <p14:sldIdLst>
            <p14:sldId id="610"/>
            <p14:sldId id="285"/>
            <p14:sldId id="700"/>
            <p14:sldId id="722"/>
            <p14:sldId id="724"/>
            <p14:sldId id="749"/>
            <p14:sldId id="725"/>
            <p14:sldId id="750"/>
            <p14:sldId id="727"/>
            <p14:sldId id="728"/>
            <p14:sldId id="729"/>
            <p14:sldId id="730"/>
            <p14:sldId id="731"/>
            <p14:sldId id="732"/>
            <p14:sldId id="708"/>
            <p14:sldId id="734"/>
            <p14:sldId id="735"/>
            <p14:sldId id="736"/>
            <p14:sldId id="737"/>
            <p14:sldId id="738"/>
            <p14:sldId id="739"/>
            <p14:sldId id="701"/>
            <p14:sldId id="702"/>
            <p14:sldId id="703"/>
            <p14:sldId id="704"/>
            <p14:sldId id="705"/>
            <p14:sldId id="706"/>
            <p14:sldId id="707"/>
            <p14:sldId id="733"/>
            <p14:sldId id="709"/>
            <p14:sldId id="719"/>
            <p14:sldId id="720"/>
            <p14:sldId id="721"/>
            <p14:sldId id="718"/>
            <p14:sldId id="711"/>
            <p14:sldId id="712"/>
            <p14:sldId id="713"/>
            <p14:sldId id="710"/>
            <p14:sldId id="714"/>
            <p14:sldId id="715"/>
            <p14:sldId id="716"/>
            <p14:sldId id="717"/>
            <p14:sldId id="742"/>
            <p14:sldId id="743"/>
            <p14:sldId id="744"/>
            <p14:sldId id="745"/>
            <p14:sldId id="746"/>
            <p14:sldId id="747"/>
            <p14:sldId id="748"/>
            <p14:sldId id="741"/>
            <p14:sldId id="751"/>
            <p14:sldId id="752"/>
            <p14:sldId id="753"/>
            <p14:sldId id="754"/>
            <p14:sldId id="755"/>
            <p14:sldId id="756"/>
            <p14:sldId id="757"/>
            <p14:sldId id="758"/>
            <p14:sldId id="759"/>
            <p14:sldId id="699"/>
          </p14:sldIdLst>
        </p14:section>
      </p14:sectionLst>
    </p:ext>
    <p:ext uri="{EFAFB233-063F-42B5-8137-9DF3F51BA10A}">
      <p15:sldGuideLst xmlns:p15="http://schemas.microsoft.com/office/powerpoint/2012/main">
        <p15:guide id="1" orient="horz" pos="218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95" autoAdjust="0"/>
    <p:restoredTop sz="93692" autoAdjust="0"/>
  </p:normalViewPr>
  <p:slideViewPr>
    <p:cSldViewPr>
      <p:cViewPr varScale="1">
        <p:scale>
          <a:sx n="76" d="100"/>
          <a:sy n="76" d="100"/>
        </p:scale>
        <p:origin x="1778" y="32"/>
      </p:cViewPr>
      <p:guideLst>
        <p:guide orient="horz" pos="21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05AC6C-9512-4B60-88A3-550D11AC211E}" type="datetimeFigureOut">
              <a:rPr lang="en-US" smtClean="0"/>
              <a:t>6/4/2023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BA42DD-6D94-4698-832B-FD6413A899CA}" type="slidenum">
              <a:rPr lang="en-US" smtClean="0"/>
              <a:t>‹#›</a:t>
            </a:fld>
            <a:endParaRPr lang="en-US"/>
          </a:p>
        </p:txBody>
      </p:sp>
    </p:spTree>
    <p:extLst>
      <p:ext uri="{BB962C8B-B14F-4D97-AF65-F5344CB8AC3E}">
        <p14:creationId xmlns:p14="http://schemas.microsoft.com/office/powerpoint/2010/main" val="752445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73157"/>
            <a:ext cx="7772400" cy="1470025"/>
          </a:xfrm>
        </p:spPr>
        <p:txBody>
          <a:bodyPr anchor="b"/>
          <a:lstStyle>
            <a:lvl1pPr algn="l">
              <a:defRPr sz="4800"/>
            </a:lvl1pPr>
          </a:lstStyle>
          <a:p>
            <a:r>
              <a:rPr kumimoji="0" lang="en-US"/>
              <a:t>Click to edit Master title style</a:t>
            </a:r>
          </a:p>
        </p:txBody>
      </p:sp>
      <p:sp>
        <p:nvSpPr>
          <p:cNvPr id="3" name="Subtitle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p>
        </p:txBody>
      </p:sp>
      <p:sp>
        <p:nvSpPr>
          <p:cNvPr id="7" name="灯片编号占位符 3">
            <a:extLst>
              <a:ext uri="{FF2B5EF4-FFF2-40B4-BE49-F238E27FC236}">
                <a16:creationId xmlns:a16="http://schemas.microsoft.com/office/drawing/2014/main" id="{3712DD02-EDF1-4DE5-8819-AAE28276EE89}"/>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Times New Roman" panose="02020603050405020304" pitchFamily="18" charset="0"/>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Times New Roman" panose="02020603050405020304" pitchFamily="18" charset="0"/>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2924181"/>
            <a:ext cx="7772400" cy="1362075"/>
          </a:xfrm>
        </p:spPr>
        <p:txBody>
          <a:bodyPr anchor="t"/>
          <a:lstStyle>
            <a:lvl1pPr algn="l">
              <a:defRPr sz="4400" b="0" cap="all"/>
            </a:lvl1pPr>
          </a:lstStyle>
          <a:p>
            <a:r>
              <a:rPr kumimoji="0" lang="en-US"/>
              <a:t>Click to edit Master title style</a:t>
            </a:r>
          </a:p>
        </p:txBody>
      </p:sp>
      <p:sp>
        <p:nvSpPr>
          <p:cNvPr id="3" name="Text Placeholder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灯片编号占位符 3">
            <a:extLst>
              <a:ext uri="{FF2B5EF4-FFF2-40B4-BE49-F238E27FC236}">
                <a16:creationId xmlns:a16="http://schemas.microsoft.com/office/drawing/2014/main" id="{18524F79-73A5-4710-9319-220E80AC0C1F}"/>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Times New Roman" panose="02020603050405020304" pitchFamily="18" charset="0"/>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Times New Roman" panose="02020603050405020304" pitchFamily="18" charset="0"/>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a:xfrm>
            <a:off x="457205" y="285728"/>
            <a:ext cx="8230993" cy="696626"/>
          </a:xfrm>
        </p:spPr>
        <p:txBody>
          <a:bodyPr anchor="ctr"/>
          <a:lstStyle>
            <a:lvl1pPr algn="ctr">
              <a:defRPr sz="3600" b="0"/>
            </a:lvl1pPr>
          </a:lstStyle>
          <a:p>
            <a:r>
              <a:rPr kumimoji="0"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1024" y="642918"/>
            <a:ext cx="785818" cy="4572032"/>
          </a:xfrm>
        </p:spPr>
        <p:txBody>
          <a:bodyPr vert="eaVert" anchor="ctr"/>
          <a:lstStyle>
            <a:lvl1pPr algn="l">
              <a:defRPr sz="2400" b="0"/>
            </a:lvl1pPr>
          </a:lstStyle>
          <a:p>
            <a:r>
              <a:rPr kumimoji="0" lang="en-US"/>
              <a:t>Click to edit Master title style</a:t>
            </a:r>
          </a:p>
        </p:txBody>
      </p:sp>
      <p:sp>
        <p:nvSpPr>
          <p:cNvPr id="3" name="Picture Placeholder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p>
        </p:txBody>
      </p:sp>
      <p:sp>
        <p:nvSpPr>
          <p:cNvPr id="4" name="Text Placeholder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43768" y="274639"/>
            <a:ext cx="1543032"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61513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14"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Rectangle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Rectangle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2" name="Title Placeholder 1"/>
          <p:cNvSpPr>
            <a:spLocks noGrp="1"/>
          </p:cNvSpPr>
          <p:nvPr>
            <p:ph type="title"/>
          </p:nvPr>
        </p:nvSpPr>
        <p:spPr>
          <a:xfrm>
            <a:off x="457200" y="274638"/>
            <a:ext cx="8229600" cy="1143000"/>
          </a:xfrm>
          <a:prstGeom prst="rect">
            <a:avLst/>
          </a:prstGeom>
        </p:spPr>
        <p:txBody>
          <a:bodyPr vert="horz" rtlCol="0" anchor="ctr">
            <a:normAutofit/>
          </a:bodyPr>
          <a:lstStyle/>
          <a:p>
            <a:r>
              <a:rPr kumimoji="0"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2" name="灯片编号占位符 3">
            <a:extLst>
              <a:ext uri="{FF2B5EF4-FFF2-40B4-BE49-F238E27FC236}">
                <a16:creationId xmlns:a16="http://schemas.microsoft.com/office/drawing/2014/main" id="{69D84AD9-88E4-47CB-8F2A-8AB59D90F7ED}"/>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Times New Roman" panose="02020603050405020304" pitchFamily="18" charset="0"/>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Times New Roman" panose="02020603050405020304" pitchFamily="18" charset="0"/>
              <a:ea typeface="隶书" panose="02010509060101010101" pitchFamily="49" charset="-122"/>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0EB1356-0045-4B4E-84B0-D0BEBDB4E8AC}"/>
                  </a:ext>
                </a:extLst>
              </p:cNvPr>
              <p:cNvSpPr/>
              <p:nvPr userDrawn="1"/>
            </p:nvSpPr>
            <p:spPr>
              <a:xfrm>
                <a:off x="7391400" y="6312003"/>
                <a:ext cx="1399679" cy="369332"/>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en-US" altLang="zh-CN" dirty="0"/>
                  <a:t>Copy right </a:t>
                </a:r>
                <a14:m>
                  <m:oMath xmlns:m="http://schemas.openxmlformats.org/officeDocument/2006/math">
                    <m:r>
                      <a:rPr kumimoji="0" lang="zh-CN" altLang="en-US" i="1" smtClean="0">
                        <a:latin typeface="Cambria Math" panose="02040503050406030204" pitchFamily="18" charset="0"/>
                      </a:rPr>
                      <m:t>𝜋</m:t>
                    </m:r>
                  </m:oMath>
                </a14:m>
                <a:endParaRPr lang="zh-CN" altLang="en-US" dirty="0"/>
              </a:p>
            </p:txBody>
          </p:sp>
        </mc:Choice>
        <mc:Fallback xmlns="">
          <p:sp>
            <p:nvSpPr>
              <p:cNvPr id="9" name="矩形 8">
                <a:extLst>
                  <a:ext uri="{FF2B5EF4-FFF2-40B4-BE49-F238E27FC236}">
                    <a16:creationId xmlns:a16="http://schemas.microsoft.com/office/drawing/2014/main" id="{F0EB1356-0045-4B4E-84B0-D0BEBDB4E8AC}"/>
                  </a:ext>
                </a:extLst>
              </p:cNvPr>
              <p:cNvSpPr>
                <a:spLocks noRot="1" noChangeAspect="1" noMove="1" noResize="1" noEditPoints="1" noAdjustHandles="1" noChangeArrowheads="1" noChangeShapeType="1" noTextEdit="1"/>
              </p:cNvSpPr>
              <p:nvPr userDrawn="1"/>
            </p:nvSpPr>
            <p:spPr>
              <a:xfrm>
                <a:off x="7391400" y="6312003"/>
                <a:ext cx="1399679" cy="369332"/>
              </a:xfrm>
              <a:prstGeom prst="rect">
                <a:avLst/>
              </a:prstGeom>
              <a:blipFill>
                <a:blip r:embed="rId15"/>
                <a:stretch>
                  <a:fillRect l="-3930" t="-9836" b="-22951"/>
                </a:stretch>
              </a:blipFill>
            </p:spPr>
            <p:txBody>
              <a:bodyPr/>
              <a:lstStyle/>
              <a:p>
                <a:r>
                  <a:rPr lang="zh-CN" altLang="en-US">
                    <a:noFill/>
                  </a:rPr>
                  <a:t> </a:t>
                </a:r>
              </a:p>
            </p:txBody>
          </p:sp>
        </mc:Fallback>
      </mc:AlternateContent>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log.csdn.net/qq_44750696/article/details/123759164" TargetMode="External"/><Relationship Id="rId2" Type="http://schemas.openxmlformats.org/officeDocument/2006/relationships/hyperlink" Target="https://blog.51cto.com/u_15724848/5766927"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5D14F7-0E7F-8548-85E8-931FFC6E87CB}"/>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Hadoop</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Spark</a:t>
            </a:r>
            <a:endParaRPr kumimoji="1" lang="zh-CN" altLang="en-US" dirty="0">
              <a:latin typeface="微软雅黑" panose="020B0503020204020204" pitchFamily="34" charset="-122"/>
              <a:ea typeface="微软雅黑" panose="020B0503020204020204" pitchFamily="34" charset="-122"/>
            </a:endParaRPr>
          </a:p>
        </p:txBody>
      </p:sp>
      <p:sp>
        <p:nvSpPr>
          <p:cNvPr id="3" name="副标题 2">
            <a:extLst>
              <a:ext uri="{FF2B5EF4-FFF2-40B4-BE49-F238E27FC236}">
                <a16:creationId xmlns:a16="http://schemas.microsoft.com/office/drawing/2014/main" id="{70829591-AB44-3C4B-B84E-713A444B98F7}"/>
              </a:ext>
            </a:extLst>
          </p:cNvPr>
          <p:cNvSpPr>
            <a:spLocks noGrp="1"/>
          </p:cNvSpPr>
          <p:nvPr>
            <p:ph type="subTitle" idx="1"/>
          </p:nvPr>
        </p:nvSpPr>
        <p:spPr>
          <a:xfrm>
            <a:off x="687716" y="2643182"/>
            <a:ext cx="6670366" cy="2309818"/>
          </a:xfrm>
        </p:spPr>
        <p:txBody>
          <a:bodyPr>
            <a:normAutofit/>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1D0A2E75-B35B-4060-94AD-2DA746D4C1CC}"/>
              </a:ext>
            </a:extLst>
          </p:cNvPr>
          <p:cNvSpPr/>
          <p:nvPr/>
        </p:nvSpPr>
        <p:spPr>
          <a:xfrm>
            <a:off x="609600" y="4876800"/>
            <a:ext cx="7772400" cy="1200329"/>
          </a:xfrm>
          <a:prstGeom prst="rect">
            <a:avLst/>
          </a:prstGeom>
        </p:spPr>
        <p:txBody>
          <a:bodyPr wrap="square">
            <a:spAutoFit/>
          </a:bodyPr>
          <a:lstStyle/>
          <a:p>
            <a:r>
              <a:rPr lang="zh-CN" altLang="en-US" dirty="0">
                <a:hlinkClick r:id="rId2"/>
              </a:rPr>
              <a:t>https://blog.51cto.com/u_15724848/5766927</a:t>
            </a:r>
            <a:endParaRPr lang="en-US" altLang="zh-CN" dirty="0"/>
          </a:p>
          <a:p>
            <a:r>
              <a:rPr lang="en-US" altLang="zh-CN" dirty="0">
                <a:hlinkClick r:id="rId3"/>
              </a:rPr>
              <a:t>https://blog.csdn.net/qq_44750696/article/details/123759164</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2328405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是什么？</a:t>
            </a:r>
            <a:endPar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是一个开放源码的、​分布式​​​的应用程序​​​协调服务，它是​</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Google​​​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Chubby</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一个​开源​​的实现，是</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Hadoop</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HBase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的重要组件</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它是一个为分布式应用提供一致性服务的软件</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作为开源的分布式协调框架，将那些复杂且容易出错的分布式一致性服务封装起来，构成一个高效可靠的原语集，并以一系列简单易用的接口提供给用户使用</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7784D27A-6C53-401A-AB60-BDF0927D1B5C}"/>
              </a:ext>
            </a:extLst>
          </p:cNvPr>
          <p:cNvPicPr>
            <a:picLocks noChangeAspect="1"/>
          </p:cNvPicPr>
          <p:nvPr/>
        </p:nvPicPr>
        <p:blipFill>
          <a:blip r:embed="rId2"/>
          <a:stretch>
            <a:fillRect/>
          </a:stretch>
        </p:blipFill>
        <p:spPr>
          <a:xfrm>
            <a:off x="1376362" y="4976812"/>
            <a:ext cx="6391275" cy="1781175"/>
          </a:xfrm>
          <a:prstGeom prst="rect">
            <a:avLst/>
          </a:prstGeom>
        </p:spPr>
      </p:pic>
      <p:sp>
        <p:nvSpPr>
          <p:cNvPr id="4" name="矩形 3">
            <a:extLst>
              <a:ext uri="{FF2B5EF4-FFF2-40B4-BE49-F238E27FC236}">
                <a16:creationId xmlns:a16="http://schemas.microsoft.com/office/drawing/2014/main" id="{CFAF8440-2B76-455A-B2FF-D896C889077C}"/>
              </a:ext>
            </a:extLst>
          </p:cNvPr>
          <p:cNvSpPr/>
          <p:nvPr/>
        </p:nvSpPr>
        <p:spPr>
          <a:xfrm>
            <a:off x="1219200" y="4378880"/>
            <a:ext cx="7086600" cy="369332"/>
          </a:xfrm>
          <a:prstGeom prst="rect">
            <a:avLst/>
          </a:prstGeom>
        </p:spPr>
        <p:txBody>
          <a:bodyPr wrap="square">
            <a:spAutoFit/>
          </a:bodyPr>
          <a:lstStyle/>
          <a:p>
            <a:r>
              <a:rPr lang="en-US" altLang="zh-CN" b="1" dirty="0">
                <a:solidFill>
                  <a:srgbClr val="000000"/>
                </a:solidFill>
                <a:latin typeface="Trebuchet MS" panose="020B0603020202020204" pitchFamily="34" charset="0"/>
              </a:rPr>
              <a:t>A Distributed Coordination Service for Distributed Applications</a:t>
            </a:r>
            <a:endParaRPr lang="en-US" altLang="zh-CN" b="1" i="0" dirty="0">
              <a:solidFill>
                <a:srgbClr val="000000"/>
              </a:solidFill>
              <a:effectLst/>
              <a:latin typeface="Trebuchet MS" panose="020B0603020202020204" pitchFamily="34" charset="0"/>
            </a:endParaRPr>
          </a:p>
        </p:txBody>
      </p:sp>
    </p:spTree>
    <p:extLst>
      <p:ext uri="{BB962C8B-B14F-4D97-AF65-F5344CB8AC3E}">
        <p14:creationId xmlns:p14="http://schemas.microsoft.com/office/powerpoint/2010/main" val="2097374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能干什么？</a:t>
            </a:r>
            <a:endPar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Hadoop</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下的一个子项目</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它是一个针对大型分布式系统的可靠协调系统</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提供的功能包括：配置维护、名字服务、分布式同步服务、组服务等</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分布式应用程序可以基于</a:t>
            </a:r>
            <a:r>
              <a:rPr lang="en-US" altLang="zh-CN"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实现诸如数据发布</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订阅、负载均衡、命名服务、集群管理、</a:t>
            </a:r>
            <a:r>
              <a:rPr lang="en-US" altLang="zh-CN" dirty="0">
                <a:latin typeface="Times New Roman" panose="02020603050405020304" pitchFamily="18" charset="0"/>
                <a:ea typeface="宋体" panose="02010600030101010101" pitchFamily="2" charset="-122"/>
                <a:cs typeface="Times New Roman" panose="02020603050405020304" pitchFamily="18" charset="0"/>
              </a:rPr>
              <a:t>Master </a:t>
            </a:r>
            <a:r>
              <a:rPr lang="zh-CN" altLang="en-US" dirty="0">
                <a:latin typeface="Times New Roman" panose="02020603050405020304" pitchFamily="18" charset="0"/>
                <a:ea typeface="宋体" panose="02010600030101010101" pitchFamily="2" charset="-122"/>
                <a:cs typeface="Times New Roman" panose="02020603050405020304" pitchFamily="18" charset="0"/>
              </a:rPr>
              <a:t>选举、分布式锁、分布式队列等功能</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p>
          <a:p>
            <a:pPr lvl="1" algn="just">
              <a:spcBef>
                <a:spcPts val="0"/>
              </a:spcBef>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just">
              <a:spcBef>
                <a:spcPts val="0"/>
              </a:spcBef>
            </a:pP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7784D27A-6C53-401A-AB60-BDF0927D1B5C}"/>
              </a:ext>
            </a:extLst>
          </p:cNvPr>
          <p:cNvPicPr>
            <a:picLocks noChangeAspect="1"/>
          </p:cNvPicPr>
          <p:nvPr/>
        </p:nvPicPr>
        <p:blipFill>
          <a:blip r:embed="rId2"/>
          <a:stretch>
            <a:fillRect/>
          </a:stretch>
        </p:blipFill>
        <p:spPr>
          <a:xfrm>
            <a:off x="1376362" y="4802187"/>
            <a:ext cx="6391275" cy="1781175"/>
          </a:xfrm>
          <a:prstGeom prst="rect">
            <a:avLst/>
          </a:prstGeom>
        </p:spPr>
      </p:pic>
    </p:spTree>
    <p:extLst>
      <p:ext uri="{BB962C8B-B14F-4D97-AF65-F5344CB8AC3E}">
        <p14:creationId xmlns:p14="http://schemas.microsoft.com/office/powerpoint/2010/main" val="4290094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069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lnSpc>
                <a:spcPct val="110000"/>
              </a:lnSpc>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Zookeeper</a:t>
            </a:r>
          </a:p>
          <a:p>
            <a:pPr lvl="1" algn="just">
              <a:lnSpc>
                <a:spcPct val="110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dirty="0">
                <a:latin typeface="Times New Roman" panose="02020603050405020304" pitchFamily="18" charset="0"/>
                <a:ea typeface="宋体" panose="02010600030101010101" pitchFamily="2" charset="-122"/>
                <a:cs typeface="Times New Roman" panose="02020603050405020304" pitchFamily="18" charset="0"/>
              </a:rPr>
              <a:t>之所以能够提供上述一套分布式数据一致性解决方案</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核心在于其设计精妙的</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数据结构</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watcher</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机制</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Zab</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一致性协议等</a:t>
            </a:r>
            <a:endPar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57993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lnSpc>
                <a:spcPct val="110000"/>
              </a:lnSpc>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Zookeeper</a:t>
            </a:r>
          </a:p>
          <a:p>
            <a:pPr lvl="1" algn="just">
              <a:lnSpc>
                <a:spcPct val="110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Zookeeper allows distributed processes to coordinate with each other through a </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shared hierarchical namespace </a:t>
            </a:r>
            <a:r>
              <a:rPr lang="en-US" altLang="zh-CN" dirty="0">
                <a:latin typeface="Times New Roman" panose="02020603050405020304" pitchFamily="18" charset="0"/>
                <a:ea typeface="宋体" panose="02010600030101010101" pitchFamily="2" charset="-122"/>
                <a:cs typeface="Times New Roman" panose="02020603050405020304" pitchFamily="18" charset="0"/>
              </a:rPr>
              <a:t>which is organized similarly to a standard file system</a:t>
            </a:r>
          </a:p>
          <a:p>
            <a:pPr lvl="1" algn="just">
              <a:lnSpc>
                <a:spcPct val="110000"/>
              </a:lnSpc>
              <a:spcBef>
                <a:spcPts val="0"/>
              </a:spcBef>
            </a:pP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The namespace consists of data registers - called </a:t>
            </a:r>
            <a:r>
              <a:rPr lang="en-US" altLang="zh-CN"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znodes</a:t>
            </a:r>
            <a:r>
              <a:rPr lang="en-US" altLang="zh-CN" dirty="0">
                <a:latin typeface="Times New Roman" panose="02020603050405020304" pitchFamily="18" charset="0"/>
                <a:ea typeface="宋体" panose="02010600030101010101" pitchFamily="2" charset="-122"/>
                <a:cs typeface="Times New Roman" panose="02020603050405020304" pitchFamily="18" charset="0"/>
              </a:rPr>
              <a:t>, in Zookeeper parlance - and these are similar to files and directories</a:t>
            </a:r>
          </a:p>
          <a:p>
            <a:pPr lvl="1" algn="just">
              <a:lnSpc>
                <a:spcPct val="110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The Zookeeper implementation puts a premium on high performance, highly available, strictly ordered access.</a:t>
            </a:r>
            <a:endPar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41050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lnSpc>
                <a:spcPct val="110000"/>
              </a:lnSpc>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znode</a:t>
            </a:r>
          </a:p>
          <a:p>
            <a:pPr lvl="1" algn="just">
              <a:lnSpc>
                <a:spcPct val="110000"/>
              </a:lnSpc>
              <a:spcBef>
                <a:spcPts val="0"/>
              </a:spcBef>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在内存中维护了一个类似文件系统的树状数据结构实现命名空间，树中的节点称为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znode</a:t>
            </a: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每个</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znode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都对应一个唯一的路径</a:t>
            </a:r>
          </a:p>
          <a:p>
            <a:pPr lvl="1" algn="just">
              <a:lnSpc>
                <a:spcPct val="110000"/>
              </a:lnSpc>
              <a:spcBef>
                <a:spcPts val="0"/>
              </a:spcBef>
            </a:pP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znode</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的数据操作具有</a:t>
            </a:r>
            <a:r>
              <a:rPr lang="zh-CN" altLang="en-US" sz="20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原子性</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，读操作将获取与节点相关的所有数据，写操作也将替换掉节点的所有数据</a:t>
            </a:r>
          </a:p>
          <a:p>
            <a:pPr lvl="1" algn="just">
              <a:lnSpc>
                <a:spcPct val="110000"/>
              </a:lnSpc>
              <a:spcBef>
                <a:spcPts val="0"/>
              </a:spcBef>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znode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可存储的最大数据量是</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1MB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，但实际上我们在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znode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的数据量应该尽可能小，因为数据过大会导致</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的性能明显下降</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1026" name="Picture 2" descr="https://pic1.zhimg.com/v2-61accfbc6a0228693993e48273d8fcac_r.jpg">
            <a:extLst>
              <a:ext uri="{FF2B5EF4-FFF2-40B4-BE49-F238E27FC236}">
                <a16:creationId xmlns:a16="http://schemas.microsoft.com/office/drawing/2014/main" id="{02D15271-2C51-4000-A53C-D169851D32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4343400"/>
            <a:ext cx="5267325" cy="2316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7652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lnSpc>
                <a:spcPct val="110000"/>
              </a:lnSpc>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Zookeeper Implementation</a:t>
            </a:r>
          </a:p>
          <a:p>
            <a:pPr lvl="1" algn="just">
              <a:lnSpc>
                <a:spcPct val="110000"/>
              </a:lnSpc>
              <a:spcBef>
                <a:spcPts val="0"/>
              </a:spcBef>
            </a:pP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shows the high-level components of the Zookeeper service. </a:t>
            </a:r>
          </a:p>
          <a:p>
            <a:pPr lvl="1" algn="just">
              <a:lnSpc>
                <a:spcPct val="110000"/>
              </a:lnSpc>
              <a:spcBef>
                <a:spcPts val="0"/>
              </a:spcBef>
            </a:pP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The replicated database is an in-memory database containing the entire data tree. </a:t>
            </a:r>
            <a:r>
              <a:rPr lang="en-US" altLang="zh-CN" sz="15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Updates are logged to disk for recoverability</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 and </a:t>
            </a:r>
            <a:r>
              <a:rPr lang="en-US" altLang="zh-CN" sz="15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writes are serialized to disk before they are applied to the in-memory database.</a:t>
            </a:r>
          </a:p>
          <a:p>
            <a:pPr lvl="1" algn="just">
              <a:lnSpc>
                <a:spcPct val="110000"/>
              </a:lnSpc>
              <a:spcBef>
                <a:spcPts val="0"/>
              </a:spcBef>
            </a:pP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As part of the agreement protocol </a:t>
            </a:r>
            <a:r>
              <a:rPr lang="en-US" altLang="zh-CN" sz="15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all write requests from clients are forwarded to a single server, called the leader.</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 The rest of the Zookeeper servers, called followers, receive message proposals from the leader and agree upon message delivery. The messaging layer takes care of replacing leaders on failures and syncing followers with leaders.</a:t>
            </a:r>
          </a:p>
          <a:p>
            <a:pPr lvl="1" algn="just">
              <a:lnSpc>
                <a:spcPct val="110000"/>
              </a:lnSpc>
              <a:spcBef>
                <a:spcPts val="0"/>
              </a:spcBef>
            </a:pPr>
            <a:r>
              <a:rPr lang="en-US" altLang="zh-CN" sz="1500" dirty="0" err="1">
                <a:latin typeface="Times New Roman" panose="02020603050405020304" pitchFamily="18" charset="0"/>
                <a:ea typeface="宋体" panose="02010600030101010101" pitchFamily="2" charset="-122"/>
                <a:cs typeface="Times New Roman" panose="02020603050405020304" pitchFamily="18" charset="0"/>
              </a:rPr>
              <a:t>ZooKeeper</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 uses a custom </a:t>
            </a:r>
            <a:r>
              <a:rPr lang="en-US" altLang="zh-CN" sz="15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atomic messaging protocol</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5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2" name="Picture 2" descr="ZooKeeper Components">
            <a:extLst>
              <a:ext uri="{FF2B5EF4-FFF2-40B4-BE49-F238E27FC236}">
                <a16:creationId xmlns:a16="http://schemas.microsoft.com/office/drawing/2014/main" id="{1D5DB4F9-7DE3-438D-B42E-D79ACFB851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112" y="4343400"/>
            <a:ext cx="5819775"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3114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lnSpc>
                <a:spcPct val="110000"/>
              </a:lnSpc>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znode</a:t>
            </a:r>
          </a:p>
          <a:p>
            <a:pPr lvl="1" algn="just">
              <a:lnSpc>
                <a:spcPct val="110000"/>
              </a:lnSpc>
              <a:spcBef>
                <a:spcPts val="0"/>
              </a:spcBef>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znode</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具有四个属性</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data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latin typeface="Times New Roman" panose="02020603050405020304" pitchFamily="18" charset="0"/>
                <a:ea typeface="宋体" panose="02010600030101010101" pitchFamily="2" charset="-122"/>
                <a:cs typeface="Times New Roman" panose="02020603050405020304" pitchFamily="18" charset="0"/>
              </a:rPr>
              <a:t>acl</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stat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children</a:t>
            </a:r>
          </a:p>
          <a:p>
            <a:pPr lvl="2" algn="just">
              <a:lnSpc>
                <a:spcPct val="110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data: znode</a:t>
            </a:r>
            <a:r>
              <a:rPr lang="zh-CN" altLang="en-US" dirty="0">
                <a:latin typeface="Times New Roman" panose="02020603050405020304" pitchFamily="18" charset="0"/>
                <a:ea typeface="宋体" panose="02010600030101010101" pitchFamily="2" charset="-122"/>
                <a:cs typeface="Times New Roman" panose="02020603050405020304" pitchFamily="18" charset="0"/>
              </a:rPr>
              <a:t>相关的业务数据均存储在这里</a:t>
            </a:r>
          </a:p>
          <a:p>
            <a:pPr lvl="2" algn="just">
              <a:lnSpc>
                <a:spcPct val="110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children: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存储当前节点的子节点引用信息</a:t>
            </a:r>
          </a:p>
          <a:p>
            <a:pPr lvl="2" algn="just">
              <a:lnSpc>
                <a:spcPct val="110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stat: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包含</a:t>
            </a:r>
            <a:r>
              <a:rPr lang="en-US" altLang="zh-CN" dirty="0">
                <a:latin typeface="Times New Roman" panose="02020603050405020304" pitchFamily="18" charset="0"/>
                <a:ea typeface="宋体" panose="02010600030101010101" pitchFamily="2" charset="-122"/>
                <a:cs typeface="Times New Roman" panose="02020603050405020304" pitchFamily="18" charset="0"/>
              </a:rPr>
              <a:t>znode</a:t>
            </a:r>
            <a:r>
              <a:rPr lang="zh-CN" altLang="en-US" dirty="0">
                <a:latin typeface="Times New Roman" panose="02020603050405020304" pitchFamily="18" charset="0"/>
                <a:ea typeface="宋体" panose="02010600030101010101" pitchFamily="2" charset="-122"/>
                <a:cs typeface="Times New Roman" panose="02020603050405020304" pitchFamily="18" charset="0"/>
              </a:rPr>
              <a:t>节点的状态信息，比如</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事务</a:t>
            </a:r>
            <a:r>
              <a:rPr lang="en-US" altLang="zh-CN" dirty="0">
                <a:latin typeface="Times New Roman" panose="02020603050405020304" pitchFamily="18" charset="0"/>
                <a:ea typeface="宋体" panose="02010600030101010101" pitchFamily="2" charset="-122"/>
                <a:cs typeface="Times New Roman" panose="02020603050405020304" pitchFamily="18" charset="0"/>
              </a:rPr>
              <a:t>id</a:t>
            </a:r>
            <a:r>
              <a:rPr lang="zh-CN" altLang="en-US" dirty="0">
                <a:latin typeface="Times New Roman" panose="02020603050405020304" pitchFamily="18" charset="0"/>
                <a:ea typeface="宋体" panose="02010600030101010101" pitchFamily="2" charset="-122"/>
                <a:cs typeface="Times New Roman" panose="02020603050405020304" pitchFamily="18" charset="0"/>
              </a:rPr>
              <a:t>、版本号、时间戳等，其中事务</a:t>
            </a:r>
            <a:r>
              <a:rPr lang="en-US" altLang="zh-CN" dirty="0">
                <a:latin typeface="Times New Roman" panose="02020603050405020304" pitchFamily="18" charset="0"/>
                <a:ea typeface="宋体" panose="02010600030101010101" pitchFamily="2" charset="-122"/>
                <a:cs typeface="Times New Roman" panose="02020603050405020304" pitchFamily="18" charset="0"/>
              </a:rPr>
              <a:t>id</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的数据一直性、选主相关</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3" algn="just">
              <a:lnSpc>
                <a:spcPct val="110000"/>
              </a:lnSpc>
              <a:spcBef>
                <a:spcPts val="0"/>
              </a:spcBef>
            </a:pPr>
            <a:r>
              <a:rPr lang="en-US" altLang="zh-CN" dirty="0"/>
              <a:t>Each time a </a:t>
            </a:r>
            <a:r>
              <a:rPr lang="en-US" altLang="zh-CN" dirty="0" err="1"/>
              <a:t>znode's</a:t>
            </a:r>
            <a:r>
              <a:rPr lang="en-US" altLang="zh-CN" dirty="0"/>
              <a:t> data changes, the version number increases</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lvl="2" algn="just">
              <a:lnSpc>
                <a:spcPct val="110000"/>
              </a:lnSpc>
              <a:spcBef>
                <a:spcPts val="0"/>
              </a:spcBef>
            </a:pPr>
            <a:r>
              <a:rPr lang="en-US" altLang="zh-CN" dirty="0" err="1">
                <a:latin typeface="Times New Roman" panose="02020603050405020304" pitchFamily="18" charset="0"/>
                <a:ea typeface="宋体" panose="02010600030101010101" pitchFamily="2" charset="-122"/>
                <a:cs typeface="Times New Roman" panose="02020603050405020304" pitchFamily="18" charset="0"/>
              </a:rPr>
              <a:t>acl</a:t>
            </a: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记录客户端对</a:t>
            </a:r>
            <a:r>
              <a:rPr lang="en-US" altLang="zh-CN" dirty="0">
                <a:latin typeface="Times New Roman" panose="02020603050405020304" pitchFamily="18" charset="0"/>
                <a:ea typeface="宋体" panose="02010600030101010101" pitchFamily="2" charset="-122"/>
                <a:cs typeface="Times New Roman" panose="02020603050405020304" pitchFamily="18" charset="0"/>
              </a:rPr>
              <a:t>znode</a:t>
            </a:r>
            <a:r>
              <a:rPr lang="zh-CN" altLang="en-US" dirty="0">
                <a:latin typeface="Times New Roman" panose="02020603050405020304" pitchFamily="18" charset="0"/>
                <a:ea typeface="宋体" panose="02010600030101010101" pitchFamily="2" charset="-122"/>
                <a:cs typeface="Times New Roman" panose="02020603050405020304" pitchFamily="18" charset="0"/>
              </a:rPr>
              <a:t>节点的访问权限</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1026" name="Picture 2" descr="https://pic1.zhimg.com/v2-61accfbc6a0228693993e48273d8fcac_r.jpg">
            <a:extLst>
              <a:ext uri="{FF2B5EF4-FFF2-40B4-BE49-F238E27FC236}">
                <a16:creationId xmlns:a16="http://schemas.microsoft.com/office/drawing/2014/main" id="{02D15271-2C51-4000-A53C-D169851D32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4343400"/>
            <a:ext cx="5267325" cy="2316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9605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00600"/>
          </a:xfrm>
        </p:spPr>
        <p:txBody>
          <a:bodyPr>
            <a:normAutofit/>
          </a:bodyPr>
          <a:lstStyle/>
          <a:p>
            <a:pPr algn="just">
              <a:lnSpc>
                <a:spcPct val="110000"/>
              </a:lnSpc>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znode</a:t>
            </a: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事物</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p>
          <a:p>
            <a:pPr lvl="1" algn="just">
              <a:lnSpc>
                <a:spcPct val="110000"/>
              </a:lnSpc>
              <a:spcBef>
                <a:spcPts val="0"/>
              </a:spcBef>
            </a:pP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由</a:t>
            </a: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节点生成</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；当有新写入事件时，</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节点生成新的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，并随提案一起广播</a:t>
            </a:r>
          </a:p>
          <a:p>
            <a:pPr lvl="2" algn="just">
              <a:lnSpc>
                <a:spcPct val="110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 epoch</a:t>
            </a:r>
            <a:r>
              <a:rPr lang="zh-CN" altLang="en-US" dirty="0">
                <a:latin typeface="Times New Roman" panose="02020603050405020304" pitchFamily="18" charset="0"/>
                <a:ea typeface="宋体" panose="02010600030101010101" pitchFamily="2" charset="-122"/>
                <a:cs typeface="Times New Roman" panose="02020603050405020304" pitchFamily="18" charset="0"/>
              </a:rPr>
              <a:t>：任期</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纪元，</a:t>
            </a:r>
            <a:r>
              <a:rPr lang="en-US" altLang="zh-CN"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的高</a:t>
            </a:r>
            <a:r>
              <a:rPr lang="en-US" altLang="zh-CN" dirty="0">
                <a:latin typeface="Times New Roman" panose="02020603050405020304" pitchFamily="18" charset="0"/>
                <a:ea typeface="宋体" panose="02010600030101010101" pitchFamily="2" charset="-122"/>
                <a:cs typeface="Times New Roman" panose="02020603050405020304" pitchFamily="18" charset="0"/>
              </a:rPr>
              <a:t>32</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位， </a:t>
            </a:r>
            <a:r>
              <a:rPr lang="en-US" altLang="zh-CN" dirty="0">
                <a:latin typeface="Times New Roman" panose="02020603050405020304" pitchFamily="18" charset="0"/>
                <a:ea typeface="宋体" panose="02010600030101010101" pitchFamily="2" charset="-122"/>
                <a:cs typeface="Times New Roman" panose="02020603050405020304" pitchFamily="18" charset="0"/>
              </a:rPr>
              <a:t>ZAB</a:t>
            </a:r>
            <a:r>
              <a:rPr lang="zh-CN" altLang="en-US" dirty="0">
                <a:latin typeface="Times New Roman" panose="02020603050405020304" pitchFamily="18" charset="0"/>
                <a:ea typeface="宋体" panose="02010600030101010101" pitchFamily="2" charset="-122"/>
                <a:cs typeface="Times New Roman" panose="02020603050405020304" pitchFamily="18" charset="0"/>
              </a:rPr>
              <a:t>协议通过</a:t>
            </a:r>
            <a:r>
              <a:rPr lang="en-US" altLang="zh-CN" dirty="0">
                <a:latin typeface="Times New Roman" panose="02020603050405020304" pitchFamily="18" charset="0"/>
                <a:ea typeface="宋体" panose="02010600030101010101" pitchFamily="2" charset="-122"/>
                <a:cs typeface="Times New Roman" panose="02020603050405020304" pitchFamily="18" charset="0"/>
              </a:rPr>
              <a:t>epoch</a:t>
            </a:r>
            <a:r>
              <a:rPr lang="zh-CN" altLang="en-US" dirty="0">
                <a:latin typeface="Times New Roman" panose="02020603050405020304" pitchFamily="18" charset="0"/>
                <a:ea typeface="宋体" panose="02010600030101010101" pitchFamily="2" charset="-122"/>
                <a:cs typeface="Times New Roman" panose="02020603050405020304" pitchFamily="18" charset="0"/>
              </a:rPr>
              <a:t>编号来区分</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dirty="0">
                <a:latin typeface="Times New Roman" panose="02020603050405020304" pitchFamily="18" charset="0"/>
                <a:ea typeface="宋体" panose="02010600030101010101" pitchFamily="2" charset="-122"/>
                <a:cs typeface="Times New Roman" panose="02020603050405020304" pitchFamily="18" charset="0"/>
              </a:rPr>
              <a:t>周期变化，每次一个 </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dirty="0">
                <a:latin typeface="Times New Roman" panose="02020603050405020304" pitchFamily="18" charset="0"/>
                <a:ea typeface="宋体" panose="02010600030101010101" pitchFamily="2" charset="-122"/>
                <a:cs typeface="Times New Roman" panose="02020603050405020304" pitchFamily="18" charset="0"/>
              </a:rPr>
              <a:t>被选出来，它都会有一个新的 </a:t>
            </a:r>
            <a:r>
              <a:rPr lang="en-US" altLang="zh-CN" dirty="0">
                <a:latin typeface="Times New Roman" panose="02020603050405020304" pitchFamily="18" charset="0"/>
                <a:ea typeface="宋体" panose="02010600030101010101" pitchFamily="2" charset="-122"/>
                <a:cs typeface="Times New Roman" panose="02020603050405020304" pitchFamily="18" charset="0"/>
              </a:rPr>
              <a:t>epoch=</a:t>
            </a:r>
            <a:r>
              <a:rPr lang="zh-CN" altLang="en-US" dirty="0">
                <a:latin typeface="Times New Roman" panose="02020603050405020304" pitchFamily="18" charset="0"/>
                <a:ea typeface="宋体" panose="02010600030101010101" pitchFamily="2" charset="-122"/>
                <a:cs typeface="Times New Roman" panose="02020603050405020304" pitchFamily="18" charset="0"/>
              </a:rPr>
              <a:t>（原来的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epoch+1</a:t>
            </a:r>
            <a:r>
              <a:rPr lang="zh-CN" altLang="en-US" dirty="0">
                <a:latin typeface="Times New Roman" panose="02020603050405020304" pitchFamily="18" charset="0"/>
                <a:ea typeface="宋体" panose="02010600030101010101" pitchFamily="2" charset="-122"/>
                <a:cs typeface="Times New Roman" panose="02020603050405020304" pitchFamily="18" charset="0"/>
              </a:rPr>
              <a:t>），标识当前属于那个</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 统治时期</a:t>
            </a:r>
          </a:p>
          <a:p>
            <a:pPr lvl="2" algn="just">
              <a:lnSpc>
                <a:spcPct val="110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Times New Roman" panose="02020603050405020304" pitchFamily="18" charset="0"/>
                <a:ea typeface="宋体" panose="02010600030101010101" pitchFamily="2" charset="-122"/>
                <a:cs typeface="Times New Roman" panose="02020603050405020304" pitchFamily="18" charset="0"/>
              </a:rPr>
              <a:t>事务计数器：</a:t>
            </a:r>
            <a:r>
              <a:rPr lang="en-US" altLang="zh-CN"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的低</a:t>
            </a:r>
            <a:r>
              <a:rPr lang="en-US" altLang="zh-CN" dirty="0">
                <a:latin typeface="Times New Roman" panose="02020603050405020304" pitchFamily="18" charset="0"/>
                <a:ea typeface="宋体" panose="02010600030101010101" pitchFamily="2" charset="-122"/>
                <a:cs typeface="Times New Roman" panose="02020603050405020304" pitchFamily="18" charset="0"/>
              </a:rPr>
              <a:t>32</a:t>
            </a:r>
            <a:r>
              <a:rPr lang="zh-CN" altLang="en-US" dirty="0">
                <a:latin typeface="Times New Roman" panose="02020603050405020304" pitchFamily="18" charset="0"/>
                <a:ea typeface="宋体" panose="02010600030101010101" pitchFamily="2" charset="-122"/>
                <a:cs typeface="Times New Roman" panose="02020603050405020304" pitchFamily="18" charset="0"/>
              </a:rPr>
              <a:t>位，每次数据变更，计数器都会加一</a:t>
            </a:r>
          </a:p>
          <a:p>
            <a:pPr lvl="2" algn="just">
              <a:lnSpc>
                <a:spcPct val="110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dirty="0">
                <a:latin typeface="Times New Roman" panose="02020603050405020304" pitchFamily="18" charset="0"/>
                <a:ea typeface="宋体" panose="02010600030101010101" pitchFamily="2" charset="-122"/>
                <a:cs typeface="Times New Roman" panose="02020603050405020304" pitchFamily="18" charset="0"/>
              </a:rPr>
              <a:t>是递增的，所以谁的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dirty="0">
                <a:latin typeface="Times New Roman" panose="02020603050405020304" pitchFamily="18" charset="0"/>
                <a:ea typeface="宋体" panose="02010600030101010101" pitchFamily="2" charset="-122"/>
                <a:cs typeface="Times New Roman" panose="02020603050405020304" pitchFamily="18" charset="0"/>
              </a:rPr>
              <a:t>越大，就表示谁的数据是最新的；每个节点都保存了当前最近一次事务的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dirty="0">
                <a:latin typeface="Times New Roman" panose="02020603050405020304" pitchFamily="18" charset="0"/>
                <a:ea typeface="宋体" panose="02010600030101010101" pitchFamily="2" charset="-122"/>
                <a:cs typeface="Times New Roman" panose="02020603050405020304" pitchFamily="18" charset="0"/>
              </a:rPr>
              <a:t>对于</a:t>
            </a:r>
            <a:r>
              <a:rPr lang="en-US" altLang="zh-CN"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dirty="0">
                <a:latin typeface="Times New Roman" panose="02020603050405020304" pitchFamily="18" charset="0"/>
                <a:ea typeface="宋体" panose="02010600030101010101" pitchFamily="2" charset="-122"/>
                <a:cs typeface="Times New Roman" panose="02020603050405020304" pitchFamily="18" charset="0"/>
              </a:rPr>
              <a:t>的数据一致性以及选主都有着重要意义</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3074" name="Picture 2" descr="https://pic1.zhimg.com/v2-3237122db7dd9469d122cbfa7d7cb37c_r.jpg">
            <a:extLst>
              <a:ext uri="{FF2B5EF4-FFF2-40B4-BE49-F238E27FC236}">
                <a16:creationId xmlns:a16="http://schemas.microsoft.com/office/drawing/2014/main" id="{CACDE885-9C91-4B49-AA9F-F5515DC004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008154"/>
            <a:ext cx="4572000" cy="1081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046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00600"/>
          </a:xfrm>
        </p:spPr>
        <p:txBody>
          <a:bodyPr>
            <a:normAutofit/>
          </a:bodyPr>
          <a:lstStyle/>
          <a:p>
            <a:pPr algn="just">
              <a:lnSpc>
                <a:spcPct val="110000"/>
              </a:lnSpc>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znode</a:t>
            </a:r>
          </a:p>
          <a:p>
            <a:pPr lvl="1" algn="just">
              <a:lnSpc>
                <a:spcPct val="110000"/>
              </a:lnSpc>
              <a:spcBef>
                <a:spcPts val="0"/>
              </a:spcBef>
            </a:pP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znode</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类型</a:t>
            </a:r>
          </a:p>
          <a:p>
            <a:pPr lvl="1" algn="just">
              <a:lnSpc>
                <a:spcPct val="110000"/>
              </a:lnSpc>
              <a:spcBef>
                <a:spcPts val="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节点根据生命周期的不同可以将划分为</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持久节点和临时节点</a:t>
            </a:r>
          </a:p>
          <a:p>
            <a:pPr lvl="2" algn="just">
              <a:lnSpc>
                <a:spcPct val="110000"/>
              </a:lnSpc>
              <a:spcBef>
                <a:spcPts val="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持久节点的存活时间不依赖于客户端会话，只有客户端在显式执行删除节点操作时，节点才消失；临时节点的存活时间依赖于客户端会话，当会话结束，临时节点将会被自动删除（当然也可以手动删除临时节点）</a:t>
            </a:r>
          </a:p>
          <a:p>
            <a:pPr lvl="1" algn="just">
              <a:lnSpc>
                <a:spcPct val="110000"/>
              </a:lnSpc>
              <a:spcBef>
                <a:spcPts val="0"/>
              </a:spcBef>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create</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命令还有一个可选参数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-s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用于指定创建的节点是否具有顺序特性</a:t>
            </a:r>
          </a:p>
          <a:p>
            <a:pPr lvl="2" algn="just">
              <a:lnSpc>
                <a:spcPct val="110000"/>
              </a:lnSpc>
              <a:spcBef>
                <a:spcPts val="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创建顺序节点时，</a:t>
            </a:r>
            <a:r>
              <a:rPr lang="en-US" altLang="zh-CN" sz="2200" dirty="0" err="1">
                <a:solidFill>
                  <a:srgbClr val="C00000"/>
                </a:solidFill>
                <a:latin typeface="Times New Roman" panose="02020603050405020304" pitchFamily="18" charset="0"/>
                <a:ea typeface="宋体" panose="02010600030101010101" pitchFamily="2" charset="-122"/>
                <a:cs typeface="Times New Roman" panose="02020603050405020304" pitchFamily="18" charset="0"/>
              </a:rPr>
              <a:t>zk</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会在路径后面自动追加一个递增的序列号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，这个序列号可以保证在同一个父节点下是唯一的，利用该特性我们可以实现分布式锁等功能</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55041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482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00600"/>
          </a:xfrm>
        </p:spPr>
        <p:txBody>
          <a:bodyPr>
            <a:normAutofit/>
          </a:bodyPr>
          <a:lstStyle/>
          <a:p>
            <a:pPr algn="just"/>
            <a:r>
              <a:rPr lang="en-US" altLang="zh-CN" b="1" dirty="0">
                <a:solidFill>
                  <a:srgbClr val="C00000"/>
                </a:solidFill>
              </a:rPr>
              <a:t>Watcher</a:t>
            </a:r>
            <a:r>
              <a:rPr lang="zh-CN" altLang="en-US" b="1" dirty="0">
                <a:solidFill>
                  <a:srgbClr val="C00000"/>
                </a:solidFill>
              </a:rPr>
              <a:t>监听机制</a:t>
            </a:r>
          </a:p>
          <a:p>
            <a:pPr lvl="1" algn="just"/>
            <a:r>
              <a:rPr lang="en-US" altLang="zh-CN" sz="2800" dirty="0"/>
              <a:t>Watcher</a:t>
            </a:r>
            <a:r>
              <a:rPr lang="zh-CN" altLang="en-US" sz="2800" dirty="0"/>
              <a:t>监听机制是</a:t>
            </a:r>
            <a:r>
              <a:rPr lang="en-US" altLang="zh-CN" sz="2800" dirty="0"/>
              <a:t>ZK</a:t>
            </a:r>
            <a:r>
              <a:rPr lang="zh-CN" altLang="en-US" sz="2800" dirty="0"/>
              <a:t>非常重要的一个特性；</a:t>
            </a:r>
            <a:r>
              <a:rPr lang="en-US" altLang="zh-CN" sz="2800" dirty="0"/>
              <a:t>ZK</a:t>
            </a:r>
            <a:r>
              <a:rPr lang="zh-CN" altLang="en-US" sz="2800" dirty="0"/>
              <a:t>允许</a:t>
            </a:r>
            <a:r>
              <a:rPr lang="en-US" altLang="zh-CN" sz="2800" dirty="0"/>
              <a:t>Client</a:t>
            </a:r>
            <a:r>
              <a:rPr lang="zh-CN" altLang="en-US" sz="2800" dirty="0"/>
              <a:t>端在指定节点上注册</a:t>
            </a:r>
            <a:r>
              <a:rPr lang="en-US" altLang="zh-CN" sz="2800" dirty="0"/>
              <a:t>Watcher</a:t>
            </a:r>
            <a:r>
              <a:rPr lang="zh-CN" altLang="en-US" sz="2800" dirty="0"/>
              <a:t>，监听节点数据变更、节点删除、子节点状态变更等事件</a:t>
            </a:r>
            <a:endParaRPr lang="en-US" altLang="zh-CN" sz="2800" dirty="0"/>
          </a:p>
          <a:p>
            <a:pPr lvl="1" algn="just"/>
            <a:r>
              <a:rPr lang="zh-CN" altLang="en-US" sz="2800" dirty="0"/>
              <a:t>当特定事件发生时，</a:t>
            </a:r>
            <a:r>
              <a:rPr lang="en-US" altLang="zh-CN" sz="2800" dirty="0"/>
              <a:t>ZK</a:t>
            </a:r>
            <a:r>
              <a:rPr lang="zh-CN" altLang="en-US" sz="2800" dirty="0"/>
              <a:t>服务端会异步通知注册了相应</a:t>
            </a:r>
            <a:r>
              <a:rPr lang="en-US" altLang="zh-CN" sz="2800" dirty="0"/>
              <a:t>Watcher</a:t>
            </a:r>
            <a:r>
              <a:rPr lang="zh-CN" altLang="en-US" sz="2800" dirty="0"/>
              <a:t>的客户端，通过该机制，我们可以利用</a:t>
            </a:r>
            <a:r>
              <a:rPr lang="en-US" altLang="zh-CN" sz="2800" dirty="0"/>
              <a:t>ZK</a:t>
            </a:r>
            <a:r>
              <a:rPr lang="zh-CN" altLang="en-US" sz="2800" dirty="0"/>
              <a:t>实现</a:t>
            </a:r>
            <a:r>
              <a:rPr lang="zh-CN" altLang="en-US" sz="2800" dirty="0">
                <a:solidFill>
                  <a:srgbClr val="C00000"/>
                </a:solidFill>
              </a:rPr>
              <a:t>数据的发布和订阅功能</a:t>
            </a:r>
            <a:endParaRPr lang="zh-CN" altLang="en-US" dirty="0">
              <a:solidFill>
                <a:srgbClr val="C00000"/>
              </a:solidFill>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2206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00600"/>
          </a:xfrm>
        </p:spPr>
        <p:txBody>
          <a:bodyPr>
            <a:normAutofit/>
          </a:bodyPr>
          <a:lstStyle/>
          <a:p>
            <a:r>
              <a:rPr lang="en-US" altLang="zh-CN" b="1" dirty="0"/>
              <a:t>Watcher</a:t>
            </a:r>
            <a:r>
              <a:rPr lang="zh-CN" altLang="en-US" b="1" dirty="0"/>
              <a:t>监听机制</a:t>
            </a:r>
          </a:p>
          <a:p>
            <a:pPr lvl="1" algn="just"/>
            <a:r>
              <a:rPr lang="en-US" altLang="zh-CN" sz="2200" dirty="0"/>
              <a:t>Watcher</a:t>
            </a:r>
            <a:r>
              <a:rPr lang="zh-CN" altLang="en-US" sz="2200" dirty="0"/>
              <a:t>监听机制由三部分协作完成：</a:t>
            </a:r>
            <a:r>
              <a:rPr lang="en-US" altLang="zh-CN" sz="2200" dirty="0"/>
              <a:t>ZK</a:t>
            </a:r>
            <a:r>
              <a:rPr lang="zh-CN" altLang="en-US" sz="2200" dirty="0"/>
              <a:t>服务端、</a:t>
            </a:r>
            <a:r>
              <a:rPr lang="en-US" altLang="zh-CN" sz="2200" dirty="0"/>
              <a:t>ZK</a:t>
            </a:r>
            <a:r>
              <a:rPr lang="zh-CN" altLang="en-US" sz="2200" dirty="0"/>
              <a:t>客户端、客户端的</a:t>
            </a:r>
            <a:r>
              <a:rPr lang="en-US" altLang="zh-CN" sz="2200" dirty="0"/>
              <a:t>Watch Manager</a:t>
            </a:r>
            <a:r>
              <a:rPr lang="zh-CN" altLang="en-US" sz="2200" dirty="0"/>
              <a:t>对象</a:t>
            </a:r>
            <a:endParaRPr lang="en-US" altLang="zh-CN" sz="2200" dirty="0"/>
          </a:p>
          <a:p>
            <a:pPr lvl="1" algn="just"/>
            <a:r>
              <a:rPr lang="zh-CN" altLang="en-US" sz="2200" dirty="0"/>
              <a:t>工作时，客户端首先将</a:t>
            </a:r>
            <a:r>
              <a:rPr lang="en-US" altLang="zh-CN" sz="2200" dirty="0"/>
              <a:t>Watcher </a:t>
            </a:r>
            <a:r>
              <a:rPr lang="zh-CN" altLang="en-US" sz="2200" dirty="0"/>
              <a:t>注册到服务端，同时将</a:t>
            </a:r>
            <a:r>
              <a:rPr lang="en-US" altLang="zh-CN" sz="2200" dirty="0"/>
              <a:t>Watcher</a:t>
            </a:r>
            <a:r>
              <a:rPr lang="zh-CN" altLang="en-US" sz="2200" dirty="0"/>
              <a:t>对象保存到客户端的</a:t>
            </a:r>
            <a:r>
              <a:rPr lang="en-US" altLang="zh-CN" sz="2200" dirty="0"/>
              <a:t>Watch</a:t>
            </a:r>
            <a:r>
              <a:rPr lang="zh-CN" altLang="en-US" sz="2200" dirty="0"/>
              <a:t>管理器中</a:t>
            </a:r>
            <a:endParaRPr lang="en-US" altLang="zh-CN" sz="2200" dirty="0"/>
          </a:p>
          <a:p>
            <a:pPr lvl="1" algn="just"/>
            <a:r>
              <a:rPr lang="zh-CN" altLang="en-US" sz="2200" dirty="0"/>
              <a:t>当</a:t>
            </a:r>
            <a:r>
              <a:rPr lang="en-US" altLang="zh-CN" sz="2200" dirty="0"/>
              <a:t>ZK</a:t>
            </a:r>
            <a:r>
              <a:rPr lang="zh-CN" altLang="en-US" sz="2200" dirty="0"/>
              <a:t>服务端监听的数据状态发生变化时，服务端会主动通知客户端，接着客户端的</a:t>
            </a:r>
            <a:r>
              <a:rPr lang="en-US" altLang="zh-CN" sz="2200" dirty="0"/>
              <a:t>Watch</a:t>
            </a:r>
            <a:r>
              <a:rPr lang="zh-CN" altLang="en-US" sz="2200" dirty="0"/>
              <a:t>管理器会触发相关</a:t>
            </a:r>
            <a:r>
              <a:rPr lang="en-US" altLang="zh-CN" sz="2200" dirty="0"/>
              <a:t>Watcher</a:t>
            </a:r>
            <a:r>
              <a:rPr lang="zh-CN" altLang="en-US" sz="2200" dirty="0"/>
              <a:t>来回调相应处理逻辑，从而完成整体的数据发布</a:t>
            </a:r>
            <a:r>
              <a:rPr lang="en-US" altLang="zh-CN" sz="2200" dirty="0"/>
              <a:t>/</a:t>
            </a:r>
            <a:r>
              <a:rPr lang="zh-CN" altLang="en-US" sz="2200" dirty="0"/>
              <a:t>订阅流程</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6146" name="Picture 2" descr="https://pic3.zhimg.com/v2-85c6f70e24404856f3c03465c5a12d86_r.jpg">
            <a:extLst>
              <a:ext uri="{FF2B5EF4-FFF2-40B4-BE49-F238E27FC236}">
                <a16:creationId xmlns:a16="http://schemas.microsoft.com/office/drawing/2014/main" id="{21BB9710-40DE-4DE1-9050-B0A2B8E506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609732"/>
            <a:ext cx="4876800" cy="2233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271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326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105400"/>
          </a:xfrm>
        </p:spPr>
        <p:txBody>
          <a:bodyPr>
            <a:normAutofit/>
          </a:bodyPr>
          <a:lstStyle/>
          <a:p>
            <a:pPr algn="just">
              <a:lnSpc>
                <a:spcPct val="110000"/>
              </a:lnSpc>
              <a:spcBef>
                <a:spcPts val="0"/>
              </a:spcBef>
            </a:pP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一致性</a:t>
            </a:r>
            <a:endPar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dirty="0"/>
              <a:t>ZK</a:t>
            </a:r>
            <a:r>
              <a:rPr lang="zh-CN" altLang="en-US" dirty="0"/>
              <a:t>集群是一主多从的结构，所有的所有的写操作必须要通过 </a:t>
            </a:r>
            <a:r>
              <a:rPr lang="en-US" altLang="zh-CN" dirty="0"/>
              <a:t>Leader </a:t>
            </a:r>
            <a:r>
              <a:rPr lang="zh-CN" altLang="en-US" dirty="0"/>
              <a:t>完成，</a:t>
            </a:r>
            <a:r>
              <a:rPr lang="en-US" altLang="zh-CN" dirty="0"/>
              <a:t>Follower </a:t>
            </a:r>
            <a:r>
              <a:rPr lang="zh-CN" altLang="en-US" dirty="0"/>
              <a:t>可直接处理并返回客户端的读请求</a:t>
            </a:r>
            <a:endParaRPr lang="en-US" altLang="zh-CN" dirty="0"/>
          </a:p>
          <a:p>
            <a:pPr lvl="2" algn="just">
              <a:lnSpc>
                <a:spcPct val="110000"/>
              </a:lnSpc>
              <a:spcBef>
                <a:spcPts val="0"/>
              </a:spcBef>
            </a:pPr>
            <a:r>
              <a:rPr lang="zh-CN" altLang="en-US" sz="2400" dirty="0"/>
              <a:t>那么如何保证从</a:t>
            </a:r>
            <a:r>
              <a:rPr lang="en-US" altLang="zh-CN" sz="2400" dirty="0"/>
              <a:t>Follower</a:t>
            </a:r>
            <a:r>
              <a:rPr lang="zh-CN" altLang="en-US" sz="2400" dirty="0"/>
              <a:t>服务器读取的数据与</a:t>
            </a:r>
            <a:r>
              <a:rPr lang="en-US" altLang="zh-CN" sz="2400" dirty="0"/>
              <a:t>Leader</a:t>
            </a:r>
            <a:r>
              <a:rPr lang="zh-CN" altLang="en-US" sz="2400" dirty="0"/>
              <a:t>写入的数据的一致性呢？</a:t>
            </a:r>
            <a:endParaRPr lang="en-US" altLang="zh-CN" sz="2400" dirty="0"/>
          </a:p>
          <a:p>
            <a:pPr lvl="2" algn="just">
              <a:lnSpc>
                <a:spcPct val="110000"/>
              </a:lnSpc>
              <a:spcBef>
                <a:spcPts val="0"/>
              </a:spcBef>
            </a:pPr>
            <a:r>
              <a:rPr lang="en-US" altLang="zh-CN" sz="2400" dirty="0"/>
              <a:t>Leader </a:t>
            </a:r>
            <a:r>
              <a:rPr lang="zh-CN" altLang="en-US" sz="2400" dirty="0"/>
              <a:t>是怎么选出来的？</a:t>
            </a:r>
            <a:endParaRPr lang="en-US" altLang="zh-CN" sz="2400" dirty="0"/>
          </a:p>
          <a:p>
            <a:pPr lvl="2" algn="just">
              <a:lnSpc>
                <a:spcPct val="110000"/>
              </a:lnSpc>
              <a:spcBef>
                <a:spcPts val="0"/>
              </a:spcBef>
            </a:pPr>
            <a:r>
              <a:rPr lang="en-US" altLang="zh-CN" sz="2400" dirty="0"/>
              <a:t>Leader</a:t>
            </a:r>
            <a:r>
              <a:rPr lang="zh-CN" altLang="en-US" sz="2400" dirty="0"/>
              <a:t>万一由于某些原因崩溃了，如何选出新的</a:t>
            </a:r>
            <a:r>
              <a:rPr lang="en-US" altLang="zh-CN" sz="2400" dirty="0"/>
              <a:t>Leader</a:t>
            </a:r>
            <a:r>
              <a:rPr lang="zh-CN" altLang="en-US" sz="2400" dirty="0"/>
              <a:t>，如何保证数据恢复？</a:t>
            </a:r>
            <a:endParaRPr lang="en-US" altLang="zh-CN" sz="2400" dirty="0"/>
          </a:p>
          <a:p>
            <a:pPr lvl="1" algn="just">
              <a:lnSpc>
                <a:spcPct val="110000"/>
              </a:lnSpc>
              <a:spcBef>
                <a:spcPts val="0"/>
              </a:spcBef>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dirty="0">
                <a:solidFill>
                  <a:srgbClr val="C00000"/>
                </a:solidFill>
              </a:rPr>
              <a:t>ZK</a:t>
            </a:r>
            <a:r>
              <a:rPr lang="zh-CN" altLang="en-US" dirty="0">
                <a:solidFill>
                  <a:srgbClr val="C00000"/>
                </a:solidFill>
              </a:rPr>
              <a:t>专门设计了</a:t>
            </a:r>
            <a:r>
              <a:rPr lang="en-US" altLang="zh-CN" dirty="0">
                <a:solidFill>
                  <a:srgbClr val="C00000"/>
                </a:solidFill>
              </a:rPr>
              <a:t>ZAB</a:t>
            </a:r>
            <a:r>
              <a:rPr lang="zh-CN" altLang="en-US" dirty="0">
                <a:solidFill>
                  <a:srgbClr val="C00000"/>
                </a:solidFill>
              </a:rPr>
              <a:t>协议</a:t>
            </a:r>
            <a:r>
              <a:rPr lang="en-US" altLang="zh-CN" dirty="0">
                <a:solidFill>
                  <a:srgbClr val="C00000"/>
                </a:solidFill>
              </a:rPr>
              <a:t>(Zookeeper Atomic Broadcast)</a:t>
            </a:r>
            <a:r>
              <a:rPr lang="zh-CN" altLang="en-US" dirty="0">
                <a:solidFill>
                  <a:srgbClr val="C00000"/>
                </a:solidFill>
              </a:rPr>
              <a:t>来保证主从节点数据的一致性</a:t>
            </a:r>
            <a:endPar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70989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105400"/>
          </a:xfrm>
        </p:spPr>
        <p:txBody>
          <a:bodyPr>
            <a:normAutofit/>
          </a:bodyPr>
          <a:lstStyle/>
          <a:p>
            <a:pPr algn="just">
              <a:lnSpc>
                <a:spcPct val="110000"/>
              </a:lnSpc>
              <a:spcBef>
                <a:spcPts val="0"/>
              </a:spcBef>
            </a:pP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一致性：</a:t>
            </a:r>
            <a:r>
              <a:rPr lang="zh-CN" altLang="en-US" dirty="0">
                <a:solidFill>
                  <a:srgbClr val="C00000"/>
                </a:solidFill>
              </a:rPr>
              <a:t>写 </a:t>
            </a:r>
            <a:r>
              <a:rPr lang="en-US" altLang="zh-CN" dirty="0">
                <a:solidFill>
                  <a:srgbClr val="C00000"/>
                </a:solidFill>
              </a:rPr>
              <a:t>Leader</a:t>
            </a:r>
            <a:r>
              <a:rPr lang="zh-CN" altLang="en-US" dirty="0">
                <a:solidFill>
                  <a:srgbClr val="C00000"/>
                </a:solidFill>
              </a:rPr>
              <a:t>场景数据一致性</a:t>
            </a:r>
            <a:endParaRPr lang="en-US" altLang="zh-CN" dirty="0">
              <a:solidFill>
                <a:srgbClr val="C00000"/>
              </a:solidFill>
            </a:endParaRPr>
          </a:p>
          <a:p>
            <a:pPr lvl="1" algn="just">
              <a:lnSpc>
                <a:spcPct val="110000"/>
              </a:lnSpc>
              <a:spcBef>
                <a:spcPts val="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客户端向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发起写请求 </a:t>
            </a:r>
          </a:p>
          <a:p>
            <a:pPr lvl="1" algn="just">
              <a:lnSpc>
                <a:spcPct val="110000"/>
              </a:lnSpc>
              <a:spcBef>
                <a:spcPts val="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 Leader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将写请求以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Proposal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的形式发给所有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Follower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并等待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ACK </a:t>
            </a:r>
          </a:p>
          <a:p>
            <a:pPr lvl="1" algn="just">
              <a:lnSpc>
                <a:spcPct val="110000"/>
              </a:lnSpc>
              <a:spcBef>
                <a:spcPts val="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3. Follower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收到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的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Proposal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后返回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ACK </a:t>
            </a:r>
          </a:p>
          <a:p>
            <a:pPr lvl="1" algn="just">
              <a:lnSpc>
                <a:spcPct val="110000"/>
              </a:lnSpc>
              <a:spcBef>
                <a:spcPts val="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4. Leader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得到过半数的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对自己默认有一个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ACK</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）后向所有的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Follower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和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Observer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发送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Commit </a:t>
            </a:r>
          </a:p>
          <a:p>
            <a:pPr lvl="1" algn="just">
              <a:lnSpc>
                <a:spcPct val="110000"/>
              </a:lnSpc>
              <a:spcBef>
                <a:spcPts val="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5. Leader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将处理结果返回给客户端</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1026" name="Picture 2" descr="https://pic2.zhimg.com/80/v2-d53d50a73915168c2204622817f19809_1440w.webp">
            <a:extLst>
              <a:ext uri="{FF2B5EF4-FFF2-40B4-BE49-F238E27FC236}">
                <a16:creationId xmlns:a16="http://schemas.microsoft.com/office/drawing/2014/main" id="{82B70E1F-1A59-4885-8CA3-9ED554E852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810000"/>
            <a:ext cx="6553200" cy="2917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956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105400"/>
          </a:xfrm>
        </p:spPr>
        <p:txBody>
          <a:bodyPr>
            <a:normAutofit/>
          </a:bodyPr>
          <a:lstStyle/>
          <a:p>
            <a:pPr algn="just">
              <a:lnSpc>
                <a:spcPct val="110000"/>
              </a:lnSpc>
              <a:spcBef>
                <a:spcPts val="0"/>
              </a:spcBef>
            </a:pP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一致性：</a:t>
            </a:r>
            <a:r>
              <a:rPr lang="zh-CN" altLang="en-US" dirty="0">
                <a:solidFill>
                  <a:srgbClr val="C00000"/>
                </a:solidFill>
              </a:rPr>
              <a:t>写 </a:t>
            </a:r>
            <a:r>
              <a:rPr lang="en-US" altLang="zh-CN" dirty="0">
                <a:solidFill>
                  <a:srgbClr val="C00000"/>
                </a:solidFill>
              </a:rPr>
              <a:t>Follower</a:t>
            </a:r>
            <a:r>
              <a:rPr lang="zh-CN" altLang="en-US" dirty="0">
                <a:solidFill>
                  <a:srgbClr val="C00000"/>
                </a:solidFill>
              </a:rPr>
              <a:t>场景数据一致性</a:t>
            </a:r>
            <a:endParaRPr lang="en-US" altLang="zh-CN" dirty="0">
              <a:solidFill>
                <a:srgbClr val="C00000"/>
              </a:solidFill>
            </a:endParaRPr>
          </a:p>
          <a:p>
            <a:pPr lvl="1" algn="just">
              <a:lnSpc>
                <a:spcPct val="110000"/>
              </a:lnSpc>
              <a:spcBef>
                <a:spcPts val="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客户端向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Follower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发起写请求，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Follower</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将写请求转发给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处理</a:t>
            </a:r>
          </a:p>
          <a:p>
            <a:pPr lvl="1" algn="just">
              <a:lnSpc>
                <a:spcPct val="110000"/>
              </a:lnSpc>
              <a:spcBef>
                <a:spcPts val="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其它流程与直接写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无任何区别</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2052" name="Picture 4" descr="https://pic4.zhimg.com/v2-1970ace30458f97795f7e10adac924d3_r.jpg">
            <a:extLst>
              <a:ext uri="{FF2B5EF4-FFF2-40B4-BE49-F238E27FC236}">
                <a16:creationId xmlns:a16="http://schemas.microsoft.com/office/drawing/2014/main" id="{10A4A480-FBAA-455F-8D80-E2ACA1D57F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7300" y="3464906"/>
            <a:ext cx="6629400" cy="2840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1898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105400"/>
          </a:xfrm>
        </p:spPr>
        <p:txBody>
          <a:bodyPr>
            <a:normAutofit fontScale="92500"/>
          </a:bodyPr>
          <a:lstStyle/>
          <a:p>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一致性：</a:t>
            </a:r>
            <a:r>
              <a:rPr lang="zh-CN" altLang="en-US" b="1" dirty="0"/>
              <a:t>最终一致性</a:t>
            </a:r>
            <a:endParaRPr lang="en-US" altLang="zh-CN" b="1" dirty="0"/>
          </a:p>
          <a:p>
            <a:pPr lvl="1" algn="just"/>
            <a:r>
              <a:rPr lang="zh-CN" altLang="en-US" dirty="0"/>
              <a:t>数据写入过程核心分成下面两阶段：</a:t>
            </a:r>
          </a:p>
          <a:p>
            <a:pPr lvl="2" algn="just"/>
            <a:r>
              <a:rPr lang="zh-CN" altLang="en-US" sz="2400" dirty="0"/>
              <a:t>第一阶段：</a:t>
            </a:r>
            <a:r>
              <a:rPr lang="en-US" altLang="zh-CN" sz="2400" dirty="0"/>
              <a:t>Leader</a:t>
            </a:r>
            <a:r>
              <a:rPr lang="zh-CN" altLang="en-US" sz="2400" dirty="0"/>
              <a:t>数据写入事件作为提案广播给所有 </a:t>
            </a:r>
            <a:r>
              <a:rPr lang="en-US" altLang="zh-CN" sz="2400" dirty="0"/>
              <a:t>Follower </a:t>
            </a:r>
            <a:r>
              <a:rPr lang="zh-CN" altLang="en-US" sz="2400" dirty="0"/>
              <a:t>结点；可以写入的</a:t>
            </a:r>
            <a:r>
              <a:rPr lang="en-US" altLang="zh-CN" sz="2400" dirty="0"/>
              <a:t>Follower</a:t>
            </a:r>
            <a:r>
              <a:rPr lang="zh-CN" altLang="en-US" sz="2400" dirty="0"/>
              <a:t>结点返回确认信息 </a:t>
            </a:r>
            <a:r>
              <a:rPr lang="en-US" altLang="zh-CN" sz="2400" dirty="0"/>
              <a:t>ACK</a:t>
            </a:r>
          </a:p>
          <a:p>
            <a:pPr lvl="2" algn="just"/>
            <a:r>
              <a:rPr lang="zh-CN" altLang="en-US" sz="2400" dirty="0"/>
              <a:t>第二阶段：</a:t>
            </a:r>
            <a:r>
              <a:rPr lang="en-US" altLang="zh-CN" sz="2400" dirty="0"/>
              <a:t>Leader </a:t>
            </a:r>
            <a:r>
              <a:rPr lang="zh-CN" altLang="en-US" sz="2400" dirty="0"/>
              <a:t>收到一半以上的 </a:t>
            </a:r>
            <a:r>
              <a:rPr lang="en-US" altLang="zh-CN" sz="2400" dirty="0"/>
              <a:t>ACK </a:t>
            </a:r>
            <a:r>
              <a:rPr lang="zh-CN" altLang="en-US" sz="2400" dirty="0"/>
              <a:t>信息后确认写入可以生效，向所有结点广播 </a:t>
            </a:r>
            <a:r>
              <a:rPr lang="en-US" altLang="zh-CN" sz="2400" dirty="0"/>
              <a:t>COMMIT </a:t>
            </a:r>
            <a:r>
              <a:rPr lang="zh-CN" altLang="en-US" sz="2400" dirty="0"/>
              <a:t>将提案生效</a:t>
            </a:r>
            <a:endParaRPr lang="en-US" altLang="zh-CN" sz="2400" dirty="0"/>
          </a:p>
          <a:p>
            <a:pPr lvl="1" algn="just"/>
            <a:endParaRPr lang="en-US" altLang="zh-CN" dirty="0"/>
          </a:p>
          <a:p>
            <a:pPr lvl="1" algn="just"/>
            <a:r>
              <a:rPr lang="zh-CN" altLang="en-US" dirty="0"/>
              <a:t>根据写入过程的两阶段的描述，可以知道 </a:t>
            </a:r>
            <a:r>
              <a:rPr lang="en-US" altLang="zh-CN" dirty="0"/>
              <a:t>Zookeeper </a:t>
            </a:r>
            <a:r>
              <a:rPr lang="zh-CN" altLang="en-US" dirty="0"/>
              <a:t>保证的是最终一致性</a:t>
            </a:r>
            <a:endParaRPr lang="en-US" altLang="zh-CN" dirty="0"/>
          </a:p>
          <a:p>
            <a:pPr lvl="2" algn="just"/>
            <a:r>
              <a:rPr lang="zh-CN" altLang="en-US" sz="2400" dirty="0"/>
              <a:t>即 </a:t>
            </a:r>
            <a:r>
              <a:rPr lang="en-US" altLang="zh-CN" sz="2400" dirty="0"/>
              <a:t>Leader </a:t>
            </a:r>
            <a:r>
              <a:rPr lang="zh-CN" altLang="en-US" sz="2400" dirty="0"/>
              <a:t>向客户端返回写入成功后，可能有部分 </a:t>
            </a:r>
            <a:r>
              <a:rPr lang="en-US" altLang="zh-CN" sz="2400" dirty="0"/>
              <a:t>Follower </a:t>
            </a:r>
            <a:r>
              <a:rPr lang="zh-CN" altLang="en-US" sz="2400" dirty="0"/>
              <a:t>还没有写入最新的数据，所以是最终一致性</a:t>
            </a:r>
          </a:p>
          <a:p>
            <a:pPr lvl="1" algn="just">
              <a:lnSpc>
                <a:spcPct val="110000"/>
              </a:lnSpc>
              <a:spcBef>
                <a:spcPts val="0"/>
              </a:spcBef>
            </a:pPr>
            <a:endParaRPr lang="zh-CN" altLang="en-US"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11978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105400"/>
          </a:xfrm>
        </p:spPr>
        <p:txBody>
          <a:bodyPr>
            <a:normAutofit/>
          </a:bodyPr>
          <a:lstStyle/>
          <a:p>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一致性：</a:t>
            </a:r>
            <a:r>
              <a:rPr lang="zh-CN" altLang="en-US" b="1" dirty="0"/>
              <a:t>最终一致性</a:t>
            </a:r>
            <a:endParaRPr lang="en-US" altLang="zh-CN" b="1" dirty="0"/>
          </a:p>
          <a:p>
            <a:pPr lvl="1" algn="just"/>
            <a:r>
              <a:rPr lang="en-US" altLang="zh-CN" dirty="0"/>
              <a:t>Zookeeper </a:t>
            </a:r>
            <a:r>
              <a:rPr lang="zh-CN" altLang="en-US" dirty="0"/>
              <a:t>保证的最终一致性也叫顺序一致性，即每个结点的数据都是严格按事务的发起顺序生效的</a:t>
            </a:r>
          </a:p>
          <a:p>
            <a:pPr lvl="2" algn="just"/>
            <a:r>
              <a:rPr lang="en-US" altLang="zh-CN" dirty="0"/>
              <a:t>ZK</a:t>
            </a:r>
            <a:r>
              <a:rPr lang="zh-CN" altLang="en-US" dirty="0"/>
              <a:t>事务的顺序性是借助上文中的</a:t>
            </a:r>
            <a:r>
              <a:rPr lang="en-US" altLang="zh-CN" dirty="0"/>
              <a:t>Zxid</a:t>
            </a:r>
            <a:r>
              <a:rPr lang="zh-CN" altLang="en-US" dirty="0"/>
              <a:t>实现的</a:t>
            </a:r>
          </a:p>
          <a:p>
            <a:pPr lvl="1" algn="just"/>
            <a:endParaRPr lang="zh-CN" altLang="en-US" dirty="0"/>
          </a:p>
          <a:p>
            <a:pPr lvl="1" algn="just"/>
            <a:r>
              <a:rPr lang="en-US" altLang="zh-CN" dirty="0"/>
              <a:t>Leader </a:t>
            </a:r>
            <a:r>
              <a:rPr lang="zh-CN" altLang="en-US" dirty="0"/>
              <a:t>在收到半数以上 </a:t>
            </a:r>
            <a:r>
              <a:rPr lang="en-US" altLang="zh-CN" dirty="0"/>
              <a:t>ACK </a:t>
            </a:r>
            <a:r>
              <a:rPr lang="zh-CN" altLang="en-US" dirty="0"/>
              <a:t>后会将提案生效并广播给所有 </a:t>
            </a:r>
            <a:r>
              <a:rPr lang="en-US" altLang="zh-CN" dirty="0"/>
              <a:t>Follower </a:t>
            </a:r>
            <a:r>
              <a:rPr lang="zh-CN" altLang="en-US" dirty="0"/>
              <a:t>结点，</a:t>
            </a:r>
            <a:r>
              <a:rPr lang="en-US" altLang="zh-CN" dirty="0"/>
              <a:t>Leader </a:t>
            </a:r>
            <a:r>
              <a:rPr lang="zh-CN" altLang="en-US" dirty="0"/>
              <a:t>为了保证提案按 </a:t>
            </a:r>
            <a:r>
              <a:rPr lang="en-US" altLang="zh-CN" dirty="0"/>
              <a:t>ZXID </a:t>
            </a:r>
            <a:r>
              <a:rPr lang="zh-CN" altLang="en-US" dirty="0"/>
              <a:t>顺序生效，使用了一个 </a:t>
            </a:r>
            <a:r>
              <a:rPr lang="en-US" altLang="zh-CN" dirty="0" err="1"/>
              <a:t>ConcurrentHashMap</a:t>
            </a:r>
            <a:r>
              <a:rPr lang="zh-CN" altLang="en-US" dirty="0"/>
              <a:t>，记录所有未提交的提案，命名为 </a:t>
            </a:r>
            <a:r>
              <a:rPr lang="en-US" altLang="zh-CN" dirty="0" err="1">
                <a:solidFill>
                  <a:srgbClr val="C00000"/>
                </a:solidFill>
              </a:rPr>
              <a:t>outstandingProposals</a:t>
            </a:r>
            <a:r>
              <a:rPr lang="zh-CN" altLang="en-US" dirty="0"/>
              <a:t>，</a:t>
            </a:r>
            <a:r>
              <a:rPr lang="en-US" altLang="zh-CN" dirty="0"/>
              <a:t>key </a:t>
            </a:r>
            <a:r>
              <a:rPr lang="zh-CN" altLang="en-US" dirty="0"/>
              <a:t>为 </a:t>
            </a:r>
            <a:r>
              <a:rPr lang="en-US" altLang="zh-CN" dirty="0"/>
              <a:t>ZXID</a:t>
            </a:r>
            <a:r>
              <a:rPr lang="zh-CN" altLang="en-US" dirty="0"/>
              <a:t>，</a:t>
            </a:r>
            <a:r>
              <a:rPr lang="en-US" altLang="zh-CN" dirty="0"/>
              <a:t>Value </a:t>
            </a:r>
            <a:r>
              <a:rPr lang="zh-CN" altLang="en-US" dirty="0"/>
              <a:t>为提案的信息</a:t>
            </a:r>
          </a:p>
          <a:p>
            <a:pPr lvl="1" algn="just"/>
            <a:endParaRPr lang="zh-CN" altLang="en-US" sz="2400" dirty="0"/>
          </a:p>
          <a:p>
            <a:pPr lvl="1" algn="just">
              <a:lnSpc>
                <a:spcPct val="110000"/>
              </a:lnSpc>
              <a:spcBef>
                <a:spcPts val="0"/>
              </a:spcBef>
            </a:pPr>
            <a:endParaRPr lang="zh-CN" altLang="en-US"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66511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105400"/>
          </a:xfrm>
        </p:spPr>
        <p:txBody>
          <a:bodyPr>
            <a:normAutofit fontScale="85000" lnSpcReduction="10000"/>
          </a:bodyPr>
          <a:lstStyle/>
          <a:p>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一致性：</a:t>
            </a:r>
            <a:r>
              <a:rPr lang="zh-CN" altLang="en-US" b="1" dirty="0"/>
              <a:t>最终一致性</a:t>
            </a:r>
            <a:endParaRPr lang="en-US" altLang="zh-CN" b="1" dirty="0"/>
          </a:p>
          <a:p>
            <a:pPr lvl="1" algn="just"/>
            <a:r>
              <a:rPr lang="zh-CN" altLang="en-US" dirty="0"/>
              <a:t>对 </a:t>
            </a:r>
            <a:r>
              <a:rPr lang="en-US" altLang="zh-CN" dirty="0" err="1"/>
              <a:t>outstandingProposals</a:t>
            </a:r>
            <a:r>
              <a:rPr lang="en-US" altLang="zh-CN" dirty="0"/>
              <a:t> </a:t>
            </a:r>
            <a:r>
              <a:rPr lang="zh-CN" altLang="en-US" dirty="0"/>
              <a:t>的访问逻辑如下</a:t>
            </a:r>
            <a:endParaRPr lang="en-US" altLang="zh-CN" dirty="0"/>
          </a:p>
          <a:p>
            <a:pPr lvl="1" algn="just"/>
            <a:r>
              <a:rPr lang="en-US" altLang="zh-CN" dirty="0"/>
              <a:t>1. Leader </a:t>
            </a:r>
            <a:r>
              <a:rPr lang="zh-CN" altLang="en-US" dirty="0"/>
              <a:t>每发起一个提案，会将提案的 </a:t>
            </a:r>
            <a:r>
              <a:rPr lang="en-US" altLang="zh-CN" dirty="0"/>
              <a:t>ZXID </a:t>
            </a:r>
            <a:r>
              <a:rPr lang="zh-CN" altLang="en-US" dirty="0"/>
              <a:t>和内容放到 </a:t>
            </a:r>
            <a:r>
              <a:rPr lang="en-US" altLang="zh-CN" dirty="0" err="1"/>
              <a:t>outstandingProposals</a:t>
            </a:r>
            <a:r>
              <a:rPr lang="en-US" altLang="zh-CN" dirty="0"/>
              <a:t> </a:t>
            </a:r>
            <a:r>
              <a:rPr lang="zh-CN" altLang="en-US" dirty="0"/>
              <a:t>中，作为待提交的提案；</a:t>
            </a:r>
            <a:endParaRPr lang="en-US" altLang="zh-CN" dirty="0"/>
          </a:p>
          <a:p>
            <a:pPr lvl="1" algn="just"/>
            <a:r>
              <a:rPr lang="en-US" altLang="zh-CN" dirty="0"/>
              <a:t>2. Leader</a:t>
            </a:r>
            <a:r>
              <a:rPr lang="zh-CN" altLang="en-US" dirty="0"/>
              <a:t>收到 </a:t>
            </a:r>
            <a:r>
              <a:rPr lang="en-US" altLang="zh-CN" dirty="0"/>
              <a:t>Follower </a:t>
            </a:r>
            <a:r>
              <a:rPr lang="zh-CN" altLang="en-US" dirty="0"/>
              <a:t>的 </a:t>
            </a:r>
            <a:r>
              <a:rPr lang="en-US" altLang="zh-CN" dirty="0"/>
              <a:t>ACK </a:t>
            </a:r>
            <a:r>
              <a:rPr lang="zh-CN" altLang="en-US" dirty="0"/>
              <a:t>信息后，根据 </a:t>
            </a:r>
            <a:r>
              <a:rPr lang="en-US" altLang="zh-CN" dirty="0"/>
              <a:t>ACK </a:t>
            </a:r>
            <a:r>
              <a:rPr lang="zh-CN" altLang="en-US" dirty="0"/>
              <a:t>中的 </a:t>
            </a:r>
            <a:r>
              <a:rPr lang="en-US" altLang="zh-CN" dirty="0"/>
              <a:t>ZXID </a:t>
            </a:r>
            <a:r>
              <a:rPr lang="zh-CN" altLang="en-US" dirty="0"/>
              <a:t>从 </a:t>
            </a:r>
            <a:r>
              <a:rPr lang="en-US" altLang="zh-CN" dirty="0" err="1"/>
              <a:t>outstandingProposals</a:t>
            </a:r>
            <a:r>
              <a:rPr lang="en-US" altLang="zh-CN" dirty="0"/>
              <a:t> </a:t>
            </a:r>
            <a:r>
              <a:rPr lang="zh-CN" altLang="en-US" dirty="0"/>
              <a:t>中找到对应的提案，对 </a:t>
            </a:r>
            <a:r>
              <a:rPr lang="en-US" altLang="zh-CN" dirty="0"/>
              <a:t>ACK </a:t>
            </a:r>
            <a:r>
              <a:rPr lang="zh-CN" altLang="en-US" dirty="0"/>
              <a:t>计数</a:t>
            </a:r>
            <a:r>
              <a:rPr lang="en-US" altLang="zh-CN" dirty="0"/>
              <a:t>; </a:t>
            </a:r>
          </a:p>
          <a:p>
            <a:pPr lvl="1" algn="just"/>
            <a:r>
              <a:rPr lang="en-US" altLang="zh-CN" dirty="0"/>
              <a:t>3. </a:t>
            </a:r>
            <a:r>
              <a:rPr lang="zh-CN" altLang="en-US" dirty="0"/>
              <a:t>执行 </a:t>
            </a:r>
            <a:r>
              <a:rPr lang="en-US" altLang="zh-CN" dirty="0" err="1"/>
              <a:t>tryToCommit</a:t>
            </a:r>
            <a:r>
              <a:rPr lang="en-US" altLang="zh-CN" dirty="0"/>
              <a:t> </a:t>
            </a:r>
            <a:r>
              <a:rPr lang="zh-CN" altLang="en-US" dirty="0"/>
              <a:t>尝试将提案提交：判断流程是，先判断当前 </a:t>
            </a:r>
            <a:r>
              <a:rPr lang="en-US" altLang="zh-CN" dirty="0"/>
              <a:t>ZXID </a:t>
            </a:r>
            <a:r>
              <a:rPr lang="zh-CN" altLang="en-US" dirty="0"/>
              <a:t>之前是否还有未提交提案，如果有，当前提案暂时不能提交；再判断提案是否收到半数以上 </a:t>
            </a:r>
            <a:r>
              <a:rPr lang="en-US" altLang="zh-CN" dirty="0"/>
              <a:t>ACK</a:t>
            </a:r>
            <a:r>
              <a:rPr lang="zh-CN" altLang="en-US" dirty="0"/>
              <a:t>，如果达到半数则可以提交；如果可以提交，将当前 </a:t>
            </a:r>
            <a:r>
              <a:rPr lang="en-US" altLang="zh-CN" dirty="0"/>
              <a:t>ZXID </a:t>
            </a:r>
            <a:r>
              <a:rPr lang="zh-CN" altLang="en-US" dirty="0"/>
              <a:t>从 </a:t>
            </a:r>
            <a:r>
              <a:rPr lang="en-US" altLang="zh-CN" dirty="0" err="1"/>
              <a:t>outstandingProposals</a:t>
            </a:r>
            <a:r>
              <a:rPr lang="en-US" altLang="zh-CN" dirty="0"/>
              <a:t> </a:t>
            </a:r>
            <a:r>
              <a:rPr lang="zh-CN" altLang="en-US" dirty="0"/>
              <a:t>中清除，并向 </a:t>
            </a:r>
            <a:r>
              <a:rPr lang="en-US" altLang="zh-CN" dirty="0"/>
              <a:t>Followers </a:t>
            </a:r>
            <a:r>
              <a:rPr lang="zh-CN" altLang="en-US" dirty="0"/>
              <a:t>广播提交当前提案</a:t>
            </a:r>
          </a:p>
          <a:p>
            <a:pPr lvl="2" algn="just"/>
            <a:r>
              <a:rPr lang="en-US" altLang="zh-CN" dirty="0"/>
              <a:t>Leader </a:t>
            </a:r>
            <a:r>
              <a:rPr lang="zh-CN" altLang="en-US" dirty="0"/>
              <a:t>是如何判断当前 </a:t>
            </a:r>
            <a:r>
              <a:rPr lang="en-US" altLang="zh-CN" dirty="0"/>
              <a:t>ZXID </a:t>
            </a:r>
            <a:r>
              <a:rPr lang="zh-CN" altLang="en-US" dirty="0"/>
              <a:t>之前是否还有未提交提案的呢？由于前提是保证顺序提交的，所以 </a:t>
            </a:r>
            <a:r>
              <a:rPr lang="en-US" altLang="zh-CN" dirty="0"/>
              <a:t>Leader </a:t>
            </a:r>
            <a:r>
              <a:rPr lang="zh-CN" altLang="en-US" dirty="0"/>
              <a:t>只需判断 </a:t>
            </a:r>
            <a:r>
              <a:rPr lang="en-US" altLang="zh-CN" dirty="0" err="1"/>
              <a:t>outstandingProposals</a:t>
            </a:r>
            <a:r>
              <a:rPr lang="en-US" altLang="zh-CN" dirty="0"/>
              <a:t> </a:t>
            </a:r>
            <a:r>
              <a:rPr lang="zh-CN" altLang="en-US" dirty="0"/>
              <a:t>里，当前 </a:t>
            </a:r>
            <a:r>
              <a:rPr lang="en-US" altLang="zh-CN" dirty="0"/>
              <a:t>ZXID </a:t>
            </a:r>
            <a:r>
              <a:rPr lang="zh-CN" altLang="en-US" dirty="0"/>
              <a:t>的前一个 </a:t>
            </a:r>
            <a:r>
              <a:rPr lang="en-US" altLang="zh-CN" dirty="0"/>
              <a:t>ZXID </a:t>
            </a:r>
            <a:r>
              <a:rPr lang="zh-CN" altLang="en-US" dirty="0"/>
              <a:t>是否存在</a:t>
            </a:r>
          </a:p>
          <a:p>
            <a:pPr lvl="1" algn="just"/>
            <a:r>
              <a:rPr lang="zh-CN" altLang="en-US" dirty="0">
                <a:solidFill>
                  <a:srgbClr val="C00000"/>
                </a:solidFill>
              </a:rPr>
              <a:t>总结，</a:t>
            </a:r>
            <a:r>
              <a:rPr lang="en-US" altLang="zh-CN" dirty="0" err="1">
                <a:solidFill>
                  <a:srgbClr val="C00000"/>
                </a:solidFill>
              </a:rPr>
              <a:t>ZooKeeper</a:t>
            </a:r>
            <a:r>
              <a:rPr lang="en-US" altLang="zh-CN" dirty="0">
                <a:solidFill>
                  <a:srgbClr val="C00000"/>
                </a:solidFill>
              </a:rPr>
              <a:t> </a:t>
            </a:r>
            <a:r>
              <a:rPr lang="zh-CN" altLang="en-US" dirty="0">
                <a:solidFill>
                  <a:srgbClr val="C00000"/>
                </a:solidFill>
              </a:rPr>
              <a:t>是通过两阶段提交保证数据的最终一致性</a:t>
            </a:r>
            <a:endParaRPr lang="en-US" altLang="zh-CN" dirty="0">
              <a:solidFill>
                <a:srgbClr val="C00000"/>
              </a:solidFill>
            </a:endParaRPr>
          </a:p>
          <a:p>
            <a:pPr lvl="1" algn="just"/>
            <a:r>
              <a:rPr lang="zh-CN" altLang="en-US" dirty="0">
                <a:solidFill>
                  <a:srgbClr val="C00000"/>
                </a:solidFill>
              </a:rPr>
              <a:t>并且通过严格按照 </a:t>
            </a:r>
            <a:r>
              <a:rPr lang="en-US" altLang="zh-CN" dirty="0">
                <a:solidFill>
                  <a:srgbClr val="C00000"/>
                </a:solidFill>
              </a:rPr>
              <a:t>ZXID </a:t>
            </a:r>
            <a:r>
              <a:rPr lang="zh-CN" altLang="en-US" dirty="0">
                <a:solidFill>
                  <a:srgbClr val="C00000"/>
                </a:solidFill>
              </a:rPr>
              <a:t>的顺序生效提案保证其顺序一致性的</a:t>
            </a:r>
            <a:endParaRPr lang="zh-CN" altLang="en-US" sz="2400" dirty="0">
              <a:solidFill>
                <a:srgbClr val="C00000"/>
              </a:solidFill>
            </a:endParaRPr>
          </a:p>
          <a:p>
            <a:pPr lvl="1" algn="just">
              <a:lnSpc>
                <a:spcPct val="110000"/>
              </a:lnSpc>
              <a:spcBef>
                <a:spcPts val="0"/>
              </a:spcBef>
            </a:pPr>
            <a:endParaRPr lang="zh-CN" altLang="en-US"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36573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3522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架构</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t>为了确保服务的高可用性，</a:t>
            </a:r>
            <a:r>
              <a:rPr lang="en-US" altLang="zh-CN" sz="2400" dirty="0"/>
              <a:t>ZK</a:t>
            </a:r>
            <a:r>
              <a:rPr lang="zh-CN" altLang="en-US" sz="2400" dirty="0"/>
              <a:t>采用集群化部署</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分为服务器端</a:t>
            </a:r>
            <a:r>
              <a:rPr lang="en-US" altLang="zh-CN"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和客户端</a:t>
            </a:r>
            <a:r>
              <a:rPr lang="en-US" altLang="zh-CN" dirty="0">
                <a:latin typeface="Times New Roman" panose="02020603050405020304" pitchFamily="18" charset="0"/>
                <a:ea typeface="宋体" panose="02010600030101010101" pitchFamily="2" charset="-122"/>
                <a:cs typeface="Times New Roman" panose="02020603050405020304" pitchFamily="18" charset="0"/>
              </a:rPr>
              <a:t>(Client)</a:t>
            </a:r>
          </a:p>
          <a:p>
            <a:pPr lvl="1" algn="just">
              <a:spcBef>
                <a:spcPts val="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客户端可以连接到整个</a:t>
            </a:r>
            <a:r>
              <a:rPr lang="en-US" altLang="zh-CN"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服务的任意服务器上</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除外</a:t>
            </a:r>
            <a:r>
              <a:rPr lang="en-US" altLang="zh-CN"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启动时，将从实例中选举一个</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dirty="0">
                <a:latin typeface="Times New Roman" panose="02020603050405020304" pitchFamily="18" charset="0"/>
                <a:ea typeface="宋体" panose="02010600030101010101" pitchFamily="2" charset="-122"/>
                <a:cs typeface="Times New Roman" panose="02020603050405020304" pitchFamily="18" charset="0"/>
              </a:rPr>
              <a:t>负责处理数据更新等操作</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spcBef>
                <a:spcPts val="0"/>
              </a:spcBef>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just">
              <a:spcBef>
                <a:spcPts val="0"/>
              </a:spcBef>
            </a:pP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D808C3E7-FFA2-4B91-80D2-3F70061E070C}"/>
              </a:ext>
            </a:extLst>
          </p:cNvPr>
          <p:cNvPicPr>
            <a:picLocks noChangeAspect="1"/>
          </p:cNvPicPr>
          <p:nvPr/>
        </p:nvPicPr>
        <p:blipFill>
          <a:blip r:embed="rId2"/>
          <a:stretch>
            <a:fillRect/>
          </a:stretch>
        </p:blipFill>
        <p:spPr>
          <a:xfrm>
            <a:off x="1181100" y="4366219"/>
            <a:ext cx="6781800" cy="2087962"/>
          </a:xfrm>
          <a:prstGeom prst="rect">
            <a:avLst/>
          </a:prstGeom>
        </p:spPr>
      </p:pic>
    </p:spTree>
    <p:extLst>
      <p:ext uri="{BB962C8B-B14F-4D97-AF65-F5344CB8AC3E}">
        <p14:creationId xmlns:p14="http://schemas.microsoft.com/office/powerpoint/2010/main" val="1217321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fontScale="92500" lnSpcReduction="20000"/>
          </a:bodyPr>
          <a:lstStyle/>
          <a:p>
            <a:pPr algn="just">
              <a:lnSpc>
                <a:spcPct val="110000"/>
              </a:lnSpc>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中的四种角色</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领导者，</a:t>
            </a:r>
            <a:r>
              <a:rPr lang="zh-CN" altLang="en-US" dirty="0"/>
              <a:t>一个 </a:t>
            </a:r>
            <a:r>
              <a:rPr lang="en-US" altLang="zh-CN" dirty="0"/>
              <a:t>ZK </a:t>
            </a:r>
            <a:r>
              <a:rPr lang="zh-CN" altLang="en-US" dirty="0"/>
              <a:t>集群同一时间只会有一个实际工作的 </a:t>
            </a:r>
            <a:r>
              <a:rPr lang="en-US" altLang="zh-CN" dirty="0"/>
              <a:t>Leader</a:t>
            </a:r>
            <a:r>
              <a:rPr lang="zh-CN" altLang="en-US" dirty="0"/>
              <a:t>；所有的写操作必须要通过 </a:t>
            </a:r>
            <a:r>
              <a:rPr lang="en-US" altLang="zh-CN" dirty="0"/>
              <a:t>Leader </a:t>
            </a:r>
            <a:r>
              <a:rPr lang="zh-CN" altLang="en-US" dirty="0"/>
              <a:t>完成再由 </a:t>
            </a:r>
            <a:r>
              <a:rPr lang="en-US" altLang="zh-CN" dirty="0"/>
              <a:t>Leader </a:t>
            </a:r>
            <a:r>
              <a:rPr lang="zh-CN" altLang="en-US" dirty="0"/>
              <a:t>将写操作广播给其它服务器</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Follower(Learner</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的子类</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跟随者，</a:t>
            </a:r>
            <a:r>
              <a:rPr lang="zh-CN" altLang="en-US" dirty="0"/>
              <a:t>一个 </a:t>
            </a:r>
            <a:r>
              <a:rPr lang="en-US" altLang="zh-CN" dirty="0"/>
              <a:t>ZK </a:t>
            </a:r>
            <a:r>
              <a:rPr lang="zh-CN" altLang="en-US" dirty="0"/>
              <a:t>集群可同时存在多个 </a:t>
            </a:r>
            <a:r>
              <a:rPr lang="en-US" altLang="zh-CN" dirty="0"/>
              <a:t>Follower</a:t>
            </a:r>
            <a:r>
              <a:rPr lang="zh-CN" altLang="en-US" dirty="0"/>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用于</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Follower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可以接收</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Client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请求，</a:t>
            </a:r>
            <a:r>
              <a:rPr lang="zh-CN" altLang="en-US" dirty="0"/>
              <a:t>直接处理并返回客户端的读请求，同时会将写请求转发给 </a:t>
            </a:r>
            <a:r>
              <a:rPr lang="en-US" altLang="zh-CN" dirty="0"/>
              <a:t>Leader </a:t>
            </a:r>
            <a:r>
              <a:rPr lang="zh-CN" altLang="en-US" dirty="0"/>
              <a:t>处理</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t>参与事务请求</a:t>
            </a:r>
            <a:r>
              <a:rPr lang="en-US" altLang="zh-CN" dirty="0"/>
              <a:t>Proposal</a:t>
            </a:r>
            <a:r>
              <a:rPr lang="zh-CN" altLang="en-US" dirty="0"/>
              <a:t>的投票及</a:t>
            </a:r>
            <a:r>
              <a:rPr lang="en-US" altLang="zh-CN" dirty="0"/>
              <a:t>Leader</a:t>
            </a:r>
            <a:r>
              <a:rPr lang="zh-CN" altLang="en-US" dirty="0"/>
              <a:t>选举投票</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Observer</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观察者，</a:t>
            </a:r>
            <a:r>
              <a:rPr lang="en-US" altLang="zh-CN" dirty="0"/>
              <a:t> Observer</a:t>
            </a:r>
            <a:r>
              <a:rPr lang="zh-CN" altLang="en-US" dirty="0"/>
              <a:t>是</a:t>
            </a:r>
            <a:r>
              <a:rPr lang="en-US" altLang="zh-CN" dirty="0"/>
              <a:t>3.3.0 </a:t>
            </a:r>
            <a:r>
              <a:rPr lang="zh-CN" altLang="en-US" dirty="0"/>
              <a:t>版本开始引入的一个服务器角色，一个 </a:t>
            </a:r>
            <a:r>
              <a:rPr lang="en-US" altLang="zh-CN" dirty="0"/>
              <a:t>ZK </a:t>
            </a:r>
            <a:r>
              <a:rPr lang="zh-CN" altLang="en-US" dirty="0"/>
              <a:t>集群可同时存在多个 </a:t>
            </a:r>
            <a:r>
              <a:rPr lang="en-US" altLang="zh-CN" dirty="0"/>
              <a:t>Observer</a:t>
            </a:r>
            <a:r>
              <a:rPr lang="zh-CN" altLang="en-US" dirty="0"/>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可以接收客户端连接，将写请求转发给</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节点，</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但是不参与投票过程，</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只是同步</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状态，因为</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Follower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增多会导致投票阶段延迟增大，影响性能</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Observer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的目的是为了扩展系统，提高读取数据</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Learner</a:t>
            </a:r>
            <a:r>
              <a:rPr lang="zh-CN" altLang="en-US" sz="22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学习者</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spcBef>
                <a:spcPts val="0"/>
              </a:spcBef>
            </a:pP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6065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4534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4196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准备知识</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spcBef>
                <a:spcPts val="0"/>
              </a:spcBef>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中的</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数目一般为奇数？</a:t>
            </a:r>
          </a:p>
          <a:p>
            <a:pPr lvl="1" algn="just">
              <a:lnSpc>
                <a:spcPct val="110000"/>
              </a:lnSpc>
              <a:spcBef>
                <a:spcPts val="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我们知道在</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中 </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选举算法采用了</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Quorum</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算法；该算法的核心思想是当多数</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写成功，则任务数据写成功</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假设有</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，则最多允许一个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挂掉；如果有</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，则同样最多允许一个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挂掉</a:t>
            </a:r>
            <a:endParaRPr lang="en-US" altLang="zh-CN" sz="22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既然</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个或者</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，同样最多允许</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挂掉，那么它们的可靠性是一样的，所以选择奇数个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Zookeeper Server</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即可，这里选择</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200" dirty="0">
                <a:latin typeface="Times New Roman" panose="02020603050405020304" pitchFamily="18" charset="0"/>
                <a:ea typeface="宋体" panose="02010600030101010101" pitchFamily="2" charset="-122"/>
                <a:cs typeface="Times New Roman" panose="02020603050405020304" pitchFamily="18" charset="0"/>
              </a:rPr>
              <a:t>个</a:t>
            </a:r>
            <a:r>
              <a:rPr lang="en-US" altLang="zh-CN" sz="2200" dirty="0">
                <a:latin typeface="Times New Roman" panose="02020603050405020304" pitchFamily="18" charset="0"/>
                <a:ea typeface="宋体" panose="02010600030101010101" pitchFamily="2" charset="-122"/>
                <a:cs typeface="Times New Roman" panose="02020603050405020304" pitchFamily="18" charset="0"/>
              </a:rPr>
              <a:t>Server</a:t>
            </a:r>
            <a:endParaRPr lang="zh-CN" altLang="en-US" sz="22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331064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fontScale="92500" lnSpcReduction="10000"/>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准备知识</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spcBef>
                <a:spcPts val="0"/>
              </a:spcBef>
            </a:pP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Quorum</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算法</a:t>
            </a:r>
          </a:p>
          <a:p>
            <a:pPr lvl="1" algn="just">
              <a:lnSpc>
                <a:spcPct val="110000"/>
              </a:lnSpc>
              <a:spcBef>
                <a:spcPts val="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在分布式系统中，冗余数据是保证可靠性的手段，因此冗余数据的一致性维护就非常重要</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一般而言，一个写操作必须要对所有的冗余数据都更新完成了，才能称为成功结束</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比如一份数据在</a:t>
            </a:r>
            <a:r>
              <a:rPr lang="en-US" altLang="zh-CN"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台设备上有冗余，因为不知道读数据会落在哪一台设备上，那么一次写操作，必须</a:t>
            </a:r>
            <a:r>
              <a:rPr lang="en-US" altLang="zh-CN"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台设备都更新完成，写操作才能返回</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对于写操作比较频繁的系统，这个操作的瓶颈非常大；</a:t>
            </a:r>
            <a:r>
              <a:rPr lang="en-US" altLang="zh-CN" dirty="0">
                <a:latin typeface="Times New Roman" panose="02020603050405020304" pitchFamily="18" charset="0"/>
                <a:ea typeface="宋体" panose="02010600030101010101" pitchFamily="2" charset="-122"/>
                <a:cs typeface="Times New Roman" panose="02020603050405020304" pitchFamily="18" charset="0"/>
              </a:rPr>
              <a:t>Quorum</a:t>
            </a:r>
            <a:r>
              <a:rPr lang="zh-CN" altLang="en-US" dirty="0">
                <a:latin typeface="Times New Roman" panose="02020603050405020304" pitchFamily="18" charset="0"/>
                <a:ea typeface="宋体" panose="02010600030101010101" pitchFamily="2" charset="-122"/>
                <a:cs typeface="Times New Roman" panose="02020603050405020304" pitchFamily="18" charset="0"/>
              </a:rPr>
              <a:t>算法可以让写操作只要写完</a:t>
            </a:r>
            <a:r>
              <a:rPr lang="en-US" altLang="zh-CN"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dirty="0">
                <a:latin typeface="Times New Roman" panose="02020603050405020304" pitchFamily="18" charset="0"/>
                <a:ea typeface="宋体" panose="02010600030101010101" pitchFamily="2" charset="-122"/>
                <a:cs typeface="Times New Roman" panose="02020603050405020304" pitchFamily="18" charset="0"/>
              </a:rPr>
              <a:t>台就返回；剩下的由系统内部缓慢同步完成</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而读操作，则需要也至少读</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台，才能保证至少可以读到一个最新的数据</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2611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5105400"/>
          </a:xfrm>
        </p:spPr>
        <p:txBody>
          <a:bodyPr>
            <a:normAutofit fontScale="92500" lnSpcReduction="10000"/>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准备知识</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0000"/>
              </a:lnSpc>
              <a:spcBef>
                <a:spcPts val="0"/>
              </a:spcBef>
            </a:pP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节点的一些状态</a:t>
            </a:r>
          </a:p>
          <a:p>
            <a:pPr lvl="1" algn="just">
              <a:lnSpc>
                <a:spcPct val="110000"/>
              </a:lnSpc>
              <a:spcBef>
                <a:spcPts val="0"/>
              </a:spcBef>
            </a:pP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LOOKING</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寻找</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状态；当服务器处于该状态时，它会认为当前集群中没有 </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，因此需要进入 </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dirty="0">
                <a:latin typeface="Times New Roman" panose="02020603050405020304" pitchFamily="18" charset="0"/>
                <a:ea typeface="宋体" panose="02010600030101010101" pitchFamily="2" charset="-122"/>
                <a:cs typeface="Times New Roman" panose="02020603050405020304" pitchFamily="18" charset="0"/>
              </a:rPr>
              <a:t>选举状态</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LEADING</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说明此节点已经是</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节点，处于领导者地位的状态，就是一般集群中的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master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中，只有</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才有写权限，其他节点（</a:t>
            </a:r>
            <a:r>
              <a:rPr lang="en-US" altLang="zh-CN" dirty="0">
                <a:latin typeface="Times New Roman" panose="02020603050405020304" pitchFamily="18" charset="0"/>
                <a:ea typeface="宋体" panose="02010600030101010101" pitchFamily="2" charset="-122"/>
                <a:cs typeface="Times New Roman" panose="02020603050405020304" pitchFamily="18" charset="0"/>
              </a:rPr>
              <a:t>FOLLOWING</a:t>
            </a:r>
            <a:r>
              <a:rPr lang="zh-CN" altLang="en-US" dirty="0">
                <a:latin typeface="Times New Roman" panose="02020603050405020304" pitchFamily="18" charset="0"/>
                <a:ea typeface="宋体" panose="02010600030101010101" pitchFamily="2" charset="-122"/>
                <a:cs typeface="Times New Roman" panose="02020603050405020304" pitchFamily="18" charset="0"/>
              </a:rPr>
              <a:t>）是没有写权限的，可以读</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FOLLOWING</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dirty="0">
                <a:latin typeface="Times New Roman" panose="02020603050405020304" pitchFamily="18" charset="0"/>
                <a:ea typeface="宋体" panose="02010600030101010101" pitchFamily="2" charset="-122"/>
                <a:cs typeface="Times New Roman" panose="02020603050405020304" pitchFamily="18" charset="0"/>
              </a:rPr>
              <a:t>跟随者状态，表示当前集群中的</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已经选举出来了，本台服务器处于跟随状态；同步 </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dirty="0">
                <a:latin typeface="Times New Roman" panose="02020603050405020304" pitchFamily="18" charset="0"/>
                <a:ea typeface="宋体" panose="02010600030101010101" pitchFamily="2" charset="-122"/>
                <a:cs typeface="Times New Roman" panose="02020603050405020304" pitchFamily="18" charset="0"/>
              </a:rPr>
              <a:t>状态，参与投票</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OBSERVING</a:t>
            </a:r>
            <a:r>
              <a:rPr lang="zh-CN" altLang="en-US"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OBSERVING</a:t>
            </a:r>
            <a:r>
              <a:rPr lang="zh-CN" altLang="en-US"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dirty="0">
                <a:latin typeface="Times New Roman" panose="02020603050405020304" pitchFamily="18" charset="0"/>
                <a:ea typeface="宋体" panose="02010600030101010101" pitchFamily="2" charset="-122"/>
                <a:cs typeface="Times New Roman" panose="02020603050405020304" pitchFamily="18" charset="0"/>
              </a:rPr>
              <a:t>FOLLOWING</a:t>
            </a:r>
            <a:r>
              <a:rPr lang="zh-CN" altLang="en-US" dirty="0">
                <a:latin typeface="Times New Roman" panose="02020603050405020304" pitchFamily="18" charset="0"/>
                <a:ea typeface="宋体" panose="02010600030101010101" pitchFamily="2" charset="-122"/>
                <a:cs typeface="Times New Roman" panose="02020603050405020304" pitchFamily="18" charset="0"/>
              </a:rPr>
              <a:t>差不多，同步 </a:t>
            </a:r>
            <a:r>
              <a:rPr lang="en-US" altLang="zh-CN" dirty="0">
                <a:latin typeface="Times New Roman" panose="02020603050405020304" pitchFamily="18" charset="0"/>
                <a:ea typeface="宋体" panose="02010600030101010101" pitchFamily="2" charset="-122"/>
                <a:cs typeface="Times New Roman" panose="02020603050405020304" pitchFamily="18" charset="0"/>
              </a:rPr>
              <a:t>leader </a:t>
            </a:r>
            <a:r>
              <a:rPr lang="zh-CN" altLang="en-US" dirty="0">
                <a:latin typeface="Times New Roman" panose="02020603050405020304" pitchFamily="18" charset="0"/>
                <a:ea typeface="宋体" panose="02010600030101010101" pitchFamily="2" charset="-122"/>
                <a:cs typeface="Times New Roman" panose="02020603050405020304" pitchFamily="18" charset="0"/>
              </a:rPr>
              <a:t>状态，不参与投票</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16409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17914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的选举过程</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：准备</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每个</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都有一个唯一标识自己的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myid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；选举过程中每个</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都有一票（挂掉的除外）；在这里，从左到右分别将五台服务器的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myid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赋值为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5</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66723BE-8432-40BD-9F8D-13638D3F197E}"/>
              </a:ext>
            </a:extLst>
          </p:cNvPr>
          <p:cNvPicPr>
            <a:picLocks noChangeAspect="1"/>
          </p:cNvPicPr>
          <p:nvPr/>
        </p:nvPicPr>
        <p:blipFill>
          <a:blip r:embed="rId2"/>
          <a:stretch>
            <a:fillRect/>
          </a:stretch>
        </p:blipFill>
        <p:spPr>
          <a:xfrm>
            <a:off x="1981200" y="4601528"/>
            <a:ext cx="5410200" cy="2180272"/>
          </a:xfrm>
          <a:prstGeom prst="rect">
            <a:avLst/>
          </a:prstGeom>
        </p:spPr>
      </p:pic>
    </p:spTree>
    <p:extLst>
      <p:ext uri="{BB962C8B-B14F-4D97-AF65-F5344CB8AC3E}">
        <p14:creationId xmlns:p14="http://schemas.microsoft.com/office/powerpoint/2010/main" val="1575538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的选举过程</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：准备</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 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类似于</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RDBMS</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中的事务</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，用于标识一次更新操作的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Proposal 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；每次请求对应一个唯一的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 a &lt; zxid b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，则可以保证</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一定发生在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b</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之前</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为了保证数据的有序性，给每个写操作的数据，编写一个全局唯一的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先生成的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较小，后生成的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大，后存储的数据的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一定大于先存储的数据的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p>
          <a:p>
            <a:pPr lvl="1" algn="just">
              <a:lnSpc>
                <a:spcPct val="110000"/>
              </a:lnSpc>
              <a:spcBef>
                <a:spcPts val="0"/>
              </a:spcBef>
            </a:pP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66723BE-8432-40BD-9F8D-13638D3F197E}"/>
              </a:ext>
            </a:extLst>
          </p:cNvPr>
          <p:cNvPicPr>
            <a:picLocks noChangeAspect="1"/>
          </p:cNvPicPr>
          <p:nvPr/>
        </p:nvPicPr>
        <p:blipFill>
          <a:blip r:embed="rId2"/>
          <a:stretch>
            <a:fillRect/>
          </a:stretch>
        </p:blipFill>
        <p:spPr>
          <a:xfrm>
            <a:off x="1981200" y="4601528"/>
            <a:ext cx="5410200" cy="2180272"/>
          </a:xfrm>
          <a:prstGeom prst="rect">
            <a:avLst/>
          </a:prstGeom>
        </p:spPr>
      </p:pic>
    </p:spTree>
    <p:extLst>
      <p:ext uri="{BB962C8B-B14F-4D97-AF65-F5344CB8AC3E}">
        <p14:creationId xmlns:p14="http://schemas.microsoft.com/office/powerpoint/2010/main" val="18347266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的选举过程：</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准备</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选举分为两种情况：初始化的时候（还没有</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服务器挂掉的时候（重新选举新的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66723BE-8432-40BD-9F8D-13638D3F197E}"/>
              </a:ext>
            </a:extLst>
          </p:cNvPr>
          <p:cNvPicPr>
            <a:picLocks noChangeAspect="1"/>
          </p:cNvPicPr>
          <p:nvPr/>
        </p:nvPicPr>
        <p:blipFill>
          <a:blip r:embed="rId2"/>
          <a:stretch>
            <a:fillRect/>
          </a:stretch>
        </p:blipFill>
        <p:spPr>
          <a:xfrm>
            <a:off x="1981200" y="4601528"/>
            <a:ext cx="5410200" cy="2180272"/>
          </a:xfrm>
          <a:prstGeom prst="rect">
            <a:avLst/>
          </a:prstGeom>
        </p:spPr>
      </p:pic>
    </p:spTree>
    <p:extLst>
      <p:ext uri="{BB962C8B-B14F-4D97-AF65-F5344CB8AC3E}">
        <p14:creationId xmlns:p14="http://schemas.microsoft.com/office/powerpoint/2010/main" val="1603771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的选举过程：</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选举</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原则</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集群中只有超过半数以上的服务器启动，此集群才能正常工作</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）集群正常工作之前，</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myid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小的服务器会给</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myid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大的服务器投票，投票一直持续到集群开始正常工作，即选出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）选出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以后，</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之前的服务器节点状态要由</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looking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，转为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following</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之后的节点、新加入节点变成</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following</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66723BE-8432-40BD-9F8D-13638D3F197E}"/>
              </a:ext>
            </a:extLst>
          </p:cNvPr>
          <p:cNvPicPr>
            <a:picLocks noChangeAspect="1"/>
          </p:cNvPicPr>
          <p:nvPr/>
        </p:nvPicPr>
        <p:blipFill>
          <a:blip r:embed="rId2"/>
          <a:stretch>
            <a:fillRect/>
          </a:stretch>
        </p:blipFill>
        <p:spPr>
          <a:xfrm>
            <a:off x="1981200" y="4601528"/>
            <a:ext cx="5410200" cy="2180272"/>
          </a:xfrm>
          <a:prstGeom prst="rect">
            <a:avLst/>
          </a:prstGeom>
        </p:spPr>
      </p:pic>
    </p:spTree>
    <p:extLst>
      <p:ext uri="{BB962C8B-B14F-4D97-AF65-F5344CB8AC3E}">
        <p14:creationId xmlns:p14="http://schemas.microsoft.com/office/powerpoint/2010/main" val="652176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96029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的选举过程：初始化的情况</a:t>
            </a:r>
            <a:endPar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）首先第一台服务器启动，投自己一票，然后发投票信息，由于其它机器还没有启动所以它收不到反馈信息，服务器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的状态一直属于</a:t>
            </a: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Looking</a:t>
            </a:r>
            <a:endPar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启动，发现当前没有</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，投票给自己，同时与之前启动的服务器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交换结果，由于服务器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的编号大所以服务器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胜出，但此时投票数没有大于半数，所以两个服务器的状态依然是</a:t>
            </a:r>
            <a:r>
              <a:rPr lang="en-US" altLang="zh-CN"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LOOKING</a:t>
            </a:r>
            <a:endParaRPr lang="zh-CN" altLang="en-US" sz="2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66723BE-8432-40BD-9F8D-13638D3F197E}"/>
              </a:ext>
            </a:extLst>
          </p:cNvPr>
          <p:cNvPicPr>
            <a:picLocks noChangeAspect="1"/>
          </p:cNvPicPr>
          <p:nvPr/>
        </p:nvPicPr>
        <p:blipFill>
          <a:blip r:embed="rId2"/>
          <a:stretch>
            <a:fillRect/>
          </a:stretch>
        </p:blipFill>
        <p:spPr>
          <a:xfrm>
            <a:off x="1981200" y="4601528"/>
            <a:ext cx="5410200" cy="2180272"/>
          </a:xfrm>
          <a:prstGeom prst="rect">
            <a:avLst/>
          </a:prstGeom>
        </p:spPr>
      </p:pic>
    </p:spTree>
    <p:extLst>
      <p:ext uri="{BB962C8B-B14F-4D97-AF65-F5344CB8AC3E}">
        <p14:creationId xmlns:p14="http://schemas.microsoft.com/office/powerpoint/2010/main" val="2806739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的选举过程：初始化的情况</a:t>
            </a:r>
            <a:endPar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启动，发现没有</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，给自己投票，同时与之前启动的服务器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交换信息，由于服务器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的编号最大所以服务器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胜出，此时投票数正好大于半数，所以服务器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成为领导者，服务器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成为小弟</a:t>
            </a: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启动，给自己投票，同时与之前启动的服务器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交换信息，尽管服务器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的编号大，但之前服务器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已经胜出，所以服务器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只能成为小弟</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66723BE-8432-40BD-9F8D-13638D3F197E}"/>
              </a:ext>
            </a:extLst>
          </p:cNvPr>
          <p:cNvPicPr>
            <a:picLocks noChangeAspect="1"/>
          </p:cNvPicPr>
          <p:nvPr/>
        </p:nvPicPr>
        <p:blipFill>
          <a:blip r:embed="rId2"/>
          <a:stretch>
            <a:fillRect/>
          </a:stretch>
        </p:blipFill>
        <p:spPr>
          <a:xfrm>
            <a:off x="1981200" y="4601528"/>
            <a:ext cx="5410200" cy="2180272"/>
          </a:xfrm>
          <a:prstGeom prst="rect">
            <a:avLst/>
          </a:prstGeom>
        </p:spPr>
      </p:pic>
    </p:spTree>
    <p:extLst>
      <p:ext uri="{BB962C8B-B14F-4D97-AF65-F5344CB8AC3E}">
        <p14:creationId xmlns:p14="http://schemas.microsoft.com/office/powerpoint/2010/main" val="40739936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的选举过程：初始化的情况</a:t>
            </a:r>
            <a:endPar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和服务器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逻辑相同</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66723BE-8432-40BD-9F8D-13638D3F197E}"/>
              </a:ext>
            </a:extLst>
          </p:cNvPr>
          <p:cNvPicPr>
            <a:picLocks noChangeAspect="1"/>
          </p:cNvPicPr>
          <p:nvPr/>
        </p:nvPicPr>
        <p:blipFill>
          <a:blip r:embed="rId2"/>
          <a:stretch>
            <a:fillRect/>
          </a:stretch>
        </p:blipFill>
        <p:spPr>
          <a:xfrm>
            <a:off x="1981200" y="4601528"/>
            <a:ext cx="5410200" cy="2180272"/>
          </a:xfrm>
          <a:prstGeom prst="rect">
            <a:avLst/>
          </a:prstGeom>
        </p:spPr>
      </p:pic>
    </p:spTree>
    <p:extLst>
      <p:ext uri="{BB962C8B-B14F-4D97-AF65-F5344CB8AC3E}">
        <p14:creationId xmlns:p14="http://schemas.microsoft.com/office/powerpoint/2010/main" val="4225092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2729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的选举过程：重新选举</a:t>
            </a: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如果</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Server3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当选了</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，它突然宕机了，那么就需要重新选</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宕机之后，剩下的机器会自动进入选举状态，重新选举</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）选举的依据是：优先考虑数据的的版本号</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，再考虑服务器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越大，代表该服务器的数据越新，越全）</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66723BE-8432-40BD-9F8D-13638D3F197E}"/>
              </a:ext>
            </a:extLst>
          </p:cNvPr>
          <p:cNvPicPr>
            <a:picLocks noChangeAspect="1"/>
          </p:cNvPicPr>
          <p:nvPr/>
        </p:nvPicPr>
        <p:blipFill>
          <a:blip r:embed="rId2"/>
          <a:stretch>
            <a:fillRect/>
          </a:stretch>
        </p:blipFill>
        <p:spPr>
          <a:xfrm>
            <a:off x="1981200" y="4601528"/>
            <a:ext cx="5410200" cy="2180272"/>
          </a:xfrm>
          <a:prstGeom prst="rect">
            <a:avLst/>
          </a:prstGeom>
        </p:spPr>
      </p:pic>
    </p:spTree>
    <p:extLst>
      <p:ext uri="{BB962C8B-B14F-4D97-AF65-F5344CB8AC3E}">
        <p14:creationId xmlns:p14="http://schemas.microsoft.com/office/powerpoint/2010/main" val="6398948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的选举过程：重新选举</a:t>
            </a: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）由于是运行期间，因此每个服务器上的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可能不同我们假设</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Server1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123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，而</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Server2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122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Server4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143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Sever5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120</a:t>
            </a:r>
          </a:p>
          <a:p>
            <a:pPr lvl="1" algn="just">
              <a:lnSpc>
                <a:spcPct val="110000"/>
              </a:lnSpc>
              <a:spcBef>
                <a:spcPts val="0"/>
              </a:spcBef>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）在第一轮投票中，</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Server1</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Server2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Sever4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Server5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都会投给自己，即分别产生投票</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(1,123)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(2,122)</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(4,143)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(5,120)</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66723BE-8432-40BD-9F8D-13638D3F197E}"/>
              </a:ext>
            </a:extLst>
          </p:cNvPr>
          <p:cNvPicPr>
            <a:picLocks noChangeAspect="1"/>
          </p:cNvPicPr>
          <p:nvPr/>
        </p:nvPicPr>
        <p:blipFill>
          <a:blip r:embed="rId2"/>
          <a:stretch>
            <a:fillRect/>
          </a:stretch>
        </p:blipFill>
        <p:spPr>
          <a:xfrm>
            <a:off x="1981200" y="4601528"/>
            <a:ext cx="5410200" cy="2180272"/>
          </a:xfrm>
          <a:prstGeom prst="rect">
            <a:avLst/>
          </a:prstGeom>
        </p:spPr>
      </p:pic>
    </p:spTree>
    <p:extLst>
      <p:ext uri="{BB962C8B-B14F-4D97-AF65-F5344CB8AC3E}">
        <p14:creationId xmlns:p14="http://schemas.microsoft.com/office/powerpoint/2010/main" val="42906184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的选举过程：重新选举</a:t>
            </a: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Leader</a:t>
            </a:r>
            <a:endParaRPr lang="en-US" altLang="zh-CN" sz="2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）然后各自将这个投票发给集群中所有机器</a:t>
            </a:r>
          </a:p>
          <a:p>
            <a:pPr lvl="1" algn="just">
              <a:lnSpc>
                <a:spcPct val="110000"/>
              </a:lnSpc>
              <a:spcBef>
                <a:spcPts val="0"/>
              </a:spcBef>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6</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）对于投票的处理，在这个情境下</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Server4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ZXID</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143,</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是最大的，显然</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Server4</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会成为</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，其他服务器成为跟随者</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66723BE-8432-40BD-9F8D-13638D3F197E}"/>
              </a:ext>
            </a:extLst>
          </p:cNvPr>
          <p:cNvPicPr>
            <a:picLocks noChangeAspect="1"/>
          </p:cNvPicPr>
          <p:nvPr/>
        </p:nvPicPr>
        <p:blipFill>
          <a:blip r:embed="rId2"/>
          <a:stretch>
            <a:fillRect/>
          </a:stretch>
        </p:blipFill>
        <p:spPr>
          <a:xfrm>
            <a:off x="1981200" y="4601528"/>
            <a:ext cx="5410200" cy="2180272"/>
          </a:xfrm>
          <a:prstGeom prst="rect">
            <a:avLst/>
          </a:prstGeom>
        </p:spPr>
      </p:pic>
    </p:spTree>
    <p:extLst>
      <p:ext uri="{BB962C8B-B14F-4D97-AF65-F5344CB8AC3E}">
        <p14:creationId xmlns:p14="http://schemas.microsoft.com/office/powerpoint/2010/main" val="39607189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7498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数据发布</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订阅</a:t>
            </a:r>
          </a:p>
          <a:p>
            <a:pPr lvl="1" algn="just">
              <a:lnSpc>
                <a:spcPct val="110000"/>
              </a:lnSpc>
              <a:spcBef>
                <a:spcPts val="0"/>
              </a:spcBef>
            </a:pP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基于</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Watcher</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监听机制实现数据的发布与订阅功能</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发布订阅功能可以看作是一个一对多的关系，即一个服务或数据的发布者可以被多个不同的消费者调用</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一般一个发布订阅模式的数据交互可以分为消费者主动请求生产者信息的拉取模式，和生产者数据变更时主动推送给消费者的推送模式</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sz="1800" dirty="0" err="1">
                <a:latin typeface="Times New Roman" panose="02020603050405020304" pitchFamily="18" charset="0"/>
                <a:ea typeface="宋体" panose="02010600030101010101" pitchFamily="2" charset="-122"/>
                <a:cs typeface="Times New Roman" panose="02020603050405020304" pitchFamily="18" charset="0"/>
              </a:rPr>
              <a:t>zk</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的发布订阅模式采用的是推拉结合的方式实现的</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1026" name="Picture 2" descr="https://pic4.zhimg.com/v2-c338a04033873a9462a6286f4ec4735f_r.jpg">
            <a:extLst>
              <a:ext uri="{FF2B5EF4-FFF2-40B4-BE49-F238E27FC236}">
                <a16:creationId xmlns:a16="http://schemas.microsoft.com/office/drawing/2014/main" id="{13E62333-1FE9-4F32-8E18-2F2BC23731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885901"/>
            <a:ext cx="7924800" cy="2721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4335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负载均衡</a:t>
            </a:r>
          </a:p>
          <a:p>
            <a:pPr lvl="1" algn="just">
              <a:lnSpc>
                <a:spcPct val="110000"/>
              </a:lnSpc>
              <a:spcBef>
                <a:spcPts val="0"/>
              </a:spcBef>
            </a:pP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利用</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的临时节点、</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watcher</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机制等特性可实现负载均衡；把</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作为一个服务的注册中心，基本流程</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服务提供者</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启动时在</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进行服务注册（创建临时文件）</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2. </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服务消费者</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client</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启动时，请求</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获取最新的服务存活列表并注册</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watcher</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，然后将获得服务列表保存到本地缓存中</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3. client</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请求</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server</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时，根据自己的负载均衡算法，从服务器列表选取一个进行通信</a:t>
            </a:r>
            <a:endParaRPr lang="en-US" altLang="zh-CN" sz="14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4. </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若在运行过程中，服务提供者出现异常或人工关闭不能提供服务，临时节点失效，</a:t>
            </a: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1400" dirty="0">
                <a:latin typeface="Times New Roman" panose="02020603050405020304" pitchFamily="18" charset="0"/>
                <a:ea typeface="宋体" panose="02010600030101010101" pitchFamily="2" charset="-122"/>
                <a:cs typeface="Times New Roman" panose="02020603050405020304" pitchFamily="18" charset="0"/>
              </a:rPr>
              <a:t>探测到变化更新本地服务列表并异步通知到服务消费者，服务消费者监听到服务列表的变化，更新本地缓存</a:t>
            </a:r>
          </a:p>
          <a:p>
            <a:pPr lvl="2" algn="just">
              <a:lnSpc>
                <a:spcPct val="110000"/>
              </a:lnSpc>
              <a:spcBef>
                <a:spcPts val="0"/>
              </a:spcBef>
            </a:pP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2050" name="Picture 2" descr="https://pic1.zhimg.com/v2-1acccfa2add73f870e438cff9fe2e7c8_r.jpg">
            <a:extLst>
              <a:ext uri="{FF2B5EF4-FFF2-40B4-BE49-F238E27FC236}">
                <a16:creationId xmlns:a16="http://schemas.microsoft.com/office/drawing/2014/main" id="{15E0B8E1-5D90-4291-8A66-8AAE2BB182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3810000"/>
            <a:ext cx="4495800" cy="2991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7694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命名服务</a:t>
            </a:r>
          </a:p>
          <a:p>
            <a:pPr lvl="1" algn="just">
              <a:lnSpc>
                <a:spcPct val="110000"/>
              </a:lnSpc>
              <a:spcBef>
                <a:spcPts val="0"/>
              </a:spcBef>
            </a:pP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命名服务是指通过指定的名字来获取资源或者服务的地址、提供者等信息。利用</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很容易创建一个全局的路径，而这个路径就可以作为一个名字，它可以指向集群、集群提供的服务的地址、远程对象等</a:t>
            </a:r>
          </a:p>
          <a:p>
            <a:pPr lvl="1" algn="just">
              <a:lnSpc>
                <a:spcPct val="110000"/>
              </a:lnSpc>
              <a:spcBef>
                <a:spcPts val="0"/>
              </a:spcBef>
            </a:pP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例如</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Dubbo</a:t>
            </a: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使用</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来作为其命名服务，所有 </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Dubbo </a:t>
            </a: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相关的数据都组织在 </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700" dirty="0" err="1">
                <a:latin typeface="Times New Roman" panose="02020603050405020304" pitchFamily="18" charset="0"/>
                <a:ea typeface="宋体" panose="02010600030101010101" pitchFamily="2" charset="-122"/>
                <a:cs typeface="Times New Roman" panose="02020603050405020304" pitchFamily="18" charset="0"/>
              </a:rPr>
              <a:t>dubbo</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的根节点下；二级目录是服务名，如 </a:t>
            </a:r>
            <a:r>
              <a:rPr lang="en-US" altLang="zh-CN" sz="1700" dirty="0" err="1">
                <a:latin typeface="Times New Roman" panose="02020603050405020304" pitchFamily="18" charset="0"/>
                <a:ea typeface="宋体" panose="02010600030101010101" pitchFamily="2" charset="-122"/>
                <a:cs typeface="Times New Roman" panose="02020603050405020304" pitchFamily="18" charset="0"/>
              </a:rPr>
              <a:t>com.foo.BarService</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；三级目录有两个子节点，分别是 </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providers </a:t>
            </a: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和 </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consumers </a:t>
            </a: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，表示该服务的提供者和消费者。四级目录记录了与该服务相关的每一个应用实例的 </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URL </a:t>
            </a: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信息，在 </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providers </a:t>
            </a: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下的表示该服务的所有提供者，而在 </a:t>
            </a:r>
            <a:r>
              <a:rPr lang="en-US" altLang="zh-CN" sz="1700" dirty="0">
                <a:latin typeface="Times New Roman" panose="02020603050405020304" pitchFamily="18" charset="0"/>
                <a:ea typeface="宋体" panose="02010600030101010101" pitchFamily="2" charset="-122"/>
                <a:cs typeface="Times New Roman" panose="02020603050405020304" pitchFamily="18" charset="0"/>
              </a:rPr>
              <a:t>consumers </a:t>
            </a:r>
            <a:r>
              <a:rPr lang="zh-CN" altLang="en-US" sz="1700" dirty="0">
                <a:latin typeface="Times New Roman" panose="02020603050405020304" pitchFamily="18" charset="0"/>
                <a:ea typeface="宋体" panose="02010600030101010101" pitchFamily="2" charset="-122"/>
                <a:cs typeface="Times New Roman" panose="02020603050405020304" pitchFamily="18" charset="0"/>
              </a:rPr>
              <a:t>下的表示该服务的所有消费者</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3074" name="Picture 2" descr="https://pic1.zhimg.com/v2-d66f9490cecbc67d96b826e35f4735dc_r.jpg">
            <a:extLst>
              <a:ext uri="{FF2B5EF4-FFF2-40B4-BE49-F238E27FC236}">
                <a16:creationId xmlns:a16="http://schemas.microsoft.com/office/drawing/2014/main" id="{557804F3-B380-47FF-A10F-4517CFA93F6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2200" y="4449762"/>
            <a:ext cx="4318179"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78573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集群管理</a:t>
            </a:r>
          </a:p>
          <a:p>
            <a:pPr lvl="1" algn="just">
              <a:lnSpc>
                <a:spcPct val="110000"/>
              </a:lnSpc>
              <a:spcBef>
                <a:spcPts val="0"/>
              </a:spcBef>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集群管理通常指监控集群中各个主机的运行时状态、存活状况等信息。通过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zk</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可以实现对集群的随时监控。其基本原理是使用</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zk</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的临时节电来进行监控</a:t>
            </a:r>
          </a:p>
          <a:p>
            <a:pPr lvl="1" algn="just">
              <a:lnSpc>
                <a:spcPct val="110000"/>
              </a:lnSpc>
              <a:spcBef>
                <a:spcPts val="0"/>
              </a:spcBef>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如下图所示，主机向</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zk</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注册临时节点，监控系统注册监听集群下的临时节点，从而获取集群中服务的状态等信息</a:t>
            </a:r>
            <a:endParaRPr lang="zh-CN" altLang="en-US" sz="13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4098" name="Picture 2" descr="https://pic1.zhimg.com/v2-ea7faf120441673a08c8bcd16db8b710_r.jpg">
            <a:extLst>
              <a:ext uri="{FF2B5EF4-FFF2-40B4-BE49-F238E27FC236}">
                <a16:creationId xmlns:a16="http://schemas.microsoft.com/office/drawing/2014/main" id="{C82B1B32-0119-4185-B17B-A8262875CB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429000"/>
            <a:ext cx="5334000" cy="2991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10293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Master </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选举</a:t>
            </a:r>
          </a:p>
          <a:p>
            <a:pPr lvl="1" algn="just">
              <a:lnSpc>
                <a:spcPct val="110000"/>
              </a:lnSpc>
              <a:spcBef>
                <a:spcPts val="0"/>
              </a:spcBef>
            </a:pP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zk</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中多个客户端创建同一节点时，只有一个客户端可以成功。利用该特性，可以实现</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maser</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选举</a:t>
            </a:r>
          </a:p>
          <a:p>
            <a:pPr lvl="1" algn="just">
              <a:lnSpc>
                <a:spcPct val="110000"/>
              </a:lnSpc>
              <a:spcBef>
                <a:spcPts val="0"/>
              </a:spcBef>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1.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多个客户端同时竞争创建同一临时节点</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/master-election/master</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，最终只能有一个客户端成功。这个成功的客户端成为</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Master</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，其它客户端置为</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Slave</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2. Slave</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客户端都向这个临时节点的父节点</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/master-election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注册一个子节点列表的</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watcher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监听。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一旦原</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Master</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宕机，临时节点就会消失，</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zk</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服务器就会向所有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Slave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发送子节点变更事件，</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Slave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在接收到事件后会竞争创建新的</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master</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临时子节点。谁创建成功，谁就是新的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Master</a:t>
            </a:r>
            <a:endParaRPr lang="zh-CN" altLang="en-US" sz="9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122" name="Picture 2" descr="https://pic2.zhimg.com/v2-1296b8300ee0b8de02d58b277ec93afd_r.jpg">
            <a:extLst>
              <a:ext uri="{FF2B5EF4-FFF2-40B4-BE49-F238E27FC236}">
                <a16:creationId xmlns:a16="http://schemas.microsoft.com/office/drawing/2014/main" id="{1EC96C93-7C6B-463F-9723-6F8AB4E1A2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7887" y="4453175"/>
            <a:ext cx="4848225" cy="1914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7690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分布式队列</a:t>
            </a:r>
          </a:p>
          <a:p>
            <a:pPr lvl="1" algn="just">
              <a:lnSpc>
                <a:spcPct val="110000"/>
              </a:lnSpc>
              <a:spcBef>
                <a:spcPts val="0"/>
              </a:spcBef>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基于</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的临时顺序节点和</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Watcher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机制可实现简单的</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FIFO</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分布式队列</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zk</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实现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FIFO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队列的思路是：利用顺序节点的有序性，为每个数据在 </a:t>
            </a:r>
            <a:r>
              <a:rPr lang="en-US" altLang="zh-CN" sz="1600" dirty="0" err="1">
                <a:latin typeface="Times New Roman" panose="02020603050405020304" pitchFamily="18" charset="0"/>
                <a:ea typeface="宋体" panose="02010600030101010101" pitchFamily="2" charset="-122"/>
                <a:cs typeface="Times New Roman" panose="02020603050405020304" pitchFamily="18" charset="0"/>
              </a:rPr>
              <a:t>zk</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中都创建一个相应的节点</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然后为每个节点都注册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watcher </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监听</a:t>
            </a:r>
            <a:endParaRPr lang="en-US" altLang="zh-CN" sz="16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一个节点被消费，则会引发消费者消费下一个节点，直到消费完毕</a:t>
            </a:r>
            <a:endParaRPr lang="zh-CN" altLang="en-US" sz="1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6146" name="Picture 2" descr="https://pic3.zhimg.com/v2-4d5a9ff329e4845f1e82d2e75004882a_r.jpg">
            <a:extLst>
              <a:ext uri="{FF2B5EF4-FFF2-40B4-BE49-F238E27FC236}">
                <a16:creationId xmlns:a16="http://schemas.microsoft.com/office/drawing/2014/main" id="{8DCC1B49-C9EE-4D6B-A0BE-014B7121C70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88866" y="3733800"/>
            <a:ext cx="5566268" cy="2640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61345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应用落地</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Kafka</a:t>
            </a:r>
          </a:p>
          <a:p>
            <a:pPr lvl="2" algn="just">
              <a:lnSpc>
                <a:spcPct val="110000"/>
              </a:lnSpc>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在</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Kafka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集群中扮演着极其重要的角色，负责包括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集群信息维护、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topic</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相关信息的注册</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订阅、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Consumer</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offset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记录（随着</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Kafka</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的更新，此处已不再依赖</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ZK</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partition</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选主等功能</a:t>
            </a:r>
          </a:p>
          <a:p>
            <a:pPr lvl="1" algn="just">
              <a:lnSpc>
                <a:spcPct val="110000"/>
              </a:lnSpc>
              <a:spcBef>
                <a:spcPts val="0"/>
              </a:spcBef>
            </a:pP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a:p>
            <a:pPr lvl="1" algn="just">
              <a:lnSpc>
                <a:spcPct val="110000"/>
              </a:lnSpc>
              <a:spcBef>
                <a:spcPts val="0"/>
              </a:spcBef>
            </a:pPr>
            <a:r>
              <a:rPr lang="en-US" altLang="zh-CN" dirty="0">
                <a:latin typeface="Times New Roman" panose="02020603050405020304" pitchFamily="18" charset="0"/>
                <a:ea typeface="宋体" panose="02010600030101010101" pitchFamily="2" charset="-122"/>
                <a:cs typeface="Times New Roman" panose="02020603050405020304" pitchFamily="18" charset="0"/>
              </a:rPr>
              <a:t>Dubbo</a:t>
            </a:r>
          </a:p>
          <a:p>
            <a:pPr lvl="2" algn="just">
              <a:lnSpc>
                <a:spcPct val="110000"/>
              </a:lnSpc>
              <a:spcBef>
                <a:spcPts val="0"/>
              </a:spcBef>
            </a:pP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Dubbo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使用 </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Zookeeper </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用于服务的注册发现和配置管理，详见前文</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33839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055C29FD-029C-4924-8FF9-67BCED887BB0}"/>
              </a:ext>
            </a:extLst>
          </p:cNvPr>
          <p:cNvSpPr/>
          <p:nvPr/>
        </p:nvSpPr>
        <p:spPr>
          <a:xfrm>
            <a:off x="2419064" y="6459544"/>
            <a:ext cx="4458272" cy="369332"/>
          </a:xfrm>
          <a:prstGeom prst="rect">
            <a:avLst/>
          </a:prstGeom>
        </p:spPr>
        <p:txBody>
          <a:bodyPr wrap="none">
            <a:spAutoFit/>
          </a:bodyPr>
          <a:lstStyle/>
          <a:p>
            <a:r>
              <a:rPr lang="zh-CN" altLang="en-US" dirty="0"/>
              <a:t>https://zhuanlan.zhihu.com/p/571732977</a:t>
            </a:r>
          </a:p>
        </p:txBody>
      </p:sp>
    </p:spTree>
    <p:extLst>
      <p:ext uri="{BB962C8B-B14F-4D97-AF65-F5344CB8AC3E}">
        <p14:creationId xmlns:p14="http://schemas.microsoft.com/office/powerpoint/2010/main" val="7075038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分布式锁</a:t>
            </a:r>
          </a:p>
          <a:p>
            <a:pPr lvl="1" algn="just">
              <a:lnSpc>
                <a:spcPct val="110000"/>
              </a:lnSpc>
              <a:spcBef>
                <a:spcPts val="0"/>
              </a:spcBef>
            </a:pPr>
            <a:r>
              <a:rPr lang="zh-CN" altLang="en-US" dirty="0"/>
              <a:t>基于</a:t>
            </a:r>
            <a:r>
              <a:rPr lang="en-US" altLang="zh-CN" dirty="0"/>
              <a:t>ZK</a:t>
            </a:r>
            <a:r>
              <a:rPr lang="zh-CN" altLang="en-US" dirty="0"/>
              <a:t>的</a:t>
            </a:r>
            <a:r>
              <a:rPr lang="zh-CN" altLang="en-US" dirty="0">
                <a:solidFill>
                  <a:srgbClr val="C00000"/>
                </a:solidFill>
              </a:rPr>
              <a:t>临时顺序节点</a:t>
            </a:r>
            <a:r>
              <a:rPr lang="zh-CN" altLang="en-US" dirty="0"/>
              <a:t>和</a:t>
            </a:r>
            <a:r>
              <a:rPr lang="en-US" altLang="zh-CN" dirty="0">
                <a:solidFill>
                  <a:srgbClr val="C00000"/>
                </a:solidFill>
              </a:rPr>
              <a:t>Watcher </a:t>
            </a:r>
            <a:r>
              <a:rPr lang="zh-CN" altLang="en-US" dirty="0">
                <a:solidFill>
                  <a:srgbClr val="C00000"/>
                </a:solidFill>
              </a:rPr>
              <a:t>机制</a:t>
            </a:r>
            <a:r>
              <a:rPr lang="zh-CN" altLang="en-US" dirty="0"/>
              <a:t>可实现公平分布式锁</a:t>
            </a:r>
            <a:endParaRPr lang="en-US" altLang="zh-CN" dirty="0"/>
          </a:p>
          <a:p>
            <a:pPr lvl="1" algn="just">
              <a:lnSpc>
                <a:spcPct val="110000"/>
              </a:lnSpc>
              <a:spcBef>
                <a:spcPts val="0"/>
              </a:spcBef>
            </a:pPr>
            <a:r>
              <a:rPr lang="zh-CN" altLang="en-US" dirty="0">
                <a:latin typeface="Times New Roman" panose="02020603050405020304" pitchFamily="18" charset="0"/>
                <a:ea typeface="宋体" panose="02010600030101010101" pitchFamily="2" charset="-122"/>
                <a:cs typeface="Times New Roman" panose="02020603050405020304" pitchFamily="18" charset="0"/>
              </a:rPr>
              <a:t>假如客户端</a:t>
            </a:r>
            <a:r>
              <a:rPr lang="en-US" altLang="zh-CN" dirty="0">
                <a:latin typeface="Times New Roman" panose="02020603050405020304" pitchFamily="18" charset="0"/>
                <a:ea typeface="宋体" panose="02010600030101010101" pitchFamily="2" charset="-122"/>
                <a:cs typeface="Times New Roman" panose="02020603050405020304" pitchFamily="18" charset="0"/>
              </a:rPr>
              <a:t>A</a:t>
            </a:r>
            <a:r>
              <a:rPr lang="zh-CN" altLang="en-US" dirty="0">
                <a:latin typeface="Times New Roman" panose="02020603050405020304" pitchFamily="18" charset="0"/>
                <a:ea typeface="宋体" panose="02010600030101010101" pitchFamily="2" charset="-122"/>
                <a:cs typeface="Times New Roman" panose="02020603050405020304" pitchFamily="18" charset="0"/>
              </a:rPr>
              <a:t>先发起请求，它会建立一个顺序节点，如下图</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BB62D305-1C84-4ECF-8FB4-8D7CDB910609}"/>
              </a:ext>
            </a:extLst>
          </p:cNvPr>
          <p:cNvPicPr>
            <a:picLocks noChangeAspect="1"/>
          </p:cNvPicPr>
          <p:nvPr/>
        </p:nvPicPr>
        <p:blipFill>
          <a:blip r:embed="rId2"/>
          <a:stretch>
            <a:fillRect/>
          </a:stretch>
        </p:blipFill>
        <p:spPr>
          <a:xfrm>
            <a:off x="571500" y="4038600"/>
            <a:ext cx="8001000" cy="1898465"/>
          </a:xfrm>
          <a:prstGeom prst="rect">
            <a:avLst/>
          </a:prstGeom>
        </p:spPr>
      </p:pic>
    </p:spTree>
    <p:extLst>
      <p:ext uri="{BB962C8B-B14F-4D97-AF65-F5344CB8AC3E}">
        <p14:creationId xmlns:p14="http://schemas.microsoft.com/office/powerpoint/2010/main" val="40568823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分布式锁</a:t>
            </a:r>
          </a:p>
          <a:p>
            <a:pPr lvl="1" algn="just">
              <a:lnSpc>
                <a:spcPct val="110000"/>
              </a:lnSpc>
              <a:spcBef>
                <a:spcPts val="0"/>
              </a:spcBef>
            </a:pPr>
            <a:r>
              <a:rPr lang="zh-CN" altLang="en-US" dirty="0"/>
              <a:t>因为客户端</a:t>
            </a:r>
            <a:r>
              <a:rPr lang="en-US" altLang="zh-CN" dirty="0"/>
              <a:t>A</a:t>
            </a:r>
            <a:r>
              <a:rPr lang="zh-CN" altLang="en-US" dirty="0"/>
              <a:t>是第一个发起请求的，所以给它建立的顺序节点的序号是</a:t>
            </a:r>
            <a:r>
              <a:rPr lang="en-US" altLang="zh-CN" dirty="0"/>
              <a:t>"1“</a:t>
            </a:r>
          </a:p>
          <a:p>
            <a:pPr lvl="1" algn="just">
              <a:lnSpc>
                <a:spcPct val="110000"/>
              </a:lnSpc>
              <a:spcBef>
                <a:spcPts val="0"/>
              </a:spcBef>
            </a:pPr>
            <a:r>
              <a:rPr lang="zh-CN" altLang="en-US" dirty="0"/>
              <a:t>接着客户端</a:t>
            </a:r>
            <a:r>
              <a:rPr lang="en-US" altLang="zh-CN" dirty="0"/>
              <a:t>A</a:t>
            </a:r>
            <a:r>
              <a:rPr lang="zh-CN" altLang="en-US" dirty="0"/>
              <a:t>查一下</a:t>
            </a:r>
            <a:r>
              <a:rPr lang="en-US" altLang="zh-CN" dirty="0"/>
              <a:t>“</a:t>
            </a:r>
            <a:r>
              <a:rPr lang="en-US" altLang="zh-CN" dirty="0" err="1"/>
              <a:t>my_lock</a:t>
            </a:r>
            <a:r>
              <a:rPr lang="en-US" altLang="zh-CN" dirty="0"/>
              <a:t>”</a:t>
            </a:r>
            <a:r>
              <a:rPr lang="zh-CN" altLang="en-US" dirty="0"/>
              <a:t>这个锁节点下的所有子节点，这些子节点是按照序号排序的，这个时候它会拿到这么一个集合</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B555AE17-1A8D-4D89-8226-D85A69AF0DFD}"/>
              </a:ext>
            </a:extLst>
          </p:cNvPr>
          <p:cNvPicPr>
            <a:picLocks noChangeAspect="1"/>
          </p:cNvPicPr>
          <p:nvPr/>
        </p:nvPicPr>
        <p:blipFill>
          <a:blip r:embed="rId2"/>
          <a:stretch>
            <a:fillRect/>
          </a:stretch>
        </p:blipFill>
        <p:spPr>
          <a:xfrm>
            <a:off x="304800" y="4648200"/>
            <a:ext cx="8382000" cy="1342571"/>
          </a:xfrm>
          <a:prstGeom prst="rect">
            <a:avLst/>
          </a:prstGeom>
        </p:spPr>
      </p:pic>
    </p:spTree>
    <p:extLst>
      <p:ext uri="{BB962C8B-B14F-4D97-AF65-F5344CB8AC3E}">
        <p14:creationId xmlns:p14="http://schemas.microsoft.com/office/powerpoint/2010/main" val="39256481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分布式锁</a:t>
            </a:r>
          </a:p>
          <a:p>
            <a:pPr lvl="1" algn="just">
              <a:lnSpc>
                <a:spcPct val="110000"/>
              </a:lnSpc>
              <a:spcBef>
                <a:spcPts val="0"/>
              </a:spcBef>
            </a:pPr>
            <a:r>
              <a:rPr lang="zh-CN" altLang="en-US" dirty="0"/>
              <a:t>客户端</a:t>
            </a:r>
            <a:r>
              <a:rPr lang="en-US" altLang="zh-CN" dirty="0"/>
              <a:t>A</a:t>
            </a:r>
            <a:r>
              <a:rPr lang="zh-CN" altLang="en-US" dirty="0"/>
              <a:t>进行判断，这个集合里，它创建的那个顺序节点，是不是排在第一个啊？</a:t>
            </a:r>
            <a:endParaRPr lang="en-US" altLang="zh-CN" dirty="0"/>
          </a:p>
          <a:p>
            <a:pPr lvl="1" algn="just">
              <a:lnSpc>
                <a:spcPct val="110000"/>
              </a:lnSpc>
              <a:spcBef>
                <a:spcPts val="0"/>
              </a:spcBef>
            </a:pPr>
            <a:r>
              <a:rPr lang="zh-CN" altLang="en-US" dirty="0"/>
              <a:t>如果是的话，那就可以加锁了！确实它就是第一个来创建顺序节点的人，所以它就是第一个尝试加分布式锁的人啊！</a:t>
            </a:r>
            <a:endParaRPr lang="en-US" altLang="zh-CN" dirty="0"/>
          </a:p>
          <a:p>
            <a:pPr lvl="1" algn="just">
              <a:lnSpc>
                <a:spcPct val="110000"/>
              </a:lnSpc>
              <a:spcBef>
                <a:spcPts val="0"/>
              </a:spcBef>
            </a:pPr>
            <a:r>
              <a:rPr lang="zh-CN" altLang="en-US" dirty="0"/>
              <a:t>现在加锁成功！如下图所示</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18ED7FDC-CF69-44AB-805F-1AB24DB68B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4475791"/>
            <a:ext cx="6107046" cy="2119141"/>
          </a:xfrm>
          <a:prstGeom prst="rect">
            <a:avLst/>
          </a:prstGeom>
        </p:spPr>
      </p:pic>
    </p:spTree>
    <p:extLst>
      <p:ext uri="{BB962C8B-B14F-4D97-AF65-F5344CB8AC3E}">
        <p14:creationId xmlns:p14="http://schemas.microsoft.com/office/powerpoint/2010/main" val="21636828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分布式锁</a:t>
            </a:r>
          </a:p>
          <a:p>
            <a:pPr lvl="1" algn="just">
              <a:lnSpc>
                <a:spcPct val="110000"/>
              </a:lnSpc>
              <a:spcBef>
                <a:spcPts val="0"/>
              </a:spcBef>
            </a:pPr>
            <a:r>
              <a:rPr lang="zh-CN" altLang="en-US" dirty="0"/>
              <a:t>假如客户端</a:t>
            </a:r>
            <a:r>
              <a:rPr lang="en-US" altLang="zh-CN" dirty="0"/>
              <a:t>A</a:t>
            </a:r>
            <a:r>
              <a:rPr lang="zh-CN" altLang="en-US" dirty="0"/>
              <a:t>加完锁完后，客户端</a:t>
            </a:r>
            <a:r>
              <a:rPr lang="en-US" altLang="zh-CN" dirty="0"/>
              <a:t>B</a:t>
            </a:r>
            <a:r>
              <a:rPr lang="zh-CN" altLang="en-US" dirty="0"/>
              <a:t>过来想要加锁，这个时候它先在</a:t>
            </a:r>
            <a:r>
              <a:rPr lang="en-US" altLang="zh-CN" dirty="0"/>
              <a:t>"</a:t>
            </a:r>
            <a:r>
              <a:rPr lang="en-US" altLang="zh-CN" dirty="0" err="1"/>
              <a:t>my_lock</a:t>
            </a:r>
            <a:r>
              <a:rPr lang="en-US" altLang="zh-CN" dirty="0"/>
              <a:t>"</a:t>
            </a:r>
            <a:r>
              <a:rPr lang="zh-CN" altLang="en-US" dirty="0"/>
              <a:t>这个锁节点下创建一个临时顺序节点，因为是第二个来创建顺序节点的，所以</a:t>
            </a:r>
            <a:r>
              <a:rPr lang="en-US" altLang="zh-CN" dirty="0" err="1"/>
              <a:t>zk</a:t>
            </a:r>
            <a:r>
              <a:rPr lang="zh-CN" altLang="en-US" dirty="0"/>
              <a:t>内部会维护序号为</a:t>
            </a:r>
            <a:r>
              <a:rPr lang="en-US" altLang="zh-CN" dirty="0"/>
              <a:t>"2“</a:t>
            </a:r>
          </a:p>
          <a:p>
            <a:pPr lvl="1" algn="just">
              <a:lnSpc>
                <a:spcPct val="110000"/>
              </a:lnSpc>
              <a:spcBef>
                <a:spcPts val="0"/>
              </a:spcBef>
            </a:pPr>
            <a:r>
              <a:rPr lang="zh-CN" altLang="en-US" dirty="0"/>
              <a:t>接着客户端</a:t>
            </a:r>
            <a:r>
              <a:rPr lang="en-US" altLang="zh-CN" dirty="0"/>
              <a:t>B</a:t>
            </a:r>
            <a:r>
              <a:rPr lang="zh-CN" altLang="en-US" dirty="0"/>
              <a:t>会执行加锁判断逻辑，查询</a:t>
            </a:r>
            <a:r>
              <a:rPr lang="en-US" altLang="zh-CN" dirty="0"/>
              <a:t>“</a:t>
            </a:r>
            <a:r>
              <a:rPr lang="en-US" altLang="zh-CN" dirty="0" err="1"/>
              <a:t>my_lock</a:t>
            </a:r>
            <a:r>
              <a:rPr lang="en-US" altLang="zh-CN" dirty="0"/>
              <a:t>”</a:t>
            </a:r>
            <a:r>
              <a:rPr lang="zh-CN" altLang="en-US" dirty="0"/>
              <a:t>锁节点下的所有子节点，按序号顺序排列，这时候它看到</a:t>
            </a:r>
            <a:endParaRPr lang="zh-CN" altLang="en-US" sz="2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72133480-2004-4474-9B86-41FA3E39A1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0" y="4876800"/>
            <a:ext cx="6673118" cy="1375265"/>
          </a:xfrm>
          <a:prstGeom prst="rect">
            <a:avLst/>
          </a:prstGeom>
        </p:spPr>
      </p:pic>
    </p:spTree>
    <p:extLst>
      <p:ext uri="{BB962C8B-B14F-4D97-AF65-F5344CB8AC3E}">
        <p14:creationId xmlns:p14="http://schemas.microsoft.com/office/powerpoint/2010/main" val="21981776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分布式锁</a:t>
            </a:r>
          </a:p>
          <a:p>
            <a:pPr lvl="1" algn="just">
              <a:lnSpc>
                <a:spcPct val="110000"/>
              </a:lnSpc>
              <a:spcBef>
                <a:spcPts val="0"/>
              </a:spcBef>
            </a:pPr>
            <a:r>
              <a:rPr lang="zh-CN" altLang="en-US" sz="2000" dirty="0"/>
              <a:t>检查自己创建的顺序节点，是不是集合中的第一个？明显不是，此时第一个是客户端</a:t>
            </a:r>
            <a:r>
              <a:rPr lang="en-US" altLang="zh-CN" sz="2000" dirty="0"/>
              <a:t>A</a:t>
            </a:r>
            <a:r>
              <a:rPr lang="zh-CN" altLang="en-US" sz="2000" dirty="0"/>
              <a:t>创建的那个顺序节点，序号为</a:t>
            </a:r>
            <a:r>
              <a:rPr lang="en-US" altLang="zh-CN" sz="2000" dirty="0"/>
              <a:t>“01”</a:t>
            </a:r>
            <a:r>
              <a:rPr lang="zh-CN" altLang="en-US" sz="2000" dirty="0"/>
              <a:t>的那个，所以加锁失败！</a:t>
            </a:r>
            <a:endParaRPr lang="en-US" altLang="zh-CN" sz="2000" dirty="0"/>
          </a:p>
          <a:p>
            <a:pPr lvl="1" algn="just">
              <a:lnSpc>
                <a:spcPct val="110000"/>
              </a:lnSpc>
              <a:spcBef>
                <a:spcPts val="0"/>
              </a:spcBef>
            </a:pPr>
            <a:r>
              <a:rPr lang="zh-CN" altLang="en-US" sz="2000" dirty="0"/>
              <a:t>加锁失败了以后，客户端</a:t>
            </a:r>
            <a:r>
              <a:rPr lang="en-US" altLang="zh-CN" sz="2000" dirty="0"/>
              <a:t>B</a:t>
            </a:r>
            <a:r>
              <a:rPr lang="zh-CN" altLang="en-US" sz="2000" dirty="0"/>
              <a:t>就会通过</a:t>
            </a:r>
            <a:r>
              <a:rPr lang="en-US" altLang="zh-CN" sz="2000" dirty="0"/>
              <a:t>ZK</a:t>
            </a:r>
            <a:r>
              <a:rPr lang="zh-CN" altLang="en-US" sz="2000" dirty="0"/>
              <a:t>的</a:t>
            </a:r>
            <a:r>
              <a:rPr lang="en-US" altLang="zh-CN" sz="2000" dirty="0"/>
              <a:t>API</a:t>
            </a:r>
            <a:r>
              <a:rPr lang="zh-CN" altLang="en-US" sz="2000" dirty="0"/>
              <a:t>对它的顺序节点的上一个顺序节点加一个监听器， 即对客户端</a:t>
            </a:r>
            <a:r>
              <a:rPr lang="en-US" altLang="zh-CN" sz="2000" dirty="0"/>
              <a:t>A</a:t>
            </a:r>
            <a:r>
              <a:rPr lang="zh-CN" altLang="en-US" sz="2000" dirty="0"/>
              <a:t>创建的那个顺序节加监听器</a:t>
            </a: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BD7B81E6-CA06-4EF8-B251-E0D9B66DAD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76400" y="3957045"/>
            <a:ext cx="6321137" cy="2790445"/>
          </a:xfrm>
          <a:prstGeom prst="rect">
            <a:avLst/>
          </a:prstGeom>
        </p:spPr>
      </p:pic>
      <p:sp>
        <p:nvSpPr>
          <p:cNvPr id="8" name="矩形: 圆角 7">
            <a:extLst>
              <a:ext uri="{FF2B5EF4-FFF2-40B4-BE49-F238E27FC236}">
                <a16:creationId xmlns:a16="http://schemas.microsoft.com/office/drawing/2014/main" id="{BEE45F67-E711-4C7A-9847-3997ED1C4BA2}"/>
              </a:ext>
            </a:extLst>
          </p:cNvPr>
          <p:cNvSpPr/>
          <p:nvPr/>
        </p:nvSpPr>
        <p:spPr>
          <a:xfrm>
            <a:off x="5562600" y="6248400"/>
            <a:ext cx="1524000" cy="5334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217090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分布式锁</a:t>
            </a:r>
          </a:p>
          <a:p>
            <a:pPr lvl="1" algn="just">
              <a:lnSpc>
                <a:spcPct val="110000"/>
              </a:lnSpc>
              <a:spcBef>
                <a:spcPts val="0"/>
              </a:spcBef>
            </a:pPr>
            <a:r>
              <a:rPr lang="zh-CN" altLang="en-US" dirty="0"/>
              <a:t>客户端</a:t>
            </a:r>
            <a:r>
              <a:rPr lang="en-US" altLang="zh-CN" dirty="0"/>
              <a:t>A</a:t>
            </a:r>
            <a:r>
              <a:rPr lang="zh-CN" altLang="en-US" dirty="0"/>
              <a:t>加锁之后，可能处理了一些代码逻辑，然后就会释放锁。</a:t>
            </a:r>
            <a:endParaRPr lang="en-US" altLang="zh-CN" dirty="0"/>
          </a:p>
          <a:p>
            <a:pPr lvl="1" algn="just">
              <a:lnSpc>
                <a:spcPct val="110000"/>
              </a:lnSpc>
              <a:spcBef>
                <a:spcPts val="0"/>
              </a:spcBef>
            </a:pPr>
            <a:r>
              <a:rPr lang="zh-CN" altLang="en-US" dirty="0"/>
              <a:t>释放锁是个什么过程呢？很简单，就是把自己在</a:t>
            </a:r>
            <a:r>
              <a:rPr lang="en-US" altLang="zh-CN" dirty="0" err="1"/>
              <a:t>zk</a:t>
            </a:r>
            <a:r>
              <a:rPr lang="zh-CN" altLang="en-US" dirty="0"/>
              <a:t>里创建的那个顺序节点删除</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CD33935D-C861-45CD-8785-E715DC5B2A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35441" y="3657600"/>
            <a:ext cx="6673118" cy="1375265"/>
          </a:xfrm>
          <a:prstGeom prst="rect">
            <a:avLst/>
          </a:prstGeom>
        </p:spPr>
      </p:pic>
      <p:sp>
        <p:nvSpPr>
          <p:cNvPr id="2" name="矩形: 圆角 1">
            <a:extLst>
              <a:ext uri="{FF2B5EF4-FFF2-40B4-BE49-F238E27FC236}">
                <a16:creationId xmlns:a16="http://schemas.microsoft.com/office/drawing/2014/main" id="{0579ACFB-12D8-4717-A87D-C5F720AD4C6E}"/>
              </a:ext>
            </a:extLst>
          </p:cNvPr>
          <p:cNvSpPr/>
          <p:nvPr/>
        </p:nvSpPr>
        <p:spPr>
          <a:xfrm>
            <a:off x="914400" y="3657600"/>
            <a:ext cx="7239000" cy="6096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01570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分布式锁</a:t>
            </a:r>
          </a:p>
          <a:p>
            <a:pPr lvl="1" algn="just">
              <a:lnSpc>
                <a:spcPct val="110000"/>
              </a:lnSpc>
              <a:spcBef>
                <a:spcPts val="0"/>
              </a:spcBef>
            </a:pPr>
            <a:r>
              <a:rPr lang="zh-CN" altLang="en-US" sz="2000" dirty="0"/>
              <a:t>删除了那个节点之后，</a:t>
            </a:r>
            <a:r>
              <a:rPr lang="en-US" altLang="zh-CN" sz="2000" dirty="0" err="1"/>
              <a:t>zk</a:t>
            </a:r>
            <a:r>
              <a:rPr lang="zh-CN" altLang="en-US" sz="2000" dirty="0"/>
              <a:t>会负责通知监听这个节点的监听器</a:t>
            </a:r>
            <a:endParaRPr lang="en-US" altLang="zh-CN" sz="2000" dirty="0"/>
          </a:p>
          <a:p>
            <a:pPr lvl="1" algn="just">
              <a:lnSpc>
                <a:spcPct val="110000"/>
              </a:lnSpc>
              <a:spcBef>
                <a:spcPts val="0"/>
              </a:spcBef>
            </a:pPr>
            <a:r>
              <a:rPr lang="zh-CN" altLang="en-US" sz="2000" dirty="0"/>
              <a:t>也就是客户端</a:t>
            </a:r>
            <a:r>
              <a:rPr lang="en-US" altLang="zh-CN" sz="2000" dirty="0"/>
              <a:t>B</a:t>
            </a:r>
            <a:r>
              <a:rPr lang="zh-CN" altLang="en-US" sz="2000" dirty="0"/>
              <a:t>之前加的那个监听器，说你监听的那个节点被删除了，有人释放了锁</a:t>
            </a:r>
            <a:endParaRPr lang="en-US" altLang="zh-CN" sz="2000" dirty="0"/>
          </a:p>
          <a:p>
            <a:pPr lvl="1" algn="just">
              <a:lnSpc>
                <a:spcPct val="110000"/>
              </a:lnSpc>
              <a:spcBef>
                <a:spcPts val="0"/>
              </a:spcBef>
            </a:pP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E9AA62FF-8434-4A1E-9560-DE5DE47317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82190" y="3429000"/>
            <a:ext cx="6179619" cy="3019051"/>
          </a:xfrm>
          <a:prstGeom prst="rect">
            <a:avLst/>
          </a:prstGeom>
        </p:spPr>
      </p:pic>
      <p:sp>
        <p:nvSpPr>
          <p:cNvPr id="8" name="矩形: 圆角 7">
            <a:extLst>
              <a:ext uri="{FF2B5EF4-FFF2-40B4-BE49-F238E27FC236}">
                <a16:creationId xmlns:a16="http://schemas.microsoft.com/office/drawing/2014/main" id="{7D37A082-12D6-4059-8AA6-C9535DE1324C}"/>
              </a:ext>
            </a:extLst>
          </p:cNvPr>
          <p:cNvSpPr/>
          <p:nvPr/>
        </p:nvSpPr>
        <p:spPr>
          <a:xfrm>
            <a:off x="4622147" y="5981700"/>
            <a:ext cx="2286000" cy="6858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9DECDF66-9451-4B9C-B99A-38ACB041418A}"/>
              </a:ext>
            </a:extLst>
          </p:cNvPr>
          <p:cNvSpPr/>
          <p:nvPr/>
        </p:nvSpPr>
        <p:spPr>
          <a:xfrm>
            <a:off x="4038600" y="3962400"/>
            <a:ext cx="1676400" cy="6096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765822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分布式锁</a:t>
            </a:r>
          </a:p>
          <a:p>
            <a:pPr lvl="1" algn="just">
              <a:lnSpc>
                <a:spcPct val="110000"/>
              </a:lnSpc>
              <a:spcBef>
                <a:spcPts val="0"/>
              </a:spcBef>
            </a:pPr>
            <a:r>
              <a:rPr lang="zh-CN" altLang="en-US" sz="2000" dirty="0"/>
              <a:t>此时客户端</a:t>
            </a:r>
            <a:r>
              <a:rPr lang="en-US" altLang="zh-CN" sz="2000" dirty="0"/>
              <a:t>B</a:t>
            </a:r>
            <a:r>
              <a:rPr lang="zh-CN" altLang="en-US" sz="2000" dirty="0"/>
              <a:t>的监听器感知到了上一个顺序节点被删除，也就是排在它之前的某个客户端释放了锁</a:t>
            </a:r>
          </a:p>
          <a:p>
            <a:pPr lvl="1" algn="just">
              <a:lnSpc>
                <a:spcPct val="110000"/>
              </a:lnSpc>
              <a:spcBef>
                <a:spcPts val="0"/>
              </a:spcBef>
            </a:pPr>
            <a:r>
              <a:rPr lang="zh-CN" altLang="en-US" sz="2000" dirty="0"/>
              <a:t>此时，就会通知客户端</a:t>
            </a:r>
            <a:r>
              <a:rPr lang="en-US" altLang="zh-CN" sz="2000" dirty="0"/>
              <a:t>B</a:t>
            </a:r>
            <a:r>
              <a:rPr lang="zh-CN" altLang="en-US" sz="2000" dirty="0"/>
              <a:t>重新尝试去获取锁，也就是获取</a:t>
            </a:r>
            <a:r>
              <a:rPr lang="en-US" altLang="zh-CN" sz="2000" dirty="0"/>
              <a:t>“</a:t>
            </a:r>
            <a:r>
              <a:rPr lang="en-US" altLang="zh-CN" sz="2000" dirty="0" err="1"/>
              <a:t>my_lock</a:t>
            </a:r>
            <a:r>
              <a:rPr lang="en-US" altLang="zh-CN" sz="2000" dirty="0"/>
              <a:t>”</a:t>
            </a:r>
            <a:r>
              <a:rPr lang="zh-CN" altLang="en-US" sz="2000" dirty="0"/>
              <a:t>节点下的子节点集合，具体如下，集合里此时只有客户端</a:t>
            </a:r>
            <a:r>
              <a:rPr lang="en-US" altLang="zh-CN" sz="2000" dirty="0"/>
              <a:t>B</a:t>
            </a:r>
            <a:r>
              <a:rPr lang="zh-CN" altLang="en-US" sz="2000" dirty="0"/>
              <a:t>创建的唯一的一个顺序节点了！</a:t>
            </a:r>
            <a:endParaRPr lang="en-US" altLang="zh-CN" sz="2000" dirty="0"/>
          </a:p>
          <a:p>
            <a:pPr lvl="1" algn="just">
              <a:lnSpc>
                <a:spcPct val="110000"/>
              </a:lnSpc>
              <a:spcBef>
                <a:spcPts val="0"/>
              </a:spcBef>
            </a:pPr>
            <a:endParaRPr lang="zh-CN" altLang="en-US" sz="2000" dirty="0"/>
          </a:p>
          <a:p>
            <a:pPr lvl="1" algn="just">
              <a:lnSpc>
                <a:spcPct val="110000"/>
              </a:lnSpc>
              <a:spcBef>
                <a:spcPts val="0"/>
              </a:spcBef>
            </a:pPr>
            <a:endParaRPr lang="en-US" altLang="zh-CN" sz="2000" dirty="0"/>
          </a:p>
          <a:p>
            <a:pPr lvl="1" algn="just">
              <a:lnSpc>
                <a:spcPct val="110000"/>
              </a:lnSpc>
              <a:spcBef>
                <a:spcPts val="0"/>
              </a:spcBef>
            </a:pPr>
            <a:endParaRPr lang="en-US" altLang="zh-CN" sz="2000" dirty="0"/>
          </a:p>
          <a:p>
            <a:pPr lvl="1" algn="just">
              <a:lnSpc>
                <a:spcPct val="110000"/>
              </a:lnSpc>
              <a:spcBef>
                <a:spcPts val="0"/>
              </a:spcBef>
            </a:pPr>
            <a:endParaRPr lang="zh-CN" altLang="en-US" sz="2000" dirty="0"/>
          </a:p>
          <a:p>
            <a:pPr lvl="1" algn="just">
              <a:lnSpc>
                <a:spcPct val="110000"/>
              </a:lnSpc>
              <a:spcBef>
                <a:spcPts val="0"/>
              </a:spcBef>
            </a:pPr>
            <a:r>
              <a:rPr lang="zh-CN" altLang="en-US" sz="2000" dirty="0"/>
              <a:t>客户端</a:t>
            </a:r>
            <a:r>
              <a:rPr lang="en-US" altLang="zh-CN" sz="2000" dirty="0"/>
              <a:t>B</a:t>
            </a:r>
            <a:r>
              <a:rPr lang="zh-CN" altLang="en-US" sz="2000" dirty="0"/>
              <a:t>判断自己目前是集合中的第一个顺序节点，可以加锁了！</a:t>
            </a:r>
            <a:endParaRPr lang="en-US" altLang="zh-CN" sz="2000" dirty="0"/>
          </a:p>
          <a:p>
            <a:pPr lvl="1" algn="just">
              <a:lnSpc>
                <a:spcPct val="110000"/>
              </a:lnSpc>
              <a:spcBef>
                <a:spcPts val="0"/>
              </a:spcBef>
            </a:pPr>
            <a:r>
              <a:rPr lang="zh-CN" altLang="en-US" sz="2000" dirty="0"/>
              <a:t>完成加锁，运行后续的业务代码，运行完了之后再次释放锁</a:t>
            </a:r>
            <a:endParaRPr lang="en-US" altLang="zh-CN" sz="2000" dirty="0"/>
          </a:p>
          <a:p>
            <a:pPr lvl="1" algn="just">
              <a:lnSpc>
                <a:spcPct val="110000"/>
              </a:lnSpc>
              <a:spcBef>
                <a:spcPts val="0"/>
              </a:spcBef>
            </a:pP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DCA59358-4773-40AA-8842-8F49E4CDD2C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7800" y="3581400"/>
            <a:ext cx="6680375" cy="1048685"/>
          </a:xfrm>
          <a:prstGeom prst="rect">
            <a:avLst/>
          </a:prstGeom>
        </p:spPr>
      </p:pic>
    </p:spTree>
    <p:extLst>
      <p:ext uri="{BB962C8B-B14F-4D97-AF65-F5344CB8AC3E}">
        <p14:creationId xmlns:p14="http://schemas.microsoft.com/office/powerpoint/2010/main" val="29660913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457200" y="1447800"/>
            <a:ext cx="8229600" cy="4876800"/>
          </a:xfrm>
        </p:spPr>
        <p:txBody>
          <a:bodyPr>
            <a:normAutofit/>
          </a:bodyPr>
          <a:lstStyle/>
          <a:p>
            <a:pPr algn="just">
              <a:lnSpc>
                <a:spcPct val="110000"/>
              </a:lnSpc>
              <a:spcBef>
                <a:spcPts val="0"/>
              </a:spcBef>
            </a:pPr>
            <a:r>
              <a:rPr lang="en-US" altLang="zh-CN"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24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应用及其描述：</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分布式锁</a:t>
            </a:r>
          </a:p>
          <a:p>
            <a:pPr lvl="1" algn="just">
              <a:lnSpc>
                <a:spcPct val="110000"/>
              </a:lnSpc>
              <a:spcBef>
                <a:spcPts val="0"/>
              </a:spcBef>
            </a:pPr>
            <a:endParaRPr lang="zh-CN" alt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fontScale="90000"/>
          </a:bodyPr>
          <a:lstStyle/>
          <a:p>
            <a:r>
              <a:rPr kumimoji="1" lang="en-US" altLang="zh-CN" dirty="0">
                <a:latin typeface="微软雅黑" panose="020B0503020204020204" pitchFamily="34" charset="-122"/>
                <a:ea typeface="微软雅黑" panose="020B0503020204020204" pitchFamily="34" charset="-122"/>
              </a:rPr>
              <a:t>Zookeeper Misc.</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E492CC55-69D0-426C-A397-30FE030E5D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13246" y="2514600"/>
            <a:ext cx="6317508" cy="3432719"/>
          </a:xfrm>
          <a:prstGeom prst="rect">
            <a:avLst/>
          </a:prstGeom>
        </p:spPr>
      </p:pic>
      <p:sp>
        <p:nvSpPr>
          <p:cNvPr id="6" name="矩形: 圆角 5">
            <a:extLst>
              <a:ext uri="{FF2B5EF4-FFF2-40B4-BE49-F238E27FC236}">
                <a16:creationId xmlns:a16="http://schemas.microsoft.com/office/drawing/2014/main" id="{89CEB66E-5704-4949-9D19-438AD60C721E}"/>
              </a:ext>
            </a:extLst>
          </p:cNvPr>
          <p:cNvSpPr/>
          <p:nvPr/>
        </p:nvSpPr>
        <p:spPr>
          <a:xfrm>
            <a:off x="2362200" y="5029200"/>
            <a:ext cx="1524000" cy="91811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702708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214939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Dragon">
  <a:themeElements>
    <a:clrScheme name="Dragon">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Dragon">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ragon">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3546</TotalTime>
  <Words>4595</Words>
  <Application>Microsoft Office PowerPoint</Application>
  <PresentationFormat>全屏显示(4:3)</PresentationFormat>
  <Paragraphs>275</Paragraphs>
  <Slides>60</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60</vt:i4>
      </vt:variant>
    </vt:vector>
  </HeadingPairs>
  <TitlesOfParts>
    <vt:vector size="74" baseType="lpstr">
      <vt:lpstr>华文楷体</vt:lpstr>
      <vt:lpstr>隶书</vt:lpstr>
      <vt:lpstr>宋体</vt:lpstr>
      <vt:lpstr>微软雅黑</vt:lpstr>
      <vt:lpstr>Arial</vt:lpstr>
      <vt:lpstr>Calibri</vt:lpstr>
      <vt:lpstr>Cambria</vt:lpstr>
      <vt:lpstr>Cambria Math</vt:lpstr>
      <vt:lpstr>Maiandra GD</vt:lpstr>
      <vt:lpstr>Times New Roman</vt:lpstr>
      <vt:lpstr>Trebuchet MS</vt:lpstr>
      <vt:lpstr>Wingdings 2</vt:lpstr>
      <vt:lpstr>Wingdings 3</vt:lpstr>
      <vt:lpstr>Dragon</vt:lpstr>
      <vt:lpstr>Hadoop与Spark</vt:lpstr>
      <vt:lpstr>Zookeeper Misc.</vt:lpstr>
      <vt:lpstr>Zookeeper Misc.</vt:lpstr>
      <vt:lpstr>pause</vt:lpstr>
      <vt:lpstr>Zookeeper Misc.</vt:lpstr>
      <vt:lpstr>Zookeeper Misc.</vt:lpstr>
      <vt:lpstr>Zookeeper Misc.</vt:lpstr>
      <vt:lpstr>Zookeeper Misc.</vt:lpstr>
      <vt:lpstr>Zookeeper Misc.</vt:lpstr>
      <vt:lpstr>Zookeeper Misc.</vt:lpstr>
      <vt:lpstr>Zookeeper Misc.</vt:lpstr>
      <vt:lpstr>pause</vt:lpstr>
      <vt:lpstr>Zookeeper Misc.</vt:lpstr>
      <vt:lpstr>Zookeeper Misc.</vt:lpstr>
      <vt:lpstr>pause</vt:lpstr>
      <vt:lpstr>Zookeeper Misc.</vt:lpstr>
      <vt:lpstr>Zookeeper Misc.</vt:lpstr>
      <vt:lpstr>Zookeeper Misc.</vt:lpstr>
      <vt:lpstr>Zookeeper Misc.</vt:lpstr>
      <vt:lpstr>Zookeeper Misc.</vt:lpstr>
      <vt:lpstr>Zookeeper Misc.</vt:lpstr>
      <vt:lpstr>pause</vt:lpstr>
      <vt:lpstr>Zookeeper Misc.</vt:lpstr>
      <vt:lpstr>Zookeeper Misc.</vt:lpstr>
      <vt:lpstr>pause</vt:lpstr>
      <vt:lpstr>Zookeeper Misc.</vt:lpstr>
      <vt:lpstr>Zookeeper Misc.</vt:lpstr>
      <vt:lpstr>Zookeeper Misc.</vt:lpstr>
      <vt:lpstr>pause</vt:lpstr>
      <vt:lpstr>Zookeeper Misc.</vt:lpstr>
      <vt:lpstr>Zookeeper Misc.</vt:lpstr>
      <vt:lpstr>Zookeeper Misc.</vt:lpstr>
      <vt:lpstr>Zookeeper Misc.</vt:lpstr>
      <vt:lpstr>pause</vt:lpstr>
      <vt:lpstr>Zookeeper Misc.</vt:lpstr>
      <vt:lpstr>Zookeeper Misc.</vt:lpstr>
      <vt:lpstr>Zookeeper Misc.</vt:lpstr>
      <vt:lpstr>pause</vt:lpstr>
      <vt:lpstr>Zookeeper Misc.</vt:lpstr>
      <vt:lpstr>Zookeeper Misc.</vt:lpstr>
      <vt:lpstr>Zookeeper Misc.</vt:lpstr>
      <vt:lpstr>pause</vt:lpstr>
      <vt:lpstr>Zookeeper Misc.</vt:lpstr>
      <vt:lpstr>Zookeeper Misc.</vt:lpstr>
      <vt:lpstr>Zookeeper Misc.</vt:lpstr>
      <vt:lpstr>Zookeeper Misc.</vt:lpstr>
      <vt:lpstr>Zookeeper Misc.</vt:lpstr>
      <vt:lpstr>Zookeeper Misc.</vt:lpstr>
      <vt:lpstr>Zookeeper Misc.</vt:lpstr>
      <vt:lpstr>pause</vt:lpstr>
      <vt:lpstr>Zookeeper Misc.</vt:lpstr>
      <vt:lpstr>Zookeeper Misc.</vt:lpstr>
      <vt:lpstr>Zookeeper Misc.</vt:lpstr>
      <vt:lpstr>Zookeeper Misc.</vt:lpstr>
      <vt:lpstr>Zookeeper Misc.</vt:lpstr>
      <vt:lpstr>Zookeeper Misc.</vt:lpstr>
      <vt:lpstr>Zookeeper Misc.</vt:lpstr>
      <vt:lpstr>Zookeeper Misc.</vt:lpstr>
      <vt:lpstr>Zookeeper Misc.</vt:lpstr>
      <vt:lpstr>pause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Pebble</dc:creator>
  <cp:lastModifiedBy>雄派 覃</cp:lastModifiedBy>
  <cp:revision>858</cp:revision>
  <dcterms:created xsi:type="dcterms:W3CDTF">2006-08-16T00:00:00Z</dcterms:created>
  <dcterms:modified xsi:type="dcterms:W3CDTF">2023-06-04T11:38:43Z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