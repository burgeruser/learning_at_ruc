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610" r:id="rId2"/>
    <p:sldId id="285" r:id="rId3"/>
    <p:sldId id="611" r:id="rId4"/>
    <p:sldId id="692" r:id="rId5"/>
    <p:sldId id="612" r:id="rId6"/>
    <p:sldId id="615" r:id="rId7"/>
    <p:sldId id="614" r:id="rId8"/>
    <p:sldId id="616" r:id="rId9"/>
    <p:sldId id="693" r:id="rId10"/>
    <p:sldId id="617" r:id="rId11"/>
    <p:sldId id="618" r:id="rId12"/>
    <p:sldId id="619" r:id="rId13"/>
    <p:sldId id="694" r:id="rId14"/>
    <p:sldId id="620" r:id="rId15"/>
    <p:sldId id="621" r:id="rId16"/>
    <p:sldId id="622" r:id="rId17"/>
    <p:sldId id="623" r:id="rId18"/>
    <p:sldId id="624" r:id="rId19"/>
    <p:sldId id="695" r:id="rId20"/>
    <p:sldId id="625" r:id="rId21"/>
    <p:sldId id="626" r:id="rId22"/>
    <p:sldId id="627" r:id="rId23"/>
    <p:sldId id="628" r:id="rId24"/>
    <p:sldId id="629" r:id="rId25"/>
    <p:sldId id="630" r:id="rId26"/>
    <p:sldId id="631" r:id="rId27"/>
    <p:sldId id="632" r:id="rId28"/>
    <p:sldId id="696" r:id="rId2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D21623A-C671-2D44-B254-F252EBE76DF6}">
          <p14:sldIdLst>
            <p14:sldId id="610"/>
            <p14:sldId id="285"/>
            <p14:sldId id="611"/>
            <p14:sldId id="692"/>
            <p14:sldId id="612"/>
            <p14:sldId id="615"/>
            <p14:sldId id="614"/>
            <p14:sldId id="616"/>
            <p14:sldId id="693"/>
            <p14:sldId id="617"/>
            <p14:sldId id="618"/>
            <p14:sldId id="619"/>
            <p14:sldId id="694"/>
            <p14:sldId id="620"/>
            <p14:sldId id="621"/>
            <p14:sldId id="622"/>
            <p14:sldId id="623"/>
            <p14:sldId id="624"/>
            <p14:sldId id="695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9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895" autoAdjust="0"/>
    <p:restoredTop sz="93692" autoAdjust="0"/>
  </p:normalViewPr>
  <p:slideViewPr>
    <p:cSldViewPr>
      <p:cViewPr>
        <p:scale>
          <a:sx n="70" d="100"/>
          <a:sy n="70" d="100"/>
        </p:scale>
        <p:origin x="1979" y="169"/>
      </p:cViewPr>
      <p:guideLst>
        <p:guide orient="horz" pos="21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5AC6C-9512-4B60-88A3-550D11AC211E}" type="datetimeFigureOut">
              <a:rPr lang="en-US" smtClean="0"/>
              <a:t>5/3/2023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A42DD-6D94-4698-832B-FD6413A899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45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3712DD02-EDF1-4DE5-8819-AAE28276EE89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18524F79-73A5-4710-9319-220E80AC0C1F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14" cstate="print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Rectangle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69D84AD9-88E4-47CB-8F2A-8AB59D90F7ED}"/>
              </a:ext>
            </a:extLst>
          </p:cNvPr>
          <p:cNvSpPr txBox="1">
            <a:spLocks noGrp="1" noChangeArrowheads="1"/>
          </p:cNvSpPr>
          <p:nvPr userDrawn="1"/>
        </p:nvSpPr>
        <p:spPr bwMode="auto">
          <a:xfrm>
            <a:off x="8458200" y="5825133"/>
            <a:ext cx="554038" cy="365125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Wingdings 3" panose="05040102010807070707" pitchFamily="18" charset="2"/>
              <a:buNone/>
              <a:defRPr/>
            </a:pPr>
            <a:fld id="{80517C1A-9EB9-4CBD-952B-8DA763D241D0}" type="slidenum">
              <a:rPr lang="en-US" altLang="zh-CN" sz="1000" smtClean="0">
                <a:latin typeface="微软雅黑" panose="020B0503020204020204" pitchFamily="34" charset="-122"/>
                <a:ea typeface="隶书" panose="02010509060101010101" pitchFamily="49" charset="-122"/>
              </a:rPr>
              <a:pPr algn="r" eaLnBrk="1" hangingPunct="1">
                <a:buFont typeface="Wingdings 3" panose="05040102010807070707" pitchFamily="18" charset="2"/>
                <a:buNone/>
                <a:defRPr/>
              </a:pPr>
              <a:t>‹#›</a:t>
            </a:fld>
            <a:endParaRPr lang="en-US" altLang="zh-CN" sz="1000" dirty="0">
              <a:latin typeface="微软雅黑" panose="020B0503020204020204" pitchFamily="34" charset="-122"/>
              <a:ea typeface="隶书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/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zh-CN" dirty="0"/>
                  <a:t>Copy right </a:t>
                </a:r>
                <a14:m>
                  <m:oMath xmlns:m="http://schemas.openxmlformats.org/officeDocument/2006/math">
                    <m:r>
                      <a:rPr kumimoji="0" lang="zh-CN" altLang="en-US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0EB1356-0045-4B4E-84B0-D0BEBDB4E8A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 userDrawn="1"/>
            </p:nvSpPr>
            <p:spPr>
              <a:xfrm>
                <a:off x="7391400" y="6312003"/>
                <a:ext cx="1399679" cy="369332"/>
              </a:xfrm>
              <a:prstGeom prst="rect">
                <a:avLst/>
              </a:prstGeom>
              <a:blipFill>
                <a:blip r:embed="rId15"/>
                <a:stretch>
                  <a:fillRect l="-3930" t="-9836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 panose="05020102010507070707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 panose="05020102010507070707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 panose="05020102010507070707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 panose="05020102010507070707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 panose="05020102010507070707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 panose="020B0604020202020204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5D14F7-0E7F-8548-85E8-931FFC6E87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Hadoop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Spark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0829591-AB44-3C4B-B84E-713A444B98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2309818"/>
          </a:xfrm>
        </p:spPr>
        <p:txBody>
          <a:bodyPr>
            <a:normAutofit/>
          </a:bodyPr>
          <a:lstStyle/>
          <a:p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28405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平台最重要的组件之一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它提供最新的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 API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，支持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的核心是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Catalyst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优化器，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Catalyst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支持基于规则和基于成本的查询优化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lvl="1" algn="just"/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EB26AB9-70E0-40BA-B263-9E4B28DF9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200400"/>
            <a:ext cx="6477000" cy="3469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73749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20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20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查询执行流程</a:t>
            </a:r>
            <a:endParaRPr lang="en-US" altLang="zh-CN" sz="20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Parser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语句通过词法和语法解析，生成未解析的逻辑执行计划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(Unresolved Logical Plan)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，然后在后续步骤中使用不同的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Rule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，应用到该逻辑计划上</a:t>
            </a: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Analyzer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使用各种分析规则，配合元数据，对未解析的逻辑计划进行处理，转换成解析的逻辑计划</a:t>
            </a: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(3)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Optimizer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使用各种优化规则，对解析的逻辑计划，进行合并、列裁剪、和过滤器下推等优化工作，生成优化的逻辑计划</a:t>
            </a: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(4) 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Planner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Planning Strategies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，对优化的逻辑计划进行转换，根据统计信息和代价模型，生成可以执行的物理执行计划，选择最优的物理执行计划，得到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Plan</a:t>
            </a:r>
          </a:p>
          <a:p>
            <a:pPr indent="266700" algn="just"/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(5) 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最后，真正执行物理执行计划，调用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Plan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execute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方法，对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RDD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进行处理，获得查询结果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C7E604F-3F27-48EC-AA9E-320022C82E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537" y="4989166"/>
            <a:ext cx="4850926" cy="17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138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7858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语言查询本地文件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JSON</a:t>
            </a: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文件包含了元信息，其内容装载到一个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。这个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DataFrame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注册为一个临时视图，然后在上面运行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1DD68C-2239-4D9B-B095-5B4E8D95CA7B}"/>
              </a:ext>
            </a:extLst>
          </p:cNvPr>
          <p:cNvSpPr txBox="1"/>
          <p:nvPr/>
        </p:nvSpPr>
        <p:spPr>
          <a:xfrm>
            <a:off x="1066800" y="2971800"/>
            <a:ext cx="70866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pyspark.sql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import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SparkSession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SparkSession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\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.builder \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.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appName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("Python Spark SQL basic example") \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.config("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spark.some.config.option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", "some-value") \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.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getOrCreate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spark.read.json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("file:///opt/linuxsir/spark/examples/src/main/resources/people.json")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df.show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df.createOrReplaceTempView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("people")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sqlDF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spark.sql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* FROM people")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sqlDF.show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8726495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语言查询本地文件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TXT</a:t>
            </a:r>
          </a:p>
          <a:p>
            <a:pPr indent="266700" algn="just"/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从本地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TXT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文件读取内容，并且进行查询处理。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people.txt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包含两列，分别是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name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age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列，在代码中需要为文本文件动态建立模式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，用这个模式解释每行数据，建立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DataFrame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。这个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DataFrame</a:t>
            </a:r>
            <a:r>
              <a:rPr lang="zh-CN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注册为一个临时视图，然后在上面运行</a:t>
            </a:r>
            <a:r>
              <a:rPr lang="en-US" altLang="zh-CN" sz="15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endParaRPr lang="zh-CN" altLang="zh-CN" sz="15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01DD68C-2239-4D9B-B095-5B4E8D95CA7B}"/>
              </a:ext>
            </a:extLst>
          </p:cNvPr>
          <p:cNvSpPr txBox="1"/>
          <p:nvPr/>
        </p:nvSpPr>
        <p:spPr>
          <a:xfrm>
            <a:off x="1066800" y="2971800"/>
            <a:ext cx="7086600" cy="332398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pyspark.sql.types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import *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spark.sparkContext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sc.textFile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("file:///opt/linuxsir/spark/examples/src/main/resources/people.txt")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parts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lines.map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(lambda l: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l.split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(","))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parts.map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(lambda p: (p[0], p[1].strip()))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schemaString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"name age"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fields = [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StructField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field_name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StringType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(), True) for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field_name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in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schemaString.split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()]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StructType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(fields)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schemaPeople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spark.createDataFrame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(people, schema)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schemaPeople.createOrReplaceTempView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("people")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 =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spark.sql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name FROM people")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results.show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()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09607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语言查询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 Parquet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格式文件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JSON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读取数据，写入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[]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。然后再把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Parquet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文件读进来，进行查询处理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A3976D-A1CE-4D4F-B800-5A3470046A3B}"/>
              </a:ext>
            </a:extLst>
          </p:cNvPr>
          <p:cNvSpPr txBox="1"/>
          <p:nvPr/>
        </p:nvSpPr>
        <p:spPr>
          <a:xfrm>
            <a:off x="762000" y="2819400"/>
            <a:ext cx="7772400" cy="37856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from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pyspark.sql.types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import *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spark.sparkContext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en-US" altLang="zh-CN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peopleDF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spark.read.json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("file:///opt/linuxsir/spark/examples/src/main/resources/people.json")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peopleDF.show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peopleDF.write.parquet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("/input/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people.parquet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spark.read.parquet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("/input/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people.parquet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parquetFile.createOrReplaceTempView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teenagers =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spark.sql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("SELECT name FROM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parquetFile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WHERE age &gt;= 13 AND age &lt;= 19")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teenagers.show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quit()</a:t>
            </a:r>
            <a:endParaRPr lang="zh-CN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01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，使用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Python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语言查询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 Parquet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格式文件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退出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pyspark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，可以检查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parquet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/input/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people.parquet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是否生成了。注意，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/input/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people.parquet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是一个目录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6A3976D-A1CE-4D4F-B800-5A3470046A3B}"/>
              </a:ext>
            </a:extLst>
          </p:cNvPr>
          <p:cNvSpPr txBox="1"/>
          <p:nvPr/>
        </p:nvSpPr>
        <p:spPr>
          <a:xfrm>
            <a:off x="762000" y="2819400"/>
            <a:ext cx="7772400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endParaRPr lang="zh-CN" altLang="en-US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-ls /input </a:t>
            </a:r>
          </a:p>
          <a:p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可以把这个文件删除，然后再实验上述代码。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/bin</a:t>
            </a:r>
          </a:p>
          <a:p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dfs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rmr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/input/</a:t>
            </a:r>
            <a:r>
              <a:rPr lang="en-US" altLang="zh-CN" sz="16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people.parquet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0944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SparkSQL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简介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插件存取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SparkSQL</a:t>
            </a:r>
          </a:p>
          <a:p>
            <a:pPr indent="267335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我们可以在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Windows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上，为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插件，然后通过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 Thrift Server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，执行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查询。需要为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插件，配置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 Class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Jars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包等。</a:t>
            </a:r>
          </a:p>
          <a:p>
            <a:pPr indent="267335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打开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Explorer(Eclipse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的一个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plugin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，需要事先安装这个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plugin)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Connections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视图，新建连接，并对连接进行属性设置；如果已经建立连接，可以对连接按右键，选择“</a:t>
            </a:r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Edit Connection Profile”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，如图所示</a:t>
            </a:r>
          </a:p>
          <a:p>
            <a:pPr indent="267335" algn="just"/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SparkSQL</a:t>
            </a:r>
            <a:endParaRPr kumimoji="1" lang="zh-CN" altLang="en-US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7ECB67-7DE9-4998-9545-B471A4C300A2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4038600"/>
            <a:ext cx="4876800" cy="26209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5840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插件存取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SparkSQL</a:t>
            </a: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连接的属性设置对话框，如图所示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需要设置连接的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name(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名称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URL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、用户名、密码等属性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1F16AD-6C3A-4926-B153-93D753C64FA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752600" y="2971800"/>
            <a:ext cx="5410200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3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 Explorer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插件存取</a:t>
            </a:r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SparkSQL</a:t>
            </a:r>
          </a:p>
          <a:p>
            <a:pPr indent="267335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接着对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Driver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进行设置，可以参考</a:t>
            </a:r>
            <a:r>
              <a:rPr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下图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按照序号给出的操作步骤，进行设置。这些操作的目的，是新建或者编辑一个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类型，并且导入相关的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包，指定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driver class name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</a:t>
            </a:r>
            <a:endParaRPr lang="en-US" altLang="zh-CN" sz="1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我们把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安装包解压缩在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Windows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盘上，把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d:\spark-2.1.1-bin-hadoop2.7\jar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目录下的</a:t>
            </a:r>
            <a:r>
              <a:rPr lang="en-US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6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包导入即可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CE62986-24E8-4E0E-BADA-86787352603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3505200"/>
            <a:ext cx="6934200" cy="32085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677981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9053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Java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编程，和其它数据库的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编程差别不大。只不过需要为项目配置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Spark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Jar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包。另外在程序中需要对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 class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user name 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password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进行设置</a:t>
            </a:r>
            <a:endParaRPr lang="en-US" altLang="zh-CN" sz="18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完整的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代码如下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这个实例首先建立到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Thrift 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的连接，然后执行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，显示查询结果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E9592B-55FD-4590-B90C-FFE0ABB88A23}"/>
              </a:ext>
            </a:extLst>
          </p:cNvPr>
          <p:cNvSpPr txBox="1"/>
          <p:nvPr/>
        </p:nvSpPr>
        <p:spPr>
          <a:xfrm>
            <a:off x="1143000" y="4038600"/>
            <a:ext cx="7315200" cy="203132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package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com.pai.mvndemo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java.sql.Connection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java.sql.DriverManager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java.sql.ResultSet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java.sql.SQLException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import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java.sql.Statement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98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Java</a:t>
            </a:r>
            <a:r>
              <a:rPr lang="zh-CN" altLang="en-US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完整的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代码如下。这个实例首先建立到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ThriftServer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的连接，然后执行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SQL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，显示查询结果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E9592B-55FD-4590-B90C-FFE0ABB88A23}"/>
              </a:ext>
            </a:extLst>
          </p:cNvPr>
          <p:cNvSpPr txBox="1"/>
          <p:nvPr/>
        </p:nvSpPr>
        <p:spPr>
          <a:xfrm>
            <a:off x="914400" y="2743200"/>
            <a:ext cx="7315200" cy="39395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App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public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static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void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main(String[]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args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throws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SQLException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Connection </a:t>
            </a:r>
            <a:r>
              <a:rPr lang="en-US" altLang="zh-CN" sz="1000" dirty="0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Statement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ResultSet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String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"jdbc:hive2://192.168.31.129:10013/default"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try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Class.</a:t>
            </a:r>
            <a:r>
              <a:rPr lang="en-US" altLang="zh-CN" sz="1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forName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1000" dirty="0" err="1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org.apache.hive.jdbc.HiveDriver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catch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ClassNotFoundException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000" dirty="0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>
                <a:solidFill>
                  <a:srgbClr val="3F7F5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// </a:t>
            </a:r>
            <a:r>
              <a:rPr lang="en-US" altLang="zh-CN" sz="1000" b="1" dirty="0">
                <a:solidFill>
                  <a:srgbClr val="7F9FB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TODO</a:t>
            </a:r>
            <a:r>
              <a:rPr lang="en-US" altLang="zh-CN" sz="1000" dirty="0">
                <a:solidFill>
                  <a:srgbClr val="3F7F5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Auto-generated catch block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.printStackTrace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DriverManager.</a:t>
            </a:r>
            <a:r>
              <a:rPr lang="en-US" altLang="zh-CN" sz="1000" i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getConnection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"root"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1000" dirty="0" err="1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rootroot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conn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.createStatement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"SELECT * FROM words"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</a:t>
            </a:r>
            <a:r>
              <a:rPr lang="en-US" altLang="zh-CN" sz="1000" b="1" i="1" dirty="0" err="1">
                <a:solidFill>
                  <a:srgbClr val="000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"Running"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dirty="0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stmt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.executeQuery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sql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</a:t>
            </a:r>
            <a:r>
              <a:rPr lang="en-US" altLang="zh-CN" sz="1000" b="1" dirty="0">
                <a:solidFill>
                  <a:srgbClr val="7F0055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.next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()) {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System.</a:t>
            </a:r>
            <a:r>
              <a:rPr lang="en-US" altLang="zh-CN" sz="1000" b="1" i="1" dirty="0" err="1">
                <a:solidFill>
                  <a:srgbClr val="0000C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.println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"id: 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.getInt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(1) + 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"\</a:t>
            </a:r>
            <a:r>
              <a:rPr lang="en-US" altLang="zh-CN" sz="1000" dirty="0" err="1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tword</a:t>
            </a:r>
            <a:r>
              <a:rPr lang="en-US" altLang="zh-CN" sz="1000" dirty="0">
                <a:solidFill>
                  <a:srgbClr val="2A00FF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"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+ </a:t>
            </a:r>
            <a:r>
              <a:rPr lang="en-US" altLang="zh-CN" sz="1000" dirty="0" err="1">
                <a:solidFill>
                  <a:srgbClr val="6A3E3E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res</a:t>
            </a:r>
            <a:r>
              <a:rPr lang="en-US" altLang="zh-CN" sz="10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.getString</a:t>
            </a:r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(2));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}</a:t>
            </a:r>
            <a:endParaRPr lang="zh-CN" altLang="zh-CN" sz="1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336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Java</a:t>
            </a:r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文件，很方便进行项目依赖的设置，无需用户为项目导入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E9592B-55FD-4590-B90C-FFE0ABB88A23}"/>
              </a:ext>
            </a:extLst>
          </p:cNvPr>
          <p:cNvSpPr txBox="1"/>
          <p:nvPr/>
        </p:nvSpPr>
        <p:spPr>
          <a:xfrm>
            <a:off x="914400" y="2743200"/>
            <a:ext cx="7315200" cy="397031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&lt;project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="http://maven.apache.org/POM/4.0.0" 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xmlns:xsi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="http://www.w3.org/2001/XMLSchema-instance"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xsi:schemaLocation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="http://maven.apache.org/POM/4.0.0 http://maven.apache.org/xsd/maven-4.0.0.xsd"&gt;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&gt;4.0.0&lt;/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modelVersion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com.pai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mvndemo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&lt;version&gt;0.0.1-SNAPSHOT&lt;/version&gt;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&lt;packaging&gt;jar&lt;/packaging&gt;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&lt;name&gt;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mvndemo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&lt;/name&gt;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url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&gt;http://maven.apache.org&lt;/url&gt;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&lt;properties&gt;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&gt;UTF-8&lt;/</a:t>
            </a:r>
            <a:r>
              <a:rPr lang="en-US" altLang="zh-CN" sz="14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project.build.sourceEncoding</a:t>
            </a:r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&lt;/properties&gt;</a:t>
            </a:r>
            <a:endParaRPr lang="zh-CN" altLang="zh-CN" sz="14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7510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Java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如果用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Maven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Java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，利用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pom.xml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文件，很方便进行项目依赖的设置，无需用户为项目导入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jar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包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3E9592B-55FD-4590-B90C-FFE0ABB88A23}"/>
              </a:ext>
            </a:extLst>
          </p:cNvPr>
          <p:cNvSpPr txBox="1"/>
          <p:nvPr/>
        </p:nvSpPr>
        <p:spPr>
          <a:xfrm>
            <a:off x="914400" y="2743200"/>
            <a:ext cx="7315200" cy="390876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&lt;dependencies&gt;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junit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&lt;version&gt;3.8.1&lt;/version&gt;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&lt;scope&gt;test&lt;/scope&gt;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&lt;/dependency&gt;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&lt;dependency&gt;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org.apache.hive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&gt;hive-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&lt;version&gt;1.2.1&lt;/version&gt;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org.apache.hadoop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-common&lt;/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&lt;version&gt;2.7.3&lt;/version&gt;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groupId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jdk.tools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artifactId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&lt;version&gt;1.8&lt;/version&gt;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&lt;scope&gt;system&lt;/scope&gt;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  &lt;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&gt;C:/Program Files/Java/jdk1.8.0_131/lib/tools.jar&lt;/</a:t>
            </a:r>
            <a:r>
              <a:rPr lang="en-US" altLang="zh-CN" sz="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systemPath</a:t>
            </a:r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&lt;/dependency&gt; 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133350"/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&lt;/dependencies&gt;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&lt;/project&gt;</a:t>
            </a:r>
            <a:endParaRPr lang="zh-CN" altLang="zh-CN" sz="6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2303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en-US" altLang="zh-CN" sz="2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JDBC Java</a:t>
            </a:r>
            <a:r>
              <a:rPr lang="zh-CN" altLang="en-US" sz="20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编程</a:t>
            </a:r>
          </a:p>
          <a:p>
            <a:pPr indent="266700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关于如何安装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，给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Eclipse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安装和配置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插件，以及新建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Maven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项目，请参考</a:t>
            </a:r>
            <a:r>
              <a:rPr lang="zh-CN" altLang="en-US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教材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8.4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节</a:t>
            </a:r>
            <a:endParaRPr lang="en-US" altLang="zh-CN" sz="20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为了运行和调试该代码，应该在集群上启动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、以及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 Thrift Server</a:t>
            </a:r>
            <a:endParaRPr lang="en-US" altLang="zh-CN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/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结束以后，需要按照逆序，停止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SparkSQL Thrift Server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20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0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zh-CN" altLang="en-US" sz="20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53446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1979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25853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rm -rf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rm -rf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root@192.168.31.131 rm -rf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/logs/*.*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分开启动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./start-yarn.sh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4207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检查各个节点上相关进程是否正确启动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120032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clear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3698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hive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，并且检查进程已经启动和绑定到特定端口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14773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/hive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./bin/hive --service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-p 19083 &amp;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\\ 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等待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netstat -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lanp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| grep 19083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4373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，并且检查各个节点上相关进程是否正确启动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175432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./sbin/start-all.sh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root@192.168.31.130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ssh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root@192.168.31.131 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jps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72170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MASTER=spark://hd-master:17077 ./bin/</a:t>
            </a:r>
            <a:r>
              <a:rPr lang="en-US" altLang="zh-CN" sz="1800" dirty="0" err="1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pyspark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1541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7335" algn="just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spark</a:t>
            </a:r>
            <a:endParaRPr lang="zh-CN" altLang="en-US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/spark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./sbin/stop-all.sh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8233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metastore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6463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netstat -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lanp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| grep 19083 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kill -9 16336 \\16336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metastore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进程号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45275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7848600" cy="4419600"/>
          </a:xfrm>
        </p:spPr>
        <p:txBody>
          <a:bodyPr>
            <a:normAutofit/>
          </a:bodyPr>
          <a:lstStyle/>
          <a:p>
            <a:pPr algn="just"/>
            <a:r>
              <a:rPr lang="en-US" altLang="zh-CN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r>
              <a:rPr lang="zh-CN" altLang="en-US" sz="18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简介</a:t>
            </a:r>
            <a:endParaRPr lang="en-US" altLang="zh-CN" sz="1800" dirty="0">
              <a:effectLst/>
              <a:latin typeface="微软雅黑" panose="020B0503020204020204" pitchFamily="34" charset="-122"/>
              <a:ea typeface="宋体" panose="02010600030101010101" pitchFamily="2" charset="-122"/>
            </a:endParaRPr>
          </a:p>
          <a:p>
            <a:pPr indent="267335" algn="just"/>
            <a:r>
              <a:rPr lang="zh-CN" altLang="en-US" sz="18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zh-CN" altLang="en-US" sz="18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命令</a:t>
            </a:r>
            <a:endParaRPr lang="en-US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/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停止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YARN</a:t>
            </a:r>
            <a:r>
              <a:rPr lang="zh-CN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HDFS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EEB3E2E3-0874-481B-9657-3D2DF7639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effectLst/>
                <a:latin typeface="微软雅黑" panose="020B0503020204020204" pitchFamily="34" charset="-122"/>
                <a:ea typeface="宋体" panose="02010600030101010101" pitchFamily="2" charset="-122"/>
              </a:rPr>
              <a:t>SparkSQL</a:t>
            </a:r>
            <a:endParaRPr kumimoji="1" lang="zh-CN" altLang="en-US" sz="1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DD6F7-834C-41C4-8692-651F5A45D03F}"/>
              </a:ext>
            </a:extLst>
          </p:cNvPr>
          <p:cNvSpPr txBox="1"/>
          <p:nvPr/>
        </p:nvSpPr>
        <p:spPr>
          <a:xfrm>
            <a:off x="838200" y="2819400"/>
            <a:ext cx="7848600" cy="9233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cd /opt/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linuxsir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hadoop</a:t>
            </a:r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sbin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./stop-yarn.sh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./stop-dfs.sh</a:t>
            </a:r>
            <a:endParaRPr lang="zh-CN" altLang="zh-CN" sz="18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602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AC416C-D88F-EF4B-AA32-5613425BC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pause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F34CD6-C4F2-1E45-9B7E-02BD8BA94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620000" cy="5105400"/>
          </a:xfrm>
        </p:spPr>
        <p:txBody>
          <a:bodyPr>
            <a:normAutofit/>
          </a:bodyPr>
          <a:lstStyle/>
          <a:p>
            <a:endParaRPr kumimoji="1" lang="zh-CN" altLang="en-US" dirty="0"/>
          </a:p>
        </p:txBody>
      </p:sp>
      <p:pic>
        <p:nvPicPr>
          <p:cNvPr id="5" name="Picture 4" descr="https://gimg2.baidu.com/image_search/src=http%3A%2F%2Fpic.51yuansu.com%2Fpic3%2Fcover%2F03%2F46%2F97%2F5bab68eb6b4a1_610.jpg&amp;refer=http%3A%2F%2Fpic.51yuansu.com&amp;app=2002&amp;size=f9999,10000&amp;q=a80&amp;n=0&amp;g=0n&amp;fmt=jpeg?sec=1636806551&amp;t=fce412286299fb8c7d98cdbcbd681ecd">
            <a:extLst>
              <a:ext uri="{FF2B5EF4-FFF2-40B4-BE49-F238E27FC236}">
                <a16:creationId xmlns:a16="http://schemas.microsoft.com/office/drawing/2014/main" id="{9C57BCF5-0A3D-43CF-8558-15C23E8AD8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676400"/>
            <a:ext cx="5105400" cy="5205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69676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ragon">
  <a:themeElements>
    <a:clrScheme name="Dragon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Dragon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Dragon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3289</TotalTime>
  <Words>1575</Words>
  <Application>Microsoft Office PowerPoint</Application>
  <PresentationFormat>全屏显示(4:3)</PresentationFormat>
  <Paragraphs>269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华文楷体</vt:lpstr>
      <vt:lpstr>隶书</vt:lpstr>
      <vt:lpstr>宋体</vt:lpstr>
      <vt:lpstr>微软雅黑</vt:lpstr>
      <vt:lpstr>Arial</vt:lpstr>
      <vt:lpstr>Calibri</vt:lpstr>
      <vt:lpstr>Cambria</vt:lpstr>
      <vt:lpstr>Cambria Math</vt:lpstr>
      <vt:lpstr>Maiandra GD</vt:lpstr>
      <vt:lpstr>Times New Roman</vt:lpstr>
      <vt:lpstr>Wingdings 2</vt:lpstr>
      <vt:lpstr>Wingdings 3</vt:lpstr>
      <vt:lpstr>Dragon</vt:lpstr>
      <vt:lpstr>Hadoop与Spark</vt:lpstr>
      <vt:lpstr>SparkSQL</vt:lpstr>
      <vt:lpstr>SparkSQL</vt:lpstr>
      <vt:lpstr>pause</vt:lpstr>
      <vt:lpstr>SparkSQL</vt:lpstr>
      <vt:lpstr>SparkSQL</vt:lpstr>
      <vt:lpstr>SparkSQL</vt:lpstr>
      <vt:lpstr>SparkSQL</vt:lpstr>
      <vt:lpstr>pause</vt:lpstr>
      <vt:lpstr>SparkSQL</vt:lpstr>
      <vt:lpstr>SparkSQL</vt:lpstr>
      <vt:lpstr>SparkSQL</vt:lpstr>
      <vt:lpstr>pause</vt:lpstr>
      <vt:lpstr>SparkSQL</vt:lpstr>
      <vt:lpstr>SparkSQL</vt:lpstr>
      <vt:lpstr>SparkSQL</vt:lpstr>
      <vt:lpstr>SparkSQL</vt:lpstr>
      <vt:lpstr>SparkSQL</vt:lpstr>
      <vt:lpstr>pause</vt:lpstr>
      <vt:lpstr>SparkSQL</vt:lpstr>
      <vt:lpstr>SparkSQL</vt:lpstr>
      <vt:lpstr>SparkSQL</vt:lpstr>
      <vt:lpstr>SparkSQL</vt:lpstr>
      <vt:lpstr>SparkSQL</vt:lpstr>
      <vt:lpstr>SparkSQL</vt:lpstr>
      <vt:lpstr>SparkSQL</vt:lpstr>
      <vt:lpstr>SparkSQL</vt:lpstr>
      <vt:lpstr>pause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Pebble</dc:creator>
  <cp:lastModifiedBy>雄派 覃</cp:lastModifiedBy>
  <cp:revision>819</cp:revision>
  <dcterms:created xsi:type="dcterms:W3CDTF">2006-08-16T00:00:00Z</dcterms:created>
  <dcterms:modified xsi:type="dcterms:W3CDTF">2023-05-03T11:56:56Z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</Properties>
</file>