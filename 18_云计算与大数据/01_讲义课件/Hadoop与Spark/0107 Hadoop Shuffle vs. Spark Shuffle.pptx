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610" r:id="rId2"/>
    <p:sldId id="699" r:id="rId3"/>
    <p:sldId id="285" r:id="rId4"/>
    <p:sldId id="694" r:id="rId5"/>
    <p:sldId id="695" r:id="rId6"/>
    <p:sldId id="696" r:id="rId7"/>
    <p:sldId id="697" r:id="rId8"/>
    <p:sldId id="693" r:id="rId9"/>
    <p:sldId id="698" r:id="rId10"/>
    <p:sldId id="700" r:id="rId11"/>
    <p:sldId id="701" r:id="rId12"/>
    <p:sldId id="702" r:id="rId13"/>
    <p:sldId id="703" r:id="rId14"/>
    <p:sldId id="705" r:id="rId15"/>
    <p:sldId id="706" r:id="rId16"/>
    <p:sldId id="707" r:id="rId17"/>
    <p:sldId id="708" r:id="rId18"/>
    <p:sldId id="709" r:id="rId19"/>
    <p:sldId id="710" r:id="rId20"/>
    <p:sldId id="711" r:id="rId21"/>
    <p:sldId id="712" r:id="rId22"/>
    <p:sldId id="713" r:id="rId23"/>
    <p:sldId id="714" r:id="rId24"/>
    <p:sldId id="716" r:id="rId25"/>
    <p:sldId id="717" r:id="rId26"/>
    <p:sldId id="718" r:id="rId27"/>
    <p:sldId id="719" r:id="rId28"/>
    <p:sldId id="720" r:id="rId29"/>
    <p:sldId id="715" r:id="rId30"/>
    <p:sldId id="723" r:id="rId31"/>
    <p:sldId id="724" r:id="rId32"/>
    <p:sldId id="726" r:id="rId33"/>
    <p:sldId id="725" r:id="rId34"/>
    <p:sldId id="722" r:id="rId35"/>
    <p:sldId id="732" r:id="rId36"/>
    <p:sldId id="734" r:id="rId37"/>
    <p:sldId id="735" r:id="rId38"/>
    <p:sldId id="733" r:id="rId39"/>
    <p:sldId id="729" r:id="rId40"/>
    <p:sldId id="730" r:id="rId41"/>
    <p:sldId id="731" r:id="rId42"/>
    <p:sldId id="728"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ED21623A-C671-2D44-B254-F252EBE76DF6}">
          <p14:sldIdLst>
            <p14:sldId id="610"/>
            <p14:sldId id="699"/>
            <p14:sldId id="285"/>
            <p14:sldId id="694"/>
            <p14:sldId id="695"/>
            <p14:sldId id="696"/>
            <p14:sldId id="697"/>
            <p14:sldId id="693"/>
            <p14:sldId id="698"/>
            <p14:sldId id="700"/>
            <p14:sldId id="701"/>
            <p14:sldId id="702"/>
            <p14:sldId id="703"/>
            <p14:sldId id="705"/>
            <p14:sldId id="706"/>
            <p14:sldId id="707"/>
            <p14:sldId id="708"/>
            <p14:sldId id="709"/>
            <p14:sldId id="710"/>
            <p14:sldId id="711"/>
            <p14:sldId id="712"/>
            <p14:sldId id="713"/>
            <p14:sldId id="714"/>
            <p14:sldId id="716"/>
            <p14:sldId id="717"/>
            <p14:sldId id="718"/>
            <p14:sldId id="719"/>
            <p14:sldId id="720"/>
            <p14:sldId id="715"/>
            <p14:sldId id="723"/>
            <p14:sldId id="724"/>
            <p14:sldId id="726"/>
            <p14:sldId id="725"/>
            <p14:sldId id="722"/>
            <p14:sldId id="732"/>
            <p14:sldId id="734"/>
            <p14:sldId id="735"/>
            <p14:sldId id="733"/>
            <p14:sldId id="729"/>
            <p14:sldId id="730"/>
            <p14:sldId id="731"/>
            <p14:sldId id="728"/>
          </p14:sldIdLst>
        </p14:section>
      </p14:sectionLst>
    </p:ext>
    <p:ext uri="{EFAFB233-063F-42B5-8137-9DF3F51BA10A}">
      <p15:sldGuideLst xmlns:p15="http://schemas.microsoft.com/office/powerpoint/2012/main">
        <p15:guide id="1" orient="horz" pos="218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895" autoAdjust="0"/>
    <p:restoredTop sz="93692" autoAdjust="0"/>
  </p:normalViewPr>
  <p:slideViewPr>
    <p:cSldViewPr>
      <p:cViewPr>
        <p:scale>
          <a:sx n="70" d="100"/>
          <a:sy n="70" d="100"/>
        </p:scale>
        <p:origin x="1950" y="169"/>
      </p:cViewPr>
      <p:guideLst>
        <p:guide orient="horz" pos="218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D05AC6C-9512-4B60-88A3-550D11AC211E}" type="datetimeFigureOut">
              <a:rPr lang="en-US" smtClean="0"/>
              <a:t>6/4/2023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6BA42DD-6D94-4698-832B-FD6413A899CA}" type="slidenum">
              <a:rPr lang="en-US" smtClean="0"/>
              <a:t>‹#›</a:t>
            </a:fld>
            <a:endParaRPr lang="en-US"/>
          </a:p>
        </p:txBody>
      </p:sp>
    </p:spTree>
    <p:extLst>
      <p:ext uri="{BB962C8B-B14F-4D97-AF65-F5344CB8AC3E}">
        <p14:creationId xmlns:p14="http://schemas.microsoft.com/office/powerpoint/2010/main" val="752445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73157"/>
            <a:ext cx="7772400" cy="1470025"/>
          </a:xfrm>
        </p:spPr>
        <p:txBody>
          <a:bodyPr anchor="b"/>
          <a:lstStyle>
            <a:lvl1pPr algn="l">
              <a:defRPr sz="4800"/>
            </a:lvl1pPr>
          </a:lstStyle>
          <a:p>
            <a:r>
              <a:rPr kumimoji="0" lang="en-US"/>
              <a:t>Click to edit Master title style</a:t>
            </a:r>
          </a:p>
        </p:txBody>
      </p:sp>
      <p:sp>
        <p:nvSpPr>
          <p:cNvPr id="3" name="Subtitle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en-US"/>
              <a:t>Click to edit Master subtitle style</a:t>
            </a:r>
          </a:p>
        </p:txBody>
      </p:sp>
      <p:sp>
        <p:nvSpPr>
          <p:cNvPr id="7" name="灯片编号占位符 3">
            <a:extLst>
              <a:ext uri="{FF2B5EF4-FFF2-40B4-BE49-F238E27FC236}">
                <a16:creationId xmlns:a16="http://schemas.microsoft.com/office/drawing/2014/main" id="{3712DD02-EDF1-4DE5-8819-AAE28276EE89}"/>
              </a:ext>
            </a:extLst>
          </p:cNvPr>
          <p:cNvSpPr txBox="1">
            <a:spLocks noGrp="1" noChangeArrowheads="1"/>
          </p:cNvSpPr>
          <p:nvPr userDrawn="1"/>
        </p:nvSpPr>
        <p:spPr bwMode="auto">
          <a:xfrm>
            <a:off x="8458200" y="5825133"/>
            <a:ext cx="554038" cy="365125"/>
          </a:xfrm>
          <a:prstGeom prst="rect">
            <a:avLst/>
          </a:prstGeom>
          <a:noFill/>
          <a:ln>
            <a:noFill/>
          </a:ln>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Wingdings 3" panose="05040102010807070707" pitchFamily="18" charset="2"/>
              <a:buNone/>
              <a:defRPr/>
            </a:pPr>
            <a:fld id="{80517C1A-9EB9-4CBD-952B-8DA763D241D0}" type="slidenum">
              <a:rPr lang="en-US" altLang="zh-CN" sz="1000" smtClean="0">
                <a:latin typeface="Times New Roman" panose="02020603050405020304" pitchFamily="18" charset="0"/>
                <a:ea typeface="隶书" panose="02010509060101010101" pitchFamily="49" charset="-122"/>
              </a:rPr>
              <a:pPr algn="r" eaLnBrk="1" hangingPunct="1">
                <a:buFont typeface="Wingdings 3" panose="05040102010807070707" pitchFamily="18" charset="2"/>
                <a:buNone/>
                <a:defRPr/>
              </a:pPr>
              <a:t>‹#›</a:t>
            </a:fld>
            <a:endParaRPr lang="en-US" altLang="zh-CN" sz="1000" dirty="0">
              <a:latin typeface="Times New Roman" panose="02020603050405020304" pitchFamily="18" charset="0"/>
              <a:ea typeface="隶书" panose="02010509060101010101" pitchFamily="49" charset="-122"/>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2924181"/>
            <a:ext cx="7772400" cy="1362075"/>
          </a:xfrm>
        </p:spPr>
        <p:txBody>
          <a:bodyPr anchor="t"/>
          <a:lstStyle>
            <a:lvl1pPr algn="l">
              <a:defRPr sz="4400" b="0" cap="all"/>
            </a:lvl1pPr>
          </a:lstStyle>
          <a:p>
            <a:r>
              <a:rPr kumimoji="0" lang="en-US"/>
              <a:t>Click to edit Master title style</a:t>
            </a:r>
          </a:p>
        </p:txBody>
      </p:sp>
      <p:sp>
        <p:nvSpPr>
          <p:cNvPr id="3" name="Text Placeholder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灯片编号占位符 3">
            <a:extLst>
              <a:ext uri="{FF2B5EF4-FFF2-40B4-BE49-F238E27FC236}">
                <a16:creationId xmlns:a16="http://schemas.microsoft.com/office/drawing/2014/main" id="{18524F79-73A5-4710-9319-220E80AC0C1F}"/>
              </a:ext>
            </a:extLst>
          </p:cNvPr>
          <p:cNvSpPr txBox="1">
            <a:spLocks noGrp="1" noChangeArrowheads="1"/>
          </p:cNvSpPr>
          <p:nvPr userDrawn="1"/>
        </p:nvSpPr>
        <p:spPr bwMode="auto">
          <a:xfrm>
            <a:off x="8458200" y="5825133"/>
            <a:ext cx="554038" cy="365125"/>
          </a:xfrm>
          <a:prstGeom prst="rect">
            <a:avLst/>
          </a:prstGeom>
          <a:noFill/>
          <a:ln>
            <a:noFill/>
          </a:ln>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Wingdings 3" panose="05040102010807070707" pitchFamily="18" charset="2"/>
              <a:buNone/>
              <a:defRPr/>
            </a:pPr>
            <a:fld id="{80517C1A-9EB9-4CBD-952B-8DA763D241D0}" type="slidenum">
              <a:rPr lang="en-US" altLang="zh-CN" sz="1000" smtClean="0">
                <a:latin typeface="Times New Roman" panose="02020603050405020304" pitchFamily="18" charset="0"/>
                <a:ea typeface="隶书" panose="02010509060101010101" pitchFamily="49" charset="-122"/>
              </a:rPr>
              <a:pPr algn="r" eaLnBrk="1" hangingPunct="1">
                <a:buFont typeface="Wingdings 3" panose="05040102010807070707" pitchFamily="18" charset="2"/>
                <a:buNone/>
                <a:defRPr/>
              </a:pPr>
              <a:t>‹#›</a:t>
            </a:fld>
            <a:endParaRPr lang="en-US" altLang="zh-CN" sz="1000" dirty="0">
              <a:latin typeface="Times New Roman" panose="02020603050405020304" pitchFamily="18" charset="0"/>
              <a:ea typeface="隶书" panose="02010509060101010101" pitchFamily="49" charset="-122"/>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kumimoji="0"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 name="Title 1"/>
          <p:cNvSpPr>
            <a:spLocks noGrp="1"/>
          </p:cNvSpPr>
          <p:nvPr>
            <p:ph type="title"/>
          </p:nvPr>
        </p:nvSpPr>
        <p:spPr>
          <a:xfrm>
            <a:off x="457205" y="285728"/>
            <a:ext cx="8230993" cy="696626"/>
          </a:xfrm>
        </p:spPr>
        <p:txBody>
          <a:bodyPr anchor="ctr"/>
          <a:lstStyle>
            <a:lvl1pPr algn="ctr">
              <a:defRPr sz="3600" b="0"/>
            </a:lvl1pPr>
          </a:lstStyle>
          <a:p>
            <a:r>
              <a:rPr kumimoji="0" lang="en-US"/>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01024" y="642918"/>
            <a:ext cx="785818" cy="4572032"/>
          </a:xfrm>
        </p:spPr>
        <p:txBody>
          <a:bodyPr vert="eaVert" anchor="ctr"/>
          <a:lstStyle>
            <a:lvl1pPr algn="l">
              <a:defRPr sz="2400" b="0"/>
            </a:lvl1pPr>
          </a:lstStyle>
          <a:p>
            <a:r>
              <a:rPr kumimoji="0" lang="en-US"/>
              <a:t>Click to edit Master title style</a:t>
            </a:r>
          </a:p>
        </p:txBody>
      </p:sp>
      <p:sp>
        <p:nvSpPr>
          <p:cNvPr id="3" name="Picture Placeholder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en-US"/>
              <a:t>Click icon to add picture</a:t>
            </a:r>
          </a:p>
        </p:txBody>
      </p:sp>
      <p:sp>
        <p:nvSpPr>
          <p:cNvPr id="4" name="Text Placeholder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43768" y="274639"/>
            <a:ext cx="1543032"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9"/>
            <a:ext cx="661513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4.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a:blip r:embed="rId14" cstate="print">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Rectangle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Rectangle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2" name="Title Placeholder 1"/>
          <p:cNvSpPr>
            <a:spLocks noGrp="1"/>
          </p:cNvSpPr>
          <p:nvPr>
            <p:ph type="title"/>
          </p:nvPr>
        </p:nvSpPr>
        <p:spPr>
          <a:xfrm>
            <a:off x="457200" y="274638"/>
            <a:ext cx="8229600" cy="1143000"/>
          </a:xfrm>
          <a:prstGeom prst="rect">
            <a:avLst/>
          </a:prstGeom>
        </p:spPr>
        <p:txBody>
          <a:bodyPr vert="horz" rtlCol="0" anchor="ctr">
            <a:normAutofit/>
          </a:bodyPr>
          <a:lstStyle/>
          <a:p>
            <a:r>
              <a:rPr kumimoji="0"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2" name="灯片编号占位符 3">
            <a:extLst>
              <a:ext uri="{FF2B5EF4-FFF2-40B4-BE49-F238E27FC236}">
                <a16:creationId xmlns:a16="http://schemas.microsoft.com/office/drawing/2014/main" id="{69D84AD9-88E4-47CB-8F2A-8AB59D90F7ED}"/>
              </a:ext>
            </a:extLst>
          </p:cNvPr>
          <p:cNvSpPr txBox="1">
            <a:spLocks noGrp="1" noChangeArrowheads="1"/>
          </p:cNvSpPr>
          <p:nvPr userDrawn="1"/>
        </p:nvSpPr>
        <p:spPr bwMode="auto">
          <a:xfrm>
            <a:off x="8458200" y="5825133"/>
            <a:ext cx="554038" cy="365125"/>
          </a:xfrm>
          <a:prstGeom prst="rect">
            <a:avLst/>
          </a:prstGeom>
          <a:noFill/>
          <a:ln>
            <a:noFill/>
          </a:ln>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Wingdings 3" panose="05040102010807070707" pitchFamily="18" charset="2"/>
              <a:buNone/>
              <a:defRPr/>
            </a:pPr>
            <a:fld id="{80517C1A-9EB9-4CBD-952B-8DA763D241D0}" type="slidenum">
              <a:rPr lang="en-US" altLang="zh-CN" sz="1000" smtClean="0">
                <a:latin typeface="Times New Roman" panose="02020603050405020304" pitchFamily="18" charset="0"/>
                <a:ea typeface="隶书" panose="02010509060101010101" pitchFamily="49" charset="-122"/>
              </a:rPr>
              <a:pPr algn="r" eaLnBrk="1" hangingPunct="1">
                <a:buFont typeface="Wingdings 3" panose="05040102010807070707" pitchFamily="18" charset="2"/>
                <a:buNone/>
                <a:defRPr/>
              </a:pPr>
              <a:t>‹#›</a:t>
            </a:fld>
            <a:endParaRPr lang="en-US" altLang="zh-CN" sz="1000" dirty="0">
              <a:latin typeface="Times New Roman" panose="02020603050405020304" pitchFamily="18" charset="0"/>
              <a:ea typeface="隶书" panose="02010509060101010101" pitchFamily="49" charset="-122"/>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F0EB1356-0045-4B4E-84B0-D0BEBDB4E8AC}"/>
                  </a:ext>
                </a:extLst>
              </p:cNvPr>
              <p:cNvSpPr/>
              <p:nvPr userDrawn="1"/>
            </p:nvSpPr>
            <p:spPr>
              <a:xfrm>
                <a:off x="7391400" y="6312003"/>
                <a:ext cx="1399679" cy="369332"/>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0" lang="en-US" altLang="zh-CN" dirty="0"/>
                  <a:t>Copy right </a:t>
                </a:r>
                <a14:m>
                  <m:oMath xmlns:m="http://schemas.openxmlformats.org/officeDocument/2006/math">
                    <m:r>
                      <a:rPr kumimoji="0" lang="zh-CN" altLang="en-US" i="1" smtClean="0">
                        <a:latin typeface="Cambria Math" panose="02040503050406030204" pitchFamily="18" charset="0"/>
                      </a:rPr>
                      <m:t>𝜋</m:t>
                    </m:r>
                  </m:oMath>
                </a14:m>
                <a:endParaRPr lang="zh-CN" altLang="en-US" dirty="0"/>
              </a:p>
            </p:txBody>
          </p:sp>
        </mc:Choice>
        <mc:Fallback xmlns="">
          <p:sp>
            <p:nvSpPr>
              <p:cNvPr id="9" name="矩形 8">
                <a:extLst>
                  <a:ext uri="{FF2B5EF4-FFF2-40B4-BE49-F238E27FC236}">
                    <a16:creationId xmlns:a16="http://schemas.microsoft.com/office/drawing/2014/main" id="{F0EB1356-0045-4B4E-84B0-D0BEBDB4E8AC}"/>
                  </a:ext>
                </a:extLst>
              </p:cNvPr>
              <p:cNvSpPr>
                <a:spLocks noRot="1" noChangeAspect="1" noMove="1" noResize="1" noEditPoints="1" noAdjustHandles="1" noChangeArrowheads="1" noChangeShapeType="1" noTextEdit="1"/>
              </p:cNvSpPr>
              <p:nvPr userDrawn="1"/>
            </p:nvSpPr>
            <p:spPr>
              <a:xfrm>
                <a:off x="7391400" y="6312003"/>
                <a:ext cx="1399679" cy="369332"/>
              </a:xfrm>
              <a:prstGeom prst="rect">
                <a:avLst/>
              </a:prstGeom>
              <a:blipFill>
                <a:blip r:embed="rId15"/>
                <a:stretch>
                  <a:fillRect l="-3930" t="-9836" b="-22951"/>
                </a:stretch>
              </a:blipFill>
            </p:spPr>
            <p:txBody>
              <a:bodyPr/>
              <a:lstStyle/>
              <a:p>
                <a:r>
                  <a:rPr lang="zh-CN" altLang="en-US">
                    <a:noFill/>
                  </a:rPr>
                  <a:t> </a:t>
                </a:r>
              </a:p>
            </p:txBody>
          </p:sp>
        </mc:Fallback>
      </mc:AlternateContent>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panose="05020102010507070707"/>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panose="05020102010507070707"/>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zhihu.com/question/27643595/answer/2463389602"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5D14F7-0E7F-8548-85E8-931FFC6E87CB}"/>
              </a:ext>
            </a:extLst>
          </p:cNvPr>
          <p:cNvSpPr>
            <a:spLocks noGrp="1"/>
          </p:cNvSpPr>
          <p:nvPr>
            <p:ph type="ctrTitle"/>
          </p:nvPr>
        </p:nvSpPr>
        <p:spPr/>
        <p:txBody>
          <a:bodyPr/>
          <a:lstStyle/>
          <a:p>
            <a:r>
              <a:rPr lang="en-US" altLang="zh-CN" dirty="0">
                <a:latin typeface="微软雅黑" panose="020B0503020204020204" pitchFamily="34" charset="-122"/>
                <a:ea typeface="微软雅黑" panose="020B0503020204020204" pitchFamily="34" charset="-122"/>
              </a:rPr>
              <a:t>Hadoop</a:t>
            </a:r>
            <a:r>
              <a:rPr lang="zh-CN" altLang="en-US" dirty="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Spark</a:t>
            </a:r>
            <a:endParaRPr kumimoji="1" lang="zh-CN" altLang="en-US" dirty="0">
              <a:latin typeface="微软雅黑" panose="020B0503020204020204" pitchFamily="34" charset="-122"/>
              <a:ea typeface="微软雅黑" panose="020B0503020204020204" pitchFamily="34" charset="-122"/>
            </a:endParaRPr>
          </a:p>
        </p:txBody>
      </p:sp>
      <p:sp>
        <p:nvSpPr>
          <p:cNvPr id="3" name="副标题 2">
            <a:extLst>
              <a:ext uri="{FF2B5EF4-FFF2-40B4-BE49-F238E27FC236}">
                <a16:creationId xmlns:a16="http://schemas.microsoft.com/office/drawing/2014/main" id="{70829591-AB44-3C4B-B84E-713A444B98F7}"/>
              </a:ext>
            </a:extLst>
          </p:cNvPr>
          <p:cNvSpPr>
            <a:spLocks noGrp="1"/>
          </p:cNvSpPr>
          <p:nvPr>
            <p:ph type="subTitle" idx="1"/>
          </p:nvPr>
        </p:nvSpPr>
        <p:spPr>
          <a:xfrm>
            <a:off x="687716" y="2643182"/>
            <a:ext cx="6670366" cy="2309818"/>
          </a:xfrm>
        </p:spPr>
        <p:txBody>
          <a:bodyPr>
            <a:normAutofit/>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28405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9605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spcBef>
                <a:spcPts val="0"/>
              </a:spcBef>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MapReduce Shuffle</a:t>
            </a:r>
          </a:p>
          <a:p>
            <a:pPr lvl="1" algn="just">
              <a:spcBef>
                <a:spcPts val="0"/>
              </a:spcBef>
            </a:pP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Hadoop</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的核心思想是</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MapReduce</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，而</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shuffle</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又是</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MapReduce</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的核心</a:t>
            </a:r>
            <a:endParaRPr lang="en-US" altLang="zh-CN" sz="2300" dirty="0">
              <a:latin typeface="Times New Roman" panose="02020603050405020304" pitchFamily="18" charset="0"/>
              <a:ea typeface="宋体" panose="02010600030101010101" pitchFamily="2" charset="-122"/>
              <a:cs typeface="Times New Roman" panose="02020603050405020304" pitchFamily="18" charset="0"/>
            </a:endParaRPr>
          </a:p>
          <a:p>
            <a:pPr lvl="1" algn="just">
              <a:spcBef>
                <a:spcPts val="0"/>
              </a:spcBef>
            </a:pP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shuffle</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的主要工作是从</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Map</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结束到</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Reduce</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开始之间的过程</a:t>
            </a:r>
            <a:endParaRPr lang="en-US" altLang="zh-CN" sz="2300" dirty="0">
              <a:latin typeface="Times New Roman" panose="02020603050405020304" pitchFamily="18" charset="0"/>
              <a:ea typeface="宋体" panose="02010600030101010101" pitchFamily="2" charset="-122"/>
              <a:cs typeface="Times New Roman" panose="02020603050405020304" pitchFamily="18" charset="0"/>
            </a:endParaRPr>
          </a:p>
          <a:p>
            <a:pPr lvl="1" algn="just">
              <a:spcBef>
                <a:spcPts val="0"/>
              </a:spcBef>
            </a:pP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shuffle</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又可以分为</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Map</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端的</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shuffle</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Reduce</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端的</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shuffle</a:t>
            </a:r>
          </a:p>
          <a:p>
            <a:pPr algn="just">
              <a:spcBef>
                <a:spcPts val="0"/>
              </a:spcBef>
            </a:pP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1026" name="Picture 2" descr="https://img0.baidu.com/it/u=3087232655,1101569049&amp;fm=253&amp;fmt=auto&amp;app=138&amp;f=JPEG?w=1117&amp;h=500">
            <a:extLst>
              <a:ext uri="{FF2B5EF4-FFF2-40B4-BE49-F238E27FC236}">
                <a16:creationId xmlns:a16="http://schemas.microsoft.com/office/drawing/2014/main" id="{37FEC6F3-88FF-4324-AC8D-EC6835A231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343400"/>
            <a:ext cx="6019800" cy="2477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7374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spcBef>
                <a:spcPts val="0"/>
              </a:spcBef>
            </a:pPr>
            <a:r>
              <a:rPr lang="en-US" altLang="zh-CN" b="1" dirty="0"/>
              <a:t>Map</a:t>
            </a:r>
            <a:r>
              <a:rPr lang="zh-CN" altLang="en-US" b="1" dirty="0"/>
              <a:t>端的</a:t>
            </a:r>
            <a:r>
              <a:rPr lang="en-US" altLang="zh-CN" b="1" dirty="0"/>
              <a:t>shuffle</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en-US" sz="2300" dirty="0"/>
              <a:t>频繁的磁盘</a:t>
            </a:r>
            <a:r>
              <a:rPr lang="en-US" altLang="zh-CN" sz="2300" dirty="0"/>
              <a:t>I/O</a:t>
            </a:r>
            <a:r>
              <a:rPr lang="zh-CN" altLang="en-US" sz="2300" dirty="0"/>
              <a:t>操作会严重的降低效率，因此“中间结果”不会立马写入磁盘，而是优先存储到</a:t>
            </a:r>
            <a:r>
              <a:rPr lang="en-US" altLang="zh-CN" sz="2300" dirty="0"/>
              <a:t>map</a:t>
            </a:r>
            <a:r>
              <a:rPr lang="zh-CN" altLang="en-US" sz="2300" dirty="0"/>
              <a:t>节点的“环形内存缓冲区”，在写入的过程中进行分区（</a:t>
            </a:r>
            <a:r>
              <a:rPr lang="en-US" altLang="zh-CN" sz="2300" dirty="0"/>
              <a:t>partition</a:t>
            </a:r>
            <a:r>
              <a:rPr lang="zh-CN" altLang="en-US" sz="2300" dirty="0"/>
              <a:t>），也就是对于每个键值对来说，都增加了一个</a:t>
            </a:r>
            <a:r>
              <a:rPr lang="en-US" altLang="zh-CN" sz="2300" dirty="0"/>
              <a:t>partition</a:t>
            </a:r>
            <a:r>
              <a:rPr lang="zh-CN" altLang="en-US" sz="2300" dirty="0"/>
              <a:t>属性值，然后连同键值对一起序列化成字节数组写入到缓冲区（缓冲区采用的就是字节数组，默认大小为</a:t>
            </a:r>
            <a:r>
              <a:rPr lang="en-US" altLang="zh-CN" sz="2300" dirty="0"/>
              <a:t>100M</a:t>
            </a:r>
            <a:r>
              <a:rPr lang="zh-CN" altLang="en-US" sz="2300" dirty="0"/>
              <a:t>）</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5" name="Picture 2" descr="https://img0.baidu.com/it/u=3087232655,1101569049&amp;fm=253&amp;fmt=auto&amp;app=138&amp;f=JPEG?w=1117&amp;h=500">
            <a:extLst>
              <a:ext uri="{FF2B5EF4-FFF2-40B4-BE49-F238E27FC236}">
                <a16:creationId xmlns:a16="http://schemas.microsoft.com/office/drawing/2014/main" id="{A5EA14B0-08E0-4143-B0DB-8C2B3B18A5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343400"/>
            <a:ext cx="6019800" cy="2477098"/>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圆角 5">
            <a:extLst>
              <a:ext uri="{FF2B5EF4-FFF2-40B4-BE49-F238E27FC236}">
                <a16:creationId xmlns:a16="http://schemas.microsoft.com/office/drawing/2014/main" id="{B3832D4A-9BB5-433C-AD30-72765E9B772E}"/>
              </a:ext>
            </a:extLst>
          </p:cNvPr>
          <p:cNvSpPr/>
          <p:nvPr/>
        </p:nvSpPr>
        <p:spPr>
          <a:xfrm>
            <a:off x="2438400" y="4800600"/>
            <a:ext cx="533400" cy="9906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74161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spcBef>
                <a:spcPts val="0"/>
              </a:spcBef>
            </a:pPr>
            <a:r>
              <a:rPr lang="en-US" altLang="zh-CN" b="1" dirty="0"/>
              <a:t>Map</a:t>
            </a:r>
            <a:r>
              <a:rPr lang="zh-CN" altLang="en-US" b="1" dirty="0"/>
              <a:t>端的</a:t>
            </a:r>
            <a:r>
              <a:rPr lang="en-US" altLang="zh-CN" b="1" dirty="0"/>
              <a:t>shuffle</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en-US" sz="2300" dirty="0"/>
              <a:t>当写入的数据量达到预先设置的阙值后便会启动溢出写线程将缓冲区中的那部分数据溢出写（</a:t>
            </a:r>
            <a:r>
              <a:rPr lang="en-US" altLang="zh-CN" sz="2300" dirty="0"/>
              <a:t>spill</a:t>
            </a:r>
            <a:r>
              <a:rPr lang="zh-CN" altLang="en-US" sz="2300" dirty="0"/>
              <a:t>）到磁盘的临时文件中，并在写入前根据</a:t>
            </a:r>
            <a:r>
              <a:rPr lang="en-US" altLang="zh-CN" sz="2300" dirty="0"/>
              <a:t>key</a:t>
            </a:r>
            <a:r>
              <a:rPr lang="zh-CN" altLang="en-US" sz="2300" dirty="0"/>
              <a:t>进行排序（</a:t>
            </a:r>
            <a:r>
              <a:rPr lang="en-US" altLang="zh-CN" sz="2300" dirty="0"/>
              <a:t>sort</a:t>
            </a:r>
            <a:r>
              <a:rPr lang="zh-CN" altLang="en-US" sz="2300" dirty="0"/>
              <a:t>）和合并（</a:t>
            </a:r>
            <a:r>
              <a:rPr lang="en-US" altLang="zh-CN" sz="2300" dirty="0"/>
              <a:t>combine</a:t>
            </a:r>
            <a:r>
              <a:rPr lang="zh-CN" altLang="en-US" sz="2300" dirty="0"/>
              <a:t>，可选操作）</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5" name="Picture 2" descr="https://img0.baidu.com/it/u=3087232655,1101569049&amp;fm=253&amp;fmt=auto&amp;app=138&amp;f=JPEG?w=1117&amp;h=500">
            <a:extLst>
              <a:ext uri="{FF2B5EF4-FFF2-40B4-BE49-F238E27FC236}">
                <a16:creationId xmlns:a16="http://schemas.microsoft.com/office/drawing/2014/main" id="{A5EA14B0-08E0-4143-B0DB-8C2B3B18A5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343400"/>
            <a:ext cx="6019800" cy="2477098"/>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圆角 5">
            <a:extLst>
              <a:ext uri="{FF2B5EF4-FFF2-40B4-BE49-F238E27FC236}">
                <a16:creationId xmlns:a16="http://schemas.microsoft.com/office/drawing/2014/main" id="{ECA83D03-1BBC-44D8-B3B0-479A4615A3AE}"/>
              </a:ext>
            </a:extLst>
          </p:cNvPr>
          <p:cNvSpPr/>
          <p:nvPr/>
        </p:nvSpPr>
        <p:spPr>
          <a:xfrm>
            <a:off x="2895600" y="4591348"/>
            <a:ext cx="762000" cy="1504651"/>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5422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spcBef>
                <a:spcPts val="0"/>
              </a:spcBef>
            </a:pPr>
            <a:r>
              <a:rPr lang="en-US" altLang="zh-CN" b="1" dirty="0"/>
              <a:t>Map</a:t>
            </a:r>
            <a:r>
              <a:rPr lang="zh-CN" altLang="en-US" b="1" dirty="0"/>
              <a:t>端的</a:t>
            </a:r>
            <a:r>
              <a:rPr lang="en-US" altLang="zh-CN" b="1" dirty="0"/>
              <a:t>shuffle</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en-US" sz="2300" dirty="0"/>
              <a:t>当整个</a:t>
            </a:r>
            <a:r>
              <a:rPr lang="en-US" altLang="zh-CN" sz="2300" dirty="0"/>
              <a:t>map</a:t>
            </a:r>
            <a:r>
              <a:rPr lang="zh-CN" altLang="en-US" sz="2300" dirty="0"/>
              <a:t>任务完成溢出写后，会对磁盘中这个</a:t>
            </a:r>
            <a:r>
              <a:rPr lang="en-US" altLang="zh-CN" sz="2300" dirty="0"/>
              <a:t>map</a:t>
            </a:r>
            <a:r>
              <a:rPr lang="zh-CN" altLang="en-US" sz="2300" dirty="0"/>
              <a:t>任务产生的所有临时文件（</a:t>
            </a:r>
            <a:r>
              <a:rPr lang="en-US" altLang="zh-CN" sz="2300" dirty="0"/>
              <a:t>spill</a:t>
            </a:r>
            <a:r>
              <a:rPr lang="zh-CN" altLang="en-US" sz="2300" dirty="0"/>
              <a:t>文件）进行归并（</a:t>
            </a:r>
            <a:r>
              <a:rPr lang="en-US" altLang="zh-CN" sz="2300" dirty="0"/>
              <a:t>merge</a:t>
            </a:r>
            <a:r>
              <a:rPr lang="zh-CN" altLang="en-US" sz="2300" dirty="0"/>
              <a:t>）操作生成最终的正式输出文件，此时的归并是将所有</a:t>
            </a:r>
            <a:r>
              <a:rPr lang="en-US" altLang="zh-CN" sz="2300" dirty="0"/>
              <a:t>spill</a:t>
            </a:r>
            <a:r>
              <a:rPr lang="zh-CN" altLang="en-US" sz="2300" dirty="0"/>
              <a:t>文件中的相同</a:t>
            </a:r>
            <a:r>
              <a:rPr lang="en-US" altLang="zh-CN" sz="2300" dirty="0"/>
              <a:t>partition</a:t>
            </a:r>
            <a:r>
              <a:rPr lang="zh-CN" altLang="en-US" sz="2300" dirty="0"/>
              <a:t>合并到一起，并对各个</a:t>
            </a:r>
            <a:r>
              <a:rPr lang="en-US" altLang="zh-CN" sz="2300" dirty="0"/>
              <a:t>partition</a:t>
            </a:r>
            <a:r>
              <a:rPr lang="zh-CN" altLang="en-US" sz="2300" dirty="0"/>
              <a:t>中的数据再进行一次排序（</a:t>
            </a:r>
            <a:r>
              <a:rPr lang="en-US" altLang="zh-CN" sz="2300" dirty="0"/>
              <a:t>sort</a:t>
            </a:r>
            <a:r>
              <a:rPr lang="zh-CN" altLang="en-US" sz="2300" dirty="0"/>
              <a:t>），生成</a:t>
            </a:r>
            <a:r>
              <a:rPr lang="en-US" altLang="zh-CN" sz="2300" dirty="0"/>
              <a:t>key</a:t>
            </a:r>
            <a:r>
              <a:rPr lang="zh-CN" altLang="en-US" sz="2300" dirty="0"/>
              <a:t>和对应的</a:t>
            </a:r>
            <a:r>
              <a:rPr lang="en-US" altLang="zh-CN" sz="2300" dirty="0"/>
              <a:t>value-list</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5" name="Picture 2" descr="https://img0.baidu.com/it/u=3087232655,1101569049&amp;fm=253&amp;fmt=auto&amp;app=138&amp;f=JPEG?w=1117&amp;h=500">
            <a:extLst>
              <a:ext uri="{FF2B5EF4-FFF2-40B4-BE49-F238E27FC236}">
                <a16:creationId xmlns:a16="http://schemas.microsoft.com/office/drawing/2014/main" id="{A5EA14B0-08E0-4143-B0DB-8C2B3B18A5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343400"/>
            <a:ext cx="6019800" cy="2477098"/>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圆角 5">
            <a:extLst>
              <a:ext uri="{FF2B5EF4-FFF2-40B4-BE49-F238E27FC236}">
                <a16:creationId xmlns:a16="http://schemas.microsoft.com/office/drawing/2014/main" id="{2517BE05-C244-4570-9A7E-1A3262AE932C}"/>
              </a:ext>
            </a:extLst>
          </p:cNvPr>
          <p:cNvSpPr/>
          <p:nvPr/>
        </p:nvSpPr>
        <p:spPr>
          <a:xfrm>
            <a:off x="3629074" y="4572000"/>
            <a:ext cx="1095325" cy="16002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58306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spcBef>
                <a:spcPts val="0"/>
              </a:spcBef>
            </a:pPr>
            <a:r>
              <a:rPr lang="en-US" altLang="zh-CN" b="1" dirty="0"/>
              <a:t>Map</a:t>
            </a:r>
            <a:r>
              <a:rPr lang="zh-CN" altLang="en-US" b="1" dirty="0"/>
              <a:t>端的</a:t>
            </a:r>
            <a:r>
              <a:rPr lang="en-US" altLang="zh-CN" b="1" dirty="0"/>
              <a:t>shuffle</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en-US" sz="2300" dirty="0"/>
              <a:t>至此</a:t>
            </a:r>
            <a:r>
              <a:rPr lang="en-US" altLang="zh-CN" sz="2300" dirty="0"/>
              <a:t>map</a:t>
            </a:r>
            <a:r>
              <a:rPr lang="zh-CN" altLang="en-US" sz="2300" dirty="0"/>
              <a:t>端的工作已经全部结束，最终生成的文件也会存储在</a:t>
            </a:r>
            <a:r>
              <a:rPr lang="en-US" altLang="zh-CN" sz="2300" dirty="0" err="1"/>
              <a:t>TaskTracker</a:t>
            </a:r>
            <a:r>
              <a:rPr lang="zh-CN" altLang="en-US" sz="2300" dirty="0"/>
              <a:t>能够访问的位置</a:t>
            </a:r>
            <a:endParaRPr lang="en-US" altLang="zh-CN" sz="2300" dirty="0"/>
          </a:p>
          <a:p>
            <a:pPr lvl="1" algn="just"/>
            <a:r>
              <a:rPr lang="zh-CN" altLang="en-US" sz="2300" dirty="0"/>
              <a:t>每个</a:t>
            </a:r>
            <a:r>
              <a:rPr lang="en-US" altLang="zh-CN" sz="2300" dirty="0"/>
              <a:t>reduce task</a:t>
            </a:r>
            <a:r>
              <a:rPr lang="zh-CN" altLang="en-US" sz="2300" dirty="0"/>
              <a:t>不间断的通过</a:t>
            </a:r>
            <a:r>
              <a:rPr lang="en-US" altLang="zh-CN" sz="2300" dirty="0"/>
              <a:t>RPC</a:t>
            </a:r>
            <a:r>
              <a:rPr lang="zh-CN" altLang="en-US" sz="2300" dirty="0"/>
              <a:t>从</a:t>
            </a:r>
            <a:r>
              <a:rPr lang="en-US" altLang="zh-CN" sz="2300" dirty="0" err="1"/>
              <a:t>JobTracker</a:t>
            </a:r>
            <a:r>
              <a:rPr lang="zh-CN" altLang="en-US" sz="2300" dirty="0"/>
              <a:t>那里获取</a:t>
            </a:r>
            <a:r>
              <a:rPr lang="en-US" altLang="zh-CN" sz="2300" dirty="0"/>
              <a:t>map task</a:t>
            </a:r>
            <a:r>
              <a:rPr lang="zh-CN" altLang="en-US" sz="2300" dirty="0"/>
              <a:t>是否完成的信息，如果得到的信息是</a:t>
            </a:r>
            <a:r>
              <a:rPr lang="en-US" altLang="zh-CN" sz="2300" dirty="0"/>
              <a:t>map task</a:t>
            </a:r>
            <a:r>
              <a:rPr lang="zh-CN" altLang="en-US" sz="2300" dirty="0"/>
              <a:t>已经完成，那么</a:t>
            </a:r>
            <a:r>
              <a:rPr lang="en-US" altLang="zh-CN" sz="2300" dirty="0"/>
              <a:t>Shuffle</a:t>
            </a:r>
            <a:r>
              <a:rPr lang="zh-CN" altLang="en-US" sz="2300" dirty="0"/>
              <a:t>的后半段开始启动</a:t>
            </a:r>
            <a:endParaRPr lang="en-US" altLang="zh-CN" sz="2300"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5" name="Picture 2" descr="https://img0.baidu.com/it/u=3087232655,1101569049&amp;fm=253&amp;fmt=auto&amp;app=138&amp;f=JPEG?w=1117&amp;h=500">
            <a:extLst>
              <a:ext uri="{FF2B5EF4-FFF2-40B4-BE49-F238E27FC236}">
                <a16:creationId xmlns:a16="http://schemas.microsoft.com/office/drawing/2014/main" id="{A5EA14B0-08E0-4143-B0DB-8C2B3B18A5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343400"/>
            <a:ext cx="6019800" cy="2477098"/>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圆角 5">
            <a:extLst>
              <a:ext uri="{FF2B5EF4-FFF2-40B4-BE49-F238E27FC236}">
                <a16:creationId xmlns:a16="http://schemas.microsoft.com/office/drawing/2014/main" id="{2517BE05-C244-4570-9A7E-1A3262AE932C}"/>
              </a:ext>
            </a:extLst>
          </p:cNvPr>
          <p:cNvSpPr/>
          <p:nvPr/>
        </p:nvSpPr>
        <p:spPr>
          <a:xfrm>
            <a:off x="3629074" y="4572000"/>
            <a:ext cx="1095325" cy="16002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92240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3696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spcBef>
                <a:spcPts val="0"/>
              </a:spcBef>
            </a:pPr>
            <a:r>
              <a:rPr lang="en-US" altLang="zh-CN" b="1" dirty="0"/>
              <a:t>Reduce</a:t>
            </a:r>
            <a:r>
              <a:rPr lang="zh-CN" altLang="en-US" b="1" dirty="0"/>
              <a:t>端的</a:t>
            </a:r>
            <a:r>
              <a:rPr lang="en-US" altLang="zh-CN" b="1" dirty="0"/>
              <a:t>shuffle</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en-US" sz="2300" dirty="0"/>
              <a:t>当</a:t>
            </a:r>
            <a:r>
              <a:rPr lang="en-US" altLang="zh-CN" sz="2300" dirty="0"/>
              <a:t>MapReduce</a:t>
            </a:r>
            <a:r>
              <a:rPr lang="zh-CN" altLang="en-US" sz="2300" dirty="0"/>
              <a:t>任务提交后，</a:t>
            </a:r>
            <a:r>
              <a:rPr lang="en-US" altLang="zh-CN" sz="2300" dirty="0"/>
              <a:t>reduce task</a:t>
            </a:r>
            <a:r>
              <a:rPr lang="zh-CN" altLang="en-US" sz="2300" dirty="0"/>
              <a:t>就不断通过</a:t>
            </a:r>
            <a:r>
              <a:rPr lang="en-US" altLang="zh-CN" sz="2300" dirty="0"/>
              <a:t>RPC</a:t>
            </a:r>
            <a:r>
              <a:rPr lang="zh-CN" altLang="en-US" sz="2300" dirty="0"/>
              <a:t>从</a:t>
            </a:r>
            <a:r>
              <a:rPr lang="en-US" altLang="zh-CN" sz="2300" dirty="0" err="1"/>
              <a:t>JobTracker</a:t>
            </a:r>
            <a:r>
              <a:rPr lang="zh-CN" altLang="en-US" sz="2300" dirty="0"/>
              <a:t>那里获取</a:t>
            </a:r>
            <a:r>
              <a:rPr lang="en-US" altLang="zh-CN" sz="2300" dirty="0"/>
              <a:t>map task</a:t>
            </a:r>
            <a:r>
              <a:rPr lang="zh-CN" altLang="en-US" sz="2300" dirty="0"/>
              <a:t>是否完成的信息，如果获知某台</a:t>
            </a:r>
            <a:r>
              <a:rPr lang="en-US" altLang="zh-CN" sz="2300" dirty="0" err="1"/>
              <a:t>TaskTracker</a:t>
            </a:r>
            <a:r>
              <a:rPr lang="zh-CN" altLang="en-US" sz="2300" dirty="0"/>
              <a:t>上的</a:t>
            </a:r>
            <a:r>
              <a:rPr lang="en-US" altLang="zh-CN" sz="2300" dirty="0"/>
              <a:t>map task</a:t>
            </a:r>
            <a:r>
              <a:rPr lang="zh-CN" altLang="en-US" sz="2300" dirty="0"/>
              <a:t>执行完成，</a:t>
            </a:r>
            <a:r>
              <a:rPr lang="en-US" altLang="zh-CN" sz="2300" dirty="0"/>
              <a:t>Shuffle</a:t>
            </a:r>
            <a:r>
              <a:rPr lang="zh-CN" altLang="en-US" sz="2300" dirty="0"/>
              <a:t>的后半段过程就开始启动</a:t>
            </a:r>
            <a:endParaRPr lang="en-US" altLang="zh-CN" sz="2300" dirty="0"/>
          </a:p>
          <a:p>
            <a:pPr lvl="1" algn="just"/>
            <a:r>
              <a:rPr lang="en-US" altLang="zh-CN" sz="2300" dirty="0"/>
              <a:t>Reduce</a:t>
            </a:r>
            <a:r>
              <a:rPr lang="zh-CN" altLang="en-US" sz="2300" dirty="0"/>
              <a:t>端的</a:t>
            </a:r>
            <a:r>
              <a:rPr lang="en-US" altLang="zh-CN" sz="2300" dirty="0"/>
              <a:t>shuffle</a:t>
            </a:r>
            <a:r>
              <a:rPr lang="zh-CN" altLang="en-US" sz="2300" dirty="0"/>
              <a:t>主要包括三个阶段，</a:t>
            </a:r>
            <a:r>
              <a:rPr lang="en-US" altLang="zh-CN" sz="2300" dirty="0"/>
              <a:t>copy</a:t>
            </a:r>
            <a:r>
              <a:rPr lang="zh-CN" altLang="en-US" sz="2300" dirty="0"/>
              <a:t>、</a:t>
            </a:r>
            <a:r>
              <a:rPr lang="en-US" altLang="zh-CN" sz="2300" dirty="0"/>
              <a:t>merge</a:t>
            </a:r>
            <a:r>
              <a:rPr lang="zh-CN" altLang="en-US" sz="2300" dirty="0"/>
              <a:t>和</a:t>
            </a:r>
            <a:r>
              <a:rPr lang="en-US" altLang="zh-CN" sz="2300" dirty="0"/>
              <a:t>reduce</a:t>
            </a:r>
            <a:r>
              <a:rPr lang="zh-CN" altLang="en-US" sz="2300" dirty="0"/>
              <a:t>；</a:t>
            </a:r>
            <a:r>
              <a:rPr lang="zh-CN" altLang="en-US" dirty="0"/>
              <a:t>每个</a:t>
            </a:r>
            <a:r>
              <a:rPr lang="en-US" altLang="zh-CN" dirty="0"/>
              <a:t>reduce task</a:t>
            </a:r>
            <a:r>
              <a:rPr lang="zh-CN" altLang="en-US" dirty="0"/>
              <a:t>负责处理一个分区的文件</a:t>
            </a:r>
            <a:endParaRPr lang="en-US" altLang="zh-CN" sz="2300"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5" name="Picture 2" descr="https://img0.baidu.com/it/u=3087232655,1101569049&amp;fm=253&amp;fmt=auto&amp;app=138&amp;f=JPEG?w=1117&amp;h=500">
            <a:extLst>
              <a:ext uri="{FF2B5EF4-FFF2-40B4-BE49-F238E27FC236}">
                <a16:creationId xmlns:a16="http://schemas.microsoft.com/office/drawing/2014/main" id="{A5EA14B0-08E0-4143-B0DB-8C2B3B18A5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343400"/>
            <a:ext cx="6019800" cy="2477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3254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spcBef>
                <a:spcPts val="0"/>
              </a:spcBef>
            </a:pPr>
            <a:r>
              <a:rPr lang="en-US" altLang="zh-CN" b="1" dirty="0"/>
              <a:t>Reduce</a:t>
            </a:r>
            <a:r>
              <a:rPr lang="zh-CN" altLang="en-US" b="1" dirty="0"/>
              <a:t>端的</a:t>
            </a:r>
            <a:r>
              <a:rPr lang="en-US" altLang="zh-CN" b="1" dirty="0"/>
              <a:t>shuffle</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sz="2300" dirty="0"/>
              <a:t>reduce task</a:t>
            </a:r>
            <a:r>
              <a:rPr lang="zh-CN" altLang="en-US" sz="2300" dirty="0"/>
              <a:t>从每个</a:t>
            </a:r>
            <a:r>
              <a:rPr lang="en-US" altLang="zh-CN" sz="2300" dirty="0"/>
              <a:t>map task</a:t>
            </a:r>
            <a:r>
              <a:rPr lang="zh-CN" altLang="en-US" sz="2300" dirty="0"/>
              <a:t>的结果文件中拉取对应分区的数据</a:t>
            </a:r>
            <a:endParaRPr lang="en-US" altLang="zh-CN" sz="2300" dirty="0"/>
          </a:p>
          <a:p>
            <a:pPr lvl="1" algn="just"/>
            <a:r>
              <a:rPr lang="zh-CN" altLang="en-US" sz="2300" dirty="0"/>
              <a:t>因为数据在</a:t>
            </a:r>
            <a:r>
              <a:rPr lang="en-US" altLang="zh-CN" sz="2300" dirty="0"/>
              <a:t>map</a:t>
            </a:r>
            <a:r>
              <a:rPr lang="zh-CN" altLang="en-US" sz="2300" dirty="0"/>
              <a:t>阶段已经是分好区了，并且会有一个额外的索引文件记录每个分区的起始偏移量；所以</a:t>
            </a:r>
            <a:r>
              <a:rPr lang="en-US" altLang="zh-CN" sz="2300" dirty="0"/>
              <a:t>reduce task</a:t>
            </a:r>
            <a:r>
              <a:rPr lang="zh-CN" altLang="en-US" sz="2300" dirty="0"/>
              <a:t>取数的时候直接根据偏移量去拉取数据就</a:t>
            </a:r>
            <a:r>
              <a:rPr lang="en-US" altLang="zh-CN" sz="2300" dirty="0"/>
              <a:t>ok</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5" name="Picture 2" descr="https://img0.baidu.com/it/u=3087232655,1101569049&amp;fm=253&amp;fmt=auto&amp;app=138&amp;f=JPEG?w=1117&amp;h=500">
            <a:extLst>
              <a:ext uri="{FF2B5EF4-FFF2-40B4-BE49-F238E27FC236}">
                <a16:creationId xmlns:a16="http://schemas.microsoft.com/office/drawing/2014/main" id="{A5EA14B0-08E0-4143-B0DB-8C2B3B18A5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343400"/>
            <a:ext cx="6019800" cy="2477098"/>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圆角 1">
            <a:extLst>
              <a:ext uri="{FF2B5EF4-FFF2-40B4-BE49-F238E27FC236}">
                <a16:creationId xmlns:a16="http://schemas.microsoft.com/office/drawing/2014/main" id="{FC751E6A-9072-4970-AE79-39868D01FBE9}"/>
              </a:ext>
            </a:extLst>
          </p:cNvPr>
          <p:cNvSpPr/>
          <p:nvPr/>
        </p:nvSpPr>
        <p:spPr>
          <a:xfrm>
            <a:off x="4572000" y="4648200"/>
            <a:ext cx="457200" cy="16002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54944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spcBef>
                <a:spcPts val="0"/>
              </a:spcBef>
            </a:pPr>
            <a:r>
              <a:rPr lang="en-US" altLang="zh-CN" b="1" dirty="0"/>
              <a:t>Reduce</a:t>
            </a:r>
            <a:r>
              <a:rPr lang="zh-CN" altLang="en-US" b="1" dirty="0"/>
              <a:t>端的</a:t>
            </a:r>
            <a:r>
              <a:rPr lang="en-US" altLang="zh-CN" b="1" dirty="0"/>
              <a:t>shuffle</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dirty="0"/>
              <a:t>reduce task</a:t>
            </a:r>
            <a:r>
              <a:rPr lang="zh-CN" altLang="en-US" dirty="0"/>
              <a:t>从每个</a:t>
            </a:r>
            <a:r>
              <a:rPr lang="en-US" altLang="zh-CN" dirty="0"/>
              <a:t>map task</a:t>
            </a:r>
            <a:r>
              <a:rPr lang="zh-CN" altLang="en-US" dirty="0"/>
              <a:t>拉取分区数据的时候会进行再次合并，排序</a:t>
            </a:r>
            <a:endParaRPr lang="en-US" altLang="zh-CN" sz="2300"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5" name="Picture 2" descr="https://img0.baidu.com/it/u=3087232655,1101569049&amp;fm=253&amp;fmt=auto&amp;app=138&amp;f=JPEG?w=1117&amp;h=500">
            <a:extLst>
              <a:ext uri="{FF2B5EF4-FFF2-40B4-BE49-F238E27FC236}">
                <a16:creationId xmlns:a16="http://schemas.microsoft.com/office/drawing/2014/main" id="{A5EA14B0-08E0-4143-B0DB-8C2B3B18A5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343400"/>
            <a:ext cx="6019800" cy="2477098"/>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圆角 1">
            <a:extLst>
              <a:ext uri="{FF2B5EF4-FFF2-40B4-BE49-F238E27FC236}">
                <a16:creationId xmlns:a16="http://schemas.microsoft.com/office/drawing/2014/main" id="{B3CD908F-3F6F-4679-B3D8-ADB748347A81}"/>
              </a:ext>
            </a:extLst>
          </p:cNvPr>
          <p:cNvSpPr/>
          <p:nvPr/>
        </p:nvSpPr>
        <p:spPr>
          <a:xfrm>
            <a:off x="4953000" y="4419600"/>
            <a:ext cx="1143000" cy="16764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24936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spcBef>
                <a:spcPts val="0"/>
              </a:spcBef>
            </a:pPr>
            <a:r>
              <a:rPr lang="en-US" altLang="zh-CN" b="1" dirty="0"/>
              <a:t>Reduce</a:t>
            </a:r>
            <a:r>
              <a:rPr lang="zh-CN" altLang="en-US" b="1" dirty="0"/>
              <a:t>端的</a:t>
            </a:r>
            <a:r>
              <a:rPr lang="en-US" altLang="zh-CN" b="1" dirty="0"/>
              <a:t>shuffle</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en-US" dirty="0"/>
              <a:t>最后就是</a:t>
            </a:r>
            <a:r>
              <a:rPr lang="en-US" altLang="zh-CN" dirty="0"/>
              <a:t>Reduce</a:t>
            </a:r>
            <a:r>
              <a:rPr lang="zh-CN" altLang="en-US" dirty="0"/>
              <a:t>过程了，在这个过程中产生了最终的输出结果</a:t>
            </a:r>
            <a:endParaRPr lang="en-US" altLang="zh-CN" dirty="0"/>
          </a:p>
          <a:p>
            <a:pPr lvl="1" algn="just"/>
            <a:r>
              <a:rPr lang="zh-CN" altLang="en-US" dirty="0"/>
              <a:t>并将其写到</a:t>
            </a:r>
            <a:r>
              <a:rPr lang="en-US" altLang="zh-CN" dirty="0"/>
              <a:t>HDFS</a:t>
            </a:r>
            <a:r>
              <a:rPr lang="zh-CN" altLang="en-US" dirty="0"/>
              <a:t>上</a:t>
            </a:r>
            <a:endParaRPr lang="en-US" altLang="zh-CN" sz="2300"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5" name="Picture 2" descr="https://img0.baidu.com/it/u=3087232655,1101569049&amp;fm=253&amp;fmt=auto&amp;app=138&amp;f=JPEG?w=1117&amp;h=500">
            <a:extLst>
              <a:ext uri="{FF2B5EF4-FFF2-40B4-BE49-F238E27FC236}">
                <a16:creationId xmlns:a16="http://schemas.microsoft.com/office/drawing/2014/main" id="{A5EA14B0-08E0-4143-B0DB-8C2B3B18A5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343400"/>
            <a:ext cx="6019800" cy="2477098"/>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圆角 1">
            <a:extLst>
              <a:ext uri="{FF2B5EF4-FFF2-40B4-BE49-F238E27FC236}">
                <a16:creationId xmlns:a16="http://schemas.microsoft.com/office/drawing/2014/main" id="{B3CD908F-3F6F-4679-B3D8-ADB748347A81}"/>
              </a:ext>
            </a:extLst>
          </p:cNvPr>
          <p:cNvSpPr/>
          <p:nvPr/>
        </p:nvSpPr>
        <p:spPr>
          <a:xfrm>
            <a:off x="6245208" y="4342602"/>
            <a:ext cx="1143000" cy="16764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191887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4861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spcBef>
                <a:spcPts val="0"/>
              </a:spcBef>
            </a:pPr>
            <a:r>
              <a:rPr lang="en-US" altLang="zh-CN" b="1" dirty="0"/>
              <a:t>Spark</a:t>
            </a:r>
            <a:r>
              <a:rPr lang="zh-CN" altLang="en-US" b="1" dirty="0"/>
              <a:t>的</a:t>
            </a:r>
            <a:r>
              <a:rPr lang="en-US" altLang="zh-CN" b="1" dirty="0"/>
              <a:t>Shuffle</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en-US" dirty="0"/>
              <a:t>在</a:t>
            </a:r>
            <a:r>
              <a:rPr lang="en-US" altLang="zh-CN" dirty="0"/>
              <a:t>Spark</a:t>
            </a:r>
            <a:r>
              <a:rPr lang="zh-CN" altLang="en-US" dirty="0"/>
              <a:t>中</a:t>
            </a:r>
            <a:r>
              <a:rPr lang="en-US" altLang="zh-CN" dirty="0"/>
              <a:t>Shuffle write</a:t>
            </a:r>
            <a:r>
              <a:rPr lang="zh-CN" altLang="en-US" dirty="0"/>
              <a:t>相当于</a:t>
            </a:r>
            <a:r>
              <a:rPr lang="en-US" altLang="zh-CN" dirty="0"/>
              <a:t>MapReduce </a:t>
            </a:r>
            <a:r>
              <a:rPr lang="zh-CN" altLang="en-US" dirty="0"/>
              <a:t>的</a:t>
            </a:r>
            <a:r>
              <a:rPr lang="en-US" altLang="zh-CN" dirty="0"/>
              <a:t>map</a:t>
            </a:r>
            <a:r>
              <a:rPr lang="zh-CN" altLang="en-US" dirty="0"/>
              <a:t>，</a:t>
            </a:r>
            <a:r>
              <a:rPr lang="en-US" altLang="zh-CN" dirty="0"/>
              <a:t>Shuffle read</a:t>
            </a:r>
            <a:r>
              <a:rPr lang="zh-CN" altLang="en-US" dirty="0"/>
              <a:t>相当于</a:t>
            </a:r>
            <a:r>
              <a:rPr lang="en-US" altLang="zh-CN" dirty="0"/>
              <a:t>MapReduce </a:t>
            </a:r>
            <a:r>
              <a:rPr lang="zh-CN" altLang="en-US" dirty="0"/>
              <a:t>的</a:t>
            </a:r>
            <a:r>
              <a:rPr lang="en-US" altLang="zh-CN" dirty="0"/>
              <a:t>reduce</a:t>
            </a:r>
          </a:p>
          <a:p>
            <a:pPr lvl="1" algn="just"/>
            <a:r>
              <a:rPr lang="en-US" altLang="zh-CN" sz="2300" dirty="0"/>
              <a:t>Spark</a:t>
            </a:r>
            <a:r>
              <a:rPr lang="zh-CN" altLang="en-US" sz="2300" dirty="0"/>
              <a:t>丰富了任务类型</a:t>
            </a:r>
            <a:endParaRPr lang="en-US" altLang="zh-CN" sz="2300" dirty="0"/>
          </a:p>
          <a:p>
            <a:pPr lvl="1" algn="just"/>
            <a:r>
              <a:rPr lang="zh-CN" altLang="en-US" sz="2300" dirty="0"/>
              <a:t>有些任务之间数据流转不需要通过</a:t>
            </a:r>
            <a:r>
              <a:rPr lang="en-US" altLang="zh-CN" sz="2300" dirty="0"/>
              <a:t>Shuffle</a:t>
            </a:r>
          </a:p>
          <a:p>
            <a:pPr lvl="1" algn="just"/>
            <a:r>
              <a:rPr lang="zh-CN" altLang="en-US" sz="2300" dirty="0"/>
              <a:t>但是有些任务之间还是需要通过</a:t>
            </a:r>
            <a:r>
              <a:rPr lang="en-US" altLang="zh-CN" sz="2300" dirty="0"/>
              <a:t>Shuffle</a:t>
            </a:r>
            <a:r>
              <a:rPr lang="zh-CN" altLang="en-US" sz="2300" dirty="0"/>
              <a:t>来传递数据，比如宽依赖的</a:t>
            </a:r>
            <a:r>
              <a:rPr lang="en-US" altLang="zh-CN" sz="2300" dirty="0"/>
              <a:t>group by key</a:t>
            </a:r>
            <a:r>
              <a:rPr lang="zh-CN" altLang="en-US" sz="2300" dirty="0"/>
              <a:t>以及各种</a:t>
            </a:r>
            <a:r>
              <a:rPr lang="en-US" altLang="zh-CN" sz="2300" dirty="0"/>
              <a:t>by key</a:t>
            </a:r>
            <a:r>
              <a:rPr lang="zh-CN" altLang="en-US" sz="2300" dirty="0"/>
              <a:t>算子</a:t>
            </a:r>
            <a:endParaRPr lang="en-US" altLang="zh-CN" sz="2300"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4950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fontScale="77500" lnSpcReduction="20000"/>
          </a:bodyPr>
          <a:lstStyle/>
          <a:p>
            <a:pPr algn="just">
              <a:lnSpc>
                <a:spcPct val="120000"/>
              </a:lnSpc>
              <a:spcBef>
                <a:spcPts val="0"/>
              </a:spcBef>
            </a:pPr>
            <a:r>
              <a:rPr lang="en-US" altLang="zh-CN" b="1" dirty="0"/>
              <a:t>Spark</a:t>
            </a:r>
            <a:r>
              <a:rPr lang="zh-CN" altLang="en-US" b="1" dirty="0"/>
              <a:t>的</a:t>
            </a:r>
            <a:r>
              <a:rPr lang="en-US" altLang="zh-CN" b="1" dirty="0"/>
              <a:t>Shuffle</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20000"/>
              </a:lnSpc>
            </a:pPr>
            <a:r>
              <a:rPr lang="zh-CN" altLang="en-US" sz="2800" dirty="0"/>
              <a:t>在</a:t>
            </a:r>
            <a:r>
              <a:rPr lang="en-US" altLang="zh-CN" sz="2800" dirty="0"/>
              <a:t>Spark 1.2</a:t>
            </a:r>
            <a:r>
              <a:rPr lang="zh-CN" altLang="en-US" sz="2800" dirty="0"/>
              <a:t>以前，默认的</a:t>
            </a:r>
            <a:r>
              <a:rPr lang="en-US" altLang="zh-CN" sz="2800" dirty="0"/>
              <a:t>shuffle</a:t>
            </a:r>
            <a:r>
              <a:rPr lang="zh-CN" altLang="en-US" sz="2800" dirty="0"/>
              <a:t>计算引擎是</a:t>
            </a:r>
            <a:r>
              <a:rPr lang="en-US" altLang="zh-CN" sz="2800" dirty="0" err="1"/>
              <a:t>HashShuffleManager</a:t>
            </a:r>
            <a:endParaRPr lang="en-US" altLang="zh-CN" sz="2800" dirty="0"/>
          </a:p>
          <a:p>
            <a:pPr lvl="1" algn="just">
              <a:lnSpc>
                <a:spcPct val="120000"/>
              </a:lnSpc>
            </a:pPr>
            <a:r>
              <a:rPr lang="zh-CN" altLang="en-US" sz="2800" dirty="0"/>
              <a:t>该</a:t>
            </a:r>
            <a:r>
              <a:rPr lang="en-US" altLang="zh-CN" sz="2800" dirty="0" err="1"/>
              <a:t>ShuffleManager</a:t>
            </a:r>
            <a:r>
              <a:rPr lang="zh-CN" altLang="en-US" sz="2800" dirty="0"/>
              <a:t>即</a:t>
            </a:r>
            <a:r>
              <a:rPr lang="en-US" altLang="zh-CN" sz="2800" dirty="0" err="1"/>
              <a:t>HashShuffleManager</a:t>
            </a:r>
            <a:r>
              <a:rPr lang="zh-CN" altLang="en-US" sz="2800" dirty="0"/>
              <a:t>有着一个非常严重的弊端，就是会产生大量的中间磁盘文件，进而由大量的磁盘</a:t>
            </a:r>
            <a:r>
              <a:rPr lang="en-US" altLang="zh-CN" sz="2800" dirty="0"/>
              <a:t>IO</a:t>
            </a:r>
            <a:r>
              <a:rPr lang="zh-CN" altLang="en-US" sz="2800" dirty="0"/>
              <a:t>操作影响了性能。因此在</a:t>
            </a:r>
            <a:r>
              <a:rPr lang="en-US" altLang="zh-CN" sz="2800" dirty="0"/>
              <a:t>Spark 1.2</a:t>
            </a:r>
            <a:r>
              <a:rPr lang="zh-CN" altLang="en-US" sz="2800" dirty="0"/>
              <a:t>以后的版本中，默认的</a:t>
            </a:r>
            <a:r>
              <a:rPr lang="en-US" altLang="zh-CN" sz="2800" dirty="0" err="1"/>
              <a:t>ShuffleManager</a:t>
            </a:r>
            <a:r>
              <a:rPr lang="zh-CN" altLang="en-US" sz="2800" dirty="0"/>
              <a:t>改成了</a:t>
            </a:r>
            <a:r>
              <a:rPr lang="en-US" altLang="zh-CN" sz="2800" dirty="0" err="1"/>
              <a:t>SortShuffleManager</a:t>
            </a:r>
            <a:endParaRPr lang="en-US" altLang="zh-CN" sz="2800" dirty="0"/>
          </a:p>
          <a:p>
            <a:pPr lvl="1" algn="just">
              <a:lnSpc>
                <a:spcPct val="120000"/>
              </a:lnSpc>
            </a:pPr>
            <a:r>
              <a:rPr lang="en-US" altLang="zh-CN" sz="2800" dirty="0" err="1"/>
              <a:t>SortShuffleManager</a:t>
            </a:r>
            <a:r>
              <a:rPr lang="zh-CN" altLang="en-US" sz="2800" dirty="0"/>
              <a:t>相较于</a:t>
            </a:r>
            <a:r>
              <a:rPr lang="en-US" altLang="zh-CN" sz="2800" dirty="0" err="1"/>
              <a:t>HashShuffleManager</a:t>
            </a:r>
            <a:r>
              <a:rPr lang="zh-CN" altLang="en-US" sz="2800" dirty="0"/>
              <a:t>来说，有了一定的改进；主要就在于，每个</a:t>
            </a:r>
            <a:r>
              <a:rPr lang="en-US" altLang="zh-CN" sz="2800" dirty="0"/>
              <a:t>Task</a:t>
            </a:r>
            <a:r>
              <a:rPr lang="zh-CN" altLang="en-US" sz="2800" dirty="0"/>
              <a:t>在进行</a:t>
            </a:r>
            <a:r>
              <a:rPr lang="en-US" altLang="zh-CN" sz="2800" dirty="0"/>
              <a:t>shuffle</a:t>
            </a:r>
            <a:r>
              <a:rPr lang="zh-CN" altLang="en-US" sz="2800" dirty="0"/>
              <a:t>操作时，虽然也会产生较多的临时磁盘文件，但是最后会将所有的临时文件合并</a:t>
            </a:r>
            <a:r>
              <a:rPr lang="en-US" altLang="zh-CN" sz="2800" dirty="0"/>
              <a:t>(merge)</a:t>
            </a:r>
            <a:r>
              <a:rPr lang="zh-CN" altLang="en-US" sz="2800" dirty="0"/>
              <a:t>成一个磁盘文件，因此每个</a:t>
            </a:r>
            <a:r>
              <a:rPr lang="en-US" altLang="zh-CN" sz="2800" dirty="0"/>
              <a:t>Task</a:t>
            </a:r>
            <a:r>
              <a:rPr lang="zh-CN" altLang="en-US" sz="2800" dirty="0"/>
              <a:t>就只有一个磁盘文件；在下一个</a:t>
            </a:r>
            <a:r>
              <a:rPr lang="en-US" altLang="zh-CN" sz="2800" dirty="0"/>
              <a:t>stage</a:t>
            </a:r>
            <a:r>
              <a:rPr lang="zh-CN" altLang="en-US" sz="2800" dirty="0"/>
              <a:t>的</a:t>
            </a:r>
            <a:r>
              <a:rPr lang="en-US" altLang="zh-CN" sz="2800" dirty="0"/>
              <a:t>shuffle read task</a:t>
            </a:r>
            <a:r>
              <a:rPr lang="zh-CN" altLang="en-US" sz="2800" dirty="0"/>
              <a:t>拉取自己的数据时，只要根据索引读取每个磁盘文件中的部分数据即可</a:t>
            </a:r>
            <a:endParaRPr lang="en-US" altLang="zh-CN" sz="2800"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58886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fontScale="92500" lnSpcReduction="10000"/>
          </a:bodyPr>
          <a:lstStyle/>
          <a:p>
            <a:pPr algn="just">
              <a:lnSpc>
                <a:spcPct val="120000"/>
              </a:lnSpc>
              <a:spcBef>
                <a:spcPts val="0"/>
              </a:spcBef>
            </a:pPr>
            <a:r>
              <a:rPr lang="en-US" altLang="zh-CN" b="1" dirty="0"/>
              <a:t>Spark</a:t>
            </a:r>
            <a:r>
              <a:rPr lang="zh-CN" altLang="en-US" b="1" dirty="0"/>
              <a:t>的</a:t>
            </a:r>
            <a:r>
              <a:rPr lang="en-US" altLang="zh-CN" b="1" dirty="0"/>
              <a:t>Shuffle</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20000"/>
              </a:lnSpc>
            </a:pPr>
            <a:r>
              <a:rPr lang="en-US" altLang="zh-CN" sz="2600" dirty="0">
                <a:solidFill>
                  <a:srgbClr val="C00000"/>
                </a:solidFill>
              </a:rPr>
              <a:t>Spark 0.8</a:t>
            </a:r>
            <a:r>
              <a:rPr lang="zh-CN" altLang="en-US" sz="2600" dirty="0">
                <a:solidFill>
                  <a:srgbClr val="C00000"/>
                </a:solidFill>
              </a:rPr>
              <a:t>及以前 </a:t>
            </a:r>
            <a:r>
              <a:rPr lang="en-US" altLang="zh-CN" sz="2600" dirty="0">
                <a:solidFill>
                  <a:srgbClr val="C00000"/>
                </a:solidFill>
              </a:rPr>
              <a:t>Hash Based Shuffle</a:t>
            </a:r>
          </a:p>
          <a:p>
            <a:pPr lvl="1" algn="just">
              <a:lnSpc>
                <a:spcPct val="120000"/>
              </a:lnSpc>
            </a:pPr>
            <a:r>
              <a:rPr lang="en-US" altLang="zh-CN" sz="2600" dirty="0"/>
              <a:t>Spark 0.8.1 </a:t>
            </a:r>
            <a:r>
              <a:rPr lang="zh-CN" altLang="en-US" sz="2600" dirty="0"/>
              <a:t>为</a:t>
            </a:r>
            <a:r>
              <a:rPr lang="en-US" altLang="zh-CN" sz="2600" dirty="0"/>
              <a:t>Hash Based Shuffle</a:t>
            </a:r>
            <a:r>
              <a:rPr lang="zh-CN" altLang="en-US" sz="2600" dirty="0"/>
              <a:t>引入</a:t>
            </a:r>
            <a:r>
              <a:rPr lang="en-US" altLang="zh-CN" sz="2600" dirty="0"/>
              <a:t>File Consolidation</a:t>
            </a:r>
            <a:r>
              <a:rPr lang="zh-CN" altLang="en-US" sz="2600" dirty="0"/>
              <a:t>机制</a:t>
            </a:r>
            <a:endParaRPr lang="en-US" altLang="zh-CN" sz="2600" dirty="0"/>
          </a:p>
          <a:p>
            <a:pPr lvl="1" algn="just">
              <a:lnSpc>
                <a:spcPct val="120000"/>
              </a:lnSpc>
            </a:pPr>
            <a:r>
              <a:rPr lang="en-US" altLang="zh-CN" sz="2600" dirty="0"/>
              <a:t>Spark 0.9 </a:t>
            </a:r>
            <a:r>
              <a:rPr lang="zh-CN" altLang="en-US" sz="2600" dirty="0"/>
              <a:t>引入</a:t>
            </a:r>
            <a:r>
              <a:rPr lang="en-US" altLang="zh-CN" sz="2600" dirty="0" err="1"/>
              <a:t>ExternalAppendOnlyMap</a:t>
            </a:r>
            <a:endParaRPr lang="en-US" altLang="zh-CN" sz="2600" dirty="0"/>
          </a:p>
          <a:p>
            <a:pPr lvl="1" algn="just">
              <a:lnSpc>
                <a:spcPct val="120000"/>
              </a:lnSpc>
            </a:pPr>
            <a:r>
              <a:rPr lang="en-US" altLang="zh-CN" sz="2600" dirty="0"/>
              <a:t>Spark 1.1 </a:t>
            </a:r>
            <a:r>
              <a:rPr lang="zh-CN" altLang="en-US" sz="2600" dirty="0"/>
              <a:t>引入</a:t>
            </a:r>
            <a:r>
              <a:rPr lang="en-US" altLang="zh-CN" sz="2600" dirty="0"/>
              <a:t>Sort Based Shuffle</a:t>
            </a:r>
            <a:r>
              <a:rPr lang="zh-CN" altLang="en-US" sz="2600" dirty="0"/>
              <a:t>，但默认仍为</a:t>
            </a:r>
            <a:r>
              <a:rPr lang="en-US" altLang="zh-CN" sz="2600" dirty="0"/>
              <a:t>Hash Based Shuffle</a:t>
            </a:r>
          </a:p>
          <a:p>
            <a:pPr lvl="1" algn="just">
              <a:lnSpc>
                <a:spcPct val="120000"/>
              </a:lnSpc>
            </a:pPr>
            <a:r>
              <a:rPr lang="en-US" altLang="zh-CN" sz="2600" dirty="0">
                <a:solidFill>
                  <a:srgbClr val="C00000"/>
                </a:solidFill>
              </a:rPr>
              <a:t>Spark 1.2 </a:t>
            </a:r>
            <a:r>
              <a:rPr lang="zh-CN" altLang="en-US" sz="2600" dirty="0">
                <a:solidFill>
                  <a:srgbClr val="C00000"/>
                </a:solidFill>
              </a:rPr>
              <a:t>默认的</a:t>
            </a:r>
            <a:r>
              <a:rPr lang="en-US" altLang="zh-CN" sz="2600" dirty="0">
                <a:solidFill>
                  <a:srgbClr val="C00000"/>
                </a:solidFill>
              </a:rPr>
              <a:t>Shuffle</a:t>
            </a:r>
            <a:r>
              <a:rPr lang="zh-CN" altLang="en-US" sz="2600" dirty="0">
                <a:solidFill>
                  <a:srgbClr val="C00000"/>
                </a:solidFill>
              </a:rPr>
              <a:t>方式改为</a:t>
            </a:r>
            <a:r>
              <a:rPr lang="en-US" altLang="zh-CN" sz="2600" dirty="0">
                <a:solidFill>
                  <a:srgbClr val="C00000"/>
                </a:solidFill>
              </a:rPr>
              <a:t>Sort Based Shuffle</a:t>
            </a:r>
          </a:p>
          <a:p>
            <a:pPr lvl="1" algn="just">
              <a:lnSpc>
                <a:spcPct val="120000"/>
              </a:lnSpc>
            </a:pPr>
            <a:r>
              <a:rPr lang="en-US" altLang="zh-CN" sz="2600" dirty="0"/>
              <a:t>Spark 1.4 </a:t>
            </a:r>
            <a:r>
              <a:rPr lang="zh-CN" altLang="en-US" sz="2600" dirty="0"/>
              <a:t>引入</a:t>
            </a:r>
            <a:r>
              <a:rPr lang="en-US" altLang="zh-CN" sz="2600" dirty="0"/>
              <a:t>Tungsten-Sort Based Shuffle</a:t>
            </a:r>
          </a:p>
          <a:p>
            <a:pPr lvl="1" algn="just">
              <a:lnSpc>
                <a:spcPct val="120000"/>
              </a:lnSpc>
            </a:pPr>
            <a:r>
              <a:rPr lang="en-US" altLang="zh-CN" sz="2600" dirty="0"/>
              <a:t>Spark 1.6 Tungsten-sort</a:t>
            </a:r>
            <a:r>
              <a:rPr lang="zh-CN" altLang="en-US" sz="2600" dirty="0"/>
              <a:t>并入</a:t>
            </a:r>
            <a:r>
              <a:rPr lang="en-US" altLang="zh-CN" sz="2600" dirty="0"/>
              <a:t>Sort Based Shuffle</a:t>
            </a:r>
          </a:p>
          <a:p>
            <a:pPr lvl="1" algn="just">
              <a:lnSpc>
                <a:spcPct val="120000"/>
              </a:lnSpc>
            </a:pPr>
            <a:r>
              <a:rPr lang="en-US" altLang="zh-CN" sz="2600" dirty="0">
                <a:solidFill>
                  <a:srgbClr val="C00000"/>
                </a:solidFill>
              </a:rPr>
              <a:t>Spark 2.0 Hash Based Shuffle</a:t>
            </a:r>
            <a:r>
              <a:rPr lang="zh-CN" altLang="en-US" sz="2600" dirty="0">
                <a:solidFill>
                  <a:srgbClr val="C00000"/>
                </a:solidFill>
              </a:rPr>
              <a:t>退出历史舞台</a:t>
            </a:r>
            <a:endParaRPr lang="en-US" altLang="zh-CN" sz="2800" dirty="0">
              <a:solidFill>
                <a:srgbClr val="C00000"/>
              </a:solidFill>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912871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en-US" altLang="zh-CN" b="1" dirty="0"/>
              <a:t>Hash Shuffle</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20000"/>
              </a:lnSpc>
            </a:pPr>
            <a:r>
              <a:rPr lang="en-US" altLang="zh-CN" sz="2600" dirty="0" err="1"/>
              <a:t>HashShuffleManager</a:t>
            </a:r>
            <a:r>
              <a:rPr lang="zh-CN" altLang="en-US" sz="2600" dirty="0"/>
              <a:t>的运行机制主要分成两种</a:t>
            </a:r>
            <a:endParaRPr lang="en-US" altLang="zh-CN" sz="2600" dirty="0"/>
          </a:p>
          <a:p>
            <a:pPr lvl="1" algn="just">
              <a:lnSpc>
                <a:spcPct val="120000"/>
              </a:lnSpc>
            </a:pPr>
            <a:r>
              <a:rPr lang="zh-CN" altLang="en-US" sz="2600" dirty="0"/>
              <a:t>一种是普通运行机制</a:t>
            </a:r>
            <a:endParaRPr lang="en-US" altLang="zh-CN" sz="2600" dirty="0"/>
          </a:p>
          <a:p>
            <a:pPr lvl="1" algn="just">
              <a:lnSpc>
                <a:spcPct val="120000"/>
              </a:lnSpc>
            </a:pPr>
            <a:r>
              <a:rPr lang="zh-CN" altLang="en-US" sz="2600" dirty="0"/>
              <a:t>另一种是合并的运行机制</a:t>
            </a:r>
            <a:endParaRPr lang="en-US" altLang="zh-CN" sz="2600" dirty="0"/>
          </a:p>
          <a:p>
            <a:pPr lvl="2" algn="just">
              <a:lnSpc>
                <a:spcPct val="120000"/>
              </a:lnSpc>
            </a:pPr>
            <a:r>
              <a:rPr lang="zh-CN" altLang="en-US" sz="2200" dirty="0"/>
              <a:t>合并机制主要是通过复用</a:t>
            </a:r>
            <a:r>
              <a:rPr lang="en-US" altLang="zh-CN" sz="2200" dirty="0"/>
              <a:t>buffer</a:t>
            </a:r>
            <a:r>
              <a:rPr lang="zh-CN" altLang="en-US" sz="2200" dirty="0"/>
              <a:t>来优化</a:t>
            </a:r>
            <a:r>
              <a:rPr lang="en-US" altLang="zh-CN" sz="2200" dirty="0"/>
              <a:t>Shuffle</a:t>
            </a:r>
            <a:r>
              <a:rPr lang="zh-CN" altLang="en-US" sz="2200" dirty="0"/>
              <a:t>过程中产生的小文件的数量</a:t>
            </a:r>
            <a:endParaRPr lang="en-US" altLang="zh-CN" sz="2200" dirty="0"/>
          </a:p>
          <a:p>
            <a:pPr lvl="1" algn="just">
              <a:lnSpc>
                <a:spcPct val="120000"/>
              </a:lnSpc>
            </a:pPr>
            <a:r>
              <a:rPr lang="en-US" altLang="zh-CN" sz="2600" dirty="0"/>
              <a:t>Hash shuffle</a:t>
            </a:r>
            <a:r>
              <a:rPr lang="zh-CN" altLang="en-US" sz="2600" dirty="0"/>
              <a:t>是不具有排序的</a:t>
            </a:r>
            <a:r>
              <a:rPr lang="en-US" altLang="zh-CN" sz="2600" dirty="0"/>
              <a:t>Shuffle</a:t>
            </a:r>
            <a:endParaRPr lang="en-US" altLang="zh-CN" sz="2800"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747747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zh-CN" altLang="en-US" b="1" dirty="0"/>
              <a:t>普通机制的</a:t>
            </a:r>
            <a:r>
              <a:rPr lang="en-US" altLang="zh-CN" b="1" dirty="0"/>
              <a:t>Hash Shuffle</a:t>
            </a:r>
          </a:p>
          <a:p>
            <a:pPr lvl="1" algn="just">
              <a:lnSpc>
                <a:spcPct val="120000"/>
              </a:lnSpc>
              <a:spcBef>
                <a:spcPts val="0"/>
              </a:spcBef>
            </a:pPr>
            <a:r>
              <a:rPr lang="zh-CN" altLang="en-US" dirty="0"/>
              <a:t>最开始使用的</a:t>
            </a:r>
            <a:r>
              <a:rPr lang="en-US" altLang="zh-CN" dirty="0"/>
              <a:t>Hash Based Shuffle</a:t>
            </a:r>
            <a:r>
              <a:rPr lang="zh-CN" altLang="en-US" dirty="0"/>
              <a:t>，每个</a:t>
            </a:r>
            <a:r>
              <a:rPr lang="en-US" altLang="zh-CN" dirty="0"/>
              <a:t>Mapper</a:t>
            </a:r>
            <a:r>
              <a:rPr lang="zh-CN" altLang="en-US" dirty="0"/>
              <a:t>会根据</a:t>
            </a:r>
            <a:r>
              <a:rPr lang="en-US" altLang="zh-CN" dirty="0"/>
              <a:t>Reducer</a:t>
            </a:r>
            <a:r>
              <a:rPr lang="zh-CN" altLang="en-US" dirty="0"/>
              <a:t>的数量创建对应的</a:t>
            </a:r>
            <a:r>
              <a:rPr lang="en-US" altLang="zh-CN" dirty="0"/>
              <a:t>bucket</a:t>
            </a:r>
            <a:r>
              <a:rPr lang="zh-CN" altLang="en-US" dirty="0"/>
              <a:t>，</a:t>
            </a:r>
            <a:r>
              <a:rPr lang="en-US" altLang="zh-CN" dirty="0"/>
              <a:t>bucket</a:t>
            </a:r>
            <a:r>
              <a:rPr lang="zh-CN" altLang="en-US" dirty="0"/>
              <a:t>的数量是</a:t>
            </a:r>
            <a:r>
              <a:rPr lang="en-US" altLang="zh-CN" dirty="0"/>
              <a:t>M * R</a:t>
            </a:r>
            <a:r>
              <a:rPr lang="zh-CN" altLang="en-US" dirty="0"/>
              <a:t>，</a:t>
            </a:r>
            <a:r>
              <a:rPr lang="en-US" altLang="zh-CN" dirty="0"/>
              <a:t>M</a:t>
            </a:r>
            <a:r>
              <a:rPr lang="zh-CN" altLang="en-US" dirty="0"/>
              <a:t>是</a:t>
            </a:r>
            <a:r>
              <a:rPr lang="en-US" altLang="zh-CN" dirty="0"/>
              <a:t>map</a:t>
            </a:r>
            <a:r>
              <a:rPr lang="zh-CN" altLang="en-US" dirty="0"/>
              <a:t>的数量，</a:t>
            </a:r>
            <a:r>
              <a:rPr lang="en-US" altLang="zh-CN" dirty="0"/>
              <a:t>R</a:t>
            </a:r>
            <a:r>
              <a:rPr lang="zh-CN" altLang="en-US" dirty="0"/>
              <a:t>是</a:t>
            </a:r>
            <a:r>
              <a:rPr lang="en-US" altLang="zh-CN" dirty="0"/>
              <a:t>Reduce</a:t>
            </a:r>
            <a:r>
              <a:rPr lang="zh-CN" altLang="en-US" dirty="0"/>
              <a:t>的数量</a:t>
            </a:r>
            <a:endParaRPr lang="en-US" altLang="zh-CN" dirty="0"/>
          </a:p>
          <a:p>
            <a:pPr lvl="1" algn="just">
              <a:lnSpc>
                <a:spcPct val="120000"/>
              </a:lnSpc>
              <a:spcBef>
                <a:spcPts val="0"/>
              </a:spcBef>
            </a:pPr>
            <a:r>
              <a:rPr lang="zh-CN" altLang="en-US" dirty="0"/>
              <a:t>如图所示，</a:t>
            </a:r>
            <a:r>
              <a:rPr lang="en-US" altLang="zh-CN" dirty="0"/>
              <a:t>2</a:t>
            </a:r>
            <a:r>
              <a:rPr lang="zh-CN" altLang="en-US" dirty="0"/>
              <a:t>个</a:t>
            </a:r>
            <a:r>
              <a:rPr lang="en-US" altLang="zh-CN" dirty="0"/>
              <a:t>core 4</a:t>
            </a:r>
            <a:r>
              <a:rPr lang="zh-CN" altLang="en-US" dirty="0"/>
              <a:t>个</a:t>
            </a:r>
            <a:r>
              <a:rPr lang="en-US" altLang="zh-CN" dirty="0"/>
              <a:t>map task</a:t>
            </a:r>
            <a:r>
              <a:rPr lang="zh-CN" altLang="en-US" dirty="0"/>
              <a:t>、</a:t>
            </a:r>
            <a:r>
              <a:rPr lang="en-US" altLang="zh-CN" dirty="0"/>
              <a:t>3 </a:t>
            </a:r>
            <a:r>
              <a:rPr lang="zh-CN" altLang="en-US" dirty="0"/>
              <a:t>个</a:t>
            </a:r>
            <a:r>
              <a:rPr lang="en-US" altLang="zh-CN" dirty="0"/>
              <a:t>reduce task</a:t>
            </a:r>
            <a:r>
              <a:rPr lang="zh-CN" altLang="en-US" dirty="0"/>
              <a:t>，会产生</a:t>
            </a:r>
            <a:r>
              <a:rPr lang="en-US" altLang="zh-CN" dirty="0"/>
              <a:t>4*3=12</a:t>
            </a:r>
            <a:r>
              <a:rPr lang="zh-CN" altLang="en-US" dirty="0"/>
              <a:t>个小文件</a:t>
            </a:r>
            <a:endParaRPr lang="en-US" altLang="zh-CN" sz="2800"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434992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zh-CN" altLang="en-US" b="1" dirty="0"/>
              <a:t>普通机制的</a:t>
            </a:r>
            <a:r>
              <a:rPr lang="en-US" altLang="zh-CN" b="1" dirty="0"/>
              <a:t>Hash Shuffle</a:t>
            </a:r>
          </a:p>
          <a:p>
            <a:pPr lvl="1" algn="just">
              <a:lnSpc>
                <a:spcPct val="120000"/>
              </a:lnSpc>
              <a:spcBef>
                <a:spcPts val="0"/>
              </a:spcBef>
            </a:pPr>
            <a:r>
              <a:rPr lang="zh-CN" altLang="en-US" dirty="0"/>
              <a:t>最开始使用的</a:t>
            </a:r>
            <a:r>
              <a:rPr lang="en-US" altLang="zh-CN" dirty="0"/>
              <a:t>Hash Based Shuffle</a:t>
            </a:r>
            <a:r>
              <a:rPr lang="zh-CN" altLang="en-US" dirty="0"/>
              <a:t>，每个</a:t>
            </a:r>
            <a:r>
              <a:rPr lang="en-US" altLang="zh-CN" dirty="0"/>
              <a:t>Mapper</a:t>
            </a:r>
            <a:r>
              <a:rPr lang="zh-CN" altLang="en-US" dirty="0"/>
              <a:t>会根据</a:t>
            </a:r>
            <a:r>
              <a:rPr lang="en-US" altLang="zh-CN" dirty="0"/>
              <a:t>Reducer</a:t>
            </a:r>
            <a:r>
              <a:rPr lang="zh-CN" altLang="en-US" dirty="0"/>
              <a:t>的数量创建对应的</a:t>
            </a:r>
            <a:r>
              <a:rPr lang="en-US" altLang="zh-CN" dirty="0"/>
              <a:t>bucket</a:t>
            </a:r>
            <a:r>
              <a:rPr lang="zh-CN" altLang="en-US" dirty="0"/>
              <a:t>，</a:t>
            </a:r>
            <a:r>
              <a:rPr lang="en-US" altLang="zh-CN" dirty="0"/>
              <a:t>bucket</a:t>
            </a:r>
            <a:r>
              <a:rPr lang="zh-CN" altLang="en-US" dirty="0"/>
              <a:t>的数量是</a:t>
            </a:r>
            <a:r>
              <a:rPr lang="en-US" altLang="zh-CN" dirty="0"/>
              <a:t>M * R</a:t>
            </a:r>
            <a:r>
              <a:rPr lang="zh-CN" altLang="en-US" dirty="0"/>
              <a:t>，</a:t>
            </a:r>
            <a:r>
              <a:rPr lang="en-US" altLang="zh-CN" dirty="0"/>
              <a:t>M</a:t>
            </a:r>
            <a:r>
              <a:rPr lang="zh-CN" altLang="en-US" dirty="0"/>
              <a:t>是</a:t>
            </a:r>
            <a:r>
              <a:rPr lang="en-US" altLang="zh-CN" dirty="0"/>
              <a:t>map</a:t>
            </a:r>
            <a:r>
              <a:rPr lang="zh-CN" altLang="en-US" dirty="0"/>
              <a:t>的数量，</a:t>
            </a:r>
            <a:r>
              <a:rPr lang="en-US" altLang="zh-CN" dirty="0"/>
              <a:t>R</a:t>
            </a:r>
            <a:r>
              <a:rPr lang="zh-CN" altLang="en-US" dirty="0"/>
              <a:t>是</a:t>
            </a:r>
            <a:r>
              <a:rPr lang="en-US" altLang="zh-CN" dirty="0"/>
              <a:t>Reduce</a:t>
            </a:r>
            <a:r>
              <a:rPr lang="zh-CN" altLang="en-US" dirty="0"/>
              <a:t>的数量</a:t>
            </a:r>
            <a:endParaRPr lang="en-US" altLang="zh-CN" dirty="0"/>
          </a:p>
          <a:p>
            <a:pPr lvl="1" algn="just">
              <a:lnSpc>
                <a:spcPct val="120000"/>
              </a:lnSpc>
              <a:spcBef>
                <a:spcPts val="0"/>
              </a:spcBef>
            </a:pPr>
            <a:r>
              <a:rPr lang="zh-CN" altLang="en-US" dirty="0"/>
              <a:t>如图所示，</a:t>
            </a:r>
            <a:r>
              <a:rPr lang="en-US" altLang="zh-CN" dirty="0"/>
              <a:t>2</a:t>
            </a:r>
            <a:r>
              <a:rPr lang="zh-CN" altLang="en-US" dirty="0"/>
              <a:t>个</a:t>
            </a:r>
            <a:r>
              <a:rPr lang="en-US" altLang="zh-CN" dirty="0"/>
              <a:t>core 4</a:t>
            </a:r>
            <a:r>
              <a:rPr lang="zh-CN" altLang="en-US" dirty="0"/>
              <a:t>个</a:t>
            </a:r>
            <a:r>
              <a:rPr lang="en-US" altLang="zh-CN" dirty="0"/>
              <a:t>map task</a:t>
            </a:r>
            <a:r>
              <a:rPr lang="zh-CN" altLang="en-US" dirty="0"/>
              <a:t>、</a:t>
            </a:r>
            <a:r>
              <a:rPr lang="en-US" altLang="zh-CN" dirty="0"/>
              <a:t>3 </a:t>
            </a:r>
            <a:r>
              <a:rPr lang="zh-CN" altLang="en-US" dirty="0"/>
              <a:t>个</a:t>
            </a:r>
            <a:r>
              <a:rPr lang="en-US" altLang="zh-CN" dirty="0"/>
              <a:t>reduce task</a:t>
            </a:r>
            <a:r>
              <a:rPr lang="zh-CN" altLang="en-US" dirty="0"/>
              <a:t>，会产生</a:t>
            </a:r>
            <a:r>
              <a:rPr lang="en-US" altLang="zh-CN" dirty="0"/>
              <a:t>4*3=12</a:t>
            </a:r>
            <a:r>
              <a:rPr lang="zh-CN" altLang="en-US" dirty="0"/>
              <a:t>个小文件</a:t>
            </a:r>
            <a:endParaRPr lang="en-US" altLang="zh-CN" sz="2800"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84F954E3-0B63-4B30-A58D-B4384E6B3582}"/>
              </a:ext>
            </a:extLst>
          </p:cNvPr>
          <p:cNvPicPr>
            <a:picLocks noChangeAspect="1"/>
          </p:cNvPicPr>
          <p:nvPr/>
        </p:nvPicPr>
        <p:blipFill>
          <a:blip r:embed="rId2"/>
          <a:stretch>
            <a:fillRect/>
          </a:stretch>
        </p:blipFill>
        <p:spPr>
          <a:xfrm>
            <a:off x="0" y="990600"/>
            <a:ext cx="9144000" cy="5319856"/>
          </a:xfrm>
          <a:prstGeom prst="rect">
            <a:avLst/>
          </a:prstGeom>
        </p:spPr>
      </p:pic>
    </p:spTree>
    <p:extLst>
      <p:ext uri="{BB962C8B-B14F-4D97-AF65-F5344CB8AC3E}">
        <p14:creationId xmlns:p14="http://schemas.microsoft.com/office/powerpoint/2010/main" val="21064579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zh-CN" altLang="en-US" b="1" dirty="0"/>
              <a:t>优化后的</a:t>
            </a:r>
            <a:r>
              <a:rPr lang="en-US" altLang="zh-CN" b="1" dirty="0"/>
              <a:t>Hash Shuffle</a:t>
            </a:r>
          </a:p>
          <a:p>
            <a:pPr lvl="1" algn="just">
              <a:lnSpc>
                <a:spcPct val="120000"/>
              </a:lnSpc>
              <a:spcBef>
                <a:spcPts val="0"/>
              </a:spcBef>
            </a:pPr>
            <a:r>
              <a:rPr lang="zh-CN" altLang="en-US" sz="2200" dirty="0"/>
              <a:t>普通机制</a:t>
            </a:r>
            <a:r>
              <a:rPr lang="en-US" altLang="zh-CN" sz="2200" dirty="0"/>
              <a:t>Hash Shuffle</a:t>
            </a:r>
            <a:r>
              <a:rPr lang="zh-CN" altLang="en-US" sz="2200" dirty="0"/>
              <a:t>会产生大量的小文件</a:t>
            </a:r>
            <a:r>
              <a:rPr lang="en-US" altLang="zh-CN" sz="2200" dirty="0"/>
              <a:t>(M * R</a:t>
            </a:r>
            <a:r>
              <a:rPr lang="zh-CN" altLang="en-US" sz="2200" dirty="0"/>
              <a:t>），对文件系统的压力也很大，也不利于</a:t>
            </a:r>
            <a:r>
              <a:rPr lang="en-US" altLang="zh-CN" sz="2200" dirty="0"/>
              <a:t>IO</a:t>
            </a:r>
            <a:r>
              <a:rPr lang="zh-CN" altLang="en-US" sz="2200" dirty="0"/>
              <a:t>的吞吐量</a:t>
            </a:r>
            <a:endParaRPr lang="en-US" altLang="zh-CN" sz="2200" dirty="0"/>
          </a:p>
          <a:p>
            <a:pPr lvl="1" algn="just">
              <a:lnSpc>
                <a:spcPct val="120000"/>
              </a:lnSpc>
              <a:spcBef>
                <a:spcPts val="0"/>
              </a:spcBef>
            </a:pPr>
            <a:r>
              <a:rPr lang="zh-CN" altLang="en-US" sz="2200" dirty="0"/>
              <a:t>后来做了优化（设置</a:t>
            </a:r>
            <a:r>
              <a:rPr lang="en-US" altLang="zh-CN" sz="2200" dirty="0" err="1"/>
              <a:t>spark.shuffle.consolidateFiles</a:t>
            </a:r>
            <a:r>
              <a:rPr lang="en-US" altLang="zh-CN" sz="2200" dirty="0"/>
              <a:t>=true</a:t>
            </a:r>
            <a:r>
              <a:rPr lang="zh-CN" altLang="en-US" sz="2200" dirty="0"/>
              <a:t>开启，默认</a:t>
            </a:r>
            <a:r>
              <a:rPr lang="en-US" altLang="zh-CN" sz="2200" dirty="0"/>
              <a:t>false</a:t>
            </a:r>
            <a:r>
              <a:rPr lang="zh-CN" altLang="en-US" sz="2200" dirty="0"/>
              <a:t>），把在同一个</a:t>
            </a:r>
            <a:r>
              <a:rPr lang="en-US" altLang="zh-CN" sz="2200" dirty="0"/>
              <a:t>core</a:t>
            </a:r>
            <a:r>
              <a:rPr lang="zh-CN" altLang="en-US" sz="2200" dirty="0"/>
              <a:t>上的多个</a:t>
            </a:r>
            <a:r>
              <a:rPr lang="en-US" altLang="zh-CN" sz="2200" dirty="0"/>
              <a:t>Mapper</a:t>
            </a:r>
            <a:r>
              <a:rPr lang="zh-CN" altLang="en-US" sz="2200" dirty="0"/>
              <a:t>输出到同一个文件，这样文件数就变成</a:t>
            </a:r>
            <a:r>
              <a:rPr lang="en-US" altLang="zh-CN" sz="2200" dirty="0"/>
              <a:t>core * R </a:t>
            </a:r>
            <a:r>
              <a:rPr lang="zh-CN" altLang="en-US" sz="2200" dirty="0"/>
              <a:t>个了</a:t>
            </a:r>
            <a:endParaRPr lang="en-US" altLang="zh-CN" sz="2200" dirty="0"/>
          </a:p>
          <a:p>
            <a:pPr lvl="1" algn="just">
              <a:lnSpc>
                <a:spcPct val="120000"/>
              </a:lnSpc>
              <a:spcBef>
                <a:spcPts val="0"/>
              </a:spcBef>
            </a:pPr>
            <a:r>
              <a:rPr lang="zh-CN" altLang="en-US" sz="2200" dirty="0"/>
              <a:t>如图所示，</a:t>
            </a:r>
            <a:r>
              <a:rPr lang="en-US" altLang="zh-CN" sz="2200" dirty="0"/>
              <a:t>2</a:t>
            </a:r>
            <a:r>
              <a:rPr lang="zh-CN" altLang="en-US" sz="2200" dirty="0"/>
              <a:t>个</a:t>
            </a:r>
            <a:r>
              <a:rPr lang="en-US" altLang="zh-CN" sz="2200" dirty="0"/>
              <a:t>core 4</a:t>
            </a:r>
            <a:r>
              <a:rPr lang="zh-CN" altLang="en-US" sz="2200" dirty="0"/>
              <a:t>个</a:t>
            </a:r>
            <a:r>
              <a:rPr lang="en-US" altLang="zh-CN" sz="2200" dirty="0"/>
              <a:t>map task</a:t>
            </a:r>
            <a:r>
              <a:rPr lang="zh-CN" altLang="en-US" sz="2200" dirty="0"/>
              <a:t>、</a:t>
            </a:r>
            <a:r>
              <a:rPr lang="en-US" altLang="zh-CN" sz="2200" dirty="0"/>
              <a:t>3 </a:t>
            </a:r>
            <a:r>
              <a:rPr lang="zh-CN" altLang="en-US" sz="2200" dirty="0"/>
              <a:t>个</a:t>
            </a:r>
            <a:r>
              <a:rPr lang="en-US" altLang="zh-CN" sz="2200" dirty="0"/>
              <a:t>reduce task</a:t>
            </a:r>
            <a:r>
              <a:rPr lang="zh-CN" altLang="en-US" sz="2200" dirty="0"/>
              <a:t>，会产生</a:t>
            </a:r>
            <a:r>
              <a:rPr lang="en-US" altLang="zh-CN" sz="2200" dirty="0"/>
              <a:t>2*3=6</a:t>
            </a:r>
            <a:r>
              <a:rPr lang="zh-CN" altLang="en-US" sz="2200" dirty="0"/>
              <a:t>个小文件</a:t>
            </a:r>
            <a:endParaRPr lang="en-US" altLang="zh-CN" sz="2200"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078459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zh-CN" altLang="en-US" b="1" dirty="0"/>
              <a:t>优化后的</a:t>
            </a:r>
            <a:r>
              <a:rPr lang="en-US" altLang="zh-CN" b="1" dirty="0"/>
              <a:t>Hash Shuffle</a:t>
            </a:r>
          </a:p>
          <a:p>
            <a:pPr lvl="1" algn="just">
              <a:lnSpc>
                <a:spcPct val="120000"/>
              </a:lnSpc>
              <a:spcBef>
                <a:spcPts val="0"/>
              </a:spcBef>
            </a:pPr>
            <a:r>
              <a:rPr lang="zh-CN" altLang="en-US" sz="2200" dirty="0"/>
              <a:t>普通机制</a:t>
            </a:r>
            <a:r>
              <a:rPr lang="en-US" altLang="zh-CN" sz="2200" dirty="0"/>
              <a:t>Hash Shuffle</a:t>
            </a:r>
            <a:r>
              <a:rPr lang="zh-CN" altLang="en-US" sz="2200" dirty="0"/>
              <a:t>会产生大量的小文件</a:t>
            </a:r>
            <a:r>
              <a:rPr lang="en-US" altLang="zh-CN" sz="2200" dirty="0"/>
              <a:t>(M * R</a:t>
            </a:r>
            <a:r>
              <a:rPr lang="zh-CN" altLang="en-US" sz="2200" dirty="0"/>
              <a:t>），对文件系统的压力也很大，也不利于</a:t>
            </a:r>
            <a:r>
              <a:rPr lang="en-US" altLang="zh-CN" sz="2200" dirty="0"/>
              <a:t>IO</a:t>
            </a:r>
            <a:r>
              <a:rPr lang="zh-CN" altLang="en-US" sz="2200" dirty="0"/>
              <a:t>的吞吐量</a:t>
            </a:r>
            <a:endParaRPr lang="en-US" altLang="zh-CN" sz="2200" dirty="0"/>
          </a:p>
          <a:p>
            <a:pPr lvl="1" algn="just">
              <a:lnSpc>
                <a:spcPct val="120000"/>
              </a:lnSpc>
              <a:spcBef>
                <a:spcPts val="0"/>
              </a:spcBef>
            </a:pPr>
            <a:r>
              <a:rPr lang="zh-CN" altLang="en-US" sz="2200" dirty="0"/>
              <a:t>后来做了优化（设置</a:t>
            </a:r>
            <a:r>
              <a:rPr lang="en-US" altLang="zh-CN" sz="2200" dirty="0" err="1"/>
              <a:t>spark.shuffle.consolidateFiles</a:t>
            </a:r>
            <a:r>
              <a:rPr lang="en-US" altLang="zh-CN" sz="2200" dirty="0"/>
              <a:t>=true</a:t>
            </a:r>
            <a:r>
              <a:rPr lang="zh-CN" altLang="en-US" sz="2200" dirty="0"/>
              <a:t>开启，默认</a:t>
            </a:r>
            <a:r>
              <a:rPr lang="en-US" altLang="zh-CN" sz="2200" dirty="0"/>
              <a:t>false</a:t>
            </a:r>
            <a:r>
              <a:rPr lang="zh-CN" altLang="en-US" sz="2200" dirty="0"/>
              <a:t>），把在同一个</a:t>
            </a:r>
            <a:r>
              <a:rPr lang="en-US" altLang="zh-CN" sz="2200" dirty="0"/>
              <a:t>core</a:t>
            </a:r>
            <a:r>
              <a:rPr lang="zh-CN" altLang="en-US" sz="2200" dirty="0"/>
              <a:t>上的多个</a:t>
            </a:r>
            <a:r>
              <a:rPr lang="en-US" altLang="zh-CN" sz="2200" dirty="0"/>
              <a:t>Mapper</a:t>
            </a:r>
            <a:r>
              <a:rPr lang="zh-CN" altLang="en-US" sz="2200" dirty="0"/>
              <a:t>输出到同一个文件，这样文件数就变成</a:t>
            </a:r>
            <a:r>
              <a:rPr lang="en-US" altLang="zh-CN" sz="2200" dirty="0"/>
              <a:t>core * R </a:t>
            </a:r>
            <a:r>
              <a:rPr lang="zh-CN" altLang="en-US" sz="2200" dirty="0"/>
              <a:t>个了</a:t>
            </a:r>
            <a:endParaRPr lang="en-US" altLang="zh-CN" sz="2200" dirty="0"/>
          </a:p>
          <a:p>
            <a:pPr lvl="1" algn="just">
              <a:lnSpc>
                <a:spcPct val="120000"/>
              </a:lnSpc>
              <a:spcBef>
                <a:spcPts val="0"/>
              </a:spcBef>
            </a:pPr>
            <a:r>
              <a:rPr lang="zh-CN" altLang="en-US" sz="2200" dirty="0"/>
              <a:t>如图所示，</a:t>
            </a:r>
            <a:r>
              <a:rPr lang="en-US" altLang="zh-CN" sz="2200" dirty="0"/>
              <a:t>2</a:t>
            </a:r>
            <a:r>
              <a:rPr lang="zh-CN" altLang="en-US" sz="2200" dirty="0"/>
              <a:t>个</a:t>
            </a:r>
            <a:r>
              <a:rPr lang="en-US" altLang="zh-CN" sz="2200" dirty="0"/>
              <a:t>core 4</a:t>
            </a:r>
            <a:r>
              <a:rPr lang="zh-CN" altLang="en-US" sz="2200" dirty="0"/>
              <a:t>个</a:t>
            </a:r>
            <a:r>
              <a:rPr lang="en-US" altLang="zh-CN" sz="2200" dirty="0"/>
              <a:t>map task</a:t>
            </a:r>
            <a:r>
              <a:rPr lang="zh-CN" altLang="en-US" sz="2200" dirty="0"/>
              <a:t>、</a:t>
            </a:r>
            <a:r>
              <a:rPr lang="en-US" altLang="zh-CN" sz="2200" dirty="0"/>
              <a:t>3 </a:t>
            </a:r>
            <a:r>
              <a:rPr lang="zh-CN" altLang="en-US" sz="2200" dirty="0"/>
              <a:t>个</a:t>
            </a:r>
            <a:r>
              <a:rPr lang="en-US" altLang="zh-CN" sz="2200" dirty="0"/>
              <a:t>reduce task</a:t>
            </a:r>
            <a:r>
              <a:rPr lang="zh-CN" altLang="en-US" sz="2200" dirty="0"/>
              <a:t>，会产生</a:t>
            </a:r>
            <a:r>
              <a:rPr lang="en-US" altLang="zh-CN" sz="2200" dirty="0"/>
              <a:t>2*3=6</a:t>
            </a:r>
            <a:r>
              <a:rPr lang="zh-CN" altLang="en-US" sz="2200" dirty="0"/>
              <a:t>个小文件</a:t>
            </a:r>
            <a:endParaRPr lang="en-US" altLang="zh-CN" sz="2200"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392CA116-B561-4ACB-B1E4-54DD236085FF}"/>
              </a:ext>
            </a:extLst>
          </p:cNvPr>
          <p:cNvPicPr>
            <a:picLocks noChangeAspect="1"/>
          </p:cNvPicPr>
          <p:nvPr/>
        </p:nvPicPr>
        <p:blipFill>
          <a:blip r:embed="rId2"/>
          <a:stretch>
            <a:fillRect/>
          </a:stretch>
        </p:blipFill>
        <p:spPr>
          <a:xfrm>
            <a:off x="738355" y="782782"/>
            <a:ext cx="7667289" cy="5943600"/>
          </a:xfrm>
          <a:prstGeom prst="rect">
            <a:avLst/>
          </a:prstGeom>
        </p:spPr>
      </p:pic>
    </p:spTree>
    <p:extLst>
      <p:ext uri="{BB962C8B-B14F-4D97-AF65-F5344CB8AC3E}">
        <p14:creationId xmlns:p14="http://schemas.microsoft.com/office/powerpoint/2010/main" val="430886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zh-CN" altLang="en-US" b="1" dirty="0"/>
              <a:t>优化后的</a:t>
            </a:r>
            <a:r>
              <a:rPr lang="en-US" altLang="zh-CN" b="1" dirty="0"/>
              <a:t>Hash Shuffle</a:t>
            </a:r>
          </a:p>
          <a:p>
            <a:pPr lvl="1" algn="just">
              <a:lnSpc>
                <a:spcPct val="120000"/>
              </a:lnSpc>
              <a:spcBef>
                <a:spcPts val="0"/>
              </a:spcBef>
            </a:pPr>
            <a:r>
              <a:rPr lang="en-US" altLang="zh-CN" dirty="0"/>
              <a:t>Hash shuffle</a:t>
            </a:r>
            <a:r>
              <a:rPr lang="zh-CN" altLang="en-US" dirty="0"/>
              <a:t>合并机制的问题，如果 </a:t>
            </a:r>
            <a:r>
              <a:rPr lang="en-US" altLang="zh-CN" dirty="0"/>
              <a:t>Reducer </a:t>
            </a:r>
            <a:r>
              <a:rPr lang="zh-CN" altLang="en-US" dirty="0"/>
              <a:t>端的并行任务或者是数据分片过多的话则 </a:t>
            </a:r>
            <a:r>
              <a:rPr lang="en-US" altLang="zh-CN" dirty="0"/>
              <a:t>Core * Reducer Task </a:t>
            </a:r>
            <a:r>
              <a:rPr lang="zh-CN" altLang="en-US" dirty="0"/>
              <a:t>依旧过大，也会产生很多小文件</a:t>
            </a:r>
            <a:endParaRPr lang="en-US" altLang="zh-CN" dirty="0"/>
          </a:p>
          <a:p>
            <a:pPr lvl="1" algn="just">
              <a:lnSpc>
                <a:spcPct val="120000"/>
              </a:lnSpc>
              <a:spcBef>
                <a:spcPts val="0"/>
              </a:spcBef>
            </a:pPr>
            <a:r>
              <a:rPr lang="zh-CN" altLang="en-US" dirty="0"/>
              <a:t>进而引出了更优化的</a:t>
            </a:r>
            <a:r>
              <a:rPr lang="en-US" altLang="zh-CN" dirty="0"/>
              <a:t>sort shuffle</a:t>
            </a:r>
          </a:p>
          <a:p>
            <a:pPr lvl="1" algn="just">
              <a:lnSpc>
                <a:spcPct val="120000"/>
              </a:lnSpc>
              <a:spcBef>
                <a:spcPts val="0"/>
              </a:spcBef>
            </a:pPr>
            <a:r>
              <a:rPr lang="zh-CN" altLang="en-US" dirty="0">
                <a:solidFill>
                  <a:srgbClr val="C00000"/>
                </a:solidFill>
              </a:rPr>
              <a:t>在</a:t>
            </a:r>
            <a:r>
              <a:rPr lang="en-US" altLang="zh-CN" dirty="0">
                <a:solidFill>
                  <a:srgbClr val="C00000"/>
                </a:solidFill>
              </a:rPr>
              <a:t>Spark 1.2</a:t>
            </a:r>
            <a:r>
              <a:rPr lang="zh-CN" altLang="en-US" dirty="0">
                <a:solidFill>
                  <a:srgbClr val="C00000"/>
                </a:solidFill>
              </a:rPr>
              <a:t>以后的版本中，默认的</a:t>
            </a:r>
            <a:r>
              <a:rPr lang="en-US" altLang="zh-CN" dirty="0" err="1">
                <a:solidFill>
                  <a:srgbClr val="C00000"/>
                </a:solidFill>
              </a:rPr>
              <a:t>ShuffleManager</a:t>
            </a:r>
            <a:r>
              <a:rPr lang="zh-CN" altLang="en-US" dirty="0">
                <a:solidFill>
                  <a:srgbClr val="C00000"/>
                </a:solidFill>
              </a:rPr>
              <a:t>改成了</a:t>
            </a:r>
            <a:r>
              <a:rPr lang="en-US" altLang="zh-CN" dirty="0" err="1">
                <a:solidFill>
                  <a:srgbClr val="C00000"/>
                </a:solidFill>
              </a:rPr>
              <a:t>SortShuffleManager</a:t>
            </a:r>
            <a:endParaRPr lang="en-US" altLang="zh-CN" dirty="0">
              <a:solidFill>
                <a:srgbClr val="C00000"/>
              </a:solidFill>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360517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74489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en-US" altLang="zh-CN" b="1" dirty="0"/>
              <a:t>Sort Shuffle</a:t>
            </a:r>
          </a:p>
          <a:p>
            <a:pPr lvl="1" algn="just">
              <a:lnSpc>
                <a:spcPct val="120000"/>
              </a:lnSpc>
              <a:spcBef>
                <a:spcPts val="0"/>
              </a:spcBef>
            </a:pPr>
            <a:r>
              <a:rPr lang="en-US" altLang="zh-CN" sz="2800" dirty="0" err="1"/>
              <a:t>SortShuffleManager</a:t>
            </a:r>
            <a:r>
              <a:rPr lang="zh-CN" altLang="en-US" sz="2800" dirty="0"/>
              <a:t>的运行机制主要分成两种</a:t>
            </a:r>
            <a:endParaRPr lang="en-US" altLang="zh-CN" sz="2800" dirty="0"/>
          </a:p>
          <a:p>
            <a:pPr lvl="1" algn="just">
              <a:lnSpc>
                <a:spcPct val="120000"/>
              </a:lnSpc>
              <a:spcBef>
                <a:spcPts val="0"/>
              </a:spcBef>
            </a:pPr>
            <a:r>
              <a:rPr lang="zh-CN" altLang="en-US" sz="2800" dirty="0"/>
              <a:t>一种是普通运行机制</a:t>
            </a:r>
            <a:endParaRPr lang="en-US" altLang="zh-CN" sz="2800" dirty="0"/>
          </a:p>
          <a:p>
            <a:pPr lvl="1" algn="just">
              <a:lnSpc>
                <a:spcPct val="120000"/>
              </a:lnSpc>
              <a:spcBef>
                <a:spcPts val="0"/>
              </a:spcBef>
            </a:pPr>
            <a:r>
              <a:rPr lang="zh-CN" altLang="en-US" sz="2800" dirty="0"/>
              <a:t>另一种是</a:t>
            </a:r>
            <a:r>
              <a:rPr lang="en-US" altLang="zh-CN" sz="2800" dirty="0"/>
              <a:t>bypass</a:t>
            </a:r>
            <a:r>
              <a:rPr lang="zh-CN" altLang="en-US" sz="2800" dirty="0"/>
              <a:t>运行机制</a:t>
            </a:r>
            <a:endParaRPr lang="en-US" altLang="zh-CN" sz="2800" dirty="0"/>
          </a:p>
          <a:p>
            <a:pPr lvl="2" algn="just">
              <a:lnSpc>
                <a:spcPct val="120000"/>
              </a:lnSpc>
              <a:spcBef>
                <a:spcPts val="0"/>
              </a:spcBef>
            </a:pPr>
            <a:r>
              <a:rPr lang="zh-CN" altLang="en-US" sz="2400" dirty="0"/>
              <a:t>当</a:t>
            </a:r>
            <a:r>
              <a:rPr lang="en-US" altLang="zh-CN" sz="2400" dirty="0"/>
              <a:t>shuffle read task</a:t>
            </a:r>
            <a:r>
              <a:rPr lang="zh-CN" altLang="en-US" sz="2400" dirty="0"/>
              <a:t>的数量小于等于</a:t>
            </a:r>
            <a:r>
              <a:rPr lang="en-US" altLang="zh-CN" sz="2400" dirty="0" err="1"/>
              <a:t>spark.shuffle.sort.bypassMergeThreshold</a:t>
            </a:r>
            <a:r>
              <a:rPr lang="zh-CN" altLang="en-US" sz="2400" dirty="0"/>
              <a:t>参数的值时</a:t>
            </a:r>
            <a:r>
              <a:rPr lang="en-US" altLang="zh-CN" sz="2400" dirty="0"/>
              <a:t>(</a:t>
            </a:r>
            <a:r>
              <a:rPr lang="zh-CN" altLang="en-US" sz="2400" dirty="0"/>
              <a:t>默认为</a:t>
            </a:r>
            <a:r>
              <a:rPr lang="en-US" altLang="zh-CN" sz="2400" dirty="0"/>
              <a:t>200)</a:t>
            </a:r>
            <a:r>
              <a:rPr lang="zh-CN" altLang="en-US" sz="2400" dirty="0"/>
              <a:t>，就会启用</a:t>
            </a:r>
            <a:r>
              <a:rPr lang="en-US" altLang="zh-CN" sz="2400" dirty="0"/>
              <a:t>bypass</a:t>
            </a:r>
            <a:r>
              <a:rPr lang="zh-CN" altLang="en-US" sz="2400" dirty="0"/>
              <a:t>机制</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397548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zh-CN" altLang="en-US" b="1" dirty="0"/>
              <a:t>普通机制的</a:t>
            </a:r>
            <a:r>
              <a:rPr lang="en-US" altLang="zh-CN" b="1" dirty="0"/>
              <a:t>Sort Shuffle</a:t>
            </a:r>
          </a:p>
          <a:p>
            <a:pPr lvl="1" algn="just">
              <a:lnSpc>
                <a:spcPct val="120000"/>
              </a:lnSpc>
              <a:spcBef>
                <a:spcPts val="0"/>
              </a:spcBef>
            </a:pPr>
            <a:r>
              <a:rPr lang="zh-CN" altLang="en-US" dirty="0"/>
              <a:t>这种机制和</a:t>
            </a:r>
            <a:r>
              <a:rPr lang="en-US" altLang="zh-CN" dirty="0"/>
              <a:t>MapReduce</a:t>
            </a:r>
            <a:r>
              <a:rPr lang="zh-CN" altLang="en-US" dirty="0"/>
              <a:t>差不多，在该模式下，数据会先写入一个内存数据结构中，此时根据不同的</a:t>
            </a:r>
            <a:r>
              <a:rPr lang="en-US" altLang="zh-CN" dirty="0"/>
              <a:t>shuffle</a:t>
            </a:r>
            <a:r>
              <a:rPr lang="zh-CN" altLang="en-US" dirty="0"/>
              <a:t>算子，可能选用不同的数据结构</a:t>
            </a:r>
            <a:endParaRPr lang="en-US" altLang="zh-CN" dirty="0"/>
          </a:p>
          <a:p>
            <a:pPr lvl="2" algn="just">
              <a:lnSpc>
                <a:spcPct val="120000"/>
              </a:lnSpc>
              <a:spcBef>
                <a:spcPts val="0"/>
              </a:spcBef>
            </a:pPr>
            <a:r>
              <a:rPr lang="zh-CN" altLang="en-US" dirty="0"/>
              <a:t>如果是</a:t>
            </a:r>
            <a:r>
              <a:rPr lang="en-US" altLang="zh-CN" dirty="0" err="1"/>
              <a:t>reduceByKey</a:t>
            </a:r>
            <a:r>
              <a:rPr lang="zh-CN" altLang="en-US" dirty="0"/>
              <a:t>这种聚合类的</a:t>
            </a:r>
            <a:r>
              <a:rPr lang="en-US" altLang="zh-CN" dirty="0"/>
              <a:t>shuffle</a:t>
            </a:r>
            <a:r>
              <a:rPr lang="zh-CN" altLang="en-US" dirty="0"/>
              <a:t>算子，那么会选用</a:t>
            </a:r>
            <a:r>
              <a:rPr lang="en-US" altLang="zh-CN" dirty="0"/>
              <a:t>Map</a:t>
            </a:r>
            <a:r>
              <a:rPr lang="zh-CN" altLang="en-US" dirty="0"/>
              <a:t>数据结构，一边通过</a:t>
            </a:r>
            <a:r>
              <a:rPr lang="en-US" altLang="zh-CN" dirty="0"/>
              <a:t>Map</a:t>
            </a:r>
            <a:r>
              <a:rPr lang="zh-CN" altLang="en-US" dirty="0"/>
              <a:t>进行聚合，一边写入内存</a:t>
            </a:r>
            <a:endParaRPr lang="en-US" altLang="zh-CN" dirty="0"/>
          </a:p>
          <a:p>
            <a:pPr lvl="2" algn="just">
              <a:lnSpc>
                <a:spcPct val="120000"/>
              </a:lnSpc>
              <a:spcBef>
                <a:spcPts val="0"/>
              </a:spcBef>
            </a:pPr>
            <a:r>
              <a:rPr lang="zh-CN" altLang="en-US" dirty="0"/>
              <a:t>如果是</a:t>
            </a:r>
            <a:r>
              <a:rPr lang="en-US" altLang="zh-CN" dirty="0"/>
              <a:t>join</a:t>
            </a:r>
            <a:r>
              <a:rPr lang="zh-CN" altLang="en-US" dirty="0"/>
              <a:t>这种普通的</a:t>
            </a:r>
            <a:r>
              <a:rPr lang="en-US" altLang="zh-CN" dirty="0"/>
              <a:t>shuffle</a:t>
            </a:r>
            <a:r>
              <a:rPr lang="zh-CN" altLang="en-US" dirty="0"/>
              <a:t>算子，那么会选用</a:t>
            </a:r>
            <a:r>
              <a:rPr lang="en-US" altLang="zh-CN" dirty="0"/>
              <a:t>Array</a:t>
            </a:r>
            <a:r>
              <a:rPr lang="zh-CN" altLang="en-US" dirty="0"/>
              <a:t>数据结构，直接写入内存</a:t>
            </a:r>
            <a:endParaRPr lang="en-US" altLang="zh-CN" dirty="0"/>
          </a:p>
          <a:p>
            <a:pPr lvl="1" algn="just">
              <a:lnSpc>
                <a:spcPct val="120000"/>
              </a:lnSpc>
              <a:spcBef>
                <a:spcPts val="0"/>
              </a:spcBef>
            </a:pPr>
            <a:r>
              <a:rPr lang="zh-CN" altLang="en-US" dirty="0"/>
              <a:t>接着，每写一条数据进入内存数据结构之后，就会判断一下，是否达到了某个临界阈值</a:t>
            </a:r>
            <a:endParaRPr lang="en-US" altLang="zh-CN" dirty="0"/>
          </a:p>
          <a:p>
            <a:pPr lvl="2" algn="just">
              <a:lnSpc>
                <a:spcPct val="120000"/>
              </a:lnSpc>
              <a:spcBef>
                <a:spcPts val="0"/>
              </a:spcBef>
            </a:pPr>
            <a:r>
              <a:rPr lang="zh-CN" altLang="en-US" dirty="0"/>
              <a:t>如果达到临界阈值的话，那么就会尝试将内存数据结构中的数据溢写到磁盘，然后清空内存数据结构</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991412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zh-CN" altLang="en-US" b="1" dirty="0"/>
              <a:t>普通机制的</a:t>
            </a:r>
            <a:r>
              <a:rPr lang="en-US" altLang="zh-CN" b="1" dirty="0"/>
              <a:t>Sort Shuffle</a:t>
            </a:r>
          </a:p>
          <a:p>
            <a:pPr lvl="1" algn="just">
              <a:lnSpc>
                <a:spcPct val="120000"/>
              </a:lnSpc>
              <a:spcBef>
                <a:spcPts val="0"/>
              </a:spcBef>
            </a:pPr>
            <a:endParaRPr lang="zh-CN" altLang="en-US"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2E343643-DB6A-4FA6-965B-6542A98A7339}"/>
              </a:ext>
            </a:extLst>
          </p:cNvPr>
          <p:cNvPicPr>
            <a:picLocks noChangeAspect="1"/>
          </p:cNvPicPr>
          <p:nvPr/>
        </p:nvPicPr>
        <p:blipFill>
          <a:blip r:embed="rId2"/>
          <a:stretch>
            <a:fillRect/>
          </a:stretch>
        </p:blipFill>
        <p:spPr>
          <a:xfrm>
            <a:off x="1147306" y="501217"/>
            <a:ext cx="6849387" cy="6096000"/>
          </a:xfrm>
          <a:prstGeom prst="rect">
            <a:avLst/>
          </a:prstGeom>
        </p:spPr>
      </p:pic>
    </p:spTree>
    <p:extLst>
      <p:ext uri="{BB962C8B-B14F-4D97-AF65-F5344CB8AC3E}">
        <p14:creationId xmlns:p14="http://schemas.microsoft.com/office/powerpoint/2010/main" val="36334542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zh-CN" altLang="en-US" b="1" dirty="0"/>
              <a:t>普通机制的</a:t>
            </a:r>
            <a:r>
              <a:rPr lang="en-US" altLang="zh-CN" b="1" dirty="0"/>
              <a:t>Sort Shuffle</a:t>
            </a:r>
          </a:p>
          <a:p>
            <a:pPr lvl="1" algn="just">
              <a:lnSpc>
                <a:spcPct val="120000"/>
              </a:lnSpc>
              <a:spcBef>
                <a:spcPts val="0"/>
              </a:spcBef>
            </a:pPr>
            <a:r>
              <a:rPr lang="zh-CN" altLang="en-US" dirty="0"/>
              <a:t>在溢写到磁盘文件之前，会先根据</a:t>
            </a:r>
            <a:r>
              <a:rPr lang="en-US" altLang="zh-CN" dirty="0"/>
              <a:t>key</a:t>
            </a:r>
            <a:r>
              <a:rPr lang="zh-CN" altLang="en-US" dirty="0"/>
              <a:t>对内存数据结构中已有的数据进行</a:t>
            </a:r>
            <a:r>
              <a:rPr lang="zh-CN" altLang="en-US" dirty="0">
                <a:solidFill>
                  <a:srgbClr val="C00000"/>
                </a:solidFill>
              </a:rPr>
              <a:t>排序</a:t>
            </a:r>
            <a:endParaRPr lang="en-US" altLang="zh-CN" dirty="0">
              <a:solidFill>
                <a:srgbClr val="C00000"/>
              </a:solidFill>
            </a:endParaRPr>
          </a:p>
          <a:p>
            <a:pPr lvl="1" algn="just">
              <a:lnSpc>
                <a:spcPct val="120000"/>
              </a:lnSpc>
              <a:spcBef>
                <a:spcPts val="0"/>
              </a:spcBef>
            </a:pPr>
            <a:r>
              <a:rPr lang="zh-CN" altLang="en-US" dirty="0"/>
              <a:t>排序过后，会分批将数据写入磁盘文件</a:t>
            </a:r>
            <a:endParaRPr lang="en-US" altLang="zh-CN" dirty="0"/>
          </a:p>
          <a:p>
            <a:pPr lvl="1" algn="just">
              <a:lnSpc>
                <a:spcPct val="120000"/>
              </a:lnSpc>
              <a:spcBef>
                <a:spcPts val="0"/>
              </a:spcBef>
            </a:pPr>
            <a:r>
              <a:rPr lang="zh-CN" altLang="en-US" dirty="0"/>
              <a:t>默认的</a:t>
            </a:r>
            <a:r>
              <a:rPr lang="en-US" altLang="zh-CN" dirty="0"/>
              <a:t>batch</a:t>
            </a:r>
            <a:r>
              <a:rPr lang="zh-CN" altLang="en-US" dirty="0"/>
              <a:t>数量是</a:t>
            </a:r>
            <a:r>
              <a:rPr lang="en-US" altLang="zh-CN" dirty="0"/>
              <a:t>10000</a:t>
            </a:r>
            <a:r>
              <a:rPr lang="zh-CN" altLang="en-US" dirty="0"/>
              <a:t>条，也就是说，排序好的数据，会以每批</a:t>
            </a:r>
            <a:r>
              <a:rPr lang="en-US" altLang="zh-CN" dirty="0"/>
              <a:t>1</a:t>
            </a:r>
            <a:r>
              <a:rPr lang="zh-CN" altLang="en-US" dirty="0"/>
              <a:t>万条数据的形式分批写入磁盘文件</a:t>
            </a:r>
            <a:endParaRPr lang="en-US" altLang="zh-CN" dirty="0"/>
          </a:p>
          <a:p>
            <a:pPr lvl="1" algn="just">
              <a:lnSpc>
                <a:spcPct val="120000"/>
              </a:lnSpc>
              <a:spcBef>
                <a:spcPts val="0"/>
              </a:spcBef>
            </a:pPr>
            <a:endParaRPr lang="en-US" altLang="zh-CN" dirty="0"/>
          </a:p>
          <a:p>
            <a:pPr lvl="1" algn="just">
              <a:lnSpc>
                <a:spcPct val="120000"/>
              </a:lnSpc>
              <a:spcBef>
                <a:spcPts val="0"/>
              </a:spcBef>
            </a:pPr>
            <a:endParaRPr lang="zh-CN" altLang="en-US"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159250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zh-CN" altLang="en-US" b="1" dirty="0"/>
              <a:t>普通机制的</a:t>
            </a:r>
            <a:r>
              <a:rPr lang="en-US" altLang="zh-CN" b="1" dirty="0"/>
              <a:t>Sort Shuffle</a:t>
            </a:r>
          </a:p>
          <a:p>
            <a:pPr lvl="1" algn="just">
              <a:lnSpc>
                <a:spcPct val="120000"/>
              </a:lnSpc>
              <a:spcBef>
                <a:spcPts val="0"/>
              </a:spcBef>
            </a:pPr>
            <a:r>
              <a:rPr lang="zh-CN" altLang="en-US" dirty="0"/>
              <a:t>一个</a:t>
            </a:r>
            <a:r>
              <a:rPr lang="en-US" altLang="zh-CN" dirty="0"/>
              <a:t>task</a:t>
            </a:r>
            <a:r>
              <a:rPr lang="zh-CN" altLang="en-US" dirty="0"/>
              <a:t>将所有数据写入内存数据结构的过程中，会发生多次磁盘溢写操作，也会产生多个临时文件</a:t>
            </a:r>
            <a:endParaRPr lang="en-US" altLang="zh-CN" dirty="0"/>
          </a:p>
          <a:p>
            <a:pPr lvl="1" algn="just">
              <a:lnSpc>
                <a:spcPct val="120000"/>
              </a:lnSpc>
              <a:spcBef>
                <a:spcPts val="0"/>
              </a:spcBef>
            </a:pPr>
            <a:r>
              <a:rPr lang="zh-CN" altLang="en-US" dirty="0"/>
              <a:t>最后会将之前所有的临时磁盘文件都进行</a:t>
            </a:r>
            <a:r>
              <a:rPr lang="zh-CN" altLang="en-US" dirty="0">
                <a:solidFill>
                  <a:srgbClr val="C00000"/>
                </a:solidFill>
              </a:rPr>
              <a:t>合并</a:t>
            </a:r>
            <a:r>
              <a:rPr lang="zh-CN" altLang="en-US" dirty="0"/>
              <a:t>，由于一个</a:t>
            </a:r>
            <a:r>
              <a:rPr lang="en-US" altLang="zh-CN" dirty="0"/>
              <a:t>task</a:t>
            </a:r>
            <a:r>
              <a:rPr lang="zh-CN" altLang="en-US" dirty="0"/>
              <a:t>就只对应一个磁盘文件因此还会单独写一份</a:t>
            </a:r>
            <a:r>
              <a:rPr lang="zh-CN" altLang="en-US" dirty="0">
                <a:solidFill>
                  <a:srgbClr val="C00000"/>
                </a:solidFill>
              </a:rPr>
              <a:t>索引文件</a:t>
            </a:r>
            <a:r>
              <a:rPr lang="zh-CN" altLang="en-US" dirty="0"/>
              <a:t>，其中标识了下游各个</a:t>
            </a:r>
            <a:r>
              <a:rPr lang="en-US" altLang="zh-CN" dirty="0"/>
              <a:t>task</a:t>
            </a:r>
            <a:r>
              <a:rPr lang="zh-CN" altLang="en-US" dirty="0"/>
              <a:t>的数据在文件中的</a:t>
            </a:r>
            <a:r>
              <a:rPr lang="en-US" altLang="zh-CN" dirty="0"/>
              <a:t>start offset</a:t>
            </a:r>
            <a:r>
              <a:rPr lang="zh-CN" altLang="en-US" dirty="0"/>
              <a:t>与</a:t>
            </a:r>
            <a:r>
              <a:rPr lang="en-US" altLang="zh-CN" dirty="0"/>
              <a:t>end offset</a:t>
            </a:r>
          </a:p>
          <a:p>
            <a:pPr lvl="1" algn="just">
              <a:lnSpc>
                <a:spcPct val="120000"/>
              </a:lnSpc>
              <a:spcBef>
                <a:spcPts val="0"/>
              </a:spcBef>
            </a:pPr>
            <a:endParaRPr lang="en-US" altLang="zh-CN" dirty="0"/>
          </a:p>
          <a:p>
            <a:pPr lvl="1" algn="just">
              <a:lnSpc>
                <a:spcPct val="120000"/>
              </a:lnSpc>
              <a:spcBef>
                <a:spcPts val="0"/>
              </a:spcBef>
            </a:pPr>
            <a:r>
              <a:rPr lang="en-US" altLang="zh-CN" dirty="0" err="1"/>
              <a:t>SortShuffleManager</a:t>
            </a:r>
            <a:r>
              <a:rPr lang="zh-CN" altLang="en-US" dirty="0"/>
              <a:t>由于有一个磁盘文件</a:t>
            </a:r>
            <a:r>
              <a:rPr lang="en-US" altLang="zh-CN" dirty="0"/>
              <a:t>merge</a:t>
            </a:r>
            <a:r>
              <a:rPr lang="zh-CN" altLang="en-US" dirty="0"/>
              <a:t>的过程，因此大大减少了文件数量，由于每个</a:t>
            </a:r>
            <a:r>
              <a:rPr lang="en-US" altLang="zh-CN" dirty="0"/>
              <a:t>task</a:t>
            </a:r>
            <a:r>
              <a:rPr lang="zh-CN" altLang="en-US" dirty="0"/>
              <a:t>最终只有一个磁盘文件，所以文件个数等于上游</a:t>
            </a:r>
            <a:r>
              <a:rPr lang="en-US" altLang="zh-CN" dirty="0"/>
              <a:t>shuffle write</a:t>
            </a:r>
            <a:r>
              <a:rPr lang="zh-CN" altLang="en-US" dirty="0"/>
              <a:t>个数</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447056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55658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en-US" altLang="zh-CN" b="1" dirty="0"/>
              <a:t>bypass</a:t>
            </a:r>
            <a:r>
              <a:rPr lang="zh-CN" altLang="en-US" b="1" dirty="0"/>
              <a:t>机制的</a:t>
            </a:r>
            <a:r>
              <a:rPr lang="en-US" altLang="zh-CN" b="1" dirty="0"/>
              <a:t>Sort Shuffle</a:t>
            </a:r>
          </a:p>
          <a:p>
            <a:pPr lvl="1" algn="just">
              <a:lnSpc>
                <a:spcPct val="120000"/>
              </a:lnSpc>
              <a:spcBef>
                <a:spcPts val="0"/>
              </a:spcBef>
            </a:pPr>
            <a:r>
              <a:rPr lang="zh-CN" altLang="en-US" dirty="0"/>
              <a:t>触发条件如下：</a:t>
            </a:r>
          </a:p>
          <a:p>
            <a:pPr lvl="1" algn="just">
              <a:lnSpc>
                <a:spcPct val="120000"/>
              </a:lnSpc>
              <a:spcBef>
                <a:spcPts val="0"/>
              </a:spcBef>
            </a:pPr>
            <a:r>
              <a:rPr lang="en-US" altLang="zh-CN" dirty="0"/>
              <a:t>shuffle map task</a:t>
            </a:r>
            <a:r>
              <a:rPr lang="zh-CN" altLang="en-US" dirty="0"/>
              <a:t>数量小于</a:t>
            </a:r>
            <a:r>
              <a:rPr lang="en-US" altLang="zh-CN" dirty="0" err="1"/>
              <a:t>spark.shuffle.sort.bypassMergeThreshold</a:t>
            </a:r>
            <a:r>
              <a:rPr lang="zh-CN" altLang="en-US" dirty="0"/>
              <a:t>参数的值，默认值</a:t>
            </a:r>
            <a:r>
              <a:rPr lang="en-US" altLang="zh-CN" dirty="0"/>
              <a:t>200</a:t>
            </a:r>
            <a:endParaRPr lang="zh-CN" altLang="en-US" dirty="0"/>
          </a:p>
          <a:p>
            <a:pPr lvl="1" algn="just">
              <a:lnSpc>
                <a:spcPct val="120000"/>
              </a:lnSpc>
              <a:spcBef>
                <a:spcPts val="0"/>
              </a:spcBef>
            </a:pPr>
            <a:r>
              <a:rPr lang="zh-CN" altLang="en-US" dirty="0"/>
              <a:t>不是聚合类的</a:t>
            </a:r>
            <a:r>
              <a:rPr lang="en-US" altLang="zh-CN" dirty="0"/>
              <a:t>shuffle</a:t>
            </a:r>
            <a:r>
              <a:rPr lang="zh-CN" altLang="en-US" dirty="0"/>
              <a:t>算子</a:t>
            </a:r>
            <a:r>
              <a:rPr lang="en-US" altLang="zh-CN" dirty="0"/>
              <a:t>(</a:t>
            </a:r>
            <a:r>
              <a:rPr lang="zh-CN" altLang="en-US" dirty="0"/>
              <a:t>比如</a:t>
            </a:r>
            <a:r>
              <a:rPr lang="en-US" altLang="zh-CN" dirty="0" err="1"/>
              <a:t>reduceByKey</a:t>
            </a:r>
            <a:r>
              <a:rPr lang="en-US" altLang="zh-CN" dirty="0"/>
              <a:t>)</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785174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lnSpcReduction="10000"/>
          </a:bodyPr>
          <a:lstStyle/>
          <a:p>
            <a:pPr algn="just">
              <a:lnSpc>
                <a:spcPct val="120000"/>
              </a:lnSpc>
              <a:spcBef>
                <a:spcPts val="0"/>
              </a:spcBef>
            </a:pPr>
            <a:r>
              <a:rPr lang="en-US" altLang="zh-CN" b="1" dirty="0"/>
              <a:t>bypass</a:t>
            </a:r>
            <a:r>
              <a:rPr lang="zh-CN" altLang="en-US" b="1" dirty="0"/>
              <a:t>机制的</a:t>
            </a:r>
            <a:r>
              <a:rPr lang="en-US" altLang="zh-CN" b="1" dirty="0"/>
              <a:t>Sort Shuffle</a:t>
            </a:r>
          </a:p>
          <a:p>
            <a:pPr lvl="1" algn="just">
              <a:lnSpc>
                <a:spcPct val="120000"/>
              </a:lnSpc>
              <a:spcBef>
                <a:spcPts val="0"/>
              </a:spcBef>
            </a:pPr>
            <a:r>
              <a:rPr lang="zh-CN" altLang="en-US" dirty="0"/>
              <a:t>此时</a:t>
            </a:r>
            <a:r>
              <a:rPr lang="en-US" altLang="zh-CN" dirty="0"/>
              <a:t>task</a:t>
            </a:r>
            <a:r>
              <a:rPr lang="zh-CN" altLang="en-US" dirty="0"/>
              <a:t>会为每个</a:t>
            </a:r>
            <a:r>
              <a:rPr lang="en-US" altLang="zh-CN" dirty="0"/>
              <a:t>reduce</a:t>
            </a:r>
            <a:r>
              <a:rPr lang="zh-CN" altLang="en-US" dirty="0"/>
              <a:t>端的</a:t>
            </a:r>
            <a:r>
              <a:rPr lang="en-US" altLang="zh-CN" dirty="0"/>
              <a:t>task</a:t>
            </a:r>
            <a:r>
              <a:rPr lang="zh-CN" altLang="en-US" dirty="0"/>
              <a:t>都创建一个临时磁盘文件，并将数据</a:t>
            </a:r>
            <a:r>
              <a:rPr lang="zh-CN" altLang="en-US" dirty="0">
                <a:solidFill>
                  <a:srgbClr val="C00000"/>
                </a:solidFill>
              </a:rPr>
              <a:t>按</a:t>
            </a:r>
            <a:r>
              <a:rPr lang="en-US" altLang="zh-CN" dirty="0">
                <a:solidFill>
                  <a:srgbClr val="C00000"/>
                </a:solidFill>
              </a:rPr>
              <a:t>key</a:t>
            </a:r>
            <a:r>
              <a:rPr lang="zh-CN" altLang="en-US" dirty="0">
                <a:solidFill>
                  <a:srgbClr val="C00000"/>
                </a:solidFill>
              </a:rPr>
              <a:t>进行</a:t>
            </a:r>
            <a:r>
              <a:rPr lang="en-US" altLang="zh-CN" dirty="0">
                <a:solidFill>
                  <a:srgbClr val="C00000"/>
                </a:solidFill>
              </a:rPr>
              <a:t>hash</a:t>
            </a:r>
            <a:r>
              <a:rPr lang="zh-CN" altLang="en-US" dirty="0">
                <a:solidFill>
                  <a:srgbClr val="C00000"/>
                </a:solidFill>
              </a:rPr>
              <a:t>然后根据</a:t>
            </a:r>
            <a:r>
              <a:rPr lang="en-US" altLang="zh-CN" dirty="0">
                <a:solidFill>
                  <a:srgbClr val="C00000"/>
                </a:solidFill>
              </a:rPr>
              <a:t>key</a:t>
            </a:r>
            <a:r>
              <a:rPr lang="zh-CN" altLang="en-US" dirty="0">
                <a:solidFill>
                  <a:srgbClr val="C00000"/>
                </a:solidFill>
              </a:rPr>
              <a:t>的</a:t>
            </a:r>
            <a:r>
              <a:rPr lang="en-US" altLang="zh-CN" dirty="0">
                <a:solidFill>
                  <a:srgbClr val="C00000"/>
                </a:solidFill>
              </a:rPr>
              <a:t>hash</a:t>
            </a:r>
            <a:r>
              <a:rPr lang="zh-CN" altLang="en-US" dirty="0">
                <a:solidFill>
                  <a:srgbClr val="C00000"/>
                </a:solidFill>
              </a:rPr>
              <a:t>值</a:t>
            </a:r>
            <a:r>
              <a:rPr lang="zh-CN" altLang="en-US" dirty="0"/>
              <a:t>，将</a:t>
            </a:r>
            <a:r>
              <a:rPr lang="en-US" altLang="zh-CN" dirty="0"/>
              <a:t>key</a:t>
            </a:r>
            <a:r>
              <a:rPr lang="zh-CN" altLang="en-US" dirty="0"/>
              <a:t>写入对应的磁盘文件之中</a:t>
            </a:r>
            <a:endParaRPr lang="en-US" altLang="zh-CN" dirty="0"/>
          </a:p>
          <a:p>
            <a:pPr lvl="1" algn="just">
              <a:lnSpc>
                <a:spcPct val="120000"/>
              </a:lnSpc>
              <a:spcBef>
                <a:spcPts val="0"/>
              </a:spcBef>
            </a:pPr>
            <a:r>
              <a:rPr lang="zh-CN" altLang="en-US" dirty="0"/>
              <a:t>当然，写入磁盘文件时也是先写入内存缓冲，缓冲写满之后再溢写到磁盘文件的</a:t>
            </a:r>
            <a:endParaRPr lang="en-US" altLang="zh-CN" dirty="0"/>
          </a:p>
          <a:p>
            <a:pPr lvl="1" algn="just">
              <a:lnSpc>
                <a:spcPct val="120000"/>
              </a:lnSpc>
              <a:spcBef>
                <a:spcPts val="0"/>
              </a:spcBef>
            </a:pPr>
            <a:r>
              <a:rPr lang="zh-CN" altLang="en-US" dirty="0"/>
              <a:t>最后，同样会将所有临时磁盘文件都合并成一个磁盘文件，并创建一个单独的索引文件</a:t>
            </a:r>
            <a:endParaRPr lang="en-US" altLang="zh-CN" dirty="0"/>
          </a:p>
          <a:p>
            <a:pPr lvl="2" algn="just">
              <a:lnSpc>
                <a:spcPct val="120000"/>
              </a:lnSpc>
              <a:spcBef>
                <a:spcPts val="0"/>
              </a:spcBef>
            </a:pPr>
            <a:r>
              <a:rPr lang="zh-CN" altLang="en-US" dirty="0">
                <a:solidFill>
                  <a:srgbClr val="C00000"/>
                </a:solidFill>
              </a:rPr>
              <a:t>该过程的磁盘写机制其实跟未经优化的</a:t>
            </a:r>
            <a:r>
              <a:rPr lang="en-US" altLang="zh-CN" dirty="0" err="1">
                <a:solidFill>
                  <a:srgbClr val="C00000"/>
                </a:solidFill>
              </a:rPr>
              <a:t>HashShuffleManager</a:t>
            </a:r>
            <a:r>
              <a:rPr lang="zh-CN" altLang="en-US" dirty="0">
                <a:solidFill>
                  <a:srgbClr val="C00000"/>
                </a:solidFill>
              </a:rPr>
              <a:t>是一模一样的</a:t>
            </a:r>
            <a:r>
              <a:rPr lang="zh-CN" altLang="en-US" dirty="0"/>
              <a:t>，因为都要创建数量惊人的磁盘文件，</a:t>
            </a:r>
            <a:r>
              <a:rPr lang="zh-CN" altLang="en-US" dirty="0">
                <a:solidFill>
                  <a:srgbClr val="C00000"/>
                </a:solidFill>
              </a:rPr>
              <a:t>只是在最后会做一个磁盘文件的合并而已</a:t>
            </a:r>
            <a:endParaRPr lang="en-US" altLang="zh-CN" dirty="0">
              <a:solidFill>
                <a:srgbClr val="C00000"/>
              </a:solidFill>
            </a:endParaRPr>
          </a:p>
          <a:p>
            <a:pPr lvl="1" algn="just">
              <a:lnSpc>
                <a:spcPct val="120000"/>
              </a:lnSpc>
              <a:spcBef>
                <a:spcPts val="0"/>
              </a:spcBef>
            </a:pPr>
            <a:r>
              <a:rPr lang="zh-CN" altLang="en-US" dirty="0"/>
              <a:t>因此少量的最终磁盘文件，也让该机制相对未经优化的</a:t>
            </a:r>
            <a:r>
              <a:rPr lang="en-US" altLang="zh-CN" dirty="0" err="1"/>
              <a:t>HashShuffleManager</a:t>
            </a:r>
            <a:r>
              <a:rPr lang="zh-CN" altLang="en-US" dirty="0"/>
              <a:t>来说，</a:t>
            </a:r>
            <a:r>
              <a:rPr lang="en-US" altLang="zh-CN" dirty="0"/>
              <a:t>shuffle read</a:t>
            </a:r>
            <a:r>
              <a:rPr lang="zh-CN" altLang="en-US" dirty="0"/>
              <a:t>的性能会更好</a:t>
            </a:r>
            <a:endParaRPr lang="en-US" altLang="zh-CN"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370493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lnSpcReduction="10000"/>
          </a:bodyPr>
          <a:lstStyle/>
          <a:p>
            <a:pPr algn="just">
              <a:lnSpc>
                <a:spcPct val="120000"/>
              </a:lnSpc>
              <a:spcBef>
                <a:spcPts val="0"/>
              </a:spcBef>
            </a:pPr>
            <a:r>
              <a:rPr lang="en-US" altLang="zh-CN" b="1" dirty="0"/>
              <a:t>bypass</a:t>
            </a:r>
            <a:r>
              <a:rPr lang="zh-CN" altLang="en-US" b="1" dirty="0"/>
              <a:t>机制的</a:t>
            </a:r>
            <a:r>
              <a:rPr lang="en-US" altLang="zh-CN" b="1" dirty="0"/>
              <a:t>Sort Shuffle</a:t>
            </a:r>
          </a:p>
          <a:p>
            <a:pPr lvl="1" algn="just">
              <a:lnSpc>
                <a:spcPct val="120000"/>
              </a:lnSpc>
              <a:spcBef>
                <a:spcPts val="0"/>
              </a:spcBef>
            </a:pPr>
            <a:r>
              <a:rPr lang="zh-CN" altLang="en-US" dirty="0"/>
              <a:t>此时</a:t>
            </a:r>
            <a:r>
              <a:rPr lang="en-US" altLang="zh-CN" dirty="0"/>
              <a:t>task</a:t>
            </a:r>
            <a:r>
              <a:rPr lang="zh-CN" altLang="en-US" dirty="0"/>
              <a:t>会为每个</a:t>
            </a:r>
            <a:r>
              <a:rPr lang="en-US" altLang="zh-CN" dirty="0"/>
              <a:t>reduce</a:t>
            </a:r>
            <a:r>
              <a:rPr lang="zh-CN" altLang="en-US" dirty="0"/>
              <a:t>端的</a:t>
            </a:r>
            <a:r>
              <a:rPr lang="en-US" altLang="zh-CN" dirty="0"/>
              <a:t>task</a:t>
            </a:r>
            <a:r>
              <a:rPr lang="zh-CN" altLang="en-US" dirty="0"/>
              <a:t>都创建一个临时磁盘文件，并将数据</a:t>
            </a:r>
            <a:r>
              <a:rPr lang="zh-CN" altLang="en-US" dirty="0">
                <a:solidFill>
                  <a:srgbClr val="C00000"/>
                </a:solidFill>
              </a:rPr>
              <a:t>按</a:t>
            </a:r>
            <a:r>
              <a:rPr lang="en-US" altLang="zh-CN" dirty="0">
                <a:solidFill>
                  <a:srgbClr val="C00000"/>
                </a:solidFill>
              </a:rPr>
              <a:t>key</a:t>
            </a:r>
            <a:r>
              <a:rPr lang="zh-CN" altLang="en-US" dirty="0">
                <a:solidFill>
                  <a:srgbClr val="C00000"/>
                </a:solidFill>
              </a:rPr>
              <a:t>进行</a:t>
            </a:r>
            <a:r>
              <a:rPr lang="en-US" altLang="zh-CN" dirty="0">
                <a:solidFill>
                  <a:srgbClr val="C00000"/>
                </a:solidFill>
              </a:rPr>
              <a:t>hash</a:t>
            </a:r>
            <a:r>
              <a:rPr lang="zh-CN" altLang="en-US" dirty="0">
                <a:solidFill>
                  <a:srgbClr val="C00000"/>
                </a:solidFill>
              </a:rPr>
              <a:t>然后根据</a:t>
            </a:r>
            <a:r>
              <a:rPr lang="en-US" altLang="zh-CN" dirty="0">
                <a:solidFill>
                  <a:srgbClr val="C00000"/>
                </a:solidFill>
              </a:rPr>
              <a:t>key</a:t>
            </a:r>
            <a:r>
              <a:rPr lang="zh-CN" altLang="en-US" dirty="0">
                <a:solidFill>
                  <a:srgbClr val="C00000"/>
                </a:solidFill>
              </a:rPr>
              <a:t>的</a:t>
            </a:r>
            <a:r>
              <a:rPr lang="en-US" altLang="zh-CN" dirty="0">
                <a:solidFill>
                  <a:srgbClr val="C00000"/>
                </a:solidFill>
              </a:rPr>
              <a:t>hash</a:t>
            </a:r>
            <a:r>
              <a:rPr lang="zh-CN" altLang="en-US" dirty="0">
                <a:solidFill>
                  <a:srgbClr val="C00000"/>
                </a:solidFill>
              </a:rPr>
              <a:t>值</a:t>
            </a:r>
            <a:r>
              <a:rPr lang="zh-CN" altLang="en-US" dirty="0"/>
              <a:t>，将</a:t>
            </a:r>
            <a:r>
              <a:rPr lang="en-US" altLang="zh-CN" dirty="0"/>
              <a:t>key</a:t>
            </a:r>
            <a:r>
              <a:rPr lang="zh-CN" altLang="en-US" dirty="0"/>
              <a:t>写入对应的磁盘文件之中</a:t>
            </a:r>
            <a:endParaRPr lang="en-US" altLang="zh-CN" dirty="0"/>
          </a:p>
          <a:p>
            <a:pPr lvl="1" algn="just">
              <a:lnSpc>
                <a:spcPct val="120000"/>
              </a:lnSpc>
              <a:spcBef>
                <a:spcPts val="0"/>
              </a:spcBef>
            </a:pPr>
            <a:r>
              <a:rPr lang="zh-CN" altLang="en-US" dirty="0"/>
              <a:t>当然，写入磁盘文件时也是先写入内存缓冲，缓冲写满之后再溢写到磁盘文件的</a:t>
            </a:r>
            <a:endParaRPr lang="en-US" altLang="zh-CN" dirty="0"/>
          </a:p>
          <a:p>
            <a:pPr lvl="1" algn="just">
              <a:lnSpc>
                <a:spcPct val="120000"/>
              </a:lnSpc>
              <a:spcBef>
                <a:spcPts val="0"/>
              </a:spcBef>
            </a:pPr>
            <a:r>
              <a:rPr lang="zh-CN" altLang="en-US" dirty="0"/>
              <a:t>最后，同样会将所有临时磁盘文件都合并成一个磁盘文件，并创建一个单独的索引文件</a:t>
            </a:r>
            <a:endParaRPr lang="en-US" altLang="zh-CN" dirty="0"/>
          </a:p>
          <a:p>
            <a:pPr lvl="2" algn="just">
              <a:lnSpc>
                <a:spcPct val="120000"/>
              </a:lnSpc>
              <a:spcBef>
                <a:spcPts val="0"/>
              </a:spcBef>
            </a:pPr>
            <a:r>
              <a:rPr lang="zh-CN" altLang="en-US" dirty="0">
                <a:solidFill>
                  <a:srgbClr val="C00000"/>
                </a:solidFill>
              </a:rPr>
              <a:t>该过程的磁盘写机制其实跟未经优化的</a:t>
            </a:r>
            <a:r>
              <a:rPr lang="en-US" altLang="zh-CN" dirty="0" err="1">
                <a:solidFill>
                  <a:srgbClr val="C00000"/>
                </a:solidFill>
              </a:rPr>
              <a:t>HashShuffleManager</a:t>
            </a:r>
            <a:r>
              <a:rPr lang="zh-CN" altLang="en-US" dirty="0">
                <a:solidFill>
                  <a:srgbClr val="C00000"/>
                </a:solidFill>
              </a:rPr>
              <a:t>是一模一样的</a:t>
            </a:r>
            <a:r>
              <a:rPr lang="zh-CN" altLang="en-US" dirty="0"/>
              <a:t>，因为都要创建数量惊人的磁盘文件，</a:t>
            </a:r>
            <a:r>
              <a:rPr lang="zh-CN" altLang="en-US" dirty="0">
                <a:solidFill>
                  <a:srgbClr val="C00000"/>
                </a:solidFill>
              </a:rPr>
              <a:t>只是在最后会做一个磁盘文件的合并而已</a:t>
            </a:r>
            <a:endParaRPr lang="en-US" altLang="zh-CN" dirty="0">
              <a:solidFill>
                <a:srgbClr val="C00000"/>
              </a:solidFill>
            </a:endParaRPr>
          </a:p>
          <a:p>
            <a:pPr lvl="1" algn="just">
              <a:lnSpc>
                <a:spcPct val="120000"/>
              </a:lnSpc>
              <a:spcBef>
                <a:spcPts val="0"/>
              </a:spcBef>
            </a:pPr>
            <a:r>
              <a:rPr lang="zh-CN" altLang="en-US" dirty="0"/>
              <a:t>因此少量的最终磁盘文件，也让该机制相对未经优化的</a:t>
            </a:r>
            <a:r>
              <a:rPr lang="en-US" altLang="zh-CN" dirty="0" err="1"/>
              <a:t>HashShuffleManager</a:t>
            </a:r>
            <a:r>
              <a:rPr lang="zh-CN" altLang="en-US" dirty="0"/>
              <a:t>来说，</a:t>
            </a:r>
            <a:r>
              <a:rPr lang="en-US" altLang="zh-CN" dirty="0"/>
              <a:t>shuffle read</a:t>
            </a:r>
            <a:r>
              <a:rPr lang="zh-CN" altLang="en-US" dirty="0"/>
              <a:t>的性能会更好</a:t>
            </a:r>
            <a:endParaRPr lang="en-US" altLang="zh-CN"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4159C615-0A42-4BD9-ADA0-F1C3A0BD22D5}"/>
              </a:ext>
            </a:extLst>
          </p:cNvPr>
          <p:cNvPicPr>
            <a:picLocks noChangeAspect="1"/>
          </p:cNvPicPr>
          <p:nvPr/>
        </p:nvPicPr>
        <p:blipFill>
          <a:blip r:embed="rId2"/>
          <a:stretch>
            <a:fillRect/>
          </a:stretch>
        </p:blipFill>
        <p:spPr>
          <a:xfrm>
            <a:off x="740000" y="1325561"/>
            <a:ext cx="7664000" cy="5257801"/>
          </a:xfrm>
          <a:prstGeom prst="rect">
            <a:avLst/>
          </a:prstGeom>
        </p:spPr>
      </p:pic>
    </p:spTree>
    <p:extLst>
      <p:ext uri="{BB962C8B-B14F-4D97-AF65-F5344CB8AC3E}">
        <p14:creationId xmlns:p14="http://schemas.microsoft.com/office/powerpoint/2010/main" val="35684285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en-US" altLang="zh-CN" b="1" dirty="0"/>
              <a:t>bypass</a:t>
            </a:r>
            <a:r>
              <a:rPr lang="zh-CN" altLang="en-US" b="1" dirty="0"/>
              <a:t>机制的</a:t>
            </a:r>
            <a:r>
              <a:rPr lang="en-US" altLang="zh-CN" b="1" dirty="0"/>
              <a:t>Sort Shuffle</a:t>
            </a:r>
          </a:p>
          <a:p>
            <a:pPr lvl="1" algn="just">
              <a:lnSpc>
                <a:spcPct val="120000"/>
              </a:lnSpc>
              <a:spcBef>
                <a:spcPts val="0"/>
              </a:spcBef>
            </a:pPr>
            <a:r>
              <a:rPr lang="zh-CN" altLang="en-US" dirty="0"/>
              <a:t>该机制与普通</a:t>
            </a:r>
            <a:r>
              <a:rPr lang="en-US" altLang="zh-CN" dirty="0" err="1"/>
              <a:t>SortShuffleManager</a:t>
            </a:r>
            <a:r>
              <a:rPr lang="zh-CN" altLang="en-US" dirty="0"/>
              <a:t>运行机制的不同在于：</a:t>
            </a:r>
          </a:p>
          <a:p>
            <a:pPr lvl="1" algn="just">
              <a:lnSpc>
                <a:spcPct val="120000"/>
              </a:lnSpc>
              <a:spcBef>
                <a:spcPts val="0"/>
              </a:spcBef>
            </a:pPr>
            <a:r>
              <a:rPr lang="zh-CN" altLang="en-US" dirty="0"/>
              <a:t>（</a:t>
            </a:r>
            <a:r>
              <a:rPr lang="en-US" altLang="zh-CN" dirty="0"/>
              <a:t>1</a:t>
            </a:r>
            <a:r>
              <a:rPr lang="zh-CN" altLang="en-US" dirty="0"/>
              <a:t>）磁盘写机制不同</a:t>
            </a:r>
            <a:endParaRPr lang="en-US" altLang="zh-CN" dirty="0"/>
          </a:p>
          <a:p>
            <a:pPr lvl="1" algn="just">
              <a:lnSpc>
                <a:spcPct val="120000"/>
              </a:lnSpc>
              <a:spcBef>
                <a:spcPts val="0"/>
              </a:spcBef>
            </a:pPr>
            <a:r>
              <a:rPr lang="zh-CN" altLang="en-US" dirty="0"/>
              <a:t>（</a:t>
            </a:r>
            <a:r>
              <a:rPr lang="en-US" altLang="zh-CN" dirty="0"/>
              <a:t>2</a:t>
            </a:r>
            <a:r>
              <a:rPr lang="zh-CN" altLang="en-US" dirty="0"/>
              <a:t>）不会进行排序</a:t>
            </a:r>
            <a:endParaRPr lang="en-US" altLang="zh-CN" dirty="0"/>
          </a:p>
          <a:p>
            <a:pPr lvl="2" algn="just">
              <a:lnSpc>
                <a:spcPct val="120000"/>
              </a:lnSpc>
              <a:spcBef>
                <a:spcPts val="0"/>
              </a:spcBef>
            </a:pPr>
            <a:r>
              <a:rPr lang="zh-CN" altLang="en-US" sz="2400" dirty="0"/>
              <a:t>也就是说，启用该机制的最大好处在于，</a:t>
            </a:r>
            <a:r>
              <a:rPr lang="en-US" altLang="zh-CN" sz="2400" dirty="0"/>
              <a:t>shuffle write</a:t>
            </a:r>
            <a:r>
              <a:rPr lang="zh-CN" altLang="en-US" sz="2400" dirty="0"/>
              <a:t>过程中，不需要进行数据的排序操作，也就节省掉了这部分的性能开销</a:t>
            </a:r>
            <a:endParaRPr lang="en-US" altLang="zh-CN"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740897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07881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457200" y="1600200"/>
            <a:ext cx="8229600" cy="5105400"/>
          </a:xfrm>
        </p:spPr>
        <p:txBody>
          <a:bodyPr>
            <a:normAutofit lnSpcReduction="10000"/>
          </a:bodyPr>
          <a:lstStyle/>
          <a:p>
            <a:r>
              <a:rPr lang="en-US" altLang="zh-CN" sz="2800" b="1" dirty="0"/>
              <a:t>Spark Shuffle</a:t>
            </a:r>
            <a:r>
              <a:rPr lang="zh-CN" altLang="en-US" sz="2800" b="1" dirty="0"/>
              <a:t>总结</a:t>
            </a:r>
            <a:endParaRPr lang="en-US" altLang="zh-CN" sz="2800" b="1" dirty="0"/>
          </a:p>
          <a:p>
            <a:pPr lvl="1" algn="just"/>
            <a:r>
              <a:rPr lang="en-US" altLang="zh-CN" dirty="0"/>
              <a:t>Shuffle </a:t>
            </a:r>
            <a:r>
              <a:rPr lang="zh-CN" altLang="en-US" dirty="0"/>
              <a:t>过程本质上都是将 </a:t>
            </a:r>
            <a:r>
              <a:rPr lang="en-US" altLang="zh-CN" dirty="0"/>
              <a:t>Map </a:t>
            </a:r>
            <a:r>
              <a:rPr lang="zh-CN" altLang="en-US" dirty="0"/>
              <a:t>端获得的数据使用分区器进行划分，并将数据发送给对应的 </a:t>
            </a:r>
            <a:r>
              <a:rPr lang="en-US" altLang="zh-CN" dirty="0"/>
              <a:t>Reducer </a:t>
            </a:r>
            <a:r>
              <a:rPr lang="zh-CN" altLang="en-US" dirty="0"/>
              <a:t>的过程</a:t>
            </a:r>
            <a:endParaRPr lang="en-US" altLang="zh-CN" dirty="0"/>
          </a:p>
          <a:p>
            <a:pPr lvl="1" algn="just"/>
            <a:r>
              <a:rPr lang="en-US" altLang="zh-CN" dirty="0"/>
              <a:t>Shuffle</a:t>
            </a:r>
            <a:r>
              <a:rPr lang="zh-CN" altLang="en-US" dirty="0"/>
              <a:t>作为处理连接</a:t>
            </a:r>
            <a:r>
              <a:rPr lang="en-US" altLang="zh-CN" dirty="0"/>
              <a:t>map</a:t>
            </a:r>
            <a:r>
              <a:rPr lang="zh-CN" altLang="en-US" dirty="0"/>
              <a:t>端和</a:t>
            </a:r>
            <a:r>
              <a:rPr lang="en-US" altLang="zh-CN" dirty="0"/>
              <a:t>reduce</a:t>
            </a:r>
            <a:r>
              <a:rPr lang="zh-CN" altLang="en-US" dirty="0"/>
              <a:t>端的枢纽，其</a:t>
            </a:r>
            <a:r>
              <a:rPr lang="en-US" altLang="zh-CN" dirty="0"/>
              <a:t>shuffle</a:t>
            </a:r>
            <a:r>
              <a:rPr lang="zh-CN" altLang="en-US" dirty="0"/>
              <a:t>的性能高低直接影响了整个程序的性能和吞吐量；</a:t>
            </a:r>
            <a:r>
              <a:rPr lang="en-US" altLang="zh-CN" dirty="0"/>
              <a:t>map</a:t>
            </a:r>
            <a:r>
              <a:rPr lang="zh-CN" altLang="en-US" dirty="0"/>
              <a:t>端的</a:t>
            </a:r>
            <a:r>
              <a:rPr lang="en-US" altLang="zh-CN" dirty="0"/>
              <a:t>shuffle</a:t>
            </a:r>
            <a:r>
              <a:rPr lang="zh-CN" altLang="en-US" dirty="0"/>
              <a:t>一般为</a:t>
            </a:r>
            <a:r>
              <a:rPr lang="en-US" altLang="zh-CN" dirty="0"/>
              <a:t>shuffle</a:t>
            </a:r>
            <a:r>
              <a:rPr lang="zh-CN" altLang="en-US" dirty="0"/>
              <a:t>的</a:t>
            </a:r>
            <a:r>
              <a:rPr lang="en-US" altLang="zh-CN" dirty="0"/>
              <a:t>Write</a:t>
            </a:r>
            <a:r>
              <a:rPr lang="zh-CN" altLang="en-US" dirty="0"/>
              <a:t>阶段，</a:t>
            </a:r>
            <a:r>
              <a:rPr lang="en-US" altLang="zh-CN" dirty="0"/>
              <a:t>reduce</a:t>
            </a:r>
            <a:r>
              <a:rPr lang="zh-CN" altLang="en-US" dirty="0"/>
              <a:t>端的</a:t>
            </a:r>
            <a:r>
              <a:rPr lang="en-US" altLang="zh-CN" dirty="0"/>
              <a:t>shuffle</a:t>
            </a:r>
            <a:r>
              <a:rPr lang="zh-CN" altLang="en-US" dirty="0"/>
              <a:t>一般为</a:t>
            </a:r>
            <a:r>
              <a:rPr lang="en-US" altLang="zh-CN" dirty="0"/>
              <a:t>shuffle</a:t>
            </a:r>
            <a:r>
              <a:rPr lang="zh-CN" altLang="en-US" dirty="0"/>
              <a:t>的</a:t>
            </a:r>
            <a:r>
              <a:rPr lang="en-US" altLang="zh-CN" dirty="0"/>
              <a:t>read</a:t>
            </a:r>
            <a:r>
              <a:rPr lang="zh-CN" altLang="en-US" dirty="0"/>
              <a:t>阶段</a:t>
            </a:r>
            <a:endParaRPr lang="en-US" altLang="zh-CN" dirty="0"/>
          </a:p>
          <a:p>
            <a:pPr lvl="1" algn="just"/>
            <a:r>
              <a:rPr lang="en-US" altLang="zh-CN" dirty="0"/>
              <a:t>Hadoop</a:t>
            </a:r>
            <a:r>
              <a:rPr lang="zh-CN" altLang="en-US" dirty="0"/>
              <a:t>和</a:t>
            </a:r>
            <a:r>
              <a:rPr lang="en-US" altLang="zh-CN" dirty="0"/>
              <a:t>spark</a:t>
            </a:r>
            <a:r>
              <a:rPr lang="zh-CN" altLang="en-US" dirty="0"/>
              <a:t>的</a:t>
            </a:r>
            <a:r>
              <a:rPr lang="en-US" altLang="zh-CN" dirty="0"/>
              <a:t>shuffle</a:t>
            </a:r>
            <a:r>
              <a:rPr lang="zh-CN" altLang="en-US" dirty="0"/>
              <a:t>在实现上面存在很大的不同，</a:t>
            </a:r>
            <a:r>
              <a:rPr lang="en-US" altLang="zh-CN" dirty="0"/>
              <a:t>spark</a:t>
            </a:r>
            <a:r>
              <a:rPr lang="zh-CN" altLang="en-US" dirty="0"/>
              <a:t>的</a:t>
            </a:r>
            <a:r>
              <a:rPr lang="en-US" altLang="zh-CN" dirty="0"/>
              <a:t>shuffle</a:t>
            </a:r>
            <a:r>
              <a:rPr lang="zh-CN" altLang="en-US" dirty="0"/>
              <a:t>分为两种实现，分别为</a:t>
            </a:r>
            <a:r>
              <a:rPr lang="en-US" altLang="zh-CN" dirty="0" err="1"/>
              <a:t>HashShuffle</a:t>
            </a:r>
            <a:r>
              <a:rPr lang="zh-CN" altLang="en-US" dirty="0"/>
              <a:t>和</a:t>
            </a:r>
            <a:r>
              <a:rPr lang="en-US" altLang="zh-CN" dirty="0" err="1"/>
              <a:t>SortShuffle</a:t>
            </a:r>
            <a:endParaRPr kumimoji="1" lang="zh-CN" altLang="en-US" sz="2400" dirty="0"/>
          </a:p>
        </p:txBody>
      </p:sp>
      <p:sp>
        <p:nvSpPr>
          <p:cNvPr id="4" name="矩形 3">
            <a:extLst>
              <a:ext uri="{FF2B5EF4-FFF2-40B4-BE49-F238E27FC236}">
                <a16:creationId xmlns:a16="http://schemas.microsoft.com/office/drawing/2014/main" id="{1D8CD887-A1E2-41E2-B27C-5685F1D569F1}"/>
              </a:ext>
            </a:extLst>
          </p:cNvPr>
          <p:cNvSpPr/>
          <p:nvPr/>
        </p:nvSpPr>
        <p:spPr>
          <a:xfrm>
            <a:off x="685800" y="6477000"/>
            <a:ext cx="7162800" cy="369332"/>
          </a:xfrm>
          <a:prstGeom prst="rect">
            <a:avLst/>
          </a:prstGeom>
        </p:spPr>
        <p:txBody>
          <a:bodyPr wrap="square">
            <a:spAutoFit/>
          </a:bodyPr>
          <a:lstStyle/>
          <a:p>
            <a:r>
              <a:rPr lang="zh-CN" altLang="en-US" dirty="0">
                <a:hlinkClick r:id="rId2"/>
              </a:rPr>
              <a:t>https://www.zhihu.com/question/27643595/answer/2463389602</a:t>
            </a:r>
            <a:endParaRPr lang="zh-CN" altLang="en-US" dirty="0"/>
          </a:p>
        </p:txBody>
      </p:sp>
    </p:spTree>
    <p:extLst>
      <p:ext uri="{BB962C8B-B14F-4D97-AF65-F5344CB8AC3E}">
        <p14:creationId xmlns:p14="http://schemas.microsoft.com/office/powerpoint/2010/main" val="32470913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457200" y="1600200"/>
            <a:ext cx="8229600" cy="5105400"/>
          </a:xfrm>
        </p:spPr>
        <p:txBody>
          <a:bodyPr>
            <a:normAutofit fontScale="92500" lnSpcReduction="10000"/>
          </a:bodyPr>
          <a:lstStyle/>
          <a:p>
            <a:r>
              <a:rPr lang="en-US" altLang="zh-CN" sz="2800" b="1" dirty="0"/>
              <a:t>Spark Shuffle</a:t>
            </a:r>
            <a:r>
              <a:rPr lang="zh-CN" altLang="en-US" sz="2800" b="1" dirty="0"/>
              <a:t>总结</a:t>
            </a:r>
            <a:endParaRPr lang="en-US" altLang="zh-CN" sz="2800" b="1" dirty="0"/>
          </a:p>
          <a:p>
            <a:pPr lvl="1" algn="just"/>
            <a:r>
              <a:rPr lang="en-US" altLang="zh-CN" sz="2500" dirty="0" err="1"/>
              <a:t>HashShuffle</a:t>
            </a:r>
            <a:r>
              <a:rPr lang="zh-CN" altLang="en-US" sz="2500" dirty="0"/>
              <a:t>又分为普通机制和合并机制，普通机制因为其会产生</a:t>
            </a:r>
            <a:r>
              <a:rPr lang="en-US" altLang="zh-CN" sz="2500" dirty="0"/>
              <a:t>M*R</a:t>
            </a:r>
            <a:r>
              <a:rPr lang="zh-CN" altLang="en-US" sz="2500" dirty="0"/>
              <a:t>个数的巨量磁盘小文件而产生大量性能低下的</a:t>
            </a:r>
            <a:r>
              <a:rPr lang="en-US" altLang="zh-CN" sz="2500" dirty="0"/>
              <a:t>Io</a:t>
            </a:r>
            <a:r>
              <a:rPr lang="zh-CN" altLang="en-US" sz="2500" dirty="0"/>
              <a:t>操作，从而性能较低，因为其巨量的磁盘小文件还可能导致</a:t>
            </a:r>
            <a:r>
              <a:rPr lang="en-US" altLang="zh-CN" sz="2500" dirty="0"/>
              <a:t>out of memory</a:t>
            </a:r>
            <a:r>
              <a:rPr lang="zh-CN" altLang="en-US" sz="2500" dirty="0"/>
              <a:t>，</a:t>
            </a:r>
            <a:r>
              <a:rPr lang="en-US" altLang="zh-CN" sz="2500" dirty="0" err="1"/>
              <a:t>HashShuffle</a:t>
            </a:r>
            <a:r>
              <a:rPr lang="zh-CN" altLang="en-US" sz="2500" dirty="0"/>
              <a:t>的合并机制通过重复利用</a:t>
            </a:r>
            <a:r>
              <a:rPr lang="en-US" altLang="zh-CN" sz="2500" dirty="0"/>
              <a:t>buffer</a:t>
            </a:r>
            <a:r>
              <a:rPr lang="zh-CN" altLang="en-US" sz="2500" dirty="0"/>
              <a:t>从而将磁盘小文件的数量降低到</a:t>
            </a:r>
            <a:r>
              <a:rPr lang="en-US" altLang="zh-CN" sz="2500" dirty="0"/>
              <a:t>Core*R</a:t>
            </a:r>
            <a:r>
              <a:rPr lang="zh-CN" altLang="en-US" sz="2500" dirty="0"/>
              <a:t>个，但是当</a:t>
            </a:r>
            <a:r>
              <a:rPr lang="en-US" altLang="zh-CN" sz="2500" dirty="0"/>
              <a:t>Reducer </a:t>
            </a:r>
            <a:r>
              <a:rPr lang="zh-CN" altLang="en-US" sz="2500" dirty="0"/>
              <a:t>端的并行任务或者是数据分片过多的时候，依然会产生大量的磁盘小文件</a:t>
            </a:r>
            <a:endParaRPr lang="en-US" altLang="zh-CN" sz="2500" dirty="0"/>
          </a:p>
          <a:p>
            <a:pPr lvl="1" algn="just"/>
            <a:r>
              <a:rPr kumimoji="1" lang="en-US" altLang="zh-CN" sz="2500" dirty="0" err="1"/>
              <a:t>SortShuffle</a:t>
            </a:r>
            <a:r>
              <a:rPr kumimoji="1" lang="zh-CN" altLang="en-US" sz="2500" dirty="0"/>
              <a:t>也分为普通机制和</a:t>
            </a:r>
            <a:r>
              <a:rPr kumimoji="1" lang="en-US" altLang="zh-CN" sz="2500" dirty="0"/>
              <a:t>bypass</a:t>
            </a:r>
            <a:r>
              <a:rPr kumimoji="1" lang="zh-CN" altLang="en-US" sz="2500" dirty="0"/>
              <a:t>机制，普通机制在内存数据结构</a:t>
            </a:r>
            <a:r>
              <a:rPr kumimoji="1" lang="en-US" altLang="zh-CN" sz="2500" dirty="0"/>
              <a:t>(</a:t>
            </a:r>
            <a:r>
              <a:rPr kumimoji="1" lang="zh-CN" altLang="en-US" sz="2500" dirty="0"/>
              <a:t>默认为</a:t>
            </a:r>
            <a:r>
              <a:rPr kumimoji="1" lang="en-US" altLang="zh-CN" sz="2500" dirty="0"/>
              <a:t>5M)</a:t>
            </a:r>
            <a:r>
              <a:rPr kumimoji="1" lang="zh-CN" altLang="en-US" sz="2500" dirty="0"/>
              <a:t>完成排序，产生</a:t>
            </a:r>
            <a:r>
              <a:rPr kumimoji="1" lang="en-US" altLang="zh-CN" sz="2500" dirty="0"/>
              <a:t>2*M</a:t>
            </a:r>
            <a:r>
              <a:rPr kumimoji="1" lang="zh-CN" altLang="en-US" sz="2500" dirty="0"/>
              <a:t>个磁盘小文件</a:t>
            </a:r>
            <a:endParaRPr kumimoji="1" lang="en-US" altLang="zh-CN" sz="2500" dirty="0"/>
          </a:p>
          <a:p>
            <a:pPr lvl="2" algn="just"/>
            <a:r>
              <a:rPr kumimoji="1" lang="zh-CN" altLang="en-US" sz="2100" dirty="0"/>
              <a:t>而当</a:t>
            </a:r>
            <a:r>
              <a:rPr kumimoji="1" lang="en-US" altLang="zh-CN" sz="2100" dirty="0"/>
              <a:t>shuffle map task</a:t>
            </a:r>
            <a:r>
              <a:rPr kumimoji="1" lang="zh-CN" altLang="en-US" sz="2100" dirty="0"/>
              <a:t>数量小于</a:t>
            </a:r>
            <a:r>
              <a:rPr kumimoji="1" lang="en-US" altLang="zh-CN" sz="2100" dirty="0" err="1"/>
              <a:t>spark.shuffle.sort.bypassMergeThreshold</a:t>
            </a:r>
            <a:r>
              <a:rPr kumimoji="1" lang="zh-CN" altLang="en-US" sz="2100" dirty="0"/>
              <a:t>参数的值，或者算子不是聚合类的</a:t>
            </a:r>
            <a:r>
              <a:rPr kumimoji="1" lang="en-US" altLang="zh-CN" sz="2100" dirty="0"/>
              <a:t>shuffle</a:t>
            </a:r>
            <a:r>
              <a:rPr kumimoji="1" lang="zh-CN" altLang="en-US" sz="2100" dirty="0"/>
              <a:t>算子</a:t>
            </a:r>
            <a:r>
              <a:rPr kumimoji="1" lang="en-US" altLang="zh-CN" sz="2100" dirty="0"/>
              <a:t>(</a:t>
            </a:r>
            <a:r>
              <a:rPr kumimoji="1" lang="zh-CN" altLang="en-US" sz="2100" dirty="0"/>
              <a:t>比如</a:t>
            </a:r>
            <a:r>
              <a:rPr kumimoji="1" lang="en-US" altLang="zh-CN" sz="2100" dirty="0" err="1"/>
              <a:t>reduceByKey</a:t>
            </a:r>
            <a:r>
              <a:rPr kumimoji="1" lang="en-US" altLang="zh-CN" sz="2100" dirty="0"/>
              <a:t>)</a:t>
            </a:r>
            <a:r>
              <a:rPr kumimoji="1" lang="zh-CN" altLang="en-US" sz="2100" dirty="0"/>
              <a:t>的时候会触发</a:t>
            </a:r>
            <a:r>
              <a:rPr kumimoji="1" lang="en-US" altLang="zh-CN" sz="2100" dirty="0" err="1"/>
              <a:t>SortShuffle</a:t>
            </a:r>
            <a:r>
              <a:rPr kumimoji="1" lang="zh-CN" altLang="en-US" sz="2100" dirty="0"/>
              <a:t>的</a:t>
            </a:r>
            <a:r>
              <a:rPr kumimoji="1" lang="en-US" altLang="zh-CN" sz="2100" dirty="0"/>
              <a:t>bypass</a:t>
            </a:r>
            <a:r>
              <a:rPr kumimoji="1" lang="zh-CN" altLang="en-US" sz="2100" dirty="0"/>
              <a:t>机制，</a:t>
            </a:r>
            <a:r>
              <a:rPr kumimoji="1" lang="en-US" altLang="zh-CN" sz="2100" dirty="0" err="1"/>
              <a:t>SortShuffle</a:t>
            </a:r>
            <a:r>
              <a:rPr kumimoji="1" lang="zh-CN" altLang="en-US" sz="2100" dirty="0"/>
              <a:t>的</a:t>
            </a:r>
            <a:r>
              <a:rPr kumimoji="1" lang="en-US" altLang="zh-CN" sz="2100" dirty="0"/>
              <a:t>bypass</a:t>
            </a:r>
            <a:r>
              <a:rPr kumimoji="1" lang="zh-CN" altLang="en-US" sz="2100" dirty="0"/>
              <a:t>机制不会进行排序，极大的提高了其性能</a:t>
            </a:r>
          </a:p>
        </p:txBody>
      </p:sp>
    </p:spTree>
    <p:extLst>
      <p:ext uri="{BB962C8B-B14F-4D97-AF65-F5344CB8AC3E}">
        <p14:creationId xmlns:p14="http://schemas.microsoft.com/office/powerpoint/2010/main" val="7432470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457200" y="1600200"/>
            <a:ext cx="8229600" cy="5105400"/>
          </a:xfrm>
        </p:spPr>
        <p:txBody>
          <a:bodyPr>
            <a:normAutofit/>
          </a:bodyPr>
          <a:lstStyle/>
          <a:p>
            <a:r>
              <a:rPr lang="en-US" altLang="zh-CN" sz="2800" b="1" dirty="0"/>
              <a:t>Spark Shuffle</a:t>
            </a:r>
            <a:r>
              <a:rPr lang="zh-CN" altLang="en-US" sz="2800" b="1" dirty="0"/>
              <a:t>总结</a:t>
            </a:r>
            <a:endParaRPr lang="en-US" altLang="zh-CN" sz="2800" b="1" dirty="0"/>
          </a:p>
          <a:p>
            <a:pPr lvl="1" algn="just"/>
            <a:r>
              <a:rPr lang="zh-CN" altLang="en-US" sz="2300" dirty="0"/>
              <a:t>在</a:t>
            </a:r>
            <a:r>
              <a:rPr lang="en-US" altLang="zh-CN" sz="2300" dirty="0"/>
              <a:t>Spark 1.2</a:t>
            </a:r>
            <a:r>
              <a:rPr lang="zh-CN" altLang="en-US" sz="2300" dirty="0"/>
              <a:t>以前，默认的</a:t>
            </a:r>
            <a:r>
              <a:rPr lang="en-US" altLang="zh-CN" sz="2300" dirty="0"/>
              <a:t>shuffle</a:t>
            </a:r>
            <a:r>
              <a:rPr lang="zh-CN" altLang="en-US" sz="2300" dirty="0"/>
              <a:t>计算引擎是</a:t>
            </a:r>
            <a:r>
              <a:rPr lang="en-US" altLang="zh-CN" sz="2300" dirty="0" err="1"/>
              <a:t>HashShuffleManager</a:t>
            </a:r>
            <a:r>
              <a:rPr lang="zh-CN" altLang="en-US" sz="2300" dirty="0"/>
              <a:t>，因为</a:t>
            </a:r>
            <a:r>
              <a:rPr lang="en-US" altLang="zh-CN" sz="2300" dirty="0" err="1"/>
              <a:t>HashShuffleManager</a:t>
            </a:r>
            <a:r>
              <a:rPr lang="zh-CN" altLang="en-US" sz="2300" dirty="0"/>
              <a:t>会产生大量的磁盘小文件而性能低下，</a:t>
            </a:r>
            <a:r>
              <a:rPr lang="zh-CN" altLang="en-US" sz="2300" dirty="0">
                <a:solidFill>
                  <a:srgbClr val="C00000"/>
                </a:solidFill>
              </a:rPr>
              <a:t>在</a:t>
            </a:r>
            <a:r>
              <a:rPr lang="en-US" altLang="zh-CN" sz="2300" dirty="0">
                <a:solidFill>
                  <a:srgbClr val="C00000"/>
                </a:solidFill>
              </a:rPr>
              <a:t>Spark 1.2</a:t>
            </a:r>
            <a:r>
              <a:rPr lang="zh-CN" altLang="en-US" sz="2300" dirty="0">
                <a:solidFill>
                  <a:srgbClr val="C00000"/>
                </a:solidFill>
              </a:rPr>
              <a:t>以后的版本中，默认的</a:t>
            </a:r>
            <a:r>
              <a:rPr lang="en-US" altLang="zh-CN" sz="2300" dirty="0" err="1">
                <a:solidFill>
                  <a:srgbClr val="C00000"/>
                </a:solidFill>
              </a:rPr>
              <a:t>ShuffleManager</a:t>
            </a:r>
            <a:r>
              <a:rPr lang="zh-CN" altLang="en-US" sz="2300" dirty="0">
                <a:solidFill>
                  <a:srgbClr val="C00000"/>
                </a:solidFill>
              </a:rPr>
              <a:t>改成了</a:t>
            </a:r>
            <a:r>
              <a:rPr lang="en-US" altLang="zh-CN" sz="2300" dirty="0" err="1">
                <a:solidFill>
                  <a:srgbClr val="C00000"/>
                </a:solidFill>
              </a:rPr>
              <a:t>SortShuffleManager</a:t>
            </a:r>
            <a:endParaRPr lang="en-US" altLang="zh-CN" sz="2300" dirty="0">
              <a:solidFill>
                <a:srgbClr val="C00000"/>
              </a:solidFill>
            </a:endParaRPr>
          </a:p>
          <a:p>
            <a:pPr lvl="1" algn="just"/>
            <a:r>
              <a:rPr kumimoji="1" lang="en-US" altLang="zh-CN" sz="2300" dirty="0" err="1"/>
              <a:t>SortShuffleManager</a:t>
            </a:r>
            <a:r>
              <a:rPr kumimoji="1" lang="zh-CN" altLang="en-US" sz="2300" dirty="0"/>
              <a:t>相较于</a:t>
            </a:r>
            <a:r>
              <a:rPr kumimoji="1" lang="en-US" altLang="zh-CN" sz="2300" dirty="0" err="1"/>
              <a:t>HashShuffleManager</a:t>
            </a:r>
            <a:r>
              <a:rPr kumimoji="1" lang="zh-CN" altLang="en-US" sz="2300" dirty="0"/>
              <a:t>来说，有了一定的改进</a:t>
            </a:r>
            <a:endParaRPr kumimoji="1" lang="en-US" altLang="zh-CN" sz="2300" dirty="0"/>
          </a:p>
          <a:p>
            <a:pPr lvl="2" algn="just"/>
            <a:r>
              <a:rPr kumimoji="1" lang="zh-CN" altLang="en-US" dirty="0"/>
              <a:t>主要就在于，每个</a:t>
            </a:r>
            <a:r>
              <a:rPr kumimoji="1" lang="en-US" altLang="zh-CN" dirty="0"/>
              <a:t>Task</a:t>
            </a:r>
            <a:r>
              <a:rPr kumimoji="1" lang="zh-CN" altLang="en-US" dirty="0"/>
              <a:t>在进行</a:t>
            </a:r>
            <a:r>
              <a:rPr kumimoji="1" lang="en-US" altLang="zh-CN" dirty="0"/>
              <a:t>shuffle</a:t>
            </a:r>
            <a:r>
              <a:rPr kumimoji="1" lang="zh-CN" altLang="en-US" dirty="0"/>
              <a:t>操作时，虽然也会产生较多的临时磁盘文件，但是最后会将所有的临时文件合并</a:t>
            </a:r>
            <a:r>
              <a:rPr kumimoji="1" lang="en-US" altLang="zh-CN" dirty="0"/>
              <a:t>(merge)</a:t>
            </a:r>
            <a:r>
              <a:rPr kumimoji="1" lang="zh-CN" altLang="en-US" dirty="0"/>
              <a:t>成一个磁盘文件，因此每个</a:t>
            </a:r>
            <a:r>
              <a:rPr kumimoji="1" lang="en-US" altLang="zh-CN" dirty="0"/>
              <a:t>Task</a:t>
            </a:r>
            <a:r>
              <a:rPr kumimoji="1" lang="zh-CN" altLang="en-US" dirty="0"/>
              <a:t>就只有一个磁盘文件。在下一个</a:t>
            </a:r>
            <a:r>
              <a:rPr kumimoji="1" lang="en-US" altLang="zh-CN" dirty="0"/>
              <a:t>stage</a:t>
            </a:r>
            <a:r>
              <a:rPr kumimoji="1" lang="zh-CN" altLang="en-US" dirty="0"/>
              <a:t>的</a:t>
            </a:r>
            <a:r>
              <a:rPr kumimoji="1" lang="en-US" altLang="zh-CN" dirty="0"/>
              <a:t>shuffle read task</a:t>
            </a:r>
            <a:r>
              <a:rPr kumimoji="1" lang="zh-CN" altLang="en-US" dirty="0"/>
              <a:t>拉取自己的数据时，只要根据索引读取每个磁盘文件中的部分数据即可</a:t>
            </a:r>
            <a:endParaRPr kumimoji="1" lang="zh-CN" altLang="en-US" sz="1900" dirty="0"/>
          </a:p>
        </p:txBody>
      </p:sp>
    </p:spTree>
    <p:extLst>
      <p:ext uri="{BB962C8B-B14F-4D97-AF65-F5344CB8AC3E}">
        <p14:creationId xmlns:p14="http://schemas.microsoft.com/office/powerpoint/2010/main" val="17649323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06459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en-US" altLang="zh-CN" b="1" dirty="0"/>
              <a:t>Spark Shuffle</a:t>
            </a:r>
            <a:r>
              <a:rPr lang="zh-CN" altLang="en-US" b="1" dirty="0"/>
              <a:t>与</a:t>
            </a:r>
            <a:r>
              <a:rPr lang="en-US" altLang="zh-CN" b="1" dirty="0"/>
              <a:t>MapReduce Shuffle</a:t>
            </a:r>
            <a:r>
              <a:rPr lang="zh-CN" altLang="en-US" b="1" dirty="0"/>
              <a:t>的异同</a:t>
            </a:r>
          </a:p>
          <a:p>
            <a:pPr lvl="1" algn="just"/>
            <a:r>
              <a:rPr lang="zh-CN" altLang="en-US" dirty="0">
                <a:solidFill>
                  <a:srgbClr val="C00000"/>
                </a:solidFill>
              </a:rPr>
              <a:t>从整体功能上看，两者并没有大的差别</a:t>
            </a:r>
            <a:endParaRPr lang="en-US" altLang="zh-CN" dirty="0">
              <a:solidFill>
                <a:srgbClr val="C00000"/>
              </a:solidFill>
            </a:endParaRPr>
          </a:p>
          <a:p>
            <a:pPr lvl="1" algn="just"/>
            <a:r>
              <a:rPr lang="zh-CN" altLang="en-US" dirty="0"/>
              <a:t> 都是将 </a:t>
            </a:r>
            <a:r>
              <a:rPr lang="en-US" altLang="zh-CN" dirty="0"/>
              <a:t>mapper</a:t>
            </a:r>
            <a:r>
              <a:rPr lang="zh-CN" altLang="en-US" dirty="0"/>
              <a:t>（</a:t>
            </a:r>
            <a:r>
              <a:rPr lang="en-US" altLang="zh-CN" dirty="0"/>
              <a:t>Spark </a:t>
            </a:r>
            <a:r>
              <a:rPr lang="zh-CN" altLang="en-US" dirty="0"/>
              <a:t>里是 </a:t>
            </a:r>
            <a:r>
              <a:rPr lang="en-US" altLang="zh-CN" dirty="0" err="1"/>
              <a:t>ShuffleMapTask</a:t>
            </a:r>
            <a:r>
              <a:rPr lang="zh-CN" altLang="en-US" dirty="0"/>
              <a:t>）的输出进行 </a:t>
            </a:r>
            <a:r>
              <a:rPr lang="en-US" altLang="zh-CN" dirty="0"/>
              <a:t>partition</a:t>
            </a:r>
            <a:r>
              <a:rPr lang="zh-CN" altLang="en-US" dirty="0"/>
              <a:t>，不同的 </a:t>
            </a:r>
            <a:r>
              <a:rPr lang="en-US" altLang="zh-CN" dirty="0"/>
              <a:t>partition </a:t>
            </a:r>
            <a:r>
              <a:rPr lang="zh-CN" altLang="en-US" dirty="0"/>
              <a:t>送到不同的 </a:t>
            </a:r>
            <a:r>
              <a:rPr lang="en-US" altLang="zh-CN" dirty="0"/>
              <a:t>reducer</a:t>
            </a:r>
            <a:r>
              <a:rPr lang="zh-CN" altLang="en-US" dirty="0"/>
              <a:t>（</a:t>
            </a:r>
            <a:r>
              <a:rPr lang="en-US" altLang="zh-CN" dirty="0"/>
              <a:t>Spark </a:t>
            </a:r>
            <a:r>
              <a:rPr lang="zh-CN" altLang="en-US" dirty="0"/>
              <a:t>里 </a:t>
            </a:r>
            <a:r>
              <a:rPr lang="en-US" altLang="zh-CN" dirty="0"/>
              <a:t>reducer </a:t>
            </a:r>
            <a:r>
              <a:rPr lang="zh-CN" altLang="en-US" dirty="0"/>
              <a:t>可能是下一个 </a:t>
            </a:r>
            <a:r>
              <a:rPr lang="en-US" altLang="zh-CN" dirty="0"/>
              <a:t>stage </a:t>
            </a:r>
            <a:r>
              <a:rPr lang="zh-CN" altLang="en-US" dirty="0"/>
              <a:t>里的 </a:t>
            </a:r>
            <a:r>
              <a:rPr lang="en-US" altLang="zh-CN" dirty="0" err="1"/>
              <a:t>ShuffleMapTask</a:t>
            </a:r>
            <a:r>
              <a:rPr lang="zh-CN" altLang="en-US" dirty="0"/>
              <a:t>，也可能是 </a:t>
            </a:r>
            <a:r>
              <a:rPr lang="en-US" altLang="zh-CN" dirty="0" err="1"/>
              <a:t>ResultTask</a:t>
            </a:r>
            <a:r>
              <a:rPr lang="zh-CN" altLang="en-US" dirty="0"/>
              <a:t>）</a:t>
            </a:r>
            <a:endParaRPr lang="en-US" altLang="zh-CN" dirty="0"/>
          </a:p>
          <a:p>
            <a:pPr lvl="1" algn="just"/>
            <a:r>
              <a:rPr lang="en-US" altLang="zh-CN" dirty="0"/>
              <a:t>Reducer </a:t>
            </a:r>
            <a:r>
              <a:rPr lang="zh-CN" altLang="en-US" dirty="0"/>
              <a:t>以内存作缓冲区，边 </a:t>
            </a:r>
            <a:r>
              <a:rPr lang="en-US" altLang="zh-CN" dirty="0"/>
              <a:t>shuffle </a:t>
            </a:r>
            <a:r>
              <a:rPr lang="zh-CN" altLang="en-US" dirty="0"/>
              <a:t>边 </a:t>
            </a:r>
            <a:r>
              <a:rPr lang="en-US" altLang="zh-CN" dirty="0"/>
              <a:t>aggregate </a:t>
            </a:r>
            <a:r>
              <a:rPr lang="zh-CN" altLang="en-US" dirty="0"/>
              <a:t>数据，等到数据 </a:t>
            </a:r>
            <a:r>
              <a:rPr lang="en-US" altLang="zh-CN" dirty="0"/>
              <a:t>aggregate </a:t>
            </a:r>
            <a:r>
              <a:rPr lang="zh-CN" altLang="en-US" dirty="0"/>
              <a:t>好以后进行 </a:t>
            </a:r>
            <a:r>
              <a:rPr lang="en-US" altLang="zh-CN" dirty="0"/>
              <a:t>reduce</a:t>
            </a:r>
            <a:r>
              <a:rPr lang="zh-CN" altLang="en-US" dirty="0"/>
              <a:t>（</a:t>
            </a:r>
            <a:r>
              <a:rPr lang="en-US" altLang="zh-CN" dirty="0"/>
              <a:t>Spark </a:t>
            </a:r>
            <a:r>
              <a:rPr lang="zh-CN" altLang="en-US" dirty="0"/>
              <a:t>里可能是后续的一系列操作）</a:t>
            </a:r>
            <a:endParaRPr lang="en-US" altLang="zh-CN"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825708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en-US" altLang="zh-CN" b="1" dirty="0"/>
              <a:t>Spark</a:t>
            </a:r>
            <a:r>
              <a:rPr lang="zh-CN" altLang="en-US" b="1" dirty="0"/>
              <a:t>与</a:t>
            </a:r>
            <a:r>
              <a:rPr lang="en-US" altLang="zh-CN" b="1" dirty="0"/>
              <a:t>MapReduce Shuffle</a:t>
            </a:r>
            <a:r>
              <a:rPr lang="zh-CN" altLang="en-US" b="1" dirty="0"/>
              <a:t>的异同</a:t>
            </a:r>
          </a:p>
          <a:p>
            <a:pPr lvl="1" algn="just"/>
            <a:r>
              <a:rPr lang="zh-CN" altLang="en-US" dirty="0">
                <a:solidFill>
                  <a:srgbClr val="C00000"/>
                </a:solidFill>
              </a:rPr>
              <a:t>从流程的上看，两者差别不小</a:t>
            </a:r>
            <a:endParaRPr lang="en-US" altLang="zh-CN" dirty="0">
              <a:solidFill>
                <a:srgbClr val="C00000"/>
              </a:solidFill>
            </a:endParaRPr>
          </a:p>
          <a:p>
            <a:pPr lvl="1" algn="just"/>
            <a:r>
              <a:rPr lang="zh-CN" altLang="en-US" dirty="0"/>
              <a:t> </a:t>
            </a:r>
            <a:r>
              <a:rPr lang="en-US" altLang="zh-CN" dirty="0"/>
              <a:t>Hadoop MapReduce </a:t>
            </a:r>
            <a:r>
              <a:rPr lang="zh-CN" altLang="en-US" dirty="0"/>
              <a:t>是 </a:t>
            </a:r>
            <a:r>
              <a:rPr lang="en-US" altLang="zh-CN" dirty="0"/>
              <a:t>sort-based</a:t>
            </a:r>
            <a:r>
              <a:rPr lang="zh-CN" altLang="en-US" dirty="0"/>
              <a:t>，进入 </a:t>
            </a:r>
            <a:r>
              <a:rPr lang="en-US" altLang="zh-CN" dirty="0"/>
              <a:t>combine</a:t>
            </a:r>
            <a:r>
              <a:rPr lang="zh-CN" altLang="en-US" dirty="0"/>
              <a:t>和 </a:t>
            </a:r>
            <a:r>
              <a:rPr lang="en-US" altLang="zh-CN" dirty="0"/>
              <a:t>reduce</a:t>
            </a:r>
            <a:r>
              <a:rPr lang="zh-CN" altLang="en-US" dirty="0"/>
              <a:t>的 </a:t>
            </a:r>
            <a:r>
              <a:rPr lang="en-US" altLang="zh-CN" dirty="0"/>
              <a:t>records </a:t>
            </a:r>
            <a:r>
              <a:rPr lang="zh-CN" altLang="en-US" dirty="0"/>
              <a:t>必须先 </a:t>
            </a:r>
            <a:r>
              <a:rPr lang="en-US" altLang="zh-CN" dirty="0"/>
              <a:t>sort</a:t>
            </a:r>
          </a:p>
          <a:p>
            <a:pPr lvl="2" algn="just"/>
            <a:r>
              <a:rPr lang="zh-CN" altLang="en-US" dirty="0"/>
              <a:t>这样的好处在于 </a:t>
            </a:r>
            <a:r>
              <a:rPr lang="en-US" altLang="zh-CN" dirty="0"/>
              <a:t>combine/reduce</a:t>
            </a:r>
            <a:r>
              <a:rPr lang="zh-CN" altLang="en-US" dirty="0"/>
              <a:t>可以处理大规模的数据，因为其输入数据可以通过外排得到（</a:t>
            </a:r>
            <a:r>
              <a:rPr lang="en-US" altLang="zh-CN" dirty="0"/>
              <a:t>mapper </a:t>
            </a:r>
            <a:r>
              <a:rPr lang="zh-CN" altLang="en-US" dirty="0"/>
              <a:t>对每段数据先做排序，</a:t>
            </a:r>
            <a:r>
              <a:rPr lang="en-US" altLang="zh-CN" dirty="0"/>
              <a:t>reducer </a:t>
            </a:r>
            <a:r>
              <a:rPr lang="zh-CN" altLang="en-US" dirty="0"/>
              <a:t>的 </a:t>
            </a:r>
            <a:r>
              <a:rPr lang="en-US" altLang="zh-CN" dirty="0"/>
              <a:t>shuffle </a:t>
            </a:r>
            <a:r>
              <a:rPr lang="zh-CN" altLang="en-US" dirty="0"/>
              <a:t>对排好序的每段数据做归并）</a:t>
            </a:r>
            <a:endParaRPr lang="en-US" altLang="zh-CN" dirty="0"/>
          </a:p>
          <a:p>
            <a:pPr lvl="1" algn="just"/>
            <a:r>
              <a:rPr lang="zh-CN" altLang="en-US" dirty="0"/>
              <a:t>以前 </a:t>
            </a:r>
            <a:r>
              <a:rPr lang="en-US" altLang="zh-CN" dirty="0"/>
              <a:t>Spark </a:t>
            </a:r>
            <a:r>
              <a:rPr lang="zh-CN" altLang="en-US" dirty="0"/>
              <a:t>默认选择的是 </a:t>
            </a:r>
            <a:r>
              <a:rPr lang="en-US" altLang="zh-CN" dirty="0"/>
              <a:t>hash-based</a:t>
            </a:r>
            <a:r>
              <a:rPr lang="zh-CN" altLang="en-US" dirty="0"/>
              <a:t>，通常使用 </a:t>
            </a:r>
            <a:r>
              <a:rPr lang="en-US" altLang="zh-CN" dirty="0"/>
              <a:t>HashMap </a:t>
            </a:r>
            <a:r>
              <a:rPr lang="zh-CN" altLang="en-US" dirty="0"/>
              <a:t>来对 </a:t>
            </a:r>
            <a:r>
              <a:rPr lang="en-US" altLang="zh-CN" dirty="0"/>
              <a:t>shuffle </a:t>
            </a:r>
            <a:r>
              <a:rPr lang="zh-CN" altLang="en-US" dirty="0"/>
              <a:t>来的数据进行合并，不会对数据进行提前排序；如果用户需要经过排序的数据，那么需要自己调用类似 </a:t>
            </a:r>
            <a:r>
              <a:rPr lang="en-US" altLang="zh-CN" dirty="0" err="1"/>
              <a:t>sortByKey</a:t>
            </a:r>
            <a:r>
              <a:rPr lang="zh-CN" altLang="en-US" dirty="0"/>
              <a:t>的操作</a:t>
            </a:r>
            <a:endParaRPr lang="en-US" altLang="zh-CN" dirty="0"/>
          </a:p>
          <a:p>
            <a:pPr lvl="2" algn="just"/>
            <a:r>
              <a:rPr lang="zh-CN" altLang="en-US" dirty="0">
                <a:solidFill>
                  <a:srgbClr val="C00000"/>
                </a:solidFill>
              </a:rPr>
              <a:t>在</a:t>
            </a:r>
            <a:r>
              <a:rPr lang="en-US" altLang="zh-CN" dirty="0">
                <a:solidFill>
                  <a:srgbClr val="C00000"/>
                </a:solidFill>
              </a:rPr>
              <a:t>Spark 1.2</a:t>
            </a:r>
            <a:r>
              <a:rPr lang="zh-CN" altLang="en-US" dirty="0">
                <a:solidFill>
                  <a:srgbClr val="C00000"/>
                </a:solidFill>
              </a:rPr>
              <a:t>之后，</a:t>
            </a:r>
            <a:r>
              <a:rPr lang="en-US" altLang="zh-CN" dirty="0">
                <a:solidFill>
                  <a:srgbClr val="C00000"/>
                </a:solidFill>
              </a:rPr>
              <a:t>sort-based</a:t>
            </a:r>
            <a:r>
              <a:rPr lang="zh-CN" altLang="en-US" dirty="0">
                <a:solidFill>
                  <a:srgbClr val="C00000"/>
                </a:solidFill>
              </a:rPr>
              <a:t>变为默认的</a:t>
            </a:r>
            <a:r>
              <a:rPr lang="en-US" altLang="zh-CN" dirty="0">
                <a:solidFill>
                  <a:srgbClr val="C00000"/>
                </a:solidFill>
              </a:rPr>
              <a:t>Shuffle</a:t>
            </a:r>
            <a:r>
              <a:rPr lang="zh-CN" altLang="en-US" dirty="0">
                <a:solidFill>
                  <a:srgbClr val="C00000"/>
                </a:solidFill>
              </a:rPr>
              <a:t>实现</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642578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en-US" altLang="zh-CN" b="1" dirty="0"/>
              <a:t>Spark</a:t>
            </a:r>
            <a:r>
              <a:rPr lang="zh-CN" altLang="en-US" b="1" dirty="0"/>
              <a:t>与</a:t>
            </a:r>
            <a:r>
              <a:rPr lang="en-US" altLang="zh-CN" b="1" dirty="0"/>
              <a:t>MapReduce Shuffle</a:t>
            </a:r>
            <a:r>
              <a:rPr lang="zh-CN" altLang="en-US" b="1" dirty="0"/>
              <a:t>的异同</a:t>
            </a:r>
          </a:p>
          <a:p>
            <a:pPr lvl="1" algn="just"/>
            <a:r>
              <a:rPr lang="zh-CN" altLang="en-US" dirty="0">
                <a:solidFill>
                  <a:srgbClr val="C00000"/>
                </a:solidFill>
              </a:rPr>
              <a:t>从流程实现角度来看，两者也有不少差别</a:t>
            </a:r>
            <a:endParaRPr lang="en-US" altLang="zh-CN" dirty="0">
              <a:solidFill>
                <a:srgbClr val="C00000"/>
              </a:solidFill>
            </a:endParaRPr>
          </a:p>
          <a:p>
            <a:pPr lvl="1" algn="just"/>
            <a:r>
              <a:rPr lang="zh-CN" altLang="en-US" dirty="0"/>
              <a:t> </a:t>
            </a:r>
            <a:r>
              <a:rPr lang="en-US" altLang="zh-CN" dirty="0"/>
              <a:t>Hadoop MapReduce </a:t>
            </a:r>
            <a:r>
              <a:rPr lang="zh-CN" altLang="en-US" dirty="0"/>
              <a:t>将处理流程划分出明显的几个阶段：</a:t>
            </a:r>
            <a:r>
              <a:rPr lang="en-US" altLang="zh-CN" dirty="0"/>
              <a:t>map, spill, merge, shuffle, sort, reduce</a:t>
            </a:r>
            <a:r>
              <a:rPr lang="zh-CN" altLang="en-US" dirty="0"/>
              <a:t>等；每个阶段各司其职，可以按照过程式的编程思想来逐一实现每个阶段的功能</a:t>
            </a:r>
            <a:endParaRPr lang="en-US" altLang="zh-CN" dirty="0"/>
          </a:p>
          <a:p>
            <a:pPr lvl="1" algn="just"/>
            <a:r>
              <a:rPr lang="zh-CN" altLang="en-US" dirty="0"/>
              <a:t>在 </a:t>
            </a:r>
            <a:r>
              <a:rPr lang="en-US" altLang="zh-CN" dirty="0"/>
              <a:t>Spark </a:t>
            </a:r>
            <a:r>
              <a:rPr lang="zh-CN" altLang="en-US" dirty="0"/>
              <a:t>中，没有这样功能明确的阶段，只有不同的 </a:t>
            </a:r>
            <a:r>
              <a:rPr lang="en-US" altLang="zh-CN" dirty="0"/>
              <a:t>stage </a:t>
            </a:r>
            <a:r>
              <a:rPr lang="zh-CN" altLang="en-US" dirty="0"/>
              <a:t>和一系列的 </a:t>
            </a:r>
            <a:r>
              <a:rPr lang="en-US" altLang="zh-CN" dirty="0"/>
              <a:t>transformation</a:t>
            </a:r>
            <a:r>
              <a:rPr lang="zh-CN" altLang="en-US" dirty="0"/>
              <a:t>，所以 </a:t>
            </a:r>
            <a:r>
              <a:rPr lang="en-US" altLang="zh-CN" dirty="0"/>
              <a:t>spill, merge, aggregate </a:t>
            </a:r>
            <a:r>
              <a:rPr lang="zh-CN" altLang="en-US" dirty="0"/>
              <a:t>等操作需要蕴含在 </a:t>
            </a:r>
            <a:r>
              <a:rPr lang="en-US" altLang="zh-CN" dirty="0"/>
              <a:t>transformation</a:t>
            </a:r>
            <a:r>
              <a:rPr lang="zh-CN" altLang="en-US" dirty="0"/>
              <a:t>中</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401465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827843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Dragon">
  <a:themeElements>
    <a:clrScheme name="Dragon">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Dragon">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Dragon">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Dragon</Template>
  <TotalTime>3323</TotalTime>
  <Words>2939</Words>
  <Application>Microsoft Office PowerPoint</Application>
  <PresentationFormat>全屏显示(4:3)</PresentationFormat>
  <Paragraphs>178</Paragraphs>
  <Slides>42</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42</vt:i4>
      </vt:variant>
    </vt:vector>
  </HeadingPairs>
  <TitlesOfParts>
    <vt:vector size="55" baseType="lpstr">
      <vt:lpstr>华文楷体</vt:lpstr>
      <vt:lpstr>隶书</vt:lpstr>
      <vt:lpstr>宋体</vt:lpstr>
      <vt:lpstr>微软雅黑</vt:lpstr>
      <vt:lpstr>Arial</vt:lpstr>
      <vt:lpstr>Calibri</vt:lpstr>
      <vt:lpstr>Cambria</vt:lpstr>
      <vt:lpstr>Cambria Math</vt:lpstr>
      <vt:lpstr>Maiandra GD</vt:lpstr>
      <vt:lpstr>Times New Roman</vt:lpstr>
      <vt:lpstr>Wingdings 2</vt:lpstr>
      <vt:lpstr>Wingdings 3</vt:lpstr>
      <vt:lpstr>Dragon</vt:lpstr>
      <vt:lpstr>Hadoop与Spark</vt:lpstr>
      <vt:lpstr>pause</vt:lpstr>
      <vt:lpstr>Hadoop Shuffle vs. Spark Shuffle</vt:lpstr>
      <vt:lpstr>Hadoop Shuffle vs. Spark Shuffle</vt:lpstr>
      <vt:lpstr>Hadoop Shuffle vs. Spark Shuffle</vt:lpstr>
      <vt:lpstr>Hadoop Shuffle vs. Spark Shuffle</vt:lpstr>
      <vt:lpstr>Hadoop Shuffle vs. Spark Shuffle</vt:lpstr>
      <vt:lpstr>pause</vt:lpstr>
      <vt:lpstr>Hadoop Shuffle vs. Spark Shuffle</vt:lpstr>
      <vt:lpstr>Hadoop Shuffle vs. Spark Shuffle</vt:lpstr>
      <vt:lpstr>Hadoop Shuffle vs. Spark Shuffle</vt:lpstr>
      <vt:lpstr>Hadoop Shuffle vs. Spark Shuffle</vt:lpstr>
      <vt:lpstr>pause</vt:lpstr>
      <vt:lpstr>Hadoop Shuffle vs. Spark Shuffle</vt:lpstr>
      <vt:lpstr>Hadoop Shuffle vs. Spark Shuffle</vt:lpstr>
      <vt:lpstr>Hadoop Shuffle vs. Spark Shuffle</vt:lpstr>
      <vt:lpstr>Hadoop Shuffle vs. Spark Shuffle</vt:lpstr>
      <vt:lpstr>Hadoop Shuffle vs. Spark Shuffle</vt:lpstr>
      <vt:lpstr>Hadoop Shuffle vs. Spark Shuffle</vt:lpstr>
      <vt:lpstr>Hadoop Shuffle vs. Spark Shuffle</vt:lpstr>
      <vt:lpstr>Hadoop Shuffle vs. Spark Shuffle</vt:lpstr>
      <vt:lpstr>Hadoop Shuffle vs. Spark Shuffle</vt:lpstr>
      <vt:lpstr>pause</vt:lpstr>
      <vt:lpstr>Hadoop Shuffle vs. Spark Shuffle</vt:lpstr>
      <vt:lpstr>Hadoop Shuffle vs. Spark Shuffle</vt:lpstr>
      <vt:lpstr>Hadoop Shuffle vs. Spark Shuffle</vt:lpstr>
      <vt:lpstr>Hadoop Shuffle vs. Spark Shuffle</vt:lpstr>
      <vt:lpstr>Hadoop Shuffle vs. Spark Shuffle</vt:lpstr>
      <vt:lpstr>pause</vt:lpstr>
      <vt:lpstr>Hadoop Shuffle vs. Spark Shuffle</vt:lpstr>
      <vt:lpstr>Hadoop Shuffle vs. Spark Shuffle</vt:lpstr>
      <vt:lpstr>Hadoop Shuffle vs. Spark Shuffle</vt:lpstr>
      <vt:lpstr>Hadoop Shuffle vs. Spark Shuffle</vt:lpstr>
      <vt:lpstr>pause</vt:lpstr>
      <vt:lpstr>Hadoop Shuffle vs. Spark Shuffle</vt:lpstr>
      <vt:lpstr>Hadoop Shuffle vs. Spark Shuffle</vt:lpstr>
      <vt:lpstr>Hadoop Shuffle vs. Spark Shuffle</vt:lpstr>
      <vt:lpstr>pause</vt:lpstr>
      <vt:lpstr>Hadoop Shuffle vs. Spark Shuffle</vt:lpstr>
      <vt:lpstr>Hadoop Shuffle vs. Spark Shuffle</vt:lpstr>
      <vt:lpstr>Hadoop Shuffle vs. Spark Shuffle</vt:lpstr>
      <vt:lpstr>pause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Pebble</dc:creator>
  <cp:lastModifiedBy>雄派 覃</cp:lastModifiedBy>
  <cp:revision>823</cp:revision>
  <dcterms:created xsi:type="dcterms:W3CDTF">2006-08-16T00:00:00Z</dcterms:created>
  <dcterms:modified xsi:type="dcterms:W3CDTF">2023-06-04T06:40:21Z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ies>
</file>