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5"/>
  </p:notesMasterIdLst>
  <p:sldIdLst>
    <p:sldId id="610" r:id="rId2"/>
    <p:sldId id="285" r:id="rId3"/>
    <p:sldId id="611" r:id="rId4"/>
    <p:sldId id="612" r:id="rId5"/>
    <p:sldId id="693" r:id="rId6"/>
    <p:sldId id="613" r:id="rId7"/>
    <p:sldId id="614" r:id="rId8"/>
    <p:sldId id="615" r:id="rId9"/>
    <p:sldId id="716" r:id="rId10"/>
    <p:sldId id="700" r:id="rId11"/>
    <p:sldId id="616" r:id="rId12"/>
    <p:sldId id="617" r:id="rId13"/>
    <p:sldId id="618" r:id="rId14"/>
    <p:sldId id="619" r:id="rId15"/>
    <p:sldId id="620" r:id="rId16"/>
    <p:sldId id="621" r:id="rId17"/>
    <p:sldId id="694" r:id="rId18"/>
    <p:sldId id="710" r:id="rId19"/>
    <p:sldId id="713" r:id="rId20"/>
    <p:sldId id="712" r:id="rId21"/>
    <p:sldId id="714" r:id="rId22"/>
    <p:sldId id="711" r:id="rId23"/>
    <p:sldId id="622" r:id="rId24"/>
    <p:sldId id="623" r:id="rId25"/>
    <p:sldId id="624" r:id="rId26"/>
    <p:sldId id="625" r:id="rId27"/>
    <p:sldId id="695" r:id="rId28"/>
    <p:sldId id="627" r:id="rId29"/>
    <p:sldId id="626" r:id="rId30"/>
    <p:sldId id="628" r:id="rId31"/>
    <p:sldId id="629" r:id="rId32"/>
    <p:sldId id="696" r:id="rId33"/>
    <p:sldId id="701" r:id="rId34"/>
    <p:sldId id="715" r:id="rId35"/>
    <p:sldId id="679" r:id="rId36"/>
    <p:sldId id="702" r:id="rId37"/>
    <p:sldId id="703" r:id="rId38"/>
    <p:sldId id="705" r:id="rId39"/>
    <p:sldId id="708" r:id="rId40"/>
    <p:sldId id="707" r:id="rId41"/>
    <p:sldId id="706" r:id="rId42"/>
    <p:sldId id="709" r:id="rId43"/>
    <p:sldId id="704" r:id="rId44"/>
    <p:sldId id="630" r:id="rId45"/>
    <p:sldId id="631" r:id="rId46"/>
    <p:sldId id="632" r:id="rId47"/>
    <p:sldId id="633" r:id="rId48"/>
    <p:sldId id="634" r:id="rId49"/>
    <p:sldId id="697" r:id="rId50"/>
    <p:sldId id="635" r:id="rId51"/>
    <p:sldId id="636" r:id="rId52"/>
    <p:sldId id="637" r:id="rId53"/>
    <p:sldId id="638" r:id="rId54"/>
    <p:sldId id="639" r:id="rId55"/>
    <p:sldId id="698" r:id="rId56"/>
    <p:sldId id="640" r:id="rId57"/>
    <p:sldId id="645" r:id="rId58"/>
    <p:sldId id="647" r:id="rId59"/>
    <p:sldId id="646" r:id="rId60"/>
    <p:sldId id="699" r:id="rId61"/>
    <p:sldId id="642" r:id="rId62"/>
    <p:sldId id="643" r:id="rId63"/>
    <p:sldId id="644" r:id="rId6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ED21623A-C671-2D44-B254-F252EBE76DF6}">
          <p14:sldIdLst>
            <p14:sldId id="610"/>
            <p14:sldId id="285"/>
            <p14:sldId id="611"/>
            <p14:sldId id="612"/>
            <p14:sldId id="693"/>
            <p14:sldId id="613"/>
            <p14:sldId id="614"/>
            <p14:sldId id="615"/>
            <p14:sldId id="716"/>
            <p14:sldId id="700"/>
            <p14:sldId id="616"/>
            <p14:sldId id="617"/>
            <p14:sldId id="618"/>
            <p14:sldId id="619"/>
            <p14:sldId id="620"/>
            <p14:sldId id="621"/>
            <p14:sldId id="694"/>
            <p14:sldId id="710"/>
            <p14:sldId id="713"/>
            <p14:sldId id="712"/>
            <p14:sldId id="714"/>
            <p14:sldId id="711"/>
            <p14:sldId id="622"/>
            <p14:sldId id="623"/>
            <p14:sldId id="624"/>
            <p14:sldId id="625"/>
            <p14:sldId id="695"/>
            <p14:sldId id="627"/>
            <p14:sldId id="626"/>
            <p14:sldId id="628"/>
            <p14:sldId id="629"/>
            <p14:sldId id="696"/>
            <p14:sldId id="701"/>
            <p14:sldId id="715"/>
            <p14:sldId id="679"/>
            <p14:sldId id="702"/>
            <p14:sldId id="703"/>
            <p14:sldId id="705"/>
            <p14:sldId id="708"/>
            <p14:sldId id="707"/>
            <p14:sldId id="706"/>
            <p14:sldId id="709"/>
            <p14:sldId id="704"/>
            <p14:sldId id="630"/>
            <p14:sldId id="631"/>
            <p14:sldId id="632"/>
            <p14:sldId id="633"/>
            <p14:sldId id="634"/>
            <p14:sldId id="697"/>
            <p14:sldId id="635"/>
            <p14:sldId id="636"/>
            <p14:sldId id="637"/>
            <p14:sldId id="638"/>
            <p14:sldId id="639"/>
            <p14:sldId id="698"/>
            <p14:sldId id="640"/>
            <p14:sldId id="645"/>
            <p14:sldId id="647"/>
            <p14:sldId id="646"/>
            <p14:sldId id="699"/>
            <p14:sldId id="642"/>
            <p14:sldId id="643"/>
            <p14:sldId id="64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8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895" autoAdjust="0"/>
    <p:restoredTop sz="93692" autoAdjust="0"/>
  </p:normalViewPr>
  <p:slideViewPr>
    <p:cSldViewPr>
      <p:cViewPr varScale="1">
        <p:scale>
          <a:sx n="76" d="100"/>
          <a:sy n="76" d="100"/>
        </p:scale>
        <p:origin x="1808" y="21"/>
      </p:cViewPr>
      <p:guideLst>
        <p:guide orient="horz" pos="218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05AC6C-9512-4B60-88A3-550D11AC211E}" type="datetimeFigureOut">
              <a:rPr lang="en-US" smtClean="0"/>
              <a:t>4/24/2023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BA42DD-6D94-4698-832B-FD6413A899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4450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73157"/>
            <a:ext cx="7772400" cy="1470025"/>
          </a:xfrm>
        </p:spPr>
        <p:txBody>
          <a:bodyPr anchor="b"/>
          <a:lstStyle>
            <a:lvl1pPr algn="l">
              <a:defRPr sz="480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7716" y="2643182"/>
            <a:ext cx="6670366" cy="1752600"/>
          </a:xfrm>
        </p:spPr>
        <p:txBody>
          <a:bodyPr/>
          <a:lstStyle>
            <a:lvl1pPr marL="0" indent="0" algn="l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7" name="灯片编号占位符 3">
            <a:extLst>
              <a:ext uri="{FF2B5EF4-FFF2-40B4-BE49-F238E27FC236}">
                <a16:creationId xmlns:a16="http://schemas.microsoft.com/office/drawing/2014/main" id="{3712DD02-EDF1-4DE5-8819-AAE28276EE89}"/>
              </a:ext>
            </a:extLst>
          </p:cNvPr>
          <p:cNvSpPr txBox="1">
            <a:spLocks noGrp="1" noChangeArrowheads="1"/>
          </p:cNvSpPr>
          <p:nvPr userDrawn="1"/>
        </p:nvSpPr>
        <p:spPr bwMode="auto">
          <a:xfrm>
            <a:off x="8458200" y="5825133"/>
            <a:ext cx="554038" cy="365125"/>
          </a:xfrm>
          <a:prstGeom prst="rect">
            <a:avLst/>
          </a:prstGeom>
          <a:noFill/>
          <a:ln>
            <a:noFill/>
          </a:ln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buFont typeface="Wingdings 3" panose="05040102010807070707" pitchFamily="18" charset="2"/>
              <a:buNone/>
              <a:defRPr/>
            </a:pPr>
            <a:fld id="{80517C1A-9EB9-4CBD-952B-8DA763D241D0}" type="slidenum">
              <a:rPr lang="en-US" altLang="zh-CN" sz="1000" smtClean="0">
                <a:latin typeface="Times New Roman" panose="02020603050405020304" pitchFamily="18" charset="0"/>
                <a:ea typeface="隶书" panose="02010509060101010101" pitchFamily="49" charset="-122"/>
              </a:rPr>
              <a:pPr algn="r" eaLnBrk="1" hangingPunct="1">
                <a:buFont typeface="Wingdings 3" panose="05040102010807070707" pitchFamily="18" charset="2"/>
                <a:buNone/>
                <a:defRPr/>
              </a:pPr>
              <a:t>‹#›</a:t>
            </a:fld>
            <a:endParaRPr lang="en-US" altLang="zh-CN" sz="1000" dirty="0"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924181"/>
            <a:ext cx="7772400" cy="1362075"/>
          </a:xfrm>
        </p:spPr>
        <p:txBody>
          <a:bodyPr anchor="t"/>
          <a:lstStyle>
            <a:lvl1pPr algn="l">
              <a:defRPr sz="4400" b="0" cap="all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1428747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灯片编号占位符 3">
            <a:extLst>
              <a:ext uri="{FF2B5EF4-FFF2-40B4-BE49-F238E27FC236}">
                <a16:creationId xmlns:a16="http://schemas.microsoft.com/office/drawing/2014/main" id="{18524F79-73A5-4710-9319-220E80AC0C1F}"/>
              </a:ext>
            </a:extLst>
          </p:cNvPr>
          <p:cNvSpPr txBox="1">
            <a:spLocks noGrp="1" noChangeArrowheads="1"/>
          </p:cNvSpPr>
          <p:nvPr userDrawn="1"/>
        </p:nvSpPr>
        <p:spPr bwMode="auto">
          <a:xfrm>
            <a:off x="8458200" y="5825133"/>
            <a:ext cx="554038" cy="365125"/>
          </a:xfrm>
          <a:prstGeom prst="rect">
            <a:avLst/>
          </a:prstGeom>
          <a:noFill/>
          <a:ln>
            <a:noFill/>
          </a:ln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buFont typeface="Wingdings 3" panose="05040102010807070707" pitchFamily="18" charset="2"/>
              <a:buNone/>
              <a:defRPr/>
            </a:pPr>
            <a:fld id="{80517C1A-9EB9-4CBD-952B-8DA763D241D0}" type="slidenum">
              <a:rPr lang="en-US" altLang="zh-CN" sz="1000" smtClean="0">
                <a:latin typeface="Times New Roman" panose="02020603050405020304" pitchFamily="18" charset="0"/>
                <a:ea typeface="隶书" panose="02010509060101010101" pitchFamily="49" charset="-122"/>
              </a:rPr>
              <a:pPr algn="r" eaLnBrk="1" hangingPunct="1">
                <a:buFont typeface="Wingdings 3" panose="05040102010807070707" pitchFamily="18" charset="2"/>
                <a:buNone/>
                <a:defRPr/>
              </a:pPr>
              <a:t>‹#›</a:t>
            </a:fld>
            <a:endParaRPr lang="en-US" altLang="zh-CN" sz="1000" dirty="0"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0382" y="1071546"/>
            <a:ext cx="5111750" cy="50497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679083" y="1071546"/>
            <a:ext cx="3008313" cy="342902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5" y="285728"/>
            <a:ext cx="8230993" cy="696626"/>
          </a:xfrm>
        </p:spPr>
        <p:txBody>
          <a:bodyPr anchor="ctr"/>
          <a:lstStyle>
            <a:lvl1pPr algn="ctr">
              <a:defRPr sz="3600" b="0"/>
            </a:lvl1pPr>
          </a:lstStyle>
          <a:p>
            <a:r>
              <a:rPr kumimoji="0"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01024" y="642918"/>
            <a:ext cx="785818" cy="4572032"/>
          </a:xfrm>
        </p:spPr>
        <p:txBody>
          <a:bodyPr vert="eaVert" anchor="ctr"/>
          <a:lstStyle>
            <a:lvl1pPr algn="l">
              <a:defRPr sz="2400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42922" y="541340"/>
            <a:ext cx="6415094" cy="5459428"/>
          </a:xfrm>
          <a:prstGeom prst="roundRect">
            <a:avLst>
              <a:gd name="adj" fmla="val 4800"/>
            </a:avLst>
          </a:prstGeom>
          <a:solidFill>
            <a:schemeClr val="accent1">
              <a:tint val="20000"/>
            </a:schemeClr>
          </a:solidFill>
          <a:ln w="38100">
            <a:gradFill flip="none" rotWithShape="1">
              <a:gsLst>
                <a:gs pos="0">
                  <a:schemeClr val="accent1">
                    <a:alpha val="50000"/>
                  </a:schemeClr>
                </a:gs>
                <a:gs pos="100000">
                  <a:schemeClr val="accent1">
                    <a:tint val="20000"/>
                  </a:schemeClr>
                </a:gs>
              </a:gsLst>
              <a:lin ang="16200000" scaled="1"/>
              <a:tileRect/>
            </a:gradFill>
          </a:ln>
          <a:effectLst>
            <a:outerShdw blurRad="76200" dist="38100" dir="5400000" sx="100500" sy="100500" algn="tl" rotWithShape="0">
              <a:srgbClr val="000000">
                <a:alpha val="50000"/>
              </a:srgb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kumimoji="0"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72330" y="1000108"/>
            <a:ext cx="914368" cy="4214842"/>
          </a:xfrm>
        </p:spPr>
        <p:txBody>
          <a:bodyPr vert="eaVert" anchor="ctr"/>
          <a:lstStyle>
            <a:lvl1pPr marL="0" indent="0" algn="ctr">
              <a:buNone/>
              <a:defRPr sz="1400"/>
            </a:lvl1pPr>
            <a:lvl2pPr marL="457200" indent="0" algn="ctr">
              <a:buNone/>
              <a:defRPr sz="1200"/>
            </a:lvl2pPr>
            <a:lvl3pPr marL="914400" indent="0" algn="ctr">
              <a:buNone/>
              <a:defRPr sz="1000"/>
            </a:lvl3pPr>
            <a:lvl4pPr marL="1371600" indent="0" algn="ctr">
              <a:buNone/>
              <a:defRPr sz="900"/>
            </a:lvl4pPr>
            <a:lvl5pPr marL="1828800" indent="0" algn="ctr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43768" y="274639"/>
            <a:ext cx="1543032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61513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4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14" cstate="print">
            <a:duotone>
              <a:schemeClr val="accent1"/>
              <a:srgbClr val="FFFFFF"/>
            </a:duotone>
            <a:lum bright="12000" contrast="40000"/>
          </a:blip>
          <a:stretch>
            <a:fillRect/>
          </a:stretch>
        </p:blipFill>
        <p:spPr>
          <a:xfrm>
            <a:off x="6667809" y="4915143"/>
            <a:ext cx="2476191" cy="1942857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Rectangle 9"/>
          <p:cNvSpPr/>
          <p:nvPr/>
        </p:nvSpPr>
        <p:spPr>
          <a:xfrm>
            <a:off x="0" y="0"/>
            <a:ext cx="9144000" cy="71438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100000"/>
                  <a:shade val="50000"/>
                  <a:hueMod val="100000"/>
                  <a:satMod val="250000"/>
                  <a:alpha val="0"/>
                </a:schemeClr>
              </a:gs>
              <a:gs pos="75000">
                <a:schemeClr val="accent1">
                  <a:tint val="80000"/>
                  <a:shade val="100000"/>
                  <a:hueMod val="100000"/>
                  <a:satMod val="375000"/>
                  <a:alpha val="20000"/>
                </a:schemeClr>
              </a:gs>
              <a:gs pos="100000">
                <a:schemeClr val="accent1">
                  <a:tint val="50000"/>
                  <a:shade val="100000"/>
                  <a:hueMod val="100000"/>
                  <a:satMod val="500000"/>
                </a:schemeClr>
              </a:gs>
            </a:gsLst>
            <a:lin ang="18900000" scaled="1"/>
            <a:tileRect/>
          </a:gradFill>
          <a:ln w="12700" cap="rnd" cmpd="sng" algn="ctr">
            <a:noFill/>
            <a:prstDash val="soli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11" name="Rectangle 10"/>
          <p:cNvSpPr/>
          <p:nvPr/>
        </p:nvSpPr>
        <p:spPr>
          <a:xfrm>
            <a:off x="0" y="40951"/>
            <a:ext cx="4572000" cy="71438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100000"/>
                  <a:shade val="50000"/>
                  <a:hueMod val="100000"/>
                  <a:satMod val="250000"/>
                  <a:alpha val="0"/>
                </a:schemeClr>
              </a:gs>
              <a:gs pos="75000">
                <a:schemeClr val="accent1">
                  <a:tint val="80000"/>
                  <a:shade val="100000"/>
                  <a:hueMod val="100000"/>
                  <a:satMod val="375000"/>
                  <a:alpha val="5000"/>
                </a:schemeClr>
              </a:gs>
              <a:gs pos="100000">
                <a:schemeClr val="accent1">
                  <a:tint val="50000"/>
                  <a:shade val="100000"/>
                  <a:hueMod val="100000"/>
                  <a:satMod val="500000"/>
                  <a:alpha val="60000"/>
                </a:schemeClr>
              </a:gs>
            </a:gsLst>
            <a:lin ang="8100000" scaled="1"/>
            <a:tileRect/>
          </a:gradFill>
          <a:ln w="12700" cap="rnd" cmpd="sng" algn="ctr">
            <a:noFill/>
            <a:prstDash val="solid"/>
          </a:ln>
          <a:effectLst>
            <a:glow>
              <a:schemeClr val="accent1">
                <a:tint val="100000"/>
                <a:shade val="100000"/>
                <a:hueMod val="100000"/>
                <a:satMod val="100000"/>
              </a:schemeClr>
            </a:glow>
            <a:softEdge rad="12700"/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rtlCol="0" anchor="ctr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2" name="灯片编号占位符 3">
            <a:extLst>
              <a:ext uri="{FF2B5EF4-FFF2-40B4-BE49-F238E27FC236}">
                <a16:creationId xmlns:a16="http://schemas.microsoft.com/office/drawing/2014/main" id="{69D84AD9-88E4-47CB-8F2A-8AB59D90F7ED}"/>
              </a:ext>
            </a:extLst>
          </p:cNvPr>
          <p:cNvSpPr txBox="1">
            <a:spLocks noGrp="1" noChangeArrowheads="1"/>
          </p:cNvSpPr>
          <p:nvPr userDrawn="1"/>
        </p:nvSpPr>
        <p:spPr bwMode="auto">
          <a:xfrm>
            <a:off x="8458200" y="5825133"/>
            <a:ext cx="554038" cy="365125"/>
          </a:xfrm>
          <a:prstGeom prst="rect">
            <a:avLst/>
          </a:prstGeom>
          <a:noFill/>
          <a:ln>
            <a:noFill/>
          </a:ln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buFont typeface="Wingdings 3" panose="05040102010807070707" pitchFamily="18" charset="2"/>
              <a:buNone/>
              <a:defRPr/>
            </a:pPr>
            <a:fld id="{80517C1A-9EB9-4CBD-952B-8DA763D241D0}" type="slidenum">
              <a:rPr lang="en-US" altLang="zh-CN" sz="1000" smtClean="0">
                <a:latin typeface="Times New Roman" panose="02020603050405020304" pitchFamily="18" charset="0"/>
                <a:ea typeface="隶书" panose="02010509060101010101" pitchFamily="49" charset="-122"/>
              </a:rPr>
              <a:pPr algn="r" eaLnBrk="1" hangingPunct="1">
                <a:buFont typeface="Wingdings 3" panose="05040102010807070707" pitchFamily="18" charset="2"/>
                <a:buNone/>
                <a:defRPr/>
              </a:pPr>
              <a:t>‹#›</a:t>
            </a:fld>
            <a:endParaRPr lang="en-US" altLang="zh-CN" sz="1000" dirty="0"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F0EB1356-0045-4B4E-84B0-D0BEBDB4E8AC}"/>
                  </a:ext>
                </a:extLst>
              </p:cNvPr>
              <p:cNvSpPr/>
              <p:nvPr userDrawn="1"/>
            </p:nvSpPr>
            <p:spPr>
              <a:xfrm>
                <a:off x="7391400" y="6312003"/>
                <a:ext cx="139967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kumimoji="0" lang="en-US" altLang="zh-CN" dirty="0"/>
                  <a:t>Copy right </a:t>
                </a:r>
                <a14:m>
                  <m:oMath xmlns:m="http://schemas.openxmlformats.org/officeDocument/2006/math">
                    <m:r>
                      <a:rPr kumimoji="0" lang="zh-CN" altLang="en-US" i="1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F0EB1356-0045-4B4E-84B0-D0BEBDB4E8A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 userDrawn="1"/>
            </p:nvSpPr>
            <p:spPr>
              <a:xfrm>
                <a:off x="7391400" y="6312003"/>
                <a:ext cx="1399679" cy="369332"/>
              </a:xfrm>
              <a:prstGeom prst="rect">
                <a:avLst/>
              </a:prstGeom>
              <a:blipFill>
                <a:blip r:embed="rId15"/>
                <a:stretch>
                  <a:fillRect l="-3930" t="-9836" b="-229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latinLnBrk="0" hangingPunct="1">
        <a:defRPr kumimoji="0">
          <a:solidFill>
            <a:schemeClr val="tx2"/>
          </a:solidFill>
        </a:defRPr>
      </a:lvl2pPr>
      <a:lvl3pPr eaLnBrk="1" latinLnBrk="0" hangingPunct="1">
        <a:defRPr kumimoji="0">
          <a:solidFill>
            <a:schemeClr val="tx2"/>
          </a:solidFill>
        </a:defRPr>
      </a:lvl3pPr>
      <a:lvl4pPr eaLnBrk="1" latinLnBrk="0" hangingPunct="1">
        <a:defRPr kumimoji="0">
          <a:solidFill>
            <a:schemeClr val="tx2"/>
          </a:solidFill>
        </a:defRPr>
      </a:lvl4pPr>
      <a:lvl5pPr eaLnBrk="1" latinLnBrk="0" hangingPunct="1">
        <a:defRPr kumimoji="0">
          <a:solidFill>
            <a:schemeClr val="tx2"/>
          </a:solidFill>
        </a:defRPr>
      </a:lvl5pPr>
      <a:lvl6pPr eaLnBrk="1" latinLnBrk="0" hangingPunct="1">
        <a:defRPr kumimoji="0">
          <a:solidFill>
            <a:schemeClr val="tx2"/>
          </a:solidFill>
        </a:defRPr>
      </a:lvl6pPr>
      <a:lvl7pPr eaLnBrk="1" latinLnBrk="0" hangingPunct="1">
        <a:defRPr kumimoji="0">
          <a:solidFill>
            <a:schemeClr val="tx2"/>
          </a:solidFill>
        </a:defRPr>
      </a:lvl7pPr>
      <a:lvl8pPr eaLnBrk="1" latinLnBrk="0" hangingPunct="1">
        <a:defRPr kumimoji="0">
          <a:solidFill>
            <a:schemeClr val="tx2"/>
          </a:solidFill>
        </a:defRPr>
      </a:lvl8pPr>
      <a:lvl9pPr eaLnBrk="1" latinLnBrk="0" hangingPunct="1">
        <a:defRPr kumimoji="0">
          <a:solidFill>
            <a:schemeClr val="tx2"/>
          </a:solidFill>
        </a:defRPr>
      </a:lvl9pPr>
    </p:titleStyle>
    <p:bodyStyle>
      <a:lvl1pPr marL="342900" indent="-342900" algn="l" rtl="0" eaLnBrk="1" latinLnBrk="0" hangingPunct="1">
        <a:spcBef>
          <a:spcPct val="20000"/>
        </a:spcBef>
        <a:buClr>
          <a:schemeClr val="accent1"/>
        </a:buClr>
        <a:buSzPct val="50000"/>
        <a:buFont typeface="Wingdings 2" panose="05020102010507070707"/>
        <a:buChar char="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latinLnBrk="0" hangingPunct="1">
        <a:spcBef>
          <a:spcPct val="20000"/>
        </a:spcBef>
        <a:buClr>
          <a:schemeClr val="accent2"/>
        </a:buClr>
        <a:buSzPct val="50000"/>
        <a:buFont typeface="Wingdings 2" panose="05020102010507070707"/>
        <a:buChar char="³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latinLnBrk="0" hangingPunct="1">
        <a:spcBef>
          <a:spcPct val="20000"/>
        </a:spcBef>
        <a:buClr>
          <a:schemeClr val="accent3"/>
        </a:buClr>
        <a:buSzPct val="60000"/>
        <a:buFont typeface="Wingdings 2" panose="05020102010507070707"/>
        <a:buChar char="®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latinLnBrk="0" hangingPunct="1">
        <a:spcBef>
          <a:spcPct val="20000"/>
        </a:spcBef>
        <a:buClr>
          <a:schemeClr val="accent5"/>
        </a:buClr>
        <a:buSzPct val="45000"/>
        <a:buFont typeface="Wingdings 2" panose="05020102010507070707"/>
        <a:buChar char="¯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latinLnBrk="0" hangingPunct="1">
        <a:spcBef>
          <a:spcPct val="20000"/>
        </a:spcBef>
        <a:buClr>
          <a:schemeClr val="accent6"/>
        </a:buClr>
        <a:buFont typeface="Wingdings 2" panose="05020102010507070707"/>
        <a:buChar char="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eaLnBrk="1" latinLnBrk="0" hangingPunct="1">
        <a:spcBef>
          <a:spcPct val="20000"/>
        </a:spcBef>
        <a:buFont typeface="Arial" panose="020B0604020202020204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eaLnBrk="1" latinLnBrk="0" hangingPunct="1">
        <a:spcBef>
          <a:spcPct val="20000"/>
        </a:spcBef>
        <a:buFont typeface="Arial" panose="020B0604020202020204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eaLnBrk="1" latinLnBrk="0" hangingPunct="1">
        <a:spcBef>
          <a:spcPct val="20000"/>
        </a:spcBef>
        <a:buFont typeface="Arial" panose="020B0604020202020204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eaLnBrk="1" latinLnBrk="0" hangingPunct="1">
        <a:spcBef>
          <a:spcPct val="20000"/>
        </a:spcBef>
        <a:buFont typeface="Arial" panose="020B0604020202020204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8.jpeg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55D14F7-0E7F-8548-85E8-931FFC6E87C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Hadoop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与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Spark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0829591-AB44-3C4B-B84E-713A444B98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7716" y="2643182"/>
            <a:ext cx="6670366" cy="2309818"/>
          </a:xfrm>
        </p:spPr>
        <p:txBody>
          <a:bodyPr>
            <a:normAutofit/>
          </a:bodyPr>
          <a:lstStyle/>
          <a:p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Hadoop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入门</a:t>
            </a:r>
          </a:p>
        </p:txBody>
      </p:sp>
    </p:spTree>
    <p:extLst>
      <p:ext uri="{BB962C8B-B14F-4D97-AF65-F5344CB8AC3E}">
        <p14:creationId xmlns:p14="http://schemas.microsoft.com/office/powerpoint/2010/main" val="23284057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20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Hadoop</a:t>
            </a:r>
            <a:r>
              <a:rPr lang="zh-CN" altLang="en-US" sz="20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简介</a:t>
            </a:r>
            <a:endParaRPr lang="en-US" altLang="zh-CN" sz="20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algn="just"/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Apache Hadoop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是存储和处理大数据的开源软件框架</a:t>
            </a:r>
            <a:endParaRPr lang="en-US" altLang="zh-CN" sz="18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algn="just"/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Hadoop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项目，最初由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Doug Cutting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Mike 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Cafarella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于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2005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年创建，其最初的目标，是提供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Nutch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搜索引擎的分布式处理能力</a:t>
            </a:r>
            <a:endParaRPr lang="en-US" altLang="zh-CN" sz="18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algn="just"/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目前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Doug Cutting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是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Cloudera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的首席架构师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, Cloudera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是一家基于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Hadoop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开源软件，提供增值开发和服务的创业公司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 fontScale="90000"/>
          </a:bodyPr>
          <a:lstStyle/>
          <a:p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Hadoop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入门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D46F6B0-6030-48E9-A368-1A4D1AEC7034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76800" y="3581400"/>
            <a:ext cx="2279459" cy="312420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D0782F96-9FFF-4600-88C5-F6AAA7F9681C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64755" y="3581400"/>
            <a:ext cx="2302446" cy="30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73749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Hadoop</a:t>
            </a:r>
            <a:r>
              <a:rPr lang="zh-CN" altLang="en-US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简介</a:t>
            </a:r>
            <a:endParaRPr lang="en-US" altLang="zh-CN" sz="18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algn="just"/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在扩展性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(Scalability)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方面，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Hadoop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能够在</a:t>
            </a:r>
            <a:r>
              <a:rPr lang="zh-CN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上千台机器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组成的集群上运行</a:t>
            </a:r>
            <a:endParaRPr lang="en-US" altLang="zh-CN" sz="18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2" algn="just"/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大规模集群的可靠性，不能仅仅靠硬件来保证，因为节点的失败、网络的失败等状况不可避免</a:t>
            </a:r>
            <a:endParaRPr lang="en-US" altLang="zh-CN" sz="16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2" algn="just"/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为了能够在大规模集群上顺利运行，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Hadoop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的所有模块，其设计原则基于这样的基本假设，即硬件的失败在所难免，每个节点都没有那么可靠，可能发生节点失败状况，软件框架应该能够自动检测和处理这些失败情况</a:t>
            </a:r>
            <a:endParaRPr lang="en-US" altLang="zh-CN" sz="16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2" algn="just"/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Hadoop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通过软件，在大规模集群上提供高度的可用性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(High Availability)</a:t>
            </a:r>
            <a:endPara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 fontScale="90000"/>
          </a:bodyPr>
          <a:lstStyle/>
          <a:p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Hadoop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入门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4C7755C-3468-416A-8A83-3FBEAFADCF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7198" y="4191000"/>
            <a:ext cx="3325803" cy="2248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53897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Hadoop</a:t>
            </a:r>
            <a:r>
              <a:rPr lang="zh-CN" altLang="en-US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的模块</a:t>
            </a:r>
            <a:endParaRPr lang="en-US" altLang="zh-CN" sz="18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algn="just"/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Hadoop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软件框架，包含如下主要模块：</a:t>
            </a:r>
            <a:r>
              <a:rPr lang="en-US" altLang="zh-CN" sz="16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(1) Hadoop Common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这个模块包含了其它模块需要的库函数和实用函数。</a:t>
            </a:r>
            <a:r>
              <a:rPr lang="en-US" altLang="zh-CN" sz="16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(2) Hadoop Distributed File System (HDFS)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，这是在由普通服务器组成的集群上运行的分布式文件系统，支持大数据的存储。通过多个节点的并行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I/O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，提供极高的吞吐能力。</a:t>
            </a:r>
            <a:r>
              <a:rPr lang="en-US" altLang="zh-CN" sz="16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(3) Hadoop MapReduce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，是一种支持大数据处理的编程模型。</a:t>
            </a:r>
            <a:r>
              <a:rPr lang="en-US" altLang="zh-CN" sz="16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(4) Hadoop YARN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，这是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Hadoop2.0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的基础模块，它本质上是一个资源管理和任务调度软件框架</a:t>
            </a:r>
            <a:endParaRPr lang="en-US" altLang="zh-CN" sz="16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2" algn="just"/>
            <a:r>
              <a:rPr lang="zh-CN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它把集群的计算资源管理起来，为调度和执行用户程序提供支持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 fontScale="90000"/>
          </a:bodyPr>
          <a:lstStyle/>
          <a:p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Hadoop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入门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69F037A-7CAC-4BD5-A8C8-07224501BA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0700" y="3962400"/>
            <a:ext cx="5562600" cy="2779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21979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AC416C-D88F-EF4B-AA32-5613425BC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pause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4F34CD6-C4F2-1E45-9B7E-02BD8BA944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0200"/>
            <a:ext cx="7620000" cy="5105400"/>
          </a:xfrm>
        </p:spPr>
        <p:txBody>
          <a:bodyPr>
            <a:normAutofit/>
          </a:bodyPr>
          <a:lstStyle/>
          <a:p>
            <a:endParaRPr kumimoji="1" lang="zh-CN" altLang="en-US" dirty="0"/>
          </a:p>
        </p:txBody>
      </p:sp>
      <p:pic>
        <p:nvPicPr>
          <p:cNvPr id="5" name="Picture 4" descr="https://gimg2.baidu.com/image_search/src=http%3A%2F%2Fpic.51yuansu.com%2Fpic3%2Fcover%2F03%2F46%2F97%2F5bab68eb6b4a1_610.jpg&amp;refer=http%3A%2F%2Fpic.51yuansu.com&amp;app=2002&amp;size=f9999,10000&amp;q=a80&amp;n=0&amp;g=0n&amp;fmt=jpeg?sec=1636806551&amp;t=fce412286299fb8c7d98cdbcbd681ecd">
            <a:extLst>
              <a:ext uri="{FF2B5EF4-FFF2-40B4-BE49-F238E27FC236}">
                <a16:creationId xmlns:a16="http://schemas.microsoft.com/office/drawing/2014/main" id="{9C57BCF5-0A3D-43CF-8558-15C23E8AD8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1676400"/>
            <a:ext cx="5105400" cy="5205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987541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Hadoop</a:t>
            </a:r>
            <a:r>
              <a:rPr lang="zh-CN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分布式文件系统</a:t>
            </a:r>
            <a:endParaRPr lang="en-US" altLang="zh-CN" sz="1800" dirty="0">
              <a:solidFill>
                <a:srgbClr val="C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algn="just"/>
            <a:r>
              <a:rPr lang="zh-CN" altLang="en-US" sz="1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架构</a:t>
            </a:r>
            <a:endParaRPr lang="en-US" altLang="zh-CN" sz="18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algn="just"/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Hadoop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分布式文件系统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(Hadoop Distributed File System, HDFS)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，是一个分布式的、高度可扩展的文件系统</a:t>
            </a:r>
            <a:endParaRPr lang="en-US" altLang="zh-CN" sz="18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algn="just"/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一个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HDFS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集群，一般由一个</a:t>
            </a:r>
            <a:r>
              <a:rPr lang="en-US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NameNode</a:t>
            </a:r>
            <a:r>
              <a:rPr lang="zh-CN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和若干</a:t>
            </a:r>
            <a:r>
              <a:rPr lang="en-US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DataNode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组成，分别负责</a:t>
            </a:r>
            <a:r>
              <a:rPr lang="zh-CN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元信息的管理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zh-CN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数据块的管理</a:t>
            </a:r>
            <a:endParaRPr lang="en-US" altLang="zh-CN" sz="1800" dirty="0">
              <a:solidFill>
                <a:srgbClr val="C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/>
            <a:endParaRPr lang="en-US" altLang="zh-CN" sz="18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/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 fontScale="90000"/>
          </a:bodyPr>
          <a:lstStyle/>
          <a:p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Hadoop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入门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D26CCEB-58C8-4EFD-9D6B-454990F974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0" y="3581400"/>
            <a:ext cx="6781800" cy="2510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03031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800600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Hadoop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分布式文件系统</a:t>
            </a:r>
            <a:endParaRPr lang="en-US" altLang="zh-CN" sz="18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algn="just"/>
            <a:r>
              <a:rPr lang="en-US" altLang="zh-CN" sz="20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Name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Node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DataNode</a:t>
            </a:r>
            <a:endParaRPr lang="en-US" altLang="zh-CN" sz="20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algn="just"/>
            <a:r>
              <a:rPr lang="en-US" altLang="zh-CN" sz="20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NameNode</a:t>
            </a:r>
            <a:r>
              <a:rPr lang="zh-CN" altLang="zh-CN" sz="20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是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HDFS</a:t>
            </a:r>
            <a:r>
              <a:rPr lang="zh-CN" altLang="zh-CN" sz="20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系统中的管理者</a:t>
            </a:r>
            <a:endParaRPr lang="en-US" altLang="zh-CN" sz="20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2" algn="just"/>
            <a:r>
              <a:rPr lang="zh-CN" altLang="en-US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（</a:t>
            </a:r>
            <a:r>
              <a: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en-US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它负责管理文件系统的命名空间</a:t>
            </a:r>
            <a:r>
              <a:rPr lang="zh-CN" altLang="en-US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维护文件系统的文件树以及全部的文件和文件夹的元数据</a:t>
            </a:r>
            <a:endParaRPr lang="en-US" altLang="zh-CN" sz="16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2" algn="just"/>
            <a:r>
              <a:rPr lang="zh-CN" altLang="en-US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（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zh-CN" altLang="en-US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这些信息存储在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NameNode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维护的两个本地磁盘文件里</a:t>
            </a:r>
            <a:r>
              <a:rPr lang="zh-CN" altLang="en-US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命名空间镜像文件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16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FsImage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和编辑日志文件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1600" dirty="0" err="1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EditLogs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endParaRPr lang="en-US" altLang="zh-CN" sz="1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2" algn="just"/>
            <a:r>
              <a:rPr lang="zh-CN" altLang="en-US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（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zh-CN" altLang="en-US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NameNode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中还保存了每一个文件及其数据块所在的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DataNode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的相应关系，这些信息被用于其它功能组件查找文件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数据块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所在的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DataNode</a:t>
            </a:r>
          </a:p>
          <a:p>
            <a:pPr lvl="2" algn="just"/>
            <a:r>
              <a:rPr lang="zh-CN" altLang="en-US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（</a:t>
            </a:r>
            <a:r>
              <a: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4</a:t>
            </a:r>
            <a:r>
              <a:rPr lang="zh-CN" altLang="en-US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）接收客户端的请求：上传、下载、创建目录等</a:t>
            </a:r>
            <a:endParaRPr lang="zh-CN" altLang="zh-CN" sz="1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/>
            <a:r>
              <a:rPr lang="en-US" altLang="zh-CN" sz="20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DataNode</a:t>
            </a:r>
            <a:r>
              <a:rPr lang="zh-CN" altLang="zh-CN" sz="20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是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HDFS</a:t>
            </a:r>
            <a:r>
              <a:rPr lang="zh-CN" altLang="zh-CN" sz="20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中保存数据的节点</a:t>
            </a:r>
            <a:endParaRPr lang="en-US" altLang="zh-CN" sz="20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2"/>
            <a:r>
              <a:rPr lang="zh-CN" altLang="en-US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（</a:t>
            </a:r>
            <a:r>
              <a: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en-US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）存储数据块</a:t>
            </a:r>
          </a:p>
          <a:p>
            <a:pPr lvl="2"/>
            <a:r>
              <a:rPr lang="zh-CN" altLang="en-US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（</a:t>
            </a:r>
            <a:r>
              <a: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zh-CN" altLang="en-US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）负责客户端对数据块的</a:t>
            </a:r>
            <a:r>
              <a: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IO</a:t>
            </a:r>
            <a:r>
              <a:rPr lang="zh-CN" altLang="en-US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请求</a:t>
            </a:r>
          </a:p>
          <a:p>
            <a:pPr lvl="2"/>
            <a:r>
              <a:rPr lang="zh-CN" altLang="en-US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（</a:t>
            </a:r>
            <a:r>
              <a: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zh-CN" altLang="en-US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  <a:r>
              <a: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DataNode</a:t>
            </a:r>
            <a:r>
              <a:rPr lang="zh-CN" altLang="en-US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之间相互通信，执行数据块复制</a:t>
            </a:r>
          </a:p>
          <a:p>
            <a:pPr lvl="2"/>
            <a:r>
              <a:rPr lang="zh-CN" altLang="en-US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（</a:t>
            </a:r>
            <a:r>
              <a: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4</a:t>
            </a:r>
            <a:r>
              <a:rPr lang="zh-CN" altLang="en-US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  <a:r>
              <a: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DataNode</a:t>
            </a:r>
            <a:r>
              <a:rPr lang="zh-CN" altLang="en-US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定时和</a:t>
            </a:r>
            <a:r>
              <a: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NameNode</a:t>
            </a:r>
            <a:r>
              <a:rPr lang="zh-CN" altLang="en-US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进行心跳通信，接受</a:t>
            </a:r>
            <a:r>
              <a: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NameNode</a:t>
            </a:r>
            <a:r>
              <a:rPr lang="zh-CN" altLang="en-US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的指令</a:t>
            </a:r>
            <a:endParaRPr lang="en-US" altLang="zh-CN" sz="1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/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 fontScale="90000"/>
          </a:bodyPr>
          <a:lstStyle/>
          <a:p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Hadoop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入门</a:t>
            </a:r>
          </a:p>
        </p:txBody>
      </p:sp>
    </p:spTree>
    <p:extLst>
      <p:ext uri="{BB962C8B-B14F-4D97-AF65-F5344CB8AC3E}">
        <p14:creationId xmlns:p14="http://schemas.microsoft.com/office/powerpoint/2010/main" val="22412394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Hadoop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分布式文件系统</a:t>
            </a:r>
            <a:endParaRPr lang="en-US" altLang="zh-CN" sz="18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algn="just"/>
            <a:r>
              <a:rPr lang="zh-CN" altLang="en-US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容错</a:t>
            </a:r>
            <a:endParaRPr lang="en-US" altLang="zh-CN" sz="1800" dirty="0">
              <a:solidFill>
                <a:srgbClr val="C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algn="just"/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HDFS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支持</a:t>
            </a:r>
            <a:r>
              <a:rPr lang="en-US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TB</a:t>
            </a:r>
            <a:r>
              <a:rPr lang="zh-CN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级甚至</a:t>
            </a:r>
            <a:r>
              <a:rPr lang="en-US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PB</a:t>
            </a:r>
            <a:r>
              <a:rPr lang="zh-CN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级大小文件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的存储</a:t>
            </a:r>
            <a:endParaRPr lang="en-US" altLang="zh-CN" sz="18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algn="just"/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它把文件划分成</a:t>
            </a:r>
            <a:r>
              <a:rPr lang="zh-CN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数据块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(Block)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，分布到多台机器上进行存储</a:t>
            </a:r>
            <a:endParaRPr lang="en-US" altLang="zh-CN" sz="18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algn="just"/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为了保证系统的可靠性，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HDFS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把数据块在多个节点上进行复制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Replicate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</a:p>
          <a:p>
            <a:pPr lvl="2" algn="just"/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如果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HDFS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采用的复制因子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(Replicate Factor)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为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，那么每个数据块有三个副本，被保存到三个节点上，其中的两个节点在同一个机架内，另外一个节点一般在其它机架上</a:t>
            </a:r>
            <a:endParaRPr lang="en-US" altLang="zh-CN" sz="18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2" algn="just"/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DataNode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之间可以拷贝数据副本，从而重新平衡每个节点存储的数据量，并且保证系统的可靠性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保证每个数据块都有足够的副本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 fontScale="90000"/>
          </a:bodyPr>
          <a:lstStyle/>
          <a:p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Hadoop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入门</a:t>
            </a:r>
          </a:p>
        </p:txBody>
      </p:sp>
    </p:spTree>
    <p:extLst>
      <p:ext uri="{BB962C8B-B14F-4D97-AF65-F5344CB8AC3E}">
        <p14:creationId xmlns:p14="http://schemas.microsoft.com/office/powerpoint/2010/main" val="35962619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Hadoop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分布式文件系统</a:t>
            </a:r>
            <a:r>
              <a:rPr lang="zh-CN" altLang="en-US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lang="zh-CN" altLang="en-US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心跳机制</a:t>
            </a:r>
            <a:endParaRPr lang="en-US" altLang="zh-CN" sz="1800" dirty="0">
              <a:solidFill>
                <a:srgbClr val="C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algn="just">
              <a:lnSpc>
                <a:spcPct val="150000"/>
              </a:lnSpc>
              <a:spcBef>
                <a:spcPts val="0"/>
              </a:spcBef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DataNode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默认每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秒像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NameNode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汇报一次，向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NameNode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汇报状态信息，并且返回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NameNode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对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DataNode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的操作命令</a:t>
            </a:r>
          </a:p>
          <a:p>
            <a:pPr lvl="1" algn="just">
              <a:lnSpc>
                <a:spcPct val="150000"/>
              </a:lnSpc>
              <a:spcBef>
                <a:spcPts val="0"/>
              </a:spcBef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如果某一时刻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DataNode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不汇报，可能宕机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algn="just">
              <a:lnSpc>
                <a:spcPct val="150000"/>
              </a:lnSpc>
              <a:spcBef>
                <a:spcPts val="0"/>
              </a:spcBef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NameNode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超过十分钟没有收到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DataNode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的心跳，则认为该节点不可用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 fontScale="90000"/>
          </a:bodyPr>
          <a:lstStyle/>
          <a:p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Hadoop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入门</a:t>
            </a:r>
          </a:p>
        </p:txBody>
      </p:sp>
      <p:pic>
        <p:nvPicPr>
          <p:cNvPr id="1026" name="Picture 2" descr="在这里插入图片描述">
            <a:extLst>
              <a:ext uri="{FF2B5EF4-FFF2-40B4-BE49-F238E27FC236}">
                <a16:creationId xmlns:a16="http://schemas.microsoft.com/office/drawing/2014/main" id="{FDAF8DAB-444F-464E-B8A0-1550FD81B9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0" y="3663584"/>
            <a:ext cx="4495800" cy="26904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712906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50292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HDFS</a:t>
            </a:r>
            <a:r>
              <a:rPr lang="zh-CN" altLang="en-US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优缺点</a:t>
            </a:r>
            <a:endParaRPr lang="en-US" altLang="zh-CN" sz="1800" dirty="0">
              <a:solidFill>
                <a:srgbClr val="C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algn="just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优点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algn="just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（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）高容错性</a:t>
            </a:r>
          </a:p>
          <a:p>
            <a:pPr lvl="1" algn="just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（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）适合批处理</a:t>
            </a:r>
          </a:p>
          <a:p>
            <a:pPr lvl="1" algn="just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（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）适合大数据处理</a:t>
            </a:r>
          </a:p>
          <a:p>
            <a:pPr lvl="1" algn="just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（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4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）一次写入，多次读取，不能修改，只能追加</a:t>
            </a:r>
          </a:p>
          <a:p>
            <a:pPr lvl="1" algn="just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（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5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 可构建在廉价机器上</a:t>
            </a:r>
          </a:p>
          <a:p>
            <a:pPr lvl="1" algn="just"/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algn="just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缺点</a:t>
            </a:r>
          </a:p>
          <a:p>
            <a:pPr lvl="1" algn="just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（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）不适合低延时数据访问</a:t>
            </a:r>
          </a:p>
          <a:p>
            <a:pPr lvl="1" algn="just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（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）无法高效地对大量小文件进行存储</a:t>
            </a:r>
          </a:p>
          <a:p>
            <a:pPr lvl="1" algn="just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（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）一个文件只能有一个写，不允许多个线程同时写</a:t>
            </a:r>
          </a:p>
          <a:p>
            <a:pPr lvl="1" algn="just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（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4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）仅支持数据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append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（追加），不支持文件的随机修改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 fontScale="90000"/>
          </a:bodyPr>
          <a:lstStyle/>
          <a:p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Hadoop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入门</a:t>
            </a:r>
          </a:p>
        </p:txBody>
      </p:sp>
    </p:spTree>
    <p:extLst>
      <p:ext uri="{BB962C8B-B14F-4D97-AF65-F5344CB8AC3E}">
        <p14:creationId xmlns:p14="http://schemas.microsoft.com/office/powerpoint/2010/main" val="25880566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Hadoop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分布式文件系统</a:t>
            </a:r>
            <a:endParaRPr lang="en-US" altLang="zh-CN" sz="18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algn="just"/>
            <a:r>
              <a:rPr lang="zh-CN" altLang="en-US" sz="1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写文件</a:t>
            </a:r>
            <a:endParaRPr lang="en-US" altLang="zh-CN" sz="14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algn="just"/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(1) 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客户端程序调用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DistributedFileSystem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create()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方法</a:t>
            </a:r>
            <a:endParaRPr lang="en-US" altLang="zh-CN" sz="14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algn="just"/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(2) 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DistributedFileSystem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向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NameNode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发起一个远程过程调用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(Remote Procedure Call, RPC)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，由其在其文件系统的命名空间里，创建一个新文件。这时，该文件还没有任何数据块</a:t>
            </a:r>
            <a:endParaRPr lang="en-US" altLang="zh-CN" sz="14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2" algn="just"/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NameNode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进行一系列的检查，保证文件并未存在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才可以新建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，而且客户端有权限创建该文件。如果检查通过，那么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NameNode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为新文件创建一个新的记录，保存其信息，否则文件的创建失败</a:t>
            </a:r>
            <a:endParaRPr lang="en-US" altLang="zh-CN" sz="14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2" algn="just"/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DistributedFileSystem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返回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FSDataOutputStream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给客户端程序，以便其开始写入数据。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FSDataOutputStream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包含一个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DFSOutputStream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对象，它负责和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NameNode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以及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DataNode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的通讯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 fontScale="90000"/>
          </a:bodyPr>
          <a:lstStyle/>
          <a:p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Hadoop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入门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D15C3D1-E9FF-455C-914C-F8977F183F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400" y="4572000"/>
            <a:ext cx="5105400" cy="2107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50188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Hadoop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分布式文件系统</a:t>
            </a:r>
            <a:endParaRPr lang="en-US" altLang="zh-CN" sz="18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algn="just"/>
            <a:r>
              <a:rPr lang="zh-CN" altLang="en-US" sz="15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写文件</a:t>
            </a:r>
            <a:endParaRPr lang="en-US" altLang="zh-CN" sz="15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algn="just"/>
            <a:r>
              <a:rPr lang="en-US" altLang="zh-CN" sz="15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(3) </a:t>
            </a:r>
            <a:r>
              <a:rPr lang="zh-CN" altLang="zh-CN" sz="15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当客户端开始写入数据，</a:t>
            </a:r>
            <a:r>
              <a:rPr lang="en-US" altLang="zh-CN" sz="15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DFSOutputStream</a:t>
            </a:r>
            <a:r>
              <a:rPr lang="zh-CN" altLang="zh-CN" sz="15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把数据分解成数据包</a:t>
            </a:r>
            <a:r>
              <a:rPr lang="en-US" altLang="zh-CN" sz="15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(Packet)</a:t>
            </a:r>
            <a:r>
              <a:rPr lang="zh-CN" altLang="zh-CN" sz="15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，并且写入一个内部队列，称为数据队列</a:t>
            </a:r>
            <a:r>
              <a:rPr lang="en-US" altLang="zh-CN" sz="15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(Data Queue)</a:t>
            </a:r>
            <a:r>
              <a:rPr lang="zh-CN" altLang="zh-CN" sz="15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  <a:r>
              <a:rPr lang="en-US" altLang="zh-CN" sz="15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DataStreamer</a:t>
            </a:r>
            <a:r>
              <a:rPr lang="zh-CN" altLang="zh-CN" sz="15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消费这个数据队列，请求</a:t>
            </a:r>
            <a:r>
              <a:rPr lang="en-US" altLang="zh-CN" sz="15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NameNode</a:t>
            </a:r>
            <a:r>
              <a:rPr lang="zh-CN" altLang="zh-CN" sz="15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为新的数据块分配空间，即选择一系列合适的</a:t>
            </a:r>
            <a:r>
              <a:rPr lang="en-US" altLang="zh-CN" sz="15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DataNode</a:t>
            </a:r>
            <a:r>
              <a:rPr lang="zh-CN" altLang="zh-CN" sz="15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，用于存放各个数据块的各个副本。</a:t>
            </a:r>
            <a:endParaRPr lang="en-US" altLang="zh-CN" sz="15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2" algn="just"/>
            <a:r>
              <a:rPr lang="zh-CN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存放各个副本的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DataNode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形成一个流水线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(Pipeline)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，我们假设复制因子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(Replica Factor)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是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，于是在流水线上有三个节点</a:t>
            </a:r>
            <a:endParaRPr lang="en-US" altLang="zh-CN" sz="14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2" algn="just"/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DataStreamer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把数据包发送到第一个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DataNode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，这个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DataNode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保存数据包，并且转发给流水线上的第二个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DataNode</a:t>
            </a:r>
            <a:r>
              <a:rPr lang="en-US" altLang="zh-CN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…</a:t>
            </a:r>
            <a:endParaRPr lang="en-US" altLang="zh-CN" sz="14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2" algn="just"/>
            <a:r>
              <a:rPr lang="zh-CN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当写入数据已经超过一个数据块的大小时，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DataStreamer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向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NameNode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申请为新的数据块分配空间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 fontScale="90000"/>
          </a:bodyPr>
          <a:lstStyle/>
          <a:p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Hadoop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入门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D15C3D1-E9FF-455C-914C-F8977F183F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9300" y="4572000"/>
            <a:ext cx="5105400" cy="2107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86056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Hadoop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分布式文件系统</a:t>
            </a:r>
            <a:endParaRPr lang="en-US" altLang="zh-CN" sz="18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algn="just"/>
            <a:r>
              <a:rPr lang="zh-CN" altLang="en-US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写文件</a:t>
            </a:r>
            <a:endParaRPr lang="en-US" altLang="zh-CN" sz="1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algn="just"/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(4) 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第二个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DataNode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保存这个数据包，并且转发给第三个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最后一个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)DataNode</a:t>
            </a:r>
            <a:endParaRPr lang="en-US" altLang="zh-CN" sz="1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algn="just"/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(5) 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DFSOutputStream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同时维护一个数据包的内部队列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(Internal Queue)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，用于等待接收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DataNode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的应答信息，称为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Ack Queue</a:t>
            </a:r>
          </a:p>
          <a:p>
            <a:pPr lvl="2" algn="just"/>
            <a:r>
              <a:rPr lang="zh-CN" altLang="zh-CN" sz="12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当某个数据包已经被流水线上的所有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DataNode</a:t>
            </a:r>
            <a:r>
              <a:rPr lang="zh-CN" altLang="zh-CN" sz="12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应答以后，它才被删除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zh-CN" altLang="zh-CN" sz="12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从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Ack Queue</a:t>
            </a:r>
            <a:r>
              <a:rPr lang="zh-CN" altLang="zh-CN" sz="12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上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zh-CN" altLang="zh-CN" sz="12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  <a:endParaRPr lang="en-US" altLang="zh-CN" sz="12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algn="just"/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(6) 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当客户端程序完成数据写入，它调用数据流的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close()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方法。</a:t>
            </a:r>
            <a:endParaRPr lang="en-US" altLang="zh-CN" sz="16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algn="just"/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(7) 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客户端把所有剩余的数据包发送到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DataNode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流水线上，并且等待应答信息，最后联系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NameNode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，告诉它文件结束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 fontScale="90000"/>
          </a:bodyPr>
          <a:lstStyle/>
          <a:p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Hadoop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入门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D15C3D1-E9FF-455C-914C-F8977F183F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200" y="4495800"/>
            <a:ext cx="5105400" cy="2107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2730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Hadoop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分布式文件系统</a:t>
            </a:r>
            <a:endParaRPr lang="en-US" altLang="zh-CN" sz="18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algn="just"/>
            <a:r>
              <a:rPr lang="zh-CN" altLang="en-US" sz="16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读文件</a:t>
            </a:r>
            <a:endParaRPr lang="en-US" altLang="zh-CN" sz="16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algn="just"/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(1) 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客户端程序通过调用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FileSystem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对象的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open()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方法，打开文件，获得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DistributedFileSystem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类的一个实例。</a:t>
            </a:r>
            <a:endParaRPr lang="en-US" altLang="zh-CN" sz="16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algn="just"/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(2) 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DistributedFileSystem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通过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RPC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调用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NameNode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，获得文件首批数据块的位置信息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(Locations of Blocks)</a:t>
            </a:r>
            <a:endParaRPr lang="en-US" altLang="zh-CN" sz="16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2" algn="just"/>
            <a:r>
              <a:rPr lang="zh-CN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对于每个数据块来讲，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NameNode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会返回拥有这个数据块的副本的所有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DataNode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的地址</a:t>
            </a:r>
            <a:endParaRPr lang="en-US" altLang="zh-CN" sz="14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2" algn="just"/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DistributedFileSystem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返回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FSDataInputStream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类的一个实例，这是一个输入流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(Input Stream)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，支持文件的定位和数据的读取，使得客户端可以读取文件数据</a:t>
            </a:r>
            <a:endParaRPr lang="en-US" altLang="zh-CN" sz="14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2" algn="just"/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FSDataInputStream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包含了一个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DFSInputStream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对象，负责管理客户端对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HDFS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DataNode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NameNode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的存取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 fontScale="90000"/>
          </a:bodyPr>
          <a:lstStyle/>
          <a:p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Hadoop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入门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DB35194-4ECA-4952-985B-AED1E68678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400" y="4696090"/>
            <a:ext cx="5257800" cy="2141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77881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Hadoop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分布式文件系统</a:t>
            </a:r>
            <a:endParaRPr lang="en-US" altLang="zh-CN" sz="18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algn="just"/>
            <a:r>
              <a:rPr lang="zh-CN" altLang="en-US" sz="15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读文件</a:t>
            </a:r>
            <a:endParaRPr lang="en-US" altLang="zh-CN" sz="15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algn="just"/>
            <a:r>
              <a:rPr lang="en-US" altLang="zh-CN" sz="15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(3) </a:t>
            </a:r>
            <a:r>
              <a:rPr lang="zh-CN" altLang="zh-CN" sz="15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客户端程序从输入流上调用函数</a:t>
            </a:r>
            <a:r>
              <a:rPr lang="en-US" altLang="zh-CN" sz="15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read()</a:t>
            </a:r>
            <a:r>
              <a:rPr lang="zh-CN" altLang="zh-CN" sz="15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。由于</a:t>
            </a:r>
            <a:r>
              <a:rPr lang="en-US" altLang="zh-CN" sz="15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DFSInputStream</a:t>
            </a:r>
            <a:r>
              <a:rPr lang="zh-CN" altLang="zh-CN" sz="15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已经保存了文件首批若干数据块所在的</a:t>
            </a:r>
            <a:r>
              <a:rPr lang="en-US" altLang="zh-CN" sz="15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DataNode</a:t>
            </a:r>
            <a:r>
              <a:rPr lang="zh-CN" altLang="zh-CN" sz="15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的地址，</a:t>
            </a:r>
            <a:r>
              <a:rPr lang="en-US" altLang="zh-CN" sz="15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DFSInputStream</a:t>
            </a:r>
            <a:r>
              <a:rPr lang="zh-CN" altLang="zh-CN" sz="15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连接到最近的</a:t>
            </a:r>
            <a:r>
              <a:rPr lang="en-US" altLang="zh-CN" sz="15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(Closest)DataNode</a:t>
            </a:r>
            <a:r>
              <a:rPr lang="zh-CN" altLang="zh-CN" sz="15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，读取文件的第一个数据块</a:t>
            </a:r>
            <a:endParaRPr lang="en-US" altLang="zh-CN" sz="15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algn="just"/>
            <a:r>
              <a:rPr lang="en-US" altLang="zh-CN" sz="15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(4) </a:t>
            </a:r>
            <a:r>
              <a:rPr lang="zh-CN" altLang="zh-CN" sz="15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数据从</a:t>
            </a:r>
            <a:r>
              <a:rPr lang="en-US" altLang="zh-CN" sz="15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DataNode</a:t>
            </a:r>
            <a:r>
              <a:rPr lang="zh-CN" altLang="zh-CN" sz="15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源源不断传送回客户端程序，而客户端程序则不断地调用数据流的</a:t>
            </a:r>
            <a:r>
              <a:rPr lang="en-US" altLang="zh-CN" sz="15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read()</a:t>
            </a:r>
            <a:r>
              <a:rPr lang="zh-CN" altLang="zh-CN" sz="15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方法</a:t>
            </a:r>
            <a:endParaRPr lang="en-US" altLang="zh-CN" sz="15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algn="just"/>
            <a:r>
              <a:rPr lang="en-US" altLang="zh-CN" sz="15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(5) </a:t>
            </a:r>
            <a:r>
              <a:rPr lang="zh-CN" altLang="zh-CN" sz="15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当到达数据块的末尾的时候，</a:t>
            </a:r>
            <a:r>
              <a:rPr lang="en-US" altLang="zh-CN" sz="15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DFSInputStream</a:t>
            </a:r>
            <a:r>
              <a:rPr lang="zh-CN" altLang="zh-CN" sz="15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将关闭到</a:t>
            </a:r>
            <a:r>
              <a:rPr lang="en-US" altLang="zh-CN" sz="15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DataNode</a:t>
            </a:r>
            <a:r>
              <a:rPr lang="zh-CN" altLang="zh-CN" sz="15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的连接，然后寻找下一个数据块的最优的</a:t>
            </a:r>
            <a:r>
              <a:rPr lang="en-US" altLang="zh-CN" sz="15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DataNode</a:t>
            </a:r>
            <a:r>
              <a:rPr lang="zh-CN" altLang="zh-CN" sz="15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，以便进行后续数据块的读取</a:t>
            </a:r>
            <a:endParaRPr lang="en-US" altLang="zh-CN" sz="15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2" algn="just"/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DataNode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的选择对客户端程序来讲是透明的，客户端程序只是从一个连续的数据流进行读取</a:t>
            </a:r>
            <a:endParaRPr lang="zh-CN" altLang="en-US" sz="1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 fontScale="90000"/>
          </a:bodyPr>
          <a:lstStyle/>
          <a:p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Hadoop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入门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DB35194-4ECA-4952-985B-AED1E68678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3600" y="4572000"/>
            <a:ext cx="5257800" cy="2141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60717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Hadoop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分布式文件系统</a:t>
            </a:r>
            <a:endParaRPr lang="en-US" altLang="zh-CN" sz="18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algn="just"/>
            <a:r>
              <a:rPr lang="zh-CN" altLang="en-US" sz="1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读文件</a:t>
            </a:r>
            <a:endParaRPr lang="en-US" altLang="zh-CN" sz="18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algn="just"/>
            <a:r>
              <a:rPr lang="zh-CN" altLang="zh-CN" sz="17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客户端按照顺序读取各个数据块。当客户端不断读取数据流的时候，在数据块的边界，</a:t>
            </a:r>
            <a:r>
              <a:rPr lang="en-US" altLang="zh-CN" sz="17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DFSInputStream</a:t>
            </a:r>
            <a:r>
              <a:rPr lang="zh-CN" altLang="zh-CN" sz="17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不断创建到保存后续数据块的</a:t>
            </a:r>
            <a:r>
              <a:rPr lang="en-US" altLang="zh-CN" sz="17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DataNode</a:t>
            </a:r>
            <a:r>
              <a:rPr lang="zh-CN" altLang="zh-CN" sz="17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的连接</a:t>
            </a:r>
            <a:endParaRPr lang="en-US" altLang="zh-CN" sz="17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algn="just"/>
            <a:r>
              <a:rPr lang="en-US" altLang="zh-CN" sz="17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DFSInputStream</a:t>
            </a:r>
            <a:r>
              <a:rPr lang="zh-CN" altLang="zh-CN" sz="17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同时向</a:t>
            </a:r>
            <a:r>
              <a:rPr lang="en-US" altLang="zh-CN" sz="17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NameNode</a:t>
            </a:r>
            <a:r>
              <a:rPr lang="zh-CN" altLang="zh-CN" sz="17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询问和提取下一批数据块的</a:t>
            </a:r>
            <a:r>
              <a:rPr lang="en-US" altLang="zh-CN" sz="17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DataNode</a:t>
            </a:r>
            <a:r>
              <a:rPr lang="zh-CN" altLang="zh-CN" sz="17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的位置信息</a:t>
            </a:r>
            <a:endParaRPr lang="en-US" altLang="zh-CN" sz="17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algn="just"/>
            <a:r>
              <a:rPr lang="en-US" altLang="zh-CN" sz="17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(6) </a:t>
            </a:r>
            <a:r>
              <a:rPr lang="zh-CN" altLang="zh-CN" sz="17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当客户端完成文件的读取，它调用</a:t>
            </a:r>
            <a:r>
              <a:rPr lang="en-US" altLang="zh-CN" sz="17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FSDataInputStream</a:t>
            </a:r>
            <a:r>
              <a:rPr lang="zh-CN" altLang="zh-CN" sz="17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实例的</a:t>
            </a:r>
            <a:r>
              <a:rPr lang="en-US" altLang="zh-CN" sz="17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close()</a:t>
            </a:r>
            <a:r>
              <a:rPr lang="zh-CN" altLang="zh-CN" sz="17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方法</a:t>
            </a:r>
            <a:endParaRPr lang="zh-CN" altLang="en-US" sz="17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 fontScale="90000"/>
          </a:bodyPr>
          <a:lstStyle/>
          <a:p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Hadoop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入门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DB35194-4ECA-4952-985B-AED1E68678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3600" y="4572000"/>
            <a:ext cx="5257800" cy="2141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22768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AC416C-D88F-EF4B-AA32-5613425BC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pause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4F34CD6-C4F2-1E45-9B7E-02BD8BA944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0200"/>
            <a:ext cx="7620000" cy="5105400"/>
          </a:xfrm>
        </p:spPr>
        <p:txBody>
          <a:bodyPr>
            <a:normAutofit/>
          </a:bodyPr>
          <a:lstStyle/>
          <a:p>
            <a:endParaRPr kumimoji="1" lang="zh-CN" altLang="en-US" dirty="0"/>
          </a:p>
        </p:txBody>
      </p:sp>
      <p:pic>
        <p:nvPicPr>
          <p:cNvPr id="5" name="Picture 4" descr="https://gimg2.baidu.com/image_search/src=http%3A%2F%2Fpic.51yuansu.com%2Fpic3%2Fcover%2F03%2F46%2F97%2F5bab68eb6b4a1_610.jpg&amp;refer=http%3A%2F%2Fpic.51yuansu.com&amp;app=2002&amp;size=f9999,10000&amp;q=a80&amp;n=0&amp;g=0n&amp;fmt=jpeg?sec=1636806551&amp;t=fce412286299fb8c7d98cdbcbd681ecd">
            <a:extLst>
              <a:ext uri="{FF2B5EF4-FFF2-40B4-BE49-F238E27FC236}">
                <a16:creationId xmlns:a16="http://schemas.microsoft.com/office/drawing/2014/main" id="{9C57BCF5-0A3D-43CF-8558-15C23E8AD8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1676400"/>
            <a:ext cx="5105400" cy="5205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639189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AC416C-D88F-EF4B-AA32-5613425BC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Hadoop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4F34CD6-C4F2-1E45-9B7E-02BD8BA944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0200"/>
            <a:ext cx="7620000" cy="5105400"/>
          </a:xfrm>
        </p:spPr>
        <p:txBody>
          <a:bodyPr>
            <a:normAutofit/>
          </a:bodyPr>
          <a:lstStyle/>
          <a:p>
            <a:pPr algn="just"/>
            <a:r>
              <a:rPr kumimoji="1" lang="en-US" altLang="zh-CN" dirty="0">
                <a:solidFill>
                  <a:srgbClr val="C00000"/>
                </a:solidFill>
              </a:rPr>
              <a:t>Name Node(NN)</a:t>
            </a:r>
          </a:p>
          <a:p>
            <a:pPr lvl="1" algn="just"/>
            <a:r>
              <a:rPr lang="en-US" altLang="zh-CN" dirty="0"/>
              <a:t>FS image</a:t>
            </a:r>
            <a:r>
              <a:rPr lang="zh-CN" altLang="en-US" dirty="0"/>
              <a:t>：保存了最新的元数据检查点 </a:t>
            </a:r>
          </a:p>
          <a:p>
            <a:pPr lvl="1" algn="just"/>
            <a:r>
              <a:rPr lang="en-US" altLang="zh-CN" dirty="0"/>
              <a:t>Edits</a:t>
            </a:r>
            <a:r>
              <a:rPr lang="zh-CN" altLang="en-US" dirty="0"/>
              <a:t>：</a:t>
            </a:r>
            <a:r>
              <a:rPr lang="zh-CN" altLang="en-US" sz="2400" dirty="0"/>
              <a:t>主要是在</a:t>
            </a:r>
            <a:r>
              <a:rPr lang="en-US" altLang="zh-CN" sz="2400" dirty="0"/>
              <a:t>NameNode</a:t>
            </a:r>
            <a:r>
              <a:rPr lang="zh-CN" altLang="en-US" sz="2400" dirty="0"/>
              <a:t>已经启动情况下对</a:t>
            </a:r>
            <a:r>
              <a:rPr lang="en-US" altLang="zh-CN" sz="2400" dirty="0"/>
              <a:t>HDFS</a:t>
            </a:r>
            <a:r>
              <a:rPr lang="zh-CN" altLang="en-US" sz="2400" dirty="0"/>
              <a:t>进行的各种更新操作进行记录         </a:t>
            </a:r>
            <a:endParaRPr lang="zh-CN" altLang="en-US" dirty="0"/>
          </a:p>
          <a:p>
            <a:pPr lvl="1" algn="just"/>
            <a:r>
              <a:rPr lang="en-US" altLang="zh-CN" dirty="0"/>
              <a:t>FS image(old) + Edits = FS image(new)</a:t>
            </a:r>
          </a:p>
          <a:p>
            <a:pPr algn="just"/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414034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AC416C-D88F-EF4B-AA32-5613425BC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Hadoop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4F34CD6-C4F2-1E45-9B7E-02BD8BA944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0200"/>
            <a:ext cx="7620000" cy="5105400"/>
          </a:xfrm>
        </p:spPr>
        <p:txBody>
          <a:bodyPr>
            <a:normAutofit fontScale="92500" lnSpcReduction="10000"/>
          </a:bodyPr>
          <a:lstStyle/>
          <a:p>
            <a:pPr algn="just">
              <a:lnSpc>
                <a:spcPct val="110000"/>
              </a:lnSpc>
            </a:pPr>
            <a:r>
              <a:rPr kumimoji="1" lang="en-US" altLang="zh-CN" dirty="0">
                <a:solidFill>
                  <a:srgbClr val="C00000"/>
                </a:solidFill>
              </a:rPr>
              <a:t>Secondary Name Node(SN)</a:t>
            </a:r>
          </a:p>
          <a:p>
            <a:pPr lvl="1" algn="just">
              <a:lnSpc>
                <a:spcPct val="110000"/>
              </a:lnSpc>
            </a:pPr>
            <a:r>
              <a:rPr lang="en-US" altLang="zh-CN" b="1" dirty="0"/>
              <a:t>Secondary Name Node</a:t>
            </a:r>
            <a:r>
              <a:rPr lang="zh-CN" altLang="en-US" b="1" dirty="0"/>
              <a:t>的作用就是帮助</a:t>
            </a:r>
            <a:r>
              <a:rPr lang="en-US" altLang="zh-CN" b="1" dirty="0"/>
              <a:t>NameNode</a:t>
            </a:r>
            <a:r>
              <a:rPr lang="zh-CN" altLang="en-US" b="1" dirty="0"/>
              <a:t>进行</a:t>
            </a:r>
            <a:r>
              <a:rPr lang="en-US" altLang="zh-CN" b="1" dirty="0"/>
              <a:t>Edits</a:t>
            </a:r>
            <a:r>
              <a:rPr lang="zh-CN" altLang="en-US" b="1" dirty="0"/>
              <a:t>和</a:t>
            </a:r>
            <a:r>
              <a:rPr lang="en-US" altLang="zh-CN" b="1" dirty="0"/>
              <a:t>FsImage</a:t>
            </a:r>
            <a:r>
              <a:rPr lang="zh-CN" altLang="en-US" b="1" dirty="0"/>
              <a:t>的合并工作</a:t>
            </a:r>
            <a:endParaRPr lang="en-US" altLang="zh-CN" b="1" dirty="0"/>
          </a:p>
          <a:p>
            <a:pPr lvl="1" algn="just">
              <a:lnSpc>
                <a:spcPct val="110000"/>
              </a:lnSpc>
            </a:pPr>
            <a:r>
              <a:rPr lang="zh-CN" altLang="en-US" dirty="0"/>
              <a:t>由于</a:t>
            </a:r>
            <a:r>
              <a:rPr lang="en-US" altLang="zh-CN" dirty="0"/>
              <a:t>Edits</a:t>
            </a:r>
            <a:r>
              <a:rPr lang="zh-CN" altLang="en-US" dirty="0"/>
              <a:t>中记录的操作会越来越多，</a:t>
            </a:r>
            <a:r>
              <a:rPr lang="en-US" altLang="zh-CN" dirty="0"/>
              <a:t>Edits</a:t>
            </a:r>
            <a:r>
              <a:rPr lang="zh-CN" altLang="en-US" dirty="0"/>
              <a:t>文件会越来越大，导致</a:t>
            </a:r>
            <a:r>
              <a:rPr lang="en-US" altLang="zh-CN" dirty="0"/>
              <a:t>NameNode</a:t>
            </a:r>
            <a:r>
              <a:rPr lang="zh-CN" altLang="en-US" dirty="0"/>
              <a:t>在启动加载</a:t>
            </a:r>
            <a:r>
              <a:rPr lang="en-US" altLang="zh-CN" dirty="0"/>
              <a:t>Edits</a:t>
            </a:r>
            <a:r>
              <a:rPr lang="zh-CN" altLang="en-US" dirty="0"/>
              <a:t>时会很慢，所以需要对</a:t>
            </a:r>
            <a:r>
              <a:rPr lang="en-US" altLang="zh-CN" dirty="0"/>
              <a:t>Edits</a:t>
            </a:r>
            <a:r>
              <a:rPr lang="zh-CN" altLang="en-US" dirty="0"/>
              <a:t>和</a:t>
            </a:r>
            <a:r>
              <a:rPr lang="en-US" altLang="zh-CN" dirty="0" err="1"/>
              <a:t>Fsimage</a:t>
            </a:r>
            <a:r>
              <a:rPr lang="zh-CN" altLang="en-US" dirty="0"/>
              <a:t>进行合并（所谓合并，就是将</a:t>
            </a:r>
            <a:r>
              <a:rPr lang="en-US" altLang="zh-CN" dirty="0"/>
              <a:t>Edits</a:t>
            </a:r>
            <a:r>
              <a:rPr lang="zh-CN" altLang="en-US" dirty="0"/>
              <a:t>和</a:t>
            </a:r>
            <a:r>
              <a:rPr lang="en-US" altLang="zh-CN" dirty="0" err="1"/>
              <a:t>Fsimage</a:t>
            </a:r>
            <a:r>
              <a:rPr lang="zh-CN" altLang="en-US" dirty="0"/>
              <a:t>加载到内存中，照着</a:t>
            </a:r>
            <a:r>
              <a:rPr lang="en-US" altLang="zh-CN" dirty="0"/>
              <a:t>Edits</a:t>
            </a:r>
            <a:r>
              <a:rPr lang="zh-CN" altLang="en-US" dirty="0"/>
              <a:t>中的操作一步步执行，最终形成新的</a:t>
            </a:r>
            <a:r>
              <a:rPr lang="en-US" altLang="zh-CN" dirty="0" err="1"/>
              <a:t>Fsimage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 algn="just">
              <a:lnSpc>
                <a:spcPct val="110000"/>
              </a:lnSpc>
            </a:pPr>
            <a:r>
              <a:rPr lang="en-US" altLang="zh-CN" dirty="0"/>
              <a:t>Secondary Name Node</a:t>
            </a:r>
            <a:r>
              <a:rPr lang="zh-CN" altLang="en-US" dirty="0"/>
              <a:t>的作用就是帮助</a:t>
            </a:r>
            <a:r>
              <a:rPr lang="en-US" altLang="zh-CN" dirty="0"/>
              <a:t>NameNode</a:t>
            </a:r>
            <a:r>
              <a:rPr lang="zh-CN" altLang="en-US" dirty="0"/>
              <a:t>进行</a:t>
            </a:r>
            <a:r>
              <a:rPr lang="en-US" altLang="zh-CN" dirty="0"/>
              <a:t>Edits</a:t>
            </a:r>
            <a:r>
              <a:rPr lang="zh-CN" altLang="en-US" dirty="0"/>
              <a:t>和</a:t>
            </a:r>
            <a:r>
              <a:rPr lang="en-US" altLang="zh-CN" dirty="0" err="1"/>
              <a:t>Fsimage</a:t>
            </a:r>
            <a:r>
              <a:rPr lang="zh-CN" altLang="en-US" dirty="0"/>
              <a:t>的合并工作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23501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AC416C-D88F-EF4B-AA32-5613425BC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Hadoop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4F34CD6-C4F2-1E45-9B7E-02BD8BA944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0200"/>
            <a:ext cx="7620000" cy="5105400"/>
          </a:xfrm>
        </p:spPr>
        <p:txBody>
          <a:bodyPr>
            <a:normAutofit fontScale="77500" lnSpcReduction="20000"/>
          </a:bodyPr>
          <a:lstStyle/>
          <a:p>
            <a:pPr algn="just">
              <a:lnSpc>
                <a:spcPct val="120000"/>
              </a:lnSpc>
            </a:pPr>
            <a:r>
              <a:rPr kumimoji="1" lang="en-US" altLang="zh-CN" dirty="0">
                <a:solidFill>
                  <a:srgbClr val="C00000"/>
                </a:solidFill>
              </a:rPr>
              <a:t>Secondary Name Node(SN)</a:t>
            </a:r>
          </a:p>
          <a:p>
            <a:pPr lvl="1" algn="just">
              <a:lnSpc>
                <a:spcPct val="120000"/>
              </a:lnSpc>
            </a:pPr>
            <a:r>
              <a:rPr lang="en-US" altLang="zh-CN" b="1" dirty="0"/>
              <a:t>Secondary Name Node</a:t>
            </a:r>
            <a:r>
              <a:rPr lang="zh-CN" altLang="en-US" b="1" dirty="0"/>
              <a:t>的作用就是帮助</a:t>
            </a:r>
            <a:r>
              <a:rPr lang="en-US" altLang="zh-CN" b="1" dirty="0"/>
              <a:t>NameNode</a:t>
            </a:r>
            <a:r>
              <a:rPr lang="zh-CN" altLang="en-US" b="1" dirty="0"/>
              <a:t>进行</a:t>
            </a:r>
            <a:r>
              <a:rPr lang="en-US" altLang="zh-CN" b="1" dirty="0"/>
              <a:t>Edits</a:t>
            </a:r>
            <a:r>
              <a:rPr lang="zh-CN" altLang="en-US" b="1" dirty="0"/>
              <a:t>和</a:t>
            </a:r>
            <a:r>
              <a:rPr lang="en-US" altLang="zh-CN" b="1" dirty="0"/>
              <a:t>FsImage</a:t>
            </a:r>
            <a:r>
              <a:rPr lang="zh-CN" altLang="en-US" b="1" dirty="0"/>
              <a:t>的合并工作</a:t>
            </a:r>
            <a:endParaRPr lang="en-US" altLang="zh-CN" b="1" dirty="0"/>
          </a:p>
          <a:p>
            <a:pPr lvl="1" algn="just">
              <a:lnSpc>
                <a:spcPct val="120000"/>
              </a:lnSpc>
            </a:pPr>
            <a:r>
              <a:rPr kumimoji="1" lang="zh-CN" altLang="en-US" dirty="0"/>
              <a:t>（</a:t>
            </a:r>
            <a:r>
              <a:rPr kumimoji="1" lang="en-US" altLang="zh-CN" dirty="0"/>
              <a:t>1</a:t>
            </a:r>
            <a:r>
              <a:rPr kumimoji="1" lang="zh-CN" altLang="en-US" dirty="0"/>
              <a:t>）</a:t>
            </a:r>
            <a:r>
              <a:rPr kumimoji="1" lang="en-US" altLang="zh-CN" dirty="0" err="1"/>
              <a:t>SecondaryNameNode</a:t>
            </a:r>
            <a:r>
              <a:rPr kumimoji="1" lang="zh-CN" altLang="en-US" dirty="0"/>
              <a:t>首先会询问</a:t>
            </a:r>
            <a:r>
              <a:rPr kumimoji="1" lang="en-US" altLang="zh-CN" dirty="0"/>
              <a:t>NameNode</a:t>
            </a:r>
            <a:r>
              <a:rPr kumimoji="1" lang="zh-CN" altLang="en-US" dirty="0"/>
              <a:t>是否需要</a:t>
            </a:r>
            <a:r>
              <a:rPr kumimoji="1" lang="en-US" altLang="zh-CN" dirty="0" err="1"/>
              <a:t>CheckPoint</a:t>
            </a:r>
            <a:r>
              <a:rPr kumimoji="1" lang="zh-CN" altLang="en-US" dirty="0"/>
              <a:t>（触发</a:t>
            </a:r>
            <a:r>
              <a:rPr kumimoji="1" lang="en-US" altLang="zh-CN" dirty="0" err="1"/>
              <a:t>CheckPoint</a:t>
            </a:r>
            <a:r>
              <a:rPr kumimoji="1" lang="zh-CN" altLang="en-US" dirty="0"/>
              <a:t>需要满足两个条件中的任意一个，定时时间到和</a:t>
            </a:r>
            <a:r>
              <a:rPr kumimoji="1" lang="en-US" altLang="zh-CN" dirty="0"/>
              <a:t>Edits</a:t>
            </a:r>
            <a:r>
              <a:rPr kumimoji="1" lang="zh-CN" altLang="en-US" dirty="0"/>
              <a:t>中数据写满了）</a:t>
            </a:r>
          </a:p>
          <a:p>
            <a:pPr lvl="1" algn="just">
              <a:lnSpc>
                <a:spcPct val="120000"/>
              </a:lnSpc>
            </a:pPr>
            <a:r>
              <a:rPr kumimoji="1" lang="zh-CN" altLang="en-US" dirty="0"/>
              <a:t>（</a:t>
            </a:r>
            <a:r>
              <a:rPr kumimoji="1" lang="en-US" altLang="zh-CN" dirty="0"/>
              <a:t>2</a:t>
            </a:r>
            <a:r>
              <a:rPr kumimoji="1" lang="zh-CN" altLang="en-US" dirty="0"/>
              <a:t>）</a:t>
            </a:r>
            <a:r>
              <a:rPr kumimoji="1" lang="en-US" altLang="zh-CN" dirty="0" err="1"/>
              <a:t>SecondaryNameNode</a:t>
            </a:r>
            <a:r>
              <a:rPr kumimoji="1" lang="zh-CN" altLang="en-US" dirty="0"/>
              <a:t>执行</a:t>
            </a:r>
            <a:r>
              <a:rPr kumimoji="1" lang="en-US" altLang="zh-CN" dirty="0" err="1"/>
              <a:t>CheckPoint</a:t>
            </a:r>
            <a:r>
              <a:rPr kumimoji="1" lang="zh-CN" altLang="en-US" dirty="0"/>
              <a:t>操作</a:t>
            </a:r>
          </a:p>
          <a:p>
            <a:pPr lvl="1" algn="just">
              <a:lnSpc>
                <a:spcPct val="120000"/>
              </a:lnSpc>
            </a:pPr>
            <a:r>
              <a:rPr kumimoji="1" lang="zh-CN" altLang="en-US" dirty="0"/>
              <a:t>（</a:t>
            </a:r>
            <a:r>
              <a:rPr kumimoji="1" lang="en-US" altLang="zh-CN" dirty="0"/>
              <a:t>3</a:t>
            </a:r>
            <a:r>
              <a:rPr kumimoji="1" lang="zh-CN" altLang="en-US" dirty="0"/>
              <a:t>）首先会让</a:t>
            </a:r>
            <a:r>
              <a:rPr kumimoji="1" lang="en-US" altLang="zh-CN" dirty="0"/>
              <a:t>NameNode</a:t>
            </a:r>
            <a:r>
              <a:rPr kumimoji="1" lang="zh-CN" altLang="en-US" dirty="0"/>
              <a:t>给正在写的</a:t>
            </a:r>
            <a:r>
              <a:rPr kumimoji="1" lang="en-US" altLang="zh-CN" dirty="0"/>
              <a:t>Edits</a:t>
            </a:r>
            <a:r>
              <a:rPr kumimoji="1" lang="zh-CN" altLang="en-US" dirty="0"/>
              <a:t>打标记，并生成一个新的空的</a:t>
            </a:r>
            <a:r>
              <a:rPr kumimoji="1" lang="en-US" altLang="zh-CN" dirty="0" err="1"/>
              <a:t>edits_inprogress</a:t>
            </a:r>
            <a:r>
              <a:rPr kumimoji="1" lang="zh-CN" altLang="en-US" dirty="0"/>
              <a:t>文件，以后所有新的操作都写入</a:t>
            </a:r>
            <a:r>
              <a:rPr kumimoji="1" lang="en-US" altLang="zh-CN" dirty="0" err="1"/>
              <a:t>edits_inprogress</a:t>
            </a:r>
            <a:endParaRPr kumimoji="1" lang="zh-CN" altLang="en-US" dirty="0"/>
          </a:p>
          <a:p>
            <a:pPr lvl="1" algn="just">
              <a:lnSpc>
                <a:spcPct val="120000"/>
              </a:lnSpc>
            </a:pPr>
            <a:r>
              <a:rPr kumimoji="1" lang="zh-CN" altLang="en-US" dirty="0"/>
              <a:t>（</a:t>
            </a:r>
            <a:r>
              <a:rPr kumimoji="1" lang="en-US" altLang="zh-CN" dirty="0"/>
              <a:t>4</a:t>
            </a:r>
            <a:r>
              <a:rPr kumimoji="1" lang="zh-CN" altLang="en-US" dirty="0"/>
              <a:t>）其他未合并的</a:t>
            </a:r>
            <a:r>
              <a:rPr kumimoji="1" lang="en-US" altLang="zh-CN" dirty="0"/>
              <a:t>Edits</a:t>
            </a:r>
            <a:r>
              <a:rPr kumimoji="1" lang="zh-CN" altLang="en-US" dirty="0"/>
              <a:t>和</a:t>
            </a:r>
            <a:r>
              <a:rPr kumimoji="1" lang="en-US" altLang="zh-CN" dirty="0" err="1"/>
              <a:t>Fsimage</a:t>
            </a:r>
            <a:r>
              <a:rPr kumimoji="1" lang="zh-CN" altLang="en-US" dirty="0"/>
              <a:t>会拷贝到</a:t>
            </a:r>
            <a:r>
              <a:rPr kumimoji="1" lang="en-US" altLang="zh-CN" dirty="0" err="1"/>
              <a:t>SecondaryNameNode</a:t>
            </a:r>
            <a:r>
              <a:rPr kumimoji="1" lang="zh-CN" altLang="en-US" dirty="0"/>
              <a:t>的本地</a:t>
            </a:r>
          </a:p>
        </p:txBody>
      </p:sp>
    </p:spTree>
    <p:extLst>
      <p:ext uri="{BB962C8B-B14F-4D97-AF65-F5344CB8AC3E}">
        <p14:creationId xmlns:p14="http://schemas.microsoft.com/office/powerpoint/2010/main" val="10462717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AC416C-D88F-EF4B-AA32-5613425BC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Hadoop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4F34CD6-C4F2-1E45-9B7E-02BD8BA944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0200"/>
            <a:ext cx="7620000" cy="5105400"/>
          </a:xfrm>
        </p:spPr>
        <p:txBody>
          <a:bodyPr>
            <a:normAutofit fontScale="77500" lnSpcReduction="20000"/>
          </a:bodyPr>
          <a:lstStyle/>
          <a:p>
            <a:pPr algn="just">
              <a:lnSpc>
                <a:spcPct val="120000"/>
              </a:lnSpc>
            </a:pPr>
            <a:r>
              <a:rPr kumimoji="1" lang="en-US" altLang="zh-CN" dirty="0"/>
              <a:t>Secondary Name Node(SN)</a:t>
            </a:r>
          </a:p>
          <a:p>
            <a:pPr lvl="1" algn="just">
              <a:lnSpc>
                <a:spcPct val="120000"/>
              </a:lnSpc>
            </a:pPr>
            <a:r>
              <a:rPr lang="en-US" altLang="zh-CN" b="1" dirty="0"/>
              <a:t>Secondary Name Node</a:t>
            </a:r>
            <a:r>
              <a:rPr lang="zh-CN" altLang="en-US" b="1" dirty="0"/>
              <a:t>的作用就是帮助</a:t>
            </a:r>
            <a:r>
              <a:rPr lang="en-US" altLang="zh-CN" b="1" dirty="0"/>
              <a:t>NameNode</a:t>
            </a:r>
            <a:r>
              <a:rPr lang="zh-CN" altLang="en-US" b="1" dirty="0"/>
              <a:t>进行</a:t>
            </a:r>
            <a:r>
              <a:rPr lang="en-US" altLang="zh-CN" b="1" dirty="0"/>
              <a:t>Edits</a:t>
            </a:r>
            <a:r>
              <a:rPr lang="zh-CN" altLang="en-US" b="1" dirty="0"/>
              <a:t>和</a:t>
            </a:r>
            <a:r>
              <a:rPr lang="en-US" altLang="zh-CN" b="1" dirty="0"/>
              <a:t>FsImage</a:t>
            </a:r>
            <a:r>
              <a:rPr lang="zh-CN" altLang="en-US" b="1" dirty="0"/>
              <a:t>的合并工作</a:t>
            </a:r>
            <a:endParaRPr lang="en-US" altLang="zh-CN" b="1" dirty="0"/>
          </a:p>
          <a:p>
            <a:pPr lvl="1" algn="just">
              <a:lnSpc>
                <a:spcPct val="120000"/>
              </a:lnSpc>
            </a:pPr>
            <a:r>
              <a:rPr kumimoji="1" lang="zh-CN" altLang="en-US" dirty="0"/>
              <a:t>（</a:t>
            </a:r>
            <a:r>
              <a:rPr kumimoji="1" lang="en-US" altLang="zh-CN" dirty="0"/>
              <a:t>5</a:t>
            </a:r>
            <a:r>
              <a:rPr kumimoji="1" lang="zh-CN" altLang="en-US" dirty="0"/>
              <a:t>）在</a:t>
            </a:r>
            <a:r>
              <a:rPr kumimoji="1" lang="en-US" altLang="zh-CN" dirty="0" err="1"/>
              <a:t>SecondaryNameNode</a:t>
            </a:r>
            <a:r>
              <a:rPr kumimoji="1" lang="en-US" altLang="zh-CN" dirty="0"/>
              <a:t> </a:t>
            </a:r>
            <a:r>
              <a:rPr kumimoji="1" lang="zh-CN" altLang="en-US" dirty="0"/>
              <a:t>上将拷贝的</a:t>
            </a:r>
            <a:r>
              <a:rPr kumimoji="1" lang="en-US" altLang="zh-CN" dirty="0"/>
              <a:t>Edits</a:t>
            </a:r>
            <a:r>
              <a:rPr kumimoji="1" lang="zh-CN" altLang="en-US" dirty="0"/>
              <a:t>和</a:t>
            </a:r>
            <a:r>
              <a:rPr kumimoji="1" lang="en-US" altLang="zh-CN" dirty="0" err="1"/>
              <a:t>Fsimage</a:t>
            </a:r>
            <a:r>
              <a:rPr kumimoji="1" lang="zh-CN" altLang="en-US" dirty="0"/>
              <a:t>加载到内存中进行合并</a:t>
            </a:r>
          </a:p>
          <a:p>
            <a:pPr lvl="1" algn="just">
              <a:lnSpc>
                <a:spcPct val="120000"/>
              </a:lnSpc>
            </a:pPr>
            <a:r>
              <a:rPr kumimoji="1" lang="zh-CN" altLang="en-US" dirty="0"/>
              <a:t>（</a:t>
            </a:r>
            <a:r>
              <a:rPr kumimoji="1" lang="en-US" altLang="zh-CN" dirty="0"/>
              <a:t>6</a:t>
            </a:r>
            <a:r>
              <a:rPr kumimoji="1" lang="zh-CN" altLang="en-US" dirty="0"/>
              <a:t>）生成新的</a:t>
            </a:r>
            <a:r>
              <a:rPr kumimoji="1" lang="en-US" altLang="zh-CN" dirty="0" err="1"/>
              <a:t>fsimage.chkpoint</a:t>
            </a:r>
            <a:r>
              <a:rPr kumimoji="1" lang="zh-CN" altLang="en-US" dirty="0"/>
              <a:t>文件，包含上一步合并的数据信息</a:t>
            </a:r>
          </a:p>
          <a:p>
            <a:pPr lvl="1" algn="just">
              <a:lnSpc>
                <a:spcPct val="120000"/>
              </a:lnSpc>
            </a:pPr>
            <a:r>
              <a:rPr kumimoji="1" lang="zh-CN" altLang="en-US" dirty="0"/>
              <a:t>将</a:t>
            </a:r>
            <a:r>
              <a:rPr kumimoji="1" lang="en-US" altLang="zh-CN" dirty="0" err="1"/>
              <a:t>fsimage.chkpoint</a:t>
            </a:r>
            <a:r>
              <a:rPr kumimoji="1" lang="zh-CN" altLang="en-US" dirty="0"/>
              <a:t>拷贝给</a:t>
            </a:r>
            <a:r>
              <a:rPr kumimoji="1" lang="en-US" altLang="zh-CN" dirty="0"/>
              <a:t>NameNode</a:t>
            </a:r>
          </a:p>
          <a:p>
            <a:pPr lvl="1" algn="just">
              <a:lnSpc>
                <a:spcPct val="120000"/>
              </a:lnSpc>
            </a:pPr>
            <a:r>
              <a:rPr kumimoji="1" lang="zh-CN" altLang="en-US" dirty="0"/>
              <a:t>（</a:t>
            </a:r>
            <a:r>
              <a:rPr kumimoji="1" lang="en-US" altLang="zh-CN" dirty="0"/>
              <a:t>7</a:t>
            </a:r>
            <a:r>
              <a:rPr kumimoji="1" lang="zh-CN" altLang="en-US" dirty="0"/>
              <a:t>）在</a:t>
            </a:r>
            <a:r>
              <a:rPr kumimoji="1" lang="en-US" altLang="zh-CN" dirty="0"/>
              <a:t>NameNode</a:t>
            </a:r>
            <a:r>
              <a:rPr kumimoji="1" lang="zh-CN" altLang="en-US" dirty="0"/>
              <a:t>上将</a:t>
            </a:r>
            <a:r>
              <a:rPr kumimoji="1" lang="en-US" altLang="zh-CN" dirty="0" err="1"/>
              <a:t>fsimage.chkpoint</a:t>
            </a:r>
            <a:r>
              <a:rPr kumimoji="1" lang="zh-CN" altLang="en-US" dirty="0"/>
              <a:t>重命名为</a:t>
            </a:r>
            <a:r>
              <a:rPr kumimoji="1" lang="en-US" altLang="zh-CN" dirty="0" err="1"/>
              <a:t>Fsimage</a:t>
            </a:r>
            <a:r>
              <a:rPr kumimoji="1" lang="zh-CN" altLang="en-US" dirty="0"/>
              <a:t>后替换掉原来的</a:t>
            </a:r>
            <a:r>
              <a:rPr kumimoji="1" lang="en-US" altLang="zh-CN" dirty="0" err="1"/>
              <a:t>Fsimage</a:t>
            </a:r>
            <a:endParaRPr kumimoji="1" lang="en-US" altLang="zh-CN" dirty="0"/>
          </a:p>
          <a:p>
            <a:pPr lvl="1" algn="just">
              <a:lnSpc>
                <a:spcPct val="120000"/>
              </a:lnSpc>
            </a:pPr>
            <a:r>
              <a:rPr kumimoji="1" lang="zh-CN" altLang="en-US" dirty="0"/>
              <a:t>（</a:t>
            </a:r>
            <a:r>
              <a:rPr kumimoji="1" lang="en-US" altLang="zh-CN" dirty="0"/>
              <a:t>8</a:t>
            </a:r>
            <a:r>
              <a:rPr kumimoji="1" lang="zh-CN" altLang="en-US" dirty="0"/>
              <a:t>）</a:t>
            </a:r>
            <a:r>
              <a:rPr kumimoji="1" lang="en-US" altLang="zh-CN" dirty="0"/>
              <a:t>NameNode</a:t>
            </a:r>
            <a:r>
              <a:rPr kumimoji="1" lang="zh-CN" altLang="en-US" dirty="0"/>
              <a:t>在启动时就只需要加载之前未合并的</a:t>
            </a:r>
            <a:r>
              <a:rPr kumimoji="1" lang="en-US" altLang="zh-CN" dirty="0"/>
              <a:t>Edits</a:t>
            </a:r>
            <a:r>
              <a:rPr kumimoji="1" lang="zh-CN" altLang="en-US" dirty="0"/>
              <a:t>和</a:t>
            </a:r>
            <a:r>
              <a:rPr kumimoji="1" lang="en-US" altLang="zh-CN" dirty="0" err="1"/>
              <a:t>Fsimage</a:t>
            </a:r>
            <a:r>
              <a:rPr kumimoji="1" lang="zh-CN" altLang="en-US" dirty="0"/>
              <a:t>即可，因为合并过的</a:t>
            </a:r>
            <a:r>
              <a:rPr kumimoji="1" lang="en-US" altLang="zh-CN" dirty="0"/>
              <a:t>Edits</a:t>
            </a:r>
            <a:r>
              <a:rPr kumimoji="1" lang="zh-CN" altLang="en-US" dirty="0"/>
              <a:t>中的元数据信息已经被记录在</a:t>
            </a:r>
            <a:r>
              <a:rPr kumimoji="1" lang="en-US" altLang="zh-CN" dirty="0" err="1"/>
              <a:t>Fsimage</a:t>
            </a:r>
            <a:r>
              <a:rPr kumimoji="1" lang="zh-CN" altLang="en-US" dirty="0"/>
              <a:t>中</a:t>
            </a:r>
            <a:endParaRPr kumimoji="1" lang="en-US" altLang="zh-CN" dirty="0"/>
          </a:p>
          <a:p>
            <a:pPr algn="just">
              <a:lnSpc>
                <a:spcPct val="120000"/>
              </a:lnSpc>
            </a:pP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7381855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AC416C-D88F-EF4B-AA32-5613425BC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pause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4F34CD6-C4F2-1E45-9B7E-02BD8BA944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0200"/>
            <a:ext cx="7620000" cy="5105400"/>
          </a:xfrm>
        </p:spPr>
        <p:txBody>
          <a:bodyPr>
            <a:normAutofit/>
          </a:bodyPr>
          <a:lstStyle/>
          <a:p>
            <a:endParaRPr kumimoji="1" lang="zh-CN" altLang="en-US" dirty="0"/>
          </a:p>
        </p:txBody>
      </p:sp>
      <p:pic>
        <p:nvPicPr>
          <p:cNvPr id="5" name="Picture 4" descr="https://gimg2.baidu.com/image_search/src=http%3A%2F%2Fpic.51yuansu.com%2Fpic3%2Fcover%2F03%2F46%2F97%2F5bab68eb6b4a1_610.jpg&amp;refer=http%3A%2F%2Fpic.51yuansu.com&amp;app=2002&amp;size=f9999,10000&amp;q=a80&amp;n=0&amp;g=0n&amp;fmt=jpeg?sec=1636806551&amp;t=fce412286299fb8c7d98cdbcbd681ecd">
            <a:extLst>
              <a:ext uri="{FF2B5EF4-FFF2-40B4-BE49-F238E27FC236}">
                <a16:creationId xmlns:a16="http://schemas.microsoft.com/office/drawing/2014/main" id="{9C57BCF5-0A3D-43CF-8558-15C23E8AD8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1676400"/>
            <a:ext cx="5105400" cy="5205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6509032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MapReduce</a:t>
            </a:r>
            <a:r>
              <a:rPr lang="zh-CN" altLang="en-US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执行引擎</a:t>
            </a:r>
            <a:endParaRPr lang="en-US" altLang="zh-CN" sz="18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266700" algn="just"/>
            <a:r>
              <a:rPr lang="en-US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MapReduce</a:t>
            </a:r>
            <a:r>
              <a:rPr lang="zh-CN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执行引擎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运行在分布式文件系统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HDFS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之上，它包括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JobTracker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TaskTracker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两个主要的组成部分，分别运行在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NameNode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DataNode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上</a:t>
            </a:r>
            <a:endParaRPr lang="en-US" altLang="zh-CN" sz="18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用户提交的数据处理请求，</a:t>
            </a:r>
            <a:r>
              <a:rPr lang="zh-CN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称为一个作业</a:t>
            </a:r>
            <a:r>
              <a:rPr lang="en-US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(Job)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，由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JobTracker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分解为数据处理任务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(Task)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，分发给集群里的相关节点上的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TaskTracker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运行。</a:t>
            </a:r>
            <a:endParaRPr lang="en-US" altLang="zh-CN" sz="18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客户端程序把作业提交给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JobTracker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以后，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JobTracker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把数据处理任务，发送给整个集群各个节点的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TaskTracker</a:t>
            </a:r>
            <a:endParaRPr lang="en-US" altLang="zh-CN" sz="18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/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 fontScale="90000"/>
          </a:bodyPr>
          <a:lstStyle/>
          <a:p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Hadoop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入门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F99FC29-2B5E-4962-9F7A-1CC9C9AAEF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8400" y="4038600"/>
            <a:ext cx="3962400" cy="2629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661157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MapReduce</a:t>
            </a:r>
            <a:r>
              <a:rPr lang="zh-CN" altLang="en-US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执行引擎</a:t>
            </a:r>
            <a:endParaRPr lang="en-US" altLang="zh-CN" sz="18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266700" algn="just"/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在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HDFS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里，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JobTracker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通过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HDFS NameNode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，知道哪些节点包含将要处理的各个数据块，也就是它了解数据块的存放位置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(Location)</a:t>
            </a:r>
            <a:endParaRPr lang="en-US" altLang="zh-CN" sz="18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如果任务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(Task)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不能发送到数据块所在的节点，比如因为该节点目前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Task Slot(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任务槽，即每个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TaskTracker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可以运行的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task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数量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已经用完，那么系统优先把任务推送到同一机架里的其它节点，该节点保留了数据块的另外一个副本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(Replica)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 fontScale="90000"/>
          </a:bodyPr>
          <a:lstStyle/>
          <a:p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Hadoop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入门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F99FC29-2B5E-4962-9F7A-1CC9C9AAEF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8400" y="4038600"/>
            <a:ext cx="3962400" cy="2629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718252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MapReduce</a:t>
            </a:r>
            <a:r>
              <a:rPr lang="zh-CN" altLang="en-US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执行引擎</a:t>
            </a:r>
            <a:endParaRPr lang="en-US" altLang="zh-CN" sz="18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266700" algn="just"/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如果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TaskTracker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失败或者运行超时，它负责的任务被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JobTracker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重新调度到其它的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TaskTracker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上</a:t>
            </a:r>
            <a:endParaRPr lang="en-US" altLang="zh-CN" sz="18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在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TaskTracker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运行过程中，它向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JobTracker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每隔几分钟发送一个心跳信号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(Heart Beat)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，以便报告它的存活状态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 fontScale="90000"/>
          </a:bodyPr>
          <a:lstStyle/>
          <a:p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Hadoop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入门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F99FC29-2B5E-4962-9F7A-1CC9C9AAEF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8400" y="4038600"/>
            <a:ext cx="3962400" cy="2629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20165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MapReduce</a:t>
            </a:r>
            <a:r>
              <a:rPr lang="zh-CN" altLang="en-US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执行引擎</a:t>
            </a:r>
            <a:endParaRPr lang="en-US" altLang="zh-CN" sz="18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266700" algn="just"/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被分配了任务的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TaskTracker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从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HDFS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文件系统中取出所需的文件，包括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JAR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程序文件和任务相应的数据文件，存入本地磁盘，并启动一个</a:t>
            </a:r>
            <a:r>
              <a:rPr lang="en-US" altLang="zh-CN" sz="1800" dirty="0" err="1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TaskRunner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程序实例准备执行任务。</a:t>
            </a:r>
            <a:endParaRPr lang="zh-CN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TaskRunner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在一个新的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Java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虚拟机中依据任务类型创建出</a:t>
            </a:r>
            <a:r>
              <a:rPr lang="en-US" altLang="zh-CN" sz="1800" dirty="0" err="1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MapTask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或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ReduceTask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进行运算</a:t>
            </a:r>
            <a:endParaRPr lang="en-US" altLang="zh-CN" sz="18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indent="266700" algn="just"/>
            <a:r>
              <a:rPr lang="zh-CN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在新的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Java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虚拟机中执行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MapTask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ReduceTask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的原因，是避免这些任务的执行异常影响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TaskTracker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的正常执行。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MapTask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ReduceTask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会定时与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TaskRunner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进行通信报告进度，直到任务完毕。</a:t>
            </a:r>
            <a:endParaRPr lang="en-US" altLang="zh-CN" sz="14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每一个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TaskTracker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节点可执行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Map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任务和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Reduce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任务的数量也是有限的，即每一个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TaskTracker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有两个固定数量的任务槽，分别响应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Map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任务和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Reduce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任务</a:t>
            </a:r>
            <a:endParaRPr lang="en-US" altLang="zh-CN" sz="18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indent="266700" algn="just"/>
            <a:r>
              <a:rPr lang="zh-CN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在进行任务分配时，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JobTracker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优先填满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TaskTracker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Map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任务槽，即只要有空暇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Map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任务槽，就分配一个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Map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任务，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Map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任务槽满了之后，才分配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Reduce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任务</a:t>
            </a:r>
            <a:endParaRPr lang="en-US" altLang="zh-CN" sz="14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indent="266700" algn="just"/>
            <a:r>
              <a:rPr lang="zh-CN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注意，一个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MapReduce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作业的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Map Tasks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Reduce Tasks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有先后依赖关系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 fontScale="90000"/>
          </a:bodyPr>
          <a:lstStyle/>
          <a:p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Hadoop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入门</a:t>
            </a:r>
          </a:p>
        </p:txBody>
      </p:sp>
    </p:spTree>
    <p:extLst>
      <p:ext uri="{BB962C8B-B14F-4D97-AF65-F5344CB8AC3E}">
        <p14:creationId xmlns:p14="http://schemas.microsoft.com/office/powerpoint/2010/main" val="71928753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AC416C-D88F-EF4B-AA32-5613425BC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pause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4F34CD6-C4F2-1E45-9B7E-02BD8BA944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0200"/>
            <a:ext cx="7620000" cy="5105400"/>
          </a:xfrm>
        </p:spPr>
        <p:txBody>
          <a:bodyPr>
            <a:normAutofit/>
          </a:bodyPr>
          <a:lstStyle/>
          <a:p>
            <a:endParaRPr kumimoji="1" lang="zh-CN" altLang="en-US" dirty="0"/>
          </a:p>
        </p:txBody>
      </p:sp>
      <p:pic>
        <p:nvPicPr>
          <p:cNvPr id="5" name="Picture 4" descr="https://gimg2.baidu.com/image_search/src=http%3A%2F%2Fpic.51yuansu.com%2Fpic3%2Fcover%2F03%2F46%2F97%2F5bab68eb6b4a1_610.jpg&amp;refer=http%3A%2F%2Fpic.51yuansu.com&amp;app=2002&amp;size=f9999,10000&amp;q=a80&amp;n=0&amp;g=0n&amp;fmt=jpeg?sec=1636806551&amp;t=fce412286299fb8c7d98cdbcbd681ecd">
            <a:extLst>
              <a:ext uri="{FF2B5EF4-FFF2-40B4-BE49-F238E27FC236}">
                <a16:creationId xmlns:a16="http://schemas.microsoft.com/office/drawing/2014/main" id="{9C57BCF5-0A3D-43CF-8558-15C23E8AD8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1676400"/>
            <a:ext cx="5105400" cy="5205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658276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MapReduce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计算模型</a:t>
            </a:r>
            <a:endParaRPr lang="en-US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algn="just"/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MapReduce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并行编程模型把计算过程分解为两个主要阶段，</a:t>
            </a:r>
            <a:r>
              <a:rPr lang="zh-CN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即</a:t>
            </a:r>
            <a:r>
              <a:rPr lang="en-US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Map </a:t>
            </a:r>
            <a:r>
              <a:rPr lang="zh-CN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阶段和</a:t>
            </a:r>
            <a:r>
              <a:rPr lang="en-US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Reduce </a:t>
            </a:r>
            <a:r>
              <a:rPr lang="zh-CN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阶段</a:t>
            </a:r>
            <a:endParaRPr lang="en-US" altLang="zh-CN" sz="1400" dirty="0">
              <a:solidFill>
                <a:srgbClr val="C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 fontScale="90000"/>
          </a:bodyPr>
          <a:lstStyle/>
          <a:p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Hadoop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入门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ACC0679-7693-424C-88D8-E7A50B1B26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400" y="2819400"/>
            <a:ext cx="6096000" cy="3151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062615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 fontScale="92500" lnSpcReduction="10000"/>
          </a:bodyPr>
          <a:lstStyle/>
          <a:p>
            <a:pPr algn="just">
              <a:lnSpc>
                <a:spcPct val="110000"/>
              </a:lnSpc>
            </a:pPr>
            <a:r>
              <a:rPr lang="en-US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MapReduce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计算模型</a:t>
            </a:r>
            <a:endParaRPr lang="en-US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algn="just">
              <a:lnSpc>
                <a:spcPct val="110000"/>
              </a:lnSpc>
            </a:pP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MapReduce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并行编程模型把计算过程分解为两个主要阶段，即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Map 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阶段和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Reduce 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阶段</a:t>
            </a:r>
            <a:endParaRPr lang="en-US" altLang="zh-CN" sz="18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algn="just">
              <a:lnSpc>
                <a:spcPct val="110000"/>
              </a:lnSpc>
            </a:pP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首先，保存在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HDFS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里的文件即数据源，已经进行分块。这些数据块交给多个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Map 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任务去执行，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Map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任务执行</a:t>
            </a:r>
            <a:r>
              <a:rPr lang="en-US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Map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函数，根据特定规则对数据进行处理，写入本地硬盘</a:t>
            </a:r>
            <a:endParaRPr lang="en-US" altLang="zh-CN" sz="18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algn="just">
              <a:lnSpc>
                <a:spcPct val="110000"/>
              </a:lnSpc>
            </a:pP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Map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阶段完成后，进入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Reduce 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阶段，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Reduce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任务执行</a:t>
            </a:r>
            <a:r>
              <a:rPr lang="en-US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Reduce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函数，具有同样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Key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值的中间结果，从多个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Map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任务所在的节点，被收集到一起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Shuffle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进行约减处理，输出结果写入本地硬盘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分布式文件系统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en-US" altLang="zh-CN" sz="18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algn="just">
              <a:lnSpc>
                <a:spcPct val="110000"/>
              </a:lnSpc>
            </a:pP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程序的最终结果，可以通过合并所有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Reduce 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任务的输出得到。需要注意的是，输入数据、中间结果、以及最终结果，都是以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&lt;Key, Value&gt;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的格式保存到分布式文件系统中，即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HDFS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中</a:t>
            </a:r>
            <a:endParaRPr lang="en-US" altLang="zh-CN" sz="18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2" algn="just">
              <a:lnSpc>
                <a:spcPct val="110000"/>
              </a:lnSpc>
            </a:pPr>
            <a:r>
              <a:rPr lang="en-US" altLang="zh-CN" sz="14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Map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函数处理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&lt;Key, Value&gt;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对，产生一系列的中间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&lt;Key, Value&gt;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对</a:t>
            </a:r>
            <a:endParaRPr lang="en-US" altLang="zh-CN" sz="14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2" algn="just">
              <a:lnSpc>
                <a:spcPct val="110000"/>
              </a:lnSpc>
            </a:pPr>
            <a:r>
              <a:rPr lang="en-US" altLang="zh-CN" sz="14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Reduce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函数用来合并所有具有相同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Key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值的中间键值对，计算最终结果</a:t>
            </a:r>
            <a:endParaRPr lang="en-US" altLang="zh-CN" sz="14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2" algn="just">
              <a:lnSpc>
                <a:spcPct val="110000"/>
              </a:lnSpc>
            </a:pP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MapReduce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计算模型，可以形式化地表达成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Map: &lt;k1, v1&gt; -&gt; list&lt;k2,v2&gt;, Reduce: &lt;k2, list(v2)&gt; -&gt;list&lt;k3, v3&gt;</a:t>
            </a:r>
            <a:endParaRPr lang="zh-CN" altLang="en-US" sz="8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 fontScale="90000"/>
          </a:bodyPr>
          <a:lstStyle/>
          <a:p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Hadoop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入门</a:t>
            </a:r>
          </a:p>
        </p:txBody>
      </p:sp>
    </p:spTree>
    <p:extLst>
      <p:ext uri="{BB962C8B-B14F-4D97-AF65-F5344CB8AC3E}">
        <p14:creationId xmlns:p14="http://schemas.microsoft.com/office/powerpoint/2010/main" val="41289526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MapReduce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计算模型</a:t>
            </a:r>
            <a:endParaRPr lang="en-US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algn="just"/>
            <a:r>
              <a:rPr lang="en-US" altLang="zh-CN" sz="1700" dirty="0" err="1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WordCount</a:t>
            </a:r>
            <a:r>
              <a:rPr lang="zh-CN" altLang="zh-CN" sz="17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实例</a:t>
            </a:r>
            <a:endParaRPr lang="en-US" altLang="zh-CN" sz="1700" dirty="0">
              <a:solidFill>
                <a:srgbClr val="C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algn="just"/>
            <a:r>
              <a:rPr lang="en-US" altLang="zh-CN" sz="17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Map</a:t>
            </a:r>
            <a:r>
              <a:rPr lang="zh-CN" altLang="zh-CN" sz="17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函数的功能是，对文件块出现的每个单词，输出</a:t>
            </a:r>
            <a:r>
              <a:rPr lang="en-US" altLang="zh-CN" sz="17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zh-CN" altLang="zh-CN" sz="17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单词</a:t>
            </a:r>
            <a:r>
              <a:rPr lang="en-US" altLang="zh-CN" sz="17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,1&gt;</a:t>
            </a:r>
            <a:r>
              <a:rPr lang="zh-CN" altLang="zh-CN" sz="17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的键值对</a:t>
            </a:r>
            <a:endParaRPr lang="en-US" altLang="zh-CN" sz="17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algn="just"/>
            <a:r>
              <a:rPr lang="en-US" altLang="zh-CN" sz="17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Reduce</a:t>
            </a:r>
            <a:r>
              <a:rPr lang="zh-CN" altLang="zh-CN" sz="17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函数，则把各个</a:t>
            </a:r>
            <a:r>
              <a:rPr lang="en-US" altLang="zh-CN" sz="17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Map</a:t>
            </a:r>
            <a:r>
              <a:rPr lang="zh-CN" altLang="zh-CN" sz="17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函数输出的结果，按照单词进行分组，统计其出现的次数</a:t>
            </a:r>
            <a:endParaRPr lang="en-US" altLang="zh-CN" sz="17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/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 fontScale="90000"/>
          </a:bodyPr>
          <a:lstStyle/>
          <a:p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Hadoop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入门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9BD3E6A-6673-4144-B9FA-E4CC8B430C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3124200"/>
            <a:ext cx="7467600" cy="2969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518491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MapReduce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计算模型</a:t>
            </a:r>
            <a:endParaRPr lang="en-US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/>
            <a:r>
              <a:rPr lang="zh-CN" altLang="en-US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总流程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 fontScale="90000"/>
          </a:bodyPr>
          <a:lstStyle/>
          <a:p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Hadoop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入门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55A860B-DBD2-4BA2-991D-8F5B1CC803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8957" y="2667000"/>
            <a:ext cx="7543800" cy="2903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669255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AC416C-D88F-EF4B-AA32-5613425BC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pause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4F34CD6-C4F2-1E45-9B7E-02BD8BA944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0200"/>
            <a:ext cx="7620000" cy="5105400"/>
          </a:xfrm>
        </p:spPr>
        <p:txBody>
          <a:bodyPr>
            <a:normAutofit/>
          </a:bodyPr>
          <a:lstStyle/>
          <a:p>
            <a:endParaRPr kumimoji="1" lang="zh-CN" altLang="en-US" dirty="0"/>
          </a:p>
        </p:txBody>
      </p:sp>
      <p:pic>
        <p:nvPicPr>
          <p:cNvPr id="5" name="Picture 4" descr="https://gimg2.baidu.com/image_search/src=http%3A%2F%2Fpic.51yuansu.com%2Fpic3%2Fcover%2F03%2F46%2F97%2F5bab68eb6b4a1_610.jpg&amp;refer=http%3A%2F%2Fpic.51yuansu.com&amp;app=2002&amp;size=f9999,10000&amp;q=a80&amp;n=0&amp;g=0n&amp;fmt=jpeg?sec=1636806551&amp;t=fce412286299fb8c7d98cdbcbd681ecd">
            <a:extLst>
              <a:ext uri="{FF2B5EF4-FFF2-40B4-BE49-F238E27FC236}">
                <a16:creationId xmlns:a16="http://schemas.microsoft.com/office/drawing/2014/main" id="{9C57BCF5-0A3D-43CF-8558-15C23E8AD8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1676400"/>
            <a:ext cx="5105400" cy="5205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5811051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AC416C-D88F-EF4B-AA32-5613425BC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Hadoop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4F34CD6-C4F2-1E45-9B7E-02BD8BA944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0200"/>
            <a:ext cx="7620000" cy="5105400"/>
          </a:xfrm>
        </p:spPr>
        <p:txBody>
          <a:bodyPr>
            <a:normAutofit/>
          </a:bodyPr>
          <a:lstStyle/>
          <a:p>
            <a:pPr algn="just"/>
            <a:r>
              <a:rPr kumimoji="1" lang="en-US" altLang="zh-CN" dirty="0">
                <a:solidFill>
                  <a:srgbClr val="C00000"/>
                </a:solidFill>
              </a:rPr>
              <a:t>MapReduce</a:t>
            </a:r>
            <a:r>
              <a:rPr kumimoji="1" lang="zh-CN" altLang="en-US" dirty="0">
                <a:solidFill>
                  <a:srgbClr val="C00000"/>
                </a:solidFill>
              </a:rPr>
              <a:t>计算模型的容错性</a:t>
            </a:r>
          </a:p>
          <a:p>
            <a:pPr lvl="1" algn="just"/>
            <a:r>
              <a:rPr kumimoji="1" lang="zh-CN" altLang="en-US" dirty="0"/>
              <a:t>其思路很简单，出问题的话，重做就是了</a:t>
            </a:r>
          </a:p>
          <a:p>
            <a:pPr lvl="1" algn="just"/>
            <a:r>
              <a:rPr kumimoji="1" lang="en-US" altLang="zh-CN" dirty="0"/>
              <a:t>Map</a:t>
            </a:r>
            <a:r>
              <a:rPr kumimoji="1" lang="zh-CN" altLang="en-US" dirty="0"/>
              <a:t>：重新执行</a:t>
            </a:r>
          </a:p>
          <a:p>
            <a:pPr lvl="1" algn="just"/>
            <a:r>
              <a:rPr kumimoji="1" lang="en-US" altLang="zh-CN" dirty="0"/>
              <a:t>Reduce</a:t>
            </a:r>
            <a:r>
              <a:rPr kumimoji="1" lang="zh-CN" altLang="en-US" dirty="0"/>
              <a:t>：重新执行</a:t>
            </a:r>
            <a:endParaRPr kumimoji="1" lang="en-US" altLang="zh-CN" dirty="0"/>
          </a:p>
          <a:p>
            <a:pPr lvl="2" algn="just"/>
            <a:r>
              <a:rPr kumimoji="1" lang="zh-CN" altLang="en-US" dirty="0"/>
              <a:t>重新执行的话，需要保存中间数据（</a:t>
            </a:r>
            <a:r>
              <a:rPr kumimoji="1" lang="en-US" altLang="zh-CN" dirty="0">
                <a:solidFill>
                  <a:srgbClr val="C00000"/>
                </a:solidFill>
              </a:rPr>
              <a:t>Map</a:t>
            </a:r>
            <a:r>
              <a:rPr kumimoji="1" lang="zh-CN" altLang="en-US" dirty="0">
                <a:solidFill>
                  <a:srgbClr val="C00000"/>
                </a:solidFill>
              </a:rPr>
              <a:t>阶段的中间结果存盘</a:t>
            </a:r>
            <a:r>
              <a:rPr kumimoji="1" lang="zh-CN" altLang="en-US" dirty="0"/>
              <a:t>）</a:t>
            </a:r>
          </a:p>
          <a:p>
            <a:pPr lvl="2" algn="just"/>
            <a:r>
              <a:rPr kumimoji="1" lang="en-US" altLang="zh-CN" dirty="0"/>
              <a:t>Reduce</a:t>
            </a:r>
            <a:r>
              <a:rPr kumimoji="1" lang="zh-CN" altLang="en-US" dirty="0"/>
              <a:t>不使用消息机制传递数据，否则</a:t>
            </a:r>
            <a:r>
              <a:rPr kumimoji="1" lang="en-US" altLang="zh-CN" dirty="0"/>
              <a:t>Reduce</a:t>
            </a:r>
            <a:r>
              <a:rPr kumimoji="1" lang="zh-CN" altLang="en-US" dirty="0"/>
              <a:t>一旦出问题，之前的取得的数据全部浪费了</a:t>
            </a:r>
          </a:p>
          <a:p>
            <a:pPr lvl="1" algn="just"/>
            <a:r>
              <a:rPr kumimoji="1" lang="en-US" altLang="zh-CN" dirty="0"/>
              <a:t>Map</a:t>
            </a:r>
            <a:r>
              <a:rPr kumimoji="1" lang="zh-CN" altLang="en-US" dirty="0"/>
              <a:t>和</a:t>
            </a:r>
            <a:r>
              <a:rPr kumimoji="1" lang="en-US" altLang="zh-CN" dirty="0"/>
              <a:t>Reduce</a:t>
            </a:r>
            <a:r>
              <a:rPr kumimoji="1" lang="zh-CN" altLang="en-US" dirty="0"/>
              <a:t>实现了异步读写，同时其容错也得到了保证</a:t>
            </a:r>
          </a:p>
        </p:txBody>
      </p:sp>
    </p:spTree>
    <p:extLst>
      <p:ext uri="{BB962C8B-B14F-4D97-AF65-F5344CB8AC3E}">
        <p14:creationId xmlns:p14="http://schemas.microsoft.com/office/powerpoint/2010/main" val="206609115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AC416C-D88F-EF4B-AA32-5613425BC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Hadoop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4F34CD6-C4F2-1E45-9B7E-02BD8BA944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295400"/>
            <a:ext cx="5181600" cy="5334000"/>
          </a:xfrm>
        </p:spPr>
        <p:txBody>
          <a:bodyPr>
            <a:noAutofit/>
          </a:bodyPr>
          <a:lstStyle/>
          <a:p>
            <a:pPr algn="just"/>
            <a:r>
              <a:rPr kumimoji="1" lang="en-US" altLang="zh-CN" sz="1800" dirty="0">
                <a:solidFill>
                  <a:srgbClr val="C00000"/>
                </a:solidFill>
              </a:rPr>
              <a:t>MapReduce</a:t>
            </a:r>
            <a:r>
              <a:rPr kumimoji="1" lang="zh-CN" altLang="en-US" sz="1800" dirty="0">
                <a:solidFill>
                  <a:srgbClr val="C00000"/>
                </a:solidFill>
              </a:rPr>
              <a:t>的某个</a:t>
            </a:r>
            <a:r>
              <a:rPr kumimoji="1" lang="en-US" altLang="zh-CN" sz="1800" dirty="0">
                <a:solidFill>
                  <a:srgbClr val="C00000"/>
                </a:solidFill>
              </a:rPr>
              <a:t>task</a:t>
            </a:r>
            <a:r>
              <a:rPr kumimoji="1" lang="zh-CN" altLang="en-US" sz="1800" dirty="0">
                <a:solidFill>
                  <a:srgbClr val="C00000"/>
                </a:solidFill>
              </a:rPr>
              <a:t>执行比较慢</a:t>
            </a:r>
            <a:r>
              <a:rPr kumimoji="1" lang="en-US" altLang="zh-CN" sz="1800" dirty="0">
                <a:solidFill>
                  <a:srgbClr val="C00000"/>
                </a:solidFill>
              </a:rPr>
              <a:t>straggler</a:t>
            </a:r>
          </a:p>
          <a:p>
            <a:pPr lvl="1" algn="just"/>
            <a:r>
              <a:rPr kumimoji="1" lang="zh-CN" altLang="en-US" sz="1800" dirty="0">
                <a:solidFill>
                  <a:srgbClr val="C00000"/>
                </a:solidFill>
              </a:rPr>
              <a:t>报告 </a:t>
            </a:r>
            <a:r>
              <a:rPr kumimoji="1" lang="en-US" altLang="zh-CN" sz="1800" dirty="0">
                <a:solidFill>
                  <a:srgbClr val="C00000"/>
                </a:solidFill>
              </a:rPr>
              <a:t>progress</a:t>
            </a:r>
          </a:p>
          <a:p>
            <a:pPr lvl="2" algn="just"/>
            <a:r>
              <a:rPr kumimoji="1" lang="zh-CN" altLang="en-US" sz="1800" dirty="0"/>
              <a:t>在</a:t>
            </a:r>
            <a:r>
              <a:rPr kumimoji="1" lang="en-US" altLang="zh-CN" sz="1800" dirty="0"/>
              <a:t>MapReduce</a:t>
            </a:r>
            <a:r>
              <a:rPr kumimoji="1" lang="zh-CN" altLang="en-US" sz="1800" dirty="0"/>
              <a:t>中，</a:t>
            </a:r>
            <a:r>
              <a:rPr kumimoji="1" lang="en-US" altLang="zh-CN" sz="1800" dirty="0" err="1"/>
              <a:t>TaskTracker</a:t>
            </a:r>
            <a:r>
              <a:rPr kumimoji="1" lang="zh-CN" altLang="en-US" sz="1800" dirty="0"/>
              <a:t>与</a:t>
            </a:r>
            <a:r>
              <a:rPr kumimoji="1" lang="en-US" altLang="zh-CN" sz="1800" dirty="0" err="1"/>
              <a:t>JobTracker</a:t>
            </a:r>
            <a:r>
              <a:rPr kumimoji="1" lang="zh-CN" altLang="en-US" sz="1800" dirty="0"/>
              <a:t>通过心跳进行通信</a:t>
            </a:r>
            <a:endParaRPr kumimoji="1" lang="en-US" altLang="zh-CN" sz="1800" dirty="0"/>
          </a:p>
          <a:p>
            <a:pPr lvl="2" algn="just"/>
            <a:r>
              <a:rPr kumimoji="1" lang="en-US" altLang="zh-CN" sz="1800" dirty="0" err="1"/>
              <a:t>TaskTracker</a:t>
            </a:r>
            <a:r>
              <a:rPr kumimoji="1" lang="zh-CN" altLang="en-US" sz="1800" dirty="0"/>
              <a:t>在每次心跳中携带关于自己所负责的任务以及所在节点的信息， </a:t>
            </a:r>
            <a:r>
              <a:rPr kumimoji="1" lang="en-US" altLang="zh-CN" sz="1800" dirty="0" err="1"/>
              <a:t>JobTracker</a:t>
            </a:r>
            <a:r>
              <a:rPr kumimoji="1" lang="zh-CN" altLang="en-US" sz="1800" dirty="0"/>
              <a:t>在心跳的回复中告诉</a:t>
            </a:r>
            <a:r>
              <a:rPr kumimoji="1" lang="en-US" altLang="zh-CN" sz="1800" dirty="0" err="1"/>
              <a:t>TaskTracker</a:t>
            </a:r>
            <a:r>
              <a:rPr kumimoji="1" lang="zh-CN" altLang="en-US" sz="1800" dirty="0"/>
              <a:t>接下来该进行的操作</a:t>
            </a:r>
            <a:endParaRPr kumimoji="1" lang="en-US" altLang="zh-CN" sz="1800" dirty="0"/>
          </a:p>
          <a:p>
            <a:pPr lvl="1" algn="just"/>
            <a:r>
              <a:rPr lang="zh-CN" altLang="en-US" sz="1800" dirty="0">
                <a:solidFill>
                  <a:srgbClr val="C00000"/>
                </a:solidFill>
              </a:rPr>
              <a:t>对一个任务启动备份执行实例</a:t>
            </a:r>
            <a:endParaRPr lang="en-US" altLang="zh-CN" sz="1800" dirty="0">
              <a:solidFill>
                <a:srgbClr val="C00000"/>
              </a:solidFill>
            </a:endParaRPr>
          </a:p>
          <a:p>
            <a:pPr lvl="2" algn="just"/>
            <a:r>
              <a:rPr lang="en-US" altLang="zh-CN" sz="1800" dirty="0"/>
              <a:t>MapReduce</a:t>
            </a:r>
            <a:r>
              <a:rPr lang="zh-CN" altLang="en-US" sz="1800" dirty="0"/>
              <a:t>早期的判断方法非常简单，就是如果一个任务的执行进度比所属作业的所有任务的平均进度慢</a:t>
            </a:r>
            <a:r>
              <a:rPr lang="en-US" altLang="zh-CN" sz="1800" dirty="0"/>
              <a:t>20%(</a:t>
            </a:r>
            <a:r>
              <a:rPr lang="zh-CN" altLang="en-US" sz="1800" dirty="0"/>
              <a:t>即下面代码的</a:t>
            </a:r>
            <a:r>
              <a:rPr lang="en-US" altLang="zh-CN" sz="1800" dirty="0"/>
              <a:t>SPECULATIVE_GAP)</a:t>
            </a:r>
            <a:r>
              <a:rPr lang="zh-CN" altLang="en-US" sz="1800" dirty="0"/>
              <a:t>，那么就认为该任务的进度过慢了</a:t>
            </a:r>
            <a:endParaRPr lang="en-US" altLang="zh-CN" sz="1800" dirty="0"/>
          </a:p>
          <a:p>
            <a:pPr lvl="2" algn="just"/>
            <a:r>
              <a:rPr lang="zh-CN" altLang="en-US" sz="1800" dirty="0"/>
              <a:t>对这两个运行实例，总体的处理原则就是，其中任意一个执行实例成功都代表该任务执行成功</a:t>
            </a:r>
            <a:endParaRPr lang="en-US" altLang="zh-CN" sz="1800" dirty="0"/>
          </a:p>
          <a:p>
            <a:pPr lvl="2" algn="just"/>
            <a:r>
              <a:rPr lang="zh-CN" altLang="en-US" sz="1800" dirty="0"/>
              <a:t>同时，需要立即杀死另一个正在执行的运行实例</a:t>
            </a:r>
            <a:endParaRPr kumimoji="1" lang="zh-CN" altLang="en-US" sz="1800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A97DA58-52B5-4B69-8C86-9307F62EEE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6561" y="2895600"/>
            <a:ext cx="3201507" cy="1683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685775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>
              <a:spcBef>
                <a:spcPts val="0"/>
              </a:spcBef>
            </a:pPr>
            <a:r>
              <a:rPr lang="en-US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Shuffle</a:t>
            </a:r>
            <a:endParaRPr lang="en-US" altLang="zh-CN" sz="1800" dirty="0">
              <a:solidFill>
                <a:srgbClr val="C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当我们查看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Terasort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16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MapReduce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应用程序的代码时，没有看到有关的排序功能。但是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Terasort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程序又能够对大规模的数据进行排序，这是为什么呢？这是由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Mapreduce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内部运行机制提供保证的。</a:t>
            </a:r>
            <a:endParaRPr lang="zh-CN" altLang="zh-CN" sz="16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每个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mapper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生成的数据首先缓存，缓存达到一定大小后，对数据进行排序，写入磁盘</a:t>
            </a:r>
            <a:endParaRPr lang="en-US" altLang="zh-CN" sz="16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一系列的磁盘小文件要进行合并，合并的过程，也保持数据的有序性</a:t>
            </a:r>
            <a:endParaRPr lang="en-US" altLang="zh-CN" sz="16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每个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mapper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的输出都划分为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份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(Segment)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，对应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个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Reducer task</a:t>
            </a:r>
          </a:p>
          <a:p>
            <a:pPr indent="266700" algn="just"/>
            <a:r>
              <a:rPr lang="zh-CN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对于每个</a:t>
            </a:r>
            <a:r>
              <a: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reducer</a:t>
            </a:r>
            <a:r>
              <a:rPr lang="zh-CN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，从所有</a:t>
            </a:r>
            <a:r>
              <a:rPr lang="en-US" altLang="zh-CN" sz="16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mappper</a:t>
            </a:r>
            <a:r>
              <a:rPr lang="zh-CN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接收应该由它处理的部分</a:t>
            </a:r>
            <a:r>
              <a: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(Segment)</a:t>
            </a:r>
            <a:r>
              <a:rPr lang="zh-CN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，这个过程称为</a:t>
            </a:r>
            <a:r>
              <a: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Shuffle</a:t>
            </a:r>
          </a:p>
          <a:p>
            <a:pPr indent="266700" algn="just"/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然后进行合并，合并的过程保持数据的有序性，即这是一个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Merge Sort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的过程</a:t>
            </a:r>
            <a:endParaRPr lang="zh-CN" altLang="zh-CN" sz="16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</a:pPr>
            <a:r>
              <a:rPr kumimoji="1"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Hadoop</a:t>
            </a:r>
            <a:endParaRPr kumimoji="1"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01FBA94-DE04-4EF7-9345-61162E233C0C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4572000"/>
            <a:ext cx="5715000" cy="213472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5627812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AC416C-D88F-EF4B-AA32-5613425BC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pause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4F34CD6-C4F2-1E45-9B7E-02BD8BA944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0200"/>
            <a:ext cx="7620000" cy="5105400"/>
          </a:xfrm>
        </p:spPr>
        <p:txBody>
          <a:bodyPr>
            <a:normAutofit/>
          </a:bodyPr>
          <a:lstStyle/>
          <a:p>
            <a:endParaRPr kumimoji="1" lang="zh-CN" altLang="en-US" dirty="0"/>
          </a:p>
        </p:txBody>
      </p:sp>
      <p:pic>
        <p:nvPicPr>
          <p:cNvPr id="5" name="Picture 4" descr="https://gimg2.baidu.com/image_search/src=http%3A%2F%2Fpic.51yuansu.com%2Fpic3%2Fcover%2F03%2F46%2F97%2F5bab68eb6b4a1_610.jpg&amp;refer=http%3A%2F%2Fpic.51yuansu.com&amp;app=2002&amp;size=f9999,10000&amp;q=a80&amp;n=0&amp;g=0n&amp;fmt=jpeg?sec=1636806551&amp;t=fce412286299fb8c7d98cdbcbd681ecd">
            <a:extLst>
              <a:ext uri="{FF2B5EF4-FFF2-40B4-BE49-F238E27FC236}">
                <a16:creationId xmlns:a16="http://schemas.microsoft.com/office/drawing/2014/main" id="{9C57BCF5-0A3D-43CF-8558-15C23E8AD8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1676400"/>
            <a:ext cx="5105400" cy="5205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2800985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AC416C-D88F-EF4B-AA32-5613425BC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Hadoop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4F34CD6-C4F2-1E45-9B7E-02BD8BA944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0200"/>
            <a:ext cx="7620000" cy="5105400"/>
          </a:xfrm>
        </p:spPr>
        <p:txBody>
          <a:bodyPr>
            <a:normAutofit fontScale="92500"/>
          </a:bodyPr>
          <a:lstStyle/>
          <a:p>
            <a:pPr algn="just"/>
            <a:r>
              <a:rPr kumimoji="1" lang="zh-CN" altLang="en-US" dirty="0"/>
              <a:t>用</a:t>
            </a:r>
            <a:r>
              <a:rPr kumimoji="1" lang="en-US" altLang="zh-CN" dirty="0"/>
              <a:t>MapReduce</a:t>
            </a:r>
            <a:r>
              <a:rPr kumimoji="1" lang="zh-CN" altLang="en-US" dirty="0"/>
              <a:t>实现</a:t>
            </a:r>
            <a:r>
              <a:rPr kumimoji="1" lang="en-US" altLang="zh-CN" dirty="0"/>
              <a:t>Join</a:t>
            </a:r>
          </a:p>
          <a:p>
            <a:pPr algn="just"/>
            <a:r>
              <a:rPr lang="en-US" altLang="zh-CN" b="1" dirty="0"/>
              <a:t>MapReduce Join</a:t>
            </a:r>
            <a:r>
              <a:rPr lang="en-US" altLang="zh-CN" dirty="0"/>
              <a:t> operation is used to combine two large datasets</a:t>
            </a:r>
          </a:p>
          <a:p>
            <a:pPr lvl="1" algn="just"/>
            <a:r>
              <a:rPr lang="en-US" altLang="zh-CN" dirty="0"/>
              <a:t>If one dataset is </a:t>
            </a:r>
            <a:r>
              <a:rPr lang="en-US" altLang="zh-CN" dirty="0">
                <a:solidFill>
                  <a:srgbClr val="C00000"/>
                </a:solidFill>
              </a:rPr>
              <a:t>smaller</a:t>
            </a:r>
            <a:r>
              <a:rPr lang="en-US" altLang="zh-CN" dirty="0"/>
              <a:t> as compared to the other dataset then smaller dataset is </a:t>
            </a:r>
            <a:r>
              <a:rPr lang="en-US" altLang="zh-CN" dirty="0">
                <a:solidFill>
                  <a:srgbClr val="C00000"/>
                </a:solidFill>
              </a:rPr>
              <a:t>distributed to every data node in the cluster</a:t>
            </a:r>
          </a:p>
          <a:p>
            <a:pPr lvl="1" algn="just"/>
            <a:r>
              <a:rPr lang="en-US" altLang="zh-CN" dirty="0"/>
              <a:t>Once a join in MapReduce is distributed, either Mapper or Reducer uses the smaller dataset to perform a lookup for matching records from the large dataset and then combine those records to form output records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907503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AC416C-D88F-EF4B-AA32-5613425BC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Hadoop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4F34CD6-C4F2-1E45-9B7E-02BD8BA944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0200"/>
            <a:ext cx="7620000" cy="5105400"/>
          </a:xfrm>
        </p:spPr>
        <p:txBody>
          <a:bodyPr>
            <a:normAutofit fontScale="70000" lnSpcReduction="20000"/>
          </a:bodyPr>
          <a:lstStyle/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kumimoji="1" lang="zh-CN" altLang="en-US" dirty="0"/>
              <a:t>用</a:t>
            </a:r>
            <a:r>
              <a:rPr kumimoji="1" lang="en-US" altLang="zh-CN" dirty="0"/>
              <a:t>MapReduce</a:t>
            </a:r>
            <a:r>
              <a:rPr kumimoji="1" lang="zh-CN" altLang="en-US" dirty="0"/>
              <a:t>实现</a:t>
            </a:r>
            <a:r>
              <a:rPr kumimoji="1" lang="en-US" altLang="zh-CN" dirty="0"/>
              <a:t>Join</a:t>
            </a: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en-US" altLang="zh-CN" dirty="0"/>
              <a:t>Depending upon the place where the actual join is performed, joins in Hadoop are classified into</a:t>
            </a:r>
          </a:p>
          <a:p>
            <a:pPr lvl="1" algn="just">
              <a:lnSpc>
                <a:spcPct val="120000"/>
              </a:lnSpc>
              <a:spcBef>
                <a:spcPts val="0"/>
              </a:spcBef>
            </a:pPr>
            <a:endParaRPr lang="en-US" altLang="zh-CN" dirty="0"/>
          </a:p>
          <a:p>
            <a:pPr lvl="1" algn="just">
              <a:lnSpc>
                <a:spcPct val="120000"/>
              </a:lnSpc>
              <a:spcBef>
                <a:spcPts val="0"/>
              </a:spcBef>
            </a:pPr>
            <a:r>
              <a:rPr lang="zh-CN" altLang="en-US" dirty="0">
                <a:solidFill>
                  <a:srgbClr val="C00000"/>
                </a:solidFill>
              </a:rPr>
              <a:t>（</a:t>
            </a:r>
            <a:r>
              <a:rPr lang="en-US" altLang="zh-CN" dirty="0">
                <a:solidFill>
                  <a:srgbClr val="C00000"/>
                </a:solidFill>
              </a:rPr>
              <a:t>1</a:t>
            </a:r>
            <a:r>
              <a:rPr lang="zh-CN" altLang="en-US" dirty="0">
                <a:solidFill>
                  <a:srgbClr val="C00000"/>
                </a:solidFill>
              </a:rPr>
              <a:t>）</a:t>
            </a:r>
            <a:r>
              <a:rPr lang="en-US" altLang="zh-CN" dirty="0">
                <a:solidFill>
                  <a:srgbClr val="C00000"/>
                </a:solidFill>
              </a:rPr>
              <a:t>Map-side join – </a:t>
            </a:r>
            <a:r>
              <a:rPr lang="en-US" altLang="zh-CN" dirty="0"/>
              <a:t>When the join is performed by the mapper, it is called as map-side join</a:t>
            </a:r>
          </a:p>
          <a:p>
            <a:pPr lvl="1" algn="just">
              <a:lnSpc>
                <a:spcPct val="120000"/>
              </a:lnSpc>
              <a:spcBef>
                <a:spcPts val="0"/>
              </a:spcBef>
            </a:pPr>
            <a:r>
              <a:rPr lang="en-US" altLang="zh-CN" dirty="0"/>
              <a:t>In this type, the join is </a:t>
            </a:r>
            <a:r>
              <a:rPr lang="en-US" altLang="zh-CN" dirty="0">
                <a:solidFill>
                  <a:srgbClr val="C00000"/>
                </a:solidFill>
              </a:rPr>
              <a:t>performed before data is actually consumed by the map function</a:t>
            </a:r>
          </a:p>
          <a:p>
            <a:pPr lvl="1" algn="just">
              <a:lnSpc>
                <a:spcPct val="120000"/>
              </a:lnSpc>
              <a:spcBef>
                <a:spcPts val="0"/>
              </a:spcBef>
            </a:pPr>
            <a:r>
              <a:rPr lang="en-US" altLang="zh-CN" dirty="0"/>
              <a:t>It is mandatory that the input to each map is in the form of a partition and is in sorted order; Also, there must be an equal number of partitions and it must be sorted by the join key</a:t>
            </a:r>
          </a:p>
          <a:p>
            <a:pPr lvl="1" algn="just">
              <a:lnSpc>
                <a:spcPct val="120000"/>
              </a:lnSpc>
              <a:spcBef>
                <a:spcPts val="0"/>
              </a:spcBef>
            </a:pPr>
            <a:r>
              <a:rPr lang="en-US" altLang="zh-CN" dirty="0"/>
              <a:t>Here, </a:t>
            </a:r>
            <a:r>
              <a:rPr lang="en-US" altLang="zh-CN" dirty="0">
                <a:solidFill>
                  <a:srgbClr val="C00000"/>
                </a:solidFill>
              </a:rPr>
              <a:t>map side processing emits join key and corresponding tuples of both the tables</a:t>
            </a:r>
            <a:r>
              <a:rPr lang="en-US" altLang="zh-CN" dirty="0"/>
              <a:t>. As an effect of this processing, all the tuples with same join key fall into the same reducer which then joins the records with same join key</a:t>
            </a:r>
          </a:p>
        </p:txBody>
      </p:sp>
    </p:spTree>
    <p:extLst>
      <p:ext uri="{BB962C8B-B14F-4D97-AF65-F5344CB8AC3E}">
        <p14:creationId xmlns:p14="http://schemas.microsoft.com/office/powerpoint/2010/main" val="370868976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AC416C-D88F-EF4B-AA32-5613425BC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Hadoop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4F34CD6-C4F2-1E45-9B7E-02BD8BA944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0200"/>
            <a:ext cx="7620000" cy="5105400"/>
          </a:xfrm>
        </p:spPr>
        <p:txBody>
          <a:bodyPr>
            <a:normAutofit/>
          </a:bodyPr>
          <a:lstStyle/>
          <a:p>
            <a:pPr algn="just"/>
            <a:r>
              <a:rPr kumimoji="1" lang="zh-CN" altLang="en-US" dirty="0"/>
              <a:t>用</a:t>
            </a:r>
            <a:r>
              <a:rPr kumimoji="1" lang="en-US" altLang="zh-CN" dirty="0"/>
              <a:t>MapReduce</a:t>
            </a:r>
            <a:r>
              <a:rPr kumimoji="1" lang="zh-CN" altLang="en-US" dirty="0"/>
              <a:t>实现</a:t>
            </a:r>
            <a:r>
              <a:rPr kumimoji="1" lang="en-US" altLang="zh-CN" dirty="0"/>
              <a:t>Join</a:t>
            </a:r>
          </a:p>
          <a:p>
            <a:pPr algn="just"/>
            <a:r>
              <a:rPr kumimoji="1" lang="en-US" altLang="zh-CN" dirty="0">
                <a:solidFill>
                  <a:srgbClr val="C00000"/>
                </a:solidFill>
              </a:rPr>
              <a:t>Map Side Join</a:t>
            </a:r>
          </a:p>
          <a:p>
            <a:pPr lvl="1" algn="just"/>
            <a:r>
              <a:rPr kumimoji="1" lang="en-US" altLang="zh-CN" dirty="0"/>
              <a:t>You can use Map side join using two different ways based on your datasets, and those depends on below conditions -</a:t>
            </a:r>
          </a:p>
          <a:p>
            <a:pPr lvl="2" algn="just"/>
            <a:r>
              <a:rPr kumimoji="1" lang="en-US" altLang="zh-CN" dirty="0"/>
              <a:t>Both datasets are must be divided into the </a:t>
            </a:r>
            <a:r>
              <a:rPr kumimoji="1" lang="en-US" altLang="zh-CN" dirty="0">
                <a:solidFill>
                  <a:srgbClr val="C00000"/>
                </a:solidFill>
              </a:rPr>
              <a:t>same number of partitions</a:t>
            </a:r>
            <a:r>
              <a:rPr kumimoji="1" lang="en-US" altLang="zh-CN" dirty="0"/>
              <a:t>, and must be already </a:t>
            </a:r>
            <a:r>
              <a:rPr kumimoji="1" lang="en-US" altLang="zh-CN" dirty="0">
                <a:solidFill>
                  <a:srgbClr val="C00000"/>
                </a:solidFill>
              </a:rPr>
              <a:t>sorted by the same key</a:t>
            </a:r>
            <a:endParaRPr kumimoji="1" lang="en-US" altLang="zh-CN" dirty="0"/>
          </a:p>
          <a:p>
            <a:pPr lvl="2" algn="just"/>
            <a:r>
              <a:rPr kumimoji="1" lang="en-US" altLang="zh-CN" dirty="0"/>
              <a:t>From the two datasets one must be small(something like master dataset) and able to fit into the memory of each nodes</a:t>
            </a:r>
          </a:p>
          <a:p>
            <a:pPr lvl="1" algn="just"/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92458944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AC416C-D88F-EF4B-AA32-5613425BC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Hadoop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4F34CD6-C4F2-1E45-9B7E-02BD8BA944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0200"/>
            <a:ext cx="7620000" cy="5105400"/>
          </a:xfrm>
        </p:spPr>
        <p:txBody>
          <a:bodyPr>
            <a:normAutofit/>
          </a:bodyPr>
          <a:lstStyle/>
          <a:p>
            <a:pPr algn="just"/>
            <a:r>
              <a:rPr kumimoji="1" lang="zh-CN" altLang="en-US" dirty="0"/>
              <a:t>用</a:t>
            </a:r>
            <a:r>
              <a:rPr kumimoji="1" lang="en-US" altLang="zh-CN" dirty="0"/>
              <a:t>MapReduce</a:t>
            </a:r>
            <a:r>
              <a:rPr kumimoji="1" lang="zh-CN" altLang="en-US" dirty="0"/>
              <a:t>实现</a:t>
            </a:r>
            <a:r>
              <a:rPr kumimoji="1" lang="en-US" altLang="zh-CN" dirty="0"/>
              <a:t>Join</a:t>
            </a:r>
          </a:p>
          <a:p>
            <a:pPr lvl="1" algn="just"/>
            <a:endParaRPr lang="en-US" altLang="zh-CN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42D5511-8C36-4FDC-9769-380D1CD83F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5236" y="2057400"/>
            <a:ext cx="6833528" cy="4207195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444C6F15-81A5-4075-BCD7-ED998FEF8039}"/>
              </a:ext>
            </a:extLst>
          </p:cNvPr>
          <p:cNvSpPr/>
          <p:nvPr/>
        </p:nvSpPr>
        <p:spPr>
          <a:xfrm>
            <a:off x="452004" y="6324600"/>
            <a:ext cx="6939395" cy="27699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1200" dirty="0"/>
              <a:t>https://www.researchgate.net/figure/Map-side-join-algorithm-flowchart_fig2_352702716</a:t>
            </a:r>
          </a:p>
        </p:txBody>
      </p:sp>
    </p:spTree>
    <p:extLst>
      <p:ext uri="{BB962C8B-B14F-4D97-AF65-F5344CB8AC3E}">
        <p14:creationId xmlns:p14="http://schemas.microsoft.com/office/powerpoint/2010/main" val="19266004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AC416C-D88F-EF4B-AA32-5613425BC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Hadoop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4F34CD6-C4F2-1E45-9B7E-02BD8BA944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0200"/>
            <a:ext cx="7620000" cy="5105400"/>
          </a:xfrm>
        </p:spPr>
        <p:txBody>
          <a:bodyPr>
            <a:normAutofit/>
          </a:bodyPr>
          <a:lstStyle/>
          <a:p>
            <a:pPr algn="just"/>
            <a:r>
              <a:rPr kumimoji="1" lang="zh-CN" altLang="en-US" sz="2800" dirty="0"/>
              <a:t>用</a:t>
            </a:r>
            <a:r>
              <a:rPr kumimoji="1" lang="en-US" altLang="zh-CN" sz="2800" dirty="0"/>
              <a:t>MapReduce</a:t>
            </a:r>
            <a:r>
              <a:rPr kumimoji="1" lang="zh-CN" altLang="en-US" sz="2800" dirty="0"/>
              <a:t>实现</a:t>
            </a:r>
            <a:r>
              <a:rPr kumimoji="1" lang="en-US" altLang="zh-CN" sz="2800" dirty="0"/>
              <a:t>Join</a:t>
            </a:r>
          </a:p>
          <a:p>
            <a:pPr algn="just"/>
            <a:r>
              <a:rPr lang="en-US" altLang="zh-CN" sz="2800" dirty="0"/>
              <a:t>Depending upon the place where the actual join is performed, joins in Hadoop are classified into</a:t>
            </a:r>
          </a:p>
          <a:p>
            <a:pPr lvl="1" algn="just"/>
            <a:r>
              <a:rPr lang="zh-CN" altLang="en-US" sz="2400" dirty="0">
                <a:solidFill>
                  <a:srgbClr val="C00000"/>
                </a:solidFill>
              </a:rPr>
              <a:t>（</a:t>
            </a:r>
            <a:r>
              <a:rPr lang="en-US" altLang="zh-CN" sz="2400" dirty="0">
                <a:solidFill>
                  <a:srgbClr val="C00000"/>
                </a:solidFill>
              </a:rPr>
              <a:t>2</a:t>
            </a:r>
            <a:r>
              <a:rPr lang="zh-CN" altLang="en-US" sz="2400" dirty="0">
                <a:solidFill>
                  <a:srgbClr val="C00000"/>
                </a:solidFill>
              </a:rPr>
              <a:t>）</a:t>
            </a:r>
            <a:r>
              <a:rPr lang="en-US" altLang="zh-CN" sz="2400" dirty="0">
                <a:solidFill>
                  <a:srgbClr val="C00000"/>
                </a:solidFill>
              </a:rPr>
              <a:t>Reduce-side join –</a:t>
            </a:r>
            <a:r>
              <a:rPr lang="en-US" altLang="zh-CN" sz="2400" dirty="0"/>
              <a:t> When the join is performed by the reducer, it is called as reduce-side join. There is no necessity in this join to have a dataset in a structured form (or partitioned).</a:t>
            </a:r>
          </a:p>
          <a:p>
            <a:pPr lvl="1" algn="just"/>
            <a:endParaRPr lang="en-US" altLang="zh-CN" sz="2400" dirty="0"/>
          </a:p>
        </p:txBody>
      </p:sp>
    </p:spTree>
    <p:extLst>
      <p:ext uri="{BB962C8B-B14F-4D97-AF65-F5344CB8AC3E}">
        <p14:creationId xmlns:p14="http://schemas.microsoft.com/office/powerpoint/2010/main" val="364833672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AC416C-D88F-EF4B-AA32-5613425BC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Hadoop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4F34CD6-C4F2-1E45-9B7E-02BD8BA944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6691" y="1477962"/>
            <a:ext cx="7620000" cy="5105400"/>
          </a:xfrm>
        </p:spPr>
        <p:txBody>
          <a:bodyPr>
            <a:normAutofit/>
          </a:bodyPr>
          <a:lstStyle/>
          <a:p>
            <a:pPr algn="just"/>
            <a:r>
              <a:rPr kumimoji="1" lang="zh-CN" altLang="en-US" sz="2400" dirty="0"/>
              <a:t>用</a:t>
            </a:r>
            <a:r>
              <a:rPr kumimoji="1" lang="en-US" altLang="zh-CN" sz="2400" dirty="0"/>
              <a:t>MapReduce</a:t>
            </a:r>
            <a:r>
              <a:rPr kumimoji="1" lang="zh-CN" altLang="en-US" sz="2400" dirty="0"/>
              <a:t>实现</a:t>
            </a:r>
            <a:r>
              <a:rPr kumimoji="1" lang="en-US" altLang="zh-CN" sz="2400" dirty="0"/>
              <a:t>Join</a:t>
            </a:r>
          </a:p>
          <a:p>
            <a:pPr algn="just"/>
            <a:r>
              <a:rPr kumimoji="1" lang="en-US" altLang="zh-CN" sz="2400" dirty="0">
                <a:solidFill>
                  <a:srgbClr val="C00000"/>
                </a:solidFill>
              </a:rPr>
              <a:t>Reduce Side Join</a:t>
            </a:r>
          </a:p>
          <a:p>
            <a:pPr lvl="1" algn="just"/>
            <a:endParaRPr lang="en-US" altLang="zh-CN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09F15D4-F60B-466B-9164-AC15F4F9B5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2438400"/>
            <a:ext cx="6139964" cy="4305300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D91C4C2B-DD5D-4671-B9FE-53B7E84CD246}"/>
              </a:ext>
            </a:extLst>
          </p:cNvPr>
          <p:cNvSpPr/>
          <p:nvPr/>
        </p:nvSpPr>
        <p:spPr>
          <a:xfrm>
            <a:off x="4495800" y="1317624"/>
            <a:ext cx="4572000" cy="64633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>
            <a:spAutoFit/>
          </a:bodyPr>
          <a:lstStyle/>
          <a:p>
            <a:r>
              <a:rPr lang="zh-CN" altLang="en-US" dirty="0"/>
              <a:t>https://www.guru99.com/introduction-to-counters-joins-in-map-reduce.html</a:t>
            </a:r>
          </a:p>
        </p:txBody>
      </p:sp>
    </p:spTree>
    <p:extLst>
      <p:ext uri="{BB962C8B-B14F-4D97-AF65-F5344CB8AC3E}">
        <p14:creationId xmlns:p14="http://schemas.microsoft.com/office/powerpoint/2010/main" val="4346469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AC416C-D88F-EF4B-AA32-5613425BC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pause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4F34CD6-C4F2-1E45-9B7E-02BD8BA944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0200"/>
            <a:ext cx="7620000" cy="5105400"/>
          </a:xfrm>
        </p:spPr>
        <p:txBody>
          <a:bodyPr>
            <a:normAutofit/>
          </a:bodyPr>
          <a:lstStyle/>
          <a:p>
            <a:endParaRPr kumimoji="1" lang="zh-CN" altLang="en-US" dirty="0"/>
          </a:p>
        </p:txBody>
      </p:sp>
      <p:pic>
        <p:nvPicPr>
          <p:cNvPr id="5" name="Picture 4" descr="https://gimg2.baidu.com/image_search/src=http%3A%2F%2Fpic.51yuansu.com%2Fpic3%2Fcover%2F03%2F46%2F97%2F5bab68eb6b4a1_610.jpg&amp;refer=http%3A%2F%2Fpic.51yuansu.com&amp;app=2002&amp;size=f9999,10000&amp;q=a80&amp;n=0&amp;g=0n&amp;fmt=jpeg?sec=1636806551&amp;t=fce412286299fb8c7d98cdbcbd681ecd">
            <a:extLst>
              <a:ext uri="{FF2B5EF4-FFF2-40B4-BE49-F238E27FC236}">
                <a16:creationId xmlns:a16="http://schemas.microsoft.com/office/drawing/2014/main" id="{9C57BCF5-0A3D-43CF-8558-15C23E8AD8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1676400"/>
            <a:ext cx="5105400" cy="5205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0411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Hadoop 1.0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的应用</a:t>
            </a:r>
            <a:endParaRPr lang="en-US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MapReduce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计算模型，看起来特别的简单。实际上，在这种简单的处理之上，我们可以实现复杂的数据处理任务。</a:t>
            </a:r>
            <a:endParaRPr lang="zh-CN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indent="266700" algn="just"/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除了简单的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SQL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汇总之外，研究人员已经把</a:t>
            </a:r>
            <a:r>
              <a:rPr lang="en-US" altLang="zh-CN" sz="16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OLAP</a:t>
            </a:r>
            <a:r>
              <a:rPr lang="zh-CN" altLang="zh-CN" sz="16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、数据挖掘、机器学习、信息检索、多媒体数处理、科学数据处理、图数据处理等复杂的数据处理和分析算法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，移植到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Hadoop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平台上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翻译成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MapReduce Job)</a:t>
            </a:r>
            <a:endParaRPr lang="en-US" altLang="zh-CN" sz="14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Hadoop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不仅仅是一个处理</a:t>
            </a:r>
            <a:r>
              <a:rPr lang="zh-CN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非结构化数据的工具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，当数据按照一定格式进行适当组织以后，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Hadoop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平台也可以处理</a:t>
            </a:r>
            <a:r>
              <a:rPr lang="zh-CN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结构化数据</a:t>
            </a:r>
            <a:endParaRPr lang="en-US" altLang="zh-CN" sz="18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Hadoop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平台以及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Hadoop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上的各种工具构成了一个生态系统，完成各种大数据集的处理任务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 fontScale="90000"/>
          </a:bodyPr>
          <a:lstStyle/>
          <a:p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Hadoop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入门</a:t>
            </a:r>
          </a:p>
        </p:txBody>
      </p:sp>
    </p:spTree>
    <p:extLst>
      <p:ext uri="{BB962C8B-B14F-4D97-AF65-F5344CB8AC3E}">
        <p14:creationId xmlns:p14="http://schemas.microsoft.com/office/powerpoint/2010/main" val="357439799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Hadoop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生态系统</a:t>
            </a:r>
            <a:endParaRPr lang="en-US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en-US" altLang="zh-CN" sz="14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Hive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是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Hadoop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平台上的数据仓库，用于对数据进行离线分析。它提供了一种类似于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SQL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的查询语言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HQL (Hive Query Language)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Hive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将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SQL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转化为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MapReduce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作业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(Job)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在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Hadoop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上执行。</a:t>
            </a:r>
            <a:endParaRPr lang="zh-CN" altLang="zh-CN" sz="14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en-US" altLang="zh-CN" sz="14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HBase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是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Google Big Table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在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Hadoop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平台上的开源实现。它是一个针对结构化数据处理的、面向列分组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(Column Family)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的、可伸缩的、高度可靠的、高性能的分布式数据库。一般用于数据服务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(Data Serving)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应用场合。</a:t>
            </a:r>
            <a:endParaRPr lang="en-US" altLang="zh-CN" sz="14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en-US" altLang="zh-CN" sz="14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Pig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实现了数据查询脚本语言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Pig Latin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。用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Pig Latin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脚本语言编写的应用程序，翻译为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MapReduce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作业，在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Hadoop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上运行</a:t>
            </a:r>
            <a:endParaRPr lang="en-US" altLang="zh-CN" sz="14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indent="266700" algn="just"/>
            <a:r>
              <a:rPr lang="en-US" altLang="zh-CN" sz="105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Pig Latin</a:t>
            </a:r>
            <a:r>
              <a:rPr lang="zh-CN" altLang="zh-CN" sz="105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提供了连接操作，还提供了其它原语操作，方便开发人员编写数据操作算法</a:t>
            </a:r>
            <a:endParaRPr lang="en-US" altLang="zh-CN" sz="14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 fontScale="90000"/>
          </a:bodyPr>
          <a:lstStyle/>
          <a:p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Hadoop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入门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CF1E680-E34F-4C79-897F-D6DECEC025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0800" y="3962400"/>
            <a:ext cx="4191000" cy="2786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571766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Hadoop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生态系统</a:t>
            </a:r>
            <a:endParaRPr lang="en-US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en-US" altLang="zh-CN" sz="15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Flume</a:t>
            </a:r>
            <a:r>
              <a:rPr lang="zh-CN" altLang="zh-CN" sz="15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是一个可扩展的、高度可靠的、高可用的分布式海量日志收集系统，一般用于把众多服务器上的大量日志，聚合到某一个数据中心。</a:t>
            </a:r>
            <a:r>
              <a:rPr lang="en-US" altLang="zh-CN" sz="15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Flume</a:t>
            </a:r>
            <a:r>
              <a:rPr lang="zh-CN" altLang="zh-CN" sz="15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提供对日志数据进行简单处理的能力，比如过滤、格式转换等。同时，</a:t>
            </a:r>
            <a:r>
              <a:rPr lang="en-US" altLang="zh-CN" sz="15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Flume</a:t>
            </a:r>
            <a:r>
              <a:rPr lang="zh-CN" altLang="zh-CN" sz="15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可以将日志写往各种目标</a:t>
            </a:r>
            <a:r>
              <a:rPr lang="en-US" altLang="zh-CN" sz="15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zh-CN" altLang="zh-CN" sz="15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本地文件、分布式文件系统</a:t>
            </a:r>
            <a:r>
              <a:rPr lang="en-US" altLang="zh-CN" sz="15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zh-CN" altLang="zh-CN" sz="15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  <a:endParaRPr lang="en-US" altLang="zh-CN" sz="15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en-US" altLang="zh-CN" sz="15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Sqoop</a:t>
            </a:r>
            <a:r>
              <a:rPr lang="zh-CN" altLang="zh-CN" sz="15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是</a:t>
            </a:r>
            <a:r>
              <a:rPr lang="en-US" altLang="zh-CN" sz="15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SQL to Hadoop</a:t>
            </a:r>
            <a:r>
              <a:rPr lang="zh-CN" altLang="zh-CN" sz="15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的缩写，主要用于在关系数据库或者其它结构化数据源和</a:t>
            </a:r>
            <a:r>
              <a:rPr lang="en-US" altLang="zh-CN" sz="15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Hadoop</a:t>
            </a:r>
            <a:r>
              <a:rPr lang="zh-CN" altLang="zh-CN" sz="15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之间交换数据</a:t>
            </a:r>
            <a:endParaRPr lang="en-US" altLang="zh-CN" sz="15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indent="266700" algn="just"/>
            <a:r>
              <a:rPr lang="zh-CN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比如，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Sqoop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可以把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MySQL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等数据库数据导入到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Hadoop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里，包括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HDFS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HBase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以及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Hive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。反过来，它也可以将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Hadoop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的数据导出到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MySQL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数据库中</a:t>
            </a:r>
            <a:endParaRPr lang="en-US" altLang="zh-CN" sz="14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indent="266700" algn="just"/>
            <a:r>
              <a:rPr lang="zh-CN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数据的导入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导出，通过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MapReduce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作业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应用程序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实现，充分利用了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MapReduce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的并行化处理能力和容错性能</a:t>
            </a:r>
            <a:endParaRPr lang="en-US" altLang="zh-CN" sz="14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 fontScale="90000"/>
          </a:bodyPr>
          <a:lstStyle/>
          <a:p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Hadoop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入门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CF1E680-E34F-4C79-897F-D6DECEC025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0" y="4191000"/>
            <a:ext cx="3962400" cy="2634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890483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Hadoop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生态系统</a:t>
            </a:r>
            <a:endParaRPr lang="en-US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en-US" altLang="zh-CN" sz="16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Mahout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是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Hadoop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平台上的机器学习软件包，它的主要目标是实现高度可扩展的机器学习算法，以便帮助开发人员利用大数据进行机器学习模型训练。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Mahout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现在已经包含聚类、分类、推荐引擎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协同过滤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、频繁集挖掘等经典数据挖掘和机器学习算法。</a:t>
            </a:r>
            <a:endParaRPr lang="en-US" altLang="zh-CN" sz="16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en-US" altLang="zh-CN" sz="16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Oozie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是一个工作流调度器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(Scheduler)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Oozie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协调运行的作业，属于一次性非循环的作业，比如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MapReduce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作业、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Pig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脚本、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Hive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查询、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Sqoop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数据导入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导出作业等。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Oozie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基于时间、和数据可用性进行作业调度，根据作业间的依赖关系，协调作业的运行</a:t>
            </a:r>
            <a:endParaRPr lang="en-US" altLang="zh-CN" sz="16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 fontScale="90000"/>
          </a:bodyPr>
          <a:lstStyle/>
          <a:p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Hadoop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入门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CF1E680-E34F-4C79-897F-D6DECEC025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0800" y="3886200"/>
            <a:ext cx="4191000" cy="2862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004996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Hadoop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生态系统</a:t>
            </a:r>
            <a:endParaRPr lang="en-US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en-US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Zookeeper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是模仿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Google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公司的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Chubby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系统的开源实现，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Chubby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是一个分布式的锁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(Lock)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服务</a:t>
            </a:r>
            <a:endParaRPr lang="en-US" altLang="zh-CN" sz="18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indent="266700" algn="just"/>
            <a:r>
              <a:rPr lang="zh-CN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大部分分布式应用都需要这样一些公共服务，包括树状结构的统一命名服务、状态同步服务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通过分布式共享锁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、配置数据的集中管理、集群管理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如集群中节点的状态管理及状态变更通知，节点数据变更的消息通知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等。这些服务，难以实现，也难以调试。借助于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Zookeeper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，人们就无需为每个分布式应用实现这些功能，加快分布式应用的开发和部署</a:t>
            </a:r>
            <a:endParaRPr lang="en-US" altLang="zh-CN" sz="12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 fontScale="90000"/>
          </a:bodyPr>
          <a:lstStyle/>
          <a:p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Hadoop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入门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CF1E680-E34F-4C79-897F-D6DECEC025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0800" y="3886200"/>
            <a:ext cx="4191000" cy="2862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70726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AC416C-D88F-EF4B-AA32-5613425BC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pause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4F34CD6-C4F2-1E45-9B7E-02BD8BA944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0200"/>
            <a:ext cx="7620000" cy="5105400"/>
          </a:xfrm>
        </p:spPr>
        <p:txBody>
          <a:bodyPr>
            <a:normAutofit/>
          </a:bodyPr>
          <a:lstStyle/>
          <a:p>
            <a:endParaRPr kumimoji="1" lang="zh-CN" altLang="en-US" dirty="0"/>
          </a:p>
        </p:txBody>
      </p:sp>
      <p:pic>
        <p:nvPicPr>
          <p:cNvPr id="5" name="Picture 4" descr="https://gimg2.baidu.com/image_search/src=http%3A%2F%2Fpic.51yuansu.com%2Fpic3%2Fcover%2F03%2F46%2F97%2F5bab68eb6b4a1_610.jpg&amp;refer=http%3A%2F%2Fpic.51yuansu.com&amp;app=2002&amp;size=f9999,10000&amp;q=a80&amp;n=0&amp;g=0n&amp;fmt=jpeg?sec=1636806551&amp;t=fce412286299fb8c7d98cdbcbd681ecd">
            <a:extLst>
              <a:ext uri="{FF2B5EF4-FFF2-40B4-BE49-F238E27FC236}">
                <a16:creationId xmlns:a16="http://schemas.microsoft.com/office/drawing/2014/main" id="{9C57BCF5-0A3D-43CF-8558-15C23E8AD8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1676400"/>
            <a:ext cx="5105400" cy="5205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2512415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Hadoop2.0</a:t>
            </a:r>
            <a:endParaRPr lang="en-US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zh-CN" altLang="en-US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为什么需要集群计算</a:t>
            </a:r>
            <a:endParaRPr lang="en-US" altLang="zh-CN" sz="16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266700" algn="just"/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第一个因素，</a:t>
            </a:r>
            <a:r>
              <a:rPr lang="zh-CN" altLang="zh-CN" sz="16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是我们是否能够很方便地对系统进行扩展</a:t>
            </a:r>
            <a:r>
              <a:rPr lang="en-US" altLang="zh-CN" sz="16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(Cost to Scale)</a:t>
            </a:r>
            <a:endParaRPr lang="en-US" altLang="zh-CN" sz="1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indent="266700" algn="just"/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由于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Hadoop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能够运行在由普通服务器构成的超大规模集群上，所以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SQL on Hadoop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系统，比起传统的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MPP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数据库比如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TeraData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Vertica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Netezza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等来讲，具有更强的扩展能力。传统的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MPP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数据库系统，需要运行在高端服务器上，价格高昂，而且很难扩展到上千个节点。</a:t>
            </a:r>
            <a:endParaRPr lang="en-US" altLang="zh-CN" sz="16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第二个因素，</a:t>
            </a:r>
            <a:r>
              <a:rPr lang="zh-CN" altLang="zh-CN" sz="16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是处理大数据时的</a:t>
            </a:r>
            <a:r>
              <a:rPr lang="en-US" altLang="zh-CN" sz="16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I/O</a:t>
            </a:r>
            <a:r>
              <a:rPr lang="zh-CN" altLang="zh-CN" sz="16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瓶颈</a:t>
            </a:r>
            <a:endParaRPr lang="en-US" altLang="zh-CN" sz="1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indent="266700" algn="just"/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当数据的规模足够大，只有一部分数据可以装载到内存中，剩下的数据必须保存在磁盘里。并且在处理过程中，从磁盘上不断装载到内存中，进行后续处理。</a:t>
            </a:r>
            <a:endParaRPr lang="en-US" altLang="zh-CN" sz="16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indent="266700" algn="just"/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通过把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I/O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分散到大规模集群的各个节点上，我们可以把数据装载的速度大大提高，进而加快后续的处理。大规模集群把各个节点的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I/O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带宽，聚集起来，获得比高端服务器大得多的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I/O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带宽，可以达到几十倍甚至上百倍，无疑是一个廉价有效的大数据处理解决方案</a:t>
            </a:r>
            <a:endParaRPr lang="en-US" altLang="zh-CN" sz="16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 fontScale="90000"/>
          </a:bodyPr>
          <a:lstStyle/>
          <a:p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Hadoop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入门</a:t>
            </a:r>
          </a:p>
        </p:txBody>
      </p:sp>
    </p:spTree>
    <p:extLst>
      <p:ext uri="{BB962C8B-B14F-4D97-AF65-F5344CB8AC3E}">
        <p14:creationId xmlns:p14="http://schemas.microsoft.com/office/powerpoint/2010/main" val="7678552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Hadoop2.0</a:t>
            </a:r>
            <a:endParaRPr lang="en-US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en-US" altLang="zh-CN" sz="16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Hadoop 1.0</a:t>
            </a:r>
            <a:r>
              <a:rPr lang="zh-CN" altLang="en-US" sz="16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的辉煌</a:t>
            </a:r>
            <a:endParaRPr lang="en-US" altLang="zh-CN" sz="1600" dirty="0">
              <a:solidFill>
                <a:srgbClr val="C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266700" algn="just"/>
            <a:r>
              <a:rPr lang="zh-CN" altLang="zh-CN" sz="16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在</a:t>
            </a:r>
            <a:r>
              <a:rPr lang="en-US" altLang="zh-CN" sz="16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2008</a:t>
            </a:r>
            <a:r>
              <a:rPr lang="zh-CN" altLang="zh-CN" sz="16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年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Yahoo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公司使用一个拥有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910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个节点的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Hadoop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集群，在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209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秒内完成了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1TB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数据的排序，打破了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Terabyte Sort 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评测基准的记录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之前的记录是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297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秒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。这件事件的重要意义在于，这是用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Java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编写的开源程序，首次赢得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Terabyte Sort 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评测基准。</a:t>
            </a:r>
            <a:endParaRPr lang="en-US" altLang="zh-CN" sz="16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zh-CN" altLang="zh-CN" sz="16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在</a:t>
            </a:r>
            <a:r>
              <a:rPr lang="en-US" altLang="zh-CN" sz="16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2011</a:t>
            </a:r>
            <a:r>
              <a:rPr lang="zh-CN" altLang="zh-CN" sz="16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年</a:t>
            </a:r>
            <a:r>
              <a:rPr lang="en-US" altLang="zh-CN" sz="16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zh-CN" sz="16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月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Media Guardian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媒体集团，把年度创新奖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(Innovation Awards of the Year)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颁发给了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Hadoop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项目。评审委员会认为，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Hadoop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项目是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“21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世纪的瑞士军刀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(Swiss Army Knife of the 21st Century)”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Hadoop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平台已经成为大数据处理的标准工具，它的重要作用被越来越多的人认识到</a:t>
            </a:r>
            <a:endParaRPr lang="en-US" altLang="zh-CN" sz="16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 fontScale="90000"/>
          </a:bodyPr>
          <a:lstStyle/>
          <a:p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Hadoop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入门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72A3E3F-10D6-47F9-901C-470A4847E6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400" y="4495800"/>
            <a:ext cx="5867400" cy="1181002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94C6C87F-DB39-45AF-BC37-692D8B9F60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6400" y="5791200"/>
            <a:ext cx="5867400" cy="950228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19487231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5105400"/>
          </a:xfrm>
        </p:spPr>
        <p:txBody>
          <a:bodyPr>
            <a:normAutofit fontScale="62500" lnSpcReduction="20000"/>
          </a:bodyPr>
          <a:lstStyle/>
          <a:p>
            <a:pPr algn="just">
              <a:lnSpc>
                <a:spcPct val="120000"/>
              </a:lnSpc>
            </a:pPr>
            <a:r>
              <a:rPr lang="en-US" altLang="zh-CN" sz="40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Hadoop2.0</a:t>
            </a:r>
            <a:endParaRPr lang="en-US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indent="266700" algn="just">
              <a:lnSpc>
                <a:spcPct val="120000"/>
              </a:lnSpc>
            </a:pPr>
            <a:r>
              <a:rPr lang="en-US" altLang="zh-CN" sz="2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Hadoop 1.0</a:t>
            </a:r>
            <a:r>
              <a:rPr lang="zh-CN" altLang="en-US" sz="2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的局限，</a:t>
            </a:r>
            <a:r>
              <a:rPr lang="zh-CN" altLang="zh-CN" sz="2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主要的局限包括</a:t>
            </a:r>
            <a:endParaRPr lang="en-US" altLang="zh-CN" sz="24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indent="266700" algn="just">
              <a:lnSpc>
                <a:spcPct val="120000"/>
              </a:lnSpc>
            </a:pPr>
            <a:r>
              <a:rPr lang="en-US" altLang="zh-CN" sz="24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(1) </a:t>
            </a:r>
            <a:r>
              <a:rPr lang="zh-CN" altLang="zh-CN" sz="24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它仅仅支持一种计算模型</a:t>
            </a:r>
            <a:r>
              <a:rPr lang="zh-CN" altLang="zh-CN" sz="2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，即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MapReduce</a:t>
            </a:r>
            <a:r>
              <a:rPr lang="zh-CN" altLang="zh-CN" sz="2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MapReduce</a:t>
            </a:r>
            <a:r>
              <a:rPr lang="zh-CN" altLang="zh-CN" sz="2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计算模型的表达能力有限。复杂的数据处理任务，比如机器学习算法和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SQL</a:t>
            </a:r>
            <a:r>
              <a:rPr lang="zh-CN" altLang="zh-CN" sz="2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连接查询等，很难表达为一个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MapReduce Job</a:t>
            </a:r>
            <a:r>
              <a:rPr lang="zh-CN" altLang="zh-CN" sz="2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，而是需要翻译成一系列的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MapReduce Job</a:t>
            </a:r>
            <a:r>
              <a:rPr lang="zh-CN" altLang="zh-CN" sz="2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，这些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Job</a:t>
            </a:r>
            <a:r>
              <a:rPr lang="zh-CN" altLang="zh-CN" sz="2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一个接一个地执行</a:t>
            </a:r>
            <a:endParaRPr lang="en-US" altLang="zh-CN" sz="24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indent="266700" algn="just">
              <a:lnSpc>
                <a:spcPct val="120000"/>
              </a:lnSpc>
            </a:pPr>
            <a:r>
              <a:rPr lang="en-US" altLang="zh-CN" sz="2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(2) </a:t>
            </a:r>
            <a:r>
              <a:rPr lang="zh-CN" altLang="zh-CN" sz="2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由于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MapReduce</a:t>
            </a:r>
            <a:r>
              <a:rPr lang="zh-CN" altLang="zh-CN" sz="2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作业在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Map</a:t>
            </a:r>
            <a:r>
              <a:rPr lang="zh-CN" altLang="zh-CN" sz="2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阶段和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Reduce</a:t>
            </a:r>
            <a:r>
              <a:rPr lang="zh-CN" altLang="zh-CN" sz="2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阶段执行过程中，</a:t>
            </a:r>
            <a:r>
              <a:rPr lang="zh-CN" altLang="zh-CN" sz="24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需要把中间结果存盘</a:t>
            </a:r>
            <a:r>
              <a:rPr lang="zh-CN" altLang="zh-CN" sz="2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。而且在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MapReduce</a:t>
            </a:r>
            <a:r>
              <a:rPr lang="zh-CN" altLang="zh-CN" sz="2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作业间，也需要通过磁盘实现作业之间的数据交换。通过磁盘进行数据交换，效率低下，影响了查询的执行效率。在这个计算模型上，很难再继续减小查询的响应时间</a:t>
            </a:r>
            <a:endParaRPr lang="en-US" altLang="zh-CN" sz="24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indent="266700" algn="just">
              <a:lnSpc>
                <a:spcPct val="120000"/>
              </a:lnSpc>
            </a:pPr>
            <a:r>
              <a:rPr lang="en-US" altLang="zh-CN" sz="2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(3) Hadoop 1.0</a:t>
            </a:r>
            <a:r>
              <a:rPr lang="zh-CN" altLang="zh-CN" sz="2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</a:t>
            </a:r>
            <a:r>
              <a:rPr lang="zh-CN" altLang="zh-CN" sz="24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任务调度方法，远未达到优化资源利用率的效果</a:t>
            </a:r>
            <a:r>
              <a:rPr lang="zh-CN" altLang="zh-CN" sz="2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。在</a:t>
            </a:r>
            <a:r>
              <a:rPr lang="en-US" altLang="zh-CN" sz="2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Hadoop1.0</a:t>
            </a:r>
            <a:r>
              <a:rPr lang="zh-CN" altLang="zh-CN" sz="2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版中，对任务的调度方法，即如何给</a:t>
            </a:r>
            <a:r>
              <a:rPr lang="en-US" altLang="zh-CN" sz="2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TaskTracker</a:t>
            </a:r>
            <a:r>
              <a:rPr lang="zh-CN" altLang="zh-CN" sz="2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分配任务的过程，比较简单</a:t>
            </a:r>
            <a:endParaRPr lang="en-US" altLang="zh-CN" sz="24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indent="266700" algn="just">
              <a:lnSpc>
                <a:spcPct val="120000"/>
              </a:lnSpc>
            </a:pPr>
            <a:r>
              <a:rPr lang="zh-CN" altLang="zh-CN" sz="20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每个</a:t>
            </a:r>
            <a:r>
              <a:rPr lang="en-US" altLang="zh-CN" sz="20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TaskTracker</a:t>
            </a:r>
            <a:r>
              <a:rPr lang="zh-CN" altLang="zh-CN" sz="20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拥有一定数量的任务槽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(Slot)</a:t>
            </a:r>
            <a:r>
              <a:rPr lang="zh-CN" altLang="zh-CN" sz="20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，每个活动的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Map</a:t>
            </a:r>
            <a:r>
              <a:rPr lang="zh-CN" altLang="zh-CN" sz="20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或者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Reduce</a:t>
            </a:r>
            <a:r>
              <a:rPr lang="zh-CN" altLang="zh-CN" sz="20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任务占用其中一个任务槽。</a:t>
            </a:r>
            <a:r>
              <a:rPr lang="en-US" altLang="zh-CN" sz="20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JobTracker</a:t>
            </a:r>
            <a:r>
              <a:rPr lang="zh-CN" altLang="zh-CN" sz="20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把工作分配给最靠近数据的</a:t>
            </a:r>
            <a:r>
              <a:rPr lang="en-US" altLang="zh-CN" sz="20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TaskTracker</a:t>
            </a:r>
            <a:r>
              <a:rPr lang="zh-CN" altLang="zh-CN" sz="20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，这个</a:t>
            </a:r>
            <a:r>
              <a:rPr lang="en-US" altLang="zh-CN" sz="20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TaskTracker</a:t>
            </a:r>
            <a:r>
              <a:rPr lang="zh-CN" altLang="zh-CN" sz="20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正好有可用的任务槽</a:t>
            </a:r>
            <a:endParaRPr lang="en-US" altLang="zh-CN" sz="20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indent="266700" algn="just">
              <a:lnSpc>
                <a:spcPct val="120000"/>
              </a:lnSpc>
            </a:pPr>
            <a:r>
              <a:rPr lang="zh-CN" altLang="zh-CN" sz="20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在这个调度方法下，并未考虑将要被分配任务的机器，其当前的系统负载是否过高。如果某个</a:t>
            </a:r>
            <a:r>
              <a:rPr lang="en-US" altLang="zh-CN" sz="20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TaskTracker</a:t>
            </a:r>
            <a:r>
              <a:rPr lang="zh-CN" altLang="zh-CN" sz="20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执行非常慢，它将会影响整个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MapReduce</a:t>
            </a:r>
            <a:r>
              <a:rPr lang="zh-CN" altLang="zh-CN" sz="20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作业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(Job)</a:t>
            </a:r>
            <a:r>
              <a:rPr lang="zh-CN" altLang="zh-CN" sz="20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的执行。整个作业等待最慢的任务完成，才能结束。当然，可以通过猜测执行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(Speculative Execution)</a:t>
            </a:r>
            <a:r>
              <a:rPr lang="zh-CN" altLang="zh-CN" sz="20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模式，在多个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Slave</a:t>
            </a:r>
            <a:r>
              <a:rPr lang="zh-CN" altLang="zh-CN" sz="20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节点上启动同一个任务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(Task)</a:t>
            </a:r>
            <a:r>
              <a:rPr lang="zh-CN" altLang="zh-CN" sz="20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，只要有其中一个任务完成即可</a:t>
            </a:r>
            <a:endParaRPr lang="en-US" altLang="zh-CN" sz="20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 fontScale="90000"/>
          </a:bodyPr>
          <a:lstStyle/>
          <a:p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Hadoop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入门</a:t>
            </a:r>
          </a:p>
        </p:txBody>
      </p:sp>
    </p:spTree>
    <p:extLst>
      <p:ext uri="{BB962C8B-B14F-4D97-AF65-F5344CB8AC3E}">
        <p14:creationId xmlns:p14="http://schemas.microsoft.com/office/powerpoint/2010/main" val="156243693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51054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20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Hadoop2.0</a:t>
            </a:r>
            <a:endParaRPr lang="en-US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zh-CN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从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Hadoop 1.0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到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Hadoop2.0</a:t>
            </a:r>
          </a:p>
          <a:p>
            <a:pPr indent="266700" algn="just"/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Hadoop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最初是为大数据的</a:t>
            </a:r>
            <a:r>
              <a:rPr lang="zh-CN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批处理设计的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，它的关注点，在于以尽量高的吞吐量处理这些数据。但是，人们希望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Hadoop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还能够支持</a:t>
            </a:r>
            <a:r>
              <a:rPr lang="zh-CN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交互式查询、数据的迭代式处理、以及流数据处理、图数据处理等</a:t>
            </a:r>
            <a:endParaRPr lang="en-US" altLang="zh-CN" sz="18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indent="266700" algn="just"/>
            <a:r>
              <a:rPr lang="zh-CN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其中，迭代式处理是机器学习算法所必须的，即机器学习算法一般需要对数据进行多遍扫描和处理</a:t>
            </a:r>
            <a:endParaRPr lang="en-US" altLang="zh-CN" sz="1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在这种形势下，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Hadoop2.0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应运而生。由于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Hadoop 2.0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的主要改变，是在整个软件架构里划分出了资源管理框架</a:t>
            </a:r>
            <a:r>
              <a:rPr lang="en-US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YARN(Yet Another Resource Negotiator)</a:t>
            </a:r>
            <a:endParaRPr lang="en-US" altLang="zh-CN" sz="18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indent="266700" algn="just"/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YARN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是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Hadoop2.0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的主要组成部分</a:t>
            </a:r>
            <a:endParaRPr lang="en-US" altLang="zh-CN" sz="14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indent="266700" algn="just"/>
            <a:r>
              <a:rPr lang="zh-CN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所以，我们有时把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YARN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Hadoop2.0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互换使用</a:t>
            </a:r>
            <a:endParaRPr lang="en-US" altLang="zh-CN" sz="140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266700" algn="just"/>
            <a:endParaRPr lang="en-US" altLang="zh-CN" sz="24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 fontScale="90000"/>
          </a:bodyPr>
          <a:lstStyle/>
          <a:p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Hadoop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入门</a:t>
            </a:r>
          </a:p>
        </p:txBody>
      </p:sp>
    </p:spTree>
    <p:extLst>
      <p:ext uri="{BB962C8B-B14F-4D97-AF65-F5344CB8AC3E}">
        <p14:creationId xmlns:p14="http://schemas.microsoft.com/office/powerpoint/2010/main" val="218163894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51054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20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Hadoop2.0</a:t>
            </a:r>
            <a:endParaRPr lang="en-US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zh-CN" altLang="zh-CN" sz="17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从</a:t>
            </a:r>
            <a:r>
              <a:rPr lang="en-US" altLang="zh-CN" sz="17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Hadoop 1.0</a:t>
            </a:r>
            <a:r>
              <a:rPr lang="zh-CN" altLang="zh-CN" sz="17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到</a:t>
            </a:r>
            <a:r>
              <a:rPr lang="en-US" altLang="zh-CN" sz="17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Hadoop2.0</a:t>
            </a:r>
          </a:p>
          <a:p>
            <a:pPr indent="266700" algn="just"/>
            <a:r>
              <a:rPr lang="en-US" altLang="zh-CN" sz="17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Hadoop YARN</a:t>
            </a:r>
            <a:r>
              <a:rPr lang="zh-CN" altLang="zh-CN" sz="17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是</a:t>
            </a:r>
            <a:r>
              <a:rPr lang="en-US" altLang="zh-CN" sz="17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Hadoop 2.0</a:t>
            </a:r>
            <a:r>
              <a:rPr lang="zh-CN" altLang="zh-CN" sz="17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的最重要的组成部分。</a:t>
            </a:r>
            <a:r>
              <a:rPr lang="en-US" altLang="zh-CN" sz="17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YARN</a:t>
            </a:r>
            <a:r>
              <a:rPr lang="zh-CN" altLang="zh-CN" sz="17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把资源管理</a:t>
            </a:r>
            <a:r>
              <a:rPr lang="en-US" altLang="zh-CN" sz="17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(Resource Management)</a:t>
            </a:r>
            <a:r>
              <a:rPr lang="zh-CN" altLang="zh-CN" sz="17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和作业调度</a:t>
            </a:r>
            <a:r>
              <a:rPr lang="en-US" altLang="zh-CN" sz="17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zh-CN" sz="17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监控</a:t>
            </a:r>
            <a:r>
              <a:rPr lang="en-US" altLang="zh-CN" sz="17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(Job Scheduling/Monitoring)</a:t>
            </a:r>
            <a:r>
              <a:rPr lang="zh-CN" altLang="zh-CN" sz="17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模块分开</a:t>
            </a:r>
            <a:r>
              <a:rPr lang="zh-CN" altLang="zh-CN" sz="17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。在</a:t>
            </a:r>
            <a:r>
              <a:rPr lang="en-US" altLang="zh-CN" sz="17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Hadoop1.0</a:t>
            </a:r>
            <a:r>
              <a:rPr lang="zh-CN" altLang="zh-CN" sz="17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版中，这两个功能都由</a:t>
            </a:r>
            <a:r>
              <a:rPr lang="en-US" altLang="zh-CN" sz="17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JobTracker</a:t>
            </a:r>
            <a:r>
              <a:rPr lang="zh-CN" altLang="zh-CN" sz="17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来负责</a:t>
            </a:r>
            <a:endParaRPr lang="en-US" altLang="zh-CN" sz="17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zh-CN" altLang="zh-CN" sz="17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在</a:t>
            </a:r>
            <a:r>
              <a:rPr lang="en-US" altLang="zh-CN" sz="17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Hadoop1.0</a:t>
            </a:r>
            <a:r>
              <a:rPr lang="zh-CN" altLang="zh-CN" sz="17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中，系统仅仅能够支持一种计算模型即</a:t>
            </a:r>
            <a:r>
              <a:rPr lang="en-US" altLang="zh-CN" sz="17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MapReduce</a:t>
            </a:r>
            <a:r>
              <a:rPr lang="zh-CN" altLang="zh-CN" sz="17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。在</a:t>
            </a:r>
            <a:r>
              <a:rPr lang="en-US" altLang="zh-CN" sz="17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Hadoop2.0</a:t>
            </a:r>
            <a:r>
              <a:rPr lang="zh-CN" altLang="zh-CN" sz="17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中，</a:t>
            </a:r>
            <a:r>
              <a:rPr lang="zh-CN" altLang="zh-CN" sz="17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系统可以支持更多的计算模型</a:t>
            </a:r>
            <a:r>
              <a:rPr lang="zh-CN" altLang="zh-CN" sz="17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，包括流数据处理、图数据处理、批处理、交互式处理等</a:t>
            </a:r>
            <a:endParaRPr lang="en-US" altLang="zh-CN" sz="17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zh-CN" altLang="zh-CN" sz="17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在</a:t>
            </a:r>
            <a:r>
              <a:rPr lang="en-US" altLang="zh-CN" sz="17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Hadoop2.0</a:t>
            </a:r>
            <a:r>
              <a:rPr lang="zh-CN" altLang="zh-CN" sz="17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中，应用程序可以是传统的</a:t>
            </a:r>
            <a:r>
              <a:rPr lang="en-US" altLang="zh-CN" sz="17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MapReduce</a:t>
            </a:r>
            <a:r>
              <a:rPr lang="zh-CN" altLang="zh-CN" sz="17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作业</a:t>
            </a:r>
            <a:r>
              <a:rPr lang="en-US" altLang="zh-CN" sz="17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(Job)</a:t>
            </a:r>
            <a:r>
              <a:rPr lang="zh-CN" altLang="zh-CN" sz="17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，或者由一系列任务构成的一个有向无环图</a:t>
            </a:r>
            <a:r>
              <a:rPr lang="en-US" altLang="zh-CN" sz="17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(Directed Acyclic Graph, DAG)</a:t>
            </a:r>
            <a:r>
              <a:rPr lang="zh-CN" altLang="zh-CN" sz="17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表达的作业，能够表达更加复杂的数据处理流程</a:t>
            </a:r>
            <a:endParaRPr lang="en-US" altLang="zh-CN" sz="17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 fontScale="90000"/>
          </a:bodyPr>
          <a:lstStyle/>
          <a:p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Hadoop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入门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24686F3-33C9-4532-A758-DAD10D000B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4100" y="4648200"/>
            <a:ext cx="4495800" cy="2085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626476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AC416C-D88F-EF4B-AA32-5613425BC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pause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4F34CD6-C4F2-1E45-9B7E-02BD8BA944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0200"/>
            <a:ext cx="7620000" cy="5105400"/>
          </a:xfrm>
        </p:spPr>
        <p:txBody>
          <a:bodyPr>
            <a:normAutofit/>
          </a:bodyPr>
          <a:lstStyle/>
          <a:p>
            <a:endParaRPr kumimoji="1" lang="zh-CN" altLang="en-US" dirty="0"/>
          </a:p>
        </p:txBody>
      </p:sp>
      <p:pic>
        <p:nvPicPr>
          <p:cNvPr id="5" name="Picture 4" descr="https://gimg2.baidu.com/image_search/src=http%3A%2F%2Fpic.51yuansu.com%2Fpic3%2Fcover%2F03%2F46%2F97%2F5bab68eb6b4a1_610.jpg&amp;refer=http%3A%2F%2Fpic.51yuansu.com&amp;app=2002&amp;size=f9999,10000&amp;q=a80&amp;n=0&amp;g=0n&amp;fmt=jpeg?sec=1636806551&amp;t=fce412286299fb8c7d98cdbcbd681ecd">
            <a:extLst>
              <a:ext uri="{FF2B5EF4-FFF2-40B4-BE49-F238E27FC236}">
                <a16:creationId xmlns:a16="http://schemas.microsoft.com/office/drawing/2014/main" id="{9C57BCF5-0A3D-43CF-8558-15C23E8AD8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1676400"/>
            <a:ext cx="5105400" cy="5205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8215099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51054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20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Hadoop2.0</a:t>
            </a:r>
            <a:endParaRPr lang="en-US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Hadoop 2.0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的主要组件及其关系</a:t>
            </a:r>
            <a:endParaRPr lang="en-US" altLang="zh-CN" sz="16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在新的架构里，包含</a:t>
            </a:r>
            <a:r>
              <a:rPr lang="en-US" altLang="zh-CN" sz="1600" dirty="0" err="1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ResourceManager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en-US" altLang="zh-CN" sz="1600" dirty="0" err="1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NodeManager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两个重要的组件。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ResourceManager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运行在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Master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节点上，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NodeManager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运行在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Slave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节点上，一起负责分布式应用程序的调度和运行</a:t>
            </a:r>
            <a:endParaRPr lang="en-US" altLang="zh-CN" sz="1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en-US" altLang="zh-CN" sz="1600" dirty="0" err="1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ResourceManager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是为应用程序分配资源的最高权威。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ResourceManager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包含两个组件，包括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Scheduler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ApplicationManager</a:t>
            </a:r>
            <a:endParaRPr lang="en-US" altLang="zh-CN" sz="16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indent="266700" algn="just"/>
            <a:r>
              <a:rPr lang="en-US" altLang="zh-CN" sz="12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Scheduler</a:t>
            </a:r>
            <a:r>
              <a:rPr lang="zh-CN" altLang="zh-CN" sz="12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负责为应用程序分配资源，它根据应用程序的资源需求、以及一些限制条件，包括各个用户的限额等，完成资源的分配和调度。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Scheduler</a:t>
            </a:r>
            <a:r>
              <a:rPr lang="zh-CN" altLang="zh-CN" sz="12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使用资源容器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(Container)</a:t>
            </a:r>
            <a:r>
              <a:rPr lang="zh-CN" altLang="zh-CN" sz="12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的概念，把</a:t>
            </a:r>
            <a:r>
              <a:rPr lang="en-US" altLang="zh-CN" sz="12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zh-CN" sz="12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、内存、磁盘、网络带宽等资源整合起来</a:t>
            </a:r>
            <a:endParaRPr lang="en-US" altLang="zh-CN" sz="12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 fontScale="90000"/>
          </a:bodyPr>
          <a:lstStyle/>
          <a:p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Hadoop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入门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AA1B3CE-EDC7-4ABA-B651-E17A8275F4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2200" y="4178908"/>
            <a:ext cx="3962400" cy="2462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104508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51054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20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Hadoop2.0</a:t>
            </a:r>
            <a:endParaRPr lang="en-US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Hadoop 2.0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的主要组件及其关系</a:t>
            </a:r>
            <a:endParaRPr lang="en-US" altLang="zh-CN" sz="16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在新的架构里，包含</a:t>
            </a:r>
            <a:r>
              <a:rPr lang="en-US" altLang="zh-CN" sz="1600" dirty="0" err="1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ResourceManager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en-US" altLang="zh-CN" sz="1600" dirty="0" err="1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NodeManager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两个重要的组件。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ResourceManager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运行在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Master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节点上，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NodeManager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运行在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Slave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节点上，一起负责分布式应用程序的调度和运行</a:t>
            </a:r>
            <a:endParaRPr lang="en-US" altLang="zh-CN" sz="1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en-US" altLang="zh-CN" sz="1600" dirty="0" err="1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ResourceManager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是为应用程序分配资源的最高权威。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ResourceManager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包含两个组件，包括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Scheduler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ApplicationManager</a:t>
            </a:r>
            <a:endParaRPr lang="en-US" altLang="zh-CN" sz="16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indent="266700" algn="just"/>
            <a:r>
              <a:rPr lang="en-US" altLang="zh-CN" sz="1800" dirty="0" err="1">
                <a:solidFill>
                  <a:srgbClr val="C00000"/>
                </a:solidFill>
              </a:rPr>
              <a:t>ApplicationManager</a:t>
            </a:r>
            <a:r>
              <a:rPr lang="en-US" altLang="zh-CN" sz="1800" dirty="0"/>
              <a:t> </a:t>
            </a:r>
            <a:r>
              <a:rPr lang="zh-CN" altLang="zh-CN" sz="1800" dirty="0"/>
              <a:t>接受客户端应用程序提交的作业，向</a:t>
            </a:r>
            <a:r>
              <a:rPr lang="en-US" altLang="zh-CN" sz="1800" dirty="0"/>
              <a:t>Scheduler</a:t>
            </a:r>
            <a:r>
              <a:rPr lang="zh-CN" altLang="zh-CN" sz="1800" dirty="0"/>
              <a:t>为该应用程序申请第一个</a:t>
            </a:r>
            <a:r>
              <a:rPr lang="zh-CN" altLang="zh-CN" sz="1800" dirty="0">
                <a:solidFill>
                  <a:srgbClr val="C00000"/>
                </a:solidFill>
              </a:rPr>
              <a:t>容器，运行针对这个应用程序的</a:t>
            </a:r>
            <a:r>
              <a:rPr lang="en-US" altLang="zh-CN" sz="1800" dirty="0" err="1">
                <a:solidFill>
                  <a:srgbClr val="C00000"/>
                </a:solidFill>
              </a:rPr>
              <a:t>ApplicationMaster</a:t>
            </a:r>
            <a:r>
              <a:rPr lang="zh-CN" altLang="zh-CN" sz="1800" dirty="0"/>
              <a:t>，用于执行提交的作业</a:t>
            </a:r>
            <a:r>
              <a:rPr lang="en-US" altLang="zh-CN" sz="1800" dirty="0"/>
              <a:t>(</a:t>
            </a:r>
            <a:r>
              <a:rPr lang="zh-CN" altLang="zh-CN" sz="1800" dirty="0"/>
              <a:t>应用程序</a:t>
            </a:r>
            <a:r>
              <a:rPr lang="en-US" altLang="zh-CN" sz="1800" dirty="0"/>
              <a:t>)</a:t>
            </a:r>
            <a:r>
              <a:rPr lang="zh-CN" altLang="zh-CN" sz="1800" dirty="0"/>
              <a:t>，并且在发生失败的情况下，重新启动这个应用程序的</a:t>
            </a:r>
            <a:r>
              <a:rPr lang="en-US" altLang="zh-CN" sz="1800" dirty="0" err="1"/>
              <a:t>ApplicationMaster</a:t>
            </a:r>
            <a:r>
              <a:rPr lang="zh-CN" altLang="zh-CN" sz="1800" dirty="0"/>
              <a:t>。</a:t>
            </a:r>
            <a:endParaRPr lang="en-US" altLang="zh-CN" sz="1800" dirty="0"/>
          </a:p>
          <a:p>
            <a:pPr lvl="1" indent="266700" algn="just"/>
            <a:r>
              <a:rPr lang="en-US" altLang="zh-CN" sz="1800" dirty="0" err="1">
                <a:solidFill>
                  <a:srgbClr val="C00000"/>
                </a:solidFill>
              </a:rPr>
              <a:t>ApplicationMaster</a:t>
            </a:r>
            <a:r>
              <a:rPr lang="zh-CN" altLang="zh-CN" sz="1800" dirty="0"/>
              <a:t>从</a:t>
            </a:r>
            <a:r>
              <a:rPr lang="en-US" altLang="zh-CN" sz="1800" dirty="0"/>
              <a:t>Scheduler</a:t>
            </a:r>
            <a:r>
              <a:rPr lang="zh-CN" altLang="zh-CN" sz="1800" dirty="0"/>
              <a:t>为应用程序申请资源，和</a:t>
            </a:r>
            <a:r>
              <a:rPr lang="en-US" altLang="zh-CN" sz="1800" dirty="0" err="1"/>
              <a:t>NodeManager</a:t>
            </a:r>
            <a:r>
              <a:rPr lang="zh-CN" altLang="zh-CN" sz="1800" dirty="0"/>
              <a:t>一道，在分布式环境下执行应用程序，并追踪其状态、监控作业的进展情况。执行应用程序时，</a:t>
            </a:r>
            <a:r>
              <a:rPr lang="en-US" altLang="zh-CN" sz="1800" dirty="0" err="1"/>
              <a:t>ApplicationMaster</a:t>
            </a:r>
            <a:r>
              <a:rPr lang="en-US" altLang="zh-CN" sz="1800" dirty="0"/>
              <a:t> </a:t>
            </a:r>
            <a:r>
              <a:rPr lang="zh-CN" altLang="zh-CN" sz="1800" dirty="0"/>
              <a:t>监视容器直到其完成。当应用程序完成时，</a:t>
            </a:r>
            <a:r>
              <a:rPr lang="en-US" altLang="zh-CN" sz="1800" dirty="0" err="1"/>
              <a:t>ApplicationMaster</a:t>
            </a:r>
            <a:r>
              <a:rPr lang="en-US" altLang="zh-CN" sz="1800" dirty="0"/>
              <a:t> </a:t>
            </a:r>
            <a:r>
              <a:rPr lang="zh-CN" altLang="zh-CN" sz="1800" dirty="0"/>
              <a:t>从</a:t>
            </a:r>
            <a:r>
              <a:rPr lang="en-US" altLang="zh-CN" sz="1800" dirty="0"/>
              <a:t> </a:t>
            </a:r>
            <a:r>
              <a:rPr lang="en-US" altLang="zh-CN" sz="1800" dirty="0" err="1"/>
              <a:t>ResourceManager</a:t>
            </a:r>
            <a:r>
              <a:rPr lang="en-US" altLang="zh-CN" sz="1800" dirty="0"/>
              <a:t> </a:t>
            </a:r>
            <a:r>
              <a:rPr lang="zh-CN" altLang="zh-CN" sz="1800" dirty="0"/>
              <a:t>注销其容器，执行周期就完成了。</a:t>
            </a:r>
            <a:endParaRPr lang="en-US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 fontScale="90000"/>
          </a:bodyPr>
          <a:lstStyle/>
          <a:p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Hadoop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入门</a:t>
            </a:r>
          </a:p>
        </p:txBody>
      </p:sp>
    </p:spTree>
    <p:extLst>
      <p:ext uri="{BB962C8B-B14F-4D97-AF65-F5344CB8AC3E}">
        <p14:creationId xmlns:p14="http://schemas.microsoft.com/office/powerpoint/2010/main" val="188864179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51054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20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Hadoop2.0</a:t>
            </a:r>
            <a:endParaRPr lang="en-US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Hadoop 2.0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的主要组件及其关系</a:t>
            </a:r>
            <a:endParaRPr lang="en-US" altLang="zh-CN" sz="16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在新的架构里，包含</a:t>
            </a:r>
            <a:r>
              <a:rPr lang="en-US" altLang="zh-CN" sz="1600" dirty="0" err="1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ResourceManager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en-US" altLang="zh-CN" sz="1600" dirty="0" err="1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NodeManager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两个重要的组件。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ResourceManager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运行在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Master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节点上，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NodeManager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运行在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Slave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节点上，一起负责分布式应用程序的调度和运行</a:t>
            </a:r>
            <a:endParaRPr lang="en-US" altLang="zh-CN" sz="1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en-US" altLang="zh-CN" sz="1600" dirty="0" err="1">
                <a:solidFill>
                  <a:srgbClr val="C00000"/>
                </a:solidFill>
              </a:rPr>
              <a:t>NodeManager</a:t>
            </a:r>
            <a:r>
              <a:rPr lang="zh-CN" altLang="zh-CN" sz="1600" dirty="0"/>
              <a:t>运行在</a:t>
            </a:r>
            <a:r>
              <a:rPr lang="en-US" altLang="zh-CN" sz="1600" dirty="0"/>
              <a:t>Slave</a:t>
            </a:r>
            <a:r>
              <a:rPr lang="zh-CN" altLang="zh-CN" sz="1600" dirty="0"/>
              <a:t>节点上，它为应用程序启动容器，监控其资源使用情况</a:t>
            </a:r>
            <a:r>
              <a:rPr lang="en-US" altLang="zh-CN" sz="1600" dirty="0"/>
              <a:t>(</a:t>
            </a:r>
            <a:r>
              <a:rPr lang="zh-CN" altLang="zh-CN" sz="1600" dirty="0"/>
              <a:t>包括</a:t>
            </a:r>
            <a:r>
              <a:rPr lang="en-US" altLang="zh-CN" sz="1600" dirty="0"/>
              <a:t>CPU</a:t>
            </a:r>
            <a:r>
              <a:rPr lang="zh-CN" altLang="zh-CN" sz="1600" dirty="0"/>
              <a:t>、内存、磁盘、网络带宽的使用情况</a:t>
            </a:r>
            <a:r>
              <a:rPr lang="en-US" altLang="zh-CN" sz="1600" dirty="0"/>
              <a:t>)</a:t>
            </a:r>
            <a:r>
              <a:rPr lang="zh-CN" altLang="zh-CN" sz="1600" dirty="0"/>
              <a:t>，并且把这些信息报告给</a:t>
            </a:r>
            <a:r>
              <a:rPr lang="en-US" altLang="zh-CN" sz="1600" dirty="0" err="1"/>
              <a:t>ResourceManager</a:t>
            </a:r>
            <a:endParaRPr lang="en-US" altLang="zh-CN" sz="16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 fontScale="90000"/>
          </a:bodyPr>
          <a:lstStyle/>
          <a:p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Hadoop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入门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AA1B3CE-EDC7-4ABA-B651-E17A8275F4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2200" y="4178908"/>
            <a:ext cx="3962400" cy="2462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677659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51054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20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Hadoop2.0</a:t>
            </a:r>
            <a:endParaRPr lang="en-US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Hadoop 2.0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的主要组件及其关系</a:t>
            </a:r>
            <a:endParaRPr lang="en-US" altLang="zh-CN" sz="16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在新的架构里，包含</a:t>
            </a:r>
            <a:r>
              <a:rPr lang="en-US" altLang="zh-CN" sz="1600" dirty="0" err="1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ResourceManager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en-US" altLang="zh-CN" sz="1600" dirty="0" err="1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NodeManager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两个重要的组件。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ResourceManager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运行在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Master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节点上，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NodeManager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运行在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Slave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节点上，一起负责分布式应用程序的调度和运行</a:t>
            </a:r>
            <a:endParaRPr lang="en-US" altLang="zh-CN" sz="1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en-US" altLang="zh-CN" sz="1600" dirty="0" err="1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ResourceManager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是为应用程序分配资源的最高权威。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ResourceManager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包含两个组件，包括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Scheduler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ApplicationManager</a:t>
            </a:r>
            <a:endParaRPr lang="en-US" altLang="zh-CN" sz="16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 indent="266700" algn="just"/>
            <a:r>
              <a:rPr lang="en-US" altLang="zh-CN" sz="1300" dirty="0" err="1">
                <a:solidFill>
                  <a:srgbClr val="C00000"/>
                </a:solidFill>
              </a:rPr>
              <a:t>ApplicationManager</a:t>
            </a:r>
            <a:r>
              <a:rPr lang="en-US" altLang="zh-CN" sz="1300" dirty="0"/>
              <a:t> </a:t>
            </a:r>
            <a:r>
              <a:rPr lang="zh-CN" altLang="zh-CN" sz="1300" dirty="0"/>
              <a:t>接受客户端应用程序提交的作业，向</a:t>
            </a:r>
            <a:r>
              <a:rPr lang="en-US" altLang="zh-CN" sz="1300" dirty="0"/>
              <a:t>Scheduler</a:t>
            </a:r>
            <a:r>
              <a:rPr lang="zh-CN" altLang="zh-CN" sz="1300" dirty="0"/>
              <a:t>为该应用程序申请第一个容器，运行针对这个应用程序的</a:t>
            </a:r>
            <a:r>
              <a:rPr lang="en-US" altLang="zh-CN" sz="1300" dirty="0" err="1"/>
              <a:t>ApplicationMaster</a:t>
            </a:r>
            <a:r>
              <a:rPr lang="zh-CN" altLang="zh-CN" sz="1300" dirty="0"/>
              <a:t>，用于执行提交的作业</a:t>
            </a:r>
            <a:r>
              <a:rPr lang="en-US" altLang="zh-CN" sz="1300" dirty="0"/>
              <a:t>(</a:t>
            </a:r>
            <a:r>
              <a:rPr lang="zh-CN" altLang="zh-CN" sz="1300" dirty="0"/>
              <a:t>应用程序</a:t>
            </a:r>
            <a:r>
              <a:rPr lang="en-US" altLang="zh-CN" sz="1300" dirty="0"/>
              <a:t>)</a:t>
            </a:r>
            <a:r>
              <a:rPr lang="zh-CN" altLang="zh-CN" sz="1300" dirty="0"/>
              <a:t>，并且在发生失败的情况下，重新启动这个应用程序的</a:t>
            </a:r>
            <a:r>
              <a:rPr lang="en-US" altLang="zh-CN" sz="1300" dirty="0" err="1"/>
              <a:t>ApplicationMaster</a:t>
            </a:r>
            <a:r>
              <a:rPr lang="zh-CN" altLang="zh-CN" sz="1300" dirty="0"/>
              <a:t>。</a:t>
            </a:r>
            <a:endParaRPr lang="en-US" altLang="zh-CN" sz="13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 fontScale="90000"/>
          </a:bodyPr>
          <a:lstStyle/>
          <a:p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Hadoop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入门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AA1B3CE-EDC7-4ABA-B651-E17A8275F4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2200" y="4178908"/>
            <a:ext cx="3962400" cy="2462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180866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AC416C-D88F-EF4B-AA32-5613425BC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pause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4F34CD6-C4F2-1E45-9B7E-02BD8BA944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0200"/>
            <a:ext cx="7620000" cy="5105400"/>
          </a:xfrm>
        </p:spPr>
        <p:txBody>
          <a:bodyPr>
            <a:normAutofit/>
          </a:bodyPr>
          <a:lstStyle/>
          <a:p>
            <a:endParaRPr kumimoji="1" lang="zh-CN" altLang="en-US" dirty="0"/>
          </a:p>
        </p:txBody>
      </p:sp>
      <p:pic>
        <p:nvPicPr>
          <p:cNvPr id="5" name="Picture 4" descr="https://gimg2.baidu.com/image_search/src=http%3A%2F%2Fpic.51yuansu.com%2Fpic3%2Fcover%2F03%2F46%2F97%2F5bab68eb6b4a1_610.jpg&amp;refer=http%3A%2F%2Fpic.51yuansu.com&amp;app=2002&amp;size=f9999,10000&amp;q=a80&amp;n=0&amp;g=0n&amp;fmt=jpeg?sec=1636806551&amp;t=fce412286299fb8c7d98cdbcbd681ecd">
            <a:extLst>
              <a:ext uri="{FF2B5EF4-FFF2-40B4-BE49-F238E27FC236}">
                <a16:creationId xmlns:a16="http://schemas.microsoft.com/office/drawing/2014/main" id="{9C57BCF5-0A3D-43CF-8558-15C23E8AD8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1676400"/>
            <a:ext cx="5105400" cy="5205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5583557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51054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20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Hadoop2.0</a:t>
            </a:r>
            <a:endParaRPr lang="en-US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Hadoop 2.0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</a:t>
            </a:r>
            <a:r>
              <a:rPr lang="zh-CN" altLang="en-US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主要优势</a:t>
            </a:r>
            <a:endParaRPr lang="en-US" altLang="zh-CN" sz="16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en-US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(1) </a:t>
            </a:r>
            <a:r>
              <a:rPr lang="zh-CN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扩展性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ResourceManager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的主要功能，是资源的调度工作。所以它能够轻松地管理更大规模的集群系统，适应了数据量增长对数据中心的扩展性提出的挑战。</a:t>
            </a:r>
            <a:endParaRPr lang="en-US" altLang="zh-CN" sz="18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en-US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(2) </a:t>
            </a:r>
            <a:r>
              <a:rPr lang="zh-CN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更高的集群使用效率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ResourceManager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是一个单纯的资源管理器，它根据资源预留要求、公平性、服务水平协议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(Service Level Agreement, SLA)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等标准，优化整个集群的资源，使之得到很好的利用。</a:t>
            </a:r>
            <a:endParaRPr lang="en-US" altLang="zh-CN" sz="18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en-US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(3) </a:t>
            </a:r>
            <a:r>
              <a:rPr lang="zh-CN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兼容</a:t>
            </a:r>
            <a:r>
              <a:rPr lang="en-US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Hadoop1.0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：在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Hadoop1.0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平台上开发的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MapReduce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应用程序，无需修改，直接在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YARN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上运行。</a:t>
            </a:r>
            <a:endParaRPr lang="en-US" altLang="zh-CN" sz="18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en-US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(4) </a:t>
            </a:r>
            <a:r>
              <a:rPr lang="zh-CN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支持更多的负载类型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：当数据存储到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HDFS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以后，用户希望能够对数据以不同的方式进行处理。除了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MapReduce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应用程序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主要对数据进行批处理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YARN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支持更多的编程模型，包括图数据的处理、迭代式计算模型、实时流数据处理、交互式查询等。一般来讲，机器学习算法需要在数据集上，经过多次迭代，才能获得最终的计算结果。</a:t>
            </a:r>
            <a:endParaRPr lang="en-US" altLang="zh-CN" sz="18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en-US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(5) </a:t>
            </a:r>
            <a:r>
              <a:rPr lang="zh-CN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灵活性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MapReduce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等计算模型可以独立于资源管理层，单独演化和改进。使得系统各个部件的演进和配合，更加具有灵活性</a:t>
            </a:r>
            <a:endParaRPr lang="en-US" altLang="zh-CN" sz="17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 fontScale="90000"/>
          </a:bodyPr>
          <a:lstStyle/>
          <a:p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Hadoop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入门</a:t>
            </a:r>
          </a:p>
        </p:txBody>
      </p:sp>
    </p:spTree>
    <p:extLst>
      <p:ext uri="{BB962C8B-B14F-4D97-AF65-F5344CB8AC3E}">
        <p14:creationId xmlns:p14="http://schemas.microsoft.com/office/powerpoint/2010/main" val="266782413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51054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20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Hadoop</a:t>
            </a:r>
            <a:r>
              <a:rPr lang="zh-CN" altLang="en-US" sz="20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是否已经过时？</a:t>
            </a:r>
            <a:endParaRPr lang="en-US" altLang="zh-CN" sz="2000" dirty="0">
              <a:solidFill>
                <a:srgbClr val="C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algn="just"/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Spark 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速度更快，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Flink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批流融合</a:t>
            </a:r>
            <a:endParaRPr lang="en-US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 fontScale="90000"/>
          </a:bodyPr>
          <a:lstStyle/>
          <a:p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Hadoop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入门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8206971-BEA5-45C9-8128-BE5CE941F2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376064"/>
            <a:ext cx="5791200" cy="2372783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74675E70-6720-4102-B74C-2563428F55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4875746"/>
            <a:ext cx="3937482" cy="16406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7A0C903D-6397-4399-9EA8-9B81B14A228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147" b="11266"/>
          <a:stretch/>
        </p:blipFill>
        <p:spPr bwMode="auto">
          <a:xfrm>
            <a:off x="5029200" y="4832355"/>
            <a:ext cx="3314700" cy="16406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91839012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51054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20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Hadoop</a:t>
            </a:r>
            <a:r>
              <a:rPr lang="zh-CN" altLang="en-US" sz="20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是否已经过时？</a:t>
            </a:r>
            <a:endParaRPr lang="en-US" altLang="zh-CN" sz="200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algn="just"/>
            <a:r>
              <a:rPr lang="en-US" altLang="zh-CN" sz="1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Zookeeper, flume, </a:t>
            </a:r>
            <a:r>
              <a:rPr lang="en-US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Sqoop</a:t>
            </a:r>
            <a:endParaRPr lang="en-US" altLang="zh-CN" sz="1800" dirty="0">
              <a:solidFill>
                <a:srgbClr val="C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 fontScale="90000"/>
          </a:bodyPr>
          <a:lstStyle/>
          <a:p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Hadoop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入门</a:t>
            </a:r>
          </a:p>
        </p:txBody>
      </p:sp>
      <p:pic>
        <p:nvPicPr>
          <p:cNvPr id="2050" name="Picture 2" descr="Hadoop">
            <a:extLst>
              <a:ext uri="{FF2B5EF4-FFF2-40B4-BE49-F238E27FC236}">
                <a16:creationId xmlns:a16="http://schemas.microsoft.com/office/drawing/2014/main" id="{58B7B64B-29E4-43AC-A069-61A87AF7CB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2438400"/>
            <a:ext cx="8605261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椭圆 16">
            <a:extLst>
              <a:ext uri="{FF2B5EF4-FFF2-40B4-BE49-F238E27FC236}">
                <a16:creationId xmlns:a16="http://schemas.microsoft.com/office/drawing/2014/main" id="{956ACEFF-6952-4228-9411-BEFD49C30E4D}"/>
              </a:ext>
            </a:extLst>
          </p:cNvPr>
          <p:cNvSpPr/>
          <p:nvPr/>
        </p:nvSpPr>
        <p:spPr>
          <a:xfrm>
            <a:off x="2743200" y="3810000"/>
            <a:ext cx="1905000" cy="685800"/>
          </a:xfrm>
          <a:prstGeom prst="ellipse">
            <a:avLst/>
          </a:prstGeom>
          <a:noFill/>
          <a:ln w="5715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A0F2BA2B-01C0-4744-8EC9-D63EBE8ED490}"/>
              </a:ext>
            </a:extLst>
          </p:cNvPr>
          <p:cNvSpPr/>
          <p:nvPr/>
        </p:nvSpPr>
        <p:spPr>
          <a:xfrm>
            <a:off x="3200400" y="4953000"/>
            <a:ext cx="4038600" cy="685800"/>
          </a:xfrm>
          <a:prstGeom prst="ellipse">
            <a:avLst/>
          </a:prstGeom>
          <a:noFill/>
          <a:ln w="5715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椭圆 22">
            <a:extLst>
              <a:ext uri="{FF2B5EF4-FFF2-40B4-BE49-F238E27FC236}">
                <a16:creationId xmlns:a16="http://schemas.microsoft.com/office/drawing/2014/main" id="{F5AB65D1-D1EC-4A34-8D22-8FE6E7139132}"/>
              </a:ext>
            </a:extLst>
          </p:cNvPr>
          <p:cNvSpPr/>
          <p:nvPr/>
        </p:nvSpPr>
        <p:spPr>
          <a:xfrm>
            <a:off x="2811392" y="2895600"/>
            <a:ext cx="922408" cy="838200"/>
          </a:xfrm>
          <a:prstGeom prst="ellipse">
            <a:avLst/>
          </a:prstGeom>
          <a:noFill/>
          <a:ln w="5715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椭圆 23">
            <a:extLst>
              <a:ext uri="{FF2B5EF4-FFF2-40B4-BE49-F238E27FC236}">
                <a16:creationId xmlns:a16="http://schemas.microsoft.com/office/drawing/2014/main" id="{094DC8AF-DE39-465B-BCE0-8DE6F933EB72}"/>
              </a:ext>
            </a:extLst>
          </p:cNvPr>
          <p:cNvSpPr/>
          <p:nvPr/>
        </p:nvSpPr>
        <p:spPr>
          <a:xfrm>
            <a:off x="5029200" y="2971800"/>
            <a:ext cx="922408" cy="838200"/>
          </a:xfrm>
          <a:prstGeom prst="ellipse">
            <a:avLst/>
          </a:prstGeom>
          <a:noFill/>
          <a:ln w="5715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714939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ragon">
  <a:themeElements>
    <a:clrScheme name="Dragon">
      <a:dk1>
        <a:sysClr val="windowText" lastClr="000000"/>
      </a:dk1>
      <a:lt1>
        <a:sysClr val="window" lastClr="FFFFFF"/>
      </a:lt1>
      <a:dk2>
        <a:srgbClr val="001B36"/>
      </a:dk2>
      <a:lt2>
        <a:srgbClr val="EDF8FE"/>
      </a:lt2>
      <a:accent1>
        <a:srgbClr val="477AB1"/>
      </a:accent1>
      <a:accent2>
        <a:srgbClr val="51848E"/>
      </a:accent2>
      <a:accent3>
        <a:srgbClr val="7B9B57"/>
      </a:accent3>
      <a:accent4>
        <a:srgbClr val="8B8D8C"/>
      </a:accent4>
      <a:accent5>
        <a:srgbClr val="8B7396"/>
      </a:accent5>
      <a:accent6>
        <a:srgbClr val="E89A53"/>
      </a:accent6>
      <a:hlink>
        <a:srgbClr val="0080FF"/>
      </a:hlink>
      <a:folHlink>
        <a:srgbClr val="FF00FF"/>
      </a:folHlink>
    </a:clrScheme>
    <a:fontScheme name="Dragon">
      <a:majorFont>
        <a:latin typeface="Maiandra GD"/>
        <a:ea typeface=""/>
        <a:cs typeface=""/>
        <a:font script="CYRL" typeface="Times New Roman"/>
        <a:font script="GREK" typeface="Times New Roman"/>
        <a:font script="Jpan" typeface="ＭＳ Ｐゴシック"/>
        <a:font script="Hang" typeface="HY중고딕"/>
        <a:font script="Hans" typeface="隶书"/>
        <a:font script="Hant" typeface="微軟正黑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mbria"/>
        <a:ea typeface=""/>
        <a:cs typeface=""/>
        <a:font script="Jpan" typeface="ＭＳ Ｐ明朝"/>
        <a:font script="Hang" typeface="HY견명조"/>
        <a:font script="Hans" typeface="华文楷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Dragon">
      <a:fillStyleLst>
        <a:solidFill>
          <a:schemeClr val="phClr">
            <a:tint val="100000"/>
            <a:shade val="100000"/>
            <a:hueMod val="100000"/>
            <a:satMod val="100000"/>
          </a:schemeClr>
        </a:solidFill>
        <a:gradFill rotWithShape="1">
          <a:gsLst>
            <a:gs pos="0">
              <a:schemeClr val="phClr">
                <a:tint val="100000"/>
                <a:shade val="50000"/>
                <a:hueMod val="100000"/>
                <a:satMod val="250000"/>
              </a:schemeClr>
            </a:gs>
            <a:gs pos="75000">
              <a:schemeClr val="phClr">
                <a:tint val="80000"/>
                <a:shade val="100000"/>
                <a:hueMod val="100000"/>
                <a:satMod val="375000"/>
              </a:schemeClr>
            </a:gs>
            <a:gs pos="100000">
              <a:schemeClr val="phClr">
                <a:tint val="50000"/>
                <a:shade val="100000"/>
                <a:hueMod val="100000"/>
                <a:satMod val="5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100000"/>
                <a:shade val="50000"/>
                <a:hueMod val="100000"/>
                <a:satMod val="100000"/>
              </a:schemeClr>
              <a:schemeClr val="phClr">
                <a:tint val="100000"/>
                <a:shade val="75000"/>
                <a:hueMod val="100000"/>
                <a:satMod val="100000"/>
              </a:schemeClr>
            </a:duotone>
          </a:blip>
          <a:tile tx="0" ty="0" sx="50000" sy="50000" flip="none" algn="ctr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glow>
              <a:schemeClr val="phClr">
                <a:tint val="100000"/>
                <a:shade val="100000"/>
                <a:hueMod val="100000"/>
                <a:satMod val="100000"/>
              </a:schemeClr>
            </a:glow>
          </a:effectLst>
        </a:effectStyle>
        <a:effectStyle>
          <a:effectLst>
            <a:glow>
              <a:schemeClr val="phClr">
                <a:tint val="100000"/>
                <a:shade val="100000"/>
                <a:hueMod val="100000"/>
                <a:satMod val="100000"/>
              </a:schemeClr>
            </a:glow>
          </a:effectLst>
          <a:scene3d>
            <a:camera prst="orthographicFront" fov="0">
              <a:rot lat="0" lon="0" rev="0"/>
            </a:camera>
            <a:lightRig rig="threePt" dir="tl">
              <a:rot lat="0" lon="0" rev="0"/>
            </a:lightRig>
          </a:scene3d>
          <a:sp3d prstMaterial="metal">
            <a:bevelT w="12700" h="12700" prst="relaxedInset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glow>
              <a:schemeClr val="phClr">
                <a:tint val="100000"/>
                <a:shade val="100000"/>
                <a:hueMod val="100000"/>
                <a:satMod val="100000"/>
              </a:schemeClr>
            </a:glow>
            <a:outerShdw blurRad="44450" dist="50800" dir="3300000" sx="99000" sy="99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contrasting" dir="tl">
              <a:rot lat="0" lon="0" rev="14220000"/>
            </a:lightRig>
          </a:scene3d>
          <a:sp3d prstMaterial="dkEdge">
            <a:bevelT w="63500" h="63500"/>
            <a:bevelB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</a:effectStyleLst>
      <a:bgFillStyleLst>
        <a:solidFill>
          <a:schemeClr val="phClr">
            <a:tint val="100000"/>
            <a:shade val="100000"/>
            <a:hueMod val="100000"/>
            <a:satMod val="100000"/>
          </a:schemeClr>
        </a:solidFill>
        <a:gradFill rotWithShape="1">
          <a:gsLst>
            <a:gs pos="0">
              <a:schemeClr val="bg1">
                <a:tint val="100000"/>
                <a:shade val="100000"/>
                <a:hueMod val="100000"/>
                <a:satMod val="150000"/>
              </a:schemeClr>
            </a:gs>
            <a:gs pos="55000">
              <a:schemeClr val="bg1">
                <a:tint val="100000"/>
                <a:shade val="90000"/>
                <a:hueMod val="100000"/>
                <a:satMod val="375000"/>
              </a:schemeClr>
            </a:gs>
            <a:gs pos="100000">
              <a:schemeClr val="phClr">
                <a:tint val="88000"/>
                <a:shade val="100000"/>
                <a:hueMod val="100000"/>
                <a:satMod val="500000"/>
              </a:schemeClr>
            </a:gs>
          </a:gsLst>
          <a:lin ang="5400000" scaled="1"/>
        </a:gradFill>
        <a:blipFill>
          <a:blip xmlns:r="http://schemas.openxmlformats.org/officeDocument/2006/relationships" r:embed="rId2">
            <a:duotone>
              <a:schemeClr val="phClr">
                <a:shade val="30000"/>
                <a:satMod val="555000"/>
              </a:schemeClr>
              <a:schemeClr val="phClr">
                <a:tint val="96000"/>
                <a:satMod val="120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Dragon</Template>
  <TotalTime>3205</TotalTime>
  <Words>5905</Words>
  <Application>Microsoft Office PowerPoint</Application>
  <PresentationFormat>全屏显示(4:3)</PresentationFormat>
  <Paragraphs>335</Paragraphs>
  <Slides>63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63</vt:i4>
      </vt:variant>
    </vt:vector>
  </HeadingPairs>
  <TitlesOfParts>
    <vt:vector size="75" baseType="lpstr">
      <vt:lpstr>华文楷体</vt:lpstr>
      <vt:lpstr>隶书</vt:lpstr>
      <vt:lpstr>微软雅黑</vt:lpstr>
      <vt:lpstr>Arial</vt:lpstr>
      <vt:lpstr>Calibri</vt:lpstr>
      <vt:lpstr>Cambria</vt:lpstr>
      <vt:lpstr>Cambria Math</vt:lpstr>
      <vt:lpstr>Maiandra GD</vt:lpstr>
      <vt:lpstr>Times New Roman</vt:lpstr>
      <vt:lpstr>Wingdings 2</vt:lpstr>
      <vt:lpstr>Wingdings 3</vt:lpstr>
      <vt:lpstr>Dragon</vt:lpstr>
      <vt:lpstr>Hadoop与Spark</vt:lpstr>
      <vt:lpstr>Hadoop入门</vt:lpstr>
      <vt:lpstr>Hadoop入门</vt:lpstr>
      <vt:lpstr>Hadoop入门</vt:lpstr>
      <vt:lpstr>pause</vt:lpstr>
      <vt:lpstr>Hadoop入门</vt:lpstr>
      <vt:lpstr>Hadoop入门</vt:lpstr>
      <vt:lpstr>Hadoop入门</vt:lpstr>
      <vt:lpstr>Hadoop入门</vt:lpstr>
      <vt:lpstr>Hadoop入门</vt:lpstr>
      <vt:lpstr>Hadoop入门</vt:lpstr>
      <vt:lpstr>Hadoop入门</vt:lpstr>
      <vt:lpstr>Hadoop入门</vt:lpstr>
      <vt:lpstr>Hadoop入门</vt:lpstr>
      <vt:lpstr>Hadoop入门</vt:lpstr>
      <vt:lpstr>Hadoop入门</vt:lpstr>
      <vt:lpstr>pause</vt:lpstr>
      <vt:lpstr>Hadoop</vt:lpstr>
      <vt:lpstr>Hadoop</vt:lpstr>
      <vt:lpstr>Hadoop</vt:lpstr>
      <vt:lpstr>Hadoop</vt:lpstr>
      <vt:lpstr>pause</vt:lpstr>
      <vt:lpstr>Hadoop入门</vt:lpstr>
      <vt:lpstr>Hadoop入门</vt:lpstr>
      <vt:lpstr>Hadoop入门</vt:lpstr>
      <vt:lpstr>Hadoop入门</vt:lpstr>
      <vt:lpstr>pause</vt:lpstr>
      <vt:lpstr>Hadoop入门</vt:lpstr>
      <vt:lpstr>Hadoop入门</vt:lpstr>
      <vt:lpstr>Hadoop入门</vt:lpstr>
      <vt:lpstr>Hadoop入门</vt:lpstr>
      <vt:lpstr>pause</vt:lpstr>
      <vt:lpstr>Hadoop</vt:lpstr>
      <vt:lpstr>Hadoop</vt:lpstr>
      <vt:lpstr>Hadoop</vt:lpstr>
      <vt:lpstr>pause</vt:lpstr>
      <vt:lpstr>Hadoop</vt:lpstr>
      <vt:lpstr>Hadoop</vt:lpstr>
      <vt:lpstr>Hadoop</vt:lpstr>
      <vt:lpstr>Hadoop</vt:lpstr>
      <vt:lpstr>Hadoop</vt:lpstr>
      <vt:lpstr>Hadoop</vt:lpstr>
      <vt:lpstr>pause</vt:lpstr>
      <vt:lpstr>Hadoop入门</vt:lpstr>
      <vt:lpstr>Hadoop入门</vt:lpstr>
      <vt:lpstr>Hadoop入门</vt:lpstr>
      <vt:lpstr>Hadoop入门</vt:lpstr>
      <vt:lpstr>Hadoop入门</vt:lpstr>
      <vt:lpstr>pause</vt:lpstr>
      <vt:lpstr>Hadoop入门</vt:lpstr>
      <vt:lpstr>Hadoop入门</vt:lpstr>
      <vt:lpstr>Hadoop入门</vt:lpstr>
      <vt:lpstr>Hadoop入门</vt:lpstr>
      <vt:lpstr>Hadoop入门</vt:lpstr>
      <vt:lpstr>pause</vt:lpstr>
      <vt:lpstr>Hadoop入门</vt:lpstr>
      <vt:lpstr>Hadoop入门</vt:lpstr>
      <vt:lpstr>Hadoop入门</vt:lpstr>
      <vt:lpstr>Hadoop入门</vt:lpstr>
      <vt:lpstr>pause</vt:lpstr>
      <vt:lpstr>Hadoop入门</vt:lpstr>
      <vt:lpstr>Hadoop入门</vt:lpstr>
      <vt:lpstr>Hadoop入门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Pebble</dc:creator>
  <cp:lastModifiedBy>雄派 覃</cp:lastModifiedBy>
  <cp:revision>810</cp:revision>
  <dcterms:created xsi:type="dcterms:W3CDTF">2006-08-16T00:00:00Z</dcterms:created>
  <dcterms:modified xsi:type="dcterms:W3CDTF">2023-04-24T07:18:22Z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2052-10.1.0.7400</vt:lpwstr>
  </property>
</Properties>
</file>