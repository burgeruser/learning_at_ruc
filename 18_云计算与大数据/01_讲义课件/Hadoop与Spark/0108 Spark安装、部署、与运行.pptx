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610" r:id="rId2"/>
    <p:sldId id="285" r:id="rId3"/>
    <p:sldId id="611" r:id="rId4"/>
    <p:sldId id="612" r:id="rId5"/>
    <p:sldId id="613" r:id="rId6"/>
    <p:sldId id="614" r:id="rId7"/>
    <p:sldId id="615" r:id="rId8"/>
    <p:sldId id="616" r:id="rId9"/>
    <p:sldId id="617" r:id="rId10"/>
    <p:sldId id="618" r:id="rId11"/>
    <p:sldId id="619" r:id="rId12"/>
    <p:sldId id="620" r:id="rId13"/>
    <p:sldId id="621" r:id="rId14"/>
    <p:sldId id="622" r:id="rId15"/>
    <p:sldId id="623" r:id="rId16"/>
    <p:sldId id="624" r:id="rId17"/>
    <p:sldId id="625" r:id="rId18"/>
    <p:sldId id="626" r:id="rId19"/>
    <p:sldId id="627" r:id="rId20"/>
    <p:sldId id="628" r:id="rId21"/>
    <p:sldId id="629" r:id="rId22"/>
    <p:sldId id="630" r:id="rId23"/>
    <p:sldId id="631" r:id="rId24"/>
    <p:sldId id="658" r:id="rId25"/>
    <p:sldId id="692" r:id="rId26"/>
    <p:sldId id="632" r:id="rId27"/>
    <p:sldId id="633" r:id="rId28"/>
    <p:sldId id="634" r:id="rId29"/>
    <p:sldId id="635" r:id="rId30"/>
    <p:sldId id="636" r:id="rId31"/>
    <p:sldId id="637" r:id="rId32"/>
    <p:sldId id="638" r:id="rId33"/>
    <p:sldId id="639" r:id="rId34"/>
    <p:sldId id="640" r:id="rId35"/>
    <p:sldId id="641" r:id="rId36"/>
    <p:sldId id="642" r:id="rId37"/>
    <p:sldId id="643" r:id="rId38"/>
    <p:sldId id="644" r:id="rId39"/>
    <p:sldId id="645" r:id="rId40"/>
    <p:sldId id="693" r:id="rId41"/>
    <p:sldId id="646" r:id="rId42"/>
    <p:sldId id="647" r:id="rId43"/>
    <p:sldId id="648" r:id="rId44"/>
    <p:sldId id="649" r:id="rId45"/>
    <p:sldId id="650" r:id="rId46"/>
    <p:sldId id="651" r:id="rId47"/>
    <p:sldId id="652" r:id="rId48"/>
    <p:sldId id="653" r:id="rId49"/>
    <p:sldId id="654" r:id="rId50"/>
    <p:sldId id="655" r:id="rId51"/>
    <p:sldId id="656" r:id="rId52"/>
    <p:sldId id="657" r:id="rId53"/>
    <p:sldId id="660" r:id="rId54"/>
    <p:sldId id="694" r:id="rId55"/>
    <p:sldId id="659" r:id="rId56"/>
    <p:sldId id="661" r:id="rId57"/>
    <p:sldId id="662" r:id="rId58"/>
    <p:sldId id="663" r:id="rId59"/>
    <p:sldId id="664" r:id="rId60"/>
    <p:sldId id="665" r:id="rId61"/>
    <p:sldId id="666" r:id="rId62"/>
    <p:sldId id="667" r:id="rId63"/>
    <p:sldId id="668" r:id="rId64"/>
    <p:sldId id="669" r:id="rId65"/>
    <p:sldId id="670" r:id="rId66"/>
    <p:sldId id="671" r:id="rId67"/>
    <p:sldId id="672" r:id="rId68"/>
    <p:sldId id="673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58"/>
            <p14:sldId id="692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93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60"/>
            <p14:sldId id="694"/>
            <p14:sldId id="659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>
        <p:scale>
          <a:sx n="70" d="100"/>
          <a:sy n="70" d="100"/>
        </p:scale>
        <p:origin x="1979" y="169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本安装采用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Standalone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部署模式，其它模式包括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on YARN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on Mesos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等不同的部署模式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主要的区别是采用的资源管理器不一样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事先要安装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JDK1.8.0_144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请参考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“Hadoop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安装与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一章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677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https://www.continuum.io/downloads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Anaconda 2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A64A71-99EC-4CA9-9031-ACBE39AB8B95}"/>
              </a:ext>
            </a:extLst>
          </p:cNvPr>
          <p:cNvSpPr txBox="1"/>
          <p:nvPr/>
        </p:nvSpPr>
        <p:spPr>
          <a:xfrm>
            <a:off x="609600" y="3057435"/>
            <a:ext cx="7924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ls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 ./Anaconda2-4.4.0-Linux-x86_64.sh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可以指定安装路径为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/anaconda2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797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bashrc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文件，并且使之生效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A64A71-99EC-4CA9-9031-ACBE39AB8B95}"/>
              </a:ext>
            </a:extLst>
          </p:cNvPr>
          <p:cNvSpPr txBox="1"/>
          <p:nvPr/>
        </p:nvSpPr>
        <p:spPr>
          <a:xfrm>
            <a:off x="609600" y="3057435"/>
            <a:ext cx="79248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PYTHON_HOME=/opt/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/anaconda2"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PATH=\$PATH:\$PYTHON_HOME/bin"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61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http://www.scala-lang.org/download/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scala-2.10.1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A64A71-99EC-4CA9-9031-ACBE39AB8B95}"/>
              </a:ext>
            </a:extLst>
          </p:cNvPr>
          <p:cNvSpPr txBox="1"/>
          <p:nvPr/>
        </p:nvSpPr>
        <p:spPr>
          <a:xfrm>
            <a:off x="609600" y="3057435"/>
            <a:ext cx="7924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tar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xzvf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./scala-2.10.1.tgz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 scala-2.10.1/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78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bashrc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文件，并且使之生效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A64A71-99EC-4CA9-9031-ACBE39AB8B95}"/>
              </a:ext>
            </a:extLst>
          </p:cNvPr>
          <p:cNvSpPr txBox="1"/>
          <p:nvPr/>
        </p:nvSpPr>
        <p:spPr>
          <a:xfrm>
            <a:off x="609600" y="3057435"/>
            <a:ext cx="79248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SCALA_HOME=/opt/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PATH=\$PATH:\$SCALA_HOME/bin:\$SCALA_HOME/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验证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是否安装成功</a:t>
            </a: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-version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682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https://spark.apache.org/downloads.html</a:t>
            </a: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spark-2.1.1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并且解压缩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A64A71-99EC-4CA9-9031-ACBE39AB8B95}"/>
              </a:ext>
            </a:extLst>
          </p:cNvPr>
          <p:cNvSpPr txBox="1"/>
          <p:nvPr/>
        </p:nvSpPr>
        <p:spPr>
          <a:xfrm>
            <a:off x="609600" y="3057435"/>
            <a:ext cx="79248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tar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xzvf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./spark-2.1.1-bin-hadoop2.7.tgz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 spark-2.1.1-bin-hadoop2.7/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84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bashrc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文件，并且使之生效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备注：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py4j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等两个模块，在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的安装目录里，需要定义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PYTHONPATH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环境变量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A64A71-99EC-4CA9-9031-ACBE39AB8B95}"/>
              </a:ext>
            </a:extLst>
          </p:cNvPr>
          <p:cNvSpPr txBox="1"/>
          <p:nvPr/>
        </p:nvSpPr>
        <p:spPr>
          <a:xfrm>
            <a:off x="609600" y="3057435"/>
            <a:ext cx="79248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"" &gt;&gt; 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SPARK_HOME=/opt/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PATH=\$PATH:\$SPARK_HOME/bin:\$SPARK_HOME/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"export PYTHONPATH=\$PYTHONPATH:\$SPARK_HOME/python/:\$SPARK_HOME/python/lib/py4j-0.10.4-src.zip" &gt;&gt;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92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/spark/conf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从模板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env.sh.template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拷贝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spark-env.sh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A64A71-99EC-4CA9-9031-ACBE39AB8B95}"/>
              </a:ext>
            </a:extLst>
          </p:cNvPr>
          <p:cNvSpPr txBox="1"/>
          <p:nvPr/>
        </p:nvSpPr>
        <p:spPr>
          <a:xfrm>
            <a:off x="609600" y="2782669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spark-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env.sh.template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spark-env.sh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40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spark-env.sh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文件，内容如下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47700" y="2209800"/>
            <a:ext cx="7924800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JAVA_HOME=/opt/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/java/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HADOOP_HOME=/opt/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HADOOP_CONF_DIR=/opt/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HIVE_HOME=/opt/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SCALA_HOME=/opt/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SCALA_LIBRARY_PATH=${SPARK_HOME}/lib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SPARK_HOME=/opt/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SPARK_DIST_CLASSPATH=$(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classpath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SPARK_LIBRARY_PATH=${SPARK_HOME}/lib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SPARK_MASTER_HOST=192.168.31.129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SPARK_MASTER_PORT=17077 #7077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被占用就改成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17077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SPARK_MASTER_WEBUI_PORT=18080 #8080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被占用就改成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18080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SPARK_WORKER_WEBUI_PORT=18081 #8081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被占用就改成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18081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SPARK_WORKER_MEMORY=1280m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SPARK_LOCAL_DIRS=/opt/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sparkdata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096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/spark/conf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从模板拷贝并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slaves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25908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slaves.template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slaves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33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echo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命令修改其内容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/spark/conf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slaves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48603" y="2782669"/>
            <a:ext cx="7924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"" &gt;&gt; slaves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"hd-slave1" &gt;&gt; slaves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echo "hd-slave2" &gt;&gt; slaves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 slaves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060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bashrc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/python/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等配置文件和软件包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整个目录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，复制到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hd-slave1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hd-slave2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48603" y="2782669"/>
            <a:ext cx="7924800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-r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root@192.168.31.130:~/.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-r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root@192.168.31.131:~/.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/anaconda2 root@192.168.31.130:/opt/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/anaconda2 root@192.168.31.131:/opt/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root@192.168.31.130:/opt/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root@192.168.31.131:/opt/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 root@192.168.31.130:/opt/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 root@192.168.31.131:/opt/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565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部署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在三个节点上运行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bashrc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，刷新环境变量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48603" y="2782669"/>
            <a:ext cx="79248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source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source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source ~/.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35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首先需要启动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793173" y="2667000"/>
            <a:ext cx="79248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./start-dfs.sh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./start-yarn.sh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65B552-8CE9-43FB-97D7-127816FC765A}"/>
              </a:ext>
            </a:extLst>
          </p:cNvPr>
          <p:cNvSpPr/>
          <p:nvPr/>
        </p:nvSpPr>
        <p:spPr>
          <a:xfrm>
            <a:off x="2324100" y="5124271"/>
            <a:ext cx="45720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用如下命令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./stop-yarn.sh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./stop-dfs.sh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3387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确认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的配置文件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usr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/local/hive/conf/hive-site.xml</a:t>
            </a: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已经有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的设置项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48603" y="2782669"/>
            <a:ext cx="7924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hive.metastore.uris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&lt;value&gt;thrift://192.168.31.129: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19083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&lt;/value&gt;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82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用如下命令，启动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48603" y="2782669"/>
            <a:ext cx="7924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./bin/hive --service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19083 &amp;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E0CF03-5BFF-449B-B752-D3B5364028ED}"/>
              </a:ext>
            </a:extLst>
          </p:cNvPr>
          <p:cNvSpPr/>
          <p:nvPr/>
        </p:nvSpPr>
        <p:spPr>
          <a:xfrm>
            <a:off x="2324100" y="4856202"/>
            <a:ext cx="4572000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用如下命令</a:t>
            </a:r>
          </a:p>
          <a:p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ps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ef|grep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metastore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kill -9 16336 \\16336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7597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/spark/conf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hive-site.xml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。主要的目的是，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meta 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所在的位置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thrift server host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thrift server port(thrift server host /port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也可以在启动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thrift server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时，在命令行设置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762000" y="4038600"/>
            <a:ext cx="79248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&lt;?xml version="1.0" encoding="UTF-8" standalone="yes"?&gt;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&lt;configuration&gt;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&lt;property&gt;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&lt;name&gt;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hive.metastore.uris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  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&lt;value&gt;thrift://192.168.31.129:19083&lt;/value&gt;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&lt;/property&gt;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&lt;/configuration&gt;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860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./sbin/start-all.sh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用如下命令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./sbin/stop-all.sh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348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时，内存不足，解决办法如下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spark-env.sh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文件，修改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SPARK_WORKER_MEMORY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配置项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修改配置文件以后，要同步配置文件；然后再次启动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试试看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SPARK_WORKER_MEMORY=1280m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583C4E-798F-4736-853F-7B64F6292C77}"/>
              </a:ext>
            </a:extLst>
          </p:cNvPr>
          <p:cNvSpPr txBox="1"/>
          <p:nvPr/>
        </p:nvSpPr>
        <p:spPr>
          <a:xfrm>
            <a:off x="228600" y="5029200"/>
            <a:ext cx="83439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/opt/linuxsir/spark/conf/spark-env.sh root@192.168.31.130:/opt/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/opt/linuxsir/spark/conf/spark-env.sh root@192.168.31.131:/opt/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/spark/conf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70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查看进程是否正常启动，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节点上应该有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Master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hd-slave1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hd-slave2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节点上应该有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Worker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当然，各个节点还应该启动了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的相关进程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274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可以通过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Web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浏览器，对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作业进行监控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http://192.168.31.129:18080/jobs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58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进程及其关系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8B084E-6E80-43AE-8B06-FD8961AF9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2514600"/>
            <a:ext cx="6324600" cy="374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24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858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SQL Shell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shell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./bin/spark-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--master spark://hd-master: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17077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835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SQL Shell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提示符下，运行如下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spark.sql.shuffle.partitions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=20;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id,word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from words;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id, count(*) from words group by id order by id;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id,word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from words order by id;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exit;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4762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shell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MASTER=spark://hd-master:17077 ./bin/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634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提示符下运行如下代码。可以通过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sqlContext.sql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运行其它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pyspark.sql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HiveContext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HiveContext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results=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("show databases").collect()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print(results)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494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进行数据处理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从本地把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/test.txt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文件拷贝到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/input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目录。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中读取数据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/local/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copyFromLocal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/test.txt /input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556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进行数据处理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shell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MASTER=spark://hd-master:17077 ./bin/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2598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进行数据处理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shell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提示符下，运行如下代码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31393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SparkContext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SparkContext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textFile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sc.textFile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://hd-master:9000/input/test.txt")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textFile.count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  #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textFile.count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返回文件行数</a:t>
            </a: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textFile.first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linesWithSpark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textFile.filter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(lambda line:"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 in line) # filter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方法创建一个新的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包含有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'Spark'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linesWithSpark.count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ctrl +D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912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WordCount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读取文件并运行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WordCount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从本地把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/test.txt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文件拷贝到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/input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copyFromLocal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/test.txt /input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985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WordCount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scale shell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MASTER=spark://hd-master:17077 ./spark-shell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8953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WordCount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scale shell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09600" y="3429000"/>
            <a:ext cx="7924800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file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sc.textFile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://hd-master:9000/input/test.txt")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file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sc.textFile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("file:///opt/linuxsir/test.txt")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count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file.flatMap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(line =&gt;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line.split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 ")).map(word =&gt; (word, 1)).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reduceByKey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(_+_)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count.collect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:quit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003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SQL(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本地文件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我们也可以在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提示符下，利用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47700" y="2590800"/>
            <a:ext cx="7924800" cy="41549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org.apache.spark.sql.SQLContext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org.apache.spark.sql.hive.HiveContext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("CREATE TABLE IF NOT EXISTS words1 (id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INT,word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STRING) ROW FORMAT DELIMITED FIELDS TERMINATED BY ' ' LINES TERMINATED BY '\n'")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("LOAD DATA </a:t>
            </a:r>
            <a:r>
              <a:rPr lang="en-US" altLang="zh-CN" sz="12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LOCAL</a:t>
            </a:r>
            <a:r>
              <a:rPr lang="en-US" altLang="zh-CN" sz="12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INPATH '/opt/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/hive-test.txt' OVERWRITE INTO TABLE words1")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("FROM words1 SELECT id, word").collect().foreach(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("select id, word FROM words1 order by id").collect().foreach(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println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df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("SELECT * FROM words1")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df.show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("insert into words1 values(7, '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tahao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')")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df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("SELECT * FROM words1")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df.show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("drop table words1")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df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spark.read.json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("file:///opt/linuxsir/spark/examples/src/main/resources/people.json")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df.show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:quit</a:t>
            </a:r>
            <a:endParaRPr lang="zh-CN" altLang="zh-CN" sz="1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120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SQL(HDFS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另一个实例如下，在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里面用利用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函数运行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，建表、插入数据、再进行查询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表格的数据源为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从本地把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 hive-test.txt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文件拷贝到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/input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85800" y="41148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-put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/hive-test.txt /input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265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SQL(HDFS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scale shell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47700" y="32004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/spark/bin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MASTER=spark://hd-master:17077 ./spark-shell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5718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SQL(HDFS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266700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shell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提示符下，运行如下代码，利用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sqlContext.sql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47700" y="2667000"/>
            <a:ext cx="7924800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org.apache.spark.sql.SQLContext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org.apache.spark.sql.hive.HiveContext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("CREATE TABLE IF NOT EXISTS words1 (id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INT,word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STRING) ROW FORMAT DELIMITED FIELDS TERMINATED BY ' ' LINES TERMINATED BY '\n'")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("LOAD DATA INPATH '/input/hive-test.txt' OVERWRITE INTO TABLE words1")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df =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sqlContext.sql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("SELECT * from words1")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df.filter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(df("id") &gt; 3).show()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:quit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241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5322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lvl="1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在配置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ThriftServer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的时候，至少要配置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ThriftServer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的主机名和端口，如果要使用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数据的话，还要提供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Metastore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uris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。</a:t>
            </a:r>
          </a:p>
          <a:p>
            <a:pPr lvl="1"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spark/conf/hive-site.xml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文件，保证有如下几个配置项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733831" y="2971800"/>
            <a:ext cx="7924800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&lt;configuration&gt;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&lt;property&gt;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&lt;name&gt;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hive.metastore.uris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&lt;value&gt;thrift://hd-master:19083&lt;/value&gt;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&lt;/property&gt;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&lt;property&gt;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&lt;name&gt;hive.server2.thrift.port&lt;/name&gt;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&lt;value&gt;</a:t>
            </a:r>
            <a:r>
              <a:rPr lang="en-US" altLang="zh-CN" sz="16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10013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&lt;/value&gt;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&lt;/property&gt;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&lt;property&gt;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&lt;name&gt;hive.server2.thrift.bind.host&lt;/name&gt;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&lt;value&gt;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-master&lt;/value&gt;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&lt;/property&gt;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&lt;/configuration&gt;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8062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如果要存取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文件，需要首先启动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endParaRPr lang="zh-CN" altLang="en-US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733831" y="2971800"/>
            <a:ext cx="79248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./start-dfs.sh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./start-yarn.sh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2406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首先，启动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733831" y="29718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./bin/hive --service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19083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&amp;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2757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接着启动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endParaRPr lang="zh-CN" altLang="en-US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733831" y="29718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./sbin/start-all.sh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9078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thriftserver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733831" y="2971800"/>
            <a:ext cx="79248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用如下命令启动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thriftserver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./sbin/start-thriftserver.sh --master spark://hd-master:17077 \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hiveconf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hive.server2.thrift.bind.host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-master \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hiveconf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hive.server2.thrift.port 10013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等待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thriftserver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netstat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lanp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| grep 10013  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确认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thriftserver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已经在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10013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端口监听</a:t>
            </a:r>
          </a:p>
        </p:txBody>
      </p:sp>
    </p:spTree>
    <p:extLst>
      <p:ext uri="{BB962C8B-B14F-4D97-AF65-F5344CB8AC3E}">
        <p14:creationId xmlns:p14="http://schemas.microsoft.com/office/powerpoint/2010/main" val="21382120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里面，连接到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thrift server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733831" y="29718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!connect jdbc:hive2://hd-master:</a:t>
            </a:r>
            <a:r>
              <a:rPr lang="en-US" altLang="zh-CN" sz="18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10013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用户名为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，密码为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rootroot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378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beeline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里面，运行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741415" y="2538127"/>
            <a:ext cx="79248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 databases;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 default;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show tables;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* from words;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id,count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(*) from words group by id order by id;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select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id,count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(*) from words1 group by id order by id;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!exit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2951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的作业界面看到，每个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语句对应一个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job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，监控端口是缺省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8080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已经改为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18080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可以通过浏览器启动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的作业监控界面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90856" y="2895600"/>
            <a:ext cx="79248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http://192.168.31.129:18080/jobs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8497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按照逆序停止软件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首先，停止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thrift server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90856" y="28956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./sbin/stop-thriftserver.sh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2254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按照逆序停止软件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90856" y="28956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./sbin/stop-all.sh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081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按照逆序停止软件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90856" y="2895600"/>
            <a:ext cx="79248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netstat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ntlp|grep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19083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kill -9 16336 \\16336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是进程号</a:t>
            </a:r>
          </a:p>
        </p:txBody>
      </p:sp>
    </p:spTree>
    <p:extLst>
      <p:ext uri="{BB962C8B-B14F-4D97-AF65-F5344CB8AC3E}">
        <p14:creationId xmlns:p14="http://schemas.microsoft.com/office/powerpoint/2010/main" val="21334250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indent="266700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按照逆序停止软件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/yarn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90856" y="2895600"/>
            <a:ext cx="79248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./stop-yarn.sh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./stop-dfs.sh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5413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配置和启动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thrift server</a:t>
            </a:r>
          </a:p>
          <a:p>
            <a:pPr indent="266700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通过日志分析错误情况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5B4E41-4239-434D-AB86-0A61C981F319}"/>
              </a:ext>
            </a:extLst>
          </p:cNvPr>
          <p:cNvSpPr txBox="1"/>
          <p:nvPr/>
        </p:nvSpPr>
        <p:spPr>
          <a:xfrm>
            <a:off x="690856" y="2895600"/>
            <a:ext cx="79248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启动或者运行中出现错误，可以分析其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Log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上运行的每个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job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，它的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log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，在每个从节点的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SPARK_HOME/work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目录下，每个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job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的日志包括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stdout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stderr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两个文件，内容是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job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写到标准输出、和标准错误输出的内容</a:t>
            </a:r>
          </a:p>
        </p:txBody>
      </p:sp>
    </p:spTree>
    <p:extLst>
      <p:ext uri="{BB962C8B-B14F-4D97-AF65-F5344CB8AC3E}">
        <p14:creationId xmlns:p14="http://schemas.microsoft.com/office/powerpoint/2010/main" val="28586030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69696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调试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程序，需要安装必要的软件和进行一系列的配置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具体描述如下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8335C0-6214-49CF-9F8E-2DEB56E0D6BF}"/>
              </a:ext>
            </a:extLst>
          </p:cNvPr>
          <p:cNvSpPr txBox="1"/>
          <p:nvPr/>
        </p:nvSpPr>
        <p:spPr>
          <a:xfrm>
            <a:off x="685800" y="2819400"/>
            <a:ext cx="78486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上解压缩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2.7.3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一般把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hadoop-2.7.3.tar.gz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文件，解压缩到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D:\hadoop-2.7.3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目录下。</a:t>
            </a: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上解压缩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spark-2.1.0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spark-2.1.1-bin-hadoop2.7.tgz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文件，解压缩到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d:\spark-2.1.1-bin-hadoop2.7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目录下。</a:t>
            </a: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winutils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hadoop-2.7.3-winutils.zip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文件，解压缩到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D:\hadoop-2.7.3\bin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该文件包含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hadoop.dll &amp; winutils.exe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请参考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4.18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节了解如何下载该文件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9211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调试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程序，需要安装必要的软件和进行一系列的配置。具体描述如下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8335C0-6214-49CF-9F8E-2DEB56E0D6BF}"/>
              </a:ext>
            </a:extLst>
          </p:cNvPr>
          <p:cNvSpPr txBox="1"/>
          <p:nvPr/>
        </p:nvSpPr>
        <p:spPr>
          <a:xfrm>
            <a:off x="685800" y="2819400"/>
            <a:ext cx="78486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设定环境变量</a:t>
            </a: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右键点击我的电脑图标，选择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高级系统设置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环境变量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系统变量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等命令和菜单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界面元素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序列，添加如下变量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HADOOP_HOME    d:\hadoop-2.7.3</a:t>
            </a:r>
          </a:p>
          <a:p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系统变量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对话框里，选择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Path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环境变量，选择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“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，增加一项为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d:\hadoop-2.7.3\bin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77153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调试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程序，需要安装必要的软件和进行一系列的配置。具体描述如下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8335C0-6214-49CF-9F8E-2DEB56E0D6BF}"/>
              </a:ext>
            </a:extLst>
          </p:cNvPr>
          <p:cNvSpPr txBox="1"/>
          <p:nvPr/>
        </p:nvSpPr>
        <p:spPr>
          <a:xfrm>
            <a:off x="685800" y="2514600"/>
            <a:ext cx="7848600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indent="266700" algn="just"/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 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上新建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Eclispe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Maven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</a:t>
            </a:r>
          </a:p>
          <a:p>
            <a:pPr indent="266700" algn="just"/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，通过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New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打开对话框，新建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 Project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项目类型。</a:t>
            </a:r>
          </a:p>
          <a:p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编辑项目的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pom.xml</a:t>
            </a:r>
            <a:r>
              <a:rPr lang="zh-CN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文件，内容如下</a:t>
            </a:r>
            <a:endParaRPr lang="zh-CN" altLang="en-US" sz="1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5DC475-BC94-4305-B0CA-0F8FBAC19974}"/>
              </a:ext>
            </a:extLst>
          </p:cNvPr>
          <p:cNvSpPr txBox="1"/>
          <p:nvPr/>
        </p:nvSpPr>
        <p:spPr>
          <a:xfrm>
            <a:off x="741054" y="3352800"/>
            <a:ext cx="7772400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&lt;project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xmlns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="http://maven.apache.org/POM/4.0.0"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xmlns:xsi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="http://www.w3.org/2001/XMLSchema-instance"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xsi:schemaLocation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="http://maven.apache.org/POM/4.0.0 http://maven.apache.org/xsd/maven-4.0.0.xsd"&gt;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modelVersion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&gt;4.0.0&lt;/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modelVersion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com.pai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spark_demo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&lt;version&gt;0.0.1-SNAPSHOT&lt;/version&gt;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&lt;packaging&gt;jar&lt;/packaging&gt;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spark_demo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&gt;http://maven.apache.org&lt;/url&gt;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&lt;properties&gt;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project.build.sourceEncoding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&gt;UTF-8&lt;/</a:t>
            </a:r>
            <a:r>
              <a:rPr lang="en-US" altLang="zh-CN" sz="1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project.build.sourceEncoding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&lt;/properties&gt;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1607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pom.xml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文件，内容如下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（继续）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5DC475-BC94-4305-B0CA-0F8FBAC19974}"/>
              </a:ext>
            </a:extLst>
          </p:cNvPr>
          <p:cNvSpPr txBox="1"/>
          <p:nvPr/>
        </p:nvSpPr>
        <p:spPr>
          <a:xfrm>
            <a:off x="685800" y="2133600"/>
            <a:ext cx="7772400" cy="47089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&lt;dependencies&gt;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&lt;dependency&gt;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0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junit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junit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&lt;version&gt;3.8.1&lt;/version&gt;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&lt;scope&gt;test&lt;/scope&gt;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&lt;/dependency&gt;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&lt;dependency&gt;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0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org.apache.hadoop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-common&lt;/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&lt;version&gt;2.7.3&lt;/version&gt;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&lt;/dependency&gt;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&lt;dependency&gt;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0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&gt;spark-core_2.10&lt;/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&lt;version&gt;2.1.1&lt;/version&gt;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&lt;/dependency&gt;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&lt;dependency&gt;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0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jdk.tools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jdk.tools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&lt;version&gt;1.8&lt;/version&gt;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&lt;scope&gt;system&lt;/scope&gt;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&lt;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systemPath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&gt;C:/Program Files/Java/jdk1.8.0_131/lib/tools.jar&lt;/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systemPath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&lt;/dependency&gt;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&lt;/dependencies&gt;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&lt;/project&gt;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9591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(6)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的源</a:t>
            </a:r>
          </a:p>
          <a:p>
            <a:pPr indent="266700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配置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使用国内源，这样在构建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项目的时候，速度更快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具体是在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D:\apache-maven-3.5.0\conf\setting.xml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文件中，增加如下内容，作为第一个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mirror(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镜像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注意，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D:\apache-maven-3.5.0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的安装和配置方法，请读者参考附录</a:t>
            </a:r>
            <a:endParaRPr lang="zh-CN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5DC475-BC94-4305-B0CA-0F8FBAC19974}"/>
              </a:ext>
            </a:extLst>
          </p:cNvPr>
          <p:cNvSpPr txBox="1"/>
          <p:nvPr/>
        </p:nvSpPr>
        <p:spPr>
          <a:xfrm>
            <a:off x="914400" y="3733800"/>
            <a:ext cx="77724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&lt;mirror&gt; 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&lt;id&gt;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aliyun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&lt;/id&gt; 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&gt;http://maven.aliyun.com/nexus/content/groups/public/&lt;/url&gt; 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mirrorOf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&gt;central&lt;/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mirrorOf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 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&lt;/mirror&gt;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0373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(7)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编写主程序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新建一个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WordCount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.java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源文件，代码如下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5DC475-BC94-4305-B0CA-0F8FBAC19974}"/>
              </a:ext>
            </a:extLst>
          </p:cNvPr>
          <p:cNvSpPr txBox="1"/>
          <p:nvPr/>
        </p:nvSpPr>
        <p:spPr>
          <a:xfrm>
            <a:off x="762000" y="2514600"/>
            <a:ext cx="7772400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package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com.pai.spark_demo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java.util.ArrayList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java.util.Arrays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java.util.List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org.apache.spark.SparkConf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org.apache.spark.api.java.JavaPairRDD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org.apache.spark.api.java.JavaRDD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org.apache.spark.api.java.JavaSparkContext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org.apache.spark.api.java.function.FlatMapFunction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org.apache.spark.api.java.function.Function2;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org.apache.spark.api.java.function.PairFunction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org.apache.spark.api.java.function.VoidFunction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 scala.Tuple2;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3181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(7)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编写主程序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新建一个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WordCount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.java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源文件，代码如下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5DC475-BC94-4305-B0CA-0F8FBAC19974}"/>
              </a:ext>
            </a:extLst>
          </p:cNvPr>
          <p:cNvSpPr txBox="1"/>
          <p:nvPr/>
        </p:nvSpPr>
        <p:spPr>
          <a:xfrm>
            <a:off x="762000" y="2514600"/>
            <a:ext cx="7772400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public class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WordCount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public static void main(String[]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args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SparkConf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conf = new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SparkConf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().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setMaster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("local").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setAppName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WordCountTest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JavaSparkContext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JavaSparkContext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(conf);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String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outputDir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args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[0];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List&lt;String&gt; list = new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ArrayList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&lt;String&gt;();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list.add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("1 1 2 a b");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list.add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("a b 1 2 3");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JavaRDD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&lt;String&gt; lines =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sc.parallelize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(list);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84343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(7)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编写主程序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新建一个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WordCount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.java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源文件，代码如下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5DC475-BC94-4305-B0CA-0F8FBAC19974}"/>
              </a:ext>
            </a:extLst>
          </p:cNvPr>
          <p:cNvSpPr txBox="1"/>
          <p:nvPr/>
        </p:nvSpPr>
        <p:spPr>
          <a:xfrm>
            <a:off x="762000" y="2514600"/>
            <a:ext cx="7772400" cy="3231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 line split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JavaRDD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&lt;String&gt; words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lines.flatMap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(line -&gt;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Arrays.asList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line.split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 ")).iterator());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 pairs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JavaPairRDD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&lt;String, Integer&gt; pairs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words.mapToPair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(new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PairFunction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1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String, String,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Integer&gt;() {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public Tuple2&lt;String, Integer&gt; call(String s) throws Exception {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return new Tuple2&lt;String, Integer&gt;(s, 1);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});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 reduce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JavaPairRDD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&lt;String, Integer&gt; counts = </a:t>
            </a:r>
            <a:r>
              <a:rPr lang="en-US" altLang="zh-CN" sz="12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pairs.reduceByKey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(new Function2&lt;</a:t>
            </a:r>
            <a:r>
              <a:rPr lang="en-US" altLang="zh-CN" sz="12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Integer, Integer, </a:t>
            </a:r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Integer&gt;() {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public Integer call(Integer x, Integer y) throws Exception {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return x + y;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}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});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2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517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(7)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编写主程序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新建一个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WordCount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.java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源文件，代码如下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5DC475-BC94-4305-B0CA-0F8FBAC19974}"/>
              </a:ext>
            </a:extLst>
          </p:cNvPr>
          <p:cNvSpPr txBox="1"/>
          <p:nvPr/>
        </p:nvSpPr>
        <p:spPr>
          <a:xfrm>
            <a:off x="762000" y="2514600"/>
            <a:ext cx="7772400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//output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("The result is: "+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counts.collect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());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counts.saveAsTextFile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outputDir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 output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counts.foreach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(new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VoidFunction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&lt;Tuple2&lt;String, Integer&gt;&gt;() {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    public void call(Tuple2&lt;String, Integer&gt; tuple2) throws Exception {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       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(tuple2);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    }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//});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sc.stop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4412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(8)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编译打包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的项目，按右键，选择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Run As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Run Configurations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，打开对话框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双击对话框左边的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 Build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，新建一个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Run Configuration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，命名为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spark_demo_build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Goals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框里填写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package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，如图所示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目的是编译和打包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56ACE6-1B0B-4392-BEAE-DF443660418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57400" y="3810000"/>
            <a:ext cx="4800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2611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(8)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编译打包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Run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按钮，编译和打包整个项目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经过一会，在没有错误情况下，在项目的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target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目录下生成了编译后的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39FB795-24FC-4347-BBB7-828FF679B7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657600"/>
            <a:ext cx="3352800" cy="2819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78694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(9)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调试项目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的项目，按右键，选择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Debug As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Debug Configurations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，打开对话框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双击对话框左边的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 Applications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，新建一个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Debug Configuration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，命名为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spark_demo_debug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，设置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Project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为项目名称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应该已经设置好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，设置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Main Class(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可以点击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Search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按钮进行选择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Arguments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out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，如图所示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E5E47BF-A458-4FB6-8D9A-31B11DA5D2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14600" y="4028035"/>
            <a:ext cx="4114800" cy="256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969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(9)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调试项目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Debug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按钮，就可以对程序进行调试，如图所示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1E4648-A510-433C-AF64-FEDDF78901A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438400"/>
            <a:ext cx="46482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652CB60-E33E-4682-936D-4C06ACF58A05}"/>
              </a:ext>
            </a:extLst>
          </p:cNvPr>
          <p:cNvSpPr txBox="1"/>
          <p:nvPr/>
        </p:nvSpPr>
        <p:spPr>
          <a:xfrm>
            <a:off x="587086" y="5638800"/>
            <a:ext cx="78486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注意，由于在代码里新建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SparkConf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的时候，把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属性设置为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local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，所以这里进行的是本地调试，不是真正的分布式运行和调试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如果需要在分布式的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集群中运行程序，并且对其进行调试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，请参考相关资料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1878665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Windows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上用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调试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 Java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(10)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把结果写入文件</a:t>
            </a: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如果在代码中，把结果写入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目录下的文件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请参考上述代码分析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，那么程序运行结束后，在项目根目录下，生成一个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文件夹，底下有两个文件，即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_SUCCESS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part-00000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双击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part-00000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，打开该文件，可以看到其内容，如图所示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安装、部署、与运行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6401B2-A86B-4C89-84EA-18A52E40342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657600"/>
            <a:ext cx="5105400" cy="2667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83908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3332</TotalTime>
  <Words>3942</Words>
  <Application>Microsoft Office PowerPoint</Application>
  <PresentationFormat>全屏显示(4:3)</PresentationFormat>
  <Paragraphs>637</Paragraphs>
  <Slides>68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2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</vt:lpstr>
      <vt:lpstr>Wingdings 2</vt:lpstr>
      <vt:lpstr>Wingdings 3</vt:lpstr>
      <vt:lpstr>Dragon</vt:lpstr>
      <vt:lpstr>Hadoop与Spark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pause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pause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pause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  <vt:lpstr>Spark安装、部署、与运行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825</cp:revision>
  <dcterms:created xsi:type="dcterms:W3CDTF">2006-08-16T00:00:00Z</dcterms:created>
  <dcterms:modified xsi:type="dcterms:W3CDTF">2023-05-03T11:49:32Z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