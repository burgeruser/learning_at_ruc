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610" r:id="rId2"/>
    <p:sldId id="285" r:id="rId3"/>
    <p:sldId id="611" r:id="rId4"/>
    <p:sldId id="612" r:id="rId5"/>
    <p:sldId id="613" r:id="rId6"/>
    <p:sldId id="614" r:id="rId7"/>
    <p:sldId id="615" r:id="rId8"/>
    <p:sldId id="699" r:id="rId9"/>
    <p:sldId id="616" r:id="rId10"/>
    <p:sldId id="617" r:id="rId11"/>
    <p:sldId id="618" r:id="rId12"/>
    <p:sldId id="700" r:id="rId13"/>
    <p:sldId id="692" r:id="rId14"/>
    <p:sldId id="619" r:id="rId15"/>
    <p:sldId id="620" r:id="rId16"/>
    <p:sldId id="693" r:id="rId17"/>
    <p:sldId id="621" r:id="rId18"/>
    <p:sldId id="622" r:id="rId19"/>
    <p:sldId id="623" r:id="rId20"/>
    <p:sldId id="694" r:id="rId21"/>
    <p:sldId id="624" r:id="rId22"/>
    <p:sldId id="625" r:id="rId23"/>
    <p:sldId id="626" r:id="rId24"/>
    <p:sldId id="695" r:id="rId25"/>
    <p:sldId id="627" r:id="rId26"/>
    <p:sldId id="628" r:id="rId27"/>
    <p:sldId id="629" r:id="rId28"/>
    <p:sldId id="630" r:id="rId29"/>
    <p:sldId id="631" r:id="rId30"/>
    <p:sldId id="632" r:id="rId31"/>
    <p:sldId id="633" r:id="rId32"/>
    <p:sldId id="696" r:id="rId33"/>
    <p:sldId id="634" r:id="rId34"/>
    <p:sldId id="635" r:id="rId35"/>
    <p:sldId id="636" r:id="rId36"/>
    <p:sldId id="637" r:id="rId37"/>
    <p:sldId id="638" r:id="rId38"/>
    <p:sldId id="639" r:id="rId39"/>
    <p:sldId id="640" r:id="rId40"/>
    <p:sldId id="641" r:id="rId41"/>
    <p:sldId id="642" r:id="rId42"/>
    <p:sldId id="643" r:id="rId43"/>
    <p:sldId id="697" r:id="rId44"/>
    <p:sldId id="644" r:id="rId45"/>
    <p:sldId id="698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13"/>
            <p14:sldId id="614"/>
            <p14:sldId id="615"/>
            <p14:sldId id="699"/>
            <p14:sldId id="616"/>
            <p14:sldId id="617"/>
            <p14:sldId id="618"/>
            <p14:sldId id="700"/>
            <p14:sldId id="692"/>
            <p14:sldId id="619"/>
            <p14:sldId id="620"/>
            <p14:sldId id="693"/>
            <p14:sldId id="621"/>
            <p14:sldId id="622"/>
            <p14:sldId id="623"/>
            <p14:sldId id="694"/>
            <p14:sldId id="624"/>
            <p14:sldId id="625"/>
            <p14:sldId id="626"/>
            <p14:sldId id="695"/>
            <p14:sldId id="627"/>
            <p14:sldId id="628"/>
            <p14:sldId id="629"/>
            <p14:sldId id="630"/>
            <p14:sldId id="631"/>
            <p14:sldId id="632"/>
            <p14:sldId id="633"/>
            <p14:sldId id="696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97"/>
            <p14:sldId id="644"/>
            <p14:sldId id="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74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是由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Cloudera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公司研发的分布式日志收集系统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2009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年捐赠了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Apache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软件基金会，为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生态系统的相关工具之一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是收集日志、事件等数据资源，并将这些数量庞大的数据，从各项数据资源集中起来存储的工具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8D3F3B-24CF-4C3F-A67C-9F0DD6A75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60" y="3581400"/>
            <a:ext cx="7505016" cy="279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的组件包括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Collector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Storage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用于采集数据，是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中产生数据流的地方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将产生的数据流传输到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Collector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对应的，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Collector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用于对数据进行聚合，往往会产生另一个流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D78385-AA75-4A81-BC8A-8AF616E0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76600"/>
            <a:ext cx="4191000" cy="277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5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35562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可靠性、可扩展性、可管理性和可扩充性</a:t>
            </a:r>
          </a:p>
          <a:p>
            <a:pPr indent="266700" algn="just"/>
            <a:r>
              <a:rPr lang="zh-CN" altLang="en-US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可靠性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(Reliability)</a:t>
            </a:r>
          </a:p>
          <a:p>
            <a:pPr lvl="1" indent="266700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种数据可靠性选项，包括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End-to-End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on Failure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Best Effort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。其中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End-to-End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使用了磁盘日志和接收端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Ack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的方式，保证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接受到的数据会最终到达目的地。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on Failure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在目的地不可用的时候，数据会保持在本地硬盘。和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End-to-End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不同的是，如果是进程出现问题，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on Failure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可能会丢失部分数据。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Best Effort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不做任何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QoS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保证</a:t>
            </a:r>
          </a:p>
          <a:p>
            <a:pPr indent="266700" algn="just"/>
            <a:r>
              <a:rPr lang="zh-CN" altLang="en-US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可扩展性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(Scalability)</a:t>
            </a:r>
          </a:p>
          <a:p>
            <a:pPr lvl="1" indent="266700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的组件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Collector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Storage Tier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都是可伸缩的。需要注意的是，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对事件的处理不需要带状态，它的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可以很容易实现</a:t>
            </a:r>
          </a:p>
          <a:p>
            <a:pPr indent="266700" algn="just"/>
            <a:r>
              <a:rPr lang="zh-CN" altLang="en-US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可管理性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(Manageability)</a:t>
            </a:r>
          </a:p>
          <a:p>
            <a:pPr lvl="1" indent="266700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5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Gossip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协议，保证配置数据的一致性、高可用。同时，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使用多个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，保证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可以管理大量的节点</a:t>
            </a:r>
          </a:p>
          <a:p>
            <a:pPr indent="266700" algn="just"/>
            <a:r>
              <a:rPr lang="zh-CN" altLang="en-US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可扩充性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(Extensibility)</a:t>
            </a:r>
          </a:p>
          <a:p>
            <a:pPr lvl="1" indent="266700" algn="just"/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用户可以基于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添加各种新的功能</a:t>
            </a:r>
            <a:endParaRPr lang="en-US" altLang="zh-CN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如通过实现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的子类，用户可以实现自己的数据接入方式。通过实现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的子类，用户可以将数据写往特定目标。通过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 Decorator</a:t>
            </a:r>
            <a:r>
              <a:rPr lang="zh-CN" altLang="en-US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，用户可以对数据进行一定的预处理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72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的主要特点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高效率的将多个网站服务器收集的日志信息存入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HDFS/HBase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</a:p>
          <a:p>
            <a:pPr indent="266700"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支持多路径流量，多管道接入流量，多管道接出流量，上下文路由等；</a:t>
            </a:r>
          </a:p>
          <a:p>
            <a:pPr indent="266700"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可以水平扩展；</a:t>
            </a:r>
          </a:p>
          <a:p>
            <a:pPr indent="266700"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Flume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的管道是基于事务的，保证了数据在传送和接收时的一致性；</a:t>
            </a:r>
          </a:p>
          <a:p>
            <a:pPr indent="266700"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 Flume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是可靠的、高度容错的、可升级的、易管理的，并且可定制的；</a:t>
            </a:r>
          </a:p>
          <a:p>
            <a:pPr indent="266700" algn="just"/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 Flume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可以收集社交网络站点事件数据，比如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Facebook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Twitter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、电商网站如亚马逊等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096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的系统架构如图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数据发生器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数据源，如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Facebook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Twitter)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产生的数据，被运行在数据发生器所在服务器上的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所收集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之后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，数据收集器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(Collector)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从各个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上汇集数据，并且将数据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存储到某个中心库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，比如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的核心功能，是把数据从数据源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(Source)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收集过来，再将收集到的数据送到指定的目的地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(Sink)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为了保证输送的过程能够成功，在送到目的地之前，先将数据缓存起来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(Channel)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Chanel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作为一个数据缓冲区临时存放这些数据，待数据真正到达目的地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(Sink)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后，例如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再删除自己缓存的数据，这种机制保证了数据传输的可靠性与安全性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在整个数据的传输的过程中，流动的是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Event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，即事务保证是在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Event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级别进行的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9BD826-C874-4F72-9671-4B7D7E6F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53000"/>
            <a:ext cx="4800600" cy="174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2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的扩展性和可靠性</a:t>
            </a:r>
            <a:endParaRPr lang="zh-CN" altLang="zh-CN" sz="14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为了保证可扩展性，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采用了多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Master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的方式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为了保证配置数据的一致性，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引入了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，用于保存配置数据，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本身可保证配置数据的一致性和高可用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另外，在配置数据发生变化时，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可以通知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 Master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 Master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间使用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Gossip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协议同步数据</a:t>
            </a:r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FC5090-2404-4FA4-86E6-ADF49E58D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833" y="3352800"/>
            <a:ext cx="4358534" cy="337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199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Flume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sz="2600" dirty="0">
                <a:solidFill>
                  <a:srgbClr val="C00000"/>
                </a:solidFill>
              </a:rPr>
              <a:t>Flume OG</a:t>
            </a:r>
            <a:r>
              <a:rPr kumimoji="1" lang="zh-CN" altLang="en-US" sz="2600" dirty="0">
                <a:solidFill>
                  <a:srgbClr val="C00000"/>
                </a:solidFill>
              </a:rPr>
              <a:t>：</a:t>
            </a:r>
            <a:r>
              <a:rPr kumimoji="1" lang="en-US" altLang="zh-CN" sz="2600" dirty="0"/>
              <a:t>Flume original generation </a:t>
            </a:r>
            <a:r>
              <a:rPr kumimoji="1" lang="zh-CN" altLang="en-US" sz="2600" dirty="0"/>
              <a:t>即</a:t>
            </a:r>
            <a:r>
              <a:rPr kumimoji="1" lang="en-US" altLang="zh-CN" sz="2600" dirty="0"/>
              <a:t>Flume 0.9.x</a:t>
            </a:r>
            <a:r>
              <a:rPr kumimoji="1" lang="zh-CN" altLang="en-US" sz="2600" dirty="0"/>
              <a:t>版本</a:t>
            </a:r>
          </a:p>
          <a:p>
            <a:pPr algn="just"/>
            <a:r>
              <a:rPr kumimoji="1" lang="en-US" altLang="zh-CN" sz="2600" dirty="0">
                <a:solidFill>
                  <a:srgbClr val="C00000"/>
                </a:solidFill>
              </a:rPr>
              <a:t>Flume NG</a:t>
            </a:r>
            <a:r>
              <a:rPr kumimoji="1" lang="zh-CN" altLang="en-US" sz="2600" dirty="0">
                <a:solidFill>
                  <a:srgbClr val="C00000"/>
                </a:solidFill>
              </a:rPr>
              <a:t>：</a:t>
            </a:r>
            <a:r>
              <a:rPr kumimoji="1" lang="en-US" altLang="zh-CN" sz="2600" dirty="0"/>
              <a:t>Flume next generation </a:t>
            </a:r>
            <a:r>
              <a:rPr kumimoji="1" lang="zh-CN" altLang="en-US" sz="2600" dirty="0"/>
              <a:t>，即</a:t>
            </a:r>
            <a:r>
              <a:rPr kumimoji="1" lang="en-US" altLang="zh-CN" sz="2600" dirty="0"/>
              <a:t>Flume 1.x</a:t>
            </a:r>
            <a:r>
              <a:rPr kumimoji="1" lang="zh-CN" altLang="en-US" sz="2600" dirty="0"/>
              <a:t>版本</a:t>
            </a:r>
          </a:p>
          <a:p>
            <a:pPr lvl="1" algn="just"/>
            <a:r>
              <a:rPr kumimoji="1" lang="zh-CN" altLang="en-US" sz="2200" dirty="0"/>
              <a:t>对于 </a:t>
            </a:r>
            <a:r>
              <a:rPr kumimoji="1" lang="en-US" altLang="zh-CN" sz="2200" dirty="0"/>
              <a:t>Flume NG </a:t>
            </a:r>
            <a:r>
              <a:rPr kumimoji="1" lang="zh-CN" altLang="en-US" sz="2200" dirty="0"/>
              <a:t>，它摒弃了</a:t>
            </a:r>
            <a:r>
              <a:rPr kumimoji="1" lang="en-US" altLang="zh-CN" sz="2200" dirty="0"/>
              <a:t>Master</a:t>
            </a:r>
            <a:r>
              <a:rPr kumimoji="1" lang="zh-CN" altLang="en-US" sz="2200" dirty="0"/>
              <a:t>和</a:t>
            </a:r>
            <a:r>
              <a:rPr kumimoji="1" lang="en-US" altLang="zh-CN" sz="2200" dirty="0"/>
              <a:t>zookeeper</a:t>
            </a:r>
            <a:r>
              <a:rPr kumimoji="1" lang="zh-CN" altLang="en-US" sz="2200" dirty="0"/>
              <a:t>，</a:t>
            </a:r>
            <a:r>
              <a:rPr kumimoji="1" lang="en-US" altLang="zh-CN" sz="2200" dirty="0"/>
              <a:t>collector</a:t>
            </a:r>
            <a:r>
              <a:rPr kumimoji="1" lang="zh-CN" altLang="en-US" sz="2200" dirty="0"/>
              <a:t>也没有了，</a:t>
            </a:r>
            <a:r>
              <a:rPr kumimoji="1" lang="en-US" altLang="zh-CN" sz="2200" dirty="0"/>
              <a:t>web</a:t>
            </a:r>
            <a:r>
              <a:rPr kumimoji="1" lang="zh-CN" altLang="en-US" sz="2200" dirty="0"/>
              <a:t>配置台也没有了，只剩下</a:t>
            </a:r>
            <a:r>
              <a:rPr kumimoji="1" lang="en-US" altLang="zh-CN" sz="2200" dirty="0"/>
              <a:t>source</a:t>
            </a:r>
            <a:r>
              <a:rPr kumimoji="1" lang="zh-CN" altLang="en-US" sz="2200" dirty="0"/>
              <a:t>，</a:t>
            </a:r>
            <a:r>
              <a:rPr kumimoji="1" lang="en-US" altLang="zh-CN" sz="2200" dirty="0"/>
              <a:t>sink</a:t>
            </a:r>
            <a:r>
              <a:rPr kumimoji="1" lang="zh-CN" altLang="en-US" sz="2200" dirty="0"/>
              <a:t>和</a:t>
            </a:r>
            <a:r>
              <a:rPr kumimoji="1" lang="en-US" altLang="zh-CN" sz="2200" dirty="0"/>
              <a:t>channel</a:t>
            </a:r>
          </a:p>
          <a:p>
            <a:pPr lvl="1" algn="just"/>
            <a:r>
              <a:rPr kumimoji="1" lang="zh-CN" altLang="en-US" sz="2200" dirty="0"/>
              <a:t>此时一个</a:t>
            </a:r>
            <a:r>
              <a:rPr kumimoji="1" lang="en-US" altLang="zh-CN" sz="2200" dirty="0"/>
              <a:t>Agent</a:t>
            </a:r>
            <a:r>
              <a:rPr kumimoji="1" lang="zh-CN" altLang="en-US" sz="2200" dirty="0"/>
              <a:t>的概念包括</a:t>
            </a:r>
            <a:r>
              <a:rPr kumimoji="1" lang="en-US" altLang="zh-CN" sz="2200" dirty="0"/>
              <a:t>source, channel</a:t>
            </a:r>
            <a:r>
              <a:rPr kumimoji="1" lang="zh-CN" altLang="en-US" sz="2200" dirty="0"/>
              <a:t>和</a:t>
            </a:r>
            <a:r>
              <a:rPr kumimoji="1" lang="en-US" altLang="zh-CN" sz="2200" dirty="0"/>
              <a:t>sink</a:t>
            </a:r>
            <a:r>
              <a:rPr kumimoji="1" lang="zh-CN" altLang="en-US" sz="2200" dirty="0"/>
              <a:t>，完全由一个分布式系统变成了传输工具</a:t>
            </a:r>
            <a:endParaRPr kumimoji="1" lang="en-US" altLang="zh-CN" sz="2200" dirty="0"/>
          </a:p>
          <a:p>
            <a:pPr lvl="1" algn="just"/>
            <a:r>
              <a:rPr kumimoji="1" lang="zh-CN" altLang="en-US" sz="2200" dirty="0"/>
              <a:t>不同机器之间的数据传输不再是</a:t>
            </a:r>
            <a:r>
              <a:rPr kumimoji="1" lang="en-US" altLang="zh-CN" sz="2200" dirty="0"/>
              <a:t>OG</a:t>
            </a:r>
            <a:r>
              <a:rPr kumimoji="1" lang="zh-CN" altLang="en-US" sz="2200" dirty="0"/>
              <a:t>那样由</a:t>
            </a:r>
            <a:r>
              <a:rPr kumimoji="1" lang="en-US" altLang="zh-CN" sz="2200" dirty="0"/>
              <a:t>agent-&gt;collector</a:t>
            </a:r>
            <a:r>
              <a:rPr kumimoji="1" lang="zh-CN" altLang="en-US" sz="2200" dirty="0"/>
              <a:t>，而是由一个</a:t>
            </a:r>
            <a:r>
              <a:rPr kumimoji="1" lang="en-US" altLang="zh-CN" sz="2200" dirty="0"/>
              <a:t>Agent</a:t>
            </a:r>
            <a:r>
              <a:rPr kumimoji="1" lang="zh-CN" altLang="en-US" sz="2200" dirty="0"/>
              <a:t>端的</a:t>
            </a:r>
            <a:r>
              <a:rPr kumimoji="1" lang="en-US" altLang="zh-CN" sz="2200" dirty="0"/>
              <a:t>sink</a:t>
            </a:r>
            <a:r>
              <a:rPr kumimoji="1" lang="zh-CN" altLang="en-US" sz="2200" dirty="0"/>
              <a:t>流向另一个</a:t>
            </a:r>
            <a:r>
              <a:rPr kumimoji="1" lang="en-US" altLang="zh-CN" sz="2200" dirty="0"/>
              <a:t>agent</a:t>
            </a:r>
            <a:r>
              <a:rPr kumimoji="1" lang="zh-CN" altLang="en-US" sz="2200" dirty="0"/>
              <a:t>的</a:t>
            </a:r>
            <a:r>
              <a:rPr kumimoji="1" lang="en-US" altLang="zh-CN" sz="2200" dirty="0"/>
              <a:t>source</a:t>
            </a:r>
          </a:p>
          <a:p>
            <a:pPr algn="just"/>
            <a:endParaRPr kumimoji="1"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409615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事件</a:t>
            </a:r>
            <a:endParaRPr lang="zh-CN" altLang="en-US" sz="1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事件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(Event)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内部数据传输的最基本单元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它由一个装载数据的字节数组，和一个可选头部构成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事件，具有如下图的结构</a:t>
            </a:r>
          </a:p>
          <a:p>
            <a:pPr lvl="1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Event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将传输的数据进行封装，如果是文本文件，通常是一行记录。同时，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Event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也是事务处理的基本单位</a:t>
            </a:r>
            <a:endParaRPr lang="zh-CN" altLang="en-US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621E55-C519-43B5-9D9A-7235D1A97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267200"/>
            <a:ext cx="6858000" cy="95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9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Agent</a:t>
            </a:r>
            <a:endParaRPr lang="zh-CN" altLang="zh-CN" sz="1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是一共独立的守护进程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(JVM)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，它从客户端那里接收数据，或者从其它的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Agent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那里接收数据，然后迅速地将获取的数据传给下一个目的节点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(Sink)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、或者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</a:t>
            </a:r>
          </a:p>
          <a:p>
            <a:pPr lvl="1" algn="just"/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Source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Channel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5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三个组件组成</a:t>
            </a:r>
            <a:endParaRPr lang="en-US" altLang="zh-CN" sz="15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从数据发生器接收数据，并将接收的数据以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Event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格式传递给一个或者多个通道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提供多种数据接收的方式，包括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Avro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Thrift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是一种暂时的存储容器，它将从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处接收到的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Event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格式的数据缓存起来，直到它们被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消费掉。它在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间起着一共桥梁的作用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的处理是一个完整的事务，这一点保证了数据在收发的时候的一致性</a:t>
            </a:r>
            <a:endParaRPr lang="en-US" altLang="zh-CN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可以和任意数量的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链接。主要的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类型有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JDBC 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 System 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memory 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目的地可能是另一个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，也可能是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将数据存储到集中存储器比如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HBase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。它从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Channel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消费数据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(Event)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并将其传递到目的地</a:t>
            </a:r>
            <a:endParaRPr lang="zh-CN" altLang="en-US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BD078E-AC02-4273-A881-07994CF46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831" y="774263"/>
            <a:ext cx="3894969" cy="8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95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Agent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的级联</a:t>
            </a:r>
            <a:endParaRPr lang="en-US" altLang="zh-CN" sz="16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可以前后相继，形成级联结构，比如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可以将数据写到下一个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Source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中，这样的话就可以连成串，可以整体处理了。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提供了大量内置的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Source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Channel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类型。不同类型的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Source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Channel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可以自由组合。组合方式基于用户设置的配置文件，非常灵活</a:t>
            </a:r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730298-3E49-4A60-ADDF-A02031726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463636"/>
            <a:ext cx="3903207" cy="1295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035FCE0-D026-481F-84A9-6E00326D1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810000"/>
            <a:ext cx="4727205" cy="23723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2613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Flume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Autofit/>
          </a:bodyPr>
          <a:lstStyle/>
          <a:p>
            <a:r>
              <a:rPr kumimoji="1" lang="en-US" altLang="zh-CN" sz="2300" dirty="0">
                <a:solidFill>
                  <a:srgbClr val="C00000"/>
                </a:solidFill>
              </a:rPr>
              <a:t>Flume</a:t>
            </a:r>
            <a:r>
              <a:rPr kumimoji="1" lang="zh-CN" altLang="en-US" sz="2300" dirty="0">
                <a:solidFill>
                  <a:srgbClr val="C00000"/>
                </a:solidFill>
              </a:rPr>
              <a:t>如何 保证 数据不丢失？</a:t>
            </a:r>
          </a:p>
          <a:p>
            <a:r>
              <a:rPr kumimoji="1" lang="zh-CN" altLang="en-US" sz="2300" dirty="0"/>
              <a:t>（</a:t>
            </a:r>
            <a:r>
              <a:rPr kumimoji="1" lang="en-US" altLang="zh-CN" sz="2300" dirty="0"/>
              <a:t>1</a:t>
            </a:r>
            <a:r>
              <a:rPr kumimoji="1" lang="zh-CN" altLang="en-US" sz="2300" dirty="0"/>
              <a:t>）</a:t>
            </a:r>
            <a:r>
              <a:rPr kumimoji="1" lang="en-US" altLang="zh-CN" sz="2300" dirty="0"/>
              <a:t>flume</a:t>
            </a:r>
            <a:r>
              <a:rPr kumimoji="1" lang="zh-CN" altLang="en-US" sz="2300" dirty="0"/>
              <a:t>使用两个独立的事务分别负责从</a:t>
            </a:r>
            <a:r>
              <a:rPr kumimoji="1" lang="en-US" altLang="zh-CN" sz="2300" dirty="0"/>
              <a:t>source</a:t>
            </a:r>
            <a:r>
              <a:rPr kumimoji="1" lang="zh-CN" altLang="en-US" sz="2300" dirty="0"/>
              <a:t>到</a:t>
            </a:r>
            <a:r>
              <a:rPr kumimoji="1" lang="en-US" altLang="zh-CN" sz="2300" dirty="0"/>
              <a:t>channel</a:t>
            </a:r>
            <a:r>
              <a:rPr kumimoji="1" lang="zh-CN" altLang="en-US" sz="2300" dirty="0"/>
              <a:t>以及从</a:t>
            </a:r>
            <a:r>
              <a:rPr kumimoji="1" lang="en-US" altLang="zh-CN" sz="2300" dirty="0"/>
              <a:t>channel</a:t>
            </a:r>
            <a:r>
              <a:rPr kumimoji="1" lang="zh-CN" altLang="en-US" sz="2300" dirty="0"/>
              <a:t>到</a:t>
            </a:r>
            <a:r>
              <a:rPr kumimoji="1" lang="en-US" altLang="zh-CN" sz="2300" dirty="0"/>
              <a:t>sink</a:t>
            </a:r>
            <a:r>
              <a:rPr kumimoji="1" lang="zh-CN" altLang="en-US" sz="2300" dirty="0"/>
              <a:t>的事件传递，</a:t>
            </a:r>
          </a:p>
          <a:p>
            <a:pPr lvl="1"/>
            <a:r>
              <a:rPr kumimoji="1" lang="en-US" altLang="zh-CN" sz="2300" dirty="0"/>
              <a:t>source</a:t>
            </a:r>
            <a:r>
              <a:rPr kumimoji="1" lang="zh-CN" altLang="en-US" sz="2300" dirty="0"/>
              <a:t>向</a:t>
            </a:r>
            <a:r>
              <a:rPr kumimoji="1" lang="en-US" altLang="zh-CN" sz="2300" dirty="0"/>
              <a:t>channel</a:t>
            </a:r>
            <a:r>
              <a:rPr kumimoji="1" lang="zh-CN" altLang="en-US" sz="2300" dirty="0"/>
              <a:t>写数据时，会先将数据写入临时缓冲区</a:t>
            </a:r>
            <a:r>
              <a:rPr kumimoji="1" lang="en-US" altLang="zh-CN" sz="2300" dirty="0" err="1"/>
              <a:t>putlist</a:t>
            </a:r>
            <a:r>
              <a:rPr kumimoji="1" lang="zh-CN" altLang="en-US" sz="2300" dirty="0"/>
              <a:t>，然后检查</a:t>
            </a:r>
            <a:r>
              <a:rPr kumimoji="1" lang="en-US" altLang="zh-CN" sz="2300" dirty="0"/>
              <a:t>channel</a:t>
            </a:r>
            <a:r>
              <a:rPr kumimoji="1" lang="zh-CN" altLang="en-US" sz="2300" dirty="0"/>
              <a:t>是否可以写入，如果写入成功会更新偏移量，如果不成功就回滚数据；</a:t>
            </a:r>
          </a:p>
          <a:p>
            <a:pPr lvl="1"/>
            <a:r>
              <a:rPr kumimoji="1" lang="en-US" altLang="zh-CN" sz="2300" dirty="0"/>
              <a:t>channel</a:t>
            </a:r>
            <a:r>
              <a:rPr kumimoji="1" lang="zh-CN" altLang="en-US" sz="2300" dirty="0"/>
              <a:t>到</a:t>
            </a:r>
            <a:r>
              <a:rPr kumimoji="1" lang="en-US" altLang="zh-CN" sz="2300" dirty="0"/>
              <a:t>sink</a:t>
            </a:r>
            <a:r>
              <a:rPr kumimoji="1" lang="zh-CN" altLang="en-US" sz="2300" dirty="0"/>
              <a:t>的事件传递也会现将数据写入临时缓冲区</a:t>
            </a:r>
            <a:r>
              <a:rPr kumimoji="1" lang="en-US" altLang="zh-CN" sz="2300" dirty="0" err="1"/>
              <a:t>takelist</a:t>
            </a:r>
            <a:r>
              <a:rPr kumimoji="1" lang="zh-CN" altLang="en-US" sz="2300" dirty="0"/>
              <a:t>，如果数据发送成功就更新偏移量，如果发送失败就回滚数据</a:t>
            </a:r>
          </a:p>
          <a:p>
            <a:r>
              <a:rPr kumimoji="1" lang="zh-CN" altLang="en-US" sz="2300" dirty="0"/>
              <a:t>（</a:t>
            </a:r>
            <a:r>
              <a:rPr kumimoji="1" lang="en-US" altLang="zh-CN" sz="2300" dirty="0"/>
              <a:t>2</a:t>
            </a:r>
            <a:r>
              <a:rPr kumimoji="1" lang="zh-CN" altLang="en-US" sz="2300" dirty="0"/>
              <a:t>）</a:t>
            </a:r>
            <a:r>
              <a:rPr kumimoji="1" lang="en-US" altLang="zh-CN" sz="2300" dirty="0"/>
              <a:t>Channel </a:t>
            </a:r>
            <a:r>
              <a:rPr kumimoji="1" lang="zh-CN" altLang="en-US" sz="2300" dirty="0"/>
              <a:t>使用的是 </a:t>
            </a:r>
            <a:r>
              <a:rPr kumimoji="1" lang="en-US" altLang="zh-CN" sz="2300" dirty="0"/>
              <a:t>File Channel</a:t>
            </a:r>
            <a:endParaRPr kumimoji="1" lang="zh-CN" altLang="en-US" sz="2300" dirty="0"/>
          </a:p>
          <a:p>
            <a:pPr lvl="1"/>
            <a:r>
              <a:rPr kumimoji="1" lang="zh-CN" altLang="en-US" sz="2300" dirty="0"/>
              <a:t>数据存储在磁盘，宕机数据可以保存；但是传输速率慢</a:t>
            </a:r>
            <a:endParaRPr kumimoji="1" lang="en-US" altLang="zh-CN" sz="2300" dirty="0"/>
          </a:p>
          <a:p>
            <a:pPr lvl="1"/>
            <a:r>
              <a:rPr kumimoji="1" lang="zh-CN" altLang="en-US" sz="2300" dirty="0"/>
              <a:t>这个能够保证数据不丢失</a:t>
            </a:r>
          </a:p>
          <a:p>
            <a:endParaRPr kumimoji="1" lang="zh-CN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111424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我们一般下载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的二进制发行版，解压缩，完成安装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762000" y="2590800"/>
            <a:ext cx="75438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ls apache-flume-1.7.0-bin.tar.gz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tar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zxvf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apache-flume-1.7.0-bin.tar.gz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mv apache-flume-1.7.0-bin apache-flume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0350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从模板拷贝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flume-env.sh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配置文件</a:t>
            </a:r>
            <a:endParaRPr lang="zh-CN" alt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762000" y="2590800"/>
            <a:ext cx="7543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apache-flume/conf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flume-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env.sh.template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flume-env.sh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414C67-83ED-4BD1-A31D-98064ECA1717}"/>
              </a:ext>
            </a:extLst>
          </p:cNvPr>
          <p:cNvSpPr txBox="1"/>
          <p:nvPr/>
        </p:nvSpPr>
        <p:spPr>
          <a:xfrm>
            <a:off x="838200" y="4395660"/>
            <a:ext cx="74676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在文件里面设定JAVA_HOME。</a:t>
            </a:r>
          </a:p>
          <a:p>
            <a:r>
              <a:rPr lang="zh-CN" altLang="en-US" dirty="0"/>
              <a:t>export JAVA_HOME=/opt/linuxsir/java/jdk</a:t>
            </a:r>
          </a:p>
        </p:txBody>
      </p:sp>
    </p:spTree>
    <p:extLst>
      <p:ext uri="{BB962C8B-B14F-4D97-AF65-F5344CB8AC3E}">
        <p14:creationId xmlns:p14="http://schemas.microsoft.com/office/powerpoint/2010/main" val="1774928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106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pPr lvl="1" algn="just"/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conf/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flume.conf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文件，内容如下。通过这个配置文件对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进行配置，这里只有一个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agent1</a:t>
            </a:r>
          </a:p>
          <a:p>
            <a:pPr algn="just"/>
            <a:endParaRPr lang="zh-CN" altLang="en-US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38200" y="2514600"/>
            <a:ext cx="75438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Define a memory 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channel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called ch1 on agent1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agent1.channels.ch1.type = memory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Define an Avro 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called avro-source1 on agent1 and tell it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to bind to 0.0.0.0:41414. Connect it to channel ch1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agent1.sources.avro-source1.channels = ch1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agent1.sources.avro-source1.type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avro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agent1.sources.avro-source1.bind = 0.0.0.0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agent1.sources.avro-source1.port = 41414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Define a logger 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sink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that simply logs all events it receives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and connect it to the other end of the same channel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agent1.sinks.log-sink1.channel = ch1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agent1.sinks.log-sink1.type = logger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Finally, now that we've defined all of our components, tell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agent1 which ones we want to activate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 = ch1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 = avro-source1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 = log-sink1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13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38200" y="2514600"/>
            <a:ext cx="7543800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打开一个终端窗口，通过如下命令，启动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Server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，并启动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apache-flume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bin/flume-ng agent --conf ./conf/ -f ./conf/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flume.conf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Dflume.root.logger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DEBUG,console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-n agent1</a:t>
            </a: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110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pPr indent="26860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打开另外一个终端窗口，通过如下命令，运行一个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Avro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客户端程序，它读取文件，输送到某个主机的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Avro Source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进程监听的端口上，这里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Avro Source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运行在本机上。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860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Avro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客户端程序把文件的每一行当作一个事件。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Avro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客户端程序读取的是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etc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/passwd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文件。</a:t>
            </a:r>
            <a:r>
              <a:rPr lang="zh-CN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</a:t>
            </a:r>
            <a:r>
              <a:rPr lang="en-US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agent1</a:t>
            </a:r>
            <a:r>
              <a:rPr lang="zh-CN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</a:t>
            </a:r>
            <a:r>
              <a:rPr lang="en-US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Logger</a:t>
            </a:r>
            <a:r>
              <a:rPr lang="zh-CN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类型的</a:t>
            </a:r>
            <a:r>
              <a:rPr lang="en-US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Sink</a:t>
            </a:r>
            <a:r>
              <a:rPr lang="zh-CN" altLang="zh-CN" sz="1800" dirty="0">
                <a:solidFill>
                  <a:srgbClr val="172B4D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，我们应该可以在第一个终端窗口上观察到相应的输出，也就是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etc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/passwd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文件的一行行内容</a:t>
            </a:r>
            <a:endParaRPr lang="zh-CN" altLang="en-US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14400" y="4495800"/>
            <a:ext cx="7543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apache-flume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bin/flume-ng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avro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-client --conf ./conf/ -H localhost -p 41414 -F 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/passwd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Dflume.root.logger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DEBUG,console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592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7363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 lvl="1" algn="just"/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使用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netcat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/apache-flume/conf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目录下，创建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example.conf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zh-CN" altLang="en-US" sz="14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90800"/>
            <a:ext cx="75438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Name the components on this agent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a1.sources = r1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a1.sinks = k1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a1.channels = c1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Describe/configure the source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a1.sources.r1.type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netcat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a1.sources.r1.bind = localhost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a1.sources.r1.port = 44444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Describe the sink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a1.sinks.k1.type = logger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Use a channel which buffers events in memory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a1.channels.c1.type = memory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a1.channels.c1.capacity = 1000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a1.channels.c1.transactionCapacity = 100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Bind the source and sink to the channel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a1.sources.r1.channels = c1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a1.sinks.k1.channel = c1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48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 lvl="1" algn="just"/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使用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netcat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90800"/>
            <a:ext cx="754380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打开一个终端窗口，通过如下命令，启动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Server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，并启动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a1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apache-flume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bin/flume-ng agent --conf ./conf/ -f ./conf/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example.conf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Dflume.root.logger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DEBUG,console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-n a1</a:t>
            </a:r>
          </a:p>
          <a:p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853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 lvl="1" algn="just"/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使用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netcat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90800"/>
            <a:ext cx="754380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打开另一个终端，连接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NetCat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nc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localhost 44444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并且输入一些内容试试看，这时候应该在第一个终端窗口看到输入的内容。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Hello{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回车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World{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回车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82722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006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 </a:t>
            </a:r>
          </a:p>
          <a:p>
            <a:pPr lvl="1" algn="just"/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/apache-flume/conf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目录下，创建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hbase_sink.conf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</a:p>
          <a:p>
            <a:pPr lvl="1" algn="just"/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667000"/>
            <a:ext cx="7543800" cy="40934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Name the components on this agent 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Agent5.sources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-source  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spillmem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-channel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Agent5.sinks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-sink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Describe/configure Source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Agent5.sources.spooldir-source.type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Agent5.sources.spooldir-source.spoolDir = /opt/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Agent5.sources.spooldir-source.fileHeader = false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Describe the sink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Agent5.sinks.hbase-sink.type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Agent5.sinks.hbase-sink.table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test_table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Agent5.sinks.hbase-sink.columnFamily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Use a channel which buffers events in file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Agent5.channels.spillmem-channel.type = SPILLABLEMEMORY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Agent5.channels.spillmem-channel.memoryCapacity = 10000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Agent5.channels.spillmem-channel.overflowCapacity = 1000000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Agent5.channels.spillmem-channel.byteCapacity = 80000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Agent5.channels.spillmem-channel.checkpointDir = /var/log/flume/checkpoint/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Agent5.channels.spillmem-channel.dataDirs = /var/log/flume/data/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 Bind the source and sink to the channel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Agent5.sources.spooldir-source.channels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spillmem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-channel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Agent5.sinks.hbase-sink.channel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spillmem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-channel</a:t>
            </a:r>
            <a:endParaRPr lang="en-US" altLang="zh-CN" sz="9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7107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14600"/>
            <a:ext cx="75438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，然后启动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</a:p>
          <a:p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</a:p>
          <a:p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./bin/start-hbase.sh</a:t>
            </a:r>
          </a:p>
          <a:p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endParaRPr lang="en-US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30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14600"/>
            <a:ext cx="754380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里面建立表格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test_table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，包含一个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'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test_table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', '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</a:t>
            </a:r>
          </a:p>
          <a:p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在终端上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</a:t>
            </a:r>
            <a:r>
              <a:rPr lang="zh-CN" altLang="en-US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目录，并且进行授权。</a:t>
            </a: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chmod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a+rwx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endParaRPr lang="en-US" altLang="zh-CN" sz="1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583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14600"/>
            <a:ext cx="754380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打开一个终端窗口，通过如下命令，启动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Server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，并启动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Agent5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apache-flume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bin/flume-ng agent --conf ./conf/ -f ./conf/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hbase_sink.conf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Dflume.root.logger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DEBUG,console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-n Agent5</a:t>
            </a:r>
          </a:p>
          <a:p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57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514600"/>
            <a:ext cx="7543800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打开另一个终端，把一个文本文件拷贝到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，文件的每一行被当作独立的事件，发送到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，并且被插入到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hive-test.txt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这时候查看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spooldir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目录，内容如下。</a:t>
            </a: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hive-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test.txt.COMPLETED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5384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362200"/>
            <a:ext cx="7543800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重新启动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</a:p>
          <a:p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test_table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表格。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scan '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’</a:t>
            </a:r>
          </a:p>
          <a:p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结果如下，发现最后一个空行也差进入了，所以在准备数据的时候，要删掉空行。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ROW                     COLUMN+CELL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default0bce3a6c-8162-4 column=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test_cf:pCol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timestamp=1596711289189, value=4 hello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375-816c-b47f2143c403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default47e860fc-6509-4 column=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test_cf:pCol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timestamp=1596711289189, value=3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66e-9967-e3b036cd14e8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defaulta8450648-6960-4 column=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test_cf:pCol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timestamp=1596711289189, value=1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f9e-8dec-13f3221a1153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defaultdc7ae64f-8c98-4 column=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test_cf:pCol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timestamp=1596711289189, value=2 hive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5ee-8a2f-22d088eb63bb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incRow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column=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test_cf:iCol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timestamp=1596711289300, value=\x00\x00\x00\x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00\x00\x00\x00\x04</a:t>
            </a:r>
          </a:p>
        </p:txBody>
      </p:sp>
    </p:spTree>
    <p:extLst>
      <p:ext uri="{BB962C8B-B14F-4D97-AF65-F5344CB8AC3E}">
        <p14:creationId xmlns:p14="http://schemas.microsoft.com/office/powerpoint/2010/main" val="14387046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HBase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362200"/>
            <a:ext cx="754380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，最后停止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./bin/stop-hbase.sh</a:t>
            </a:r>
          </a:p>
          <a:p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./stop-dfs.sh</a:t>
            </a:r>
          </a:p>
          <a:p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0245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215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362200"/>
            <a:ext cx="7543800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首先建立数据文件。</a:t>
            </a: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touch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"1,hive" &gt;&gt;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"2,flume" &gt;&gt;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"3,testmessage" &gt;&gt;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"4,hivesink" &gt;&gt;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277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/apache-flume/conf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目录下，创建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hive_sink.conf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667000"/>
            <a:ext cx="75438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 = source1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 = channel1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 = sink1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agent1.sources.source1.type = exec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agent1.sources.source1.command = cat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flume_message.data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agent1.sources.source1.channels = channel1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574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/apache-flume/conf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目录下，创建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hive_sink.conf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00100" y="2667000"/>
            <a:ext cx="75438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agent1.sinks.sink1.type = hive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agent1.sinks.sink1.channel = channel1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agent1.sinks.sink1.hive.metastore = thrift://192.168.31.129:19083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agent1.sinks.sink1.hive.database = default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agent1.sinks.sink1.hive.table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flume_test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agent1.sinks.sink1.hive.txnsPerBatchAsk = 2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agent1.sinks.sink1.batchSize = 4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agent1.sinks.sink1.useLocalTimeStamp = false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agent1.sinks.sink1.round = true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agent1.sinks.sink1.roundValue = 10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agent1.sinks.sink1.roundUnit = minute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agent1.sinks.sink1.serializer = DELIMITED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agent1.sinks.sink1.serializer.delimiter =","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agent1.sinks.sink1.serializer.serdeSeparator =','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agent1.sinks.sink1.serializer.fieldnames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id,message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agent1.channels.channel1.type = FILE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agent1.channels.channel1.transactionCapacity = 1000000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agent1.channels.channel1.checkpointInterval 30000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agent1.channels.channel1.maxFileSize = 2146435071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agent1.channels.channel1.capacity 10000000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0514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38200" y="2362200"/>
            <a:ext cx="7543800" cy="4339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Shell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，准备建立表格。注意，首先需要启动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YARN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19083&amp;</a:t>
            </a: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等待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lanp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| grep 19083</a:t>
            </a: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$HIVE_HOME/bin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./hive</a:t>
            </a:r>
          </a:p>
        </p:txBody>
      </p:sp>
    </p:spTree>
    <p:extLst>
      <p:ext uri="{BB962C8B-B14F-4D97-AF65-F5344CB8AC3E}">
        <p14:creationId xmlns:p14="http://schemas.microsoft.com/office/powerpoint/2010/main" val="3540555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838200" y="2362200"/>
            <a:ext cx="7543800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在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Shell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里运行如下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，建立表格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flume_test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，注意需要设定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buckets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，格式为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ORC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，支持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transaction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 table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flume_test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(id string, message string) clustered by (message) into 5 buckets STORED AS ORC TBLPROPERTIES ("transactional"="true");</a:t>
            </a: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en-US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Shell</a:t>
            </a: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quit;</a:t>
            </a:r>
          </a:p>
        </p:txBody>
      </p:sp>
    </p:spTree>
    <p:extLst>
      <p:ext uri="{BB962C8B-B14F-4D97-AF65-F5344CB8AC3E}">
        <p14:creationId xmlns:p14="http://schemas.microsoft.com/office/powerpoint/2010/main" val="2700694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dirty="0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/hive/conf/hive-site.xml</a:t>
            </a:r>
            <a:r>
              <a:rPr lang="zh-CN" altLang="zh-CN" sz="1800" dirty="0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，对若干配置项，确认其设置如下。注意，划掉的配置项不需要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29929" y="3048000"/>
            <a:ext cx="7543800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hive.txn.manager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org.apache.hadoop.hive.ql.lockmgr.DbTxnManager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&lt;/value&gt;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hive.compactor.initiator.on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&lt;value&gt;true&lt;/value&gt;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hive.compactor.worker.threads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&lt;value&gt;5&lt;/value&gt;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71118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dirty="0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/hive/conf/hive-site.xml</a:t>
            </a:r>
            <a:r>
              <a:rPr lang="zh-CN" altLang="zh-CN" sz="1800" dirty="0">
                <a:solidFill>
                  <a:srgbClr val="000207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，对若干配置项，确认其设置如下。注意，划掉的配置项不需要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41846" y="2895600"/>
            <a:ext cx="75438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hive.compactor.check.interval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&lt;value&gt;10&lt;/value&gt;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hive.compactor.delta.num.threshold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&lt;value&gt;2&lt;/value&gt;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hive.support.concurrency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&lt;value&gt;true&lt;/value&gt;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strike="sngStrike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200" strike="sngStrike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hive.enforce.bucketing</a:t>
            </a:r>
            <a:r>
              <a:rPr lang="en-US" altLang="zh-CN" sz="1200" strike="sngStrike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strike="sngStrike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&lt;value&gt;true&lt;/value&gt;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strike="sngStrike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&lt;name&gt;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hive.exec.dynamic.partition.mode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&lt;value&gt;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nonstrict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&lt;/value&gt;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824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41846" y="2895600"/>
            <a:ext cx="75438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的相关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Jar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包到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lib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目录下。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hcatalog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/share/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hcatalog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/*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/apache-flume/lib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/hive/lib/*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/apache-flume/lib</a:t>
            </a:r>
          </a:p>
        </p:txBody>
      </p:sp>
    </p:spTree>
    <p:extLst>
      <p:ext uri="{BB962C8B-B14F-4D97-AF65-F5344CB8AC3E}">
        <p14:creationId xmlns:p14="http://schemas.microsoft.com/office/powerpoint/2010/main" val="34692141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41846" y="2895600"/>
            <a:ext cx="754380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打开一个终端窗口，通过如下命令，启动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Server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，并启动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agent1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apache-flume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bin/flume-ng agent --conf ./conf/ -f ./conf/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hive_sink.conf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Dflume.root.logger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DEBUG,console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-n agent1</a:t>
            </a:r>
          </a:p>
          <a:p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362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r>
              <a:rPr lang="en-US" altLang="zh-CN" sz="1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lvl="1" algn="just"/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 Hive  Sink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实例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41846" y="2895600"/>
            <a:ext cx="7543800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打开另一个终端，启动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 Shell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，执行如下查询，看看数据是否已经插入到表格中。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$HIVE_HOME/bin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./hive </a:t>
            </a:r>
          </a:p>
          <a:p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flume_test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exit;</a:t>
            </a:r>
          </a:p>
        </p:txBody>
      </p:sp>
    </p:spTree>
    <p:extLst>
      <p:ext uri="{BB962C8B-B14F-4D97-AF65-F5344CB8AC3E}">
        <p14:creationId xmlns:p14="http://schemas.microsoft.com/office/powerpoint/2010/main" val="1522508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817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Flume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的安装、配置和运行</a:t>
            </a: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附录</a:t>
            </a:r>
            <a:endParaRPr lang="en-US" altLang="zh-CN" sz="1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如何安装</a:t>
            </a:r>
            <a:r>
              <a:rPr lang="en-US" altLang="zh-CN" sz="14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netcat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Flume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6537F1-B71A-4EA5-995B-B626852B7E4A}"/>
              </a:ext>
            </a:extLst>
          </p:cNvPr>
          <p:cNvSpPr txBox="1"/>
          <p:nvPr/>
        </p:nvSpPr>
        <p:spPr>
          <a:xfrm>
            <a:off x="941846" y="2895600"/>
            <a:ext cx="75438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如果没有安装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netcat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，那么在已经配置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源的情况下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参考第二章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，可以使用如下命令安装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netcat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yum install -y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nc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EF645E-A2A1-4A7A-A99E-BC46F56DEB2E}"/>
              </a:ext>
            </a:extLst>
          </p:cNvPr>
          <p:cNvSpPr txBox="1"/>
          <p:nvPr/>
        </p:nvSpPr>
        <p:spPr>
          <a:xfrm>
            <a:off x="930650" y="4195715"/>
            <a:ext cx="755499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0" i="0" dirty="0" err="1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NetCat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是一个非常简单的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Unix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工具，可以读、写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网络连接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(network connection)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0" i="0" dirty="0">
              <a:solidFill>
                <a:srgbClr val="4D4D4D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en-US" altLang="zh-CN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最简单的使用方法，”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nc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host port”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，能建立一个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，连向指定的主机和端口。接下来，你的从标准输入中输入的任何内容都会被发送到指定的主机，任何通过连接返回来的信息都被显示在你的标准输出上。这个连接会一直持续下去，至到连接两端的程序关闭连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535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065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3287</TotalTime>
  <Words>4049</Words>
  <Application>Microsoft Office PowerPoint</Application>
  <PresentationFormat>全屏显示(4:3)</PresentationFormat>
  <Paragraphs>468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8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 2</vt:lpstr>
      <vt:lpstr>Wingdings 3</vt:lpstr>
      <vt:lpstr>Dragon</vt:lpstr>
      <vt:lpstr>Hadoop与Spark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pause</vt:lpstr>
      <vt:lpstr>Flume</vt:lpstr>
      <vt:lpstr>Flume</vt:lpstr>
      <vt:lpstr>pause</vt:lpstr>
      <vt:lpstr>Flume</vt:lpstr>
      <vt:lpstr>Flume</vt:lpstr>
      <vt:lpstr>Flume</vt:lpstr>
      <vt:lpstr>pause</vt:lpstr>
      <vt:lpstr>Flume</vt:lpstr>
      <vt:lpstr>Flume</vt:lpstr>
      <vt:lpstr>Flume</vt:lpstr>
      <vt:lpstr>pause</vt:lpstr>
      <vt:lpstr>Flume</vt:lpstr>
      <vt:lpstr>Flume</vt:lpstr>
      <vt:lpstr>Flume</vt:lpstr>
      <vt:lpstr>Flume</vt:lpstr>
      <vt:lpstr>Flume</vt:lpstr>
      <vt:lpstr>Flume</vt:lpstr>
      <vt:lpstr>Flume</vt:lpstr>
      <vt:lpstr>pause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Flume</vt:lpstr>
      <vt:lpstr>pause</vt:lpstr>
      <vt:lpstr>Flume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823</cp:revision>
  <dcterms:created xsi:type="dcterms:W3CDTF">2006-08-16T00:00:00Z</dcterms:created>
  <dcterms:modified xsi:type="dcterms:W3CDTF">2023-04-24T09:05:42Z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