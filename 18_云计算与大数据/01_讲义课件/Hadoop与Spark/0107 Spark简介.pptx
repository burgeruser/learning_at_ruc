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7"/>
  </p:notesMasterIdLst>
  <p:sldIdLst>
    <p:sldId id="610" r:id="rId2"/>
    <p:sldId id="285" r:id="rId3"/>
    <p:sldId id="611" r:id="rId4"/>
    <p:sldId id="692" r:id="rId5"/>
    <p:sldId id="612" r:id="rId6"/>
    <p:sldId id="614" r:id="rId7"/>
    <p:sldId id="693" r:id="rId8"/>
    <p:sldId id="618" r:id="rId9"/>
    <p:sldId id="619" r:id="rId10"/>
    <p:sldId id="615" r:id="rId11"/>
    <p:sldId id="616" r:id="rId12"/>
    <p:sldId id="617" r:id="rId13"/>
    <p:sldId id="613" r:id="rId14"/>
    <p:sldId id="694" r:id="rId15"/>
    <p:sldId id="620" r:id="rId16"/>
    <p:sldId id="621" r:id="rId17"/>
    <p:sldId id="622" r:id="rId18"/>
    <p:sldId id="623" r:id="rId19"/>
    <p:sldId id="695" r:id="rId20"/>
    <p:sldId id="624" r:id="rId21"/>
    <p:sldId id="625" r:id="rId22"/>
    <p:sldId id="626" r:id="rId23"/>
    <p:sldId id="627" r:id="rId24"/>
    <p:sldId id="628" r:id="rId25"/>
    <p:sldId id="629" r:id="rId26"/>
    <p:sldId id="669" r:id="rId27"/>
    <p:sldId id="670" r:id="rId28"/>
    <p:sldId id="671" r:id="rId29"/>
    <p:sldId id="630" r:id="rId30"/>
    <p:sldId id="631" r:id="rId31"/>
    <p:sldId id="696" r:id="rId32"/>
    <p:sldId id="697" r:id="rId33"/>
    <p:sldId id="698" r:id="rId34"/>
    <p:sldId id="632" r:id="rId35"/>
    <p:sldId id="701" r:id="rId36"/>
    <p:sldId id="699" r:id="rId37"/>
    <p:sldId id="702" r:id="rId38"/>
    <p:sldId id="633" r:id="rId39"/>
    <p:sldId id="634" r:id="rId40"/>
    <p:sldId id="638" r:id="rId41"/>
    <p:sldId id="639" r:id="rId42"/>
    <p:sldId id="700" r:id="rId43"/>
    <p:sldId id="635" r:id="rId44"/>
    <p:sldId id="636" r:id="rId45"/>
    <p:sldId id="637" r:id="rId4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D21623A-C671-2D44-B254-F252EBE76DF6}">
          <p14:sldIdLst>
            <p14:sldId id="610"/>
            <p14:sldId id="285"/>
            <p14:sldId id="611"/>
            <p14:sldId id="692"/>
            <p14:sldId id="612"/>
            <p14:sldId id="614"/>
            <p14:sldId id="693"/>
            <p14:sldId id="618"/>
            <p14:sldId id="619"/>
            <p14:sldId id="615"/>
            <p14:sldId id="616"/>
            <p14:sldId id="617"/>
            <p14:sldId id="613"/>
            <p14:sldId id="694"/>
            <p14:sldId id="620"/>
            <p14:sldId id="621"/>
            <p14:sldId id="622"/>
            <p14:sldId id="623"/>
            <p14:sldId id="695"/>
            <p14:sldId id="624"/>
            <p14:sldId id="625"/>
            <p14:sldId id="626"/>
            <p14:sldId id="627"/>
            <p14:sldId id="628"/>
            <p14:sldId id="629"/>
            <p14:sldId id="669"/>
            <p14:sldId id="670"/>
            <p14:sldId id="671"/>
            <p14:sldId id="630"/>
            <p14:sldId id="631"/>
            <p14:sldId id="696"/>
            <p14:sldId id="697"/>
            <p14:sldId id="698"/>
            <p14:sldId id="632"/>
            <p14:sldId id="701"/>
            <p14:sldId id="699"/>
            <p14:sldId id="702"/>
            <p14:sldId id="633"/>
            <p14:sldId id="634"/>
            <p14:sldId id="638"/>
            <p14:sldId id="639"/>
            <p14:sldId id="700"/>
            <p14:sldId id="635"/>
            <p14:sldId id="636"/>
            <p14:sldId id="6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5" autoAdjust="0"/>
    <p:restoredTop sz="93692" autoAdjust="0"/>
  </p:normalViewPr>
  <p:slideViewPr>
    <p:cSldViewPr>
      <p:cViewPr>
        <p:scale>
          <a:sx n="70" d="100"/>
          <a:sy n="70" d="100"/>
        </p:scale>
        <p:origin x="1979" y="169"/>
      </p:cViewPr>
      <p:guideLst>
        <p:guide orient="horz" pos="21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5AC6C-9512-4B60-88A3-550D11AC211E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A42DD-6D94-4698-832B-FD6413A89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45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3712DD02-EDF1-4DE5-8819-AAE28276EE89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18524F79-73A5-4710-9319-220E80AC0C1F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69D84AD9-88E4-47CB-8F2A-8AB59D90F7ED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/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en-US" altLang="zh-CN" dirty="0"/>
                  <a:t>Copy right </a:t>
                </a:r>
                <a14:m>
                  <m:oMath xmlns:m="http://schemas.openxmlformats.org/officeDocument/2006/math">
                    <m:r>
                      <a:rPr kumimoji="0"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  <a:blipFill>
                <a:blip r:embed="rId15"/>
                <a:stretch>
                  <a:fillRect l="-3930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sortbenchmark.org/" TargetMode="Externa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://bigdata.stratebi.com/" TargetMode="Externa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://bigdata.stratebi.com/" TargetMode="Externa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D14F7-0E7F-8548-85E8-931FFC6E8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Spark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829591-AB44-3C4B-B84E-713A444B9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309818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840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Apache Spark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是一个开源的大数据处理框架，它与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并驾齐驱，是当前主流的大数据处理框架之一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于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2009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年由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UC Berkeley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AMP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实验室开发，并且在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2010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年开源，成为一个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Apache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项目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是一个速度快、易用、通用的集群计算系统，能够与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生态系统和数据源良好地兼容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目前，很多机构和组织已经在大规模集群上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上千节点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，对他们的数据进行分析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根据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FAQ(Frequently Asked Questions)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，到目前为止，实际部署的最大的集群，达到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8000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个节点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平台的大部分用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Scala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编写，有一小部分用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Java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编写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737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用户可以使用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Shell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程序，交互式地对数据进行查询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除了简单的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Reduce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操作，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本身提供了超过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80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个数据处理的原语操作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(Primitive Operator)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，方便用户编写数据处理程序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提供了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Java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Scala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、以及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语言的应用程序编程接口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(API)</a:t>
            </a:r>
          </a:p>
          <a:p>
            <a:pPr indent="266700" algn="just"/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用户可以使用这些操作，完成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查询、流数据处理、机器学习、以及图数据处理，还可以在一个工作流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(Workflow)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中，把这些功能整合起来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7266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7858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软件架构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包含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个主要部分，分别是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的核心组件和相关组件、数据存储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(Data Storage)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、应用程序编程接口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(API)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、和资源管理框架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(Management Framework)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其中，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的核心组件和相关组件，包括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Core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，以及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Streaming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SQL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GraphX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MLLib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等组件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DFADF22-648B-48D9-A935-F66DF7EB6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962400"/>
            <a:ext cx="6858000" cy="279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443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2014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年，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赢得了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Daytona Gray Sort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比赛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hlinkClick r:id="rId2"/>
              </a:rPr>
              <a:t>http://sortbenchmark.org/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</a:p>
          <a:p>
            <a:pPr indent="266700" algn="just"/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Databricks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公司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进行商业化的公司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的研究人员，在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206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台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EC2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虚拟机上，用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23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分钟，完成了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100TB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数据的排序</a:t>
            </a:r>
            <a:endParaRPr lang="en-US" altLang="zh-CN" sz="17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之前，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Hadoop(MapReduce)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创造的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100TB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数据的排序记录，是使用了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2100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台机器，并且耗费了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72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分钟完成的</a:t>
            </a:r>
            <a:r>
              <a:rPr lang="zh-CN" alt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排序是在磁盘数据上进行的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(HDFS)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，没有使用内存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Cache</a:t>
            </a:r>
            <a:endParaRPr lang="en-US" altLang="zh-CN" sz="17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这个结果显示，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能够使用更少的硬件资源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少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倍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，对数据进行更快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快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倍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的排序</a:t>
            </a:r>
            <a:r>
              <a:rPr lang="zh-CN" altLang="en-US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赢得这个比赛，是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发展的重要的里程碑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E8227D-0F90-460F-9F65-F6BF0224F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4114800"/>
            <a:ext cx="5932039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741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139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特性总结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(1) 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的数据处理速度比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要快很多，这主要得益于其基于内存的数据处理技术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本身支持内存数据集的处理，以及存储在磁盘上的数据集的处理。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尽量把更多的数据驻留在内存中，必要的时候才需要存取磁盘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此外，对于中间结果，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也把它保存在内存中，而不是写入磁盘，对于需要对数据进行多次处理的计算任务来讲，避免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I/O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操作，可以极大提高处理效率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的基于内存的数据处理技术，使得它获得比其它大数据处理框架更高的性能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ABD62B-28F7-4F17-A503-04FE7B9EB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4876800"/>
            <a:ext cx="6553200" cy="1786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89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800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特性总结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 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生态系统兼容，能够集成和操作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Amazon S3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Hive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HBase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Cassandra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等数据源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可以运行在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 YARN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或者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Apache Mesos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上，也可以独立运行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(Standalone Mode)</a:t>
            </a:r>
            <a:endParaRPr lang="zh-CN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除了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Reduce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提供其它大量的数据原语操作，使用这些操作可以表达复杂的计算任务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这些操作包括转换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(Transformations)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操作和动作操作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(Actions)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(4) 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可以对用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DAG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表达的复杂算法进行优化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(5)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对于数据查询操作，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采用延迟计算的方式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(Lazy Evaluation)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来执行，从而帮助优化器对整个数据处理的工作流进行优化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(6) 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系统使用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语言进行编写，经过编译以后，在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JVM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上运行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(Java Virtual Machine)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系统提供了简洁、一致的编程接口，支持各种编程语言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目前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支持的开发语言包括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Scala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Python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Clojure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(7) 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提供了一个交互式的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Shell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，使得用户可以使用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Scala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或者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语言，交互式地对数据进行操作，马上看到结果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0276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518160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的局限性和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的诞生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作为大数据处理的有效工具，已经存在了十年，并且从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1.0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版本，发展到了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2.0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版本以及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3.0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版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传统的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平台使用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MapReduce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计算模型对数据进行处理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对于只需要一遍扫描处理的计算任务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(One Pass Computation)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来讲，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MapReduce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计算模型非常有效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但是某些计算任务，需要在数据上，进行多遍扫描和处理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(Multi Pass Computation)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MapReduce 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计算模型的效率就大大降低了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Hadoop/MapReduce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平台上，数据处理流程，分为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阶段和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Reduce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阶段，人们需要把任何计算任务转换成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MapReduce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计算模式，才能使用这套系统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也就是当我们需要执行某些复杂的数据处理任务时，需要把它翻译成一系列的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MapReduce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作业，然后依次执行这些作业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在计算过程的各个步骤之间，各个作业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(Job)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输出的中间结果，需要存储到分布式文件系统，然后才能被下一个步骤使用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因为多副本容错复制和磁盘存取的关系，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执行翻译成多个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MapReduce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作业的计算任务的时候，效率不高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8516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的局限性和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的诞生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从计算模型来看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把计算任务表达成有向无环图作业，从而把整个数据处理流程的多个步骤完整地表达出来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所以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能够支持对数据进行复杂的处理操作，无需像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那样，把复杂任务分解成一系列的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MapReduce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作业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支持把数据驻留在内存中，作业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表达为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DAG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形式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的多个阶段间，实现数据不落地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写入磁盘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的流水线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(Pipeline)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处理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所以，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不仅能够用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DAG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更加自然地表达各种复杂计算，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而且其性能也比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高</a:t>
            </a:r>
            <a:endParaRPr lang="zh-CN" altLang="en-US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76221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Hadoop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的局限性和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的诞生</a:t>
            </a:r>
            <a:endParaRPr lang="en-US" altLang="zh-CN" sz="18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并不是说，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大数据处理系统毫无意义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从某种意义上来讲，正是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的成功和不足，催生了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这样的系统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而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系统本身也在不断发展，包括新的计算模型的支持，比如流数据处理、图数据处理、以及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DAG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表达的计算任务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(Tez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的处理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所以，我们应该把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看作是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的一个备选项，而不是完全地替代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本身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目前，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可以在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分布式文件系统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上运行，把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作为数据存储使用</a:t>
            </a:r>
            <a:endParaRPr lang="en-US" altLang="zh-CN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应用程序，可以部署到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Hadoop2.0 YARN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集群、或者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Apache Mesos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集群上，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YARN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Mesos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是可以互相替换的资源管理和调度软件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模块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614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相对于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主要优势包括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数据类型与计算的表达能力：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首先，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可以管理各种类型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(Variety)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的数据集，包括文本数据、图数据等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它是一个通用的平台，支持以有向无环图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(Directed Acyclic Graph, DAG)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形式表达的复杂的计算，支撑批处理、流数据处理、图数据处理、机器学习等众多应用场景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数据处理速度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基于内存计算技术进行数据处理，可以快速处理各种类型的数据集，降低处理延迟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当数据完全驻留于内存时，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的数据处理速度达到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系统的几十到上百倍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当数据保存在磁盘上时，需要从磁盘装载数据以后才能进行处理，它的处理速度能够达到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10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倍左右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注意，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不能完全替代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，它运行在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Hadoop(HDFS)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之上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181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69847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生态环境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整个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软件系统，包含核心模块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(Spark Core)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，以及若干数据处理分析模块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这些模块，一起构成整个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大数据处理的生态环境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核心模块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(Spark Core)</a:t>
            </a:r>
          </a:p>
          <a:p>
            <a:pPr lvl="1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核心模块，是整个系统进行大规模并行和分布式数据处理的基础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它的主要功能是，内存管理和容错保证、集群环境下的作业调度和监控、以及和存储系统的接口和交互等。核心模块上的其它模块，介绍如下</a:t>
            </a:r>
            <a:endParaRPr lang="zh-CN" altLang="zh-CN" sz="17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3751A5A-5F89-4583-B2F4-B4F0324C1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4572000"/>
            <a:ext cx="5181600" cy="2222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1989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生态环境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流数据处理模块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(Spark Streaming)</a:t>
            </a: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用于处理实时流数据，比如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服务器的日志文件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(Log File)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、社交媒体如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Twitter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、以及各种消息队列如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Kafka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消息队列等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它采用小批量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(Micro Batch)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数据处理的方式，即把接收的数据流，分解成一系列的小的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下文介绍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，交给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引擎进行处理，实现流数据处理，其结果也是以批量的方式生成的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(In Batch)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9915749-B7D1-43E0-9329-DB19FFB2C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280" y="4419600"/>
            <a:ext cx="7385439" cy="1600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492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生态环境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查询与结构化数据处理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(Spark SQL)</a:t>
            </a: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该模块把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数据集通过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JDBC API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暴露出来，让客户程序可以在上面运行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查询；也可以把传统的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BI(Business Intelligence)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和可视化工具连接到该数据集，利用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JDBC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进行数据查询、汇总和展示等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 SQL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模块支持不同外部数据源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比如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JSON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Parquet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列存储、以及关系数据库等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的导入、转换、和装载，并且支持即席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(Ad-Hoc)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机器学习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(Spark MLLib)</a:t>
            </a:r>
          </a:p>
          <a:p>
            <a:pPr lvl="1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MLLib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生态系统里可扩展的机器学习模块。它已经实现了众多的算法，包括分类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(Classification)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、聚类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(Clustering)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、回归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(Regression)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、协同过滤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(Collaborative Filtering)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、降维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(Dimensionality Reduction)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图数据处理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(Spark GraphX)</a:t>
            </a:r>
          </a:p>
          <a:p>
            <a:pPr lvl="1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GraphX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支持图数据的并行处理。用户可以利用该模块，对图数据进行探索式分析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(Exploratory Analysis)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以及迭代式计算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(Iterative Graph Computation)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1555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生态环境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此外，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BlinkDB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是一个近似查询处理引擎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可以在大规模数据集上，交互式地执行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查询。这个查询引擎，允许用户在查询的精度和响应时间之间做出折中。用户可以指定查询响应时间、或者查询结果精度要求，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BlinkDB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在数据采样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(Data Sample)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上执行查询，获得一个近似结果。查询结果打上一个错误范围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(Error Bar)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标签，帮助用户做出决断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整个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生态环境，还集成了一系列的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适配软件模块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，包括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Cassandra Connector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等，以支持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Cassandra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等软件系统的协同工作。比如通过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Cassandra Connector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，我们可以使用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去存取存在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Cassandra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数据库里的数据，进行必要的数据分析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1378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6399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弹性分布式数据集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弹性分布数据集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(Resilient Distributed Dataset, RDD)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软件系统的核心概念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它是一个容错的、不可更新的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(Immutable)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分布式数据集，支持并行处理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简单来讲，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可以看作数据库里的一张表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把隶属于一个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的数据，划分成不同的分区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(Partition)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，分区是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的下级概念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进行分区，分布到集群环境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不同节点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，有利于对数据进行并行处理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我们可以从外部数据源比如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HBase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等创建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数据集，也可以在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程序中，直接创建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，比如把一个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List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转换成一个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</a:t>
            </a:r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31586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弹性分布式数据集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74955" algn="just"/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容错机制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74955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采用基于血统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(Lineage)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的容错机制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74955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也就是它记住每个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，是如何从其它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转换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(Transformation)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而来的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74955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当某个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损坏的时候，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系统从上游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重新计算和创建本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的数据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5579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弹性分布式数据集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74955" algn="just"/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Operation</a:t>
            </a:r>
          </a:p>
          <a:p>
            <a:pPr lvl="1" indent="274955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数据集是不可更新的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(Immutable)</a:t>
            </a:r>
          </a:p>
          <a:p>
            <a:pPr lvl="1" indent="274955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我们可以对一个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进行转换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(Transformation)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，但是转换之后会返回一个新的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，而原来的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保持不变。</a:t>
            </a:r>
            <a:endParaRPr lang="zh-CN" altLang="zh-CN" sz="1800" dirty="0">
              <a:effectLst/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数据集支持两种操作，分别是转换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Transformation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和动作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Action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</a:p>
          <a:p>
            <a:pPr lvl="2"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施加转换操作，将返回一个新的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RDD(New RDD)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典型的转换操作包括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map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filter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flatMap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groupByKey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reduceByKey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aggregateByKey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pipe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、以及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coalesce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动作操作施加于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数据集，经过对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数据集的计算，返回一个新的结果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(New Result)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，这个结果将返回客户端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2"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典型的动作包括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reduce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collect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count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first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take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 err="1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countByKey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、以及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foreach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916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弹性分布式数据集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74955"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Lazy Execution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7495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转换操作是延迟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(Lazy)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执行的，也就是这个操作不会马上执行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7495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当某个动作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(Action)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操作被一个驱动程序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(Driver Program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，不是设备驱动程序，而是客户端软件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调用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DAG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的动作操作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(Action)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的时候，动作操作的的一系列前导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(Proceeding)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转换操作，才会被启动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7495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这个特性使得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可以为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DAG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生成一个优化的执行计划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43318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DAG</a:t>
            </a:r>
          </a:p>
          <a:p>
            <a:pPr lvl="1" algn="just"/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、转换操作、动作操作等，一起构成一个 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DAG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，用以表达复杂的计算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一般来讲，对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DAG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中的每个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，当需要在上面执行某个转换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动作的时候，将重新从上游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进行计算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我们也可以对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进行缓存、或者持久化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在这种情况下，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会保留这个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，以便后面可以再次存取它，从而获得更高的查询速度；缓存指的是把数据缓存在内存中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en-US" sz="3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简介</a:t>
            </a:r>
            <a:endParaRPr kumimoji="1"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A7E4A67-4567-44DF-AA8C-6DEAEDA7D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4267200"/>
            <a:ext cx="7239000" cy="183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4063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宽依赖有窄依赖</a:t>
            </a:r>
            <a:endParaRPr lang="en-US" altLang="zh-CN" sz="18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DAG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里，父子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的各个分区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(Partition)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之间，有两种依赖关系，分别是宽依赖和窄依赖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窄依赖，指的是每个父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的分区，最多被一个子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的分区使用到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父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的某个分区的数据经过转换操作，产生子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而宽依赖，指的是多个子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的分区，依赖于同一个父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的分区的情形，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groupByKey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reduceByKey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sortByKey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等操作，需要用到宽依赖，以便获得正确的结果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请读者思考为什么？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741A5A5-4EEC-4951-9478-D33A5DEED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8603" y="4191000"/>
            <a:ext cx="3906793" cy="248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9158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7974330" cy="3937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</a:rPr>
              <a:t>Filter</a:t>
            </a:r>
            <a:r>
              <a:rPr lang="zh-CN" altLang="en-US" sz="1800" dirty="0">
                <a:solidFill>
                  <a:srgbClr val="000000"/>
                </a:solidFill>
              </a:rPr>
              <a:t>过滤：</a:t>
            </a:r>
            <a:r>
              <a:rPr lang="zh-CN" altLang="en-US" sz="1800" dirty="0">
                <a:solidFill>
                  <a:srgbClr val="C00000"/>
                </a:solidFill>
              </a:rPr>
              <a:t>窄依赖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algn="just"/>
            <a:endParaRPr lang="en-US" altLang="zh-CN" sz="1800" dirty="0">
              <a:solidFill>
                <a:srgbClr val="000000"/>
              </a:solidFill>
            </a:endParaRPr>
          </a:p>
          <a:p>
            <a:pPr algn="just"/>
            <a:endParaRPr lang="en-US" altLang="zh-CN" sz="1800" dirty="0">
              <a:solidFill>
                <a:srgbClr val="000000"/>
              </a:solidFill>
            </a:endParaRPr>
          </a:p>
          <a:p>
            <a:pPr lvl="1" algn="just"/>
            <a:r>
              <a:rPr lang="en-US" altLang="zh-CN" sz="1600" dirty="0">
                <a:solidFill>
                  <a:srgbClr val="000000"/>
                </a:solidFill>
              </a:rPr>
              <a:t>Partition0</a:t>
            </a:r>
          </a:p>
          <a:p>
            <a:pPr algn="just"/>
            <a:endParaRPr lang="en-US" altLang="zh-CN" sz="1800" dirty="0">
              <a:solidFill>
                <a:srgbClr val="000000"/>
              </a:solidFill>
            </a:endParaRPr>
          </a:p>
          <a:p>
            <a:pPr algn="just"/>
            <a:endParaRPr lang="en-US" altLang="zh-CN" sz="1800" dirty="0">
              <a:solidFill>
                <a:srgbClr val="000000"/>
              </a:solidFill>
            </a:endParaRPr>
          </a:p>
          <a:p>
            <a:pPr algn="just"/>
            <a:endParaRPr lang="en-US" altLang="zh-CN" sz="1800" dirty="0">
              <a:solidFill>
                <a:srgbClr val="000000"/>
              </a:solidFill>
            </a:endParaRPr>
          </a:p>
          <a:p>
            <a:pPr algn="just"/>
            <a:endParaRPr lang="en-US" altLang="zh-CN" sz="1800" dirty="0">
              <a:solidFill>
                <a:srgbClr val="000000"/>
              </a:solidFill>
            </a:endParaRPr>
          </a:p>
          <a:p>
            <a:pPr lvl="1" algn="just"/>
            <a:r>
              <a:rPr lang="en-US" altLang="zh-CN" sz="1600" dirty="0">
                <a:solidFill>
                  <a:srgbClr val="000000"/>
                </a:solidFill>
              </a:rPr>
              <a:t>Partition1</a:t>
            </a:r>
          </a:p>
          <a:p>
            <a:pPr algn="just"/>
            <a:endParaRPr lang="en-US" altLang="zh-CN" sz="1600" dirty="0">
              <a:solidFill>
                <a:srgbClr val="00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FF09927-00B4-4CCB-BA00-42E3A3E00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060" y="2090348"/>
            <a:ext cx="5113020" cy="177703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067C257-E065-4AF9-8C89-C287D6A1C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060" y="4017740"/>
            <a:ext cx="5113020" cy="1777033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dirty="0"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0857B6-DCB6-44E4-9756-8800D745D018}"/>
              </a:ext>
            </a:extLst>
          </p:cNvPr>
          <p:cNvSpPr/>
          <p:nvPr/>
        </p:nvSpPr>
        <p:spPr>
          <a:xfrm>
            <a:off x="4390445" y="1605697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窄依赖</a:t>
            </a:r>
            <a:endParaRPr lang="zh-CN" altLang="en-US" dirty="0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AEF3BD14-5A66-4902-9758-166145A169FD}"/>
              </a:ext>
            </a:extLst>
          </p:cNvPr>
          <p:cNvSpPr/>
          <p:nvPr/>
        </p:nvSpPr>
        <p:spPr>
          <a:xfrm rot="5400000">
            <a:off x="4662394" y="1988542"/>
            <a:ext cx="327728" cy="2306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B99F573A-4764-4FF9-A70A-98111CC9F0DF}"/>
              </a:ext>
            </a:extLst>
          </p:cNvPr>
          <p:cNvSpPr/>
          <p:nvPr/>
        </p:nvSpPr>
        <p:spPr>
          <a:xfrm>
            <a:off x="4555816" y="2447797"/>
            <a:ext cx="679732" cy="2767014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9531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7974330" cy="3937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000000"/>
                </a:solidFill>
              </a:rPr>
              <a:t>Group by </a:t>
            </a:r>
            <a:r>
              <a:rPr lang="zh-CN" altLang="en-US" sz="1800" dirty="0">
                <a:solidFill>
                  <a:srgbClr val="000000"/>
                </a:solidFill>
              </a:rPr>
              <a:t>分组</a:t>
            </a:r>
            <a:endParaRPr lang="en-US" altLang="zh-CN" sz="1800" dirty="0">
              <a:solidFill>
                <a:srgbClr val="000000"/>
              </a:solidFill>
            </a:endParaRPr>
          </a:p>
          <a:p>
            <a:pPr lvl="1" algn="just"/>
            <a:r>
              <a:rPr lang="zh-CN" altLang="en-US" sz="1600" dirty="0">
                <a:solidFill>
                  <a:srgbClr val="C00000"/>
                </a:solidFill>
              </a:rPr>
              <a:t>宽依赖</a:t>
            </a:r>
            <a:endParaRPr lang="en-US" altLang="zh-CN" sz="1400" dirty="0">
              <a:solidFill>
                <a:srgbClr val="C0000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E6CBABD-6ACB-49C1-B4D3-88285618D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9810" y="2063750"/>
            <a:ext cx="5268894" cy="3900052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dirty="0"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zh-CN" altLang="en-US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154A89-94E8-48B3-806E-2F30CCE956DA}"/>
              </a:ext>
            </a:extLst>
          </p:cNvPr>
          <p:cNvSpPr/>
          <p:nvPr/>
        </p:nvSpPr>
        <p:spPr>
          <a:xfrm>
            <a:off x="809720" y="3244334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宽依赖</a:t>
            </a:r>
            <a:endParaRPr lang="zh-CN" altLang="en-US" dirty="0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5F079FBE-F294-4C8C-BA55-121C0DB31E06}"/>
              </a:ext>
            </a:extLst>
          </p:cNvPr>
          <p:cNvSpPr/>
          <p:nvPr/>
        </p:nvSpPr>
        <p:spPr>
          <a:xfrm>
            <a:off x="1849030" y="3317230"/>
            <a:ext cx="327728" cy="23062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7A27D72-23AF-44F3-A432-91C429198D6B}"/>
              </a:ext>
            </a:extLst>
          </p:cNvPr>
          <p:cNvSpPr/>
          <p:nvPr/>
        </p:nvSpPr>
        <p:spPr>
          <a:xfrm>
            <a:off x="2225311" y="3025915"/>
            <a:ext cx="5425709" cy="784928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8699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76400"/>
            <a:ext cx="7974330" cy="3937000"/>
          </a:xfrm>
        </p:spPr>
        <p:txBody>
          <a:bodyPr>
            <a:normAutofit/>
          </a:bodyPr>
          <a:lstStyle/>
          <a:p>
            <a:pPr algn="just"/>
            <a:r>
              <a:rPr lang="zh-CN" altLang="en-US" sz="1800" dirty="0">
                <a:solidFill>
                  <a:srgbClr val="000000"/>
                </a:solidFill>
              </a:rPr>
              <a:t>两个表格</a:t>
            </a:r>
            <a:r>
              <a:rPr lang="en-US" altLang="zh-CN" sz="1800" dirty="0">
                <a:solidFill>
                  <a:srgbClr val="000000"/>
                </a:solidFill>
              </a:rPr>
              <a:t>(RDD)</a:t>
            </a:r>
            <a:r>
              <a:rPr lang="en-US" altLang="zh-CN" sz="1800" dirty="0">
                <a:solidFill>
                  <a:srgbClr val="C00000"/>
                </a:solidFill>
              </a:rPr>
              <a:t>Join</a:t>
            </a:r>
            <a:r>
              <a:rPr lang="zh-CN" altLang="en-US" sz="1800" dirty="0">
                <a:solidFill>
                  <a:srgbClr val="C00000"/>
                </a:solidFill>
              </a:rPr>
              <a:t>：宽依赖</a:t>
            </a:r>
            <a:endParaRPr lang="en-US" altLang="zh-CN" sz="1800" dirty="0">
              <a:solidFill>
                <a:srgbClr val="C00000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6D7B7E8-1F80-45F3-B4DD-5595A551E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90" y="2369254"/>
            <a:ext cx="7395210" cy="2782898"/>
          </a:xfrm>
          <a:prstGeom prst="rect">
            <a:avLst/>
          </a:prstGeom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dirty="0"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2872884" y="5152152"/>
            <a:ext cx="646331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信息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3696205" y="5152153"/>
            <a:ext cx="646331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经济</a:t>
            </a:r>
            <a:endParaRPr lang="en-US" altLang="zh-CN" dirty="0">
              <a:solidFill>
                <a:srgbClr val="000000"/>
              </a:solidFill>
            </a:endParaRPr>
          </a:p>
          <a:p>
            <a:r>
              <a:rPr lang="zh-CN" altLang="en-US" dirty="0">
                <a:solidFill>
                  <a:srgbClr val="000000"/>
                </a:solidFill>
              </a:rPr>
              <a:t>新闻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591684" y="5152152"/>
            <a:ext cx="646331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/>
              <a:t>统计</a:t>
            </a:r>
          </a:p>
        </p:txBody>
      </p:sp>
      <p:sp>
        <p:nvSpPr>
          <p:cNvPr id="11" name="矩形 10"/>
          <p:cNvSpPr/>
          <p:nvPr/>
        </p:nvSpPr>
        <p:spPr>
          <a:xfrm>
            <a:off x="5487162" y="5152152"/>
            <a:ext cx="1107996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工商管理</a:t>
            </a:r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2175613" y="1999922"/>
            <a:ext cx="877163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院系表</a:t>
            </a:r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5657953" y="1999922"/>
            <a:ext cx="877163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</a:rPr>
              <a:t>学生表</a:t>
            </a:r>
            <a:endParaRPr lang="zh-CN" altLang="en-US" dirty="0"/>
          </a:p>
        </p:txBody>
      </p:sp>
      <p:sp>
        <p:nvSpPr>
          <p:cNvPr id="14" name="椭圆形标注 13"/>
          <p:cNvSpPr/>
          <p:nvPr/>
        </p:nvSpPr>
        <p:spPr>
          <a:xfrm>
            <a:off x="7082790" y="1123950"/>
            <a:ext cx="2061210" cy="765810"/>
          </a:xfrm>
          <a:prstGeom prst="wedgeEllipseCallout">
            <a:avLst>
              <a:gd name="adj1" fmla="val -25797"/>
              <a:gd name="adj2" fmla="val 938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统计每个院系的学生人数</a:t>
            </a:r>
          </a:p>
        </p:txBody>
      </p:sp>
    </p:spTree>
    <p:extLst>
      <p:ext uri="{BB962C8B-B14F-4D97-AF65-F5344CB8AC3E}">
        <p14:creationId xmlns:p14="http://schemas.microsoft.com/office/powerpoint/2010/main" val="12657478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DAG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的调度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7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DAGScheduler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是面向阶段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(Stage-Oriented)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DAG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执行调度器</a:t>
            </a:r>
            <a:endParaRPr lang="en-US" altLang="zh-CN" sz="17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7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DAGScheduler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使用作业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(Job)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和阶段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(Stage)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等基本概念，进行作业调度</a:t>
            </a:r>
            <a:endParaRPr lang="en-US" altLang="zh-CN" sz="17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一个作业，是一个提交到</a:t>
            </a:r>
            <a:r>
              <a:rPr lang="en-US" altLang="zh-CN" sz="17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DAGScheduler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的工作项目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(Work Item)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。一个作业表达成一个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DAG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，并且以一个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结束</a:t>
            </a:r>
            <a:endParaRPr lang="en-US" altLang="zh-CN" sz="17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7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阶段是一组并行任务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，每个任务对应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的一个分区</a:t>
            </a:r>
            <a:r>
              <a:rPr lang="zh-CN" altLang="en-US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每个阶段是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作业的一部分，负责计算部分结果，</a:t>
            </a:r>
            <a:r>
              <a:rPr lang="zh-CN" altLang="zh-CN" sz="17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它是调度的基本单元</a:t>
            </a:r>
            <a:endParaRPr lang="en-US" altLang="zh-CN" sz="17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7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DAGScheduler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检查依赖的类型，它把一系列窄依赖</a:t>
            </a:r>
            <a:r>
              <a:rPr lang="en-US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组织成一个阶段</a:t>
            </a:r>
            <a:r>
              <a:rPr lang="zh-CN" altLang="en-US" sz="17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zh-CN" sz="1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而对于宽依赖，则需要跨越连续的阶段</a:t>
            </a:r>
            <a:endParaRPr lang="zh-CN" altLang="en-US" sz="17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BF4ED5-C701-4A2C-8C46-8A50D732F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2841" y="4419600"/>
            <a:ext cx="2838317" cy="229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7624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DAG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的调度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Stage1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里，对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 A(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是一张表，整个是一个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，划分成一系列分区，分布在各个节点上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Groupby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处理，生成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 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 A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 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之间的依赖关系是宽依赖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6BF4ED5-C701-4A2C-8C46-8A50D732F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819400"/>
            <a:ext cx="4343400" cy="3508903"/>
          </a:xfrm>
          <a:prstGeom prst="rect">
            <a:avLst/>
          </a:prstGeom>
        </p:spPr>
      </p:pic>
      <p:sp>
        <p:nvSpPr>
          <p:cNvPr id="2" name="矩形: 圆角 1">
            <a:extLst>
              <a:ext uri="{FF2B5EF4-FFF2-40B4-BE49-F238E27FC236}">
                <a16:creationId xmlns:a16="http://schemas.microsoft.com/office/drawing/2014/main" id="{3AC40813-2A27-4BC0-84D3-1B7A0F6B7420}"/>
              </a:ext>
            </a:extLst>
          </p:cNvPr>
          <p:cNvSpPr/>
          <p:nvPr/>
        </p:nvSpPr>
        <p:spPr>
          <a:xfrm>
            <a:off x="1981200" y="2743200"/>
            <a:ext cx="2057400" cy="1600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2428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DAG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的调度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Stage2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里，对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 C(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是另外一张表，整个是一个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，划分成一系列分区，分布在各个节点上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filter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等操作，依次生成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 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 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等中间结果，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 C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 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之间、以及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 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RDD 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之间的依赖关系是窄依赖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78C19BB-53CC-40D7-9427-DCF77DAB4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904020"/>
            <a:ext cx="4343400" cy="3508903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E9802775-BE8E-4796-A484-FA37D531AF5F}"/>
              </a:ext>
            </a:extLst>
          </p:cNvPr>
          <p:cNvSpPr/>
          <p:nvPr/>
        </p:nvSpPr>
        <p:spPr>
          <a:xfrm>
            <a:off x="2667000" y="4343400"/>
            <a:ext cx="3048000" cy="1600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5114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9248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DAG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的调度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Stage3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里，对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 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 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做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join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 B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 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之间的依赖关系是窄依赖，而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 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 F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之间的依赖关系是宽依赖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9EC2C57-284B-45C1-96C2-01082933A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2667000"/>
            <a:ext cx="4343400" cy="3508903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6B93C8BB-376B-40F5-A8DE-CA81D1135EB6}"/>
              </a:ext>
            </a:extLst>
          </p:cNvPr>
          <p:cNvSpPr/>
          <p:nvPr/>
        </p:nvSpPr>
        <p:spPr>
          <a:xfrm>
            <a:off x="5562600" y="3048000"/>
            <a:ext cx="1828800" cy="16002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0511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30241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80010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部署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Driver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负责运行应用程序的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main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函数，创建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SparkContext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266700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Spark Context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持有到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Cluster Manager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的连接。每个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应用程序都是一组独立的进程，由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Spark Context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协调运行。当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Spark Context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连接到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Cluster Manager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以后，它申请获得从节点上的一系列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Executor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。这些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Executor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独立工作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Task)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又相互沟通，完成整个作业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(Job)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，即应用程序的处理要求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Worker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Cluster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的从节点上运行的进程，用于执行运行应用程序。一个应用程序启动以后，它在各个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Worker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上申请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Executors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，来真正执行应用程序的处理逻辑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(Task)</a:t>
            </a:r>
          </a:p>
          <a:p>
            <a:pPr indent="266700" algn="just"/>
            <a:r>
              <a:rPr lang="en-US" altLang="zh-C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Cluster Manager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负责为应用程序分配资源。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3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种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Cluster Manager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，即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Standalone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Mesos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、和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YARN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。这些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Cluster Manager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在调度算法、安全性、监控能力等方面有差别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DDEECD-1661-4991-9074-A97145486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300" y="5105400"/>
            <a:ext cx="4343400" cy="169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791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80010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Spark Job</a:t>
            </a:r>
            <a:r>
              <a:rPr lang="zh-CN" altLang="en-US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执行流程</a:t>
            </a:r>
            <a:endParaRPr lang="en-US" altLang="zh-CN" sz="18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/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）用户提交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Job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后会生成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Spark Context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对象</a:t>
            </a:r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just"/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Spark Context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向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Cluster Manager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（在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Standalone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模式下是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Spark Master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）申请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Executor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资源</a:t>
            </a:r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just"/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Spark Context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并将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Job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分解成一系列可并行处理的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task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，然后将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task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分发到不同的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Executor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上运行</a:t>
            </a:r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lvl="1" algn="just"/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4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Executor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在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task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执行完后将结果返回到</a:t>
            </a:r>
            <a:r>
              <a:rPr lang="en-US" altLang="zh-CN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Spark Context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2F46197-671A-40C6-A069-3EADFC3ED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3810000"/>
            <a:ext cx="5410200" cy="265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240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简介</a:t>
            </a:r>
            <a:endParaRPr kumimoji="1" lang="zh-CN" altLang="en-US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417638"/>
            <a:ext cx="8458200" cy="3154362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10000"/>
              </a:lnSpc>
            </a:pPr>
            <a:r>
              <a:rPr kumimoji="1" lang="en-US" altLang="zh-CN" sz="1700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SparkContext</a:t>
            </a:r>
            <a:r>
              <a:rPr kumimoji="1" lang="zh-CN" altLang="en-US" sz="17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申请</a:t>
            </a:r>
            <a:r>
              <a:rPr kumimoji="1" lang="en-US" altLang="zh-CN" sz="17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Executor</a:t>
            </a:r>
            <a:r>
              <a:rPr kumimoji="1" lang="zh-CN" altLang="en-US" sz="17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资源的过程</a:t>
            </a:r>
          </a:p>
          <a:p>
            <a:pPr algn="just">
              <a:lnSpc>
                <a:spcPct val="110000"/>
              </a:lnSpc>
            </a:pP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17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SparkContext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</a:t>
            </a:r>
            <a:r>
              <a:rPr kumimoji="1" lang="en-US" altLang="zh-CN" sz="1700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TaskSchedulerImpl</a:t>
            </a:r>
            <a:r>
              <a:rPr kumimoji="1" lang="zh-CN" altLang="en-US" sz="17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1" lang="en-US" altLang="zh-CN" sz="1700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SparkDeploySchedulerBackend</a:t>
            </a:r>
            <a:r>
              <a:rPr kumimoji="1" lang="zh-CN" altLang="en-US" sz="17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1700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DAGScheduler</a:t>
            </a:r>
            <a:endParaRPr kumimoji="1" lang="en-US" altLang="zh-CN" sz="17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17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SparkDeploySchedulerBackend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</a:t>
            </a:r>
            <a:r>
              <a:rPr kumimoji="1" lang="en-US" altLang="zh-CN" sz="1700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AppClient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，并通过一些回调函数来得到</a:t>
            </a:r>
            <a:r>
              <a:rPr kumimoji="1" lang="en-US" altLang="zh-CN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Executor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信息</a:t>
            </a:r>
          </a:p>
          <a:p>
            <a:pPr algn="just">
              <a:lnSpc>
                <a:spcPct val="110000"/>
              </a:lnSpc>
            </a:pP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17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AppClient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向</a:t>
            </a:r>
            <a:r>
              <a:rPr kumimoji="1" lang="en-US" altLang="zh-CN" sz="17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Master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注册</a:t>
            </a:r>
            <a:r>
              <a:rPr kumimoji="1" lang="en-US" altLang="zh-CN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Application</a:t>
            </a:r>
          </a:p>
          <a:p>
            <a:pPr algn="just">
              <a:lnSpc>
                <a:spcPct val="110000"/>
              </a:lnSpc>
            </a:pP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Master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向</a:t>
            </a:r>
            <a:r>
              <a:rPr kumimoji="1" lang="en-US" altLang="zh-CN" sz="1700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Woker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发送</a:t>
            </a:r>
            <a:r>
              <a:rPr kumimoji="1" lang="en-US" altLang="zh-CN" sz="17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LaunchExecutor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消息，同时向</a:t>
            </a:r>
            <a:r>
              <a:rPr kumimoji="1" lang="en-US" altLang="zh-CN" sz="1700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AppClient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发送</a:t>
            </a:r>
            <a:r>
              <a:rPr kumimoji="1" lang="en-US" altLang="zh-CN" sz="17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ExecutorAdded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消息</a:t>
            </a:r>
          </a:p>
          <a:p>
            <a:pPr algn="just">
              <a:lnSpc>
                <a:spcPct val="110000"/>
              </a:lnSpc>
            </a:pP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Worker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</a:t>
            </a:r>
            <a:r>
              <a:rPr kumimoji="1" lang="en-US" altLang="zh-CN" sz="1700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ExecutorRunner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，并向</a:t>
            </a:r>
            <a:r>
              <a:rPr kumimoji="1" lang="en-US" altLang="zh-CN" sz="17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Master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发送</a:t>
            </a:r>
            <a:r>
              <a:rPr kumimoji="1" lang="en-US" altLang="zh-CN" sz="17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ExecutorStateChanged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的消息</a:t>
            </a:r>
          </a:p>
          <a:p>
            <a:pPr algn="just">
              <a:lnSpc>
                <a:spcPct val="110000"/>
              </a:lnSpc>
            </a:pP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1700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ExecutorRunner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创建</a:t>
            </a:r>
            <a:r>
              <a:rPr kumimoji="1" lang="en-US" altLang="zh-CN" sz="17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CoarseGrainedSchedulerBackend</a:t>
            </a:r>
            <a:endParaRPr kumimoji="1" lang="en-US" altLang="zh-CN" sz="17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10000"/>
              </a:lnSpc>
            </a:pP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17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CoarseGrainedExecutorBackend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向</a:t>
            </a:r>
            <a:r>
              <a:rPr kumimoji="1" lang="en-US" altLang="zh-CN" sz="1700" dirty="0" err="1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SparkDeploySchedulerBackend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发送</a:t>
            </a:r>
            <a:r>
              <a:rPr kumimoji="1" lang="en-US" altLang="zh-CN" sz="17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RegisterExecutor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消息</a:t>
            </a:r>
          </a:p>
          <a:p>
            <a:pPr algn="just">
              <a:lnSpc>
                <a:spcPct val="110000"/>
              </a:lnSpc>
            </a:pP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kumimoji="1" lang="en-US" altLang="zh-CN" sz="17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CoarseGrainedExecutorBackend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在接收到</a:t>
            </a:r>
            <a:r>
              <a:rPr kumimoji="1" lang="en-US" altLang="zh-CN" sz="17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SparkDeploySchedulerBackend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发送的</a:t>
            </a:r>
            <a:r>
              <a:rPr kumimoji="1" lang="en-US" altLang="zh-CN" sz="17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RegisteredExecutor</a:t>
            </a:r>
            <a:r>
              <a:rPr kumimoji="1" lang="zh-CN" altLang="en-US" sz="17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消息后，创建</a:t>
            </a:r>
            <a:r>
              <a:rPr kumimoji="1" lang="en-US" altLang="zh-CN" sz="17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Executor</a:t>
            </a:r>
            <a:endParaRPr kumimoji="1" lang="zh-CN" altLang="en-US" sz="1700" dirty="0">
              <a:solidFill>
                <a:srgbClr val="C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95CEC6-898A-475F-95C1-F00A02EF95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495800"/>
            <a:ext cx="5562600" cy="224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7595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25258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80010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的应用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生态系统的各个工具，可以有效地应对大数据的数据量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(Volume)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、速度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(Velocity)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、数据多样性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(Diversity)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等多重挑战，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胜任日志数据、电信基站数据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等数据的处理和分析工作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下面列举部分可以使用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技术的实际应用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在游戏行业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，如果能够对游戏中的大量实时事件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(Real Time Event)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进行分析，并且发现一些模式，就可以进行快速响应，比如进行精准广告投放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(Targeted Advertising)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、玩家的挽留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(Retention)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、以及自动调整游戏的复杂度等。这些分析，将是非常有利可图的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983304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80010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的应用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/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在电商领域，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实时的交易信息可以作为一个数据流，在数据流上可以运行一些聚类算法比如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K-Means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算法、或者协同过滤算法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(Collaborative Filtering)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，所获得的分析结果，可以结合其它的非结构化数据源，比如客户对商品的评价信息等，用于不断优化和调整展示给用户的推荐信息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在金融以及网络安全领域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生态系统工具可以用于欺诈检测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(Fraud Detection)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、入侵检测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(Intrusion Detection)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等。通过对大量的日志进行分析，并且和外部数据源进行合并，比如关于数据泄漏、受损账户、连接和请求发出的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IP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地址所在位置、以及时间等信息，我们就可以获得更加准确的预测效果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79605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80010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的应用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F2B31F-1511-4A34-9ECD-448418EE7ED8}"/>
              </a:ext>
            </a:extLst>
          </p:cNvPr>
          <p:cNvSpPr txBox="1"/>
          <p:nvPr/>
        </p:nvSpPr>
        <p:spPr>
          <a:xfrm>
            <a:off x="4876800" y="9906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http://bigdata.stratebi.com/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50EC63F-FE61-4D95-8F05-9F8CE9EB1A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1817132"/>
            <a:ext cx="6386879" cy="484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387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80010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的应用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3F2B31F-1511-4A34-9ECD-448418EE7ED8}"/>
              </a:ext>
            </a:extLst>
          </p:cNvPr>
          <p:cNvSpPr txBox="1"/>
          <p:nvPr/>
        </p:nvSpPr>
        <p:spPr>
          <a:xfrm>
            <a:off x="4876800" y="99060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2"/>
              </a:rPr>
              <a:t>http://bigdata.stratebi.com/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BC306D-458E-4E51-9689-58DDC3781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05000"/>
            <a:ext cx="7391400" cy="4268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8222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6370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80010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SparkSQL</a:t>
            </a:r>
          </a:p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SparkSQL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大数据处理框架的重要组成部分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用户可以对结构化数据用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语言进行查询分析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用户可以通过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ETL(Extraction Transformation, Loading)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工具，从不同格式的数据源装载数据，然后运行一些即席查询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(Ad-Hoc Query)</a:t>
            </a:r>
          </a:p>
          <a:p>
            <a:pPr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SparkSQL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和其它系统组件的关系如图所示，其中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Catalyst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SparkSQL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的查询优化器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0722023-050C-4EF5-B79E-42401DEC0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3810000"/>
            <a:ext cx="4852987" cy="286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599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80010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SparkSQL</a:t>
            </a:r>
            <a:r>
              <a:rPr lang="zh-CN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的主要特性</a:t>
            </a:r>
            <a:endParaRPr lang="en-US" altLang="zh-CN" sz="1800" dirty="0">
              <a:solidFill>
                <a:srgbClr val="C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(1) DataFrame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新版本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SparkSQL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，在数据存储层面通过数据模式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(Schema)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完成对数据的结构化描述，称为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DataFrame</a:t>
            </a:r>
            <a:r>
              <a:rPr lang="zh-CN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DataFrame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SparkSQL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的一个重要的软件抽象层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DataFrame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是给不同属性列命名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(Named Column)</a:t>
            </a:r>
            <a:r>
              <a:rPr lang="zh-CN" alt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（加上数据类型的描述）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的分布式数据集，它和关系数据库的数据库表结构非常类似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DataFrame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SparkSQL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前一个版本的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SchemaRDD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发展而来，并且进行了大量的代码改写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indent="266700" algn="just"/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SchemaRDD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的基础上，增加了一个模式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(Schema)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层，以便对数据集的各个数据列进行命名和数据类型描述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52903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8001000" cy="49530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SparkSQL</a:t>
            </a:r>
            <a:r>
              <a:rPr lang="zh-CN" altLang="zh-CN" sz="1800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的主要特性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(2) Data Source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Spark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增加了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Data Source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应用程序编程接口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(Application Programming Interface, API)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。通过这个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API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SparkSQL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可以存取以不同格式保存的结构化数据，包括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Parquet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格式、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JSON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格式、以及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Apache Avro 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数据序列化格式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(Data Serialization)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endParaRPr lang="en-US" altLang="zh-C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JDBC Data Source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，是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SparkSQL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支持的其中一个数据源类型。用户可以通过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JDBC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编程接口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(API)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，从关系数据库读取数据，并且把读取的数据和其它的数据集进行连接操作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(Join)</a:t>
            </a:r>
            <a:endParaRPr lang="en-US" altLang="zh-CN" sz="1800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(3) JDBC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(Server)</a:t>
            </a:r>
            <a:r>
              <a:rPr lang="zh-CN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SQL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内置一个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JDBC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服务器，客户端程序可以通过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JDBC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驱动程序，连接到该服务器，存取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SparkSQL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数据库表</a:t>
            </a: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</a:t>
            </a:r>
            <a:r>
              <a:rPr lang="zh-CN" altLang="en-US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220884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ragon">
  <a:themeElements>
    <a:clrScheme name="Dragon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Dragon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Dragon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3276</TotalTime>
  <Words>3877</Words>
  <Application>Microsoft Office PowerPoint</Application>
  <PresentationFormat>全屏显示(4:3)</PresentationFormat>
  <Paragraphs>242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9" baseType="lpstr">
      <vt:lpstr>华文楷体</vt:lpstr>
      <vt:lpstr>隶书</vt:lpstr>
      <vt:lpstr>宋体</vt:lpstr>
      <vt:lpstr>微软雅黑</vt:lpstr>
      <vt:lpstr>Arial</vt:lpstr>
      <vt:lpstr>Calibri</vt:lpstr>
      <vt:lpstr>Cambria</vt:lpstr>
      <vt:lpstr>Cambria Math</vt:lpstr>
      <vt:lpstr>Maiandra GD</vt:lpstr>
      <vt:lpstr>Symbol</vt:lpstr>
      <vt:lpstr>Times New Roman</vt:lpstr>
      <vt:lpstr>Wingdings 2</vt:lpstr>
      <vt:lpstr>Wingdings 3</vt:lpstr>
      <vt:lpstr>Dragon</vt:lpstr>
      <vt:lpstr>Hadoop与Spark</vt:lpstr>
      <vt:lpstr>Spark简介</vt:lpstr>
      <vt:lpstr>Spark简介</vt:lpstr>
      <vt:lpstr>pause</vt:lpstr>
      <vt:lpstr>Spark简介</vt:lpstr>
      <vt:lpstr>Spark简介</vt:lpstr>
      <vt:lpstr>pause</vt:lpstr>
      <vt:lpstr>Spark简介</vt:lpstr>
      <vt:lpstr>Spark简介</vt:lpstr>
      <vt:lpstr>Spark简介</vt:lpstr>
      <vt:lpstr>Spark简介</vt:lpstr>
      <vt:lpstr>Spark简介</vt:lpstr>
      <vt:lpstr>Spark简介</vt:lpstr>
      <vt:lpstr>pause</vt:lpstr>
      <vt:lpstr>Spark简介</vt:lpstr>
      <vt:lpstr>Spark简介</vt:lpstr>
      <vt:lpstr>Spark简介</vt:lpstr>
      <vt:lpstr>Spark简介</vt:lpstr>
      <vt:lpstr>pause</vt:lpstr>
      <vt:lpstr>Spark简介</vt:lpstr>
      <vt:lpstr>Spark简介</vt:lpstr>
      <vt:lpstr>Spark简介</vt:lpstr>
      <vt:lpstr>Spark简介</vt:lpstr>
      <vt:lpstr>Spark简介</vt:lpstr>
      <vt:lpstr>Spark简介</vt:lpstr>
      <vt:lpstr>Spark简介</vt:lpstr>
      <vt:lpstr>Spark简介</vt:lpstr>
      <vt:lpstr>Spark简介</vt:lpstr>
      <vt:lpstr>Spark简介</vt:lpstr>
      <vt:lpstr>Spark简介</vt:lpstr>
      <vt:lpstr>Spark简介</vt:lpstr>
      <vt:lpstr>Spark简介</vt:lpstr>
      <vt:lpstr>pause</vt:lpstr>
      <vt:lpstr>Spark简介</vt:lpstr>
      <vt:lpstr>Spark简介</vt:lpstr>
      <vt:lpstr>Spark简介</vt:lpstr>
      <vt:lpstr>pause</vt:lpstr>
      <vt:lpstr>Spark简介</vt:lpstr>
      <vt:lpstr>Spark简介</vt:lpstr>
      <vt:lpstr>Spark简介</vt:lpstr>
      <vt:lpstr>Spark简介</vt:lpstr>
      <vt:lpstr>pause</vt:lpstr>
      <vt:lpstr>Spark简介</vt:lpstr>
      <vt:lpstr>Spark简介</vt:lpstr>
      <vt:lpstr>Spark简介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Pebble</dc:creator>
  <cp:lastModifiedBy>雄派 覃</cp:lastModifiedBy>
  <cp:revision>822</cp:revision>
  <dcterms:created xsi:type="dcterms:W3CDTF">2006-08-16T00:00:00Z</dcterms:created>
  <dcterms:modified xsi:type="dcterms:W3CDTF">2023-05-03T12:14:37Z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