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301" r:id="rId2"/>
    <p:sldId id="521" r:id="rId3"/>
    <p:sldId id="570" r:id="rId4"/>
    <p:sldId id="641" r:id="rId5"/>
    <p:sldId id="642" r:id="rId6"/>
    <p:sldId id="644" r:id="rId7"/>
    <p:sldId id="643" r:id="rId8"/>
    <p:sldId id="645" r:id="rId9"/>
    <p:sldId id="646" r:id="rId10"/>
    <p:sldId id="640" r:id="rId11"/>
    <p:sldId id="647" r:id="rId12"/>
    <p:sldId id="652" r:id="rId13"/>
    <p:sldId id="653" r:id="rId14"/>
    <p:sldId id="654" r:id="rId15"/>
    <p:sldId id="655" r:id="rId16"/>
    <p:sldId id="656" r:id="rId17"/>
    <p:sldId id="657" r:id="rId18"/>
    <p:sldId id="658" r:id="rId19"/>
    <p:sldId id="659" r:id="rId20"/>
    <p:sldId id="666" r:id="rId21"/>
    <p:sldId id="669" r:id="rId22"/>
    <p:sldId id="670" r:id="rId23"/>
    <p:sldId id="671" r:id="rId24"/>
    <p:sldId id="672" r:id="rId25"/>
    <p:sldId id="673" r:id="rId26"/>
    <p:sldId id="667" r:id="rId27"/>
    <p:sldId id="676" r:id="rId28"/>
    <p:sldId id="677" r:id="rId29"/>
    <p:sldId id="678" r:id="rId30"/>
    <p:sldId id="679" r:id="rId31"/>
    <p:sldId id="680" r:id="rId32"/>
    <p:sldId id="681" r:id="rId33"/>
    <p:sldId id="682" r:id="rId34"/>
    <p:sldId id="687" r:id="rId35"/>
    <p:sldId id="675" r:id="rId36"/>
    <p:sldId id="688" r:id="rId37"/>
    <p:sldId id="660" r:id="rId38"/>
    <p:sldId id="662" r:id="rId39"/>
    <p:sldId id="663" r:id="rId40"/>
    <p:sldId id="664" r:id="rId41"/>
    <p:sldId id="661" r:id="rId42"/>
    <p:sldId id="683" r:id="rId43"/>
    <p:sldId id="686" r:id="rId44"/>
    <p:sldId id="685" r:id="rId45"/>
    <p:sldId id="684" r:id="rId46"/>
    <p:sldId id="693" r:id="rId47"/>
    <p:sldId id="689" r:id="rId48"/>
    <p:sldId id="691" r:id="rId49"/>
    <p:sldId id="692" r:id="rId50"/>
    <p:sldId id="690" r:id="rId51"/>
  </p:sldIdLst>
  <p:sldSz cx="9144000" cy="5143500" type="screen16x9"/>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F6C"/>
    <a:srgbClr val="46BCDE"/>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71" autoAdjust="0"/>
    <p:restoredTop sz="95160" autoAdjust="0"/>
  </p:normalViewPr>
  <p:slideViewPr>
    <p:cSldViewPr snapToGrid="0">
      <p:cViewPr>
        <p:scale>
          <a:sx n="90" d="100"/>
          <a:sy n="90" d="100"/>
        </p:scale>
        <p:origin x="1383" y="226"/>
      </p:cViewPr>
      <p:guideLst>
        <p:guide orient="horz" pos="1620"/>
        <p:guide pos="2880"/>
      </p:guideLst>
    </p:cSldViewPr>
  </p:slideViewPr>
  <p:notesTextViewPr>
    <p:cViewPr>
      <p:scale>
        <a:sx n="1" d="1"/>
        <a:sy n="1" d="1"/>
      </p:scale>
      <p:origin x="0" y="0"/>
    </p:cViewPr>
  </p:notesTextViewPr>
  <p:notesViewPr>
    <p:cSldViewPr snapToGrid="0">
      <p:cViewPr varScale="1">
        <p:scale>
          <a:sx n="60" d="100"/>
          <a:sy n="60" d="100"/>
        </p:scale>
        <p:origin x="2994" y="1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19C575C-0021-4828-A7E9-C59CF69450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830754-66A2-4637-AB08-5E81E11D0D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AF7FEF-3E61-4FCB-BA10-F567F0CD6662}" type="datetimeFigureOut">
              <a:rPr lang="zh-CN" altLang="en-US" smtClean="0"/>
              <a:t>2023/5/5</a:t>
            </a:fld>
            <a:endParaRPr lang="zh-CN" altLang="en-US"/>
          </a:p>
        </p:txBody>
      </p:sp>
      <p:sp>
        <p:nvSpPr>
          <p:cNvPr id="4" name="页脚占位符 3">
            <a:extLst>
              <a:ext uri="{FF2B5EF4-FFF2-40B4-BE49-F238E27FC236}">
                <a16:creationId xmlns:a16="http://schemas.microsoft.com/office/drawing/2014/main" id="{F6310471-26A4-415B-AAA8-870B82A871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C4C6F3D-5D3F-412A-B556-23411F80B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68D688-D778-49D3-AFB7-FD4052B68E8A}" type="slidenum">
              <a:rPr lang="zh-CN" altLang="en-US" smtClean="0"/>
              <a:t>‹#›</a:t>
            </a:fld>
            <a:endParaRPr lang="zh-CN" altLang="en-US"/>
          </a:p>
        </p:txBody>
      </p:sp>
    </p:spTree>
    <p:extLst>
      <p:ext uri="{BB962C8B-B14F-4D97-AF65-F5344CB8AC3E}">
        <p14:creationId xmlns:p14="http://schemas.microsoft.com/office/powerpoint/2010/main" val="7353507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2023/5/5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888709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957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730647"/>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060450"/>
            <a:ext cx="8229600" cy="353417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8441"/>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
        <p:nvSpPr>
          <p:cNvPr id="9" name="灯片编号占位符 5">
            <a:extLst>
              <a:ext uri="{FF2B5EF4-FFF2-40B4-BE49-F238E27FC236}">
                <a16:creationId xmlns:a16="http://schemas.microsoft.com/office/drawing/2014/main" id="{EB133451-4163-4C06-B844-3C1EE95F8FCF}"/>
              </a:ext>
            </a:extLst>
          </p:cNvPr>
          <p:cNvSpPr txBox="1">
            <a:spLocks/>
          </p:cNvSpPr>
          <p:nvPr userDrawn="1"/>
        </p:nvSpPr>
        <p:spPr>
          <a:xfrm>
            <a:off x="8639175" y="4838441"/>
            <a:ext cx="457199"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BEBC7A-FD02-486B-81B5-A845787C689C}" type="slidenum">
              <a:rPr lang="zh-CN" altLang="en-US" sz="1600" smtClean="0">
                <a:solidFill>
                  <a:schemeClr val="bg1">
                    <a:lumMod val="95000"/>
                  </a:schemeClr>
                </a:solidFill>
              </a:rPr>
              <a:pPr/>
              <a:t>‹#›</a:t>
            </a:fld>
            <a:endParaRPr lang="zh-CN" altLang="en-US" sz="1600" dirty="0">
              <a:solidFill>
                <a:schemeClr val="bg1">
                  <a:lumMod val="95000"/>
                </a:schemeClr>
              </a:solidFill>
            </a:endParaRPr>
          </a:p>
        </p:txBody>
      </p:sp>
      <mc:AlternateContent xmlns:mc="http://schemas.openxmlformats.org/markup-compatibility/2006" xmlns:a14="http://schemas.microsoft.com/office/drawing/2010/main">
        <mc:Choice Requires="a14">
          <p:sp>
            <p:nvSpPr>
              <p:cNvPr id="11" name="矩形 10"/>
              <p:cNvSpPr/>
              <p:nvPr userDrawn="1"/>
            </p:nvSpPr>
            <p:spPr>
              <a:xfrm>
                <a:off x="8730114" y="1549667"/>
                <a:ext cx="366260" cy="2258729"/>
              </a:xfrm>
              <a:prstGeom prst="rect">
                <a:avLst/>
              </a:prstGeom>
              <a:solidFill>
                <a:schemeClr val="bg1">
                  <a:lumMod val="9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i="1" smtClean="0">
                          <a:solidFill>
                            <a:schemeClr val="bg1">
                              <a:lumMod val="85000"/>
                            </a:schemeClr>
                          </a:solidFill>
                          <a:latin typeface="Cambria Math" panose="02040503050406030204" pitchFamily="18" charset="0"/>
                        </a:rPr>
                        <m:t>𝜋</m:t>
                      </m:r>
                    </m:oMath>
                  </m:oMathPara>
                </a14:m>
                <a:endParaRPr lang="en-US" altLang="zh-CN" dirty="0">
                  <a:solidFill>
                    <a:schemeClr val="bg1">
                      <a:lumMod val="85000"/>
                    </a:schemeClr>
                  </a:solidFill>
                </a:endParaRPr>
              </a:p>
              <a:p>
                <a:pPr algn="ctr"/>
                <a:r>
                  <a:rPr lang="en-US" altLang="zh-CN" dirty="0">
                    <a:solidFill>
                      <a:schemeClr val="bg1">
                        <a:lumMod val="85000"/>
                      </a:schemeClr>
                    </a:solidFill>
                  </a:rPr>
                  <a:t>@</a:t>
                </a:r>
              </a:p>
              <a:p>
                <a:pPr algn="ctr"/>
                <a:r>
                  <a:rPr lang="en-US" altLang="zh-CN" dirty="0">
                    <a:solidFill>
                      <a:schemeClr val="bg1">
                        <a:lumMod val="85000"/>
                      </a:schemeClr>
                    </a:solidFill>
                  </a:rPr>
                  <a:t>R</a:t>
                </a:r>
              </a:p>
              <a:p>
                <a:pPr algn="ctr"/>
                <a:r>
                  <a:rPr lang="en-US" altLang="zh-CN" dirty="0">
                    <a:solidFill>
                      <a:schemeClr val="bg1">
                        <a:lumMod val="85000"/>
                      </a:schemeClr>
                    </a:solidFill>
                  </a:rPr>
                  <a:t>U</a:t>
                </a:r>
              </a:p>
              <a:p>
                <a:pPr algn="ctr"/>
                <a:r>
                  <a:rPr lang="en-US" altLang="zh-CN" dirty="0">
                    <a:solidFill>
                      <a:schemeClr val="bg1">
                        <a:lumMod val="85000"/>
                      </a:schemeClr>
                    </a:solidFill>
                  </a:rPr>
                  <a:t>C</a:t>
                </a:r>
                <a:endParaRPr lang="zh-CN" altLang="en-US" dirty="0">
                  <a:solidFill>
                    <a:schemeClr val="bg1">
                      <a:lumMod val="85000"/>
                    </a:schemeClr>
                  </a:solidFill>
                </a:endParaRPr>
              </a:p>
            </p:txBody>
          </p:sp>
        </mc:Choice>
        <mc:Fallback xmlns="">
          <p:sp>
            <p:nvSpPr>
              <p:cNvPr id="11" name="矩形 10"/>
              <p:cNvSpPr>
                <a:spLocks noRot="1" noChangeAspect="1" noMove="1" noResize="1" noEditPoints="1" noAdjustHandles="1" noChangeArrowheads="1" noChangeShapeType="1" noTextEdit="1"/>
              </p:cNvSpPr>
              <p:nvPr userDrawn="1"/>
            </p:nvSpPr>
            <p:spPr>
              <a:xfrm>
                <a:off x="8730114" y="1549667"/>
                <a:ext cx="366260" cy="2258729"/>
              </a:xfrm>
              <a:prstGeom prst="rect">
                <a:avLst/>
              </a:prstGeom>
              <a:blipFill>
                <a:blip r:embed="rId17"/>
                <a:stretch>
                  <a:fillRect l="-13846" r="-10769"/>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 id="2147483669" r:id="rId13"/>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mbria Math" panose="02040503050406030204"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sz="3600" dirty="0">
                <a:solidFill>
                  <a:schemeClr val="bg1"/>
                </a:solidFill>
                <a:latin typeface="微软雅黑" panose="020B0503020204020204" pitchFamily="34" charset="-122"/>
                <a:ea typeface="微软雅黑" panose="020B0503020204020204" pitchFamily="34" charset="-122"/>
              </a:rPr>
              <a:t>云计算</a:t>
            </a:r>
          </a:p>
        </p:txBody>
      </p:sp>
      <p:pic>
        <p:nvPicPr>
          <p:cNvPr id="103" name="Picture 2" descr="C:\Users\Administrator\Desktop\微立体创业计划\001.png"/>
          <p:cNvPicPr>
            <a:picLocks noChangeAspect="1" noChangeArrowheads="1"/>
          </p:cNvPicPr>
          <p:nvPr/>
        </p:nvPicPr>
        <p:blipFill>
          <a:blip r:embed="rId4" cstate="email">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4" y="3309842"/>
            <a:ext cx="2611144"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dirty="0">
                <a:latin typeface="微软雅黑" panose="020B0503020204020204" pitchFamily="34" charset="-122"/>
                <a:ea typeface="微软雅黑" panose="020B0503020204020204" pitchFamily="34" charset="-122"/>
              </a:rPr>
              <a:t>覃雄派</a:t>
            </a:r>
            <a:endParaRPr lang="mr-IN" altLang="zh-CN" dirty="0">
              <a:latin typeface="微软雅黑" panose="020B0503020204020204" pitchFamily="34" charset="-122"/>
              <a:ea typeface="微软雅黑" panose="020B0503020204020204" pitchFamily="34" charset="-122"/>
            </a:endParaRPr>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微软雅黑" panose="020B0503020204020204" pitchFamily="34" charset="-122"/>
                  <a:ea typeface="微软雅黑" panose="020B0503020204020204" pitchFamily="34"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微软雅黑" panose="020B0503020204020204" pitchFamily="34" charset="-122"/>
                  <a:ea typeface="微软雅黑" panose="020B0503020204020204" pitchFamily="34"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a:solidFill>
                    <a:srgbClr val="CA0098"/>
                  </a:solidFill>
                  <a:latin typeface="微软雅黑" panose="020B0503020204020204" pitchFamily="34" charset="-122"/>
                  <a:ea typeface="微软雅黑" panose="020B0503020204020204"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4853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3995935" y="157880"/>
            <a:ext cx="3787693" cy="707886"/>
          </a:xfrm>
          <a:prstGeom prst="rect">
            <a:avLst/>
          </a:prstGeom>
          <a:noFill/>
        </p:spPr>
        <p:txBody>
          <a:bodyPr wrap="square" rtlCol="0">
            <a:spAutoFit/>
          </a:bodyPr>
          <a:lstStyle/>
          <a:p>
            <a:r>
              <a:rPr lang="zh-CN" altLang="en-US" sz="4000" dirty="0">
                <a:latin typeface="微软雅黑" panose="020B0503020204020204" pitchFamily="34" charset="-122"/>
                <a:ea typeface="微软雅黑" panose="020B0503020204020204" pitchFamily="34" charset="-122"/>
              </a:rPr>
              <a:t>云计算</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Page rank</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817418" y="581891"/>
            <a:ext cx="2178627" cy="1891145"/>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latin typeface="微软雅黑" panose="020B0503020204020204" pitchFamily="34" charset="-122"/>
                <a:ea typeface="微软雅黑" panose="020B0503020204020204" pitchFamily="34" charset="-122"/>
              </a:endParaRPr>
            </a:p>
          </p:txBody>
        </p:sp>
      </p:grpSp>
      <p:sp>
        <p:nvSpPr>
          <p:cNvPr id="15" name="TextBox 14"/>
          <p:cNvSpPr txBox="1"/>
          <p:nvPr/>
        </p:nvSpPr>
        <p:spPr>
          <a:xfrm>
            <a:off x="3995935" y="1035978"/>
            <a:ext cx="4328915" cy="37421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云计算的概念</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云计算的特点</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云计算的分类</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IaaS</a:t>
            </a:r>
          </a:p>
          <a:p>
            <a:pPr marL="742950" lvl="1"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PaaS</a:t>
            </a:r>
          </a:p>
          <a:p>
            <a:pPr marL="742950" lvl="1"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SaaS</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虚拟机软件与</a:t>
            </a:r>
            <a:r>
              <a:rPr lang="en-US" altLang="zh-CN" sz="1600" dirty="0">
                <a:latin typeface="微软雅黑" panose="020B0503020204020204" pitchFamily="34" charset="-122"/>
                <a:ea typeface="微软雅黑" panose="020B0503020204020204" pitchFamily="34" charset="-122"/>
              </a:rPr>
              <a:t>Open Stack</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云厂商与产品</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从虚拟机到容器</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无服务器计算模式</a:t>
            </a:r>
          </a:p>
        </p:txBody>
      </p:sp>
    </p:spTree>
    <p:extLst>
      <p:ext uri="{BB962C8B-B14F-4D97-AF65-F5344CB8AC3E}">
        <p14:creationId xmlns:p14="http://schemas.microsoft.com/office/powerpoint/2010/main" val="181941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云计算</a:t>
            </a:r>
            <a:endParaRPr lang="en-US" altLang="zh-CN" sz="1800" dirty="0">
              <a:solidFill>
                <a:srgbClr val="C00000"/>
              </a:solidFill>
            </a:endParaRPr>
          </a:p>
          <a:p>
            <a:pPr lvl="1" algn="just"/>
            <a:r>
              <a:rPr lang="zh-CN" altLang="en-US" sz="1400" dirty="0"/>
              <a:t>根据维基百科，云计算也称为按需计算</a:t>
            </a:r>
            <a:r>
              <a:rPr lang="en-US" altLang="zh-CN" sz="1400" dirty="0"/>
              <a:t>(On Demand Computing)</a:t>
            </a:r>
            <a:r>
              <a:rPr lang="zh-CN" altLang="en-US" sz="1400" dirty="0"/>
              <a:t>，它是提供对可配置的、共享的计算资源池的按需存取的一种计算模型</a:t>
            </a:r>
            <a:endParaRPr lang="en-US" altLang="zh-CN" sz="1400" dirty="0"/>
          </a:p>
          <a:p>
            <a:pPr lvl="2" algn="just"/>
            <a:r>
              <a:rPr lang="zh-CN" altLang="en-US" sz="1400" dirty="0"/>
              <a:t>这里的资源包括计算、存储、网络等硬件资源</a:t>
            </a:r>
            <a:endParaRPr lang="en-US" altLang="zh-CN" sz="1400" dirty="0"/>
          </a:p>
          <a:p>
            <a:pPr lvl="1" algn="just"/>
            <a:r>
              <a:rPr lang="zh-CN" altLang="en-US" sz="1400" dirty="0"/>
              <a:t>利用云计算，用户可以像使用电力、自来水一样，按需使用，按照使用付费，而无需自己建立复杂的信息基础设施</a:t>
            </a:r>
          </a:p>
        </p:txBody>
      </p:sp>
      <p:pic>
        <p:nvPicPr>
          <p:cNvPr id="4" name="图片 3">
            <a:extLst>
              <a:ext uri="{FF2B5EF4-FFF2-40B4-BE49-F238E27FC236}">
                <a16:creationId xmlns:a16="http://schemas.microsoft.com/office/drawing/2014/main" id="{147343B7-ACE5-4F44-BC3D-A169D371A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654" y="2571750"/>
            <a:ext cx="3808691" cy="2148102"/>
          </a:xfrm>
          <a:prstGeom prst="rect">
            <a:avLst/>
          </a:prstGeom>
        </p:spPr>
      </p:pic>
    </p:spTree>
    <p:extLst>
      <p:ext uri="{BB962C8B-B14F-4D97-AF65-F5344CB8AC3E}">
        <p14:creationId xmlns:p14="http://schemas.microsoft.com/office/powerpoint/2010/main" val="1196612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fontScale="85000" lnSpcReduction="10000"/>
          </a:bodyPr>
          <a:lstStyle/>
          <a:p>
            <a:pPr algn="just">
              <a:lnSpc>
                <a:spcPct val="120000"/>
              </a:lnSpc>
            </a:pPr>
            <a:r>
              <a:rPr lang="zh-CN" altLang="en-US" sz="1800" dirty="0">
                <a:solidFill>
                  <a:srgbClr val="C00000"/>
                </a:solidFill>
              </a:rPr>
              <a:t>云计算</a:t>
            </a:r>
          </a:p>
          <a:p>
            <a:pPr lvl="1" algn="just">
              <a:lnSpc>
                <a:spcPct val="120000"/>
              </a:lnSpc>
            </a:pPr>
            <a:r>
              <a:rPr lang="zh-CN" altLang="en-US" sz="1400" dirty="0"/>
              <a:t>云计算并不是一种全新的计算模型</a:t>
            </a:r>
            <a:endParaRPr lang="en-US" altLang="zh-CN" sz="1400" dirty="0"/>
          </a:p>
          <a:p>
            <a:pPr lvl="1" algn="just">
              <a:lnSpc>
                <a:spcPct val="120000"/>
              </a:lnSpc>
            </a:pPr>
            <a:r>
              <a:rPr lang="zh-CN" altLang="en-US" sz="1400" dirty="0"/>
              <a:t>它是并行计算</a:t>
            </a:r>
            <a:r>
              <a:rPr lang="en-US" altLang="zh-CN" sz="1400" dirty="0"/>
              <a:t>(Parallel Computing)</a:t>
            </a:r>
            <a:r>
              <a:rPr lang="zh-CN" altLang="en-US" sz="1400" dirty="0"/>
              <a:t>、分布式计算</a:t>
            </a:r>
            <a:r>
              <a:rPr lang="en-US" altLang="zh-CN" sz="1400" dirty="0"/>
              <a:t>(Distributed Computing)</a:t>
            </a:r>
            <a:r>
              <a:rPr lang="zh-CN" altLang="en-US" sz="1400" dirty="0"/>
              <a:t>、以及网格计算</a:t>
            </a:r>
            <a:r>
              <a:rPr lang="en-US" altLang="zh-CN" sz="1400" dirty="0"/>
              <a:t>(Grid Computing)</a:t>
            </a:r>
            <a:r>
              <a:rPr lang="zh-CN" altLang="en-US" sz="1400" dirty="0"/>
              <a:t>发展的新阶段</a:t>
            </a:r>
            <a:endParaRPr lang="en-US" altLang="zh-CN" sz="1400" dirty="0"/>
          </a:p>
          <a:p>
            <a:pPr>
              <a:lnSpc>
                <a:spcPct val="120000"/>
              </a:lnSpc>
            </a:pPr>
            <a:r>
              <a:rPr lang="zh-CN" altLang="en-US" sz="1800" dirty="0"/>
              <a:t>云计算与并行计算、分布式计算、集群计算、网格计算的区别与联系</a:t>
            </a:r>
            <a:endParaRPr lang="en-US" altLang="zh-CN" sz="1800" dirty="0"/>
          </a:p>
          <a:p>
            <a:pPr lvl="1">
              <a:lnSpc>
                <a:spcPct val="120000"/>
              </a:lnSpc>
            </a:pPr>
            <a:r>
              <a:rPr lang="zh-CN" altLang="en-US" sz="1400" dirty="0">
                <a:solidFill>
                  <a:srgbClr val="C00000"/>
                </a:solidFill>
              </a:rPr>
              <a:t>并行计算，</a:t>
            </a:r>
            <a:r>
              <a:rPr lang="zh-CN" altLang="en-US" sz="1400" dirty="0"/>
              <a:t>是相对于串行计算来讲的，可以分为时间上的并行、和空间上的并行</a:t>
            </a:r>
          </a:p>
          <a:p>
            <a:pPr lvl="1">
              <a:lnSpc>
                <a:spcPct val="120000"/>
              </a:lnSpc>
            </a:pPr>
            <a:r>
              <a:rPr lang="zh-CN" altLang="en-US" sz="1400" dirty="0">
                <a:solidFill>
                  <a:srgbClr val="C00000"/>
                </a:solidFill>
              </a:rPr>
              <a:t>分布式计算，</a:t>
            </a:r>
            <a:r>
              <a:rPr lang="zh-CN" altLang="en-US" sz="1400" dirty="0"/>
              <a:t>通过把整个计算任务，分解成一系列的小任务，分布到各个节点</a:t>
            </a:r>
            <a:r>
              <a:rPr lang="en-US" altLang="zh-CN" sz="1400" dirty="0"/>
              <a:t>(</a:t>
            </a:r>
            <a:r>
              <a:rPr lang="zh-CN" altLang="en-US" sz="1400" dirty="0"/>
              <a:t>计算机</a:t>
            </a:r>
            <a:r>
              <a:rPr lang="en-US" altLang="zh-CN" sz="1400" dirty="0"/>
              <a:t>)</a:t>
            </a:r>
            <a:r>
              <a:rPr lang="zh-CN" altLang="en-US" sz="1400" dirty="0"/>
              <a:t>上分别执行，最后把结果合并，获得最终结果</a:t>
            </a:r>
            <a:endParaRPr lang="en-US" altLang="zh-CN" sz="1400" dirty="0"/>
          </a:p>
          <a:p>
            <a:pPr lvl="2">
              <a:lnSpc>
                <a:spcPct val="120000"/>
              </a:lnSpc>
            </a:pPr>
            <a:r>
              <a:rPr lang="zh-CN" altLang="en-US" sz="1400" dirty="0"/>
              <a:t>分布式计算的侧重点，在于任务的划分</a:t>
            </a:r>
          </a:p>
          <a:p>
            <a:pPr lvl="2">
              <a:lnSpc>
                <a:spcPct val="120000"/>
              </a:lnSpc>
            </a:pPr>
            <a:r>
              <a:rPr lang="zh-CN" altLang="en-US" sz="1400" dirty="0"/>
              <a:t>其任务划分的粒度比并行计算要粗，其节点一般指的是计算机，节点间的交互没有并行计算那么频繁</a:t>
            </a:r>
            <a:endParaRPr lang="en-US" altLang="zh-CN" sz="1400" dirty="0"/>
          </a:p>
          <a:p>
            <a:pPr lvl="2">
              <a:lnSpc>
                <a:spcPct val="120000"/>
              </a:lnSpc>
            </a:pPr>
            <a:r>
              <a:rPr lang="zh-CN" altLang="en-US" sz="1400" dirty="0"/>
              <a:t>并行计算和分布式计算，都代表了“分而治之”的问题解决策略</a:t>
            </a:r>
          </a:p>
          <a:p>
            <a:pPr lvl="1">
              <a:lnSpc>
                <a:spcPct val="120000"/>
              </a:lnSpc>
            </a:pPr>
            <a:r>
              <a:rPr lang="zh-CN" altLang="en-US" sz="1400" dirty="0">
                <a:solidFill>
                  <a:srgbClr val="C00000"/>
                </a:solidFill>
              </a:rPr>
              <a:t>集群计算，</a:t>
            </a:r>
            <a:r>
              <a:rPr lang="zh-CN" altLang="en-US" sz="1400" dirty="0"/>
              <a:t>通过高速网络把一组本来松散联系的节点</a:t>
            </a:r>
            <a:r>
              <a:rPr lang="en-US" altLang="zh-CN" sz="1400" dirty="0"/>
              <a:t>(</a:t>
            </a:r>
            <a:r>
              <a:rPr lang="zh-CN" altLang="en-US" sz="1400" dirty="0"/>
              <a:t>计算机</a:t>
            </a:r>
            <a:r>
              <a:rPr lang="en-US" altLang="zh-CN" sz="1400" dirty="0"/>
              <a:t>)</a:t>
            </a:r>
            <a:r>
              <a:rPr lang="zh-CN" altLang="en-US" sz="1400" dirty="0"/>
              <a:t>，通过软件紧密联系起来，协作完成计算工作</a:t>
            </a:r>
            <a:endParaRPr lang="en-US" altLang="zh-CN" sz="1400" dirty="0"/>
          </a:p>
          <a:p>
            <a:pPr lvl="2">
              <a:lnSpc>
                <a:spcPct val="120000"/>
              </a:lnSpc>
            </a:pPr>
            <a:r>
              <a:rPr lang="zh-CN" altLang="en-US" sz="1400" dirty="0"/>
              <a:t>从外部来观察，从某种意义上来讲，这些计算节点可以看作一台计算机</a:t>
            </a:r>
          </a:p>
          <a:p>
            <a:pPr lvl="1">
              <a:lnSpc>
                <a:spcPct val="120000"/>
              </a:lnSpc>
            </a:pPr>
            <a:r>
              <a:rPr lang="zh-CN" altLang="en-US" sz="1400" dirty="0"/>
              <a:t>我们把</a:t>
            </a:r>
            <a:r>
              <a:rPr lang="zh-CN" altLang="en-US" sz="1400" dirty="0">
                <a:solidFill>
                  <a:srgbClr val="C00000"/>
                </a:solidFill>
              </a:rPr>
              <a:t>网格计算</a:t>
            </a:r>
            <a:r>
              <a:rPr lang="zh-CN" altLang="en-US" sz="1400" dirty="0"/>
              <a:t>作为集群计算的一种类型，从另外一个角度看，网格计算也可以看作是一类分布式计算</a:t>
            </a:r>
            <a:endParaRPr lang="en-US" altLang="zh-CN" sz="1400" dirty="0"/>
          </a:p>
          <a:p>
            <a:pPr lvl="2">
              <a:lnSpc>
                <a:spcPct val="120000"/>
              </a:lnSpc>
            </a:pPr>
            <a:r>
              <a:rPr lang="zh-CN" altLang="en-US" sz="1400" dirty="0"/>
              <a:t>网格计算把大量异构计算节点的资源</a:t>
            </a:r>
            <a:r>
              <a:rPr lang="en-US" altLang="zh-CN" sz="1400" dirty="0"/>
              <a:t>(CPU</a:t>
            </a:r>
            <a:r>
              <a:rPr lang="zh-CN" altLang="en-US" sz="1400" dirty="0"/>
              <a:t>计算资源、磁盘存储资源</a:t>
            </a:r>
            <a:r>
              <a:rPr lang="en-US" altLang="zh-CN" sz="1400" dirty="0"/>
              <a:t>)</a:t>
            </a:r>
            <a:r>
              <a:rPr lang="zh-CN" altLang="en-US" sz="1400" dirty="0"/>
              <a:t>组织起来，构成一台虚拟的、大的计算机，为解决大规模的计算</a:t>
            </a:r>
            <a:r>
              <a:rPr lang="en-US" altLang="zh-CN" sz="1400" dirty="0"/>
              <a:t>(</a:t>
            </a:r>
            <a:r>
              <a:rPr lang="zh-CN" altLang="en-US" sz="1400" dirty="0"/>
              <a:t>包括数据处理</a:t>
            </a:r>
            <a:r>
              <a:rPr lang="en-US" altLang="zh-CN" sz="1400" dirty="0"/>
              <a:t>)</a:t>
            </a:r>
            <a:r>
              <a:rPr lang="zh-CN" altLang="en-US" sz="1400" dirty="0"/>
              <a:t>问题，提供计算平台的支持</a:t>
            </a:r>
          </a:p>
          <a:p>
            <a:pPr lvl="1" algn="just">
              <a:lnSpc>
                <a:spcPct val="120000"/>
              </a:lnSpc>
            </a:pPr>
            <a:endParaRPr lang="zh-CN" altLang="en-US" sz="1400" dirty="0"/>
          </a:p>
        </p:txBody>
      </p:sp>
    </p:spTree>
    <p:extLst>
      <p:ext uri="{BB962C8B-B14F-4D97-AF65-F5344CB8AC3E}">
        <p14:creationId xmlns:p14="http://schemas.microsoft.com/office/powerpoint/2010/main" val="4135997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云计算的特点</a:t>
            </a:r>
          </a:p>
          <a:p>
            <a:pPr lvl="1"/>
            <a:r>
              <a:rPr lang="zh-CN" altLang="en-US" sz="1400" dirty="0"/>
              <a:t>虚拟化</a:t>
            </a:r>
            <a:r>
              <a:rPr lang="en-US" altLang="zh-CN" sz="1400" dirty="0"/>
              <a:t>(Virtualization)</a:t>
            </a:r>
            <a:r>
              <a:rPr lang="zh-CN" altLang="en-US" sz="1400" dirty="0"/>
              <a:t>：资源虚拟化和池化</a:t>
            </a:r>
            <a:endParaRPr lang="en-US" altLang="zh-CN" sz="1400" dirty="0"/>
          </a:p>
          <a:p>
            <a:pPr lvl="1"/>
            <a:r>
              <a:rPr lang="zh-CN" altLang="en-US" sz="1400" dirty="0"/>
              <a:t>弹性</a:t>
            </a:r>
            <a:r>
              <a:rPr lang="en-US" altLang="zh-CN" sz="1400" dirty="0"/>
              <a:t>(Elasticity)</a:t>
            </a:r>
            <a:r>
              <a:rPr lang="zh-CN" altLang="en-US" sz="1400" dirty="0"/>
              <a:t>：动态扩缩</a:t>
            </a:r>
            <a:endParaRPr lang="en-US" altLang="zh-CN" sz="1400" dirty="0"/>
          </a:p>
          <a:p>
            <a:pPr lvl="1"/>
            <a:r>
              <a:rPr lang="zh-CN" altLang="en-US" sz="1400" dirty="0"/>
              <a:t>成本低廉</a:t>
            </a:r>
            <a:r>
              <a:rPr lang="en-US" altLang="zh-CN" sz="1400" dirty="0"/>
              <a:t>(Cost)</a:t>
            </a:r>
            <a:r>
              <a:rPr lang="zh-CN" altLang="en-US" sz="1400" dirty="0"/>
              <a:t>：无需自行建设</a:t>
            </a:r>
            <a:r>
              <a:rPr lang="en-US" altLang="zh-CN" sz="1400" dirty="0"/>
              <a:t>IT</a:t>
            </a:r>
            <a:r>
              <a:rPr lang="zh-CN" altLang="en-US" sz="1400" dirty="0"/>
              <a:t>基础设施</a:t>
            </a:r>
            <a:endParaRPr lang="en-US" altLang="zh-CN" sz="1400" dirty="0"/>
          </a:p>
          <a:p>
            <a:pPr lvl="1"/>
            <a:r>
              <a:rPr lang="zh-CN" altLang="en-US" sz="1400" dirty="0"/>
              <a:t>高度容错性</a:t>
            </a:r>
            <a:r>
              <a:rPr lang="en-US" altLang="zh-CN" sz="1400" dirty="0"/>
              <a:t>(Fault Tolerance)</a:t>
            </a:r>
            <a:r>
              <a:rPr lang="zh-CN" altLang="en-US" sz="1400" dirty="0"/>
              <a:t>：存储、计算的容错</a:t>
            </a:r>
            <a:endParaRPr lang="en-US" altLang="zh-CN" sz="1400" dirty="0"/>
          </a:p>
          <a:p>
            <a:pPr lvl="1"/>
            <a:r>
              <a:rPr lang="zh-CN" altLang="en-US" sz="1400" dirty="0"/>
              <a:t>高度可靠性</a:t>
            </a:r>
            <a:r>
              <a:rPr lang="en-US" altLang="zh-CN" sz="1400" dirty="0"/>
              <a:t>(Reliability)</a:t>
            </a:r>
            <a:r>
              <a:rPr lang="zh-CN" altLang="en-US" sz="1400" dirty="0"/>
              <a:t>：高度可靠性，提供持续服务</a:t>
            </a:r>
          </a:p>
        </p:txBody>
      </p:sp>
      <p:pic>
        <p:nvPicPr>
          <p:cNvPr id="6" name="图片 5">
            <a:extLst>
              <a:ext uri="{FF2B5EF4-FFF2-40B4-BE49-F238E27FC236}">
                <a16:creationId xmlns:a16="http://schemas.microsoft.com/office/drawing/2014/main" id="{B6320FA3-F687-490C-A466-7697EEC2B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239" y="2571750"/>
            <a:ext cx="3407521" cy="1969973"/>
          </a:xfrm>
          <a:prstGeom prst="rect">
            <a:avLst/>
          </a:prstGeom>
        </p:spPr>
      </p:pic>
    </p:spTree>
    <p:extLst>
      <p:ext uri="{BB962C8B-B14F-4D97-AF65-F5344CB8AC3E}">
        <p14:creationId xmlns:p14="http://schemas.microsoft.com/office/powerpoint/2010/main" val="2494457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云计算的分类</a:t>
            </a:r>
            <a:endParaRPr lang="en-US" altLang="zh-CN" sz="1800" dirty="0">
              <a:solidFill>
                <a:srgbClr val="C00000"/>
              </a:solidFill>
            </a:endParaRPr>
          </a:p>
          <a:p>
            <a:pPr lvl="1" algn="just"/>
            <a:r>
              <a:rPr lang="zh-CN" altLang="zh-CN" sz="1600" dirty="0"/>
              <a:t>按照服务类型，云计算可以分为三类</a:t>
            </a:r>
            <a:r>
              <a:rPr lang="zh-CN" altLang="en-US" sz="1600" dirty="0"/>
              <a:t>，分别是</a:t>
            </a:r>
            <a:endParaRPr lang="en-US" altLang="zh-CN" sz="1600" dirty="0"/>
          </a:p>
          <a:p>
            <a:pPr lvl="1"/>
            <a:r>
              <a:rPr lang="zh-CN" altLang="zh-CN" sz="1600" dirty="0"/>
              <a:t>基础设施作为服务</a:t>
            </a:r>
            <a:r>
              <a:rPr lang="en-US" altLang="zh-CN" sz="1600" dirty="0"/>
              <a:t>(Infrastructure as a Service</a:t>
            </a:r>
            <a:r>
              <a:rPr lang="zh-CN" altLang="zh-CN" sz="1600" dirty="0"/>
              <a:t>，简称</a:t>
            </a:r>
            <a:r>
              <a:rPr lang="en-US" altLang="zh-CN" sz="1600" dirty="0">
                <a:solidFill>
                  <a:srgbClr val="C00000"/>
                </a:solidFill>
              </a:rPr>
              <a:t>IaaS</a:t>
            </a:r>
            <a:r>
              <a:rPr lang="en-US" altLang="zh-CN" sz="1600" dirty="0"/>
              <a:t>)</a:t>
            </a:r>
          </a:p>
          <a:p>
            <a:pPr lvl="1"/>
            <a:r>
              <a:rPr lang="zh-CN" altLang="zh-CN" sz="1600" dirty="0"/>
              <a:t>平台作为服务</a:t>
            </a:r>
            <a:r>
              <a:rPr lang="en-US" altLang="zh-CN" sz="1600" dirty="0"/>
              <a:t>(Platform as a Service</a:t>
            </a:r>
            <a:r>
              <a:rPr lang="zh-CN" altLang="zh-CN" sz="1600" dirty="0"/>
              <a:t>，简称</a:t>
            </a:r>
            <a:r>
              <a:rPr lang="en-US" altLang="zh-CN" sz="1600" dirty="0">
                <a:solidFill>
                  <a:srgbClr val="C00000"/>
                </a:solidFill>
              </a:rPr>
              <a:t>PaaS</a:t>
            </a:r>
            <a:r>
              <a:rPr lang="en-US" altLang="zh-CN" sz="1600" dirty="0"/>
              <a:t>)</a:t>
            </a:r>
          </a:p>
          <a:p>
            <a:pPr lvl="1"/>
            <a:r>
              <a:rPr lang="zh-CN" altLang="zh-CN" sz="1600" dirty="0"/>
              <a:t>和软件作为服务</a:t>
            </a:r>
            <a:r>
              <a:rPr lang="en-US" altLang="zh-CN" sz="1600" dirty="0"/>
              <a:t>(Software as a Service</a:t>
            </a:r>
            <a:r>
              <a:rPr lang="zh-CN" altLang="zh-CN" sz="1600" dirty="0"/>
              <a:t>，简称</a:t>
            </a:r>
            <a:r>
              <a:rPr lang="en-US" altLang="zh-CN" sz="1600" dirty="0">
                <a:solidFill>
                  <a:srgbClr val="C00000"/>
                </a:solidFill>
              </a:rPr>
              <a:t>SaaS</a:t>
            </a:r>
            <a:r>
              <a:rPr lang="en-US" altLang="zh-CN" sz="1600" dirty="0"/>
              <a:t>)</a:t>
            </a:r>
            <a:endParaRPr lang="zh-CN" altLang="en-US" sz="1400" dirty="0"/>
          </a:p>
        </p:txBody>
      </p:sp>
      <p:pic>
        <p:nvPicPr>
          <p:cNvPr id="7" name="图片 6">
            <a:extLst>
              <a:ext uri="{FF2B5EF4-FFF2-40B4-BE49-F238E27FC236}">
                <a16:creationId xmlns:a16="http://schemas.microsoft.com/office/drawing/2014/main" id="{E2134352-498E-4B96-A7EC-319824F2C6A2}"/>
              </a:ext>
            </a:extLst>
          </p:cNvPr>
          <p:cNvPicPr>
            <a:picLocks noChangeAspect="1"/>
          </p:cNvPicPr>
          <p:nvPr/>
        </p:nvPicPr>
        <p:blipFill>
          <a:blip r:embed="rId2"/>
          <a:stretch>
            <a:fillRect/>
          </a:stretch>
        </p:blipFill>
        <p:spPr>
          <a:xfrm>
            <a:off x="1861841" y="2787650"/>
            <a:ext cx="5420317" cy="2072121"/>
          </a:xfrm>
          <a:prstGeom prst="rect">
            <a:avLst/>
          </a:prstGeom>
        </p:spPr>
      </p:pic>
    </p:spTree>
    <p:extLst>
      <p:ext uri="{BB962C8B-B14F-4D97-AF65-F5344CB8AC3E}">
        <p14:creationId xmlns:p14="http://schemas.microsoft.com/office/powerpoint/2010/main" val="3719040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r>
              <a:rPr lang="en-US" altLang="zh-CN" sz="1800" dirty="0">
                <a:solidFill>
                  <a:srgbClr val="C00000"/>
                </a:solidFill>
              </a:rPr>
              <a:t>IaaS</a:t>
            </a:r>
          </a:p>
          <a:p>
            <a:pPr lvl="1"/>
            <a:r>
              <a:rPr lang="en-US" altLang="zh-CN" sz="1400" dirty="0"/>
              <a:t>IaaS</a:t>
            </a:r>
            <a:r>
              <a:rPr lang="zh-CN" altLang="zh-CN" sz="1400" dirty="0"/>
              <a:t>把硬件设备包括计算设备、存储设备，封装起来，以</a:t>
            </a:r>
            <a:r>
              <a:rPr lang="zh-CN" altLang="zh-CN" sz="1400" dirty="0">
                <a:solidFill>
                  <a:srgbClr val="C00000"/>
                </a:solidFill>
              </a:rPr>
              <a:t>虚拟机</a:t>
            </a:r>
            <a:r>
              <a:rPr lang="zh-CN" altLang="zh-CN" sz="1400" dirty="0"/>
              <a:t>的形式，提供用户使用</a:t>
            </a:r>
            <a:endParaRPr lang="en-US" altLang="zh-CN" sz="1400" dirty="0"/>
          </a:p>
          <a:p>
            <a:pPr lvl="1"/>
            <a:r>
              <a:rPr lang="zh-CN" altLang="zh-CN" sz="1400" dirty="0"/>
              <a:t>对于用户来讲，他们使用的好像是一台台的物理裸机</a:t>
            </a:r>
            <a:endParaRPr lang="en-US" altLang="zh-CN" sz="1400" dirty="0"/>
          </a:p>
          <a:p>
            <a:pPr lvl="1"/>
            <a:r>
              <a:rPr lang="zh-CN" altLang="zh-CN" sz="1400" dirty="0"/>
              <a:t>在这些虚拟机上，用户可以安装不同的操作系统，以及开发工具，并且在上面开发和部署应用软件。</a:t>
            </a:r>
            <a:endParaRPr lang="en-US" altLang="zh-CN" sz="1400" dirty="0"/>
          </a:p>
          <a:p>
            <a:pPr lvl="2"/>
            <a:r>
              <a:rPr lang="zh-CN" altLang="zh-CN" sz="1200" dirty="0"/>
              <a:t>典型的系统包括亚马逊公司提供的弹性计算云</a:t>
            </a:r>
            <a:r>
              <a:rPr lang="en-US" altLang="zh-CN" sz="1200" dirty="0"/>
              <a:t>EC2(Amazon Elastic Compute Cloud)</a:t>
            </a:r>
          </a:p>
          <a:p>
            <a:pPr lvl="2"/>
            <a:r>
              <a:rPr lang="zh-CN" altLang="zh-CN" sz="1200" dirty="0"/>
              <a:t>和简单存储服务</a:t>
            </a:r>
            <a:r>
              <a:rPr lang="en-US" altLang="zh-CN" sz="1200" dirty="0"/>
              <a:t>S3(Amazon Simple Storage Service)</a:t>
            </a:r>
            <a:r>
              <a:rPr lang="zh-CN" altLang="zh-CN" sz="1200" dirty="0"/>
              <a:t>等</a:t>
            </a:r>
            <a:endParaRPr lang="zh-CN" altLang="en-US" sz="1200" dirty="0"/>
          </a:p>
        </p:txBody>
      </p:sp>
      <p:pic>
        <p:nvPicPr>
          <p:cNvPr id="7" name="图片 6">
            <a:extLst>
              <a:ext uri="{FF2B5EF4-FFF2-40B4-BE49-F238E27FC236}">
                <a16:creationId xmlns:a16="http://schemas.microsoft.com/office/drawing/2014/main" id="{E2134352-498E-4B96-A7EC-319824F2C6A2}"/>
              </a:ext>
            </a:extLst>
          </p:cNvPr>
          <p:cNvPicPr>
            <a:picLocks noChangeAspect="1"/>
          </p:cNvPicPr>
          <p:nvPr/>
        </p:nvPicPr>
        <p:blipFill>
          <a:blip r:embed="rId2"/>
          <a:stretch>
            <a:fillRect/>
          </a:stretch>
        </p:blipFill>
        <p:spPr>
          <a:xfrm>
            <a:off x="357506" y="3082618"/>
            <a:ext cx="3934552" cy="1504131"/>
          </a:xfrm>
          <a:prstGeom prst="rect">
            <a:avLst/>
          </a:prstGeom>
        </p:spPr>
      </p:pic>
      <p:pic>
        <p:nvPicPr>
          <p:cNvPr id="1026" name="Picture 2" descr="https://pics1.baidu.com/feed/0bd162d9f2d3572cc997edba36372c2c62d0c30b.png@f_auto?token=ccda5a11c0f1ae59445b0c3c6fb47f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8697" y="2884221"/>
            <a:ext cx="3324020" cy="1900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905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en-US" altLang="zh-CN" sz="1800" dirty="0">
                <a:solidFill>
                  <a:srgbClr val="C00000"/>
                </a:solidFill>
              </a:rPr>
              <a:t>PaaS</a:t>
            </a:r>
          </a:p>
          <a:p>
            <a:pPr lvl="1" algn="just"/>
            <a:r>
              <a:rPr lang="en-US" altLang="zh-CN" sz="1200" dirty="0"/>
              <a:t>PaaS</a:t>
            </a:r>
            <a:r>
              <a:rPr lang="zh-CN" altLang="zh-CN" sz="1200" dirty="0"/>
              <a:t>对资源的抽象提升了一个层次，它提供用户一个</a:t>
            </a:r>
            <a:r>
              <a:rPr lang="zh-CN" altLang="zh-CN" sz="1200" dirty="0">
                <a:solidFill>
                  <a:srgbClr val="C00000"/>
                </a:solidFill>
              </a:rPr>
              <a:t>应用程序的运行环境</a:t>
            </a:r>
            <a:endParaRPr lang="en-US" altLang="zh-CN" sz="1200" dirty="0">
              <a:solidFill>
                <a:srgbClr val="C00000"/>
              </a:solidFill>
            </a:endParaRPr>
          </a:p>
          <a:p>
            <a:pPr lvl="1" algn="just"/>
            <a:r>
              <a:rPr lang="en-US" altLang="zh-CN" sz="1200" dirty="0"/>
              <a:t>PaaS</a:t>
            </a:r>
            <a:r>
              <a:rPr lang="zh-CN" altLang="zh-CN" sz="1200" dirty="0"/>
              <a:t>可以认为是云计算提供商在虚拟节点</a:t>
            </a:r>
            <a:r>
              <a:rPr lang="en-US" altLang="zh-CN" sz="1200" dirty="0"/>
              <a:t>(</a:t>
            </a:r>
            <a:r>
              <a:rPr lang="zh-CN" altLang="zh-CN" sz="1200" dirty="0"/>
              <a:t>也可以是若干虚拟节点构成的虚拟集群</a:t>
            </a:r>
            <a:r>
              <a:rPr lang="en-US" altLang="zh-CN" sz="1200" dirty="0"/>
              <a:t>)</a:t>
            </a:r>
            <a:r>
              <a:rPr lang="zh-CN" altLang="zh-CN" sz="1200" dirty="0"/>
              <a:t>上安装了操作系统，并且安装了程序开发环境和运行环境</a:t>
            </a:r>
            <a:endParaRPr lang="en-US" altLang="zh-CN" sz="1200" dirty="0"/>
          </a:p>
          <a:p>
            <a:pPr lvl="1" algn="just"/>
            <a:r>
              <a:rPr lang="zh-CN" altLang="zh-CN" sz="1200" dirty="0"/>
              <a:t>用户只需按照特定的编程模型，编写程序，然后就可以部署到</a:t>
            </a:r>
            <a:r>
              <a:rPr lang="en-US" altLang="zh-CN" sz="1200" dirty="0"/>
              <a:t>PaaS</a:t>
            </a:r>
            <a:r>
              <a:rPr lang="zh-CN" altLang="zh-CN" sz="1200" dirty="0"/>
              <a:t>系统上运行</a:t>
            </a:r>
            <a:endParaRPr lang="en-US" altLang="zh-CN" sz="1200" dirty="0"/>
          </a:p>
          <a:p>
            <a:pPr lvl="1" algn="just"/>
            <a:r>
              <a:rPr lang="en-US" altLang="zh-CN" sz="1200" dirty="0"/>
              <a:t>PaaS</a:t>
            </a:r>
            <a:r>
              <a:rPr lang="zh-CN" altLang="zh-CN" sz="1200" dirty="0"/>
              <a:t>负责资源的动态扩展和容错保证，用户不需要操心</a:t>
            </a:r>
            <a:endParaRPr lang="en-US" altLang="zh-CN" sz="1200" dirty="0"/>
          </a:p>
          <a:p>
            <a:pPr lvl="1" algn="just"/>
            <a:r>
              <a:rPr lang="zh-CN" altLang="zh-CN" sz="1200" dirty="0"/>
              <a:t>典型的系统为</a:t>
            </a:r>
            <a:r>
              <a:rPr lang="en-US" altLang="zh-CN" sz="1200" dirty="0"/>
              <a:t>Google</a:t>
            </a:r>
            <a:r>
              <a:rPr lang="zh-CN" altLang="zh-CN" sz="1200" dirty="0"/>
              <a:t>的</a:t>
            </a:r>
            <a:r>
              <a:rPr lang="en-US" altLang="zh-CN" sz="1200" dirty="0"/>
              <a:t>App Engine</a:t>
            </a:r>
            <a:r>
              <a:rPr lang="zh-CN" altLang="zh-CN" sz="1200" dirty="0"/>
              <a:t>，用户可以使用</a:t>
            </a:r>
            <a:r>
              <a:rPr lang="en-US" altLang="zh-CN" sz="1200" dirty="0"/>
              <a:t>Java</a:t>
            </a:r>
            <a:r>
              <a:rPr lang="zh-CN" altLang="zh-CN" sz="1200" dirty="0"/>
              <a:t>语言、或者</a:t>
            </a:r>
            <a:r>
              <a:rPr lang="en-US" altLang="zh-CN" sz="1200" dirty="0"/>
              <a:t>Python</a:t>
            </a:r>
            <a:r>
              <a:rPr lang="zh-CN" altLang="zh-CN" sz="1200" dirty="0"/>
              <a:t>语言，调用</a:t>
            </a:r>
            <a:r>
              <a:rPr lang="en-US" altLang="zh-CN" sz="1200" dirty="0"/>
              <a:t>Google App Engine </a:t>
            </a:r>
            <a:r>
              <a:rPr lang="zh-CN" altLang="zh-CN" sz="1200" dirty="0"/>
              <a:t>软件开发包</a:t>
            </a:r>
            <a:r>
              <a:rPr lang="en-US" altLang="zh-CN" sz="1200" dirty="0"/>
              <a:t>(Software Develop Kit</a:t>
            </a:r>
            <a:r>
              <a:rPr lang="zh-CN" altLang="zh-CN" sz="1200" dirty="0"/>
              <a:t>，</a:t>
            </a:r>
            <a:r>
              <a:rPr lang="en-US" altLang="zh-CN" sz="1200" dirty="0"/>
              <a:t>SDK)</a:t>
            </a:r>
            <a:r>
              <a:rPr lang="zh-CN" altLang="zh-CN" sz="1200" dirty="0"/>
              <a:t>来开发应用程序，就可以部署到</a:t>
            </a:r>
            <a:r>
              <a:rPr lang="en-US" altLang="zh-CN" sz="1200" dirty="0"/>
              <a:t>PaaS</a:t>
            </a:r>
            <a:r>
              <a:rPr lang="zh-CN" altLang="zh-CN" sz="1200" dirty="0"/>
              <a:t>云平台上运行，提供服务</a:t>
            </a:r>
            <a:endParaRPr lang="zh-CN" altLang="en-US" sz="1200" dirty="0"/>
          </a:p>
        </p:txBody>
      </p:sp>
      <p:pic>
        <p:nvPicPr>
          <p:cNvPr id="6" name="图片 5">
            <a:extLst>
              <a:ext uri="{FF2B5EF4-FFF2-40B4-BE49-F238E27FC236}">
                <a16:creationId xmlns:a16="http://schemas.microsoft.com/office/drawing/2014/main" id="{E2134352-498E-4B96-A7EC-319824F2C6A2}"/>
              </a:ext>
            </a:extLst>
          </p:cNvPr>
          <p:cNvPicPr>
            <a:picLocks noChangeAspect="1"/>
          </p:cNvPicPr>
          <p:nvPr/>
        </p:nvPicPr>
        <p:blipFill>
          <a:blip r:embed="rId2"/>
          <a:stretch>
            <a:fillRect/>
          </a:stretch>
        </p:blipFill>
        <p:spPr>
          <a:xfrm>
            <a:off x="357506" y="3082618"/>
            <a:ext cx="3934552" cy="1504131"/>
          </a:xfrm>
          <a:prstGeom prst="rect">
            <a:avLst/>
          </a:prstGeom>
        </p:spPr>
      </p:pic>
      <p:pic>
        <p:nvPicPr>
          <p:cNvPr id="7" name="Picture 2" descr="https://pics1.baidu.com/feed/0bd162d9f2d3572cc997edba36372c2c62d0c30b.png@f_auto?token=ccda5a11c0f1ae59445b0c3c6fb47f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8697" y="2884221"/>
            <a:ext cx="3324020" cy="1900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5171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en-US" altLang="zh-CN" sz="1800" dirty="0">
                <a:solidFill>
                  <a:srgbClr val="C00000"/>
                </a:solidFill>
              </a:rPr>
              <a:t>SaaS</a:t>
            </a:r>
          </a:p>
          <a:p>
            <a:pPr lvl="1" algn="just"/>
            <a:r>
              <a:rPr lang="en-US" altLang="zh-CN" sz="1400" dirty="0"/>
              <a:t>SaaS</a:t>
            </a:r>
            <a:r>
              <a:rPr lang="zh-CN" altLang="zh-CN" sz="1400" dirty="0"/>
              <a:t>把特定</a:t>
            </a:r>
            <a:r>
              <a:rPr lang="zh-CN" altLang="zh-CN" sz="1400" dirty="0">
                <a:solidFill>
                  <a:srgbClr val="C00000"/>
                </a:solidFill>
              </a:rPr>
              <a:t>应用软件</a:t>
            </a:r>
            <a:r>
              <a:rPr lang="zh-CN" altLang="zh-CN" sz="1400" dirty="0"/>
              <a:t>封装成服务，提供给用户使用</a:t>
            </a:r>
            <a:endParaRPr lang="en-US" altLang="zh-CN" sz="1400" dirty="0"/>
          </a:p>
          <a:p>
            <a:pPr lvl="1" algn="just"/>
            <a:r>
              <a:rPr lang="zh-CN" altLang="zh-CN" sz="1400" dirty="0"/>
              <a:t>从用户的角度来看，可以认为云计算提供商已经在虚拟节点</a:t>
            </a:r>
            <a:r>
              <a:rPr lang="en-US" altLang="zh-CN" sz="1400" dirty="0"/>
              <a:t>(</a:t>
            </a:r>
            <a:r>
              <a:rPr lang="zh-CN" altLang="zh-CN" sz="1400" dirty="0"/>
              <a:t>或者虚拟集群</a:t>
            </a:r>
            <a:r>
              <a:rPr lang="en-US" altLang="zh-CN" sz="1400" dirty="0"/>
              <a:t>)</a:t>
            </a:r>
            <a:r>
              <a:rPr lang="zh-CN" altLang="zh-CN" sz="1400" dirty="0"/>
              <a:t>上，安装了操作系统、以及具有特定应用功能的应用软件</a:t>
            </a:r>
            <a:endParaRPr lang="en-US" altLang="zh-CN" sz="1400" dirty="0"/>
          </a:p>
          <a:p>
            <a:pPr lvl="1" algn="just"/>
            <a:r>
              <a:rPr lang="zh-CN" altLang="zh-CN" sz="1400" dirty="0"/>
              <a:t>典型的系统是</a:t>
            </a:r>
            <a:r>
              <a:rPr lang="en-US" altLang="zh-CN" sz="1400" dirty="0"/>
              <a:t>Salesforce</a:t>
            </a:r>
            <a:r>
              <a:rPr lang="zh-CN" altLang="zh-CN" sz="1400" dirty="0"/>
              <a:t>公司提供的在线客户关系管理系统</a:t>
            </a:r>
            <a:r>
              <a:rPr lang="en-US" altLang="zh-CN" sz="1400" dirty="0"/>
              <a:t>CRM(Customer Relationship Management)</a:t>
            </a:r>
            <a:r>
              <a:rPr lang="zh-CN" altLang="zh-CN" sz="1400" dirty="0"/>
              <a:t>服务</a:t>
            </a:r>
            <a:endParaRPr lang="en-US" altLang="zh-CN" sz="1400" dirty="0"/>
          </a:p>
          <a:p>
            <a:pPr lvl="1" algn="just"/>
            <a:r>
              <a:rPr lang="en-US" altLang="zh-CN" sz="1400" dirty="0"/>
              <a:t>SaaS</a:t>
            </a:r>
            <a:r>
              <a:rPr lang="zh-CN" altLang="zh-CN" sz="1400" dirty="0"/>
              <a:t>把专用的应用软件功能提供出来，供用户付费使用</a:t>
            </a:r>
            <a:endParaRPr lang="en-US" altLang="zh-CN" sz="1400" dirty="0"/>
          </a:p>
          <a:p>
            <a:pPr lvl="2" algn="just"/>
            <a:r>
              <a:rPr lang="zh-CN" altLang="zh-CN" sz="1200" dirty="0"/>
              <a:t>用户无需自己再开发一套专用的系统</a:t>
            </a:r>
            <a:endParaRPr lang="zh-CN" altLang="en-US" sz="1200" dirty="0"/>
          </a:p>
        </p:txBody>
      </p:sp>
      <p:pic>
        <p:nvPicPr>
          <p:cNvPr id="6" name="图片 5">
            <a:extLst>
              <a:ext uri="{FF2B5EF4-FFF2-40B4-BE49-F238E27FC236}">
                <a16:creationId xmlns:a16="http://schemas.microsoft.com/office/drawing/2014/main" id="{E2134352-498E-4B96-A7EC-319824F2C6A2}"/>
              </a:ext>
            </a:extLst>
          </p:cNvPr>
          <p:cNvPicPr>
            <a:picLocks noChangeAspect="1"/>
          </p:cNvPicPr>
          <p:nvPr/>
        </p:nvPicPr>
        <p:blipFill>
          <a:blip r:embed="rId2"/>
          <a:stretch>
            <a:fillRect/>
          </a:stretch>
        </p:blipFill>
        <p:spPr>
          <a:xfrm>
            <a:off x="357506" y="3082618"/>
            <a:ext cx="3934552" cy="1504131"/>
          </a:xfrm>
          <a:prstGeom prst="rect">
            <a:avLst/>
          </a:prstGeom>
        </p:spPr>
      </p:pic>
      <p:pic>
        <p:nvPicPr>
          <p:cNvPr id="7" name="Picture 2" descr="https://pics1.baidu.com/feed/0bd162d9f2d3572cc997edba36372c2c62d0c30b.png@f_auto?token=ccda5a11c0f1ae59445b0c3c6fb47f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8697" y="2884221"/>
            <a:ext cx="3324020" cy="1900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243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519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虚拟化</a:t>
            </a:r>
            <a:endParaRPr lang="en-US" altLang="zh-CN" sz="1800" dirty="0">
              <a:solidFill>
                <a:srgbClr val="C00000"/>
              </a:solidFill>
            </a:endParaRPr>
          </a:p>
          <a:p>
            <a:pPr lvl="1" algn="just"/>
            <a:r>
              <a:rPr lang="zh-CN" altLang="en-US" sz="1300" dirty="0">
                <a:solidFill>
                  <a:srgbClr val="C00000"/>
                </a:solidFill>
              </a:rPr>
              <a:t>服务器虚拟化</a:t>
            </a:r>
            <a:r>
              <a:rPr lang="zh-CN" altLang="en-US" sz="1300" dirty="0"/>
              <a:t>，指的是把一台物理服务器虚拟成若干个独立的逻辑服务器，各个逻辑服务器拥有自己的</a:t>
            </a:r>
            <a:r>
              <a:rPr lang="en-US" altLang="zh-CN" sz="1300" dirty="0"/>
              <a:t>CPU</a:t>
            </a:r>
            <a:r>
              <a:rPr lang="zh-CN" altLang="en-US" sz="1300" dirty="0"/>
              <a:t>、内存、以及</a:t>
            </a:r>
            <a:r>
              <a:rPr lang="en-US" altLang="zh-CN" sz="1300" dirty="0"/>
              <a:t>I/O</a:t>
            </a:r>
            <a:r>
              <a:rPr lang="zh-CN" altLang="en-US" sz="1300" dirty="0"/>
              <a:t>设备</a:t>
            </a:r>
            <a:endParaRPr lang="en-US" altLang="zh-CN" sz="1300" dirty="0"/>
          </a:p>
          <a:p>
            <a:pPr lvl="2"/>
            <a:r>
              <a:rPr lang="zh-CN" altLang="zh-CN" sz="1100" dirty="0"/>
              <a:t>服务器虚拟化，必须为每台虚拟机虚拟出其</a:t>
            </a:r>
            <a:r>
              <a:rPr lang="en-US" altLang="zh-CN" sz="1100" dirty="0"/>
              <a:t>CPU</a:t>
            </a:r>
            <a:r>
              <a:rPr lang="zh-CN" altLang="zh-CN" sz="1100" dirty="0"/>
              <a:t>、内存、以及</a:t>
            </a:r>
            <a:r>
              <a:rPr lang="en-US" altLang="zh-CN" sz="1100" dirty="0"/>
              <a:t>I/O</a:t>
            </a:r>
            <a:r>
              <a:rPr lang="zh-CN" altLang="zh-CN" sz="1100" dirty="0"/>
              <a:t>设备</a:t>
            </a:r>
            <a:endParaRPr lang="en-US" altLang="zh-CN" sz="1100" dirty="0"/>
          </a:p>
          <a:p>
            <a:pPr lvl="2"/>
            <a:r>
              <a:rPr lang="en-US" altLang="zh-CN" sz="1100" dirty="0"/>
              <a:t>CPU</a:t>
            </a:r>
            <a:r>
              <a:rPr lang="zh-CN" altLang="zh-CN" sz="1100" dirty="0"/>
              <a:t>虚拟化，需要解决各个虚拟机的正确调度和运行问题</a:t>
            </a:r>
            <a:endParaRPr lang="en-US" altLang="zh-CN" sz="1100" dirty="0"/>
          </a:p>
          <a:p>
            <a:pPr lvl="1" algn="just"/>
            <a:r>
              <a:rPr lang="zh-CN" altLang="en-US" sz="1300" dirty="0"/>
              <a:t>服务器虚拟化可以采用两种形式，分别是寄居虚拟化、以及裸机虚拟化</a:t>
            </a:r>
            <a:endParaRPr lang="en-US" altLang="zh-CN" sz="1300" dirty="0"/>
          </a:p>
          <a:p>
            <a:pPr lvl="1" algn="just"/>
            <a:r>
              <a:rPr lang="zh-CN" altLang="en-US" sz="1300" dirty="0">
                <a:solidFill>
                  <a:srgbClr val="C00000"/>
                </a:solidFill>
              </a:rPr>
              <a:t>寄居虚拟化</a:t>
            </a:r>
            <a:r>
              <a:rPr lang="zh-CN" altLang="en-US" sz="1300" dirty="0"/>
              <a:t>，首先在服务器上安装一个主机操作系统，然后安装虚拟机管理器</a:t>
            </a:r>
            <a:r>
              <a:rPr lang="en-US" altLang="zh-CN" sz="1300" dirty="0"/>
              <a:t>(Virtual Machine Manager</a:t>
            </a:r>
            <a:r>
              <a:rPr lang="zh-CN" altLang="en-US" sz="1300" dirty="0"/>
              <a:t>，</a:t>
            </a:r>
            <a:r>
              <a:rPr lang="en-US" altLang="zh-CN" sz="1300" dirty="0"/>
              <a:t>VMM)</a:t>
            </a:r>
            <a:r>
              <a:rPr lang="zh-CN" altLang="en-US" sz="1300" dirty="0"/>
              <a:t>，通过它创建、销毁、启动和停止虚拟机</a:t>
            </a:r>
            <a:r>
              <a:rPr lang="en-US" altLang="zh-CN" sz="1300" dirty="0"/>
              <a:t>(</a:t>
            </a:r>
            <a:r>
              <a:rPr lang="zh-CN" altLang="en-US" sz="1300" dirty="0"/>
              <a:t>称为客户虚拟机</a:t>
            </a:r>
            <a:r>
              <a:rPr lang="en-US" altLang="zh-CN" sz="1300" dirty="0"/>
              <a:t>)</a:t>
            </a:r>
          </a:p>
          <a:p>
            <a:pPr lvl="1" algn="just"/>
            <a:r>
              <a:rPr lang="zh-CN" altLang="en-US" sz="1300" dirty="0"/>
              <a:t>在</a:t>
            </a:r>
            <a:r>
              <a:rPr lang="zh-CN" altLang="en-US" sz="1300" dirty="0">
                <a:solidFill>
                  <a:srgbClr val="C00000"/>
                </a:solidFill>
              </a:rPr>
              <a:t>裸机虚拟化</a:t>
            </a:r>
            <a:r>
              <a:rPr lang="zh-CN" altLang="en-US" sz="1300" dirty="0"/>
              <a:t>中，物理服务器上无需安装宿主操作系统，而是在裸机上直接安装</a:t>
            </a:r>
            <a:r>
              <a:rPr lang="en-US" altLang="zh-CN" sz="1300" dirty="0"/>
              <a:t>VMM(</a:t>
            </a:r>
            <a:r>
              <a:rPr lang="zh-CN" altLang="en-US" sz="1300" dirty="0"/>
              <a:t>也称为</a:t>
            </a:r>
            <a:r>
              <a:rPr lang="en-US" altLang="zh-CN" sz="1300" dirty="0"/>
              <a:t>Hypervisor)</a:t>
            </a:r>
            <a:r>
              <a:rPr lang="zh-CN" altLang="en-US" sz="1300" dirty="0"/>
              <a:t>，它是一个轻量级的操作系统，为创建、运行和管理虚拟机进行了优化</a:t>
            </a:r>
          </a:p>
        </p:txBody>
      </p:sp>
      <p:pic>
        <p:nvPicPr>
          <p:cNvPr id="6" name="图片 5">
            <a:extLst>
              <a:ext uri="{FF2B5EF4-FFF2-40B4-BE49-F238E27FC236}">
                <a16:creationId xmlns:a16="http://schemas.microsoft.com/office/drawing/2014/main" id="{515E639A-97F6-4AE4-91EA-08B67622512B}"/>
              </a:ext>
            </a:extLst>
          </p:cNvPr>
          <p:cNvPicPr>
            <a:picLocks noChangeAspect="1"/>
          </p:cNvPicPr>
          <p:nvPr/>
        </p:nvPicPr>
        <p:blipFill>
          <a:blip r:embed="rId2"/>
          <a:stretch>
            <a:fillRect/>
          </a:stretch>
        </p:blipFill>
        <p:spPr>
          <a:xfrm>
            <a:off x="2181297" y="3307804"/>
            <a:ext cx="4781405" cy="1562646"/>
          </a:xfrm>
          <a:prstGeom prst="rect">
            <a:avLst/>
          </a:prstGeom>
        </p:spPr>
      </p:pic>
    </p:spTree>
    <p:extLst>
      <p:ext uri="{BB962C8B-B14F-4D97-AF65-F5344CB8AC3E}">
        <p14:creationId xmlns:p14="http://schemas.microsoft.com/office/powerpoint/2010/main" val="2455656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虚拟化</a:t>
            </a:r>
            <a:endParaRPr lang="en-US" altLang="zh-CN" sz="1800" dirty="0">
              <a:solidFill>
                <a:srgbClr val="C00000"/>
              </a:solidFill>
            </a:endParaRPr>
          </a:p>
          <a:p>
            <a:pPr lvl="1" algn="just"/>
            <a:r>
              <a:rPr lang="zh-CN" altLang="en-US" sz="1400" dirty="0">
                <a:solidFill>
                  <a:srgbClr val="C00000"/>
                </a:solidFill>
              </a:rPr>
              <a:t>存储虚拟化</a:t>
            </a:r>
            <a:r>
              <a:rPr lang="zh-CN" altLang="en-US" sz="1400" dirty="0"/>
              <a:t>，其目的是把分散的、异构的存储设备，想办法映射成一个统一的、连续编址的逻辑存储空间</a:t>
            </a:r>
            <a:endParaRPr lang="en-US" altLang="zh-CN" sz="1400" dirty="0"/>
          </a:p>
          <a:p>
            <a:pPr lvl="1" algn="just"/>
            <a:r>
              <a:rPr lang="zh-CN" altLang="en-US" sz="1400" dirty="0"/>
              <a:t>这个存储空间也称为虚拟存储池，虚拟化软件把设备的差异性屏蔽掉，上层应用程序</a:t>
            </a:r>
            <a:r>
              <a:rPr lang="en-US" altLang="zh-CN" sz="1400" dirty="0"/>
              <a:t>(</a:t>
            </a:r>
            <a:r>
              <a:rPr lang="zh-CN" altLang="en-US" sz="1400" dirty="0"/>
              <a:t>运行在计算节点上，节点可以是虚拟机，也可以是物理机</a:t>
            </a:r>
            <a:r>
              <a:rPr lang="en-US" altLang="zh-CN" sz="1400" dirty="0"/>
              <a:t>)</a:t>
            </a:r>
            <a:r>
              <a:rPr lang="zh-CN" altLang="en-US" sz="1400" dirty="0"/>
              <a:t>，通过分配给它们的</a:t>
            </a:r>
            <a:r>
              <a:rPr lang="zh-CN" altLang="en-US" sz="1400" dirty="0">
                <a:solidFill>
                  <a:srgbClr val="C00000"/>
                </a:solidFill>
              </a:rPr>
              <a:t>逻辑卷</a:t>
            </a:r>
            <a:r>
              <a:rPr lang="zh-CN" altLang="en-US" sz="1400" dirty="0"/>
              <a:t>进行操作</a:t>
            </a:r>
            <a:endParaRPr lang="en-US" altLang="zh-CN" sz="1400" dirty="0"/>
          </a:p>
          <a:p>
            <a:pPr lvl="1" algn="just"/>
            <a:r>
              <a:rPr lang="zh-CN" altLang="en-US" sz="1400" dirty="0"/>
              <a:t>为了保证虚拟设备的可靠性，可以采用包括数据镜像、数据校验等技术</a:t>
            </a:r>
          </a:p>
          <a:p>
            <a:pPr lvl="1" algn="just"/>
            <a:r>
              <a:rPr lang="zh-CN" altLang="en-US" sz="1400" dirty="0"/>
              <a:t>存储虚拟化有三种不同的实现方式，分别是基于主机的存储虚拟化、基于存储设备的存储虚拟化、以及基于网络的存储虚拟化</a:t>
            </a:r>
          </a:p>
        </p:txBody>
      </p:sp>
      <p:pic>
        <p:nvPicPr>
          <p:cNvPr id="5" name="图片 4">
            <a:extLst>
              <a:ext uri="{FF2B5EF4-FFF2-40B4-BE49-F238E27FC236}">
                <a16:creationId xmlns:a16="http://schemas.microsoft.com/office/drawing/2014/main" id="{214846B7-F233-4554-94CA-708F411357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5676" y="2860729"/>
            <a:ext cx="3992647" cy="2009721"/>
          </a:xfrm>
          <a:prstGeom prst="rect">
            <a:avLst/>
          </a:prstGeom>
        </p:spPr>
      </p:pic>
    </p:spTree>
    <p:extLst>
      <p:ext uri="{BB962C8B-B14F-4D97-AF65-F5344CB8AC3E}">
        <p14:creationId xmlns:p14="http://schemas.microsoft.com/office/powerpoint/2010/main" val="29131341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虚拟化</a:t>
            </a:r>
            <a:endParaRPr lang="en-US" altLang="zh-CN" sz="1800" dirty="0">
              <a:solidFill>
                <a:srgbClr val="C00000"/>
              </a:solidFill>
            </a:endParaRPr>
          </a:p>
          <a:p>
            <a:pPr lvl="1" algn="just"/>
            <a:r>
              <a:rPr lang="zh-CN" altLang="en-US" sz="1300" dirty="0">
                <a:solidFill>
                  <a:srgbClr val="C00000"/>
                </a:solidFill>
              </a:rPr>
              <a:t>网络虚拟化</a:t>
            </a:r>
            <a:r>
              <a:rPr lang="zh-CN" altLang="en-US" sz="1300" dirty="0"/>
              <a:t>，在不改变数据中心网络的物理拓扑和布线的情况下，可以虚拟出各层网络，并且实现互联，形成统一的交换架构</a:t>
            </a:r>
            <a:endParaRPr lang="en-US" altLang="zh-CN" sz="1300" dirty="0"/>
          </a:p>
          <a:p>
            <a:pPr lvl="2" algn="just"/>
            <a:r>
              <a:rPr lang="zh-CN" altLang="en-US" sz="1100" dirty="0"/>
              <a:t>网络虚拟化，包括核心层、接入层、以及虚拟机网络虚拟化三个层次</a:t>
            </a:r>
          </a:p>
          <a:p>
            <a:pPr lvl="1" algn="just"/>
            <a:r>
              <a:rPr lang="zh-CN" altLang="en-US" sz="1300" dirty="0"/>
              <a:t>核心层网络虚拟化，指的是数据中心核心交换机的虚拟化，需要考虑大规模的数据交换能力、资源利用率、以及冗余备份能力。</a:t>
            </a:r>
            <a:endParaRPr lang="en-US" altLang="zh-CN" sz="1300" dirty="0"/>
          </a:p>
          <a:p>
            <a:pPr lvl="1" algn="just"/>
            <a:r>
              <a:rPr lang="zh-CN" altLang="en-US" sz="1300" dirty="0"/>
              <a:t>接入层网络虚拟化，需要考虑数据中心接入交换机能够支持不同的网络部署方式，以及支持各种新的网络技术</a:t>
            </a:r>
            <a:endParaRPr lang="en-US" altLang="zh-CN" sz="1300" dirty="0"/>
          </a:p>
          <a:p>
            <a:pPr lvl="1" algn="just"/>
            <a:r>
              <a:rPr lang="zh-CN" altLang="en-US" sz="1300" dirty="0"/>
              <a:t>虚拟机网络虚拟化，主要是指物理网卡的虚拟化，为每台虚拟机创建虚拟网卡</a:t>
            </a:r>
            <a:endParaRPr lang="en-US" altLang="zh-CN" sz="1300" dirty="0"/>
          </a:p>
          <a:p>
            <a:pPr lvl="2" algn="just"/>
            <a:r>
              <a:rPr lang="zh-CN" altLang="en-US" sz="1100" dirty="0"/>
              <a:t>此外，为了实现各个虚拟网卡之间的互联和信息交换，需要实现虚拟的网络交换机</a:t>
            </a:r>
          </a:p>
        </p:txBody>
      </p:sp>
      <p:pic>
        <p:nvPicPr>
          <p:cNvPr id="6" name="图片 5">
            <a:extLst>
              <a:ext uri="{FF2B5EF4-FFF2-40B4-BE49-F238E27FC236}">
                <a16:creationId xmlns:a16="http://schemas.microsoft.com/office/drawing/2014/main" id="{6C6872E7-6CD7-40B5-9B90-410F608FDF62}"/>
              </a:ext>
            </a:extLst>
          </p:cNvPr>
          <p:cNvPicPr>
            <a:picLocks noChangeAspect="1"/>
          </p:cNvPicPr>
          <p:nvPr/>
        </p:nvPicPr>
        <p:blipFill>
          <a:blip r:embed="rId2"/>
          <a:stretch>
            <a:fillRect/>
          </a:stretch>
        </p:blipFill>
        <p:spPr>
          <a:xfrm>
            <a:off x="2772903" y="3190239"/>
            <a:ext cx="3598193" cy="1771651"/>
          </a:xfrm>
          <a:prstGeom prst="rect">
            <a:avLst/>
          </a:prstGeom>
        </p:spPr>
      </p:pic>
    </p:spTree>
    <p:extLst>
      <p:ext uri="{BB962C8B-B14F-4D97-AF65-F5344CB8AC3E}">
        <p14:creationId xmlns:p14="http://schemas.microsoft.com/office/powerpoint/2010/main" val="2783337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云计算</a:t>
            </a:r>
          </a:p>
        </p:txBody>
      </p:sp>
      <p:sp>
        <p:nvSpPr>
          <p:cNvPr id="13" name="Content Placeholder 2"/>
          <p:cNvSpPr>
            <a:spLocks noGrp="1"/>
          </p:cNvSpPr>
          <p:nvPr>
            <p:ph idx="1"/>
          </p:nvPr>
        </p:nvSpPr>
        <p:spPr>
          <a:xfrm>
            <a:off x="457200" y="819150"/>
            <a:ext cx="8229600" cy="3937000"/>
          </a:xfrm>
        </p:spPr>
        <p:txBody>
          <a:bodyPr>
            <a:normAutofit/>
          </a:bodyPr>
          <a:lstStyle/>
          <a:p>
            <a:pPr algn="just"/>
            <a:r>
              <a:rPr lang="zh-CN" altLang="en-US" sz="1800" dirty="0">
                <a:solidFill>
                  <a:srgbClr val="C00000"/>
                </a:solidFill>
              </a:rPr>
              <a:t>虚拟化</a:t>
            </a:r>
            <a:endParaRPr lang="en-US" altLang="zh-CN" sz="1800" dirty="0">
              <a:solidFill>
                <a:srgbClr val="C00000"/>
              </a:solidFill>
            </a:endParaRPr>
          </a:p>
          <a:p>
            <a:pPr lvl="1" algn="just"/>
            <a:r>
              <a:rPr lang="zh-CN" altLang="en-US" sz="1400" dirty="0">
                <a:solidFill>
                  <a:srgbClr val="C00000"/>
                </a:solidFill>
              </a:rPr>
              <a:t>数据中心</a:t>
            </a:r>
            <a:r>
              <a:rPr lang="zh-CN" altLang="en-US" sz="1400" dirty="0"/>
              <a:t>首先由</a:t>
            </a:r>
            <a:r>
              <a:rPr lang="en-US" altLang="zh-CN" sz="1400" dirty="0"/>
              <a:t>Google</a:t>
            </a:r>
            <a:r>
              <a:rPr lang="zh-CN" altLang="en-US" sz="1400" dirty="0"/>
              <a:t>、</a:t>
            </a:r>
            <a:r>
              <a:rPr lang="en-US" altLang="zh-CN" sz="1400" dirty="0"/>
              <a:t>Facebook</a:t>
            </a:r>
            <a:r>
              <a:rPr lang="zh-CN" altLang="en-US" sz="1400" dirty="0"/>
              <a:t>、</a:t>
            </a:r>
            <a:r>
              <a:rPr lang="en-US" altLang="zh-CN" sz="1400" dirty="0"/>
              <a:t>Amazon</a:t>
            </a:r>
            <a:r>
              <a:rPr lang="zh-CN" altLang="en-US" sz="1400" dirty="0"/>
              <a:t>等大型互联网公司，为适应其业务发展的需要而建设</a:t>
            </a:r>
            <a:endParaRPr lang="en-US" altLang="zh-CN" sz="1400" dirty="0"/>
          </a:p>
          <a:p>
            <a:pPr lvl="2" algn="just"/>
            <a:r>
              <a:rPr lang="zh-CN" altLang="en-US" sz="1200" dirty="0"/>
              <a:t>大型的数据中心，可以集中超过</a:t>
            </a:r>
            <a:r>
              <a:rPr lang="en-US" altLang="zh-CN" sz="1200" dirty="0"/>
              <a:t>10</a:t>
            </a:r>
            <a:r>
              <a:rPr lang="zh-CN" altLang="en-US" sz="1200" dirty="0"/>
              <a:t>万台服务器</a:t>
            </a:r>
            <a:endParaRPr lang="en-US" altLang="zh-CN" sz="1200" dirty="0"/>
          </a:p>
          <a:p>
            <a:pPr lvl="1" algn="just"/>
            <a:r>
              <a:rPr lang="zh-CN" altLang="en-US" sz="1400" dirty="0"/>
              <a:t>数据中心的主要特点和优势是，通过服务器虚拟化、存储虚拟化、网络虚拟化、应用虚拟化等技术，数据中心把各种硬件资源进行整合，对外提供服务，提高设备的利用率</a:t>
            </a:r>
            <a:endParaRPr lang="en-US" altLang="zh-CN" sz="1400" dirty="0"/>
          </a:p>
          <a:p>
            <a:pPr lvl="2" algn="just"/>
            <a:r>
              <a:rPr lang="zh-CN" altLang="en-US" sz="1200" dirty="0"/>
              <a:t>数据中心一般采取了冗余、容错、容灾的设计，提供不间断的服务，满足业务连续性的要求</a:t>
            </a:r>
          </a:p>
          <a:p>
            <a:pPr lvl="2" algn="just"/>
            <a:r>
              <a:rPr lang="zh-CN" altLang="en-US" sz="1200" dirty="0"/>
              <a:t>有些数据中心为了获得廉价的电力，靠近水电站建设</a:t>
            </a:r>
            <a:endParaRPr lang="en-US" altLang="zh-CN" sz="1200" dirty="0"/>
          </a:p>
          <a:p>
            <a:pPr lvl="2" algn="just"/>
            <a:r>
              <a:rPr lang="en-US" altLang="zh-CN" sz="1200" dirty="0"/>
              <a:t>Google</a:t>
            </a:r>
            <a:r>
              <a:rPr lang="zh-CN" altLang="en-US" sz="1200" dirty="0"/>
              <a:t>甚至考虑在海上建设数据中心，利用潮汐发电以提供能源，并利用海水进行设备的制冷</a:t>
            </a:r>
          </a:p>
        </p:txBody>
      </p:sp>
      <p:pic>
        <p:nvPicPr>
          <p:cNvPr id="5" name="图片 4">
            <a:extLst>
              <a:ext uri="{FF2B5EF4-FFF2-40B4-BE49-F238E27FC236}">
                <a16:creationId xmlns:a16="http://schemas.microsoft.com/office/drawing/2014/main" id="{DA65E7BD-A952-474A-8B5A-749153125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3571" y="3034030"/>
            <a:ext cx="2743200" cy="1920240"/>
          </a:xfrm>
          <a:prstGeom prst="rect">
            <a:avLst/>
          </a:prstGeom>
        </p:spPr>
      </p:pic>
    </p:spTree>
    <p:extLst>
      <p:ext uri="{BB962C8B-B14F-4D97-AF65-F5344CB8AC3E}">
        <p14:creationId xmlns:p14="http://schemas.microsoft.com/office/powerpoint/2010/main" val="1712508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524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dirty="0">
                <a:solidFill>
                  <a:srgbClr val="C00000"/>
                </a:solidFill>
              </a:rPr>
              <a:t>公有云</a:t>
            </a:r>
            <a:endParaRPr kumimoji="1" lang="en-US" altLang="zh-CN" dirty="0">
              <a:solidFill>
                <a:srgbClr val="C00000"/>
              </a:solidFill>
            </a:endParaRPr>
          </a:p>
          <a:p>
            <a:pPr lvl="1" algn="just"/>
            <a:r>
              <a:rPr lang="zh-CN" altLang="en-US" sz="1600" dirty="0"/>
              <a:t>公有云是面向大众提供计算资源的服务</a:t>
            </a:r>
            <a:endParaRPr lang="en-US" altLang="zh-CN" sz="1600" dirty="0"/>
          </a:p>
          <a:p>
            <a:pPr lvl="1" algn="just"/>
            <a:r>
              <a:rPr lang="zh-CN" altLang="en-US" sz="1600" dirty="0"/>
              <a:t>是由</a:t>
            </a:r>
            <a:r>
              <a:rPr lang="en-US" altLang="zh-CN" sz="1600" dirty="0"/>
              <a:t>IDC</a:t>
            </a:r>
            <a:r>
              <a:rPr lang="zh-CN" altLang="en-US" sz="1600" dirty="0"/>
              <a:t>服务商或第三方提供资源，如应用和存储，这些资源是在服务商的场所内部署</a:t>
            </a:r>
            <a:endParaRPr lang="en-US" altLang="zh-CN" sz="1600" dirty="0"/>
          </a:p>
          <a:p>
            <a:pPr lvl="1" algn="just"/>
            <a:r>
              <a:rPr lang="zh-CN" altLang="en-US" sz="1600" dirty="0"/>
              <a:t>用户通过</a:t>
            </a:r>
            <a:r>
              <a:rPr lang="en-US" altLang="zh-CN" sz="1600" dirty="0"/>
              <a:t>Internet</a:t>
            </a:r>
            <a:r>
              <a:rPr lang="zh-CN" altLang="en-US" sz="1600" dirty="0"/>
              <a:t>互联网来获取这些资源的使用</a:t>
            </a:r>
            <a:endParaRPr lang="en-US" altLang="zh-CN" sz="1600" dirty="0"/>
          </a:p>
          <a:p>
            <a:pPr lvl="1" algn="just"/>
            <a:r>
              <a:rPr lang="zh-CN" altLang="en-US" sz="1600" dirty="0"/>
              <a:t>公有云服务提供商有</a:t>
            </a:r>
            <a:r>
              <a:rPr lang="en-US" altLang="zh-CN" sz="1600" dirty="0"/>
              <a:t>Amazon</a:t>
            </a:r>
            <a:r>
              <a:rPr lang="zh-CN" altLang="en-US" sz="1600" dirty="0"/>
              <a:t>、</a:t>
            </a:r>
            <a:r>
              <a:rPr lang="en-US" altLang="zh-CN" sz="1600" dirty="0"/>
              <a:t>Google</a:t>
            </a:r>
            <a:r>
              <a:rPr lang="zh-CN" altLang="en-US" sz="1600" dirty="0"/>
              <a:t>和微软，以及国内的阿里云、腾讯云等</a:t>
            </a:r>
            <a:endParaRPr lang="en-US" altLang="zh-CN" sz="1600" dirty="0"/>
          </a:p>
          <a:p>
            <a:pPr lvl="1" algn="just"/>
            <a:endParaRPr lang="zh-CN" altLang="en-US" sz="1600" dirty="0"/>
          </a:p>
          <a:p>
            <a:pPr lvl="1" algn="just"/>
            <a:r>
              <a:rPr lang="zh-CN" altLang="en-US" sz="1600" dirty="0"/>
              <a:t>公有云的</a:t>
            </a:r>
            <a:r>
              <a:rPr lang="zh-CN" altLang="en-US" sz="1600" dirty="0">
                <a:solidFill>
                  <a:srgbClr val="C00000"/>
                </a:solidFill>
              </a:rPr>
              <a:t>优势</a:t>
            </a:r>
            <a:endParaRPr lang="en-US" altLang="zh-CN" sz="1600" dirty="0">
              <a:solidFill>
                <a:srgbClr val="C00000"/>
              </a:solidFill>
            </a:endParaRPr>
          </a:p>
          <a:p>
            <a:pPr lvl="2" algn="just"/>
            <a:r>
              <a:rPr lang="zh-CN" altLang="en-US" sz="1400" dirty="0"/>
              <a:t>成本低，扩展性非常好</a:t>
            </a:r>
            <a:endParaRPr lang="en-US" altLang="zh-CN" sz="1400" dirty="0"/>
          </a:p>
          <a:p>
            <a:pPr lvl="1" algn="just"/>
            <a:r>
              <a:rPr lang="zh-CN" altLang="en-US" sz="1600" dirty="0"/>
              <a:t>公有云的</a:t>
            </a:r>
            <a:r>
              <a:rPr lang="zh-CN" altLang="en-US" sz="1600" dirty="0">
                <a:solidFill>
                  <a:srgbClr val="C00000"/>
                </a:solidFill>
              </a:rPr>
              <a:t>缺点</a:t>
            </a:r>
            <a:endParaRPr lang="en-US" altLang="zh-CN" sz="1600" dirty="0">
              <a:solidFill>
                <a:srgbClr val="C00000"/>
              </a:solidFill>
            </a:endParaRPr>
          </a:p>
          <a:p>
            <a:pPr lvl="2" algn="just"/>
            <a:r>
              <a:rPr lang="zh-CN" altLang="en-US" sz="1400" dirty="0"/>
              <a:t>对于云端的资源缺乏控制、保密数据的安全性、网络性能和匹配性问题</a:t>
            </a:r>
          </a:p>
        </p:txBody>
      </p:sp>
    </p:spTree>
    <p:extLst>
      <p:ext uri="{BB962C8B-B14F-4D97-AF65-F5344CB8AC3E}">
        <p14:creationId xmlns:p14="http://schemas.microsoft.com/office/powerpoint/2010/main" val="4271020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fontScale="85000" lnSpcReduction="20000"/>
          </a:bodyPr>
          <a:lstStyle/>
          <a:p>
            <a:pPr>
              <a:lnSpc>
                <a:spcPct val="120000"/>
              </a:lnSpc>
            </a:pPr>
            <a:r>
              <a:rPr kumimoji="1" lang="zh-CN" altLang="en-US" dirty="0">
                <a:solidFill>
                  <a:srgbClr val="C00000"/>
                </a:solidFill>
              </a:rPr>
              <a:t>私有云</a:t>
            </a:r>
            <a:endParaRPr kumimoji="1" lang="en-US" altLang="zh-CN" dirty="0">
              <a:solidFill>
                <a:srgbClr val="C00000"/>
              </a:solidFill>
            </a:endParaRPr>
          </a:p>
          <a:p>
            <a:pPr lvl="1">
              <a:lnSpc>
                <a:spcPct val="120000"/>
              </a:lnSpc>
            </a:pPr>
            <a:r>
              <a:rPr lang="zh-CN" altLang="en-US" sz="1700" dirty="0"/>
              <a:t>私有云是为了一个客户单独使用而构建的，所以这些数据、安全和服务质量都较公有云有着更好地保障</a:t>
            </a:r>
            <a:endParaRPr lang="en-US" altLang="zh-CN" sz="1700" dirty="0"/>
          </a:p>
          <a:p>
            <a:pPr lvl="1">
              <a:lnSpc>
                <a:spcPct val="120000"/>
              </a:lnSpc>
            </a:pPr>
            <a:r>
              <a:rPr lang="zh-CN" altLang="en-US" sz="1700" dirty="0"/>
              <a:t>私有云由于是客户独享，用户拥有着构建云的基础设置，并可以控制在此技术设置上部署应有程序的方式</a:t>
            </a:r>
            <a:endParaRPr lang="en-US" altLang="zh-CN" sz="1700" dirty="0"/>
          </a:p>
          <a:p>
            <a:pPr lvl="1">
              <a:lnSpc>
                <a:spcPct val="120000"/>
              </a:lnSpc>
            </a:pPr>
            <a:r>
              <a:rPr lang="zh-CN" altLang="en-US" sz="1700" dirty="0"/>
              <a:t>在私有云模式中，云平台的资源为包含多个用户的单一组织专用</a:t>
            </a:r>
            <a:endParaRPr lang="en-US" altLang="zh-CN" sz="1700" dirty="0"/>
          </a:p>
          <a:p>
            <a:pPr lvl="1">
              <a:lnSpc>
                <a:spcPct val="120000"/>
              </a:lnSpc>
            </a:pPr>
            <a:r>
              <a:rPr lang="zh-CN" altLang="en-US" sz="1700" dirty="0"/>
              <a:t>私有云可由该组织、第三方或两者联合拥有、管理和运营，</a:t>
            </a:r>
            <a:r>
              <a:rPr lang="zh-CN" altLang="en-US" sz="1500" dirty="0"/>
              <a:t>私有云的部署场所可以是在机构内部，也可以在外部</a:t>
            </a:r>
            <a:endParaRPr lang="en-US" altLang="zh-CN" sz="1500" dirty="0"/>
          </a:p>
          <a:p>
            <a:pPr lvl="2">
              <a:lnSpc>
                <a:spcPct val="120000"/>
              </a:lnSpc>
            </a:pPr>
            <a:r>
              <a:rPr lang="zh-CN" altLang="en-US" sz="1700" dirty="0">
                <a:solidFill>
                  <a:srgbClr val="C00000"/>
                </a:solidFill>
              </a:rPr>
              <a:t>①内部</a:t>
            </a:r>
            <a:r>
              <a:rPr lang="en-US" altLang="zh-CN" sz="1700" dirty="0">
                <a:solidFill>
                  <a:srgbClr val="C00000"/>
                </a:solidFill>
              </a:rPr>
              <a:t>(on premise)</a:t>
            </a:r>
            <a:r>
              <a:rPr lang="zh-CN" altLang="en-US" sz="1700" dirty="0">
                <a:solidFill>
                  <a:srgbClr val="C00000"/>
                </a:solidFill>
              </a:rPr>
              <a:t>私有云</a:t>
            </a:r>
            <a:r>
              <a:rPr lang="zh-CN" altLang="en-US" sz="1700" dirty="0"/>
              <a:t>：也被称为内部云，由组织在自己的数据中心内构建</a:t>
            </a:r>
            <a:endParaRPr lang="en-US" altLang="zh-CN" sz="1700" dirty="0"/>
          </a:p>
          <a:p>
            <a:pPr lvl="2">
              <a:lnSpc>
                <a:spcPct val="120000"/>
              </a:lnSpc>
            </a:pPr>
            <a:r>
              <a:rPr lang="zh-CN" altLang="en-US" sz="1700" dirty="0"/>
              <a:t>该形式在规模和资源可扩展性上有局限，但是却有利于标准化云服务管理流程和安全性</a:t>
            </a:r>
            <a:endParaRPr lang="en-US" altLang="zh-CN" sz="1700" dirty="0"/>
          </a:p>
          <a:p>
            <a:pPr lvl="2">
              <a:lnSpc>
                <a:spcPct val="120000"/>
              </a:lnSpc>
            </a:pPr>
            <a:r>
              <a:rPr lang="zh-CN" altLang="en-US" sz="1700" dirty="0"/>
              <a:t>组织依然要为物理资源承担资金成本和维护成本</a:t>
            </a:r>
            <a:endParaRPr lang="en-US" altLang="zh-CN" sz="1700" dirty="0"/>
          </a:p>
          <a:p>
            <a:pPr lvl="2">
              <a:lnSpc>
                <a:spcPct val="120000"/>
              </a:lnSpc>
            </a:pPr>
            <a:r>
              <a:rPr lang="zh-CN" altLang="en-US" sz="1700" dirty="0"/>
              <a:t>这种方式适合那些需要对应用、平台配置和安全机制完全控制的机构</a:t>
            </a:r>
          </a:p>
          <a:p>
            <a:pPr lvl="2">
              <a:lnSpc>
                <a:spcPct val="120000"/>
              </a:lnSpc>
            </a:pPr>
            <a:r>
              <a:rPr lang="zh-CN" altLang="en-US" sz="1500" dirty="0">
                <a:solidFill>
                  <a:srgbClr val="C00000"/>
                </a:solidFill>
              </a:rPr>
              <a:t>②外部</a:t>
            </a:r>
            <a:r>
              <a:rPr lang="en-US" altLang="zh-CN" sz="1500" dirty="0">
                <a:solidFill>
                  <a:srgbClr val="C00000"/>
                </a:solidFill>
              </a:rPr>
              <a:t>(off-premise)</a:t>
            </a:r>
            <a:r>
              <a:rPr lang="zh-CN" altLang="en-US" sz="1500" dirty="0">
                <a:solidFill>
                  <a:srgbClr val="C00000"/>
                </a:solidFill>
              </a:rPr>
              <a:t>私有云</a:t>
            </a:r>
            <a:r>
              <a:rPr lang="zh-CN" altLang="en-US" sz="1500" dirty="0"/>
              <a:t>：这种私有云部署在组织外部，由第三方机构负责管理</a:t>
            </a:r>
            <a:endParaRPr lang="en-US" altLang="zh-CN" sz="1500" dirty="0"/>
          </a:p>
          <a:p>
            <a:pPr lvl="2">
              <a:lnSpc>
                <a:spcPct val="120000"/>
              </a:lnSpc>
            </a:pPr>
            <a:r>
              <a:rPr lang="zh-CN" altLang="en-US" sz="1500" dirty="0"/>
              <a:t>第三方为该组织提供专用的云环境，并保证隐私和机密性</a:t>
            </a:r>
            <a:endParaRPr lang="en-US" altLang="zh-CN" sz="1500" dirty="0"/>
          </a:p>
          <a:p>
            <a:pPr lvl="2">
              <a:lnSpc>
                <a:spcPct val="120000"/>
              </a:lnSpc>
            </a:pPr>
            <a:r>
              <a:rPr lang="zh-CN" altLang="en-US" sz="1500" dirty="0"/>
              <a:t>该方案相对内部私有云成本更低，也更便于扩展业务规模</a:t>
            </a:r>
          </a:p>
          <a:p>
            <a:pPr lvl="1">
              <a:lnSpc>
                <a:spcPct val="120000"/>
              </a:lnSpc>
            </a:pPr>
            <a:endParaRPr kumimoji="1" lang="en-US" altLang="zh-CN" sz="1700" dirty="0"/>
          </a:p>
        </p:txBody>
      </p:sp>
    </p:spTree>
    <p:extLst>
      <p:ext uri="{BB962C8B-B14F-4D97-AF65-F5344CB8AC3E}">
        <p14:creationId xmlns:p14="http://schemas.microsoft.com/office/powerpoint/2010/main" val="2241281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dirty="0">
                <a:solidFill>
                  <a:srgbClr val="C00000"/>
                </a:solidFill>
              </a:rPr>
              <a:t>混合云</a:t>
            </a:r>
            <a:endParaRPr kumimoji="1" lang="en-US" altLang="zh-CN" dirty="0">
              <a:solidFill>
                <a:srgbClr val="C00000"/>
              </a:solidFill>
            </a:endParaRPr>
          </a:p>
          <a:p>
            <a:pPr lvl="1"/>
            <a:r>
              <a:rPr lang="zh-CN" altLang="en-US" dirty="0"/>
              <a:t>在混合云模式中，云平台由两种不同模式</a:t>
            </a:r>
            <a:r>
              <a:rPr lang="en-US" altLang="zh-CN" dirty="0"/>
              <a:t>(</a:t>
            </a:r>
            <a:r>
              <a:rPr lang="zh-CN" altLang="en-US" dirty="0"/>
              <a:t>私有或公有</a:t>
            </a:r>
            <a:r>
              <a:rPr lang="en-US" altLang="zh-CN" dirty="0"/>
              <a:t>)</a:t>
            </a:r>
            <a:r>
              <a:rPr lang="zh-CN" altLang="en-US" dirty="0"/>
              <a:t>云平台组合而成</a:t>
            </a:r>
            <a:endParaRPr lang="en-US" altLang="zh-CN" dirty="0"/>
          </a:p>
          <a:p>
            <a:pPr lvl="1"/>
            <a:r>
              <a:rPr lang="zh-CN" altLang="en-US" dirty="0"/>
              <a:t>这些平台依然是独立实体，但是利用标准化或专有技术实现绑定，彼此之间能够进行数据和应用的移植</a:t>
            </a:r>
            <a:r>
              <a:rPr lang="en-US" altLang="zh-CN" dirty="0"/>
              <a:t>(</a:t>
            </a:r>
            <a:r>
              <a:rPr lang="zh-CN" altLang="en-US" dirty="0"/>
              <a:t>例如，在不同云平台之间的均衡</a:t>
            </a:r>
            <a:r>
              <a:rPr lang="en-US" altLang="zh-CN" dirty="0"/>
              <a:t>)</a:t>
            </a:r>
          </a:p>
          <a:p>
            <a:pPr lvl="1"/>
            <a:r>
              <a:rPr lang="zh-CN" altLang="en-US" dirty="0">
                <a:solidFill>
                  <a:srgbClr val="C00000"/>
                </a:solidFill>
              </a:rPr>
              <a:t>技术选择</a:t>
            </a:r>
            <a:endParaRPr lang="en-US" altLang="zh-CN" dirty="0">
              <a:solidFill>
                <a:srgbClr val="C00000"/>
              </a:solidFill>
            </a:endParaRPr>
          </a:p>
          <a:p>
            <a:pPr lvl="2"/>
            <a:r>
              <a:rPr lang="zh-CN" altLang="en-US" dirty="0"/>
              <a:t>应用混合云模式</a:t>
            </a:r>
            <a:endParaRPr lang="en-US" altLang="zh-CN" dirty="0"/>
          </a:p>
          <a:p>
            <a:pPr lvl="2"/>
            <a:r>
              <a:rPr lang="zh-CN" altLang="en-US" dirty="0"/>
              <a:t>一个机构可以将次要的应用和数据部署到公有云上，充分利用公有云在扩展性和成本上的优势</a:t>
            </a:r>
            <a:endParaRPr lang="en-US" altLang="zh-CN" dirty="0"/>
          </a:p>
          <a:p>
            <a:pPr lvl="2"/>
            <a:r>
              <a:rPr lang="zh-CN" altLang="en-US" dirty="0"/>
              <a:t>同时将任务关键型应用和数据放在私有云中，安全性更高</a:t>
            </a:r>
          </a:p>
          <a:p>
            <a:pPr lvl="1"/>
            <a:endParaRPr kumimoji="1" lang="en-US" altLang="zh-CN" dirty="0"/>
          </a:p>
        </p:txBody>
      </p:sp>
    </p:spTree>
    <p:extLst>
      <p:ext uri="{BB962C8B-B14F-4D97-AF65-F5344CB8AC3E}">
        <p14:creationId xmlns:p14="http://schemas.microsoft.com/office/powerpoint/2010/main" val="2761590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999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lang="en-US" altLang="zh-CN" sz="1600" dirty="0">
                <a:solidFill>
                  <a:srgbClr val="C00000"/>
                </a:solidFill>
              </a:rPr>
              <a:t>VMWare</a:t>
            </a:r>
          </a:p>
          <a:p>
            <a:pPr lvl="1" algn="just"/>
            <a:r>
              <a:rPr lang="en-US" altLang="zh-CN" sz="1400" dirty="0"/>
              <a:t>VMWare</a:t>
            </a:r>
            <a:r>
              <a:rPr lang="zh-CN" altLang="en-US" sz="1400" dirty="0"/>
              <a:t>是一家专注于虚拟化技术的公司</a:t>
            </a:r>
            <a:endParaRPr lang="en-US" altLang="zh-CN" sz="1400" dirty="0"/>
          </a:p>
          <a:p>
            <a:pPr lvl="1" algn="just"/>
            <a:r>
              <a:rPr lang="zh-CN" altLang="en-US" sz="1400" dirty="0"/>
              <a:t>随着云计算的兴起，</a:t>
            </a:r>
            <a:r>
              <a:rPr lang="en-US" altLang="zh-CN" sz="1400" dirty="0"/>
              <a:t>VMWare</a:t>
            </a:r>
            <a:r>
              <a:rPr lang="zh-CN" altLang="en-US" sz="1400" dirty="0"/>
              <a:t>以其成熟的技术和完善的产品线，成为云计算市场举足轻重的公司</a:t>
            </a:r>
            <a:endParaRPr lang="en-US" altLang="zh-CN" sz="1400" dirty="0"/>
          </a:p>
          <a:p>
            <a:pPr lvl="1" algn="just"/>
            <a:r>
              <a:rPr lang="en-US" altLang="zh-CN" sz="1400" dirty="0"/>
              <a:t>VMWare</a:t>
            </a:r>
            <a:r>
              <a:rPr lang="zh-CN" altLang="en-US" sz="1400" dirty="0"/>
              <a:t>提供针对桌面计算机、以及服务器的虚拟化产品，并且提供面向数据中心的管理运维平台</a:t>
            </a:r>
            <a:endParaRPr lang="en-US" altLang="zh-CN" sz="1400" dirty="0"/>
          </a:p>
          <a:p>
            <a:pPr lvl="2" algn="just"/>
            <a:r>
              <a:rPr lang="zh-CN" altLang="en-US" sz="1200" dirty="0"/>
              <a:t>其中，</a:t>
            </a:r>
            <a:r>
              <a:rPr lang="en-US" altLang="zh-CN" sz="1200" dirty="0">
                <a:solidFill>
                  <a:srgbClr val="C00000"/>
                </a:solidFill>
              </a:rPr>
              <a:t>VMWare</a:t>
            </a:r>
            <a:r>
              <a:rPr lang="en-US" altLang="zh-CN" sz="1200" dirty="0"/>
              <a:t> </a:t>
            </a:r>
            <a:r>
              <a:rPr lang="en-US" altLang="zh-CN" sz="1200" dirty="0">
                <a:solidFill>
                  <a:srgbClr val="C00000"/>
                </a:solidFill>
              </a:rPr>
              <a:t>vSphere</a:t>
            </a:r>
            <a:r>
              <a:rPr lang="zh-CN" altLang="en-US" sz="1200" dirty="0"/>
              <a:t>是面向服务器和数据中心的虚拟化产品，提供服务器虚拟化、网络虚拟化、存储设备虚拟化等完备的功能</a:t>
            </a:r>
          </a:p>
          <a:p>
            <a:pPr lvl="2" algn="just"/>
            <a:r>
              <a:rPr lang="zh-CN" altLang="en-US" sz="1200" dirty="0"/>
              <a:t>广受用户欢迎的一款产品是</a:t>
            </a:r>
            <a:r>
              <a:rPr lang="en-US" altLang="zh-CN" sz="1200" dirty="0">
                <a:solidFill>
                  <a:srgbClr val="C00000"/>
                </a:solidFill>
              </a:rPr>
              <a:t>VMware</a:t>
            </a:r>
            <a:r>
              <a:rPr lang="en-US" altLang="zh-CN" sz="1200" dirty="0"/>
              <a:t> </a:t>
            </a:r>
            <a:r>
              <a:rPr lang="en-US" altLang="zh-CN" sz="1200" dirty="0">
                <a:solidFill>
                  <a:srgbClr val="C00000"/>
                </a:solidFill>
              </a:rPr>
              <a:t>Workstation</a:t>
            </a:r>
            <a:r>
              <a:rPr lang="zh-CN" altLang="en-US" sz="1200" dirty="0"/>
              <a:t>，这是一款面向桌面计算机的虚拟化产品</a:t>
            </a:r>
            <a:endParaRPr lang="en-US" altLang="zh-CN" sz="1200" dirty="0"/>
          </a:p>
          <a:p>
            <a:pPr lvl="2" algn="just"/>
            <a:r>
              <a:rPr lang="zh-CN" altLang="en-US" sz="1200" dirty="0"/>
              <a:t>它在个人计算机上提供虚拟硬件层，用户可以在上面创建虚拟机，然后安装</a:t>
            </a:r>
            <a:r>
              <a:rPr lang="en-US" altLang="zh-CN" sz="1200" dirty="0"/>
              <a:t>Windows</a:t>
            </a:r>
            <a:r>
              <a:rPr lang="zh-CN" altLang="en-US" sz="1200" dirty="0"/>
              <a:t>、以及各类</a:t>
            </a:r>
            <a:r>
              <a:rPr lang="en-US" altLang="zh-CN" sz="1200" dirty="0"/>
              <a:t>Unix</a:t>
            </a:r>
            <a:r>
              <a:rPr lang="zh-CN" altLang="en-US" sz="1200" dirty="0"/>
              <a:t>操作系统</a:t>
            </a:r>
            <a:r>
              <a:rPr lang="en-US" altLang="zh-CN" sz="1200" dirty="0"/>
              <a:t>(</a:t>
            </a:r>
            <a:r>
              <a:rPr lang="zh-CN" altLang="en-US" sz="1200" dirty="0"/>
              <a:t>包括</a:t>
            </a:r>
            <a:r>
              <a:rPr lang="en-US" altLang="zh-CN" sz="1200" dirty="0"/>
              <a:t>Linux</a:t>
            </a:r>
            <a:r>
              <a:rPr lang="zh-CN" altLang="en-US" sz="1200" dirty="0"/>
              <a:t>操作系统</a:t>
            </a:r>
            <a:r>
              <a:rPr lang="en-US" altLang="zh-CN" sz="1200" dirty="0"/>
              <a:t>)</a:t>
            </a:r>
            <a:r>
              <a:rPr lang="zh-CN" altLang="en-US" sz="1200" dirty="0"/>
              <a:t>，实现在一台计算机上运行多个不同的操作系统</a:t>
            </a:r>
          </a:p>
          <a:p>
            <a:endParaRPr kumimoji="1" lang="en-US" altLang="zh-CN" dirty="0"/>
          </a:p>
        </p:txBody>
      </p:sp>
      <p:pic>
        <p:nvPicPr>
          <p:cNvPr id="6" name="图片 5">
            <a:extLst>
              <a:ext uri="{FF2B5EF4-FFF2-40B4-BE49-F238E27FC236}">
                <a16:creationId xmlns:a16="http://schemas.microsoft.com/office/drawing/2014/main" id="{335B3149-4697-4E90-83D6-67B9D46263AE}"/>
              </a:ext>
            </a:extLst>
          </p:cNvPr>
          <p:cNvPicPr>
            <a:picLocks noChangeAspect="1"/>
          </p:cNvPicPr>
          <p:nvPr/>
        </p:nvPicPr>
        <p:blipFill>
          <a:blip r:embed="rId2"/>
          <a:stretch>
            <a:fillRect/>
          </a:stretch>
        </p:blipFill>
        <p:spPr>
          <a:xfrm>
            <a:off x="3368040" y="3353805"/>
            <a:ext cx="2396371" cy="1591575"/>
          </a:xfrm>
          <a:prstGeom prst="rect">
            <a:avLst/>
          </a:prstGeom>
        </p:spPr>
      </p:pic>
    </p:spTree>
    <p:extLst>
      <p:ext uri="{BB962C8B-B14F-4D97-AF65-F5344CB8AC3E}">
        <p14:creationId xmlns:p14="http://schemas.microsoft.com/office/powerpoint/2010/main" val="255978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kumimoji="1" lang="zh-CN" altLang="en-US" dirty="0"/>
              <a:t>云计算</a:t>
            </a:r>
            <a:endParaRPr lang="zh-CN" altLang="en-US" dirty="0"/>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0" y="819149"/>
            <a:ext cx="8087575" cy="3969235"/>
          </a:xfrm>
        </p:spPr>
        <p:txBody>
          <a:bodyPr>
            <a:normAutofit/>
          </a:bodyPr>
          <a:lstStyle/>
          <a:p>
            <a:pPr algn="just"/>
            <a:r>
              <a:rPr lang="en-US" altLang="zh-CN" sz="1600" dirty="0">
                <a:solidFill>
                  <a:srgbClr val="C00000"/>
                </a:solidFill>
              </a:rPr>
              <a:t>Hyper-V</a:t>
            </a:r>
          </a:p>
          <a:p>
            <a:pPr lvl="1" algn="just"/>
            <a:r>
              <a:rPr lang="zh-CN" altLang="en-US" sz="1400" dirty="0"/>
              <a:t>微软公司提供了完整的虚拟化技术方案，包括服务器虚拟化</a:t>
            </a:r>
            <a:r>
              <a:rPr lang="en-US" altLang="zh-CN" sz="1400" dirty="0"/>
              <a:t>(Server Virtualization)</a:t>
            </a:r>
            <a:r>
              <a:rPr lang="zh-CN" altLang="en-US" sz="1400" dirty="0"/>
              <a:t>、桌面虚拟化</a:t>
            </a:r>
            <a:r>
              <a:rPr lang="en-US" altLang="zh-CN" sz="1400" dirty="0"/>
              <a:t>(Desktop Virtualization)</a:t>
            </a:r>
            <a:r>
              <a:rPr lang="zh-CN" altLang="en-US" sz="1400" dirty="0"/>
              <a:t>、应用虚拟化</a:t>
            </a:r>
            <a:r>
              <a:rPr lang="en-US" altLang="zh-CN" sz="1400" dirty="0"/>
              <a:t>(Application Virtualization)</a:t>
            </a:r>
            <a:r>
              <a:rPr lang="zh-CN" altLang="en-US" sz="1400" dirty="0"/>
              <a:t>、和展示虚拟化</a:t>
            </a:r>
            <a:r>
              <a:rPr lang="en-US" altLang="zh-CN" sz="1400" dirty="0"/>
              <a:t>(Presentation Virtualization)</a:t>
            </a:r>
            <a:r>
              <a:rPr lang="zh-CN" altLang="en-US" sz="1400" dirty="0"/>
              <a:t>等技术</a:t>
            </a:r>
            <a:endParaRPr lang="en-US" altLang="zh-CN" sz="1400" dirty="0"/>
          </a:p>
          <a:p>
            <a:pPr lvl="1" algn="just"/>
            <a:r>
              <a:rPr lang="zh-CN" altLang="en-US" sz="1400" dirty="0"/>
              <a:t>涵盖桌面计算机、服务器、到数据中心等应用场景</a:t>
            </a:r>
            <a:endParaRPr lang="en-US" altLang="zh-CN" sz="1400" dirty="0"/>
          </a:p>
          <a:p>
            <a:pPr lvl="1" algn="just"/>
            <a:r>
              <a:rPr lang="en-US" altLang="zh-CN" sz="1400" dirty="0"/>
              <a:t>Hyper-V</a:t>
            </a:r>
            <a:r>
              <a:rPr lang="zh-CN" altLang="en-US" sz="1400" dirty="0"/>
              <a:t>是微软的一款服务器虚拟化产品</a:t>
            </a:r>
            <a:endParaRPr lang="en-US" altLang="zh-CN" sz="1400" dirty="0"/>
          </a:p>
          <a:p>
            <a:pPr lvl="2" algn="just"/>
            <a:r>
              <a:rPr lang="zh-CN" altLang="en-US" sz="1200" dirty="0"/>
              <a:t>使用</a:t>
            </a:r>
            <a:r>
              <a:rPr lang="en-US" altLang="zh-CN" sz="1200" dirty="0"/>
              <a:t>Hyper-V</a:t>
            </a:r>
            <a:r>
              <a:rPr lang="zh-CN" altLang="en-US" sz="1200" dirty="0"/>
              <a:t>，用户可以实现服务器虚拟化以及云计算平台</a:t>
            </a:r>
            <a:endParaRPr lang="zh-CN" altLang="en-US" sz="1000" dirty="0"/>
          </a:p>
        </p:txBody>
      </p:sp>
      <p:pic>
        <p:nvPicPr>
          <p:cNvPr id="6" name="图片 5">
            <a:extLst>
              <a:ext uri="{FF2B5EF4-FFF2-40B4-BE49-F238E27FC236}">
                <a16:creationId xmlns:a16="http://schemas.microsoft.com/office/drawing/2014/main" id="{03818EC4-0B01-42C6-8191-098B1FC17B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004" y="2632551"/>
            <a:ext cx="3925992" cy="2076512"/>
          </a:xfrm>
          <a:prstGeom prst="rect">
            <a:avLst/>
          </a:prstGeom>
        </p:spPr>
      </p:pic>
    </p:spTree>
    <p:extLst>
      <p:ext uri="{BB962C8B-B14F-4D97-AF65-F5344CB8AC3E}">
        <p14:creationId xmlns:p14="http://schemas.microsoft.com/office/powerpoint/2010/main" val="39304119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kumimoji="1" lang="zh-CN" altLang="en-US" dirty="0"/>
              <a:t>云计算</a:t>
            </a:r>
            <a:endParaRPr lang="zh-CN" altLang="en-US" dirty="0"/>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0" y="819150"/>
            <a:ext cx="8087575" cy="2983230"/>
          </a:xfrm>
        </p:spPr>
        <p:txBody>
          <a:bodyPr>
            <a:normAutofit fontScale="92500" lnSpcReduction="10000"/>
          </a:bodyPr>
          <a:lstStyle/>
          <a:p>
            <a:pPr algn="just">
              <a:lnSpc>
                <a:spcPct val="110000"/>
              </a:lnSpc>
            </a:pPr>
            <a:r>
              <a:rPr lang="en-US" altLang="zh-CN" sz="1900" dirty="0">
                <a:solidFill>
                  <a:srgbClr val="C00000"/>
                </a:solidFill>
              </a:rPr>
              <a:t>KVM</a:t>
            </a:r>
          </a:p>
          <a:p>
            <a:pPr lvl="1" algn="just">
              <a:lnSpc>
                <a:spcPct val="110000"/>
              </a:lnSpc>
            </a:pPr>
            <a:r>
              <a:rPr lang="en-US" altLang="zh-CN" sz="1600" dirty="0"/>
              <a:t>KVM(Kernel based Virtual Machine)</a:t>
            </a:r>
            <a:r>
              <a:rPr lang="zh-CN" altLang="en-US" sz="1600" dirty="0"/>
              <a:t>是一个开源的虚拟化软件，由</a:t>
            </a:r>
            <a:r>
              <a:rPr lang="en-US" altLang="zh-CN" sz="1600" dirty="0"/>
              <a:t>RedHat</a:t>
            </a:r>
            <a:r>
              <a:rPr lang="zh-CN" altLang="en-US" sz="1600" dirty="0"/>
              <a:t>公司开发</a:t>
            </a:r>
          </a:p>
          <a:p>
            <a:pPr lvl="1" algn="just">
              <a:lnSpc>
                <a:spcPct val="110000"/>
              </a:lnSpc>
            </a:pPr>
            <a:r>
              <a:rPr lang="en-US" altLang="zh-CN" sz="1600" dirty="0"/>
              <a:t>KVM</a:t>
            </a:r>
            <a:r>
              <a:rPr lang="zh-CN" altLang="en-US" sz="1600" dirty="0"/>
              <a:t>利用</a:t>
            </a:r>
            <a:r>
              <a:rPr lang="en-US" altLang="zh-CN" sz="1600" dirty="0"/>
              <a:t>CPU</a:t>
            </a:r>
            <a:r>
              <a:rPr lang="zh-CN" altLang="en-US" sz="1600" dirty="0"/>
              <a:t>的硬件辅助虚拟化技术</a:t>
            </a:r>
            <a:r>
              <a:rPr lang="en-US" altLang="zh-CN" sz="1600" dirty="0"/>
              <a:t>(</a:t>
            </a:r>
            <a:r>
              <a:rPr lang="zh-CN" altLang="en-US" sz="1600" dirty="0"/>
              <a:t>包括</a:t>
            </a:r>
            <a:r>
              <a:rPr lang="en-US" altLang="zh-CN" sz="1600" dirty="0"/>
              <a:t>Intel CPU</a:t>
            </a:r>
            <a:r>
              <a:rPr lang="zh-CN" altLang="en-US" sz="1600" dirty="0"/>
              <a:t>的</a:t>
            </a:r>
            <a:r>
              <a:rPr lang="en-US" altLang="zh-CN" sz="1600" dirty="0"/>
              <a:t>Intel-VT</a:t>
            </a:r>
            <a:r>
              <a:rPr lang="zh-CN" altLang="en-US" sz="1600" dirty="0"/>
              <a:t>技术，和</a:t>
            </a:r>
            <a:r>
              <a:rPr lang="en-US" altLang="zh-CN" sz="1600" dirty="0"/>
              <a:t>AMD CPU</a:t>
            </a:r>
            <a:r>
              <a:rPr lang="zh-CN" altLang="en-US" sz="1600" dirty="0"/>
              <a:t>的</a:t>
            </a:r>
            <a:r>
              <a:rPr lang="en-US" altLang="zh-CN" sz="1600" dirty="0"/>
              <a:t>AMD-V</a:t>
            </a:r>
            <a:r>
              <a:rPr lang="zh-CN" altLang="en-US" sz="1600" dirty="0"/>
              <a:t>技术</a:t>
            </a:r>
            <a:r>
              <a:rPr lang="en-US" altLang="zh-CN" sz="1600" dirty="0"/>
              <a:t>)</a:t>
            </a:r>
            <a:r>
              <a:rPr lang="zh-CN" altLang="en-US" sz="1600" dirty="0"/>
              <a:t>实现自身的运行，对上层的虚拟机提供硬件的虚拟化功能</a:t>
            </a:r>
            <a:endParaRPr lang="en-US" altLang="zh-CN" sz="1600" dirty="0"/>
          </a:p>
          <a:p>
            <a:pPr lvl="2" algn="just">
              <a:lnSpc>
                <a:spcPct val="110000"/>
              </a:lnSpc>
            </a:pPr>
            <a:r>
              <a:rPr lang="en-US" altLang="zh-CN" sz="1400" dirty="0"/>
              <a:t>KVM</a:t>
            </a:r>
            <a:r>
              <a:rPr lang="zh-CN" altLang="en-US" sz="1400" dirty="0"/>
              <a:t>包含一个内核模块</a:t>
            </a:r>
            <a:r>
              <a:rPr lang="en-US" altLang="zh-CN" sz="1400" dirty="0" err="1"/>
              <a:t>kvm.ko</a:t>
            </a:r>
            <a:r>
              <a:rPr lang="zh-CN" altLang="en-US" sz="1400" dirty="0"/>
              <a:t>，提供虚拟化的核心功能，以及针对不同处理器的模块，</a:t>
            </a:r>
            <a:r>
              <a:rPr lang="en-US" altLang="zh-CN" sz="1400" dirty="0" err="1"/>
              <a:t>kvm-intel.ko</a:t>
            </a:r>
            <a:r>
              <a:rPr lang="en-US" altLang="zh-CN" sz="1400" dirty="0"/>
              <a:t> (</a:t>
            </a:r>
            <a:r>
              <a:rPr lang="zh-CN" altLang="en-US" sz="1400" dirty="0"/>
              <a:t>针对</a:t>
            </a:r>
            <a:r>
              <a:rPr lang="en-US" altLang="zh-CN" sz="1400" dirty="0"/>
              <a:t>Intel CPU)</a:t>
            </a:r>
            <a:r>
              <a:rPr lang="zh-CN" altLang="en-US" sz="1400" dirty="0"/>
              <a:t>和</a:t>
            </a:r>
            <a:r>
              <a:rPr lang="en-US" altLang="zh-CN" sz="1400" dirty="0" err="1"/>
              <a:t>kvm-amd.ko</a:t>
            </a:r>
            <a:r>
              <a:rPr lang="en-US" altLang="zh-CN" sz="1400" dirty="0"/>
              <a:t>(</a:t>
            </a:r>
            <a:r>
              <a:rPr lang="zh-CN" altLang="en-US" sz="1400" dirty="0"/>
              <a:t>针对</a:t>
            </a:r>
            <a:r>
              <a:rPr lang="en-US" altLang="zh-CN" sz="1400" dirty="0"/>
              <a:t>AMD CPU)</a:t>
            </a:r>
            <a:endParaRPr lang="zh-CN" altLang="en-US" sz="1400" dirty="0"/>
          </a:p>
          <a:p>
            <a:pPr lvl="1" algn="just">
              <a:lnSpc>
                <a:spcPct val="110000"/>
              </a:lnSpc>
            </a:pPr>
            <a:r>
              <a:rPr lang="zh-CN" altLang="en-US" sz="1600" dirty="0"/>
              <a:t>每个虚拟机都拥有自己私有的虚拟硬件，包括</a:t>
            </a:r>
            <a:r>
              <a:rPr lang="en-US" altLang="zh-CN" sz="1600" dirty="0"/>
              <a:t>CPU</a:t>
            </a:r>
            <a:r>
              <a:rPr lang="zh-CN" altLang="en-US" sz="1600" dirty="0"/>
              <a:t>、内存以及各种</a:t>
            </a:r>
            <a:r>
              <a:rPr lang="en-US" altLang="zh-CN" sz="1600" dirty="0"/>
              <a:t>I/O</a:t>
            </a:r>
            <a:r>
              <a:rPr lang="zh-CN" altLang="en-US" sz="1600" dirty="0"/>
              <a:t>设备，如网卡、显示卡和磁盘等</a:t>
            </a:r>
            <a:endParaRPr lang="en-US" altLang="zh-CN" sz="1600" dirty="0"/>
          </a:p>
          <a:p>
            <a:pPr lvl="2" algn="just">
              <a:lnSpc>
                <a:spcPct val="110000"/>
              </a:lnSpc>
            </a:pPr>
            <a:r>
              <a:rPr lang="en-US" altLang="zh-CN" sz="1400" dirty="0"/>
              <a:t>KVM</a:t>
            </a:r>
            <a:r>
              <a:rPr lang="zh-CN" altLang="en-US" sz="1400" dirty="0"/>
              <a:t>通过在内核里装载一个模块</a:t>
            </a:r>
            <a:r>
              <a:rPr lang="en-US" altLang="zh-CN" sz="1400" dirty="0"/>
              <a:t>(Kernel Module)</a:t>
            </a:r>
            <a:r>
              <a:rPr lang="zh-CN" altLang="en-US" sz="1400" dirty="0"/>
              <a:t>，提供了硬件仿真层，在此之上建立和运行虚拟机</a:t>
            </a:r>
            <a:endParaRPr lang="en-US" altLang="zh-CN" sz="1400" dirty="0"/>
          </a:p>
          <a:p>
            <a:pPr lvl="2" algn="just">
              <a:lnSpc>
                <a:spcPct val="110000"/>
              </a:lnSpc>
            </a:pPr>
            <a:r>
              <a:rPr lang="en-US" altLang="zh-CN" sz="1400" dirty="0"/>
              <a:t>KVM</a:t>
            </a:r>
            <a:r>
              <a:rPr lang="zh-CN" altLang="en-US" sz="1400" dirty="0"/>
              <a:t>也可以在没有硬件辅助虚拟化技术的</a:t>
            </a:r>
            <a:r>
              <a:rPr lang="en-US" altLang="zh-CN" sz="1400" dirty="0"/>
              <a:t>CPU</a:t>
            </a:r>
            <a:r>
              <a:rPr lang="zh-CN" altLang="en-US" sz="1400" dirty="0"/>
              <a:t>上运行，使用</a:t>
            </a:r>
            <a:r>
              <a:rPr lang="en-US" altLang="zh-CN" sz="1400" dirty="0"/>
              <a:t>QEMU</a:t>
            </a:r>
            <a:r>
              <a:rPr lang="zh-CN" altLang="en-US" sz="1400" dirty="0"/>
              <a:t>软件，实现纯软件仿真，但是虚拟机性能会受到很大影响</a:t>
            </a:r>
          </a:p>
        </p:txBody>
      </p:sp>
      <p:pic>
        <p:nvPicPr>
          <p:cNvPr id="5" name="图片 4">
            <a:extLst>
              <a:ext uri="{FF2B5EF4-FFF2-40B4-BE49-F238E27FC236}">
                <a16:creationId xmlns:a16="http://schemas.microsoft.com/office/drawing/2014/main" id="{CBE08034-08CA-4563-9A84-F6CE37C685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5490" y="3580006"/>
            <a:ext cx="2864700" cy="1306303"/>
          </a:xfrm>
          <a:prstGeom prst="rect">
            <a:avLst/>
          </a:prstGeom>
        </p:spPr>
      </p:pic>
    </p:spTree>
    <p:extLst>
      <p:ext uri="{BB962C8B-B14F-4D97-AF65-F5344CB8AC3E}">
        <p14:creationId xmlns:p14="http://schemas.microsoft.com/office/powerpoint/2010/main" val="3556897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云计算</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0" y="819149"/>
            <a:ext cx="5455919" cy="3978533"/>
          </a:xfrm>
        </p:spPr>
        <p:txBody>
          <a:bodyPr>
            <a:normAutofit/>
          </a:bodyPr>
          <a:lstStyle/>
          <a:p>
            <a:pPr algn="just"/>
            <a:r>
              <a:rPr lang="en-US" altLang="zh-CN" sz="1800" dirty="0">
                <a:solidFill>
                  <a:srgbClr val="C00000"/>
                </a:solidFill>
              </a:rPr>
              <a:t>XEN</a:t>
            </a:r>
          </a:p>
          <a:p>
            <a:pPr lvl="1" algn="just"/>
            <a:r>
              <a:rPr lang="en-US" altLang="zh-CN" sz="1600" dirty="0"/>
              <a:t>Xen</a:t>
            </a:r>
            <a:r>
              <a:rPr lang="zh-CN" altLang="en-US" sz="1600" dirty="0"/>
              <a:t>是一个开源的虚拟化技术软件</a:t>
            </a:r>
            <a:endParaRPr lang="en-US" altLang="zh-CN" sz="1600" dirty="0"/>
          </a:p>
          <a:p>
            <a:pPr lvl="2" algn="just"/>
            <a:r>
              <a:rPr lang="en-US" altLang="zh-CN" sz="1400" dirty="0" err="1"/>
              <a:t>Xen</a:t>
            </a:r>
            <a:r>
              <a:rPr lang="zh-CN" altLang="en-US" sz="1400" dirty="0"/>
              <a:t>具有层次性的结构，具有最高权限的域，称为</a:t>
            </a:r>
            <a:r>
              <a:rPr lang="en-US" altLang="zh-CN" sz="1400" dirty="0"/>
              <a:t>0</a:t>
            </a:r>
            <a:r>
              <a:rPr lang="zh-CN" altLang="en-US" sz="1400" dirty="0"/>
              <a:t>域</a:t>
            </a:r>
            <a:r>
              <a:rPr lang="en-US" altLang="zh-CN" sz="1400" dirty="0"/>
              <a:t>(Domain0</a:t>
            </a:r>
            <a:r>
              <a:rPr lang="zh-CN" altLang="en-US" sz="1400" dirty="0"/>
              <a:t>，简称</a:t>
            </a:r>
            <a:r>
              <a:rPr lang="en-US" altLang="zh-CN" sz="1400" dirty="0"/>
              <a:t>dom0)</a:t>
            </a:r>
            <a:r>
              <a:rPr lang="zh-CN" altLang="en-US" sz="1400" dirty="0"/>
              <a:t>就是</a:t>
            </a:r>
            <a:r>
              <a:rPr lang="en-US" altLang="zh-CN" sz="1400" dirty="0"/>
              <a:t>VMM</a:t>
            </a:r>
            <a:r>
              <a:rPr lang="zh-CN" altLang="en-US" sz="1400" dirty="0"/>
              <a:t>本身</a:t>
            </a:r>
            <a:r>
              <a:rPr lang="en-US" altLang="zh-CN" sz="1400" dirty="0"/>
              <a:t>(Hypervisor)</a:t>
            </a:r>
            <a:r>
              <a:rPr lang="zh-CN" altLang="en-US" sz="1400" dirty="0"/>
              <a:t>，虚拟机和客户操作系统基于这个域建立，称为用户域</a:t>
            </a:r>
            <a:r>
              <a:rPr lang="en-US" altLang="zh-CN" sz="1400" dirty="0"/>
              <a:t>(</a:t>
            </a:r>
            <a:r>
              <a:rPr lang="en-US" altLang="zh-CN" sz="1400" dirty="0" err="1"/>
              <a:t>DomainU</a:t>
            </a:r>
            <a:r>
              <a:rPr lang="zh-CN" altLang="en-US" sz="1400" dirty="0"/>
              <a:t>，简称</a:t>
            </a:r>
            <a:r>
              <a:rPr lang="en-US" altLang="zh-CN" sz="1400" dirty="0" err="1"/>
              <a:t>domU</a:t>
            </a:r>
            <a:r>
              <a:rPr lang="en-US" altLang="zh-CN" sz="1400" dirty="0"/>
              <a:t>)</a:t>
            </a:r>
          </a:p>
          <a:p>
            <a:pPr lvl="1" algn="just"/>
            <a:r>
              <a:rPr lang="en-US" altLang="zh-CN" sz="1600" dirty="0"/>
              <a:t>Xen</a:t>
            </a:r>
            <a:r>
              <a:rPr lang="zh-CN" altLang="en-US" sz="1600" dirty="0"/>
              <a:t>可以以两种模式来运行，</a:t>
            </a:r>
            <a:r>
              <a:rPr lang="zh-CN" altLang="en-US" sz="1600" dirty="0">
                <a:solidFill>
                  <a:srgbClr val="C00000"/>
                </a:solidFill>
              </a:rPr>
              <a:t>半虚拟化模式</a:t>
            </a:r>
            <a:r>
              <a:rPr lang="zh-CN" altLang="en-US" sz="1600" dirty="0"/>
              <a:t>和</a:t>
            </a:r>
            <a:r>
              <a:rPr lang="zh-CN" altLang="en-US" sz="1600" dirty="0">
                <a:solidFill>
                  <a:srgbClr val="C00000"/>
                </a:solidFill>
              </a:rPr>
              <a:t>全虚拟化模式</a:t>
            </a:r>
            <a:endParaRPr lang="en-US" altLang="zh-CN" sz="1600" dirty="0">
              <a:solidFill>
                <a:srgbClr val="C00000"/>
              </a:solidFill>
            </a:endParaRPr>
          </a:p>
          <a:p>
            <a:pPr lvl="2" algn="just"/>
            <a:r>
              <a:rPr lang="zh-CN" altLang="en-US" sz="1400" dirty="0"/>
              <a:t>半虚拟化</a:t>
            </a:r>
            <a:r>
              <a:rPr lang="en-US" altLang="zh-CN" sz="1400" dirty="0"/>
              <a:t>(Para virtualization</a:t>
            </a:r>
            <a:r>
              <a:rPr lang="zh-CN" altLang="en-US" sz="1400" dirty="0"/>
              <a:t>，也称为操作系统协助的虚拟化</a:t>
            </a:r>
            <a:r>
              <a:rPr lang="en-US" altLang="zh-CN" sz="1400" dirty="0"/>
              <a:t>OS-Assisted-Virtualization)</a:t>
            </a:r>
            <a:r>
              <a:rPr lang="zh-CN" altLang="en-US" sz="1400" dirty="0"/>
              <a:t>模式，允许客户操作系统不必调用处理器的特别指令而运行</a:t>
            </a:r>
            <a:endParaRPr lang="en-US" altLang="zh-CN" sz="1400" dirty="0"/>
          </a:p>
          <a:p>
            <a:pPr lvl="2" algn="just"/>
            <a:r>
              <a:rPr lang="zh-CN" altLang="en-US" sz="1400" dirty="0"/>
              <a:t>全虚拟化</a:t>
            </a:r>
            <a:r>
              <a:rPr lang="en-US" altLang="zh-CN" sz="1400" dirty="0"/>
              <a:t>Full Virtualization (</a:t>
            </a:r>
            <a:r>
              <a:rPr lang="zh-CN" altLang="en-US" sz="1400" dirty="0"/>
              <a:t>也称为硬件协助的虚拟化</a:t>
            </a:r>
            <a:r>
              <a:rPr lang="en-US" altLang="zh-CN" sz="1400" dirty="0"/>
              <a:t>Hardware Assisted Virtual Machine</a:t>
            </a:r>
            <a:r>
              <a:rPr lang="zh-CN" altLang="en-US" sz="1400" dirty="0"/>
              <a:t>，</a:t>
            </a:r>
            <a:r>
              <a:rPr lang="en-US" altLang="zh-CN" sz="1400" dirty="0"/>
              <a:t>HVM)</a:t>
            </a:r>
            <a:r>
              <a:rPr lang="zh-CN" altLang="en-US" sz="1400" dirty="0"/>
              <a:t>模式，则需要处理器的硬件辅助虚拟化技术支持，比如</a:t>
            </a:r>
            <a:r>
              <a:rPr lang="en-US" altLang="zh-CN" sz="1400" dirty="0"/>
              <a:t>Intel</a:t>
            </a:r>
            <a:r>
              <a:rPr lang="zh-CN" altLang="en-US" sz="1400" dirty="0"/>
              <a:t>的</a:t>
            </a:r>
            <a:r>
              <a:rPr lang="en-US" altLang="zh-CN" sz="1400" dirty="0"/>
              <a:t>Intel-VT</a:t>
            </a:r>
            <a:r>
              <a:rPr lang="zh-CN" altLang="en-US" sz="1400" dirty="0"/>
              <a:t>技术和</a:t>
            </a:r>
            <a:r>
              <a:rPr lang="en-US" altLang="zh-CN" sz="1400" dirty="0"/>
              <a:t>AMD</a:t>
            </a:r>
            <a:r>
              <a:rPr lang="zh-CN" altLang="en-US" sz="1400" dirty="0"/>
              <a:t>的</a:t>
            </a:r>
            <a:r>
              <a:rPr lang="en-US" altLang="zh-CN" sz="1400" dirty="0"/>
              <a:t>AMD-V</a:t>
            </a:r>
            <a:r>
              <a:rPr lang="zh-CN" altLang="en-US" sz="1400" dirty="0"/>
              <a:t>技术，这种模式可以获得更好的性能，以及提供附加的功能</a:t>
            </a:r>
          </a:p>
        </p:txBody>
      </p:sp>
      <p:pic>
        <p:nvPicPr>
          <p:cNvPr id="6" name="图片 5">
            <a:extLst>
              <a:ext uri="{FF2B5EF4-FFF2-40B4-BE49-F238E27FC236}">
                <a16:creationId xmlns:a16="http://schemas.microsoft.com/office/drawing/2014/main" id="{B3E62466-640E-48F2-83FF-194FE446D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8555" y="1281970"/>
            <a:ext cx="2643843" cy="3052890"/>
          </a:xfrm>
          <a:prstGeom prst="rect">
            <a:avLst/>
          </a:prstGeom>
        </p:spPr>
      </p:pic>
    </p:spTree>
    <p:extLst>
      <p:ext uri="{BB962C8B-B14F-4D97-AF65-F5344CB8AC3E}">
        <p14:creationId xmlns:p14="http://schemas.microsoft.com/office/powerpoint/2010/main" val="370906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云计算</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0" y="819149"/>
            <a:ext cx="4914899" cy="3978533"/>
          </a:xfrm>
        </p:spPr>
        <p:txBody>
          <a:bodyPr>
            <a:normAutofit fontScale="92500" lnSpcReduction="10000"/>
          </a:bodyPr>
          <a:lstStyle/>
          <a:p>
            <a:pPr algn="just">
              <a:lnSpc>
                <a:spcPct val="110000"/>
              </a:lnSpc>
            </a:pPr>
            <a:r>
              <a:rPr lang="en-US" altLang="zh-CN" sz="1800" dirty="0">
                <a:solidFill>
                  <a:srgbClr val="C00000"/>
                </a:solidFill>
              </a:rPr>
              <a:t>Open stack</a:t>
            </a:r>
          </a:p>
          <a:p>
            <a:pPr lvl="1" algn="just">
              <a:lnSpc>
                <a:spcPct val="110000"/>
              </a:lnSpc>
            </a:pPr>
            <a:r>
              <a:rPr lang="zh-CN" altLang="en-US" sz="1600" dirty="0"/>
              <a:t>是一款开源的虚拟化平台软件</a:t>
            </a:r>
            <a:r>
              <a:rPr lang="en-US" altLang="zh-CN" sz="1600" dirty="0"/>
              <a:t>(</a:t>
            </a:r>
            <a:r>
              <a:rPr lang="zh-CN" altLang="en-US" sz="1600" dirty="0"/>
              <a:t>或者称为云操作系统</a:t>
            </a:r>
            <a:r>
              <a:rPr lang="en-US" altLang="zh-CN" sz="1600" dirty="0"/>
              <a:t>Cloud Operating System)</a:t>
            </a:r>
          </a:p>
          <a:p>
            <a:pPr lvl="1" algn="just">
              <a:lnSpc>
                <a:spcPct val="110000"/>
              </a:lnSpc>
            </a:pPr>
            <a:r>
              <a:rPr lang="zh-CN" altLang="en-US" sz="1600" dirty="0"/>
              <a:t>最初由</a:t>
            </a:r>
            <a:r>
              <a:rPr lang="en-US" altLang="zh-CN" sz="1600" dirty="0"/>
              <a:t>NASA</a:t>
            </a:r>
            <a:r>
              <a:rPr lang="zh-CN" altLang="en-US" sz="1600" dirty="0"/>
              <a:t>和</a:t>
            </a:r>
            <a:r>
              <a:rPr lang="en-US" altLang="zh-CN" sz="1600" dirty="0"/>
              <a:t>Rackspace</a:t>
            </a:r>
            <a:r>
              <a:rPr lang="zh-CN" altLang="en-US" sz="1600" dirty="0"/>
              <a:t>开发，第一版于</a:t>
            </a:r>
            <a:r>
              <a:rPr lang="en-US" altLang="zh-CN" sz="1600" dirty="0"/>
              <a:t>2010</a:t>
            </a:r>
            <a:r>
              <a:rPr lang="zh-CN" altLang="en-US" sz="1600" dirty="0"/>
              <a:t>年发布</a:t>
            </a:r>
            <a:endParaRPr lang="en-US" altLang="zh-CN" sz="1600" dirty="0"/>
          </a:p>
          <a:p>
            <a:pPr lvl="1" algn="just">
              <a:lnSpc>
                <a:spcPct val="110000"/>
              </a:lnSpc>
            </a:pPr>
            <a:r>
              <a:rPr lang="zh-CN" altLang="en-US" sz="1500" dirty="0"/>
              <a:t>现在</a:t>
            </a:r>
            <a:r>
              <a:rPr lang="en-US" altLang="zh-CN" sz="1500" dirty="0"/>
              <a:t>Openstack</a:t>
            </a:r>
            <a:r>
              <a:rPr lang="zh-CN" altLang="en-US" sz="1500" dirty="0"/>
              <a:t>社区有超过</a:t>
            </a:r>
            <a:r>
              <a:rPr lang="en-US" altLang="zh-CN" sz="1500" dirty="0"/>
              <a:t>9000</a:t>
            </a:r>
            <a:r>
              <a:rPr lang="zh-CN" altLang="en-US" sz="1500" dirty="0"/>
              <a:t>位个人贡献者，</a:t>
            </a:r>
            <a:r>
              <a:rPr lang="en-US" altLang="zh-CN" sz="1500" dirty="0"/>
              <a:t>Red Hat</a:t>
            </a:r>
            <a:r>
              <a:rPr lang="zh-CN" altLang="en-US" sz="1500" dirty="0"/>
              <a:t>、</a:t>
            </a:r>
            <a:r>
              <a:rPr lang="en-US" altLang="zh-CN" sz="1500" dirty="0"/>
              <a:t>Canonical</a:t>
            </a:r>
            <a:r>
              <a:rPr lang="zh-CN" altLang="en-US" sz="1500" dirty="0"/>
              <a:t>、</a:t>
            </a:r>
            <a:r>
              <a:rPr lang="en-US" altLang="zh-CN" sz="1500" dirty="0"/>
              <a:t>IBM</a:t>
            </a:r>
            <a:r>
              <a:rPr lang="zh-CN" altLang="en-US" sz="1500" dirty="0"/>
              <a:t>、</a:t>
            </a:r>
            <a:r>
              <a:rPr lang="en-US" altLang="zh-CN" sz="1500" dirty="0"/>
              <a:t>AT&amp;T</a:t>
            </a:r>
            <a:r>
              <a:rPr lang="zh-CN" altLang="en-US" sz="1500" dirty="0"/>
              <a:t>、</a:t>
            </a:r>
            <a:r>
              <a:rPr lang="en-US" altLang="zh-CN" sz="1500" dirty="0"/>
              <a:t>Cisco</a:t>
            </a:r>
            <a:r>
              <a:rPr lang="zh-CN" altLang="en-US" sz="1500" dirty="0"/>
              <a:t>、</a:t>
            </a:r>
            <a:r>
              <a:rPr lang="en-US" altLang="zh-CN" sz="1500" dirty="0"/>
              <a:t>Intel</a:t>
            </a:r>
            <a:r>
              <a:rPr lang="zh-CN" altLang="en-US" sz="1500" dirty="0"/>
              <a:t>、 </a:t>
            </a:r>
            <a:r>
              <a:rPr lang="en-US" altLang="zh-CN" sz="1500" dirty="0"/>
              <a:t>PayPal</a:t>
            </a:r>
            <a:r>
              <a:rPr lang="zh-CN" altLang="en-US" sz="1500" dirty="0"/>
              <a:t>、</a:t>
            </a:r>
            <a:r>
              <a:rPr lang="en-US" altLang="zh-CN" sz="1500" dirty="0"/>
              <a:t>Comcast</a:t>
            </a:r>
            <a:r>
              <a:rPr lang="zh-CN" altLang="en-US" sz="1500" dirty="0"/>
              <a:t>等公司也积极投入到</a:t>
            </a:r>
            <a:r>
              <a:rPr lang="en-US" altLang="zh-CN" sz="1500" dirty="0"/>
              <a:t>Openstack</a:t>
            </a:r>
            <a:r>
              <a:rPr lang="zh-CN" altLang="en-US" sz="1500" dirty="0"/>
              <a:t>的开发和应用中</a:t>
            </a:r>
            <a:endParaRPr lang="en-US" altLang="zh-CN" sz="1500" dirty="0"/>
          </a:p>
          <a:p>
            <a:pPr lvl="1" algn="just">
              <a:lnSpc>
                <a:spcPct val="110000"/>
              </a:lnSpc>
            </a:pPr>
            <a:r>
              <a:rPr lang="zh-CN" altLang="en-US" sz="1500" dirty="0"/>
              <a:t>简而言之，我们可以把</a:t>
            </a:r>
            <a:r>
              <a:rPr lang="en-US" altLang="zh-CN" sz="1500" dirty="0"/>
              <a:t>Openstack</a:t>
            </a:r>
            <a:r>
              <a:rPr lang="zh-CN" altLang="en-US" sz="1500" dirty="0"/>
              <a:t>看作一款可以管理类似于</a:t>
            </a:r>
            <a:r>
              <a:rPr lang="en-US" altLang="zh-CN" sz="1500" dirty="0"/>
              <a:t>Amazon Web Service</a:t>
            </a:r>
            <a:r>
              <a:rPr lang="zh-CN" altLang="en-US" sz="1500" dirty="0"/>
              <a:t>这样的</a:t>
            </a:r>
            <a:r>
              <a:rPr lang="en-US" altLang="zh-CN" sz="1500" dirty="0"/>
              <a:t>IaaS</a:t>
            </a:r>
            <a:r>
              <a:rPr lang="zh-CN" altLang="en-US" sz="1500" dirty="0"/>
              <a:t>云计算平台的软件系统</a:t>
            </a:r>
            <a:endParaRPr lang="en-US" altLang="zh-CN" sz="1500" dirty="0"/>
          </a:p>
          <a:p>
            <a:pPr lvl="1" algn="just">
              <a:lnSpc>
                <a:spcPct val="110000"/>
              </a:lnSpc>
            </a:pPr>
            <a:r>
              <a:rPr lang="zh-CN" altLang="zh-CN" sz="1500" dirty="0"/>
              <a:t>基于</a:t>
            </a:r>
            <a:r>
              <a:rPr lang="en-US" altLang="zh-CN" sz="1500" dirty="0"/>
              <a:t>Openstack</a:t>
            </a:r>
            <a:r>
              <a:rPr lang="zh-CN" altLang="zh-CN" sz="1500" dirty="0"/>
              <a:t>，用户可以建立</a:t>
            </a:r>
            <a:r>
              <a:rPr lang="zh-CN" altLang="zh-CN" sz="1500" dirty="0">
                <a:solidFill>
                  <a:srgbClr val="C00000"/>
                </a:solidFill>
              </a:rPr>
              <a:t>私有云计算平台</a:t>
            </a:r>
            <a:r>
              <a:rPr lang="en-US" altLang="zh-CN" sz="1500" dirty="0"/>
              <a:t>(Private Cloud)</a:t>
            </a:r>
            <a:r>
              <a:rPr lang="zh-CN" altLang="zh-CN" sz="1500" dirty="0"/>
              <a:t>；此外，很多</a:t>
            </a:r>
            <a:r>
              <a:rPr lang="zh-CN" altLang="zh-CN" sz="1500" dirty="0">
                <a:solidFill>
                  <a:srgbClr val="C00000"/>
                </a:solidFill>
              </a:rPr>
              <a:t>公有云</a:t>
            </a:r>
            <a:r>
              <a:rPr lang="en-US" altLang="zh-CN" sz="1500" dirty="0">
                <a:solidFill>
                  <a:srgbClr val="C00000"/>
                </a:solidFill>
              </a:rPr>
              <a:t>(</a:t>
            </a:r>
            <a:r>
              <a:rPr lang="en-US" altLang="zh-CN" sz="1500" dirty="0"/>
              <a:t>Public Cloud</a:t>
            </a:r>
            <a:r>
              <a:rPr lang="zh-CN" altLang="zh-CN" sz="1500" dirty="0"/>
              <a:t>，比如</a:t>
            </a:r>
            <a:r>
              <a:rPr lang="en-US" altLang="zh-CN" sz="1500" dirty="0"/>
              <a:t>Rackspace Cloud)</a:t>
            </a:r>
            <a:r>
              <a:rPr lang="zh-CN" altLang="zh-CN" sz="1500" dirty="0"/>
              <a:t>也基于</a:t>
            </a:r>
            <a:r>
              <a:rPr lang="en-US" altLang="zh-CN" sz="1500" dirty="0"/>
              <a:t>Openstack</a:t>
            </a:r>
            <a:r>
              <a:rPr lang="zh-CN" altLang="zh-CN" sz="1500" dirty="0"/>
              <a:t>创建和管理</a:t>
            </a:r>
            <a:endParaRPr lang="zh-CN" altLang="en-US" sz="1500" dirty="0"/>
          </a:p>
        </p:txBody>
      </p:sp>
      <p:pic>
        <p:nvPicPr>
          <p:cNvPr id="5" name="图片 4">
            <a:extLst>
              <a:ext uri="{FF2B5EF4-FFF2-40B4-BE49-F238E27FC236}">
                <a16:creationId xmlns:a16="http://schemas.microsoft.com/office/drawing/2014/main" id="{D82C1D73-48AB-4DE4-89F2-6BBAD0626C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3772" y="1600199"/>
            <a:ext cx="3043028" cy="2282271"/>
          </a:xfrm>
          <a:prstGeom prst="rect">
            <a:avLst/>
          </a:prstGeom>
        </p:spPr>
      </p:pic>
    </p:spTree>
    <p:extLst>
      <p:ext uri="{BB962C8B-B14F-4D97-AF65-F5344CB8AC3E}">
        <p14:creationId xmlns:p14="http://schemas.microsoft.com/office/powerpoint/2010/main" val="1677006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云计算</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4991099" cy="3978533"/>
          </a:xfrm>
        </p:spPr>
        <p:txBody>
          <a:bodyPr>
            <a:normAutofit fontScale="92500" lnSpcReduction="20000"/>
          </a:bodyPr>
          <a:lstStyle/>
          <a:p>
            <a:pPr algn="just">
              <a:lnSpc>
                <a:spcPct val="110000"/>
              </a:lnSpc>
            </a:pPr>
            <a:r>
              <a:rPr lang="en-US" altLang="zh-CN" sz="1600" dirty="0">
                <a:solidFill>
                  <a:srgbClr val="C00000"/>
                </a:solidFill>
              </a:rPr>
              <a:t>Openstack</a:t>
            </a:r>
            <a:r>
              <a:rPr lang="zh-CN" altLang="zh-CN" sz="1600" dirty="0"/>
              <a:t>的核心组件包括</a:t>
            </a:r>
            <a:r>
              <a:rPr lang="en-US" altLang="zh-CN" sz="1600" dirty="0"/>
              <a:t>OpenStack Compute</a:t>
            </a:r>
            <a:r>
              <a:rPr lang="zh-CN" altLang="zh-CN" sz="1600" dirty="0"/>
              <a:t>、</a:t>
            </a:r>
            <a:r>
              <a:rPr lang="en-US" altLang="zh-CN" sz="1600" dirty="0"/>
              <a:t>OpenStack Glance</a:t>
            </a:r>
            <a:r>
              <a:rPr lang="zh-CN" altLang="zh-CN" sz="1600" dirty="0"/>
              <a:t>、</a:t>
            </a:r>
            <a:r>
              <a:rPr lang="en-US" altLang="zh-CN" sz="1600" dirty="0"/>
              <a:t>OpenStack Identity Service</a:t>
            </a:r>
            <a:r>
              <a:rPr lang="zh-CN" altLang="zh-CN" sz="1600" dirty="0"/>
              <a:t>、</a:t>
            </a:r>
            <a:r>
              <a:rPr lang="en-US" altLang="zh-CN" sz="1600" dirty="0"/>
              <a:t>OpenStack Object Store</a:t>
            </a:r>
            <a:r>
              <a:rPr lang="zh-CN" altLang="zh-CN" sz="1600" dirty="0"/>
              <a:t>等</a:t>
            </a:r>
            <a:endParaRPr lang="en-US" altLang="zh-CN" sz="1600" dirty="0"/>
          </a:p>
          <a:p>
            <a:pPr lvl="1" algn="just">
              <a:lnSpc>
                <a:spcPct val="110000"/>
              </a:lnSpc>
            </a:pPr>
            <a:r>
              <a:rPr lang="en-US" altLang="zh-CN" sz="1400" dirty="0"/>
              <a:t>OpenStack Dashboard(Horizon)</a:t>
            </a:r>
          </a:p>
          <a:p>
            <a:pPr lvl="2" algn="just">
              <a:lnSpc>
                <a:spcPct val="110000"/>
              </a:lnSpc>
            </a:pPr>
            <a:r>
              <a:rPr lang="zh-CN" altLang="en-US" sz="1200" dirty="0"/>
              <a:t>这是</a:t>
            </a:r>
            <a:r>
              <a:rPr lang="en-US" altLang="zh-CN" sz="1200" dirty="0"/>
              <a:t>Openstack</a:t>
            </a:r>
            <a:r>
              <a:rPr lang="zh-CN" altLang="en-US" sz="1200" dirty="0"/>
              <a:t>的</a:t>
            </a:r>
            <a:r>
              <a:rPr lang="en-US" altLang="zh-CN" sz="1200" dirty="0">
                <a:solidFill>
                  <a:srgbClr val="C00000"/>
                </a:solidFill>
              </a:rPr>
              <a:t>Web</a:t>
            </a:r>
            <a:r>
              <a:rPr lang="zh-CN" altLang="en-US" sz="1200" dirty="0">
                <a:solidFill>
                  <a:srgbClr val="C00000"/>
                </a:solidFill>
              </a:rPr>
              <a:t>用户管理界面</a:t>
            </a:r>
          </a:p>
          <a:p>
            <a:pPr lvl="1" algn="just">
              <a:lnSpc>
                <a:spcPct val="110000"/>
              </a:lnSpc>
            </a:pPr>
            <a:r>
              <a:rPr lang="en-US" altLang="zh-CN" sz="1400" dirty="0"/>
              <a:t>Openstack Compute(Nova)</a:t>
            </a:r>
          </a:p>
          <a:p>
            <a:pPr lvl="2" algn="just">
              <a:lnSpc>
                <a:spcPct val="110000"/>
              </a:lnSpc>
            </a:pPr>
            <a:r>
              <a:rPr lang="en-US" altLang="zh-CN" sz="1200" dirty="0"/>
              <a:t>Nova</a:t>
            </a:r>
            <a:r>
              <a:rPr lang="zh-CN" altLang="en-US" sz="1200" dirty="0"/>
              <a:t>是</a:t>
            </a:r>
            <a:r>
              <a:rPr lang="zh-CN" altLang="en-US" sz="1200" dirty="0">
                <a:solidFill>
                  <a:srgbClr val="C00000"/>
                </a:solidFill>
              </a:rPr>
              <a:t>虚拟机</a:t>
            </a:r>
            <a:r>
              <a:rPr lang="zh-CN" altLang="en-US" sz="1200" dirty="0"/>
              <a:t>创建和管理模块</a:t>
            </a:r>
          </a:p>
          <a:p>
            <a:pPr lvl="1" algn="just">
              <a:lnSpc>
                <a:spcPct val="110000"/>
              </a:lnSpc>
            </a:pPr>
            <a:r>
              <a:rPr lang="en-US" altLang="zh-CN" sz="1400" dirty="0"/>
              <a:t>Openstack Image Management(Glance)</a:t>
            </a:r>
          </a:p>
          <a:p>
            <a:pPr lvl="2" algn="just">
              <a:lnSpc>
                <a:spcPct val="110000"/>
              </a:lnSpc>
            </a:pPr>
            <a:r>
              <a:rPr lang="en-US" altLang="zh-CN" sz="1200" dirty="0"/>
              <a:t>Glance</a:t>
            </a:r>
            <a:r>
              <a:rPr lang="zh-CN" altLang="en-US" sz="1200" dirty="0"/>
              <a:t>是</a:t>
            </a:r>
            <a:r>
              <a:rPr lang="en-US" altLang="zh-CN" sz="1200" dirty="0"/>
              <a:t>Openstack</a:t>
            </a:r>
            <a:r>
              <a:rPr lang="zh-CN" altLang="en-US" sz="1200" dirty="0"/>
              <a:t>的</a:t>
            </a:r>
            <a:r>
              <a:rPr lang="zh-CN" altLang="en-US" sz="1200" dirty="0">
                <a:solidFill>
                  <a:srgbClr val="C00000"/>
                </a:solidFill>
              </a:rPr>
              <a:t>虚拟机影像</a:t>
            </a:r>
            <a:r>
              <a:rPr lang="en-US" altLang="zh-CN" sz="1200" dirty="0">
                <a:solidFill>
                  <a:srgbClr val="C00000"/>
                </a:solidFill>
              </a:rPr>
              <a:t>(Image)</a:t>
            </a:r>
            <a:r>
              <a:rPr lang="zh-CN" altLang="en-US" sz="1200" dirty="0"/>
              <a:t>管理模块</a:t>
            </a:r>
          </a:p>
          <a:p>
            <a:pPr lvl="1" algn="just">
              <a:lnSpc>
                <a:spcPct val="110000"/>
              </a:lnSpc>
            </a:pPr>
            <a:r>
              <a:rPr lang="en-US" altLang="zh-CN" sz="1400" dirty="0"/>
              <a:t>Openstack Object Store(Swift)</a:t>
            </a:r>
          </a:p>
          <a:p>
            <a:pPr lvl="2" algn="just">
              <a:lnSpc>
                <a:spcPct val="110000"/>
              </a:lnSpc>
            </a:pPr>
            <a:r>
              <a:rPr lang="en-US" altLang="zh-CN" sz="1200" dirty="0"/>
              <a:t>Swift</a:t>
            </a:r>
            <a:r>
              <a:rPr lang="zh-CN" altLang="en-US" sz="1200" dirty="0"/>
              <a:t>是</a:t>
            </a:r>
            <a:r>
              <a:rPr lang="zh-CN" altLang="en-US" sz="1200" dirty="0">
                <a:solidFill>
                  <a:srgbClr val="C00000"/>
                </a:solidFill>
              </a:rPr>
              <a:t>对象存储管理器</a:t>
            </a:r>
          </a:p>
          <a:p>
            <a:pPr lvl="1" algn="just">
              <a:lnSpc>
                <a:spcPct val="110000"/>
              </a:lnSpc>
            </a:pPr>
            <a:r>
              <a:rPr lang="en-US" altLang="zh-CN" sz="1400" dirty="0"/>
              <a:t>Openstack Block Storage(Cinder)</a:t>
            </a:r>
          </a:p>
          <a:p>
            <a:pPr lvl="2" algn="just">
              <a:lnSpc>
                <a:spcPct val="110000"/>
              </a:lnSpc>
            </a:pPr>
            <a:r>
              <a:rPr lang="en-US" altLang="zh-CN" sz="1200" dirty="0"/>
              <a:t>Cinder</a:t>
            </a:r>
            <a:r>
              <a:rPr lang="zh-CN" altLang="en-US" sz="1200" dirty="0"/>
              <a:t>是</a:t>
            </a:r>
            <a:r>
              <a:rPr lang="en-US" altLang="zh-CN" sz="1200" dirty="0"/>
              <a:t>Openstack</a:t>
            </a:r>
            <a:r>
              <a:rPr lang="zh-CN" altLang="en-US" sz="1200" dirty="0"/>
              <a:t>的</a:t>
            </a:r>
            <a:r>
              <a:rPr lang="zh-CN" altLang="en-US" sz="1200" dirty="0">
                <a:solidFill>
                  <a:srgbClr val="C00000"/>
                </a:solidFill>
              </a:rPr>
              <a:t>磁盘块设备</a:t>
            </a:r>
            <a:r>
              <a:rPr lang="en-US" altLang="zh-CN" sz="1200" dirty="0">
                <a:solidFill>
                  <a:srgbClr val="C00000"/>
                </a:solidFill>
              </a:rPr>
              <a:t>(Block Device)</a:t>
            </a:r>
            <a:r>
              <a:rPr lang="zh-CN" altLang="en-US" sz="1200" dirty="0">
                <a:solidFill>
                  <a:srgbClr val="C00000"/>
                </a:solidFill>
              </a:rPr>
              <a:t>虚拟化</a:t>
            </a:r>
            <a:r>
              <a:rPr lang="zh-CN" altLang="en-US" sz="1200" dirty="0"/>
              <a:t>软件模块</a:t>
            </a:r>
          </a:p>
          <a:p>
            <a:pPr lvl="1" algn="just">
              <a:lnSpc>
                <a:spcPct val="110000"/>
              </a:lnSpc>
            </a:pPr>
            <a:r>
              <a:rPr lang="en-US" altLang="zh-CN" sz="1400" dirty="0"/>
              <a:t>Openstack Network(Quantum)</a:t>
            </a:r>
          </a:p>
          <a:p>
            <a:pPr lvl="2" algn="just">
              <a:lnSpc>
                <a:spcPct val="110000"/>
              </a:lnSpc>
            </a:pPr>
            <a:r>
              <a:rPr lang="en-US" altLang="zh-CN" sz="1200" dirty="0"/>
              <a:t>Quantum</a:t>
            </a:r>
            <a:r>
              <a:rPr lang="zh-CN" altLang="en-US" sz="1200" dirty="0"/>
              <a:t>提供了“</a:t>
            </a:r>
            <a:r>
              <a:rPr lang="zh-CN" altLang="en-US" sz="1200" dirty="0">
                <a:solidFill>
                  <a:srgbClr val="C00000"/>
                </a:solidFill>
              </a:rPr>
              <a:t>网络连接作为服务</a:t>
            </a:r>
            <a:r>
              <a:rPr lang="zh-CN" altLang="en-US" sz="1200" dirty="0"/>
              <a:t>”</a:t>
            </a:r>
            <a:r>
              <a:rPr lang="en-US" altLang="zh-CN" sz="1200" dirty="0"/>
              <a:t>(Network Connectivity as a Service)</a:t>
            </a:r>
            <a:r>
              <a:rPr lang="zh-CN" altLang="en-US" sz="1200" dirty="0"/>
              <a:t>的功能</a:t>
            </a:r>
          </a:p>
          <a:p>
            <a:pPr lvl="1" algn="just">
              <a:lnSpc>
                <a:spcPct val="110000"/>
              </a:lnSpc>
            </a:pPr>
            <a:r>
              <a:rPr lang="en-US" altLang="zh-CN" sz="1400" dirty="0"/>
              <a:t>Openstack Identity Service(Keystone)</a:t>
            </a:r>
          </a:p>
          <a:p>
            <a:pPr lvl="2" algn="just">
              <a:lnSpc>
                <a:spcPct val="110000"/>
              </a:lnSpc>
            </a:pPr>
            <a:r>
              <a:rPr lang="en-US" altLang="zh-CN" sz="1200" dirty="0"/>
              <a:t>Keystone</a:t>
            </a:r>
            <a:r>
              <a:rPr lang="zh-CN" altLang="en-US" sz="1200" dirty="0"/>
              <a:t>模块负责</a:t>
            </a:r>
            <a:r>
              <a:rPr lang="zh-CN" altLang="en-US" sz="1200" dirty="0">
                <a:solidFill>
                  <a:srgbClr val="C00000"/>
                </a:solidFill>
              </a:rPr>
              <a:t>管理用户</a:t>
            </a:r>
            <a:r>
              <a:rPr lang="zh-CN" altLang="en-US" sz="1200" dirty="0"/>
              <a:t>，对用户进行身份认证</a:t>
            </a:r>
            <a:r>
              <a:rPr lang="en-US" altLang="zh-CN" sz="1200" dirty="0"/>
              <a:t>(Authentication)</a:t>
            </a:r>
            <a:r>
              <a:rPr lang="zh-CN" altLang="en-US" sz="1200" dirty="0"/>
              <a:t>和授权</a:t>
            </a:r>
            <a:r>
              <a:rPr lang="en-US" altLang="zh-CN" sz="1200" dirty="0"/>
              <a:t>(Authorization)</a:t>
            </a:r>
          </a:p>
          <a:p>
            <a:pPr algn="just">
              <a:lnSpc>
                <a:spcPct val="110000"/>
              </a:lnSpc>
            </a:pPr>
            <a:endParaRPr lang="zh-CN" altLang="en-US" sz="1200" dirty="0"/>
          </a:p>
        </p:txBody>
      </p:sp>
      <p:pic>
        <p:nvPicPr>
          <p:cNvPr id="7" name="图片 6">
            <a:extLst>
              <a:ext uri="{FF2B5EF4-FFF2-40B4-BE49-F238E27FC236}">
                <a16:creationId xmlns:a16="http://schemas.microsoft.com/office/drawing/2014/main" id="{005464D6-9F65-44C3-91AD-C651451FCCCB}"/>
              </a:ext>
            </a:extLst>
          </p:cNvPr>
          <p:cNvPicPr>
            <a:picLocks noChangeAspect="1"/>
          </p:cNvPicPr>
          <p:nvPr/>
        </p:nvPicPr>
        <p:blipFill>
          <a:blip r:embed="rId2"/>
          <a:stretch>
            <a:fillRect/>
          </a:stretch>
        </p:blipFill>
        <p:spPr>
          <a:xfrm>
            <a:off x="5525516" y="1905000"/>
            <a:ext cx="3281522" cy="1687586"/>
          </a:xfrm>
          <a:prstGeom prst="rect">
            <a:avLst/>
          </a:prstGeom>
        </p:spPr>
      </p:pic>
    </p:spTree>
    <p:extLst>
      <p:ext uri="{BB962C8B-B14F-4D97-AF65-F5344CB8AC3E}">
        <p14:creationId xmlns:p14="http://schemas.microsoft.com/office/powerpoint/2010/main" val="3953149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462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8114813" cy="4263391"/>
          </a:xfrm>
        </p:spPr>
        <p:txBody>
          <a:bodyPr>
            <a:normAutofit fontScale="77500" lnSpcReduction="20000"/>
          </a:bodyPr>
          <a:lstStyle/>
          <a:p>
            <a:pPr algn="just">
              <a:lnSpc>
                <a:spcPct val="120000"/>
              </a:lnSpc>
            </a:pPr>
            <a:r>
              <a:rPr lang="en-US" altLang="zh-CN" sz="1600" dirty="0">
                <a:solidFill>
                  <a:srgbClr val="C00000"/>
                </a:solidFill>
              </a:rPr>
              <a:t>Amazon</a:t>
            </a:r>
          </a:p>
          <a:p>
            <a:pPr lvl="1" algn="just">
              <a:lnSpc>
                <a:spcPct val="120000"/>
              </a:lnSpc>
            </a:pPr>
            <a:r>
              <a:rPr lang="en-US" altLang="zh-CN" sz="1400" dirty="0"/>
              <a:t>Amazon</a:t>
            </a:r>
            <a:r>
              <a:rPr lang="zh-CN" altLang="en-US" sz="1400" dirty="0"/>
              <a:t>是较早进入云计算领域的公司之一；目前，它已经不是一家单纯的电子商务公司，更是一家提供先进的计算、存储等云计算服务技术的公司；</a:t>
            </a:r>
            <a:r>
              <a:rPr lang="en-US" altLang="zh-CN" sz="1400" dirty="0"/>
              <a:t>Amazon</a:t>
            </a:r>
            <a:r>
              <a:rPr lang="zh-CN" altLang="en-US" sz="1400" dirty="0"/>
              <a:t>的一系列云计算服务，构成了</a:t>
            </a:r>
            <a:r>
              <a:rPr lang="en-US" altLang="zh-CN" sz="1400" dirty="0"/>
              <a:t>Amazon</a:t>
            </a:r>
            <a:r>
              <a:rPr lang="zh-CN" altLang="en-US" sz="1400" dirty="0"/>
              <a:t>云计算服务平台</a:t>
            </a:r>
            <a:r>
              <a:rPr lang="en-US" altLang="zh-CN" sz="1400" dirty="0"/>
              <a:t>Amazon Web Service(AWS)</a:t>
            </a:r>
          </a:p>
          <a:p>
            <a:pPr lvl="1" algn="just">
              <a:lnSpc>
                <a:spcPct val="120000"/>
              </a:lnSpc>
            </a:pPr>
            <a:r>
              <a:rPr lang="zh-CN" altLang="en-US" sz="1400" dirty="0"/>
              <a:t>主要的服务包括，基础存储架构</a:t>
            </a:r>
            <a:r>
              <a:rPr lang="en-US" altLang="zh-CN" sz="1400" dirty="0"/>
              <a:t>Dynamo</a:t>
            </a:r>
            <a:r>
              <a:rPr lang="zh-CN" altLang="en-US" sz="1400" dirty="0"/>
              <a:t>、弹性计算服务</a:t>
            </a:r>
            <a:r>
              <a:rPr lang="en-US" altLang="zh-CN" sz="1400" dirty="0"/>
              <a:t>EC2</a:t>
            </a:r>
            <a:r>
              <a:rPr lang="zh-CN" altLang="en-US" sz="1400" dirty="0"/>
              <a:t>、简单存储服务</a:t>
            </a:r>
            <a:r>
              <a:rPr lang="en-US" altLang="zh-CN" sz="1400" dirty="0"/>
              <a:t>S3</a:t>
            </a:r>
            <a:r>
              <a:rPr lang="zh-CN" altLang="en-US" sz="1400" dirty="0"/>
              <a:t>、简单数据库服务</a:t>
            </a:r>
            <a:r>
              <a:rPr lang="en-US" altLang="zh-CN" sz="1400" dirty="0"/>
              <a:t>Simple DB</a:t>
            </a:r>
            <a:r>
              <a:rPr lang="zh-CN" altLang="en-US" sz="1400" dirty="0"/>
              <a:t>、简单队列服务</a:t>
            </a:r>
            <a:r>
              <a:rPr lang="en-US" altLang="zh-CN" sz="1400" dirty="0"/>
              <a:t>SQS</a:t>
            </a:r>
            <a:r>
              <a:rPr lang="zh-CN" altLang="en-US" sz="1400" dirty="0"/>
              <a:t>、弹性</a:t>
            </a:r>
            <a:r>
              <a:rPr lang="en-US" altLang="zh-CN" sz="1400" dirty="0"/>
              <a:t>MapReduce</a:t>
            </a:r>
            <a:r>
              <a:rPr lang="zh-CN" altLang="en-US" sz="1400" dirty="0"/>
              <a:t>服务、内容推送服务</a:t>
            </a:r>
            <a:r>
              <a:rPr lang="en-US" altLang="zh-CN" sz="1400" dirty="0"/>
              <a:t>CloudFront</a:t>
            </a:r>
            <a:r>
              <a:rPr lang="zh-CN" altLang="en-US" sz="1400" dirty="0"/>
              <a:t>、电子商务服务</a:t>
            </a:r>
            <a:r>
              <a:rPr lang="en-US" altLang="zh-CN" sz="1400" dirty="0" err="1"/>
              <a:t>DevPay</a:t>
            </a:r>
            <a:r>
              <a:rPr lang="zh-CN" altLang="en-US" sz="1400" dirty="0"/>
              <a:t>、以及支付服务</a:t>
            </a:r>
            <a:r>
              <a:rPr lang="en-US" altLang="zh-CN" sz="1400" dirty="0"/>
              <a:t>FPS(Flexible Payment Service)</a:t>
            </a:r>
            <a:r>
              <a:rPr lang="zh-CN" altLang="en-US" sz="1400" dirty="0"/>
              <a:t>等</a:t>
            </a:r>
          </a:p>
          <a:p>
            <a:pPr lvl="1" algn="just">
              <a:lnSpc>
                <a:spcPct val="120000"/>
              </a:lnSpc>
            </a:pPr>
            <a:r>
              <a:rPr lang="en-US" altLang="zh-CN" sz="1400" dirty="0">
                <a:solidFill>
                  <a:srgbClr val="C00000"/>
                </a:solidFill>
              </a:rPr>
              <a:t>Dynamo</a:t>
            </a:r>
          </a:p>
          <a:p>
            <a:pPr lvl="2" algn="just">
              <a:lnSpc>
                <a:spcPct val="120000"/>
              </a:lnSpc>
            </a:pPr>
            <a:r>
              <a:rPr lang="en-US" altLang="zh-CN" sz="1200" dirty="0"/>
              <a:t>Dynamo</a:t>
            </a:r>
            <a:r>
              <a:rPr lang="zh-CN" altLang="en-US" sz="1200" dirty="0"/>
              <a:t>是</a:t>
            </a:r>
            <a:r>
              <a:rPr lang="en-US" altLang="zh-CN" sz="1200" dirty="0"/>
              <a:t>Amazon</a:t>
            </a:r>
            <a:r>
              <a:rPr lang="zh-CN" altLang="en-US" sz="1200" dirty="0"/>
              <a:t>的代表性技术，是其基础存储架构，一般作为状态管理组件，使用在其它</a:t>
            </a:r>
            <a:r>
              <a:rPr lang="en-US" altLang="zh-CN" sz="1200" dirty="0"/>
              <a:t>AWS</a:t>
            </a:r>
            <a:r>
              <a:rPr lang="zh-CN" altLang="en-US" sz="1200" dirty="0"/>
              <a:t>服务中，比如电子商务的购物框管理；</a:t>
            </a:r>
            <a:r>
              <a:rPr lang="en-US" altLang="zh-CN" sz="1200" dirty="0"/>
              <a:t>Dynamo</a:t>
            </a:r>
            <a:r>
              <a:rPr lang="zh-CN" altLang="en-US" sz="1200" dirty="0"/>
              <a:t>采用完全分布式、去中心化的</a:t>
            </a:r>
            <a:r>
              <a:rPr lang="en-US" altLang="zh-CN" sz="1200" dirty="0"/>
              <a:t>Peer to Peer</a:t>
            </a:r>
            <a:r>
              <a:rPr lang="zh-CN" altLang="en-US" sz="1200" dirty="0"/>
              <a:t>架构。其数据采用简单的键值</a:t>
            </a:r>
            <a:r>
              <a:rPr lang="en-US" altLang="zh-CN" sz="1200" dirty="0"/>
              <a:t>(Key Value)</a:t>
            </a:r>
            <a:r>
              <a:rPr lang="zh-CN" altLang="en-US" sz="1200" dirty="0"/>
              <a:t>对进行存储</a:t>
            </a:r>
          </a:p>
          <a:p>
            <a:pPr lvl="1" algn="just">
              <a:lnSpc>
                <a:spcPct val="120000"/>
              </a:lnSpc>
            </a:pPr>
            <a:r>
              <a:rPr lang="en-US" altLang="zh-CN" sz="1400" dirty="0">
                <a:solidFill>
                  <a:srgbClr val="C00000"/>
                </a:solidFill>
              </a:rPr>
              <a:t>EC2</a:t>
            </a:r>
          </a:p>
          <a:p>
            <a:pPr lvl="2" algn="just">
              <a:lnSpc>
                <a:spcPct val="120000"/>
              </a:lnSpc>
            </a:pPr>
            <a:r>
              <a:rPr lang="en-US" altLang="zh-CN" sz="1200" dirty="0"/>
              <a:t>EC2(Elastic Computing)</a:t>
            </a:r>
            <a:r>
              <a:rPr lang="zh-CN" altLang="en-US" sz="1200" dirty="0"/>
              <a:t>弹性计算服务是</a:t>
            </a:r>
            <a:r>
              <a:rPr lang="en-US" altLang="zh-CN" sz="1200" dirty="0"/>
              <a:t>Amazon AWS</a:t>
            </a:r>
            <a:r>
              <a:rPr lang="zh-CN" altLang="en-US" sz="1200" dirty="0"/>
              <a:t>的重要组成部分，其目的是提供可伸缩的计算能力</a:t>
            </a:r>
          </a:p>
          <a:p>
            <a:pPr lvl="1" algn="just">
              <a:lnSpc>
                <a:spcPct val="120000"/>
              </a:lnSpc>
            </a:pPr>
            <a:r>
              <a:rPr lang="en-US" altLang="zh-CN" sz="1400" dirty="0">
                <a:solidFill>
                  <a:srgbClr val="C00000"/>
                </a:solidFill>
              </a:rPr>
              <a:t>S3</a:t>
            </a:r>
          </a:p>
          <a:p>
            <a:pPr lvl="2" algn="just">
              <a:lnSpc>
                <a:spcPct val="120000"/>
              </a:lnSpc>
            </a:pPr>
            <a:r>
              <a:rPr lang="zh-CN" altLang="en-US" sz="1200" dirty="0"/>
              <a:t>简单存储服务</a:t>
            </a:r>
            <a:r>
              <a:rPr lang="en-US" altLang="zh-CN" sz="1200" dirty="0"/>
              <a:t>S3(Simple Storage Service)</a:t>
            </a:r>
            <a:r>
              <a:rPr lang="zh-CN" altLang="en-US" sz="1200" dirty="0"/>
              <a:t>建立于</a:t>
            </a:r>
            <a:r>
              <a:rPr lang="en-US" altLang="zh-CN" sz="1200" dirty="0"/>
              <a:t>Dynamo</a:t>
            </a:r>
            <a:r>
              <a:rPr lang="zh-CN" altLang="en-US" sz="1200" dirty="0"/>
              <a:t>架构之上，用于存储任意类型的文件</a:t>
            </a:r>
          </a:p>
          <a:p>
            <a:pPr lvl="1" algn="just">
              <a:lnSpc>
                <a:spcPct val="120000"/>
              </a:lnSpc>
            </a:pPr>
            <a:r>
              <a:rPr lang="en-US" altLang="zh-CN" sz="1400" dirty="0">
                <a:solidFill>
                  <a:srgbClr val="C00000"/>
                </a:solidFill>
              </a:rPr>
              <a:t>Simple DB</a:t>
            </a:r>
          </a:p>
          <a:p>
            <a:pPr lvl="2" algn="just">
              <a:lnSpc>
                <a:spcPct val="120000"/>
              </a:lnSpc>
            </a:pPr>
            <a:r>
              <a:rPr lang="en-US" altLang="zh-CN" sz="1200" dirty="0"/>
              <a:t>Simple DB</a:t>
            </a:r>
            <a:r>
              <a:rPr lang="zh-CN" altLang="en-US" sz="1200" dirty="0"/>
              <a:t>是一种非关系数据库服务，用于存储结构化的数据，并提供插入、查找、删除等功能</a:t>
            </a:r>
          </a:p>
          <a:p>
            <a:pPr lvl="1" algn="just">
              <a:lnSpc>
                <a:spcPct val="120000"/>
              </a:lnSpc>
            </a:pPr>
            <a:r>
              <a:rPr lang="en-US" altLang="zh-CN" sz="1400" dirty="0">
                <a:solidFill>
                  <a:srgbClr val="C00000"/>
                </a:solidFill>
              </a:rPr>
              <a:t>RDS</a:t>
            </a:r>
          </a:p>
          <a:p>
            <a:pPr lvl="2" algn="just">
              <a:lnSpc>
                <a:spcPct val="120000"/>
              </a:lnSpc>
            </a:pPr>
            <a:r>
              <a:rPr lang="zh-CN" altLang="en-US" sz="1200" dirty="0"/>
              <a:t>关系数据库服务</a:t>
            </a:r>
            <a:r>
              <a:rPr lang="en-US" altLang="zh-CN" sz="1200" dirty="0"/>
              <a:t>RDS(Relational Data Service)</a:t>
            </a:r>
            <a:r>
              <a:rPr lang="zh-CN" altLang="en-US" sz="1200" dirty="0"/>
              <a:t>，把</a:t>
            </a:r>
            <a:r>
              <a:rPr lang="en-US" altLang="zh-CN" sz="1200" dirty="0"/>
              <a:t>MySQL</a:t>
            </a:r>
            <a:r>
              <a:rPr lang="zh-CN" altLang="en-US" sz="1200" dirty="0"/>
              <a:t>关系数据库技术移植到集群中</a:t>
            </a:r>
          </a:p>
          <a:p>
            <a:pPr lvl="1" algn="just">
              <a:lnSpc>
                <a:spcPct val="120000"/>
              </a:lnSpc>
            </a:pPr>
            <a:r>
              <a:rPr lang="en-US" altLang="zh-CN" sz="1400" dirty="0">
                <a:solidFill>
                  <a:srgbClr val="C00000"/>
                </a:solidFill>
              </a:rPr>
              <a:t>SQS</a:t>
            </a:r>
          </a:p>
          <a:p>
            <a:pPr lvl="2" algn="just">
              <a:lnSpc>
                <a:spcPct val="120000"/>
              </a:lnSpc>
            </a:pPr>
            <a:r>
              <a:rPr lang="zh-CN" altLang="en-US" sz="1200" dirty="0"/>
              <a:t>简单队列服务</a:t>
            </a:r>
            <a:r>
              <a:rPr lang="en-US" altLang="zh-CN" sz="1200" dirty="0"/>
              <a:t>SQS(Simple Queue Service)</a:t>
            </a:r>
            <a:r>
              <a:rPr lang="zh-CN" altLang="en-US" sz="1200" dirty="0"/>
              <a:t>，为解决</a:t>
            </a:r>
            <a:r>
              <a:rPr lang="en-US" altLang="zh-CN" sz="1200" dirty="0"/>
              <a:t>Amazon</a:t>
            </a:r>
            <a:r>
              <a:rPr lang="zh-CN" altLang="en-US" sz="1200" dirty="0"/>
              <a:t>的云计算平台上不同组件间的通讯而专门设计</a:t>
            </a:r>
          </a:p>
          <a:p>
            <a:pPr lvl="1" algn="just">
              <a:lnSpc>
                <a:spcPct val="120000"/>
              </a:lnSpc>
            </a:pPr>
            <a:r>
              <a:rPr lang="en-US" altLang="zh-CN" sz="1400" dirty="0">
                <a:solidFill>
                  <a:srgbClr val="C00000"/>
                </a:solidFill>
              </a:rPr>
              <a:t>Amazon EMR (Elastic MapReduce)</a:t>
            </a:r>
          </a:p>
          <a:p>
            <a:pPr lvl="2" algn="just">
              <a:lnSpc>
                <a:spcPct val="120000"/>
              </a:lnSpc>
            </a:pPr>
            <a:r>
              <a:rPr lang="en-US" altLang="zh-CN" sz="1200" dirty="0"/>
              <a:t>Amazon</a:t>
            </a:r>
            <a:r>
              <a:rPr lang="zh-CN" altLang="en-US" sz="1200" dirty="0"/>
              <a:t>弹性</a:t>
            </a:r>
            <a:r>
              <a:rPr lang="en-US" altLang="zh-CN" sz="1200" dirty="0"/>
              <a:t>MapReduce</a:t>
            </a:r>
            <a:r>
              <a:rPr lang="zh-CN" altLang="en-US" sz="1200" dirty="0"/>
              <a:t>，是属于</a:t>
            </a:r>
            <a:r>
              <a:rPr lang="en-US" altLang="zh-CN" sz="1200" dirty="0"/>
              <a:t>PaaS</a:t>
            </a:r>
            <a:r>
              <a:rPr lang="zh-CN" altLang="en-US" sz="1200" dirty="0"/>
              <a:t>类型的云计算服务</a:t>
            </a:r>
            <a:endParaRPr lang="zh-CN" altLang="en-US" sz="800" dirty="0"/>
          </a:p>
        </p:txBody>
      </p:sp>
      <p:pic>
        <p:nvPicPr>
          <p:cNvPr id="5" name="图片 4">
            <a:extLst>
              <a:ext uri="{FF2B5EF4-FFF2-40B4-BE49-F238E27FC236}">
                <a16:creationId xmlns:a16="http://schemas.microsoft.com/office/drawing/2014/main" id="{0B40FE8D-4D0C-4E45-BC2C-E7F315DB14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5121" y="2863580"/>
            <a:ext cx="1793780" cy="1121113"/>
          </a:xfrm>
          <a:prstGeom prst="rect">
            <a:avLst/>
          </a:prstGeom>
        </p:spPr>
      </p:pic>
    </p:spTree>
    <p:extLst>
      <p:ext uri="{BB962C8B-B14F-4D97-AF65-F5344CB8AC3E}">
        <p14:creationId xmlns:p14="http://schemas.microsoft.com/office/powerpoint/2010/main" val="3334557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8114813" cy="3978533"/>
          </a:xfrm>
        </p:spPr>
        <p:txBody>
          <a:bodyPr>
            <a:normAutofit/>
          </a:bodyPr>
          <a:lstStyle/>
          <a:p>
            <a:pPr algn="just"/>
            <a:r>
              <a:rPr lang="zh-CN" altLang="en-US" sz="1600" dirty="0">
                <a:solidFill>
                  <a:srgbClr val="C00000"/>
                </a:solidFill>
              </a:rPr>
              <a:t>微软</a:t>
            </a:r>
          </a:p>
          <a:p>
            <a:pPr lvl="1" algn="just"/>
            <a:r>
              <a:rPr lang="zh-CN" altLang="en-US" sz="1400" dirty="0"/>
              <a:t>微软的云计算服务，包括云操作系统服务</a:t>
            </a:r>
            <a:r>
              <a:rPr lang="en-US" altLang="zh-CN" sz="1400" dirty="0"/>
              <a:t>Windows Azure</a:t>
            </a:r>
            <a:r>
              <a:rPr lang="zh-CN" altLang="en-US" sz="1400" dirty="0"/>
              <a:t>、云关系数据库服务</a:t>
            </a:r>
            <a:r>
              <a:rPr lang="en-US" altLang="zh-CN" sz="1400" dirty="0"/>
              <a:t>SQL Azure</a:t>
            </a:r>
            <a:r>
              <a:rPr lang="zh-CN" altLang="en-US" sz="1400" dirty="0"/>
              <a:t>、以及云应用基础架构服务</a:t>
            </a:r>
            <a:r>
              <a:rPr lang="en-US" altLang="zh-CN" sz="1400" dirty="0"/>
              <a:t>App Fabric</a:t>
            </a:r>
          </a:p>
          <a:p>
            <a:pPr lvl="1" algn="just"/>
            <a:r>
              <a:rPr lang="en-US" altLang="zh-CN" sz="1400" dirty="0">
                <a:solidFill>
                  <a:srgbClr val="C00000"/>
                </a:solidFill>
              </a:rPr>
              <a:t>Windows Azure</a:t>
            </a:r>
          </a:p>
          <a:p>
            <a:pPr lvl="2" algn="just"/>
            <a:r>
              <a:rPr lang="zh-CN" altLang="en-US" sz="1200" dirty="0"/>
              <a:t>其中，</a:t>
            </a:r>
            <a:r>
              <a:rPr lang="en-US" altLang="zh-CN" sz="1200" dirty="0"/>
              <a:t>Windows Azure</a:t>
            </a:r>
            <a:r>
              <a:rPr lang="zh-CN" altLang="en-US" sz="1200" dirty="0"/>
              <a:t>处于微软云计算战略的核心地位，包括计算服务、存储服务、内容分发网络服务、网络连接服务、以及</a:t>
            </a:r>
            <a:r>
              <a:rPr lang="en-US" altLang="zh-CN" sz="1200" dirty="0"/>
              <a:t>Fabric</a:t>
            </a:r>
            <a:r>
              <a:rPr lang="zh-CN" altLang="en-US" sz="1200" dirty="0"/>
              <a:t>控制器等</a:t>
            </a:r>
          </a:p>
          <a:p>
            <a:pPr lvl="1" algn="just"/>
            <a:r>
              <a:rPr lang="en-US" altLang="zh-CN" sz="1400" dirty="0">
                <a:solidFill>
                  <a:srgbClr val="C00000"/>
                </a:solidFill>
              </a:rPr>
              <a:t>SQL Azure</a:t>
            </a:r>
          </a:p>
          <a:p>
            <a:pPr lvl="2" algn="just"/>
            <a:r>
              <a:rPr lang="en-US" altLang="zh-CN" sz="1200" dirty="0"/>
              <a:t>SQL Azure</a:t>
            </a:r>
            <a:r>
              <a:rPr lang="zh-CN" altLang="en-US" sz="1200" dirty="0"/>
              <a:t>把微软的</a:t>
            </a:r>
            <a:r>
              <a:rPr lang="en-US" altLang="zh-CN" sz="1200" dirty="0"/>
              <a:t>SQL Server</a:t>
            </a:r>
            <a:r>
              <a:rPr lang="zh-CN" altLang="en-US" sz="1200" dirty="0"/>
              <a:t>数据库管理系统，搬到了云计算平台，通过云计算平台提供数据库服务</a:t>
            </a:r>
            <a:r>
              <a:rPr lang="en-US" altLang="zh-CN" sz="1200" dirty="0"/>
              <a:t>Azure App Fabric</a:t>
            </a:r>
          </a:p>
          <a:p>
            <a:pPr lvl="1" algn="just"/>
            <a:r>
              <a:rPr lang="en-US" altLang="zh-CN" sz="1400" dirty="0">
                <a:solidFill>
                  <a:srgbClr val="C00000"/>
                </a:solidFill>
              </a:rPr>
              <a:t>Azure App Fabric</a:t>
            </a:r>
          </a:p>
          <a:p>
            <a:pPr lvl="2" algn="just"/>
            <a:r>
              <a:rPr lang="en-US" altLang="zh-CN" sz="1200" dirty="0"/>
              <a:t>Azure App Fabric</a:t>
            </a:r>
            <a:r>
              <a:rPr lang="zh-CN" altLang="en-US" sz="1200" dirty="0"/>
              <a:t>提供了本地应用和云平台上应用的基础服务，它是一个完全分布的基础设施服务；目前</a:t>
            </a:r>
            <a:r>
              <a:rPr lang="en-US" altLang="zh-CN" sz="1200" dirty="0"/>
              <a:t>Azure App Fabric</a:t>
            </a:r>
            <a:r>
              <a:rPr lang="zh-CN" altLang="en-US" sz="1200" dirty="0"/>
              <a:t>提供的服务包括服务总线</a:t>
            </a:r>
            <a:r>
              <a:rPr lang="en-US" altLang="zh-CN" sz="1200" dirty="0"/>
              <a:t>(Service Bus)</a:t>
            </a:r>
            <a:r>
              <a:rPr lang="zh-CN" altLang="en-US" sz="1200" dirty="0"/>
              <a:t>、访问控制</a:t>
            </a:r>
            <a:r>
              <a:rPr lang="en-US" altLang="zh-CN" sz="1200" dirty="0"/>
              <a:t>(Access Control)</a:t>
            </a:r>
            <a:r>
              <a:rPr lang="zh-CN" altLang="en-US" sz="1200" dirty="0"/>
              <a:t>、以及高速缓存</a:t>
            </a:r>
            <a:r>
              <a:rPr lang="en-US" altLang="zh-CN" sz="1200" dirty="0"/>
              <a:t>(Caching)</a:t>
            </a:r>
            <a:r>
              <a:rPr lang="zh-CN" altLang="en-US" sz="1200" dirty="0"/>
              <a:t>服务等</a:t>
            </a:r>
          </a:p>
        </p:txBody>
      </p:sp>
      <p:pic>
        <p:nvPicPr>
          <p:cNvPr id="6" name="图片 5">
            <a:extLst>
              <a:ext uri="{FF2B5EF4-FFF2-40B4-BE49-F238E27FC236}">
                <a16:creationId xmlns:a16="http://schemas.microsoft.com/office/drawing/2014/main" id="{44DE5376-D522-48BD-BB27-614BD02C69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7014" y="3705064"/>
            <a:ext cx="1629971" cy="1092618"/>
          </a:xfrm>
          <a:prstGeom prst="rect">
            <a:avLst/>
          </a:prstGeom>
        </p:spPr>
      </p:pic>
    </p:spTree>
    <p:extLst>
      <p:ext uri="{BB962C8B-B14F-4D97-AF65-F5344CB8AC3E}">
        <p14:creationId xmlns:p14="http://schemas.microsoft.com/office/powerpoint/2010/main" val="34342973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8114813" cy="3978533"/>
          </a:xfrm>
        </p:spPr>
        <p:txBody>
          <a:bodyPr>
            <a:normAutofit/>
          </a:bodyPr>
          <a:lstStyle/>
          <a:p>
            <a:pPr algn="just"/>
            <a:r>
              <a:rPr lang="en-US" altLang="zh-CN" sz="1600" dirty="0">
                <a:solidFill>
                  <a:srgbClr val="C00000"/>
                </a:solidFill>
              </a:rPr>
              <a:t>Google</a:t>
            </a:r>
          </a:p>
          <a:p>
            <a:pPr lvl="1" algn="just"/>
            <a:r>
              <a:rPr lang="en-US" altLang="zh-CN" sz="1400" dirty="0"/>
              <a:t>Google</a:t>
            </a:r>
            <a:r>
              <a:rPr lang="zh-CN" altLang="en-US" sz="1400" dirty="0"/>
              <a:t>是一家以提供搜索服务起家的互联网公司，目前已经发展到涵盖搜索、操作系统、硬件、无人驾驶汽车、互联网连接服务等众多服务的一家大型互联网公司</a:t>
            </a:r>
            <a:endParaRPr lang="en-US" altLang="zh-CN" sz="1400" dirty="0"/>
          </a:p>
          <a:p>
            <a:pPr lvl="1" algn="just"/>
            <a:r>
              <a:rPr lang="zh-CN" altLang="en-US" sz="1400" dirty="0"/>
              <a:t>为了处理用户的搜索处理请求，</a:t>
            </a:r>
            <a:r>
              <a:rPr lang="en-US" altLang="zh-CN" sz="1400" dirty="0"/>
              <a:t>Google</a:t>
            </a:r>
            <a:r>
              <a:rPr lang="zh-CN" altLang="en-US" sz="1400" dirty="0"/>
              <a:t>需要把大量的网页爬取保存下来，并且建立索引</a:t>
            </a:r>
            <a:endParaRPr lang="en-US" altLang="zh-CN" sz="1400" dirty="0"/>
          </a:p>
          <a:p>
            <a:pPr lvl="1" algn="just"/>
            <a:r>
              <a:rPr lang="zh-CN" altLang="en-US" sz="1400" dirty="0"/>
              <a:t>由于数据量庞大，采用大型机来进行处理，很快会遇到瓶颈</a:t>
            </a:r>
            <a:endParaRPr lang="en-US" altLang="zh-CN" sz="1400" dirty="0"/>
          </a:p>
          <a:p>
            <a:pPr lvl="1" algn="just"/>
            <a:r>
              <a:rPr lang="en-US" altLang="zh-CN" sz="1400" dirty="0"/>
              <a:t>Google</a:t>
            </a:r>
            <a:r>
              <a:rPr lang="zh-CN" altLang="en-US" sz="1400" dirty="0"/>
              <a:t>基于廉价</a:t>
            </a:r>
            <a:r>
              <a:rPr lang="en-US" altLang="zh-CN" sz="1400" dirty="0"/>
              <a:t>PC</a:t>
            </a:r>
            <a:r>
              <a:rPr lang="zh-CN" altLang="en-US" sz="1400" dirty="0"/>
              <a:t>服务器，建立了自己的若干数据中心，并且研发了一系列软件系统，实现数据管理和处理</a:t>
            </a:r>
          </a:p>
          <a:p>
            <a:pPr lvl="1" algn="just"/>
            <a:r>
              <a:rPr lang="zh-CN" altLang="en-US" sz="1400" dirty="0"/>
              <a:t>围绕搜索业务的大量数据存储和处理要求，</a:t>
            </a:r>
            <a:r>
              <a:rPr lang="en-US" altLang="zh-CN" sz="1400" dirty="0"/>
              <a:t>Google</a:t>
            </a:r>
            <a:r>
              <a:rPr lang="zh-CN" altLang="en-US" sz="1400" dirty="0"/>
              <a:t>研发了分布式文件系统</a:t>
            </a:r>
            <a:r>
              <a:rPr lang="en-US" altLang="zh-CN" sz="1400" dirty="0"/>
              <a:t>GFS</a:t>
            </a:r>
            <a:r>
              <a:rPr lang="zh-CN" altLang="en-US" sz="1400" dirty="0"/>
              <a:t>、并行计算模型</a:t>
            </a:r>
            <a:r>
              <a:rPr lang="en-US" altLang="zh-CN" sz="1400" dirty="0"/>
              <a:t>MapReduce</a:t>
            </a:r>
            <a:r>
              <a:rPr lang="zh-CN" altLang="en-US" sz="1400" dirty="0"/>
              <a:t>、和结构化数据管理系统</a:t>
            </a:r>
            <a:r>
              <a:rPr lang="en-US" altLang="zh-CN" sz="1400" dirty="0"/>
              <a:t>Big Table</a:t>
            </a:r>
          </a:p>
        </p:txBody>
      </p:sp>
      <p:pic>
        <p:nvPicPr>
          <p:cNvPr id="5" name="图片 4">
            <a:extLst>
              <a:ext uri="{FF2B5EF4-FFF2-40B4-BE49-F238E27FC236}">
                <a16:creationId xmlns:a16="http://schemas.microsoft.com/office/drawing/2014/main" id="{85540129-384C-44A1-BDE4-864888321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670" y="3419450"/>
            <a:ext cx="3762659" cy="1246381"/>
          </a:xfrm>
          <a:prstGeom prst="rect">
            <a:avLst/>
          </a:prstGeom>
        </p:spPr>
      </p:pic>
    </p:spTree>
    <p:extLst>
      <p:ext uri="{BB962C8B-B14F-4D97-AF65-F5344CB8AC3E}">
        <p14:creationId xmlns:p14="http://schemas.microsoft.com/office/powerpoint/2010/main" val="514318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2" y="819149"/>
            <a:ext cx="5464998" cy="3978533"/>
          </a:xfrm>
        </p:spPr>
        <p:txBody>
          <a:bodyPr>
            <a:normAutofit fontScale="92500" lnSpcReduction="10000"/>
          </a:bodyPr>
          <a:lstStyle/>
          <a:p>
            <a:pPr algn="just"/>
            <a:r>
              <a:rPr lang="en-US" altLang="zh-CN" sz="1600" dirty="0">
                <a:solidFill>
                  <a:srgbClr val="C00000"/>
                </a:solidFill>
              </a:rPr>
              <a:t>Google</a:t>
            </a:r>
          </a:p>
          <a:p>
            <a:pPr lvl="1" algn="just"/>
            <a:r>
              <a:rPr lang="en-US" altLang="zh-CN" sz="1400" dirty="0">
                <a:solidFill>
                  <a:srgbClr val="C00000"/>
                </a:solidFill>
              </a:rPr>
              <a:t>GFS</a:t>
            </a:r>
          </a:p>
          <a:p>
            <a:pPr lvl="2" algn="just"/>
            <a:r>
              <a:rPr lang="en-US" altLang="zh-CN" sz="1200" dirty="0"/>
              <a:t>GFS(Google File System)</a:t>
            </a:r>
            <a:r>
              <a:rPr lang="zh-CN" altLang="en-US" sz="1200" dirty="0"/>
              <a:t>是</a:t>
            </a:r>
            <a:r>
              <a:rPr lang="en-US" altLang="zh-CN" sz="1200" dirty="0"/>
              <a:t>Google</a:t>
            </a:r>
            <a:r>
              <a:rPr lang="zh-CN" altLang="en-US" sz="1200" dirty="0"/>
              <a:t>整个分布式计算架构的基础，在</a:t>
            </a:r>
            <a:r>
              <a:rPr lang="en-US" altLang="zh-CN" sz="1200" dirty="0"/>
              <a:t>GFS</a:t>
            </a:r>
            <a:r>
              <a:rPr lang="zh-CN" altLang="en-US" sz="1200" dirty="0"/>
              <a:t>中，文件被分割成块</a:t>
            </a:r>
            <a:r>
              <a:rPr lang="en-US" altLang="zh-CN" sz="1200" dirty="0"/>
              <a:t>(Chunk)</a:t>
            </a:r>
            <a:r>
              <a:rPr lang="zh-CN" altLang="en-US" sz="1200" dirty="0"/>
              <a:t>，然后在集群环境下，以冗余的方式保存，一般一个数据块保存</a:t>
            </a:r>
            <a:r>
              <a:rPr lang="en-US" altLang="zh-CN" sz="1200" dirty="0"/>
              <a:t>3</a:t>
            </a:r>
            <a:r>
              <a:rPr lang="zh-CN" altLang="en-US" sz="1200" dirty="0"/>
              <a:t>个副本</a:t>
            </a:r>
            <a:r>
              <a:rPr lang="en-US" altLang="zh-CN" sz="1200" dirty="0"/>
              <a:t>(Replica)</a:t>
            </a:r>
          </a:p>
          <a:p>
            <a:pPr lvl="1" algn="just"/>
            <a:r>
              <a:rPr lang="en-US" altLang="zh-CN" sz="1400" dirty="0">
                <a:solidFill>
                  <a:srgbClr val="C00000"/>
                </a:solidFill>
              </a:rPr>
              <a:t>MapReduce</a:t>
            </a:r>
          </a:p>
          <a:p>
            <a:pPr lvl="2" algn="just"/>
            <a:r>
              <a:rPr lang="en-US" altLang="zh-CN" sz="1200" dirty="0"/>
              <a:t>MapReduce</a:t>
            </a:r>
            <a:r>
              <a:rPr lang="zh-CN" altLang="en-US" sz="1200" dirty="0"/>
              <a:t>是</a:t>
            </a:r>
            <a:r>
              <a:rPr lang="en-US" altLang="zh-CN" sz="1200" dirty="0"/>
              <a:t>Google</a:t>
            </a:r>
            <a:r>
              <a:rPr lang="zh-CN" altLang="en-US" sz="1200" dirty="0"/>
              <a:t>为了创建网页索引，提出的一种新的计算模型</a:t>
            </a:r>
          </a:p>
          <a:p>
            <a:pPr lvl="1" algn="just"/>
            <a:r>
              <a:rPr lang="en-US" altLang="zh-CN" sz="1400" dirty="0">
                <a:solidFill>
                  <a:srgbClr val="C00000"/>
                </a:solidFill>
              </a:rPr>
              <a:t>Big Table</a:t>
            </a:r>
          </a:p>
          <a:p>
            <a:pPr lvl="2" algn="just"/>
            <a:r>
              <a:rPr lang="en-US" altLang="zh-CN" sz="1200" dirty="0"/>
              <a:t>Big Table</a:t>
            </a:r>
            <a:r>
              <a:rPr lang="zh-CN" altLang="en-US" sz="1200" dirty="0"/>
              <a:t>是建立在</a:t>
            </a:r>
            <a:r>
              <a:rPr lang="en-US" altLang="zh-CN" sz="1200" dirty="0"/>
              <a:t>GFS</a:t>
            </a:r>
            <a:r>
              <a:rPr lang="zh-CN" altLang="en-US" sz="1200" dirty="0"/>
              <a:t>上的分布式结构化数据管理系统，可以管理</a:t>
            </a:r>
            <a:r>
              <a:rPr lang="en-US" altLang="zh-CN" sz="1200" dirty="0"/>
              <a:t>PB(Petabytes)</a:t>
            </a:r>
            <a:r>
              <a:rPr lang="zh-CN" altLang="en-US" sz="1200" dirty="0"/>
              <a:t>级的数据，运行在上千节点上；</a:t>
            </a:r>
            <a:r>
              <a:rPr lang="en-US" altLang="zh-CN" sz="1200" dirty="0"/>
              <a:t>Big Table</a:t>
            </a:r>
            <a:r>
              <a:rPr lang="zh-CN" altLang="en-US" sz="1200" dirty="0"/>
              <a:t>技术已经在</a:t>
            </a:r>
            <a:r>
              <a:rPr lang="en-US" altLang="zh-CN" sz="1200" dirty="0"/>
              <a:t>Google</a:t>
            </a:r>
            <a:r>
              <a:rPr lang="zh-CN" altLang="en-US" sz="1200" dirty="0"/>
              <a:t>的若干服务中得到应用，包括</a:t>
            </a:r>
            <a:r>
              <a:rPr lang="en-US" altLang="zh-CN" sz="1200" dirty="0"/>
              <a:t>Web</a:t>
            </a:r>
            <a:r>
              <a:rPr lang="zh-CN" altLang="en-US" sz="1200" dirty="0"/>
              <a:t>索引</a:t>
            </a:r>
            <a:r>
              <a:rPr lang="en-US" altLang="zh-CN" sz="1200" dirty="0"/>
              <a:t>(Web Indexing)</a:t>
            </a:r>
            <a:r>
              <a:rPr lang="zh-CN" altLang="en-US" sz="1200" dirty="0"/>
              <a:t>、</a:t>
            </a:r>
            <a:r>
              <a:rPr lang="en-US" altLang="zh-CN" sz="1200" dirty="0"/>
              <a:t>Google</a:t>
            </a:r>
            <a:r>
              <a:rPr lang="zh-CN" altLang="en-US" sz="1200" dirty="0"/>
              <a:t>地球</a:t>
            </a:r>
            <a:r>
              <a:rPr lang="en-US" altLang="zh-CN" sz="1200" dirty="0"/>
              <a:t>(Google Earth)</a:t>
            </a:r>
            <a:r>
              <a:rPr lang="zh-CN" altLang="en-US" sz="1200" dirty="0"/>
              <a:t>、</a:t>
            </a:r>
            <a:r>
              <a:rPr lang="en-US" altLang="zh-CN" sz="1200" dirty="0"/>
              <a:t>Google</a:t>
            </a:r>
            <a:r>
              <a:rPr lang="zh-CN" altLang="en-US" sz="1200" dirty="0"/>
              <a:t>金融</a:t>
            </a:r>
            <a:r>
              <a:rPr lang="en-US" altLang="zh-CN" sz="1200" dirty="0"/>
              <a:t>(Google Finance)</a:t>
            </a:r>
            <a:r>
              <a:rPr lang="zh-CN" altLang="en-US" sz="1200" dirty="0"/>
              <a:t>等；</a:t>
            </a:r>
            <a:r>
              <a:rPr lang="en-US" altLang="zh-CN" sz="1200" dirty="0"/>
              <a:t>Big Table</a:t>
            </a:r>
            <a:r>
              <a:rPr lang="zh-CN" altLang="en-US" sz="1200" dirty="0"/>
              <a:t>是采用列分组</a:t>
            </a:r>
            <a:r>
              <a:rPr lang="en-US" altLang="zh-CN" sz="1200" dirty="0"/>
              <a:t>(Column Family)</a:t>
            </a:r>
            <a:r>
              <a:rPr lang="zh-CN" altLang="en-US" sz="1200" dirty="0"/>
              <a:t>技术的</a:t>
            </a:r>
            <a:r>
              <a:rPr lang="en-US" altLang="zh-CN" sz="1200" dirty="0"/>
              <a:t>NoSQL</a:t>
            </a:r>
            <a:r>
              <a:rPr lang="zh-CN" altLang="en-US" sz="1200" dirty="0"/>
              <a:t>数据库，它采用多层嵌套映射</a:t>
            </a:r>
            <a:r>
              <a:rPr lang="en-US" altLang="zh-CN" sz="1200" dirty="0"/>
              <a:t>(Map)</a:t>
            </a:r>
            <a:r>
              <a:rPr lang="zh-CN" altLang="en-US" sz="1200" dirty="0"/>
              <a:t>的数据结构，给予用户非常灵活的数据建模手段</a:t>
            </a:r>
          </a:p>
          <a:p>
            <a:pPr lvl="1" algn="just"/>
            <a:r>
              <a:rPr lang="en-US" altLang="zh-CN" sz="1400" dirty="0">
                <a:solidFill>
                  <a:srgbClr val="C00000"/>
                </a:solidFill>
              </a:rPr>
              <a:t>Percolator</a:t>
            </a:r>
          </a:p>
          <a:p>
            <a:pPr lvl="2" algn="just"/>
            <a:r>
              <a:rPr lang="zh-CN" altLang="en-US" sz="1200" dirty="0"/>
              <a:t>随着互联网变得越来越庞大，需要索引的数据量呈现指数级的增长趋势；网页数据更新后，从整个数据集重建索引，效率越来越难以接受；</a:t>
            </a:r>
            <a:r>
              <a:rPr lang="en-US" altLang="zh-CN" sz="1200" dirty="0"/>
              <a:t>Google</a:t>
            </a:r>
            <a:r>
              <a:rPr lang="zh-CN" altLang="en-US" sz="1200" dirty="0"/>
              <a:t>研发了分布式的增量计算模型</a:t>
            </a:r>
            <a:r>
              <a:rPr lang="en-US" altLang="zh-CN" sz="1200" dirty="0"/>
              <a:t>Percolator(Caffeine)</a:t>
            </a:r>
            <a:r>
              <a:rPr lang="zh-CN" altLang="en-US" sz="1200" dirty="0"/>
              <a:t>；</a:t>
            </a:r>
            <a:r>
              <a:rPr lang="en-US" altLang="zh-CN" sz="1200" dirty="0"/>
              <a:t>Google</a:t>
            </a:r>
            <a:r>
              <a:rPr lang="zh-CN" altLang="en-US" sz="1200" dirty="0"/>
              <a:t>通过</a:t>
            </a:r>
            <a:r>
              <a:rPr lang="en-US" altLang="zh-CN" sz="1200" dirty="0"/>
              <a:t>Percolator</a:t>
            </a:r>
            <a:r>
              <a:rPr lang="zh-CN" altLang="en-US" sz="1200" dirty="0"/>
              <a:t>技术，以增量的方式更新其互联网的索引，反映最新的</a:t>
            </a:r>
            <a:r>
              <a:rPr lang="en-US" altLang="zh-CN" sz="1200" dirty="0"/>
              <a:t>(Up to Date)</a:t>
            </a:r>
            <a:r>
              <a:rPr lang="zh-CN" altLang="en-US" sz="1200" dirty="0"/>
              <a:t>网页变化</a:t>
            </a:r>
            <a:endParaRPr lang="en-US" altLang="zh-CN" sz="1200" dirty="0"/>
          </a:p>
        </p:txBody>
      </p:sp>
      <p:pic>
        <p:nvPicPr>
          <p:cNvPr id="5" name="图片 4">
            <a:extLst>
              <a:ext uri="{FF2B5EF4-FFF2-40B4-BE49-F238E27FC236}">
                <a16:creationId xmlns:a16="http://schemas.microsoft.com/office/drawing/2014/main" id="{3B94D7FA-9489-4FA7-864C-E0CA72E82206}"/>
              </a:ext>
            </a:extLst>
          </p:cNvPr>
          <p:cNvPicPr>
            <a:picLocks noChangeAspect="1"/>
          </p:cNvPicPr>
          <p:nvPr/>
        </p:nvPicPr>
        <p:blipFill>
          <a:blip r:embed="rId2"/>
          <a:stretch>
            <a:fillRect/>
          </a:stretch>
        </p:blipFill>
        <p:spPr>
          <a:xfrm>
            <a:off x="5975540" y="1686826"/>
            <a:ext cx="3089505" cy="2243178"/>
          </a:xfrm>
          <a:prstGeom prst="rect">
            <a:avLst/>
          </a:prstGeom>
        </p:spPr>
      </p:pic>
    </p:spTree>
    <p:extLst>
      <p:ext uri="{BB962C8B-B14F-4D97-AF65-F5344CB8AC3E}">
        <p14:creationId xmlns:p14="http://schemas.microsoft.com/office/powerpoint/2010/main" val="301293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8114813" cy="3978533"/>
          </a:xfrm>
        </p:spPr>
        <p:txBody>
          <a:bodyPr>
            <a:normAutofit fontScale="92500" lnSpcReduction="10000"/>
          </a:bodyPr>
          <a:lstStyle/>
          <a:p>
            <a:pPr algn="just"/>
            <a:r>
              <a:rPr lang="en-US" altLang="zh-CN" sz="1600" dirty="0">
                <a:solidFill>
                  <a:srgbClr val="C00000"/>
                </a:solidFill>
              </a:rPr>
              <a:t>Google</a:t>
            </a:r>
          </a:p>
          <a:p>
            <a:pPr lvl="1" algn="just"/>
            <a:r>
              <a:rPr lang="en-US" altLang="zh-CN" sz="1400" dirty="0">
                <a:solidFill>
                  <a:srgbClr val="C00000"/>
                </a:solidFill>
              </a:rPr>
              <a:t>Pregel</a:t>
            </a:r>
          </a:p>
          <a:p>
            <a:pPr lvl="2" algn="just"/>
            <a:r>
              <a:rPr lang="zh-CN" altLang="en-US" sz="1200" dirty="0"/>
              <a:t>随着社交网络的流行，</a:t>
            </a:r>
            <a:r>
              <a:rPr lang="en-US" altLang="zh-CN" sz="1200" dirty="0"/>
              <a:t>Google</a:t>
            </a:r>
            <a:r>
              <a:rPr lang="zh-CN" altLang="en-US" sz="1200" dirty="0"/>
              <a:t>需要对其用户数据中的网络关系进行分析，充分利用社交网络分析技术，实现更好的产品和服务，</a:t>
            </a:r>
            <a:r>
              <a:rPr lang="en-US" altLang="zh-CN" sz="1200" dirty="0"/>
              <a:t>Google</a:t>
            </a:r>
            <a:r>
              <a:rPr lang="zh-CN" altLang="en-US" sz="1200" dirty="0"/>
              <a:t>提出的</a:t>
            </a:r>
            <a:r>
              <a:rPr lang="en-US" altLang="zh-CN" sz="1200" dirty="0"/>
              <a:t>Pregel</a:t>
            </a:r>
            <a:r>
              <a:rPr lang="zh-CN" altLang="en-US" sz="1200" dirty="0"/>
              <a:t>技术，是基于</a:t>
            </a:r>
            <a:r>
              <a:rPr lang="en-US" altLang="zh-CN" sz="1200" dirty="0"/>
              <a:t>BSP(Bulk Synchronous Parallel)</a:t>
            </a:r>
            <a:r>
              <a:rPr lang="zh-CN" altLang="en-US" sz="1200" dirty="0"/>
              <a:t>模型的图数据分布式处理框架</a:t>
            </a:r>
          </a:p>
          <a:p>
            <a:pPr lvl="1" algn="just"/>
            <a:r>
              <a:rPr lang="en-US" altLang="zh-CN" sz="1400" dirty="0">
                <a:solidFill>
                  <a:srgbClr val="C00000"/>
                </a:solidFill>
              </a:rPr>
              <a:t>Dremel &amp; Tenzing</a:t>
            </a:r>
          </a:p>
          <a:p>
            <a:pPr lvl="2" algn="just"/>
            <a:r>
              <a:rPr lang="zh-CN" altLang="en-US" sz="1200" dirty="0"/>
              <a:t>在大数据上实现即席查询或者交互式查询，是人们的梦想，由于数据量极其庞大，这个问题变得相当的困难</a:t>
            </a:r>
          </a:p>
          <a:p>
            <a:pPr lvl="2" algn="just"/>
            <a:r>
              <a:rPr lang="en-US" altLang="zh-CN" sz="1200" dirty="0"/>
              <a:t>Dremel</a:t>
            </a:r>
            <a:r>
              <a:rPr lang="zh-CN" altLang="en-US" sz="1200" dirty="0"/>
              <a:t>是一个在只读数据上进行交互式即席查询分析的、高度可扩展的分布式系统</a:t>
            </a:r>
          </a:p>
          <a:p>
            <a:pPr lvl="2" algn="just"/>
            <a:r>
              <a:rPr lang="en-US" altLang="zh-CN" sz="1200" dirty="0"/>
              <a:t>Tenzing</a:t>
            </a:r>
            <a:r>
              <a:rPr lang="zh-CN" altLang="en-US" sz="1200" dirty="0"/>
              <a:t>是</a:t>
            </a:r>
            <a:r>
              <a:rPr lang="en-US" altLang="zh-CN" sz="1200" dirty="0"/>
              <a:t>Google</a:t>
            </a:r>
            <a:r>
              <a:rPr lang="zh-CN" altLang="en-US" sz="1200" dirty="0"/>
              <a:t>在</a:t>
            </a:r>
            <a:r>
              <a:rPr lang="en-US" altLang="zh-CN" sz="1200" dirty="0"/>
              <a:t>MapReduce</a:t>
            </a:r>
            <a:r>
              <a:rPr lang="zh-CN" altLang="en-US" sz="1200" dirty="0"/>
              <a:t>平台上直接建立的、支持即席查询分析的查询引擎，</a:t>
            </a:r>
            <a:r>
              <a:rPr lang="en-US" altLang="zh-CN" sz="1200" dirty="0" err="1"/>
              <a:t>Tenzing</a:t>
            </a:r>
            <a:r>
              <a:rPr lang="zh-CN" altLang="en-US" sz="1200" dirty="0"/>
              <a:t>支持大部分的</a:t>
            </a:r>
            <a:r>
              <a:rPr lang="en-US" altLang="zh-CN" sz="1200" dirty="0"/>
              <a:t>SQL</a:t>
            </a:r>
            <a:r>
              <a:rPr lang="zh-CN" altLang="en-US" sz="1200" dirty="0"/>
              <a:t>功能，整个系统具有很高的扩展能力和可靠性，通过列存储等优化技术支持查询能力的提升</a:t>
            </a:r>
          </a:p>
          <a:p>
            <a:pPr lvl="1" algn="just"/>
            <a:r>
              <a:rPr lang="en-US" altLang="zh-CN" sz="1400" dirty="0">
                <a:solidFill>
                  <a:srgbClr val="C00000"/>
                </a:solidFill>
              </a:rPr>
              <a:t>Mega Store</a:t>
            </a:r>
          </a:p>
          <a:p>
            <a:pPr lvl="2" algn="just"/>
            <a:r>
              <a:rPr lang="en-US" altLang="zh-CN" sz="1200" dirty="0"/>
              <a:t>Mega Store</a:t>
            </a:r>
            <a:r>
              <a:rPr lang="zh-CN" altLang="en-US" sz="1200" dirty="0"/>
              <a:t>基于</a:t>
            </a:r>
            <a:r>
              <a:rPr lang="en-US" altLang="zh-CN" sz="1200" dirty="0"/>
              <a:t>Google</a:t>
            </a:r>
            <a:r>
              <a:rPr lang="zh-CN" altLang="en-US" sz="1200" dirty="0"/>
              <a:t>的列分组</a:t>
            </a:r>
            <a:r>
              <a:rPr lang="en-US" altLang="zh-CN" sz="1200" dirty="0"/>
              <a:t>NoSQL</a:t>
            </a:r>
            <a:r>
              <a:rPr lang="zh-CN" altLang="en-US" sz="1200" dirty="0"/>
              <a:t>数据库</a:t>
            </a:r>
            <a:r>
              <a:rPr lang="en-US" altLang="zh-CN" sz="1200" dirty="0"/>
              <a:t>Big Table</a:t>
            </a:r>
            <a:r>
              <a:rPr lang="zh-CN" altLang="en-US" sz="1200" dirty="0"/>
              <a:t>创建，</a:t>
            </a:r>
            <a:r>
              <a:rPr lang="en-US" altLang="zh-CN" sz="1200" dirty="0"/>
              <a:t>Mega Store</a:t>
            </a:r>
            <a:r>
              <a:rPr lang="zh-CN" altLang="en-US" sz="1200" dirty="0"/>
              <a:t>的主要目标，是把</a:t>
            </a:r>
            <a:r>
              <a:rPr lang="en-US" altLang="zh-CN" sz="1200" dirty="0"/>
              <a:t>NoSQL </a:t>
            </a:r>
            <a:r>
              <a:rPr lang="zh-CN" altLang="en-US" sz="1200" dirty="0"/>
              <a:t>数据库的扩展性和传统数据库的事务处理能力结合起来，</a:t>
            </a:r>
            <a:r>
              <a:rPr lang="en-US" altLang="zh-CN" sz="1200" dirty="0"/>
              <a:t>Mega Store</a:t>
            </a:r>
            <a:r>
              <a:rPr lang="zh-CN" altLang="en-US" sz="1200" dirty="0"/>
              <a:t>在细粒度的数据上，提供了完全可串行化</a:t>
            </a:r>
            <a:r>
              <a:rPr lang="en-US" altLang="zh-CN" sz="1200" dirty="0"/>
              <a:t>(Serializable)</a:t>
            </a:r>
            <a:r>
              <a:rPr lang="zh-CN" altLang="en-US" sz="1200" dirty="0"/>
              <a:t>的事务语义</a:t>
            </a:r>
          </a:p>
          <a:p>
            <a:pPr lvl="1" algn="just"/>
            <a:r>
              <a:rPr lang="en-US" altLang="zh-CN" sz="1400" dirty="0">
                <a:solidFill>
                  <a:srgbClr val="C00000"/>
                </a:solidFill>
              </a:rPr>
              <a:t>Spanner &amp; F1</a:t>
            </a:r>
          </a:p>
          <a:p>
            <a:pPr lvl="2" algn="just"/>
            <a:r>
              <a:rPr lang="en-US" altLang="zh-CN" sz="1200" dirty="0"/>
              <a:t>F1</a:t>
            </a:r>
            <a:r>
              <a:rPr lang="zh-CN" altLang="en-US" sz="1200" dirty="0"/>
              <a:t>是一个新型的分布式关系数据库，</a:t>
            </a:r>
            <a:r>
              <a:rPr lang="en-US" altLang="zh-CN" sz="1200" dirty="0"/>
              <a:t>Spanner</a:t>
            </a:r>
            <a:r>
              <a:rPr lang="zh-CN" altLang="en-US" sz="1200" dirty="0"/>
              <a:t>是</a:t>
            </a:r>
            <a:r>
              <a:rPr lang="en-US" altLang="zh-CN" sz="1200" dirty="0"/>
              <a:t>F1</a:t>
            </a:r>
            <a:r>
              <a:rPr lang="zh-CN" altLang="en-US" sz="1200" dirty="0"/>
              <a:t>数据库的后端部分，其目的是从用户角度来看，</a:t>
            </a:r>
            <a:r>
              <a:rPr lang="en-US" altLang="zh-CN" sz="1200" dirty="0"/>
              <a:t>F1</a:t>
            </a:r>
            <a:r>
              <a:rPr lang="zh-CN" altLang="en-US" sz="1200" dirty="0"/>
              <a:t>数据库看起来和传统的关系数据库没有什么两样，本质上，</a:t>
            </a:r>
            <a:r>
              <a:rPr lang="en-US" altLang="zh-CN" sz="1200" dirty="0"/>
              <a:t>Spanner</a:t>
            </a:r>
            <a:r>
              <a:rPr lang="zh-CN" altLang="en-US" sz="1200" dirty="0"/>
              <a:t>是一个高度扩展的、支持多版本的、支持同步复制的分布式数据库系统</a:t>
            </a:r>
          </a:p>
          <a:p>
            <a:pPr lvl="1" algn="just"/>
            <a:r>
              <a:rPr lang="en-US" altLang="zh-CN" sz="1400" dirty="0">
                <a:solidFill>
                  <a:srgbClr val="C00000"/>
                </a:solidFill>
              </a:rPr>
              <a:t>App Engine</a:t>
            </a:r>
          </a:p>
          <a:p>
            <a:pPr lvl="2" algn="just"/>
            <a:r>
              <a:rPr lang="en-US" altLang="zh-CN" sz="1200" dirty="0"/>
              <a:t>Google App Engine</a:t>
            </a:r>
            <a:r>
              <a:rPr lang="zh-CN" altLang="en-US" sz="1200" dirty="0"/>
              <a:t>是一个由</a:t>
            </a:r>
            <a:r>
              <a:rPr lang="en-US" altLang="zh-CN" sz="1200" dirty="0"/>
              <a:t>Python</a:t>
            </a:r>
            <a:r>
              <a:rPr lang="zh-CN" altLang="en-US" sz="1200" dirty="0"/>
              <a:t>应用服务器集群、</a:t>
            </a:r>
            <a:r>
              <a:rPr lang="en-US" altLang="zh-CN" sz="1200" dirty="0"/>
              <a:t>Big Table</a:t>
            </a:r>
            <a:r>
              <a:rPr lang="zh-CN" altLang="en-US" sz="1200" dirty="0"/>
              <a:t>数据库、以及</a:t>
            </a:r>
            <a:r>
              <a:rPr lang="en-US" altLang="zh-CN" sz="1200" dirty="0"/>
              <a:t>GFS</a:t>
            </a:r>
            <a:r>
              <a:rPr lang="zh-CN" altLang="en-US" sz="1200" dirty="0"/>
              <a:t>数据存储服务组成的云计算平台，为开发者提供一体化、可升级的在线应用开发环境</a:t>
            </a:r>
          </a:p>
        </p:txBody>
      </p:sp>
    </p:spTree>
    <p:extLst>
      <p:ext uri="{BB962C8B-B14F-4D97-AF65-F5344CB8AC3E}">
        <p14:creationId xmlns:p14="http://schemas.microsoft.com/office/powerpoint/2010/main" val="1250636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9"/>
            <a:ext cx="8114813" cy="3978533"/>
          </a:xfrm>
        </p:spPr>
        <p:txBody>
          <a:bodyPr>
            <a:normAutofit/>
          </a:bodyPr>
          <a:lstStyle/>
          <a:p>
            <a:pPr algn="just"/>
            <a:r>
              <a:rPr lang="zh-CN" altLang="en-US" sz="1600" dirty="0">
                <a:solidFill>
                  <a:srgbClr val="C00000"/>
                </a:solidFill>
              </a:rPr>
              <a:t>阿里云</a:t>
            </a:r>
          </a:p>
          <a:p>
            <a:pPr lvl="1" algn="just"/>
            <a:r>
              <a:rPr lang="zh-CN" altLang="en-US" sz="1400" dirty="0"/>
              <a:t>阿里云是阿里巴巴集团下属的子公司，提供云计算技术和服务</a:t>
            </a:r>
            <a:endParaRPr lang="en-US" altLang="zh-CN" sz="1400" dirty="0"/>
          </a:p>
          <a:p>
            <a:pPr lvl="1" algn="just"/>
            <a:r>
              <a:rPr lang="zh-CN" altLang="en-US" sz="1400" dirty="0"/>
              <a:t>它创立于</a:t>
            </a:r>
            <a:r>
              <a:rPr lang="en-US" altLang="zh-CN" sz="1400" dirty="0"/>
              <a:t>2009</a:t>
            </a:r>
            <a:r>
              <a:rPr lang="zh-CN" altLang="en-US" sz="1400" dirty="0"/>
              <a:t>年，在杭州、北京、硅谷设立研发中心和运营机构，从</a:t>
            </a:r>
            <a:r>
              <a:rPr lang="en-US" altLang="zh-CN" sz="1400" dirty="0"/>
              <a:t>2010</a:t>
            </a:r>
            <a:r>
              <a:rPr lang="zh-CN" altLang="en-US" sz="1400" dirty="0"/>
              <a:t>年开始，阿里云开始对外开放云计算服务</a:t>
            </a:r>
            <a:endParaRPr lang="en-US" altLang="zh-CN" sz="1400" dirty="0"/>
          </a:p>
          <a:p>
            <a:pPr lvl="1" algn="just"/>
            <a:r>
              <a:rPr lang="zh-CN" altLang="en-US" sz="1400" dirty="0"/>
              <a:t>用户通过阿里云获得海量计算、存储资源、以及大数据管理和处理能力，无需建立自己的信息基础设施</a:t>
            </a:r>
            <a:endParaRPr lang="en-US" altLang="zh-CN" sz="1400" dirty="0"/>
          </a:p>
          <a:p>
            <a:pPr lvl="1" algn="just"/>
            <a:r>
              <a:rPr lang="zh-CN" altLang="en-US" sz="1400" dirty="0"/>
              <a:t>在上述云计算服务能力基础上，阿里云还提供了针对政府、电子商务、金融、医疗、</a:t>
            </a:r>
            <a:r>
              <a:rPr lang="en-US" altLang="zh-CN" sz="1400" dirty="0"/>
              <a:t>O2O(Offline to Office)</a:t>
            </a:r>
            <a:r>
              <a:rPr lang="zh-CN" altLang="en-US" sz="1400" dirty="0"/>
              <a:t>等行业的解决方案</a:t>
            </a:r>
            <a:endParaRPr lang="en-US" altLang="zh-CN" sz="1400" dirty="0"/>
          </a:p>
          <a:p>
            <a:pPr lvl="1" algn="just"/>
            <a:r>
              <a:rPr lang="zh-CN" altLang="en-US" sz="1400" dirty="0"/>
              <a:t>阿里云提供的几大核心服务，包括弹性计算、云数据存储、内容分发、以及大规模计算服务</a:t>
            </a:r>
          </a:p>
          <a:p>
            <a:pPr lvl="2" algn="just"/>
            <a:endParaRPr lang="zh-CN" altLang="en-US" sz="1200" dirty="0"/>
          </a:p>
        </p:txBody>
      </p:sp>
      <p:pic>
        <p:nvPicPr>
          <p:cNvPr id="5" name="图片 4">
            <a:extLst>
              <a:ext uri="{FF2B5EF4-FFF2-40B4-BE49-F238E27FC236}">
                <a16:creationId xmlns:a16="http://schemas.microsoft.com/office/drawing/2014/main" id="{92A8ED04-D96A-485A-A8D3-B0777CD44B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4072" y="3183050"/>
            <a:ext cx="2470508" cy="1614632"/>
          </a:xfrm>
          <a:prstGeom prst="rect">
            <a:avLst/>
          </a:prstGeom>
        </p:spPr>
      </p:pic>
      <p:pic>
        <p:nvPicPr>
          <p:cNvPr id="1026" name="Picture 2" descr="https://inews.gtimg.com/newsapp_bt/0/12918698534/1000">
            <a:extLst>
              <a:ext uri="{FF2B5EF4-FFF2-40B4-BE49-F238E27FC236}">
                <a16:creationId xmlns:a16="http://schemas.microsoft.com/office/drawing/2014/main" id="{BE012618-6D90-405E-932C-5EAC50A8C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9287" y="3183051"/>
            <a:ext cx="1822226" cy="1614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09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8C8600-65F6-4265-B02A-E6F84DACB6B6}"/>
              </a:ext>
            </a:extLst>
          </p:cNvPr>
          <p:cNvSpPr>
            <a:spLocks noGrp="1"/>
          </p:cNvSpPr>
          <p:nvPr>
            <p:ph type="title"/>
          </p:nvPr>
        </p:nvSpPr>
        <p:spPr/>
        <p:txBody>
          <a:bodyPr/>
          <a:lstStyle/>
          <a:p>
            <a:r>
              <a:rPr lang="zh-CN" altLang="en-US" dirty="0"/>
              <a:t>厂商的云计算产品和服务</a:t>
            </a:r>
          </a:p>
        </p:txBody>
      </p:sp>
      <p:sp>
        <p:nvSpPr>
          <p:cNvPr id="3" name="内容占位符 2">
            <a:extLst>
              <a:ext uri="{FF2B5EF4-FFF2-40B4-BE49-F238E27FC236}">
                <a16:creationId xmlns:a16="http://schemas.microsoft.com/office/drawing/2014/main" id="{D8DD325C-BCDD-49B5-BF3A-5D3A44403026}"/>
              </a:ext>
            </a:extLst>
          </p:cNvPr>
          <p:cNvSpPr>
            <a:spLocks noGrp="1"/>
          </p:cNvSpPr>
          <p:nvPr>
            <p:ph idx="1"/>
          </p:nvPr>
        </p:nvSpPr>
        <p:spPr>
          <a:xfrm>
            <a:off x="457201" y="819148"/>
            <a:ext cx="8184227" cy="2581305"/>
          </a:xfrm>
        </p:spPr>
        <p:txBody>
          <a:bodyPr>
            <a:noAutofit/>
          </a:bodyPr>
          <a:lstStyle/>
          <a:p>
            <a:pPr algn="just"/>
            <a:r>
              <a:rPr lang="zh-CN" altLang="en-US" sz="1400" dirty="0">
                <a:solidFill>
                  <a:srgbClr val="C00000"/>
                </a:solidFill>
              </a:rPr>
              <a:t>阿里云</a:t>
            </a:r>
          </a:p>
          <a:p>
            <a:pPr lvl="1" algn="just"/>
            <a:r>
              <a:rPr lang="zh-CN" altLang="en-US" sz="1200" dirty="0">
                <a:solidFill>
                  <a:srgbClr val="C00000"/>
                </a:solidFill>
              </a:rPr>
              <a:t>弹性计算服务</a:t>
            </a:r>
          </a:p>
          <a:p>
            <a:pPr lvl="2" algn="just"/>
            <a:r>
              <a:rPr lang="zh-CN" altLang="en-US" sz="1000" dirty="0"/>
              <a:t>弹性计算服务，提供了虚拟节点以及集群服务，即</a:t>
            </a:r>
            <a:r>
              <a:rPr lang="en-US" altLang="zh-CN" sz="1000" dirty="0"/>
              <a:t>IaaS</a:t>
            </a:r>
            <a:r>
              <a:rPr lang="zh-CN" altLang="en-US" sz="1000" dirty="0"/>
              <a:t>服务，支持上万规模的</a:t>
            </a:r>
            <a:r>
              <a:rPr lang="en-US" altLang="zh-CN" sz="1000" dirty="0"/>
              <a:t>CPU</a:t>
            </a:r>
            <a:r>
              <a:rPr lang="zh-CN" altLang="en-US" sz="1000" dirty="0"/>
              <a:t>，</a:t>
            </a:r>
            <a:r>
              <a:rPr lang="en-US" altLang="zh-CN" sz="1000" dirty="0"/>
              <a:t>TB</a:t>
            </a:r>
            <a:r>
              <a:rPr lang="zh-CN" altLang="en-US" sz="1000" dirty="0"/>
              <a:t>级的内存容量</a:t>
            </a:r>
          </a:p>
          <a:p>
            <a:pPr lvl="1" algn="just"/>
            <a:r>
              <a:rPr lang="zh-CN" altLang="en-US" sz="1200" dirty="0">
                <a:solidFill>
                  <a:srgbClr val="C00000"/>
                </a:solidFill>
              </a:rPr>
              <a:t>数据存储服务</a:t>
            </a:r>
          </a:p>
          <a:p>
            <a:pPr lvl="2" algn="just"/>
            <a:r>
              <a:rPr lang="zh-CN" altLang="en-US" sz="1000" dirty="0"/>
              <a:t>数据存储服务，帮助用户实现各类数据在云平台上的存储管理和分析，整个产品线包括云数据库</a:t>
            </a:r>
            <a:r>
              <a:rPr lang="en-US" altLang="zh-CN" sz="1000" dirty="0"/>
              <a:t>RDS(Relational Database Service)</a:t>
            </a:r>
            <a:r>
              <a:rPr lang="zh-CN" altLang="en-US" sz="1000" dirty="0"/>
              <a:t>、开放结构化数据服务</a:t>
            </a:r>
            <a:r>
              <a:rPr lang="en-US" altLang="zh-CN" sz="1000" dirty="0"/>
              <a:t>OTS(Open Table Service)</a:t>
            </a:r>
            <a:r>
              <a:rPr lang="zh-CN" altLang="en-US" sz="1000" dirty="0"/>
              <a:t>、分析型数据库服务、开放缓存服务</a:t>
            </a:r>
            <a:r>
              <a:rPr lang="en-US" altLang="zh-CN" sz="1000" dirty="0"/>
              <a:t>OCS(Open Cache Service)</a:t>
            </a:r>
            <a:r>
              <a:rPr lang="zh-CN" altLang="en-US" sz="1000" dirty="0"/>
              <a:t>、以及键值存储服务</a:t>
            </a:r>
            <a:r>
              <a:rPr lang="en-US" altLang="zh-CN" sz="1000" dirty="0"/>
              <a:t>K/V Store for Redis</a:t>
            </a:r>
            <a:r>
              <a:rPr lang="zh-CN" altLang="en-US" sz="1000" dirty="0"/>
              <a:t>等</a:t>
            </a:r>
          </a:p>
          <a:p>
            <a:pPr lvl="1" algn="just"/>
            <a:r>
              <a:rPr lang="zh-CN" altLang="en-US" sz="1200" dirty="0">
                <a:solidFill>
                  <a:srgbClr val="C00000"/>
                </a:solidFill>
              </a:rPr>
              <a:t>存储与</a:t>
            </a:r>
            <a:r>
              <a:rPr lang="en-US" altLang="zh-CN" sz="1200" dirty="0">
                <a:solidFill>
                  <a:srgbClr val="C00000"/>
                </a:solidFill>
              </a:rPr>
              <a:t>CDN</a:t>
            </a:r>
            <a:r>
              <a:rPr lang="zh-CN" altLang="en-US" sz="1200" dirty="0">
                <a:solidFill>
                  <a:srgbClr val="C00000"/>
                </a:solidFill>
              </a:rPr>
              <a:t>服务</a:t>
            </a:r>
          </a:p>
          <a:p>
            <a:pPr lvl="2" algn="just"/>
            <a:r>
              <a:rPr lang="zh-CN" altLang="en-US" sz="1000" dirty="0"/>
              <a:t>存储与</a:t>
            </a:r>
            <a:r>
              <a:rPr lang="en-US" altLang="zh-CN" sz="1000" dirty="0"/>
              <a:t>CDN(Content Delivery Network)</a:t>
            </a:r>
            <a:r>
              <a:rPr lang="zh-CN" altLang="en-US" sz="1000" dirty="0"/>
              <a:t>服务，则提供了内容存储和分发能力</a:t>
            </a:r>
          </a:p>
          <a:p>
            <a:pPr lvl="1" algn="just"/>
            <a:r>
              <a:rPr lang="zh-CN" altLang="en-US" sz="1200" dirty="0">
                <a:solidFill>
                  <a:srgbClr val="C00000"/>
                </a:solidFill>
              </a:rPr>
              <a:t>大规模计算服务</a:t>
            </a:r>
          </a:p>
          <a:p>
            <a:pPr lvl="2" algn="just"/>
            <a:r>
              <a:rPr lang="zh-CN" altLang="en-US" sz="1000" dirty="0"/>
              <a:t>大规模计算服务，包括开放数据处理服务</a:t>
            </a:r>
            <a:r>
              <a:rPr lang="en-US" altLang="zh-CN" sz="1000" dirty="0"/>
              <a:t>ODP(Open Data Processing)</a:t>
            </a:r>
            <a:r>
              <a:rPr lang="zh-CN" altLang="en-US" sz="1000" dirty="0"/>
              <a:t>、以及批量计算服务等；其中，开放数据处理服务针对</a:t>
            </a:r>
            <a:r>
              <a:rPr lang="en-US" altLang="zh-CN" sz="1000" dirty="0"/>
              <a:t>TB/PB</a:t>
            </a:r>
            <a:r>
              <a:rPr lang="zh-CN" altLang="en-US" sz="1000" dirty="0"/>
              <a:t>级数据、实时性要求不高的分布式处理需求，应用于数据分析、挖掘、商业智能等领域；批量计算服务，则适用于需要大量批处理作业的大规模并行处理场合</a:t>
            </a:r>
          </a:p>
          <a:p>
            <a:pPr lvl="2" algn="just"/>
            <a:endParaRPr lang="zh-CN" altLang="en-US" sz="1000" dirty="0"/>
          </a:p>
        </p:txBody>
      </p:sp>
      <p:pic>
        <p:nvPicPr>
          <p:cNvPr id="5" name="图片 4">
            <a:extLst>
              <a:ext uri="{FF2B5EF4-FFF2-40B4-BE49-F238E27FC236}">
                <a16:creationId xmlns:a16="http://schemas.microsoft.com/office/drawing/2014/main" id="{F7CFC7D1-B0BD-4F09-8FB5-68DA9330AA56}"/>
              </a:ext>
            </a:extLst>
          </p:cNvPr>
          <p:cNvPicPr>
            <a:picLocks noChangeAspect="1"/>
          </p:cNvPicPr>
          <p:nvPr/>
        </p:nvPicPr>
        <p:blipFill>
          <a:blip r:embed="rId2"/>
          <a:stretch>
            <a:fillRect/>
          </a:stretch>
        </p:blipFill>
        <p:spPr>
          <a:xfrm>
            <a:off x="2583180" y="3400453"/>
            <a:ext cx="3982876" cy="1537943"/>
          </a:xfrm>
          <a:prstGeom prst="rect">
            <a:avLst/>
          </a:prstGeom>
        </p:spPr>
      </p:pic>
    </p:spTree>
    <p:extLst>
      <p:ext uri="{BB962C8B-B14F-4D97-AF65-F5344CB8AC3E}">
        <p14:creationId xmlns:p14="http://schemas.microsoft.com/office/powerpoint/2010/main" val="2160066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4" name="图片 3"/>
          <p:cNvPicPr>
            <a:picLocks noChangeAspect="1"/>
          </p:cNvPicPr>
          <p:nvPr/>
        </p:nvPicPr>
        <p:blipFill>
          <a:blip r:embed="rId2"/>
          <a:stretch>
            <a:fillRect/>
          </a:stretch>
        </p:blipFill>
        <p:spPr>
          <a:xfrm>
            <a:off x="2374480" y="977853"/>
            <a:ext cx="4388127" cy="3778297"/>
          </a:xfrm>
          <a:prstGeom prst="rect">
            <a:avLst/>
          </a:prstGeom>
        </p:spPr>
      </p:pic>
    </p:spTree>
    <p:extLst>
      <p:ext uri="{BB962C8B-B14F-4D97-AF65-F5344CB8AC3E}">
        <p14:creationId xmlns:p14="http://schemas.microsoft.com/office/powerpoint/2010/main" val="254294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dirty="0"/>
              <a:t>阿里云的幕后英雄</a:t>
            </a:r>
            <a:endParaRPr kumimoji="1" lang="en-US" altLang="zh-CN" dirty="0"/>
          </a:p>
        </p:txBody>
      </p:sp>
      <p:pic>
        <p:nvPicPr>
          <p:cNvPr id="4" name="图片 3"/>
          <p:cNvPicPr>
            <a:picLocks noChangeAspect="1"/>
          </p:cNvPicPr>
          <p:nvPr/>
        </p:nvPicPr>
        <p:blipFill rotWithShape="1">
          <a:blip r:embed="rId2"/>
          <a:srcRect t="42873"/>
          <a:stretch/>
        </p:blipFill>
        <p:spPr>
          <a:xfrm>
            <a:off x="4798281" y="1135746"/>
            <a:ext cx="4199971" cy="3620404"/>
          </a:xfrm>
          <a:prstGeom prst="rect">
            <a:avLst/>
          </a:prstGeom>
        </p:spPr>
      </p:pic>
      <p:pic>
        <p:nvPicPr>
          <p:cNvPr id="6" name="图片 5"/>
          <p:cNvPicPr>
            <a:picLocks noChangeAspect="1"/>
          </p:cNvPicPr>
          <p:nvPr/>
        </p:nvPicPr>
        <p:blipFill rotWithShape="1">
          <a:blip r:embed="rId2"/>
          <a:srcRect b="47966"/>
          <a:stretch/>
        </p:blipFill>
        <p:spPr>
          <a:xfrm>
            <a:off x="50214" y="1272701"/>
            <a:ext cx="4436615" cy="3483449"/>
          </a:xfrm>
          <a:prstGeom prst="rect">
            <a:avLst/>
          </a:prstGeom>
        </p:spPr>
      </p:pic>
    </p:spTree>
    <p:extLst>
      <p:ext uri="{BB962C8B-B14F-4D97-AF65-F5344CB8AC3E}">
        <p14:creationId xmlns:p14="http://schemas.microsoft.com/office/powerpoint/2010/main" val="2352398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908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zh-CN" altLang="en-US" dirty="0"/>
              <a:t>从</a:t>
            </a:r>
            <a:r>
              <a:rPr kumimoji="1" lang="zh-CN" altLang="en-US" dirty="0">
                <a:solidFill>
                  <a:srgbClr val="C00000"/>
                </a:solidFill>
              </a:rPr>
              <a:t>虚拟机</a:t>
            </a:r>
            <a:r>
              <a:rPr kumimoji="1" lang="zh-CN" altLang="en-US" dirty="0"/>
              <a:t>到</a:t>
            </a:r>
            <a:r>
              <a:rPr kumimoji="1" lang="zh-CN" altLang="en-US" dirty="0">
                <a:solidFill>
                  <a:srgbClr val="C00000"/>
                </a:solidFill>
              </a:rPr>
              <a:t>容器</a:t>
            </a:r>
            <a:endParaRPr kumimoji="1" lang="en-US" altLang="zh-CN" dirty="0">
              <a:solidFill>
                <a:srgbClr val="C00000"/>
              </a:solidFill>
            </a:endParaRPr>
          </a:p>
          <a:p>
            <a:pPr lvl="1" algn="just"/>
            <a:r>
              <a:rPr lang="zh-CN" altLang="zh-CN" dirty="0">
                <a:solidFill>
                  <a:srgbClr val="C00000"/>
                </a:solidFill>
              </a:rPr>
              <a:t>虚拟机</a:t>
            </a:r>
            <a:r>
              <a:rPr lang="zh-CN" altLang="zh-CN" dirty="0"/>
              <a:t>技术属于硬件虚拟化技术，在真实硬件上虚拟出多套硬件后，各自安装运行一个完整操作系统，在操作系统上再运行所需要的应用进程</a:t>
            </a:r>
            <a:endParaRPr lang="en-US" altLang="zh-CN" dirty="0"/>
          </a:p>
          <a:p>
            <a:pPr lvl="1" algn="just"/>
            <a:r>
              <a:rPr lang="zh-CN" altLang="zh-CN" dirty="0"/>
              <a:t>虚拟机之间实现了应用的隔离</a:t>
            </a:r>
          </a:p>
          <a:p>
            <a:pPr lvl="1" algn="just"/>
            <a:endParaRPr lang="en-US" altLang="zh-CN" dirty="0"/>
          </a:p>
          <a:p>
            <a:pPr lvl="1" algn="just"/>
            <a:r>
              <a:rPr lang="zh-CN" altLang="zh-CN" dirty="0"/>
              <a:t>在物理机上创建虚拟机，实现了硬件资源的共享，提高了资源利用率，同时实现了用户程序的隔离，优势是很明显的</a:t>
            </a:r>
            <a:endParaRPr lang="en-US" altLang="zh-CN" dirty="0"/>
          </a:p>
          <a:p>
            <a:pPr lvl="1" algn="just"/>
            <a:r>
              <a:rPr lang="zh-CN" altLang="zh-CN" dirty="0"/>
              <a:t>但是，虚拟机技术存在一些缺点</a:t>
            </a:r>
            <a:endParaRPr lang="en-US" altLang="zh-CN" dirty="0"/>
          </a:p>
          <a:p>
            <a:pPr lvl="2" algn="just"/>
            <a:r>
              <a:rPr lang="zh-CN" altLang="zh-CN" dirty="0"/>
              <a:t>虚拟机是重量级的虚拟化技术，虚拟机体积大，启动慢，占用资源多</a:t>
            </a:r>
            <a:endParaRPr kumimoji="1" lang="en-US" altLang="zh-CN" dirty="0"/>
          </a:p>
          <a:p>
            <a:pPr lvl="1" algn="just"/>
            <a:endParaRPr kumimoji="1" lang="en-US" altLang="zh-CN" dirty="0"/>
          </a:p>
        </p:txBody>
      </p:sp>
    </p:spTree>
    <p:extLst>
      <p:ext uri="{BB962C8B-B14F-4D97-AF65-F5344CB8AC3E}">
        <p14:creationId xmlns:p14="http://schemas.microsoft.com/office/powerpoint/2010/main" val="2453311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zh-CN" altLang="en-US" dirty="0"/>
              <a:t>从</a:t>
            </a:r>
            <a:r>
              <a:rPr kumimoji="1" lang="zh-CN" altLang="en-US" dirty="0">
                <a:solidFill>
                  <a:srgbClr val="C00000"/>
                </a:solidFill>
              </a:rPr>
              <a:t>虚拟机</a:t>
            </a:r>
            <a:r>
              <a:rPr kumimoji="1" lang="zh-CN" altLang="en-US" dirty="0"/>
              <a:t>到</a:t>
            </a:r>
            <a:r>
              <a:rPr kumimoji="1" lang="zh-CN" altLang="en-US" dirty="0">
                <a:solidFill>
                  <a:srgbClr val="C00000"/>
                </a:solidFill>
              </a:rPr>
              <a:t>容器</a:t>
            </a:r>
            <a:endParaRPr kumimoji="1" lang="en-US" altLang="zh-CN" dirty="0">
              <a:solidFill>
                <a:srgbClr val="C00000"/>
              </a:solidFill>
            </a:endParaRPr>
          </a:p>
          <a:p>
            <a:pPr lvl="1" algn="just"/>
            <a:r>
              <a:rPr lang="zh-CN" altLang="en-US" sz="1400" dirty="0">
                <a:solidFill>
                  <a:srgbClr val="C00000"/>
                </a:solidFill>
              </a:rPr>
              <a:t>容器也是一种虚拟化技术</a:t>
            </a:r>
            <a:endParaRPr lang="en-US" altLang="zh-CN" sz="1400" dirty="0">
              <a:solidFill>
                <a:srgbClr val="C00000"/>
              </a:solidFill>
            </a:endParaRPr>
          </a:p>
          <a:p>
            <a:pPr lvl="1" algn="just"/>
            <a:r>
              <a:rPr lang="zh-CN" altLang="en-US" sz="1400" dirty="0"/>
              <a:t>容器技术的目的和虚拟机是一样的，都是为应用创造一个隔离的环境，共享底层的软硬件资源</a:t>
            </a:r>
          </a:p>
          <a:p>
            <a:pPr lvl="1" algn="just"/>
            <a:r>
              <a:rPr lang="zh-CN" altLang="en-US" sz="1400" dirty="0"/>
              <a:t>容器是一个</a:t>
            </a:r>
            <a:r>
              <a:rPr lang="zh-CN" altLang="en-US" sz="1400" dirty="0">
                <a:solidFill>
                  <a:srgbClr val="C00000"/>
                </a:solidFill>
              </a:rPr>
              <a:t>应用层抽象</a:t>
            </a:r>
            <a:r>
              <a:rPr lang="zh-CN" altLang="en-US" sz="1400" dirty="0"/>
              <a:t>，它将应用程序和它依赖的资源打包</a:t>
            </a:r>
            <a:endParaRPr lang="en-US" altLang="zh-CN" sz="1400" dirty="0"/>
          </a:p>
          <a:p>
            <a:pPr lvl="1" algn="just"/>
            <a:r>
              <a:rPr lang="zh-CN" altLang="en-US" sz="1400" dirty="0"/>
              <a:t>多个容器，可以在同一台机器上运行，共享操作系统内核，但是各自作为独立进程在用户空间运行</a:t>
            </a:r>
            <a:endParaRPr lang="en-US" altLang="zh-CN" sz="1400" dirty="0"/>
          </a:p>
          <a:p>
            <a:pPr lvl="1" algn="just"/>
            <a:r>
              <a:rPr lang="zh-CN" altLang="en-US" sz="1400" dirty="0"/>
              <a:t>程序在虚拟容器里面运行，就好像在真实的物理机上运行一样</a:t>
            </a:r>
            <a:endParaRPr lang="en-US" altLang="zh-CN" sz="1400" dirty="0"/>
          </a:p>
          <a:p>
            <a:pPr lvl="1" algn="just"/>
            <a:r>
              <a:rPr lang="zh-CN" altLang="zh-CN" sz="1400" dirty="0"/>
              <a:t>相对于虚拟机，容器具有若干优势，包括启动快、资源占用少、体积小等</a:t>
            </a:r>
            <a:endParaRPr lang="zh-CN" altLang="en-US" sz="1400" dirty="0"/>
          </a:p>
        </p:txBody>
      </p:sp>
      <p:pic>
        <p:nvPicPr>
          <p:cNvPr id="7" name="图片 6"/>
          <p:cNvPicPr>
            <a:picLocks noChangeAspect="1"/>
          </p:cNvPicPr>
          <p:nvPr/>
        </p:nvPicPr>
        <p:blipFill>
          <a:blip r:embed="rId2"/>
          <a:stretch>
            <a:fillRect/>
          </a:stretch>
        </p:blipFill>
        <p:spPr>
          <a:xfrm>
            <a:off x="1611630" y="3154838"/>
            <a:ext cx="5920740" cy="1850231"/>
          </a:xfrm>
          <a:prstGeom prst="rect">
            <a:avLst/>
          </a:prstGeom>
        </p:spPr>
      </p:pic>
    </p:spTree>
    <p:extLst>
      <p:ext uri="{BB962C8B-B14F-4D97-AF65-F5344CB8AC3E}">
        <p14:creationId xmlns:p14="http://schemas.microsoft.com/office/powerpoint/2010/main" val="2872457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zh-CN" altLang="en-US" dirty="0"/>
              <a:t>从</a:t>
            </a:r>
            <a:r>
              <a:rPr kumimoji="1" lang="zh-CN" altLang="en-US" dirty="0">
                <a:solidFill>
                  <a:srgbClr val="C00000"/>
                </a:solidFill>
              </a:rPr>
              <a:t>虚拟机</a:t>
            </a:r>
            <a:r>
              <a:rPr kumimoji="1" lang="zh-CN" altLang="en-US" dirty="0"/>
              <a:t>到</a:t>
            </a:r>
            <a:r>
              <a:rPr kumimoji="1" lang="zh-CN" altLang="en-US" dirty="0">
                <a:solidFill>
                  <a:srgbClr val="C00000"/>
                </a:solidFill>
              </a:rPr>
              <a:t>容器</a:t>
            </a:r>
            <a:endParaRPr kumimoji="1" lang="en-US" altLang="zh-CN" dirty="0">
              <a:solidFill>
                <a:srgbClr val="C00000"/>
              </a:solidFill>
            </a:endParaRPr>
          </a:p>
          <a:p>
            <a:pPr lvl="1" algn="just"/>
            <a:r>
              <a:rPr kumimoji="1" lang="zh-CN" altLang="en-US" dirty="0"/>
              <a:t>虚拟机和容器的区别</a:t>
            </a:r>
            <a:endParaRPr kumimoji="1" lang="en-US" altLang="zh-CN" dirty="0"/>
          </a:p>
        </p:txBody>
      </p:sp>
      <p:pic>
        <p:nvPicPr>
          <p:cNvPr id="5" name="图片 4"/>
          <p:cNvPicPr>
            <a:picLocks noChangeAspect="1"/>
          </p:cNvPicPr>
          <p:nvPr/>
        </p:nvPicPr>
        <p:blipFill>
          <a:blip r:embed="rId2"/>
          <a:stretch>
            <a:fillRect/>
          </a:stretch>
        </p:blipFill>
        <p:spPr>
          <a:xfrm>
            <a:off x="295275" y="1877377"/>
            <a:ext cx="8553450" cy="2409825"/>
          </a:xfrm>
          <a:prstGeom prst="rect">
            <a:avLst/>
          </a:prstGeom>
        </p:spPr>
      </p:pic>
    </p:spTree>
    <p:extLst>
      <p:ext uri="{BB962C8B-B14F-4D97-AF65-F5344CB8AC3E}">
        <p14:creationId xmlns:p14="http://schemas.microsoft.com/office/powerpoint/2010/main" val="21900265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fontScale="92500" lnSpcReduction="10000"/>
          </a:bodyPr>
          <a:lstStyle/>
          <a:p>
            <a:pPr algn="just">
              <a:lnSpc>
                <a:spcPct val="110000"/>
              </a:lnSpc>
            </a:pPr>
            <a:r>
              <a:rPr kumimoji="1" lang="en-US" altLang="zh-CN" dirty="0">
                <a:solidFill>
                  <a:srgbClr val="C00000"/>
                </a:solidFill>
              </a:rPr>
              <a:t>Docker</a:t>
            </a:r>
          </a:p>
          <a:p>
            <a:pPr lvl="1" algn="just">
              <a:lnSpc>
                <a:spcPct val="110000"/>
              </a:lnSpc>
            </a:pPr>
            <a:r>
              <a:rPr lang="zh-CN" altLang="zh-CN" dirty="0"/>
              <a:t>人们在</a:t>
            </a:r>
            <a:r>
              <a:rPr lang="en-US" altLang="zh-CN" dirty="0"/>
              <a:t>Linux</a:t>
            </a:r>
            <a:r>
              <a:rPr lang="zh-CN" altLang="zh-CN" dirty="0"/>
              <a:t>操作系统上研发了轻量虚拟化技术，即</a:t>
            </a:r>
            <a:r>
              <a:rPr lang="en-US" altLang="zh-CN" dirty="0"/>
              <a:t>Linux</a:t>
            </a:r>
            <a:r>
              <a:rPr lang="zh-CN" altLang="zh-CN" dirty="0"/>
              <a:t>容器技术</a:t>
            </a:r>
            <a:r>
              <a:rPr lang="en-US" altLang="zh-CN" dirty="0">
                <a:solidFill>
                  <a:srgbClr val="C00000"/>
                </a:solidFill>
              </a:rPr>
              <a:t>(Linux Container, LXC)</a:t>
            </a:r>
            <a:r>
              <a:rPr lang="zh-CN" altLang="en-US" dirty="0">
                <a:solidFill>
                  <a:srgbClr val="C00000"/>
                </a:solidFill>
              </a:rPr>
              <a:t>，</a:t>
            </a:r>
            <a:r>
              <a:rPr lang="en-US" altLang="zh-CN" dirty="0"/>
              <a:t>2008</a:t>
            </a:r>
            <a:r>
              <a:rPr lang="zh-CN" altLang="zh-CN" dirty="0"/>
              <a:t>年</a:t>
            </a:r>
            <a:r>
              <a:rPr lang="en-US" altLang="zh-CN" dirty="0"/>
              <a:t>6</a:t>
            </a:r>
            <a:r>
              <a:rPr lang="zh-CN" altLang="zh-CN" dirty="0"/>
              <a:t>月，</a:t>
            </a:r>
            <a:r>
              <a:rPr lang="en-US" altLang="zh-CN" dirty="0"/>
              <a:t>LXC 0.1.0</a:t>
            </a:r>
            <a:r>
              <a:rPr lang="zh-CN" altLang="zh-CN" dirty="0"/>
              <a:t>版发布</a:t>
            </a:r>
          </a:p>
          <a:p>
            <a:pPr lvl="1" algn="just">
              <a:lnSpc>
                <a:spcPct val="110000"/>
              </a:lnSpc>
            </a:pPr>
            <a:r>
              <a:rPr lang="en-US" altLang="zh-CN" dirty="0"/>
              <a:t>Docker</a:t>
            </a:r>
            <a:r>
              <a:rPr lang="zh-CN" altLang="zh-CN" dirty="0"/>
              <a:t>是目前</a:t>
            </a:r>
            <a:r>
              <a:rPr lang="zh-CN" altLang="zh-CN" dirty="0">
                <a:solidFill>
                  <a:srgbClr val="C00000"/>
                </a:solidFill>
              </a:rPr>
              <a:t>最流行的</a:t>
            </a:r>
            <a:r>
              <a:rPr lang="en-US" altLang="zh-CN" dirty="0">
                <a:solidFill>
                  <a:srgbClr val="C00000"/>
                </a:solidFill>
              </a:rPr>
              <a:t>Linux</a:t>
            </a:r>
            <a:r>
              <a:rPr lang="zh-CN" altLang="zh-CN" dirty="0">
                <a:solidFill>
                  <a:srgbClr val="C00000"/>
                </a:solidFill>
              </a:rPr>
              <a:t>容器解决方案</a:t>
            </a:r>
            <a:endParaRPr lang="en-US" altLang="zh-CN" dirty="0">
              <a:solidFill>
                <a:srgbClr val="C00000"/>
              </a:solidFill>
            </a:endParaRPr>
          </a:p>
          <a:p>
            <a:pPr lvl="2" algn="just">
              <a:lnSpc>
                <a:spcPct val="110000"/>
              </a:lnSpc>
            </a:pPr>
            <a:r>
              <a:rPr lang="en-US" altLang="zh-CN" dirty="0"/>
              <a:t>2013</a:t>
            </a:r>
            <a:r>
              <a:rPr lang="zh-CN" altLang="zh-CN" dirty="0"/>
              <a:t>年</a:t>
            </a:r>
            <a:r>
              <a:rPr lang="en-US" altLang="zh-CN" dirty="0"/>
              <a:t>3</a:t>
            </a:r>
            <a:r>
              <a:rPr lang="zh-CN" altLang="zh-CN" dirty="0"/>
              <a:t>月</a:t>
            </a:r>
            <a:r>
              <a:rPr lang="en-US" altLang="zh-CN" dirty="0"/>
              <a:t>15</a:t>
            </a:r>
            <a:r>
              <a:rPr lang="zh-CN" altLang="zh-CN" dirty="0"/>
              <a:t>日，在加利福尼亚州圣克拉拉召开的</a:t>
            </a:r>
            <a:r>
              <a:rPr lang="en-US" altLang="zh-CN" dirty="0"/>
              <a:t> Python </a:t>
            </a:r>
            <a:r>
              <a:rPr lang="zh-CN" altLang="zh-CN" dirty="0"/>
              <a:t>开发者大会上，</a:t>
            </a:r>
            <a:r>
              <a:rPr lang="en-US" altLang="zh-CN" dirty="0" err="1"/>
              <a:t>DotCloud</a:t>
            </a:r>
            <a:r>
              <a:rPr lang="zh-CN" altLang="zh-CN" dirty="0"/>
              <a:t>公司</a:t>
            </a:r>
            <a:r>
              <a:rPr lang="en-US" altLang="zh-CN" dirty="0"/>
              <a:t>(</a:t>
            </a:r>
            <a:r>
              <a:rPr lang="zh-CN" altLang="zh-CN" dirty="0"/>
              <a:t>公司名称已经改为</a:t>
            </a:r>
            <a:r>
              <a:rPr lang="en-US" altLang="zh-CN" dirty="0"/>
              <a:t>Docker)</a:t>
            </a:r>
            <a:r>
              <a:rPr lang="zh-CN" altLang="zh-CN" dirty="0"/>
              <a:t>的创始人兼首席执行官</a:t>
            </a:r>
            <a:r>
              <a:rPr lang="en-US" altLang="zh-CN" dirty="0"/>
              <a:t> Solomon </a:t>
            </a:r>
            <a:r>
              <a:rPr lang="en-US" altLang="zh-CN" dirty="0" err="1"/>
              <a:t>Hvkes</a:t>
            </a:r>
            <a:r>
              <a:rPr lang="zh-CN" altLang="zh-CN" dirty="0"/>
              <a:t>首次提出了</a:t>
            </a:r>
            <a:r>
              <a:rPr lang="en-US" altLang="zh-CN" dirty="0"/>
              <a:t> Docker </a:t>
            </a:r>
            <a:r>
              <a:rPr lang="zh-CN" altLang="zh-CN" dirty="0"/>
              <a:t>这一概念，并且于会后把他们的</a:t>
            </a:r>
            <a:r>
              <a:rPr lang="en-US" altLang="zh-CN" dirty="0"/>
              <a:t>Docker</a:t>
            </a:r>
            <a:r>
              <a:rPr lang="zh-CN" altLang="zh-CN" dirty="0"/>
              <a:t>源码开源到</a:t>
            </a:r>
            <a:r>
              <a:rPr lang="en-US" altLang="zh-CN" dirty="0"/>
              <a:t>GitHub</a:t>
            </a:r>
            <a:r>
              <a:rPr lang="zh-CN" altLang="zh-CN" dirty="0"/>
              <a:t>。</a:t>
            </a:r>
            <a:r>
              <a:rPr lang="en-US" altLang="zh-CN" dirty="0"/>
              <a:t>Docker</a:t>
            </a:r>
            <a:r>
              <a:rPr lang="zh-CN" altLang="zh-CN" dirty="0"/>
              <a:t>用</a:t>
            </a:r>
            <a:r>
              <a:rPr lang="en-US" altLang="zh-CN" dirty="0"/>
              <a:t>Go</a:t>
            </a:r>
            <a:r>
              <a:rPr lang="zh-CN" altLang="zh-CN" dirty="0"/>
              <a:t>语言开发，遵从</a:t>
            </a:r>
            <a:r>
              <a:rPr lang="en-US" altLang="zh-CN" dirty="0"/>
              <a:t>Apache2.0</a:t>
            </a:r>
            <a:r>
              <a:rPr lang="zh-CN" altLang="zh-CN" dirty="0"/>
              <a:t>协议开源。一经开源迅速流行</a:t>
            </a:r>
          </a:p>
          <a:p>
            <a:pPr lvl="1" algn="just">
              <a:lnSpc>
                <a:spcPct val="110000"/>
              </a:lnSpc>
            </a:pPr>
            <a:r>
              <a:rPr lang="zh-CN" altLang="zh-CN" dirty="0"/>
              <a:t>最初的</a:t>
            </a:r>
            <a:r>
              <a:rPr lang="en-US" altLang="zh-CN" dirty="0"/>
              <a:t> Docker </a:t>
            </a:r>
            <a:r>
              <a:rPr lang="zh-CN" altLang="zh-CN" dirty="0"/>
              <a:t>使用了</a:t>
            </a:r>
            <a:r>
              <a:rPr lang="en-US" altLang="zh-CN" dirty="0"/>
              <a:t> LXC</a:t>
            </a:r>
            <a:r>
              <a:rPr lang="zh-CN" altLang="zh-CN" dirty="0"/>
              <a:t>技术，是对</a:t>
            </a:r>
            <a:r>
              <a:rPr lang="en-US" altLang="zh-CN" dirty="0"/>
              <a:t>Linux</a:t>
            </a:r>
            <a:r>
              <a:rPr lang="zh-CN" altLang="zh-CN" dirty="0"/>
              <a:t>容器的一种封装，提供简单易用的容器使用接口，完成容器的创建、运行等</a:t>
            </a:r>
            <a:endParaRPr lang="en-US" altLang="zh-CN" dirty="0"/>
          </a:p>
          <a:p>
            <a:pPr lvl="2" algn="just">
              <a:lnSpc>
                <a:spcPct val="110000"/>
              </a:lnSpc>
            </a:pPr>
            <a:r>
              <a:rPr lang="en-US" altLang="zh-CN" dirty="0"/>
              <a:t>Docker</a:t>
            </a:r>
            <a:r>
              <a:rPr lang="zh-CN" altLang="zh-CN" dirty="0"/>
              <a:t>的</a:t>
            </a:r>
            <a:r>
              <a:rPr lang="zh-CN" altLang="zh-CN" dirty="0">
                <a:solidFill>
                  <a:srgbClr val="C00000"/>
                </a:solidFill>
              </a:rPr>
              <a:t>启动速度</a:t>
            </a:r>
            <a:r>
              <a:rPr lang="zh-CN" altLang="zh-CN" dirty="0"/>
              <a:t>很快，达到秒级</a:t>
            </a:r>
            <a:endParaRPr lang="en-US" altLang="zh-CN" dirty="0"/>
          </a:p>
          <a:p>
            <a:pPr lvl="2" algn="just">
              <a:lnSpc>
                <a:spcPct val="110000"/>
              </a:lnSpc>
            </a:pPr>
            <a:r>
              <a:rPr lang="zh-CN" altLang="zh-CN" dirty="0"/>
              <a:t>它对</a:t>
            </a:r>
            <a:r>
              <a:rPr lang="zh-CN" altLang="zh-CN" dirty="0">
                <a:solidFill>
                  <a:srgbClr val="C00000"/>
                </a:solidFill>
              </a:rPr>
              <a:t>资源的利用率</a:t>
            </a:r>
            <a:r>
              <a:rPr lang="zh-CN" altLang="zh-CN" dirty="0"/>
              <a:t>很高，一台主机可以同时运行几千个容器</a:t>
            </a:r>
            <a:endParaRPr lang="en-US" altLang="zh-CN" dirty="0"/>
          </a:p>
          <a:p>
            <a:pPr lvl="2" algn="just">
              <a:lnSpc>
                <a:spcPct val="110000"/>
              </a:lnSpc>
            </a:pPr>
            <a:r>
              <a:rPr lang="zh-CN" altLang="zh-CN" dirty="0"/>
              <a:t>此外，</a:t>
            </a:r>
            <a:r>
              <a:rPr lang="zh-CN" altLang="zh-CN" dirty="0">
                <a:solidFill>
                  <a:srgbClr val="C00000"/>
                </a:solidFill>
              </a:rPr>
              <a:t>容器占用的空间很小</a:t>
            </a:r>
            <a:r>
              <a:rPr lang="zh-CN" altLang="zh-CN" dirty="0"/>
              <a:t>，虚拟机一般占用几个</a:t>
            </a:r>
            <a:r>
              <a:rPr lang="en-US" altLang="zh-CN" dirty="0"/>
              <a:t>GB</a:t>
            </a:r>
            <a:r>
              <a:rPr lang="zh-CN" altLang="zh-CN" dirty="0"/>
              <a:t>到几十</a:t>
            </a:r>
            <a:r>
              <a:rPr lang="en-US" altLang="zh-CN" dirty="0"/>
              <a:t>GB</a:t>
            </a:r>
            <a:r>
              <a:rPr lang="zh-CN" altLang="zh-CN" dirty="0"/>
              <a:t>，容器只需</a:t>
            </a:r>
            <a:r>
              <a:rPr lang="en-US" altLang="zh-CN" dirty="0"/>
              <a:t>MB</a:t>
            </a:r>
            <a:r>
              <a:rPr lang="zh-CN" altLang="zh-CN" dirty="0"/>
              <a:t>级别的空间</a:t>
            </a:r>
            <a:endParaRPr kumimoji="1" lang="en-US" altLang="zh-CN" dirty="0"/>
          </a:p>
          <a:p>
            <a:pPr lvl="2" algn="just">
              <a:lnSpc>
                <a:spcPct val="110000"/>
              </a:lnSpc>
            </a:pPr>
            <a:endParaRPr kumimoji="1" lang="en-US" altLang="zh-CN" dirty="0"/>
          </a:p>
        </p:txBody>
      </p:sp>
    </p:spTree>
    <p:extLst>
      <p:ext uri="{BB962C8B-B14F-4D97-AF65-F5344CB8AC3E}">
        <p14:creationId xmlns:p14="http://schemas.microsoft.com/office/powerpoint/2010/main" val="2582114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904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solidFill>
                  <a:srgbClr val="C00000"/>
                </a:solidFill>
              </a:rPr>
              <a:t>Server less</a:t>
            </a:r>
            <a:r>
              <a:rPr kumimoji="1" lang="zh-CN" altLang="en-US" dirty="0">
                <a:solidFill>
                  <a:srgbClr val="C00000"/>
                </a:solidFill>
              </a:rPr>
              <a:t>无服务器计算模式</a:t>
            </a:r>
            <a:endParaRPr kumimoji="1" lang="en-US" altLang="zh-CN" dirty="0">
              <a:solidFill>
                <a:srgbClr val="C00000"/>
              </a:solidFill>
            </a:endParaRPr>
          </a:p>
          <a:p>
            <a:pPr lvl="1" algn="just"/>
            <a:r>
              <a:rPr kumimoji="1" lang="zh-CN" altLang="en-US" dirty="0"/>
              <a:t>无服务器计算是</a:t>
            </a:r>
            <a:r>
              <a:rPr kumimoji="1" lang="zh-CN" altLang="en-US" dirty="0">
                <a:solidFill>
                  <a:srgbClr val="C00000"/>
                </a:solidFill>
              </a:rPr>
              <a:t>云计算的一种执行模式</a:t>
            </a:r>
            <a:endParaRPr kumimoji="1" lang="en-US" altLang="zh-CN" dirty="0">
              <a:solidFill>
                <a:srgbClr val="C00000"/>
              </a:solidFill>
            </a:endParaRPr>
          </a:p>
          <a:p>
            <a:pPr lvl="1" algn="just"/>
            <a:r>
              <a:rPr kumimoji="1" lang="zh-CN" altLang="en-US" dirty="0"/>
              <a:t>在这种模式中，云计算提供商动态地分配执行特定代码所需要的计算资源和存储资源，然后向用户收费</a:t>
            </a:r>
            <a:endParaRPr kumimoji="1" lang="en-US" altLang="zh-CN" dirty="0"/>
          </a:p>
          <a:p>
            <a:pPr lvl="1" algn="just"/>
            <a:endParaRPr lang="en-US" altLang="zh-CN" dirty="0"/>
          </a:p>
          <a:p>
            <a:pPr lvl="1" algn="just"/>
            <a:r>
              <a:rPr lang="en-US" altLang="zh-CN" dirty="0">
                <a:solidFill>
                  <a:srgbClr val="C00000"/>
                </a:solidFill>
              </a:rPr>
              <a:t>Server less</a:t>
            </a:r>
            <a:r>
              <a:rPr lang="zh-CN" altLang="en-US" dirty="0">
                <a:solidFill>
                  <a:srgbClr val="C00000"/>
                </a:solidFill>
              </a:rPr>
              <a:t>的背后，依然是虚拟机和容器</a:t>
            </a:r>
            <a:endParaRPr lang="en-US" altLang="zh-CN" dirty="0">
              <a:solidFill>
                <a:srgbClr val="C00000"/>
              </a:solidFill>
            </a:endParaRPr>
          </a:p>
          <a:p>
            <a:pPr lvl="2" algn="just"/>
            <a:r>
              <a:rPr lang="zh-CN" altLang="en-US" dirty="0"/>
              <a:t>只不过，服务器部署、</a:t>
            </a:r>
            <a:r>
              <a:rPr lang="en-US" altLang="zh-CN" dirty="0"/>
              <a:t>runtime</a:t>
            </a:r>
            <a:r>
              <a:rPr lang="zh-CN" altLang="en-US" dirty="0"/>
              <a:t>安装、编译等工作，都由</a:t>
            </a:r>
            <a:r>
              <a:rPr lang="en-US" altLang="zh-CN" dirty="0"/>
              <a:t>Server less</a:t>
            </a:r>
            <a:r>
              <a:rPr lang="zh-CN" altLang="en-US" dirty="0"/>
              <a:t>计算平台负责完成了</a:t>
            </a:r>
            <a:endParaRPr lang="en-US" altLang="zh-CN" dirty="0"/>
          </a:p>
          <a:p>
            <a:pPr lvl="2" algn="just"/>
            <a:r>
              <a:rPr lang="zh-CN" altLang="en-US" dirty="0"/>
              <a:t>对开发人员来说，只需要维护源代码和</a:t>
            </a:r>
            <a:r>
              <a:rPr lang="en-US" altLang="zh-CN" dirty="0"/>
              <a:t>Server less</a:t>
            </a:r>
            <a:r>
              <a:rPr lang="zh-CN" altLang="en-US" dirty="0"/>
              <a:t>执行环境的相关配置即可</a:t>
            </a:r>
            <a:endParaRPr lang="en-US" altLang="zh-CN" dirty="0"/>
          </a:p>
        </p:txBody>
      </p:sp>
    </p:spTree>
    <p:extLst>
      <p:ext uri="{BB962C8B-B14F-4D97-AF65-F5344CB8AC3E}">
        <p14:creationId xmlns:p14="http://schemas.microsoft.com/office/powerpoint/2010/main" val="2388493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solidFill>
                  <a:srgbClr val="C00000"/>
                </a:solidFill>
              </a:rPr>
              <a:t>Server less</a:t>
            </a:r>
            <a:r>
              <a:rPr kumimoji="1" lang="zh-CN" altLang="en-US" dirty="0">
                <a:solidFill>
                  <a:srgbClr val="C00000"/>
                </a:solidFill>
              </a:rPr>
              <a:t>无服务器计算模式</a:t>
            </a:r>
            <a:endParaRPr kumimoji="1" lang="en-US" altLang="zh-CN" dirty="0">
              <a:solidFill>
                <a:srgbClr val="C00000"/>
              </a:solidFill>
            </a:endParaRPr>
          </a:p>
          <a:p>
            <a:pPr lvl="1" algn="just"/>
            <a:r>
              <a:rPr lang="en-US" altLang="zh-CN" dirty="0"/>
              <a:t>Server less</a:t>
            </a:r>
            <a:r>
              <a:rPr lang="zh-CN" altLang="en-US" dirty="0"/>
              <a:t>在传统云计算</a:t>
            </a:r>
            <a:r>
              <a:rPr lang="en-US" altLang="zh-CN" dirty="0"/>
              <a:t>SaaS</a:t>
            </a:r>
            <a:r>
              <a:rPr lang="zh-CN" altLang="en-US" dirty="0"/>
              <a:t>的</a:t>
            </a:r>
            <a:r>
              <a:rPr lang="en-US" altLang="zh-CN" dirty="0"/>
              <a:t>Application</a:t>
            </a:r>
            <a:r>
              <a:rPr lang="zh-CN" altLang="en-US" dirty="0"/>
              <a:t>（应用）层级之上，又加了一层，即</a:t>
            </a:r>
            <a:r>
              <a:rPr lang="en-US" altLang="zh-CN" dirty="0"/>
              <a:t>function</a:t>
            </a:r>
            <a:r>
              <a:rPr lang="zh-CN" altLang="en-US" dirty="0"/>
              <a:t>（函数）</a:t>
            </a:r>
            <a:endParaRPr lang="en-US" altLang="zh-CN" dirty="0"/>
          </a:p>
          <a:p>
            <a:pPr lvl="1" algn="just"/>
            <a:r>
              <a:rPr lang="zh-CN" altLang="en-US" dirty="0"/>
              <a:t>它的颗粒度更细，可以更灵活地满足用户的算力需求。</a:t>
            </a:r>
            <a:endParaRPr kumimoji="1" lang="en-US" altLang="zh-CN" dirty="0"/>
          </a:p>
        </p:txBody>
      </p:sp>
      <p:pic>
        <p:nvPicPr>
          <p:cNvPr id="2050" name="Picture 2" descr="https://pics0.baidu.com/feed/adaf2edda3cc7cd995756f509d256e34b90e918a.png@f_auto?token=7a14297336fb4e5b16f8160de2529c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490" y="2170124"/>
            <a:ext cx="4397477" cy="2700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933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solidFill>
                  <a:srgbClr val="C00000"/>
                </a:solidFill>
              </a:rPr>
              <a:t>Server less</a:t>
            </a:r>
            <a:r>
              <a:rPr kumimoji="1" lang="zh-CN" altLang="en-US" dirty="0">
                <a:solidFill>
                  <a:srgbClr val="C00000"/>
                </a:solidFill>
              </a:rPr>
              <a:t>无服务器计算模式</a:t>
            </a:r>
            <a:endParaRPr kumimoji="1" lang="en-US" altLang="zh-CN" dirty="0">
              <a:solidFill>
                <a:srgbClr val="C00000"/>
              </a:solidFill>
            </a:endParaRPr>
          </a:p>
          <a:p>
            <a:pPr lvl="1" algn="just"/>
            <a:r>
              <a:rPr kumimoji="1" lang="zh-CN" altLang="en-US" dirty="0"/>
              <a:t>应用场景</a:t>
            </a:r>
            <a:endParaRPr kumimoji="1" lang="en-US" altLang="zh-CN" dirty="0"/>
          </a:p>
        </p:txBody>
      </p:sp>
      <p:pic>
        <p:nvPicPr>
          <p:cNvPr id="5122" name="Picture 2" descr="https://pics1.baidu.com/feed/91529822720e0cf3fd7677bab162bd14bf09aa99.png@f_auto?token=d0fa1a66dc4e4f81780ff7bee04751b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990" y="1729943"/>
            <a:ext cx="4014019" cy="2778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000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61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solidFill>
                  <a:srgbClr val="C00000"/>
                </a:solidFill>
              </a:rPr>
              <a:t>DaaS</a:t>
            </a:r>
          </a:p>
          <a:p>
            <a:pPr lvl="1" algn="just"/>
            <a:r>
              <a:rPr kumimoji="1" lang="en-US" altLang="zh-CN" dirty="0">
                <a:solidFill>
                  <a:srgbClr val="C00000"/>
                </a:solidFill>
              </a:rPr>
              <a:t>Data as a service (DaaS) </a:t>
            </a:r>
          </a:p>
          <a:p>
            <a:pPr lvl="1" algn="just"/>
            <a:r>
              <a:rPr kumimoji="1" lang="en-US" altLang="zh-CN" dirty="0"/>
              <a:t>is a data management strategy that uses the cloud to deliver data storage, integration, processing, and/or analytics services via a network connection</a:t>
            </a:r>
          </a:p>
          <a:p>
            <a:pPr lvl="1" algn="just"/>
            <a:r>
              <a:rPr kumimoji="1" lang="en-US" altLang="zh-CN" dirty="0"/>
              <a:t>DaaS is similar to software as a service, or SaaS, a cloud computing strategy that involves delivering applications to end-users over the network, rather than having them run applications locally on their devices</a:t>
            </a:r>
          </a:p>
          <a:p>
            <a:pPr lvl="1" algn="just"/>
            <a:r>
              <a:rPr kumimoji="1" lang="en-US" altLang="zh-CN" dirty="0"/>
              <a:t>Just as SaaS removes the need to install and manage software locally, </a:t>
            </a:r>
            <a:r>
              <a:rPr kumimoji="1" lang="en-US" altLang="zh-CN" dirty="0">
                <a:solidFill>
                  <a:srgbClr val="C00000"/>
                </a:solidFill>
              </a:rPr>
              <a:t>DaaS outsources most data storage, integration, and processing operations to the cloud</a:t>
            </a:r>
          </a:p>
        </p:txBody>
      </p:sp>
    </p:spTree>
    <p:extLst>
      <p:ext uri="{BB962C8B-B14F-4D97-AF65-F5344CB8AC3E}">
        <p14:creationId xmlns:p14="http://schemas.microsoft.com/office/powerpoint/2010/main" val="796773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t>DaaS</a:t>
            </a:r>
          </a:p>
          <a:p>
            <a:pPr lvl="1" algn="just"/>
            <a:r>
              <a:rPr kumimoji="1" lang="en-US" altLang="zh-CN" dirty="0"/>
              <a:t>DaaS, is becoming an increasingly popular solution for </a:t>
            </a:r>
            <a:r>
              <a:rPr kumimoji="1" lang="en-US" altLang="zh-CN" dirty="0">
                <a:solidFill>
                  <a:srgbClr val="C00000"/>
                </a:solidFill>
              </a:rPr>
              <a:t>data integration, management, storage, and analytics</a:t>
            </a:r>
          </a:p>
          <a:p>
            <a:pPr lvl="1" algn="just"/>
            <a:r>
              <a:rPr lang="en-US" altLang="zh-CN" dirty="0"/>
              <a:t>DaaS provides a way to </a:t>
            </a:r>
            <a:r>
              <a:rPr lang="en-US" altLang="zh-CN" dirty="0">
                <a:solidFill>
                  <a:srgbClr val="C00000"/>
                </a:solidFill>
              </a:rPr>
              <a:t>manage the massive amounts of data </a:t>
            </a:r>
            <a:r>
              <a:rPr lang="en-US" altLang="zh-CN" dirty="0"/>
              <a:t>organizations generate every day and </a:t>
            </a:r>
            <a:r>
              <a:rPr lang="en-US" altLang="zh-CN" dirty="0">
                <a:solidFill>
                  <a:srgbClr val="C00000"/>
                </a:solidFill>
              </a:rPr>
              <a:t>deliver that valuable information across the business for data-driven decision making</a:t>
            </a:r>
            <a:endParaRPr kumimoji="1" lang="en-US" altLang="zh-CN" dirty="0">
              <a:solidFill>
                <a:srgbClr val="C00000"/>
              </a:solidFill>
            </a:endParaRPr>
          </a:p>
        </p:txBody>
      </p:sp>
      <p:pic>
        <p:nvPicPr>
          <p:cNvPr id="7" name="图片 6">
            <a:extLst>
              <a:ext uri="{FF2B5EF4-FFF2-40B4-BE49-F238E27FC236}">
                <a16:creationId xmlns:a16="http://schemas.microsoft.com/office/drawing/2014/main" id="{D447D230-FFF5-43E9-AFEA-F1C447D279E8}"/>
              </a:ext>
            </a:extLst>
          </p:cNvPr>
          <p:cNvPicPr>
            <a:picLocks noChangeAspect="1"/>
          </p:cNvPicPr>
          <p:nvPr/>
        </p:nvPicPr>
        <p:blipFill>
          <a:blip r:embed="rId2"/>
          <a:stretch>
            <a:fillRect/>
          </a:stretch>
        </p:blipFill>
        <p:spPr>
          <a:xfrm>
            <a:off x="3342010" y="2707455"/>
            <a:ext cx="2811585" cy="2304605"/>
          </a:xfrm>
          <a:prstGeom prst="rect">
            <a:avLst/>
          </a:prstGeom>
        </p:spPr>
      </p:pic>
    </p:spTree>
    <p:extLst>
      <p:ext uri="{BB962C8B-B14F-4D97-AF65-F5344CB8AC3E}">
        <p14:creationId xmlns:p14="http://schemas.microsoft.com/office/powerpoint/2010/main" val="805204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kumimoji="1" lang="en-US" altLang="zh-CN" dirty="0"/>
              <a:t>DaaS </a:t>
            </a:r>
            <a:r>
              <a:rPr lang="en-US" altLang="zh-CN" dirty="0">
                <a:solidFill>
                  <a:srgbClr val="C00000"/>
                </a:solidFill>
              </a:rPr>
              <a:t>Benefits</a:t>
            </a:r>
          </a:p>
          <a:p>
            <a:pPr lvl="1" algn="just"/>
            <a:r>
              <a:rPr kumimoji="1" lang="en-US" altLang="zh-CN" sz="2000" dirty="0"/>
              <a:t>Minimal setup time</a:t>
            </a:r>
          </a:p>
          <a:p>
            <a:pPr lvl="1" algn="just"/>
            <a:r>
              <a:rPr kumimoji="1" lang="en-US" altLang="zh-CN" sz="2000" dirty="0"/>
              <a:t>Faster decision making</a:t>
            </a:r>
          </a:p>
          <a:p>
            <a:pPr lvl="1" algn="just"/>
            <a:r>
              <a:rPr kumimoji="1" lang="en-US" altLang="zh-CN" sz="2000" dirty="0"/>
              <a:t>more scalable and flexible </a:t>
            </a:r>
          </a:p>
          <a:p>
            <a:pPr lvl="1" algn="just"/>
            <a:r>
              <a:rPr kumimoji="1" lang="en-US" altLang="zh-CN" sz="2000" dirty="0"/>
              <a:t>Automated maintenance</a:t>
            </a:r>
          </a:p>
          <a:p>
            <a:pPr lvl="1" algn="just"/>
            <a:r>
              <a:rPr kumimoji="1" lang="en-US" altLang="zh-CN" sz="2000" dirty="0"/>
              <a:t>Lower costs</a:t>
            </a:r>
          </a:p>
          <a:p>
            <a:pPr lvl="1" algn="just"/>
            <a:r>
              <a:rPr kumimoji="1" lang="en-US" altLang="zh-CN" sz="2000" dirty="0"/>
              <a:t>Smaller staff requirements</a:t>
            </a:r>
          </a:p>
          <a:p>
            <a:pPr algn="just"/>
            <a:r>
              <a:rPr kumimoji="1" lang="en-US" altLang="zh-CN" sz="2200" dirty="0">
                <a:solidFill>
                  <a:srgbClr val="C00000"/>
                </a:solidFill>
              </a:rPr>
              <a:t>challenges</a:t>
            </a:r>
          </a:p>
          <a:p>
            <a:pPr lvl="1" algn="just"/>
            <a:r>
              <a:rPr kumimoji="1" lang="en-US" altLang="zh-CN" sz="2000" dirty="0"/>
              <a:t>security considerations</a:t>
            </a:r>
          </a:p>
          <a:p>
            <a:pPr lvl="1" algn="just"/>
            <a:r>
              <a:rPr kumimoji="1" lang="en-US" altLang="zh-CN" sz="2000" dirty="0"/>
              <a:t>Data transfer timing</a:t>
            </a:r>
          </a:p>
          <a:p>
            <a:pPr lvl="1" algn="just"/>
            <a:endParaRPr kumimoji="1" lang="en-US" altLang="zh-CN" sz="2000" dirty="0"/>
          </a:p>
        </p:txBody>
      </p:sp>
    </p:spTree>
    <p:extLst>
      <p:ext uri="{BB962C8B-B14F-4D97-AF65-F5344CB8AC3E}">
        <p14:creationId xmlns:p14="http://schemas.microsoft.com/office/powerpoint/2010/main" val="1883020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dirty="0"/>
              <a:t>Data as a Service </a:t>
            </a:r>
            <a:r>
              <a:rPr lang="en-US" altLang="zh-CN" dirty="0">
                <a:solidFill>
                  <a:srgbClr val="C00000"/>
                </a:solidFill>
              </a:rPr>
              <a:t>Applications</a:t>
            </a:r>
          </a:p>
          <a:p>
            <a:pPr lvl="1"/>
            <a:r>
              <a:rPr lang="en-US" altLang="zh-CN" sz="2000" dirty="0"/>
              <a:t>Sales and Marketing</a:t>
            </a:r>
          </a:p>
          <a:p>
            <a:pPr lvl="1"/>
            <a:r>
              <a:rPr lang="en-US" altLang="zh-CN" sz="2000" dirty="0"/>
              <a:t>Supply Chain and Inventory Management</a:t>
            </a:r>
          </a:p>
          <a:p>
            <a:pPr lvl="1"/>
            <a:r>
              <a:rPr lang="en-US" altLang="zh-CN" sz="2000" dirty="0"/>
              <a:t>Operational Excellence</a:t>
            </a:r>
          </a:p>
          <a:p>
            <a:pPr lvl="1"/>
            <a:r>
              <a:rPr lang="en-US" altLang="zh-CN" sz="2000" dirty="0"/>
              <a:t>Manufacturing Optimization</a:t>
            </a:r>
          </a:p>
          <a:p>
            <a:pPr lvl="1"/>
            <a:r>
              <a:rPr lang="en-US" altLang="zh-CN" sz="2000" dirty="0"/>
              <a:t>Corporate Decision Making</a:t>
            </a:r>
          </a:p>
          <a:p>
            <a:pPr lvl="1"/>
            <a:r>
              <a:rPr lang="en-US" altLang="zh-CN" sz="2000" dirty="0"/>
              <a:t>Research and Development</a:t>
            </a:r>
          </a:p>
          <a:p>
            <a:pPr lvl="1"/>
            <a:r>
              <a:rPr lang="en-US" altLang="zh-CN" sz="2000" dirty="0"/>
              <a:t>Human Resources</a:t>
            </a:r>
          </a:p>
          <a:p>
            <a:pPr lvl="1"/>
            <a:r>
              <a:rPr lang="en-US" altLang="zh-CN" sz="2000"/>
              <a:t>……</a:t>
            </a:r>
            <a:endParaRPr lang="en-US" altLang="zh-CN" dirty="0"/>
          </a:p>
          <a:p>
            <a:pPr algn="just"/>
            <a:endParaRPr kumimoji="1" lang="en-US" altLang="zh-CN" dirty="0"/>
          </a:p>
        </p:txBody>
      </p:sp>
    </p:spTree>
    <p:extLst>
      <p:ext uri="{BB962C8B-B14F-4D97-AF65-F5344CB8AC3E}">
        <p14:creationId xmlns:p14="http://schemas.microsoft.com/office/powerpoint/2010/main" val="4179884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云计算</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619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6862</TotalTime>
  <Words>5128</Words>
  <Application>Microsoft Office PowerPoint</Application>
  <PresentationFormat>全屏显示(16:9)</PresentationFormat>
  <Paragraphs>343</Paragraphs>
  <Slides>50</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等线</vt:lpstr>
      <vt:lpstr>宋体</vt:lpstr>
      <vt:lpstr>微软雅黑</vt:lpstr>
      <vt:lpstr>Arial</vt:lpstr>
      <vt:lpstr>Calibri</vt:lpstr>
      <vt:lpstr>Cambria Math</vt:lpstr>
      <vt:lpstr>Mangal</vt:lpstr>
      <vt:lpstr>清风素材 https://12sc.taobao.com/</vt:lpstr>
      <vt:lpstr>PowerPoint 演示文稿</vt:lpstr>
      <vt:lpstr>PowerPoint 演示文稿</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厂商的云计算产品和服务</vt:lpstr>
      <vt:lpstr>厂商的云计算产品和服务</vt:lpstr>
      <vt:lpstr>厂商的云计算产品和服务</vt:lpstr>
      <vt:lpstr>厂商的云计算产品和服务</vt:lpstr>
      <vt:lpstr>厂商的云计算产品和服务</vt:lpstr>
      <vt:lpstr>厂商的云计算产品和服务</vt:lpstr>
      <vt:lpstr>厂商的云计算产品和服务</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lpstr>云计算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雄派 覃</cp:lastModifiedBy>
  <cp:revision>393</cp:revision>
  <cp:lastPrinted>2020-03-27T09:34:47Z</cp:lastPrinted>
  <dcterms:created xsi:type="dcterms:W3CDTF">2015-01-23T04:02:45Z</dcterms:created>
  <dcterms:modified xsi:type="dcterms:W3CDTF">2023-05-05T13:05:35Z</dcterms:modified>
  <cp:category/>
  <cp:contentStatus>12sc.taobao.com</cp:contentStatus>
</cp:coreProperties>
</file>