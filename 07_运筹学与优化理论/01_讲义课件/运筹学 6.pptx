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6"/>
  </p:handoutMasterIdLst>
  <p:sldIdLst>
    <p:sldId id="268" r:id="rId3"/>
    <p:sldId id="343" r:id="rId4"/>
    <p:sldId id="444" r:id="rId6"/>
    <p:sldId id="432" r:id="rId7"/>
    <p:sldId id="433" r:id="rId8"/>
    <p:sldId id="446" r:id="rId9"/>
    <p:sldId id="434" r:id="rId10"/>
    <p:sldId id="448" r:id="rId11"/>
    <p:sldId id="435" r:id="rId12"/>
    <p:sldId id="436" r:id="rId13"/>
    <p:sldId id="320" r:id="rId14"/>
    <p:sldId id="473" r:id="rId15"/>
    <p:sldId id="472" r:id="rId16"/>
    <p:sldId id="474" r:id="rId17"/>
    <p:sldId id="475" r:id="rId18"/>
    <p:sldId id="458" r:id="rId19"/>
    <p:sldId id="460" r:id="rId20"/>
    <p:sldId id="461" r:id="rId21"/>
    <p:sldId id="462" r:id="rId22"/>
    <p:sldId id="463" r:id="rId23"/>
    <p:sldId id="464" r:id="rId24"/>
    <p:sldId id="465" r:id="rId25"/>
    <p:sldId id="466" r:id="rId26"/>
    <p:sldId id="467" r:id="rId27"/>
    <p:sldId id="468" r:id="rId28"/>
    <p:sldId id="469" r:id="rId29"/>
    <p:sldId id="470" r:id="rId30"/>
    <p:sldId id="471" r:id="rId31"/>
    <p:sldId id="476" r:id="rId32"/>
    <p:sldId id="477" r:id="rId33"/>
    <p:sldId id="478" r:id="rId34"/>
    <p:sldId id="479" r:id="rId35"/>
    <p:sldId id="480" r:id="rId36"/>
    <p:sldId id="481" r:id="rId37"/>
    <p:sldId id="482" r:id="rId38"/>
    <p:sldId id="483" r:id="rId39"/>
    <p:sldId id="484" r:id="rId40"/>
    <p:sldId id="485" r:id="rId41"/>
    <p:sldId id="486" r:id="rId42"/>
    <p:sldId id="487" r:id="rId43"/>
    <p:sldId id="488" r:id="rId44"/>
    <p:sldId id="447" r:id="rId45"/>
  </p:sldIdLst>
  <p:sldSz cx="9144000" cy="6858000" type="screen4x3"/>
  <p:notesSz cx="6858000" cy="9144000"/>
  <p:custDataLst>
    <p:tags r:id="rId5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33CC33"/>
    <a:srgbClr val="FF99FF"/>
    <a:srgbClr val="66FFCC"/>
    <a:srgbClr val="CCFFFF"/>
    <a:srgbClr val="333399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525"/>
  </p:normalViewPr>
  <p:slideViewPr>
    <p:cSldViewPr showGuides="1">
      <p:cViewPr varScale="1">
        <p:scale>
          <a:sx n="63" d="100"/>
          <a:sy n="63" d="100"/>
        </p:scale>
        <p:origin x="-1512" y="-96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gs" Target="tags/tag1.xml"/><Relationship Id="rId5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4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latinLnBrk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latin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/>
          </a:p>
        </p:txBody>
      </p:sp>
      <p:sp>
        <p:nvSpPr>
          <p:cNvPr id="47107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7108" name="Rectangle 4"/>
          <p:cNvSpPr/>
          <p:nvPr>
            <p:ph type="body" idx="1"/>
          </p:nvPr>
        </p:nvSpPr>
        <p:spPr>
          <a:xfrm>
            <a:off x="914400" y="3276600"/>
            <a:ext cx="5029200" cy="5181600"/>
          </a:xfrm>
          <a:ln/>
        </p:spPr>
        <p:txBody>
          <a:bodyPr wrap="square" lIns="90488" tIns="44450" rIns="90488" bIns="4445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lvl="0" eaLnBrk="1" hangingPunct="1"/>
            <a:endParaRPr lang="zh-CN" altLang="en-US" dirty="0"/>
          </a:p>
        </p:txBody>
      </p:sp>
      <p:sp>
        <p:nvSpPr>
          <p:cNvPr id="48131" name="Rectangle 3"/>
          <p:cNvSpPr>
            <a:spLocks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8132" name="Rectangle 4"/>
          <p:cNvSpPr/>
          <p:nvPr>
            <p:ph type="body" idx="1"/>
          </p:nvPr>
        </p:nvSpPr>
        <p:spPr>
          <a:xfrm>
            <a:off x="914400" y="3276600"/>
            <a:ext cx="5029200" cy="5181600"/>
          </a:xfrm>
          <a:ln/>
        </p:spPr>
        <p:txBody>
          <a:bodyPr wrap="square" lIns="90488" tIns="44450" rIns="90488" bIns="4445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9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2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2051" name="Picture 21" descr="Renmin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23163" y="80963"/>
            <a:ext cx="1512887" cy="1403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915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915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3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811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1811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18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19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0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1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2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3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4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8125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812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2" name="Picture 17" descr="Renmin 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451725" y="115888"/>
            <a:ext cx="1546225" cy="14747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18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075" name="Rectangle 2"/>
          <p:cNvSpPr>
            <a:spLocks noGrp="1"/>
          </p:cNvSpPr>
          <p:nvPr>
            <p:ph type="ctrTitle"/>
          </p:nvPr>
        </p:nvSpPr>
        <p:spPr>
          <a:xfrm>
            <a:off x="2857500" y="1989138"/>
            <a:ext cx="6286500" cy="1455737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6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运筹学与优化理论</a:t>
            </a:r>
            <a:endParaRPr lang="zh-CN" altLang="en-US" sz="6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type="subTitle" idx="1"/>
          </p:nvPr>
        </p:nvSpPr>
        <p:spPr>
          <a:xfrm>
            <a:off x="3635375" y="4652963"/>
            <a:ext cx="4464050" cy="15128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Pct val="75000"/>
            </a:pPr>
            <a:r>
              <a:rPr lang="zh-CN" altLang="en-US" b="1" dirty="0">
                <a:latin typeface="宋体" panose="02010600030101010101" pitchFamily="2" charset="-122"/>
                <a:ea typeface="+mn-ea"/>
                <a:cs typeface="+mn-cs"/>
              </a:rPr>
              <a:t>许 伟</a:t>
            </a:r>
            <a:r>
              <a:rPr lang="zh-CN" altLang="en-US" dirty="0"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教授</a:t>
            </a:r>
            <a:r>
              <a:rPr lang="en-US" altLang="zh-CN" sz="2800" dirty="0">
                <a:latin typeface="宋体" panose="02010600030101010101" pitchFamily="2" charset="-122"/>
                <a:ea typeface="+mn-ea"/>
                <a:cs typeface="+mn-cs"/>
              </a:rPr>
              <a:t>/</a:t>
            </a: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博导</a:t>
            </a:r>
            <a:endParaRPr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buSzPct val="75000"/>
            </a:pP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中国人民大学信息学院</a:t>
            </a:r>
            <a:endParaRPr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571500" y="709613"/>
            <a:ext cx="5472113" cy="933450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sz="4800" dirty="0">
                <a:solidFill>
                  <a:srgbClr val="0D04BE"/>
                </a:solidFill>
                <a:ea typeface="楷体_GB2312" pitchFamily="49" charset="-122"/>
              </a:rPr>
              <a:t>本章内容</a:t>
            </a:r>
            <a:endParaRPr lang="zh-CN" altLang="en-US" sz="4800" dirty="0">
              <a:solidFill>
                <a:srgbClr val="0D04BE"/>
              </a:solidFill>
              <a:ea typeface="楷体_GB2312" pitchFamily="49" charset="-122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14375" y="1785938"/>
            <a:ext cx="7848600" cy="4572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2.1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线性规划的对偶问题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2.2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对偶问题的基本性质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2.3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影子价格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2.4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对偶单纯形法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2.5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灵敏度分析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2.6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参数线性规划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6"/>
          <p:cNvSpPr>
            <a:spLocks noGrp="1"/>
          </p:cNvSpPr>
          <p:nvPr>
            <p:ph type="title"/>
          </p:nvPr>
        </p:nvSpPr>
        <p:spPr>
          <a:xfrm>
            <a:off x="357188" y="625475"/>
            <a:ext cx="5257800" cy="874713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sz="4800" dirty="0">
                <a:solidFill>
                  <a:srgbClr val="0D04BE"/>
                </a:solidFill>
                <a:ea typeface="楷体_GB2312" pitchFamily="49" charset="-122"/>
              </a:rPr>
              <a:t>本章内容要点</a:t>
            </a:r>
            <a:endParaRPr lang="zh-CN" altLang="en-US" sz="4800" dirty="0">
              <a:solidFill>
                <a:srgbClr val="0D04BE"/>
              </a:solidFill>
              <a:ea typeface="楷体_GB2312" pitchFamily="49" charset="-122"/>
            </a:endParaRPr>
          </a:p>
        </p:txBody>
      </p:sp>
      <p:sp>
        <p:nvSpPr>
          <p:cNvPr id="5123" name="Rectangle 7"/>
          <p:cNvSpPr>
            <a:spLocks noGrp="1"/>
          </p:cNvSpPr>
          <p:nvPr>
            <p:ph idx="1"/>
          </p:nvPr>
        </p:nvSpPr>
        <p:spPr>
          <a:xfrm>
            <a:off x="468313" y="1704975"/>
            <a:ext cx="8532812" cy="4367213"/>
          </a:xfrm>
          <a:ln/>
        </p:spPr>
        <p:txBody>
          <a:bodyPr vert="horz" wrap="square" lIns="91440" tIns="45720" rIns="91440" bIns="45720" anchor="t" anchorCtr="0"/>
          <a:p>
            <a:pPr marL="609600" indent="-609600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sz="4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线性规划的对偶问题</a:t>
            </a:r>
            <a:endParaRPr lang="zh-CN" altLang="en-US" sz="40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sz="4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影子价格的经济意义和应用</a:t>
            </a:r>
            <a:endParaRPr lang="en-US" altLang="zh-CN" sz="40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sz="4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对偶单纯形法</a:t>
            </a:r>
            <a:endParaRPr lang="en-US" altLang="zh-CN" sz="40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>
              <a:lnSpc>
                <a:spcPct val="150000"/>
              </a:lnSpc>
              <a:buFontTx/>
              <a:buBlip>
                <a:blip r:embed="rId1"/>
              </a:buBlip>
            </a:pPr>
            <a:r>
              <a:rPr lang="zh-CN" altLang="en-US" sz="4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灵敏度分析</a:t>
            </a:r>
            <a:endParaRPr lang="zh-CN" altLang="en-US" sz="40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614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3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2.5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灵敏度分析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6154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1285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5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6063"/>
            <a:ext cx="9144000" cy="2071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717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7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2.5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灵敏度分析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7178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1625"/>
            <a:ext cx="9144000" cy="33575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819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1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2.5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灵敏度分析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8202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4429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921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5" name="Rectangle 2"/>
          <p:cNvSpPr>
            <a:spLocks noGrp="1"/>
          </p:cNvSpPr>
          <p:nvPr>
            <p:ph type="title"/>
          </p:nvPr>
        </p:nvSpPr>
        <p:spPr>
          <a:xfrm>
            <a:off x="357188" y="500063"/>
            <a:ext cx="6040437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2.5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灵敏度分析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9226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3500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024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9" name="Rectangle 2"/>
          <p:cNvSpPr>
            <a:spLocks noGrp="1"/>
          </p:cNvSpPr>
          <p:nvPr>
            <p:ph type="title"/>
          </p:nvPr>
        </p:nvSpPr>
        <p:spPr>
          <a:xfrm>
            <a:off x="388938" y="714375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2.5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灵敏度分析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0250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4572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126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3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2.5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灵敏度分析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1274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314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5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3" y="4429125"/>
            <a:ext cx="8929687" cy="57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229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7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2.5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灵敏度分析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2298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331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2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332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433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5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2.5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灵敏度分析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43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928813"/>
            <a:ext cx="8315325" cy="914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2786063"/>
            <a:ext cx="8362950" cy="1952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536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5369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063" y="1643063"/>
            <a:ext cx="8077200" cy="4867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638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8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8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639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88" y="1928813"/>
            <a:ext cx="8477250" cy="2657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741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741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785938"/>
            <a:ext cx="8324850" cy="2295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8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4071938"/>
            <a:ext cx="8505825" cy="2400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843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1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2.5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灵敏度分析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844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0" y="1628775"/>
            <a:ext cx="8677275" cy="3455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945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9465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557338"/>
            <a:ext cx="8280400" cy="43195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048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048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1700213"/>
            <a:ext cx="7991475" cy="4032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150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0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0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151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628775"/>
            <a:ext cx="8353425" cy="3168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253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253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1557338"/>
            <a:ext cx="8207375" cy="4248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355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356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1557338"/>
            <a:ext cx="8064500" cy="3743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457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458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8" y="981075"/>
            <a:ext cx="8640762" cy="52562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560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560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662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663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773238"/>
            <a:ext cx="8135938" cy="1800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765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765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557338"/>
            <a:ext cx="7921625" cy="5032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8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2060575"/>
            <a:ext cx="8248650" cy="2736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867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868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88" y="1557338"/>
            <a:ext cx="8442325" cy="38877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969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970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916113"/>
            <a:ext cx="8135938" cy="3384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072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072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557338"/>
            <a:ext cx="7848600" cy="4464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174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4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4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53" name="Rectangle 2"/>
          <p:cNvSpPr>
            <a:spLocks noGrp="1"/>
          </p:cNvSpPr>
          <p:nvPr>
            <p:ph type="title"/>
          </p:nvPr>
        </p:nvSpPr>
        <p:spPr>
          <a:xfrm>
            <a:off x="388938" y="714375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参数线性规划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1754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4500"/>
            <a:ext cx="9144000" cy="1928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277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7" name="Rectangle 2"/>
          <p:cNvSpPr>
            <a:spLocks noGrp="1"/>
          </p:cNvSpPr>
          <p:nvPr>
            <p:ph type="title"/>
          </p:nvPr>
        </p:nvSpPr>
        <p:spPr>
          <a:xfrm>
            <a:off x="388938" y="714375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参数线性规划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2778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4786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379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1" name="Rectangle 2"/>
          <p:cNvSpPr>
            <a:spLocks noGrp="1"/>
          </p:cNvSpPr>
          <p:nvPr>
            <p:ph type="title"/>
          </p:nvPr>
        </p:nvSpPr>
        <p:spPr>
          <a:xfrm>
            <a:off x="357188" y="714375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参数线性规划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380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3063"/>
            <a:ext cx="9144000" cy="4071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481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5" name="Rectangle 2"/>
          <p:cNvSpPr>
            <a:spLocks noGrp="1"/>
          </p:cNvSpPr>
          <p:nvPr>
            <p:ph type="title"/>
          </p:nvPr>
        </p:nvSpPr>
        <p:spPr>
          <a:xfrm>
            <a:off x="357188" y="571500"/>
            <a:ext cx="6040437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参数线性规划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4826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4000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584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9" name="Rectangle 2"/>
          <p:cNvSpPr>
            <a:spLocks noGrp="1"/>
          </p:cNvSpPr>
          <p:nvPr>
            <p:ph type="title"/>
          </p:nvPr>
        </p:nvSpPr>
        <p:spPr>
          <a:xfrm>
            <a:off x="428625" y="42862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参数线性规划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5850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14438"/>
            <a:ext cx="9144000" cy="1643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51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9144000" cy="4000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686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73" name="Rectangle 2"/>
          <p:cNvSpPr>
            <a:spLocks noGrp="1"/>
          </p:cNvSpPr>
          <p:nvPr>
            <p:ph type="title"/>
          </p:nvPr>
        </p:nvSpPr>
        <p:spPr>
          <a:xfrm>
            <a:off x="428625" y="571500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参数线性规划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6874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85875"/>
            <a:ext cx="9144000" cy="4357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789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7" name="Rectangle 2"/>
          <p:cNvSpPr>
            <a:spLocks noGrp="1"/>
          </p:cNvSpPr>
          <p:nvPr>
            <p:ph type="title"/>
          </p:nvPr>
        </p:nvSpPr>
        <p:spPr>
          <a:xfrm>
            <a:off x="428625" y="714375"/>
            <a:ext cx="6040438" cy="6937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参数线性规划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7898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891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21" name="Rectangle 2"/>
          <p:cNvSpPr>
            <a:spLocks noGrp="1"/>
          </p:cNvSpPr>
          <p:nvPr>
            <p:ph type="title"/>
          </p:nvPr>
        </p:nvSpPr>
        <p:spPr>
          <a:xfrm>
            <a:off x="357188" y="500063"/>
            <a:ext cx="6040437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参数线性规划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892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43000"/>
            <a:ext cx="9144000" cy="1571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2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7438"/>
            <a:ext cx="9144000" cy="3786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3993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5" name="Rectangle 2"/>
          <p:cNvSpPr>
            <a:spLocks noGrp="1"/>
          </p:cNvSpPr>
          <p:nvPr>
            <p:ph type="title"/>
          </p:nvPr>
        </p:nvSpPr>
        <p:spPr>
          <a:xfrm>
            <a:off x="357188" y="592138"/>
            <a:ext cx="6040437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99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4714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096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9" name="Rectangle 2"/>
          <p:cNvSpPr>
            <a:spLocks noGrp="1"/>
          </p:cNvSpPr>
          <p:nvPr>
            <p:ph type="title"/>
          </p:nvPr>
        </p:nvSpPr>
        <p:spPr>
          <a:xfrm>
            <a:off x="357188" y="592138"/>
            <a:ext cx="6040437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097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57313"/>
            <a:ext cx="9144000" cy="3714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198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3" name="Rectangle 2"/>
          <p:cNvSpPr>
            <a:spLocks noGrp="1"/>
          </p:cNvSpPr>
          <p:nvPr>
            <p:ph type="title"/>
          </p:nvPr>
        </p:nvSpPr>
        <p:spPr>
          <a:xfrm>
            <a:off x="357188" y="592138"/>
            <a:ext cx="6040437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199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4143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301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7" name="Rectangle 2"/>
          <p:cNvSpPr>
            <a:spLocks noGrp="1"/>
          </p:cNvSpPr>
          <p:nvPr>
            <p:ph type="title"/>
          </p:nvPr>
        </p:nvSpPr>
        <p:spPr>
          <a:xfrm>
            <a:off x="357188" y="592138"/>
            <a:ext cx="6040437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301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403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1" name="Rectangle 2"/>
          <p:cNvSpPr>
            <a:spLocks noGrp="1"/>
          </p:cNvSpPr>
          <p:nvPr>
            <p:ph type="title"/>
          </p:nvPr>
        </p:nvSpPr>
        <p:spPr>
          <a:xfrm>
            <a:off x="357188" y="592138"/>
            <a:ext cx="6040437" cy="6937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2.6 </a:t>
            </a:r>
            <a:r>
              <a:rPr lang="zh-CN" altLang="en-US" sz="3200" dirty="0">
                <a:solidFill>
                  <a:srgbClr val="0D04BE"/>
                </a:solidFill>
                <a:latin typeface="楷体_GB2312" pitchFamily="49" charset="-122"/>
                <a:ea typeface="楷体_GB2312" pitchFamily="49" charset="-122"/>
              </a:rPr>
              <a:t>应用举例</a:t>
            </a:r>
            <a:endParaRPr lang="zh-CN" altLang="en-US" sz="3200" dirty="0">
              <a:solidFill>
                <a:srgbClr val="0D04BE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404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1625"/>
            <a:ext cx="9144000" cy="9286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4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4625"/>
            <a:ext cx="9144000" cy="4143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1908175" y="2565400"/>
            <a:ext cx="5113338" cy="1800225"/>
          </a:xfrm>
          <a:ln/>
        </p:spPr>
        <p:txBody>
          <a:bodyPr vert="horz" wrap="square" lIns="91440" tIns="45720" rIns="91440" bIns="45720" anchor="t" anchorCtr="0"/>
          <a:p>
            <a:pPr marL="533400" indent="-533400" algn="ctr" eaLnBrk="1" hangingPunct="1">
              <a:buNone/>
            </a:pPr>
            <a:r>
              <a:rPr lang="zh-CN" altLang="en-US" sz="8000" dirty="0">
                <a:cs typeface="Times New Roman" panose="02020603050405020304" pitchFamily="18" charset="0"/>
              </a:rPr>
              <a:t>谢谢大家</a:t>
            </a:r>
            <a:endParaRPr lang="zh-CN" altLang="en-US" sz="8000" dirty="0"/>
          </a:p>
        </p:txBody>
      </p:sp>
      <p:sp>
        <p:nvSpPr>
          <p:cNvPr id="45060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1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2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3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4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5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ef0eeee1-3854-45f0-b154-761aceb3148c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377</Words>
  <Application>WPS 演示</Application>
  <PresentationFormat>全屏显示(4:3)</PresentationFormat>
  <Paragraphs>147</Paragraphs>
  <Slides>42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2" baseType="lpstr">
      <vt:lpstr>Arial</vt:lpstr>
      <vt:lpstr>宋体</vt:lpstr>
      <vt:lpstr>Wingdings</vt:lpstr>
      <vt:lpstr>Times New Roman</vt:lpstr>
      <vt:lpstr>Arial Black</vt:lpstr>
      <vt:lpstr>楷体_GB2312</vt:lpstr>
      <vt:lpstr>新宋体</vt:lpstr>
      <vt:lpstr>微软雅黑</vt:lpstr>
      <vt:lpstr>Arial Unicode MS</vt:lpstr>
      <vt:lpstr>Pixel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Albert Yang</cp:lastModifiedBy>
  <cp:revision>409</cp:revision>
  <dcterms:created xsi:type="dcterms:W3CDTF">2022-12-11T09:08:24Z</dcterms:created>
  <dcterms:modified xsi:type="dcterms:W3CDTF">2022-12-11T09:08:33Z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738FD12CF371411E84082949D26CD56E</vt:lpwstr>
  </property>
  <property fmtid="{D5CDD505-2E9C-101B-9397-08002B2CF9AE}" pid="3" name="KSOProductBuildVer">
    <vt:lpwstr>2052-11.1.0.12980</vt:lpwstr>
  </property>
</Properties>
</file>