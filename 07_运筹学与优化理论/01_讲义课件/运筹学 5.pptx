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50"/>
  </p:handoutMasterIdLst>
  <p:sldIdLst>
    <p:sldId id="268" r:id="rId3"/>
    <p:sldId id="343" r:id="rId4"/>
    <p:sldId id="444" r:id="rId6"/>
    <p:sldId id="413" r:id="rId7"/>
    <p:sldId id="445" r:id="rId8"/>
    <p:sldId id="414" r:id="rId9"/>
    <p:sldId id="415" r:id="rId10"/>
    <p:sldId id="416" r:id="rId11"/>
    <p:sldId id="418" r:id="rId12"/>
    <p:sldId id="419" r:id="rId13"/>
    <p:sldId id="420" r:id="rId14"/>
    <p:sldId id="421" r:id="rId15"/>
    <p:sldId id="422" r:id="rId16"/>
    <p:sldId id="423" r:id="rId17"/>
    <p:sldId id="424" r:id="rId18"/>
    <p:sldId id="425" r:id="rId19"/>
    <p:sldId id="426" r:id="rId20"/>
    <p:sldId id="427" r:id="rId21"/>
    <p:sldId id="428" r:id="rId22"/>
    <p:sldId id="429" r:id="rId23"/>
    <p:sldId id="431" r:id="rId24"/>
    <p:sldId id="432" r:id="rId25"/>
    <p:sldId id="433" r:id="rId26"/>
    <p:sldId id="446" r:id="rId27"/>
    <p:sldId id="434" r:id="rId28"/>
    <p:sldId id="435" r:id="rId29"/>
    <p:sldId id="436" r:id="rId30"/>
    <p:sldId id="447" r:id="rId31"/>
    <p:sldId id="448" r:id="rId32"/>
    <p:sldId id="449" r:id="rId33"/>
    <p:sldId id="450" r:id="rId34"/>
    <p:sldId id="451" r:id="rId35"/>
    <p:sldId id="452" r:id="rId36"/>
    <p:sldId id="453" r:id="rId37"/>
    <p:sldId id="454" r:id="rId38"/>
    <p:sldId id="455" r:id="rId39"/>
    <p:sldId id="456" r:id="rId40"/>
    <p:sldId id="457" r:id="rId41"/>
    <p:sldId id="458" r:id="rId42"/>
    <p:sldId id="459" r:id="rId43"/>
    <p:sldId id="460" r:id="rId44"/>
    <p:sldId id="461" r:id="rId45"/>
    <p:sldId id="462" r:id="rId46"/>
    <p:sldId id="463" r:id="rId47"/>
    <p:sldId id="464" r:id="rId48"/>
    <p:sldId id="320" r:id="rId49"/>
  </p:sldIdLst>
  <p:sldSz cx="9144000" cy="6858000" type="screen4x3"/>
  <p:notesSz cx="6858000" cy="9144000"/>
  <p:custDataLst>
    <p:tags r:id="rId54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00"/>
    <a:srgbClr val="33CC33"/>
    <a:srgbClr val="FF99FF"/>
    <a:srgbClr val="66FFCC"/>
    <a:srgbClr val="CCFFFF"/>
    <a:srgbClr val="333399"/>
    <a:srgbClr val="CCECFF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525"/>
  </p:normalViewPr>
  <p:slideViewPr>
    <p:cSldViewPr showGuides="1">
      <p:cViewPr varScale="1">
        <p:scale>
          <a:sx n="63" d="100"/>
          <a:sy n="63" d="100"/>
        </p:scale>
        <p:origin x="-1512" y="-96"/>
      </p:cViewPr>
      <p:guideLst>
        <p:guide orient="horz" pos="2160"/>
        <p:guide pos="2880"/>
      </p:guideLst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4" Type="http://schemas.openxmlformats.org/officeDocument/2006/relationships/tags" Target="tags/tag1.xml"/><Relationship Id="rId53" Type="http://schemas.openxmlformats.org/officeDocument/2006/relationships/tableStyles" Target="tableStyles.xml"/><Relationship Id="rId52" Type="http://schemas.openxmlformats.org/officeDocument/2006/relationships/viewProps" Target="viewProps.xml"/><Relationship Id="rId51" Type="http://schemas.openxmlformats.org/officeDocument/2006/relationships/presProps" Target="presProps.xml"/><Relationship Id="rId50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6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6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latinLnBrk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latinLnBrk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180" name="Rectangle 4"/>
          <p:cNvSpPr>
            <a:spLocks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latinLnBrk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latinLnBrk="1" hangingPunct="1">
              <a:buNone/>
            </a:pPr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Rectangle 2"/>
          <p:cNvSpPr/>
          <p:nvPr/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/>
          <a:p>
            <a:pPr lvl="0" eaLnBrk="1" hangingPunct="1"/>
            <a:endParaRPr lang="zh-CN" altLang="en-US" dirty="0"/>
          </a:p>
        </p:txBody>
      </p:sp>
      <p:sp>
        <p:nvSpPr>
          <p:cNvPr id="51203" name="Rectangle 3"/>
          <p:cNvSpPr>
            <a:spLocks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51204" name="Rectangle 4"/>
          <p:cNvSpPr/>
          <p:nvPr>
            <p:ph type="body" idx="1"/>
          </p:nvPr>
        </p:nvSpPr>
        <p:spPr>
          <a:xfrm>
            <a:off x="914400" y="3276600"/>
            <a:ext cx="5029200" cy="5181600"/>
          </a:xfrm>
          <a:ln/>
        </p:spPr>
        <p:txBody>
          <a:bodyPr wrap="square" lIns="90488" tIns="44450" rIns="90488" bIns="44450" anchor="t" anchorCtr="0"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Rectangle 2"/>
          <p:cNvSpPr/>
          <p:nvPr/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/>
          <a:p>
            <a:pPr lvl="0" eaLnBrk="1" hangingPunct="1"/>
            <a:endParaRPr lang="zh-CN" altLang="en-US" dirty="0"/>
          </a:p>
        </p:txBody>
      </p:sp>
      <p:sp>
        <p:nvSpPr>
          <p:cNvPr id="52227" name="Rectangle 3"/>
          <p:cNvSpPr>
            <a:spLocks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52228" name="Rectangle 4"/>
          <p:cNvSpPr/>
          <p:nvPr>
            <p:ph type="body" idx="1"/>
          </p:nvPr>
        </p:nvSpPr>
        <p:spPr>
          <a:xfrm>
            <a:off x="914400" y="3276600"/>
            <a:ext cx="5029200" cy="5181600"/>
          </a:xfrm>
          <a:ln/>
        </p:spPr>
        <p:txBody>
          <a:bodyPr wrap="square" lIns="90488" tIns="44450" rIns="90488" bIns="44450" anchor="t" anchorCtr="0"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19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059" name="Group 5"/>
            <p:cNvGrpSpPr/>
            <p:nvPr/>
          </p:nvGrpSpPr>
          <p:grpSpPr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22" name="Rectangle 6"/>
              <p:cNvSpPr>
                <a:spLocks noChangeArrowheads="1"/>
              </p:cNvSpPr>
              <p:nvPr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Rectangle 7"/>
              <p:cNvSpPr>
                <a:spLocks noChangeArrowheads="1"/>
              </p:cNvSpPr>
              <p:nvPr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" name="Rectangle 8"/>
              <p:cNvSpPr>
                <a:spLocks noChangeArrowheads="1"/>
              </p:cNvSpPr>
              <p:nvPr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5" name="Rectangle 9"/>
              <p:cNvSpPr>
                <a:spLocks noChangeArrowheads="1"/>
              </p:cNvSpPr>
              <p:nvPr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" name="Rectangle 10"/>
              <p:cNvSpPr>
                <a:spLocks noChangeArrowheads="1"/>
              </p:cNvSpPr>
              <p:nvPr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7" name="Rectangle 11"/>
              <p:cNvSpPr>
                <a:spLocks noChangeArrowheads="1"/>
              </p:cNvSpPr>
              <p:nvPr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" name="Rectangle 12"/>
              <p:cNvSpPr>
                <a:spLocks noChangeArrowheads="1"/>
              </p:cNvSpPr>
              <p:nvPr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" name="Rectangle 13"/>
              <p:cNvSpPr>
                <a:spLocks noChangeArrowheads="1"/>
              </p:cNvSpPr>
              <p:nvPr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0" name="Rectangle 14"/>
              <p:cNvSpPr>
                <a:spLocks noChangeArrowheads="1"/>
              </p:cNvSpPr>
              <p:nvPr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1" name="Rectangle 15"/>
              <p:cNvSpPr>
                <a:spLocks noChangeArrowheads="1"/>
              </p:cNvSpPr>
              <p:nvPr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pic>
        <p:nvPicPr>
          <p:cNvPr id="2051" name="Picture 21" descr="Renmin 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23163" y="80963"/>
            <a:ext cx="1512887" cy="1403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9155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19156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33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2009-09-11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</a:fld>
            <a:endParaRPr lang="en-US" altLang="zh-CN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2009-09-11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2009-09-11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2009-09-11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2009-09-11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2009-09-11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2009-09-11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2009-09-11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2009-09-11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2009-09-11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2009-09-11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8114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811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 Black" panose="020B0A0402010202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grpSp>
        <p:nvGrpSpPr>
          <p:cNvPr id="1028" name="Group 4"/>
          <p:cNvGrpSpPr/>
          <p:nvPr/>
        </p:nvGrpSpPr>
        <p:grpSpPr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18117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8118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8119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8120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8121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8122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8123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8124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8125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29" name="Rectangle 14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30" name="Rectangle 15"/>
          <p:cNvSpPr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18128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2009-09-11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32" name="Picture 17" descr="Renmin Logo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7451725" y="115888"/>
            <a:ext cx="1546225" cy="14747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3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4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5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6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7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8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9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2.png"/><Relationship Id="rId1" Type="http://schemas.openxmlformats.org/officeDocument/2006/relationships/image" Target="../media/image51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3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4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Rectangle 18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3075" name="Rectangle 2"/>
          <p:cNvSpPr>
            <a:spLocks noGrp="1"/>
          </p:cNvSpPr>
          <p:nvPr>
            <p:ph type="ctrTitle"/>
          </p:nvPr>
        </p:nvSpPr>
        <p:spPr>
          <a:xfrm>
            <a:off x="2857500" y="1989138"/>
            <a:ext cx="6286500" cy="1455737"/>
          </a:xfrm>
          <a:ln/>
        </p:spPr>
        <p:txBody>
          <a:bodyPr vert="horz" wrap="square" lIns="91440" tIns="45720" rIns="91440" bIns="45720" anchor="ctr" anchorCtr="0"/>
          <a:p>
            <a:pPr eaLnBrk="1" hangingPunct="1">
              <a:buClrTx/>
              <a:buSzTx/>
              <a:buFontTx/>
            </a:pPr>
            <a:r>
              <a:rPr lang="zh-CN" altLang="en-US" sz="60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运筹学与优化理论</a:t>
            </a:r>
            <a:endParaRPr lang="zh-CN" altLang="en-US" sz="60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076" name="Rectangle 3"/>
          <p:cNvSpPr>
            <a:spLocks noGrp="1"/>
          </p:cNvSpPr>
          <p:nvPr>
            <p:ph type="subTitle" idx="1"/>
          </p:nvPr>
        </p:nvSpPr>
        <p:spPr>
          <a:xfrm>
            <a:off x="3635375" y="4652963"/>
            <a:ext cx="4464050" cy="1512887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SzPct val="75000"/>
            </a:pPr>
            <a:r>
              <a:rPr lang="zh-CN" altLang="en-US" b="1" dirty="0">
                <a:latin typeface="宋体" panose="02010600030101010101" pitchFamily="2" charset="-122"/>
                <a:ea typeface="+mn-ea"/>
                <a:cs typeface="+mn-cs"/>
              </a:rPr>
              <a:t>许 伟</a:t>
            </a:r>
            <a:r>
              <a:rPr lang="zh-CN" altLang="en-US" dirty="0">
                <a:latin typeface="宋体" panose="02010600030101010101" pitchFamily="2" charset="-122"/>
                <a:ea typeface="+mn-ea"/>
                <a:cs typeface="+mn-cs"/>
              </a:rPr>
              <a:t> </a:t>
            </a:r>
            <a:r>
              <a:rPr lang="zh-CN" altLang="en-US" sz="2800" dirty="0">
                <a:latin typeface="宋体" panose="02010600030101010101" pitchFamily="2" charset="-122"/>
                <a:ea typeface="+mn-ea"/>
                <a:cs typeface="+mn-cs"/>
              </a:rPr>
              <a:t>教授</a:t>
            </a:r>
            <a:r>
              <a:rPr lang="en-US" altLang="zh-CN" sz="2800" dirty="0">
                <a:latin typeface="宋体" panose="02010600030101010101" pitchFamily="2" charset="-122"/>
                <a:ea typeface="+mn-ea"/>
                <a:cs typeface="+mn-cs"/>
              </a:rPr>
              <a:t>/</a:t>
            </a:r>
            <a:r>
              <a:rPr lang="zh-CN" altLang="en-US" sz="2800" dirty="0">
                <a:latin typeface="宋体" panose="02010600030101010101" pitchFamily="2" charset="-122"/>
                <a:ea typeface="+mn-ea"/>
                <a:cs typeface="+mn-cs"/>
              </a:rPr>
              <a:t>博导</a:t>
            </a:r>
            <a:endParaRPr lang="zh-CN" altLang="en-US" sz="2800" dirty="0">
              <a:latin typeface="宋体" panose="02010600030101010101" pitchFamily="2" charset="-122"/>
              <a:ea typeface="+mn-ea"/>
              <a:cs typeface="+mn-cs"/>
            </a:endParaRPr>
          </a:p>
          <a:p>
            <a:pPr eaLnBrk="1" hangingPunct="1">
              <a:buSzPct val="75000"/>
            </a:pPr>
            <a:r>
              <a:rPr lang="zh-CN" altLang="en-US" sz="2800" dirty="0">
                <a:latin typeface="宋体" panose="02010600030101010101" pitchFamily="2" charset="-122"/>
                <a:ea typeface="+mn-ea"/>
                <a:cs typeface="+mn-cs"/>
              </a:rPr>
              <a:t>中国人民大学信息学院</a:t>
            </a:r>
            <a:endParaRPr lang="zh-CN" altLang="en-US" sz="2800" dirty="0">
              <a:latin typeface="宋体" panose="02010600030101010101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/>
          </p:cNvSpPr>
          <p:nvPr>
            <p:ph type="title"/>
          </p:nvPr>
        </p:nvSpPr>
        <p:spPr>
          <a:xfrm>
            <a:off x="571500" y="709613"/>
            <a:ext cx="5472113" cy="933450"/>
          </a:xfrm>
          <a:ln/>
        </p:spPr>
        <p:txBody>
          <a:bodyPr vert="horz" wrap="square" lIns="91440" tIns="45720" rIns="91440" bIns="45720" anchor="t" anchorCtr="0"/>
          <a:p>
            <a:r>
              <a:rPr lang="zh-CN" altLang="en-US" sz="4800" dirty="0">
                <a:solidFill>
                  <a:srgbClr val="0D04BE"/>
                </a:solidFill>
                <a:ea typeface="楷体_GB2312" pitchFamily="49" charset="-122"/>
              </a:rPr>
              <a:t>本章内容</a:t>
            </a:r>
            <a:endParaRPr lang="zh-CN" altLang="en-US" sz="4800" dirty="0">
              <a:solidFill>
                <a:srgbClr val="0D04BE"/>
              </a:solidFill>
              <a:ea typeface="楷体_GB2312" pitchFamily="49" charset="-122"/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714375" y="1785938"/>
            <a:ext cx="7848600" cy="4572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2.1 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线性规划的对偶问题</a:t>
            </a:r>
            <a:endParaRPr kumimoji="0" lang="zh-CN" altLang="en-US" sz="2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2.2 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对偶问题的基本性质</a:t>
            </a:r>
            <a:endParaRPr kumimoji="0" lang="zh-CN" altLang="en-US" sz="2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2.3 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影子价格</a:t>
            </a:r>
            <a:endParaRPr kumimoji="0" lang="zh-CN" altLang="en-US" sz="2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2.4 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对偶单纯形法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2.5 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灵敏度分析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2.6 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参数线性规划</a:t>
            </a:r>
            <a:endParaRPr kumimoji="0" lang="zh-CN" altLang="en-US" sz="2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6"/>
          <p:cNvSpPr>
            <a:spLocks noGrp="1"/>
          </p:cNvSpPr>
          <p:nvPr>
            <p:ph type="title"/>
          </p:nvPr>
        </p:nvSpPr>
        <p:spPr>
          <a:xfrm>
            <a:off x="357188" y="625475"/>
            <a:ext cx="5257800" cy="874713"/>
          </a:xfrm>
          <a:ln/>
        </p:spPr>
        <p:txBody>
          <a:bodyPr vert="horz" wrap="square" lIns="91440" tIns="45720" rIns="91440" bIns="45720" anchor="t" anchorCtr="0"/>
          <a:p>
            <a:r>
              <a:rPr lang="zh-CN" altLang="en-US" sz="4800" dirty="0">
                <a:solidFill>
                  <a:srgbClr val="0D04BE"/>
                </a:solidFill>
                <a:ea typeface="楷体_GB2312" pitchFamily="49" charset="-122"/>
              </a:rPr>
              <a:t>本章内容要点</a:t>
            </a:r>
            <a:endParaRPr lang="zh-CN" altLang="en-US" sz="4800" dirty="0">
              <a:solidFill>
                <a:srgbClr val="0D04BE"/>
              </a:solidFill>
              <a:ea typeface="楷体_GB2312" pitchFamily="49" charset="-122"/>
            </a:endParaRPr>
          </a:p>
        </p:txBody>
      </p:sp>
      <p:sp>
        <p:nvSpPr>
          <p:cNvPr id="5123" name="Rectangle 7"/>
          <p:cNvSpPr>
            <a:spLocks noGrp="1"/>
          </p:cNvSpPr>
          <p:nvPr>
            <p:ph idx="1"/>
          </p:nvPr>
        </p:nvSpPr>
        <p:spPr>
          <a:xfrm>
            <a:off x="468313" y="1704975"/>
            <a:ext cx="8532812" cy="4367213"/>
          </a:xfrm>
          <a:ln/>
        </p:spPr>
        <p:txBody>
          <a:bodyPr vert="horz" wrap="square" lIns="91440" tIns="45720" rIns="91440" bIns="45720" anchor="t" anchorCtr="0"/>
          <a:p>
            <a:pPr marL="609600" indent="-609600">
              <a:lnSpc>
                <a:spcPct val="150000"/>
              </a:lnSpc>
              <a:buFontTx/>
              <a:buBlip>
                <a:blip r:embed="rId1"/>
              </a:buBlip>
            </a:pPr>
            <a:r>
              <a:rPr lang="zh-CN" altLang="en-US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线性规划的对偶问题</a:t>
            </a:r>
            <a:endParaRPr lang="zh-CN" altLang="en-US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609600" indent="-609600">
              <a:lnSpc>
                <a:spcPct val="150000"/>
              </a:lnSpc>
              <a:buFontTx/>
              <a:buBlip>
                <a:blip r:embed="rId1"/>
              </a:buBlip>
            </a:pPr>
            <a:r>
              <a:rPr lang="zh-CN" altLang="en-US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影子价格的经济意义和应用</a:t>
            </a:r>
            <a:endParaRPr lang="en-US" altLang="zh-CN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609600" indent="-609600">
              <a:lnSpc>
                <a:spcPct val="150000"/>
              </a:lnSpc>
              <a:buFontTx/>
              <a:buBlip>
                <a:blip r:embed="rId1"/>
              </a:buBlip>
            </a:pPr>
            <a:r>
              <a:rPr lang="zh-CN" altLang="en-US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对偶单纯形法</a:t>
            </a:r>
            <a:endParaRPr lang="en-US" altLang="zh-CN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609600" indent="-609600">
              <a:lnSpc>
                <a:spcPct val="150000"/>
              </a:lnSpc>
              <a:buFontTx/>
              <a:buBlip>
                <a:blip r:embed="rId1"/>
              </a:buBlip>
            </a:pPr>
            <a:r>
              <a:rPr lang="zh-CN" altLang="en-US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灵敏度分析</a:t>
            </a:r>
            <a:endParaRPr lang="zh-CN" altLang="en-US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6147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8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9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50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51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52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53" name="Rectangle 2"/>
          <p:cNvSpPr>
            <a:spLocks noGrp="1"/>
          </p:cNvSpPr>
          <p:nvPr>
            <p:ph type="title"/>
          </p:nvPr>
        </p:nvSpPr>
        <p:spPr>
          <a:xfrm>
            <a:off x="388938" y="714375"/>
            <a:ext cx="6040437" cy="69373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2.1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线性规划的对偶问题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6154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714500"/>
            <a:ext cx="9144000" cy="4572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7171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172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173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174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175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176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177" name="Rectangle 2"/>
          <p:cNvSpPr>
            <a:spLocks noGrp="1"/>
          </p:cNvSpPr>
          <p:nvPr>
            <p:ph type="title"/>
          </p:nvPr>
        </p:nvSpPr>
        <p:spPr>
          <a:xfrm>
            <a:off x="388938" y="714375"/>
            <a:ext cx="6040437" cy="69373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2.1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线性规划的对偶问题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7178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928813"/>
            <a:ext cx="9144000" cy="30003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8195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196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197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198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199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00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01" name="Rectangle 2"/>
          <p:cNvSpPr>
            <a:spLocks noGrp="1"/>
          </p:cNvSpPr>
          <p:nvPr>
            <p:ph type="title"/>
          </p:nvPr>
        </p:nvSpPr>
        <p:spPr>
          <a:xfrm>
            <a:off x="357188" y="714375"/>
            <a:ext cx="6040437" cy="69373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2.1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线性规划的对偶问题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8202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857375"/>
            <a:ext cx="9144000" cy="44291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9219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20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21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22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23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24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25" name="Rectangle 2"/>
          <p:cNvSpPr>
            <a:spLocks noGrp="1"/>
          </p:cNvSpPr>
          <p:nvPr>
            <p:ph type="title"/>
          </p:nvPr>
        </p:nvSpPr>
        <p:spPr>
          <a:xfrm>
            <a:off x="428625" y="714375"/>
            <a:ext cx="6040438" cy="69373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2.1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线性规划的对偶问题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9226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43063"/>
            <a:ext cx="9144000" cy="17859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27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9144000" cy="19288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10243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44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45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46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47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48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49" name="Rectangle 2"/>
          <p:cNvSpPr>
            <a:spLocks noGrp="1"/>
          </p:cNvSpPr>
          <p:nvPr>
            <p:ph type="title"/>
          </p:nvPr>
        </p:nvSpPr>
        <p:spPr>
          <a:xfrm>
            <a:off x="428625" y="714375"/>
            <a:ext cx="6040438" cy="69373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2.1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线性规划的对偶问题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10250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11267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268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269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270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271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272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273" name="Rectangle 2"/>
          <p:cNvSpPr>
            <a:spLocks noGrp="1"/>
          </p:cNvSpPr>
          <p:nvPr>
            <p:ph type="title"/>
          </p:nvPr>
        </p:nvSpPr>
        <p:spPr>
          <a:xfrm>
            <a:off x="428625" y="714375"/>
            <a:ext cx="6040438" cy="69373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2.1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线性规划的对偶问题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11274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00188"/>
            <a:ext cx="9144000" cy="40719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12291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292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293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294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295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296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297" name="Rectangle 2"/>
          <p:cNvSpPr>
            <a:spLocks noGrp="1"/>
          </p:cNvSpPr>
          <p:nvPr>
            <p:ph type="title"/>
          </p:nvPr>
        </p:nvSpPr>
        <p:spPr>
          <a:xfrm>
            <a:off x="428625" y="714375"/>
            <a:ext cx="6040438" cy="69373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2.1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线性规划的对偶问题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12298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43063"/>
            <a:ext cx="9144000" cy="32861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13315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316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317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318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319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320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321" name="Rectangle 2"/>
          <p:cNvSpPr>
            <a:spLocks noGrp="1"/>
          </p:cNvSpPr>
          <p:nvPr>
            <p:ph type="title"/>
          </p:nvPr>
        </p:nvSpPr>
        <p:spPr>
          <a:xfrm>
            <a:off x="357188" y="571500"/>
            <a:ext cx="6040437" cy="69373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2.1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线性规划的对偶问题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1332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57313"/>
            <a:ext cx="9144000" cy="15716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2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28938"/>
            <a:ext cx="9144000" cy="39290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14339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340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341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342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343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344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345" name="Rectangle 2"/>
          <p:cNvSpPr>
            <a:spLocks noGrp="1"/>
          </p:cNvSpPr>
          <p:nvPr>
            <p:ph type="title"/>
          </p:nvPr>
        </p:nvSpPr>
        <p:spPr>
          <a:xfrm>
            <a:off x="428625" y="642938"/>
            <a:ext cx="6040438" cy="693737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2.1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线性规划的对偶问题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14346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15363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364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365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366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367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368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369" name="Rectangle 2"/>
          <p:cNvSpPr>
            <a:spLocks noGrp="1"/>
          </p:cNvSpPr>
          <p:nvPr>
            <p:ph type="title"/>
          </p:nvPr>
        </p:nvSpPr>
        <p:spPr>
          <a:xfrm>
            <a:off x="428625" y="714375"/>
            <a:ext cx="6040438" cy="69373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2.1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线性规划的对偶问题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15370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71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8688"/>
            <a:ext cx="9144000" cy="59293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16387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388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389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390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391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392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393" name="Rectangle 2"/>
          <p:cNvSpPr>
            <a:spLocks noGrp="1"/>
          </p:cNvSpPr>
          <p:nvPr>
            <p:ph type="title"/>
          </p:nvPr>
        </p:nvSpPr>
        <p:spPr>
          <a:xfrm>
            <a:off x="428625" y="714375"/>
            <a:ext cx="6040438" cy="69373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2.1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线性规划的对偶问题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16394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00188"/>
            <a:ext cx="9144000" cy="53578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17411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412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413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414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415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416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417" name="Rectangle 2"/>
          <p:cNvSpPr>
            <a:spLocks noGrp="1"/>
          </p:cNvSpPr>
          <p:nvPr>
            <p:ph type="title"/>
          </p:nvPr>
        </p:nvSpPr>
        <p:spPr>
          <a:xfrm>
            <a:off x="428625" y="571500"/>
            <a:ext cx="6040438" cy="69373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2.1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线性规划的对偶问题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17418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57313"/>
            <a:ext cx="9144000" cy="55006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18435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436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437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438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439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440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441" name="Rectangle 2"/>
          <p:cNvSpPr>
            <a:spLocks noGrp="1"/>
          </p:cNvSpPr>
          <p:nvPr>
            <p:ph type="title"/>
          </p:nvPr>
        </p:nvSpPr>
        <p:spPr>
          <a:xfrm>
            <a:off x="428625" y="714375"/>
            <a:ext cx="6040438" cy="69373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2.1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线性规划的对偶问题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18442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28750"/>
            <a:ext cx="9144000" cy="3714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19459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460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461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462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463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464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465" name="Rectangle 2"/>
          <p:cNvSpPr>
            <a:spLocks noGrp="1"/>
          </p:cNvSpPr>
          <p:nvPr>
            <p:ph type="title"/>
          </p:nvPr>
        </p:nvSpPr>
        <p:spPr>
          <a:xfrm>
            <a:off x="428625" y="357188"/>
            <a:ext cx="6040438" cy="693737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2.2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对偶问题的基本性质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19466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28688"/>
            <a:ext cx="9144000" cy="59293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20483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484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485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486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487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488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489" name="Rectangle 2"/>
          <p:cNvSpPr>
            <a:spLocks noGrp="1"/>
          </p:cNvSpPr>
          <p:nvPr>
            <p:ph type="title"/>
          </p:nvPr>
        </p:nvSpPr>
        <p:spPr>
          <a:xfrm>
            <a:off x="428625" y="428625"/>
            <a:ext cx="6040438" cy="69373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2.2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对偶问题的基本性质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20490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14438"/>
            <a:ext cx="9144000" cy="47863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21507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08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09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10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11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12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13" name="Rectangle 2"/>
          <p:cNvSpPr>
            <a:spLocks noGrp="1"/>
          </p:cNvSpPr>
          <p:nvPr>
            <p:ph type="title"/>
          </p:nvPr>
        </p:nvSpPr>
        <p:spPr>
          <a:xfrm>
            <a:off x="428625" y="571500"/>
            <a:ext cx="6040438" cy="69373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2.2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对偶问题的基本性质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21514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28750"/>
            <a:ext cx="9144000" cy="3714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22531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32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33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34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35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36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37" name="Rectangle 2"/>
          <p:cNvSpPr>
            <a:spLocks noGrp="1"/>
          </p:cNvSpPr>
          <p:nvPr>
            <p:ph type="title"/>
          </p:nvPr>
        </p:nvSpPr>
        <p:spPr>
          <a:xfrm>
            <a:off x="428625" y="714375"/>
            <a:ext cx="6040438" cy="69373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2.2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对偶问题的基本性质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22538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714500"/>
            <a:ext cx="9144000" cy="27860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23555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556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557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558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559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560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561" name="Rectangle 2"/>
          <p:cNvSpPr>
            <a:spLocks noGrp="1"/>
          </p:cNvSpPr>
          <p:nvPr>
            <p:ph type="title"/>
          </p:nvPr>
        </p:nvSpPr>
        <p:spPr>
          <a:xfrm>
            <a:off x="428625" y="714375"/>
            <a:ext cx="6040438" cy="69373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2.2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对偶问题的基本性质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2356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24579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580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581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582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583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584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585" name="Rectangle 2"/>
          <p:cNvSpPr>
            <a:spLocks noGrp="1"/>
          </p:cNvSpPr>
          <p:nvPr>
            <p:ph type="title"/>
          </p:nvPr>
        </p:nvSpPr>
        <p:spPr>
          <a:xfrm>
            <a:off x="428625" y="571500"/>
            <a:ext cx="6040438" cy="69373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2.2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对偶问题的基本性质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24586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57313"/>
            <a:ext cx="9144000" cy="20002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587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86125"/>
            <a:ext cx="9144000" cy="22145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25603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4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5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6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7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8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9" name="Rectangle 2"/>
          <p:cNvSpPr>
            <a:spLocks noGrp="1"/>
          </p:cNvSpPr>
          <p:nvPr>
            <p:ph type="title"/>
          </p:nvPr>
        </p:nvSpPr>
        <p:spPr>
          <a:xfrm>
            <a:off x="428625" y="714375"/>
            <a:ext cx="6040438" cy="69373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2.2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对偶问题的基本性质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25610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00188"/>
            <a:ext cx="9144000" cy="52863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26627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28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29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30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31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32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33" name="Rectangle 2"/>
          <p:cNvSpPr>
            <a:spLocks noGrp="1"/>
          </p:cNvSpPr>
          <p:nvPr>
            <p:ph type="title"/>
          </p:nvPr>
        </p:nvSpPr>
        <p:spPr>
          <a:xfrm>
            <a:off x="428625" y="571500"/>
            <a:ext cx="6040438" cy="69373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2.2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对偶问题的基本性质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26634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27651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52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53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54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55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56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57" name="Rectangle 2"/>
          <p:cNvSpPr>
            <a:spLocks noGrp="1"/>
          </p:cNvSpPr>
          <p:nvPr>
            <p:ph type="title"/>
          </p:nvPr>
        </p:nvSpPr>
        <p:spPr>
          <a:xfrm>
            <a:off x="357188" y="500063"/>
            <a:ext cx="6040437" cy="693737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2.2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对偶问题的基本性质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27658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14438"/>
            <a:ext cx="9144000" cy="22145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659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9144000" cy="3429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28675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76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77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78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79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80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81" name="Rectangle 2"/>
          <p:cNvSpPr>
            <a:spLocks noGrp="1"/>
          </p:cNvSpPr>
          <p:nvPr>
            <p:ph type="title"/>
          </p:nvPr>
        </p:nvSpPr>
        <p:spPr>
          <a:xfrm>
            <a:off x="428625" y="571500"/>
            <a:ext cx="6040438" cy="69373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2.2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对偶问题的基本性质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28682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00188"/>
            <a:ext cx="9144000" cy="24288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683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29063"/>
            <a:ext cx="9144000" cy="10715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29699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00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01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02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03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04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05" name="Rectangle 2"/>
          <p:cNvSpPr>
            <a:spLocks noGrp="1"/>
          </p:cNvSpPr>
          <p:nvPr>
            <p:ph type="title"/>
          </p:nvPr>
        </p:nvSpPr>
        <p:spPr>
          <a:xfrm>
            <a:off x="428625" y="571500"/>
            <a:ext cx="6040438" cy="69373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2.2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对偶问题的基本性质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29706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57313"/>
            <a:ext cx="9144000" cy="33575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30723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24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25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26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27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28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29" name="Rectangle 2"/>
          <p:cNvSpPr>
            <a:spLocks noGrp="1"/>
          </p:cNvSpPr>
          <p:nvPr>
            <p:ph type="title"/>
          </p:nvPr>
        </p:nvSpPr>
        <p:spPr>
          <a:xfrm>
            <a:off x="388938" y="714375"/>
            <a:ext cx="6040437" cy="69373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2.3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影子价格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30730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00188"/>
            <a:ext cx="9144000" cy="571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31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71688"/>
            <a:ext cx="9144000" cy="2857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31747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48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49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50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51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52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53" name="Rectangle 2"/>
          <p:cNvSpPr>
            <a:spLocks noGrp="1"/>
          </p:cNvSpPr>
          <p:nvPr>
            <p:ph type="title"/>
          </p:nvPr>
        </p:nvSpPr>
        <p:spPr>
          <a:xfrm>
            <a:off x="388938" y="714375"/>
            <a:ext cx="6040437" cy="69373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2.3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影子价格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31754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857375"/>
            <a:ext cx="9144000" cy="2857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32771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772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773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774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775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776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777" name="Rectangle 2"/>
          <p:cNvSpPr>
            <a:spLocks noGrp="1"/>
          </p:cNvSpPr>
          <p:nvPr>
            <p:ph type="title"/>
          </p:nvPr>
        </p:nvSpPr>
        <p:spPr>
          <a:xfrm>
            <a:off x="357188" y="714375"/>
            <a:ext cx="6040437" cy="69373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2.3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影子价格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32778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714500"/>
            <a:ext cx="9144000" cy="31432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33795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796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797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798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799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00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01" name="Rectangle 2"/>
          <p:cNvSpPr>
            <a:spLocks noGrp="1"/>
          </p:cNvSpPr>
          <p:nvPr>
            <p:ph type="title"/>
          </p:nvPr>
        </p:nvSpPr>
        <p:spPr>
          <a:xfrm>
            <a:off x="428625" y="714375"/>
            <a:ext cx="6040438" cy="69373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2.3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影子价格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33802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00188"/>
            <a:ext cx="9144000" cy="4857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34819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20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21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22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23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24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25" name="Rectangle 2"/>
          <p:cNvSpPr>
            <a:spLocks noGrp="1"/>
          </p:cNvSpPr>
          <p:nvPr>
            <p:ph type="title"/>
          </p:nvPr>
        </p:nvSpPr>
        <p:spPr>
          <a:xfrm>
            <a:off x="428625" y="714375"/>
            <a:ext cx="6040438" cy="69373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2.3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影子价格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34826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00188"/>
            <a:ext cx="9144000" cy="40719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35843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44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45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46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47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48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49" name="Rectangle 2"/>
          <p:cNvSpPr>
            <a:spLocks noGrp="1"/>
          </p:cNvSpPr>
          <p:nvPr>
            <p:ph type="title"/>
          </p:nvPr>
        </p:nvSpPr>
        <p:spPr>
          <a:xfrm>
            <a:off x="428625" y="714375"/>
            <a:ext cx="6040438" cy="69373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2.3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影子价格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35850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71625"/>
            <a:ext cx="9144000" cy="2286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851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71875"/>
            <a:ext cx="9144000" cy="12858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36867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68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69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70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71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72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73" name="Rectangle 2"/>
          <p:cNvSpPr>
            <a:spLocks noGrp="1"/>
          </p:cNvSpPr>
          <p:nvPr>
            <p:ph type="title"/>
          </p:nvPr>
        </p:nvSpPr>
        <p:spPr>
          <a:xfrm>
            <a:off x="428625" y="714375"/>
            <a:ext cx="6040438" cy="69373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2.3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影子价格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36874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785938"/>
            <a:ext cx="9144000" cy="31432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37891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892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893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894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895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896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897" name="Rectangle 2"/>
          <p:cNvSpPr>
            <a:spLocks noGrp="1"/>
          </p:cNvSpPr>
          <p:nvPr>
            <p:ph type="title"/>
          </p:nvPr>
        </p:nvSpPr>
        <p:spPr>
          <a:xfrm>
            <a:off x="357188" y="571500"/>
            <a:ext cx="6040437" cy="69373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2.3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影子价格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37898" name="Picture 12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38915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16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17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18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19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20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21" name="Rectangle 2"/>
          <p:cNvSpPr>
            <a:spLocks noGrp="1"/>
          </p:cNvSpPr>
          <p:nvPr>
            <p:ph type="title"/>
          </p:nvPr>
        </p:nvSpPr>
        <p:spPr>
          <a:xfrm>
            <a:off x="428625" y="642938"/>
            <a:ext cx="6040438" cy="693737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2.4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对偶单纯形法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3892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43063"/>
            <a:ext cx="9144000" cy="2571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39939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40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41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42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43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44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45" name="Rectangle 2"/>
          <p:cNvSpPr>
            <a:spLocks noGrp="1"/>
          </p:cNvSpPr>
          <p:nvPr>
            <p:ph type="title"/>
          </p:nvPr>
        </p:nvSpPr>
        <p:spPr>
          <a:xfrm>
            <a:off x="428625" y="500063"/>
            <a:ext cx="6040438" cy="693737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2.4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对偶单纯形法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39946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28750"/>
            <a:ext cx="9144000" cy="54292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40963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0964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0965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0966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0967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0968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0969" name="Rectangle 2"/>
          <p:cNvSpPr>
            <a:spLocks noGrp="1"/>
          </p:cNvSpPr>
          <p:nvPr>
            <p:ph type="title"/>
          </p:nvPr>
        </p:nvSpPr>
        <p:spPr>
          <a:xfrm>
            <a:off x="428625" y="714375"/>
            <a:ext cx="6040438" cy="69373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2.4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对偶单纯形法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40970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28750"/>
            <a:ext cx="9144000" cy="4572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41987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1988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1989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1990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1991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1992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1993" name="Rectangle 2"/>
          <p:cNvSpPr>
            <a:spLocks noGrp="1"/>
          </p:cNvSpPr>
          <p:nvPr>
            <p:ph type="title"/>
          </p:nvPr>
        </p:nvSpPr>
        <p:spPr>
          <a:xfrm>
            <a:off x="428625" y="663575"/>
            <a:ext cx="6040438" cy="69373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2.4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对偶单纯形法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41994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71625"/>
            <a:ext cx="9144000" cy="41433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43011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3012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3013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3014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3015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3016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3017" name="Rectangle 2"/>
          <p:cNvSpPr>
            <a:spLocks noGrp="1"/>
          </p:cNvSpPr>
          <p:nvPr>
            <p:ph type="title"/>
          </p:nvPr>
        </p:nvSpPr>
        <p:spPr>
          <a:xfrm>
            <a:off x="428625" y="714375"/>
            <a:ext cx="6040438" cy="69373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2.4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对偶单纯形法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43018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43063"/>
            <a:ext cx="9144000" cy="40719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44035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36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37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38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39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40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41" name="Rectangle 2"/>
          <p:cNvSpPr>
            <a:spLocks noGrp="1"/>
          </p:cNvSpPr>
          <p:nvPr>
            <p:ph type="title"/>
          </p:nvPr>
        </p:nvSpPr>
        <p:spPr>
          <a:xfrm>
            <a:off x="428625" y="642938"/>
            <a:ext cx="6040438" cy="693737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2.4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对偶单纯形法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4404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00188"/>
            <a:ext cx="9144000" cy="45005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45059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60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61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62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63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64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65" name="Rectangle 2"/>
          <p:cNvSpPr>
            <a:spLocks noGrp="1"/>
          </p:cNvSpPr>
          <p:nvPr>
            <p:ph type="title"/>
          </p:nvPr>
        </p:nvSpPr>
        <p:spPr>
          <a:xfrm>
            <a:off x="357188" y="571500"/>
            <a:ext cx="6040437" cy="69373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2.4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对偶单纯形法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45066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00188"/>
            <a:ext cx="9144000" cy="4000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46083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6084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6085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6086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6087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6088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6089" name="Rectangle 2"/>
          <p:cNvSpPr>
            <a:spLocks noGrp="1"/>
          </p:cNvSpPr>
          <p:nvPr>
            <p:ph type="title"/>
          </p:nvPr>
        </p:nvSpPr>
        <p:spPr>
          <a:xfrm>
            <a:off x="285750" y="357188"/>
            <a:ext cx="6040438" cy="693737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2.4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对偶单纯形法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46090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000125"/>
            <a:ext cx="9144000" cy="7858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6091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5938"/>
            <a:ext cx="9144000" cy="50720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47107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7108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7109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7110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7111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7112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7113" name="Rectangle 2"/>
          <p:cNvSpPr>
            <a:spLocks noGrp="1"/>
          </p:cNvSpPr>
          <p:nvPr>
            <p:ph type="title"/>
          </p:nvPr>
        </p:nvSpPr>
        <p:spPr>
          <a:xfrm>
            <a:off x="428625" y="714375"/>
            <a:ext cx="6040438" cy="69373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2.4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对偶单纯形法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47114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48131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32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33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34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35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36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37" name="Rectangle 2"/>
          <p:cNvSpPr>
            <a:spLocks noGrp="1"/>
          </p:cNvSpPr>
          <p:nvPr>
            <p:ph type="title"/>
          </p:nvPr>
        </p:nvSpPr>
        <p:spPr>
          <a:xfrm>
            <a:off x="428625" y="714375"/>
            <a:ext cx="6040438" cy="69373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2.4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对偶单纯形法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48138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714500"/>
            <a:ext cx="9144000" cy="2286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49155" name="Rectangle 3"/>
          <p:cNvSpPr>
            <a:spLocks noGrp="1"/>
          </p:cNvSpPr>
          <p:nvPr>
            <p:ph idx="1"/>
          </p:nvPr>
        </p:nvSpPr>
        <p:spPr>
          <a:xfrm>
            <a:off x="1908175" y="2565400"/>
            <a:ext cx="5113338" cy="1800225"/>
          </a:xfrm>
          <a:ln/>
        </p:spPr>
        <p:txBody>
          <a:bodyPr vert="horz" wrap="square" lIns="91440" tIns="45720" rIns="91440" bIns="45720" anchor="t" anchorCtr="0"/>
          <a:p>
            <a:pPr marL="533400" indent="-533400" algn="ctr" eaLnBrk="1" hangingPunct="1">
              <a:buNone/>
            </a:pPr>
            <a:r>
              <a:rPr lang="zh-CN" altLang="en-US" sz="8000" dirty="0">
                <a:cs typeface="Times New Roman" panose="02020603050405020304" pitchFamily="18" charset="0"/>
              </a:rPr>
              <a:t>谢谢大家</a:t>
            </a:r>
            <a:endParaRPr lang="zh-CN" altLang="en-US" sz="8000" dirty="0"/>
          </a:p>
        </p:txBody>
      </p:sp>
      <p:sp>
        <p:nvSpPr>
          <p:cNvPr id="49156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9157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9158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9159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9160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9161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PP_MARK_KEY" val="a81ec5e5-40ea-45ae-9326-496b9b86fe16"/>
</p:tagLst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0</TotalTime>
  <Words>656</Words>
  <Application>WPS 演示</Application>
  <PresentationFormat>全屏显示(4:3)</PresentationFormat>
  <Paragraphs>195</Paragraphs>
  <Slides>46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56" baseType="lpstr">
      <vt:lpstr>Arial</vt:lpstr>
      <vt:lpstr>宋体</vt:lpstr>
      <vt:lpstr>Wingdings</vt:lpstr>
      <vt:lpstr>Times New Roman</vt:lpstr>
      <vt:lpstr>Arial Black</vt:lpstr>
      <vt:lpstr>楷体_GB2312</vt:lpstr>
      <vt:lpstr>新宋体</vt:lpstr>
      <vt:lpstr>微软雅黑</vt:lpstr>
      <vt:lpstr>Arial Unicode MS</vt:lpstr>
      <vt:lpstr>Pixel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Albert Yang</cp:lastModifiedBy>
  <cp:revision>391</cp:revision>
  <dcterms:created xsi:type="dcterms:W3CDTF">2022-12-11T09:08:08Z</dcterms:created>
  <dcterms:modified xsi:type="dcterms:W3CDTF">2022-12-11T09:08:19Z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840EEEA031664016A1A8972FCCC8A0FC</vt:lpwstr>
  </property>
  <property fmtid="{D5CDD505-2E9C-101B-9397-08002B2CF9AE}" pid="3" name="KSOProductBuildVer">
    <vt:lpwstr>2052-11.1.0.12980</vt:lpwstr>
  </property>
</Properties>
</file>