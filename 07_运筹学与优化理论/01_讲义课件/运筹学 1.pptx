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8" r:id="rId3"/>
    <p:sldId id="358" r:id="rId4"/>
    <p:sldId id="355" r:id="rId5"/>
    <p:sldId id="364" r:id="rId6"/>
    <p:sldId id="346" r:id="rId7"/>
    <p:sldId id="369" r:id="rId8"/>
    <p:sldId id="354" r:id="rId9"/>
    <p:sldId id="352" r:id="rId10"/>
    <p:sldId id="353" r:id="rId11"/>
    <p:sldId id="359" r:id="rId12"/>
    <p:sldId id="366" r:id="rId13"/>
    <p:sldId id="360" r:id="rId14"/>
    <p:sldId id="331" r:id="rId15"/>
    <p:sldId id="325" r:id="rId16"/>
    <p:sldId id="330" r:id="rId17"/>
    <p:sldId id="350" r:id="rId18"/>
    <p:sldId id="351" r:id="rId19"/>
    <p:sldId id="362" r:id="rId20"/>
    <p:sldId id="367" r:id="rId21"/>
    <p:sldId id="363" r:id="rId22"/>
    <p:sldId id="344" r:id="rId23"/>
    <p:sldId id="320" r:id="rId24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33CC33"/>
    <a:srgbClr val="FF99FF"/>
    <a:srgbClr val="66FFCC"/>
    <a:srgbClr val="CCFFFF"/>
    <a:srgbClr val="333399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323"/>
    <p:restoredTop sz="94525"/>
  </p:normalViewPr>
  <p:slideViewPr>
    <p:cSldViewPr showGuides="1">
      <p:cViewPr varScale="1">
        <p:scale>
          <a:sx n="67" d="100"/>
          <a:sy n="67" d="100"/>
        </p:scale>
        <p:origin x="-1362" y="-96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latin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4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latin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latinLnBrk="1" hangingPunct="1">
              <a:buNone/>
            </a:pPr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</a:rPr>
            </a:fld>
            <a:endParaRPr lang="en-US" altLang="zh-CN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9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pic>
        <p:nvPicPr>
          <p:cNvPr id="2051" name="Picture 21" descr="Renmin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3163" y="80963"/>
            <a:ext cx="1512887" cy="1403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9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9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3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</a:rPr>
            </a:fld>
            <a:endParaRPr lang="en-US" altLang="zh-CN" dirty="0">
              <a:latin typeface="Arial Black" panose="020B0A04020102020204" pitchFamily="34" charset="0"/>
            </a:endParaRP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2009-09-11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8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8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2011-02-22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2" name="Picture 17" descr="Renmin 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451725" y="115888"/>
            <a:ext cx="1546225" cy="14747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8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ctrTitle"/>
          </p:nvPr>
        </p:nvSpPr>
        <p:spPr>
          <a:xfrm>
            <a:off x="2857500" y="1989138"/>
            <a:ext cx="6286500" cy="1455737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6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运筹学与优化理论</a:t>
            </a:r>
            <a:endParaRPr lang="zh-CN" altLang="en-US" sz="6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subTitle" idx="1"/>
          </p:nvPr>
        </p:nvSpPr>
        <p:spPr>
          <a:xfrm>
            <a:off x="3635375" y="4652963"/>
            <a:ext cx="4464050" cy="151288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Pct val="75000"/>
            </a:pPr>
            <a:r>
              <a:rPr lang="zh-CN" altLang="en-US" b="1" dirty="0">
                <a:latin typeface="宋体" panose="02010600030101010101" pitchFamily="2" charset="-122"/>
                <a:ea typeface="+mn-ea"/>
                <a:cs typeface="+mn-cs"/>
              </a:rPr>
              <a:t>许 伟</a:t>
            </a:r>
            <a:r>
              <a:rPr lang="zh-CN" altLang="en-US" dirty="0"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教授</a:t>
            </a:r>
            <a:r>
              <a:rPr lang="en-US" altLang="zh-CN" sz="2800" dirty="0">
                <a:latin typeface="宋体" panose="02010600030101010101" pitchFamily="2" charset="-122"/>
                <a:ea typeface="+mn-ea"/>
                <a:cs typeface="+mn-cs"/>
              </a:rPr>
              <a:t>/</a:t>
            </a: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博导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zh-CN" altLang="en-US" sz="2800" dirty="0">
                <a:latin typeface="宋体" panose="02010600030101010101" pitchFamily="2" charset="-122"/>
                <a:ea typeface="+mn-ea"/>
                <a:cs typeface="+mn-cs"/>
              </a:rPr>
              <a:t>中国人民大学信息学院</a:t>
            </a:r>
            <a:endParaRPr lang="zh-CN" altLang="en-US" sz="2800" dirty="0"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0" y="1571625"/>
            <a:ext cx="9144000" cy="5286375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2021</a:t>
            </a:r>
            <a:r>
              <a:rPr lang="zh-CN" altLang="en-US" sz="2200" dirty="0">
                <a:cs typeface="Times New Roman" panose="02020603050405020304" pitchFamily="18" charset="0"/>
              </a:rPr>
              <a:t>年，中组部“万人计划”青年拔尖人才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2020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年，中国人民大学信息学院教授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2020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年，中国人民大学信息中心副主任、智慧校园研究中心主任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2019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年，中国人民大学信息学院经济信息管理系主任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2015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年，中国人民大学信息学院信息系统与大数据应用实验室主任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2014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年，中国人民大学信息学院，博士生导师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2012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年，中国人民大学信息学院，副教授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2010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年，中国人民大学信息学院，硕士生导师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150000"/>
              </a:lnSpc>
              <a:buNone/>
            </a:pPr>
            <a:r>
              <a:rPr lang="en-US" altLang="zh-CN" sz="2200" dirty="0">
                <a:cs typeface="Times New Roman" panose="02020603050405020304" pitchFamily="18" charset="0"/>
              </a:rPr>
              <a:t>• 2009</a:t>
            </a:r>
            <a:r>
              <a:rPr lang="zh-CN" altLang="en-US" sz="2200" dirty="0">
                <a:cs typeface="Times New Roman" panose="02020603050405020304" pitchFamily="18" charset="0"/>
              </a:rPr>
              <a:t>年，中国人民大学信息学院，讲师</a:t>
            </a:r>
            <a:endParaRPr lang="en-US" altLang="zh-CN" sz="2200" dirty="0">
              <a:ea typeface="Times New Roman" panose="02020603050405020304" pitchFamily="18" charset="0"/>
            </a:endParaRPr>
          </a:p>
        </p:txBody>
      </p:sp>
      <p:sp>
        <p:nvSpPr>
          <p:cNvPr id="9220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1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2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3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5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6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我的经历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我的研究领域</a:t>
            </a:r>
            <a:endParaRPr lang="zh-CN" altLang="en-US" dirty="0"/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0" y="1785938"/>
            <a:ext cx="9144000" cy="452278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信息管理与信息系统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大数据管理与应用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运筹学与优化理论</a:t>
            </a: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1024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5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我的代表性论文</a:t>
            </a:r>
            <a:endParaRPr lang="zh-CN" altLang="en-US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287338" y="1643063"/>
            <a:ext cx="8532812" cy="506253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• R. Lau, W. Zhang, W. Xu*. Parallel aspect-oriented sentiment analysis for sales forecasting with big data. Production and Operations Management, 2018, 27, 1775-1794.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 • X. Sun, W. Xu*, H. Jiang, Q. Wang. A deep multitask learning approach for air quality prediction. Annals of Operations Research, 2020, available online.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• H. Yuan, W. Xu*, Q. Li, R. Lau. Topic sentiment mining for sales performance prediction in e-commerce. Annals of Operations Research, 2018, 270, 553-576.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000" dirty="0">
                <a:cs typeface="Times New Roman" panose="02020603050405020304" pitchFamily="18" charset="0"/>
              </a:rPr>
              <a:t>• Y. Wang, W. Xu*. Leveraging deep learning with LDA-based text analytics to detect automobile insurance fraud. Decision Support Systems, 2018, 105, 87-95. 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000" dirty="0">
              <a:ea typeface="Times New Roman" panose="02020603050405020304" pitchFamily="18" charset="0"/>
            </a:endParaRPr>
          </a:p>
        </p:txBody>
      </p:sp>
      <p:sp>
        <p:nvSpPr>
          <p:cNvPr id="1126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395288" y="1700213"/>
            <a:ext cx="8318500" cy="4776787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200000"/>
              </a:lnSpc>
              <a:buNone/>
            </a:pPr>
            <a:r>
              <a:rPr lang="en-US" altLang="zh-CN" sz="3600" dirty="0">
                <a:cs typeface="Times New Roman" panose="02020603050405020304" pitchFamily="18" charset="0"/>
              </a:rPr>
              <a:t>• </a:t>
            </a:r>
            <a:r>
              <a:rPr lang="zh-CN" altLang="en-US" sz="3600" dirty="0">
                <a:cs typeface="Times New Roman" panose="02020603050405020304" pitchFamily="18" charset="0"/>
              </a:rPr>
              <a:t>每天的日常安排</a:t>
            </a:r>
            <a:endParaRPr lang="en-US" altLang="zh-CN" sz="36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200000"/>
              </a:lnSpc>
              <a:buNone/>
            </a:pPr>
            <a:r>
              <a:rPr lang="en-US" altLang="zh-CN" sz="3600" dirty="0">
                <a:cs typeface="Times New Roman" panose="02020603050405020304" pitchFamily="18" charset="0"/>
              </a:rPr>
              <a:t>• </a:t>
            </a:r>
            <a:r>
              <a:rPr lang="zh-CN" altLang="en-US" sz="3600" dirty="0">
                <a:cs typeface="Times New Roman" panose="02020603050405020304" pitchFamily="18" charset="0"/>
              </a:rPr>
              <a:t>课程选择与管理</a:t>
            </a:r>
            <a:endParaRPr lang="en-US" altLang="zh-CN" sz="36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200000"/>
              </a:lnSpc>
              <a:buNone/>
            </a:pPr>
            <a:r>
              <a:rPr lang="en-US" altLang="zh-CN" sz="3600" dirty="0">
                <a:cs typeface="Times New Roman" panose="02020603050405020304" pitchFamily="18" charset="0"/>
              </a:rPr>
              <a:t>• </a:t>
            </a:r>
            <a:r>
              <a:rPr lang="zh-CN" altLang="en-US" sz="3600" dirty="0">
                <a:cs typeface="Times New Roman" panose="02020603050405020304" pitchFamily="18" charset="0"/>
              </a:rPr>
              <a:t>人生规划</a:t>
            </a:r>
            <a:endParaRPr lang="en-US" altLang="zh-CN" sz="36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200000"/>
              </a:lnSpc>
              <a:buNone/>
            </a:pPr>
            <a:endParaRPr lang="en-US" altLang="zh-CN" sz="3600" dirty="0">
              <a:ea typeface="Times New Roman" panose="02020603050405020304" pitchFamily="18" charset="0"/>
            </a:endParaRPr>
          </a:p>
        </p:txBody>
      </p:sp>
      <p:sp>
        <p:nvSpPr>
          <p:cNvPr id="12292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3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4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5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6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7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8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972300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生活中的例子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1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2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331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1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32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" name="标题 6"/>
          <p:cNvSpPr txBox="1"/>
          <p:nvPr/>
        </p:nvSpPr>
        <p:spPr bwMode="auto">
          <a:xfrm>
            <a:off x="3257550" y="5030788"/>
            <a:ext cx="2457450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>
                <a:latin typeface="+mj-lt"/>
                <a:ea typeface="+mj-ea"/>
                <a:cs typeface="+mj-cs"/>
              </a:rPr>
              <a:t>华罗庚</a:t>
            </a:r>
            <a:br>
              <a:rPr kumimoji="0" lang="en-US" altLang="zh-CN" sz="3200" kern="0" cap="none" spc="0" normalizeH="0" baseline="0" noProof="0">
                <a:latin typeface="+mj-lt"/>
                <a:ea typeface="+mj-ea"/>
                <a:cs typeface="+mj-cs"/>
              </a:rPr>
            </a:br>
            <a:r>
              <a:rPr kumimoji="0" lang="zh-CN" altLang="en-US" sz="3200" kern="0" cap="none" spc="0" normalizeH="0" baseline="0" noProof="0">
                <a:latin typeface="+mj-lt"/>
                <a:ea typeface="+mj-ea"/>
                <a:cs typeface="+mj-cs"/>
              </a:rPr>
              <a:t>优选法</a:t>
            </a:r>
            <a:endParaRPr kumimoji="0" lang="zh-CN" altLang="en-US" sz="3200" kern="0" cap="none" spc="0" normalizeH="0" baseline="0" noProof="0">
              <a:latin typeface="+mj-lt"/>
              <a:ea typeface="+mj-ea"/>
              <a:cs typeface="+mj-cs"/>
            </a:endParaRPr>
          </a:p>
        </p:txBody>
      </p:sp>
      <p:sp>
        <p:nvSpPr>
          <p:cNvPr id="14" name="标题 6"/>
          <p:cNvSpPr txBox="1"/>
          <p:nvPr/>
        </p:nvSpPr>
        <p:spPr>
          <a:xfrm>
            <a:off x="428625" y="5030788"/>
            <a:ext cx="2457450" cy="1470025"/>
          </a:xfrm>
          <a:prstGeom prst="rect">
            <a:avLst/>
          </a:prstGeom>
        </p:spPr>
        <p:txBody>
          <a:bodyPr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钱学森</a:t>
            </a:r>
            <a:endParaRPr kumimoji="0" lang="en-US" altLang="zh-CN" sz="3200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系统工程</a:t>
            </a:r>
            <a:endParaRPr kumimoji="0" lang="zh-CN" altLang="en-US" sz="3200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标题 6"/>
          <p:cNvSpPr txBox="1"/>
          <p:nvPr/>
        </p:nvSpPr>
        <p:spPr>
          <a:xfrm>
            <a:off x="6115050" y="5030788"/>
            <a:ext cx="2457450" cy="1470025"/>
          </a:xfrm>
          <a:prstGeom prst="rect">
            <a:avLst/>
          </a:prstGeom>
        </p:spPr>
        <p:txBody>
          <a:bodyPr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许国志</a:t>
            </a:r>
            <a:endParaRPr kumimoji="0" lang="en-US" altLang="zh-CN" sz="3200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200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组合数学</a:t>
            </a:r>
            <a:endParaRPr kumimoji="0" lang="zh-CN" altLang="en-US" sz="3200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324" name="图片 10" descr="钱学森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3" y="1285875"/>
            <a:ext cx="2466975" cy="314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5" name="图片 11" descr="华罗庚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63" y="1285875"/>
            <a:ext cx="2571750" cy="3205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6" name="图片 12" descr="许国志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38" y="1285875"/>
            <a:ext cx="2357437" cy="3289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972300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绪论 </a:t>
            </a:r>
            <a:r>
              <a:rPr lang="en-US" altLang="zh-CN" dirty="0"/>
              <a:t>— </a:t>
            </a:r>
            <a:r>
              <a:rPr lang="zh-CN" altLang="en-US" sz="2800" dirty="0"/>
              <a:t>运筹学基本特征与基本方法</a:t>
            </a:r>
            <a:endParaRPr lang="zh-CN" altLang="en-US" sz="2800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xfrm>
            <a:off x="539750" y="1928813"/>
            <a:ext cx="8318500" cy="4357687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分析与表述问题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建立模型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求解模型和优化方案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对模型和由模型导出的解进行检验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建立起对解的有效控制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方案的实施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endParaRPr lang="zh-CN" altLang="en-US" sz="28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1434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34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972300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绪论 </a:t>
            </a:r>
            <a:r>
              <a:rPr lang="en-US" altLang="zh-CN" dirty="0"/>
              <a:t>— </a:t>
            </a:r>
            <a:r>
              <a:rPr lang="zh-CN" altLang="en-US" sz="2800" dirty="0"/>
              <a:t>运筹学主要分支简介</a:t>
            </a:r>
            <a:endParaRPr lang="zh-CN" altLang="en-US" sz="2800" dirty="0"/>
          </a:p>
        </p:txBody>
      </p:sp>
      <p:sp>
        <p:nvSpPr>
          <p:cNvPr id="15364" name="Rectangle 3"/>
          <p:cNvSpPr>
            <a:spLocks noGrp="1"/>
          </p:cNvSpPr>
          <p:nvPr>
            <p:ph idx="1"/>
          </p:nvPr>
        </p:nvSpPr>
        <p:spPr>
          <a:xfrm>
            <a:off x="539750" y="1928813"/>
            <a:ext cx="8318500" cy="4357687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线性规划（</a:t>
            </a:r>
            <a:r>
              <a:rPr lang="en-US" altLang="zh-CN" sz="4000" dirty="0">
                <a:cs typeface="Times New Roman" panose="02020603050405020304" pitchFamily="18" charset="0"/>
              </a:rPr>
              <a:t>*</a:t>
            </a:r>
            <a:r>
              <a:rPr lang="zh-CN" altLang="en-US" sz="4000" dirty="0">
                <a:cs typeface="Times New Roman" panose="02020603050405020304" pitchFamily="18" charset="0"/>
              </a:rPr>
              <a:t>）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非线性规划（</a:t>
            </a:r>
            <a:r>
              <a:rPr lang="en-US" altLang="zh-CN" sz="4000" dirty="0">
                <a:cs typeface="Times New Roman" panose="02020603050405020304" pitchFamily="18" charset="0"/>
              </a:rPr>
              <a:t>*</a:t>
            </a:r>
            <a:r>
              <a:rPr lang="zh-CN" altLang="en-US" sz="4000" dirty="0">
                <a:cs typeface="Times New Roman" panose="02020603050405020304" pitchFamily="18" charset="0"/>
              </a:rPr>
              <a:t>）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动态规划（</a:t>
            </a:r>
            <a:r>
              <a:rPr lang="en-US" altLang="zh-CN" sz="4000" dirty="0">
                <a:cs typeface="Times New Roman" panose="02020603050405020304" pitchFamily="18" charset="0"/>
              </a:rPr>
              <a:t>*</a:t>
            </a:r>
            <a:r>
              <a:rPr lang="zh-CN" altLang="en-US" sz="4000" dirty="0">
                <a:cs typeface="Times New Roman" panose="02020603050405020304" pitchFamily="18" charset="0"/>
              </a:rPr>
              <a:t>）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图与网络分析（</a:t>
            </a:r>
            <a:r>
              <a:rPr lang="en-US" altLang="zh-CN" sz="4000" dirty="0">
                <a:cs typeface="Times New Roman" panose="02020603050405020304" pitchFamily="18" charset="0"/>
              </a:rPr>
              <a:t>*</a:t>
            </a:r>
            <a:r>
              <a:rPr lang="zh-CN" altLang="en-US" sz="4000" dirty="0">
                <a:cs typeface="Times New Roman" panose="02020603050405020304" pitchFamily="18" charset="0"/>
              </a:rPr>
              <a:t>）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endParaRPr lang="zh-CN" altLang="en-US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endParaRPr lang="en-US" altLang="zh-CN" sz="4000" dirty="0">
              <a:ea typeface="Times New Roman" panose="02020603050405020304" pitchFamily="18" charset="0"/>
            </a:endParaRPr>
          </a:p>
        </p:txBody>
      </p:sp>
      <p:sp>
        <p:nvSpPr>
          <p:cNvPr id="1536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6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7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539750" y="1928813"/>
            <a:ext cx="8318500" cy="4357687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存储论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排队论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对策论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r>
              <a:rPr lang="en-US" altLang="zh-CN" sz="4000" dirty="0">
                <a:cs typeface="Times New Roman" panose="02020603050405020304" pitchFamily="18" charset="0"/>
              </a:rPr>
              <a:t>• </a:t>
            </a:r>
            <a:r>
              <a:rPr lang="zh-CN" altLang="en-US" sz="4000" dirty="0">
                <a:cs typeface="Times New Roman" panose="02020603050405020304" pitchFamily="18" charset="0"/>
              </a:rPr>
              <a:t>决策论</a:t>
            </a:r>
            <a:endParaRPr lang="zh-CN" altLang="en-US" sz="40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150000"/>
              </a:lnSpc>
              <a:buNone/>
            </a:pPr>
            <a:endParaRPr lang="en-US" altLang="zh-CN" sz="4000" dirty="0">
              <a:ea typeface="Times New Roman" panose="02020603050405020304" pitchFamily="18" charset="0"/>
            </a:endParaRPr>
          </a:p>
        </p:txBody>
      </p:sp>
      <p:sp>
        <p:nvSpPr>
          <p:cNvPr id="16388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89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0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1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2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3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4" name="Rectangle 2"/>
          <p:cNvSpPr>
            <a:spLocks noGrp="1"/>
          </p:cNvSpPr>
          <p:nvPr>
            <p:ph type="title"/>
          </p:nvPr>
        </p:nvSpPr>
        <p:spPr>
          <a:xfrm>
            <a:off x="428625" y="642938"/>
            <a:ext cx="6972300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绪论 </a:t>
            </a:r>
            <a:r>
              <a:rPr lang="en-US" altLang="zh-CN" dirty="0"/>
              <a:t>— </a:t>
            </a:r>
            <a:r>
              <a:rPr lang="zh-CN" altLang="en-US" sz="2800" dirty="0"/>
              <a:t>运筹学主要分支简介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课程内容</a:t>
            </a:r>
            <a:endParaRPr lang="zh-CN" altLang="en-US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571500" y="1998663"/>
            <a:ext cx="7705725" cy="371633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绪论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 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第一章 线性规划与单纯形法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第二章 线性规划的对偶理论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第三章 运输问题</a:t>
            </a: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1741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课程内容</a:t>
            </a:r>
            <a:endParaRPr lang="zh-CN" altLang="en-US" dirty="0"/>
          </a:p>
        </p:txBody>
      </p:sp>
      <p:sp>
        <p:nvSpPr>
          <p:cNvPr id="18436" name="Rectangle 3"/>
          <p:cNvSpPr>
            <a:spLocks noGrp="1"/>
          </p:cNvSpPr>
          <p:nvPr>
            <p:ph idx="1"/>
          </p:nvPr>
        </p:nvSpPr>
        <p:spPr>
          <a:xfrm>
            <a:off x="571500" y="1998663"/>
            <a:ext cx="7705725" cy="371633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第四章 目标规划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第五章 整数规划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第六章 非线性规划</a:t>
            </a:r>
            <a:endParaRPr lang="zh-CN" altLang="en-US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 </a:t>
            </a: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1843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3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44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课程内容</a:t>
            </a:r>
            <a:endParaRPr lang="zh-CN" altLang="en-US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611188" y="1773238"/>
            <a:ext cx="7705725" cy="453548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第七章 动态规划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第八章 图与网络分析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第九章 运筹学中的启发式算法</a:t>
            </a: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1946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课程目的</a:t>
            </a:r>
            <a:endParaRPr lang="zh-CN" altLang="en-US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611188" y="2060575"/>
            <a:ext cx="7772400" cy="2225675"/>
          </a:xfrm>
          <a:ln/>
        </p:spPr>
        <p:txBody>
          <a:bodyPr vert="horz" wrap="square" lIns="91440" tIns="45720" rIns="91440" bIns="45720" anchor="t" anchorCtr="0"/>
          <a:p>
            <a:pPr marL="266700" indent="-266700" defTabSz="914400" eaLnBrk="1" hangingPunct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altLang="zh-CN" dirty="0"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cs typeface="Times New Roman" panose="02020603050405020304" pitchFamily="18" charset="0"/>
              </a:rPr>
              <a:t>系统掌握运筹学的知识和工具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266700" indent="-266700" defTabSz="914400" eaLnBrk="1" hangingPunct="1">
              <a:lnSpc>
                <a:spcPct val="90000"/>
              </a:lnSpc>
              <a:buNone/>
              <a:tabLst>
                <a:tab pos="0" algn="l"/>
              </a:tabLst>
            </a:pPr>
            <a:endParaRPr lang="zh-CN" altLang="en-US" dirty="0">
              <a:cs typeface="Times New Roman" panose="02020603050405020304" pitchFamily="18" charset="0"/>
            </a:endParaRPr>
          </a:p>
          <a:p>
            <a:pPr marL="266700" indent="-266700" defTabSz="914400" eaLnBrk="1" hangingPunct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altLang="zh-CN" dirty="0"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cs typeface="Times New Roman" panose="02020603050405020304" pitchFamily="18" charset="0"/>
              </a:rPr>
              <a:t>善于发现科学问题，提高建模能力</a:t>
            </a:r>
            <a:endParaRPr lang="zh-CN" altLang="en-US" dirty="0">
              <a:ea typeface="Times New Roman" panose="02020603050405020304" pitchFamily="18" charset="0"/>
            </a:endParaRPr>
          </a:p>
        </p:txBody>
      </p:sp>
      <p:sp>
        <p:nvSpPr>
          <p:cNvPr id="2048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讲授方式</a:t>
            </a:r>
            <a:endParaRPr lang="zh-CN" altLang="en-US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571500" y="1928813"/>
            <a:ext cx="7772400" cy="2071687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cs typeface="Times New Roman" panose="02020603050405020304" pitchFamily="18" charset="0"/>
              </a:rPr>
              <a:t>系统授课 </a:t>
            </a:r>
            <a:r>
              <a:rPr lang="en-US" altLang="zh-CN" dirty="0">
                <a:cs typeface="Times New Roman" panose="02020603050405020304" pitchFamily="18" charset="0"/>
              </a:rPr>
              <a:t>+ </a:t>
            </a:r>
            <a:r>
              <a:rPr lang="zh-CN" altLang="en-US" dirty="0">
                <a:cs typeface="Times New Roman" panose="02020603050405020304" pitchFamily="18" charset="0"/>
              </a:rPr>
              <a:t>互动讨论</a:t>
            </a:r>
            <a:endParaRPr lang="zh-CN" altLang="en-US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zh-CN" altLang="en-US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• </a:t>
            </a:r>
            <a:r>
              <a:rPr lang="zh-CN" altLang="en-US" dirty="0">
                <a:cs typeface="Times New Roman" panose="02020603050405020304" pitchFamily="18" charset="0"/>
              </a:rPr>
              <a:t>文献阅读 </a:t>
            </a:r>
            <a:r>
              <a:rPr lang="en-US" altLang="zh-CN" dirty="0">
                <a:cs typeface="Times New Roman" panose="02020603050405020304" pitchFamily="18" charset="0"/>
              </a:rPr>
              <a:t>+ </a:t>
            </a:r>
            <a:r>
              <a:rPr lang="zh-CN" altLang="en-US" dirty="0">
                <a:cs typeface="Times New Roman" panose="02020603050405020304" pitchFamily="18" charset="0"/>
              </a:rPr>
              <a:t>团队合作</a:t>
            </a:r>
            <a:endParaRPr lang="zh-CN" altLang="en-US" dirty="0">
              <a:ea typeface="Times New Roman" panose="02020603050405020304" pitchFamily="18" charset="0"/>
            </a:endParaRPr>
          </a:p>
        </p:txBody>
      </p:sp>
      <p:sp>
        <p:nvSpPr>
          <p:cNvPr id="2150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51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参考书目</a:t>
            </a:r>
            <a:endParaRPr lang="zh-CN" altLang="en-US" dirty="0"/>
          </a:p>
        </p:txBody>
      </p:sp>
      <p:sp>
        <p:nvSpPr>
          <p:cNvPr id="22532" name="Rectangle 3"/>
          <p:cNvSpPr>
            <a:spLocks noGrp="1"/>
          </p:cNvSpPr>
          <p:nvPr>
            <p:ph idx="1"/>
          </p:nvPr>
        </p:nvSpPr>
        <p:spPr>
          <a:xfrm>
            <a:off x="611188" y="1989138"/>
            <a:ext cx="7705725" cy="2879725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/>
              <a:t>胡运权</a:t>
            </a:r>
            <a:r>
              <a:rPr lang="en-US" altLang="zh-CN" sz="2800" dirty="0"/>
              <a:t>. </a:t>
            </a:r>
            <a:r>
              <a:rPr lang="zh-CN" altLang="en-US" sz="2800" dirty="0"/>
              <a:t>运筹学教程</a:t>
            </a:r>
            <a:r>
              <a:rPr lang="en-US" altLang="zh-CN" sz="2800" dirty="0"/>
              <a:t>. </a:t>
            </a:r>
            <a:r>
              <a:rPr lang="zh-CN" altLang="en-US" sz="2800" dirty="0"/>
              <a:t>清华大学出版社</a:t>
            </a:r>
            <a:r>
              <a:rPr lang="en-US" altLang="zh-CN" sz="2800" dirty="0"/>
              <a:t>, 2012</a:t>
            </a:r>
            <a:endParaRPr lang="en-US" altLang="zh-CN" sz="2800" dirty="0"/>
          </a:p>
        </p:txBody>
      </p:sp>
      <p:sp>
        <p:nvSpPr>
          <p:cNvPr id="2253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主要期刊 </a:t>
            </a:r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395288" y="1928813"/>
            <a:ext cx="7705725" cy="292893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Mathematics of Operations Research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Mathematical Programming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Operations Research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2355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5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56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主要期刊 </a:t>
            </a:r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24580" name="Rectangle 3"/>
          <p:cNvSpPr>
            <a:spLocks noGrp="1"/>
          </p:cNvSpPr>
          <p:nvPr>
            <p:ph idx="1"/>
          </p:nvPr>
        </p:nvSpPr>
        <p:spPr>
          <a:xfrm>
            <a:off x="179388" y="1878013"/>
            <a:ext cx="8785225" cy="4143375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Journal of Operations Management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Management Science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Manufacturing &amp; Service Operations Management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• Production and Operations Management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24581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2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3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4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5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586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主要期刊 </a:t>
            </a:r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25604" name="Rectangle 3"/>
          <p:cNvSpPr>
            <a:spLocks noGrp="1"/>
          </p:cNvSpPr>
          <p:nvPr>
            <p:ph idx="1"/>
          </p:nvPr>
        </p:nvSpPr>
        <p:spPr>
          <a:xfrm>
            <a:off x="538163" y="1878013"/>
            <a:ext cx="8148637" cy="4575175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• Annals of Operations Research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Computers and Operations Research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Decision Sciences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• European Journal of Operational Research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• </a:t>
            </a:r>
            <a:r>
              <a:rPr lang="en-US" altLang="zh-CN" sz="2800" dirty="0">
                <a:solidFill>
                  <a:srgbClr val="FF0000"/>
                </a:solidFill>
              </a:rPr>
              <a:t>International Journal of Production Economics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  <p:sp>
        <p:nvSpPr>
          <p:cNvPr id="25605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6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7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8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09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7770813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主要期刊 </a:t>
            </a:r>
            <a:r>
              <a:rPr lang="en-US" altLang="zh-CN" dirty="0"/>
              <a:t>(A-B)</a:t>
            </a:r>
            <a:endParaRPr lang="zh-CN" altLang="en-US" dirty="0"/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179388" y="1449388"/>
            <a:ext cx="8785225" cy="5265737"/>
          </a:xfrm>
          <a:ln/>
        </p:spPr>
        <p:txBody>
          <a:bodyPr vert="horz" wrap="square" lIns="91440" tIns="45720" rIns="91440" bIns="45720" anchor="t" anchorCtr="0"/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管理世界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管理科学学报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中国管理科学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系统工程理论与实践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系统工程学报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r>
              <a:rPr lang="en-US" altLang="zh-CN" sz="2800" dirty="0"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cs typeface="Times New Roman" panose="02020603050405020304" pitchFamily="18" charset="0"/>
              </a:rPr>
              <a:t>管理科学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  <a:p>
            <a:pPr marL="177800" indent="-177800" eaLnBrk="1" hangingPunct="1">
              <a:lnSpc>
                <a:spcPct val="90000"/>
              </a:lnSpc>
              <a:buNone/>
            </a:pPr>
            <a:endParaRPr lang="en-US" altLang="zh-CN" sz="2800" dirty="0">
              <a:ea typeface="Times New Roman" panose="02020603050405020304" pitchFamily="18" charset="0"/>
            </a:endParaRPr>
          </a:p>
        </p:txBody>
      </p:sp>
      <p:sp>
        <p:nvSpPr>
          <p:cNvPr id="26629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0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1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2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3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4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6972300" cy="11303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考核方式</a:t>
            </a:r>
            <a:endParaRPr lang="zh-CN" altLang="en-US" dirty="0"/>
          </a:p>
        </p:txBody>
      </p:sp>
      <p:sp>
        <p:nvSpPr>
          <p:cNvPr id="27652" name="Rectangle 3"/>
          <p:cNvSpPr>
            <a:spLocks noGrp="1"/>
          </p:cNvSpPr>
          <p:nvPr>
            <p:ph idx="1"/>
          </p:nvPr>
        </p:nvSpPr>
        <p:spPr>
          <a:xfrm>
            <a:off x="254000" y="1990725"/>
            <a:ext cx="8604250" cy="3367088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3600" dirty="0">
                <a:cs typeface="Times New Roman" panose="02020603050405020304" pitchFamily="18" charset="0"/>
              </a:rPr>
              <a:t>• </a:t>
            </a:r>
            <a:r>
              <a:rPr lang="zh-CN" altLang="en-US" sz="3600" dirty="0">
                <a:cs typeface="Times New Roman" panose="02020603050405020304" pitchFamily="18" charset="0"/>
              </a:rPr>
              <a:t>平时：课堂表现</a:t>
            </a:r>
            <a:r>
              <a:rPr lang="en-US" altLang="zh-CN" sz="3600" dirty="0">
                <a:cs typeface="Times New Roman" panose="02020603050405020304" pitchFamily="18" charset="0"/>
              </a:rPr>
              <a:t>(20%)</a:t>
            </a:r>
            <a:endParaRPr lang="en-US" altLang="zh-CN" sz="36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en-US" altLang="zh-CN" sz="36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3600" dirty="0">
                <a:cs typeface="Times New Roman" panose="02020603050405020304" pitchFamily="18" charset="0"/>
              </a:rPr>
              <a:t>• </a:t>
            </a:r>
            <a:r>
              <a:rPr lang="zh-CN" altLang="en-US" sz="3600" dirty="0">
                <a:cs typeface="Times New Roman" panose="02020603050405020304" pitchFamily="18" charset="0"/>
              </a:rPr>
              <a:t>期末：开卷考试</a:t>
            </a:r>
            <a:r>
              <a:rPr lang="en-US" altLang="zh-CN" sz="3600" dirty="0">
                <a:cs typeface="Times New Roman" panose="02020603050405020304" pitchFamily="18" charset="0"/>
              </a:rPr>
              <a:t>(80%)</a:t>
            </a:r>
            <a:endParaRPr lang="zh-CN" altLang="en-US" sz="36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endParaRPr lang="en-US" altLang="zh-CN" sz="3600" dirty="0">
              <a:ea typeface="Times New Roman" panose="02020603050405020304" pitchFamily="18" charset="0"/>
            </a:endParaRPr>
          </a:p>
        </p:txBody>
      </p:sp>
      <p:sp>
        <p:nvSpPr>
          <p:cNvPr id="27653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5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6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7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8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>
          <a:xfrm>
            <a:off x="457200" y="469900"/>
            <a:ext cx="6972300" cy="1030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8676" name="Rectangle 3"/>
          <p:cNvSpPr>
            <a:spLocks noGrp="1"/>
          </p:cNvSpPr>
          <p:nvPr>
            <p:ph idx="1"/>
          </p:nvPr>
        </p:nvSpPr>
        <p:spPr>
          <a:xfrm>
            <a:off x="428625" y="1643063"/>
            <a:ext cx="7772400" cy="4032250"/>
          </a:xfrm>
          <a:ln/>
        </p:spPr>
        <p:txBody>
          <a:bodyPr vert="horz" wrap="square" lIns="91440" tIns="45720" rIns="91440" bIns="45720" anchor="t" anchorCtr="0"/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E-mail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      weixu@ruc.edu.cn  (</a:t>
            </a:r>
            <a:r>
              <a:rPr lang="zh-CN" altLang="en-US" sz="2400" dirty="0">
                <a:cs typeface="Times New Roman" panose="02020603050405020304" pitchFamily="18" charset="0"/>
              </a:rPr>
              <a:t>用于问题探讨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联系方式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marL="533400" indent="-533400" eaLnBrk="1" hangingPunct="1">
              <a:lnSpc>
                <a:spcPct val="9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   </a:t>
            </a:r>
            <a:r>
              <a:rPr lang="en-US" altLang="zh-CN" sz="2400" dirty="0">
                <a:cs typeface="Times New Roman" panose="02020603050405020304" pitchFamily="18" charset="0"/>
              </a:rPr>
              <a:t>86-010-82500904 (O)</a:t>
            </a:r>
            <a:endParaRPr lang="en-US" altLang="zh-CN" sz="2400" dirty="0">
              <a:ea typeface="Times New Roman" panose="02020603050405020304" pitchFamily="18" charset="0"/>
            </a:endParaRPr>
          </a:p>
        </p:txBody>
      </p:sp>
      <p:sp>
        <p:nvSpPr>
          <p:cNvPr id="28677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8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9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2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8683" name="图片 11" descr="微信图片_202212041021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438" y="857250"/>
            <a:ext cx="3132137" cy="5572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4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>
                <a:latin typeface="Arial Black" panose="020B0A040201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29700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3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4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5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4296d148-e60c-4fad-ab3a-0cff29830163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1982</Words>
  <Application>WPS 演示</Application>
  <PresentationFormat>全屏显示(4:3)</PresentationFormat>
  <Paragraphs>231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Times New Roman</vt:lpstr>
      <vt:lpstr>Arial Black</vt:lpstr>
      <vt:lpstr>微软雅黑</vt:lpstr>
      <vt:lpstr>Arial Unicode MS</vt:lpstr>
      <vt:lpstr>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Albert Yang</cp:lastModifiedBy>
  <cp:revision>331</cp:revision>
  <dcterms:created xsi:type="dcterms:W3CDTF">2022-12-11T09:06:44Z</dcterms:created>
  <dcterms:modified xsi:type="dcterms:W3CDTF">2022-12-11T09:07:14Z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91A140E504E1438DB4F60A689418ED8E</vt:lpwstr>
  </property>
  <property fmtid="{D5CDD505-2E9C-101B-9397-08002B2CF9AE}" pid="3" name="KSOProductBuildVer">
    <vt:lpwstr>2052-11.1.0.12980</vt:lpwstr>
  </property>
</Properties>
</file>