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68" r:id="rId3"/>
    <p:sldId id="398" r:id="rId4"/>
    <p:sldId id="399" r:id="rId5"/>
    <p:sldId id="400" r:id="rId6"/>
    <p:sldId id="401" r:id="rId7"/>
    <p:sldId id="424" r:id="rId8"/>
    <p:sldId id="403" r:id="rId9"/>
    <p:sldId id="429" r:id="rId10"/>
    <p:sldId id="430" r:id="rId11"/>
    <p:sldId id="404" r:id="rId12"/>
    <p:sldId id="409" r:id="rId13"/>
    <p:sldId id="410" r:id="rId14"/>
    <p:sldId id="411" r:id="rId15"/>
    <p:sldId id="412" r:id="rId16"/>
    <p:sldId id="413" r:id="rId17"/>
    <p:sldId id="414" r:id="rId18"/>
    <p:sldId id="415" r:id="rId19"/>
    <p:sldId id="416" r:id="rId20"/>
    <p:sldId id="427" r:id="rId21"/>
    <p:sldId id="428" r:id="rId22"/>
    <p:sldId id="418" r:id="rId23"/>
    <p:sldId id="426" r:id="rId24"/>
    <p:sldId id="425" r:id="rId25"/>
    <p:sldId id="420" r:id="rId26"/>
    <p:sldId id="431" r:id="rId27"/>
  </p:sldIdLst>
  <p:sldSz cx="9144000" cy="6858000" type="screen4x3"/>
  <p:notesSz cx="6858000" cy="9144000"/>
  <p:custDataLst>
    <p:tags r:id="rId3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hlink"/>
      </a:buClr>
      <a:buSzPct val="70000"/>
      <a:buFont typeface="Wingdings" panose="05000000000000000000" pitchFamily="2" charset="2"/>
      <a:buChar char="n"/>
      <a:defRPr sz="2000" b="0" i="0" u="none" kern="1200" baseline="0">
        <a:solidFill>
          <a:schemeClr val="tx1"/>
        </a:solidFill>
        <a:latin typeface="华文楷体" panose="02010600040101010101" pitchFamily="2" charset="-122"/>
        <a:ea typeface="华文楷体" panose="0201060004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hlink"/>
      </a:buClr>
      <a:buSzPct val="70000"/>
      <a:buFont typeface="Wingdings" panose="05000000000000000000" pitchFamily="2" charset="2"/>
      <a:buChar char="n"/>
      <a:defRPr sz="2000" b="0" i="0" u="none" kern="1200" baseline="0">
        <a:solidFill>
          <a:schemeClr val="tx1"/>
        </a:solidFill>
        <a:latin typeface="华文楷体" panose="02010600040101010101" pitchFamily="2" charset="-122"/>
        <a:ea typeface="华文楷体" panose="0201060004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hlink"/>
      </a:buClr>
      <a:buSzPct val="70000"/>
      <a:buFont typeface="Wingdings" panose="05000000000000000000" pitchFamily="2" charset="2"/>
      <a:buChar char="n"/>
      <a:defRPr sz="2000" b="0" i="0" u="none" kern="1200" baseline="0">
        <a:solidFill>
          <a:schemeClr val="tx1"/>
        </a:solidFill>
        <a:latin typeface="华文楷体" panose="02010600040101010101" pitchFamily="2" charset="-122"/>
        <a:ea typeface="华文楷体" panose="0201060004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hlink"/>
      </a:buClr>
      <a:buSzPct val="70000"/>
      <a:buFont typeface="Wingdings" panose="05000000000000000000" pitchFamily="2" charset="2"/>
      <a:buChar char="n"/>
      <a:defRPr sz="2000" b="0" i="0" u="none" kern="1200" baseline="0">
        <a:solidFill>
          <a:schemeClr val="tx1"/>
        </a:solidFill>
        <a:latin typeface="华文楷体" panose="02010600040101010101" pitchFamily="2" charset="-122"/>
        <a:ea typeface="华文楷体" panose="0201060004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hlink"/>
      </a:buClr>
      <a:buSzPct val="70000"/>
      <a:buFont typeface="Wingdings" panose="05000000000000000000" pitchFamily="2" charset="2"/>
      <a:buChar char="n"/>
      <a:defRPr sz="2000" b="0" i="0" u="none" kern="1200" baseline="0">
        <a:solidFill>
          <a:schemeClr val="tx1"/>
        </a:solidFill>
        <a:latin typeface="华文楷体" panose="02010600040101010101" pitchFamily="2" charset="-122"/>
        <a:ea typeface="华文楷体" panose="0201060004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hlink"/>
      </a:buClr>
      <a:buSzPct val="70000"/>
      <a:buFont typeface="Wingdings" panose="05000000000000000000" pitchFamily="2" charset="2"/>
      <a:buChar char="n"/>
      <a:defRPr sz="2000" b="0" i="0" u="none" kern="1200" baseline="0">
        <a:solidFill>
          <a:schemeClr val="tx1"/>
        </a:solidFill>
        <a:latin typeface="华文楷体" panose="02010600040101010101" pitchFamily="2" charset="-122"/>
        <a:ea typeface="华文楷体" panose="0201060004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hlink"/>
      </a:buClr>
      <a:buSzPct val="70000"/>
      <a:buFont typeface="Wingdings" panose="05000000000000000000" pitchFamily="2" charset="2"/>
      <a:buChar char="n"/>
      <a:defRPr sz="2000" b="0" i="0" u="none" kern="1200" baseline="0">
        <a:solidFill>
          <a:schemeClr val="tx1"/>
        </a:solidFill>
        <a:latin typeface="华文楷体" panose="02010600040101010101" pitchFamily="2" charset="-122"/>
        <a:ea typeface="华文楷体" panose="0201060004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hlink"/>
      </a:buClr>
      <a:buSzPct val="70000"/>
      <a:buFont typeface="Wingdings" panose="05000000000000000000" pitchFamily="2" charset="2"/>
      <a:buChar char="n"/>
      <a:defRPr sz="2000" b="0" i="0" u="none" kern="1200" baseline="0">
        <a:solidFill>
          <a:schemeClr val="tx1"/>
        </a:solidFill>
        <a:latin typeface="华文楷体" panose="02010600040101010101" pitchFamily="2" charset="-122"/>
        <a:ea typeface="华文楷体" panose="0201060004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hlink"/>
      </a:buClr>
      <a:buSzPct val="70000"/>
      <a:buFont typeface="Wingdings" panose="05000000000000000000" pitchFamily="2" charset="2"/>
      <a:buChar char="n"/>
      <a:defRPr sz="2000" b="0" i="0" u="none" kern="1200" baseline="0">
        <a:solidFill>
          <a:schemeClr val="tx1"/>
        </a:solidFill>
        <a:latin typeface="华文楷体" panose="02010600040101010101" pitchFamily="2" charset="-122"/>
        <a:ea typeface="华文楷体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33CC33"/>
    <a:srgbClr val="FF99FF"/>
    <a:srgbClr val="66FFCC"/>
    <a:srgbClr val="CCFFFF"/>
    <a:srgbClr val="333399"/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4581"/>
  </p:normalViewPr>
  <p:slideViewPr>
    <p:cSldViewPr showGuides="1">
      <p:cViewPr>
        <p:scale>
          <a:sx n="66" d="100"/>
          <a:sy n="66" d="100"/>
        </p:scale>
        <p:origin x="-1422" y="-120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.wmf"/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latinLnBrk="1">
              <a:spcBef>
                <a:spcPct val="0"/>
              </a:spcBef>
              <a:buClrTx/>
              <a:buSzTx/>
              <a:buFontTx/>
              <a:buNone/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latinLnBrk="1">
              <a:spcBef>
                <a:spcPct val="0"/>
              </a:spcBef>
              <a:buClrTx/>
              <a:buSzTx/>
              <a:buFontTx/>
              <a:buNone/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6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latinLnBrk="1">
              <a:spcBef>
                <a:spcPct val="0"/>
              </a:spcBef>
              <a:buClrTx/>
              <a:buSzTx/>
              <a:buFontTx/>
              <a:buNone/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latin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9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155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2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pic>
        <p:nvPicPr>
          <p:cNvPr id="6147" name="Picture 21" descr="Renmin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23163" y="80963"/>
            <a:ext cx="1512887" cy="1403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915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915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3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F499C7-7658-4C57-9820-BA49328DF8A2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4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36F6B-D6DC-4EC8-AF47-6FEDF4C50D47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36F6B-D6DC-4EC8-AF47-6FEDF4C50D47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36F6B-D6DC-4EC8-AF47-6FEDF4C50D47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36F6B-D6DC-4EC8-AF47-6FEDF4C50D47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36F6B-D6DC-4EC8-AF47-6FEDF4C50D47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36F6B-D6DC-4EC8-AF47-6FEDF4C50D47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36F6B-D6DC-4EC8-AF47-6FEDF4C50D47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36F6B-D6DC-4EC8-AF47-6FEDF4C50D47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36F6B-D6DC-4EC8-AF47-6FEDF4C50D47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36F6B-D6DC-4EC8-AF47-6FEDF4C50D47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811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buFontTx/>
              <a:defRPr sz="1200"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 lvl="0" eaLnBrk="1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grpSp>
        <p:nvGrpSpPr>
          <p:cNvPr id="5124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1811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1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1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125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126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812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36F6B-D6DC-4EC8-AF47-6FEDF4C50D47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8" name="Picture 17" descr="Renmin Logo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451725" y="115888"/>
            <a:ext cx="1546225" cy="14747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wmf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8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6.wmf"/><Relationship Id="rId13" Type="http://schemas.openxmlformats.org/officeDocument/2006/relationships/vmlDrawing" Target="../drawings/vmlDrawing2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1.wmf"/><Relationship Id="rId10" Type="http://schemas.openxmlformats.org/officeDocument/2006/relationships/oleObject" Target="../embeddings/oleObject12.bin"/><Relationship Id="rId1" Type="http://schemas.openxmlformats.org/officeDocument/2006/relationships/oleObject" Target="../embeddings/oleObject7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5.w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2.w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13.bin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7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16"/>
          <p:cNvSpPr txBox="1">
            <a:spLocks noGrp="1" noChangeArrowheads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FECA42-ACE0-43D5-983C-84FDBA69E9F1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18"/>
          <p:cNvSpPr txBox="1">
            <a:spLocks noGrp="1" noChangeArrowheads="1"/>
          </p:cNvSpPr>
          <p:nvPr>
            <p:ph type="sldNum" sz="quarter" idx="4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type="subTitle" idx="1"/>
          </p:nvPr>
        </p:nvSpPr>
        <p:spPr>
          <a:xfrm>
            <a:off x="2251075" y="4652963"/>
            <a:ext cx="4464050" cy="1512887"/>
          </a:xfrm>
          <a:ln/>
        </p:spPr>
        <p:txBody>
          <a:bodyPr vert="horz" wrap="square" lIns="91440" tIns="45720" rIns="91440" bIns="45720" anchor="t" anchorCtr="0"/>
          <a:p>
            <a:pPr algn="ctr" eaLnBrk="1" hangingPunct="1">
              <a:buSzPct val="75000"/>
            </a:pPr>
            <a:r>
              <a:rPr lang="zh-CN" altLang="en-US" b="1" dirty="0">
                <a:latin typeface="宋体" panose="02010600030101010101" pitchFamily="2" charset="-122"/>
                <a:ea typeface="+mn-ea"/>
                <a:cs typeface="+mn-cs"/>
              </a:rPr>
              <a:t>许 伟</a:t>
            </a:r>
            <a:endParaRPr lang="zh-CN" altLang="en-US" sz="2800" dirty="0">
              <a:latin typeface="宋体" panose="02010600030101010101" pitchFamily="2" charset="-122"/>
              <a:ea typeface="+mn-ea"/>
              <a:cs typeface="+mn-cs"/>
            </a:endParaRPr>
          </a:p>
          <a:p>
            <a:pPr algn="ctr" eaLnBrk="1" hangingPunct="1">
              <a:buSzPct val="75000"/>
            </a:pPr>
            <a:r>
              <a:rPr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中国人民大学信息学院</a:t>
            </a:r>
            <a:endParaRPr lang="zh-CN" altLang="en-US" sz="2800" dirty="0"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7173" name="Rectangle 2"/>
          <p:cNvSpPr>
            <a:spLocks noGrp="1"/>
          </p:cNvSpPr>
          <p:nvPr>
            <p:ph type="ctrTitle"/>
          </p:nvPr>
        </p:nvSpPr>
        <p:spPr>
          <a:xfrm>
            <a:off x="2857500" y="1989138"/>
            <a:ext cx="6286500" cy="1455737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6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运筹学与优化理论</a:t>
            </a:r>
            <a:endParaRPr lang="zh-CN" altLang="en-US" sz="6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7AE4C0-639C-414B-B2F8-134D36638DC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6" name="Rectangle 2"/>
          <p:cNvSpPr>
            <a:spLocks noGrp="1"/>
          </p:cNvSpPr>
          <p:nvPr>
            <p:ph type="title"/>
          </p:nvPr>
        </p:nvSpPr>
        <p:spPr>
          <a:xfrm>
            <a:off x="539750" y="620713"/>
            <a:ext cx="7304088" cy="9525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/>
              <a:t>一、网络计划技术的概念</a:t>
            </a:r>
            <a:endParaRPr lang="zh-CN" altLang="en-US" sz="4800" dirty="0"/>
          </a:p>
        </p:txBody>
      </p:sp>
      <p:sp>
        <p:nvSpPr>
          <p:cNvPr id="8197" name="Rectangle 3"/>
          <p:cNvSpPr>
            <a:spLocks noGrp="1"/>
          </p:cNvSpPr>
          <p:nvPr>
            <p:ph idx="1"/>
          </p:nvPr>
        </p:nvSpPr>
        <p:spPr>
          <a:xfrm>
            <a:off x="468313" y="1484313"/>
            <a:ext cx="8316912" cy="4716462"/>
          </a:xfrm>
          <a:ln/>
        </p:spPr>
        <p:txBody>
          <a:bodyPr vert="horz" wrap="square" lIns="91440" tIns="45720" rIns="91440" bIns="45720" anchor="t" anchorCtr="0"/>
          <a:p>
            <a:pPr marL="0" indent="0" eaLnBrk="1" hangingPunct="1">
              <a:lnSpc>
                <a:spcPct val="170000"/>
              </a:lnSpc>
              <a:buNone/>
            </a:pPr>
            <a:r>
              <a:rPr lang="zh-CN" altLang="en-US" sz="2800" dirty="0"/>
              <a:t>（一）基本原理</a:t>
            </a:r>
            <a:endParaRPr lang="zh-CN" altLang="en-US" sz="2800" dirty="0"/>
          </a:p>
          <a:p>
            <a:pPr marL="0" indent="0" eaLnBrk="1" hangingPunct="1">
              <a:lnSpc>
                <a:spcPct val="170000"/>
              </a:lnSpc>
              <a:buNone/>
            </a:pPr>
            <a:r>
              <a:rPr lang="zh-CN" altLang="en-US" sz="2800" dirty="0"/>
              <a:t>       运用网络图来表达计划任务的进度安排及其中各项工作（程序）之间的相互关系，在此基础上进行网络分析，计算网络时间，找出关键工序和关键线路，并利用时差不断地改善网络计划，求得工期、资源与成本的优化。            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B94E90-D236-463E-9B68-0C182D33A29D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20" name="Rectangle 2"/>
          <p:cNvSpPr>
            <a:spLocks noGrp="1"/>
          </p:cNvSpPr>
          <p:nvPr>
            <p:ph type="title"/>
          </p:nvPr>
        </p:nvSpPr>
        <p:spPr>
          <a:xfrm>
            <a:off x="539750" y="765175"/>
            <a:ext cx="6978650" cy="6858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dirty="0"/>
              <a:t>（二）、特点</a:t>
            </a:r>
            <a:endParaRPr lang="zh-CN" altLang="en-US" dirty="0"/>
          </a:p>
        </p:txBody>
      </p:sp>
      <p:sp>
        <p:nvSpPr>
          <p:cNvPr id="9221" name="Rectangle 3"/>
          <p:cNvSpPr>
            <a:spLocks noGrp="1"/>
          </p:cNvSpPr>
          <p:nvPr>
            <p:ph idx="1"/>
          </p:nvPr>
        </p:nvSpPr>
        <p:spPr>
          <a:xfrm>
            <a:off x="611188" y="1628775"/>
            <a:ext cx="7623175" cy="4608513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35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/>
              <a:t>直观性强，可形象反映工程全貌；</a:t>
            </a:r>
            <a:endParaRPr lang="zh-CN" altLang="en-US" sz="2400" dirty="0"/>
          </a:p>
          <a:p>
            <a:pPr lvl="1" eaLnBrk="1" hangingPunct="1">
              <a:lnSpc>
                <a:spcPct val="135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/>
              <a:t>主次、缓急清楚，便于抓住主要矛盾；</a:t>
            </a:r>
            <a:endParaRPr lang="zh-CN" altLang="en-US" sz="2400" dirty="0"/>
          </a:p>
          <a:p>
            <a:pPr lvl="1" eaLnBrk="1" hangingPunct="1">
              <a:lnSpc>
                <a:spcPct val="135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/>
              <a:t>可利用非关键路线上的工作潜力，加速关键作业进程，因而可缩短工期，降低工程成本；</a:t>
            </a:r>
            <a:endParaRPr lang="zh-CN" altLang="en-US" sz="2400" dirty="0"/>
          </a:p>
          <a:p>
            <a:pPr lvl="1" eaLnBrk="1" hangingPunct="1">
              <a:lnSpc>
                <a:spcPct val="135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/>
              <a:t>可估计各项作业所需时间和资源；</a:t>
            </a:r>
            <a:endParaRPr lang="zh-CN" altLang="en-US" sz="2400" dirty="0"/>
          </a:p>
          <a:p>
            <a:pPr lvl="1" eaLnBrk="1" hangingPunct="1">
              <a:lnSpc>
                <a:spcPct val="135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/>
              <a:t>便于修改；</a:t>
            </a:r>
            <a:endParaRPr lang="zh-CN" altLang="en-US" sz="2400" dirty="0"/>
          </a:p>
          <a:p>
            <a:pPr lvl="1" eaLnBrk="1" hangingPunct="1">
              <a:lnSpc>
                <a:spcPct val="135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/>
              <a:t>可运用电子计算机运算和画图，缩短计划编制时间。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9D2247D-42B8-49DD-8672-730CA75A8D3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44" name="Rectangle 2"/>
          <p:cNvSpPr>
            <a:spLocks noGrp="1"/>
          </p:cNvSpPr>
          <p:nvPr>
            <p:ph type="title"/>
          </p:nvPr>
        </p:nvSpPr>
        <p:spPr>
          <a:xfrm>
            <a:off x="1042988" y="908050"/>
            <a:ext cx="4953000" cy="990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dirty="0"/>
              <a:t> </a:t>
            </a:r>
            <a:r>
              <a:rPr lang="zh-CN" altLang="en-US" sz="3600" dirty="0"/>
              <a:t>二、  网络图的构成</a:t>
            </a:r>
            <a:endParaRPr lang="zh-CN" altLang="en-US" sz="3600" dirty="0"/>
          </a:p>
        </p:txBody>
      </p:sp>
      <p:sp>
        <p:nvSpPr>
          <p:cNvPr id="10245" name="Rectangle 3"/>
          <p:cNvSpPr>
            <a:spLocks noGrp="1"/>
          </p:cNvSpPr>
          <p:nvPr>
            <p:ph idx="1"/>
          </p:nvPr>
        </p:nvSpPr>
        <p:spPr>
          <a:xfrm>
            <a:off x="1263650" y="2125663"/>
            <a:ext cx="6434138" cy="32385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80000"/>
              </a:lnSpc>
              <a:buNone/>
            </a:pPr>
            <a:r>
              <a:rPr lang="zh-CN" altLang="en-US" dirty="0"/>
              <a:t>（一）  活动</a:t>
            </a:r>
            <a:endParaRPr lang="zh-CN" altLang="en-US" dirty="0"/>
          </a:p>
          <a:p>
            <a:pPr eaLnBrk="1" hangingPunct="1">
              <a:lnSpc>
                <a:spcPct val="180000"/>
              </a:lnSpc>
              <a:buNone/>
            </a:pPr>
            <a:r>
              <a:rPr lang="zh-CN" altLang="en-US" dirty="0"/>
              <a:t>（二 ） 节点</a:t>
            </a:r>
            <a:endParaRPr lang="zh-CN" altLang="en-US" dirty="0"/>
          </a:p>
          <a:p>
            <a:pPr eaLnBrk="1" hangingPunct="1">
              <a:lnSpc>
                <a:spcPct val="180000"/>
              </a:lnSpc>
              <a:buNone/>
            </a:pPr>
            <a:r>
              <a:rPr lang="zh-CN" altLang="en-US" dirty="0"/>
              <a:t>（三 ） 线路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93D1C0-602E-4170-A549-6830A080F05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68" name="Rectangle 2"/>
          <p:cNvSpPr>
            <a:spLocks noGrp="1"/>
          </p:cNvSpPr>
          <p:nvPr>
            <p:ph type="title"/>
          </p:nvPr>
        </p:nvSpPr>
        <p:spPr>
          <a:xfrm>
            <a:off x="755650" y="908050"/>
            <a:ext cx="61849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dirty="0"/>
              <a:t>（一） 、活动</a:t>
            </a:r>
            <a:endParaRPr lang="zh-CN" altLang="en-US" sz="3200" dirty="0"/>
          </a:p>
        </p:txBody>
      </p:sp>
      <p:sp>
        <p:nvSpPr>
          <p:cNvPr id="11269" name="Rectangle 3"/>
          <p:cNvSpPr>
            <a:spLocks noGrp="1"/>
          </p:cNvSpPr>
          <p:nvPr>
            <p:ph idx="1"/>
          </p:nvPr>
        </p:nvSpPr>
        <p:spPr>
          <a:xfrm>
            <a:off x="827088" y="1773238"/>
            <a:ext cx="7489825" cy="38877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活动：指一项工作或一道工序。占用人力、物力、财力、空间和时间。</a:t>
            </a:r>
            <a:endParaRPr lang="zh-CN" altLang="zh-CN" sz="2400" dirty="0"/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虚活动：作业时间为零的活动。只表示作业之间相互依存、相互制约、相互衔接的关系，但不占用人力、物力、空间和时间。</a:t>
            </a:r>
            <a:endParaRPr lang="zh-CN" altLang="en-US" dirty="0"/>
          </a:p>
          <a:p>
            <a:pPr eaLnBrk="1" hangingPunct="1"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先行活动、后续活动和并行活动</a:t>
            </a:r>
            <a:endParaRPr lang="zh-CN" altLang="en-US" sz="4400" dirty="0">
              <a:sym typeface="Wingdings" panose="05000000000000000000" pitchFamily="2" charset="2"/>
            </a:endParaRPr>
          </a:p>
        </p:txBody>
      </p:sp>
      <p:sp>
        <p:nvSpPr>
          <p:cNvPr id="11270" name="Line 4"/>
          <p:cNvSpPr/>
          <p:nvPr/>
        </p:nvSpPr>
        <p:spPr>
          <a:xfrm>
            <a:off x="3132138" y="5499100"/>
            <a:ext cx="14478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lgDash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7672EE0-D02A-4EC9-A405-7E69B487F0D5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292" name="Rectangle 2"/>
          <p:cNvSpPr>
            <a:spLocks noGrp="1"/>
          </p:cNvSpPr>
          <p:nvPr>
            <p:ph type="title"/>
          </p:nvPr>
        </p:nvSpPr>
        <p:spPr>
          <a:xfrm>
            <a:off x="755650" y="908050"/>
            <a:ext cx="61849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dirty="0"/>
              <a:t>（二） 、节点</a:t>
            </a:r>
            <a:endParaRPr lang="zh-CN" altLang="en-US" sz="3200" dirty="0"/>
          </a:p>
        </p:txBody>
      </p:sp>
      <p:sp>
        <p:nvSpPr>
          <p:cNvPr id="12293" name="Rectangle 3"/>
          <p:cNvSpPr>
            <a:spLocks noGrp="1"/>
          </p:cNvSpPr>
          <p:nvPr>
            <p:ph idx="1"/>
          </p:nvPr>
        </p:nvSpPr>
        <p:spPr>
          <a:xfrm>
            <a:off x="827088" y="1773238"/>
            <a:ext cx="7489825" cy="38877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节点：表示一项活动的开始或结束的那一点</a:t>
            </a:r>
            <a:endParaRPr lang="zh-CN" altLang="zh-CN" sz="2400" dirty="0"/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不占用时间和资源</a:t>
            </a:r>
            <a:endParaRPr lang="zh-CN" altLang="en-US" sz="4400" dirty="0">
              <a:sym typeface="Wingdings" panose="05000000000000000000" pitchFamily="2" charset="2"/>
            </a:endParaRPr>
          </a:p>
        </p:txBody>
      </p:sp>
      <p:sp>
        <p:nvSpPr>
          <p:cNvPr id="12294" name="Line 4"/>
          <p:cNvSpPr/>
          <p:nvPr/>
        </p:nvSpPr>
        <p:spPr>
          <a:xfrm>
            <a:off x="3132138" y="5499100"/>
            <a:ext cx="14478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lgDash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64D5DB-1170-49D8-A19B-57C0C657AB05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16" name="Rectangle 2"/>
          <p:cNvSpPr>
            <a:spLocks noGrp="1"/>
          </p:cNvSpPr>
          <p:nvPr>
            <p:ph type="title"/>
          </p:nvPr>
        </p:nvSpPr>
        <p:spPr>
          <a:xfrm>
            <a:off x="755650" y="692150"/>
            <a:ext cx="3703638" cy="685800"/>
          </a:xfrm>
          <a:ln/>
        </p:spPr>
        <p:txBody>
          <a:bodyPr vert="horz" wrap="square" lIns="91440" tIns="45720" rIns="91440" bIns="45720" anchor="ctr" anchorCtr="0"/>
          <a:p>
            <a:pPr marL="1117600" indent="-1117600" eaLnBrk="1" hangingPunct="1"/>
            <a:r>
              <a:rPr lang="zh-CN" altLang="en-US" sz="3200" dirty="0"/>
              <a:t>（三）、线路</a:t>
            </a:r>
            <a:endParaRPr lang="zh-CN" altLang="en-US" sz="3200" dirty="0"/>
          </a:p>
        </p:txBody>
      </p:sp>
      <p:sp>
        <p:nvSpPr>
          <p:cNvPr id="13317" name="Rectangle 3"/>
          <p:cNvSpPr>
            <a:spLocks noGrp="1"/>
          </p:cNvSpPr>
          <p:nvPr>
            <p:ph idx="1"/>
          </p:nvPr>
        </p:nvSpPr>
        <p:spPr>
          <a:xfrm>
            <a:off x="323850" y="1484313"/>
            <a:ext cx="8307388" cy="4392612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 </a:t>
            </a:r>
            <a:r>
              <a:rPr lang="zh-CN" altLang="en-US" sz="2400" dirty="0">
                <a:latin typeface="宋体" panose="02010600030101010101" pitchFamily="2" charset="-122"/>
              </a:rPr>
              <a:t>线路：从网络始点开始，顺着箭线方向，连续不断地到达网络终点事项为止，中间由一系列首尾相连的结点和箭线组成的通道。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 关键路线：网络图中所需工时最长的路线称为关键路线。关键路线上的工序称为关键工序。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 注意：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（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）关键路线的完成时间决定整个工程的完工时间；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（</a:t>
            </a:r>
            <a:r>
              <a:rPr lang="en-US" altLang="zh-CN" sz="2400" dirty="0"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</a:rPr>
              <a:t>）关键路线不只一条。关键路线越多，组织工作越好，安排越紧凑。</a:t>
            </a:r>
            <a:r>
              <a:rPr lang="zh-CN" altLang="en-US" sz="2800" dirty="0">
                <a:latin typeface="宋体" panose="02010600030101010101" pitchFamily="2" charset="-122"/>
              </a:rPr>
              <a:t>  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C5F1FC8-809C-4133-A383-D7D7255D52E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340" name="Rectangle 2"/>
          <p:cNvSpPr>
            <a:spLocks noGrp="1"/>
          </p:cNvSpPr>
          <p:nvPr>
            <p:ph idx="1"/>
          </p:nvPr>
        </p:nvSpPr>
        <p:spPr>
          <a:xfrm>
            <a:off x="468313" y="1125538"/>
            <a:ext cx="7127875" cy="15128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2800" dirty="0"/>
              <a:t>例：某工程项目各活动之间关系及平均作业时间如下图所示，绘制网络图，计算时间参数并确定关键路径</a:t>
            </a:r>
            <a:endParaRPr lang="zh-CN" altLang="en-US" sz="2800" dirty="0"/>
          </a:p>
        </p:txBody>
      </p:sp>
      <p:graphicFrame>
        <p:nvGraphicFramePr>
          <p:cNvPr id="14341" name="表格 14340"/>
          <p:cNvGraphicFramePr/>
          <p:nvPr/>
        </p:nvGraphicFramePr>
        <p:xfrm>
          <a:off x="1979613" y="2924175"/>
          <a:ext cx="3529012" cy="2373313"/>
        </p:xfrm>
        <a:graphic>
          <a:graphicData uri="http://schemas.openxmlformats.org/drawingml/2006/table">
            <a:tbl>
              <a:tblPr/>
              <a:tblGrid>
                <a:gridCol w="704850"/>
                <a:gridCol w="704850"/>
                <a:gridCol w="706438"/>
                <a:gridCol w="706437"/>
                <a:gridCol w="706438"/>
              </a:tblGrid>
              <a:tr h="8207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活动名称</a:t>
                      </a:r>
                      <a:endPara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3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先行活动</a:t>
                      </a:r>
                      <a:endPara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9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作业时间</a:t>
                      </a:r>
                      <a:endPara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18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76456F-0EE6-4DDF-A83C-D10F4F9E469E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64" name="Text Box 2"/>
          <p:cNvSpPr txBox="1"/>
          <p:nvPr/>
        </p:nvSpPr>
        <p:spPr>
          <a:xfrm>
            <a:off x="684213" y="857250"/>
            <a:ext cx="4683125" cy="411163"/>
          </a:xfrm>
          <a:prstGeom prst="rect">
            <a:avLst/>
          </a:prstGeom>
          <a:noFill/>
          <a:ln w="9525">
            <a:noFill/>
          </a:ln>
        </p:spPr>
        <p:txBody>
          <a:bodyPr wrap="none" lIns="93600" tIns="46038" rIns="93600" bIns="0">
            <a:spAutoFit/>
          </a:bodyPr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计算正常条件下网络的时间参数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0401" name="Line 17"/>
          <p:cNvSpPr/>
          <p:nvPr/>
        </p:nvSpPr>
        <p:spPr>
          <a:xfrm flipV="1">
            <a:off x="2051050" y="2997200"/>
            <a:ext cx="1152525" cy="1008063"/>
          </a:xfrm>
          <a:prstGeom prst="line">
            <a:avLst/>
          </a:prstGeom>
          <a:ln w="2540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0402" name="Oval 18"/>
          <p:cNvSpPr/>
          <p:nvPr/>
        </p:nvSpPr>
        <p:spPr>
          <a:xfrm>
            <a:off x="1547813" y="3933825"/>
            <a:ext cx="431800" cy="431800"/>
          </a:xfrm>
          <a:prstGeom prst="ellipse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1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400403" name="Line 19"/>
          <p:cNvSpPr/>
          <p:nvPr/>
        </p:nvSpPr>
        <p:spPr>
          <a:xfrm>
            <a:off x="2051050" y="4076700"/>
            <a:ext cx="1081088" cy="1152525"/>
          </a:xfrm>
          <a:prstGeom prst="line">
            <a:avLst/>
          </a:prstGeom>
          <a:ln w="2540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0405" name="Line 21"/>
          <p:cNvSpPr/>
          <p:nvPr/>
        </p:nvSpPr>
        <p:spPr>
          <a:xfrm flipV="1">
            <a:off x="3635375" y="3933825"/>
            <a:ext cx="1441450" cy="1295400"/>
          </a:xfrm>
          <a:prstGeom prst="line">
            <a:avLst/>
          </a:prstGeom>
          <a:ln w="2540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0407" name="Oval 23"/>
          <p:cNvSpPr/>
          <p:nvPr/>
        </p:nvSpPr>
        <p:spPr>
          <a:xfrm>
            <a:off x="3276600" y="2565400"/>
            <a:ext cx="431800" cy="431800"/>
          </a:xfrm>
          <a:prstGeom prst="ellipse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2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400408" name="Oval 24"/>
          <p:cNvSpPr/>
          <p:nvPr/>
        </p:nvSpPr>
        <p:spPr>
          <a:xfrm>
            <a:off x="3132138" y="5013325"/>
            <a:ext cx="431800" cy="431800"/>
          </a:xfrm>
          <a:prstGeom prst="ellipse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3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400419" name="Line 35"/>
          <p:cNvSpPr/>
          <p:nvPr/>
        </p:nvSpPr>
        <p:spPr>
          <a:xfrm>
            <a:off x="3779838" y="2708275"/>
            <a:ext cx="1368425" cy="1152525"/>
          </a:xfrm>
          <a:prstGeom prst="line">
            <a:avLst/>
          </a:prstGeom>
          <a:ln w="2540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0435" name="Rectangle 51"/>
          <p:cNvSpPr/>
          <p:nvPr/>
        </p:nvSpPr>
        <p:spPr>
          <a:xfrm>
            <a:off x="1908175" y="2997200"/>
            <a:ext cx="647700" cy="5032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A 18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400439" name="Rectangle 55"/>
          <p:cNvSpPr/>
          <p:nvPr/>
        </p:nvSpPr>
        <p:spPr>
          <a:xfrm>
            <a:off x="4356100" y="2492375"/>
            <a:ext cx="647700" cy="5032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C 24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400441" name="Rectangle 57"/>
          <p:cNvSpPr/>
          <p:nvPr/>
        </p:nvSpPr>
        <p:spPr>
          <a:xfrm>
            <a:off x="1908175" y="4797425"/>
            <a:ext cx="647700" cy="5032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B 20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400444" name="Rectangle 60"/>
          <p:cNvSpPr/>
          <p:nvPr/>
        </p:nvSpPr>
        <p:spPr>
          <a:xfrm>
            <a:off x="4427538" y="4652963"/>
            <a:ext cx="647700" cy="503237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D 20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400446" name="Oval 62"/>
          <p:cNvSpPr/>
          <p:nvPr/>
        </p:nvSpPr>
        <p:spPr>
          <a:xfrm>
            <a:off x="5148263" y="3716338"/>
            <a:ext cx="431800" cy="431800"/>
          </a:xfrm>
          <a:prstGeom prst="ellipse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4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0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0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00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00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400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00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0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0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0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0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0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0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0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0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0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0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00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00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7" dur="2000"/>
                                        <p:tgtEl>
                                          <p:spTgt spid="400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402" grpId="0" animBg="1"/>
      <p:bldP spid="400407" grpId="0" animBg="1"/>
      <p:bldP spid="400408" grpId="0" animBg="1"/>
      <p:bldP spid="400435" grpId="0" animBg="1"/>
      <p:bldP spid="400439" grpId="0" animBg="1"/>
      <p:bldP spid="400441" grpId="0" animBg="1"/>
      <p:bldP spid="400444" grpId="0" animBg="1"/>
      <p:bldP spid="40044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DD9FD8-2790-4262-9FB4-CF558698EE97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8" name="Rectangle 2"/>
          <p:cNvSpPr>
            <a:spLocks noGrp="1"/>
          </p:cNvSpPr>
          <p:nvPr>
            <p:ph idx="1"/>
          </p:nvPr>
        </p:nvSpPr>
        <p:spPr>
          <a:xfrm>
            <a:off x="468313" y="1916113"/>
            <a:ext cx="8066087" cy="3962400"/>
          </a:xfrm>
          <a:ln/>
        </p:spPr>
        <p:txBody>
          <a:bodyPr vert="horz" wrap="square" lIns="91440" tIns="45720" rIns="91440" bIns="45720" anchor="t" anchorCtr="0"/>
          <a:p>
            <a:pPr marL="812800" indent="-812800" eaLnBrk="1" hangingPunct="1">
              <a:buFontTx/>
              <a:buAutoNum type="arabicPeriod"/>
            </a:pPr>
            <a:r>
              <a:rPr lang="zh-CN" altLang="en-US" sz="2800" dirty="0"/>
              <a:t>网络图是有方向的，不允许出现回路</a:t>
            </a:r>
            <a:endParaRPr lang="zh-CN" altLang="en-US" sz="2800" dirty="0"/>
          </a:p>
          <a:p>
            <a:pPr marL="812800" indent="-812800" eaLnBrk="1" hangingPunct="1">
              <a:buFontTx/>
              <a:buAutoNum type="arabicPeriod"/>
            </a:pPr>
            <a:r>
              <a:rPr lang="zh-CN" altLang="en-US" sz="2800" dirty="0"/>
              <a:t>两个相邻的结点之间只能有一条箭线</a:t>
            </a:r>
            <a:endParaRPr lang="zh-CN" altLang="en-US" sz="2800" dirty="0"/>
          </a:p>
          <a:p>
            <a:pPr marL="812800" indent="-812800" eaLnBrk="1" hangingPunct="1">
              <a:buFontTx/>
              <a:buAutoNum type="arabicPeriod"/>
            </a:pPr>
            <a:r>
              <a:rPr lang="zh-CN" altLang="en-US" sz="2800" dirty="0"/>
              <a:t>箭线的首尾都必须有结点，不能从箭线中间引出另一条箭线</a:t>
            </a:r>
            <a:endParaRPr lang="zh-CN" altLang="en-US" sz="2800" dirty="0"/>
          </a:p>
          <a:p>
            <a:pPr marL="812800" indent="-812800" eaLnBrk="1" hangingPunct="1">
              <a:buFontTx/>
              <a:buAutoNum type="arabicPeriod"/>
            </a:pPr>
            <a:r>
              <a:rPr lang="zh-CN" altLang="en-US" sz="2800" dirty="0"/>
              <a:t>网络图必须只有一个网络始点和网络终点事项。</a:t>
            </a:r>
            <a:endParaRPr lang="zh-CN" altLang="en-US" sz="2800" dirty="0"/>
          </a:p>
          <a:p>
            <a:pPr marL="812800" indent="-812800" eaLnBrk="1" hangingPunct="1">
              <a:buFontTx/>
              <a:buAutoNum type="arabicPeriod"/>
            </a:pPr>
            <a:r>
              <a:rPr lang="zh-CN" altLang="en-US" sz="2800" dirty="0"/>
              <a:t>各项活动之间的衔接必须按逻辑关系进行</a:t>
            </a:r>
            <a:endParaRPr lang="zh-CN" altLang="en-US" sz="2800" dirty="0"/>
          </a:p>
        </p:txBody>
      </p:sp>
      <p:sp>
        <p:nvSpPr>
          <p:cNvPr id="16389" name="Rectangle 3"/>
          <p:cNvSpPr>
            <a:spLocks noGrp="1"/>
          </p:cNvSpPr>
          <p:nvPr>
            <p:ph type="title"/>
          </p:nvPr>
        </p:nvSpPr>
        <p:spPr>
          <a:xfrm>
            <a:off x="611188" y="836613"/>
            <a:ext cx="5257800" cy="6858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/>
              <a:t>三、  网络图的绘制原则</a:t>
            </a:r>
            <a:endParaRPr lang="zh-CN" altLang="en-US" sz="3600" dirty="0"/>
          </a:p>
        </p:txBody>
      </p:sp>
      <p:sp>
        <p:nvSpPr>
          <p:cNvPr id="16390" name="Text Box 4"/>
          <p:cNvSpPr txBox="1"/>
          <p:nvPr/>
        </p:nvSpPr>
        <p:spPr>
          <a:xfrm>
            <a:off x="7853363" y="434975"/>
            <a:ext cx="796925" cy="411163"/>
          </a:xfrm>
          <a:prstGeom prst="rect">
            <a:avLst/>
          </a:prstGeom>
          <a:noFill/>
          <a:ln w="9525">
            <a:noFill/>
          </a:ln>
        </p:spPr>
        <p:txBody>
          <a:bodyPr wrap="none" lIns="93600" tIns="46038" rIns="93600" bIns="0">
            <a:spAutoFit/>
          </a:bodyPr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" action="ppaction://noaction"/>
              </a:rPr>
              <a:t>练习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8B672A-9C1F-4E78-8777-0B91B01BD11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2" name="Rectangle 2"/>
          <p:cNvSpPr>
            <a:spLocks noGrp="1"/>
          </p:cNvSpPr>
          <p:nvPr>
            <p:ph type="title"/>
          </p:nvPr>
        </p:nvSpPr>
        <p:spPr>
          <a:xfrm>
            <a:off x="900113" y="908050"/>
            <a:ext cx="5105400" cy="914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四、网络时间计算</a:t>
            </a:r>
            <a:endParaRPr lang="zh-CN" altLang="en-US" sz="4000" dirty="0"/>
          </a:p>
        </p:txBody>
      </p:sp>
      <p:sp>
        <p:nvSpPr>
          <p:cNvPr id="17413" name="Rectangle 3"/>
          <p:cNvSpPr>
            <a:spLocks noGrp="1"/>
          </p:cNvSpPr>
          <p:nvPr>
            <p:ph idx="1"/>
          </p:nvPr>
        </p:nvSpPr>
        <p:spPr>
          <a:xfrm>
            <a:off x="827088" y="1844675"/>
            <a:ext cx="7605712" cy="4660900"/>
          </a:xfrm>
          <a:ln/>
        </p:spPr>
        <p:txBody>
          <a:bodyPr vert="horz" wrap="square" lIns="91440" tIns="45720" rIns="91440" bIns="45720" anchor="t" anchorCtr="0"/>
          <a:p>
            <a:pPr marL="990600" lvl="1" indent="-533400" eaLnBrk="1" hangingPunct="1">
              <a:lnSpc>
                <a:spcPct val="18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ea typeface="黑体" panose="02010609060101010101" pitchFamily="49" charset="-122"/>
              </a:rPr>
              <a:t>确定各项活动的作业时间</a:t>
            </a:r>
            <a:endParaRPr lang="zh-CN" altLang="en-US" dirty="0">
              <a:ea typeface="黑体" panose="02010609060101010101" pitchFamily="49" charset="-122"/>
            </a:endParaRPr>
          </a:p>
          <a:p>
            <a:pPr marL="990600" lvl="1" indent="-533400" eaLnBrk="1" hangingPunct="1">
              <a:lnSpc>
                <a:spcPct val="18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ea typeface="黑体" panose="02010609060101010101" pitchFamily="49" charset="-122"/>
              </a:rPr>
              <a:t>计算各结点的最早与最迟时间</a:t>
            </a:r>
            <a:endParaRPr lang="zh-CN" altLang="en-US" dirty="0">
              <a:ea typeface="黑体" panose="02010609060101010101" pitchFamily="49" charset="-122"/>
            </a:endParaRPr>
          </a:p>
          <a:p>
            <a:pPr marL="990600" lvl="1" indent="-533400" eaLnBrk="1" hangingPunct="1">
              <a:lnSpc>
                <a:spcPct val="18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ea typeface="黑体" panose="02010609060101010101" pitchFamily="49" charset="-122"/>
              </a:rPr>
              <a:t>计算各项活动的时间参数</a:t>
            </a:r>
            <a:endParaRPr lang="zh-CN" altLang="en-US" dirty="0">
              <a:ea typeface="黑体" panose="02010609060101010101" pitchFamily="49" charset="-122"/>
            </a:endParaRPr>
          </a:p>
          <a:p>
            <a:pPr marL="990600" lvl="1" indent="-533400" eaLnBrk="1" hangingPunct="1">
              <a:lnSpc>
                <a:spcPct val="18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ea typeface="黑体" panose="02010609060101010101" pitchFamily="49" charset="-122"/>
              </a:rPr>
              <a:t>计算时差</a:t>
            </a:r>
            <a:endParaRPr lang="zh-CN" altLang="en-US" dirty="0">
              <a:ea typeface="黑体" panose="02010609060101010101" pitchFamily="49" charset="-122"/>
            </a:endParaRPr>
          </a:p>
          <a:p>
            <a:pPr marL="990600" lvl="1" indent="-533400" eaLnBrk="1" hangingPunct="1">
              <a:lnSpc>
                <a:spcPct val="18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ea typeface="黑体" panose="02010609060101010101" pitchFamily="49" charset="-122"/>
              </a:rPr>
              <a:t>确定关键线路</a:t>
            </a:r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55304D-9C9F-4F86-8528-17700DFB1587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36" name="Rectangle 2"/>
          <p:cNvSpPr>
            <a:spLocks noGrp="1"/>
          </p:cNvSpPr>
          <p:nvPr>
            <p:ph type="title"/>
          </p:nvPr>
        </p:nvSpPr>
        <p:spPr>
          <a:xfrm>
            <a:off x="468313" y="908050"/>
            <a:ext cx="7577137" cy="639763"/>
          </a:xfrm>
          <a:ln/>
        </p:spPr>
        <p:txBody>
          <a:bodyPr vert="horz" wrap="square" lIns="91440" tIns="45720" rIns="91440" bIns="45720" anchor="ctr" anchorCtr="0"/>
          <a:p>
            <a:pPr marL="1117600" indent="-1117600" eaLnBrk="1" hangingPunct="1"/>
            <a:r>
              <a:rPr lang="en-US" altLang="zh-CN" sz="3200" dirty="0"/>
              <a:t>    </a:t>
            </a:r>
            <a:r>
              <a:rPr lang="en-US" altLang="zh-CN" sz="4000" dirty="0"/>
              <a:t>1.</a:t>
            </a:r>
            <a:r>
              <a:rPr lang="zh-CN" altLang="en-US" sz="4000" dirty="0"/>
              <a:t>确定各项活动的作业时间</a:t>
            </a:r>
            <a:endParaRPr lang="zh-CN" altLang="en-US" sz="4000" dirty="0"/>
          </a:p>
        </p:txBody>
      </p:sp>
      <p:sp>
        <p:nvSpPr>
          <p:cNvPr id="18437" name="Rectangle 3"/>
          <p:cNvSpPr>
            <a:spLocks noGrp="1"/>
          </p:cNvSpPr>
          <p:nvPr>
            <p:ph idx="1"/>
          </p:nvPr>
        </p:nvSpPr>
        <p:spPr>
          <a:xfrm>
            <a:off x="684213" y="1844675"/>
            <a:ext cx="7588250" cy="2079625"/>
          </a:xfrm>
          <a:ln/>
        </p:spPr>
        <p:txBody>
          <a:bodyPr vert="horz" wrap="square" lIns="91440" tIns="45720" rIns="91440" bIns="45720" anchor="t" anchorCtr="0"/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</a:t>
            </a:r>
            <a:r>
              <a:rPr lang="zh-CN" altLang="en-US" sz="2000" dirty="0"/>
              <a:t>三点时间估计法：     乐观时间 </a:t>
            </a:r>
            <a:r>
              <a:rPr lang="en-US" altLang="zh-CN" sz="2000" dirty="0"/>
              <a:t>a </a:t>
            </a:r>
            <a:r>
              <a:rPr lang="zh-CN" altLang="en-US" sz="2000" dirty="0"/>
              <a:t>：顺利情况所需最短时间</a:t>
            </a:r>
            <a:endParaRPr lang="zh-CN" altLang="en-US" sz="2000" dirty="0"/>
          </a:p>
          <a:p>
            <a:pPr marL="990600" lvl="1" indent="-533400" eaLnBrk="1" hangingPunct="1">
              <a:lnSpc>
                <a:spcPct val="120000"/>
              </a:lnSpc>
              <a:buNone/>
            </a:pPr>
            <a:r>
              <a:rPr lang="zh-CN" altLang="en-US" sz="2000" dirty="0"/>
              <a:t>                                 最大可能时间 </a:t>
            </a:r>
            <a:r>
              <a:rPr lang="en-US" altLang="en-US" sz="2000" dirty="0"/>
              <a:t>m </a:t>
            </a:r>
            <a:r>
              <a:rPr lang="zh-CN" altLang="en-US" sz="2000" dirty="0"/>
              <a:t>：正常条件下所需时间</a:t>
            </a:r>
            <a:endParaRPr lang="zh-CN" altLang="en-US" sz="2000" dirty="0"/>
          </a:p>
          <a:p>
            <a:pPr marL="990600" lvl="1" indent="-533400" eaLnBrk="1" hangingPunct="1">
              <a:lnSpc>
                <a:spcPct val="120000"/>
              </a:lnSpc>
              <a:buNone/>
            </a:pPr>
            <a:r>
              <a:rPr lang="zh-CN" altLang="en-US" sz="2000" dirty="0"/>
              <a:t>                                 悲观时间 </a:t>
            </a:r>
            <a:r>
              <a:rPr lang="en-US" altLang="en-US" sz="2000" dirty="0"/>
              <a:t>b </a:t>
            </a:r>
            <a:r>
              <a:rPr lang="zh-CN" altLang="en-US" sz="2000" dirty="0"/>
              <a:t>：不正常条件所需最长时间</a:t>
            </a:r>
            <a:endParaRPr lang="zh-CN" altLang="en-US" sz="3200" baseline="30000" dirty="0"/>
          </a:p>
        </p:txBody>
      </p:sp>
      <p:sp>
        <p:nvSpPr>
          <p:cNvPr id="18438" name="AutoShape 4"/>
          <p:cNvSpPr/>
          <p:nvPr/>
        </p:nvSpPr>
        <p:spPr>
          <a:xfrm>
            <a:off x="2906713" y="1989138"/>
            <a:ext cx="152400" cy="990600"/>
          </a:xfrm>
          <a:prstGeom prst="leftBrace">
            <a:avLst>
              <a:gd name="adj1" fmla="val 54166"/>
              <a:gd name="adj2" fmla="val 50000"/>
            </a:avLst>
          </a:prstGeom>
          <a:noFill/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lIns="92075" tIns="46038" rIns="92075" bIns="46038" anchor="ctr" anchorCtr="0"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18439" name="Line 5"/>
          <p:cNvSpPr/>
          <p:nvPr/>
        </p:nvSpPr>
        <p:spPr>
          <a:xfrm>
            <a:off x="4862513" y="4233863"/>
            <a:ext cx="13716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886" name="Rectangle 6"/>
          <p:cNvSpPr>
            <a:spLocks noChangeArrowheads="1"/>
          </p:cNvSpPr>
          <p:nvPr/>
        </p:nvSpPr>
        <p:spPr bwMode="auto">
          <a:xfrm>
            <a:off x="4710113" y="3776663"/>
            <a:ext cx="16002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  <a:defRPr/>
            </a:pPr>
            <a:r>
              <a:rPr kumimoji="1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 + 4m + b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887" name="Rectangle 7"/>
          <p:cNvSpPr>
            <a:spLocks noChangeArrowheads="1"/>
          </p:cNvSpPr>
          <p:nvPr/>
        </p:nvSpPr>
        <p:spPr bwMode="auto">
          <a:xfrm>
            <a:off x="4862513" y="4233863"/>
            <a:ext cx="1279525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p>
            <a:pPr algn="ctr">
              <a:lnSpc>
                <a:spcPct val="120000"/>
              </a:lnSpc>
              <a:buClrTx/>
              <a:buSzPct val="75000"/>
              <a:buNone/>
            </a:pPr>
            <a:r>
              <a:rPr lang="en-US" altLang="zh-CN" sz="2800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sz="2800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42" name="Text Box 8"/>
          <p:cNvSpPr txBox="1"/>
          <p:nvPr/>
        </p:nvSpPr>
        <p:spPr>
          <a:xfrm>
            <a:off x="2195513" y="400526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作业平均时间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43" name="Text Box 9"/>
          <p:cNvSpPr txBox="1"/>
          <p:nvPr/>
        </p:nvSpPr>
        <p:spPr>
          <a:xfrm>
            <a:off x="4100513" y="3967163"/>
            <a:ext cx="762000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T =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44" name="Text Box 10"/>
          <p:cNvSpPr txBox="1"/>
          <p:nvPr/>
        </p:nvSpPr>
        <p:spPr>
          <a:xfrm>
            <a:off x="2344738" y="4344988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45" name="Text Box 11"/>
          <p:cNvSpPr txBox="1"/>
          <p:nvPr/>
        </p:nvSpPr>
        <p:spPr>
          <a:xfrm>
            <a:off x="2195513" y="5084763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标在网络图中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46" name="Line 12"/>
          <p:cNvSpPr/>
          <p:nvPr/>
        </p:nvSpPr>
        <p:spPr>
          <a:xfrm>
            <a:off x="4176713" y="4062413"/>
            <a:ext cx="1524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E09204-899F-48F3-BBD8-B94984D71D87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0" name="Rectangle 2"/>
          <p:cNvSpPr>
            <a:spLocks noGrp="1"/>
          </p:cNvSpPr>
          <p:nvPr>
            <p:ph idx="1"/>
          </p:nvPr>
        </p:nvSpPr>
        <p:spPr>
          <a:xfrm>
            <a:off x="457200" y="1981200"/>
            <a:ext cx="5727700" cy="2374900"/>
          </a:xfrm>
          <a:ln/>
        </p:spPr>
        <p:txBody>
          <a:bodyPr vert="horz" wrap="square" lIns="91440" tIns="45720" rIns="91440" bIns="45720" anchor="t" anchorCtr="0"/>
          <a:p>
            <a:pPr marL="609600" indent="-609600" eaLnBrk="1" hangingPunct="1">
              <a:buFontTx/>
              <a:buAutoNum type="arabicPlain"/>
            </a:pPr>
            <a:r>
              <a:rPr lang="zh-CN" altLang="en-US" sz="3600" dirty="0">
                <a:latin typeface="宋体" panose="02010600030101010101" pitchFamily="2" charset="-122"/>
              </a:rPr>
              <a:t>最早时间 </a:t>
            </a:r>
            <a:endParaRPr lang="zh-CN" altLang="en-US" sz="3600" dirty="0">
              <a:latin typeface="宋体" panose="02010600030101010101" pitchFamily="2" charset="-122"/>
            </a:endParaRPr>
          </a:p>
          <a:p>
            <a:pPr marL="609600" indent="-609600" eaLnBrk="1" hangingPunct="1">
              <a:buFontTx/>
              <a:buNone/>
            </a:pPr>
            <a:endParaRPr lang="zh-CN" altLang="en-US" sz="3600" dirty="0">
              <a:latin typeface="宋体" panose="02010600030101010101" pitchFamily="2" charset="-122"/>
            </a:endParaRPr>
          </a:p>
          <a:p>
            <a:pPr marL="609600" indent="-609600" eaLnBrk="1" hangingPunct="1">
              <a:buNone/>
            </a:pPr>
            <a:r>
              <a:rPr lang="en-US" altLang="zh-CN" sz="3600" dirty="0">
                <a:latin typeface="宋体" panose="02010600030101010101" pitchFamily="2" charset="-122"/>
              </a:rPr>
              <a:t>2  </a:t>
            </a:r>
            <a:r>
              <a:rPr lang="zh-CN" altLang="en-US" sz="3600" dirty="0">
                <a:latin typeface="宋体" panose="02010600030101010101" pitchFamily="2" charset="-122"/>
              </a:rPr>
              <a:t>最迟时间</a:t>
            </a:r>
            <a:endParaRPr lang="zh-CN" altLang="en-US" sz="3600" dirty="0">
              <a:latin typeface="宋体" panose="02010600030101010101" pitchFamily="2" charset="-122"/>
            </a:endParaRPr>
          </a:p>
        </p:txBody>
      </p:sp>
      <p:sp>
        <p:nvSpPr>
          <p:cNvPr id="19461" name="Rectangle 3"/>
          <p:cNvSpPr>
            <a:spLocks noGrp="1"/>
          </p:cNvSpPr>
          <p:nvPr>
            <p:ph type="title"/>
          </p:nvPr>
        </p:nvSpPr>
        <p:spPr>
          <a:xfrm>
            <a:off x="468313" y="908050"/>
            <a:ext cx="7234237" cy="58102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latin typeface="宋体" panose="02010600030101010101" pitchFamily="2" charset="-122"/>
              </a:rPr>
              <a:t>2.</a:t>
            </a:r>
            <a:r>
              <a:rPr lang="zh-CN" altLang="en-US" sz="4000" dirty="0">
                <a:latin typeface="宋体" panose="02010600030101010101" pitchFamily="2" charset="-122"/>
              </a:rPr>
              <a:t>计算各结点的</a:t>
            </a:r>
            <a:r>
              <a:rPr lang="zh-CN" altLang="zh-CN" sz="4000" dirty="0">
                <a:latin typeface="宋体" panose="02010600030101010101" pitchFamily="2" charset="-122"/>
              </a:rPr>
              <a:t>时间</a:t>
            </a:r>
            <a:r>
              <a:rPr lang="zh-CN" altLang="en-US" sz="4000" dirty="0">
                <a:latin typeface="宋体" panose="02010600030101010101" pitchFamily="2" charset="-122"/>
              </a:rPr>
              <a:t>参数</a:t>
            </a:r>
            <a:endParaRPr lang="zh-CN" altLang="zh-CN" sz="40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5EBBD5-7373-4AA6-A523-99D6BA84762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0930" name="Rectangle 2"/>
          <p:cNvSpPr>
            <a:spLocks noGrp="1"/>
          </p:cNvSpPr>
          <p:nvPr>
            <p:ph idx="1"/>
          </p:nvPr>
        </p:nvSpPr>
        <p:spPr>
          <a:xfrm>
            <a:off x="684213" y="1268413"/>
            <a:ext cx="6840537" cy="720725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20000"/>
              </a:lnSpc>
              <a:buClr>
                <a:srgbClr val="99FF66"/>
              </a:buClr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概念：指从该结点开始的各项活动最早可能开始工作的时间。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99FF66"/>
              </a:buClr>
              <a:buNone/>
            </a:pPr>
            <a:r>
              <a:rPr lang="zh-CN" altLang="en-US" sz="2000" dirty="0"/>
              <a:t>                </a:t>
            </a:r>
            <a:endParaRPr lang="zh-CN" altLang="en-US" sz="2000" dirty="0"/>
          </a:p>
        </p:txBody>
      </p:sp>
      <p:sp>
        <p:nvSpPr>
          <p:cNvPr id="1035" name="AutoShape 3"/>
          <p:cNvSpPr/>
          <p:nvPr/>
        </p:nvSpPr>
        <p:spPr>
          <a:xfrm>
            <a:off x="5029200" y="2438400"/>
            <a:ext cx="76200" cy="533400"/>
          </a:xfrm>
          <a:prstGeom prst="leftBrace">
            <a:avLst>
              <a:gd name="adj1" fmla="val 58333"/>
              <a:gd name="adj2" fmla="val 50000"/>
            </a:avLst>
          </a:prstGeom>
          <a:noFill/>
          <a:ln w="9525">
            <a:noFill/>
          </a:ln>
        </p:spPr>
        <p:txBody>
          <a:bodyPr wrap="none" lIns="92075" tIns="46038" rIns="92075" bIns="46038" anchor="ctr" anchorCtr="0"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380932" name="Rectangle 4"/>
          <p:cNvSpPr>
            <a:spLocks noGrp="1"/>
          </p:cNvSpPr>
          <p:nvPr>
            <p:ph type="title"/>
          </p:nvPr>
        </p:nvSpPr>
        <p:spPr>
          <a:xfrm>
            <a:off x="539750" y="620713"/>
            <a:ext cx="6138863" cy="500062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>
                <a:latin typeface="宋体" panose="02010600030101010101" pitchFamily="2" charset="-122"/>
              </a:rPr>
              <a:t>结点的最早时间</a:t>
            </a:r>
            <a:endParaRPr lang="zh-CN" altLang="zh-CN" sz="3600" dirty="0">
              <a:latin typeface="宋体" panose="02010600030101010101" pitchFamily="2" charset="-122"/>
            </a:endParaRPr>
          </a:p>
        </p:txBody>
      </p:sp>
      <p:graphicFrame>
        <p:nvGraphicFramePr>
          <p:cNvPr id="380933" name="Object 5"/>
          <p:cNvGraphicFramePr/>
          <p:nvPr/>
        </p:nvGraphicFramePr>
        <p:xfrm>
          <a:off x="2627313" y="1773238"/>
          <a:ext cx="560387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177800" imgH="227965" progId="Equation.3">
                  <p:embed/>
                </p:oleObj>
              </mc:Choice>
              <mc:Fallback>
                <p:oleObj name="" r:id="rId1" imgW="177800" imgH="227965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27313" y="1773238"/>
                        <a:ext cx="560387" cy="7191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0934" name="Object 6"/>
          <p:cNvGraphicFramePr/>
          <p:nvPr/>
        </p:nvGraphicFramePr>
        <p:xfrm>
          <a:off x="1414463" y="4292600"/>
          <a:ext cx="4794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203200" imgH="228600" progId="Equation.3">
                  <p:embed/>
                </p:oleObj>
              </mc:Choice>
              <mc:Fallback>
                <p:oleObj name="" r:id="rId3" imgW="203200" imgH="2286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14463" y="4292600"/>
                        <a:ext cx="479425" cy="5397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0935" name="Object 7"/>
          <p:cNvGraphicFramePr/>
          <p:nvPr/>
        </p:nvGraphicFramePr>
        <p:xfrm>
          <a:off x="1403350" y="5011738"/>
          <a:ext cx="490538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5" imgW="177800" imgH="227965" progId="Equation.3">
                  <p:embed/>
                </p:oleObj>
              </mc:Choice>
              <mc:Fallback>
                <p:oleObj name="" r:id="rId5" imgW="177800" imgH="22796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03350" y="5011738"/>
                        <a:ext cx="490538" cy="6302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0936" name="Object 8"/>
          <p:cNvGraphicFramePr/>
          <p:nvPr/>
        </p:nvGraphicFramePr>
        <p:xfrm>
          <a:off x="1414463" y="5816600"/>
          <a:ext cx="4953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7" imgW="203200" imgH="190500" progId="Equation.3">
                  <p:embed/>
                </p:oleObj>
              </mc:Choice>
              <mc:Fallback>
                <p:oleObj name="" r:id="rId7" imgW="203200" imgH="1905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14463" y="5816600"/>
                        <a:ext cx="495300" cy="463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0937" name="Text Box 9"/>
          <p:cNvSpPr txBox="1"/>
          <p:nvPr/>
        </p:nvSpPr>
        <p:spPr>
          <a:xfrm>
            <a:off x="1905000" y="4314825"/>
            <a:ext cx="3997325" cy="411163"/>
          </a:xfrm>
          <a:prstGeom prst="rect">
            <a:avLst/>
          </a:prstGeom>
          <a:noFill/>
          <a:ln w="9525">
            <a:noFill/>
          </a:ln>
        </p:spPr>
        <p:txBody>
          <a:bodyPr wrap="none" lIns="93600" tIns="46038" rIns="93600" bIns="0">
            <a:spAutoFit/>
          </a:bodyPr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：箭头结点 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j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的最早时间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0938" name="Text Box 10"/>
          <p:cNvSpPr txBox="1"/>
          <p:nvPr/>
        </p:nvSpPr>
        <p:spPr>
          <a:xfrm>
            <a:off x="1860550" y="5080000"/>
            <a:ext cx="3844925" cy="411163"/>
          </a:xfrm>
          <a:prstGeom prst="rect">
            <a:avLst/>
          </a:prstGeom>
          <a:noFill/>
          <a:ln w="9525">
            <a:noFill/>
          </a:ln>
        </p:spPr>
        <p:txBody>
          <a:bodyPr wrap="none" lIns="93600" tIns="46038" rIns="93600" bIns="0">
            <a:spAutoFit/>
          </a:bodyPr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：箭尾结点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的最早时间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0939" name="Text Box 11"/>
          <p:cNvSpPr txBox="1"/>
          <p:nvPr/>
        </p:nvSpPr>
        <p:spPr>
          <a:xfrm>
            <a:off x="1905000" y="5799138"/>
            <a:ext cx="3540125" cy="411162"/>
          </a:xfrm>
          <a:prstGeom prst="rect">
            <a:avLst/>
          </a:prstGeom>
          <a:noFill/>
          <a:ln w="9525">
            <a:noFill/>
          </a:ln>
        </p:spPr>
        <p:txBody>
          <a:bodyPr wrap="none" lIns="93600" tIns="46038" rIns="93600" bIns="0">
            <a:spAutoFit/>
          </a:bodyPr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：活动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i---j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的作业时间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030" name="Object 12"/>
          <p:cNvGraphicFramePr/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9" imgW="114300" imgH="215265" progId="Equation.3">
                  <p:embed/>
                </p:oleObj>
              </mc:Choice>
              <mc:Fallback>
                <p:oleObj name="" r:id="rId9" imgW="114300" imgH="21526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0941" name="Object 13"/>
          <p:cNvGraphicFramePr/>
          <p:nvPr/>
        </p:nvGraphicFramePr>
        <p:xfrm>
          <a:off x="1331913" y="2636838"/>
          <a:ext cx="5356225" cy="145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1" imgW="1306830" imgH="355600" progId="Equation.3">
                  <p:embed/>
                </p:oleObj>
              </mc:Choice>
              <mc:Fallback>
                <p:oleObj name="" r:id="rId11" imgW="1306830" imgH="3556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31913" y="2636838"/>
                        <a:ext cx="5356225" cy="1455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0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0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80930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80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80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80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80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80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380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80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2" grpId="0"/>
      <p:bldP spid="380937" grpId="0"/>
      <p:bldP spid="380938" grpId="0"/>
      <p:bldP spid="38093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285DB9-9A59-4266-99CE-99B0990232E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1954" name="Rectangle 2"/>
          <p:cNvSpPr>
            <a:spLocks noGrp="1"/>
          </p:cNvSpPr>
          <p:nvPr>
            <p:ph idx="1"/>
          </p:nvPr>
        </p:nvSpPr>
        <p:spPr>
          <a:xfrm>
            <a:off x="323850" y="1484313"/>
            <a:ext cx="7920038" cy="1368425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20000"/>
              </a:lnSpc>
              <a:buClr>
                <a:srgbClr val="99FF66"/>
              </a:buClr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概念：指以该结点为结束的各项活动最迟必须完成的时间。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99FF66"/>
              </a:buClr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            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2059" name="AutoShape 3"/>
          <p:cNvSpPr/>
          <p:nvPr/>
        </p:nvSpPr>
        <p:spPr>
          <a:xfrm>
            <a:off x="5029200" y="2438400"/>
            <a:ext cx="76200" cy="533400"/>
          </a:xfrm>
          <a:prstGeom prst="leftBrace">
            <a:avLst>
              <a:gd name="adj1" fmla="val 58333"/>
              <a:gd name="adj2" fmla="val 50000"/>
            </a:avLst>
          </a:prstGeom>
          <a:noFill/>
          <a:ln w="9525">
            <a:noFill/>
          </a:ln>
        </p:spPr>
        <p:txBody>
          <a:bodyPr wrap="none" lIns="92075" tIns="46038" rIns="92075" bIns="46038" anchor="ctr" anchorCtr="0"/>
          <a:p>
            <a:endParaRPr lang="zh-CN" altLang="en-US" dirty="0">
              <a:latin typeface="华文楷体" panose="02010600040101010101" pitchFamily="2" charset="-122"/>
            </a:endParaRPr>
          </a:p>
        </p:txBody>
      </p:sp>
      <p:sp>
        <p:nvSpPr>
          <p:cNvPr id="381956" name="Rectangle 4"/>
          <p:cNvSpPr>
            <a:spLocks noGrp="1"/>
          </p:cNvSpPr>
          <p:nvPr>
            <p:ph type="title"/>
          </p:nvPr>
        </p:nvSpPr>
        <p:spPr>
          <a:xfrm>
            <a:off x="539750" y="692150"/>
            <a:ext cx="6427788" cy="50006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>
                <a:latin typeface="宋体" panose="02010600030101010101" pitchFamily="2" charset="-122"/>
              </a:rPr>
              <a:t>结点的最迟时间</a:t>
            </a:r>
            <a:endParaRPr lang="zh-CN" altLang="zh-CN" sz="3600" dirty="0">
              <a:latin typeface="宋体" panose="02010600030101010101" pitchFamily="2" charset="-122"/>
            </a:endParaRPr>
          </a:p>
        </p:txBody>
      </p:sp>
      <p:graphicFrame>
        <p:nvGraphicFramePr>
          <p:cNvPr id="381957" name="Object 5"/>
          <p:cNvGraphicFramePr/>
          <p:nvPr/>
        </p:nvGraphicFramePr>
        <p:xfrm>
          <a:off x="1763713" y="5876925"/>
          <a:ext cx="4953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203200" imgH="190500" progId="Equation.3">
                  <p:embed/>
                </p:oleObj>
              </mc:Choice>
              <mc:Fallback>
                <p:oleObj name="" r:id="rId1" imgW="203200" imgH="1905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63713" y="5876925"/>
                        <a:ext cx="495300" cy="463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1958" name="Text Box 6"/>
          <p:cNvSpPr txBox="1"/>
          <p:nvPr/>
        </p:nvSpPr>
        <p:spPr>
          <a:xfrm>
            <a:off x="2311400" y="4443413"/>
            <a:ext cx="3844925" cy="411162"/>
          </a:xfrm>
          <a:prstGeom prst="rect">
            <a:avLst/>
          </a:prstGeom>
          <a:noFill/>
          <a:ln w="9525">
            <a:noFill/>
          </a:ln>
        </p:spPr>
        <p:txBody>
          <a:bodyPr wrap="none" lIns="93600" tIns="46038" rIns="93600" bIns="0">
            <a:spAutoFit/>
          </a:bodyPr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：箭尾结点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的最迟时间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1959" name="Text Box 7"/>
          <p:cNvSpPr txBox="1"/>
          <p:nvPr/>
        </p:nvSpPr>
        <p:spPr>
          <a:xfrm>
            <a:off x="2266950" y="5208588"/>
            <a:ext cx="3844925" cy="411162"/>
          </a:xfrm>
          <a:prstGeom prst="rect">
            <a:avLst/>
          </a:prstGeom>
          <a:noFill/>
          <a:ln w="9525">
            <a:noFill/>
          </a:ln>
        </p:spPr>
        <p:txBody>
          <a:bodyPr wrap="none" lIns="93600" tIns="46038" rIns="93600" bIns="0">
            <a:spAutoFit/>
          </a:bodyPr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：箭头结点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j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的最迟时间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1960" name="Text Box 8"/>
          <p:cNvSpPr txBox="1"/>
          <p:nvPr/>
        </p:nvSpPr>
        <p:spPr>
          <a:xfrm>
            <a:off x="2311400" y="5927725"/>
            <a:ext cx="3540125" cy="411163"/>
          </a:xfrm>
          <a:prstGeom prst="rect">
            <a:avLst/>
          </a:prstGeom>
          <a:noFill/>
          <a:ln w="9525">
            <a:noFill/>
          </a:ln>
        </p:spPr>
        <p:txBody>
          <a:bodyPr wrap="none" lIns="93600" tIns="46038" rIns="93600" bIns="0">
            <a:spAutoFit/>
          </a:bodyPr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：活动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i---j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的作业时间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051" name="Object 9"/>
          <p:cNvGraphicFramePr/>
          <p:nvPr/>
        </p:nvGraphicFramePr>
        <p:xfrm>
          <a:off x="5314950" y="3141663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114300" imgH="215265" progId="Equation.3">
                  <p:embed/>
                </p:oleObj>
              </mc:Choice>
              <mc:Fallback>
                <p:oleObj name="" r:id="rId3" imgW="114300" imgH="215265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14950" y="3141663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62" name="Object 10"/>
          <p:cNvGraphicFramePr/>
          <p:nvPr/>
        </p:nvGraphicFramePr>
        <p:xfrm>
          <a:off x="2555875" y="1916113"/>
          <a:ext cx="59372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177800" imgH="227965" progId="Equation.3">
                  <p:embed/>
                </p:oleObj>
              </mc:Choice>
              <mc:Fallback>
                <p:oleObj name="" r:id="rId5" imgW="177800" imgH="227965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5875" y="1916113"/>
                        <a:ext cx="593725" cy="7651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63" name="Object 11"/>
          <p:cNvGraphicFramePr/>
          <p:nvPr/>
        </p:nvGraphicFramePr>
        <p:xfrm>
          <a:off x="1763713" y="2924175"/>
          <a:ext cx="4860925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7" imgW="1268730" imgH="355600" progId="Equation.3">
                  <p:embed/>
                </p:oleObj>
              </mc:Choice>
              <mc:Fallback>
                <p:oleObj name="" r:id="rId7" imgW="1268730" imgH="3556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63713" y="2924175"/>
                        <a:ext cx="4860925" cy="13604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64" name="Object 12"/>
          <p:cNvGraphicFramePr/>
          <p:nvPr/>
        </p:nvGraphicFramePr>
        <p:xfrm>
          <a:off x="1816100" y="4419600"/>
          <a:ext cx="490538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9" imgW="177800" imgH="227965" progId="Equation.3">
                  <p:embed/>
                </p:oleObj>
              </mc:Choice>
              <mc:Fallback>
                <p:oleObj name="" r:id="rId9" imgW="177800" imgH="227965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16100" y="4419600"/>
                        <a:ext cx="490538" cy="6302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65" name="Object 13"/>
          <p:cNvGraphicFramePr/>
          <p:nvPr/>
        </p:nvGraphicFramePr>
        <p:xfrm>
          <a:off x="1816100" y="5229225"/>
          <a:ext cx="493713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0" imgW="203200" imgH="228600" progId="Equation.3">
                  <p:embed/>
                </p:oleObj>
              </mc:Choice>
              <mc:Fallback>
                <p:oleObj name="" r:id="rId10" imgW="203200" imgH="2286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16100" y="5229225"/>
                        <a:ext cx="493713" cy="5857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4" name="Text Box 14"/>
          <p:cNvSpPr txBox="1"/>
          <p:nvPr/>
        </p:nvSpPr>
        <p:spPr>
          <a:xfrm>
            <a:off x="7539038" y="390525"/>
            <a:ext cx="796925" cy="411163"/>
          </a:xfrm>
          <a:prstGeom prst="rect">
            <a:avLst/>
          </a:prstGeom>
          <a:noFill/>
          <a:ln w="9525">
            <a:noFill/>
          </a:ln>
        </p:spPr>
        <p:txBody>
          <a:bodyPr wrap="none" lIns="93600" tIns="46038" rIns="93600" bIns="0">
            <a:spAutoFit/>
          </a:bodyPr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" action="ppaction://noaction"/>
              </a:rPr>
              <a:t>练习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4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81954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8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8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81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81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8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81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81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56" grpId="0"/>
      <p:bldP spid="381958" grpId="0"/>
      <p:bldP spid="381959" grpId="0"/>
      <p:bldP spid="38196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3C56CF-9C55-43BD-B3A9-84521A3B96C4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2978" name="Rectangle 2"/>
          <p:cNvSpPr>
            <a:spLocks noGrp="1"/>
          </p:cNvSpPr>
          <p:nvPr>
            <p:ph type="title"/>
          </p:nvPr>
        </p:nvSpPr>
        <p:spPr>
          <a:xfrm>
            <a:off x="395288" y="765175"/>
            <a:ext cx="7700962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3. </a:t>
            </a:r>
            <a:r>
              <a:rPr lang="zh-CN" altLang="en-US" sz="4000" dirty="0"/>
              <a:t>计算各项作业的时间参数</a:t>
            </a:r>
            <a:endParaRPr lang="zh-CN" altLang="en-US" sz="4000" dirty="0"/>
          </a:p>
        </p:txBody>
      </p:sp>
      <p:sp>
        <p:nvSpPr>
          <p:cNvPr id="382979" name="Rectangle 3"/>
          <p:cNvSpPr>
            <a:spLocks noGrp="1"/>
          </p:cNvSpPr>
          <p:nvPr>
            <p:ph idx="1"/>
          </p:nvPr>
        </p:nvSpPr>
        <p:spPr>
          <a:xfrm>
            <a:off x="134938" y="1895475"/>
            <a:ext cx="9009062" cy="5337175"/>
          </a:xfrm>
          <a:ln/>
        </p:spPr>
        <p:txBody>
          <a:bodyPr vert="horz" wrap="square" lIns="91440" tIns="45720" rIns="91440" bIns="45720" anchor="t" anchorCtr="0"/>
          <a:p>
            <a:pPr marL="990600" lvl="1" indent="-533400" eaLnBrk="1" hangingPunct="1">
              <a:lnSpc>
                <a:spcPct val="125000"/>
              </a:lnSpc>
              <a:buFontTx/>
              <a:buAutoNum type="arabicPlain"/>
            </a:pPr>
            <a:r>
              <a:rPr lang="zh-CN" altLang="en-US" sz="2400" dirty="0"/>
              <a:t>最早开始时间；</a:t>
            </a:r>
            <a:endParaRPr lang="zh-CN" altLang="en-US" sz="2400" dirty="0"/>
          </a:p>
          <a:p>
            <a:pPr marL="990600" lvl="1" indent="-533400" eaLnBrk="1" hangingPunct="1">
              <a:lnSpc>
                <a:spcPct val="125000"/>
              </a:lnSpc>
              <a:buFontTx/>
              <a:buNone/>
            </a:pPr>
            <a:endParaRPr lang="zh-CN" altLang="en-US" sz="2400" dirty="0"/>
          </a:p>
          <a:p>
            <a:pPr marL="990600" lvl="1" indent="-533400" eaLnBrk="1" hangingPunct="1">
              <a:lnSpc>
                <a:spcPct val="125000"/>
              </a:lnSpc>
              <a:buFontTx/>
              <a:buAutoNum type="arabicPlain" startAt="2"/>
            </a:pPr>
            <a:r>
              <a:rPr lang="zh-CN" altLang="en-US" sz="2400" dirty="0"/>
              <a:t>最早结束时间；</a:t>
            </a:r>
            <a:endParaRPr lang="zh-CN" altLang="en-US" sz="2400" dirty="0"/>
          </a:p>
          <a:p>
            <a:pPr marL="990600" lvl="1" indent="-533400" eaLnBrk="1" hangingPunct="1">
              <a:lnSpc>
                <a:spcPct val="125000"/>
              </a:lnSpc>
              <a:buFontTx/>
              <a:buNone/>
            </a:pPr>
            <a:endParaRPr lang="zh-CN" altLang="en-US" sz="2400" dirty="0"/>
          </a:p>
          <a:p>
            <a:pPr marL="990600" lvl="1" indent="-533400" eaLnBrk="1" hangingPunct="1">
              <a:lnSpc>
                <a:spcPct val="125000"/>
              </a:lnSpc>
              <a:buNone/>
            </a:pPr>
            <a:r>
              <a:rPr lang="en-US" altLang="zh-CN" sz="2400" dirty="0"/>
              <a:t>3     </a:t>
            </a:r>
            <a:r>
              <a:rPr lang="zh-CN" altLang="en-US" sz="2400" dirty="0"/>
              <a:t>最迟结束时间 ； </a:t>
            </a:r>
            <a:endParaRPr lang="zh-CN" altLang="en-US" sz="2400" dirty="0"/>
          </a:p>
          <a:p>
            <a:pPr marL="990600" lvl="1" indent="-533400" eaLnBrk="1" hangingPunct="1">
              <a:lnSpc>
                <a:spcPct val="125000"/>
              </a:lnSpc>
              <a:buNone/>
            </a:pPr>
            <a:r>
              <a:rPr lang="zh-CN" altLang="en-US" sz="2400" dirty="0"/>
              <a:t>    </a:t>
            </a:r>
            <a:endParaRPr lang="zh-CN" altLang="en-US" sz="2400" baseline="-10000" dirty="0"/>
          </a:p>
          <a:p>
            <a:pPr marL="990600" lvl="1" indent="-533400" eaLnBrk="1" hangingPunct="1">
              <a:lnSpc>
                <a:spcPct val="125000"/>
              </a:lnSpc>
              <a:buNone/>
            </a:pPr>
            <a:r>
              <a:rPr lang="en-US" altLang="zh-CN" sz="2400" dirty="0"/>
              <a:t>4     </a:t>
            </a:r>
            <a:r>
              <a:rPr lang="zh-CN" altLang="en-US" sz="2400" dirty="0"/>
              <a:t>最迟开始时间 ；</a:t>
            </a:r>
            <a:endParaRPr lang="zh-CN" altLang="en-US" sz="2400" dirty="0"/>
          </a:p>
          <a:p>
            <a:pPr marL="990600" lvl="1" indent="-533400" eaLnBrk="1" hangingPunct="1">
              <a:lnSpc>
                <a:spcPct val="125000"/>
              </a:lnSpc>
              <a:buNone/>
            </a:pPr>
            <a:r>
              <a:rPr lang="zh-CN" altLang="en-US" sz="2400" dirty="0"/>
              <a:t>	</a:t>
            </a:r>
            <a:endParaRPr lang="zh-CN" altLang="en-US" sz="2400" dirty="0"/>
          </a:p>
          <a:p>
            <a:pPr marL="990600" lvl="1" indent="-533400" eaLnBrk="1" hangingPunct="1">
              <a:lnSpc>
                <a:spcPct val="125000"/>
              </a:lnSpc>
              <a:buNone/>
            </a:pPr>
            <a:r>
              <a:rPr lang="zh-CN" altLang="en-US" sz="2400" dirty="0"/>
              <a:t>                                            </a:t>
            </a:r>
            <a:endParaRPr lang="zh-CN" altLang="en-US" sz="2400" dirty="0"/>
          </a:p>
        </p:txBody>
      </p:sp>
      <p:graphicFrame>
        <p:nvGraphicFramePr>
          <p:cNvPr id="382980" name="Object 4"/>
          <p:cNvGraphicFramePr/>
          <p:nvPr/>
        </p:nvGraphicFramePr>
        <p:xfrm>
          <a:off x="3779838" y="1900238"/>
          <a:ext cx="25654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533400" imgH="241300" progId="Equation.3">
                  <p:embed/>
                </p:oleObj>
              </mc:Choice>
              <mc:Fallback>
                <p:oleObj name="" r:id="rId1" imgW="533400" imgH="2413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79838" y="1900238"/>
                        <a:ext cx="2565400" cy="781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1" name="Object 5"/>
          <p:cNvGraphicFramePr/>
          <p:nvPr/>
        </p:nvGraphicFramePr>
        <p:xfrm>
          <a:off x="3779838" y="2935288"/>
          <a:ext cx="2919412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3" imgW="888365" imgH="241300" progId="Equation.3">
                  <p:embed/>
                </p:oleObj>
              </mc:Choice>
              <mc:Fallback>
                <p:oleObj name="" r:id="rId3" imgW="888365" imgH="2413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79838" y="2935288"/>
                        <a:ext cx="2919412" cy="7921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2" name="Object 6"/>
          <p:cNvGraphicFramePr/>
          <p:nvPr/>
        </p:nvGraphicFramePr>
        <p:xfrm>
          <a:off x="3779838" y="3970338"/>
          <a:ext cx="2433637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5" imgW="546100" imgH="228600" progId="Equation.3">
                  <p:embed/>
                </p:oleObj>
              </mc:Choice>
              <mc:Fallback>
                <p:oleObj name="" r:id="rId5" imgW="546100" imgH="2286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79838" y="3970338"/>
                        <a:ext cx="2433637" cy="8112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3" name="Object 7"/>
          <p:cNvGraphicFramePr/>
          <p:nvPr/>
        </p:nvGraphicFramePr>
        <p:xfrm>
          <a:off x="3824288" y="5184775"/>
          <a:ext cx="3014662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7" imgW="875665" imgH="241300" progId="Equation.3">
                  <p:embed/>
                </p:oleObj>
              </mc:Choice>
              <mc:Fallback>
                <p:oleObj name="" r:id="rId7" imgW="875665" imgH="2413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24288" y="5184775"/>
                        <a:ext cx="3014662" cy="8302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2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82979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82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charRg st="9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2979">
                                            <p:txEl>
                                              <p:charRg st="9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82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charRg st="18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2979">
                                            <p:txEl>
                                              <p:charRg st="18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82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charRg st="39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82979">
                                            <p:txEl>
                                              <p:charRg st="39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8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7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DA270E-E8BE-483C-8A16-3FAAC2FDC181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4002" name="Rectangle 2"/>
          <p:cNvSpPr>
            <a:spLocks noGrp="1"/>
          </p:cNvSpPr>
          <p:nvPr>
            <p:ph type="title"/>
          </p:nvPr>
        </p:nvSpPr>
        <p:spPr>
          <a:xfrm>
            <a:off x="971550" y="765175"/>
            <a:ext cx="3662363" cy="61436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latin typeface="宋体" panose="02010600030101010101" pitchFamily="2" charset="-122"/>
              </a:rPr>
              <a:t>4.</a:t>
            </a:r>
            <a:r>
              <a:rPr lang="zh-CN" altLang="en-US" sz="4000" dirty="0">
                <a:latin typeface="宋体" panose="02010600030101010101" pitchFamily="2" charset="-122"/>
              </a:rPr>
              <a:t>计算时差</a:t>
            </a:r>
            <a:endParaRPr lang="zh-CN" altLang="en-US" sz="4000" dirty="0">
              <a:latin typeface="宋体" panose="02010600030101010101" pitchFamily="2" charset="-122"/>
            </a:endParaRPr>
          </a:p>
        </p:txBody>
      </p:sp>
      <p:sp>
        <p:nvSpPr>
          <p:cNvPr id="384003" name="Rectangle 3"/>
          <p:cNvSpPr>
            <a:spLocks noGrp="1"/>
          </p:cNvSpPr>
          <p:nvPr>
            <p:ph idx="1"/>
          </p:nvPr>
        </p:nvSpPr>
        <p:spPr>
          <a:xfrm>
            <a:off x="385763" y="1403350"/>
            <a:ext cx="8416925" cy="50863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概念：结点或作业在不影响总工期的前提下，可以  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推迟的最大延误时间。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结点时差：</a:t>
            </a:r>
            <a:r>
              <a:rPr lang="en-US" altLang="zh-CN" sz="2800" b="1" dirty="0"/>
              <a:t>S </a:t>
            </a:r>
            <a:r>
              <a:rPr lang="en-US" altLang="zh-CN" sz="2800" b="1" baseline="-10000" dirty="0"/>
              <a:t>( i )</a:t>
            </a:r>
            <a:r>
              <a:rPr lang="en-US" altLang="zh-CN" sz="2800" b="1" dirty="0"/>
              <a:t>  =</a:t>
            </a:r>
            <a:endParaRPr lang="en-US" altLang="zh-CN" sz="2800" b="1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作业时差：</a:t>
            </a:r>
            <a:endParaRPr lang="zh-CN" altLang="en-US" sz="2800" b="1" dirty="0"/>
          </a:p>
          <a:p>
            <a:pPr lvl="1" eaLnBrk="1" hangingPunct="1">
              <a:lnSpc>
                <a:spcPct val="120000"/>
              </a:lnSpc>
              <a:buClr>
                <a:srgbClr val="99FF66"/>
              </a:buClr>
              <a:buNone/>
            </a:pPr>
            <a:r>
              <a:rPr lang="zh-CN" altLang="en-US" sz="2400" b="1" dirty="0"/>
              <a:t>            </a:t>
            </a:r>
            <a:r>
              <a:rPr lang="zh-CN" altLang="en-US" b="1" dirty="0"/>
              <a:t>在不影响总工期，即不影响其紧后作业最迟开始时间的前提下，作业可推迟开始的一段时间。</a:t>
            </a:r>
            <a:endParaRPr lang="zh-CN" altLang="en-US" b="1" dirty="0"/>
          </a:p>
        </p:txBody>
      </p:sp>
      <p:graphicFrame>
        <p:nvGraphicFramePr>
          <p:cNvPr id="384004" name="Object 4"/>
          <p:cNvGraphicFramePr/>
          <p:nvPr/>
        </p:nvGraphicFramePr>
        <p:xfrm>
          <a:off x="701675" y="5499100"/>
          <a:ext cx="7875588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1713865" imgH="241300" progId="Equation.3">
                  <p:embed/>
                </p:oleObj>
              </mc:Choice>
              <mc:Fallback>
                <p:oleObj name="" r:id="rId1" imgW="1713865" imgH="2413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1675" y="5499100"/>
                        <a:ext cx="7875588" cy="10636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05" name="Object 5"/>
          <p:cNvGraphicFramePr/>
          <p:nvPr/>
        </p:nvGraphicFramePr>
        <p:xfrm>
          <a:off x="3671888" y="2708275"/>
          <a:ext cx="1709737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" imgW="457200" imgH="228600" progId="Equation.3">
                  <p:embed/>
                </p:oleObj>
              </mc:Choice>
              <mc:Fallback>
                <p:oleObj name="" r:id="rId3" imgW="457200" imgH="2286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71888" y="2708275"/>
                        <a:ext cx="1709737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4003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4003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charRg st="25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4003">
                                            <p:txEl>
                                              <p:charRg st="25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4003">
                                            <p:txEl>
                                              <p:charRg st="25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charRg st="52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4003">
                                            <p:txEl>
                                              <p:charRg st="52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4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charRg st="68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4003">
                                            <p:txEl>
                                              <p:charRg st="68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charRg st="74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84003">
                                            <p:txEl>
                                              <p:charRg st="74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8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1A8EFD-F161-463F-8FE9-13331D96D51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484" name="Rectangle 2"/>
          <p:cNvSpPr>
            <a:spLocks noGrp="1"/>
          </p:cNvSpPr>
          <p:nvPr>
            <p:ph type="title"/>
          </p:nvPr>
        </p:nvSpPr>
        <p:spPr>
          <a:xfrm>
            <a:off x="881063" y="503238"/>
            <a:ext cx="5513387" cy="1219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latin typeface="宋体" panose="02010600030101010101" pitchFamily="2" charset="-122"/>
              </a:rPr>
              <a:t>5.  </a:t>
            </a:r>
            <a:r>
              <a:rPr lang="zh-CN" altLang="en-US" sz="4000" dirty="0">
                <a:latin typeface="宋体" panose="02010600030101010101" pitchFamily="2" charset="-122"/>
              </a:rPr>
              <a:t>确定关键路线</a:t>
            </a:r>
            <a:endParaRPr lang="zh-CN" altLang="en-US" sz="4000" dirty="0">
              <a:latin typeface="宋体" panose="02010600030101010101" pitchFamily="2" charset="-122"/>
            </a:endParaRPr>
          </a:p>
        </p:txBody>
      </p:sp>
      <p:sp>
        <p:nvSpPr>
          <p:cNvPr id="20485" name="Rectangle 3"/>
          <p:cNvSpPr>
            <a:spLocks noGrp="1"/>
          </p:cNvSpPr>
          <p:nvPr>
            <p:ph idx="1"/>
          </p:nvPr>
        </p:nvSpPr>
        <p:spPr>
          <a:xfrm>
            <a:off x="684213" y="1773238"/>
            <a:ext cx="7600950" cy="4267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80000"/>
              </a:lnSpc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3600" dirty="0">
                <a:latin typeface="宋体" panose="02010600030101010101" pitchFamily="2" charset="-122"/>
              </a:rPr>
              <a:t>作业时间之和最长的路线</a:t>
            </a:r>
            <a:endParaRPr lang="zh-CN" altLang="en-US" sz="36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80000"/>
              </a:lnSpc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3600" dirty="0">
                <a:latin typeface="宋体" panose="02010600030101010101" pitchFamily="2" charset="-122"/>
              </a:rPr>
              <a:t>结点时间为 </a:t>
            </a:r>
            <a:r>
              <a:rPr lang="en-US" altLang="zh-CN" sz="3600" dirty="0">
                <a:latin typeface="宋体" panose="02010600030101010101" pitchFamily="2" charset="-122"/>
              </a:rPr>
              <a:t>0 </a:t>
            </a:r>
            <a:r>
              <a:rPr lang="zh-CN" altLang="en-US" sz="3600" dirty="0">
                <a:latin typeface="宋体" panose="02010600030101010101" pitchFamily="2" charset="-122"/>
              </a:rPr>
              <a:t>的结点联结的路线</a:t>
            </a:r>
            <a:endParaRPr lang="zh-CN" altLang="en-US" sz="36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80000"/>
              </a:lnSpc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3600" dirty="0">
                <a:latin typeface="宋体" panose="02010600030101010101" pitchFamily="2" charset="-122"/>
              </a:rPr>
              <a:t>关键作业组成的路线</a:t>
            </a:r>
            <a:endParaRPr lang="zh-CN" altLang="en-US" sz="36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66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3ABDC7-6B43-40F4-9764-E8938E654857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08" name="Rectangle 2"/>
          <p:cNvSpPr>
            <a:spLocks noGrp="1"/>
          </p:cNvSpPr>
          <p:nvPr>
            <p:ph idx="1"/>
          </p:nvPr>
        </p:nvSpPr>
        <p:spPr>
          <a:xfrm>
            <a:off x="468313" y="1125538"/>
            <a:ext cx="7127875" cy="15128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2800" dirty="0"/>
              <a:t>例：某工程项目各活动之间关系及平均作业时间如下图所示，绘制网络图，计算时间参数并确定关键路径</a:t>
            </a:r>
            <a:endParaRPr lang="zh-CN" altLang="en-US" sz="2800" dirty="0"/>
          </a:p>
        </p:txBody>
      </p:sp>
      <p:graphicFrame>
        <p:nvGraphicFramePr>
          <p:cNvPr id="21509" name="表格 21508"/>
          <p:cNvGraphicFramePr/>
          <p:nvPr/>
        </p:nvGraphicFramePr>
        <p:xfrm>
          <a:off x="179388" y="2997200"/>
          <a:ext cx="8459787" cy="2590800"/>
        </p:xfrm>
        <a:graphic>
          <a:graphicData uri="http://schemas.openxmlformats.org/drawingml/2006/table">
            <a:tbl>
              <a:tblPr/>
              <a:tblGrid>
                <a:gridCol w="704850"/>
                <a:gridCol w="704850"/>
                <a:gridCol w="706438"/>
                <a:gridCol w="703262"/>
                <a:gridCol w="706438"/>
                <a:gridCol w="706437"/>
                <a:gridCol w="703263"/>
                <a:gridCol w="704850"/>
                <a:gridCol w="706437"/>
                <a:gridCol w="706438"/>
                <a:gridCol w="701675"/>
                <a:gridCol w="704850"/>
              </a:tblGrid>
              <a:tr h="8207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活动名称</a:t>
                      </a:r>
                      <a:endPara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207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先行活动</a:t>
                      </a:r>
                      <a:endPara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D,E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endPara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93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zh-CN" altLang="en-US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作业时间</a:t>
                      </a:r>
                      <a:endParaRPr lang="zh-CN" altLang="en-US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18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25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22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63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CF6C7-7653-4C33-8FD2-D2542117BA39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532" name="Text Box 2"/>
          <p:cNvSpPr txBox="1"/>
          <p:nvPr/>
        </p:nvSpPr>
        <p:spPr>
          <a:xfrm>
            <a:off x="684213" y="857250"/>
            <a:ext cx="4683125" cy="411163"/>
          </a:xfrm>
          <a:prstGeom prst="rect">
            <a:avLst/>
          </a:prstGeom>
          <a:noFill/>
          <a:ln w="9525">
            <a:noFill/>
          </a:ln>
        </p:spPr>
        <p:txBody>
          <a:bodyPr wrap="none" lIns="93600" tIns="46038" rIns="93600" bIns="0">
            <a:spAutoFit/>
          </a:bodyPr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计算正常条件下网络的时间参数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3" name="Rectangle 29"/>
          <p:cNvSpPr/>
          <p:nvPr/>
        </p:nvSpPr>
        <p:spPr>
          <a:xfrm>
            <a:off x="1071563" y="3195638"/>
            <a:ext cx="315912" cy="36036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3600" tIns="46038" rIns="93600" bIns="0" anchor="ctr" anchorCtr="0"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4" name="AutoShape 30"/>
          <p:cNvSpPr/>
          <p:nvPr/>
        </p:nvSpPr>
        <p:spPr>
          <a:xfrm>
            <a:off x="755650" y="3754438"/>
            <a:ext cx="404813" cy="3603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3600" tIns="46038" rIns="93600" bIns="0" anchor="ctr" anchorCtr="0"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2535" name="Group 37"/>
          <p:cNvGrpSpPr/>
          <p:nvPr/>
        </p:nvGrpSpPr>
        <p:grpSpPr>
          <a:xfrm>
            <a:off x="4859338" y="1700213"/>
            <a:ext cx="404812" cy="765175"/>
            <a:chOff x="1661" y="3838"/>
            <a:chExt cx="255" cy="482"/>
          </a:xfrm>
        </p:grpSpPr>
        <p:sp>
          <p:nvSpPr>
            <p:cNvPr id="22590" name="Rectangle 38"/>
            <p:cNvSpPr/>
            <p:nvPr/>
          </p:nvSpPr>
          <p:spPr>
            <a:xfrm>
              <a:off x="1690" y="3838"/>
              <a:ext cx="199" cy="22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４７</a:t>
              </a:r>
              <a:endPara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91" name="AutoShape 39"/>
            <p:cNvSpPr/>
            <p:nvPr/>
          </p:nvSpPr>
          <p:spPr>
            <a:xfrm>
              <a:off x="1661" y="4093"/>
              <a:ext cx="255" cy="227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４２</a:t>
              </a:r>
              <a:endPara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536" name="Group 40"/>
          <p:cNvGrpSpPr/>
          <p:nvPr/>
        </p:nvGrpSpPr>
        <p:grpSpPr>
          <a:xfrm>
            <a:off x="2781300" y="2249488"/>
            <a:ext cx="404813" cy="765175"/>
            <a:chOff x="1661" y="3838"/>
            <a:chExt cx="255" cy="482"/>
          </a:xfrm>
        </p:grpSpPr>
        <p:sp>
          <p:nvSpPr>
            <p:cNvPr id="22588" name="Rectangle 41"/>
            <p:cNvSpPr/>
            <p:nvPr/>
          </p:nvSpPr>
          <p:spPr>
            <a:xfrm>
              <a:off x="1690" y="3838"/>
              <a:ext cx="199" cy="22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rPr>
                <a:t>２３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89" name="AutoShape 42"/>
            <p:cNvSpPr/>
            <p:nvPr/>
          </p:nvSpPr>
          <p:spPr>
            <a:xfrm>
              <a:off x="1661" y="4093"/>
              <a:ext cx="255" cy="227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１８</a:t>
              </a:r>
              <a:endPara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537" name="Group 43"/>
          <p:cNvGrpSpPr/>
          <p:nvPr/>
        </p:nvGrpSpPr>
        <p:grpSpPr>
          <a:xfrm>
            <a:off x="7812088" y="3357563"/>
            <a:ext cx="404812" cy="765175"/>
            <a:chOff x="1661" y="3838"/>
            <a:chExt cx="255" cy="482"/>
          </a:xfrm>
        </p:grpSpPr>
        <p:sp>
          <p:nvSpPr>
            <p:cNvPr id="22586" name="Rectangle 44"/>
            <p:cNvSpPr/>
            <p:nvPr/>
          </p:nvSpPr>
          <p:spPr>
            <a:xfrm>
              <a:off x="1690" y="3838"/>
              <a:ext cx="199" cy="22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７</a:t>
              </a: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87" name="AutoShape 45"/>
            <p:cNvSpPr/>
            <p:nvPr/>
          </p:nvSpPr>
          <p:spPr>
            <a:xfrm>
              <a:off x="1661" y="4093"/>
              <a:ext cx="255" cy="227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７</a:t>
              </a: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538" name="Group 46"/>
          <p:cNvGrpSpPr/>
          <p:nvPr/>
        </p:nvGrpSpPr>
        <p:grpSpPr>
          <a:xfrm>
            <a:off x="5580063" y="3500438"/>
            <a:ext cx="404812" cy="765175"/>
            <a:chOff x="1661" y="3838"/>
            <a:chExt cx="255" cy="482"/>
          </a:xfrm>
        </p:grpSpPr>
        <p:sp>
          <p:nvSpPr>
            <p:cNvPr id="22584" name="Rectangle 47"/>
            <p:cNvSpPr/>
            <p:nvPr/>
          </p:nvSpPr>
          <p:spPr>
            <a:xfrm>
              <a:off x="1690" y="3838"/>
              <a:ext cx="199" cy="22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０</a:t>
              </a:r>
              <a:endPara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85" name="AutoShape 48"/>
            <p:cNvSpPr/>
            <p:nvPr/>
          </p:nvSpPr>
          <p:spPr>
            <a:xfrm>
              <a:off x="1661" y="4093"/>
              <a:ext cx="255" cy="227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４０</a:t>
              </a:r>
              <a:endPara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2539" name="Line 49"/>
          <p:cNvSpPr/>
          <p:nvPr/>
        </p:nvSpPr>
        <p:spPr>
          <a:xfrm flipV="1">
            <a:off x="2051050" y="2997200"/>
            <a:ext cx="1152525" cy="1008063"/>
          </a:xfrm>
          <a:prstGeom prst="line">
            <a:avLst/>
          </a:prstGeom>
          <a:ln w="2540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40" name="Oval 50"/>
          <p:cNvSpPr/>
          <p:nvPr/>
        </p:nvSpPr>
        <p:spPr>
          <a:xfrm>
            <a:off x="1547813" y="3933825"/>
            <a:ext cx="431800" cy="431800"/>
          </a:xfrm>
          <a:prstGeom prst="ellipse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1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22541" name="Line 51"/>
          <p:cNvSpPr/>
          <p:nvPr/>
        </p:nvSpPr>
        <p:spPr>
          <a:xfrm>
            <a:off x="2051050" y="4076700"/>
            <a:ext cx="1081088" cy="0"/>
          </a:xfrm>
          <a:prstGeom prst="line">
            <a:avLst/>
          </a:prstGeom>
          <a:ln w="2540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42" name="Line 52"/>
          <p:cNvSpPr/>
          <p:nvPr/>
        </p:nvSpPr>
        <p:spPr>
          <a:xfrm>
            <a:off x="2051050" y="4221163"/>
            <a:ext cx="865188" cy="1008062"/>
          </a:xfrm>
          <a:prstGeom prst="line">
            <a:avLst/>
          </a:prstGeom>
          <a:ln w="2540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43" name="Line 53"/>
          <p:cNvSpPr/>
          <p:nvPr/>
        </p:nvSpPr>
        <p:spPr>
          <a:xfrm>
            <a:off x="3708400" y="4005263"/>
            <a:ext cx="1295400" cy="0"/>
          </a:xfrm>
          <a:prstGeom prst="line">
            <a:avLst/>
          </a:prstGeom>
          <a:ln w="2540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44" name="Line 54"/>
          <p:cNvSpPr/>
          <p:nvPr/>
        </p:nvSpPr>
        <p:spPr>
          <a:xfrm>
            <a:off x="3492500" y="5300663"/>
            <a:ext cx="1081088" cy="0"/>
          </a:xfrm>
          <a:prstGeom prst="line">
            <a:avLst/>
          </a:prstGeom>
          <a:ln w="2540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45" name="Oval 55"/>
          <p:cNvSpPr/>
          <p:nvPr/>
        </p:nvSpPr>
        <p:spPr>
          <a:xfrm>
            <a:off x="3276600" y="2565400"/>
            <a:ext cx="431800" cy="431800"/>
          </a:xfrm>
          <a:prstGeom prst="ellipse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2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22546" name="Oval 56"/>
          <p:cNvSpPr/>
          <p:nvPr/>
        </p:nvSpPr>
        <p:spPr>
          <a:xfrm>
            <a:off x="3132138" y="3789363"/>
            <a:ext cx="431800" cy="431800"/>
          </a:xfrm>
          <a:prstGeom prst="ellipse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3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22547" name="Oval 57"/>
          <p:cNvSpPr/>
          <p:nvPr/>
        </p:nvSpPr>
        <p:spPr>
          <a:xfrm>
            <a:off x="4572000" y="5084763"/>
            <a:ext cx="431800" cy="431800"/>
          </a:xfrm>
          <a:prstGeom prst="ellipse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7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22548" name="Oval 58"/>
          <p:cNvSpPr/>
          <p:nvPr/>
        </p:nvSpPr>
        <p:spPr>
          <a:xfrm>
            <a:off x="2987675" y="5084763"/>
            <a:ext cx="431800" cy="431800"/>
          </a:xfrm>
          <a:prstGeom prst="ellipse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4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22549" name="Oval 59"/>
          <p:cNvSpPr/>
          <p:nvPr/>
        </p:nvSpPr>
        <p:spPr>
          <a:xfrm>
            <a:off x="6227763" y="5084763"/>
            <a:ext cx="431800" cy="431800"/>
          </a:xfrm>
          <a:prstGeom prst="ellipse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8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22550" name="Oval 60"/>
          <p:cNvSpPr/>
          <p:nvPr/>
        </p:nvSpPr>
        <p:spPr>
          <a:xfrm>
            <a:off x="5003800" y="2565400"/>
            <a:ext cx="431800" cy="431800"/>
          </a:xfrm>
          <a:prstGeom prst="ellipse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6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22551" name="Oval 61"/>
          <p:cNvSpPr/>
          <p:nvPr/>
        </p:nvSpPr>
        <p:spPr>
          <a:xfrm>
            <a:off x="7235825" y="3644900"/>
            <a:ext cx="431800" cy="431800"/>
          </a:xfrm>
          <a:prstGeom prst="ellipse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9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22552" name="Oval 62"/>
          <p:cNvSpPr/>
          <p:nvPr/>
        </p:nvSpPr>
        <p:spPr>
          <a:xfrm>
            <a:off x="5076825" y="3789363"/>
            <a:ext cx="431800" cy="431800"/>
          </a:xfrm>
          <a:prstGeom prst="ellipse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5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22553" name="Line 64"/>
          <p:cNvSpPr/>
          <p:nvPr/>
        </p:nvSpPr>
        <p:spPr>
          <a:xfrm>
            <a:off x="5076825" y="5300663"/>
            <a:ext cx="1081088" cy="0"/>
          </a:xfrm>
          <a:prstGeom prst="line">
            <a:avLst/>
          </a:prstGeom>
          <a:ln w="2540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54" name="Line 65"/>
          <p:cNvSpPr/>
          <p:nvPr/>
        </p:nvSpPr>
        <p:spPr>
          <a:xfrm flipV="1">
            <a:off x="6588125" y="4149725"/>
            <a:ext cx="792163" cy="863600"/>
          </a:xfrm>
          <a:prstGeom prst="line">
            <a:avLst/>
          </a:prstGeom>
          <a:ln w="2540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55" name="Line 66"/>
          <p:cNvSpPr/>
          <p:nvPr/>
        </p:nvSpPr>
        <p:spPr>
          <a:xfrm>
            <a:off x="5580063" y="2708275"/>
            <a:ext cx="1655762" cy="1008063"/>
          </a:xfrm>
          <a:prstGeom prst="line">
            <a:avLst/>
          </a:prstGeom>
          <a:ln w="2540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56" name="Line 67"/>
          <p:cNvSpPr/>
          <p:nvPr/>
        </p:nvSpPr>
        <p:spPr>
          <a:xfrm>
            <a:off x="3708400" y="4076700"/>
            <a:ext cx="865188" cy="1008063"/>
          </a:xfrm>
          <a:prstGeom prst="line">
            <a:avLst/>
          </a:prstGeom>
          <a:ln w="2540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57" name="Line 68"/>
          <p:cNvSpPr/>
          <p:nvPr/>
        </p:nvSpPr>
        <p:spPr>
          <a:xfrm>
            <a:off x="3779838" y="2708275"/>
            <a:ext cx="1081087" cy="0"/>
          </a:xfrm>
          <a:prstGeom prst="line">
            <a:avLst/>
          </a:prstGeom>
          <a:ln w="2540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58" name="Line 70"/>
          <p:cNvSpPr/>
          <p:nvPr/>
        </p:nvSpPr>
        <p:spPr>
          <a:xfrm flipV="1">
            <a:off x="5292725" y="3068638"/>
            <a:ext cx="0" cy="647700"/>
          </a:xfrm>
          <a:prstGeom prst="line">
            <a:avLst/>
          </a:prstGeom>
          <a:ln w="25400" cap="flat" cmpd="sng">
            <a:solidFill>
              <a:srgbClr val="FFFF00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22559" name="Line 71"/>
          <p:cNvSpPr/>
          <p:nvPr/>
        </p:nvSpPr>
        <p:spPr>
          <a:xfrm flipH="1">
            <a:off x="4932363" y="4292600"/>
            <a:ext cx="360362" cy="720725"/>
          </a:xfrm>
          <a:prstGeom prst="line">
            <a:avLst/>
          </a:prstGeom>
          <a:ln w="25400" cap="flat" cmpd="sng">
            <a:solidFill>
              <a:srgbClr val="FFFF00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22560" name="Line 72"/>
          <p:cNvSpPr/>
          <p:nvPr/>
        </p:nvSpPr>
        <p:spPr>
          <a:xfrm flipV="1">
            <a:off x="5003800" y="3933825"/>
            <a:ext cx="2160588" cy="1223963"/>
          </a:xfrm>
          <a:prstGeom prst="line">
            <a:avLst/>
          </a:prstGeom>
          <a:ln w="2540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2561" name="Group 73"/>
          <p:cNvGrpSpPr/>
          <p:nvPr/>
        </p:nvGrpSpPr>
        <p:grpSpPr>
          <a:xfrm>
            <a:off x="6804025" y="5300663"/>
            <a:ext cx="404813" cy="765175"/>
            <a:chOff x="1661" y="3838"/>
            <a:chExt cx="255" cy="482"/>
          </a:xfrm>
        </p:grpSpPr>
        <p:sp>
          <p:nvSpPr>
            <p:cNvPr id="22582" name="Rectangle 74"/>
            <p:cNvSpPr/>
            <p:nvPr/>
          </p:nvSpPr>
          <p:spPr>
            <a:xfrm>
              <a:off x="1690" y="3838"/>
              <a:ext cx="199" cy="22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62</a:t>
              </a:r>
              <a:endPara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83" name="AutoShape 75"/>
            <p:cNvSpPr/>
            <p:nvPr/>
          </p:nvSpPr>
          <p:spPr>
            <a:xfrm>
              <a:off x="1661" y="4093"/>
              <a:ext cx="255" cy="227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62</a:t>
              </a:r>
              <a:endPara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562" name="Group 76"/>
          <p:cNvGrpSpPr/>
          <p:nvPr/>
        </p:nvGrpSpPr>
        <p:grpSpPr>
          <a:xfrm>
            <a:off x="3708400" y="3068638"/>
            <a:ext cx="404813" cy="765175"/>
            <a:chOff x="1661" y="3838"/>
            <a:chExt cx="255" cy="482"/>
          </a:xfrm>
        </p:grpSpPr>
        <p:sp>
          <p:nvSpPr>
            <p:cNvPr id="22580" name="Rectangle 77"/>
            <p:cNvSpPr/>
            <p:nvPr/>
          </p:nvSpPr>
          <p:spPr>
            <a:xfrm>
              <a:off x="1690" y="3838"/>
              <a:ext cx="199" cy="22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０</a:t>
              </a:r>
              <a:endPara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81" name="AutoShape 78"/>
            <p:cNvSpPr/>
            <p:nvPr/>
          </p:nvSpPr>
          <p:spPr>
            <a:xfrm>
              <a:off x="1661" y="4093"/>
              <a:ext cx="255" cy="227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０</a:t>
              </a:r>
              <a:endPara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563" name="Group 79"/>
          <p:cNvGrpSpPr/>
          <p:nvPr/>
        </p:nvGrpSpPr>
        <p:grpSpPr>
          <a:xfrm>
            <a:off x="2555875" y="5445125"/>
            <a:ext cx="404813" cy="765175"/>
            <a:chOff x="1661" y="3838"/>
            <a:chExt cx="255" cy="482"/>
          </a:xfrm>
        </p:grpSpPr>
        <p:sp>
          <p:nvSpPr>
            <p:cNvPr id="22578" name="Rectangle 80"/>
            <p:cNvSpPr/>
            <p:nvPr/>
          </p:nvSpPr>
          <p:spPr>
            <a:xfrm>
              <a:off x="1690" y="3838"/>
              <a:ext cx="199" cy="22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７</a:t>
              </a:r>
              <a:endPara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79" name="AutoShape 81"/>
            <p:cNvSpPr/>
            <p:nvPr/>
          </p:nvSpPr>
          <p:spPr>
            <a:xfrm>
              <a:off x="1661" y="4093"/>
              <a:ext cx="255" cy="227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１５</a:t>
              </a:r>
              <a:endPara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564" name="Group 82"/>
          <p:cNvGrpSpPr/>
          <p:nvPr/>
        </p:nvGrpSpPr>
        <p:grpSpPr>
          <a:xfrm>
            <a:off x="4572000" y="5589588"/>
            <a:ext cx="404813" cy="765175"/>
            <a:chOff x="1661" y="3838"/>
            <a:chExt cx="255" cy="482"/>
          </a:xfrm>
        </p:grpSpPr>
        <p:sp>
          <p:nvSpPr>
            <p:cNvPr id="22576" name="Rectangle 83"/>
            <p:cNvSpPr/>
            <p:nvPr/>
          </p:nvSpPr>
          <p:spPr>
            <a:xfrm>
              <a:off x="1690" y="3838"/>
              <a:ext cx="199" cy="22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４０</a:t>
              </a:r>
              <a:endPara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77" name="AutoShape 84"/>
            <p:cNvSpPr/>
            <p:nvPr/>
          </p:nvSpPr>
          <p:spPr>
            <a:xfrm>
              <a:off x="1661" y="4093"/>
              <a:ext cx="255" cy="227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４０</a:t>
              </a:r>
              <a:endPara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2565" name="Rectangle 85"/>
          <p:cNvSpPr/>
          <p:nvPr/>
        </p:nvSpPr>
        <p:spPr>
          <a:xfrm>
            <a:off x="1908175" y="2997200"/>
            <a:ext cx="647700" cy="5032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A 18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22566" name="Rectangle 86"/>
          <p:cNvSpPr/>
          <p:nvPr/>
        </p:nvSpPr>
        <p:spPr>
          <a:xfrm>
            <a:off x="6156325" y="3644900"/>
            <a:ext cx="647700" cy="5032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I 10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22567" name="Rectangle 87"/>
          <p:cNvSpPr/>
          <p:nvPr/>
        </p:nvSpPr>
        <p:spPr>
          <a:xfrm>
            <a:off x="6227763" y="2492375"/>
            <a:ext cx="647700" cy="5032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H 25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22568" name="Rectangle 88"/>
          <p:cNvSpPr/>
          <p:nvPr/>
        </p:nvSpPr>
        <p:spPr>
          <a:xfrm>
            <a:off x="7092950" y="4652963"/>
            <a:ext cx="647700" cy="503237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zh-CN" altLang="en-US" dirty="0">
                <a:latin typeface="Arial" panose="020B0604020202020204" pitchFamily="34" charset="0"/>
              </a:rPr>
              <a:t>Ｋ</a:t>
            </a:r>
            <a:r>
              <a:rPr lang="zh-CN" altLang="en-US" dirty="0">
                <a:latin typeface="Times New Roman" panose="02020603050405020304" pitchFamily="18" charset="0"/>
              </a:rPr>
              <a:t>１０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569" name="Rectangle 89"/>
          <p:cNvSpPr/>
          <p:nvPr/>
        </p:nvSpPr>
        <p:spPr>
          <a:xfrm>
            <a:off x="3924300" y="2060575"/>
            <a:ext cx="647700" cy="5032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D 24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22570" name="Rectangle 90"/>
          <p:cNvSpPr/>
          <p:nvPr/>
        </p:nvSpPr>
        <p:spPr>
          <a:xfrm>
            <a:off x="1619250" y="4724400"/>
            <a:ext cx="647700" cy="4318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C 15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22571" name="Rectangle 91"/>
          <p:cNvSpPr/>
          <p:nvPr/>
        </p:nvSpPr>
        <p:spPr>
          <a:xfrm>
            <a:off x="2555875" y="4221163"/>
            <a:ext cx="647700" cy="503237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B 20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22572" name="Rectangle 92"/>
          <p:cNvSpPr/>
          <p:nvPr/>
        </p:nvSpPr>
        <p:spPr>
          <a:xfrm>
            <a:off x="5364163" y="5516563"/>
            <a:ext cx="647700" cy="503237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J 22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22573" name="Rectangle 93"/>
          <p:cNvSpPr/>
          <p:nvPr/>
        </p:nvSpPr>
        <p:spPr>
          <a:xfrm>
            <a:off x="3635375" y="5516563"/>
            <a:ext cx="647700" cy="503237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G 13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22574" name="Rectangle 94"/>
          <p:cNvSpPr/>
          <p:nvPr/>
        </p:nvSpPr>
        <p:spPr>
          <a:xfrm>
            <a:off x="4356100" y="4149725"/>
            <a:ext cx="647700" cy="5032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en-US" altLang="zh-CN" dirty="0">
                <a:latin typeface="华文楷体" panose="02010600040101010101" pitchFamily="2" charset="-122"/>
              </a:rPr>
              <a:t>E 20</a:t>
            </a:r>
            <a:endParaRPr lang="en-US" altLang="zh-CN" dirty="0">
              <a:latin typeface="华文楷体" panose="02010600040101010101" pitchFamily="2" charset="-122"/>
            </a:endParaRPr>
          </a:p>
        </p:txBody>
      </p:sp>
      <p:sp>
        <p:nvSpPr>
          <p:cNvPr id="22575" name="Rectangle 95"/>
          <p:cNvSpPr/>
          <p:nvPr/>
        </p:nvSpPr>
        <p:spPr>
          <a:xfrm>
            <a:off x="3492500" y="4581525"/>
            <a:ext cx="647700" cy="5032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lIns="92075" tIns="46038" rIns="92075" bIns="46038" anchor="ctr" anchorCtr="0"/>
          <a:p>
            <a:pPr marL="342900" indent="-342900" algn="ctr">
              <a:buNone/>
            </a:pPr>
            <a:r>
              <a:rPr lang="zh-CN" altLang="en-US" dirty="0">
                <a:latin typeface="华文楷体" panose="02010600040101010101" pitchFamily="2" charset="-122"/>
              </a:rPr>
              <a:t>Ｆ １１</a:t>
            </a:r>
            <a:endParaRPr lang="zh-CN" altLang="en-US" dirty="0">
              <a:latin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39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D3A46D-A00C-42E9-968F-0D03B9D260D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556" name="Text Box 2"/>
          <p:cNvSpPr txBox="1"/>
          <p:nvPr/>
        </p:nvSpPr>
        <p:spPr>
          <a:xfrm>
            <a:off x="395288" y="1270000"/>
            <a:ext cx="7807325" cy="1141413"/>
          </a:xfrm>
          <a:prstGeom prst="rect">
            <a:avLst/>
          </a:prstGeom>
          <a:noFill/>
          <a:ln w="9525">
            <a:noFill/>
          </a:ln>
        </p:spPr>
        <p:txBody>
          <a:bodyPr wrap="none" lIns="93600" tIns="46038" rIns="93600" bIns="0">
            <a:spAutoFit/>
          </a:bodyPr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例：某工程项目的网络计划如图所示，工程间接费用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为每周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1000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元，各项活动的时间和费用数据如图所附，分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析求解时间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费用优化方案。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3557" name="Group 3"/>
          <p:cNvGrpSpPr/>
          <p:nvPr/>
        </p:nvGrpSpPr>
        <p:grpSpPr>
          <a:xfrm>
            <a:off x="900113" y="2892425"/>
            <a:ext cx="6605587" cy="2120900"/>
            <a:chOff x="726" y="1082"/>
            <a:chExt cx="4161" cy="1336"/>
          </a:xfrm>
        </p:grpSpPr>
        <p:sp>
          <p:nvSpPr>
            <p:cNvPr id="23558" name="Oval 4"/>
            <p:cNvSpPr/>
            <p:nvPr/>
          </p:nvSpPr>
          <p:spPr>
            <a:xfrm>
              <a:off x="726" y="1734"/>
              <a:ext cx="192" cy="1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pPr algn="ctr">
                <a:buClrTx/>
                <a:buSzPct val="75000"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59" name="Oval 5"/>
            <p:cNvSpPr/>
            <p:nvPr/>
          </p:nvSpPr>
          <p:spPr>
            <a:xfrm>
              <a:off x="4695" y="1677"/>
              <a:ext cx="192" cy="1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pPr algn="ctr">
                <a:buClrTx/>
                <a:buSzPct val="75000"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60" name="Oval 6"/>
            <p:cNvSpPr/>
            <p:nvPr/>
          </p:nvSpPr>
          <p:spPr>
            <a:xfrm>
              <a:off x="3788" y="1195"/>
              <a:ext cx="192" cy="1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pPr algn="ctr">
                <a:buClrTx/>
                <a:buSzPct val="75000"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61" name="Oval 7"/>
            <p:cNvSpPr/>
            <p:nvPr/>
          </p:nvSpPr>
          <p:spPr>
            <a:xfrm>
              <a:off x="3107" y="2103"/>
              <a:ext cx="192" cy="1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pPr algn="ctr">
                <a:buClrTx/>
                <a:buSzPct val="75000"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62" name="Oval 8"/>
            <p:cNvSpPr/>
            <p:nvPr/>
          </p:nvSpPr>
          <p:spPr>
            <a:xfrm>
              <a:off x="2767" y="1195"/>
              <a:ext cx="192" cy="1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pPr algn="ctr">
                <a:buClrTx/>
                <a:buSzPct val="75000"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63" name="Oval 9"/>
            <p:cNvSpPr/>
            <p:nvPr/>
          </p:nvSpPr>
          <p:spPr>
            <a:xfrm>
              <a:off x="1775" y="2103"/>
              <a:ext cx="192" cy="1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pPr algn="ctr">
                <a:buClrTx/>
                <a:buSzPct val="75000"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64" name="Oval 10"/>
            <p:cNvSpPr/>
            <p:nvPr/>
          </p:nvSpPr>
          <p:spPr>
            <a:xfrm>
              <a:off x="1803" y="1195"/>
              <a:ext cx="192" cy="1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pPr algn="ctr">
                <a:buClrTx/>
                <a:buSzPct val="75000"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65" name="Line 11"/>
            <p:cNvSpPr/>
            <p:nvPr/>
          </p:nvSpPr>
          <p:spPr>
            <a:xfrm flipV="1">
              <a:off x="924" y="1337"/>
              <a:ext cx="879" cy="454"/>
            </a:xfrm>
            <a:prstGeom prst="line">
              <a:avLst/>
            </a:prstGeom>
            <a:ln w="57150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566" name="Line 12"/>
            <p:cNvSpPr/>
            <p:nvPr/>
          </p:nvSpPr>
          <p:spPr>
            <a:xfrm>
              <a:off x="924" y="1847"/>
              <a:ext cx="851" cy="312"/>
            </a:xfrm>
            <a:prstGeom prst="line">
              <a:avLst/>
            </a:prstGeom>
            <a:ln w="57150" cap="flat" cmpd="sng">
              <a:solidFill>
                <a:srgbClr val="99FF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567" name="Line 13"/>
            <p:cNvSpPr/>
            <p:nvPr/>
          </p:nvSpPr>
          <p:spPr>
            <a:xfrm>
              <a:off x="2002" y="1309"/>
              <a:ext cx="765" cy="0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568" name="Line 14"/>
            <p:cNvSpPr/>
            <p:nvPr/>
          </p:nvSpPr>
          <p:spPr>
            <a:xfrm flipV="1">
              <a:off x="1973" y="1422"/>
              <a:ext cx="766" cy="766"/>
            </a:xfrm>
            <a:prstGeom prst="line">
              <a:avLst/>
            </a:prstGeom>
            <a:ln w="57150" cap="flat" cmpd="sng">
              <a:solidFill>
                <a:srgbClr val="99FF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569" name="Line 15"/>
            <p:cNvSpPr/>
            <p:nvPr/>
          </p:nvSpPr>
          <p:spPr>
            <a:xfrm>
              <a:off x="2002" y="2216"/>
              <a:ext cx="1077" cy="0"/>
            </a:xfrm>
            <a:prstGeom prst="line">
              <a:avLst/>
            </a:prstGeom>
            <a:ln w="57150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570" name="Line 16"/>
            <p:cNvSpPr/>
            <p:nvPr/>
          </p:nvSpPr>
          <p:spPr>
            <a:xfrm>
              <a:off x="2937" y="1366"/>
              <a:ext cx="312" cy="708"/>
            </a:xfrm>
            <a:prstGeom prst="line">
              <a:avLst/>
            </a:prstGeom>
            <a:ln w="57150" cap="flat" cmpd="sng">
              <a:solidFill>
                <a:srgbClr val="99FF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571" name="Line 17"/>
            <p:cNvSpPr/>
            <p:nvPr/>
          </p:nvSpPr>
          <p:spPr>
            <a:xfrm>
              <a:off x="2966" y="1280"/>
              <a:ext cx="822" cy="0"/>
            </a:xfrm>
            <a:prstGeom prst="line">
              <a:avLst/>
            </a:prstGeom>
            <a:ln w="57150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572" name="Line 18"/>
            <p:cNvSpPr/>
            <p:nvPr/>
          </p:nvSpPr>
          <p:spPr>
            <a:xfrm flipV="1">
              <a:off x="3334" y="1819"/>
              <a:ext cx="1361" cy="369"/>
            </a:xfrm>
            <a:prstGeom prst="line">
              <a:avLst/>
            </a:prstGeom>
            <a:ln w="57150" cap="flat" cmpd="sng">
              <a:solidFill>
                <a:srgbClr val="99FF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573" name="Line 19"/>
            <p:cNvSpPr/>
            <p:nvPr/>
          </p:nvSpPr>
          <p:spPr>
            <a:xfrm>
              <a:off x="3986" y="1309"/>
              <a:ext cx="709" cy="397"/>
            </a:xfrm>
            <a:prstGeom prst="line">
              <a:avLst/>
            </a:prstGeom>
            <a:ln w="57150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574" name="Text Box 20"/>
            <p:cNvSpPr txBox="1"/>
            <p:nvPr/>
          </p:nvSpPr>
          <p:spPr>
            <a:xfrm>
              <a:off x="1179" y="1309"/>
              <a:ext cx="35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1--5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75" name="Text Box 21"/>
            <p:cNvSpPr txBox="1"/>
            <p:nvPr/>
          </p:nvSpPr>
          <p:spPr>
            <a:xfrm>
              <a:off x="1236" y="1536"/>
              <a:ext cx="35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5--3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76" name="Text Box 22"/>
            <p:cNvSpPr txBox="1"/>
            <p:nvPr/>
          </p:nvSpPr>
          <p:spPr>
            <a:xfrm>
              <a:off x="2056" y="1098"/>
              <a:ext cx="35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2--6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77" name="Text Box 23"/>
            <p:cNvSpPr txBox="1"/>
            <p:nvPr/>
          </p:nvSpPr>
          <p:spPr>
            <a:xfrm>
              <a:off x="2030" y="1309"/>
              <a:ext cx="35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7--4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78" name="Text Box 24"/>
            <p:cNvSpPr txBox="1"/>
            <p:nvPr/>
          </p:nvSpPr>
          <p:spPr>
            <a:xfrm>
              <a:off x="3249" y="1082"/>
              <a:ext cx="35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4--6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79" name="Text Box 25"/>
            <p:cNvSpPr txBox="1"/>
            <p:nvPr/>
          </p:nvSpPr>
          <p:spPr>
            <a:xfrm>
              <a:off x="3249" y="1281"/>
              <a:ext cx="35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6--3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0" name="Text Box 26"/>
            <p:cNvSpPr txBox="1"/>
            <p:nvPr/>
          </p:nvSpPr>
          <p:spPr>
            <a:xfrm>
              <a:off x="2058" y="1621"/>
              <a:ext cx="35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5--7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1" name="Text Box 27"/>
            <p:cNvSpPr txBox="1"/>
            <p:nvPr/>
          </p:nvSpPr>
          <p:spPr>
            <a:xfrm>
              <a:off x="2257" y="1763"/>
              <a:ext cx="430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10--4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2" name="Text Box 28"/>
            <p:cNvSpPr txBox="1"/>
            <p:nvPr/>
          </p:nvSpPr>
          <p:spPr>
            <a:xfrm>
              <a:off x="1264" y="1848"/>
              <a:ext cx="35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3--6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3" name="Text Box 29"/>
            <p:cNvSpPr txBox="1"/>
            <p:nvPr/>
          </p:nvSpPr>
          <p:spPr>
            <a:xfrm>
              <a:off x="1151" y="2018"/>
              <a:ext cx="35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5--4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4" name="Text Box 30"/>
            <p:cNvSpPr txBox="1"/>
            <p:nvPr/>
          </p:nvSpPr>
          <p:spPr>
            <a:xfrm>
              <a:off x="2370" y="2018"/>
              <a:ext cx="35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2--5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5" name="Text Box 31"/>
            <p:cNvSpPr txBox="1"/>
            <p:nvPr/>
          </p:nvSpPr>
          <p:spPr>
            <a:xfrm>
              <a:off x="2342" y="2216"/>
              <a:ext cx="35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6--3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6" name="Text Box 32"/>
            <p:cNvSpPr txBox="1"/>
            <p:nvPr/>
          </p:nvSpPr>
          <p:spPr>
            <a:xfrm>
              <a:off x="2994" y="1508"/>
              <a:ext cx="35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5--9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7" name="Text Box 33"/>
            <p:cNvSpPr txBox="1"/>
            <p:nvPr/>
          </p:nvSpPr>
          <p:spPr>
            <a:xfrm>
              <a:off x="2767" y="1706"/>
              <a:ext cx="430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11--6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8" name="Text Box 34"/>
            <p:cNvSpPr txBox="1"/>
            <p:nvPr/>
          </p:nvSpPr>
          <p:spPr>
            <a:xfrm>
              <a:off x="3757" y="1836"/>
              <a:ext cx="35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1--4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9" name="Text Box 35"/>
            <p:cNvSpPr txBox="1"/>
            <p:nvPr/>
          </p:nvSpPr>
          <p:spPr>
            <a:xfrm>
              <a:off x="3816" y="1990"/>
              <a:ext cx="35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5--2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0" name="Text Box 36"/>
            <p:cNvSpPr txBox="1"/>
            <p:nvPr/>
          </p:nvSpPr>
          <p:spPr>
            <a:xfrm>
              <a:off x="4128" y="1224"/>
              <a:ext cx="35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1--2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1" name="Text Box 37"/>
            <p:cNvSpPr txBox="1"/>
            <p:nvPr/>
          </p:nvSpPr>
          <p:spPr>
            <a:xfrm>
              <a:off x="4071" y="1479"/>
              <a:ext cx="358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4--2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5" name="灯片编号占位符 2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86" name="日期占位符 3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6A7217-EFE8-40E0-8502-E5FD66A486A6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4580" name="表格 24579"/>
          <p:cNvGraphicFramePr/>
          <p:nvPr/>
        </p:nvGraphicFramePr>
        <p:xfrm>
          <a:off x="971550" y="2060575"/>
          <a:ext cx="7245350" cy="4076700"/>
        </p:xfrm>
        <a:graphic>
          <a:graphicData uri="http://schemas.openxmlformats.org/drawingml/2006/table">
            <a:tbl>
              <a:tblPr/>
              <a:tblGrid>
                <a:gridCol w="1208088"/>
                <a:gridCol w="1206500"/>
                <a:gridCol w="1208087"/>
                <a:gridCol w="1208088"/>
                <a:gridCol w="1206500"/>
                <a:gridCol w="1208087"/>
              </a:tblGrid>
              <a:tr h="346075"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zh-CN" altLang="en-US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活动</a:t>
                      </a:r>
                      <a:endParaRPr lang="zh-CN" altLang="en-US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zh-CN" altLang="en-US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编号</a:t>
                      </a:r>
                      <a:endParaRPr lang="zh-CN" altLang="en-US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zh-CN" altLang="en-US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作业时间</a:t>
                      </a:r>
                      <a:endParaRPr lang="zh-CN" altLang="en-US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zh-CN" altLang="en-US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直接费用</a:t>
                      </a:r>
                      <a:endParaRPr lang="zh-CN" altLang="en-US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zh-CN" altLang="en-US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赶工费用变化率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α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65138">
                <a:tc vMerge="1"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zh-CN" altLang="en-US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正常</a:t>
                      </a:r>
                      <a:endParaRPr lang="zh-CN" altLang="en-US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lang="zh-CN" altLang="en-US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赶工</a:t>
                      </a:r>
                      <a:endParaRPr lang="zh-CN" altLang="en-US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lang="zh-CN" altLang="en-US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正常</a:t>
                      </a:r>
                      <a:endParaRPr lang="zh-CN" altLang="en-US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lang="zh-CN" altLang="en-US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赶工</a:t>
                      </a:r>
                      <a:endParaRPr lang="zh-CN" altLang="en-US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619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1—2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0.33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635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1—3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0.5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2--4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3.0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35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2--6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1.0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35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3--4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0.75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4--5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1.5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35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4--6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1.25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5--7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2.0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35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6--7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chemeClr val="bg2"/>
                        </a:buClr>
                        <a:buSzPct val="75000"/>
                        <a:buNone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1.0</a:t>
                      </a:r>
                      <a:endParaRPr lang="en-US" altLang="zh-CN" sz="18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662" name="Rectangle 119"/>
          <p:cNvSpPr/>
          <p:nvPr/>
        </p:nvSpPr>
        <p:spPr>
          <a:xfrm>
            <a:off x="900113" y="981075"/>
            <a:ext cx="6911975" cy="8651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p>
            <a:pPr marL="342900" indent="-342900">
              <a:buClr>
                <a:schemeClr val="bg2"/>
              </a:buClr>
              <a:buSzPct val="75000"/>
              <a:buNone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确定赶工费用变化率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buClr>
                <a:schemeClr val="bg2"/>
              </a:buClr>
              <a:buSzPct val="75000"/>
              <a:buNone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α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＝费用的变化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时间的变化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50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6EEE4A8-1DC7-4222-93CB-B97251E2D00D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04" name="Text Box 2"/>
          <p:cNvSpPr txBox="1"/>
          <p:nvPr/>
        </p:nvSpPr>
        <p:spPr>
          <a:xfrm>
            <a:off x="684213" y="857250"/>
            <a:ext cx="4683125" cy="411163"/>
          </a:xfrm>
          <a:prstGeom prst="rect">
            <a:avLst/>
          </a:prstGeom>
          <a:noFill/>
          <a:ln w="9525">
            <a:noFill/>
          </a:ln>
        </p:spPr>
        <p:txBody>
          <a:bodyPr wrap="none" lIns="93600" tIns="46038" rIns="93600" bIns="0">
            <a:spAutoFit/>
          </a:bodyPr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计算正常条件下网络的时间参数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5605" name="Group 38"/>
          <p:cNvGrpSpPr/>
          <p:nvPr/>
        </p:nvGrpSpPr>
        <p:grpSpPr>
          <a:xfrm>
            <a:off x="1206500" y="2809875"/>
            <a:ext cx="6605588" cy="1925638"/>
            <a:chOff x="1406" y="2698"/>
            <a:chExt cx="4161" cy="1213"/>
          </a:xfrm>
        </p:grpSpPr>
        <p:sp>
          <p:nvSpPr>
            <p:cNvPr id="25626" name="Oval 39"/>
            <p:cNvSpPr/>
            <p:nvPr/>
          </p:nvSpPr>
          <p:spPr>
            <a:xfrm>
              <a:off x="1406" y="3350"/>
              <a:ext cx="192" cy="1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pPr algn="ctr">
                <a:buClrTx/>
                <a:buSzPct val="75000"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7" name="Oval 40"/>
            <p:cNvSpPr/>
            <p:nvPr/>
          </p:nvSpPr>
          <p:spPr>
            <a:xfrm>
              <a:off x="5375" y="3293"/>
              <a:ext cx="192" cy="1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pPr algn="ctr">
                <a:buClrTx/>
                <a:buSzPct val="75000"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8" name="Oval 41"/>
            <p:cNvSpPr/>
            <p:nvPr/>
          </p:nvSpPr>
          <p:spPr>
            <a:xfrm>
              <a:off x="4468" y="2811"/>
              <a:ext cx="192" cy="1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pPr algn="ctr">
                <a:buClrTx/>
                <a:buSzPct val="75000"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9" name="Oval 42"/>
            <p:cNvSpPr/>
            <p:nvPr/>
          </p:nvSpPr>
          <p:spPr>
            <a:xfrm>
              <a:off x="3787" y="3719"/>
              <a:ext cx="192" cy="1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pPr algn="ctr">
                <a:buClrTx/>
                <a:buSzPct val="75000"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0" name="Oval 43"/>
            <p:cNvSpPr/>
            <p:nvPr/>
          </p:nvSpPr>
          <p:spPr>
            <a:xfrm>
              <a:off x="3447" y="2811"/>
              <a:ext cx="192" cy="1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pPr algn="ctr">
                <a:buClrTx/>
                <a:buSzPct val="75000"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1" name="Oval 44"/>
            <p:cNvSpPr/>
            <p:nvPr/>
          </p:nvSpPr>
          <p:spPr>
            <a:xfrm>
              <a:off x="2455" y="3719"/>
              <a:ext cx="192" cy="1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pPr algn="ctr">
                <a:buClrTx/>
                <a:buSzPct val="75000"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2" name="Oval 45"/>
            <p:cNvSpPr/>
            <p:nvPr/>
          </p:nvSpPr>
          <p:spPr>
            <a:xfrm>
              <a:off x="2483" y="2811"/>
              <a:ext cx="192" cy="192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pPr algn="ctr">
                <a:buClrTx/>
                <a:buSzPct val="75000"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3" name="Line 46"/>
            <p:cNvSpPr/>
            <p:nvPr/>
          </p:nvSpPr>
          <p:spPr>
            <a:xfrm flipV="1">
              <a:off x="1604" y="2953"/>
              <a:ext cx="879" cy="454"/>
            </a:xfrm>
            <a:prstGeom prst="line">
              <a:avLst/>
            </a:prstGeom>
            <a:ln w="57150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34" name="Line 47"/>
            <p:cNvSpPr/>
            <p:nvPr/>
          </p:nvSpPr>
          <p:spPr>
            <a:xfrm>
              <a:off x="1604" y="3463"/>
              <a:ext cx="851" cy="312"/>
            </a:xfrm>
            <a:prstGeom prst="line">
              <a:avLst/>
            </a:prstGeom>
            <a:ln w="76200" cap="flat" cmpd="sng">
              <a:solidFill>
                <a:srgbClr val="99FF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35" name="Line 48"/>
            <p:cNvSpPr/>
            <p:nvPr/>
          </p:nvSpPr>
          <p:spPr>
            <a:xfrm>
              <a:off x="2682" y="2925"/>
              <a:ext cx="765" cy="0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36" name="Line 49"/>
            <p:cNvSpPr/>
            <p:nvPr/>
          </p:nvSpPr>
          <p:spPr>
            <a:xfrm flipV="1">
              <a:off x="2653" y="3038"/>
              <a:ext cx="766" cy="766"/>
            </a:xfrm>
            <a:prstGeom prst="line">
              <a:avLst/>
            </a:prstGeom>
            <a:ln w="76200" cap="flat" cmpd="sng">
              <a:solidFill>
                <a:srgbClr val="99FF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37" name="Line 50"/>
            <p:cNvSpPr/>
            <p:nvPr/>
          </p:nvSpPr>
          <p:spPr>
            <a:xfrm>
              <a:off x="2682" y="3832"/>
              <a:ext cx="1077" cy="0"/>
            </a:xfrm>
            <a:prstGeom prst="line">
              <a:avLst/>
            </a:prstGeom>
            <a:ln w="57150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38" name="Line 51"/>
            <p:cNvSpPr/>
            <p:nvPr/>
          </p:nvSpPr>
          <p:spPr>
            <a:xfrm>
              <a:off x="3617" y="2982"/>
              <a:ext cx="312" cy="708"/>
            </a:xfrm>
            <a:prstGeom prst="line">
              <a:avLst/>
            </a:prstGeom>
            <a:ln w="76200" cap="flat" cmpd="sng">
              <a:solidFill>
                <a:srgbClr val="99FF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39" name="Line 52"/>
            <p:cNvSpPr/>
            <p:nvPr/>
          </p:nvSpPr>
          <p:spPr>
            <a:xfrm>
              <a:off x="3646" y="2896"/>
              <a:ext cx="822" cy="0"/>
            </a:xfrm>
            <a:prstGeom prst="line">
              <a:avLst/>
            </a:prstGeom>
            <a:ln w="57150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40" name="Line 53"/>
            <p:cNvSpPr/>
            <p:nvPr/>
          </p:nvSpPr>
          <p:spPr>
            <a:xfrm flipV="1">
              <a:off x="4014" y="3435"/>
              <a:ext cx="1361" cy="369"/>
            </a:xfrm>
            <a:prstGeom prst="line">
              <a:avLst/>
            </a:prstGeom>
            <a:ln w="76200" cap="flat" cmpd="sng">
              <a:solidFill>
                <a:srgbClr val="99FF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41" name="Line 54"/>
            <p:cNvSpPr/>
            <p:nvPr/>
          </p:nvSpPr>
          <p:spPr>
            <a:xfrm>
              <a:off x="4666" y="2925"/>
              <a:ext cx="709" cy="397"/>
            </a:xfrm>
            <a:prstGeom prst="line">
              <a:avLst/>
            </a:prstGeom>
            <a:ln w="57150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42" name="Text Box 55"/>
            <p:cNvSpPr txBox="1"/>
            <p:nvPr/>
          </p:nvSpPr>
          <p:spPr>
            <a:xfrm>
              <a:off x="1859" y="2925"/>
              <a:ext cx="190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43" name="Text Box 56"/>
            <p:cNvSpPr txBox="1"/>
            <p:nvPr/>
          </p:nvSpPr>
          <p:spPr>
            <a:xfrm>
              <a:off x="2736" y="2714"/>
              <a:ext cx="190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44" name="Text Box 57"/>
            <p:cNvSpPr txBox="1"/>
            <p:nvPr/>
          </p:nvSpPr>
          <p:spPr>
            <a:xfrm>
              <a:off x="3929" y="2698"/>
              <a:ext cx="190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45" name="Text Box 58"/>
            <p:cNvSpPr txBox="1"/>
            <p:nvPr/>
          </p:nvSpPr>
          <p:spPr>
            <a:xfrm>
              <a:off x="2738" y="3237"/>
              <a:ext cx="190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46" name="Text Box 59"/>
            <p:cNvSpPr txBox="1"/>
            <p:nvPr/>
          </p:nvSpPr>
          <p:spPr>
            <a:xfrm>
              <a:off x="1944" y="3464"/>
              <a:ext cx="190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47" name="Text Box 60"/>
            <p:cNvSpPr txBox="1"/>
            <p:nvPr/>
          </p:nvSpPr>
          <p:spPr>
            <a:xfrm>
              <a:off x="3050" y="3634"/>
              <a:ext cx="190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48" name="Text Box 61"/>
            <p:cNvSpPr txBox="1"/>
            <p:nvPr/>
          </p:nvSpPr>
          <p:spPr>
            <a:xfrm>
              <a:off x="3816" y="3209"/>
              <a:ext cx="190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49" name="Text Box 62"/>
            <p:cNvSpPr txBox="1"/>
            <p:nvPr/>
          </p:nvSpPr>
          <p:spPr>
            <a:xfrm>
              <a:off x="4437" y="3452"/>
              <a:ext cx="190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50" name="Text Box 63"/>
            <p:cNvSpPr txBox="1"/>
            <p:nvPr/>
          </p:nvSpPr>
          <p:spPr>
            <a:xfrm>
              <a:off x="4808" y="2840"/>
              <a:ext cx="190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3600" tIns="46038" rIns="93600" bIns="0">
              <a:spAutoFit/>
            </a:bodyPr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606" name="Rectangle 64"/>
          <p:cNvSpPr/>
          <p:nvPr/>
        </p:nvSpPr>
        <p:spPr>
          <a:xfrm>
            <a:off x="801688" y="3349625"/>
            <a:ext cx="315912" cy="36036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3600" tIns="46038" rIns="93600" bIns="0" anchor="ctr" anchorCtr="0"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7" name="AutoShape 65"/>
          <p:cNvSpPr/>
          <p:nvPr/>
        </p:nvSpPr>
        <p:spPr>
          <a:xfrm>
            <a:off x="755650" y="3754438"/>
            <a:ext cx="404813" cy="3603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3600" tIns="46038" rIns="93600" bIns="0" anchor="ctr" anchorCtr="0"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5608" name="Group 66"/>
          <p:cNvGrpSpPr/>
          <p:nvPr/>
        </p:nvGrpSpPr>
        <p:grpSpPr>
          <a:xfrm>
            <a:off x="2511425" y="4618038"/>
            <a:ext cx="404813" cy="765175"/>
            <a:chOff x="1661" y="3838"/>
            <a:chExt cx="255" cy="482"/>
          </a:xfrm>
        </p:grpSpPr>
        <p:sp>
          <p:nvSpPr>
            <p:cNvPr id="25624" name="Rectangle 67"/>
            <p:cNvSpPr/>
            <p:nvPr/>
          </p:nvSpPr>
          <p:spPr>
            <a:xfrm>
              <a:off x="1690" y="3838"/>
              <a:ext cx="199" cy="22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5" name="AutoShape 68"/>
            <p:cNvSpPr/>
            <p:nvPr/>
          </p:nvSpPr>
          <p:spPr>
            <a:xfrm>
              <a:off x="1661" y="4093"/>
              <a:ext cx="255" cy="227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5609" name="Group 69"/>
          <p:cNvGrpSpPr/>
          <p:nvPr/>
        </p:nvGrpSpPr>
        <p:grpSpPr>
          <a:xfrm>
            <a:off x="5346700" y="4618038"/>
            <a:ext cx="404813" cy="765175"/>
            <a:chOff x="1661" y="3838"/>
            <a:chExt cx="255" cy="482"/>
          </a:xfrm>
        </p:grpSpPr>
        <p:sp>
          <p:nvSpPr>
            <p:cNvPr id="25622" name="Rectangle 70"/>
            <p:cNvSpPr/>
            <p:nvPr/>
          </p:nvSpPr>
          <p:spPr>
            <a:xfrm>
              <a:off x="1690" y="3838"/>
              <a:ext cx="199" cy="22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22</a:t>
              </a:r>
              <a:endPara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3" name="AutoShape 71"/>
            <p:cNvSpPr/>
            <p:nvPr/>
          </p:nvSpPr>
          <p:spPr>
            <a:xfrm>
              <a:off x="1661" y="4093"/>
              <a:ext cx="255" cy="227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22</a:t>
              </a:r>
              <a:endPara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5610" name="Group 72"/>
          <p:cNvGrpSpPr/>
          <p:nvPr/>
        </p:nvGrpSpPr>
        <p:grpSpPr>
          <a:xfrm>
            <a:off x="4086225" y="2359025"/>
            <a:ext cx="404813" cy="765175"/>
            <a:chOff x="1661" y="3838"/>
            <a:chExt cx="255" cy="482"/>
          </a:xfrm>
        </p:grpSpPr>
        <p:sp>
          <p:nvSpPr>
            <p:cNvPr id="25620" name="Rectangle 73"/>
            <p:cNvSpPr/>
            <p:nvPr/>
          </p:nvSpPr>
          <p:spPr>
            <a:xfrm>
              <a:off x="1690" y="3838"/>
              <a:ext cx="199" cy="22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13</a:t>
              </a:r>
              <a:endPara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1" name="AutoShape 74"/>
            <p:cNvSpPr/>
            <p:nvPr/>
          </p:nvSpPr>
          <p:spPr>
            <a:xfrm>
              <a:off x="1661" y="4093"/>
              <a:ext cx="255" cy="227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13</a:t>
              </a:r>
              <a:endPara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5611" name="Group 75"/>
          <p:cNvGrpSpPr/>
          <p:nvPr/>
        </p:nvGrpSpPr>
        <p:grpSpPr>
          <a:xfrm>
            <a:off x="2511425" y="2403475"/>
            <a:ext cx="404813" cy="765175"/>
            <a:chOff x="1661" y="3838"/>
            <a:chExt cx="255" cy="482"/>
          </a:xfrm>
        </p:grpSpPr>
        <p:sp>
          <p:nvSpPr>
            <p:cNvPr id="25618" name="Rectangle 76"/>
            <p:cNvSpPr/>
            <p:nvPr/>
          </p:nvSpPr>
          <p:spPr>
            <a:xfrm>
              <a:off x="1690" y="3838"/>
              <a:ext cx="199" cy="22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19" name="AutoShape 77"/>
            <p:cNvSpPr/>
            <p:nvPr/>
          </p:nvSpPr>
          <p:spPr>
            <a:xfrm>
              <a:off x="1661" y="4093"/>
              <a:ext cx="255" cy="227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5612" name="Group 78"/>
          <p:cNvGrpSpPr/>
          <p:nvPr/>
        </p:nvGrpSpPr>
        <p:grpSpPr>
          <a:xfrm>
            <a:off x="7867650" y="3529013"/>
            <a:ext cx="404813" cy="765175"/>
            <a:chOff x="1661" y="3838"/>
            <a:chExt cx="255" cy="482"/>
          </a:xfrm>
        </p:grpSpPr>
        <p:sp>
          <p:nvSpPr>
            <p:cNvPr id="25616" name="Rectangle 79"/>
            <p:cNvSpPr/>
            <p:nvPr/>
          </p:nvSpPr>
          <p:spPr>
            <a:xfrm>
              <a:off x="1690" y="3838"/>
              <a:ext cx="199" cy="22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26</a:t>
              </a:r>
              <a:endPara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17" name="AutoShape 80"/>
            <p:cNvSpPr/>
            <p:nvPr/>
          </p:nvSpPr>
          <p:spPr>
            <a:xfrm>
              <a:off x="1661" y="4093"/>
              <a:ext cx="255" cy="227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26</a:t>
              </a:r>
              <a:endPara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5613" name="Group 81"/>
          <p:cNvGrpSpPr/>
          <p:nvPr/>
        </p:nvGrpSpPr>
        <p:grpSpPr>
          <a:xfrm>
            <a:off x="5842000" y="2133600"/>
            <a:ext cx="404813" cy="765175"/>
            <a:chOff x="1661" y="3838"/>
            <a:chExt cx="255" cy="482"/>
          </a:xfrm>
        </p:grpSpPr>
        <p:sp>
          <p:nvSpPr>
            <p:cNvPr id="25614" name="Rectangle 82"/>
            <p:cNvSpPr/>
            <p:nvPr/>
          </p:nvSpPr>
          <p:spPr>
            <a:xfrm>
              <a:off x="1690" y="3838"/>
              <a:ext cx="199" cy="22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24</a:t>
              </a:r>
              <a:endPara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15" name="AutoShape 83"/>
            <p:cNvSpPr/>
            <p:nvPr/>
          </p:nvSpPr>
          <p:spPr>
            <a:xfrm>
              <a:off x="1661" y="4093"/>
              <a:ext cx="255" cy="227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3600" tIns="46038" rIns="93600" bIns="0" anchor="ctr" anchorCtr="0"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19</a:t>
              </a:r>
              <a:endPara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49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6F35C0-921F-4A44-95E4-68294437FF71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89168" name="Group 48"/>
          <p:cNvGraphicFramePr>
            <a:graphicFrameLocks noGrp="1"/>
          </p:cNvGraphicFramePr>
          <p:nvPr/>
        </p:nvGraphicFramePr>
        <p:xfrm>
          <a:off x="323850" y="1484313"/>
          <a:ext cx="8596313" cy="4795838"/>
        </p:xfrm>
        <a:graphic>
          <a:graphicData uri="http://schemas.openxmlformats.org/drawingml/2006/table">
            <a:tbl>
              <a:tblPr/>
              <a:tblGrid>
                <a:gridCol w="1431925"/>
                <a:gridCol w="817563"/>
                <a:gridCol w="1846262"/>
                <a:gridCol w="1349375"/>
                <a:gridCol w="990600"/>
                <a:gridCol w="2160588"/>
              </a:tblGrid>
              <a:tr h="715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优化过程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总工期 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直接费用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间接费用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总费用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关键路线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正常情况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26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31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26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57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1—2—4—6--7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79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压缩活动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1-2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周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31+0.33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×2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=31.66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26-2=24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55.66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1—2—4—6—7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；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1—3—4—6--7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压缩活动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1-2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1-3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各一周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23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31.66+0.33+0.5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=32.49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24-1=23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55.49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1—2—4—6—7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；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1—3—4—6--7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81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压缩活动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6-7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周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32.49+1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×3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=35.49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23-3=20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55.49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1—2—4—6—7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；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1—3—4—6--7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038" marB="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672" name="Text Box 46"/>
          <p:cNvSpPr txBox="1"/>
          <p:nvPr/>
        </p:nvSpPr>
        <p:spPr>
          <a:xfrm>
            <a:off x="611188" y="765175"/>
            <a:ext cx="4365625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93600" tIns="46038" rIns="93600" bIns="0">
            <a:spAutoFit/>
          </a:bodyPr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时间费用优化过程计算表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73" name="Text Box 47"/>
          <p:cNvSpPr txBox="1"/>
          <p:nvPr/>
        </p:nvSpPr>
        <p:spPr>
          <a:xfrm>
            <a:off x="7362825" y="1268413"/>
            <a:ext cx="1211263" cy="290512"/>
          </a:xfrm>
          <a:prstGeom prst="rect">
            <a:avLst/>
          </a:prstGeom>
          <a:noFill/>
          <a:ln w="9525">
            <a:noFill/>
          </a:ln>
        </p:spPr>
        <p:txBody>
          <a:bodyPr wrap="none" lIns="93600" tIns="46038" rIns="93600" bIns="0">
            <a:spAutoFit/>
          </a:bodyPr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单位：千元</a:t>
            </a:r>
            <a:endParaRPr lang="zh-CN" altLang="en-US" sz="16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灯片编号占位符 4"/>
          <p:cNvSpPr txBox="1">
            <a:spLocks noGrp="1"/>
          </p:cNvSpPr>
          <p:nvPr>
            <p:ph type="sldNum" sz="quarter" idx="11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日期占位符 5"/>
          <p:cNvSpPr txBox="1">
            <a:spLocks noGrp="1"/>
          </p:cNvSpPr>
          <p:nvPr>
            <p:ph type="dt" sz="half" idx="12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B532B2-B6B2-4B80-A4A9-D8F629F033D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52" name="Rectangle 2"/>
          <p:cNvSpPr>
            <a:spLocks noGrp="1"/>
          </p:cNvSpPr>
          <p:nvPr>
            <p:ph idx="1"/>
          </p:nvPr>
        </p:nvSpPr>
        <p:spPr>
          <a:xfrm>
            <a:off x="2484438" y="2781300"/>
            <a:ext cx="4464050" cy="1223963"/>
          </a:xfrm>
          <a:ln/>
        </p:spPr>
        <p:txBody>
          <a:bodyPr vert="horz" wrap="square" lIns="91440" tIns="45720" rIns="91440" bIns="45720" anchor="t" anchorCtr="0"/>
          <a:p>
            <a:pPr marL="533400" indent="-533400" algn="ctr" eaLnBrk="1" hangingPunct="1">
              <a:lnSpc>
                <a:spcPct val="90000"/>
              </a:lnSpc>
              <a:buNone/>
            </a:pPr>
            <a:r>
              <a:rPr lang="zh-CN" altLang="en-US" sz="8000" dirty="0">
                <a:cs typeface="Times New Roman" panose="02020603050405020304" pitchFamily="18" charset="0"/>
              </a:rPr>
              <a:t>谢谢大家</a:t>
            </a:r>
            <a:endParaRPr lang="zh-CN" altLang="en-US" sz="8000" dirty="0"/>
          </a:p>
        </p:txBody>
      </p:sp>
      <p:sp>
        <p:nvSpPr>
          <p:cNvPr id="27653" name="Line 3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4" name="Line 4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5" name="Line 5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6" name="Line 6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7" name="Line 7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8" name="Line 8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PP_MARK_KEY" val="ccf865a3-996e-4a37-9be5-ff4d77668d66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C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70000"/>
          <a:buFont typeface="Wingdings" panose="05000000000000000000" pitchFamily="2" charset="2"/>
          <a:buChar char="n"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华文楷体" panose="02010600040101010101" pitchFamily="2" charset="-122"/>
            <a:ea typeface="华文楷体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C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70000"/>
          <a:buFont typeface="Wingdings" panose="05000000000000000000" pitchFamily="2" charset="2"/>
          <a:buChar char="n"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华文楷体" panose="02010600040101010101" pitchFamily="2" charset="-122"/>
            <a:ea typeface="华文楷体" panose="0201060004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2476</Words>
  <Application>WPS 演示</Application>
  <PresentationFormat>全屏显示(4:3)</PresentationFormat>
  <Paragraphs>768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</vt:i4>
      </vt:variant>
      <vt:variant>
        <vt:lpstr>幻灯片标题</vt:lpstr>
      </vt:variant>
      <vt:variant>
        <vt:i4>25</vt:i4>
      </vt:variant>
    </vt:vector>
  </HeadingPairs>
  <TitlesOfParts>
    <vt:vector size="53" baseType="lpstr">
      <vt:lpstr>Arial</vt:lpstr>
      <vt:lpstr>宋体</vt:lpstr>
      <vt:lpstr>Wingdings</vt:lpstr>
      <vt:lpstr>华文楷体</vt:lpstr>
      <vt:lpstr>Times New Roman</vt:lpstr>
      <vt:lpstr>Arial Black</vt:lpstr>
      <vt:lpstr>黑体</vt:lpstr>
      <vt:lpstr>微软雅黑</vt:lpstr>
      <vt:lpstr>Arial Unicode MS</vt:lpstr>
      <vt:lpstr>Pixel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Albert Yang</cp:lastModifiedBy>
  <cp:revision>185</cp:revision>
  <dcterms:created xsi:type="dcterms:W3CDTF">2022-12-18T08:55:04Z</dcterms:created>
  <dcterms:modified xsi:type="dcterms:W3CDTF">2022-12-18T08:55:13Z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49EF9821F233460E817F62DD791F4FEE</vt:lpwstr>
  </property>
  <property fmtid="{D5CDD505-2E9C-101B-9397-08002B2CF9AE}" pid="3" name="KSOProductBuildVer">
    <vt:lpwstr>2052-11.1.0.12980</vt:lpwstr>
  </property>
</Properties>
</file>