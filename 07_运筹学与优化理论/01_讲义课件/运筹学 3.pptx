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66" r:id="rId3"/>
    <p:sldId id="432" r:id="rId4"/>
    <p:sldId id="442" r:id="rId5"/>
    <p:sldId id="433" r:id="rId6"/>
    <p:sldId id="434" r:id="rId7"/>
    <p:sldId id="435" r:id="rId8"/>
    <p:sldId id="436" r:id="rId9"/>
    <p:sldId id="437" r:id="rId10"/>
    <p:sldId id="438" r:id="rId11"/>
    <p:sldId id="439" r:id="rId12"/>
    <p:sldId id="440" r:id="rId13"/>
    <p:sldId id="441" r:id="rId14"/>
    <p:sldId id="430" r:id="rId15"/>
    <p:sldId id="431" r:id="rId16"/>
    <p:sldId id="415" r:id="rId17"/>
    <p:sldId id="416" r:id="rId18"/>
    <p:sldId id="417" r:id="rId19"/>
    <p:sldId id="418" r:id="rId20"/>
    <p:sldId id="419" r:id="rId21"/>
    <p:sldId id="420" r:id="rId22"/>
    <p:sldId id="448" r:id="rId23"/>
    <p:sldId id="449" r:id="rId24"/>
    <p:sldId id="450" r:id="rId25"/>
    <p:sldId id="451" r:id="rId26"/>
    <p:sldId id="452" r:id="rId27"/>
    <p:sldId id="453" r:id="rId28"/>
    <p:sldId id="454" r:id="rId29"/>
    <p:sldId id="455" r:id="rId30"/>
    <p:sldId id="456" r:id="rId31"/>
    <p:sldId id="368" r:id="rId32"/>
    <p:sldId id="405" r:id="rId33"/>
    <p:sldId id="372" r:id="rId34"/>
    <p:sldId id="373" r:id="rId35"/>
    <p:sldId id="374" r:id="rId36"/>
    <p:sldId id="375" r:id="rId37"/>
    <p:sldId id="376" r:id="rId38"/>
    <p:sldId id="377" r:id="rId39"/>
    <p:sldId id="378" r:id="rId40"/>
    <p:sldId id="331" r:id="rId41"/>
    <p:sldId id="367" r:id="rId42"/>
  </p:sldIdLst>
  <p:sldSz cx="9144000" cy="6858000" type="screen4x3"/>
  <p:notesSz cx="6858000" cy="9144000"/>
  <p:custDataLst>
    <p:tags r:id="rId46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CC66"/>
    <a:srgbClr val="FFCCFF"/>
    <a:srgbClr val="EAEAEA"/>
    <a:srgbClr val="CCCCFF"/>
    <a:srgbClr val="99CCFF"/>
    <a:srgbClr val="CCE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306"/>
    <p:restoredTop sz="94645"/>
  </p:normalViewPr>
  <p:slideViewPr>
    <p:cSldViewPr showGuides="1">
      <p:cViewPr varScale="1">
        <p:scale>
          <a:sx n="63" d="100"/>
          <a:sy n="63" d="100"/>
        </p:scale>
        <p:origin x="-152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25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gs" Target="tags/tag1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38481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981200"/>
            <a:ext cx="38481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Line 10"/>
          <p:cNvSpPr>
            <a:spLocks noChangeShapeType="1"/>
          </p:cNvSpPr>
          <p:nvPr/>
        </p:nvSpPr>
        <p:spPr bwMode="auto">
          <a:xfrm>
            <a:off x="304800" y="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8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5.wmf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0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6.w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3.wmf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oleObject13.bin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7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8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6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13.wmf"/><Relationship Id="rId10" Type="http://schemas.openxmlformats.org/officeDocument/2006/relationships/vmlDrawing" Target="../drawings/vmlDrawing11.vml"/><Relationship Id="rId1" Type="http://schemas.openxmlformats.org/officeDocument/2006/relationships/oleObject" Target="../embeddings/oleObject20.bin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11.wmf"/><Relationship Id="rId1" Type="http://schemas.openxmlformats.org/officeDocument/2006/relationships/oleObject" Target="../embeddings/oleObject24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6.wmf"/><Relationship Id="rId7" Type="http://schemas.openxmlformats.org/officeDocument/2006/relationships/oleObject" Target="../embeddings/oleObject29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13.wmf"/><Relationship Id="rId10" Type="http://schemas.openxmlformats.org/officeDocument/2006/relationships/vmlDrawing" Target="../drawings/vmlDrawing13.vml"/><Relationship Id="rId1" Type="http://schemas.openxmlformats.org/officeDocument/2006/relationships/oleObject" Target="../embeddings/oleObject26.bin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4.vml"/><Relationship Id="rId4" Type="http://schemas.openxmlformats.org/officeDocument/2006/relationships/slideLayout" Target="../slideLayouts/slideLayout7.xml"/><Relationship Id="rId3" Type="http://schemas.openxmlformats.org/officeDocument/2006/relationships/oleObject" Target="../embeddings/oleObject31.bin"/><Relationship Id="rId2" Type="http://schemas.openxmlformats.org/officeDocument/2006/relationships/image" Target="../media/image18.wmf"/><Relationship Id="rId1" Type="http://schemas.openxmlformats.org/officeDocument/2006/relationships/oleObject" Target="../embeddings/oleObject30.bin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7.xml"/><Relationship Id="rId3" Type="http://schemas.openxmlformats.org/officeDocument/2006/relationships/oleObject" Target="../embeddings/oleObject33.bin"/><Relationship Id="rId2" Type="http://schemas.openxmlformats.org/officeDocument/2006/relationships/image" Target="../media/image18.wmf"/><Relationship Id="rId1" Type="http://schemas.openxmlformats.org/officeDocument/2006/relationships/oleObject" Target="../embeddings/oleObject32.bin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6.vml"/><Relationship Id="rId4" Type="http://schemas.openxmlformats.org/officeDocument/2006/relationships/slideLayout" Target="../slideLayouts/slideLayout7.xml"/><Relationship Id="rId3" Type="http://schemas.openxmlformats.org/officeDocument/2006/relationships/oleObject" Target="../embeddings/oleObject35.bin"/><Relationship Id="rId2" Type="http://schemas.openxmlformats.org/officeDocument/2006/relationships/image" Target="../media/image18.wmf"/><Relationship Id="rId1" Type="http://schemas.openxmlformats.org/officeDocument/2006/relationships/oleObject" Target="../embeddings/oleObject34.bin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7.vml"/><Relationship Id="rId4" Type="http://schemas.openxmlformats.org/officeDocument/2006/relationships/slideLayout" Target="../slideLayouts/slideLayout7.xml"/><Relationship Id="rId3" Type="http://schemas.openxmlformats.org/officeDocument/2006/relationships/oleObject" Target="../embeddings/oleObject37.bin"/><Relationship Id="rId2" Type="http://schemas.openxmlformats.org/officeDocument/2006/relationships/image" Target="../media/image18.wmf"/><Relationship Id="rId1" Type="http://schemas.openxmlformats.org/officeDocument/2006/relationships/oleObject" Target="../embeddings/oleObject36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8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42.wmf"/><Relationship Id="rId3" Type="http://schemas.openxmlformats.org/officeDocument/2006/relationships/oleObject" Target="../embeddings/oleObject39.bin"/><Relationship Id="rId2" Type="http://schemas.openxmlformats.org/officeDocument/2006/relationships/image" Target="../media/image41.wmf"/><Relationship Id="rId1" Type="http://schemas.openxmlformats.org/officeDocument/2006/relationships/oleObject" Target="../embeddings/oleObject38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000125" y="2000250"/>
            <a:ext cx="6929438" cy="1455738"/>
          </a:xfrm>
          <a:prstGeom prst="rect">
            <a:avLst/>
          </a:prstGeom>
        </p:spPr>
        <p:txBody>
          <a:bodyPr/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6000" b="0" kern="0" cap="none" spc="0" normalizeH="0" baseline="0" noProof="0" dirty="0" smtClean="0">
                <a:latin typeface="+mj-lt"/>
                <a:ea typeface="+mj-ea"/>
                <a:cs typeface="+mj-cs"/>
              </a:rPr>
              <a:t>运筹学与优化理论</a:t>
            </a:r>
            <a:endParaRPr kumimoji="1" lang="zh-CN" altLang="en-US" sz="6000" b="0" kern="0" cap="none" spc="0" normalizeH="0" baseline="0" noProof="0" dirty="0">
              <a:latin typeface="+mj-lt"/>
              <a:ea typeface="+mj-ea"/>
              <a:cs typeface="+mj-cs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type="subTitle" idx="1"/>
          </p:nvPr>
        </p:nvSpPr>
        <p:spPr>
          <a:xfrm>
            <a:off x="3635375" y="4652963"/>
            <a:ext cx="4464050" cy="1512887"/>
          </a:xfrm>
          <a:noFill/>
          <a:ln>
            <a:noFill/>
          </a:ln>
        </p:spPr>
        <p:txBody>
          <a:bodyPr/>
          <a:p>
            <a:pPr eaLnBrk="1" hangingPunct="1">
              <a:buClrTx/>
              <a:buSzTx/>
              <a:buFontTx/>
            </a:pPr>
            <a:r>
              <a:rPr kumimoji="1" lang="zh-CN" altLang="en-US" b="1" dirty="0">
                <a:latin typeface="宋体" panose="02010600030101010101" pitchFamily="2" charset="-122"/>
                <a:ea typeface="+mn-ea"/>
                <a:cs typeface="+mn-cs"/>
              </a:rPr>
              <a:t>许 伟</a:t>
            </a:r>
            <a:r>
              <a:rPr kumimoji="1" lang="zh-CN" altLang="en-US" dirty="0">
                <a:latin typeface="宋体" panose="02010600030101010101" pitchFamily="2" charset="-122"/>
                <a:ea typeface="+mn-ea"/>
                <a:cs typeface="+mn-cs"/>
              </a:rPr>
              <a:t> </a:t>
            </a:r>
            <a:r>
              <a:rPr kumimoji="1"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教授</a:t>
            </a:r>
            <a:r>
              <a:rPr kumimoji="1" lang="en-US" altLang="zh-CN" sz="2800" dirty="0">
                <a:latin typeface="宋体" panose="02010600030101010101" pitchFamily="2" charset="-122"/>
                <a:ea typeface="+mn-ea"/>
                <a:cs typeface="+mn-cs"/>
              </a:rPr>
              <a:t>/</a:t>
            </a:r>
            <a:r>
              <a:rPr kumimoji="1"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博导</a:t>
            </a:r>
            <a:endParaRPr kumimoji="1" lang="zh-CN" altLang="en-US" sz="28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buClrTx/>
              <a:buSzTx/>
              <a:buFontTx/>
            </a:pPr>
            <a:r>
              <a:rPr kumimoji="1"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中国人民大学信息学院</a:t>
            </a:r>
            <a:endParaRPr kumimoji="1" lang="zh-CN" altLang="en-US" sz="2800" dirty="0"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8" name="Rectangle 2"/>
          <p:cNvSpPr>
            <a:spLocks noGrp="1"/>
          </p:cNvSpPr>
          <p:nvPr>
            <p:ph type="title"/>
          </p:nvPr>
        </p:nvSpPr>
        <p:spPr>
          <a:xfrm>
            <a:off x="388938" y="663575"/>
            <a:ext cx="6040437" cy="693738"/>
          </a:xfrm>
          <a:noFill/>
          <a:ln>
            <a:noFill/>
          </a:ln>
        </p:spPr>
        <p:txBody>
          <a:bodyPr/>
          <a:p>
            <a:r>
              <a:rPr lang="en-US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1.3 </a:t>
            </a:r>
            <a:r>
              <a:rPr lang="zh-CN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单纯形法原理</a:t>
            </a:r>
            <a:endParaRPr lang="zh-CN" altLang="en-US" sz="3200" dirty="0">
              <a:solidFill>
                <a:srgbClr val="0D04BE"/>
              </a:solidFill>
              <a:latin typeface="楷体_GB2312" charset="-122"/>
              <a:ea typeface="楷体_GB2312" charset="-122"/>
            </a:endParaRPr>
          </a:p>
        </p:txBody>
      </p:sp>
      <p:sp>
        <p:nvSpPr>
          <p:cNvPr id="1029" name="Rectangle 3"/>
          <p:cNvSpPr>
            <a:spLocks noGrp="1"/>
          </p:cNvSpPr>
          <p:nvPr>
            <p:ph type="body" sz="half" idx="1"/>
          </p:nvPr>
        </p:nvSpPr>
        <p:spPr>
          <a:xfrm>
            <a:off x="428625" y="4071938"/>
            <a:ext cx="8035925" cy="2571750"/>
          </a:xfrm>
          <a:noFill/>
          <a:ln>
            <a:noFill/>
          </a:ln>
        </p:spPr>
        <p:txBody>
          <a:bodyPr/>
          <a:p>
            <a:pPr marL="0" indent="0" algn="just"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可行解</a:t>
            </a:r>
            <a:endParaRPr lang="en-US" altLang="zh-CN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  <a:p>
            <a:pPr marL="0" indent="0" algn="just"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  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满足上述约束条件的解</a:t>
            </a:r>
            <a:endParaRPr lang="en-US" altLang="zh-CN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  <a:p>
            <a:pPr marL="0" indent="0" algn="just"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Char char="u"/>
            </a:pP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最优解</a:t>
            </a:r>
            <a:endParaRPr lang="en-US" altLang="zh-CN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  <a:p>
            <a:pPr marL="0" indent="0" algn="just"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  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使目标函数达到最大值的可行解</a:t>
            </a:r>
            <a:endParaRPr lang="zh-CN" altLang="en-US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214438" y="1428750"/>
          <a:ext cx="6299200" cy="270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2476500" imgH="1384300" progId="Equation.DSMT4">
                  <p:embed/>
                </p:oleObj>
              </mc:Choice>
              <mc:Fallback>
                <p:oleObj name="" r:id="rId1" imgW="2476500" imgH="13843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14438" y="1428750"/>
                        <a:ext cx="6299200" cy="2709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5884863" y="4667250"/>
          <a:ext cx="297338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1168400" imgH="279400" progId="Equation.DSMT4">
                  <p:embed/>
                </p:oleObj>
              </mc:Choice>
              <mc:Fallback>
                <p:oleObj name="" r:id="rId3" imgW="1168400" imgH="2794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84863" y="4667250"/>
                        <a:ext cx="2973387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1" name="Rectangle 5"/>
          <p:cNvSpPr/>
          <p:nvPr/>
        </p:nvSpPr>
        <p:spPr>
          <a:xfrm>
            <a:off x="0" y="2719388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550863" y="1285875"/>
          <a:ext cx="7962900" cy="338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2971800" imgH="1422400" progId="Equation.DSMT4">
                  <p:embed/>
                </p:oleObj>
              </mc:Choice>
              <mc:Fallback>
                <p:oleObj name="" r:id="rId1" imgW="2971800" imgH="14224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0863" y="1285875"/>
                        <a:ext cx="7962900" cy="3384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5" name="Rectangle 2"/>
          <p:cNvSpPr>
            <a:spLocks noGrp="1"/>
          </p:cNvSpPr>
          <p:nvPr>
            <p:ph type="title"/>
          </p:nvPr>
        </p:nvSpPr>
        <p:spPr>
          <a:xfrm>
            <a:off x="388938" y="663575"/>
            <a:ext cx="6040437" cy="693738"/>
          </a:xfrm>
          <a:noFill/>
          <a:ln>
            <a:noFill/>
          </a:ln>
        </p:spPr>
        <p:txBody>
          <a:bodyPr/>
          <a:p>
            <a:r>
              <a:rPr lang="en-US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1.3 </a:t>
            </a:r>
            <a:r>
              <a:rPr lang="zh-CN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单纯形法原理</a:t>
            </a:r>
            <a:endParaRPr lang="zh-CN" altLang="en-US" sz="3200" dirty="0">
              <a:solidFill>
                <a:srgbClr val="0D04BE"/>
              </a:solidFill>
              <a:latin typeface="楷体_GB2312" charset="-122"/>
              <a:ea typeface="楷体_GB2312" charset="-122"/>
            </a:endParaRPr>
          </a:p>
        </p:txBody>
      </p:sp>
      <p:sp>
        <p:nvSpPr>
          <p:cNvPr id="3076" name="Rectangle 3"/>
          <p:cNvSpPr>
            <a:spLocks noGrp="1"/>
          </p:cNvSpPr>
          <p:nvPr>
            <p:ph type="body" sz="half" idx="1"/>
          </p:nvPr>
        </p:nvSpPr>
        <p:spPr>
          <a:xfrm>
            <a:off x="571500" y="1428750"/>
            <a:ext cx="8035925" cy="2571750"/>
          </a:xfrm>
          <a:noFill/>
          <a:ln>
            <a:noFill/>
          </a:ln>
        </p:spPr>
        <p:txBody>
          <a:bodyPr/>
          <a:p>
            <a:pPr marL="0" indent="0" algn="just"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基</a:t>
            </a:r>
            <a:endParaRPr lang="en-US" altLang="zh-CN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  <a:p>
            <a:pPr marL="0" indent="0" algn="just"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  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设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A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为约束方程的系数矩阵，其秩为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m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，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B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为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A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的一个满秩子矩阵，称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B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是线性规划问题的一个基。不是一般性，设</a:t>
            </a:r>
            <a:endParaRPr lang="en-US" altLang="zh-CN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1428750" y="4000500"/>
          <a:ext cx="6357938" cy="185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2235200" imgH="711200" progId="Equation.DSMT4">
                  <p:embed/>
                </p:oleObj>
              </mc:Choice>
              <mc:Fallback>
                <p:oleObj name="" r:id="rId1" imgW="2235200" imgH="7112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28750" y="4000500"/>
                        <a:ext cx="6357938" cy="1857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02" name="Rectangle 2"/>
          <p:cNvSpPr>
            <a:spLocks noGrp="1"/>
          </p:cNvSpPr>
          <p:nvPr>
            <p:ph type="title"/>
          </p:nvPr>
        </p:nvSpPr>
        <p:spPr>
          <a:xfrm>
            <a:off x="388938" y="663575"/>
            <a:ext cx="6040437" cy="693738"/>
          </a:xfrm>
          <a:noFill/>
          <a:ln>
            <a:noFill/>
          </a:ln>
        </p:spPr>
        <p:txBody>
          <a:bodyPr/>
          <a:p>
            <a:r>
              <a:rPr lang="en-US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1.3 </a:t>
            </a:r>
            <a:r>
              <a:rPr lang="zh-CN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单纯形法原理</a:t>
            </a:r>
            <a:endParaRPr lang="zh-CN" altLang="en-US" sz="3200" dirty="0">
              <a:solidFill>
                <a:srgbClr val="0D04BE"/>
              </a:solidFill>
              <a:latin typeface="楷体_GB2312" charset="-122"/>
              <a:ea typeface="楷体_GB2312" charset="-122"/>
            </a:endParaRPr>
          </a:p>
        </p:txBody>
      </p:sp>
      <p:sp>
        <p:nvSpPr>
          <p:cNvPr id="4103" name="Rectangle 3"/>
          <p:cNvSpPr>
            <a:spLocks noGrp="1"/>
          </p:cNvSpPr>
          <p:nvPr>
            <p:ph type="body" sz="half" idx="1"/>
          </p:nvPr>
        </p:nvSpPr>
        <p:spPr>
          <a:xfrm>
            <a:off x="571500" y="1428750"/>
            <a:ext cx="8035925" cy="5000625"/>
          </a:xfrm>
          <a:noFill/>
          <a:ln>
            <a:noFill/>
          </a:ln>
        </p:spPr>
        <p:txBody>
          <a:bodyPr/>
          <a:p>
            <a:pPr marL="0" indent="0" algn="just"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基解</a:t>
            </a:r>
            <a:endParaRPr lang="en-US" altLang="zh-CN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  <a:p>
            <a:pPr marL="0" indent="0" algn="just"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在约束方程中，令非基变量</a:t>
            </a:r>
            <a:endParaRPr lang="en-US" altLang="zh-CN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  <a:p>
            <a:pPr marL="0" indent="0" algn="just"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又因为</a:t>
            </a:r>
            <a:r>
              <a:rPr lang="en-US" altLang="zh-CN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     </a:t>
            </a:r>
            <a:r>
              <a:rPr lang="zh-CN" altLang="en-US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，则由</a:t>
            </a:r>
            <a:r>
              <a:rPr lang="en-US" altLang="zh-CN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m</a:t>
            </a:r>
            <a:r>
              <a:rPr lang="zh-CN" altLang="en-US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个约束方程可得唯一解               。将这个解加上非基变量取</a:t>
            </a:r>
            <a:r>
              <a:rPr lang="en-US" altLang="zh-CN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0</a:t>
            </a:r>
            <a:r>
              <a:rPr lang="zh-CN" altLang="en-US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的值有</a:t>
            </a:r>
            <a:endParaRPr lang="en-US" altLang="zh-CN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  <a:p>
            <a:pPr marL="0" indent="0" algn="just"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Char char="u"/>
            </a:pP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基可行解</a:t>
            </a:r>
            <a:endParaRPr lang="en-US" altLang="zh-CN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  <a:p>
            <a:pPr marL="0" indent="0" algn="just"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  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满足变量非负约束条件的基解</a:t>
            </a:r>
            <a:endParaRPr lang="en-US" altLang="zh-CN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  <a:p>
            <a:pPr marL="0" indent="0" algn="just"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Char char="u"/>
            </a:pP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可行基</a:t>
            </a:r>
            <a:endParaRPr lang="en-US" altLang="zh-CN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  <a:p>
            <a:pPr marL="0" indent="0" algn="just"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  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对应于基可行解的基成为可行基</a:t>
            </a:r>
            <a:endParaRPr lang="en-US" altLang="zh-CN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</p:txBody>
      </p:sp>
      <p:graphicFrame>
        <p:nvGraphicFramePr>
          <p:cNvPr id="4098" name="Object 3"/>
          <p:cNvGraphicFramePr>
            <a:graphicFrameLocks noChangeAspect="1"/>
          </p:cNvGraphicFramePr>
          <p:nvPr/>
        </p:nvGraphicFramePr>
        <p:xfrm>
          <a:off x="6046788" y="2071688"/>
          <a:ext cx="2811462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104900" imgH="228600" progId="Equation.DSMT4">
                  <p:embed/>
                </p:oleObj>
              </mc:Choice>
              <mc:Fallback>
                <p:oleObj name="" r:id="rId1" imgW="1104900" imgH="2286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46788" y="2071688"/>
                        <a:ext cx="2811462" cy="506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4"/>
          <p:cNvGraphicFramePr>
            <a:graphicFrameLocks noChangeAspect="1"/>
          </p:cNvGraphicFramePr>
          <p:nvPr/>
        </p:nvGraphicFramePr>
        <p:xfrm>
          <a:off x="2428875" y="2571750"/>
          <a:ext cx="10985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431800" imgH="254000" progId="Equation.DSMT4">
                  <p:embed/>
                </p:oleObj>
              </mc:Choice>
              <mc:Fallback>
                <p:oleObj name="" r:id="rId3" imgW="431800" imgH="2540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28875" y="2571750"/>
                        <a:ext cx="1098550" cy="56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5"/>
          <p:cNvGraphicFramePr>
            <a:graphicFrameLocks noChangeAspect="1"/>
          </p:cNvGraphicFramePr>
          <p:nvPr/>
        </p:nvGraphicFramePr>
        <p:xfrm>
          <a:off x="1643063" y="3016250"/>
          <a:ext cx="281146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5" imgW="1104900" imgH="279400" progId="Equation.DSMT4">
                  <p:embed/>
                </p:oleObj>
              </mc:Choice>
              <mc:Fallback>
                <p:oleObj name="" r:id="rId5" imgW="1104900" imgH="2794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43063" y="3016250"/>
                        <a:ext cx="2811462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6"/>
          <p:cNvGraphicFramePr>
            <a:graphicFrameLocks noChangeAspect="1"/>
          </p:cNvGraphicFramePr>
          <p:nvPr/>
        </p:nvGraphicFramePr>
        <p:xfrm>
          <a:off x="3362325" y="3524250"/>
          <a:ext cx="37814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7" imgW="1485900" imgH="279400" progId="Equation.DSMT4">
                  <p:embed/>
                </p:oleObj>
              </mc:Choice>
              <mc:Fallback>
                <p:oleObj name="" r:id="rId7" imgW="1485900" imgH="2794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62325" y="3524250"/>
                        <a:ext cx="3781425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3" name="Rectangle 2"/>
          <p:cNvSpPr>
            <a:spLocks noGrp="1"/>
          </p:cNvSpPr>
          <p:nvPr>
            <p:ph type="title"/>
          </p:nvPr>
        </p:nvSpPr>
        <p:spPr>
          <a:xfrm>
            <a:off x="388938" y="663575"/>
            <a:ext cx="6040437" cy="693738"/>
          </a:xfrm>
          <a:noFill/>
          <a:ln>
            <a:noFill/>
          </a:ln>
        </p:spPr>
        <p:txBody>
          <a:bodyPr/>
          <a:p>
            <a:r>
              <a:rPr lang="en-US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1.3 </a:t>
            </a:r>
            <a:r>
              <a:rPr lang="zh-CN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单纯形法原理</a:t>
            </a:r>
            <a:endParaRPr lang="zh-CN" altLang="en-US" sz="3200" dirty="0">
              <a:solidFill>
                <a:srgbClr val="0D04BE"/>
              </a:solidFill>
              <a:latin typeface="楷体_GB2312" charset="-122"/>
              <a:ea typeface="楷体_GB2312" charset="-122"/>
            </a:endParaRPr>
          </a:p>
        </p:txBody>
      </p:sp>
      <p:sp>
        <p:nvSpPr>
          <p:cNvPr id="5124" name="Rectangle 3"/>
          <p:cNvSpPr>
            <a:spLocks noGrp="1"/>
          </p:cNvSpPr>
          <p:nvPr>
            <p:ph type="body" sz="half" idx="1"/>
          </p:nvPr>
        </p:nvSpPr>
        <p:spPr>
          <a:xfrm>
            <a:off x="285750" y="1143000"/>
            <a:ext cx="8643938" cy="5000625"/>
          </a:xfrm>
          <a:noFill/>
          <a:ln>
            <a:noFill/>
          </a:ln>
        </p:spPr>
        <p:txBody>
          <a:bodyPr/>
          <a:p>
            <a:pPr marL="0" indent="0" algn="just"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凸集</a:t>
            </a:r>
            <a:endParaRPr lang="en-US" altLang="zh-CN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  <a:p>
            <a:pPr marL="0" indent="0" algn="just"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 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如果集合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C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中任意两个点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X1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，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X2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，其连线上的所有点也是集合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C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中的点，称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C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为凸集。</a:t>
            </a:r>
            <a:endParaRPr lang="en-US" altLang="zh-CN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  <a:p>
            <a:pPr marL="0" indent="0" algn="just"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顶点</a:t>
            </a:r>
            <a:endParaRPr lang="en-US" altLang="zh-CN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  <a:p>
            <a:pPr marL="0" indent="0" algn="just"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 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凸集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C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中满足下述条件的点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X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称为顶点：如果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C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中不存在任何两个不同的点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X1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，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X2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，使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X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成为这两个点连线上的一个点。即</a:t>
            </a:r>
            <a:endParaRPr lang="en-US" altLang="zh-CN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</p:txBody>
      </p:sp>
      <p:graphicFrame>
        <p:nvGraphicFramePr>
          <p:cNvPr id="5122" name="Object 3"/>
          <p:cNvGraphicFramePr>
            <a:graphicFrameLocks noChangeAspect="1"/>
          </p:cNvGraphicFramePr>
          <p:nvPr/>
        </p:nvGraphicFramePr>
        <p:xfrm>
          <a:off x="285750" y="5715000"/>
          <a:ext cx="869156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3416300" imgH="254000" progId="Equation.DSMT4">
                  <p:embed/>
                </p:oleObj>
              </mc:Choice>
              <mc:Fallback>
                <p:oleObj name="" r:id="rId1" imgW="3416300" imgH="2540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5750" y="5715000"/>
                        <a:ext cx="8691563" cy="56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2"/>
          <p:cNvSpPr>
            <a:spLocks noGrp="1"/>
          </p:cNvSpPr>
          <p:nvPr>
            <p:ph type="title"/>
          </p:nvPr>
        </p:nvSpPr>
        <p:spPr>
          <a:xfrm>
            <a:off x="388938" y="663575"/>
            <a:ext cx="6040437" cy="693738"/>
          </a:xfrm>
          <a:noFill/>
          <a:ln>
            <a:noFill/>
          </a:ln>
        </p:spPr>
        <p:txBody>
          <a:bodyPr/>
          <a:p>
            <a:r>
              <a:rPr lang="en-US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1.3 </a:t>
            </a:r>
            <a:r>
              <a:rPr lang="zh-CN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单纯形法原理</a:t>
            </a:r>
            <a:endParaRPr lang="zh-CN" altLang="en-US" sz="3200" dirty="0">
              <a:solidFill>
                <a:srgbClr val="0D04BE"/>
              </a:solidFill>
              <a:latin typeface="楷体_GB2312" charset="-122"/>
              <a:ea typeface="楷体_GB2312" charset="-122"/>
            </a:endParaRPr>
          </a:p>
        </p:txBody>
      </p:sp>
      <p:sp>
        <p:nvSpPr>
          <p:cNvPr id="6148" name="Rectangle 3"/>
          <p:cNvSpPr>
            <a:spLocks noGrp="1"/>
          </p:cNvSpPr>
          <p:nvPr>
            <p:ph type="body" sz="half" idx="1"/>
          </p:nvPr>
        </p:nvSpPr>
        <p:spPr>
          <a:xfrm>
            <a:off x="107950" y="1844675"/>
            <a:ext cx="8643938" cy="4086225"/>
          </a:xfrm>
          <a:noFill/>
          <a:ln>
            <a:noFill/>
          </a:ln>
        </p:spPr>
        <p:txBody>
          <a:bodyPr/>
          <a:p>
            <a:pPr marL="0" indent="0" algn="just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定理 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1 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若线性规划问题存在可行解，则问题的可行域是凸集。</a:t>
            </a:r>
            <a:endParaRPr lang="en-US" altLang="zh-CN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Char char="u"/>
            </a:pP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引理 线性规划问题的可行解</a:t>
            </a:r>
            <a:endParaRPr lang="en-US" altLang="zh-CN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为基可行解的充要条件是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X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的正分量所对应的系数列向量是线性独立的。</a:t>
            </a:r>
            <a:endParaRPr lang="en-US" altLang="zh-CN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</p:txBody>
      </p:sp>
      <p:graphicFrame>
        <p:nvGraphicFramePr>
          <p:cNvPr id="6146" name="Object 3"/>
          <p:cNvGraphicFramePr>
            <a:graphicFrameLocks noChangeAspect="1"/>
          </p:cNvGraphicFramePr>
          <p:nvPr/>
        </p:nvGraphicFramePr>
        <p:xfrm>
          <a:off x="6559550" y="3705225"/>
          <a:ext cx="258445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1016000" imgH="279400" progId="Equation.DSMT4">
                  <p:embed/>
                </p:oleObj>
              </mc:Choice>
              <mc:Fallback>
                <p:oleObj name="" r:id="rId1" imgW="1016000" imgH="2794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59550" y="3705225"/>
                        <a:ext cx="2584450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388938" y="663575"/>
            <a:ext cx="6040437" cy="693738"/>
          </a:xfrm>
          <a:noFill/>
          <a:ln>
            <a:noFill/>
          </a:ln>
        </p:spPr>
        <p:txBody>
          <a:bodyPr/>
          <a:p>
            <a:r>
              <a:rPr lang="en-US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1.3 </a:t>
            </a:r>
            <a:r>
              <a:rPr lang="zh-CN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单纯形法原理</a:t>
            </a:r>
            <a:endParaRPr lang="zh-CN" altLang="en-US" sz="3200" dirty="0">
              <a:solidFill>
                <a:srgbClr val="0D04BE"/>
              </a:solidFill>
              <a:latin typeface="楷体_GB2312" charset="-122"/>
              <a:ea typeface="楷体_GB2312" charset="-122"/>
            </a:endParaRPr>
          </a:p>
        </p:txBody>
      </p:sp>
      <p:sp>
        <p:nvSpPr>
          <p:cNvPr id="21507" name="Rectangle 3"/>
          <p:cNvSpPr>
            <a:spLocks noGrp="1"/>
          </p:cNvSpPr>
          <p:nvPr>
            <p:ph type="body" sz="half" idx="1"/>
          </p:nvPr>
        </p:nvSpPr>
        <p:spPr>
          <a:xfrm>
            <a:off x="250825" y="1844675"/>
            <a:ext cx="8643938" cy="3600450"/>
          </a:xfrm>
          <a:noFill/>
          <a:ln>
            <a:noFill/>
          </a:ln>
        </p:spPr>
        <p:txBody>
          <a:bodyPr/>
          <a:p>
            <a:pPr marL="0" indent="0" algn="just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定理 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2 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线性规划问题的基可行解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X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对应线性规划问题可行域（凸集）的顶点</a:t>
            </a:r>
            <a:endParaRPr lang="en-US" altLang="zh-CN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SzTx/>
              <a:buFont typeface="Wingdings" panose="05000000000000000000" pitchFamily="2" charset="2"/>
              <a:buChar char="u"/>
            </a:pP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定理</a:t>
            </a:r>
            <a:r>
              <a:rPr lang="en-US" altLang="zh-CN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 3 </a:t>
            </a:r>
            <a:r>
              <a:rPr lang="zh-CN" altLang="en-US" sz="3600" b="1" dirty="0">
                <a:solidFill>
                  <a:srgbClr val="000000"/>
                </a:solidFill>
                <a:latin typeface="楷体_GB2312" charset="-122"/>
                <a:ea typeface="楷体_GB2312" charset="-122"/>
              </a:rPr>
              <a:t>若线性规划问题有最优解，一定存在一个基可行解是最优解。</a:t>
            </a:r>
            <a:endParaRPr lang="en-US" altLang="zh-CN" sz="3600" b="1" dirty="0">
              <a:solidFill>
                <a:srgbClr val="000000"/>
              </a:solidFill>
              <a:latin typeface="楷体_GB2312" charset="-122"/>
              <a:ea typeface="楷体_GB231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2" name="Rectangle 2"/>
          <p:cNvSpPr>
            <a:spLocks noGrp="1"/>
          </p:cNvSpPr>
          <p:nvPr>
            <p:ph type="title"/>
          </p:nvPr>
        </p:nvSpPr>
        <p:spPr>
          <a:xfrm>
            <a:off x="388938" y="663575"/>
            <a:ext cx="6040437" cy="693738"/>
          </a:xfrm>
          <a:noFill/>
          <a:ln>
            <a:noFill/>
          </a:ln>
        </p:spPr>
        <p:txBody>
          <a:bodyPr/>
          <a:p>
            <a:r>
              <a:rPr lang="en-US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1.3 </a:t>
            </a:r>
            <a:r>
              <a:rPr lang="zh-CN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单纯形法原理</a:t>
            </a:r>
            <a:endParaRPr lang="zh-CN" altLang="en-US" sz="3200" dirty="0">
              <a:solidFill>
                <a:srgbClr val="0D04BE"/>
              </a:solidFill>
              <a:latin typeface="楷体_GB2312" charset="-122"/>
              <a:ea typeface="楷体_GB2312" charset="-122"/>
            </a:endParaRPr>
          </a:p>
        </p:txBody>
      </p:sp>
      <p:sp>
        <p:nvSpPr>
          <p:cNvPr id="6" name="Text Box 3"/>
          <p:cNvSpPr txBox="1"/>
          <p:nvPr/>
        </p:nvSpPr>
        <p:spPr>
          <a:xfrm>
            <a:off x="571500" y="1357313"/>
            <a:ext cx="12604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  <a:ea typeface="楷体_GB2312" charset="-122"/>
              </a:rPr>
              <a:t>例一、</a:t>
            </a:r>
            <a:endParaRPr lang="zh-CN" altLang="en-US" sz="2800" dirty="0">
              <a:solidFill>
                <a:srgbClr val="660066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2286000" y="1214438"/>
          <a:ext cx="46355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1206500" imgH="1397000" progId="Equation.3">
                  <p:embed/>
                </p:oleObj>
              </mc:Choice>
              <mc:Fallback>
                <p:oleObj name="" r:id="rId1" imgW="1206500" imgH="13970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0" y="1214438"/>
                        <a:ext cx="4635500" cy="2743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5"/>
          <p:cNvSpPr txBox="1"/>
          <p:nvPr/>
        </p:nvSpPr>
        <p:spPr>
          <a:xfrm>
            <a:off x="0" y="3860800"/>
            <a:ext cx="22145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  <a:ea typeface="楷体_GB2312" charset="-122"/>
              </a:rPr>
              <a:t>变成标准型</a:t>
            </a:r>
            <a:endParaRPr lang="zh-CN" altLang="en-US" sz="2800" dirty="0">
              <a:solidFill>
                <a:srgbClr val="660066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2117725" y="3886200"/>
          <a:ext cx="7026275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2921000" imgH="1397000" progId="Equation.3">
                  <p:embed/>
                </p:oleObj>
              </mc:Choice>
              <mc:Fallback>
                <p:oleObj name="" r:id="rId3" imgW="2921000" imgH="13970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7725" y="3886200"/>
                        <a:ext cx="7026275" cy="297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ext Box 2"/>
          <p:cNvSpPr txBox="1"/>
          <p:nvPr/>
        </p:nvSpPr>
        <p:spPr>
          <a:xfrm>
            <a:off x="428625" y="500063"/>
            <a:ext cx="34131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  <a:ea typeface="楷体_GB2312" charset="-122"/>
              </a:rPr>
              <a:t>约束方程的系数矩阵</a:t>
            </a:r>
            <a:endParaRPr lang="zh-CN" altLang="en-US" sz="2800" dirty="0">
              <a:solidFill>
                <a:srgbClr val="660066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59744" name="Object 2"/>
          <p:cNvGraphicFramePr>
            <a:graphicFrameLocks noChangeAspect="1"/>
          </p:cNvGraphicFramePr>
          <p:nvPr/>
        </p:nvGraphicFramePr>
        <p:xfrm>
          <a:off x="428625" y="1285875"/>
          <a:ext cx="8320088" cy="200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3492500" imgH="927100" progId="Equation.3">
                  <p:embed/>
                </p:oleObj>
              </mc:Choice>
              <mc:Fallback>
                <p:oleObj name="" r:id="rId1" imgW="3492500" imgH="9271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8625" y="1285875"/>
                        <a:ext cx="8320088" cy="2008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5" name="Object 3"/>
          <p:cNvGraphicFramePr>
            <a:graphicFrameLocks noChangeAspect="1"/>
          </p:cNvGraphicFramePr>
          <p:nvPr/>
        </p:nvGraphicFramePr>
        <p:xfrm>
          <a:off x="428625" y="3286125"/>
          <a:ext cx="8039100" cy="190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2679700" imgH="914400" progId="Equation.3">
                  <p:embed/>
                </p:oleObj>
              </mc:Choice>
              <mc:Fallback>
                <p:oleObj name="" r:id="rId3" imgW="2679700" imgH="9144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8625" y="3286125"/>
                        <a:ext cx="8039100" cy="1903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6" name="Object 4"/>
          <p:cNvGraphicFramePr>
            <a:graphicFrameLocks noChangeAspect="1"/>
          </p:cNvGraphicFramePr>
          <p:nvPr/>
        </p:nvGraphicFramePr>
        <p:xfrm>
          <a:off x="4327525" y="5105400"/>
          <a:ext cx="23336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5" imgW="965200" imgH="228600" progId="Equation.3">
                  <p:embed/>
                </p:oleObj>
              </mc:Choice>
              <mc:Fallback>
                <p:oleObj name="" r:id="rId5" imgW="965200" imgH="2286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7525" y="5105400"/>
                        <a:ext cx="2333625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7" name="Object 5"/>
          <p:cNvGraphicFramePr>
            <a:graphicFrameLocks noChangeAspect="1"/>
          </p:cNvGraphicFramePr>
          <p:nvPr/>
        </p:nvGraphicFramePr>
        <p:xfrm>
          <a:off x="5122863" y="5638800"/>
          <a:ext cx="11842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7" imgW="381000" imgH="215900" progId="Equation.3">
                  <p:embed/>
                </p:oleObj>
              </mc:Choice>
              <mc:Fallback>
                <p:oleObj name="" r:id="rId7" imgW="381000" imgH="2159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22863" y="5638800"/>
                        <a:ext cx="1184275" cy="576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Text Box 7"/>
          <p:cNvSpPr txBox="1"/>
          <p:nvPr/>
        </p:nvSpPr>
        <p:spPr>
          <a:xfrm>
            <a:off x="6781800" y="5181600"/>
            <a:ext cx="16192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为基变量</a:t>
            </a:r>
            <a:endParaRPr lang="zh-CN" altLang="en-US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32776" name="Text Box 8"/>
          <p:cNvSpPr txBox="1"/>
          <p:nvPr/>
        </p:nvSpPr>
        <p:spPr>
          <a:xfrm>
            <a:off x="6781800" y="5715000"/>
            <a:ext cx="19780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为非基变量</a:t>
            </a:r>
            <a:endParaRPr lang="zh-CN" altLang="en-US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32777" name="Text Box 9"/>
          <p:cNvSpPr txBox="1"/>
          <p:nvPr/>
        </p:nvSpPr>
        <p:spPr>
          <a:xfrm>
            <a:off x="304800" y="5181600"/>
            <a:ext cx="41275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i="1" dirty="0">
                <a:latin typeface="楷体_GB2312" charset="-122"/>
                <a:ea typeface="楷体_GB2312" charset="-122"/>
              </a:rPr>
              <a:t>I </a:t>
            </a:r>
            <a:r>
              <a:rPr lang="zh-CN" altLang="en-US" sz="2800" dirty="0">
                <a:latin typeface="楷体_GB2312" charset="-122"/>
                <a:ea typeface="楷体_GB2312" charset="-122"/>
              </a:rPr>
              <a:t>为单位矩阵且线性独立</a:t>
            </a:r>
            <a:endParaRPr lang="zh-CN" altLang="en-US" sz="2800" dirty="0">
              <a:latin typeface="楷体_GB2312" charset="-122"/>
              <a:ea typeface="楷体_GB231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15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5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5" grpId="0"/>
      <p:bldP spid="32776" grpId="0"/>
      <p:bldP spid="3277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Text Box 2"/>
          <p:cNvSpPr txBox="1"/>
          <p:nvPr/>
        </p:nvSpPr>
        <p:spPr>
          <a:xfrm>
            <a:off x="960438" y="1192213"/>
            <a:ext cx="9017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令：</a:t>
            </a:r>
            <a:endParaRPr lang="zh-CN" altLang="en-US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33795" name="Object 2"/>
          <p:cNvGraphicFramePr>
            <a:graphicFrameLocks noChangeAspect="1"/>
          </p:cNvGraphicFramePr>
          <p:nvPr/>
        </p:nvGraphicFramePr>
        <p:xfrm>
          <a:off x="1746250" y="1120775"/>
          <a:ext cx="513397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1955800" imgH="457200" progId="Equation.3">
                  <p:embed/>
                </p:oleObj>
              </mc:Choice>
              <mc:Fallback>
                <p:oleObj name="" r:id="rId1" imgW="1955800" imgH="4572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46250" y="1120775"/>
                        <a:ext cx="5133975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Text Box 4"/>
          <p:cNvSpPr txBox="1"/>
          <p:nvPr/>
        </p:nvSpPr>
        <p:spPr>
          <a:xfrm>
            <a:off x="960438" y="1620838"/>
            <a:ext cx="78581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则：</a:t>
            </a:r>
            <a:endParaRPr lang="zh-CN" altLang="en-US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33797" name="Text Box 5"/>
          <p:cNvSpPr txBox="1"/>
          <p:nvPr/>
        </p:nvSpPr>
        <p:spPr>
          <a:xfrm>
            <a:off x="857250" y="2235200"/>
            <a:ext cx="60960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latin typeface="楷体_GB2312" charset="-122"/>
                <a:ea typeface="楷体_GB2312" charset="-122"/>
              </a:rPr>
              <a:t>∴ </a:t>
            </a:r>
            <a:r>
              <a:rPr lang="zh-CN" altLang="en-US" sz="2800" dirty="0">
                <a:latin typeface="楷体_GB2312" charset="-122"/>
                <a:ea typeface="楷体_GB2312" charset="-122"/>
              </a:rPr>
              <a:t>基本可行解为</a:t>
            </a:r>
            <a:r>
              <a:rPr lang="zh-CN" altLang="en-US" dirty="0">
                <a:latin typeface="楷体_GB2312" charset="-122"/>
                <a:ea typeface="楷体_GB2312" charset="-122"/>
              </a:rPr>
              <a:t>（</a:t>
            </a:r>
            <a:r>
              <a:rPr lang="en-US" altLang="zh-CN" dirty="0">
                <a:latin typeface="楷体_GB2312" charset="-122"/>
                <a:ea typeface="楷体_GB2312" charset="-122"/>
              </a:rPr>
              <a:t>0 0 12 8 16 12</a:t>
            </a:r>
            <a:r>
              <a:rPr lang="zh-CN" altLang="en-US" dirty="0">
                <a:latin typeface="楷体_GB2312" charset="-122"/>
                <a:ea typeface="楷体_GB2312" charset="-122"/>
              </a:rPr>
              <a:t>）</a:t>
            </a:r>
            <a:endParaRPr lang="zh-CN" altLang="en-US" dirty="0">
              <a:latin typeface="楷体_GB2312" charset="-122"/>
              <a:ea typeface="楷体_GB2312" charset="-122"/>
            </a:endParaRPr>
          </a:p>
          <a:p>
            <a:pPr eaLnBrk="1" hangingPunct="1"/>
            <a:r>
              <a:rPr lang="zh-CN" altLang="en-US" dirty="0">
                <a:latin typeface="楷体_GB2312" charset="-122"/>
                <a:ea typeface="楷体_GB2312" charset="-122"/>
              </a:rPr>
              <a:t>   </a:t>
            </a:r>
            <a:r>
              <a:rPr lang="zh-CN" altLang="en-US" sz="2800" dirty="0">
                <a:latin typeface="楷体_GB2312" charset="-122"/>
                <a:ea typeface="楷体_GB2312" charset="-122"/>
              </a:rPr>
              <a:t>此时，</a:t>
            </a:r>
            <a:r>
              <a:rPr lang="en-US" altLang="zh-CN" dirty="0">
                <a:latin typeface="楷体_GB2312" charset="-122"/>
                <a:ea typeface="楷体_GB2312" charset="-122"/>
              </a:rPr>
              <a:t>Z = 0</a:t>
            </a:r>
            <a:endParaRPr lang="en-US" altLang="zh-CN" dirty="0">
              <a:latin typeface="楷体_GB2312" charset="-122"/>
              <a:ea typeface="楷体_GB2312" charset="-122"/>
            </a:endParaRPr>
          </a:p>
        </p:txBody>
      </p:sp>
      <p:sp>
        <p:nvSpPr>
          <p:cNvPr id="33798" name="Text Box 6"/>
          <p:cNvSpPr txBox="1"/>
          <p:nvPr/>
        </p:nvSpPr>
        <p:spPr>
          <a:xfrm>
            <a:off x="642938" y="3378200"/>
            <a:ext cx="7467600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  <a:ea typeface="楷体_GB2312" charset="-122"/>
              </a:rPr>
              <a:t>     </a:t>
            </a:r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然后，找另一个基本可行解。即将非基变量换入基变量中，但保证其余的非负。如此循环下去，直到找到最优解为止。</a:t>
            </a:r>
            <a:endParaRPr lang="zh-CN" altLang="en-US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33799" name="Text Box 7"/>
          <p:cNvSpPr txBox="1"/>
          <p:nvPr/>
        </p:nvSpPr>
        <p:spPr>
          <a:xfrm>
            <a:off x="642938" y="5000625"/>
            <a:ext cx="7643812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  <a:ea typeface="楷体_GB2312" charset="-122"/>
              </a:rPr>
              <a:t>   </a:t>
            </a:r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  <a:ea typeface="楷体_GB2312" charset="-122"/>
              </a:rPr>
              <a:t>注意：为尽快找到最优解，在换入变量时有一定的要求。如将目标系数大的先换入等。</a:t>
            </a:r>
            <a:endParaRPr lang="zh-CN" altLang="en-US" sz="2800" dirty="0">
              <a:solidFill>
                <a:srgbClr val="660066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7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/>
      <p:bldP spid="33796" grpId="0"/>
      <p:bldP spid="33797" grpId="0"/>
      <p:bldP spid="33798" grpId="0"/>
      <p:bldP spid="3379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3"/>
          <p:cNvSpPr/>
          <p:nvPr/>
        </p:nvSpPr>
        <p:spPr>
          <a:xfrm>
            <a:off x="2814638" y="1633538"/>
            <a:ext cx="3505200" cy="533400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找出一个初始可行解</a:t>
            </a:r>
            <a:endParaRPr lang="zh-CN" altLang="en-US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1" name="AutoShape 4"/>
          <p:cNvSpPr/>
          <p:nvPr/>
        </p:nvSpPr>
        <p:spPr>
          <a:xfrm>
            <a:off x="3195638" y="3005138"/>
            <a:ext cx="2667000" cy="914400"/>
          </a:xfrm>
          <a:prstGeom prst="diamond">
            <a:avLst/>
          </a:prstGeom>
          <a:solidFill>
            <a:srgbClr val="CC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是否最优</a:t>
            </a:r>
            <a:endParaRPr lang="zh-CN" altLang="en-US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2" name="Rectangle 7"/>
          <p:cNvSpPr/>
          <p:nvPr/>
        </p:nvSpPr>
        <p:spPr>
          <a:xfrm>
            <a:off x="2662238" y="4757738"/>
            <a:ext cx="3886200" cy="914400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转移到另一个目标函数</a:t>
            </a:r>
            <a:endParaRPr lang="zh-CN" altLang="en-US" sz="2800" dirty="0">
              <a:latin typeface="Times New Roman" panose="02020603050405020304" pitchFamily="18" charset="0"/>
              <a:ea typeface="楷体_GB2312" charset="-122"/>
            </a:endParaRPr>
          </a:p>
          <a:p>
            <a:pPr algn="ctr" eaLnBrk="1" hangingPunct="1"/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（找更大的基可行解）</a:t>
            </a:r>
            <a:endParaRPr lang="zh-CN" altLang="en-US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3" name="Rectangle 10"/>
          <p:cNvSpPr/>
          <p:nvPr/>
        </p:nvSpPr>
        <p:spPr>
          <a:xfrm>
            <a:off x="7005638" y="3233738"/>
            <a:ext cx="1066800" cy="533400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最优解</a:t>
            </a:r>
            <a:endParaRPr lang="zh-CN" altLang="en-US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4" name="Line 11"/>
          <p:cNvSpPr/>
          <p:nvPr/>
        </p:nvSpPr>
        <p:spPr>
          <a:xfrm>
            <a:off x="4567238" y="2166938"/>
            <a:ext cx="0" cy="838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" name="Line 12"/>
          <p:cNvSpPr/>
          <p:nvPr/>
        </p:nvSpPr>
        <p:spPr>
          <a:xfrm>
            <a:off x="4567238" y="3919538"/>
            <a:ext cx="0" cy="838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" name="Line 13"/>
          <p:cNvSpPr/>
          <p:nvPr/>
        </p:nvSpPr>
        <p:spPr>
          <a:xfrm>
            <a:off x="5862638" y="3462338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" name="Line 14"/>
          <p:cNvSpPr/>
          <p:nvPr/>
        </p:nvSpPr>
        <p:spPr>
          <a:xfrm>
            <a:off x="1824038" y="3462338"/>
            <a:ext cx="1371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" name="Line 15"/>
          <p:cNvSpPr/>
          <p:nvPr/>
        </p:nvSpPr>
        <p:spPr>
          <a:xfrm>
            <a:off x="1824038" y="3462338"/>
            <a:ext cx="0" cy="1752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" name="Line 16"/>
          <p:cNvSpPr/>
          <p:nvPr/>
        </p:nvSpPr>
        <p:spPr>
          <a:xfrm>
            <a:off x="1824038" y="5214938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" name="Text Box 17"/>
          <p:cNvSpPr txBox="1"/>
          <p:nvPr/>
        </p:nvSpPr>
        <p:spPr>
          <a:xfrm>
            <a:off x="6167438" y="3005138"/>
            <a:ext cx="492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是</a:t>
            </a:r>
            <a:endParaRPr lang="zh-CN" altLang="en-US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21" name="Text Box 18"/>
          <p:cNvSpPr txBox="1"/>
          <p:nvPr/>
        </p:nvSpPr>
        <p:spPr>
          <a:xfrm>
            <a:off x="4033838" y="4071938"/>
            <a:ext cx="492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否</a:t>
            </a:r>
            <a:endParaRPr lang="zh-CN" altLang="en-US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22" name="Text Box 19"/>
          <p:cNvSpPr txBox="1"/>
          <p:nvPr/>
        </p:nvSpPr>
        <p:spPr>
          <a:xfrm>
            <a:off x="1290638" y="3843338"/>
            <a:ext cx="492125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循</a:t>
            </a:r>
            <a:endParaRPr lang="zh-CN" altLang="en-US" dirty="0">
              <a:latin typeface="Times New Roman" panose="02020603050405020304" pitchFamily="18" charset="0"/>
              <a:ea typeface="楷体_GB2312" charset="-122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楷体_GB2312" charset="-122"/>
              </a:rPr>
              <a:t>环</a:t>
            </a:r>
            <a:endParaRPr lang="zh-CN" altLang="en-US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23" name="Text Box 20"/>
          <p:cNvSpPr txBox="1"/>
          <p:nvPr/>
        </p:nvSpPr>
        <p:spPr>
          <a:xfrm>
            <a:off x="1900238" y="6053138"/>
            <a:ext cx="55657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  <a:ea typeface="楷体_GB2312" charset="-122"/>
              </a:rPr>
              <a:t>直到找出为止，核心是：变量迭代</a:t>
            </a:r>
            <a:endParaRPr lang="zh-CN" altLang="en-US" sz="2800" dirty="0">
              <a:solidFill>
                <a:srgbClr val="660066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24" name="Line 21"/>
          <p:cNvSpPr/>
          <p:nvPr/>
        </p:nvSpPr>
        <p:spPr>
          <a:xfrm>
            <a:off x="7539038" y="3767138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" name="Rectangle 23"/>
          <p:cNvSpPr/>
          <p:nvPr/>
        </p:nvSpPr>
        <p:spPr>
          <a:xfrm>
            <a:off x="7005638" y="4224338"/>
            <a:ext cx="1066800" cy="533400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结束</a:t>
            </a:r>
            <a:endParaRPr lang="zh-CN" altLang="en-US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26" name="Rectangle 24"/>
          <p:cNvSpPr txBox="1">
            <a:spLocks noChangeArrowheads="1"/>
          </p:cNvSpPr>
          <p:nvPr/>
        </p:nvSpPr>
        <p:spPr bwMode="auto">
          <a:xfrm>
            <a:off x="604838" y="642938"/>
            <a:ext cx="3810000" cy="609600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2800" kern="0" cap="none" spc="0" normalizeH="0" baseline="0" noProof="0">
                <a:solidFill>
                  <a:srgbClr val="660066"/>
                </a:solidFill>
                <a:latin typeface="+mj-lt"/>
                <a:ea typeface="楷体_GB2312" charset="-122"/>
                <a:cs typeface="+mj-cs"/>
              </a:rPr>
              <a:t>其步骤总结如下：</a:t>
            </a:r>
            <a:endParaRPr kumimoji="1" lang="zh-CN" altLang="en-US" sz="2800" kern="0" cap="none" spc="0" normalizeH="0" baseline="0" noProof="0">
              <a:solidFill>
                <a:srgbClr val="660066"/>
              </a:solidFill>
              <a:latin typeface="+mj-lt"/>
              <a:ea typeface="楷体_GB2312" charset="-122"/>
              <a:cs typeface="+mj-cs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500"/>
                            </p:stCondLst>
                            <p:childTnLst>
                              <p:par>
                                <p:cTn id="5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500"/>
                            </p:stCondLst>
                            <p:childTnLst>
                              <p:par>
                                <p:cTn id="7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0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500"/>
                            </p:stCondLst>
                            <p:childTnLst>
                              <p:par>
                                <p:cTn id="8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20" grpId="0"/>
      <p:bldP spid="21" grpId="0"/>
      <p:bldP spid="22" grpId="0"/>
      <p:bldP spid="23" grpId="0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ctrTitle"/>
          </p:nvPr>
        </p:nvSpPr>
        <p:spPr>
          <a:xfrm>
            <a:off x="304800" y="152400"/>
            <a:ext cx="4195763" cy="533400"/>
          </a:xfrm>
          <a:noFill/>
          <a:ln>
            <a:noFill/>
          </a:ln>
        </p:spPr>
        <p:txBody>
          <a:bodyPr/>
          <a:p>
            <a:pPr algn="l" eaLnBrk="1" hangingPunct="1">
              <a:buClrTx/>
              <a:buSzTx/>
              <a:buFontTx/>
            </a:pPr>
            <a:r>
              <a:rPr lang="en-US" altLang="zh-CN" sz="3200" b="1" dirty="0">
                <a:solidFill>
                  <a:srgbClr val="660066"/>
                </a:solidFill>
                <a:ea typeface="楷体_GB2312" charset="-122"/>
              </a:rPr>
              <a:t>1.4 </a:t>
            </a:r>
            <a:r>
              <a:rPr lang="zh-CN" altLang="en-US" sz="3200" b="1" dirty="0">
                <a:solidFill>
                  <a:srgbClr val="660066"/>
                </a:solidFill>
                <a:ea typeface="楷体_GB2312" charset="-122"/>
              </a:rPr>
              <a:t>单纯形法计算步骤</a:t>
            </a:r>
            <a:endParaRPr lang="zh-CN" altLang="en-US" sz="3200" b="1" dirty="0">
              <a:solidFill>
                <a:srgbClr val="660066"/>
              </a:solidFill>
              <a:ea typeface="楷体_GB2312" charset="-122"/>
            </a:endParaRPr>
          </a:p>
        </p:txBody>
      </p:sp>
      <p:sp>
        <p:nvSpPr>
          <p:cNvPr id="31747" name="Text Box 3"/>
          <p:cNvSpPr txBox="1"/>
          <p:nvPr/>
        </p:nvSpPr>
        <p:spPr>
          <a:xfrm>
            <a:off x="457200" y="914400"/>
            <a:ext cx="12604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  <a:ea typeface="楷体_GB2312" charset="-122"/>
              </a:rPr>
              <a:t>例一、</a:t>
            </a:r>
            <a:endParaRPr lang="zh-CN" altLang="en-US" sz="2800" dirty="0">
              <a:solidFill>
                <a:srgbClr val="660066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58720" name="Object 0"/>
          <p:cNvGraphicFramePr>
            <a:graphicFrameLocks noChangeAspect="1"/>
          </p:cNvGraphicFramePr>
          <p:nvPr/>
        </p:nvGraphicFramePr>
        <p:xfrm>
          <a:off x="2217738" y="762000"/>
          <a:ext cx="46355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1206500" imgH="1397000" progId="Equation.3">
                  <p:embed/>
                </p:oleObj>
              </mc:Choice>
              <mc:Fallback>
                <p:oleObj name="" r:id="rId1" imgW="1206500" imgH="13970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17738" y="762000"/>
                        <a:ext cx="4635500" cy="2743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Text Box 5"/>
          <p:cNvSpPr txBox="1"/>
          <p:nvPr/>
        </p:nvSpPr>
        <p:spPr>
          <a:xfrm>
            <a:off x="0" y="3733800"/>
            <a:ext cx="24114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  <a:ea typeface="楷体_GB2312" charset="-122"/>
              </a:rPr>
              <a:t>变成标准型</a:t>
            </a:r>
            <a:endParaRPr lang="zh-CN" altLang="en-US" sz="2800" dirty="0">
              <a:solidFill>
                <a:srgbClr val="660066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58721" name="Object 1"/>
          <p:cNvGraphicFramePr>
            <a:graphicFrameLocks noChangeAspect="1"/>
          </p:cNvGraphicFramePr>
          <p:nvPr/>
        </p:nvGraphicFramePr>
        <p:xfrm>
          <a:off x="2041525" y="3657600"/>
          <a:ext cx="7026275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2921000" imgH="1397000" progId="Equation.3">
                  <p:embed/>
                </p:oleObj>
              </mc:Choice>
              <mc:Fallback>
                <p:oleObj name="" r:id="rId3" imgW="2921000" imgH="13970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41525" y="3657600"/>
                        <a:ext cx="7026275" cy="297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47" grpId="0"/>
      <p:bldP spid="3174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ext Box 2"/>
          <p:cNvSpPr txBox="1"/>
          <p:nvPr/>
        </p:nvSpPr>
        <p:spPr>
          <a:xfrm>
            <a:off x="381000" y="304800"/>
            <a:ext cx="34131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  <a:ea typeface="楷体_GB2312" charset="-122"/>
              </a:rPr>
              <a:t>约束方程的系数矩阵</a:t>
            </a:r>
            <a:endParaRPr lang="zh-CN" altLang="en-US" sz="2800" dirty="0">
              <a:solidFill>
                <a:srgbClr val="660066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59744" name="Object 0"/>
          <p:cNvGraphicFramePr>
            <a:graphicFrameLocks noChangeAspect="1"/>
          </p:cNvGraphicFramePr>
          <p:nvPr/>
        </p:nvGraphicFramePr>
        <p:xfrm>
          <a:off x="412750" y="977900"/>
          <a:ext cx="8320088" cy="200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3492500" imgH="927100" progId="Equation.3">
                  <p:embed/>
                </p:oleObj>
              </mc:Choice>
              <mc:Fallback>
                <p:oleObj name="" r:id="rId1" imgW="3492500" imgH="9271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2750" y="977900"/>
                        <a:ext cx="8320088" cy="2008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5" name="Object 1"/>
          <p:cNvGraphicFramePr>
            <a:graphicFrameLocks noChangeAspect="1"/>
          </p:cNvGraphicFramePr>
          <p:nvPr/>
        </p:nvGraphicFramePr>
        <p:xfrm>
          <a:off x="419100" y="3048000"/>
          <a:ext cx="8039100" cy="190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2679700" imgH="914400" progId="Equation.3">
                  <p:embed/>
                </p:oleObj>
              </mc:Choice>
              <mc:Fallback>
                <p:oleObj name="" r:id="rId3" imgW="2679700" imgH="9144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9100" y="3048000"/>
                        <a:ext cx="8039100" cy="1903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6" name="Object 2"/>
          <p:cNvGraphicFramePr>
            <a:graphicFrameLocks noChangeAspect="1"/>
          </p:cNvGraphicFramePr>
          <p:nvPr/>
        </p:nvGraphicFramePr>
        <p:xfrm>
          <a:off x="4327525" y="5105400"/>
          <a:ext cx="23336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5" imgW="965200" imgH="228600" progId="Equation.3">
                  <p:embed/>
                </p:oleObj>
              </mc:Choice>
              <mc:Fallback>
                <p:oleObj name="" r:id="rId5" imgW="965200" imgH="2286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7525" y="5105400"/>
                        <a:ext cx="2333625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7" name="Object 3"/>
          <p:cNvGraphicFramePr>
            <a:graphicFrameLocks noChangeAspect="1"/>
          </p:cNvGraphicFramePr>
          <p:nvPr/>
        </p:nvGraphicFramePr>
        <p:xfrm>
          <a:off x="5122863" y="5638800"/>
          <a:ext cx="11842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7" imgW="381000" imgH="215900" progId="Equation.3">
                  <p:embed/>
                </p:oleObj>
              </mc:Choice>
              <mc:Fallback>
                <p:oleObj name="" r:id="rId7" imgW="381000" imgH="2159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22863" y="5638800"/>
                        <a:ext cx="1184275" cy="576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Text Box 7"/>
          <p:cNvSpPr txBox="1"/>
          <p:nvPr/>
        </p:nvSpPr>
        <p:spPr>
          <a:xfrm>
            <a:off x="6781800" y="5181600"/>
            <a:ext cx="16192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为基变量</a:t>
            </a:r>
            <a:endParaRPr lang="zh-CN" altLang="en-US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32776" name="Text Box 8"/>
          <p:cNvSpPr txBox="1"/>
          <p:nvPr/>
        </p:nvSpPr>
        <p:spPr>
          <a:xfrm>
            <a:off x="6781800" y="5715000"/>
            <a:ext cx="19780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为非基变量</a:t>
            </a:r>
            <a:endParaRPr lang="zh-CN" altLang="en-US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32777" name="Text Box 9"/>
          <p:cNvSpPr txBox="1"/>
          <p:nvPr/>
        </p:nvSpPr>
        <p:spPr>
          <a:xfrm>
            <a:off x="304800" y="5181600"/>
            <a:ext cx="41275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i="1" dirty="0">
                <a:latin typeface="楷体_GB2312" charset="-122"/>
                <a:ea typeface="楷体_GB2312" charset="-122"/>
              </a:rPr>
              <a:t>I </a:t>
            </a:r>
            <a:r>
              <a:rPr lang="zh-CN" altLang="en-US" sz="2800" dirty="0">
                <a:latin typeface="楷体_GB2312" charset="-122"/>
                <a:ea typeface="楷体_GB2312" charset="-122"/>
              </a:rPr>
              <a:t>为单位矩阵且线性独立</a:t>
            </a:r>
            <a:endParaRPr lang="zh-CN" altLang="en-US" sz="2800" dirty="0">
              <a:latin typeface="楷体_GB2312" charset="-122"/>
              <a:ea typeface="楷体_GB231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15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5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5" grpId="0"/>
      <p:bldP spid="32776" grpId="0"/>
      <p:bldP spid="3277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ctrTitle"/>
          </p:nvPr>
        </p:nvSpPr>
        <p:spPr>
          <a:xfrm>
            <a:off x="304800" y="152400"/>
            <a:ext cx="4195763" cy="533400"/>
          </a:xfrm>
          <a:noFill/>
          <a:ln>
            <a:noFill/>
          </a:ln>
        </p:spPr>
        <p:txBody>
          <a:bodyPr/>
          <a:p>
            <a:pPr algn="l" eaLnBrk="1" hangingPunct="1">
              <a:buClrTx/>
              <a:buSzTx/>
              <a:buFontTx/>
            </a:pPr>
            <a:r>
              <a:rPr lang="en-US" altLang="zh-CN" sz="3200" b="1" dirty="0">
                <a:solidFill>
                  <a:srgbClr val="660066"/>
                </a:solidFill>
                <a:ea typeface="楷体_GB2312" charset="-122"/>
              </a:rPr>
              <a:t>1.4 </a:t>
            </a:r>
            <a:r>
              <a:rPr lang="zh-CN" altLang="en-US" sz="3200" b="1" dirty="0">
                <a:solidFill>
                  <a:srgbClr val="660066"/>
                </a:solidFill>
                <a:ea typeface="楷体_GB2312" charset="-122"/>
              </a:rPr>
              <a:t>单纯形法计算步骤</a:t>
            </a:r>
            <a:endParaRPr lang="zh-CN" altLang="en-US" sz="3200" b="1" dirty="0">
              <a:solidFill>
                <a:srgbClr val="660066"/>
              </a:solidFill>
              <a:ea typeface="楷体_GB2312" charset="-122"/>
            </a:endParaRPr>
          </a:p>
        </p:txBody>
      </p:sp>
      <p:sp>
        <p:nvSpPr>
          <p:cNvPr id="31747" name="Text Box 3"/>
          <p:cNvSpPr txBox="1"/>
          <p:nvPr/>
        </p:nvSpPr>
        <p:spPr>
          <a:xfrm>
            <a:off x="457200" y="914400"/>
            <a:ext cx="12604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  <a:ea typeface="楷体_GB2312" charset="-122"/>
              </a:rPr>
              <a:t>例一、</a:t>
            </a:r>
            <a:endParaRPr lang="zh-CN" altLang="en-US" sz="2800" dirty="0">
              <a:solidFill>
                <a:srgbClr val="660066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58720" name="Object 0"/>
          <p:cNvGraphicFramePr>
            <a:graphicFrameLocks noChangeAspect="1"/>
          </p:cNvGraphicFramePr>
          <p:nvPr/>
        </p:nvGraphicFramePr>
        <p:xfrm>
          <a:off x="2217738" y="762000"/>
          <a:ext cx="46355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206500" imgH="1397000" progId="Equation.3">
                  <p:embed/>
                </p:oleObj>
              </mc:Choice>
              <mc:Fallback>
                <p:oleObj name="" r:id="rId1" imgW="1206500" imgH="13970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17738" y="762000"/>
                        <a:ext cx="4635500" cy="2743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Text Box 5"/>
          <p:cNvSpPr txBox="1"/>
          <p:nvPr/>
        </p:nvSpPr>
        <p:spPr>
          <a:xfrm>
            <a:off x="0" y="3733800"/>
            <a:ext cx="24114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  <a:ea typeface="楷体_GB2312" charset="-122"/>
              </a:rPr>
              <a:t>变成标准型</a:t>
            </a:r>
            <a:endParaRPr lang="zh-CN" altLang="en-US" sz="2800" dirty="0">
              <a:solidFill>
                <a:srgbClr val="660066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58721" name="Object 1"/>
          <p:cNvGraphicFramePr>
            <a:graphicFrameLocks noChangeAspect="1"/>
          </p:cNvGraphicFramePr>
          <p:nvPr/>
        </p:nvGraphicFramePr>
        <p:xfrm>
          <a:off x="2041525" y="3657600"/>
          <a:ext cx="7026275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2921000" imgH="1397000" progId="Equation.3">
                  <p:embed/>
                </p:oleObj>
              </mc:Choice>
              <mc:Fallback>
                <p:oleObj name="" r:id="rId3" imgW="2921000" imgH="13970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41525" y="3657600"/>
                        <a:ext cx="7026275" cy="297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47" grpId="0"/>
      <p:bldP spid="3174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ext Box 2"/>
          <p:cNvSpPr txBox="1"/>
          <p:nvPr/>
        </p:nvSpPr>
        <p:spPr>
          <a:xfrm>
            <a:off x="381000" y="304800"/>
            <a:ext cx="34131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  <a:ea typeface="楷体_GB2312" charset="-122"/>
              </a:rPr>
              <a:t>约束方程的系数矩阵</a:t>
            </a:r>
            <a:endParaRPr lang="zh-CN" altLang="en-US" sz="2800" dirty="0">
              <a:solidFill>
                <a:srgbClr val="660066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graphicFrame>
        <p:nvGraphicFramePr>
          <p:cNvPr id="159744" name="Object 0"/>
          <p:cNvGraphicFramePr>
            <a:graphicFrameLocks noChangeAspect="1"/>
          </p:cNvGraphicFramePr>
          <p:nvPr/>
        </p:nvGraphicFramePr>
        <p:xfrm>
          <a:off x="412750" y="977900"/>
          <a:ext cx="8320088" cy="200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3492500" imgH="927100" progId="Equation.3">
                  <p:embed/>
                </p:oleObj>
              </mc:Choice>
              <mc:Fallback>
                <p:oleObj name="" r:id="rId1" imgW="3492500" imgH="9271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2750" y="977900"/>
                        <a:ext cx="8320088" cy="2008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5" name="Object 1"/>
          <p:cNvGraphicFramePr>
            <a:graphicFrameLocks noChangeAspect="1"/>
          </p:cNvGraphicFramePr>
          <p:nvPr/>
        </p:nvGraphicFramePr>
        <p:xfrm>
          <a:off x="419100" y="3048000"/>
          <a:ext cx="8039100" cy="190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2679700" imgH="914400" progId="Equation.3">
                  <p:embed/>
                </p:oleObj>
              </mc:Choice>
              <mc:Fallback>
                <p:oleObj name="" r:id="rId3" imgW="2679700" imgH="9144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9100" y="3048000"/>
                        <a:ext cx="8039100" cy="1903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6" name="Object 2"/>
          <p:cNvGraphicFramePr>
            <a:graphicFrameLocks noChangeAspect="1"/>
          </p:cNvGraphicFramePr>
          <p:nvPr/>
        </p:nvGraphicFramePr>
        <p:xfrm>
          <a:off x="4327525" y="5105400"/>
          <a:ext cx="23336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965200" imgH="228600" progId="Equation.3">
                  <p:embed/>
                </p:oleObj>
              </mc:Choice>
              <mc:Fallback>
                <p:oleObj name="" r:id="rId5" imgW="965200" imgH="2286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7525" y="5105400"/>
                        <a:ext cx="2333625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7" name="Object 3"/>
          <p:cNvGraphicFramePr>
            <a:graphicFrameLocks noChangeAspect="1"/>
          </p:cNvGraphicFramePr>
          <p:nvPr/>
        </p:nvGraphicFramePr>
        <p:xfrm>
          <a:off x="5122863" y="5638800"/>
          <a:ext cx="11842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7" imgW="381000" imgH="215900" progId="Equation.3">
                  <p:embed/>
                </p:oleObj>
              </mc:Choice>
              <mc:Fallback>
                <p:oleObj name="" r:id="rId7" imgW="381000" imgH="2159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22863" y="5638800"/>
                        <a:ext cx="1184275" cy="576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Text Box 7"/>
          <p:cNvSpPr txBox="1"/>
          <p:nvPr/>
        </p:nvSpPr>
        <p:spPr>
          <a:xfrm>
            <a:off x="6781800" y="5181600"/>
            <a:ext cx="16192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为基变量</a:t>
            </a:r>
            <a:endParaRPr lang="zh-CN" altLang="en-US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32776" name="Text Box 8"/>
          <p:cNvSpPr txBox="1"/>
          <p:nvPr/>
        </p:nvSpPr>
        <p:spPr>
          <a:xfrm>
            <a:off x="6781800" y="5715000"/>
            <a:ext cx="19780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楷体_GB2312" charset="-122"/>
              </a:rPr>
              <a:t>为非基变量</a:t>
            </a:r>
            <a:endParaRPr lang="zh-CN" altLang="en-US" sz="2800" dirty="0"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32777" name="Text Box 9"/>
          <p:cNvSpPr txBox="1"/>
          <p:nvPr/>
        </p:nvSpPr>
        <p:spPr>
          <a:xfrm>
            <a:off x="304800" y="5181600"/>
            <a:ext cx="41275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i="1" dirty="0">
                <a:latin typeface="楷体_GB2312" charset="-122"/>
                <a:ea typeface="楷体_GB2312" charset="-122"/>
              </a:rPr>
              <a:t>I </a:t>
            </a:r>
            <a:r>
              <a:rPr lang="zh-CN" altLang="en-US" sz="2800" dirty="0">
                <a:latin typeface="楷体_GB2312" charset="-122"/>
                <a:ea typeface="楷体_GB2312" charset="-122"/>
              </a:rPr>
              <a:t>为单位矩阵且线性独立</a:t>
            </a:r>
            <a:endParaRPr lang="zh-CN" altLang="en-US" sz="2800" dirty="0">
              <a:latin typeface="楷体_GB2312" charset="-122"/>
              <a:ea typeface="楷体_GB231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15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5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5" grpId="0"/>
      <p:bldP spid="32776" grpId="0"/>
      <p:bldP spid="3277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126" name="Rectangle 190"/>
          <p:cNvSpPr/>
          <p:nvPr/>
        </p:nvSpPr>
        <p:spPr>
          <a:xfrm>
            <a:off x="304800" y="2362200"/>
            <a:ext cx="85344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0125" name="Rectangle 189"/>
          <p:cNvSpPr/>
          <p:nvPr/>
        </p:nvSpPr>
        <p:spPr>
          <a:xfrm>
            <a:off x="3810000" y="533400"/>
            <a:ext cx="609600" cy="28956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0097" name="Rectangle 161"/>
          <p:cNvSpPr/>
          <p:nvPr/>
        </p:nvSpPr>
        <p:spPr>
          <a:xfrm flipV="1">
            <a:off x="3810000" y="2362200"/>
            <a:ext cx="609600" cy="457200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343" name="表格 14342"/>
          <p:cNvGraphicFramePr/>
          <p:nvPr/>
        </p:nvGraphicFramePr>
        <p:xfrm>
          <a:off x="304800" y="0"/>
          <a:ext cx="8534400" cy="3430588"/>
        </p:xfrm>
        <a:graphic>
          <a:graphicData uri="http://schemas.openxmlformats.org/drawingml/2006/table">
            <a:tbl>
              <a:tblPr/>
              <a:tblGrid>
                <a:gridCol w="854075"/>
                <a:gridCol w="852488"/>
                <a:gridCol w="854075"/>
                <a:gridCol w="4754562"/>
                <a:gridCol w="1219200"/>
              </a:tblGrid>
              <a:tr h="517525">
                <a:tc grid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2       3       0       0       0       0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800" b="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800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    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    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    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      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         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986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12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12</a:t>
                      </a:r>
                      <a:endParaRPr lang="en-US" altLang="zh-CN" sz="2800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2       2       1       0       0       0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1       2       0       1       0       0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4       0       0       0       1       0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0       4       0       0       0       1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5313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buNone/>
                      </a:pPr>
                      <a:endParaRPr lang="zh-CN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0029" name="Object 93"/>
          <p:cNvGraphicFramePr>
            <a:graphicFrameLocks noChangeAspect="1"/>
          </p:cNvGraphicFramePr>
          <p:nvPr/>
        </p:nvGraphicFramePr>
        <p:xfrm>
          <a:off x="8077200" y="381000"/>
          <a:ext cx="40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152400" imgH="228600" progId="Equation.3">
                  <p:embed/>
                </p:oleObj>
              </mc:Choice>
              <mc:Fallback>
                <p:oleObj name="" r:id="rId1" imgW="152400" imgH="2286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77200" y="381000"/>
                        <a:ext cx="4064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94" name="Line 158"/>
          <p:cNvSpPr/>
          <p:nvPr/>
        </p:nvSpPr>
        <p:spPr>
          <a:xfrm flipV="1">
            <a:off x="4343400" y="3048000"/>
            <a:ext cx="0" cy="3048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127" name="Rectangle 191"/>
          <p:cNvSpPr/>
          <p:nvPr/>
        </p:nvSpPr>
        <p:spPr>
          <a:xfrm>
            <a:off x="3048000" y="2819400"/>
            <a:ext cx="43624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2       3       0       0       0       0</a:t>
            </a:r>
            <a:endParaRPr lang="en-US" altLang="zh-CN" sz="28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130" name="Rectangle 194"/>
          <p:cNvSpPr/>
          <p:nvPr/>
        </p:nvSpPr>
        <p:spPr>
          <a:xfrm>
            <a:off x="7848600" y="1066800"/>
            <a:ext cx="8159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12/2</a:t>
            </a:r>
            <a:endParaRPr lang="en-US" altLang="zh-CN" sz="28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131" name="Rectangle 195"/>
          <p:cNvSpPr/>
          <p:nvPr/>
        </p:nvSpPr>
        <p:spPr>
          <a:xfrm>
            <a:off x="7924800" y="1524000"/>
            <a:ext cx="6381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8/2</a:t>
            </a:r>
            <a:endParaRPr lang="en-US" altLang="zh-CN" sz="28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132" name="Rectangle 196"/>
          <p:cNvSpPr/>
          <p:nvPr/>
        </p:nvSpPr>
        <p:spPr>
          <a:xfrm>
            <a:off x="7924800" y="1905000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－</a:t>
            </a:r>
            <a:endParaRPr lang="zh-CN" altLang="en-US" sz="28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133" name="Rectangle 197"/>
          <p:cNvSpPr/>
          <p:nvPr/>
        </p:nvSpPr>
        <p:spPr>
          <a:xfrm>
            <a:off x="7848600" y="2286000"/>
            <a:ext cx="8159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12/4</a:t>
            </a:r>
            <a:endParaRPr lang="en-US" altLang="zh-CN" sz="28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4381" name="表格 14380"/>
          <p:cNvGraphicFramePr/>
          <p:nvPr/>
        </p:nvGraphicFramePr>
        <p:xfrm>
          <a:off x="304800" y="3429000"/>
          <a:ext cx="8534400" cy="3430588"/>
        </p:xfrm>
        <a:graphic>
          <a:graphicData uri="http://schemas.openxmlformats.org/drawingml/2006/table">
            <a:tbl>
              <a:tblPr/>
              <a:tblGrid>
                <a:gridCol w="854075"/>
                <a:gridCol w="852488"/>
                <a:gridCol w="854075"/>
                <a:gridCol w="4754562"/>
                <a:gridCol w="1219200"/>
              </a:tblGrid>
              <a:tr h="517525">
                <a:tc grid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800" b="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sz="2800" b="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2       3       0       0       0       0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800" b="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800" b="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800" b="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b="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800" b="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800" b="0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x</a:t>
                      </a:r>
                      <a:r>
                        <a:rPr lang="en-US" altLang="zh-CN" sz="2800" b="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2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     x</a:t>
                      </a:r>
                      <a:r>
                        <a:rPr lang="en-US" altLang="zh-CN" sz="2800" b="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     x</a:t>
                      </a:r>
                      <a:r>
                        <a:rPr lang="en-US" altLang="zh-CN" sz="2800" b="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     x</a:t>
                      </a:r>
                      <a:r>
                        <a:rPr lang="en-US" altLang="zh-CN" sz="2800" b="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      </a:t>
                      </a:r>
                      <a:r>
                        <a:rPr lang="en-US" altLang="zh-CN" sz="2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x</a:t>
                      </a:r>
                      <a:r>
                        <a:rPr lang="en-US" altLang="zh-CN" sz="2800" b="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         </a:t>
                      </a:r>
                      <a:r>
                        <a:rPr lang="en-US" altLang="zh-CN" sz="28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b="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986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i="1" baseline="-250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i="1" baseline="-250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  <a:endParaRPr lang="en-US" altLang="zh-CN" sz="28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endParaRPr lang="en-US" altLang="zh-CN" sz="2800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4       0       0       0       1       0</a:t>
                      </a:r>
                      <a:endParaRPr lang="en-US" altLang="zh-CN" sz="28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5313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buNone/>
                      </a:pPr>
                      <a:endParaRPr lang="zh-CN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0178" name="Object 242"/>
          <p:cNvGraphicFramePr>
            <a:graphicFrameLocks noChangeAspect="1"/>
          </p:cNvGraphicFramePr>
          <p:nvPr/>
        </p:nvGraphicFramePr>
        <p:xfrm>
          <a:off x="8077200" y="3810000"/>
          <a:ext cx="40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" imgW="152400" imgH="228600" progId="Equation.3">
                  <p:embed/>
                </p:oleObj>
              </mc:Choice>
              <mc:Fallback>
                <p:oleObj name="" r:id="rId3" imgW="152400" imgH="2286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77200" y="3810000"/>
                        <a:ext cx="4064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187" name="Text Box 251"/>
          <p:cNvSpPr txBox="1"/>
          <p:nvPr/>
        </p:nvSpPr>
        <p:spPr>
          <a:xfrm>
            <a:off x="533400" y="57150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3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188" name="Text Box 252"/>
          <p:cNvSpPr txBox="1"/>
          <p:nvPr/>
        </p:nvSpPr>
        <p:spPr>
          <a:xfrm>
            <a:off x="1371600" y="5715000"/>
            <a:ext cx="609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i="1" dirty="0">
                <a:solidFill>
                  <a:srgbClr val="660066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i="1" baseline="-25000" dirty="0">
                <a:solidFill>
                  <a:srgbClr val="660066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i="1" baseline="-250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189" name="Text Box 253"/>
          <p:cNvSpPr txBox="1"/>
          <p:nvPr/>
        </p:nvSpPr>
        <p:spPr>
          <a:xfrm>
            <a:off x="2209800" y="57150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3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190" name="Text Box 254"/>
          <p:cNvSpPr txBox="1"/>
          <p:nvPr/>
        </p:nvSpPr>
        <p:spPr>
          <a:xfrm>
            <a:off x="3048000" y="57150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191" name="Text Box 255"/>
          <p:cNvSpPr txBox="1"/>
          <p:nvPr/>
        </p:nvSpPr>
        <p:spPr>
          <a:xfrm>
            <a:off x="3886200" y="57150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1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192" name="Text Box 256"/>
          <p:cNvSpPr txBox="1"/>
          <p:nvPr/>
        </p:nvSpPr>
        <p:spPr>
          <a:xfrm>
            <a:off x="4724400" y="57150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193" name="Text Box 257"/>
          <p:cNvSpPr txBox="1"/>
          <p:nvPr/>
        </p:nvSpPr>
        <p:spPr>
          <a:xfrm>
            <a:off x="5486400" y="57150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194" name="Text Box 258"/>
          <p:cNvSpPr txBox="1"/>
          <p:nvPr/>
        </p:nvSpPr>
        <p:spPr>
          <a:xfrm>
            <a:off x="6248400" y="57150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195" name="Text Box 259"/>
          <p:cNvSpPr txBox="1"/>
          <p:nvPr/>
        </p:nvSpPr>
        <p:spPr>
          <a:xfrm>
            <a:off x="6934200" y="5715000"/>
            <a:ext cx="685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1/4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196" name="Text Box 260"/>
          <p:cNvSpPr txBox="1"/>
          <p:nvPr/>
        </p:nvSpPr>
        <p:spPr>
          <a:xfrm>
            <a:off x="2209800" y="49530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199" name="Text Box 263"/>
          <p:cNvSpPr txBox="1"/>
          <p:nvPr/>
        </p:nvSpPr>
        <p:spPr>
          <a:xfrm>
            <a:off x="2209800" y="44958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6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200" name="Text Box 264"/>
          <p:cNvSpPr txBox="1"/>
          <p:nvPr/>
        </p:nvSpPr>
        <p:spPr>
          <a:xfrm>
            <a:off x="3048000" y="44958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201" name="Text Box 265"/>
          <p:cNvSpPr txBox="1"/>
          <p:nvPr/>
        </p:nvSpPr>
        <p:spPr>
          <a:xfrm>
            <a:off x="3886200" y="44958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202" name="Text Box 266"/>
          <p:cNvSpPr txBox="1"/>
          <p:nvPr/>
        </p:nvSpPr>
        <p:spPr>
          <a:xfrm>
            <a:off x="4724400" y="44958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1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203" name="Text Box 267"/>
          <p:cNvSpPr txBox="1"/>
          <p:nvPr/>
        </p:nvSpPr>
        <p:spPr>
          <a:xfrm>
            <a:off x="5486400" y="44958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204" name="Text Box 268"/>
          <p:cNvSpPr txBox="1"/>
          <p:nvPr/>
        </p:nvSpPr>
        <p:spPr>
          <a:xfrm>
            <a:off x="6248400" y="44958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205" name="Text Box 269"/>
          <p:cNvSpPr txBox="1"/>
          <p:nvPr/>
        </p:nvSpPr>
        <p:spPr>
          <a:xfrm>
            <a:off x="6858000" y="4495800"/>
            <a:ext cx="762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-1/2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206" name="Text Box 270"/>
          <p:cNvSpPr txBox="1"/>
          <p:nvPr/>
        </p:nvSpPr>
        <p:spPr>
          <a:xfrm>
            <a:off x="3048000" y="49530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1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207" name="Text Box 271"/>
          <p:cNvSpPr txBox="1"/>
          <p:nvPr/>
        </p:nvSpPr>
        <p:spPr>
          <a:xfrm>
            <a:off x="3886200" y="49530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208" name="Text Box 272"/>
          <p:cNvSpPr txBox="1"/>
          <p:nvPr/>
        </p:nvSpPr>
        <p:spPr>
          <a:xfrm>
            <a:off x="4724400" y="49530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209" name="Text Box 273"/>
          <p:cNvSpPr txBox="1"/>
          <p:nvPr/>
        </p:nvSpPr>
        <p:spPr>
          <a:xfrm>
            <a:off x="5486400" y="49530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1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210" name="Text Box 274"/>
          <p:cNvSpPr txBox="1"/>
          <p:nvPr/>
        </p:nvSpPr>
        <p:spPr>
          <a:xfrm>
            <a:off x="6248400" y="49530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211" name="Text Box 275"/>
          <p:cNvSpPr txBox="1"/>
          <p:nvPr/>
        </p:nvSpPr>
        <p:spPr>
          <a:xfrm>
            <a:off x="6248400" y="49530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212" name="Text Box 276"/>
          <p:cNvSpPr txBox="1"/>
          <p:nvPr/>
        </p:nvSpPr>
        <p:spPr>
          <a:xfrm>
            <a:off x="6858000" y="4953000"/>
            <a:ext cx="762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-1/2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0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300"/>
                                        <p:tgtEl>
                                          <p:spTgt spid="4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0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0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0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0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0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0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0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40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4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26" grpId="0" animBg="1"/>
      <p:bldP spid="40125" grpId="0" animBg="1"/>
      <p:bldP spid="40097" grpId="0" animBg="1"/>
      <p:bldP spid="40127" grpId="0"/>
      <p:bldP spid="40130" grpId="0"/>
      <p:bldP spid="40131" grpId="0"/>
      <p:bldP spid="40132" grpId="0"/>
      <p:bldP spid="40133" grpId="0"/>
      <p:bldP spid="40187" grpId="0"/>
      <p:bldP spid="40188" grpId="0"/>
      <p:bldP spid="40189" grpId="0"/>
      <p:bldP spid="40190" grpId="0"/>
      <p:bldP spid="40191" grpId="0"/>
      <p:bldP spid="40192" grpId="0"/>
      <p:bldP spid="40193" grpId="0"/>
      <p:bldP spid="40194" grpId="0"/>
      <p:bldP spid="40195" grpId="0"/>
      <p:bldP spid="40196" grpId="0"/>
      <p:bldP spid="40199" grpId="0"/>
      <p:bldP spid="40200" grpId="0"/>
      <p:bldP spid="40201" grpId="0"/>
      <p:bldP spid="40202" grpId="0"/>
      <p:bldP spid="40203" grpId="0"/>
      <p:bldP spid="40204" grpId="0"/>
      <p:bldP spid="40205" grpId="0"/>
      <p:bldP spid="40206" grpId="0"/>
      <p:bldP spid="40207" grpId="0"/>
      <p:bldP spid="40208" grpId="0"/>
      <p:bldP spid="40209" grpId="0"/>
      <p:bldP spid="40210" grpId="0"/>
      <p:bldP spid="40211" grpId="0"/>
      <p:bldP spid="402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867" name="Rectangle 163"/>
          <p:cNvSpPr/>
          <p:nvPr/>
        </p:nvSpPr>
        <p:spPr>
          <a:xfrm>
            <a:off x="7620000" y="4572000"/>
            <a:ext cx="1219200" cy="17526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2866" name="Rectangle 162"/>
          <p:cNvSpPr/>
          <p:nvPr/>
        </p:nvSpPr>
        <p:spPr>
          <a:xfrm>
            <a:off x="1981200" y="6324600"/>
            <a:ext cx="5638800" cy="5334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2865" name="Rectangle 161"/>
          <p:cNvSpPr/>
          <p:nvPr/>
        </p:nvSpPr>
        <p:spPr>
          <a:xfrm>
            <a:off x="304800" y="5791200"/>
            <a:ext cx="7315200" cy="533400"/>
          </a:xfrm>
          <a:prstGeom prst="rect">
            <a:avLst/>
          </a:prstGeom>
          <a:solidFill>
            <a:srgbClr val="CCC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2863" name="Rectangle 159"/>
          <p:cNvSpPr/>
          <p:nvPr/>
        </p:nvSpPr>
        <p:spPr>
          <a:xfrm>
            <a:off x="304800" y="5486400"/>
            <a:ext cx="7315200" cy="457200"/>
          </a:xfrm>
          <a:prstGeom prst="rect">
            <a:avLst/>
          </a:prstGeom>
          <a:solidFill>
            <a:srgbClr val="CCC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2864" name="Rectangle 160"/>
          <p:cNvSpPr/>
          <p:nvPr/>
        </p:nvSpPr>
        <p:spPr>
          <a:xfrm>
            <a:off x="304800" y="4572000"/>
            <a:ext cx="7315200" cy="457200"/>
          </a:xfrm>
          <a:prstGeom prst="rect">
            <a:avLst/>
          </a:prstGeom>
          <a:solidFill>
            <a:srgbClr val="CCC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2862" name="Rectangle 158"/>
          <p:cNvSpPr/>
          <p:nvPr/>
        </p:nvSpPr>
        <p:spPr>
          <a:xfrm>
            <a:off x="304800" y="5029200"/>
            <a:ext cx="7315200" cy="457200"/>
          </a:xfrm>
          <a:prstGeom prst="rect">
            <a:avLst/>
          </a:prstGeom>
          <a:solidFill>
            <a:srgbClr val="CCC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2706" name="Rectangle 2"/>
          <p:cNvSpPr/>
          <p:nvPr/>
        </p:nvSpPr>
        <p:spPr>
          <a:xfrm>
            <a:off x="304800" y="1600200"/>
            <a:ext cx="85344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2707" name="Rectangle 3"/>
          <p:cNvSpPr/>
          <p:nvPr/>
        </p:nvSpPr>
        <p:spPr>
          <a:xfrm>
            <a:off x="2971800" y="611188"/>
            <a:ext cx="609600" cy="28178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2708" name="Rectangle 4"/>
          <p:cNvSpPr/>
          <p:nvPr/>
        </p:nvSpPr>
        <p:spPr>
          <a:xfrm>
            <a:off x="2971800" y="1600200"/>
            <a:ext cx="609600" cy="457200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5373" name="表格 15372"/>
          <p:cNvGraphicFramePr/>
          <p:nvPr/>
        </p:nvGraphicFramePr>
        <p:xfrm>
          <a:off x="304800" y="77788"/>
          <a:ext cx="8534400" cy="3429000"/>
        </p:xfrm>
        <a:graphic>
          <a:graphicData uri="http://schemas.openxmlformats.org/drawingml/2006/table">
            <a:tbl>
              <a:tblPr/>
              <a:tblGrid>
                <a:gridCol w="854075"/>
                <a:gridCol w="852488"/>
                <a:gridCol w="854075"/>
                <a:gridCol w="4754562"/>
                <a:gridCol w="1219200"/>
              </a:tblGrid>
              <a:tr h="530225">
                <a:tc grid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  2      3      0      0      0       0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800" b="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86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800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   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   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   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     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         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399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i="1" baseline="-250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i="1" baseline="-250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i="1" baseline="-250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  <a:endParaRPr lang="en-US" altLang="zh-CN" sz="28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8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2      0      1      0      0      -1/2</a:t>
                      </a:r>
                      <a:endParaRPr lang="en-US" altLang="zh-CN" sz="28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>
                        <a:buNone/>
                      </a:pPr>
                      <a:r>
                        <a:rPr lang="en-US" altLang="zh-CN" sz="28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   1      0      0      1      0      -1/2</a:t>
                      </a:r>
                      <a:endParaRPr lang="en-US" altLang="zh-CN" sz="28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>
                        <a:buNone/>
                      </a:pPr>
                      <a:r>
                        <a:rPr lang="en-US" altLang="zh-CN" sz="28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   4      0      0      0      1        0</a:t>
                      </a:r>
                      <a:endParaRPr lang="en-US" altLang="zh-CN" sz="28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>
                        <a:buNone/>
                      </a:pPr>
                      <a:r>
                        <a:rPr lang="en-US" altLang="zh-CN" sz="28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   0      1      0      0      0      1/4</a:t>
                      </a:r>
                      <a:endParaRPr lang="en-US" altLang="zh-CN" sz="28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0225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660066"/>
                          </a:solidFill>
                          <a:latin typeface="Times New Roman" panose="02020603050405020304" pitchFamily="18" charset="0"/>
                        </a:rPr>
                        <a:t>-9</a:t>
                      </a:r>
                      <a:endParaRPr lang="en-US" altLang="zh-CN" sz="2800" dirty="0">
                        <a:solidFill>
                          <a:srgbClr val="66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buNone/>
                      </a:pPr>
                      <a:endParaRPr lang="zh-CN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2741" name="Object 37"/>
          <p:cNvGraphicFramePr>
            <a:graphicFrameLocks noChangeAspect="1"/>
          </p:cNvGraphicFramePr>
          <p:nvPr/>
        </p:nvGraphicFramePr>
        <p:xfrm>
          <a:off x="8077200" y="228600"/>
          <a:ext cx="40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152400" imgH="228600" progId="Equation.3">
                  <p:embed/>
                </p:oleObj>
              </mc:Choice>
              <mc:Fallback>
                <p:oleObj name="" r:id="rId1" imgW="152400" imgH="2286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77200" y="228600"/>
                        <a:ext cx="4064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42" name="Line 38"/>
          <p:cNvSpPr/>
          <p:nvPr/>
        </p:nvSpPr>
        <p:spPr>
          <a:xfrm flipV="1">
            <a:off x="3505200" y="3049588"/>
            <a:ext cx="0" cy="3048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2743" name="Rectangle 39"/>
          <p:cNvSpPr/>
          <p:nvPr/>
        </p:nvSpPr>
        <p:spPr>
          <a:xfrm>
            <a:off x="3124200" y="2909888"/>
            <a:ext cx="431323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2      0      0      0      0      -3/4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44" name="Rectangle 40"/>
          <p:cNvSpPr/>
          <p:nvPr/>
        </p:nvSpPr>
        <p:spPr>
          <a:xfrm>
            <a:off x="7924800" y="1143000"/>
            <a:ext cx="6381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6/2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45" name="Rectangle 41"/>
          <p:cNvSpPr/>
          <p:nvPr/>
        </p:nvSpPr>
        <p:spPr>
          <a:xfrm>
            <a:off x="8077200" y="15240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46" name="Rectangle 42"/>
          <p:cNvSpPr/>
          <p:nvPr/>
        </p:nvSpPr>
        <p:spPr>
          <a:xfrm>
            <a:off x="7848600" y="1981200"/>
            <a:ext cx="8159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16/4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47" name="Rectangle 43"/>
          <p:cNvSpPr/>
          <p:nvPr/>
        </p:nvSpPr>
        <p:spPr>
          <a:xfrm>
            <a:off x="8001000" y="2362200"/>
            <a:ext cx="5429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－</a:t>
            </a:r>
            <a:endParaRPr lang="zh-CN" altLang="en-US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829" name="Rectangle 125"/>
          <p:cNvSpPr/>
          <p:nvPr/>
        </p:nvSpPr>
        <p:spPr>
          <a:xfrm>
            <a:off x="6781800" y="4038600"/>
            <a:ext cx="762000" cy="2819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5412" name="表格 15411"/>
          <p:cNvGraphicFramePr/>
          <p:nvPr/>
        </p:nvGraphicFramePr>
        <p:xfrm>
          <a:off x="304800" y="3506788"/>
          <a:ext cx="8534400" cy="3352800"/>
        </p:xfrm>
        <a:graphic>
          <a:graphicData uri="http://schemas.openxmlformats.org/drawingml/2006/table">
            <a:tbl>
              <a:tblPr/>
              <a:tblGrid>
                <a:gridCol w="854075"/>
                <a:gridCol w="852488"/>
                <a:gridCol w="854075"/>
                <a:gridCol w="4754562"/>
                <a:gridCol w="1219200"/>
              </a:tblGrid>
              <a:tr h="517525">
                <a:tc grid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2       3       0       0       0       0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800" b="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800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    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    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    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      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         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986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0       0       1       -2     0      1/2    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1       0       0       1       0    -1/2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0       0       0       -4     1       2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0       1       0       0       0     1/4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zh-CN" altLang="en-US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－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12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-13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0       0       0      -2       0     1/4</a:t>
                      </a:r>
                      <a:endParaRPr lang="en-US" altLang="zh-CN" sz="28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buNone/>
                      </a:pPr>
                      <a:endParaRPr lang="zh-CN" altLang="zh-CN" sz="12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2859" name="Object 155"/>
          <p:cNvGraphicFramePr>
            <a:graphicFrameLocks noChangeAspect="1"/>
          </p:cNvGraphicFramePr>
          <p:nvPr/>
        </p:nvGraphicFramePr>
        <p:xfrm>
          <a:off x="8077200" y="3735388"/>
          <a:ext cx="40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3" imgW="152400" imgH="228600" progId="Equation.3">
                  <p:embed/>
                </p:oleObj>
              </mc:Choice>
              <mc:Fallback>
                <p:oleObj name="" r:id="rId3" imgW="152400" imgH="2286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77200" y="3735388"/>
                        <a:ext cx="4064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860" name="Line 156"/>
          <p:cNvSpPr/>
          <p:nvPr/>
        </p:nvSpPr>
        <p:spPr>
          <a:xfrm flipV="1">
            <a:off x="7467600" y="6400800"/>
            <a:ext cx="0" cy="3048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2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7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2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2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27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27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5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1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72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28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28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28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28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28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28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28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28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28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28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72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2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28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28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2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72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728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728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28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728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867" grpId="0" animBg="1"/>
      <p:bldP spid="72866" grpId="0" animBg="1"/>
      <p:bldP spid="72865" grpId="0" animBg="1"/>
      <p:bldP spid="72863" grpId="0" animBg="1"/>
      <p:bldP spid="72864" grpId="0" animBg="1"/>
      <p:bldP spid="72862" grpId="0" animBg="1"/>
      <p:bldP spid="72706" grpId="0" animBg="1"/>
      <p:bldP spid="72707" grpId="0" animBg="1"/>
      <p:bldP spid="72708" grpId="0" animBg="1"/>
      <p:bldP spid="72743" grpId="0"/>
      <p:bldP spid="72744" grpId="0"/>
      <p:bldP spid="72745" grpId="0"/>
      <p:bldP spid="72746" grpId="0"/>
      <p:bldP spid="72747" grpId="0"/>
      <p:bldP spid="728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8" name="Rectangle 38"/>
          <p:cNvSpPr/>
          <p:nvPr/>
        </p:nvSpPr>
        <p:spPr>
          <a:xfrm>
            <a:off x="6781800" y="609600"/>
            <a:ext cx="762000" cy="28956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7826" name="Rectangle 2"/>
          <p:cNvSpPr/>
          <p:nvPr/>
        </p:nvSpPr>
        <p:spPr>
          <a:xfrm>
            <a:off x="1981200" y="6324600"/>
            <a:ext cx="5638800" cy="533400"/>
          </a:xfrm>
          <a:prstGeom prst="rect">
            <a:avLst/>
          </a:prstGeom>
          <a:gradFill rotWithShape="0">
            <a:gsLst>
              <a:gs pos="0">
                <a:srgbClr val="475E76"/>
              </a:gs>
              <a:gs pos="50000">
                <a:srgbClr val="99CCFF"/>
              </a:gs>
              <a:gs pos="100000">
                <a:srgbClr val="475E76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7827" name="Rectangle 3"/>
          <p:cNvSpPr/>
          <p:nvPr/>
        </p:nvSpPr>
        <p:spPr>
          <a:xfrm>
            <a:off x="304800" y="5867400"/>
            <a:ext cx="7315200" cy="457200"/>
          </a:xfrm>
          <a:prstGeom prst="rect">
            <a:avLst/>
          </a:prstGeom>
          <a:gradFill rotWithShape="0">
            <a:gsLst>
              <a:gs pos="0">
                <a:srgbClr val="DDDDDD"/>
              </a:gs>
              <a:gs pos="100000">
                <a:srgbClr val="929292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7828" name="Rectangle 4"/>
          <p:cNvSpPr/>
          <p:nvPr/>
        </p:nvSpPr>
        <p:spPr>
          <a:xfrm>
            <a:off x="304800" y="4876800"/>
            <a:ext cx="7315200" cy="533400"/>
          </a:xfrm>
          <a:prstGeom prst="rect">
            <a:avLst/>
          </a:prstGeom>
          <a:gradFill rotWithShape="0">
            <a:gsLst>
              <a:gs pos="0">
                <a:srgbClr val="929292"/>
              </a:gs>
              <a:gs pos="100000">
                <a:srgbClr val="DDDDDD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7829" name="Rectangle 5"/>
          <p:cNvSpPr/>
          <p:nvPr/>
        </p:nvSpPr>
        <p:spPr>
          <a:xfrm>
            <a:off x="304800" y="4572000"/>
            <a:ext cx="7315200" cy="457200"/>
          </a:xfrm>
          <a:prstGeom prst="rect">
            <a:avLst/>
          </a:prstGeom>
          <a:gradFill rotWithShape="0">
            <a:gsLst>
              <a:gs pos="0">
                <a:srgbClr val="8787A9"/>
              </a:gs>
              <a:gs pos="50000">
                <a:srgbClr val="CCCCFF"/>
              </a:gs>
              <a:gs pos="100000">
                <a:srgbClr val="8787A9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7830" name="Rectangle 6"/>
          <p:cNvSpPr/>
          <p:nvPr/>
        </p:nvSpPr>
        <p:spPr>
          <a:xfrm>
            <a:off x="304800" y="5410200"/>
            <a:ext cx="7315200" cy="457200"/>
          </a:xfrm>
          <a:prstGeom prst="rect">
            <a:avLst/>
          </a:prstGeom>
          <a:gradFill rotWithShape="0">
            <a:gsLst>
              <a:gs pos="0">
                <a:srgbClr val="8787A9"/>
              </a:gs>
              <a:gs pos="50000">
                <a:srgbClr val="CCCCFF"/>
              </a:gs>
              <a:gs pos="100000">
                <a:srgbClr val="8787A9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6394" name="表格 16393"/>
          <p:cNvGraphicFramePr/>
          <p:nvPr/>
        </p:nvGraphicFramePr>
        <p:xfrm>
          <a:off x="304800" y="3505200"/>
          <a:ext cx="8534400" cy="3352800"/>
        </p:xfrm>
        <a:graphic>
          <a:graphicData uri="http://schemas.openxmlformats.org/drawingml/2006/table">
            <a:tbl>
              <a:tblPr/>
              <a:tblGrid>
                <a:gridCol w="854075"/>
                <a:gridCol w="852488"/>
                <a:gridCol w="854075"/>
                <a:gridCol w="4754562"/>
                <a:gridCol w="1219200"/>
              </a:tblGrid>
              <a:tr h="517525">
                <a:tc grid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800" i="1" baseline="-25000" dirty="0"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sz="2800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2       3       0      0       0       0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800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800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800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800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800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r>
                        <a:rPr lang="en-US" altLang="zh-CN" sz="2800" i="1" dirty="0">
                          <a:latin typeface="Times New Roman" panose="02020603050405020304" pitchFamily="18" charset="0"/>
                        </a:rPr>
                        <a:t> x</a:t>
                      </a:r>
                      <a:r>
                        <a:rPr lang="en-US" altLang="zh-CN" sz="2800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2800" i="1" dirty="0">
                          <a:latin typeface="Times New Roman" panose="02020603050405020304" pitchFamily="18" charset="0"/>
                        </a:rPr>
                        <a:t>      x</a:t>
                      </a:r>
                      <a:r>
                        <a:rPr lang="en-US" altLang="zh-CN" sz="2800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800" i="1" dirty="0">
                          <a:latin typeface="Times New Roman" panose="02020603050405020304" pitchFamily="18" charset="0"/>
                        </a:rPr>
                        <a:t>      x</a:t>
                      </a:r>
                      <a:r>
                        <a:rPr lang="en-US" altLang="zh-CN" sz="2800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800" i="1" dirty="0">
                          <a:latin typeface="Times New Roman" panose="02020603050405020304" pitchFamily="18" charset="0"/>
                        </a:rPr>
                        <a:t>     x</a:t>
                      </a:r>
                      <a:r>
                        <a:rPr lang="en-US" altLang="zh-CN" sz="2800" i="1" baseline="-25000" dirty="0">
                          <a:latin typeface="Times New Roman" panose="02020603050405020304" pitchFamily="18" charset="0"/>
                        </a:rPr>
                        <a:t>4      </a:t>
                      </a:r>
                      <a:r>
                        <a:rPr lang="en-US" altLang="zh-CN" sz="2800" i="1" dirty="0">
                          <a:latin typeface="Times New Roman" panose="02020603050405020304" pitchFamily="18" charset="0"/>
                        </a:rPr>
                        <a:t> x</a:t>
                      </a:r>
                      <a:r>
                        <a:rPr lang="en-US" altLang="zh-CN" sz="2800" i="1" baseline="-25000" dirty="0">
                          <a:latin typeface="Times New Roman" panose="02020603050405020304" pitchFamily="18" charset="0"/>
                        </a:rPr>
                        <a:t>5         </a:t>
                      </a:r>
                      <a:r>
                        <a:rPr lang="en-US" altLang="zh-CN" sz="2800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986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aseline="-250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latin typeface="Times New Roman" panose="02020603050405020304" pitchFamily="18" charset="0"/>
                        </a:rPr>
                        <a:t> x</a:t>
                      </a:r>
                      <a:r>
                        <a:rPr lang="en-US" altLang="zh-CN" sz="2800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i="1" baseline="-25000" dirty="0"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i="1" baseline="-25000" dirty="0"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800" i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0       0       2      -4      0       1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1       0       1      -1      0       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0       0      -4       4      1       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0       1    -1/2      1      0       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-14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0       0    -1/2     -1      0       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7859" name="Object 35"/>
          <p:cNvGraphicFramePr>
            <a:graphicFrameLocks noChangeAspect="1"/>
          </p:cNvGraphicFramePr>
          <p:nvPr/>
        </p:nvGraphicFramePr>
        <p:xfrm>
          <a:off x="8077200" y="3657600"/>
          <a:ext cx="40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152400" imgH="228600" progId="Equation.3">
                  <p:embed/>
                </p:oleObj>
              </mc:Choice>
              <mc:Fallback>
                <p:oleObj name="" r:id="rId1" imgW="152400" imgH="2286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77200" y="3657600"/>
                        <a:ext cx="4064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61" name="Rectangle 37"/>
          <p:cNvSpPr/>
          <p:nvPr/>
        </p:nvSpPr>
        <p:spPr>
          <a:xfrm>
            <a:off x="304800" y="1143000"/>
            <a:ext cx="85344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7863" name="Rectangle 39"/>
          <p:cNvSpPr/>
          <p:nvPr/>
        </p:nvSpPr>
        <p:spPr>
          <a:xfrm>
            <a:off x="6781800" y="1143000"/>
            <a:ext cx="762000" cy="533400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6424" name="Rectangle 40"/>
          <p:cNvSpPr/>
          <p:nvPr/>
        </p:nvSpPr>
        <p:spPr>
          <a:xfrm>
            <a:off x="2865438" y="2987675"/>
            <a:ext cx="4754562" cy="517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0       0       0      -2       0     1/4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25" name="Rectangle 41"/>
          <p:cNvSpPr/>
          <p:nvPr/>
        </p:nvSpPr>
        <p:spPr>
          <a:xfrm>
            <a:off x="2011363" y="2987675"/>
            <a:ext cx="854075" cy="517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-13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26" name="Rectangle 42"/>
          <p:cNvSpPr/>
          <p:nvPr/>
        </p:nvSpPr>
        <p:spPr>
          <a:xfrm>
            <a:off x="304800" y="2987675"/>
            <a:ext cx="1706563" cy="517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-Z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27" name="Rectangle 43"/>
          <p:cNvSpPr/>
          <p:nvPr/>
        </p:nvSpPr>
        <p:spPr>
          <a:xfrm>
            <a:off x="7620000" y="1219200"/>
            <a:ext cx="1219200" cy="17986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－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12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28" name="Rectangle 44"/>
          <p:cNvSpPr/>
          <p:nvPr/>
        </p:nvSpPr>
        <p:spPr>
          <a:xfrm>
            <a:off x="2895600" y="1219200"/>
            <a:ext cx="4754563" cy="17986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0       0       1       -2     0      1/2    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1       0       0       1       0    -1/2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0       0       0       -4     1       2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0       1       0       0       0     1/4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29" name="Rectangle 45"/>
          <p:cNvSpPr/>
          <p:nvPr/>
        </p:nvSpPr>
        <p:spPr>
          <a:xfrm>
            <a:off x="2011363" y="1189038"/>
            <a:ext cx="854075" cy="17986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2800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30" name="Rectangle 46"/>
          <p:cNvSpPr/>
          <p:nvPr/>
        </p:nvSpPr>
        <p:spPr>
          <a:xfrm>
            <a:off x="1158875" y="1189038"/>
            <a:ext cx="852488" cy="17986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2800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800" i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zh-CN" sz="2800" i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i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31" name="Rectangle 47"/>
          <p:cNvSpPr/>
          <p:nvPr/>
        </p:nvSpPr>
        <p:spPr>
          <a:xfrm>
            <a:off x="304800" y="1189038"/>
            <a:ext cx="854075" cy="17986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32" name="Rectangle 48"/>
          <p:cNvSpPr/>
          <p:nvPr/>
        </p:nvSpPr>
        <p:spPr>
          <a:xfrm>
            <a:off x="2865438" y="671513"/>
            <a:ext cx="4754562" cy="517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     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5        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zh-CN" sz="2800" i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33" name="Rectangle 49"/>
          <p:cNvSpPr/>
          <p:nvPr/>
        </p:nvSpPr>
        <p:spPr>
          <a:xfrm>
            <a:off x="2011363" y="671513"/>
            <a:ext cx="854075" cy="517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lang="en-US" altLang="zh-CN" sz="280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34" name="Rectangle 50"/>
          <p:cNvSpPr/>
          <p:nvPr/>
        </p:nvSpPr>
        <p:spPr>
          <a:xfrm>
            <a:off x="1158875" y="671513"/>
            <a:ext cx="852488" cy="517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lang="en-US" altLang="zh-CN" sz="2800" i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35" name="Rectangle 51"/>
          <p:cNvSpPr/>
          <p:nvPr/>
        </p:nvSpPr>
        <p:spPr>
          <a:xfrm>
            <a:off x="304800" y="671513"/>
            <a:ext cx="854075" cy="517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lang="en-US" altLang="zh-CN" sz="2800" i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36" name="Rectangle 52"/>
          <p:cNvSpPr/>
          <p:nvPr/>
        </p:nvSpPr>
        <p:spPr>
          <a:xfrm>
            <a:off x="7620000" y="153988"/>
            <a:ext cx="1219200" cy="10350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endParaRPr lang="zh-CN" altLang="zh-CN" sz="2800" i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37" name="Rectangle 53"/>
          <p:cNvSpPr/>
          <p:nvPr/>
        </p:nvSpPr>
        <p:spPr>
          <a:xfrm>
            <a:off x="2865438" y="153988"/>
            <a:ext cx="4754562" cy="517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2       3       0       0       0       0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38" name="Rectangle 54"/>
          <p:cNvSpPr/>
          <p:nvPr/>
        </p:nvSpPr>
        <p:spPr>
          <a:xfrm>
            <a:off x="304800" y="153988"/>
            <a:ext cx="2560638" cy="517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endParaRPr lang="en-US" altLang="zh-CN" sz="2800" i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39" name="Line 55"/>
          <p:cNvSpPr/>
          <p:nvPr/>
        </p:nvSpPr>
        <p:spPr>
          <a:xfrm>
            <a:off x="304800" y="153988"/>
            <a:ext cx="8534400" cy="0"/>
          </a:xfrm>
          <a:prstGeom prst="line">
            <a:avLst/>
          </a:prstGeom>
          <a:ln w="28575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440" name="Line 56"/>
          <p:cNvSpPr/>
          <p:nvPr/>
        </p:nvSpPr>
        <p:spPr>
          <a:xfrm>
            <a:off x="304800" y="671513"/>
            <a:ext cx="7315200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441" name="Line 57"/>
          <p:cNvSpPr/>
          <p:nvPr/>
        </p:nvSpPr>
        <p:spPr>
          <a:xfrm>
            <a:off x="304800" y="1143000"/>
            <a:ext cx="8534400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442" name="Line 58"/>
          <p:cNvSpPr/>
          <p:nvPr/>
        </p:nvSpPr>
        <p:spPr>
          <a:xfrm>
            <a:off x="304800" y="2987675"/>
            <a:ext cx="8534400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443" name="Line 59"/>
          <p:cNvSpPr/>
          <p:nvPr/>
        </p:nvSpPr>
        <p:spPr>
          <a:xfrm>
            <a:off x="304800" y="3505200"/>
            <a:ext cx="8534400" cy="0"/>
          </a:xfrm>
          <a:prstGeom prst="line">
            <a:avLst/>
          </a:prstGeom>
          <a:ln w="28575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444" name="Line 60"/>
          <p:cNvSpPr/>
          <p:nvPr/>
        </p:nvSpPr>
        <p:spPr>
          <a:xfrm>
            <a:off x="304800" y="153988"/>
            <a:ext cx="0" cy="3351212"/>
          </a:xfrm>
          <a:prstGeom prst="line">
            <a:avLst/>
          </a:prstGeom>
          <a:ln w="28575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445" name="Line 61"/>
          <p:cNvSpPr/>
          <p:nvPr/>
        </p:nvSpPr>
        <p:spPr>
          <a:xfrm>
            <a:off x="2865438" y="153988"/>
            <a:ext cx="0" cy="3351212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446" name="Line 62"/>
          <p:cNvSpPr/>
          <p:nvPr/>
        </p:nvSpPr>
        <p:spPr>
          <a:xfrm>
            <a:off x="7620000" y="153988"/>
            <a:ext cx="0" cy="3351212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447" name="Line 63"/>
          <p:cNvSpPr/>
          <p:nvPr/>
        </p:nvSpPr>
        <p:spPr>
          <a:xfrm>
            <a:off x="8839200" y="153988"/>
            <a:ext cx="0" cy="3351212"/>
          </a:xfrm>
          <a:prstGeom prst="line">
            <a:avLst/>
          </a:prstGeom>
          <a:ln w="28575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448" name="Line 64"/>
          <p:cNvSpPr/>
          <p:nvPr/>
        </p:nvSpPr>
        <p:spPr>
          <a:xfrm>
            <a:off x="1158875" y="671513"/>
            <a:ext cx="0" cy="2316162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449" name="Line 65"/>
          <p:cNvSpPr/>
          <p:nvPr/>
        </p:nvSpPr>
        <p:spPr>
          <a:xfrm>
            <a:off x="2011363" y="671513"/>
            <a:ext cx="0" cy="2833687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77890" name="Object 66"/>
          <p:cNvGraphicFramePr>
            <a:graphicFrameLocks noChangeAspect="1"/>
          </p:cNvGraphicFramePr>
          <p:nvPr/>
        </p:nvGraphicFramePr>
        <p:xfrm>
          <a:off x="8077200" y="382588"/>
          <a:ext cx="40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152400" imgH="228600" progId="Equation.3">
                  <p:embed/>
                </p:oleObj>
              </mc:Choice>
              <mc:Fallback>
                <p:oleObj name="" r:id="rId3" imgW="152400" imgH="2286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77200" y="382588"/>
                        <a:ext cx="4064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50" name="Line 67"/>
          <p:cNvSpPr/>
          <p:nvPr/>
        </p:nvSpPr>
        <p:spPr>
          <a:xfrm flipV="1">
            <a:off x="7467600" y="3125788"/>
            <a:ext cx="0" cy="3048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7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8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7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7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 animBg="1"/>
      <p:bldP spid="77827" grpId="0" animBg="1"/>
      <p:bldP spid="77828" grpId="0" animBg="1"/>
      <p:bldP spid="77829" grpId="0" animBg="1"/>
      <p:bldP spid="77830" grpId="0" animBg="1"/>
      <p:bldP spid="77861" grpId="0" animBg="1"/>
      <p:bldP spid="7786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169" name="Rectangle 161"/>
          <p:cNvSpPr/>
          <p:nvPr/>
        </p:nvSpPr>
        <p:spPr>
          <a:xfrm>
            <a:off x="1981200" y="6324600"/>
            <a:ext cx="5638800" cy="533400"/>
          </a:xfrm>
          <a:prstGeom prst="rect">
            <a:avLst/>
          </a:prstGeom>
          <a:gradFill rotWithShape="0">
            <a:gsLst>
              <a:gs pos="0">
                <a:srgbClr val="475E76"/>
              </a:gs>
              <a:gs pos="50000">
                <a:srgbClr val="99CCFF"/>
              </a:gs>
              <a:gs pos="100000">
                <a:srgbClr val="475E76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3166" name="Rectangle 158"/>
          <p:cNvSpPr/>
          <p:nvPr/>
        </p:nvSpPr>
        <p:spPr>
          <a:xfrm>
            <a:off x="304800" y="5867400"/>
            <a:ext cx="7315200" cy="457200"/>
          </a:xfrm>
          <a:prstGeom prst="rect">
            <a:avLst/>
          </a:prstGeom>
          <a:gradFill rotWithShape="0">
            <a:gsLst>
              <a:gs pos="0">
                <a:srgbClr val="DDDDDD"/>
              </a:gs>
              <a:gs pos="100000">
                <a:srgbClr val="929292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3168" name="Rectangle 160"/>
          <p:cNvSpPr/>
          <p:nvPr/>
        </p:nvSpPr>
        <p:spPr>
          <a:xfrm>
            <a:off x="304800" y="4876800"/>
            <a:ext cx="7315200" cy="533400"/>
          </a:xfrm>
          <a:prstGeom prst="rect">
            <a:avLst/>
          </a:prstGeom>
          <a:gradFill rotWithShape="0">
            <a:gsLst>
              <a:gs pos="0">
                <a:srgbClr val="929292"/>
              </a:gs>
              <a:gs pos="100000">
                <a:srgbClr val="DDDDDD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3167" name="Rectangle 159"/>
          <p:cNvSpPr/>
          <p:nvPr/>
        </p:nvSpPr>
        <p:spPr>
          <a:xfrm>
            <a:off x="304800" y="4572000"/>
            <a:ext cx="7315200" cy="457200"/>
          </a:xfrm>
          <a:prstGeom prst="rect">
            <a:avLst/>
          </a:prstGeom>
          <a:gradFill rotWithShape="0">
            <a:gsLst>
              <a:gs pos="0">
                <a:srgbClr val="8787A9"/>
              </a:gs>
              <a:gs pos="50000">
                <a:srgbClr val="CCCCFF"/>
              </a:gs>
              <a:gs pos="100000">
                <a:srgbClr val="8787A9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3165" name="Rectangle 157"/>
          <p:cNvSpPr/>
          <p:nvPr/>
        </p:nvSpPr>
        <p:spPr>
          <a:xfrm>
            <a:off x="304800" y="5410200"/>
            <a:ext cx="7315200" cy="457200"/>
          </a:xfrm>
          <a:prstGeom prst="rect">
            <a:avLst/>
          </a:prstGeom>
          <a:gradFill rotWithShape="0">
            <a:gsLst>
              <a:gs pos="0">
                <a:srgbClr val="8787A9"/>
              </a:gs>
              <a:gs pos="50000">
                <a:srgbClr val="CCCCFF"/>
              </a:gs>
              <a:gs pos="100000">
                <a:srgbClr val="8787A9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7417" name="表格 17416"/>
          <p:cNvGraphicFramePr/>
          <p:nvPr/>
        </p:nvGraphicFramePr>
        <p:xfrm>
          <a:off x="304800" y="3505200"/>
          <a:ext cx="8534400" cy="3352800"/>
        </p:xfrm>
        <a:graphic>
          <a:graphicData uri="http://schemas.openxmlformats.org/drawingml/2006/table">
            <a:tbl>
              <a:tblPr/>
              <a:tblGrid>
                <a:gridCol w="854075"/>
                <a:gridCol w="852488"/>
                <a:gridCol w="854075"/>
                <a:gridCol w="4754562"/>
                <a:gridCol w="1219200"/>
              </a:tblGrid>
              <a:tr h="517525">
                <a:tc grid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r>
                        <a:rPr lang="en-US" altLang="zh-CN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2       3       0      0       0       0</a:t>
                      </a:r>
                      <a:endParaRPr lang="en-US" altLang="zh-CN" sz="2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800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    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    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   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      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         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986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i="1" baseline="-250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800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80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r>
                        <a:rPr lang="en-US" altLang="zh-CN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0       0       1      -1   -1/4     0</a:t>
                      </a:r>
                      <a:endParaRPr lang="en-US" altLang="zh-CN" sz="2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>
                        <a:buNone/>
                      </a:pPr>
                      <a:r>
                        <a:rPr lang="en-US" altLang="zh-CN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1       0       0       0    1/4      0</a:t>
                      </a:r>
                      <a:endParaRPr lang="en-US" altLang="zh-CN" sz="2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>
                        <a:buNone/>
                      </a:pPr>
                      <a:r>
                        <a:rPr lang="en-US" altLang="zh-CN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0       0       0      -2    1/2      1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>
                        <a:buNone/>
                      </a:pPr>
                      <a:r>
                        <a:rPr lang="en-US" altLang="zh-CN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0       1       0     1/2  -1/8      0</a:t>
                      </a:r>
                      <a:endParaRPr lang="en-US" altLang="zh-CN" sz="2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endParaRPr lang="zh-CN" altLang="zh-CN" sz="2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2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-14</a:t>
                      </a:r>
                      <a:endParaRPr lang="en-US" altLang="zh-CN" sz="2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r>
                        <a:rPr lang="en-US" altLang="zh-CN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0       0       0    -3/2  -1/8     0</a:t>
                      </a:r>
                      <a:endParaRPr lang="en-US" altLang="zh-CN" sz="2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buNone/>
                      </a:pPr>
                      <a:endParaRPr lang="zh-CN" altLang="zh-CN" sz="2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3076" name="Object 68"/>
          <p:cNvGraphicFramePr>
            <a:graphicFrameLocks noChangeAspect="1"/>
          </p:cNvGraphicFramePr>
          <p:nvPr/>
        </p:nvGraphicFramePr>
        <p:xfrm>
          <a:off x="8077200" y="3657600"/>
          <a:ext cx="40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152400" imgH="228600" progId="Equation.3">
                  <p:embed/>
                </p:oleObj>
              </mc:Choice>
              <mc:Fallback>
                <p:oleObj name="" r:id="rId1" imgW="152400" imgH="2286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77200" y="3657600"/>
                        <a:ext cx="4064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176" name="Rectangle 168"/>
          <p:cNvSpPr/>
          <p:nvPr/>
        </p:nvSpPr>
        <p:spPr>
          <a:xfrm>
            <a:off x="304800" y="2057400"/>
            <a:ext cx="85344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446" name="Rectangle 169"/>
          <p:cNvSpPr/>
          <p:nvPr/>
        </p:nvSpPr>
        <p:spPr>
          <a:xfrm>
            <a:off x="6781800" y="609600"/>
            <a:ext cx="762000" cy="28956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3178" name="Rectangle 170"/>
          <p:cNvSpPr/>
          <p:nvPr/>
        </p:nvSpPr>
        <p:spPr>
          <a:xfrm>
            <a:off x="6781800" y="2057400"/>
            <a:ext cx="762000" cy="533400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448" name="Rectangle 173"/>
          <p:cNvSpPr/>
          <p:nvPr/>
        </p:nvSpPr>
        <p:spPr>
          <a:xfrm>
            <a:off x="2865438" y="2987675"/>
            <a:ext cx="4754562" cy="517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0       0       0      -2       0     1/4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49" name="Rectangle 174"/>
          <p:cNvSpPr/>
          <p:nvPr/>
        </p:nvSpPr>
        <p:spPr>
          <a:xfrm>
            <a:off x="2011363" y="2987675"/>
            <a:ext cx="854075" cy="517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-13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50" name="Rectangle 175"/>
          <p:cNvSpPr/>
          <p:nvPr/>
        </p:nvSpPr>
        <p:spPr>
          <a:xfrm>
            <a:off x="304800" y="2987675"/>
            <a:ext cx="1706563" cy="517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-Z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51" name="Rectangle 176"/>
          <p:cNvSpPr/>
          <p:nvPr/>
        </p:nvSpPr>
        <p:spPr>
          <a:xfrm>
            <a:off x="7620000" y="1189038"/>
            <a:ext cx="1219200" cy="17986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－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12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52" name="Rectangle 177"/>
          <p:cNvSpPr/>
          <p:nvPr/>
        </p:nvSpPr>
        <p:spPr>
          <a:xfrm>
            <a:off x="2865438" y="1189038"/>
            <a:ext cx="4754562" cy="17986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0       0       1       -2     0      1/2    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1       0       0       1       0    -1/2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0       0       0       -4     1       2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0       1       0       0       0     1/4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53" name="Rectangle 178"/>
          <p:cNvSpPr/>
          <p:nvPr/>
        </p:nvSpPr>
        <p:spPr>
          <a:xfrm>
            <a:off x="2011363" y="1189038"/>
            <a:ext cx="854075" cy="17986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2800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54" name="Rectangle 179"/>
          <p:cNvSpPr/>
          <p:nvPr/>
        </p:nvSpPr>
        <p:spPr>
          <a:xfrm>
            <a:off x="1158875" y="1189038"/>
            <a:ext cx="852488" cy="17986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2800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800" i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zh-CN" sz="2800" i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i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55" name="Rectangle 180"/>
          <p:cNvSpPr/>
          <p:nvPr/>
        </p:nvSpPr>
        <p:spPr>
          <a:xfrm>
            <a:off x="304800" y="1189038"/>
            <a:ext cx="854075" cy="17986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56" name="Rectangle 181"/>
          <p:cNvSpPr/>
          <p:nvPr/>
        </p:nvSpPr>
        <p:spPr>
          <a:xfrm>
            <a:off x="2865438" y="671513"/>
            <a:ext cx="4754562" cy="517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     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5        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zh-CN" sz="2800" i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57" name="Rectangle 182"/>
          <p:cNvSpPr/>
          <p:nvPr/>
        </p:nvSpPr>
        <p:spPr>
          <a:xfrm>
            <a:off x="2011363" y="671513"/>
            <a:ext cx="854075" cy="517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lang="en-US" altLang="zh-CN" sz="280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58" name="Rectangle 183"/>
          <p:cNvSpPr/>
          <p:nvPr/>
        </p:nvSpPr>
        <p:spPr>
          <a:xfrm>
            <a:off x="1158875" y="671513"/>
            <a:ext cx="852488" cy="517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lang="en-US" altLang="zh-CN" sz="2800" i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59" name="Rectangle 184"/>
          <p:cNvSpPr/>
          <p:nvPr/>
        </p:nvSpPr>
        <p:spPr>
          <a:xfrm>
            <a:off x="304800" y="671513"/>
            <a:ext cx="854075" cy="517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lang="en-US" altLang="zh-CN" sz="2800" i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60" name="Rectangle 185"/>
          <p:cNvSpPr/>
          <p:nvPr/>
        </p:nvSpPr>
        <p:spPr>
          <a:xfrm>
            <a:off x="7620000" y="153988"/>
            <a:ext cx="1219200" cy="10350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endParaRPr lang="zh-CN" altLang="zh-CN" sz="2800" i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61" name="Rectangle 186"/>
          <p:cNvSpPr/>
          <p:nvPr/>
        </p:nvSpPr>
        <p:spPr>
          <a:xfrm>
            <a:off x="2865438" y="153988"/>
            <a:ext cx="4754562" cy="517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2       3       0       0       0       0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62" name="Rectangle 187"/>
          <p:cNvSpPr/>
          <p:nvPr/>
        </p:nvSpPr>
        <p:spPr>
          <a:xfrm>
            <a:off x="304800" y="153988"/>
            <a:ext cx="2560638" cy="517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endParaRPr lang="en-US" altLang="zh-CN" sz="2800" i="1" baseline="-25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63" name="Line 188"/>
          <p:cNvSpPr/>
          <p:nvPr/>
        </p:nvSpPr>
        <p:spPr>
          <a:xfrm>
            <a:off x="304800" y="153988"/>
            <a:ext cx="8534400" cy="0"/>
          </a:xfrm>
          <a:prstGeom prst="line">
            <a:avLst/>
          </a:prstGeom>
          <a:ln w="28575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64" name="Line 189"/>
          <p:cNvSpPr/>
          <p:nvPr/>
        </p:nvSpPr>
        <p:spPr>
          <a:xfrm>
            <a:off x="304800" y="671513"/>
            <a:ext cx="7315200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65" name="Line 190"/>
          <p:cNvSpPr/>
          <p:nvPr/>
        </p:nvSpPr>
        <p:spPr>
          <a:xfrm>
            <a:off x="304800" y="1189038"/>
            <a:ext cx="8534400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66" name="Line 191"/>
          <p:cNvSpPr/>
          <p:nvPr/>
        </p:nvSpPr>
        <p:spPr>
          <a:xfrm>
            <a:off x="304800" y="2987675"/>
            <a:ext cx="8534400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67" name="Line 192"/>
          <p:cNvSpPr/>
          <p:nvPr/>
        </p:nvSpPr>
        <p:spPr>
          <a:xfrm>
            <a:off x="304800" y="3505200"/>
            <a:ext cx="8534400" cy="0"/>
          </a:xfrm>
          <a:prstGeom prst="line">
            <a:avLst/>
          </a:prstGeom>
          <a:ln w="28575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68" name="Line 193"/>
          <p:cNvSpPr/>
          <p:nvPr/>
        </p:nvSpPr>
        <p:spPr>
          <a:xfrm>
            <a:off x="304800" y="153988"/>
            <a:ext cx="0" cy="3351212"/>
          </a:xfrm>
          <a:prstGeom prst="line">
            <a:avLst/>
          </a:prstGeom>
          <a:ln w="28575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69" name="Line 194"/>
          <p:cNvSpPr/>
          <p:nvPr/>
        </p:nvSpPr>
        <p:spPr>
          <a:xfrm>
            <a:off x="2865438" y="153988"/>
            <a:ext cx="0" cy="3351212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70" name="Line 195"/>
          <p:cNvSpPr/>
          <p:nvPr/>
        </p:nvSpPr>
        <p:spPr>
          <a:xfrm>
            <a:off x="7620000" y="153988"/>
            <a:ext cx="0" cy="3351212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71" name="Line 196"/>
          <p:cNvSpPr/>
          <p:nvPr/>
        </p:nvSpPr>
        <p:spPr>
          <a:xfrm>
            <a:off x="8839200" y="153988"/>
            <a:ext cx="0" cy="3351212"/>
          </a:xfrm>
          <a:prstGeom prst="line">
            <a:avLst/>
          </a:prstGeom>
          <a:ln w="28575" cap="sq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72" name="Line 197"/>
          <p:cNvSpPr/>
          <p:nvPr/>
        </p:nvSpPr>
        <p:spPr>
          <a:xfrm>
            <a:off x="1158875" y="671513"/>
            <a:ext cx="0" cy="2316162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73" name="Line 198"/>
          <p:cNvSpPr/>
          <p:nvPr/>
        </p:nvSpPr>
        <p:spPr>
          <a:xfrm>
            <a:off x="2011363" y="671513"/>
            <a:ext cx="0" cy="2833687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43207" name="Object 199"/>
          <p:cNvGraphicFramePr>
            <a:graphicFrameLocks noChangeAspect="1"/>
          </p:cNvGraphicFramePr>
          <p:nvPr/>
        </p:nvGraphicFramePr>
        <p:xfrm>
          <a:off x="8077200" y="382588"/>
          <a:ext cx="40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152400" imgH="228600" progId="Equation.3">
                  <p:embed/>
                </p:oleObj>
              </mc:Choice>
              <mc:Fallback>
                <p:oleObj name="" r:id="rId3" imgW="152400" imgH="2286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77200" y="382588"/>
                        <a:ext cx="4064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74" name="Line 203"/>
          <p:cNvSpPr/>
          <p:nvPr/>
        </p:nvSpPr>
        <p:spPr>
          <a:xfrm flipV="1">
            <a:off x="7467600" y="3125788"/>
            <a:ext cx="0" cy="3048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3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43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43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43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43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43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69" grpId="0" animBg="1"/>
      <p:bldP spid="43166" grpId="0" animBg="1"/>
      <p:bldP spid="43168" grpId="0" animBg="1"/>
      <p:bldP spid="43167" grpId="0" animBg="1"/>
      <p:bldP spid="43165" grpId="0" animBg="1"/>
      <p:bldP spid="43176" grpId="0" animBg="1"/>
      <p:bldP spid="4317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4"/>
          <p:cNvSpPr txBox="1">
            <a:spLocks noGrp="1"/>
          </p:cNvSpPr>
          <p:nvPr>
            <p:ph type="sldNum" sz="quarter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355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6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3561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57375"/>
            <a:ext cx="9144000" cy="3500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62" name="Rectangle 2"/>
          <p:cNvSpPr>
            <a:spLocks noGrp="1"/>
          </p:cNvSpPr>
          <p:nvPr>
            <p:ph type="title"/>
          </p:nvPr>
        </p:nvSpPr>
        <p:spPr>
          <a:xfrm>
            <a:off x="571500" y="714375"/>
            <a:ext cx="6040438" cy="693738"/>
          </a:xfrm>
          <a:noFill/>
          <a:ln>
            <a:noFill/>
          </a:ln>
        </p:spPr>
        <p:txBody>
          <a:bodyPr/>
          <a:p>
            <a:pPr algn="l"/>
            <a:r>
              <a:rPr lang="en-US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1.4 </a:t>
            </a:r>
            <a:r>
              <a:rPr lang="zh-CN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单纯形法计算步骤</a:t>
            </a:r>
            <a:endParaRPr lang="zh-CN" altLang="en-US" sz="3200" dirty="0">
              <a:solidFill>
                <a:srgbClr val="0D04BE"/>
              </a:solidFill>
              <a:latin typeface="楷体_GB2312" charset="-122"/>
              <a:ea typeface="楷体_GB231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4"/>
          <p:cNvSpPr txBox="1">
            <a:spLocks noGrp="1"/>
          </p:cNvSpPr>
          <p:nvPr>
            <p:ph type="sldNum" sz="quarter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457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5" name="Rectangle 2"/>
          <p:cNvSpPr>
            <a:spLocks noGrp="1"/>
          </p:cNvSpPr>
          <p:nvPr>
            <p:ph type="title"/>
          </p:nvPr>
        </p:nvSpPr>
        <p:spPr>
          <a:xfrm>
            <a:off x="571500" y="714375"/>
            <a:ext cx="6040438" cy="693738"/>
          </a:xfrm>
          <a:noFill/>
          <a:ln>
            <a:noFill/>
          </a:ln>
        </p:spPr>
        <p:txBody>
          <a:bodyPr/>
          <a:p>
            <a:pPr algn="l"/>
            <a:r>
              <a:rPr lang="en-US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1.4 </a:t>
            </a:r>
            <a:r>
              <a:rPr lang="zh-CN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单纯形法计算步骤</a:t>
            </a:r>
            <a:endParaRPr lang="zh-CN" altLang="en-US" sz="3200" dirty="0">
              <a:solidFill>
                <a:srgbClr val="0D04BE"/>
              </a:solidFill>
              <a:latin typeface="楷体_GB2312" charset="-122"/>
              <a:ea typeface="楷体_GB2312" charset="-122"/>
            </a:endParaRPr>
          </a:p>
        </p:txBody>
      </p:sp>
      <p:pic>
        <p:nvPicPr>
          <p:cNvPr id="2458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71625"/>
            <a:ext cx="9144000" cy="4143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4"/>
          <p:cNvSpPr txBox="1">
            <a:spLocks noGrp="1"/>
          </p:cNvSpPr>
          <p:nvPr>
            <p:ph type="sldNum" sz="quarter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560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9" name="Rectangle 2"/>
          <p:cNvSpPr>
            <a:spLocks noGrp="1"/>
          </p:cNvSpPr>
          <p:nvPr>
            <p:ph type="title"/>
          </p:nvPr>
        </p:nvSpPr>
        <p:spPr>
          <a:xfrm>
            <a:off x="571500" y="714375"/>
            <a:ext cx="6040438" cy="693738"/>
          </a:xfrm>
          <a:noFill/>
          <a:ln>
            <a:noFill/>
          </a:ln>
        </p:spPr>
        <p:txBody>
          <a:bodyPr/>
          <a:p>
            <a:pPr algn="l"/>
            <a:r>
              <a:rPr lang="en-US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1.4 </a:t>
            </a:r>
            <a:r>
              <a:rPr lang="zh-CN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单纯形法计算步骤</a:t>
            </a:r>
            <a:endParaRPr lang="zh-CN" altLang="en-US" sz="3200" dirty="0">
              <a:solidFill>
                <a:srgbClr val="0D04BE"/>
              </a:solidFill>
              <a:latin typeface="楷体_GB2312" charset="-122"/>
              <a:ea typeface="楷体_GB2312" charset="-122"/>
            </a:endParaRPr>
          </a:p>
        </p:txBody>
      </p:sp>
      <p:pic>
        <p:nvPicPr>
          <p:cNvPr id="2561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57338"/>
            <a:ext cx="8643938" cy="10715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11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2492375"/>
            <a:ext cx="9072562" cy="4000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4"/>
          <p:cNvSpPr txBox="1">
            <a:spLocks noGrp="1"/>
          </p:cNvSpPr>
          <p:nvPr>
            <p:ph type="sldNum" sz="quarter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662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2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2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3" name="Rectangle 2"/>
          <p:cNvSpPr>
            <a:spLocks noGrp="1"/>
          </p:cNvSpPr>
          <p:nvPr>
            <p:ph type="title"/>
          </p:nvPr>
        </p:nvSpPr>
        <p:spPr>
          <a:xfrm>
            <a:off x="571500" y="714375"/>
            <a:ext cx="6040438" cy="693738"/>
          </a:xfrm>
          <a:noFill/>
          <a:ln>
            <a:noFill/>
          </a:ln>
        </p:spPr>
        <p:txBody>
          <a:bodyPr/>
          <a:p>
            <a:pPr algn="l"/>
            <a:r>
              <a:rPr lang="en-US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1.4 </a:t>
            </a:r>
            <a:r>
              <a:rPr lang="zh-CN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单纯形法计算步骤</a:t>
            </a:r>
            <a:endParaRPr lang="zh-CN" altLang="en-US" sz="3200" dirty="0">
              <a:solidFill>
                <a:srgbClr val="0D04BE"/>
              </a:solidFill>
              <a:latin typeface="楷体_GB2312" charset="-122"/>
              <a:ea typeface="楷体_GB2312" charset="-122"/>
            </a:endParaRPr>
          </a:p>
        </p:txBody>
      </p:sp>
      <p:pic>
        <p:nvPicPr>
          <p:cNvPr id="2663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75" y="1714500"/>
            <a:ext cx="8929688" cy="23574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4"/>
          <p:cNvSpPr txBox="1">
            <a:spLocks noGrp="1"/>
          </p:cNvSpPr>
          <p:nvPr>
            <p:ph type="sldNum" sz="quarter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765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7" name="Rectangle 2"/>
          <p:cNvSpPr>
            <a:spLocks noGrp="1"/>
          </p:cNvSpPr>
          <p:nvPr>
            <p:ph type="title"/>
          </p:nvPr>
        </p:nvSpPr>
        <p:spPr>
          <a:xfrm>
            <a:off x="571500" y="714375"/>
            <a:ext cx="6040438" cy="693738"/>
          </a:xfrm>
          <a:noFill/>
          <a:ln>
            <a:noFill/>
          </a:ln>
        </p:spPr>
        <p:txBody>
          <a:bodyPr/>
          <a:p>
            <a:pPr algn="l"/>
            <a:r>
              <a:rPr lang="en-US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1.4 </a:t>
            </a:r>
            <a:r>
              <a:rPr lang="zh-CN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单纯形法计算步骤</a:t>
            </a:r>
            <a:endParaRPr lang="zh-CN" altLang="en-US" sz="3200" dirty="0">
              <a:solidFill>
                <a:srgbClr val="0D04BE"/>
              </a:solidFill>
              <a:latin typeface="楷体_GB2312" charset="-122"/>
              <a:ea typeface="楷体_GB2312" charset="-122"/>
            </a:endParaRPr>
          </a:p>
        </p:txBody>
      </p:sp>
      <p:pic>
        <p:nvPicPr>
          <p:cNvPr id="2765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313" y="1643063"/>
            <a:ext cx="8858250" cy="4500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4"/>
          <p:cNvSpPr txBox="1">
            <a:spLocks noGrp="1"/>
          </p:cNvSpPr>
          <p:nvPr>
            <p:ph type="sldNum" sz="quarter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867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1" name="Rectangle 2"/>
          <p:cNvSpPr>
            <a:spLocks noGrp="1"/>
          </p:cNvSpPr>
          <p:nvPr>
            <p:ph type="title"/>
          </p:nvPr>
        </p:nvSpPr>
        <p:spPr>
          <a:xfrm>
            <a:off x="571500" y="714375"/>
            <a:ext cx="6040438" cy="693738"/>
          </a:xfrm>
          <a:noFill/>
          <a:ln>
            <a:noFill/>
          </a:ln>
        </p:spPr>
        <p:txBody>
          <a:bodyPr/>
          <a:p>
            <a:pPr algn="l"/>
            <a:r>
              <a:rPr lang="en-US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1.4 </a:t>
            </a:r>
            <a:r>
              <a:rPr lang="zh-CN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单纯形法计算步骤</a:t>
            </a:r>
            <a:endParaRPr lang="zh-CN" altLang="en-US" sz="3200" dirty="0">
              <a:solidFill>
                <a:srgbClr val="0D04BE"/>
              </a:solidFill>
              <a:latin typeface="楷体_GB2312" charset="-122"/>
              <a:ea typeface="楷体_GB2312" charset="-122"/>
            </a:endParaRPr>
          </a:p>
        </p:txBody>
      </p:sp>
      <p:pic>
        <p:nvPicPr>
          <p:cNvPr id="2868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57375"/>
            <a:ext cx="9058275" cy="15001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4"/>
          <p:cNvSpPr txBox="1">
            <a:spLocks noGrp="1"/>
          </p:cNvSpPr>
          <p:nvPr>
            <p:ph type="sldNum" sz="quarter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969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5" name="Rectangle 2"/>
          <p:cNvSpPr>
            <a:spLocks noGrp="1"/>
          </p:cNvSpPr>
          <p:nvPr>
            <p:ph type="title"/>
          </p:nvPr>
        </p:nvSpPr>
        <p:spPr>
          <a:xfrm>
            <a:off x="571500" y="714375"/>
            <a:ext cx="6040438" cy="693738"/>
          </a:xfrm>
          <a:noFill/>
          <a:ln>
            <a:noFill/>
          </a:ln>
        </p:spPr>
        <p:txBody>
          <a:bodyPr/>
          <a:p>
            <a:pPr algn="l"/>
            <a:r>
              <a:rPr lang="en-US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1.4 </a:t>
            </a:r>
            <a:r>
              <a:rPr lang="zh-CN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单纯形法计算步骤</a:t>
            </a:r>
            <a:endParaRPr lang="zh-CN" altLang="en-US" sz="3200" dirty="0">
              <a:solidFill>
                <a:srgbClr val="0D04BE"/>
              </a:solidFill>
              <a:latin typeface="楷体_GB2312" charset="-122"/>
              <a:ea typeface="楷体_GB2312" charset="-122"/>
            </a:endParaRPr>
          </a:p>
        </p:txBody>
      </p:sp>
      <p:pic>
        <p:nvPicPr>
          <p:cNvPr id="2970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00188"/>
            <a:ext cx="9144000" cy="5000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4"/>
          <p:cNvSpPr txBox="1">
            <a:spLocks noGrp="1"/>
          </p:cNvSpPr>
          <p:nvPr>
            <p:ph type="sldNum" sz="quarter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072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9" name="Rectangle 2"/>
          <p:cNvSpPr>
            <a:spLocks noGrp="1"/>
          </p:cNvSpPr>
          <p:nvPr>
            <p:ph type="title"/>
          </p:nvPr>
        </p:nvSpPr>
        <p:spPr>
          <a:xfrm>
            <a:off x="571500" y="714375"/>
            <a:ext cx="6040438" cy="693738"/>
          </a:xfrm>
          <a:noFill/>
          <a:ln>
            <a:noFill/>
          </a:ln>
        </p:spPr>
        <p:txBody>
          <a:bodyPr/>
          <a:p>
            <a:r>
              <a:rPr lang="en-US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1.4 </a:t>
            </a:r>
            <a:r>
              <a:rPr lang="zh-CN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单纯形法计算步骤</a:t>
            </a:r>
            <a:endParaRPr lang="zh-CN" altLang="en-US" sz="3200" dirty="0">
              <a:solidFill>
                <a:srgbClr val="0D04BE"/>
              </a:solidFill>
              <a:latin typeface="楷体_GB2312" charset="-122"/>
              <a:ea typeface="楷体_GB2312" charset="-122"/>
            </a:endParaRPr>
          </a:p>
        </p:txBody>
      </p:sp>
      <p:pic>
        <p:nvPicPr>
          <p:cNvPr id="3073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2938"/>
            <a:ext cx="9144000" cy="5857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4"/>
          <p:cNvSpPr txBox="1">
            <a:spLocks noGrp="1"/>
          </p:cNvSpPr>
          <p:nvPr>
            <p:ph type="sldNum" sz="quarter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174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4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4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3" name="Rectangle 2"/>
          <p:cNvSpPr>
            <a:spLocks noGrp="1"/>
          </p:cNvSpPr>
          <p:nvPr>
            <p:ph type="title"/>
          </p:nvPr>
        </p:nvSpPr>
        <p:spPr>
          <a:xfrm>
            <a:off x="571500" y="714375"/>
            <a:ext cx="6040438" cy="693738"/>
          </a:xfrm>
          <a:noFill/>
          <a:ln>
            <a:noFill/>
          </a:ln>
        </p:spPr>
        <p:txBody>
          <a:bodyPr/>
          <a:p>
            <a:r>
              <a:rPr lang="en-US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1.4 </a:t>
            </a:r>
            <a:r>
              <a:rPr lang="zh-CN" altLang="en-US" sz="3200" dirty="0">
                <a:solidFill>
                  <a:srgbClr val="0D04BE"/>
                </a:solidFill>
                <a:latin typeface="楷体_GB2312" charset="-122"/>
                <a:ea typeface="楷体_GB2312" charset="-122"/>
              </a:rPr>
              <a:t>单纯形法计算步骤</a:t>
            </a:r>
            <a:endParaRPr lang="zh-CN" altLang="en-US" sz="3200" dirty="0">
              <a:solidFill>
                <a:srgbClr val="0D04BE"/>
              </a:solidFill>
              <a:latin typeface="楷体_GB2312" charset="-122"/>
              <a:ea typeface="楷体_GB2312" charset="-122"/>
            </a:endParaRPr>
          </a:p>
        </p:txBody>
      </p:sp>
      <p:pic>
        <p:nvPicPr>
          <p:cNvPr id="3175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14375"/>
            <a:ext cx="9144000" cy="6143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88" y="1357313"/>
            <a:ext cx="247650" cy="3698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5" y="2357438"/>
            <a:ext cx="357188" cy="285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357438"/>
            <a:ext cx="779463" cy="3571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ctrTitle"/>
          </p:nvPr>
        </p:nvSpPr>
        <p:spPr>
          <a:xfrm>
            <a:off x="304800" y="152400"/>
            <a:ext cx="4195763" cy="533400"/>
          </a:xfrm>
          <a:noFill/>
          <a:ln>
            <a:noFill/>
          </a:ln>
        </p:spPr>
        <p:txBody>
          <a:bodyPr/>
          <a:p>
            <a:pPr algn="l" eaLnBrk="1" hangingPunct="1">
              <a:buClrTx/>
              <a:buSzTx/>
              <a:buFontTx/>
            </a:pPr>
            <a:r>
              <a:rPr lang="en-US" altLang="zh-CN" sz="3200" b="1" dirty="0">
                <a:solidFill>
                  <a:srgbClr val="660066"/>
                </a:solidFill>
                <a:ea typeface="楷体_GB2312" charset="-122"/>
              </a:rPr>
              <a:t>1.4 </a:t>
            </a:r>
            <a:r>
              <a:rPr lang="zh-CN" altLang="en-US" sz="3200" b="1" dirty="0">
                <a:solidFill>
                  <a:srgbClr val="660066"/>
                </a:solidFill>
                <a:ea typeface="楷体_GB2312" charset="-122"/>
              </a:rPr>
              <a:t>单纯形法计算步骤</a:t>
            </a:r>
            <a:endParaRPr lang="zh-CN" altLang="en-US" sz="3200" b="1" dirty="0">
              <a:solidFill>
                <a:srgbClr val="660066"/>
              </a:solidFill>
              <a:ea typeface="楷体_GB2312" charset="-122"/>
            </a:endParaRPr>
          </a:p>
        </p:txBody>
      </p:sp>
      <p:sp>
        <p:nvSpPr>
          <p:cNvPr id="32771" name="Text Box 3"/>
          <p:cNvSpPr txBox="1"/>
          <p:nvPr/>
        </p:nvSpPr>
        <p:spPr>
          <a:xfrm>
            <a:off x="357188" y="857250"/>
            <a:ext cx="12668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  <a:ea typeface="楷体_GB2312" charset="-122"/>
              </a:rPr>
              <a:t>例二、</a:t>
            </a:r>
            <a:endParaRPr lang="zh-CN" altLang="en-US" sz="2800" dirty="0">
              <a:solidFill>
                <a:srgbClr val="660066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pic>
        <p:nvPicPr>
          <p:cNvPr id="32772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188" y="1528763"/>
            <a:ext cx="8786812" cy="3800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ctrTitle"/>
          </p:nvPr>
        </p:nvSpPr>
        <p:spPr>
          <a:xfrm>
            <a:off x="304800" y="152400"/>
            <a:ext cx="4195763" cy="533400"/>
          </a:xfrm>
          <a:noFill/>
          <a:ln>
            <a:noFill/>
          </a:ln>
        </p:spPr>
        <p:txBody>
          <a:bodyPr/>
          <a:p>
            <a:pPr algn="l" eaLnBrk="1" hangingPunct="1">
              <a:buClrTx/>
              <a:buSzTx/>
              <a:buFontTx/>
            </a:pPr>
            <a:r>
              <a:rPr lang="en-US" altLang="zh-CN" sz="3200" b="1" dirty="0">
                <a:solidFill>
                  <a:srgbClr val="660066"/>
                </a:solidFill>
                <a:ea typeface="楷体_GB2312" charset="-122"/>
              </a:rPr>
              <a:t>1.4 </a:t>
            </a:r>
            <a:r>
              <a:rPr lang="zh-CN" altLang="en-US" sz="3200" b="1" dirty="0">
                <a:solidFill>
                  <a:srgbClr val="660066"/>
                </a:solidFill>
                <a:ea typeface="楷体_GB2312" charset="-122"/>
              </a:rPr>
              <a:t>单纯形法计算步骤</a:t>
            </a:r>
            <a:endParaRPr lang="zh-CN" altLang="en-US" sz="3200" b="1" dirty="0">
              <a:solidFill>
                <a:srgbClr val="660066"/>
              </a:solidFill>
              <a:ea typeface="楷体_GB2312" charset="-122"/>
            </a:endParaRPr>
          </a:p>
        </p:txBody>
      </p:sp>
      <p:sp>
        <p:nvSpPr>
          <p:cNvPr id="33795" name="Text Box 3"/>
          <p:cNvSpPr txBox="1"/>
          <p:nvPr/>
        </p:nvSpPr>
        <p:spPr>
          <a:xfrm>
            <a:off x="428625" y="857250"/>
            <a:ext cx="12668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  <a:ea typeface="楷体_GB2312" charset="-122"/>
              </a:rPr>
              <a:t>例二、</a:t>
            </a:r>
            <a:endParaRPr lang="zh-CN" altLang="en-US" sz="2800" dirty="0">
              <a:solidFill>
                <a:srgbClr val="660066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pic>
        <p:nvPicPr>
          <p:cNvPr id="3379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71625"/>
            <a:ext cx="9144000" cy="37861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/>
          </p:cNvSpPr>
          <p:nvPr>
            <p:ph type="ctrTitle"/>
          </p:nvPr>
        </p:nvSpPr>
        <p:spPr>
          <a:xfrm>
            <a:off x="304800" y="152400"/>
            <a:ext cx="4195763" cy="533400"/>
          </a:xfrm>
          <a:noFill/>
          <a:ln>
            <a:noFill/>
          </a:ln>
        </p:spPr>
        <p:txBody>
          <a:bodyPr/>
          <a:p>
            <a:pPr algn="l" eaLnBrk="1" hangingPunct="1">
              <a:buClrTx/>
              <a:buSzTx/>
              <a:buFontTx/>
            </a:pPr>
            <a:r>
              <a:rPr lang="en-US" altLang="zh-CN" sz="3200" b="1" dirty="0">
                <a:solidFill>
                  <a:srgbClr val="660066"/>
                </a:solidFill>
                <a:ea typeface="楷体_GB2312" charset="-122"/>
              </a:rPr>
              <a:t>1.4 </a:t>
            </a:r>
            <a:r>
              <a:rPr lang="zh-CN" altLang="en-US" sz="3200" b="1" dirty="0">
                <a:solidFill>
                  <a:srgbClr val="660066"/>
                </a:solidFill>
                <a:ea typeface="楷体_GB2312" charset="-122"/>
              </a:rPr>
              <a:t>单纯形法计算步骤</a:t>
            </a:r>
            <a:endParaRPr lang="zh-CN" altLang="en-US" sz="3200" b="1" dirty="0">
              <a:solidFill>
                <a:srgbClr val="660066"/>
              </a:solidFill>
              <a:ea typeface="楷体_GB2312" charset="-122"/>
            </a:endParaRPr>
          </a:p>
        </p:txBody>
      </p:sp>
      <p:pic>
        <p:nvPicPr>
          <p:cNvPr id="3481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85875"/>
            <a:ext cx="9144000" cy="5572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Grp="1"/>
          </p:cNvSpPr>
          <p:nvPr>
            <p:ph type="ctrTitle"/>
          </p:nvPr>
        </p:nvSpPr>
        <p:spPr>
          <a:xfrm>
            <a:off x="304800" y="152400"/>
            <a:ext cx="4195763" cy="533400"/>
          </a:xfrm>
          <a:noFill/>
          <a:ln>
            <a:noFill/>
          </a:ln>
        </p:spPr>
        <p:txBody>
          <a:bodyPr/>
          <a:p>
            <a:pPr algn="l" eaLnBrk="1" hangingPunct="1">
              <a:buClrTx/>
              <a:buSzTx/>
              <a:buFontTx/>
            </a:pPr>
            <a:r>
              <a:rPr lang="en-US" altLang="zh-CN" sz="3200" b="1" dirty="0">
                <a:solidFill>
                  <a:srgbClr val="660066"/>
                </a:solidFill>
                <a:ea typeface="楷体_GB2312" charset="-122"/>
              </a:rPr>
              <a:t>1.4 </a:t>
            </a:r>
            <a:r>
              <a:rPr lang="zh-CN" altLang="en-US" sz="3200" b="1" dirty="0">
                <a:solidFill>
                  <a:srgbClr val="660066"/>
                </a:solidFill>
                <a:ea typeface="楷体_GB2312" charset="-122"/>
              </a:rPr>
              <a:t>单纯形法计算步骤</a:t>
            </a:r>
            <a:endParaRPr lang="zh-CN" altLang="en-US" sz="3200" b="1" dirty="0">
              <a:solidFill>
                <a:srgbClr val="660066"/>
              </a:solidFill>
              <a:ea typeface="楷体_GB2312" charset="-122"/>
            </a:endParaRPr>
          </a:p>
        </p:txBody>
      </p:sp>
      <p:sp>
        <p:nvSpPr>
          <p:cNvPr id="35843" name="Text Box 3"/>
          <p:cNvSpPr txBox="1"/>
          <p:nvPr/>
        </p:nvSpPr>
        <p:spPr>
          <a:xfrm>
            <a:off x="428625" y="857250"/>
            <a:ext cx="12668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  <a:ea typeface="楷体_GB2312" charset="-122"/>
              </a:rPr>
              <a:t>例二、</a:t>
            </a:r>
            <a:endParaRPr lang="zh-CN" altLang="en-US" sz="2800" dirty="0">
              <a:solidFill>
                <a:srgbClr val="660066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pic>
        <p:nvPicPr>
          <p:cNvPr id="3584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43063"/>
            <a:ext cx="9144000" cy="5067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Grp="1"/>
          </p:cNvSpPr>
          <p:nvPr>
            <p:ph type="ctrTitle"/>
          </p:nvPr>
        </p:nvSpPr>
        <p:spPr>
          <a:xfrm>
            <a:off x="304800" y="152400"/>
            <a:ext cx="4195763" cy="533400"/>
          </a:xfrm>
          <a:noFill/>
          <a:ln>
            <a:noFill/>
          </a:ln>
        </p:spPr>
        <p:txBody>
          <a:bodyPr/>
          <a:p>
            <a:pPr algn="l" eaLnBrk="1" hangingPunct="1">
              <a:buClrTx/>
              <a:buSzTx/>
              <a:buFontTx/>
            </a:pPr>
            <a:r>
              <a:rPr lang="en-US" altLang="zh-CN" sz="3200" b="1" dirty="0">
                <a:solidFill>
                  <a:srgbClr val="660066"/>
                </a:solidFill>
                <a:ea typeface="楷体_GB2312" charset="-122"/>
              </a:rPr>
              <a:t>1.4 </a:t>
            </a:r>
            <a:r>
              <a:rPr lang="zh-CN" altLang="en-US" sz="3200" b="1" dirty="0">
                <a:solidFill>
                  <a:srgbClr val="660066"/>
                </a:solidFill>
                <a:ea typeface="楷体_GB2312" charset="-122"/>
              </a:rPr>
              <a:t>单纯形法计算步骤</a:t>
            </a:r>
            <a:endParaRPr lang="zh-CN" altLang="en-US" sz="3200" b="1" dirty="0">
              <a:solidFill>
                <a:srgbClr val="660066"/>
              </a:solidFill>
              <a:ea typeface="楷体_GB2312" charset="-122"/>
            </a:endParaRPr>
          </a:p>
        </p:txBody>
      </p:sp>
      <p:pic>
        <p:nvPicPr>
          <p:cNvPr id="3686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09725"/>
            <a:ext cx="9144000" cy="4391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Grp="1"/>
          </p:cNvSpPr>
          <p:nvPr>
            <p:ph type="ctrTitle"/>
          </p:nvPr>
        </p:nvSpPr>
        <p:spPr>
          <a:xfrm>
            <a:off x="304800" y="152400"/>
            <a:ext cx="4195763" cy="533400"/>
          </a:xfrm>
          <a:noFill/>
          <a:ln>
            <a:noFill/>
          </a:ln>
        </p:spPr>
        <p:txBody>
          <a:bodyPr/>
          <a:p>
            <a:pPr algn="l" eaLnBrk="1" hangingPunct="1">
              <a:buClrTx/>
              <a:buSzTx/>
              <a:buFontTx/>
            </a:pPr>
            <a:r>
              <a:rPr lang="en-US" altLang="zh-CN" sz="3200" b="1" dirty="0">
                <a:solidFill>
                  <a:srgbClr val="660066"/>
                </a:solidFill>
                <a:ea typeface="楷体_GB2312" charset="-122"/>
              </a:rPr>
              <a:t>1.4 </a:t>
            </a:r>
            <a:r>
              <a:rPr lang="zh-CN" altLang="en-US" sz="3200" b="1" dirty="0">
                <a:solidFill>
                  <a:srgbClr val="660066"/>
                </a:solidFill>
                <a:ea typeface="楷体_GB2312" charset="-122"/>
              </a:rPr>
              <a:t>单纯形法计算步骤</a:t>
            </a:r>
            <a:endParaRPr lang="zh-CN" altLang="en-US" sz="3200" b="1" dirty="0">
              <a:solidFill>
                <a:srgbClr val="660066"/>
              </a:solidFill>
              <a:ea typeface="楷体_GB2312" charset="-122"/>
            </a:endParaRPr>
          </a:p>
        </p:txBody>
      </p:sp>
      <p:pic>
        <p:nvPicPr>
          <p:cNvPr id="3789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19250"/>
            <a:ext cx="9144000" cy="5238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ctrTitle"/>
          </p:nvPr>
        </p:nvSpPr>
        <p:spPr>
          <a:xfrm>
            <a:off x="304800" y="152400"/>
            <a:ext cx="4195763" cy="533400"/>
          </a:xfrm>
          <a:noFill/>
          <a:ln>
            <a:noFill/>
          </a:ln>
        </p:spPr>
        <p:txBody>
          <a:bodyPr/>
          <a:p>
            <a:pPr algn="l" eaLnBrk="1" hangingPunct="1">
              <a:buClrTx/>
              <a:buSzTx/>
              <a:buFontTx/>
            </a:pPr>
            <a:r>
              <a:rPr lang="en-US" altLang="zh-CN" sz="3200" b="1" dirty="0">
                <a:solidFill>
                  <a:srgbClr val="660066"/>
                </a:solidFill>
                <a:ea typeface="楷体_GB2312" charset="-122"/>
              </a:rPr>
              <a:t>1.4 </a:t>
            </a:r>
            <a:r>
              <a:rPr lang="zh-CN" altLang="en-US" sz="3200" b="1" dirty="0">
                <a:solidFill>
                  <a:srgbClr val="660066"/>
                </a:solidFill>
                <a:ea typeface="楷体_GB2312" charset="-122"/>
              </a:rPr>
              <a:t>单纯形法计算步骤</a:t>
            </a:r>
            <a:endParaRPr lang="zh-CN" altLang="en-US" sz="3200" b="1" dirty="0">
              <a:solidFill>
                <a:srgbClr val="660066"/>
              </a:solidFill>
              <a:ea typeface="楷体_GB2312" charset="-122"/>
            </a:endParaRPr>
          </a:p>
        </p:txBody>
      </p:sp>
      <p:pic>
        <p:nvPicPr>
          <p:cNvPr id="3891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19250"/>
            <a:ext cx="9144000" cy="5238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ctrTitle"/>
          </p:nvPr>
        </p:nvSpPr>
        <p:spPr>
          <a:xfrm>
            <a:off x="304800" y="152400"/>
            <a:ext cx="4195763" cy="533400"/>
          </a:xfrm>
          <a:noFill/>
          <a:ln>
            <a:noFill/>
          </a:ln>
        </p:spPr>
        <p:txBody>
          <a:bodyPr/>
          <a:p>
            <a:pPr algn="l" eaLnBrk="1" hangingPunct="1">
              <a:buClrTx/>
              <a:buSzTx/>
              <a:buFontTx/>
            </a:pPr>
            <a:r>
              <a:rPr lang="en-US" altLang="zh-CN" sz="3200" b="1" dirty="0">
                <a:solidFill>
                  <a:srgbClr val="660066"/>
                </a:solidFill>
                <a:ea typeface="楷体_GB2312" charset="-122"/>
              </a:rPr>
              <a:t>1.4 </a:t>
            </a:r>
            <a:r>
              <a:rPr lang="zh-CN" altLang="en-US" sz="3200" b="1" dirty="0">
                <a:solidFill>
                  <a:srgbClr val="660066"/>
                </a:solidFill>
                <a:ea typeface="楷体_GB2312" charset="-122"/>
              </a:rPr>
              <a:t>单纯形法计算步骤</a:t>
            </a:r>
            <a:endParaRPr lang="zh-CN" altLang="en-US" sz="3200" b="1" dirty="0">
              <a:solidFill>
                <a:srgbClr val="660066"/>
              </a:solidFill>
              <a:ea typeface="楷体_GB2312" charset="-122"/>
            </a:endParaRPr>
          </a:p>
        </p:txBody>
      </p:sp>
      <p:pic>
        <p:nvPicPr>
          <p:cNvPr id="3993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43000"/>
            <a:ext cx="9144000" cy="666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5938"/>
            <a:ext cx="9144000" cy="4857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ctrTitle"/>
          </p:nvPr>
        </p:nvSpPr>
        <p:spPr>
          <a:xfrm>
            <a:off x="304800" y="152400"/>
            <a:ext cx="4195763" cy="533400"/>
          </a:xfrm>
          <a:noFill/>
          <a:ln>
            <a:noFill/>
          </a:ln>
        </p:spPr>
        <p:txBody>
          <a:bodyPr/>
          <a:p>
            <a:pPr algn="l" eaLnBrk="1" hangingPunct="1">
              <a:buClrTx/>
              <a:buSzTx/>
              <a:buFontTx/>
            </a:pPr>
            <a:r>
              <a:rPr lang="en-US" altLang="zh-CN" sz="3200" b="1" dirty="0">
                <a:solidFill>
                  <a:srgbClr val="660066"/>
                </a:solidFill>
                <a:ea typeface="楷体_GB2312" charset="-122"/>
              </a:rPr>
              <a:t>1.4 </a:t>
            </a:r>
            <a:r>
              <a:rPr lang="zh-CN" altLang="en-US" sz="3200" b="1" dirty="0">
                <a:solidFill>
                  <a:srgbClr val="660066"/>
                </a:solidFill>
                <a:ea typeface="楷体_GB2312" charset="-122"/>
              </a:rPr>
              <a:t>单纯形法计算步骤</a:t>
            </a:r>
            <a:endParaRPr lang="zh-CN" altLang="en-US" sz="3200" b="1" dirty="0">
              <a:solidFill>
                <a:srgbClr val="660066"/>
              </a:solidFill>
              <a:ea typeface="楷体_GB2312" charset="-122"/>
            </a:endParaRPr>
          </a:p>
        </p:txBody>
      </p:sp>
      <p:pic>
        <p:nvPicPr>
          <p:cNvPr id="4096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750"/>
            <a:ext cx="8715375" cy="1704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7" name="Rectangle 2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990600" cy="457200"/>
          </a:xfrm>
          <a:noFill/>
          <a:ln>
            <a:noFill/>
          </a:ln>
        </p:spPr>
        <p:txBody>
          <a:bodyPr/>
          <a:p>
            <a:pPr eaLnBrk="1" hangingPunct="1">
              <a:buClrTx/>
              <a:buSzTx/>
              <a:buFontTx/>
            </a:pPr>
            <a:r>
              <a:rPr lang="zh-CN" altLang="en-US" sz="2800" b="1" dirty="0">
                <a:solidFill>
                  <a:schemeClr val="tx1"/>
                </a:solidFill>
              </a:rPr>
              <a:t>练习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graphicFrame>
        <p:nvGraphicFramePr>
          <p:cNvPr id="80900" name="Object 4"/>
          <p:cNvGraphicFramePr>
            <a:graphicFrameLocks noChangeAspect="1"/>
          </p:cNvGraphicFramePr>
          <p:nvPr/>
        </p:nvGraphicFramePr>
        <p:xfrm>
          <a:off x="381000" y="622300"/>
          <a:ext cx="4022725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1676400" imgH="939800" progId="Equation.3">
                  <p:embed/>
                </p:oleObj>
              </mc:Choice>
              <mc:Fallback>
                <p:oleObj name="" r:id="rId1" imgW="1676400" imgH="9398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000" y="622300"/>
                        <a:ext cx="4022725" cy="187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1" name="AutoShape 5"/>
          <p:cNvSpPr/>
          <p:nvPr/>
        </p:nvSpPr>
        <p:spPr>
          <a:xfrm>
            <a:off x="3519488" y="1600200"/>
            <a:ext cx="976312" cy="228600"/>
          </a:xfrm>
          <a:prstGeom prst="rightArrow">
            <a:avLst>
              <a:gd name="adj1" fmla="val 50000"/>
              <a:gd name="adj2" fmla="val 106770"/>
            </a:avLst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80902" name="Object 6"/>
          <p:cNvGraphicFramePr>
            <a:graphicFrameLocks noChangeAspect="1"/>
          </p:cNvGraphicFramePr>
          <p:nvPr/>
        </p:nvGraphicFramePr>
        <p:xfrm>
          <a:off x="4800600" y="642938"/>
          <a:ext cx="3748088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1562100" imgH="952500" progId="Equation.3">
                  <p:embed/>
                </p:oleObj>
              </mc:Choice>
              <mc:Fallback>
                <p:oleObj name="" r:id="rId3" imgW="1562100" imgH="9525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00600" y="642938"/>
                        <a:ext cx="3748088" cy="1905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/>
          <p:nvPr/>
        </p:nvGrpSpPr>
        <p:grpSpPr>
          <a:xfrm>
            <a:off x="304800" y="2924175"/>
            <a:ext cx="8534400" cy="3429000"/>
            <a:chOff x="192" y="1968"/>
            <a:chExt cx="5376" cy="2160"/>
          </a:xfrm>
        </p:grpSpPr>
        <p:sp>
          <p:nvSpPr>
            <p:cNvPr id="18440" name="Rectangle 8"/>
            <p:cNvSpPr/>
            <p:nvPr/>
          </p:nvSpPr>
          <p:spPr>
            <a:xfrm>
              <a:off x="4800" y="3753"/>
              <a:ext cx="768" cy="37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endParaRPr lang="zh-CN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1" name="Rectangle 9"/>
            <p:cNvSpPr/>
            <p:nvPr/>
          </p:nvSpPr>
          <p:spPr>
            <a:xfrm>
              <a:off x="1920" y="3753"/>
              <a:ext cx="2880" cy="37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sz="2800" dirty="0">
                  <a:latin typeface="Times New Roman" panose="02020603050405020304" pitchFamily="18" charset="0"/>
                </a:rPr>
                <a:t> 0      0    -1/12  -7/24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2" name="Rectangle 10"/>
            <p:cNvSpPr/>
            <p:nvPr/>
          </p:nvSpPr>
          <p:spPr>
            <a:xfrm>
              <a:off x="1200" y="3753"/>
              <a:ext cx="720" cy="37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800" dirty="0">
                  <a:latin typeface="Times New Roman" panose="02020603050405020304" pitchFamily="18" charset="0"/>
                </a:rPr>
                <a:t>-33/4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3" name="Rectangle 11"/>
            <p:cNvSpPr/>
            <p:nvPr/>
          </p:nvSpPr>
          <p:spPr>
            <a:xfrm>
              <a:off x="192" y="3753"/>
              <a:ext cx="1008" cy="37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800" dirty="0">
                  <a:latin typeface="Times New Roman" panose="02020603050405020304" pitchFamily="18" charset="0"/>
                </a:rPr>
                <a:t>-Z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4" name="Rectangle 12"/>
            <p:cNvSpPr/>
            <p:nvPr/>
          </p:nvSpPr>
          <p:spPr>
            <a:xfrm>
              <a:off x="4800" y="2620"/>
              <a:ext cx="768" cy="113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 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5" name="Rectangle 13"/>
            <p:cNvSpPr/>
            <p:nvPr/>
          </p:nvSpPr>
          <p:spPr>
            <a:xfrm>
              <a:off x="1920" y="2620"/>
              <a:ext cx="2880" cy="113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800" dirty="0">
                  <a:latin typeface="Times New Roman" panose="02020603050405020304" pitchFamily="18" charset="0"/>
                </a:rPr>
                <a:t> 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/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/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zh-CN" sz="2800" dirty="0">
                  <a:latin typeface="Times New Roman" panose="02020603050405020304" pitchFamily="18" charset="0"/>
                </a:rPr>
                <a:t> 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6" name="Rectangle 14"/>
            <p:cNvSpPr/>
            <p:nvPr/>
          </p:nvSpPr>
          <p:spPr>
            <a:xfrm>
              <a:off x="1200" y="2620"/>
              <a:ext cx="720" cy="113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/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/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/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7" name="Rectangle 15"/>
            <p:cNvSpPr/>
            <p:nvPr/>
          </p:nvSpPr>
          <p:spPr>
            <a:xfrm>
              <a:off x="730" y="2620"/>
              <a:ext cx="470" cy="113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i="1" baseline="-25000" dirty="0">
                <a:latin typeface="Times New Roman" panose="02020603050405020304" pitchFamily="18" charset="0"/>
              </a:endParaRPr>
            </a:p>
            <a:p>
              <a:pPr algn="ctr"/>
              <a:endParaRPr lang="en-US" altLang="zh-CN" sz="28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8" name="Rectangle 16"/>
            <p:cNvSpPr/>
            <p:nvPr/>
          </p:nvSpPr>
          <p:spPr>
            <a:xfrm>
              <a:off x="192" y="2620"/>
              <a:ext cx="538" cy="113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zh-CN" sz="2800" dirty="0"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/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9" name="Rectangle 17"/>
            <p:cNvSpPr/>
            <p:nvPr/>
          </p:nvSpPr>
          <p:spPr>
            <a:xfrm>
              <a:off x="1920" y="2294"/>
              <a:ext cx="2880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sz="2800" i="1" dirty="0">
                  <a:latin typeface="Times New Roman" panose="02020603050405020304" pitchFamily="18" charset="0"/>
                </a:rPr>
                <a:t> x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     x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      x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      x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8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0" name="Rectangle 18"/>
            <p:cNvSpPr/>
            <p:nvPr/>
          </p:nvSpPr>
          <p:spPr>
            <a:xfrm>
              <a:off x="1200" y="2294"/>
              <a:ext cx="720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800" i="1" dirty="0">
                  <a:latin typeface="Times New Roman" panose="02020603050405020304" pitchFamily="18" charset="0"/>
                </a:rPr>
                <a:t>b</a:t>
              </a:r>
              <a:endParaRPr lang="en-US" altLang="zh-CN" sz="28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51" name="Rectangle 19"/>
            <p:cNvSpPr/>
            <p:nvPr/>
          </p:nvSpPr>
          <p:spPr>
            <a:xfrm>
              <a:off x="730" y="2294"/>
              <a:ext cx="470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B</a:t>
              </a:r>
              <a:endParaRPr lang="en-US" altLang="zh-CN" sz="28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2" name="Rectangle 20"/>
            <p:cNvSpPr/>
            <p:nvPr/>
          </p:nvSpPr>
          <p:spPr>
            <a:xfrm>
              <a:off x="192" y="2294"/>
              <a:ext cx="538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800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B</a:t>
              </a:r>
              <a:endParaRPr lang="en-US" altLang="zh-CN" sz="28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3" name="Rectangle 21"/>
            <p:cNvSpPr/>
            <p:nvPr/>
          </p:nvSpPr>
          <p:spPr>
            <a:xfrm>
              <a:off x="4800" y="1968"/>
              <a:ext cx="768" cy="65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endParaRPr lang="zh-CN" altLang="zh-CN" sz="28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4" name="Rectangle 22"/>
            <p:cNvSpPr/>
            <p:nvPr/>
          </p:nvSpPr>
          <p:spPr>
            <a:xfrm>
              <a:off x="1920" y="1968"/>
              <a:ext cx="2880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sz="2800" dirty="0">
                  <a:latin typeface="Times New Roman" panose="02020603050405020304" pitchFamily="18" charset="0"/>
                </a:rPr>
                <a:t> 2      1       0       0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5" name="Rectangle 23"/>
            <p:cNvSpPr/>
            <p:nvPr/>
          </p:nvSpPr>
          <p:spPr>
            <a:xfrm>
              <a:off x="192" y="1968"/>
              <a:ext cx="1728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800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j</a:t>
              </a:r>
              <a:endParaRPr lang="en-US" altLang="zh-CN" sz="28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6" name="Line 24"/>
            <p:cNvSpPr/>
            <p:nvPr/>
          </p:nvSpPr>
          <p:spPr>
            <a:xfrm>
              <a:off x="192" y="1968"/>
              <a:ext cx="5376" cy="0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7" name="Line 25"/>
            <p:cNvSpPr/>
            <p:nvPr/>
          </p:nvSpPr>
          <p:spPr>
            <a:xfrm>
              <a:off x="192" y="2294"/>
              <a:ext cx="4608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8" name="Line 26"/>
            <p:cNvSpPr/>
            <p:nvPr/>
          </p:nvSpPr>
          <p:spPr>
            <a:xfrm>
              <a:off x="192" y="2620"/>
              <a:ext cx="5376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9" name="Line 27"/>
            <p:cNvSpPr/>
            <p:nvPr/>
          </p:nvSpPr>
          <p:spPr>
            <a:xfrm>
              <a:off x="192" y="3753"/>
              <a:ext cx="4608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0" name="Line 28"/>
            <p:cNvSpPr/>
            <p:nvPr/>
          </p:nvSpPr>
          <p:spPr>
            <a:xfrm>
              <a:off x="192" y="1968"/>
              <a:ext cx="0" cy="2160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1" name="Line 29"/>
            <p:cNvSpPr/>
            <p:nvPr/>
          </p:nvSpPr>
          <p:spPr>
            <a:xfrm>
              <a:off x="1920" y="1968"/>
              <a:ext cx="0" cy="216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2" name="Line 30"/>
            <p:cNvSpPr/>
            <p:nvPr/>
          </p:nvSpPr>
          <p:spPr>
            <a:xfrm>
              <a:off x="4800" y="1968"/>
              <a:ext cx="0" cy="178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3" name="Line 31"/>
            <p:cNvSpPr/>
            <p:nvPr/>
          </p:nvSpPr>
          <p:spPr>
            <a:xfrm>
              <a:off x="730" y="2294"/>
              <a:ext cx="0" cy="1459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4" name="Line 32"/>
            <p:cNvSpPr/>
            <p:nvPr/>
          </p:nvSpPr>
          <p:spPr>
            <a:xfrm>
              <a:off x="1200" y="2294"/>
              <a:ext cx="0" cy="183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5" name="Line 33"/>
            <p:cNvSpPr/>
            <p:nvPr/>
          </p:nvSpPr>
          <p:spPr>
            <a:xfrm>
              <a:off x="4800" y="4128"/>
              <a:ext cx="76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6" name="Line 34"/>
            <p:cNvSpPr/>
            <p:nvPr/>
          </p:nvSpPr>
          <p:spPr>
            <a:xfrm>
              <a:off x="192" y="4128"/>
              <a:ext cx="4608" cy="0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7" name="Line 35"/>
            <p:cNvSpPr/>
            <p:nvPr/>
          </p:nvSpPr>
          <p:spPr>
            <a:xfrm>
              <a:off x="5568" y="3753"/>
              <a:ext cx="0" cy="375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8" name="Line 36"/>
            <p:cNvSpPr/>
            <p:nvPr/>
          </p:nvSpPr>
          <p:spPr>
            <a:xfrm>
              <a:off x="5568" y="1968"/>
              <a:ext cx="0" cy="1785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9" name="Line 37"/>
            <p:cNvSpPr/>
            <p:nvPr/>
          </p:nvSpPr>
          <p:spPr>
            <a:xfrm>
              <a:off x="4800" y="3753"/>
              <a:ext cx="76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70" name="Line 38"/>
            <p:cNvSpPr/>
            <p:nvPr/>
          </p:nvSpPr>
          <p:spPr>
            <a:xfrm>
              <a:off x="4800" y="3753"/>
              <a:ext cx="0" cy="375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18436" name="Object 39"/>
            <p:cNvGraphicFramePr>
              <a:graphicFrameLocks noChangeAspect="1"/>
            </p:cNvGraphicFramePr>
            <p:nvPr/>
          </p:nvGraphicFramePr>
          <p:xfrm>
            <a:off x="5088" y="2208"/>
            <a:ext cx="256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5" imgW="152400" imgH="228600" progId="Equation.3">
                    <p:embed/>
                  </p:oleObj>
                </mc:Choice>
                <mc:Fallback>
                  <p:oleObj name="" r:id="rId5" imgW="152400" imgH="2286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088" y="2208"/>
                          <a:ext cx="256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71" name="Text Box 40"/>
            <p:cNvSpPr txBox="1"/>
            <p:nvPr/>
          </p:nvSpPr>
          <p:spPr>
            <a:xfrm>
              <a:off x="1248" y="2928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15/4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72" name="Text Box 41"/>
            <p:cNvSpPr txBox="1"/>
            <p:nvPr/>
          </p:nvSpPr>
          <p:spPr>
            <a:xfrm>
              <a:off x="1344" y="2640"/>
              <a:ext cx="4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3/4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73" name="Text Box 42"/>
            <p:cNvSpPr txBox="1"/>
            <p:nvPr/>
          </p:nvSpPr>
          <p:spPr>
            <a:xfrm>
              <a:off x="1968" y="2640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74" name="Text Box 43"/>
            <p:cNvSpPr txBox="1"/>
            <p:nvPr/>
          </p:nvSpPr>
          <p:spPr>
            <a:xfrm>
              <a:off x="2448" y="2640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75" name="Text Box 44"/>
            <p:cNvSpPr txBox="1"/>
            <p:nvPr/>
          </p:nvSpPr>
          <p:spPr>
            <a:xfrm>
              <a:off x="2832" y="2640"/>
              <a:ext cx="4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1/4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76" name="Text Box 45"/>
            <p:cNvSpPr txBox="1"/>
            <p:nvPr/>
          </p:nvSpPr>
          <p:spPr>
            <a:xfrm>
              <a:off x="3360" y="2640"/>
              <a:ext cx="4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-1/8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77" name="Text Box 46"/>
            <p:cNvSpPr txBox="1"/>
            <p:nvPr/>
          </p:nvSpPr>
          <p:spPr>
            <a:xfrm>
              <a:off x="1968" y="2928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78" name="Text Box 47"/>
            <p:cNvSpPr txBox="1"/>
            <p:nvPr/>
          </p:nvSpPr>
          <p:spPr>
            <a:xfrm>
              <a:off x="2448" y="2928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79" name="Text Box 48"/>
            <p:cNvSpPr txBox="1"/>
            <p:nvPr/>
          </p:nvSpPr>
          <p:spPr>
            <a:xfrm>
              <a:off x="2736" y="2928"/>
              <a:ext cx="6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-1/12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80" name="Text Box 49"/>
            <p:cNvSpPr txBox="1"/>
            <p:nvPr/>
          </p:nvSpPr>
          <p:spPr>
            <a:xfrm>
              <a:off x="3408" y="2928"/>
              <a:ext cx="5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5/24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3"/>
          <p:cNvSpPr>
            <a:spLocks noGrp="1"/>
          </p:cNvSpPr>
          <p:nvPr>
            <p:ph idx="1"/>
          </p:nvPr>
        </p:nvSpPr>
        <p:spPr>
          <a:xfrm>
            <a:off x="1908175" y="2565400"/>
            <a:ext cx="5113338" cy="1800225"/>
          </a:xfrm>
          <a:noFill/>
          <a:ln>
            <a:noFill/>
          </a:ln>
        </p:spPr>
        <p:txBody>
          <a:bodyPr/>
          <a:p>
            <a:pPr marL="533400" indent="-533400" algn="ctr" eaLnBrk="1" hangingPunct="1">
              <a:buFont typeface="Wingdings" panose="05000000000000000000" pitchFamily="2" charset="2"/>
              <a:buNone/>
            </a:pPr>
            <a:r>
              <a:rPr lang="zh-CN" altLang="en-US" sz="8000" dirty="0">
                <a:cs typeface="Times New Roman" panose="02020603050405020304" pitchFamily="18" charset="0"/>
              </a:rPr>
              <a:t>谢谢大家</a:t>
            </a:r>
            <a:endParaRPr lang="zh-CN" altLang="en-US" sz="8000" dirty="0"/>
          </a:p>
        </p:txBody>
      </p:sp>
      <p:sp>
        <p:nvSpPr>
          <p:cNvPr id="4198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8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8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random/>
  </p:transition>
</p:sld>
</file>

<file path=ppt/tags/tag1.xml><?xml version="1.0" encoding="utf-8"?>
<p:tagLst xmlns:p="http://schemas.openxmlformats.org/presentationml/2006/main">
  <p:tag name="KSO_WPP_MARK_KEY" val="91a19ab1-a6c4-4dbf-b859-dc8bb917da61"/>
</p:tagLst>
</file>

<file path=ppt/theme/theme1.xml><?xml version="1.0" encoding="utf-8"?>
<a:theme xmlns:a="http://schemas.openxmlformats.org/drawingml/2006/main" name="默认设计模板">
  <a:themeElements>
    <a:clrScheme name="默认设计模板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0</TotalTime>
  <Words>3797</Words>
  <Application>WPS 演示</Application>
  <PresentationFormat>全屏显示(4:3)</PresentationFormat>
  <Paragraphs>660</Paragraphs>
  <Slides>40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40</vt:i4>
      </vt:variant>
      <vt:variant>
        <vt:lpstr>幻灯片标题</vt:lpstr>
      </vt:variant>
      <vt:variant>
        <vt:i4>40</vt:i4>
      </vt:variant>
    </vt:vector>
  </HeadingPairs>
  <TitlesOfParts>
    <vt:vector size="90" baseType="lpstr">
      <vt:lpstr>Arial</vt:lpstr>
      <vt:lpstr>宋体</vt:lpstr>
      <vt:lpstr>Wingdings</vt:lpstr>
      <vt:lpstr>Times New Roman</vt:lpstr>
      <vt:lpstr>Calibri</vt:lpstr>
      <vt:lpstr>楷体_GB2312</vt:lpstr>
      <vt:lpstr>新宋体</vt:lpstr>
      <vt:lpstr>微软雅黑</vt:lpstr>
      <vt:lpstr>Arial Unicode MS</vt:lpstr>
      <vt:lpstr>默认设计模板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kjdx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运筹学</dc:title>
  <dc:creator/>
  <cp:lastModifiedBy>Albert Yang</cp:lastModifiedBy>
  <cp:revision>264</cp:revision>
  <dcterms:created xsi:type="dcterms:W3CDTF">2003-07-09T02:50:16Z</dcterms:created>
  <dcterms:modified xsi:type="dcterms:W3CDTF">2022-12-11T09:06:10Z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FFA1DF9E4A234AA5B2FC0ECF0D4C49EA</vt:lpwstr>
  </property>
  <property fmtid="{D5CDD505-2E9C-101B-9397-08002B2CF9AE}" pid="3" name="KSOProductBuildVer">
    <vt:lpwstr>2052-11.1.0.12980</vt:lpwstr>
  </property>
</Properties>
</file>