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268" r:id="rId3"/>
    <p:sldId id="343" r:id="rId4"/>
    <p:sldId id="445" r:id="rId6"/>
    <p:sldId id="456" r:id="rId7"/>
    <p:sldId id="446" r:id="rId8"/>
    <p:sldId id="447" r:id="rId9"/>
    <p:sldId id="448" r:id="rId10"/>
    <p:sldId id="457" r:id="rId11"/>
    <p:sldId id="450" r:id="rId12"/>
    <p:sldId id="458" r:id="rId13"/>
    <p:sldId id="459" r:id="rId14"/>
    <p:sldId id="460" r:id="rId15"/>
    <p:sldId id="461" r:id="rId16"/>
    <p:sldId id="462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2" r:id="rId25"/>
    <p:sldId id="443" r:id="rId26"/>
    <p:sldId id="463" r:id="rId27"/>
    <p:sldId id="464" r:id="rId28"/>
    <p:sldId id="320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525"/>
  </p:normalViewPr>
  <p:slideViewPr>
    <p:cSldViewPr showGuides="1"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3072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107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4099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3076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81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7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8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80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8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ctrTitle"/>
          </p:nvPr>
        </p:nvSpPr>
        <p:spPr>
          <a:xfrm>
            <a:off x="2857500" y="1989138"/>
            <a:ext cx="62865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运筹学与优化理论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571500" y="709613"/>
            <a:ext cx="5472113" cy="93345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785938"/>
            <a:ext cx="7848600" cy="457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1.1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线性规划问题及其数学模型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1.2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图解法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1.3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单纯形法原理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1.4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单纯形法计算步骤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1.5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单纯形法的进一步讨论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1.6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应用举例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7171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1138"/>
            <a:ext cx="9144000" cy="5376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5286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921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2928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024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1563"/>
            <a:ext cx="9144000" cy="5786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12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8688"/>
            <a:ext cx="9144000" cy="592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1000" y="428625"/>
            <a:ext cx="1219200" cy="6096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0" cap="none" spc="0" normalizeH="0" baseline="0" noProof="0">
                <a:latin typeface="+mj-lt"/>
                <a:ea typeface="+mj-ea"/>
                <a:cs typeface="+mj-cs"/>
              </a:rPr>
              <a:t>练习</a:t>
            </a:r>
            <a:endParaRPr kumimoji="0" lang="zh-CN" altLang="en-US" sz="3200" b="1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2667000" y="717550"/>
          <a:ext cx="3811588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574800" imgH="952500" progId="Equation.3">
                  <p:embed/>
                </p:oleObj>
              </mc:Choice>
              <mc:Fallback>
                <p:oleObj name="" r:id="rId1" imgW="1574800" imgH="952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0" y="717550"/>
                        <a:ext cx="3811588" cy="230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1735138" y="4300538"/>
          <a:ext cx="6734175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781300" imgH="952500" progId="Equation.3">
                  <p:embed/>
                </p:oleObj>
              </mc:Choice>
              <mc:Fallback>
                <p:oleObj name="" r:id="rId3" imgW="2781300" imgH="952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5138" y="4300538"/>
                        <a:ext cx="6734175" cy="230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AutoShape 10"/>
          <p:cNvSpPr/>
          <p:nvPr/>
        </p:nvSpPr>
        <p:spPr>
          <a:xfrm>
            <a:off x="3886200" y="3324225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02"/>
          <p:cNvGrpSpPr/>
          <p:nvPr/>
        </p:nvGrpSpPr>
        <p:grpSpPr>
          <a:xfrm>
            <a:off x="381000" y="3514725"/>
            <a:ext cx="8242300" cy="2733675"/>
            <a:chOff x="240" y="2214"/>
            <a:chExt cx="5192" cy="1722"/>
          </a:xfrm>
        </p:grpSpPr>
        <p:sp>
          <p:nvSpPr>
            <p:cNvPr id="2130" name="Rectangle 3"/>
            <p:cNvSpPr/>
            <p:nvPr/>
          </p:nvSpPr>
          <p:spPr>
            <a:xfrm>
              <a:off x="5088" y="3649"/>
              <a:ext cx="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1" name="Rectangle 5"/>
            <p:cNvSpPr/>
            <p:nvPr/>
          </p:nvSpPr>
          <p:spPr>
            <a:xfrm>
              <a:off x="4320" y="3649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-M+1/7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2" name="Rectangle 6"/>
            <p:cNvSpPr/>
            <p:nvPr/>
          </p:nvSpPr>
          <p:spPr>
            <a:xfrm>
              <a:off x="3792" y="3649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3" name="Rectangle 7"/>
            <p:cNvSpPr/>
            <p:nvPr/>
          </p:nvSpPr>
          <p:spPr>
            <a:xfrm>
              <a:off x="3024" y="3649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-M-16/7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4" name="Rectangle 8"/>
            <p:cNvSpPr/>
            <p:nvPr/>
          </p:nvSpPr>
          <p:spPr>
            <a:xfrm>
              <a:off x="2496" y="3649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-50/7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5" name="Rectangle 9"/>
            <p:cNvSpPr/>
            <p:nvPr/>
          </p:nvSpPr>
          <p:spPr>
            <a:xfrm>
              <a:off x="2112" y="3649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6" name="Rectangle 10"/>
            <p:cNvSpPr/>
            <p:nvPr/>
          </p:nvSpPr>
          <p:spPr>
            <a:xfrm>
              <a:off x="1632" y="3649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7" name="Rectangle 11"/>
            <p:cNvSpPr/>
            <p:nvPr/>
          </p:nvSpPr>
          <p:spPr>
            <a:xfrm>
              <a:off x="1008" y="3649"/>
              <a:ext cx="62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-102/7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38" name="Rectangle 12"/>
            <p:cNvSpPr/>
            <p:nvPr/>
          </p:nvSpPr>
          <p:spPr>
            <a:xfrm>
              <a:off x="240" y="3649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</a:rPr>
                <a:t>-Z</a:t>
              </a:r>
              <a:endParaRPr lang="en-US" altLang="zh-CN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39" name="Rectangle 13"/>
            <p:cNvSpPr/>
            <p:nvPr/>
          </p:nvSpPr>
          <p:spPr>
            <a:xfrm>
              <a:off x="5088" y="3362"/>
              <a:ext cx="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0" name="Rectangle 15"/>
            <p:cNvSpPr/>
            <p:nvPr/>
          </p:nvSpPr>
          <p:spPr>
            <a:xfrm>
              <a:off x="4320" y="3362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1" name="Rectangle 16"/>
            <p:cNvSpPr/>
            <p:nvPr/>
          </p:nvSpPr>
          <p:spPr>
            <a:xfrm>
              <a:off x="3792" y="3362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2" name="Rectangle 17"/>
            <p:cNvSpPr/>
            <p:nvPr/>
          </p:nvSpPr>
          <p:spPr>
            <a:xfrm>
              <a:off x="3024" y="3362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3" name="Rectangle 18"/>
            <p:cNvSpPr/>
            <p:nvPr/>
          </p:nvSpPr>
          <p:spPr>
            <a:xfrm>
              <a:off x="2496" y="3362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4" name="Rectangle 19"/>
            <p:cNvSpPr/>
            <p:nvPr/>
          </p:nvSpPr>
          <p:spPr>
            <a:xfrm>
              <a:off x="2112" y="3362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5" name="Rectangle 20"/>
            <p:cNvSpPr/>
            <p:nvPr/>
          </p:nvSpPr>
          <p:spPr>
            <a:xfrm>
              <a:off x="1632" y="3362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6" name="Rectangle 21"/>
            <p:cNvSpPr/>
            <p:nvPr/>
          </p:nvSpPr>
          <p:spPr>
            <a:xfrm>
              <a:off x="1008" y="3362"/>
              <a:ext cx="62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7" name="Rectangle 22"/>
            <p:cNvSpPr/>
            <p:nvPr/>
          </p:nvSpPr>
          <p:spPr>
            <a:xfrm>
              <a:off x="672" y="3362"/>
              <a:ext cx="33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8" name="Rectangle 23"/>
            <p:cNvSpPr/>
            <p:nvPr/>
          </p:nvSpPr>
          <p:spPr>
            <a:xfrm>
              <a:off x="240" y="3362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49" name="Rectangle 24"/>
            <p:cNvSpPr/>
            <p:nvPr/>
          </p:nvSpPr>
          <p:spPr>
            <a:xfrm>
              <a:off x="5088" y="3075"/>
              <a:ext cx="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0" name="Rectangle 26"/>
            <p:cNvSpPr/>
            <p:nvPr/>
          </p:nvSpPr>
          <p:spPr>
            <a:xfrm>
              <a:off x="4320" y="3075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1" name="Rectangle 27"/>
            <p:cNvSpPr/>
            <p:nvPr/>
          </p:nvSpPr>
          <p:spPr>
            <a:xfrm>
              <a:off x="3792" y="3075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2" name="Rectangle 28"/>
            <p:cNvSpPr/>
            <p:nvPr/>
          </p:nvSpPr>
          <p:spPr>
            <a:xfrm>
              <a:off x="3024" y="3075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5/7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3" name="Rectangle 29"/>
            <p:cNvSpPr/>
            <p:nvPr/>
          </p:nvSpPr>
          <p:spPr>
            <a:xfrm>
              <a:off x="2496" y="3075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6/7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4" name="Rectangle 30"/>
            <p:cNvSpPr/>
            <p:nvPr/>
          </p:nvSpPr>
          <p:spPr>
            <a:xfrm>
              <a:off x="2112" y="3075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5" name="Rectangle 31"/>
            <p:cNvSpPr/>
            <p:nvPr/>
          </p:nvSpPr>
          <p:spPr>
            <a:xfrm>
              <a:off x="1632" y="3075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6" name="Rectangle 32"/>
            <p:cNvSpPr/>
            <p:nvPr/>
          </p:nvSpPr>
          <p:spPr>
            <a:xfrm>
              <a:off x="1008" y="3075"/>
              <a:ext cx="62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45/7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7" name="Rectangle 33"/>
            <p:cNvSpPr/>
            <p:nvPr/>
          </p:nvSpPr>
          <p:spPr>
            <a:xfrm>
              <a:off x="672" y="3075"/>
              <a:ext cx="33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8" name="Rectangle 34"/>
            <p:cNvSpPr/>
            <p:nvPr/>
          </p:nvSpPr>
          <p:spPr>
            <a:xfrm>
              <a:off x="240" y="3075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59" name="Rectangle 35"/>
            <p:cNvSpPr/>
            <p:nvPr/>
          </p:nvSpPr>
          <p:spPr>
            <a:xfrm>
              <a:off x="5088" y="2788"/>
              <a:ext cx="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0" name="Rectangle 37"/>
            <p:cNvSpPr/>
            <p:nvPr/>
          </p:nvSpPr>
          <p:spPr>
            <a:xfrm>
              <a:off x="4320" y="2788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1" name="Rectangle 38"/>
            <p:cNvSpPr/>
            <p:nvPr/>
          </p:nvSpPr>
          <p:spPr>
            <a:xfrm>
              <a:off x="3792" y="2788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2" name="Rectangle 39"/>
            <p:cNvSpPr/>
            <p:nvPr/>
          </p:nvSpPr>
          <p:spPr>
            <a:xfrm>
              <a:off x="3024" y="2788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3" name="Rectangle 40"/>
            <p:cNvSpPr/>
            <p:nvPr/>
          </p:nvSpPr>
          <p:spPr>
            <a:xfrm>
              <a:off x="2496" y="2788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4" name="Rectangle 41"/>
            <p:cNvSpPr/>
            <p:nvPr/>
          </p:nvSpPr>
          <p:spPr>
            <a:xfrm>
              <a:off x="2112" y="2788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5" name="Rectangle 42"/>
            <p:cNvSpPr/>
            <p:nvPr/>
          </p:nvSpPr>
          <p:spPr>
            <a:xfrm>
              <a:off x="1632" y="2788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6" name="Rectangle 43"/>
            <p:cNvSpPr/>
            <p:nvPr/>
          </p:nvSpPr>
          <p:spPr>
            <a:xfrm>
              <a:off x="1008" y="2788"/>
              <a:ext cx="62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4/7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7" name="Rectangle 44"/>
            <p:cNvSpPr/>
            <p:nvPr/>
          </p:nvSpPr>
          <p:spPr>
            <a:xfrm>
              <a:off x="672" y="2788"/>
              <a:ext cx="33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8" name="Rectangle 45"/>
            <p:cNvSpPr/>
            <p:nvPr/>
          </p:nvSpPr>
          <p:spPr>
            <a:xfrm>
              <a:off x="240" y="2788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69" name="Rectangle 47"/>
            <p:cNvSpPr/>
            <p:nvPr/>
          </p:nvSpPr>
          <p:spPr>
            <a:xfrm>
              <a:off x="4320" y="2501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0" name="Rectangle 48"/>
            <p:cNvSpPr/>
            <p:nvPr/>
          </p:nvSpPr>
          <p:spPr>
            <a:xfrm>
              <a:off x="3792" y="2501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1" name="Rectangle 49"/>
            <p:cNvSpPr/>
            <p:nvPr/>
          </p:nvSpPr>
          <p:spPr>
            <a:xfrm>
              <a:off x="3024" y="2501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2" name="Rectangle 50"/>
            <p:cNvSpPr/>
            <p:nvPr/>
          </p:nvSpPr>
          <p:spPr>
            <a:xfrm>
              <a:off x="2496" y="2501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3" name="Rectangle 51"/>
            <p:cNvSpPr/>
            <p:nvPr/>
          </p:nvSpPr>
          <p:spPr>
            <a:xfrm>
              <a:off x="2112" y="2501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4" name="Rectangle 52"/>
            <p:cNvSpPr/>
            <p:nvPr/>
          </p:nvSpPr>
          <p:spPr>
            <a:xfrm>
              <a:off x="1632" y="2501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5" name="Rectangle 53"/>
            <p:cNvSpPr/>
            <p:nvPr/>
          </p:nvSpPr>
          <p:spPr>
            <a:xfrm>
              <a:off x="1008" y="2501"/>
              <a:ext cx="62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6" name="Rectangle 54"/>
            <p:cNvSpPr/>
            <p:nvPr/>
          </p:nvSpPr>
          <p:spPr>
            <a:xfrm>
              <a:off x="672" y="2501"/>
              <a:ext cx="33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7" name="Rectangle 55"/>
            <p:cNvSpPr/>
            <p:nvPr/>
          </p:nvSpPr>
          <p:spPr>
            <a:xfrm>
              <a:off x="240" y="2501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8" name="Rectangle 56"/>
            <p:cNvSpPr/>
            <p:nvPr/>
          </p:nvSpPr>
          <p:spPr>
            <a:xfrm>
              <a:off x="5088" y="2214"/>
              <a:ext cx="344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79" name="Rectangle 58"/>
            <p:cNvSpPr/>
            <p:nvPr/>
          </p:nvSpPr>
          <p:spPr>
            <a:xfrm>
              <a:off x="4320" y="2214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0" name="Rectangle 59"/>
            <p:cNvSpPr/>
            <p:nvPr/>
          </p:nvSpPr>
          <p:spPr>
            <a:xfrm>
              <a:off x="3792" y="2214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1" name="Rectangle 60"/>
            <p:cNvSpPr/>
            <p:nvPr/>
          </p:nvSpPr>
          <p:spPr>
            <a:xfrm>
              <a:off x="3024" y="2214"/>
              <a:ext cx="7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2" name="Rectangle 61"/>
            <p:cNvSpPr/>
            <p:nvPr/>
          </p:nvSpPr>
          <p:spPr>
            <a:xfrm>
              <a:off x="2496" y="2214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-5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3" name="Rectangle 62"/>
            <p:cNvSpPr/>
            <p:nvPr/>
          </p:nvSpPr>
          <p:spPr>
            <a:xfrm>
              <a:off x="2112" y="2214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4" name="Rectangle 63"/>
            <p:cNvSpPr/>
            <p:nvPr/>
          </p:nvSpPr>
          <p:spPr>
            <a:xfrm>
              <a:off x="1632" y="2214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85" name="Rectangle 64"/>
            <p:cNvSpPr/>
            <p:nvPr/>
          </p:nvSpPr>
          <p:spPr>
            <a:xfrm>
              <a:off x="240" y="2214"/>
              <a:ext cx="139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j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86" name="Line 65"/>
            <p:cNvSpPr/>
            <p:nvPr/>
          </p:nvSpPr>
          <p:spPr>
            <a:xfrm>
              <a:off x="240" y="2214"/>
              <a:ext cx="5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87" name="Line 66"/>
            <p:cNvSpPr/>
            <p:nvPr/>
          </p:nvSpPr>
          <p:spPr>
            <a:xfrm>
              <a:off x="240" y="2501"/>
              <a:ext cx="484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88" name="Line 67"/>
            <p:cNvSpPr/>
            <p:nvPr/>
          </p:nvSpPr>
          <p:spPr>
            <a:xfrm>
              <a:off x="240" y="2788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89" name="Line 68"/>
            <p:cNvSpPr/>
            <p:nvPr/>
          </p:nvSpPr>
          <p:spPr>
            <a:xfrm>
              <a:off x="240" y="3075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0" name="Line 69"/>
            <p:cNvSpPr/>
            <p:nvPr/>
          </p:nvSpPr>
          <p:spPr>
            <a:xfrm>
              <a:off x="240" y="3362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1" name="Line 70"/>
            <p:cNvSpPr/>
            <p:nvPr/>
          </p:nvSpPr>
          <p:spPr>
            <a:xfrm>
              <a:off x="240" y="3649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2" name="Line 71"/>
            <p:cNvSpPr/>
            <p:nvPr/>
          </p:nvSpPr>
          <p:spPr>
            <a:xfrm>
              <a:off x="240" y="3936"/>
              <a:ext cx="5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3" name="Line 72"/>
            <p:cNvSpPr/>
            <p:nvPr/>
          </p:nvSpPr>
          <p:spPr>
            <a:xfrm>
              <a:off x="240" y="2214"/>
              <a:ext cx="0" cy="172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4" name="Line 73"/>
            <p:cNvSpPr/>
            <p:nvPr/>
          </p:nvSpPr>
          <p:spPr>
            <a:xfrm>
              <a:off x="1632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5" name="Line 74"/>
            <p:cNvSpPr/>
            <p:nvPr/>
          </p:nvSpPr>
          <p:spPr>
            <a:xfrm>
              <a:off x="2112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6" name="Line 75"/>
            <p:cNvSpPr/>
            <p:nvPr/>
          </p:nvSpPr>
          <p:spPr>
            <a:xfrm>
              <a:off x="2496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7" name="Line 76"/>
            <p:cNvSpPr/>
            <p:nvPr/>
          </p:nvSpPr>
          <p:spPr>
            <a:xfrm>
              <a:off x="3024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8" name="Line 77"/>
            <p:cNvSpPr/>
            <p:nvPr/>
          </p:nvSpPr>
          <p:spPr>
            <a:xfrm>
              <a:off x="3792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99" name="Line 78"/>
            <p:cNvSpPr/>
            <p:nvPr/>
          </p:nvSpPr>
          <p:spPr>
            <a:xfrm>
              <a:off x="4320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00" name="Line 79"/>
            <p:cNvSpPr/>
            <p:nvPr/>
          </p:nvSpPr>
          <p:spPr>
            <a:xfrm>
              <a:off x="5088" y="2214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01" name="Line 81"/>
            <p:cNvSpPr/>
            <p:nvPr/>
          </p:nvSpPr>
          <p:spPr>
            <a:xfrm>
              <a:off x="5432" y="2214"/>
              <a:ext cx="0" cy="172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02" name="Line 82"/>
            <p:cNvSpPr/>
            <p:nvPr/>
          </p:nvSpPr>
          <p:spPr>
            <a:xfrm>
              <a:off x="672" y="2501"/>
              <a:ext cx="0" cy="11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03" name="Line 83"/>
            <p:cNvSpPr/>
            <p:nvPr/>
          </p:nvSpPr>
          <p:spPr>
            <a:xfrm>
              <a:off x="1008" y="2501"/>
              <a:ext cx="0" cy="143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52" name="Group 201"/>
          <p:cNvGrpSpPr/>
          <p:nvPr/>
        </p:nvGrpSpPr>
        <p:grpSpPr>
          <a:xfrm>
            <a:off x="381000" y="381000"/>
            <a:ext cx="8242300" cy="2733675"/>
            <a:chOff x="240" y="240"/>
            <a:chExt cx="5192" cy="1722"/>
          </a:xfrm>
        </p:grpSpPr>
        <p:sp>
          <p:nvSpPr>
            <p:cNvPr id="2055" name="Rectangle 192"/>
            <p:cNvSpPr/>
            <p:nvPr/>
          </p:nvSpPr>
          <p:spPr>
            <a:xfrm>
              <a:off x="1488" y="1104"/>
              <a:ext cx="576" cy="288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6" name="Rectangle 108"/>
            <p:cNvSpPr/>
            <p:nvPr/>
          </p:nvSpPr>
          <p:spPr>
            <a:xfrm>
              <a:off x="4800" y="1675"/>
              <a:ext cx="6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57" name="Rectangle 109"/>
            <p:cNvSpPr/>
            <p:nvPr/>
          </p:nvSpPr>
          <p:spPr>
            <a:xfrm>
              <a:off x="4272" y="1675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58" name="Rectangle 110"/>
            <p:cNvSpPr/>
            <p:nvPr/>
          </p:nvSpPr>
          <p:spPr>
            <a:xfrm>
              <a:off x="3792" y="1675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59" name="Rectangle 111"/>
            <p:cNvSpPr/>
            <p:nvPr/>
          </p:nvSpPr>
          <p:spPr>
            <a:xfrm>
              <a:off x="3360" y="1675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0" name="Rectangle 112"/>
            <p:cNvSpPr/>
            <p:nvPr/>
          </p:nvSpPr>
          <p:spPr>
            <a:xfrm>
              <a:off x="2688" y="1675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-5+2M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1" name="Rectangle 113"/>
            <p:cNvSpPr/>
            <p:nvPr/>
          </p:nvSpPr>
          <p:spPr>
            <a:xfrm>
              <a:off x="2112" y="1675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3-4M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2" name="Rectangle 114"/>
            <p:cNvSpPr/>
            <p:nvPr/>
          </p:nvSpPr>
          <p:spPr>
            <a:xfrm>
              <a:off x="1440" y="1675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2+3M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3" name="Rectangle 115"/>
            <p:cNvSpPr/>
            <p:nvPr/>
          </p:nvSpPr>
          <p:spPr>
            <a:xfrm>
              <a:off x="1056" y="1675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4" name="Rectangle 116"/>
            <p:cNvSpPr/>
            <p:nvPr/>
          </p:nvSpPr>
          <p:spPr>
            <a:xfrm>
              <a:off x="240" y="1675"/>
              <a:ext cx="81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</a:rPr>
                <a:t>-Z</a:t>
              </a:r>
              <a:endParaRPr lang="en-US" altLang="zh-CN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5" name="Rectangle 117"/>
            <p:cNvSpPr/>
            <p:nvPr/>
          </p:nvSpPr>
          <p:spPr>
            <a:xfrm>
              <a:off x="4800" y="1388"/>
              <a:ext cx="6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6" name="Rectangle 118"/>
            <p:cNvSpPr/>
            <p:nvPr/>
          </p:nvSpPr>
          <p:spPr>
            <a:xfrm>
              <a:off x="4272" y="1388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7" name="Rectangle 119"/>
            <p:cNvSpPr/>
            <p:nvPr/>
          </p:nvSpPr>
          <p:spPr>
            <a:xfrm>
              <a:off x="3792" y="1388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8" name="Rectangle 120"/>
            <p:cNvSpPr/>
            <p:nvPr/>
          </p:nvSpPr>
          <p:spPr>
            <a:xfrm>
              <a:off x="3360" y="1388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69" name="Rectangle 121"/>
            <p:cNvSpPr/>
            <p:nvPr/>
          </p:nvSpPr>
          <p:spPr>
            <a:xfrm>
              <a:off x="2688" y="1388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0" name="Rectangle 122"/>
            <p:cNvSpPr/>
            <p:nvPr/>
          </p:nvSpPr>
          <p:spPr>
            <a:xfrm>
              <a:off x="2112" y="1388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1" name="Rectangle 123"/>
            <p:cNvSpPr/>
            <p:nvPr/>
          </p:nvSpPr>
          <p:spPr>
            <a:xfrm>
              <a:off x="1440" y="1388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2" name="Rectangle 124"/>
            <p:cNvSpPr/>
            <p:nvPr/>
          </p:nvSpPr>
          <p:spPr>
            <a:xfrm>
              <a:off x="1056" y="1388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3" name="Rectangle 125"/>
            <p:cNvSpPr/>
            <p:nvPr/>
          </p:nvSpPr>
          <p:spPr>
            <a:xfrm>
              <a:off x="672" y="1388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4" name="Rectangle 126"/>
            <p:cNvSpPr/>
            <p:nvPr/>
          </p:nvSpPr>
          <p:spPr>
            <a:xfrm>
              <a:off x="240" y="1388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5" name="Rectangle 127"/>
            <p:cNvSpPr/>
            <p:nvPr/>
          </p:nvSpPr>
          <p:spPr>
            <a:xfrm>
              <a:off x="4800" y="1101"/>
              <a:ext cx="6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5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6" name="Rectangle 128"/>
            <p:cNvSpPr/>
            <p:nvPr/>
          </p:nvSpPr>
          <p:spPr>
            <a:xfrm>
              <a:off x="4272" y="1101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7" name="Rectangle 129"/>
            <p:cNvSpPr/>
            <p:nvPr/>
          </p:nvSpPr>
          <p:spPr>
            <a:xfrm>
              <a:off x="3792" y="1101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8" name="Rectangle 130"/>
            <p:cNvSpPr/>
            <p:nvPr/>
          </p:nvSpPr>
          <p:spPr>
            <a:xfrm>
              <a:off x="3360" y="1101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9" name="Rectangle 131"/>
            <p:cNvSpPr/>
            <p:nvPr/>
          </p:nvSpPr>
          <p:spPr>
            <a:xfrm>
              <a:off x="2688" y="1101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0" name="Rectangle 132"/>
            <p:cNvSpPr/>
            <p:nvPr/>
          </p:nvSpPr>
          <p:spPr>
            <a:xfrm>
              <a:off x="2112" y="1101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-5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1" name="Rectangle 133"/>
            <p:cNvSpPr/>
            <p:nvPr/>
          </p:nvSpPr>
          <p:spPr>
            <a:xfrm>
              <a:off x="1440" y="1101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2" name="Rectangle 134"/>
            <p:cNvSpPr/>
            <p:nvPr/>
          </p:nvSpPr>
          <p:spPr>
            <a:xfrm>
              <a:off x="1056" y="1101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3" name="Rectangle 135"/>
            <p:cNvSpPr/>
            <p:nvPr/>
          </p:nvSpPr>
          <p:spPr>
            <a:xfrm>
              <a:off x="672" y="1101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4" name="Rectangle 136"/>
            <p:cNvSpPr/>
            <p:nvPr/>
          </p:nvSpPr>
          <p:spPr>
            <a:xfrm>
              <a:off x="240" y="1101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5" name="Rectangle 137"/>
            <p:cNvSpPr/>
            <p:nvPr/>
          </p:nvSpPr>
          <p:spPr>
            <a:xfrm>
              <a:off x="4800" y="814"/>
              <a:ext cx="6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6" name="Rectangle 138"/>
            <p:cNvSpPr/>
            <p:nvPr/>
          </p:nvSpPr>
          <p:spPr>
            <a:xfrm>
              <a:off x="4272" y="814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7" name="Rectangle 139"/>
            <p:cNvSpPr/>
            <p:nvPr/>
          </p:nvSpPr>
          <p:spPr>
            <a:xfrm>
              <a:off x="3792" y="814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8" name="Rectangle 140"/>
            <p:cNvSpPr/>
            <p:nvPr/>
          </p:nvSpPr>
          <p:spPr>
            <a:xfrm>
              <a:off x="3360" y="814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89" name="Rectangle 141"/>
            <p:cNvSpPr/>
            <p:nvPr/>
          </p:nvSpPr>
          <p:spPr>
            <a:xfrm>
              <a:off x="2688" y="814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90" name="Rectangle 142"/>
            <p:cNvSpPr/>
            <p:nvPr/>
          </p:nvSpPr>
          <p:spPr>
            <a:xfrm>
              <a:off x="2112" y="814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91" name="Rectangle 143"/>
            <p:cNvSpPr/>
            <p:nvPr/>
          </p:nvSpPr>
          <p:spPr>
            <a:xfrm>
              <a:off x="1440" y="814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92" name="Rectangle 144"/>
            <p:cNvSpPr/>
            <p:nvPr/>
          </p:nvSpPr>
          <p:spPr>
            <a:xfrm>
              <a:off x="1056" y="814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7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93" name="Rectangle 146"/>
            <p:cNvSpPr/>
            <p:nvPr/>
          </p:nvSpPr>
          <p:spPr>
            <a:xfrm>
              <a:off x="240" y="814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94" name="Rectangle 147"/>
            <p:cNvSpPr/>
            <p:nvPr/>
          </p:nvSpPr>
          <p:spPr>
            <a:xfrm>
              <a:off x="4272" y="527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5" name="Rectangle 148"/>
            <p:cNvSpPr/>
            <p:nvPr/>
          </p:nvSpPr>
          <p:spPr>
            <a:xfrm>
              <a:off x="3792" y="527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6" name="Rectangle 149"/>
            <p:cNvSpPr/>
            <p:nvPr/>
          </p:nvSpPr>
          <p:spPr>
            <a:xfrm>
              <a:off x="3360" y="527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7" name="Rectangle 150"/>
            <p:cNvSpPr/>
            <p:nvPr/>
          </p:nvSpPr>
          <p:spPr>
            <a:xfrm>
              <a:off x="2688" y="527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8" name="Rectangle 151"/>
            <p:cNvSpPr/>
            <p:nvPr/>
          </p:nvSpPr>
          <p:spPr>
            <a:xfrm>
              <a:off x="2112" y="527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9" name="Rectangle 152"/>
            <p:cNvSpPr/>
            <p:nvPr/>
          </p:nvSpPr>
          <p:spPr>
            <a:xfrm>
              <a:off x="1440" y="527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0" name="Rectangle 153"/>
            <p:cNvSpPr/>
            <p:nvPr/>
          </p:nvSpPr>
          <p:spPr>
            <a:xfrm>
              <a:off x="1056" y="527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1" name="Rectangle 154"/>
            <p:cNvSpPr/>
            <p:nvPr/>
          </p:nvSpPr>
          <p:spPr>
            <a:xfrm>
              <a:off x="672" y="527"/>
              <a:ext cx="38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2" name="Rectangle 155"/>
            <p:cNvSpPr/>
            <p:nvPr/>
          </p:nvSpPr>
          <p:spPr>
            <a:xfrm>
              <a:off x="240" y="527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3" name="Rectangle 156"/>
            <p:cNvSpPr/>
            <p:nvPr/>
          </p:nvSpPr>
          <p:spPr>
            <a:xfrm>
              <a:off x="4800" y="240"/>
              <a:ext cx="632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4" name="Rectangle 157"/>
            <p:cNvSpPr/>
            <p:nvPr/>
          </p:nvSpPr>
          <p:spPr>
            <a:xfrm>
              <a:off x="4272" y="240"/>
              <a:ext cx="52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5" name="Rectangle 158"/>
            <p:cNvSpPr/>
            <p:nvPr/>
          </p:nvSpPr>
          <p:spPr>
            <a:xfrm>
              <a:off x="3792" y="240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0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6" name="Rectangle 159"/>
            <p:cNvSpPr/>
            <p:nvPr/>
          </p:nvSpPr>
          <p:spPr>
            <a:xfrm>
              <a:off x="3360" y="240"/>
              <a:ext cx="4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-M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7" name="Rectangle 160"/>
            <p:cNvSpPr/>
            <p:nvPr/>
          </p:nvSpPr>
          <p:spPr>
            <a:xfrm>
              <a:off x="2688" y="240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-5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8" name="Rectangle 161"/>
            <p:cNvSpPr/>
            <p:nvPr/>
          </p:nvSpPr>
          <p:spPr>
            <a:xfrm>
              <a:off x="2112" y="240"/>
              <a:ext cx="5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3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09" name="Rectangle 162"/>
            <p:cNvSpPr/>
            <p:nvPr/>
          </p:nvSpPr>
          <p:spPr>
            <a:xfrm>
              <a:off x="1440" y="240"/>
              <a:ext cx="67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>
                <a:spcBef>
                  <a:spcPct val="2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110" name="Rectangle 163"/>
            <p:cNvSpPr/>
            <p:nvPr/>
          </p:nvSpPr>
          <p:spPr>
            <a:xfrm>
              <a:off x="240" y="240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j</a:t>
              </a:r>
              <a:endPara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11" name="Line 164"/>
            <p:cNvSpPr/>
            <p:nvPr/>
          </p:nvSpPr>
          <p:spPr>
            <a:xfrm>
              <a:off x="240" y="240"/>
              <a:ext cx="5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2" name="Line 165"/>
            <p:cNvSpPr/>
            <p:nvPr/>
          </p:nvSpPr>
          <p:spPr>
            <a:xfrm>
              <a:off x="240" y="527"/>
              <a:ext cx="45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3" name="Line 166"/>
            <p:cNvSpPr/>
            <p:nvPr/>
          </p:nvSpPr>
          <p:spPr>
            <a:xfrm>
              <a:off x="240" y="814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4" name="Line 167"/>
            <p:cNvSpPr/>
            <p:nvPr/>
          </p:nvSpPr>
          <p:spPr>
            <a:xfrm>
              <a:off x="240" y="1101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5" name="Line 168"/>
            <p:cNvSpPr/>
            <p:nvPr/>
          </p:nvSpPr>
          <p:spPr>
            <a:xfrm>
              <a:off x="240" y="1388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6" name="Line 169"/>
            <p:cNvSpPr/>
            <p:nvPr/>
          </p:nvSpPr>
          <p:spPr>
            <a:xfrm>
              <a:off x="240" y="1675"/>
              <a:ext cx="5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7" name="Line 170"/>
            <p:cNvSpPr/>
            <p:nvPr/>
          </p:nvSpPr>
          <p:spPr>
            <a:xfrm>
              <a:off x="240" y="1962"/>
              <a:ext cx="5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8" name="Line 171"/>
            <p:cNvSpPr/>
            <p:nvPr/>
          </p:nvSpPr>
          <p:spPr>
            <a:xfrm>
              <a:off x="240" y="240"/>
              <a:ext cx="0" cy="172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19" name="Line 172"/>
            <p:cNvSpPr/>
            <p:nvPr/>
          </p:nvSpPr>
          <p:spPr>
            <a:xfrm>
              <a:off x="1440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0" name="Line 173"/>
            <p:cNvSpPr/>
            <p:nvPr/>
          </p:nvSpPr>
          <p:spPr>
            <a:xfrm>
              <a:off x="2112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1" name="Line 174"/>
            <p:cNvSpPr/>
            <p:nvPr/>
          </p:nvSpPr>
          <p:spPr>
            <a:xfrm>
              <a:off x="2688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2" name="Line 175"/>
            <p:cNvSpPr/>
            <p:nvPr/>
          </p:nvSpPr>
          <p:spPr>
            <a:xfrm>
              <a:off x="3360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3" name="Line 176"/>
            <p:cNvSpPr/>
            <p:nvPr/>
          </p:nvSpPr>
          <p:spPr>
            <a:xfrm>
              <a:off x="3792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4" name="Line 177"/>
            <p:cNvSpPr/>
            <p:nvPr/>
          </p:nvSpPr>
          <p:spPr>
            <a:xfrm>
              <a:off x="4272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5" name="Line 178"/>
            <p:cNvSpPr/>
            <p:nvPr/>
          </p:nvSpPr>
          <p:spPr>
            <a:xfrm>
              <a:off x="4800" y="240"/>
              <a:ext cx="0" cy="17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6" name="Line 179"/>
            <p:cNvSpPr/>
            <p:nvPr/>
          </p:nvSpPr>
          <p:spPr>
            <a:xfrm>
              <a:off x="5432" y="240"/>
              <a:ext cx="0" cy="172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7" name="Line 180"/>
            <p:cNvSpPr/>
            <p:nvPr/>
          </p:nvSpPr>
          <p:spPr>
            <a:xfrm>
              <a:off x="672" y="527"/>
              <a:ext cx="0" cy="11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8" name="Line 181"/>
            <p:cNvSpPr/>
            <p:nvPr/>
          </p:nvSpPr>
          <p:spPr>
            <a:xfrm>
              <a:off x="1056" y="527"/>
              <a:ext cx="0" cy="143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29" name="Line 193"/>
            <p:cNvSpPr/>
            <p:nvPr/>
          </p:nvSpPr>
          <p:spPr>
            <a:xfrm flipV="1">
              <a:off x="2064" y="1728"/>
              <a:ext cx="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0" name="Object 194"/>
            <p:cNvGraphicFramePr>
              <a:graphicFrameLocks noChangeAspect="1"/>
            </p:cNvGraphicFramePr>
            <p:nvPr/>
          </p:nvGraphicFramePr>
          <p:xfrm>
            <a:off x="4992" y="336"/>
            <a:ext cx="25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52400" imgH="228600" progId="Equation.3">
                    <p:embed/>
                  </p:oleObj>
                </mc:Choice>
                <mc:Fallback>
                  <p:oleObj name="" r:id="rId1" imgW="152400" imgH="2286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92" y="336"/>
                          <a:ext cx="25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995" name="AutoShape 195"/>
          <p:cNvSpPr/>
          <p:nvPr/>
        </p:nvSpPr>
        <p:spPr>
          <a:xfrm>
            <a:off x="4191000" y="3124200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4" name="Rectangle 135"/>
          <p:cNvSpPr/>
          <p:nvPr/>
        </p:nvSpPr>
        <p:spPr>
          <a:xfrm>
            <a:off x="1071563" y="1285875"/>
            <a:ext cx="609600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>
              <a:spcBef>
                <a:spcPct val="20000"/>
              </a:spcBef>
            </a:pP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zh-CN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i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2571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6188"/>
            <a:ext cx="9144000" cy="468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33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21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536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00"/>
            <a:ext cx="9144000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285750" y="357188"/>
            <a:ext cx="5715000" cy="685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1.5 </a:t>
            </a:r>
            <a:r>
              <a:rPr kumimoji="0" lang="zh-CN" altLang="en-US" sz="32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  <a:t>单纯形法的进一步讨论</a:t>
            </a:r>
            <a:br>
              <a:rPr kumimoji="0" lang="zh-CN" altLang="en-US" sz="4400" kern="0" cap="none" spc="0" normalizeH="0" baseline="0" noProof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0" cap="none" spc="0" normalizeH="0" baseline="0" noProof="0" dirty="0">
              <a:solidFill>
                <a:srgbClr val="0000FF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1638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142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750"/>
            <a:ext cx="9144000" cy="4286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741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7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74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5875"/>
            <a:ext cx="9144000" cy="282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3313"/>
            <a:ext cx="9144000" cy="3214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843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1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84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3305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945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94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048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85750" y="1500188"/>
            <a:ext cx="85725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9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：某饲料场饲养动物出售，设每头动物每天至少需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700g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蛋白质、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30g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矿物质，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100mg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维生素。现有五种饲料可供选用，各种饲料每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kg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营养成分含量及单价如下表所示。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47750" y="3792538"/>
          <a:ext cx="6096000" cy="249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饲料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蛋白质</a:t>
                      </a:r>
                      <a:r>
                        <a:rPr lang="en-US" altLang="zh-CN" dirty="0" smtClean="0"/>
                        <a:t>/g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矿物质</a:t>
                      </a:r>
                      <a:r>
                        <a:rPr lang="en-US" altLang="zh-CN" dirty="0" smtClean="0"/>
                        <a:t>/g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维生素</a:t>
                      </a:r>
                      <a:r>
                        <a:rPr lang="en-US" altLang="zh-CN" dirty="0" smtClean="0"/>
                        <a:t>/mg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价格</a:t>
                      </a:r>
                      <a:r>
                        <a:rPr lang="en-US" altLang="zh-CN" dirty="0" smtClean="0"/>
                        <a:t>/kg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0.7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150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14313" y="1643063"/>
            <a:ext cx="85725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要求确定既满足动物生长的营养需要，又使费用最省的选用饲料的方案。（只需建模）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253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7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85750" y="1500188"/>
            <a:ext cx="85725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10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：一贸易公司专门经营某种杂粮的批发业务。公司现有库容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5000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担的仓库。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日，公司拥有库存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1000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担杂粮，并有资金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20000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元。估计第一季度杂粮价格如下表所示。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071563" y="4000500"/>
          <a:ext cx="6619875" cy="146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34"/>
                <a:gridCol w="2206634"/>
                <a:gridCol w="2206634"/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进货价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元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担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出货价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元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担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2.85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3.10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3.05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3.25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2.90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2.95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355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1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14313" y="1643063"/>
            <a:ext cx="85725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如买进的杂粮当月到货，但需到下个月才能卖出，且规定“货到付款”。公司希望本季末库存为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2000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担，问应采取什么样的买进与卖出的策略使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个月总的获利最大？（只需建模）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457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85750" y="1500188"/>
            <a:ext cx="8572500" cy="1214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11</a:t>
            </a: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：某厂在今后四个月内需租用仓库堆存物资。已知各个月所需的仓库面积数字列于下表。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42938" y="2714625"/>
          <a:ext cx="7643813" cy="731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1357322"/>
                <a:gridCol w="1428760"/>
                <a:gridCol w="1643074"/>
                <a:gridCol w="1285883"/>
              </a:tblGrid>
              <a:tr h="23217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月份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</a:tr>
              <a:tr h="23217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所需仓库面积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14313" y="3500438"/>
            <a:ext cx="8572500" cy="1214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仓库租用费用，当租期合同期限越长时，享受的折扣优待越大，具体数字列于下表。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14375" y="4714875"/>
          <a:ext cx="7643813" cy="731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1357322"/>
                <a:gridCol w="1428760"/>
                <a:gridCol w="1643074"/>
                <a:gridCol w="1285883"/>
              </a:tblGrid>
              <a:tr h="23217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合同租赁期限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</a:tr>
              <a:tr h="23217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单位面积费用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2800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7300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60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14313" y="1643063"/>
            <a:ext cx="8572500" cy="3500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租借仓库的合同每月初都可以办理，每份合同具体规定租用面积数和期限。因此该厂可根据需要在任何一个月初办理租借合同，且每次办理时，可签一份，也可同时签若干份租用面积和租借期限不同的合同，总的目标是使所付的租借费最小（只需建模）</a:t>
            </a:r>
            <a:endParaRPr kumimoji="0" lang="zh-CN" altLang="en-US" sz="3200" kern="0" cap="none" spc="0" normalizeH="0" baseline="0" noProof="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62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4" name="Rectangle 3"/>
          <p:cNvSpPr/>
          <p:nvPr/>
        </p:nvSpPr>
        <p:spPr>
          <a:xfrm>
            <a:off x="285750" y="1714500"/>
            <a:ext cx="3429000" cy="43576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应用一：一个连锁店要从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个地点进行选择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个地点建立商铺，每个地点最多只能建一个商铺，通过调研得知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个地点建立商铺后的利润为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Pi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i=1, 2,…, N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），问如何选择</a:t>
            </a:r>
            <a:r>
              <a:rPr lang="en-US" altLang="zh-CN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个地点？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266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9063" y="1651000"/>
            <a:ext cx="4657725" cy="4706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65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8" name="Rectangle 3"/>
          <p:cNvSpPr/>
          <p:nvPr/>
        </p:nvSpPr>
        <p:spPr>
          <a:xfrm>
            <a:off x="495300" y="1876425"/>
            <a:ext cx="3433763" cy="4224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spcBef>
                <a:spcPct val="2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应用二：因为项目需要，你要组建一个项目组，项目组成员不能超过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5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名，已知成员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对项目的贡献为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Ci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，请问如何组建效果最好？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7659" name="Rectangle 3"/>
          <p:cNvSpPr/>
          <p:nvPr/>
        </p:nvSpPr>
        <p:spPr>
          <a:xfrm>
            <a:off x="4500563" y="1857375"/>
            <a:ext cx="4357687" cy="4224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spcBef>
                <a:spcPct val="2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应用三：硕士毕业论文需要专家评审，已知每篇论文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和专家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j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的熟悉程度为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Fij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，每篇论文需要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位以上专家评审，每位专家评审论文不能超过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10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个，请问如何指派效果最好？</a:t>
            </a:r>
            <a:endParaRPr lang="zh-CN" altLang="en-US" sz="32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28676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7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d884b588-e5a4-45fc-b4e5-378007cab19a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1401</Words>
  <Application>WPS 演示</Application>
  <PresentationFormat>全屏显示(4:3)</PresentationFormat>
  <Paragraphs>398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Arial Black</vt:lpstr>
      <vt:lpstr>楷体_GB2312</vt:lpstr>
      <vt:lpstr>新宋体</vt:lpstr>
      <vt:lpstr>黑体</vt:lpstr>
      <vt:lpstr>隶书</vt:lpstr>
      <vt:lpstr>微软雅黑</vt:lpstr>
      <vt:lpstr>Arial Unicode MS</vt:lpstr>
      <vt:lpstr>Pixel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363</cp:revision>
  <dcterms:created xsi:type="dcterms:W3CDTF">2022-12-11T09:07:39Z</dcterms:created>
  <dcterms:modified xsi:type="dcterms:W3CDTF">2022-12-11T09:08:02Z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77D141CA88524D12BCBAB46F1D87B39D</vt:lpwstr>
  </property>
  <property fmtid="{D5CDD505-2E9C-101B-9397-08002B2CF9AE}" pid="3" name="KSOProductBuildVer">
    <vt:lpwstr>2052-11.1.0.12980</vt:lpwstr>
  </property>
</Properties>
</file>