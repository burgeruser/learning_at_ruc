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62" r:id="rId3"/>
    <p:sldId id="295" r:id="rId4"/>
    <p:sldId id="266" r:id="rId5"/>
    <p:sldId id="275" r:id="rId6"/>
    <p:sldId id="274" r:id="rId7"/>
    <p:sldId id="296" r:id="rId8"/>
    <p:sldId id="276" r:id="rId9"/>
    <p:sldId id="297" r:id="rId10"/>
    <p:sldId id="273" r:id="rId11"/>
    <p:sldId id="298" r:id="rId12"/>
    <p:sldId id="277" r:id="rId13"/>
    <p:sldId id="278" r:id="rId14"/>
    <p:sldId id="279" r:id="rId15"/>
    <p:sldId id="281" r:id="rId16"/>
    <p:sldId id="282" r:id="rId17"/>
    <p:sldId id="284" r:id="rId18"/>
    <p:sldId id="285" r:id="rId19"/>
    <p:sldId id="286" r:id="rId20"/>
    <p:sldId id="288" r:id="rId21"/>
    <p:sldId id="293" r:id="rId22"/>
    <p:sldId id="289" r:id="rId23"/>
    <p:sldId id="290" r:id="rId24"/>
    <p:sldId id="299" r:id="rId25"/>
    <p:sldId id="305" r:id="rId26"/>
    <p:sldId id="306" r:id="rId27"/>
    <p:sldId id="303" r:id="rId28"/>
    <p:sldId id="307" r:id="rId29"/>
    <p:sldId id="309" r:id="rId30"/>
    <p:sldId id="317" r:id="rId31"/>
    <p:sldId id="310" r:id="rId32"/>
    <p:sldId id="311" r:id="rId33"/>
    <p:sldId id="312" r:id="rId34"/>
    <p:sldId id="313" r:id="rId35"/>
    <p:sldId id="320" r:id="rId36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452"/>
    <a:srgbClr val="C5C16B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-78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9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Relationship Id="rId9" Type="http://schemas.openxmlformats.org/officeDocument/2006/relationships/image" Target="../media/image5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69.wmf"/><Relationship Id="rId18" Type="http://schemas.openxmlformats.org/officeDocument/2006/relationships/image" Target="../media/image35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12" Type="http://schemas.openxmlformats.org/officeDocument/2006/relationships/image" Target="../media/image68.wmf"/><Relationship Id="rId17" Type="http://schemas.openxmlformats.org/officeDocument/2006/relationships/image" Target="../media/image73.wmf"/><Relationship Id="rId2" Type="http://schemas.openxmlformats.org/officeDocument/2006/relationships/image" Target="../media/image60.wmf"/><Relationship Id="rId16" Type="http://schemas.openxmlformats.org/officeDocument/2006/relationships/image" Target="../media/image72.wmf"/><Relationship Id="rId1" Type="http://schemas.openxmlformats.org/officeDocument/2006/relationships/image" Target="../media/image58.wmf"/><Relationship Id="rId6" Type="http://schemas.openxmlformats.org/officeDocument/2006/relationships/image" Target="../media/image64.wmf"/><Relationship Id="rId11" Type="http://schemas.openxmlformats.org/officeDocument/2006/relationships/image" Target="../media/image28.wmf"/><Relationship Id="rId5" Type="http://schemas.openxmlformats.org/officeDocument/2006/relationships/image" Target="../media/image63.wmf"/><Relationship Id="rId15" Type="http://schemas.openxmlformats.org/officeDocument/2006/relationships/image" Target="../media/image71.wmf"/><Relationship Id="rId10" Type="http://schemas.openxmlformats.org/officeDocument/2006/relationships/image" Target="../media/image67.wmf"/><Relationship Id="rId19" Type="http://schemas.openxmlformats.org/officeDocument/2006/relationships/image" Target="../media/image74.wmf"/><Relationship Id="rId4" Type="http://schemas.openxmlformats.org/officeDocument/2006/relationships/image" Target="../media/image62.wmf"/><Relationship Id="rId9" Type="http://schemas.openxmlformats.org/officeDocument/2006/relationships/image" Target="../media/image66.wmf"/><Relationship Id="rId14" Type="http://schemas.openxmlformats.org/officeDocument/2006/relationships/image" Target="../media/image7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99.wmf"/><Relationship Id="rId7" Type="http://schemas.openxmlformats.org/officeDocument/2006/relationships/image" Target="../media/image100.wmf"/><Relationship Id="rId2" Type="http://schemas.openxmlformats.org/officeDocument/2006/relationships/image" Target="../media/image98.wmf"/><Relationship Id="rId1" Type="http://schemas.openxmlformats.org/officeDocument/2006/relationships/image" Target="../media/image84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10" Type="http://schemas.openxmlformats.org/officeDocument/2006/relationships/image" Target="../media/image103.wmf"/><Relationship Id="rId4" Type="http://schemas.openxmlformats.org/officeDocument/2006/relationships/image" Target="../media/image94.wmf"/><Relationship Id="rId9" Type="http://schemas.openxmlformats.org/officeDocument/2006/relationships/image" Target="../media/image10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26F4D-147D-4D67-893A-FC03857F85ED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89589-F3FC-4CC3-BC57-92A693666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81844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r" eaLnBrk="1" hangingPunct="1"/>
            <a:fld id="{E598E5E1-1FE2-4088-9B00-9379F9A0B0E9}" type="slidenum">
              <a:rPr lang="en-US" altLang="zh-CN" sz="1200">
                <a:ea typeface="宋体" pitchFamily="2" charset="-122"/>
              </a:rPr>
              <a:pPr algn="r" eaLnBrk="1" hangingPunct="1"/>
              <a:t>18</a:t>
            </a:fld>
            <a:endParaRPr lang="en-US" altLang="zh-CN" sz="1200">
              <a:ea typeface="宋体" pitchFamily="2" charset="-122"/>
            </a:endParaRPr>
          </a:p>
        </p:txBody>
      </p:sp>
      <p:sp>
        <p:nvSpPr>
          <p:cNvPr id="151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611188"/>
            <a:ext cx="5029200" cy="7847012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/>
              <a:t>两点的连线的中点是？？？恰是</a:t>
            </a:r>
            <a:r>
              <a:rPr lang="en-US" altLang="zh-CN" smtClean="0"/>
              <a:t>X</a:t>
            </a:r>
          </a:p>
          <a:p>
            <a:pPr eaLnBrk="1" hangingPunct="1"/>
            <a:r>
              <a:rPr lang="zh-CN" altLang="en-US" smtClean="0"/>
              <a:t>而</a:t>
            </a:r>
            <a:r>
              <a:rPr lang="en-US" altLang="zh-CN" smtClean="0"/>
              <a:t>X</a:t>
            </a:r>
            <a:r>
              <a:rPr lang="zh-CN" altLang="en-US" smtClean="0"/>
              <a:t>是顶点，按理说不能表示成</a:t>
            </a:r>
          </a:p>
        </p:txBody>
      </p:sp>
    </p:spTree>
    <p:extLst>
      <p:ext uri="{BB962C8B-B14F-4D97-AF65-F5344CB8AC3E}">
        <p14:creationId xmlns="" xmlns:p14="http://schemas.microsoft.com/office/powerpoint/2010/main" val="2004031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9834297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25111015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28693520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01815948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39942453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0251938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216124256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14880416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5922717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39520114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234479847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0200" y="774700"/>
            <a:ext cx="1524000" cy="531018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51200" y="762000"/>
            <a:ext cx="3911600" cy="5334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7366000" y="762000"/>
            <a:ext cx="3911600" cy="5334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252949061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0200" y="774700"/>
            <a:ext cx="1524000" cy="531018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1200" y="762000"/>
            <a:ext cx="3911600" cy="5334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7366000" y="762000"/>
            <a:ext cx="3911600" cy="2590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7366000" y="3505200"/>
            <a:ext cx="3911600" cy="2590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77617696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 hidden="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 hidden="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 hidden="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1832B-D790-4802-8563-5B331EBEBAE9}" type="datetimeFigureOut">
              <a:rPr lang="zh-CN" altLang="en-US" smtClean="0"/>
              <a:pPr/>
              <a:t>2021/3/16</a:t>
            </a:fld>
            <a:endParaRPr lang="zh-CN" altLang="en-US"/>
          </a:p>
        </p:txBody>
      </p:sp>
      <p:sp>
        <p:nvSpPr>
          <p:cNvPr id="5" name="页脚占位符 4" hidden="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 hidden="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3A499-FCDD-4E04-83CE-6E53E4C781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39287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weixu@ruc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2.bin"/><Relationship Id="rId9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oleObject" Target="../embeddings/oleObject20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9.png"/><Relationship Id="rId4" Type="http://schemas.openxmlformats.org/officeDocument/2006/relationships/oleObject" Target="../embeddings/oleObject2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29.bin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28.bin"/><Relationship Id="rId9" Type="http://schemas.openxmlformats.org/officeDocument/2006/relationships/oleObject" Target="../embeddings/oleObject3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9.bin"/><Relationship Id="rId5" Type="http://schemas.openxmlformats.org/officeDocument/2006/relationships/oleObject" Target="../embeddings/oleObject38.bin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37.bin"/><Relationship Id="rId9" Type="http://schemas.openxmlformats.org/officeDocument/2006/relationships/oleObject" Target="../embeddings/oleObject4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2.bin"/><Relationship Id="rId12" Type="http://schemas.openxmlformats.org/officeDocument/2006/relationships/oleObject" Target="../embeddings/oleObject5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1.bin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0.bin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49.bin"/><Relationship Id="rId9" Type="http://schemas.openxmlformats.org/officeDocument/2006/relationships/oleObject" Target="../embeddings/oleObject5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oleObject" Target="../embeddings/oleObject68.bin"/><Relationship Id="rId18" Type="http://schemas.openxmlformats.org/officeDocument/2006/relationships/oleObject" Target="../embeddings/oleObject73.bin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76.bin"/><Relationship Id="rId7" Type="http://schemas.openxmlformats.org/officeDocument/2006/relationships/oleObject" Target="../embeddings/oleObject62.bin"/><Relationship Id="rId12" Type="http://schemas.openxmlformats.org/officeDocument/2006/relationships/oleObject" Target="../embeddings/oleObject67.bin"/><Relationship Id="rId17" Type="http://schemas.openxmlformats.org/officeDocument/2006/relationships/oleObject" Target="../embeddings/oleObject72.bin"/><Relationship Id="rId25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1.bin"/><Relationship Id="rId20" Type="http://schemas.openxmlformats.org/officeDocument/2006/relationships/oleObject" Target="../embeddings/oleObject75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61.bin"/><Relationship Id="rId11" Type="http://schemas.openxmlformats.org/officeDocument/2006/relationships/oleObject" Target="../embeddings/oleObject66.bin"/><Relationship Id="rId24" Type="http://schemas.openxmlformats.org/officeDocument/2006/relationships/oleObject" Target="../embeddings/oleObject79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8.bin"/><Relationship Id="rId10" Type="http://schemas.openxmlformats.org/officeDocument/2006/relationships/oleObject" Target="../embeddings/oleObject65.bin"/><Relationship Id="rId19" Type="http://schemas.openxmlformats.org/officeDocument/2006/relationships/oleObject" Target="../embeddings/oleObject74.bin"/><Relationship Id="rId4" Type="http://schemas.openxmlformats.org/officeDocument/2006/relationships/oleObject" Target="../embeddings/oleObject59.bin"/><Relationship Id="rId9" Type="http://schemas.openxmlformats.org/officeDocument/2006/relationships/oleObject" Target="../embeddings/oleObject64.bin"/><Relationship Id="rId14" Type="http://schemas.openxmlformats.org/officeDocument/2006/relationships/oleObject" Target="../embeddings/oleObject69.bin"/><Relationship Id="rId22" Type="http://schemas.openxmlformats.org/officeDocument/2006/relationships/oleObject" Target="../embeddings/oleObject77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4.bin"/><Relationship Id="rId5" Type="http://schemas.openxmlformats.org/officeDocument/2006/relationships/oleObject" Target="../embeddings/oleObject83.bin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2.bin"/><Relationship Id="rId9" Type="http://schemas.openxmlformats.org/officeDocument/2006/relationships/oleObject" Target="../embeddings/oleObject8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93.bin"/><Relationship Id="rId5" Type="http://schemas.openxmlformats.org/officeDocument/2006/relationships/oleObject" Target="../embeddings/oleObject92.bin"/><Relationship Id="rId4" Type="http://schemas.openxmlformats.org/officeDocument/2006/relationships/oleObject" Target="../embeddings/oleObject91.bin"/><Relationship Id="rId9" Type="http://schemas.openxmlformats.org/officeDocument/2006/relationships/oleObject" Target="../embeddings/oleObject9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3" Type="http://schemas.openxmlformats.org/officeDocument/2006/relationships/image" Target="../media/image97.png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99.bin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98.bin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97.bin"/><Relationship Id="rId9" Type="http://schemas.openxmlformats.org/officeDocument/2006/relationships/oleObject" Target="../embeddings/oleObject10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9.bin"/><Relationship Id="rId12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08.bin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07.bin"/><Relationship Id="rId10" Type="http://schemas.openxmlformats.org/officeDocument/2006/relationships/oleObject" Target="../embeddings/oleObject112.bin"/><Relationship Id="rId4" Type="http://schemas.openxmlformats.org/officeDocument/2006/relationships/oleObject" Target="../embeddings/oleObject106.bin"/><Relationship Id="rId9" Type="http://schemas.openxmlformats.org/officeDocument/2006/relationships/oleObject" Target="../embeddings/oleObject11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117.bin"/><Relationship Id="rId4" Type="http://schemas.openxmlformats.org/officeDocument/2006/relationships/oleObject" Target="../embeddings/oleObject11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11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23.bin"/><Relationship Id="rId5" Type="http://schemas.openxmlformats.org/officeDocument/2006/relationships/oleObject" Target="../embeddings/oleObject122.bin"/><Relationship Id="rId4" Type="http://schemas.openxmlformats.org/officeDocument/2006/relationships/oleObject" Target="../embeddings/oleObject12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oleObject" Target="../embeddings/oleObject128.bin"/><Relationship Id="rId4" Type="http://schemas.openxmlformats.org/officeDocument/2006/relationships/oleObject" Target="../embeddings/oleObject12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oleObject" Target="../embeddings/oleObject131.bin"/><Relationship Id="rId4" Type="http://schemas.openxmlformats.org/officeDocument/2006/relationships/oleObject" Target="../embeddings/oleObject13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35.bin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4.bin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3.bin"/><Relationship Id="rId9" Type="http://schemas.openxmlformats.org/officeDocument/2006/relationships/oleObject" Target="../embeddings/oleObject138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mailto:weixu@ruc.edu.cn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3110" y="859814"/>
            <a:ext cx="9144000" cy="298640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第一章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sz="8000" dirty="0" smtClean="0"/>
              <a:t>线性规划</a:t>
            </a:r>
            <a:endParaRPr lang="zh-CN" altLang="en-US" sz="8000" dirty="0"/>
          </a:p>
        </p:txBody>
      </p:sp>
      <p:sp>
        <p:nvSpPr>
          <p:cNvPr id="5" name="TextBox 4"/>
          <p:cNvSpPr txBox="1"/>
          <p:nvPr/>
        </p:nvSpPr>
        <p:spPr>
          <a:xfrm>
            <a:off x="1884877" y="4291947"/>
            <a:ext cx="79551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许  伟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教授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博导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hlinkClick r:id="rId2"/>
              </a:rPr>
              <a:t>weixu@ruc.edu.cn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u="sng" dirty="0" smtClean="0">
                <a:latin typeface="微软雅黑" pitchFamily="34" charset="-122"/>
                <a:ea typeface="微软雅黑" pitchFamily="34" charset="-122"/>
              </a:rPr>
              <a:t>lisa.ruc.edu.cn</a:t>
            </a: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302578426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主要内容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115382" y="1825625"/>
            <a:ext cx="8037394" cy="435133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30000"/>
              </a:spcBef>
              <a:buSzPct val="80000"/>
              <a:buFont typeface="Monotype Sorts" pitchFamily="2" charset="2"/>
              <a:buChar char="w"/>
            </a:pPr>
            <a:r>
              <a:rPr lang="zh-CN" altLang="en-US" sz="3200" b="1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线性规划问题及其数学模型</a:t>
            </a:r>
          </a:p>
          <a:p>
            <a:pPr marL="342900" indent="-342900">
              <a:lnSpc>
                <a:spcPct val="150000"/>
              </a:lnSpc>
              <a:spcBef>
                <a:spcPct val="30000"/>
              </a:spcBef>
              <a:buSzPct val="80000"/>
              <a:buFont typeface="Monotype Sorts" pitchFamily="2" charset="2"/>
              <a:buChar char="w"/>
            </a:pPr>
            <a:r>
              <a:rPr lang="zh-CN" altLang="en-US" sz="3200" b="1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线性规划解的概念、</a:t>
            </a:r>
            <a:r>
              <a:rPr lang="zh-CN" altLang="en-US" sz="3200" b="1" dirty="0" smtClean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图解法 </a:t>
            </a:r>
            <a:endParaRPr lang="zh-CN" altLang="en-US" sz="3200" b="1" dirty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spcBef>
                <a:spcPct val="30000"/>
              </a:spcBef>
              <a:buSzPct val="80000"/>
              <a:buFont typeface="Monotype Sorts" pitchFamily="2" charset="2"/>
              <a:buChar char="w"/>
            </a:pPr>
            <a:r>
              <a:rPr lang="zh-CN" altLang="en-US" sz="3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线性规划原理与算法</a:t>
            </a:r>
            <a:endParaRPr lang="en-US" altLang="zh-CN" sz="3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spcBef>
                <a:spcPct val="30000"/>
              </a:spcBef>
              <a:buSzPct val="80000"/>
              <a:buFont typeface="Monotype Sorts" pitchFamily="2" charset="2"/>
              <a:buChar char="w"/>
            </a:pPr>
            <a:r>
              <a:rPr lang="zh-CN" altLang="en-US" sz="3200" b="1" dirty="0" smtClean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线性规划建模与应用</a:t>
            </a:r>
            <a:endParaRPr lang="en-US" altLang="zh-CN" sz="3200" b="1" dirty="0" smtClean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spcBef>
                <a:spcPct val="30000"/>
              </a:spcBef>
              <a:buSzPct val="80000"/>
              <a:buFont typeface="Monotype Sorts" pitchFamily="2" charset="2"/>
              <a:buChar char="w"/>
            </a:pPr>
            <a:endParaRPr lang="zh-CN" altLang="en-US" sz="3200" b="1" dirty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676141" y="2118755"/>
            <a:ext cx="7924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 algn="l">
              <a:lnSpc>
                <a:spcPct val="150000"/>
              </a:lnSpc>
              <a:spcBef>
                <a:spcPct val="30000"/>
              </a:spcBef>
              <a:buClr>
                <a:schemeClr val="hlink"/>
              </a:buClr>
              <a:buSzPct val="80000"/>
              <a:buFont typeface="Monotype Sorts" pitchFamily="2" charset="2"/>
              <a:buChar char="w"/>
            </a:pPr>
            <a:endParaRPr lang="zh-CN" altLang="en-US" sz="32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305435433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思考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700" y="1594457"/>
            <a:ext cx="870585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dirty="0">
                <a:latin typeface="+mn-ea"/>
              </a:rPr>
              <a:t>线性规划的可行域是什么形状？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28700" y="3234298"/>
            <a:ext cx="8705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n-ea"/>
              </a:rPr>
              <a:t>最优解在什么位置获得？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914650" y="2320684"/>
            <a:ext cx="68199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—— </a:t>
            </a:r>
            <a:r>
              <a:rPr lang="zh-CN" altLang="en-US" sz="3200" b="1" smtClean="0">
                <a:solidFill>
                  <a:srgbClr val="C00000"/>
                </a:solidFill>
              </a:rPr>
              <a:t>多边形，且为“凸”的多边形。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52750" y="3967550"/>
            <a:ext cx="68199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—— </a:t>
            </a:r>
            <a:r>
              <a:rPr lang="zh-CN" altLang="en-US" sz="3200" b="1" smtClean="0">
                <a:solidFill>
                  <a:srgbClr val="C00000"/>
                </a:solidFill>
              </a:rPr>
              <a:t>边界，且为某个顶点。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7" name="文本框 9"/>
          <p:cNvSpPr txBox="1"/>
          <p:nvPr/>
        </p:nvSpPr>
        <p:spPr>
          <a:xfrm>
            <a:off x="1017324" y="4969866"/>
            <a:ext cx="1062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为什么通过单纯形表变换可以保持解可行且最优值不减？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2939102" y="5673519"/>
            <a:ext cx="68199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C00000"/>
                </a:solidFill>
              </a:rPr>
              <a:t>—— </a:t>
            </a:r>
            <a:r>
              <a:rPr lang="zh-CN" altLang="en-US" sz="3200" b="1" dirty="0" smtClean="0">
                <a:solidFill>
                  <a:srgbClr val="C00000"/>
                </a:solidFill>
              </a:rPr>
              <a:t>可行性和最优性判断。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20249945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1" nodeType="click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1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636104" y="228645"/>
            <a:ext cx="10704048" cy="1325563"/>
          </a:xfrm>
        </p:spPr>
        <p:txBody>
          <a:bodyPr/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线性规划问题数学模型的标准形式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636104" y="1658430"/>
            <a:ext cx="1962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buClrTx/>
              <a:buSzTx/>
              <a:buFontTx/>
              <a:buNone/>
            </a:pPr>
            <a:r>
              <a:rPr kumimoji="0"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目标函数</a:t>
            </a:r>
            <a:r>
              <a:rPr kumimoji="0" lang="zh-CN" altLang="en-US" sz="2800"/>
              <a:t>：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36104" y="2423286"/>
            <a:ext cx="2951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buClrTx/>
              <a:buSzTx/>
              <a:buFontTx/>
              <a:buNone/>
            </a:pPr>
            <a:r>
              <a:rPr lang="en-US" altLang="zh-CN" sz="1200" dirty="0">
                <a:ea typeface="宋体" pitchFamily="2" charset="-122"/>
              </a:rPr>
              <a:t> </a:t>
            </a:r>
            <a:endParaRPr lang="en-US" altLang="zh-CN" sz="1200" dirty="0">
              <a:ea typeface="宋体" pitchFamily="2" charset="-122"/>
              <a:cs typeface="Times New Roman" panose="02020603050405020304" pitchFamily="18" charset="0"/>
            </a:endParaRPr>
          </a:p>
          <a:p>
            <a:pPr algn="l">
              <a:buClrTx/>
              <a:buSzTx/>
              <a:buFontTx/>
              <a:buNone/>
            </a:pPr>
            <a:r>
              <a:rPr kumimoji="0" lang="zh-CN" altLang="en-US" sz="28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约束条件</a:t>
            </a:r>
            <a:r>
              <a:rPr kumimoji="0" lang="zh-CN" altLang="en-US" sz="2800"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31" name="矩形 30"/>
          <p:cNvSpPr/>
          <p:nvPr/>
        </p:nvSpPr>
        <p:spPr>
          <a:xfrm>
            <a:off x="7775969" y="1466519"/>
            <a:ext cx="407931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4863" lvl="1" indent="-61913" algn="just">
              <a:lnSpc>
                <a:spcPct val="200000"/>
              </a:lnSpc>
              <a:buFont typeface="Wingdings" pitchFamily="2" charset="2"/>
              <a:buChar char="ü"/>
            </a:pPr>
            <a:r>
              <a:rPr kumimoji="1" lang="zh-CN" altLang="en-US" sz="2800" smtClean="0">
                <a:solidFill>
                  <a:srgbClr val="FF0000"/>
                </a:solidFill>
                <a:latin typeface="+mj-ea"/>
              </a:rPr>
              <a:t> 目标</a:t>
            </a:r>
            <a:r>
              <a:rPr kumimoji="1" lang="zh-CN" altLang="en-US" sz="2800">
                <a:solidFill>
                  <a:srgbClr val="FF0000"/>
                </a:solidFill>
                <a:latin typeface="+mj-ea"/>
              </a:rPr>
              <a:t>最大化</a:t>
            </a:r>
            <a:endParaRPr kumimoji="1" lang="en-US" altLang="zh-CN" sz="2800" dirty="0">
              <a:solidFill>
                <a:srgbClr val="FF0000"/>
              </a:solidFill>
              <a:latin typeface="+mj-ea"/>
            </a:endParaRPr>
          </a:p>
          <a:p>
            <a:pPr marL="804863" lvl="1" indent="-61913" algn="just">
              <a:lnSpc>
                <a:spcPct val="200000"/>
              </a:lnSpc>
              <a:buFont typeface="Wingdings" pitchFamily="2" charset="2"/>
              <a:buChar char="ü"/>
            </a:pPr>
            <a:r>
              <a:rPr kumimoji="1" lang="zh-CN" altLang="en-US" sz="2800">
                <a:solidFill>
                  <a:srgbClr val="FF0000"/>
                </a:solidFill>
                <a:latin typeface="+mj-ea"/>
              </a:rPr>
              <a:t> 约束为等式</a:t>
            </a:r>
            <a:endParaRPr kumimoji="1" lang="en-US" altLang="zh-CN" sz="2800" dirty="0">
              <a:solidFill>
                <a:srgbClr val="FF0000"/>
              </a:solidFill>
              <a:latin typeface="+mj-ea"/>
            </a:endParaRPr>
          </a:p>
          <a:p>
            <a:pPr marL="804863" lvl="1" indent="-61913" algn="just">
              <a:lnSpc>
                <a:spcPct val="200000"/>
              </a:lnSpc>
              <a:buFont typeface="Wingdings" pitchFamily="2" charset="2"/>
              <a:buChar char="ü"/>
            </a:pPr>
            <a:r>
              <a:rPr kumimoji="1" lang="zh-CN" altLang="en-US" sz="2800">
                <a:solidFill>
                  <a:srgbClr val="FF0000"/>
                </a:solidFill>
                <a:latin typeface="+mj-ea"/>
              </a:rPr>
              <a:t> 决策变量均非负</a:t>
            </a:r>
            <a:endParaRPr kumimoji="1" lang="en-US" altLang="zh-CN" sz="2800" dirty="0">
              <a:solidFill>
                <a:srgbClr val="FF0000"/>
              </a:solidFill>
              <a:latin typeface="+mj-ea"/>
            </a:endParaRPr>
          </a:p>
          <a:p>
            <a:pPr marL="804863" lvl="1" indent="-61913" algn="just">
              <a:lnSpc>
                <a:spcPct val="200000"/>
              </a:lnSpc>
              <a:buFont typeface="Wingdings" pitchFamily="2" charset="2"/>
              <a:buChar char="ü"/>
            </a:pPr>
            <a:r>
              <a:rPr kumimoji="1" lang="zh-CN" altLang="en-US" sz="2800" smtClean="0">
                <a:solidFill>
                  <a:srgbClr val="FF0000"/>
                </a:solidFill>
                <a:latin typeface="+mj-ea"/>
              </a:rPr>
              <a:t> 右端项非负</a:t>
            </a:r>
            <a:endParaRPr kumimoji="1" lang="zh-CN" altLang="en-US" sz="280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2598254" y="2497806"/>
            <a:ext cx="4921662" cy="3237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en-US" altLang="zh-CN" sz="2800" i="1" dirty="0" smtClean="0">
                <a:latin typeface="Times New Roman" pitchFamily="18" charset="0"/>
                <a:ea typeface="隶书" pitchFamily="49" charset="-122"/>
              </a:rPr>
              <a:t>a</a:t>
            </a:r>
            <a:r>
              <a:rPr kumimoji="1" lang="en-US" altLang="zh-CN" sz="2800" baseline="-25000" dirty="0" smtClean="0">
                <a:latin typeface="Times New Roman" pitchFamily="18" charset="0"/>
                <a:ea typeface="隶书" pitchFamily="49" charset="-122"/>
              </a:rPr>
              <a:t>11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1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 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+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 a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12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2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 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+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 … 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+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a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1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n </a:t>
            </a:r>
            <a:r>
              <a:rPr kumimoji="1" lang="en-US" altLang="zh-CN" sz="2800" i="1" dirty="0" err="1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i="1" baseline="-25000" dirty="0" err="1">
                <a:latin typeface="Times New Roman" pitchFamily="18" charset="0"/>
                <a:ea typeface="隶书" pitchFamily="49" charset="-122"/>
              </a:rPr>
              <a:t>n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      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=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  b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1</a:t>
            </a:r>
            <a:endParaRPr kumimoji="1" lang="en-US" altLang="zh-CN" sz="2800" dirty="0">
              <a:latin typeface="Times New Roman" pitchFamily="18" charset="0"/>
              <a:ea typeface="隶书" pitchFamily="49" charset="-122"/>
            </a:endParaRPr>
          </a:p>
          <a:p>
            <a:pPr algn="l" eaLnBrk="1" hangingPunct="1"/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a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21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b="1" baseline="-25000" dirty="0">
                <a:latin typeface="Times New Roman" pitchFamily="18" charset="0"/>
                <a:ea typeface="隶书" pitchFamily="49" charset="-122"/>
              </a:rPr>
              <a:t>1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 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+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 a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22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2 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+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… 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+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 a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2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n </a:t>
            </a:r>
            <a:r>
              <a:rPr kumimoji="1" lang="en-US" altLang="zh-CN" sz="2800" i="1" dirty="0" err="1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i="1" baseline="-25000" dirty="0" err="1">
                <a:latin typeface="Times New Roman" pitchFamily="18" charset="0"/>
                <a:ea typeface="隶书" pitchFamily="49" charset="-122"/>
              </a:rPr>
              <a:t>n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      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= 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b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2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                     </a:t>
            </a:r>
          </a:p>
          <a:p>
            <a:pPr algn="l" eaLnBrk="1" hangingPunct="1"/>
            <a:r>
              <a:rPr kumimoji="1" lang="en-US" altLang="zh-CN" sz="2800" i="1" dirty="0"/>
              <a:t>…</a:t>
            </a:r>
            <a:r>
              <a:rPr kumimoji="1" lang="en-US" altLang="zh-CN" sz="2800" dirty="0"/>
              <a:t> </a:t>
            </a:r>
            <a:r>
              <a:rPr kumimoji="1" lang="en-US" altLang="zh-CN" sz="2800" i="1" dirty="0"/>
              <a:t>…</a:t>
            </a:r>
            <a:r>
              <a:rPr kumimoji="1" lang="en-US" altLang="zh-CN" sz="2800" dirty="0"/>
              <a:t> </a:t>
            </a:r>
          </a:p>
          <a:p>
            <a:pPr algn="l" eaLnBrk="1" hangingPunct="1"/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a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m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1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1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+ a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m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2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2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+ … + </a:t>
            </a:r>
            <a:r>
              <a:rPr kumimoji="1" lang="en-US" altLang="zh-CN" sz="2800" i="1" dirty="0" err="1">
                <a:latin typeface="Times New Roman" pitchFamily="18" charset="0"/>
                <a:ea typeface="隶书" pitchFamily="49" charset="-122"/>
              </a:rPr>
              <a:t>a</a:t>
            </a:r>
            <a:r>
              <a:rPr kumimoji="1" lang="en-US" altLang="zh-CN" sz="2800" i="1" baseline="-25000" dirty="0" err="1">
                <a:latin typeface="Times New Roman" pitchFamily="18" charset="0"/>
                <a:ea typeface="隶书" pitchFamily="49" charset="-122"/>
              </a:rPr>
              <a:t>mn</a:t>
            </a:r>
            <a:r>
              <a:rPr kumimoji="1" lang="en-US" altLang="zh-CN" sz="2800" i="1" baseline="-25000" dirty="0">
                <a:latin typeface="Times New Roman" pitchFamily="18" charset="0"/>
                <a:ea typeface="隶书" pitchFamily="49" charset="-122"/>
              </a:rPr>
              <a:t> </a:t>
            </a:r>
            <a:r>
              <a:rPr kumimoji="1" lang="en-US" altLang="zh-CN" sz="2800" i="1" dirty="0" err="1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i="1" baseline="-25000" dirty="0" err="1">
                <a:latin typeface="Times New Roman" pitchFamily="18" charset="0"/>
                <a:ea typeface="隶书" pitchFamily="49" charset="-122"/>
              </a:rPr>
              <a:t>n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 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= </a:t>
            </a:r>
            <a:r>
              <a:rPr kumimoji="1" lang="en-US" altLang="zh-CN" sz="2800" i="1" dirty="0" err="1" smtClean="0">
                <a:latin typeface="Times New Roman" pitchFamily="18" charset="0"/>
                <a:ea typeface="隶书" pitchFamily="49" charset="-122"/>
              </a:rPr>
              <a:t>b</a:t>
            </a:r>
            <a:r>
              <a:rPr kumimoji="1" lang="en-US" altLang="zh-CN" sz="2800" i="1" baseline="-25000" dirty="0" err="1" smtClean="0">
                <a:latin typeface="Times New Roman" pitchFamily="18" charset="0"/>
                <a:ea typeface="隶书" pitchFamily="49" charset="-122"/>
              </a:rPr>
              <a:t>m</a:t>
            </a:r>
            <a:endParaRPr kumimoji="1" lang="en-US" altLang="zh-CN" sz="2800" i="1" baseline="-25000" dirty="0" smtClean="0">
              <a:latin typeface="Times New Roman" pitchFamily="18" charset="0"/>
              <a:ea typeface="隶书" pitchFamily="49" charset="-122"/>
            </a:endParaRPr>
          </a:p>
          <a:p>
            <a:pPr algn="l" eaLnBrk="1" hangingPunct="1"/>
            <a:endParaRPr kumimoji="1" lang="en-US" altLang="zh-CN" sz="2800" i="1" dirty="0">
              <a:latin typeface="Times New Roman" pitchFamily="18" charset="0"/>
              <a:ea typeface="隶书" pitchFamily="49" charset="-122"/>
            </a:endParaRPr>
          </a:p>
          <a:p>
            <a:pPr algn="l" eaLnBrk="1" hangingPunct="1">
              <a:lnSpc>
                <a:spcPct val="80000"/>
              </a:lnSpc>
            </a:pPr>
            <a:r>
              <a:rPr kumimoji="1" lang="en-US" altLang="zh-CN" sz="2800" i="1" dirty="0" smtClean="0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baseline="-25000" dirty="0" smtClean="0">
                <a:latin typeface="Times New Roman" pitchFamily="18" charset="0"/>
                <a:ea typeface="隶书" pitchFamily="49" charset="-122"/>
              </a:rPr>
              <a:t>1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,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baseline="-25000" dirty="0">
                <a:latin typeface="Times New Roman" pitchFamily="18" charset="0"/>
                <a:ea typeface="隶书" pitchFamily="49" charset="-122"/>
              </a:rPr>
              <a:t>2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, </a:t>
            </a:r>
            <a:r>
              <a:rPr kumimoji="1" lang="en-US" altLang="zh-CN" sz="2800" i="1" dirty="0">
                <a:latin typeface="Times New Roman" pitchFamily="18" charset="0"/>
                <a:ea typeface="隶书" pitchFamily="49" charset="-122"/>
              </a:rPr>
              <a:t>…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, </a:t>
            </a:r>
            <a:r>
              <a:rPr kumimoji="1" lang="en-US" altLang="zh-CN" sz="2800" i="1" dirty="0" err="1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2800" i="1" baseline="-25000" dirty="0" err="1">
                <a:latin typeface="Times New Roman" pitchFamily="18" charset="0"/>
                <a:ea typeface="隶书" pitchFamily="49" charset="-122"/>
              </a:rPr>
              <a:t>n</a:t>
            </a:r>
            <a:r>
              <a:rPr kumimoji="1" lang="en-US" altLang="zh-CN" sz="2800" dirty="0">
                <a:latin typeface="Times New Roman" pitchFamily="18" charset="0"/>
                <a:ea typeface="隶书" pitchFamily="49" charset="-122"/>
              </a:rPr>
              <a:t>  ≥ </a:t>
            </a:r>
            <a:r>
              <a:rPr kumimoji="1" lang="en-US" altLang="zh-CN" sz="2800" dirty="0" smtClean="0">
                <a:latin typeface="Times New Roman" pitchFamily="18" charset="0"/>
                <a:ea typeface="隶书" pitchFamily="49" charset="-122"/>
              </a:rPr>
              <a:t>0</a:t>
            </a:r>
          </a:p>
          <a:p>
            <a:pPr algn="l" eaLnBrk="1" hangingPunct="1">
              <a:lnSpc>
                <a:spcPct val="80000"/>
              </a:lnSpc>
            </a:pPr>
            <a:endParaRPr kumimoji="1" lang="en-US" altLang="zh-CN" sz="2800" dirty="0">
              <a:latin typeface="Times New Roman" pitchFamily="18" charset="0"/>
              <a:ea typeface="隶书" pitchFamily="49" charset="-122"/>
            </a:endParaRPr>
          </a:p>
          <a:p>
            <a:pPr algn="l" eaLnBrk="1" hangingPunct="1">
              <a:lnSpc>
                <a:spcPct val="80000"/>
              </a:lnSpc>
            </a:pPr>
            <a:r>
              <a:rPr kumimoji="1" lang="zh-CN" altLang="en-US" sz="2800" dirty="0" smtClean="0">
                <a:latin typeface="Times New Roman" pitchFamily="18" charset="0"/>
                <a:ea typeface="隶书" pitchFamily="49" charset="-122"/>
              </a:rPr>
              <a:t>其中</a:t>
            </a:r>
            <a:r>
              <a:rPr kumimoji="1" lang="en-US" altLang="zh-CN" sz="2800" i="1" dirty="0" smtClean="0">
                <a:latin typeface="Times New Roman" pitchFamily="18" charset="0"/>
              </a:rPr>
              <a:t>b</a:t>
            </a:r>
            <a:r>
              <a:rPr kumimoji="1" lang="en-US" altLang="zh-CN" sz="2800" i="1" baseline="-25000" dirty="0" smtClean="0">
                <a:latin typeface="Times New Roman" pitchFamily="18" charset="0"/>
              </a:rPr>
              <a:t>i</a:t>
            </a:r>
            <a:r>
              <a:rPr kumimoji="1" lang="en-US" altLang="zh-CN" sz="2400" dirty="0" smtClean="0"/>
              <a:t> </a:t>
            </a:r>
            <a:r>
              <a:rPr kumimoji="1" lang="en-US" altLang="zh-CN" sz="2800" dirty="0" smtClean="0">
                <a:latin typeface="隶书" pitchFamily="49" charset="-122"/>
                <a:ea typeface="隶书" pitchFamily="49" charset="-122"/>
              </a:rPr>
              <a:t>≥0</a:t>
            </a:r>
            <a:r>
              <a:rPr kumimoji="1" lang="en-US" altLang="zh-CN" sz="2400" dirty="0" smtClean="0"/>
              <a:t> </a:t>
            </a:r>
            <a:r>
              <a:rPr kumimoji="1" lang="zh-CN" altLang="en-US" sz="2800" dirty="0" smtClean="0">
                <a:latin typeface="Times New Roman" pitchFamily="18" charset="0"/>
                <a:ea typeface="隶书" pitchFamily="49" charset="-122"/>
              </a:rPr>
              <a:t>，</a:t>
            </a:r>
            <a:r>
              <a:rPr kumimoji="1" lang="en-US" altLang="zh-CN" sz="2800" i="1" dirty="0" err="1" smtClean="0">
                <a:latin typeface="Times New Roman" pitchFamily="18" charset="0"/>
                <a:ea typeface="隶书" pitchFamily="49" charset="-122"/>
              </a:rPr>
              <a:t>i</a:t>
            </a:r>
            <a:r>
              <a:rPr kumimoji="1" lang="en-US" altLang="zh-CN" sz="2800" i="1" dirty="0" smtClean="0">
                <a:latin typeface="Times New Roman" pitchFamily="18" charset="0"/>
                <a:ea typeface="隶书" pitchFamily="49" charset="-122"/>
              </a:rPr>
              <a:t> </a:t>
            </a:r>
            <a:r>
              <a:rPr kumimoji="1" lang="en-US" altLang="zh-CN" sz="2800" dirty="0" smtClean="0">
                <a:latin typeface="Times New Roman" pitchFamily="18" charset="0"/>
                <a:ea typeface="隶书" pitchFamily="49" charset="-122"/>
              </a:rPr>
              <a:t>= 1, 2, …, </a:t>
            </a:r>
            <a:r>
              <a:rPr kumimoji="1" lang="en-US" altLang="zh-CN" sz="2800" i="1" dirty="0" smtClean="0">
                <a:latin typeface="Times New Roman" pitchFamily="18" charset="0"/>
                <a:ea typeface="隶书" pitchFamily="49" charset="-122"/>
              </a:rPr>
              <a:t>m</a:t>
            </a:r>
            <a:endParaRPr kumimoji="1" lang="en-US" altLang="zh-CN" sz="2800" i="1" dirty="0"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34" name="AutoShape 7"/>
          <p:cNvSpPr/>
          <p:nvPr/>
        </p:nvSpPr>
        <p:spPr bwMode="auto">
          <a:xfrm>
            <a:off x="2341710" y="2743504"/>
            <a:ext cx="256544" cy="2729248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2341710" y="1592768"/>
            <a:ext cx="57556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3200" smtClean="0">
                <a:latin typeface="Times New Roman" pitchFamily="18" charset="0"/>
                <a:ea typeface="隶书" pitchFamily="49" charset="-122"/>
              </a:rPr>
              <a:t>max </a:t>
            </a:r>
            <a:r>
              <a:rPr kumimoji="1" lang="en-US" altLang="zh-CN" sz="3200" i="1">
                <a:latin typeface="Times New Roman" pitchFamily="18" charset="0"/>
                <a:ea typeface="隶书" pitchFamily="49" charset="-122"/>
              </a:rPr>
              <a:t>z </a:t>
            </a:r>
            <a:r>
              <a:rPr kumimoji="1" lang="en-US" altLang="zh-CN" sz="3200">
                <a:latin typeface="Times New Roman" pitchFamily="18" charset="0"/>
                <a:ea typeface="隶书" pitchFamily="49" charset="-122"/>
              </a:rPr>
              <a:t>= </a:t>
            </a:r>
            <a:r>
              <a:rPr kumimoji="1" lang="en-US" altLang="zh-CN" sz="3200" i="1">
                <a:latin typeface="Times New Roman" pitchFamily="18" charset="0"/>
                <a:ea typeface="隶书" pitchFamily="49" charset="-122"/>
              </a:rPr>
              <a:t>c</a:t>
            </a:r>
            <a:r>
              <a:rPr kumimoji="1" lang="en-US" altLang="zh-CN" sz="3200" baseline="-25000">
                <a:latin typeface="Times New Roman" pitchFamily="18" charset="0"/>
                <a:ea typeface="隶书" pitchFamily="49" charset="-122"/>
              </a:rPr>
              <a:t>1</a:t>
            </a:r>
            <a:r>
              <a:rPr kumimoji="1" lang="en-US" altLang="zh-CN" sz="3200" i="1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3200" baseline="-25000">
                <a:latin typeface="Times New Roman" pitchFamily="18" charset="0"/>
                <a:ea typeface="隶书" pitchFamily="49" charset="-122"/>
              </a:rPr>
              <a:t>1</a:t>
            </a:r>
            <a:r>
              <a:rPr kumimoji="1" lang="en-US" altLang="zh-CN" sz="3200" i="1" baseline="-25000">
                <a:latin typeface="Times New Roman" pitchFamily="18" charset="0"/>
                <a:ea typeface="隶书" pitchFamily="49" charset="-122"/>
              </a:rPr>
              <a:t> </a:t>
            </a:r>
            <a:r>
              <a:rPr kumimoji="1" lang="en-US" altLang="zh-CN" sz="3200">
                <a:latin typeface="Times New Roman" pitchFamily="18" charset="0"/>
                <a:ea typeface="隶书" pitchFamily="49" charset="-122"/>
              </a:rPr>
              <a:t>+</a:t>
            </a:r>
            <a:r>
              <a:rPr kumimoji="1" lang="en-US" altLang="zh-CN" sz="3200" i="1">
                <a:latin typeface="Times New Roman" pitchFamily="18" charset="0"/>
                <a:ea typeface="隶书" pitchFamily="49" charset="-122"/>
              </a:rPr>
              <a:t> c</a:t>
            </a:r>
            <a:r>
              <a:rPr kumimoji="1" lang="en-US" altLang="zh-CN" sz="3200" baseline="-25000">
                <a:latin typeface="Times New Roman" pitchFamily="18" charset="0"/>
                <a:ea typeface="隶书" pitchFamily="49" charset="-122"/>
              </a:rPr>
              <a:t>2</a:t>
            </a:r>
            <a:r>
              <a:rPr kumimoji="1" lang="en-US" altLang="zh-CN" sz="3200" i="1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3200" baseline="-25000">
                <a:latin typeface="Times New Roman" pitchFamily="18" charset="0"/>
                <a:ea typeface="隶书" pitchFamily="49" charset="-122"/>
              </a:rPr>
              <a:t>2</a:t>
            </a:r>
            <a:r>
              <a:rPr kumimoji="1" lang="en-US" altLang="zh-CN" sz="3200" i="1" baseline="-25000">
                <a:latin typeface="Times New Roman" pitchFamily="18" charset="0"/>
                <a:ea typeface="隶书" pitchFamily="49" charset="-122"/>
              </a:rPr>
              <a:t> </a:t>
            </a:r>
            <a:r>
              <a:rPr kumimoji="1" lang="en-US" altLang="zh-CN" sz="3200">
                <a:latin typeface="Times New Roman" pitchFamily="18" charset="0"/>
                <a:ea typeface="隶书" pitchFamily="49" charset="-122"/>
              </a:rPr>
              <a:t>+ </a:t>
            </a:r>
            <a:r>
              <a:rPr kumimoji="1" lang="en-US" altLang="zh-CN" sz="3200" i="1">
                <a:latin typeface="Times New Roman" pitchFamily="18" charset="0"/>
                <a:ea typeface="隶书" pitchFamily="49" charset="-122"/>
              </a:rPr>
              <a:t>… </a:t>
            </a:r>
            <a:r>
              <a:rPr kumimoji="1" lang="en-US" altLang="zh-CN" sz="3200">
                <a:latin typeface="Times New Roman" pitchFamily="18" charset="0"/>
                <a:ea typeface="隶书" pitchFamily="49" charset="-122"/>
              </a:rPr>
              <a:t>+ </a:t>
            </a:r>
            <a:r>
              <a:rPr kumimoji="1" lang="en-US" altLang="zh-CN" sz="3200" i="1" err="1" smtClean="0">
                <a:latin typeface="Times New Roman" pitchFamily="18" charset="0"/>
                <a:ea typeface="隶书" pitchFamily="49" charset="-122"/>
              </a:rPr>
              <a:t>c</a:t>
            </a:r>
            <a:r>
              <a:rPr kumimoji="1" lang="en-US" altLang="zh-CN" sz="3200" i="1" baseline="-25000" err="1" smtClean="0">
                <a:latin typeface="Times New Roman" pitchFamily="18" charset="0"/>
                <a:ea typeface="隶书" pitchFamily="49" charset="-122"/>
              </a:rPr>
              <a:t>n</a:t>
            </a:r>
            <a:r>
              <a:rPr kumimoji="1" lang="en-US" altLang="zh-CN" sz="3200" i="1" err="1" smtClean="0">
                <a:latin typeface="Times New Roman" pitchFamily="18" charset="0"/>
                <a:ea typeface="隶书" pitchFamily="49" charset="-122"/>
              </a:rPr>
              <a:t>x</a:t>
            </a:r>
            <a:r>
              <a:rPr kumimoji="1" lang="en-US" altLang="zh-CN" sz="3200" i="1" baseline="-25000" err="1" smtClean="0">
                <a:latin typeface="Times New Roman" pitchFamily="18" charset="0"/>
                <a:ea typeface="隶书" pitchFamily="49" charset="-122"/>
              </a:rPr>
              <a:t>n</a:t>
            </a:r>
            <a:endParaRPr kumimoji="1" lang="en-US" altLang="zh-CN" sz="36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6" name="Rectangle 18"/>
          <p:cNvSpPr>
            <a:spLocks noChangeArrowheads="1"/>
          </p:cNvSpPr>
          <p:nvPr/>
        </p:nvSpPr>
        <p:spPr bwMode="auto">
          <a:xfrm>
            <a:off x="2479395" y="2104518"/>
            <a:ext cx="431800" cy="73025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miter lim="800000"/>
          </a:ln>
        </p:spPr>
        <p:txBody>
          <a:bodyPr wrap="none" anchor="ctr"/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7" name="Rectangle 18"/>
          <p:cNvSpPr>
            <a:spLocks noChangeArrowheads="1"/>
          </p:cNvSpPr>
          <p:nvPr/>
        </p:nvSpPr>
        <p:spPr bwMode="auto">
          <a:xfrm>
            <a:off x="6571057" y="2935950"/>
            <a:ext cx="431800" cy="73025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miter lim="800000"/>
          </a:ln>
        </p:spPr>
        <p:txBody>
          <a:bodyPr wrap="none" anchor="ctr"/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8" name="Rectangle 18"/>
          <p:cNvSpPr>
            <a:spLocks noChangeArrowheads="1"/>
          </p:cNvSpPr>
          <p:nvPr/>
        </p:nvSpPr>
        <p:spPr bwMode="auto">
          <a:xfrm>
            <a:off x="4461497" y="5010001"/>
            <a:ext cx="431800" cy="73025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miter lim="800000"/>
          </a:ln>
        </p:spPr>
        <p:txBody>
          <a:bodyPr wrap="none" anchor="ctr"/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9" name="Rectangle 18"/>
          <p:cNvSpPr>
            <a:spLocks noChangeArrowheads="1"/>
          </p:cNvSpPr>
          <p:nvPr/>
        </p:nvSpPr>
        <p:spPr bwMode="auto">
          <a:xfrm>
            <a:off x="3587266" y="5735615"/>
            <a:ext cx="431800" cy="73025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miter lim="800000"/>
          </a:ln>
        </p:spPr>
        <p:txBody>
          <a:bodyPr wrap="none" anchor="ctr"/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82819142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77081" y="1447703"/>
            <a:ext cx="6624637" cy="288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3200"/>
              <a:t>线性规划数学模型标准型矩阵式：                  </a:t>
            </a:r>
          </a:p>
          <a:p>
            <a:pPr algn="r" eaLnBrk="1" hangingPunct="1">
              <a:spcBef>
                <a:spcPct val="20000"/>
              </a:spcBef>
            </a:pPr>
            <a:endParaRPr kumimoji="0" lang="en-US" altLang="zh-CN" sz="3200" smtClean="0"/>
          </a:p>
          <a:p>
            <a:pPr algn="r" eaLnBrk="1" hangingPunct="1">
              <a:spcBef>
                <a:spcPct val="20000"/>
              </a:spcBef>
            </a:pPr>
            <a:endParaRPr kumimoji="0" lang="en-US" altLang="zh-CN" smtClean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37352" y="429723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837352" y="4301997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837352" y="429723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837352" y="433533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837352" y="429723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837352" y="4300410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2837352" y="4325810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2837352" y="4325810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54851339"/>
              </p:ext>
            </p:extLst>
          </p:nvPr>
        </p:nvGraphicFramePr>
        <p:xfrm>
          <a:off x="2569356" y="2072892"/>
          <a:ext cx="2892753" cy="489854"/>
        </p:xfrm>
        <a:graphic>
          <a:graphicData uri="http://schemas.openxmlformats.org/presentationml/2006/ole">
            <p:oleObj spid="_x0000_s27650" name="公式" r:id="rId3" imgW="812447" imgH="177723" progId="Equation.3">
              <p:embed/>
            </p:oleObj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2837352" y="4187697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251977257"/>
              </p:ext>
            </p:extLst>
          </p:nvPr>
        </p:nvGraphicFramePr>
        <p:xfrm>
          <a:off x="2673607" y="2687091"/>
          <a:ext cx="1816505" cy="1292924"/>
        </p:xfrm>
        <a:graphic>
          <a:graphicData uri="http://schemas.openxmlformats.org/presentationml/2006/ole">
            <p:oleObj spid="_x0000_s27649" name="公式" r:id="rId4" imgW="596900" imgH="457200" progId="Equation.3">
              <p:embed/>
            </p:oleObj>
          </a:graphicData>
        </a:graphic>
      </p:graphicFrame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97693" y="4290686"/>
            <a:ext cx="10397937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可行解</a:t>
            </a:r>
            <a:r>
              <a:rPr kumimoji="0" lang="zh-CN" altLang="en-US" sz="3200"/>
              <a:t>：满足约束条件</a:t>
            </a:r>
            <a:r>
              <a:rPr kumimoji="0" lang="en-US" altLang="zh-CN" sz="2400"/>
              <a:t>(</a:t>
            </a:r>
            <a:r>
              <a:rPr kumimoji="0" lang="en-US" altLang="zh-CN" sz="2400" smtClean="0"/>
              <a:t>1.2)</a:t>
            </a:r>
            <a:r>
              <a:rPr kumimoji="0" lang="zh-CN" altLang="en-US" sz="3200"/>
              <a:t>和非负</a:t>
            </a:r>
            <a:r>
              <a:rPr kumimoji="0" lang="zh-CN" altLang="en-US" sz="3200" smtClean="0"/>
              <a:t>条件</a:t>
            </a:r>
            <a:r>
              <a:rPr kumimoji="0" lang="en-US" altLang="zh-CN" sz="2400"/>
              <a:t>(</a:t>
            </a:r>
            <a:r>
              <a:rPr kumimoji="0" lang="en-US" altLang="zh-CN" sz="2400" smtClean="0"/>
              <a:t>1.3)</a:t>
            </a:r>
            <a:r>
              <a:rPr kumimoji="0" lang="zh-CN" altLang="en-US" sz="3200"/>
              <a:t>的解称为可行解。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可行域</a:t>
            </a:r>
            <a:r>
              <a:rPr kumimoji="0" lang="zh-CN" altLang="en-US" sz="3200"/>
              <a:t>：可行解的集合。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最优解</a:t>
            </a:r>
            <a:r>
              <a:rPr kumimoji="0" lang="zh-CN" altLang="en-US" sz="3200"/>
              <a:t>：满足条件</a:t>
            </a:r>
            <a:r>
              <a:rPr kumimoji="0" lang="en-US" altLang="zh-CN" sz="2400"/>
              <a:t>(</a:t>
            </a:r>
            <a:r>
              <a:rPr kumimoji="0" lang="en-US" altLang="zh-CN" sz="2400" smtClean="0"/>
              <a:t>1.1)</a:t>
            </a:r>
            <a:r>
              <a:rPr kumimoji="0" lang="zh-CN" altLang="en-US" sz="3200"/>
              <a:t>的可行解。</a:t>
            </a:r>
          </a:p>
        </p:txBody>
      </p:sp>
      <p:sp>
        <p:nvSpPr>
          <p:cNvPr id="20" name="矩形 19"/>
          <p:cNvSpPr/>
          <p:nvPr/>
        </p:nvSpPr>
        <p:spPr>
          <a:xfrm>
            <a:off x="5553399" y="2043040"/>
            <a:ext cx="827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zh-CN" altLang="en-US" sz="2400"/>
              <a:t> </a:t>
            </a:r>
            <a:r>
              <a:rPr lang="en-US" altLang="zh-CN" sz="2400"/>
              <a:t>(1.1)</a:t>
            </a:r>
          </a:p>
        </p:txBody>
      </p:sp>
      <p:sp>
        <p:nvSpPr>
          <p:cNvPr id="21" name="矩形 20"/>
          <p:cNvSpPr/>
          <p:nvPr/>
        </p:nvSpPr>
        <p:spPr>
          <a:xfrm>
            <a:off x="5657610" y="2843801"/>
            <a:ext cx="7585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en-US" altLang="zh-CN" sz="2400"/>
              <a:t>(1.2)</a:t>
            </a:r>
          </a:p>
        </p:txBody>
      </p:sp>
      <p:sp>
        <p:nvSpPr>
          <p:cNvPr id="22" name="矩形 21"/>
          <p:cNvSpPr/>
          <p:nvPr/>
        </p:nvSpPr>
        <p:spPr>
          <a:xfrm>
            <a:off x="5657609" y="3472695"/>
            <a:ext cx="7585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20000"/>
              </a:spcBef>
            </a:pPr>
            <a:r>
              <a:rPr lang="en-US" altLang="zh-CN" sz="2400"/>
              <a:t>(1.3)</a:t>
            </a:r>
          </a:p>
        </p:txBody>
      </p:sp>
      <p:sp>
        <p:nvSpPr>
          <p:cNvPr id="24" name="标题 1"/>
          <p:cNvSpPr txBox="1"/>
          <p:nvPr/>
        </p:nvSpPr>
        <p:spPr>
          <a:xfrm>
            <a:off x="838200" y="2286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线性规划标准型解的概念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204564541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51593" y="1554208"/>
            <a:ext cx="11089943" cy="530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kumimoji="0" lang="zh-CN" altLang="en-US" sz="3200" smtClean="0">
                <a:solidFill>
                  <a:srgbClr val="CC0000"/>
                </a:solidFill>
              </a:rPr>
              <a:t>基</a:t>
            </a:r>
            <a:r>
              <a:rPr kumimoji="0" lang="zh-CN" altLang="en-US" sz="3200" smtClean="0">
                <a:solidFill>
                  <a:srgbClr val="C00000"/>
                </a:solidFill>
              </a:rPr>
              <a:t>矩阵</a:t>
            </a:r>
            <a:r>
              <a:rPr kumimoji="0" lang="zh-CN" altLang="en-US" sz="3200" smtClean="0">
                <a:solidFill>
                  <a:srgbClr val="CC0000"/>
                </a:solidFill>
              </a:rPr>
              <a:t>（基）</a:t>
            </a:r>
            <a:r>
              <a:rPr kumimoji="0" lang="zh-CN" altLang="en-US" sz="3200" smtClean="0"/>
              <a:t>：</a:t>
            </a:r>
            <a:r>
              <a:rPr kumimoji="0" lang="zh-CN" altLang="en-US" sz="3200"/>
              <a:t>设</a:t>
            </a:r>
            <a:r>
              <a:rPr kumimoji="0" lang="en-US" altLang="zh-CN" sz="2400"/>
              <a:t>A</a:t>
            </a:r>
            <a:r>
              <a:rPr kumimoji="0" lang="zh-CN" altLang="en-US" sz="3200"/>
              <a:t>是       阶系数矩阵</a:t>
            </a:r>
            <a:r>
              <a:rPr kumimoji="0" lang="en-US" altLang="zh-CN" sz="3200"/>
              <a:t>(       )</a:t>
            </a:r>
            <a:r>
              <a:rPr kumimoji="0" lang="zh-CN" altLang="en-US" sz="3200" smtClean="0"/>
              <a:t>，秩</a:t>
            </a:r>
            <a:r>
              <a:rPr kumimoji="0" lang="en-US" altLang="zh-CN" sz="2400"/>
              <a:t>A=m</a:t>
            </a:r>
            <a:r>
              <a:rPr kumimoji="0" lang="zh-CN" altLang="en-US" sz="3200"/>
              <a:t>，则</a:t>
            </a:r>
            <a:r>
              <a:rPr kumimoji="0" lang="en-US" altLang="zh-CN" sz="2400"/>
              <a:t>A</a:t>
            </a:r>
            <a:r>
              <a:rPr kumimoji="0" lang="zh-CN" altLang="en-US" sz="3200"/>
              <a:t>中一定存在</a:t>
            </a:r>
            <a:r>
              <a:rPr kumimoji="0" lang="en-US" altLang="zh-CN" sz="2800"/>
              <a:t>m</a:t>
            </a:r>
            <a:r>
              <a:rPr kumimoji="0" lang="zh-CN" altLang="en-US" sz="3200"/>
              <a:t>个线性无关的列向量，称由</a:t>
            </a:r>
            <a:r>
              <a:rPr kumimoji="0" lang="en-US" altLang="zh-CN" sz="2400"/>
              <a:t>m</a:t>
            </a:r>
            <a:r>
              <a:rPr kumimoji="0" lang="zh-CN" altLang="en-US" sz="3200"/>
              <a:t>个线性无关的列向量构成的</a:t>
            </a:r>
            <a:r>
              <a:rPr kumimoji="0" lang="zh-CN" altLang="en-US" sz="3200" smtClean="0"/>
              <a:t>可逆矩阵  </a:t>
            </a:r>
            <a:r>
              <a:rPr kumimoji="0" lang="en-US" altLang="zh-CN" sz="3200" smtClean="0"/>
              <a:t>                     </a:t>
            </a:r>
            <a:r>
              <a:rPr kumimoji="0" lang="zh-CN" altLang="en-US" sz="3200" smtClean="0"/>
              <a:t> </a:t>
            </a:r>
            <a:r>
              <a:rPr kumimoji="0" lang="zh-CN" altLang="en-US" sz="3200"/>
              <a:t>为问题</a:t>
            </a:r>
            <a:r>
              <a:rPr kumimoji="0" lang="en-US" altLang="zh-CN" sz="2400"/>
              <a:t>L</a:t>
            </a:r>
            <a:r>
              <a:rPr kumimoji="0" lang="zh-CN" altLang="en-US" sz="3200"/>
              <a:t>的一个基，</a:t>
            </a:r>
            <a:r>
              <a:rPr kumimoji="0" lang="en-US" altLang="zh-CN" sz="2400"/>
              <a:t>L</a:t>
            </a:r>
            <a:r>
              <a:rPr kumimoji="0" lang="zh-CN" altLang="en-US" sz="3200"/>
              <a:t>最多有     </a:t>
            </a:r>
            <a:r>
              <a:rPr kumimoji="0" lang="zh-CN" altLang="en-US" sz="3200" smtClean="0"/>
              <a:t>  </a:t>
            </a:r>
            <a:endParaRPr kumimoji="0" lang="en-US" altLang="zh-CN" sz="3200" smtClean="0"/>
          </a:p>
          <a:p>
            <a:pPr algn="just" eaLnBrk="1" hangingPunct="1">
              <a:spcBef>
                <a:spcPct val="0"/>
              </a:spcBef>
            </a:pPr>
            <a:r>
              <a:rPr kumimoji="0" lang="en-US" altLang="zh-CN" sz="3200"/>
              <a:t> </a:t>
            </a:r>
            <a:r>
              <a:rPr kumimoji="0" lang="en-US" altLang="zh-CN" sz="3200" smtClean="0"/>
              <a:t>            </a:t>
            </a:r>
            <a:r>
              <a:rPr kumimoji="0" lang="zh-CN" altLang="en-US" sz="3200" smtClean="0"/>
              <a:t>个基。</a:t>
            </a:r>
            <a:r>
              <a:rPr kumimoji="0" lang="zh-CN" altLang="en-US" sz="3200" smtClean="0">
                <a:solidFill>
                  <a:srgbClr val="C00000"/>
                </a:solidFill>
              </a:rPr>
              <a:t>系数矩阵</a:t>
            </a:r>
            <a:r>
              <a:rPr kumimoji="0" lang="en-US" altLang="zh-CN" sz="3200" smtClean="0">
                <a:solidFill>
                  <a:srgbClr val="C00000"/>
                </a:solidFill>
              </a:rPr>
              <a:t>A</a:t>
            </a:r>
            <a:r>
              <a:rPr kumimoji="0" lang="zh-CN" altLang="en-US" sz="3200" smtClean="0">
                <a:solidFill>
                  <a:srgbClr val="C00000"/>
                </a:solidFill>
              </a:rPr>
              <a:t>中的</a:t>
            </a:r>
            <a:r>
              <a:rPr kumimoji="0" lang="en-US" altLang="zh-CN" sz="3200" smtClean="0">
                <a:solidFill>
                  <a:srgbClr val="C00000"/>
                </a:solidFill>
              </a:rPr>
              <a:t>m</a:t>
            </a:r>
            <a:r>
              <a:rPr kumimoji="0" lang="zh-CN" altLang="en-US" sz="3200" smtClean="0">
                <a:solidFill>
                  <a:srgbClr val="C00000"/>
                </a:solidFill>
              </a:rPr>
              <a:t>阶可逆子阵，记为</a:t>
            </a:r>
            <a:r>
              <a:rPr kumimoji="0" lang="en-US" altLang="zh-CN" sz="3200" smtClean="0">
                <a:solidFill>
                  <a:srgbClr val="C00000"/>
                </a:solidFill>
              </a:rPr>
              <a:t>B</a:t>
            </a:r>
            <a:r>
              <a:rPr kumimoji="0" lang="zh-CN" altLang="en-US" sz="3200" smtClean="0">
                <a:solidFill>
                  <a:srgbClr val="C00000"/>
                </a:solidFill>
              </a:rPr>
              <a:t>。其余为非基矩阵，记为</a:t>
            </a:r>
            <a:r>
              <a:rPr kumimoji="0" lang="en-US" altLang="zh-CN" sz="3200" smtClean="0">
                <a:solidFill>
                  <a:srgbClr val="C00000"/>
                </a:solidFill>
              </a:rPr>
              <a:t>N</a:t>
            </a:r>
            <a:r>
              <a:rPr kumimoji="0" lang="zh-CN" altLang="en-US" sz="3200" smtClean="0">
                <a:solidFill>
                  <a:srgbClr val="C00000"/>
                </a:solidFill>
              </a:rPr>
              <a:t>。</a:t>
            </a:r>
            <a:endParaRPr kumimoji="0" lang="en-US" altLang="zh-CN" sz="3200" smtClean="0">
              <a:solidFill>
                <a:srgbClr val="C00000"/>
              </a:solidFill>
            </a:endParaRPr>
          </a:p>
          <a:p>
            <a:pPr algn="just" eaLnBrk="1" hangingPunct="1">
              <a:spcBef>
                <a:spcPts val="2400"/>
              </a:spcBef>
              <a:spcAft>
                <a:spcPts val="2400"/>
              </a:spcAft>
            </a:pPr>
            <a:r>
              <a:rPr kumimoji="0" lang="zh-CN" altLang="en-US" sz="3200" smtClean="0">
                <a:solidFill>
                  <a:srgbClr val="C00000"/>
                </a:solidFill>
              </a:rPr>
              <a:t>基向量：</a:t>
            </a:r>
            <a:r>
              <a:rPr kumimoji="0" lang="zh-CN" altLang="en-US" sz="3200" smtClean="0"/>
              <a:t>基矩阵</a:t>
            </a:r>
            <a:r>
              <a:rPr kumimoji="0" lang="en-US" altLang="zh-CN" sz="2800" smtClean="0"/>
              <a:t>B</a:t>
            </a:r>
            <a:r>
              <a:rPr kumimoji="0" lang="zh-CN" altLang="en-US" sz="3200" smtClean="0"/>
              <a:t>中的列，其余为非基向量。</a:t>
            </a:r>
            <a:endParaRPr kumimoji="0" lang="en-US" altLang="zh-CN" sz="3200"/>
          </a:p>
          <a:p>
            <a:pPr algn="just" eaLnBrk="1" hangingPunct="1">
              <a:spcBef>
                <a:spcPct val="20000"/>
              </a:spcBef>
            </a:pPr>
            <a:r>
              <a:rPr kumimoji="0" lang="zh-CN" altLang="en-US" sz="3200" smtClean="0">
                <a:solidFill>
                  <a:srgbClr val="CC0000"/>
                </a:solidFill>
              </a:rPr>
              <a:t>基变量</a:t>
            </a:r>
            <a:r>
              <a:rPr kumimoji="0" lang="zh-CN" altLang="en-US" sz="3200" smtClean="0"/>
              <a:t>：与基矩阵</a:t>
            </a:r>
            <a:r>
              <a:rPr kumimoji="0" lang="en-US" altLang="zh-CN" sz="2400" smtClean="0"/>
              <a:t>B</a:t>
            </a:r>
            <a:r>
              <a:rPr kumimoji="0" lang="zh-CN" altLang="en-US" sz="3200" smtClean="0"/>
              <a:t>中列向量所对应</a:t>
            </a:r>
            <a:r>
              <a:rPr kumimoji="0" lang="zh-CN" altLang="en-US" sz="3200"/>
              <a:t>的变量为基变量，记</a:t>
            </a:r>
            <a:r>
              <a:rPr kumimoji="0" lang="zh-CN" altLang="en-US" sz="3200" smtClean="0"/>
              <a:t>为                          </a:t>
            </a:r>
            <a:endParaRPr kumimoji="0" lang="en-US" altLang="zh-CN" sz="3200" smtClean="0"/>
          </a:p>
          <a:p>
            <a:pPr algn="just" eaLnBrk="1" hangingPunct="1">
              <a:spcBef>
                <a:spcPct val="20000"/>
              </a:spcBef>
            </a:pPr>
            <a:r>
              <a:rPr kumimoji="0" lang="zh-CN" altLang="en-US" sz="3200" smtClean="0"/>
              <a:t>                                         ，其余</a:t>
            </a:r>
            <a:r>
              <a:rPr kumimoji="0" lang="zh-CN" altLang="en-US" sz="3200"/>
              <a:t>变量为非基变量，记为  </a:t>
            </a:r>
            <a:r>
              <a:rPr kumimoji="0" lang="zh-CN" altLang="en-US" sz="3200" smtClean="0"/>
              <a:t>   。</a:t>
            </a:r>
            <a:endParaRPr kumimoji="0" lang="zh-CN" altLang="en-US" sz="320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003635" y="48431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003635" y="484791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003635" y="48431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003635" y="48812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003635" y="48431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003635" y="484632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6003635" y="487172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003635" y="487172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003635" y="489077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346045282"/>
              </p:ext>
            </p:extLst>
          </p:nvPr>
        </p:nvGraphicFramePr>
        <p:xfrm>
          <a:off x="4494145" y="1717689"/>
          <a:ext cx="863600" cy="279400"/>
        </p:xfrm>
        <a:graphic>
          <a:graphicData uri="http://schemas.openxmlformats.org/presentationml/2006/ole">
            <p:oleObj spid="_x0000_s28678" name="公式" r:id="rId3" imgW="355446" imgH="139639" progId="Equation.3">
              <p:embed/>
            </p:oleObj>
          </a:graphicData>
        </a:graphic>
      </p:graphicFrame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6003635" y="48812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967266487"/>
              </p:ext>
            </p:extLst>
          </p:nvPr>
        </p:nvGraphicFramePr>
        <p:xfrm>
          <a:off x="7286080" y="1717689"/>
          <a:ext cx="821740" cy="349591"/>
        </p:xfrm>
        <a:graphic>
          <a:graphicData uri="http://schemas.openxmlformats.org/presentationml/2006/ole">
            <p:oleObj spid="_x0000_s28677" name="公式" r:id="rId4" imgW="380835" imgH="165028" progId="Equation.3">
              <p:embed/>
            </p:oleObj>
          </a:graphicData>
        </a:graphic>
      </p:graphicFrame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6003635" y="48431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592896660"/>
              </p:ext>
            </p:extLst>
          </p:nvPr>
        </p:nvGraphicFramePr>
        <p:xfrm>
          <a:off x="4250411" y="2674575"/>
          <a:ext cx="2214667" cy="410392"/>
        </p:xfrm>
        <a:graphic>
          <a:graphicData uri="http://schemas.openxmlformats.org/presentationml/2006/ole">
            <p:oleObj spid="_x0000_s28676" name="公式" r:id="rId5" imgW="1282700" imgH="241300" progId="Equation.3">
              <p:embed/>
            </p:oleObj>
          </a:graphicData>
        </a:graphic>
      </p:graphicFrame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6003635" y="484791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865209637"/>
              </p:ext>
            </p:extLst>
          </p:nvPr>
        </p:nvGraphicFramePr>
        <p:xfrm>
          <a:off x="1321433" y="3084967"/>
          <a:ext cx="464805" cy="446377"/>
        </p:xfrm>
        <a:graphic>
          <a:graphicData uri="http://schemas.openxmlformats.org/presentationml/2006/ole">
            <p:oleObj spid="_x0000_s28675" name="公式" r:id="rId6" imgW="241300" imgH="228600" progId="Equation.3">
              <p:embed/>
            </p:oleObj>
          </a:graphicData>
        </a:graphic>
      </p:graphicFrame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6003635" y="483362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088930544"/>
              </p:ext>
            </p:extLst>
          </p:nvPr>
        </p:nvGraphicFramePr>
        <p:xfrm>
          <a:off x="2414520" y="5911221"/>
          <a:ext cx="2232025" cy="388938"/>
        </p:xfrm>
        <a:graphic>
          <a:graphicData uri="http://schemas.openxmlformats.org/presentationml/2006/ole">
            <p:oleObj spid="_x0000_s28674" name="公式" r:id="rId7" imgW="1473200" imgH="254000" progId="Equation.3">
              <p:embed/>
            </p:oleObj>
          </a:graphicData>
        </a:graphic>
      </p:graphicFrame>
      <p:graphicFrame>
        <p:nvGraphicFramePr>
          <p:cNvPr id="2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722168757"/>
              </p:ext>
            </p:extLst>
          </p:nvPr>
        </p:nvGraphicFramePr>
        <p:xfrm>
          <a:off x="10089020" y="5911221"/>
          <a:ext cx="489732" cy="338137"/>
        </p:xfrm>
        <a:graphic>
          <a:graphicData uri="http://schemas.openxmlformats.org/presentationml/2006/ole">
            <p:oleObj spid="_x0000_s28673" name="公式" r:id="rId8" imgW="241300" imgH="228600" progId="Equation.3">
              <p:embed/>
            </p:oleObj>
          </a:graphicData>
        </a:graphic>
      </p:graphicFrame>
      <p:sp>
        <p:nvSpPr>
          <p:cNvPr id="32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线性规划标准型解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的概念</a:t>
            </a: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563299015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线性规划标准型解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的概念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38200" y="1554208"/>
            <a:ext cx="10972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mtClean="0"/>
              <a:t>例</a:t>
            </a:r>
            <a:r>
              <a:rPr lang="en-US" altLang="zh-CN" sz="3200" smtClean="0"/>
              <a:t>1</a:t>
            </a:r>
            <a:r>
              <a:rPr lang="zh-CN" altLang="en-US" sz="3200" smtClean="0"/>
              <a:t>：下列为某线性规划的约束，请列举出其基矩阵、基向量和基变量。</a:t>
            </a:r>
            <a:endParaRPr lang="zh-CN" altLang="en-US" sz="3200"/>
          </a:p>
        </p:txBody>
      </p:sp>
      <p:graphicFrame>
        <p:nvGraphicFramePr>
          <p:cNvPr id="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731464899"/>
              </p:ext>
            </p:extLst>
          </p:nvPr>
        </p:nvGraphicFramePr>
        <p:xfrm>
          <a:off x="773594" y="3086737"/>
          <a:ext cx="4095271" cy="1631517"/>
        </p:xfrm>
        <a:graphic>
          <a:graphicData uri="http://schemas.openxmlformats.org/presentationml/2006/ole">
            <p:oleObj spid="_x0000_s29698" name="Equation" r:id="rId3" imgW="0" imgH="0" progId="">
              <p:embed/>
            </p:oleObj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866" y="2278076"/>
            <a:ext cx="7204442" cy="80866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865" y="3401040"/>
            <a:ext cx="7204442" cy="79248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865" y="4547733"/>
            <a:ext cx="7204442" cy="85110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868865" y="5855768"/>
            <a:ext cx="5714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mtClean="0"/>
              <a:t>6</a:t>
            </a:r>
            <a:r>
              <a:rPr lang="zh-CN" altLang="en-US" sz="2400" smtClean="0"/>
              <a:t>个基，最多          个</a:t>
            </a:r>
            <a:endParaRPr lang="zh-CN" altLang="en-US" sz="2400"/>
          </a:p>
        </p:txBody>
      </p:sp>
      <p:graphicFrame>
        <p:nvGraphicFramePr>
          <p:cNvPr id="15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597900882"/>
              </p:ext>
            </p:extLst>
          </p:nvPr>
        </p:nvGraphicFramePr>
        <p:xfrm>
          <a:off x="6693533" y="5871056"/>
          <a:ext cx="464805" cy="446377"/>
        </p:xfrm>
        <a:graphic>
          <a:graphicData uri="http://schemas.openxmlformats.org/presentationml/2006/ole">
            <p:oleObj spid="_x0000_s29697" name="公式" r:id="rId7" imgW="241300" imgH="228600" progId="Equation.3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39503646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线性规划标准型解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的概念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51593" y="1554208"/>
            <a:ext cx="11411807" cy="530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3200" dirty="0" smtClean="0">
                <a:solidFill>
                  <a:srgbClr val="CC0000"/>
                </a:solidFill>
              </a:rPr>
              <a:t>基</a:t>
            </a:r>
            <a:r>
              <a:rPr kumimoji="0" lang="zh-CN" altLang="en-US" sz="3200" dirty="0">
                <a:solidFill>
                  <a:srgbClr val="CC0000"/>
                </a:solidFill>
              </a:rPr>
              <a:t>解</a:t>
            </a:r>
            <a:r>
              <a:rPr kumimoji="0" lang="zh-CN" altLang="en-US" sz="3200" dirty="0" smtClean="0">
                <a:solidFill>
                  <a:srgbClr val="CC0000"/>
                </a:solidFill>
              </a:rPr>
              <a:t>：</a:t>
            </a:r>
            <a:r>
              <a:rPr kumimoji="0" lang="zh-CN" altLang="en-US" sz="3200" dirty="0" smtClean="0"/>
              <a:t>当</a:t>
            </a:r>
            <a:r>
              <a:rPr kumimoji="0" lang="en-US" altLang="zh-CN" sz="3200" dirty="0" smtClean="0"/>
              <a:t>A</a:t>
            </a:r>
            <a:r>
              <a:rPr kumimoji="0" lang="zh-CN" altLang="en-US" sz="3200" dirty="0" smtClean="0"/>
              <a:t>中的基</a:t>
            </a:r>
            <a:r>
              <a:rPr kumimoji="0" lang="en-US" altLang="zh-CN" sz="3200" dirty="0" smtClean="0"/>
              <a:t>B</a:t>
            </a:r>
            <a:r>
              <a:rPr kumimoji="0" lang="zh-CN" altLang="en-US" sz="3200" dirty="0" smtClean="0"/>
              <a:t>取定后，不妨设</a:t>
            </a:r>
            <a:r>
              <a:rPr kumimoji="0" lang="en-US" altLang="zh-CN" sz="3200" dirty="0" smtClean="0"/>
              <a:t>B</a:t>
            </a:r>
            <a:r>
              <a:rPr kumimoji="0" lang="zh-CN" altLang="en-US" sz="3200" dirty="0" smtClean="0"/>
              <a:t>表示</a:t>
            </a:r>
            <a:r>
              <a:rPr kumimoji="0" lang="en-US" altLang="zh-CN" sz="3200" dirty="0" smtClean="0"/>
              <a:t>A</a:t>
            </a:r>
            <a:r>
              <a:rPr kumimoji="0" lang="zh-CN" altLang="en-US" sz="3200" dirty="0" smtClean="0"/>
              <a:t>中的前</a:t>
            </a:r>
            <a:r>
              <a:rPr kumimoji="0" lang="en-US" altLang="zh-CN" sz="3200" dirty="0" smtClean="0"/>
              <a:t>m</a:t>
            </a:r>
            <a:r>
              <a:rPr kumimoji="0" lang="zh-CN" altLang="en-US" sz="3200" dirty="0" smtClean="0"/>
              <a:t>列，则可 </a:t>
            </a:r>
            <a:endParaRPr kumimoji="0" lang="en-US" altLang="zh-CN" sz="3200" dirty="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3200" dirty="0"/>
              <a:t> </a:t>
            </a:r>
            <a:r>
              <a:rPr kumimoji="0" lang="en-US" altLang="zh-CN" sz="3200" dirty="0" smtClean="0"/>
              <a:t>        </a:t>
            </a:r>
            <a:r>
              <a:rPr kumimoji="0" lang="zh-CN" altLang="en-US" sz="3200" dirty="0" smtClean="0"/>
              <a:t>记              ，相应地                 </a:t>
            </a:r>
            <a:r>
              <a:rPr kumimoji="0" lang="en-US" altLang="zh-CN" sz="3200" dirty="0" smtClean="0"/>
              <a:t>, </a:t>
            </a:r>
            <a:r>
              <a:rPr kumimoji="0" lang="zh-CN" altLang="en-US" sz="3200" dirty="0" smtClean="0"/>
              <a:t>约束条件</a:t>
            </a:r>
            <a:r>
              <a:rPr kumimoji="0" lang="en-US" altLang="zh-CN" sz="3200" dirty="0" smtClean="0"/>
              <a:t>AX=b</a:t>
            </a:r>
            <a:r>
              <a:rPr kumimoji="0" lang="zh-CN" altLang="en-US" sz="3200" dirty="0" smtClean="0"/>
              <a:t>可表示为</a:t>
            </a:r>
            <a:endParaRPr kumimoji="0" lang="en-US" altLang="zh-CN" sz="3200" dirty="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3200" dirty="0"/>
              <a:t> </a:t>
            </a:r>
            <a:r>
              <a:rPr kumimoji="0" lang="en-US" altLang="zh-CN" sz="3200" dirty="0" smtClean="0"/>
              <a:t>                               </a:t>
            </a:r>
            <a:r>
              <a:rPr kumimoji="0" lang="zh-CN" altLang="en-US" sz="3200" dirty="0" smtClean="0"/>
              <a:t>，即                     ，当取        时，则</a:t>
            </a:r>
            <a:endParaRPr kumimoji="0" lang="en-US" altLang="zh-CN" sz="3200" dirty="0" smtClean="0"/>
          </a:p>
          <a:p>
            <a:pPr algn="l" eaLnBrk="1" hangingPunct="1">
              <a:spcBef>
                <a:spcPts val="2400"/>
              </a:spcBef>
            </a:pPr>
            <a:r>
              <a:rPr kumimoji="0" lang="en-US" altLang="zh-CN" sz="3200" dirty="0"/>
              <a:t> </a:t>
            </a:r>
            <a:r>
              <a:rPr kumimoji="0" lang="en-US" altLang="zh-CN" sz="3200" dirty="0" smtClean="0"/>
              <a:t>                      </a:t>
            </a:r>
            <a:r>
              <a:rPr kumimoji="0" lang="zh-CN" altLang="en-US" sz="3200" dirty="0" smtClean="0"/>
              <a:t>为</a:t>
            </a:r>
            <a:r>
              <a:rPr kumimoji="0" lang="zh-CN" altLang="en-US" sz="3200" dirty="0"/>
              <a:t>线性规划问题</a:t>
            </a:r>
            <a:r>
              <a:rPr kumimoji="0" lang="en-US" altLang="zh-CN" sz="2400" dirty="0" smtClean="0"/>
              <a:t>LP</a:t>
            </a:r>
            <a:r>
              <a:rPr kumimoji="0" lang="zh-CN" altLang="en-US" sz="3200" dirty="0" smtClean="0"/>
              <a:t>的基解。</a:t>
            </a:r>
            <a:endParaRPr kumimoji="0" lang="en-US" altLang="zh-CN" sz="2400" dirty="0" smtClean="0"/>
          </a:p>
          <a:p>
            <a:pPr algn="l" eaLnBrk="1" hangingPunct="1">
              <a:spcBef>
                <a:spcPts val="4200"/>
              </a:spcBef>
              <a:spcAft>
                <a:spcPts val="1800"/>
              </a:spcAft>
            </a:pPr>
            <a:r>
              <a:rPr kumimoji="0" lang="zh-CN" altLang="en-US" sz="2400" dirty="0" smtClean="0">
                <a:solidFill>
                  <a:srgbClr val="0070C0"/>
                </a:solidFill>
              </a:rPr>
              <a:t>            基解</a:t>
            </a:r>
            <a:r>
              <a:rPr kumimoji="0" lang="zh-CN" altLang="en-US" sz="2400" dirty="0">
                <a:solidFill>
                  <a:srgbClr val="0070C0"/>
                </a:solidFill>
              </a:rPr>
              <a:t>的非零分量个数 </a:t>
            </a:r>
            <a:r>
              <a:rPr kumimoji="0" lang="zh-CN" altLang="en-US" sz="2400" dirty="0" smtClean="0">
                <a:solidFill>
                  <a:srgbClr val="0070C0"/>
                </a:solidFill>
                <a:sym typeface="Symbol" panose="05050102010706020507" pitchFamily="18" charset="2"/>
              </a:rPr>
              <a:t>≤</a:t>
            </a:r>
            <a:r>
              <a:rPr kumimoji="0" lang="en-US" altLang="zh-CN" sz="2400" dirty="0" smtClean="0">
                <a:solidFill>
                  <a:srgbClr val="0070C0"/>
                </a:solidFill>
              </a:rPr>
              <a:t>m</a:t>
            </a:r>
            <a:r>
              <a:rPr kumimoji="0" lang="zh-CN" altLang="en-US" sz="2400" dirty="0">
                <a:solidFill>
                  <a:srgbClr val="0070C0"/>
                </a:solidFill>
              </a:rPr>
              <a:t>，</a:t>
            </a:r>
            <a:r>
              <a:rPr kumimoji="0" lang="zh-CN" altLang="en-US" sz="2400" dirty="0" smtClean="0">
                <a:solidFill>
                  <a:srgbClr val="0070C0"/>
                </a:solidFill>
              </a:rPr>
              <a:t>当＜</a:t>
            </a:r>
            <a:r>
              <a:rPr kumimoji="0" lang="en-US" altLang="zh-CN" sz="2400" dirty="0" smtClean="0">
                <a:solidFill>
                  <a:srgbClr val="0070C0"/>
                </a:solidFill>
              </a:rPr>
              <a:t>m</a:t>
            </a:r>
            <a:r>
              <a:rPr kumimoji="0" lang="zh-CN" altLang="en-US" sz="2400" dirty="0">
                <a:solidFill>
                  <a:srgbClr val="0070C0"/>
                </a:solidFill>
              </a:rPr>
              <a:t>时，则此基解是</a:t>
            </a:r>
            <a:r>
              <a:rPr kumimoji="0" lang="zh-CN" altLang="en-US" sz="2400" dirty="0" smtClean="0">
                <a:solidFill>
                  <a:srgbClr val="0070C0"/>
                </a:solidFill>
              </a:rPr>
              <a:t>退化解</a:t>
            </a:r>
            <a:r>
              <a:rPr kumimoji="0" lang="zh-CN" altLang="en-US" sz="2400" dirty="0">
                <a:solidFill>
                  <a:srgbClr val="0070C0"/>
                </a:solidFill>
              </a:rPr>
              <a:t>，这种现象不多</a:t>
            </a:r>
            <a:r>
              <a:rPr kumimoji="0" lang="zh-CN" altLang="en-US" sz="2400" dirty="0" smtClean="0">
                <a:solidFill>
                  <a:srgbClr val="0070C0"/>
                </a:solidFill>
              </a:rPr>
              <a:t>。</a:t>
            </a:r>
            <a:endParaRPr kumimoji="0" lang="en-US" altLang="zh-CN" sz="2400" dirty="0">
              <a:solidFill>
                <a:srgbClr val="0070C0"/>
              </a:solidFill>
            </a:endParaRPr>
          </a:p>
          <a:p>
            <a:pPr algn="l" eaLnBrk="1" hangingPunct="1">
              <a:spcBef>
                <a:spcPct val="0"/>
              </a:spcBef>
            </a:pPr>
            <a:r>
              <a:rPr kumimoji="0" lang="zh-CN" altLang="en-US" sz="3200" dirty="0" smtClean="0">
                <a:solidFill>
                  <a:srgbClr val="0070C0"/>
                </a:solidFill>
              </a:rPr>
              <a:t>一个基解是由一个基来决定的，并未要求非负，因此未必可行。</a:t>
            </a:r>
            <a:endParaRPr kumimoji="0" lang="en-US" altLang="zh-CN" sz="3200" dirty="0">
              <a:solidFill>
                <a:srgbClr val="0070C0"/>
              </a:solidFill>
            </a:endParaRPr>
          </a:p>
          <a:p>
            <a:pPr marL="895350" indent="-895350" algn="l" eaLnBrk="1" hangingPunct="1">
              <a:spcBef>
                <a:spcPct val="0"/>
              </a:spcBef>
              <a:spcAft>
                <a:spcPts val="1800"/>
              </a:spcAft>
            </a:pPr>
            <a:r>
              <a:rPr kumimoji="0" lang="zh-CN" altLang="en-US" sz="3200" dirty="0" smtClean="0">
                <a:solidFill>
                  <a:srgbClr val="CC0000"/>
                </a:solidFill>
              </a:rPr>
              <a:t>基</a:t>
            </a:r>
            <a:r>
              <a:rPr kumimoji="0" lang="zh-CN" altLang="en-US" sz="3200" dirty="0">
                <a:solidFill>
                  <a:srgbClr val="CC0000"/>
                </a:solidFill>
              </a:rPr>
              <a:t>可行解：</a:t>
            </a:r>
            <a:r>
              <a:rPr kumimoji="0" lang="zh-CN" altLang="en-US" sz="3200" dirty="0"/>
              <a:t>若</a:t>
            </a:r>
            <a:r>
              <a:rPr kumimoji="0" lang="en-US" altLang="zh-CN" sz="3200" dirty="0"/>
              <a:t>B</a:t>
            </a:r>
            <a:r>
              <a:rPr kumimoji="0" lang="zh-CN" altLang="en-US" sz="3200" dirty="0"/>
              <a:t>对应的</a:t>
            </a:r>
            <a:r>
              <a:rPr kumimoji="0" lang="zh-CN" altLang="en-US" sz="3200" dirty="0" smtClean="0"/>
              <a:t>基解中满足            ，则</a:t>
            </a:r>
            <a:r>
              <a:rPr kumimoji="0" lang="zh-CN" altLang="en-US" sz="3200" dirty="0"/>
              <a:t>称该解为基本</a:t>
            </a:r>
            <a:r>
              <a:rPr kumimoji="0" lang="zh-CN" altLang="en-US" sz="3200" dirty="0" smtClean="0"/>
              <a:t>可 行</a:t>
            </a:r>
            <a:r>
              <a:rPr kumimoji="0" lang="zh-CN" altLang="en-US" sz="3200" dirty="0"/>
              <a:t>解，称</a:t>
            </a:r>
            <a:r>
              <a:rPr kumimoji="0" lang="en-US" altLang="zh-CN" sz="3200" dirty="0"/>
              <a:t>B</a:t>
            </a:r>
            <a:r>
              <a:rPr kumimoji="0" lang="zh-CN" altLang="en-US" sz="3200" dirty="0"/>
              <a:t>为可行基。   </a:t>
            </a:r>
          </a:p>
          <a:p>
            <a:pPr algn="l" eaLnBrk="1" hangingPunct="1">
              <a:spcBef>
                <a:spcPts val="1800"/>
              </a:spcBef>
              <a:spcAft>
                <a:spcPts val="1800"/>
              </a:spcAft>
            </a:pPr>
            <a:endParaRPr kumimoji="0" lang="zh-CN" altLang="en-US" sz="2400" dirty="0"/>
          </a:p>
          <a:p>
            <a:pPr algn="just" eaLnBrk="1" hangingPunct="1">
              <a:spcBef>
                <a:spcPct val="20000"/>
              </a:spcBef>
            </a:pPr>
            <a:endParaRPr kumimoji="0" lang="zh-CN" altLang="en-US" sz="32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003635" y="48431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003635" y="484791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003635" y="48431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003635" y="48812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003635" y="48431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003635" y="484632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6003635" y="487172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003635" y="487172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003635" y="489077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6003635" y="48812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6003635" y="4843151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6003635" y="484791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6003635" y="483362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609353807"/>
              </p:ext>
            </p:extLst>
          </p:nvPr>
        </p:nvGraphicFramePr>
        <p:xfrm>
          <a:off x="1992033" y="2236421"/>
          <a:ext cx="1303337" cy="460375"/>
        </p:xfrm>
        <a:graphic>
          <a:graphicData uri="http://schemas.openxmlformats.org/presentationml/2006/ole">
            <p:oleObj spid="_x0000_s30728" name="Equation" r:id="rId3" imgW="0" imgH="0" progId="">
              <p:embed/>
            </p:oleObj>
          </a:graphicData>
        </a:graphic>
      </p:graphicFrame>
      <p:graphicFrame>
        <p:nvGraphicFramePr>
          <p:cNvPr id="3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933376639"/>
              </p:ext>
            </p:extLst>
          </p:nvPr>
        </p:nvGraphicFramePr>
        <p:xfrm>
          <a:off x="4949825" y="2197100"/>
          <a:ext cx="1706563" cy="541338"/>
        </p:xfrm>
        <a:graphic>
          <a:graphicData uri="http://schemas.openxmlformats.org/presentationml/2006/ole">
            <p:oleObj spid="_x0000_s30727" name="Equation" r:id="rId4" imgW="0" imgH="0" progId="">
              <p:embed/>
            </p:oleObj>
          </a:graphicData>
        </a:graphic>
      </p:graphicFrame>
      <p:graphicFrame>
        <p:nvGraphicFramePr>
          <p:cNvPr id="3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0367244"/>
              </p:ext>
            </p:extLst>
          </p:nvPr>
        </p:nvGraphicFramePr>
        <p:xfrm>
          <a:off x="1468438" y="2644775"/>
          <a:ext cx="2397125" cy="1028700"/>
        </p:xfrm>
        <a:graphic>
          <a:graphicData uri="http://schemas.openxmlformats.org/presentationml/2006/ole">
            <p:oleObj spid="_x0000_s30726" name="Equation" r:id="rId5" imgW="0" imgH="0" progId="">
              <p:embed/>
            </p:oleObj>
          </a:graphicData>
        </a:graphic>
      </p:graphicFrame>
      <p:graphicFrame>
        <p:nvGraphicFramePr>
          <p:cNvPr id="3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889569051"/>
              </p:ext>
            </p:extLst>
          </p:nvPr>
        </p:nvGraphicFramePr>
        <p:xfrm>
          <a:off x="4780991" y="2754333"/>
          <a:ext cx="1954212" cy="514350"/>
        </p:xfrm>
        <a:graphic>
          <a:graphicData uri="http://schemas.openxmlformats.org/presentationml/2006/ole">
            <p:oleObj spid="_x0000_s30725" name="Equation" r:id="rId6" imgW="0" imgH="0" progId="">
              <p:embed/>
            </p:oleObj>
          </a:graphicData>
        </a:graphic>
      </p:graphicFrame>
      <p:graphicFrame>
        <p:nvGraphicFramePr>
          <p:cNvPr id="3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820178588"/>
              </p:ext>
            </p:extLst>
          </p:nvPr>
        </p:nvGraphicFramePr>
        <p:xfrm>
          <a:off x="8095376" y="2830850"/>
          <a:ext cx="728662" cy="487363"/>
        </p:xfrm>
        <a:graphic>
          <a:graphicData uri="http://schemas.openxmlformats.org/presentationml/2006/ole">
            <p:oleObj spid="_x0000_s30724" name="Equation" r:id="rId7" imgW="0" imgH="0" progId="">
              <p:embed/>
            </p:oleObj>
          </a:graphicData>
        </a:graphic>
      </p:graphicFrame>
      <p:graphicFrame>
        <p:nvGraphicFramePr>
          <p:cNvPr id="3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067717478"/>
              </p:ext>
            </p:extLst>
          </p:nvPr>
        </p:nvGraphicFramePr>
        <p:xfrm>
          <a:off x="10115300" y="2803863"/>
          <a:ext cx="1014412" cy="514350"/>
        </p:xfrm>
        <a:graphic>
          <a:graphicData uri="http://schemas.openxmlformats.org/presentationml/2006/ole">
            <p:oleObj spid="_x0000_s30723" name="Equation" r:id="rId8" imgW="0" imgH="0" progId="">
              <p:embed/>
            </p:oleObj>
          </a:graphicData>
        </a:graphic>
      </p:graphicFrame>
      <p:graphicFrame>
        <p:nvGraphicFramePr>
          <p:cNvPr id="3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898441182"/>
              </p:ext>
            </p:extLst>
          </p:nvPr>
        </p:nvGraphicFramePr>
        <p:xfrm>
          <a:off x="1607639" y="3482674"/>
          <a:ext cx="1130300" cy="1028700"/>
        </p:xfrm>
        <a:graphic>
          <a:graphicData uri="http://schemas.openxmlformats.org/presentationml/2006/ole">
            <p:oleObj spid="_x0000_s30722" name="Equation" r:id="rId9" imgW="0" imgH="0" progId="">
              <p:embed/>
            </p:oleObj>
          </a:graphicData>
        </a:graphic>
      </p:graphicFrame>
      <p:graphicFrame>
        <p:nvGraphicFramePr>
          <p:cNvPr id="3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799974276"/>
              </p:ext>
            </p:extLst>
          </p:nvPr>
        </p:nvGraphicFramePr>
        <p:xfrm>
          <a:off x="6735203" y="5644524"/>
          <a:ext cx="944562" cy="496850"/>
        </p:xfrm>
        <a:graphic>
          <a:graphicData uri="http://schemas.openxmlformats.org/presentationml/2006/ole">
            <p:oleObj spid="_x0000_s30721" name="Equation" r:id="rId10" imgW="0" imgH="0" progId="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909159388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线性规划标准型解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的概念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38200" y="1554208"/>
            <a:ext cx="1097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mtClean="0"/>
              <a:t>求例</a:t>
            </a:r>
            <a:r>
              <a:rPr lang="en-US" altLang="zh-CN" sz="3200" smtClean="0"/>
              <a:t>1</a:t>
            </a:r>
            <a:r>
              <a:rPr lang="zh-CN" altLang="en-US" sz="3200" smtClean="0"/>
              <a:t>基    、    相应的基本解，是否为基可行解？</a:t>
            </a:r>
            <a:endParaRPr lang="zh-CN" altLang="en-US" sz="3200"/>
          </a:p>
        </p:txBody>
      </p:sp>
      <p:graphicFrame>
        <p:nvGraphicFramePr>
          <p:cNvPr id="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553719373"/>
              </p:ext>
            </p:extLst>
          </p:nvPr>
        </p:nvGraphicFramePr>
        <p:xfrm>
          <a:off x="2351175" y="1554208"/>
          <a:ext cx="303212" cy="592907"/>
        </p:xfrm>
        <a:graphic>
          <a:graphicData uri="http://schemas.openxmlformats.org/presentationml/2006/ole">
            <p:oleObj spid="_x0000_s31746" name="Equation" r:id="rId3" imgW="0" imgH="0" progId="">
              <p:embed/>
            </p:oleObj>
          </a:graphicData>
        </a:graphic>
      </p:graphicFrame>
      <p:graphicFrame>
        <p:nvGraphicFramePr>
          <p:cNvPr id="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260523796"/>
              </p:ext>
            </p:extLst>
          </p:nvPr>
        </p:nvGraphicFramePr>
        <p:xfrm>
          <a:off x="2959981" y="1554977"/>
          <a:ext cx="349250" cy="592138"/>
        </p:xfrm>
        <a:graphic>
          <a:graphicData uri="http://schemas.openxmlformats.org/presentationml/2006/ole">
            <p:oleObj spid="_x0000_s31745" name="Equation" r:id="rId4" imgW="0" imgH="0" progId="">
              <p:embed/>
            </p:oleObj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64636"/>
            <a:ext cx="6569079" cy="8158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266" y="3206148"/>
            <a:ext cx="7355507" cy="47050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265" y="3802301"/>
            <a:ext cx="6358958" cy="133803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265" y="5230990"/>
            <a:ext cx="7253479" cy="693560"/>
          </a:xfrm>
          <a:prstGeom prst="rect">
            <a:avLst/>
          </a:prstGeom>
        </p:spPr>
      </p:pic>
    </p:spTree>
    <p:extLst>
      <p:ext uri="{BB962C8B-B14F-4D97-AF65-F5344CB8AC3E}">
        <p14:creationId xmlns="" xmlns:p15="http://schemas.microsoft.com/office/powerpoint/2012/main" xmlns:p14="http://schemas.microsoft.com/office/powerpoint/2010/main" val="11915372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Rectangle 3"/>
          <p:cNvSpPr>
            <a:spLocks noChangeArrowheads="1"/>
          </p:cNvSpPr>
          <p:nvPr/>
        </p:nvSpPr>
        <p:spPr bwMode="auto">
          <a:xfrm>
            <a:off x="584200" y="1554208"/>
            <a:ext cx="6781800" cy="38893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bg1">
                <a:lumMod val="50000"/>
              </a:schemeClr>
            </a:solidFill>
            <a:miter lim="800000"/>
          </a:ln>
        </p:spPr>
        <p:txBody>
          <a:bodyPr wrap="none" anchor="ctr"/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约束方程的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解空间</a:t>
            </a:r>
            <a:endParaRPr lang="zh-CN" altLang="en-US" sz="2400">
              <a:solidFill>
                <a:srgbClr val="66FFFF"/>
              </a:solidFill>
              <a:ea typeface="宋体" pitchFamily="2" charset="-122"/>
            </a:endParaRPr>
          </a:p>
        </p:txBody>
      </p:sp>
      <p:sp>
        <p:nvSpPr>
          <p:cNvPr id="149508" name="Oval 4"/>
          <p:cNvSpPr>
            <a:spLocks noChangeArrowheads="1"/>
          </p:cNvSpPr>
          <p:nvPr/>
        </p:nvSpPr>
        <p:spPr bwMode="auto">
          <a:xfrm rot="-58493">
            <a:off x="1727201" y="2425745"/>
            <a:ext cx="2989263" cy="1873250"/>
          </a:xfrm>
          <a:prstGeom prst="ellipse">
            <a:avLst/>
          </a:prstGeom>
          <a:solidFill>
            <a:srgbClr val="00B050"/>
          </a:solidFill>
          <a:ln w="28575" cap="sq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zh-CN" altLang="en-US" sz="2000"/>
          </a:p>
        </p:txBody>
      </p:sp>
      <p:sp>
        <p:nvSpPr>
          <p:cNvPr id="149509" name="Oval 5"/>
          <p:cNvSpPr>
            <a:spLocks noChangeArrowheads="1"/>
          </p:cNvSpPr>
          <p:nvPr/>
        </p:nvSpPr>
        <p:spPr bwMode="auto">
          <a:xfrm rot="-58493">
            <a:off x="3251200" y="2232071"/>
            <a:ext cx="2819400" cy="2452687"/>
          </a:xfrm>
          <a:prstGeom prst="ellipse">
            <a:avLst/>
          </a:prstGeom>
          <a:solidFill>
            <a:srgbClr val="FFC000">
              <a:alpha val="79000"/>
            </a:srgbClr>
          </a:solidFill>
          <a:ln w="28575" cap="sq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r" eaLnBrk="1" hangingPunct="1">
              <a:buClrTx/>
              <a:buSzTx/>
              <a:buFontTx/>
              <a:buNone/>
            </a:pPr>
            <a:endParaRPr lang="zh-CN" altLang="zh-CN" sz="2400">
              <a:ea typeface="宋体" pitchFamily="2" charset="-122"/>
            </a:endParaRPr>
          </a:p>
        </p:txBody>
      </p:sp>
      <p:sp>
        <p:nvSpPr>
          <p:cNvPr id="149510" name="Text Box 6"/>
          <p:cNvSpPr txBox="1">
            <a:spLocks noChangeArrowheads="1"/>
          </p:cNvSpPr>
          <p:nvPr/>
        </p:nvSpPr>
        <p:spPr bwMode="auto">
          <a:xfrm>
            <a:off x="4883962" y="3091851"/>
            <a:ext cx="1112805" cy="461665"/>
          </a:xfrm>
          <a:prstGeom prst="rect">
            <a:avLst/>
          </a:prstGeom>
          <a:solidFill>
            <a:srgbClr val="FFC000">
              <a:alpha val="79000"/>
            </a:srgbClr>
          </a:solidFill>
          <a:ln w="28575" cap="sq">
            <a:noFill/>
            <a:round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zh-CN"/>
            </a:defPPr>
            <a:lvl1pPr algn="r">
              <a:spcBef>
                <a:spcPct val="0"/>
              </a:spcBef>
              <a:buClrTx/>
              <a:buSzTx/>
              <a:buFontTx/>
              <a:buNone/>
              <a:defRPr kumimoji="1" sz="2400">
                <a:latin typeface="Times New Roman" pitchFamily="18" charset="0"/>
                <a:ea typeface="宋体" pitchFamily="2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latin typeface="Times New Roman" pitchFamily="18" charset="0"/>
                <a:ea typeface="隶书" pitchFamily="49" charset="-122"/>
              </a:defRPr>
            </a:lvl9pPr>
          </a:lstStyle>
          <a:p>
            <a:r>
              <a:rPr lang="zh-CN" altLang="en-US"/>
              <a:t>基本解</a:t>
            </a:r>
          </a:p>
        </p:txBody>
      </p:sp>
      <p:sp>
        <p:nvSpPr>
          <p:cNvPr id="149511" name="Text Box 7"/>
          <p:cNvSpPr txBox="1">
            <a:spLocks noChangeArrowheads="1"/>
          </p:cNvSpPr>
          <p:nvPr/>
        </p:nvSpPr>
        <p:spPr bwMode="auto">
          <a:xfrm>
            <a:off x="1990726" y="3094082"/>
            <a:ext cx="1108075" cy="4572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可行解</a:t>
            </a:r>
          </a:p>
        </p:txBody>
      </p:sp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2905125" y="1646282"/>
            <a:ext cx="14097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非可行解</a:t>
            </a: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149513" name="Text Box 9"/>
          <p:cNvSpPr txBox="1">
            <a:spLocks noChangeArrowheads="1"/>
          </p:cNvSpPr>
          <p:nvPr/>
        </p:nvSpPr>
        <p:spPr bwMode="auto">
          <a:xfrm>
            <a:off x="3325037" y="2870672"/>
            <a:ext cx="1112805" cy="830997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基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可行解</a:t>
            </a:r>
          </a:p>
        </p:txBody>
      </p:sp>
      <p:sp>
        <p:nvSpPr>
          <p:cNvPr id="149517" name="Rectangle 13"/>
          <p:cNvSpPr>
            <a:spLocks noChangeArrowheads="1"/>
          </p:cNvSpPr>
          <p:nvPr/>
        </p:nvSpPr>
        <p:spPr bwMode="auto">
          <a:xfrm>
            <a:off x="584201" y="5484526"/>
            <a:ext cx="6781799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b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</a:rPr>
              <a:t>  </a:t>
            </a:r>
            <a:r>
              <a:rPr kumimoji="1" lang="zh-CN" altLang="en-US" sz="2400" b="1">
                <a:latin typeface="隶书" pitchFamily="49" charset="-122"/>
              </a:rPr>
              <a:t>线性规划标准型问题解的关系</a:t>
            </a:r>
          </a:p>
        </p:txBody>
      </p:sp>
      <p:sp>
        <p:nvSpPr>
          <p:cNvPr id="24591" name="Rectangle 14"/>
          <p:cNvSpPr>
            <a:spLocks noChangeArrowheads="1"/>
          </p:cNvSpPr>
          <p:nvPr/>
        </p:nvSpPr>
        <p:spPr bwMode="auto">
          <a:xfrm>
            <a:off x="262720" y="290199"/>
            <a:ext cx="1181896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endParaRPr kumimoji="0" lang="zh-CN" altLang="en-US" sz="3200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线性规划标准型解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的概念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93440" y="1615762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smtClean="0">
                <a:latin typeface="隶书" pitchFamily="49" charset="-122"/>
                <a:ea typeface="楷体_GB2312"/>
              </a:rPr>
              <a:t>系数阵</a:t>
            </a:r>
            <a:r>
              <a:rPr lang="en-US" altLang="zh-CN" sz="2400" smtClean="0">
                <a:latin typeface="隶书" pitchFamily="49" charset="-122"/>
                <a:ea typeface="楷体_GB2312"/>
              </a:rPr>
              <a:t>A</a:t>
            </a:r>
            <a:r>
              <a:rPr lang="zh-CN" altLang="en-US" sz="2400" smtClean="0">
                <a:latin typeface="隶书" pitchFamily="49" charset="-122"/>
                <a:ea typeface="楷体_GB2312"/>
              </a:rPr>
              <a:t>中可找出若干个基</a:t>
            </a:r>
            <a:r>
              <a:rPr lang="en-US" altLang="zh-CN" sz="2400" smtClean="0">
                <a:latin typeface="隶书" pitchFamily="49" charset="-122"/>
                <a:ea typeface="楷体_GB2312"/>
              </a:rPr>
              <a:t>B</a:t>
            </a:r>
            <a:endParaRPr lang="zh-CN" altLang="en-US" sz="2400">
              <a:latin typeface="隶书" pitchFamily="49" charset="-122"/>
              <a:ea typeface="楷体_GB231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66440" y="3211850"/>
            <a:ext cx="4173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latin typeface="隶书" pitchFamily="49" charset="-122"/>
                <a:ea typeface="楷体_GB2312"/>
              </a:rPr>
              <a:t>每个基</a:t>
            </a:r>
            <a:r>
              <a:rPr lang="en-US" altLang="zh-CN" sz="2400">
                <a:latin typeface="隶书" pitchFamily="49" charset="-122"/>
                <a:ea typeface="楷体_GB2312"/>
              </a:rPr>
              <a:t>B</a:t>
            </a:r>
            <a:r>
              <a:rPr lang="zh-CN" altLang="en-US" sz="2400">
                <a:latin typeface="隶书" pitchFamily="49" charset="-122"/>
                <a:ea typeface="楷体_GB2312"/>
              </a:rPr>
              <a:t>都对应于一个基本解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675301" y="4794941"/>
            <a:ext cx="4173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latin typeface="隶书" pitchFamily="49" charset="-122"/>
                <a:ea typeface="楷体_GB2312"/>
              </a:rPr>
              <a:t>非负的基本解就是基本可行解</a:t>
            </a:r>
          </a:p>
        </p:txBody>
      </p:sp>
      <p:sp>
        <p:nvSpPr>
          <p:cNvPr id="16" name="下箭头 15"/>
          <p:cNvSpPr/>
          <p:nvPr/>
        </p:nvSpPr>
        <p:spPr>
          <a:xfrm>
            <a:off x="9683741" y="3824491"/>
            <a:ext cx="143870" cy="883588"/>
          </a:xfrm>
          <a:prstGeom prst="downArrow">
            <a:avLst>
              <a:gd name="adj1" fmla="val 50000"/>
              <a:gd name="adj2" fmla="val 141033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9683741" y="2233840"/>
            <a:ext cx="143870" cy="883588"/>
          </a:xfrm>
          <a:prstGeom prst="downArrow">
            <a:avLst>
              <a:gd name="adj1" fmla="val 50000"/>
              <a:gd name="adj2" fmla="val 141033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2571704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7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1" nodeType="clickEffect"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17" presetClass="entr" presetSubtype="2" fill="hold" grpId="4" nodeType="withEffect"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5" nodeType="withEffect"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2" nodeType="clickEffect"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3" nodeType="afterEffect"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6" nodeType="clickEffect"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8" nodeType="clickEffect"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12" nodeType="clickEffect"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9" nodeType="afterEffect"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11" nodeType="clickEffect"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10" nodeType="afterEffect"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animBg="1"/>
      <p:bldP spid="149508" grpId="1" animBg="1"/>
      <p:bldP spid="149509" grpId="2" animBg="1"/>
      <p:bldP spid="149510" grpId="3" animBg="1"/>
      <p:bldP spid="149511" grpId="4" animBg="1"/>
      <p:bldP spid="149512" grpId="5" animBg="1"/>
      <p:bldP spid="149513" grpId="6"/>
      <p:bldP spid="149517" grpId="7"/>
      <p:bldP spid="2" grpId="8"/>
      <p:bldP spid="13" grpId="9"/>
      <p:bldP spid="14" grpId="10"/>
      <p:bldP spid="16" grpId="11" animBg="1"/>
      <p:bldP spid="17" grpId="1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|"/>
            </a:pP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 定理</a:t>
            </a:r>
            <a:r>
              <a:rPr lang="en-US" altLang="zh-CN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：线性规划</a:t>
            </a:r>
            <a:r>
              <a:rPr lang="zh-CN" altLang="en-US" sz="320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问题的可行域为</a:t>
            </a: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凸集。</a:t>
            </a:r>
            <a:endParaRPr lang="zh-CN" altLang="en-US" sz="3200">
              <a:solidFill>
                <a:prstClr val="black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|"/>
            </a:pP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 定理</a:t>
            </a:r>
            <a:r>
              <a:rPr lang="en-US" altLang="zh-CN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：凸集</a:t>
            </a:r>
            <a:r>
              <a:rPr lang="zh-CN" altLang="en-US" sz="320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的每个顶点对应一个基</a:t>
            </a: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可行解。</a:t>
            </a:r>
            <a:endParaRPr lang="en-US" altLang="zh-CN" sz="3200" smtClean="0">
              <a:solidFill>
                <a:prstClr val="black"/>
              </a:solidFill>
              <a:latin typeface="隶书" pitchFamily="49" charset="-122"/>
              <a:ea typeface="隶书" pitchFamily="49" charset="-122"/>
            </a:endParaRPr>
          </a:p>
          <a:p>
            <a:pPr marL="1973263" lvl="0" indent="0">
              <a:lnSpc>
                <a:spcPct val="100000"/>
              </a:lnSpc>
              <a:spcBef>
                <a:spcPts val="1800"/>
              </a:spcBef>
              <a:buClr>
                <a:srgbClr val="C00000"/>
              </a:buClr>
              <a:buNone/>
            </a:pP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基</a:t>
            </a:r>
            <a:r>
              <a:rPr lang="zh-CN" altLang="en-US" sz="320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可行解的个数是有限的</a:t>
            </a: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，当然凸集</a:t>
            </a:r>
            <a:r>
              <a:rPr lang="zh-CN" altLang="en-US" sz="320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的顶点</a:t>
            </a: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个  数</a:t>
            </a:r>
            <a:r>
              <a:rPr lang="zh-CN" altLang="en-US" sz="320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也是</a:t>
            </a: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有限的。</a:t>
            </a:r>
            <a:endParaRPr lang="zh-CN" altLang="en-US" sz="3200">
              <a:solidFill>
                <a:prstClr val="black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|"/>
            </a:pPr>
            <a:r>
              <a:rPr lang="zh-CN" altLang="en-US" sz="320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定理</a:t>
            </a:r>
            <a:r>
              <a:rPr lang="en-US" altLang="zh-CN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：若</a:t>
            </a:r>
            <a:r>
              <a:rPr lang="zh-CN" altLang="en-US" sz="320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线性规划有最优解，必在可行域某顶点上</a:t>
            </a: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达到。</a:t>
            </a:r>
            <a:endParaRPr lang="en-US" altLang="zh-CN" sz="3200" smtClean="0">
              <a:solidFill>
                <a:prstClr val="black"/>
              </a:solidFill>
              <a:latin typeface="隶书" pitchFamily="49" charset="-122"/>
              <a:ea typeface="隶书" pitchFamily="49" charset="-122"/>
            </a:endParaRPr>
          </a:p>
          <a:p>
            <a:pPr marL="0" lvl="0" indent="0">
              <a:lnSpc>
                <a:spcPct val="100000"/>
              </a:lnSpc>
              <a:spcBef>
                <a:spcPts val="1800"/>
              </a:spcBef>
              <a:buClr>
                <a:srgbClr val="C00000"/>
              </a:buClr>
              <a:buNone/>
            </a:pPr>
            <a:r>
              <a:rPr lang="zh-CN" altLang="en-US" sz="3200" smtClean="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         在</a:t>
            </a:r>
            <a:r>
              <a:rPr lang="zh-CN" altLang="en-US" sz="3200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有限个基可行解中间存在最优解</a:t>
            </a:r>
            <a:r>
              <a:rPr lang="zh-CN" altLang="en-US" sz="3200" b="1">
                <a:solidFill>
                  <a:prstClr val="black"/>
                </a:solidFill>
                <a:latin typeface="隶书" pitchFamily="49" charset="-122"/>
                <a:ea typeface="隶书" pitchFamily="49" charset="-122"/>
              </a:rPr>
              <a:t>。</a:t>
            </a:r>
            <a:endParaRPr lang="zh-CN" altLang="en-US" sz="3200">
              <a:solidFill>
                <a:prstClr val="black"/>
              </a:solidFill>
              <a:latin typeface="隶书" pitchFamily="49" charset="-122"/>
              <a:ea typeface="隶书" pitchFamily="49" charset="-122"/>
            </a:endParaRPr>
          </a:p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基本定理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159156742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3"/>
          <p:cNvSpPr>
            <a:spLocks noChangeArrowheads="1"/>
          </p:cNvSpPr>
          <p:nvPr/>
        </p:nvSpPr>
        <p:spPr bwMode="auto">
          <a:xfrm>
            <a:off x="808831" y="1520825"/>
            <a:ext cx="10715512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3200" dirty="0">
                <a:solidFill>
                  <a:srgbClr val="CC0000"/>
                </a:solidFill>
              </a:rPr>
              <a:t>凸集：</a:t>
            </a:r>
            <a:r>
              <a:rPr kumimoji="0" lang="zh-CN" altLang="en-US" sz="3200" dirty="0"/>
              <a:t>设</a:t>
            </a:r>
            <a:r>
              <a:rPr kumimoji="0" lang="en-US" altLang="zh-CN" sz="2400" dirty="0"/>
              <a:t>C</a:t>
            </a:r>
            <a:r>
              <a:rPr kumimoji="0" lang="zh-CN" altLang="en-US" sz="3200" dirty="0"/>
              <a:t>是</a:t>
            </a:r>
            <a:r>
              <a:rPr kumimoji="0" lang="en-US" altLang="zh-CN" sz="3200" dirty="0"/>
              <a:t>n</a:t>
            </a:r>
            <a:r>
              <a:rPr kumimoji="0" lang="zh-CN" altLang="en-US" sz="3200" dirty="0"/>
              <a:t>维欧式空间的一个</a:t>
            </a:r>
            <a:r>
              <a:rPr kumimoji="0" lang="zh-CN" altLang="en-US" sz="3200" dirty="0" smtClean="0"/>
              <a:t>点集</a:t>
            </a:r>
            <a:r>
              <a:rPr kumimoji="0" lang="zh-CN" altLang="en-US" sz="3200" dirty="0"/>
              <a:t>，若任意两点的连线上的</a:t>
            </a:r>
            <a:r>
              <a:rPr kumimoji="0" lang="zh-CN" altLang="en-US" sz="3200" dirty="0">
                <a:solidFill>
                  <a:srgbClr val="CC0000"/>
                </a:solidFill>
              </a:rPr>
              <a:t>一切</a:t>
            </a:r>
            <a:r>
              <a:rPr kumimoji="0" lang="zh-CN" altLang="en-US" sz="3200" dirty="0" smtClean="0">
                <a:solidFill>
                  <a:srgbClr val="CC0000"/>
                </a:solidFill>
              </a:rPr>
              <a:t>点</a:t>
            </a:r>
            <a:r>
              <a:rPr kumimoji="0" lang="zh-CN" altLang="en-US" sz="3200" dirty="0" smtClean="0"/>
              <a:t>                              </a:t>
            </a:r>
            <a:r>
              <a:rPr kumimoji="0" lang="zh-CN" altLang="en-US" sz="2400" dirty="0" smtClean="0"/>
              <a:t> </a:t>
            </a:r>
            <a:r>
              <a:rPr kumimoji="0" lang="en-US" altLang="zh-CN" sz="2400" dirty="0"/>
              <a:t>( </a:t>
            </a:r>
            <a:r>
              <a:rPr kumimoji="0" lang="en-US" altLang="zh-CN" sz="3200" dirty="0"/>
              <a:t>           </a:t>
            </a:r>
            <a:r>
              <a:rPr kumimoji="0" lang="en-US" altLang="zh-CN" sz="2400" dirty="0" smtClean="0"/>
              <a:t>)</a:t>
            </a:r>
            <a:r>
              <a:rPr kumimoji="0" lang="en-US" altLang="zh-CN" sz="3200" dirty="0" smtClean="0"/>
              <a:t>, </a:t>
            </a:r>
            <a:r>
              <a:rPr kumimoji="0" lang="zh-CN" altLang="en-US" sz="3200" dirty="0" smtClean="0"/>
              <a:t>则称</a:t>
            </a:r>
            <a:r>
              <a:rPr kumimoji="0" lang="en-US" altLang="zh-CN" sz="2400" dirty="0" smtClean="0"/>
              <a:t>C</a:t>
            </a:r>
            <a:r>
              <a:rPr kumimoji="0" lang="zh-CN" altLang="en-US" sz="3200" dirty="0"/>
              <a:t>为凸集。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 dirty="0">
                <a:solidFill>
                  <a:srgbClr val="CC0000"/>
                </a:solidFill>
              </a:rPr>
              <a:t>凸集的</a:t>
            </a:r>
            <a:r>
              <a:rPr kumimoji="0" lang="zh-CN" altLang="en-US" sz="3200" dirty="0" smtClean="0">
                <a:solidFill>
                  <a:srgbClr val="CC0000"/>
                </a:solidFill>
              </a:rPr>
              <a:t>特征：</a:t>
            </a:r>
            <a:r>
              <a:rPr kumimoji="0" lang="zh-CN" altLang="en-US" sz="3200" dirty="0"/>
              <a:t>连接任意两</a:t>
            </a:r>
            <a:r>
              <a:rPr kumimoji="0" lang="zh-CN" altLang="en-US" sz="3200" dirty="0" smtClean="0"/>
              <a:t>点的</a:t>
            </a:r>
            <a:r>
              <a:rPr kumimoji="0" lang="zh-CN" altLang="en-US" sz="3200" dirty="0"/>
              <a:t>线段整个都在集合之中。 </a:t>
            </a:r>
          </a:p>
        </p:txBody>
      </p:sp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07" name="Rectangle 5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08" name="Rectangle 6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09" name="Rectangle 7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0" name="Rectangle 8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1" name="Rectangle 9"/>
          <p:cNvSpPr>
            <a:spLocks noChangeArrowheads="1"/>
          </p:cNvSpPr>
          <p:nvPr/>
        </p:nvSpPr>
        <p:spPr bwMode="auto">
          <a:xfrm>
            <a:off x="6003635" y="31130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2" name="Rectangle 10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3" name="Rectangle 11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4" name="Rectangle 12"/>
          <p:cNvSpPr>
            <a:spLocks noChangeArrowheads="1"/>
          </p:cNvSpPr>
          <p:nvPr/>
        </p:nvSpPr>
        <p:spPr bwMode="auto">
          <a:xfrm>
            <a:off x="6003635" y="30003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5" name="Rectangle 13"/>
          <p:cNvSpPr>
            <a:spLocks noChangeArrowheads="1"/>
          </p:cNvSpPr>
          <p:nvPr/>
        </p:nvSpPr>
        <p:spPr bwMode="auto">
          <a:xfrm>
            <a:off x="6003635" y="-20005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56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1667930"/>
              </p:ext>
            </p:extLst>
          </p:nvPr>
        </p:nvGraphicFramePr>
        <p:xfrm>
          <a:off x="3692979" y="2164805"/>
          <a:ext cx="2725738" cy="373063"/>
        </p:xfrm>
        <a:graphic>
          <a:graphicData uri="http://schemas.openxmlformats.org/presentationml/2006/ole">
            <p:oleObj spid="_x0000_s32770" name="Equation" r:id="rId3" imgW="1676400" imgH="228600" progId="">
              <p:embed/>
            </p:oleObj>
          </a:graphicData>
        </a:graphic>
      </p:graphicFrame>
      <p:sp>
        <p:nvSpPr>
          <p:cNvPr id="25616" name="Rectangle 15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560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318275135"/>
              </p:ext>
            </p:extLst>
          </p:nvPr>
        </p:nvGraphicFramePr>
        <p:xfrm>
          <a:off x="6815933" y="2191792"/>
          <a:ext cx="1008062" cy="319088"/>
        </p:xfrm>
        <a:graphic>
          <a:graphicData uri="http://schemas.openxmlformats.org/presentationml/2006/ole">
            <p:oleObj spid="_x0000_s32769" name="公式" r:id="rId4" imgW="571004" imgH="177646" progId="Equation.3">
              <p:embed/>
            </p:oleObj>
          </a:graphicData>
        </a:graphic>
      </p:graphicFrame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374491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凸集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2" name="Group 39"/>
          <p:cNvGrpSpPr/>
          <p:nvPr/>
        </p:nvGrpSpPr>
        <p:grpSpPr>
          <a:xfrm>
            <a:off x="2552930" y="3789363"/>
            <a:ext cx="7127875" cy="1693862"/>
            <a:chOff x="703" y="1797"/>
            <a:chExt cx="4490" cy="1067"/>
          </a:xfrm>
        </p:grpSpPr>
        <p:sp>
          <p:nvSpPr>
            <p:cNvPr id="23" name="Text Box 28"/>
            <p:cNvSpPr txBox="1">
              <a:spLocks noChangeArrowheads="1"/>
            </p:cNvSpPr>
            <p:nvPr/>
          </p:nvSpPr>
          <p:spPr bwMode="auto">
            <a:xfrm>
              <a:off x="1156" y="2614"/>
              <a:ext cx="7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000" b="1">
                  <a:latin typeface="Verdana" pitchFamily="34" charset="0"/>
                  <a:ea typeface="黑体" pitchFamily="49" charset="-122"/>
                </a:rPr>
                <a:t>非凸集</a:t>
              </a:r>
            </a:p>
          </p:txBody>
        </p:sp>
        <p:sp>
          <p:nvSpPr>
            <p:cNvPr id="24" name="Text Box 29"/>
            <p:cNvSpPr txBox="1">
              <a:spLocks noChangeArrowheads="1"/>
            </p:cNvSpPr>
            <p:nvPr/>
          </p:nvSpPr>
          <p:spPr bwMode="auto">
            <a:xfrm>
              <a:off x="4195" y="2614"/>
              <a:ext cx="7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000" b="1">
                  <a:latin typeface="Verdana" pitchFamily="34" charset="0"/>
                  <a:ea typeface="黑体" pitchFamily="49" charset="-122"/>
                </a:rPr>
                <a:t>非凸集</a:t>
              </a:r>
            </a:p>
          </p:txBody>
        </p:sp>
        <p:sp>
          <p:nvSpPr>
            <p:cNvPr id="25" name="Text Box 30"/>
            <p:cNvSpPr txBox="1">
              <a:spLocks noChangeArrowheads="1"/>
            </p:cNvSpPr>
            <p:nvPr/>
          </p:nvSpPr>
          <p:spPr bwMode="auto">
            <a:xfrm>
              <a:off x="2744" y="2614"/>
              <a:ext cx="5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000" b="1">
                  <a:latin typeface="Verdana" pitchFamily="34" charset="0"/>
                  <a:ea typeface="黑体" pitchFamily="49" charset="-122"/>
                </a:rPr>
                <a:t>凸集</a:t>
              </a:r>
            </a:p>
          </p:txBody>
        </p:sp>
        <p:pic>
          <p:nvPicPr>
            <p:cNvPr id="26" name="Picture 3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="" xmlns:p14="http://schemas.microsoft.com/office/powerpoint/2010/main" xmlns:p15="http://schemas.microsoft.com/office/powerpoint/2012/main"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03" y="1797"/>
              <a:ext cx="4490" cy="8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5="http://schemas.microsoft.com/office/powerpoint/2012/main" xmlns:p14="http://schemas.microsoft.com/office/powerpoint/2010/main" val="25493258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07" name="Rectangle 5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08" name="Rectangle 6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09" name="Rectangle 7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0" name="Rectangle 8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1" name="Rectangle 9"/>
          <p:cNvSpPr>
            <a:spLocks noChangeArrowheads="1"/>
          </p:cNvSpPr>
          <p:nvPr/>
        </p:nvSpPr>
        <p:spPr bwMode="auto">
          <a:xfrm>
            <a:off x="6003635" y="31130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2" name="Rectangle 10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3" name="Rectangle 11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4" name="Rectangle 12"/>
          <p:cNvSpPr>
            <a:spLocks noChangeArrowheads="1"/>
          </p:cNvSpPr>
          <p:nvPr/>
        </p:nvSpPr>
        <p:spPr bwMode="auto">
          <a:xfrm>
            <a:off x="6003635" y="30003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5" name="Rectangle 13"/>
          <p:cNvSpPr>
            <a:spLocks noChangeArrowheads="1"/>
          </p:cNvSpPr>
          <p:nvPr/>
        </p:nvSpPr>
        <p:spPr bwMode="auto">
          <a:xfrm>
            <a:off x="6003635" y="-20005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5616" name="Rectangle 15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374491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顶点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832520" y="1554208"/>
            <a:ext cx="10633765" cy="468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顶点：</a:t>
            </a:r>
            <a:r>
              <a:rPr kumimoji="0" lang="zh-CN" altLang="en-US" sz="3200" smtClean="0"/>
              <a:t>设</a:t>
            </a:r>
            <a:r>
              <a:rPr kumimoji="0" lang="en-US" altLang="zh-CN" sz="2400" smtClean="0"/>
              <a:t>C</a:t>
            </a:r>
            <a:r>
              <a:rPr kumimoji="0" lang="zh-CN" altLang="en-US" sz="3200" smtClean="0"/>
              <a:t>是</a:t>
            </a:r>
            <a:r>
              <a:rPr kumimoji="0" lang="zh-CN" altLang="en-US" sz="3200"/>
              <a:t>凸集，     </a:t>
            </a:r>
            <a:r>
              <a:rPr kumimoji="0" lang="zh-CN" altLang="en-US" sz="3200" smtClean="0"/>
              <a:t>，若    </a:t>
            </a:r>
            <a:r>
              <a:rPr kumimoji="0" lang="zh-CN" altLang="en-US" sz="3200"/>
              <a:t>不能</a:t>
            </a:r>
            <a:r>
              <a:rPr kumimoji="0" lang="zh-CN" altLang="en-US" sz="3200" smtClean="0"/>
              <a:t>表示</a:t>
            </a:r>
            <a:r>
              <a:rPr kumimoji="0" lang="zh-CN" altLang="en-US" sz="3200"/>
              <a:t>成</a:t>
            </a:r>
            <a:r>
              <a:rPr kumimoji="0" lang="zh-CN" altLang="en-US" sz="3200" smtClean="0">
                <a:solidFill>
                  <a:srgbClr val="CC0000"/>
                </a:solidFill>
              </a:rPr>
              <a:t>任何</a:t>
            </a:r>
            <a:r>
              <a:rPr kumimoji="0" lang="zh-CN" altLang="en-US" sz="3200" smtClean="0"/>
              <a:t>两点</a:t>
            </a:r>
            <a:endParaRPr kumimoji="0" lang="en-US" altLang="zh-CN" sz="32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 smtClean="0"/>
              <a:t>连</a:t>
            </a:r>
            <a:r>
              <a:rPr kumimoji="0" lang="zh-CN" altLang="en-US" sz="3200"/>
              <a:t>线的</a:t>
            </a:r>
            <a:r>
              <a:rPr kumimoji="0" lang="zh-CN" altLang="en-US" sz="3200" smtClean="0"/>
              <a:t>内点</a:t>
            </a:r>
            <a:r>
              <a:rPr kumimoji="0" lang="zh-CN" altLang="en-US" sz="3200"/>
              <a:t>，则称     </a:t>
            </a:r>
            <a:r>
              <a:rPr kumimoji="0" lang="zh-CN" altLang="en-US" sz="3200" smtClean="0"/>
              <a:t>为</a:t>
            </a:r>
            <a:r>
              <a:rPr kumimoji="0" lang="en-US" altLang="zh-CN" sz="2400" smtClean="0"/>
              <a:t>C</a:t>
            </a:r>
            <a:r>
              <a:rPr kumimoji="0" lang="zh-CN" altLang="en-US" sz="3200" smtClean="0"/>
              <a:t>的</a:t>
            </a:r>
            <a:r>
              <a:rPr kumimoji="0" lang="zh-CN" altLang="en-US" sz="3200"/>
              <a:t>一个顶点。 </a:t>
            </a:r>
          </a:p>
        </p:txBody>
      </p:sp>
      <p:graphicFrame>
        <p:nvGraphicFramePr>
          <p:cNvPr id="3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516018698"/>
              </p:ext>
            </p:extLst>
          </p:nvPr>
        </p:nvGraphicFramePr>
        <p:xfrm>
          <a:off x="4270305" y="2325673"/>
          <a:ext cx="305402" cy="257175"/>
        </p:xfrm>
        <a:graphic>
          <a:graphicData uri="http://schemas.openxmlformats.org/presentationml/2006/ole">
            <p:oleObj spid="_x0000_s35844" name="公式" r:id="rId3" imgW="164885" imgH="164885" progId="Equation.3">
              <p:embed/>
            </p:oleObj>
          </a:graphicData>
        </a:graphic>
      </p:graphicFrame>
      <p:graphicFrame>
        <p:nvGraphicFramePr>
          <p:cNvPr id="3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941909276"/>
              </p:ext>
            </p:extLst>
          </p:nvPr>
        </p:nvGraphicFramePr>
        <p:xfrm>
          <a:off x="4241800" y="1695450"/>
          <a:ext cx="666750" cy="303213"/>
        </p:xfrm>
        <a:graphic>
          <a:graphicData uri="http://schemas.openxmlformats.org/presentationml/2006/ole">
            <p:oleObj spid="_x0000_s35843" name="Equation" r:id="rId4" imgW="0" imgH="0" progId="">
              <p:embed/>
            </p:oleObj>
          </a:graphicData>
        </a:graphic>
      </p:graphicFrame>
      <p:graphicFrame>
        <p:nvGraphicFramePr>
          <p:cNvPr id="36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278335234"/>
              </p:ext>
            </p:extLst>
          </p:nvPr>
        </p:nvGraphicFramePr>
        <p:xfrm>
          <a:off x="5744642" y="1751928"/>
          <a:ext cx="258993" cy="274637"/>
        </p:xfrm>
        <a:graphic>
          <a:graphicData uri="http://schemas.openxmlformats.org/presentationml/2006/ole">
            <p:oleObj spid="_x0000_s35842" name="公式" r:id="rId5" imgW="164885" imgH="164885" progId="Equation.3">
              <p:embed/>
            </p:oleObj>
          </a:graphicData>
        </a:graphic>
      </p:graphicFrame>
      <p:graphicFrame>
        <p:nvGraphicFramePr>
          <p:cNvPr id="37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469603467"/>
              </p:ext>
            </p:extLst>
          </p:nvPr>
        </p:nvGraphicFramePr>
        <p:xfrm>
          <a:off x="9820672" y="1651793"/>
          <a:ext cx="1736725" cy="390525"/>
        </p:xfrm>
        <a:graphic>
          <a:graphicData uri="http://schemas.openxmlformats.org/presentationml/2006/ole">
            <p:oleObj spid="_x0000_s35841" name="Equation" r:id="rId6" imgW="0" imgH="0" progId="">
              <p:embed/>
            </p:oleObj>
          </a:graphicData>
        </a:graphic>
      </p:graphicFrame>
      <p:pic>
        <p:nvPicPr>
          <p:cNvPr id="38" name="Picture 2" descr="tu-2-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16077" y="2820536"/>
            <a:ext cx="5257130" cy="3656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5="http://schemas.microsoft.com/office/powerpoint/2012/main" xmlns:p14="http://schemas.microsoft.com/office/powerpoint/2010/main" val="1677407468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5" name="Rectangle 13"/>
          <p:cNvSpPr>
            <a:spLocks noChangeArrowheads="1"/>
          </p:cNvSpPr>
          <p:nvPr/>
        </p:nvSpPr>
        <p:spPr bwMode="auto">
          <a:xfrm>
            <a:off x="6003635" y="-20005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374491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基本定理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879251" y="1392464"/>
            <a:ext cx="11124063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定理</a:t>
            </a:r>
            <a:r>
              <a:rPr kumimoji="0" lang="en-US" altLang="zh-CN" sz="2800">
                <a:solidFill>
                  <a:srgbClr val="CC0000"/>
                </a:solidFill>
              </a:rPr>
              <a:t>1</a:t>
            </a:r>
            <a:r>
              <a:rPr kumimoji="0" lang="zh-CN" altLang="en-US" sz="3200">
                <a:solidFill>
                  <a:srgbClr val="CC0000"/>
                </a:solidFill>
              </a:rPr>
              <a:t>：</a:t>
            </a:r>
            <a:r>
              <a:rPr kumimoji="0" lang="zh-CN" altLang="en-US" sz="3200"/>
              <a:t>线性规划问题的</a:t>
            </a:r>
            <a:r>
              <a:rPr kumimoji="0" lang="zh-CN" altLang="en-US" sz="3200" smtClean="0"/>
              <a:t>可行域                       是</a:t>
            </a:r>
            <a:r>
              <a:rPr kumimoji="0" lang="zh-CN" altLang="en-US" sz="3200"/>
              <a:t>一个</a:t>
            </a:r>
            <a:r>
              <a:rPr kumimoji="0" lang="zh-CN" altLang="en-US" sz="3200" smtClean="0"/>
              <a:t>凸集。</a:t>
            </a:r>
            <a:endParaRPr kumimoji="0" lang="en-US" altLang="zh-CN" sz="320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 b="1" smtClean="0">
                <a:solidFill>
                  <a:srgbClr val="00B050"/>
                </a:solidFill>
              </a:rPr>
              <a:t>证明</a:t>
            </a:r>
            <a:r>
              <a:rPr kumimoji="0" lang="zh-CN" altLang="en-US" sz="3200" b="1" smtClean="0"/>
              <a:t>：</a:t>
            </a:r>
            <a:endParaRPr kumimoji="0" lang="en-US" altLang="zh-CN" sz="3200" b="1" smtClean="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 smtClean="0"/>
              <a:t>设</a:t>
            </a:r>
            <a:r>
              <a:rPr kumimoji="0" lang="zh-CN" altLang="en-US" sz="3200"/>
              <a:t>：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/>
              <a:t>则                                                    </a:t>
            </a:r>
            <a:r>
              <a:rPr kumimoji="0" lang="zh-CN" altLang="en-US">
                <a:solidFill>
                  <a:srgbClr val="0070C0"/>
                </a:solidFill>
              </a:rPr>
              <a:t>（</a:t>
            </a:r>
            <a:r>
              <a:rPr kumimoji="0" lang="en-US" altLang="zh-CN" smtClean="0">
                <a:solidFill>
                  <a:srgbClr val="0070C0"/>
                </a:solidFill>
              </a:rPr>
              <a:t>1.4</a:t>
            </a:r>
            <a:r>
              <a:rPr kumimoji="0" lang="zh-CN" altLang="en-US" smtClean="0">
                <a:solidFill>
                  <a:srgbClr val="0070C0"/>
                </a:solidFill>
              </a:rPr>
              <a:t>）</a:t>
            </a:r>
            <a:endParaRPr kumimoji="0" lang="zh-CN" altLang="en-US">
              <a:solidFill>
                <a:srgbClr val="0070C0"/>
              </a:solidFill>
            </a:endParaRP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/>
              <a:t>若</a:t>
            </a:r>
            <a:r>
              <a:rPr kumimoji="0" lang="zh-CN" altLang="en-US" smtClean="0"/>
              <a:t>：                                                                                  </a:t>
            </a:r>
            <a:r>
              <a:rPr kumimoji="0" lang="en-US" altLang="zh-CN">
                <a:solidFill>
                  <a:srgbClr val="0070C0"/>
                </a:solidFill>
              </a:rPr>
              <a:t>(</a:t>
            </a:r>
            <a:r>
              <a:rPr kumimoji="0" lang="en-US" altLang="zh-CN" smtClean="0">
                <a:solidFill>
                  <a:srgbClr val="0070C0"/>
                </a:solidFill>
              </a:rPr>
              <a:t>1.5)</a:t>
            </a:r>
            <a:r>
              <a:rPr kumimoji="0" lang="en-US" altLang="zh-CN" sz="3200" smtClean="0">
                <a:solidFill>
                  <a:srgbClr val="0070C0"/>
                </a:solidFill>
              </a:rPr>
              <a:t> </a:t>
            </a:r>
            <a:endParaRPr kumimoji="0" lang="en-US" altLang="zh-CN" sz="3200">
              <a:solidFill>
                <a:srgbClr val="0070C0"/>
              </a:solidFill>
            </a:endParaRP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 smtClean="0"/>
              <a:t>则：</a:t>
            </a:r>
            <a:endParaRPr kumimoji="0" lang="zh-CN" altLang="en-US" sz="320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 smtClean="0"/>
              <a:t>又：</a:t>
            </a:r>
            <a:endParaRPr kumimoji="0" lang="zh-CN" altLang="en-US" sz="320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 smtClean="0"/>
              <a:t>故：         </a:t>
            </a:r>
            <a:endParaRPr kumimoji="0" lang="zh-CN" altLang="en-US" sz="320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3200" smtClean="0"/>
              <a:t>因此，线性规划</a:t>
            </a:r>
            <a:r>
              <a:rPr kumimoji="0" lang="zh-CN" altLang="en-US" sz="3200"/>
              <a:t>问题的可行域是</a:t>
            </a:r>
            <a:r>
              <a:rPr kumimoji="0" lang="zh-CN" altLang="en-US" sz="3200" smtClean="0"/>
              <a:t>凸集</a:t>
            </a:r>
            <a:r>
              <a:rPr kumimoji="0" lang="zh-CN" altLang="en-US" sz="3200"/>
              <a:t>。 </a:t>
            </a:r>
          </a:p>
          <a:p>
            <a:pPr algn="r" eaLnBrk="1" hangingPunct="1">
              <a:spcBef>
                <a:spcPct val="20000"/>
              </a:spcBef>
            </a:pPr>
            <a:r>
              <a:rPr kumimoji="0" lang="zh-CN" altLang="en-US" sz="3200"/>
              <a:t> </a:t>
            </a:r>
          </a:p>
        </p:txBody>
      </p:sp>
      <p:graphicFrame>
        <p:nvGraphicFramePr>
          <p:cNvPr id="2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443626841"/>
              </p:ext>
            </p:extLst>
          </p:nvPr>
        </p:nvGraphicFramePr>
        <p:xfrm>
          <a:off x="1779363" y="2760889"/>
          <a:ext cx="1800225" cy="360363"/>
        </p:xfrm>
        <a:graphic>
          <a:graphicData uri="http://schemas.openxmlformats.org/presentationml/2006/ole">
            <p:oleObj spid="_x0000_s36873" name="公式" r:id="rId3" imgW="1143000" imgH="228600" progId="Equation.3">
              <p:embed/>
            </p:oleObj>
          </a:graphicData>
        </a:graphic>
      </p:graphicFrame>
      <p:graphicFrame>
        <p:nvGraphicFramePr>
          <p:cNvPr id="2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856817900"/>
              </p:ext>
            </p:extLst>
          </p:nvPr>
        </p:nvGraphicFramePr>
        <p:xfrm>
          <a:off x="4371751" y="2760889"/>
          <a:ext cx="1296987" cy="287338"/>
        </p:xfrm>
        <a:graphic>
          <a:graphicData uri="http://schemas.openxmlformats.org/presentationml/2006/ole">
            <p:oleObj spid="_x0000_s36872" name="公式" r:id="rId4" imgW="685800" imgH="190500" progId="Equation.3">
              <p:embed/>
            </p:oleObj>
          </a:graphicData>
        </a:graphic>
      </p:graphicFrame>
      <p:graphicFrame>
        <p:nvGraphicFramePr>
          <p:cNvPr id="2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113261879"/>
              </p:ext>
            </p:extLst>
          </p:nvPr>
        </p:nvGraphicFramePr>
        <p:xfrm>
          <a:off x="1707926" y="3337152"/>
          <a:ext cx="2051050" cy="400050"/>
        </p:xfrm>
        <a:graphic>
          <a:graphicData uri="http://schemas.openxmlformats.org/presentationml/2006/ole">
            <p:oleObj spid="_x0000_s36871" name="公式" r:id="rId5" imgW="1168400" imgH="228600" progId="Equation.3">
              <p:embed/>
            </p:oleObj>
          </a:graphicData>
        </a:graphic>
      </p:graphicFrame>
      <p:graphicFrame>
        <p:nvGraphicFramePr>
          <p:cNvPr id="2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475144057"/>
              </p:ext>
            </p:extLst>
          </p:nvPr>
        </p:nvGraphicFramePr>
        <p:xfrm>
          <a:off x="4300313" y="3337152"/>
          <a:ext cx="2089150" cy="404812"/>
        </p:xfrm>
        <a:graphic>
          <a:graphicData uri="http://schemas.openxmlformats.org/presentationml/2006/ole">
            <p:oleObj spid="_x0000_s36870" name="公式" r:id="rId6" imgW="1181100" imgH="228600" progId="Equation.3">
              <p:embed/>
            </p:oleObj>
          </a:graphicData>
        </a:graphic>
      </p:graphicFrame>
      <p:graphicFrame>
        <p:nvGraphicFramePr>
          <p:cNvPr id="2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560248806"/>
              </p:ext>
            </p:extLst>
          </p:nvPr>
        </p:nvGraphicFramePr>
        <p:xfrm>
          <a:off x="1828576" y="3913414"/>
          <a:ext cx="3600450" cy="360363"/>
        </p:xfrm>
        <a:graphic>
          <a:graphicData uri="http://schemas.openxmlformats.org/presentationml/2006/ole">
            <p:oleObj spid="_x0000_s36869" name="公式" r:id="rId7" imgW="2032000" imgH="228600" progId="Equation.3">
              <p:embed/>
            </p:oleObj>
          </a:graphicData>
        </a:graphic>
      </p:graphicFrame>
      <p:graphicFrame>
        <p:nvGraphicFramePr>
          <p:cNvPr id="2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120767325"/>
              </p:ext>
            </p:extLst>
          </p:nvPr>
        </p:nvGraphicFramePr>
        <p:xfrm>
          <a:off x="1776188" y="4489677"/>
          <a:ext cx="4319588" cy="360362"/>
        </p:xfrm>
        <a:graphic>
          <a:graphicData uri="http://schemas.openxmlformats.org/presentationml/2006/ole">
            <p:oleObj spid="_x0000_s36868" name="公式" r:id="rId8" imgW="2908300" imgH="228600" progId="Equation.3">
              <p:embed/>
            </p:oleObj>
          </a:graphicData>
        </a:graphic>
      </p:graphicFrame>
      <p:graphicFrame>
        <p:nvGraphicFramePr>
          <p:cNvPr id="3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920713231"/>
              </p:ext>
            </p:extLst>
          </p:nvPr>
        </p:nvGraphicFramePr>
        <p:xfrm>
          <a:off x="1882551" y="5065939"/>
          <a:ext cx="2447925" cy="341313"/>
        </p:xfrm>
        <a:graphic>
          <a:graphicData uri="http://schemas.openxmlformats.org/presentationml/2006/ole">
            <p:oleObj spid="_x0000_s36867" name="公式" r:id="rId9" imgW="1638300" imgH="228600" progId="Equation.3">
              <p:embed/>
            </p:oleObj>
          </a:graphicData>
        </a:graphic>
      </p:graphicFrame>
      <p:graphicFrame>
        <p:nvGraphicFramePr>
          <p:cNvPr id="3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183419987"/>
              </p:ext>
            </p:extLst>
          </p:nvPr>
        </p:nvGraphicFramePr>
        <p:xfrm>
          <a:off x="1877788" y="5640614"/>
          <a:ext cx="792163" cy="298450"/>
        </p:xfrm>
        <a:graphic>
          <a:graphicData uri="http://schemas.openxmlformats.org/presentationml/2006/ole">
            <p:oleObj spid="_x0000_s36866" name="公式" r:id="rId10" imgW="431613" imgH="165028" progId="Equation.3">
              <p:embed/>
            </p:oleObj>
          </a:graphicData>
        </a:graphic>
      </p:graphicFrame>
      <p:graphicFrame>
        <p:nvGraphicFramePr>
          <p:cNvPr id="3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564691591"/>
              </p:ext>
            </p:extLst>
          </p:nvPr>
        </p:nvGraphicFramePr>
        <p:xfrm>
          <a:off x="6468272" y="1542201"/>
          <a:ext cx="2240299" cy="337445"/>
        </p:xfrm>
        <a:graphic>
          <a:graphicData uri="http://schemas.openxmlformats.org/presentationml/2006/ole">
            <p:oleObj spid="_x0000_s36865" name="公式" r:id="rId11" imgW="1459866" imgH="215806" progId="Equation.3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38537064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Rectangle 3"/>
          <p:cNvSpPr>
            <a:spLocks noChangeArrowheads="1"/>
          </p:cNvSpPr>
          <p:nvPr/>
        </p:nvSpPr>
        <p:spPr bwMode="auto">
          <a:xfrm>
            <a:off x="842625" y="1367404"/>
            <a:ext cx="11030061" cy="5490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2800">
                <a:solidFill>
                  <a:srgbClr val="CC0000"/>
                </a:solidFill>
              </a:rPr>
              <a:t>引理</a:t>
            </a:r>
            <a:r>
              <a:rPr kumimoji="0" lang="en-US" altLang="zh-CN" sz="2800">
                <a:solidFill>
                  <a:srgbClr val="CC0000"/>
                </a:solidFill>
              </a:rPr>
              <a:t>1</a:t>
            </a:r>
            <a:r>
              <a:rPr kumimoji="0" lang="zh-CN" altLang="en-US" sz="2800"/>
              <a:t>：线性规划的</a:t>
            </a:r>
            <a:r>
              <a:rPr kumimoji="0" lang="zh-CN" altLang="en-US" sz="2800" smtClean="0"/>
              <a:t>可行解                       是</a:t>
            </a:r>
            <a:r>
              <a:rPr kumimoji="0" lang="zh-CN" altLang="en-US" sz="2800"/>
              <a:t>基可行解的充要条件是    </a:t>
            </a:r>
            <a:r>
              <a:rPr kumimoji="0" lang="zh-CN" altLang="en-US" sz="2800" smtClean="0"/>
              <a:t>的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/>
              <a:t> </a:t>
            </a:r>
            <a:r>
              <a:rPr kumimoji="0" lang="en-US" altLang="zh-CN" sz="2800" smtClean="0"/>
              <a:t>            </a:t>
            </a:r>
            <a:r>
              <a:rPr kumimoji="0" lang="zh-CN" altLang="en-US" sz="2800" smtClean="0"/>
              <a:t>正</a:t>
            </a:r>
            <a:r>
              <a:rPr kumimoji="0" lang="zh-CN" altLang="en-US" sz="2800"/>
              <a:t>分量所</a:t>
            </a:r>
            <a:r>
              <a:rPr kumimoji="0" lang="zh-CN" altLang="en-US" sz="2800" smtClean="0"/>
              <a:t>对应</a:t>
            </a:r>
            <a:r>
              <a:rPr kumimoji="0" lang="zh-CN" altLang="en-US" sz="2800"/>
              <a:t>的系数列向量线性独立。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 b="1">
                <a:solidFill>
                  <a:srgbClr val="00B050"/>
                </a:solidFill>
              </a:rPr>
              <a:t>证明</a:t>
            </a:r>
            <a:r>
              <a:rPr kumimoji="0" lang="zh-CN" altLang="en-US" sz="2800" b="1" smtClean="0"/>
              <a:t>：</a:t>
            </a:r>
            <a:endParaRPr kumimoji="0" lang="en-US" altLang="zh-CN" sz="2800" b="1" smtClean="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 smtClean="0"/>
              <a:t>必要性</a:t>
            </a:r>
            <a:r>
              <a:rPr kumimoji="0" lang="zh-CN" altLang="en-US" sz="2800"/>
              <a:t>：根据定义即</a:t>
            </a:r>
            <a:r>
              <a:rPr kumimoji="0" lang="zh-CN" altLang="en-US" sz="2800" smtClean="0"/>
              <a:t>可得</a:t>
            </a:r>
            <a:r>
              <a:rPr kumimoji="0" lang="zh-CN" altLang="en-US" sz="2800"/>
              <a:t>。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充分性：设     的</a:t>
            </a:r>
            <a:r>
              <a:rPr kumimoji="0" lang="en-US" altLang="zh-CN" sz="2800"/>
              <a:t>k</a:t>
            </a:r>
            <a:r>
              <a:rPr kumimoji="0" lang="zh-CN" altLang="en-US" sz="2800"/>
              <a:t>个正分量的系数</a:t>
            </a:r>
            <a:r>
              <a:rPr kumimoji="0" lang="zh-CN" altLang="en-US" sz="2800" smtClean="0"/>
              <a:t>列向量                </a:t>
            </a:r>
            <a:r>
              <a:rPr kumimoji="0" lang="zh-CN" altLang="en-US" sz="2800"/>
              <a:t>线性独立</a:t>
            </a:r>
            <a:r>
              <a:rPr kumimoji="0" lang="zh-CN" altLang="en-US" sz="2800" smtClean="0"/>
              <a:t>，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/>
              <a:t> </a:t>
            </a:r>
            <a:r>
              <a:rPr kumimoji="0" lang="en-US" altLang="zh-CN" sz="2800" smtClean="0"/>
              <a:t>              </a:t>
            </a:r>
            <a:r>
              <a:rPr kumimoji="0" lang="zh-CN" altLang="en-US" sz="2800" smtClean="0"/>
              <a:t>若        </a:t>
            </a:r>
            <a:r>
              <a:rPr kumimoji="0" lang="zh-CN" altLang="en-US" sz="2800"/>
              <a:t>， </a:t>
            </a:r>
            <a:r>
              <a:rPr kumimoji="0" lang="zh-CN" altLang="en-US" sz="2800" smtClean="0"/>
              <a:t>刚好构成一个基，</a:t>
            </a:r>
            <a:r>
              <a:rPr kumimoji="0" lang="en-US" altLang="zh-CN" sz="2400" smtClean="0"/>
              <a:t>X</a:t>
            </a:r>
            <a:r>
              <a:rPr kumimoji="0" lang="zh-CN" altLang="en-US" sz="2800" smtClean="0"/>
              <a:t>就是相应的基可行解；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/>
              <a:t> </a:t>
            </a:r>
            <a:r>
              <a:rPr kumimoji="0" lang="en-US" altLang="zh-CN" sz="2800" smtClean="0"/>
              <a:t>              </a:t>
            </a:r>
            <a:r>
              <a:rPr kumimoji="0" lang="zh-CN" altLang="en-US" sz="2800" smtClean="0"/>
              <a:t>若        ，则当</a:t>
            </a:r>
            <a:r>
              <a:rPr kumimoji="0" lang="en-US" altLang="zh-CN" sz="2400" smtClean="0"/>
              <a:t>A</a:t>
            </a:r>
            <a:r>
              <a:rPr kumimoji="0" lang="zh-CN" altLang="en-US" sz="2400" smtClean="0"/>
              <a:t>秩为</a:t>
            </a:r>
            <a:r>
              <a:rPr kumimoji="0" lang="en-US" altLang="zh-CN" sz="2400" smtClean="0"/>
              <a:t>m</a:t>
            </a:r>
            <a:r>
              <a:rPr kumimoji="0" lang="zh-CN" altLang="en-US" sz="2800" smtClean="0"/>
              <a:t>时，一定可以从</a:t>
            </a:r>
            <a:r>
              <a:rPr kumimoji="0" lang="en-US" altLang="zh-CN"/>
              <a:t>A</a:t>
            </a:r>
            <a:r>
              <a:rPr kumimoji="0" lang="zh-CN" altLang="en-US" sz="2800"/>
              <a:t>的剩余系数列向量中</a:t>
            </a:r>
            <a:r>
              <a:rPr kumimoji="0" lang="zh-CN" altLang="en-US" sz="2800" smtClean="0"/>
              <a:t>找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/>
              <a:t> </a:t>
            </a:r>
            <a:r>
              <a:rPr kumimoji="0" lang="en-US" altLang="zh-CN" sz="2800" smtClean="0"/>
              <a:t>                              </a:t>
            </a:r>
            <a:r>
              <a:rPr kumimoji="0" lang="zh-CN" altLang="en-US" sz="2800" smtClean="0"/>
              <a:t>到</a:t>
            </a:r>
            <a:r>
              <a:rPr kumimoji="0" lang="en-US" altLang="zh-CN"/>
              <a:t>m-k</a:t>
            </a:r>
            <a:r>
              <a:rPr kumimoji="0" lang="zh-CN" altLang="en-US" sz="2800"/>
              <a:t>个</a:t>
            </a:r>
            <a:r>
              <a:rPr kumimoji="0" lang="zh-CN" altLang="en-US" sz="2800" smtClean="0"/>
              <a:t>线性无关</a:t>
            </a:r>
            <a:r>
              <a:rPr kumimoji="0" lang="zh-CN" altLang="en-US" sz="2800"/>
              <a:t>的列与                构成最大</a:t>
            </a:r>
            <a:r>
              <a:rPr kumimoji="0" lang="zh-CN" altLang="en-US" sz="2800" smtClean="0"/>
              <a:t>线性无关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/>
              <a:t> </a:t>
            </a:r>
            <a:r>
              <a:rPr kumimoji="0" lang="en-US" altLang="zh-CN" sz="2800" smtClean="0"/>
              <a:t>                              </a:t>
            </a:r>
            <a:r>
              <a:rPr kumimoji="0" lang="zh-CN" altLang="en-US" sz="2800" smtClean="0"/>
              <a:t>向量组</a:t>
            </a:r>
            <a:r>
              <a:rPr kumimoji="0" lang="zh-CN" altLang="en-US" sz="2800"/>
              <a:t>，构成线性规划问题的一个基，其</a:t>
            </a:r>
            <a:r>
              <a:rPr kumimoji="0" lang="zh-CN" altLang="en-US" sz="2800" smtClean="0"/>
              <a:t>对应的基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/>
              <a:t> </a:t>
            </a:r>
            <a:r>
              <a:rPr kumimoji="0" lang="en-US" altLang="zh-CN" sz="2800" smtClean="0"/>
              <a:t>                              </a:t>
            </a:r>
            <a:r>
              <a:rPr kumimoji="0" lang="zh-CN" altLang="en-US" sz="2800" smtClean="0"/>
              <a:t>可行解</a:t>
            </a:r>
            <a:r>
              <a:rPr kumimoji="0" lang="zh-CN" altLang="en-US" sz="2800"/>
              <a:t>恰为     。</a:t>
            </a:r>
            <a:r>
              <a:rPr kumimoji="0" lang="zh-CN" altLang="en-US" sz="3200"/>
              <a:t>  </a:t>
            </a:r>
          </a:p>
          <a:p>
            <a:pPr algn="r" eaLnBrk="1" hangingPunct="1">
              <a:spcBef>
                <a:spcPct val="20000"/>
              </a:spcBef>
            </a:pPr>
            <a:r>
              <a:rPr kumimoji="0" lang="zh-CN" altLang="en-US" sz="3200"/>
              <a:t> </a:t>
            </a:r>
          </a:p>
        </p:txBody>
      </p:sp>
      <p:sp>
        <p:nvSpPr>
          <p:cNvPr id="28685" name="Rectangle 4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86" name="Rectangle 5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87" name="Rectangle 6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88" name="Rectangle 7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89" name="Rectangle 8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0" name="Rectangle 9"/>
          <p:cNvSpPr>
            <a:spLocks noChangeArrowheads="1"/>
          </p:cNvSpPr>
          <p:nvPr/>
        </p:nvSpPr>
        <p:spPr bwMode="auto">
          <a:xfrm>
            <a:off x="6003635" y="31130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1" name="Rectangle 10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2" name="Rectangle 11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3" name="Rectangle 12"/>
          <p:cNvSpPr>
            <a:spLocks noChangeArrowheads="1"/>
          </p:cNvSpPr>
          <p:nvPr/>
        </p:nvSpPr>
        <p:spPr bwMode="auto">
          <a:xfrm>
            <a:off x="6003635" y="30003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867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71758805"/>
              </p:ext>
            </p:extLst>
          </p:nvPr>
        </p:nvGraphicFramePr>
        <p:xfrm>
          <a:off x="5087938" y="1500187"/>
          <a:ext cx="1944688" cy="325437"/>
        </p:xfrm>
        <a:graphic>
          <a:graphicData uri="http://schemas.openxmlformats.org/presentationml/2006/ole">
            <p:oleObj spid="_x0000_s37896" name="公式" r:id="rId3" imgW="1117600" imgH="228600" progId="Equation.3">
              <p:embed/>
            </p:oleObj>
          </a:graphicData>
        </a:graphic>
      </p:graphicFrame>
      <p:graphicFrame>
        <p:nvGraphicFramePr>
          <p:cNvPr id="2867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629846807"/>
              </p:ext>
            </p:extLst>
          </p:nvPr>
        </p:nvGraphicFramePr>
        <p:xfrm>
          <a:off x="11005116" y="1519236"/>
          <a:ext cx="287337" cy="287338"/>
        </p:xfrm>
        <a:graphic>
          <a:graphicData uri="http://schemas.openxmlformats.org/presentationml/2006/ole">
            <p:oleObj spid="_x0000_s37895" name="公式" r:id="rId4" imgW="164885" imgH="164885" progId="Equation.3">
              <p:embed/>
            </p:oleObj>
          </a:graphicData>
        </a:graphic>
      </p:graphicFrame>
      <p:sp>
        <p:nvSpPr>
          <p:cNvPr id="28694" name="Rectangle 15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36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730572067"/>
              </p:ext>
            </p:extLst>
          </p:nvPr>
        </p:nvGraphicFramePr>
        <p:xfrm>
          <a:off x="7338219" y="3453070"/>
          <a:ext cx="1368425" cy="423863"/>
        </p:xfrm>
        <a:graphic>
          <a:graphicData uri="http://schemas.openxmlformats.org/presentationml/2006/ole">
            <p:oleObj spid="_x0000_s37894" name="公式" r:id="rId5" imgW="647700" imgH="228600" progId="Equation.3">
              <p:embed/>
            </p:oleObj>
          </a:graphicData>
        </a:graphic>
      </p:graphicFrame>
      <p:sp>
        <p:nvSpPr>
          <p:cNvPr id="28695" name="Rectangle 17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36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259114267"/>
              </p:ext>
            </p:extLst>
          </p:nvPr>
        </p:nvGraphicFramePr>
        <p:xfrm>
          <a:off x="2826886" y="3538568"/>
          <a:ext cx="287337" cy="287338"/>
        </p:xfrm>
        <a:graphic>
          <a:graphicData uri="http://schemas.openxmlformats.org/presentationml/2006/ole">
            <p:oleObj spid="_x0000_s37893" name="公式" r:id="rId6" imgW="164885" imgH="164885" progId="Equation.3">
              <p:embed/>
            </p:oleObj>
          </a:graphicData>
        </a:graphic>
      </p:graphicFrame>
      <p:sp>
        <p:nvSpPr>
          <p:cNvPr id="28696" name="Rectangle 19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362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221427637"/>
              </p:ext>
            </p:extLst>
          </p:nvPr>
        </p:nvGraphicFramePr>
        <p:xfrm>
          <a:off x="2684010" y="4037889"/>
          <a:ext cx="611187" cy="320675"/>
        </p:xfrm>
        <a:graphic>
          <a:graphicData uri="http://schemas.openxmlformats.org/presentationml/2006/ole">
            <p:oleObj spid="_x0000_s37892" name="公式" r:id="rId7" imgW="393359" imgH="177646" progId="Equation.3">
              <p:embed/>
            </p:oleObj>
          </a:graphicData>
        </a:graphic>
      </p:graphicFrame>
      <p:graphicFrame>
        <p:nvGraphicFramePr>
          <p:cNvPr id="1536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234219220"/>
              </p:ext>
            </p:extLst>
          </p:nvPr>
        </p:nvGraphicFramePr>
        <p:xfrm>
          <a:off x="7319963" y="4994558"/>
          <a:ext cx="1368425" cy="376238"/>
        </p:xfrm>
        <a:graphic>
          <a:graphicData uri="http://schemas.openxmlformats.org/presentationml/2006/ole">
            <p:oleObj spid="_x0000_s37891" name="公式" r:id="rId8" imgW="647700" imgH="228600" progId="Equation.3">
              <p:embed/>
            </p:oleObj>
          </a:graphicData>
        </a:graphic>
      </p:graphicFrame>
      <p:sp>
        <p:nvSpPr>
          <p:cNvPr id="28697" name="Rectangle 22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362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056801370"/>
              </p:ext>
            </p:extLst>
          </p:nvPr>
        </p:nvGraphicFramePr>
        <p:xfrm>
          <a:off x="2648971" y="4531690"/>
          <a:ext cx="649288" cy="322262"/>
        </p:xfrm>
        <a:graphic>
          <a:graphicData uri="http://schemas.openxmlformats.org/presentationml/2006/ole">
            <p:oleObj spid="_x0000_s37890" name="公式" r:id="rId9" imgW="393359" imgH="177646" progId="Equation.3">
              <p:embed/>
            </p:oleObj>
          </a:graphicData>
        </a:graphic>
      </p:graphicFrame>
      <p:sp>
        <p:nvSpPr>
          <p:cNvPr id="28698" name="Rectangle 24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9" name="Rectangle 26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36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315188177"/>
              </p:ext>
            </p:extLst>
          </p:nvPr>
        </p:nvGraphicFramePr>
        <p:xfrm>
          <a:off x="5537655" y="6167665"/>
          <a:ext cx="250825" cy="250825"/>
        </p:xfrm>
        <a:graphic>
          <a:graphicData uri="http://schemas.openxmlformats.org/presentationml/2006/ole">
            <p:oleObj spid="_x0000_s37889" name="公式" r:id="rId10" imgW="164885" imgH="164885" progId="Equation.3">
              <p:embed/>
            </p:oleObj>
          </a:graphicData>
        </a:graphic>
      </p:graphicFrame>
      <p:sp>
        <p:nvSpPr>
          <p:cNvPr id="29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374491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基本定理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24643096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3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3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3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3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3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3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3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53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Rectangle 3"/>
          <p:cNvSpPr>
            <a:spLocks noChangeArrowheads="1"/>
          </p:cNvSpPr>
          <p:nvPr/>
        </p:nvSpPr>
        <p:spPr bwMode="auto">
          <a:xfrm>
            <a:off x="842625" y="1367404"/>
            <a:ext cx="11030061" cy="5490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2800">
                <a:solidFill>
                  <a:srgbClr val="CC0000"/>
                </a:solidFill>
              </a:rPr>
              <a:t>引理</a:t>
            </a:r>
            <a:r>
              <a:rPr kumimoji="0" lang="en-US" altLang="zh-CN" sz="2800">
                <a:solidFill>
                  <a:srgbClr val="CC0000"/>
                </a:solidFill>
              </a:rPr>
              <a:t>1</a:t>
            </a:r>
            <a:r>
              <a:rPr kumimoji="0" lang="zh-CN" altLang="en-US" sz="2800"/>
              <a:t>：线性规划的</a:t>
            </a:r>
            <a:r>
              <a:rPr kumimoji="0" lang="zh-CN" altLang="en-US" sz="2800" smtClean="0"/>
              <a:t>可行解                       是</a:t>
            </a:r>
            <a:r>
              <a:rPr kumimoji="0" lang="zh-CN" altLang="en-US" sz="2800"/>
              <a:t>基可行解的充要条件是    </a:t>
            </a:r>
            <a:r>
              <a:rPr kumimoji="0" lang="zh-CN" altLang="en-US" sz="2800" smtClean="0"/>
              <a:t>的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/>
              <a:t> </a:t>
            </a:r>
            <a:r>
              <a:rPr kumimoji="0" lang="en-US" altLang="zh-CN" sz="2800" smtClean="0"/>
              <a:t>            </a:t>
            </a:r>
            <a:r>
              <a:rPr kumimoji="0" lang="zh-CN" altLang="en-US" sz="2800" smtClean="0"/>
              <a:t>正</a:t>
            </a:r>
            <a:r>
              <a:rPr kumimoji="0" lang="zh-CN" altLang="en-US" sz="2800"/>
              <a:t>分量所</a:t>
            </a:r>
            <a:r>
              <a:rPr kumimoji="0" lang="zh-CN" altLang="en-US" sz="2800" smtClean="0"/>
              <a:t>对应</a:t>
            </a:r>
            <a:r>
              <a:rPr kumimoji="0" lang="zh-CN" altLang="en-US" sz="2800"/>
              <a:t>的系数列向量线性独立。</a:t>
            </a:r>
          </a:p>
          <a:p>
            <a:pPr algn="r" eaLnBrk="1" hangingPunct="1">
              <a:spcBef>
                <a:spcPct val="20000"/>
              </a:spcBef>
            </a:pPr>
            <a:r>
              <a:rPr kumimoji="0" lang="zh-CN" altLang="en-US" sz="3200" smtClean="0"/>
              <a:t> </a:t>
            </a:r>
            <a:endParaRPr kumimoji="0" lang="zh-CN" altLang="en-US" sz="3200"/>
          </a:p>
        </p:txBody>
      </p:sp>
      <p:sp>
        <p:nvSpPr>
          <p:cNvPr id="28685" name="Rectangle 4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86" name="Rectangle 5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87" name="Rectangle 6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88" name="Rectangle 7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89" name="Rectangle 8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0" name="Rectangle 9"/>
          <p:cNvSpPr>
            <a:spLocks noChangeArrowheads="1"/>
          </p:cNvSpPr>
          <p:nvPr/>
        </p:nvSpPr>
        <p:spPr bwMode="auto">
          <a:xfrm>
            <a:off x="6003635" y="31130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1" name="Rectangle 10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2" name="Rectangle 11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3" name="Rectangle 12"/>
          <p:cNvSpPr>
            <a:spLocks noChangeArrowheads="1"/>
          </p:cNvSpPr>
          <p:nvPr/>
        </p:nvSpPr>
        <p:spPr bwMode="auto">
          <a:xfrm>
            <a:off x="6003635" y="30003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8674" name="Object 13"/>
          <p:cNvGraphicFramePr>
            <a:graphicFrameLocks noChangeAspect="1"/>
          </p:cNvGraphicFramePr>
          <p:nvPr/>
        </p:nvGraphicFramePr>
        <p:xfrm>
          <a:off x="5087938" y="1500187"/>
          <a:ext cx="1944688" cy="325437"/>
        </p:xfrm>
        <a:graphic>
          <a:graphicData uri="http://schemas.openxmlformats.org/presentationml/2006/ole">
            <p:oleObj spid="_x0000_s38916" name="公式" r:id="rId3" imgW="1117600" imgH="228600" progId="Equation.3">
              <p:embed/>
            </p:oleObj>
          </a:graphicData>
        </a:graphic>
      </p:graphicFrame>
      <p:graphicFrame>
        <p:nvGraphicFramePr>
          <p:cNvPr id="28675" name="Object 14"/>
          <p:cNvGraphicFramePr>
            <a:graphicFrameLocks noChangeAspect="1"/>
          </p:cNvGraphicFramePr>
          <p:nvPr/>
        </p:nvGraphicFramePr>
        <p:xfrm>
          <a:off x="11005116" y="1519236"/>
          <a:ext cx="287337" cy="287338"/>
        </p:xfrm>
        <a:graphic>
          <a:graphicData uri="http://schemas.openxmlformats.org/presentationml/2006/ole">
            <p:oleObj spid="_x0000_s38915" name="公式" r:id="rId4" imgW="164885" imgH="164885" progId="Equation.3">
              <p:embed/>
            </p:oleObj>
          </a:graphicData>
        </a:graphic>
      </p:graphicFrame>
      <p:sp>
        <p:nvSpPr>
          <p:cNvPr id="28694" name="Rectangle 15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5" name="Rectangle 17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6" name="Rectangle 19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7" name="Rectangle 22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8" name="Rectangle 24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8699" name="Rectangle 26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9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374491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基本定理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Rectangle 28"/>
          <p:cNvSpPr>
            <a:spLocks noChangeArrowheads="1"/>
          </p:cNvSpPr>
          <p:nvPr/>
        </p:nvSpPr>
        <p:spPr bwMode="auto">
          <a:xfrm>
            <a:off x="838200" y="3089275"/>
            <a:ext cx="110871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kumimoji="0" lang="zh-CN" altLang="en-US" sz="2800">
                <a:solidFill>
                  <a:srgbClr val="0066FF"/>
                </a:solidFill>
              </a:rPr>
              <a:t>若线性规划的</a:t>
            </a:r>
            <a:r>
              <a:rPr kumimoji="0" lang="zh-CN" altLang="en-US" sz="2800" smtClean="0">
                <a:solidFill>
                  <a:srgbClr val="0066FF"/>
                </a:solidFill>
              </a:rPr>
              <a:t>可行解                        不是</a:t>
            </a:r>
            <a:r>
              <a:rPr kumimoji="0" lang="zh-CN" altLang="en-US" sz="2800">
                <a:solidFill>
                  <a:srgbClr val="0066FF"/>
                </a:solidFill>
              </a:rPr>
              <a:t>基可行解，   的正分量所对应的系数</a:t>
            </a:r>
            <a:r>
              <a:rPr kumimoji="0" lang="zh-CN" altLang="en-US" sz="2800" smtClean="0">
                <a:solidFill>
                  <a:srgbClr val="0066FF"/>
                </a:solidFill>
              </a:rPr>
              <a:t>列向量</a:t>
            </a:r>
            <a:r>
              <a:rPr kumimoji="0" lang="zh-CN" altLang="en-US" sz="2800">
                <a:solidFill>
                  <a:srgbClr val="0066FF"/>
                </a:solidFill>
              </a:rPr>
              <a:t>线性相关</a:t>
            </a:r>
            <a:r>
              <a:rPr kumimoji="0" lang="zh-CN" altLang="en-US" sz="2800" smtClean="0">
                <a:solidFill>
                  <a:srgbClr val="0066FF"/>
                </a:solidFill>
              </a:rPr>
              <a:t>。</a:t>
            </a:r>
            <a:r>
              <a:rPr kumimoji="0" lang="zh-CN" altLang="en-US" sz="3200" smtClean="0"/>
              <a:t> </a:t>
            </a:r>
            <a:endParaRPr kumimoji="0" lang="zh-CN" altLang="en-US" sz="3200"/>
          </a:p>
        </p:txBody>
      </p:sp>
      <p:graphicFrame>
        <p:nvGraphicFramePr>
          <p:cNvPr id="2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791059065"/>
              </p:ext>
            </p:extLst>
          </p:nvPr>
        </p:nvGraphicFramePr>
        <p:xfrm>
          <a:off x="4152899" y="3214689"/>
          <a:ext cx="2143897" cy="358774"/>
        </p:xfrm>
        <a:graphic>
          <a:graphicData uri="http://schemas.openxmlformats.org/presentationml/2006/ole">
            <p:oleObj spid="_x0000_s38914" name="公式" r:id="rId5" imgW="1117600" imgH="228600" progId="Equation.3">
              <p:embed/>
            </p:oleObj>
          </a:graphicData>
        </a:graphic>
      </p:graphicFrame>
      <p:graphicFrame>
        <p:nvGraphicFramePr>
          <p:cNvPr id="3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311075372"/>
              </p:ext>
            </p:extLst>
          </p:nvPr>
        </p:nvGraphicFramePr>
        <p:xfrm>
          <a:off x="8609012" y="3214688"/>
          <a:ext cx="287338" cy="287338"/>
        </p:xfrm>
        <a:graphic>
          <a:graphicData uri="http://schemas.openxmlformats.org/presentationml/2006/ole">
            <p:oleObj spid="_x0000_s38913" name="公式" r:id="rId6" imgW="164885" imgH="164885" progId="Equation.3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194816406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1" name="Rectangle 3"/>
          <p:cNvSpPr>
            <a:spLocks noChangeArrowheads="1"/>
          </p:cNvSpPr>
          <p:nvPr/>
        </p:nvSpPr>
        <p:spPr bwMode="auto">
          <a:xfrm>
            <a:off x="728662" y="1479550"/>
            <a:ext cx="10834688" cy="3710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2800">
                <a:solidFill>
                  <a:srgbClr val="CC0000"/>
                </a:solidFill>
              </a:rPr>
              <a:t>定理</a:t>
            </a:r>
            <a:r>
              <a:rPr kumimoji="0" lang="en-US" altLang="zh-CN" sz="2800">
                <a:solidFill>
                  <a:srgbClr val="CC0000"/>
                </a:solidFill>
              </a:rPr>
              <a:t>2</a:t>
            </a:r>
            <a:r>
              <a:rPr kumimoji="0" lang="zh-CN" altLang="en-US" sz="2800">
                <a:solidFill>
                  <a:srgbClr val="CC0000"/>
                </a:solidFill>
              </a:rPr>
              <a:t>：</a:t>
            </a:r>
            <a:r>
              <a:rPr kumimoji="0" lang="zh-CN" altLang="en-US" sz="2800"/>
              <a:t>   线性规划问题的基可行解    </a:t>
            </a:r>
            <a:r>
              <a:rPr kumimoji="0" lang="zh-CN" altLang="en-US" sz="2800" smtClean="0"/>
              <a:t>对应线性规划</a:t>
            </a:r>
            <a:r>
              <a:rPr kumimoji="0" lang="zh-CN" altLang="en-US" sz="2800"/>
              <a:t>问题的</a:t>
            </a:r>
            <a:r>
              <a:rPr kumimoji="0" lang="zh-CN" altLang="en-US" sz="2800" smtClean="0"/>
              <a:t>可行域  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/>
              <a:t> </a:t>
            </a:r>
            <a:r>
              <a:rPr kumimoji="0" lang="en-US" altLang="zh-CN" sz="2800" smtClean="0"/>
              <a:t>              </a:t>
            </a:r>
            <a:r>
              <a:rPr kumimoji="0" lang="zh-CN" altLang="en-US" sz="2800" smtClean="0"/>
              <a:t>（</a:t>
            </a:r>
            <a:r>
              <a:rPr kumimoji="0" lang="zh-CN" altLang="en-US" sz="2800"/>
              <a:t>凸集）顶点</a:t>
            </a:r>
            <a:r>
              <a:rPr kumimoji="0" lang="zh-CN" altLang="en-US" sz="2800" smtClean="0"/>
              <a:t>。</a:t>
            </a:r>
            <a:r>
              <a:rPr kumimoji="0" lang="en-US" altLang="zh-CN" sz="2400"/>
              <a:t>X</a:t>
            </a:r>
            <a:r>
              <a:rPr kumimoji="0" lang="zh-CN" altLang="en-US" sz="2400"/>
              <a:t>是基</a:t>
            </a:r>
            <a:r>
              <a:rPr kumimoji="0" lang="zh-CN" altLang="en-US" sz="2400" smtClean="0"/>
              <a:t>可行解       </a:t>
            </a:r>
            <a:r>
              <a:rPr kumimoji="0" lang="en-US" altLang="zh-CN" sz="2400" smtClean="0"/>
              <a:t>X</a:t>
            </a:r>
            <a:r>
              <a:rPr kumimoji="0" lang="zh-CN" altLang="en-US" sz="2400" smtClean="0"/>
              <a:t>是可行域的顶点       </a:t>
            </a:r>
            <a:endParaRPr kumimoji="0" lang="en-US" altLang="zh-CN" sz="24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 b="1" smtClean="0">
                <a:solidFill>
                  <a:srgbClr val="00B050"/>
                </a:solidFill>
              </a:rPr>
              <a:t>证明</a:t>
            </a:r>
            <a:r>
              <a:rPr kumimoji="0" lang="zh-CN" altLang="en-US" sz="2800" b="1">
                <a:solidFill>
                  <a:srgbClr val="00B050"/>
                </a:solidFill>
              </a:rPr>
              <a:t>：采用</a:t>
            </a:r>
            <a:r>
              <a:rPr kumimoji="0" lang="zh-CN" altLang="en-US" sz="2800" b="1" smtClean="0">
                <a:solidFill>
                  <a:srgbClr val="00B050"/>
                </a:solidFill>
              </a:rPr>
              <a:t>反证法       </a:t>
            </a:r>
            <a:r>
              <a:rPr kumimoji="0" lang="en-US" altLang="zh-CN" sz="2400" smtClean="0">
                <a:solidFill>
                  <a:srgbClr val="92D050"/>
                </a:solidFill>
              </a:rPr>
              <a:t>X</a:t>
            </a:r>
            <a:r>
              <a:rPr kumimoji="0" lang="zh-CN" altLang="en-US" sz="2400" smtClean="0">
                <a:solidFill>
                  <a:srgbClr val="92D050"/>
                </a:solidFill>
              </a:rPr>
              <a:t>不是</a:t>
            </a:r>
            <a:r>
              <a:rPr kumimoji="0" lang="zh-CN" altLang="en-US" sz="2400">
                <a:solidFill>
                  <a:srgbClr val="92D050"/>
                </a:solidFill>
              </a:rPr>
              <a:t>基</a:t>
            </a:r>
            <a:r>
              <a:rPr kumimoji="0" lang="zh-CN" altLang="en-US" sz="2400" smtClean="0">
                <a:solidFill>
                  <a:srgbClr val="92D050"/>
                </a:solidFill>
              </a:rPr>
              <a:t>可行解         </a:t>
            </a:r>
            <a:r>
              <a:rPr kumimoji="0" lang="en-US" altLang="zh-CN" sz="2400" smtClean="0">
                <a:solidFill>
                  <a:srgbClr val="92D050"/>
                </a:solidFill>
              </a:rPr>
              <a:t>X</a:t>
            </a:r>
            <a:r>
              <a:rPr kumimoji="0" lang="zh-CN" altLang="en-US" sz="2400" smtClean="0">
                <a:solidFill>
                  <a:srgbClr val="92D050"/>
                </a:solidFill>
              </a:rPr>
              <a:t>不是</a:t>
            </a:r>
            <a:r>
              <a:rPr kumimoji="0" lang="zh-CN" altLang="en-US" sz="2400">
                <a:solidFill>
                  <a:srgbClr val="92D050"/>
                </a:solidFill>
              </a:rPr>
              <a:t>可行域的顶点 </a:t>
            </a:r>
            <a:endParaRPr kumimoji="0" lang="zh-CN" altLang="en-US" sz="2400" b="1">
              <a:solidFill>
                <a:srgbClr val="92D050"/>
              </a:solidFill>
            </a:endParaRP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 smtClean="0"/>
              <a:t>不</a:t>
            </a:r>
            <a:r>
              <a:rPr kumimoji="0" lang="zh-CN" altLang="en-US" sz="2800"/>
              <a:t>失一般性，假设可行解    前</a:t>
            </a:r>
            <a:r>
              <a:rPr kumimoji="0" lang="en-US" altLang="zh-CN" sz="2800"/>
              <a:t>k</a:t>
            </a:r>
            <a:r>
              <a:rPr kumimoji="0" lang="zh-CN" altLang="en-US" sz="2800"/>
              <a:t>个分量</a:t>
            </a:r>
            <a:r>
              <a:rPr kumimoji="0" lang="zh-CN" altLang="en-US" sz="2800" smtClean="0"/>
              <a:t>为正</a:t>
            </a:r>
            <a:r>
              <a:rPr kumimoji="0" lang="zh-CN" altLang="en-US" sz="2800"/>
              <a:t>，                故                  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 smtClean="0">
                <a:solidFill>
                  <a:srgbClr val="00B050"/>
                </a:solidFill>
              </a:rPr>
              <a:t>必要性</a:t>
            </a:r>
            <a:r>
              <a:rPr kumimoji="0" lang="zh-CN" altLang="en-US" sz="2800">
                <a:solidFill>
                  <a:srgbClr val="00B050"/>
                </a:solidFill>
              </a:rPr>
              <a:t>：</a:t>
            </a:r>
            <a:r>
              <a:rPr kumimoji="0" lang="zh-CN" altLang="en-US" b="1">
                <a:ea typeface="宋体" pitchFamily="2" charset="-122"/>
              </a:rPr>
              <a:t> </a:t>
            </a:r>
            <a:r>
              <a:rPr kumimoji="0" lang="zh-CN" altLang="en-US" sz="2800" smtClean="0"/>
              <a:t>设    </a:t>
            </a:r>
            <a:r>
              <a:rPr kumimoji="0" lang="zh-CN" altLang="en-US" sz="2800"/>
              <a:t>是可行域的顶点，若   </a:t>
            </a:r>
            <a:r>
              <a:rPr kumimoji="0" lang="zh-CN" altLang="en-US" sz="2800" smtClean="0"/>
              <a:t> 不是</a:t>
            </a:r>
            <a:r>
              <a:rPr kumimoji="0" lang="zh-CN" altLang="en-US" sz="2800"/>
              <a:t>基</a:t>
            </a:r>
            <a:r>
              <a:rPr kumimoji="0" lang="zh-CN" altLang="en-US" sz="2800" smtClean="0"/>
              <a:t>可行解，则</a:t>
            </a:r>
            <a:r>
              <a:rPr kumimoji="0" lang="zh-CN" altLang="en-US" sz="2800"/>
              <a:t>根据引理</a:t>
            </a:r>
            <a:r>
              <a:rPr kumimoji="0" lang="en-US" altLang="zh-CN" sz="2800"/>
              <a:t>1</a:t>
            </a:r>
            <a:r>
              <a:rPr kumimoji="0" lang="zh-CN" altLang="en-US" sz="2800" smtClean="0"/>
              <a:t>， </a:t>
            </a:r>
            <a:endParaRPr kumimoji="0" lang="en-US" altLang="zh-CN" sz="2800" smtClean="0"/>
          </a:p>
          <a:p>
            <a:pPr marL="0" indent="0" algn="l" eaLnBrk="1" hangingPunct="1">
              <a:spcBef>
                <a:spcPct val="20000"/>
              </a:spcBef>
            </a:pPr>
            <a:r>
              <a:rPr kumimoji="0" lang="zh-CN" altLang="en-US" sz="2800" smtClean="0"/>
              <a:t>其</a:t>
            </a:r>
            <a:r>
              <a:rPr kumimoji="0" lang="zh-CN" altLang="en-US" sz="2800"/>
              <a:t>正分量对应的系数</a:t>
            </a:r>
            <a:r>
              <a:rPr kumimoji="0" lang="zh-CN" altLang="en-US" sz="2800" smtClean="0"/>
              <a:t>列向量线性相关</a:t>
            </a:r>
            <a:r>
              <a:rPr kumimoji="0" lang="zh-CN" altLang="en-US" sz="2800"/>
              <a:t>，即存在一组不全为</a:t>
            </a:r>
            <a:r>
              <a:rPr kumimoji="0" lang="en-US" altLang="zh-CN" sz="2800"/>
              <a:t>0</a:t>
            </a:r>
            <a:r>
              <a:rPr kumimoji="0" lang="zh-CN" altLang="en-US" sz="2800"/>
              <a:t>的数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                   </a:t>
            </a:r>
            <a:r>
              <a:rPr kumimoji="0" lang="zh-CN" altLang="en-US" sz="2800" smtClean="0"/>
              <a:t>，</a:t>
            </a:r>
            <a:r>
              <a:rPr kumimoji="0" lang="zh-CN" altLang="en-US" sz="2800"/>
              <a:t>使得</a:t>
            </a:r>
            <a:r>
              <a:rPr kumimoji="0" lang="zh-CN" altLang="en-US" sz="2800" smtClean="0"/>
              <a:t>：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b="1" smtClean="0">
                <a:ea typeface="宋体" pitchFamily="2" charset="-122"/>
              </a:rPr>
              <a:t>                                                          </a:t>
            </a:r>
            <a:endParaRPr kumimoji="0" lang="zh-CN" altLang="en-US" b="1">
              <a:ea typeface="宋体" pitchFamily="2" charset="-122"/>
            </a:endParaRPr>
          </a:p>
          <a:p>
            <a:pPr algn="r" eaLnBrk="1" hangingPunct="1">
              <a:spcBef>
                <a:spcPct val="20000"/>
              </a:spcBef>
            </a:pPr>
            <a:r>
              <a:rPr kumimoji="0" lang="en-US" altLang="zh-CN" sz="2800" smtClean="0"/>
              <a:t> </a:t>
            </a:r>
            <a:endParaRPr kumimoji="0" lang="en-US" altLang="zh-CN" sz="2800"/>
          </a:p>
        </p:txBody>
      </p:sp>
      <p:sp>
        <p:nvSpPr>
          <p:cNvPr id="32780" name="Rectangle 4"/>
          <p:cNvSpPr>
            <a:spLocks noChangeArrowheads="1"/>
          </p:cNvSpPr>
          <p:nvPr/>
        </p:nvSpPr>
        <p:spPr bwMode="auto">
          <a:xfrm>
            <a:off x="2688935" y="4329083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2781" name="Rectangle 5"/>
          <p:cNvSpPr>
            <a:spLocks noChangeArrowheads="1"/>
          </p:cNvSpPr>
          <p:nvPr/>
        </p:nvSpPr>
        <p:spPr bwMode="auto">
          <a:xfrm>
            <a:off x="2688935" y="4333845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2782" name="Rectangle 6"/>
          <p:cNvSpPr>
            <a:spLocks noChangeArrowheads="1"/>
          </p:cNvSpPr>
          <p:nvPr/>
        </p:nvSpPr>
        <p:spPr bwMode="auto">
          <a:xfrm>
            <a:off x="2688935" y="4329083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2783" name="Rectangle 7"/>
          <p:cNvSpPr>
            <a:spLocks noChangeArrowheads="1"/>
          </p:cNvSpPr>
          <p:nvPr/>
        </p:nvSpPr>
        <p:spPr bwMode="auto">
          <a:xfrm>
            <a:off x="2688935" y="4367183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2784" name="Rectangle 8"/>
          <p:cNvSpPr>
            <a:spLocks noChangeArrowheads="1"/>
          </p:cNvSpPr>
          <p:nvPr/>
        </p:nvSpPr>
        <p:spPr bwMode="auto">
          <a:xfrm>
            <a:off x="2688935" y="4329083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2785" name="Rectangle 9"/>
          <p:cNvSpPr>
            <a:spLocks noChangeArrowheads="1"/>
          </p:cNvSpPr>
          <p:nvPr/>
        </p:nvSpPr>
        <p:spPr bwMode="auto">
          <a:xfrm>
            <a:off x="2688935" y="4332258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2786" name="Rectangle 10"/>
          <p:cNvSpPr>
            <a:spLocks noChangeArrowheads="1"/>
          </p:cNvSpPr>
          <p:nvPr/>
        </p:nvSpPr>
        <p:spPr bwMode="auto">
          <a:xfrm>
            <a:off x="2688935" y="4357658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2787" name="Rectangle 11"/>
          <p:cNvSpPr>
            <a:spLocks noChangeArrowheads="1"/>
          </p:cNvSpPr>
          <p:nvPr/>
        </p:nvSpPr>
        <p:spPr bwMode="auto">
          <a:xfrm>
            <a:off x="2688935" y="4357658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2788" name="Rectangle 12"/>
          <p:cNvSpPr>
            <a:spLocks noChangeArrowheads="1"/>
          </p:cNvSpPr>
          <p:nvPr/>
        </p:nvSpPr>
        <p:spPr bwMode="auto">
          <a:xfrm>
            <a:off x="2688935" y="4219545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3277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286931464"/>
              </p:ext>
            </p:extLst>
          </p:nvPr>
        </p:nvGraphicFramePr>
        <p:xfrm>
          <a:off x="6248400" y="1612900"/>
          <a:ext cx="278783" cy="287337"/>
        </p:xfrm>
        <a:graphic>
          <a:graphicData uri="http://schemas.openxmlformats.org/presentationml/2006/ole">
            <p:oleObj spid="_x0000_s39947" name="公式" r:id="rId3" imgW="164885" imgH="164885" progId="Equation.3">
              <p:embed/>
            </p:oleObj>
          </a:graphicData>
        </a:graphic>
      </p:graphicFrame>
      <p:sp>
        <p:nvSpPr>
          <p:cNvPr id="32789" name="Rectangle 14"/>
          <p:cNvSpPr>
            <a:spLocks noChangeArrowheads="1"/>
          </p:cNvSpPr>
          <p:nvPr/>
        </p:nvSpPr>
        <p:spPr bwMode="auto">
          <a:xfrm>
            <a:off x="2688935" y="4367183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324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571523729"/>
              </p:ext>
            </p:extLst>
          </p:nvPr>
        </p:nvGraphicFramePr>
        <p:xfrm>
          <a:off x="4797426" y="3135314"/>
          <a:ext cx="256091" cy="250825"/>
        </p:xfrm>
        <a:graphic>
          <a:graphicData uri="http://schemas.openxmlformats.org/presentationml/2006/ole">
            <p:oleObj spid="_x0000_s39946" name="公式" r:id="rId4" imgW="164885" imgH="164885" progId="Equation.3">
              <p:embed/>
            </p:oleObj>
          </a:graphicData>
        </a:graphic>
      </p:graphicFrame>
      <p:sp>
        <p:nvSpPr>
          <p:cNvPr id="32790" name="Rectangle 16"/>
          <p:cNvSpPr>
            <a:spLocks noChangeArrowheads="1"/>
          </p:cNvSpPr>
          <p:nvPr/>
        </p:nvSpPr>
        <p:spPr bwMode="auto">
          <a:xfrm>
            <a:off x="2688935" y="4224308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324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115785624"/>
              </p:ext>
            </p:extLst>
          </p:nvPr>
        </p:nvGraphicFramePr>
        <p:xfrm>
          <a:off x="9525389" y="2899032"/>
          <a:ext cx="2037962" cy="768783"/>
        </p:xfrm>
        <a:graphic>
          <a:graphicData uri="http://schemas.openxmlformats.org/presentationml/2006/ole">
            <p:oleObj spid="_x0000_s39945" name="公式" r:id="rId5" imgW="748975" imgH="444307" progId="Equation.3">
              <p:embed/>
            </p:oleObj>
          </a:graphicData>
        </a:graphic>
      </p:graphicFrame>
      <p:sp>
        <p:nvSpPr>
          <p:cNvPr id="32791" name="Rectangle 18"/>
          <p:cNvSpPr>
            <a:spLocks noChangeArrowheads="1"/>
          </p:cNvSpPr>
          <p:nvPr/>
        </p:nvSpPr>
        <p:spPr bwMode="auto">
          <a:xfrm>
            <a:off x="2688935" y="4333845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324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421041877"/>
              </p:ext>
            </p:extLst>
          </p:nvPr>
        </p:nvGraphicFramePr>
        <p:xfrm>
          <a:off x="7592027" y="3054235"/>
          <a:ext cx="1530254" cy="388260"/>
        </p:xfrm>
        <a:graphic>
          <a:graphicData uri="http://schemas.openxmlformats.org/presentationml/2006/ole">
            <p:oleObj spid="_x0000_s39944" name="公式" r:id="rId6" imgW="787400" imgH="228600" progId="Equation.3">
              <p:embed/>
            </p:oleObj>
          </a:graphicData>
        </a:graphic>
      </p:graphicFrame>
      <p:sp>
        <p:nvSpPr>
          <p:cNvPr id="32792" name="Rectangle 20"/>
          <p:cNvSpPr>
            <a:spLocks noChangeArrowheads="1"/>
          </p:cNvSpPr>
          <p:nvPr/>
        </p:nvSpPr>
        <p:spPr bwMode="auto">
          <a:xfrm>
            <a:off x="3731923" y="3871883"/>
            <a:ext cx="1886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2324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977036177"/>
              </p:ext>
            </p:extLst>
          </p:nvPr>
        </p:nvGraphicFramePr>
        <p:xfrm>
          <a:off x="934273" y="4578000"/>
          <a:ext cx="1580307" cy="417512"/>
        </p:xfrm>
        <a:graphic>
          <a:graphicData uri="http://schemas.openxmlformats.org/presentationml/2006/ole">
            <p:oleObj spid="_x0000_s39943" name="公式" r:id="rId7" imgW="914400" imgH="228600" progId="Equation.3">
              <p:embed/>
            </p:oleObj>
          </a:graphicData>
        </a:graphic>
      </p:graphicFrame>
      <p:graphicFrame>
        <p:nvGraphicFramePr>
          <p:cNvPr id="2324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836248539"/>
              </p:ext>
            </p:extLst>
          </p:nvPr>
        </p:nvGraphicFramePr>
        <p:xfrm>
          <a:off x="3920532" y="4484718"/>
          <a:ext cx="3848178" cy="565150"/>
        </p:xfrm>
        <a:graphic>
          <a:graphicData uri="http://schemas.openxmlformats.org/presentationml/2006/ole">
            <p:oleObj spid="_x0000_s39942" name="公式" r:id="rId8" imgW="1752600" imgH="228600" progId="Equation.3">
              <p:embed/>
            </p:oleObj>
          </a:graphicData>
        </a:graphic>
      </p:graphicFrame>
      <p:graphicFrame>
        <p:nvGraphicFramePr>
          <p:cNvPr id="23247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059314837"/>
              </p:ext>
            </p:extLst>
          </p:nvPr>
        </p:nvGraphicFramePr>
        <p:xfrm>
          <a:off x="2671036" y="3692909"/>
          <a:ext cx="330649" cy="242887"/>
        </p:xfrm>
        <a:graphic>
          <a:graphicData uri="http://schemas.openxmlformats.org/presentationml/2006/ole">
            <p:oleObj spid="_x0000_s39941" name="公式" r:id="rId9" imgW="164885" imgH="164885" progId="Equation.3">
              <p:embed/>
            </p:oleObj>
          </a:graphicData>
        </a:graphic>
      </p:graphicFrame>
      <p:graphicFrame>
        <p:nvGraphicFramePr>
          <p:cNvPr id="2324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294685544"/>
              </p:ext>
            </p:extLst>
          </p:nvPr>
        </p:nvGraphicFramePr>
        <p:xfrm>
          <a:off x="6288156" y="3667815"/>
          <a:ext cx="278783" cy="273049"/>
        </p:xfrm>
        <a:graphic>
          <a:graphicData uri="http://schemas.openxmlformats.org/presentationml/2006/ole">
            <p:oleObj spid="_x0000_s39940" name="公式" r:id="rId10" imgW="164885" imgH="164885" progId="Equation.3">
              <p:embed/>
            </p:oleObj>
          </a:graphicData>
        </a:graphic>
      </p:graphicFrame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374491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基本定理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36157" y="4470458"/>
            <a:ext cx="827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/>
              <a:t> </a:t>
            </a:r>
            <a:r>
              <a:rPr lang="en-US" altLang="zh-CN" sz="2400">
                <a:solidFill>
                  <a:srgbClr val="0000FF"/>
                </a:solidFill>
              </a:rPr>
              <a:t>(</a:t>
            </a:r>
            <a:r>
              <a:rPr lang="en-US" altLang="zh-CN" sz="2400" smtClean="0">
                <a:solidFill>
                  <a:srgbClr val="0000FF"/>
                </a:solidFill>
              </a:rPr>
              <a:t>1.7)</a:t>
            </a:r>
            <a:endParaRPr lang="zh-CN" altLang="en-US" sz="2400"/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704850" y="5075268"/>
            <a:ext cx="11025188" cy="1674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2800" smtClean="0"/>
              <a:t>用一个非常小的正数    乘（</a:t>
            </a:r>
            <a:r>
              <a:rPr kumimoji="0" lang="en-US" altLang="zh-CN" sz="2400" smtClean="0"/>
              <a:t>1.7</a:t>
            </a:r>
            <a:r>
              <a:rPr kumimoji="0" lang="zh-CN" altLang="en-US" sz="2400" smtClean="0"/>
              <a:t>）</a:t>
            </a:r>
            <a:r>
              <a:rPr kumimoji="0" lang="zh-CN" altLang="en-US" sz="2800" smtClean="0"/>
              <a:t>再分别与（</a:t>
            </a:r>
            <a:r>
              <a:rPr kumimoji="0" lang="en-US" altLang="zh-CN" sz="2400" smtClean="0"/>
              <a:t>1.6</a:t>
            </a:r>
            <a:r>
              <a:rPr kumimoji="0" lang="zh-CN" altLang="en-US" sz="2400" smtClean="0"/>
              <a:t>）</a:t>
            </a:r>
            <a:r>
              <a:rPr kumimoji="0" lang="zh-CN" altLang="en-US" sz="2800" smtClean="0"/>
              <a:t>相加减，这样得到：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 smtClean="0"/>
              <a:t>                                                         </a:t>
            </a:r>
            <a:r>
              <a:rPr kumimoji="0" lang="zh-CN" altLang="en-US" sz="2800" smtClean="0"/>
              <a:t>令</a:t>
            </a:r>
            <a:r>
              <a:rPr kumimoji="0" lang="zh-CN" altLang="en-US" sz="2800"/>
              <a:t>：</a:t>
            </a:r>
          </a:p>
          <a:p>
            <a:pPr algn="l" eaLnBrk="1" hangingPunct="1">
              <a:spcBef>
                <a:spcPct val="20000"/>
              </a:spcBef>
            </a:pPr>
            <a:endParaRPr kumimoji="0" lang="zh-CN" altLang="en-US" sz="2800"/>
          </a:p>
        </p:txBody>
      </p:sp>
      <p:graphicFrame>
        <p:nvGraphicFramePr>
          <p:cNvPr id="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587468467"/>
              </p:ext>
            </p:extLst>
          </p:nvPr>
        </p:nvGraphicFramePr>
        <p:xfrm>
          <a:off x="171817" y="5652292"/>
          <a:ext cx="5637348" cy="815544"/>
        </p:xfrm>
        <a:graphic>
          <a:graphicData uri="http://schemas.openxmlformats.org/presentationml/2006/ole">
            <p:oleObj spid="_x0000_s39939" name="公式" r:id="rId11" imgW="3162300" imgH="457200" progId="Equation.3">
              <p:embed/>
            </p:oleObj>
          </a:graphicData>
        </a:graphic>
      </p:graphicFrame>
      <p:graphicFrame>
        <p:nvGraphicFramePr>
          <p:cNvPr id="62" name="Object 3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="" xmlns:p15="http://schemas.microsoft.com/office/powerpoint/2012/main" xmlns:p14="http://schemas.microsoft.com/office/powerpoint/2010/main" val="567858969"/>
              </p:ext>
            </p:extLst>
          </p:nvPr>
        </p:nvGraphicFramePr>
        <p:xfrm>
          <a:off x="4043362" y="5179526"/>
          <a:ext cx="431799" cy="367231"/>
        </p:xfrm>
        <a:graphic>
          <a:graphicData uri="http://schemas.openxmlformats.org/presentationml/2006/ole">
            <p:oleObj spid="_x0000_s39938" name="公式" r:id="rId12" imgW="139579" imgH="177646" progId="Equation.3">
              <p:embed/>
            </p:oleObj>
          </a:graphicData>
        </a:graphic>
      </p:graphicFrame>
      <p:sp>
        <p:nvSpPr>
          <p:cNvPr id="64" name="矩形 63"/>
          <p:cNvSpPr/>
          <p:nvPr/>
        </p:nvSpPr>
        <p:spPr>
          <a:xfrm>
            <a:off x="11371876" y="3052590"/>
            <a:ext cx="827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/>
              <a:t> </a:t>
            </a:r>
            <a:r>
              <a:rPr lang="en-US" altLang="zh-CN" sz="2400">
                <a:solidFill>
                  <a:srgbClr val="0000FF"/>
                </a:solidFill>
              </a:rPr>
              <a:t>(</a:t>
            </a:r>
            <a:r>
              <a:rPr lang="en-US" altLang="zh-CN" sz="2400" smtClean="0">
                <a:solidFill>
                  <a:srgbClr val="0000FF"/>
                </a:solidFill>
              </a:rPr>
              <a:t>1.6)</a:t>
            </a:r>
            <a:endParaRPr lang="zh-CN" altLang="en-US" sz="2400"/>
          </a:p>
        </p:txBody>
      </p:sp>
      <p:graphicFrame>
        <p:nvGraphicFramePr>
          <p:cNvPr id="6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987202799"/>
              </p:ext>
            </p:extLst>
          </p:nvPr>
        </p:nvGraphicFramePr>
        <p:xfrm>
          <a:off x="6450011" y="5736221"/>
          <a:ext cx="5616575" cy="823913"/>
        </p:xfrm>
        <a:graphic>
          <a:graphicData uri="http://schemas.openxmlformats.org/presentationml/2006/ole">
            <p:oleObj spid="_x0000_s39937" name="公式" r:id="rId13" imgW="3111500" imgH="482600" progId="Equation.3">
              <p:embed/>
            </p:oleObj>
          </a:graphicData>
        </a:graphic>
      </p:graphicFrame>
      <p:cxnSp>
        <p:nvCxnSpPr>
          <p:cNvPr id="4" name="直接箭头连接符 3"/>
          <p:cNvCxnSpPr/>
          <p:nvPr/>
        </p:nvCxnSpPr>
        <p:spPr>
          <a:xfrm>
            <a:off x="6387790" y="2266122"/>
            <a:ext cx="450574" cy="0"/>
          </a:xfrm>
          <a:prstGeom prst="straightConnector1">
            <a:avLst/>
          </a:prstGeom>
          <a:ln cmpd="dbl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6490563" y="2766511"/>
            <a:ext cx="450574" cy="0"/>
          </a:xfrm>
          <a:prstGeom prst="straightConnector1">
            <a:avLst/>
          </a:prstGeom>
          <a:ln cmpd="dbl"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5="http://schemas.microsoft.com/office/powerpoint/2012/main" xmlns:p14="http://schemas.microsoft.com/office/powerpoint/2010/main" val="382940679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2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2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2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2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  <p:cond evt="onBegin" delay="0">
                          <p:tn val="26"/>
                        </p:cond>
                      </p:stCondLst>
                      <p:childTnLst>
                        <p:par>
                          <p:cTn id="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2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  <p:cond evt="onBegin" delay="0">
                          <p:tn val="33"/>
                        </p:cond>
                      </p:stCondLst>
                      <p:childTnLst>
                        <p:par>
                          <p:cTn id="3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2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  <p:cond evt="onBegin" delay="0">
                          <p:tn val="40"/>
                        </p:cond>
                      </p:stCondLst>
                      <p:childTnLst>
                        <p:par>
                          <p:cTn id="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2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  <p:cond evt="onBegin" delay="0">
                          <p:tn val="47"/>
                        </p:cond>
                      </p:stCondLst>
                      <p:childTnLst>
                        <p:par>
                          <p:cTn id="4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2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  <p:cond evt="onBegin" delay="0">
                          <p:tn val="56"/>
                        </p:cond>
                      </p:stCondLst>
                      <p:childTnLst>
                        <p:par>
                          <p:cTn id="5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  <p:cond evt="onBegin" delay="0">
                          <p:tn val="67"/>
                        </p:cond>
                      </p:stCondLst>
                      <p:childTnLst>
                        <p:par>
                          <p:cTn id="6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  <p:cond evt="onBegin" delay="0">
                          <p:tn val="74"/>
                        </p:cond>
                      </p:stCondLst>
                      <p:childTnLst>
                        <p:par>
                          <p:cTn id="7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  <p:cond evt="onBegin" delay="0">
                          <p:tn val="81"/>
                        </p:cond>
                      </p:stCondLst>
                      <p:childTnLst>
                        <p:par>
                          <p:cTn id="8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838200" y="1384300"/>
            <a:ext cx="10706100" cy="560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2800" smtClean="0"/>
              <a:t>因为   </a:t>
            </a:r>
            <a:r>
              <a:rPr kumimoji="0" lang="zh-CN" altLang="en-US" sz="2800"/>
              <a:t>是一个非常小的正数，因此可以</a:t>
            </a:r>
            <a:r>
              <a:rPr kumimoji="0" lang="zh-CN" altLang="en-US" sz="2800" smtClean="0"/>
              <a:t>保证                            </a:t>
            </a:r>
            <a:r>
              <a:rPr kumimoji="0" lang="zh-CN" altLang="en-US" sz="2800"/>
              <a:t>，即      和       是</a:t>
            </a:r>
            <a:r>
              <a:rPr kumimoji="0" lang="zh-CN" altLang="en-US" sz="2800" smtClean="0"/>
              <a:t>可行解</a:t>
            </a:r>
            <a:r>
              <a:rPr kumimoji="0" lang="zh-CN" altLang="en-US" sz="2800"/>
              <a:t>。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由    和    </a:t>
            </a:r>
            <a:r>
              <a:rPr kumimoji="0" lang="zh-CN" altLang="en-US" sz="2800" smtClean="0"/>
              <a:t> 可以</a:t>
            </a:r>
            <a:r>
              <a:rPr kumimoji="0" lang="zh-CN" altLang="en-US" sz="2800"/>
              <a:t>得到，即                         是     和    </a:t>
            </a:r>
            <a:r>
              <a:rPr kumimoji="0" lang="zh-CN" altLang="en-US" sz="2800" smtClean="0"/>
              <a:t>  连</a:t>
            </a:r>
            <a:r>
              <a:rPr kumimoji="0" lang="zh-CN" altLang="en-US" sz="2800"/>
              <a:t>线的中点，即   不是可行域</a:t>
            </a:r>
            <a:r>
              <a:rPr kumimoji="0" lang="zh-CN" altLang="en-US" sz="2800" smtClean="0"/>
              <a:t>的顶点</a:t>
            </a:r>
            <a:r>
              <a:rPr kumimoji="0" lang="zh-CN" altLang="en-US" sz="2800"/>
              <a:t>。</a:t>
            </a:r>
          </a:p>
        </p:txBody>
      </p:sp>
      <p:sp>
        <p:nvSpPr>
          <p:cNvPr id="33809" name="Rectangle 4"/>
          <p:cNvSpPr>
            <a:spLocks noChangeArrowheads="1"/>
          </p:cNvSpPr>
          <p:nvPr/>
        </p:nvSpPr>
        <p:spPr bwMode="auto">
          <a:xfrm>
            <a:off x="2798471" y="42338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10" name="Rectangle 5"/>
          <p:cNvSpPr>
            <a:spLocks noChangeArrowheads="1"/>
          </p:cNvSpPr>
          <p:nvPr/>
        </p:nvSpPr>
        <p:spPr bwMode="auto">
          <a:xfrm>
            <a:off x="2798471" y="42385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11" name="Rectangle 6"/>
          <p:cNvSpPr>
            <a:spLocks noChangeArrowheads="1"/>
          </p:cNvSpPr>
          <p:nvPr/>
        </p:nvSpPr>
        <p:spPr bwMode="auto">
          <a:xfrm>
            <a:off x="2798471" y="42338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12" name="Rectangle 7"/>
          <p:cNvSpPr>
            <a:spLocks noChangeArrowheads="1"/>
          </p:cNvSpPr>
          <p:nvPr/>
        </p:nvSpPr>
        <p:spPr bwMode="auto">
          <a:xfrm>
            <a:off x="2798471" y="42719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13" name="Rectangle 8"/>
          <p:cNvSpPr>
            <a:spLocks noChangeArrowheads="1"/>
          </p:cNvSpPr>
          <p:nvPr/>
        </p:nvSpPr>
        <p:spPr bwMode="auto">
          <a:xfrm>
            <a:off x="2798471" y="42338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14" name="Rectangle 9"/>
          <p:cNvSpPr>
            <a:spLocks noChangeArrowheads="1"/>
          </p:cNvSpPr>
          <p:nvPr/>
        </p:nvSpPr>
        <p:spPr bwMode="auto">
          <a:xfrm>
            <a:off x="2798471" y="42370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15" name="Rectangle 10"/>
          <p:cNvSpPr>
            <a:spLocks noChangeArrowheads="1"/>
          </p:cNvSpPr>
          <p:nvPr/>
        </p:nvSpPr>
        <p:spPr bwMode="auto">
          <a:xfrm>
            <a:off x="2798471" y="42624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16" name="Rectangle 11"/>
          <p:cNvSpPr>
            <a:spLocks noChangeArrowheads="1"/>
          </p:cNvSpPr>
          <p:nvPr/>
        </p:nvSpPr>
        <p:spPr bwMode="auto">
          <a:xfrm>
            <a:off x="2798471" y="42624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17" name="Rectangle 12"/>
          <p:cNvSpPr>
            <a:spLocks noChangeArrowheads="1"/>
          </p:cNvSpPr>
          <p:nvPr/>
        </p:nvSpPr>
        <p:spPr bwMode="auto">
          <a:xfrm>
            <a:off x="2798471" y="41242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18" name="Rectangle 15"/>
          <p:cNvSpPr>
            <a:spLocks noChangeArrowheads="1"/>
          </p:cNvSpPr>
          <p:nvPr/>
        </p:nvSpPr>
        <p:spPr bwMode="auto">
          <a:xfrm>
            <a:off x="2798471" y="42624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56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775635837"/>
              </p:ext>
            </p:extLst>
          </p:nvPr>
        </p:nvGraphicFramePr>
        <p:xfrm>
          <a:off x="1618454" y="1448639"/>
          <a:ext cx="468450" cy="340519"/>
        </p:xfrm>
        <a:graphic>
          <a:graphicData uri="http://schemas.openxmlformats.org/presentationml/2006/ole">
            <p:oleObj spid="_x0000_s40982" name="公式" r:id="rId4" imgW="139579" imgH="177646" progId="Equation.3">
              <p:embed/>
            </p:oleObj>
          </a:graphicData>
        </a:graphic>
      </p:graphicFrame>
      <p:sp>
        <p:nvSpPr>
          <p:cNvPr id="33819" name="Rectangle 17"/>
          <p:cNvSpPr>
            <a:spLocks noChangeArrowheads="1"/>
          </p:cNvSpPr>
          <p:nvPr/>
        </p:nvSpPr>
        <p:spPr bwMode="auto">
          <a:xfrm>
            <a:off x="2798471" y="42385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56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625293780"/>
              </p:ext>
            </p:extLst>
          </p:nvPr>
        </p:nvGraphicFramePr>
        <p:xfrm>
          <a:off x="7593012" y="1429589"/>
          <a:ext cx="2447925" cy="431800"/>
        </p:xfrm>
        <a:graphic>
          <a:graphicData uri="http://schemas.openxmlformats.org/presentationml/2006/ole">
            <p:oleObj spid="_x0000_s40981" name="公式" r:id="rId5" imgW="1498600" imgH="228600" progId="Equation.3">
              <p:embed/>
            </p:oleObj>
          </a:graphicData>
        </a:graphic>
      </p:graphicFrame>
      <p:sp>
        <p:nvSpPr>
          <p:cNvPr id="33820" name="Rectangle 19"/>
          <p:cNvSpPr>
            <a:spLocks noChangeArrowheads="1"/>
          </p:cNvSpPr>
          <p:nvPr/>
        </p:nvSpPr>
        <p:spPr bwMode="auto">
          <a:xfrm>
            <a:off x="2798471" y="4257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566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906100553"/>
              </p:ext>
            </p:extLst>
          </p:nvPr>
        </p:nvGraphicFramePr>
        <p:xfrm>
          <a:off x="946150" y="1898719"/>
          <a:ext cx="601688" cy="323849"/>
        </p:xfrm>
        <a:graphic>
          <a:graphicData uri="http://schemas.openxmlformats.org/presentationml/2006/ole">
            <p:oleObj spid="_x0000_s40980" name="公式" r:id="rId6" imgW="266469" imgH="190335" progId="Equation.3">
              <p:embed/>
            </p:oleObj>
          </a:graphicData>
        </a:graphic>
      </p:graphicFrame>
      <p:sp>
        <p:nvSpPr>
          <p:cNvPr id="33821" name="Rectangle 21"/>
          <p:cNvSpPr>
            <a:spLocks noChangeArrowheads="1"/>
          </p:cNvSpPr>
          <p:nvPr/>
        </p:nvSpPr>
        <p:spPr bwMode="auto">
          <a:xfrm>
            <a:off x="2798471" y="4257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56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049566179"/>
              </p:ext>
            </p:extLst>
          </p:nvPr>
        </p:nvGraphicFramePr>
        <p:xfrm>
          <a:off x="1958975" y="1898719"/>
          <a:ext cx="539750" cy="347663"/>
        </p:xfrm>
        <a:graphic>
          <a:graphicData uri="http://schemas.openxmlformats.org/presentationml/2006/ole">
            <p:oleObj spid="_x0000_s40979" name="公式" r:id="rId7" imgW="291973" imgH="190417" progId="Equation.3">
              <p:embed/>
            </p:oleObj>
          </a:graphicData>
        </a:graphic>
      </p:graphicFrame>
      <p:sp>
        <p:nvSpPr>
          <p:cNvPr id="33822" name="Rectangle 23"/>
          <p:cNvSpPr>
            <a:spLocks noChangeArrowheads="1"/>
          </p:cNvSpPr>
          <p:nvPr/>
        </p:nvSpPr>
        <p:spPr bwMode="auto">
          <a:xfrm>
            <a:off x="2798471" y="4257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56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823793367"/>
              </p:ext>
            </p:extLst>
          </p:nvPr>
        </p:nvGraphicFramePr>
        <p:xfrm>
          <a:off x="1204181" y="2398644"/>
          <a:ext cx="467457" cy="335126"/>
        </p:xfrm>
        <a:graphic>
          <a:graphicData uri="http://schemas.openxmlformats.org/presentationml/2006/ole">
            <p:oleObj spid="_x0000_s40978" name="公式" r:id="rId8" imgW="266469" imgH="190335" progId="Equation.3">
              <p:embed/>
            </p:oleObj>
          </a:graphicData>
        </a:graphic>
      </p:graphicFrame>
      <p:sp>
        <p:nvSpPr>
          <p:cNvPr id="33823" name="Rectangle 25"/>
          <p:cNvSpPr>
            <a:spLocks noChangeArrowheads="1"/>
          </p:cNvSpPr>
          <p:nvPr/>
        </p:nvSpPr>
        <p:spPr bwMode="auto">
          <a:xfrm>
            <a:off x="2798471" y="4257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567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698491205"/>
              </p:ext>
            </p:extLst>
          </p:nvPr>
        </p:nvGraphicFramePr>
        <p:xfrm>
          <a:off x="1958975" y="2376580"/>
          <a:ext cx="539750" cy="349250"/>
        </p:xfrm>
        <a:graphic>
          <a:graphicData uri="http://schemas.openxmlformats.org/presentationml/2006/ole">
            <p:oleObj spid="_x0000_s40977" name="公式" r:id="rId9" imgW="291973" imgH="190417" progId="Equation.3">
              <p:embed/>
            </p:oleObj>
          </a:graphicData>
        </a:graphic>
      </p:graphicFrame>
      <p:sp>
        <p:nvSpPr>
          <p:cNvPr id="33824" name="Rectangle 27"/>
          <p:cNvSpPr>
            <a:spLocks noChangeArrowheads="1"/>
          </p:cNvSpPr>
          <p:nvPr/>
        </p:nvSpPr>
        <p:spPr bwMode="auto">
          <a:xfrm>
            <a:off x="2798471" y="41576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567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254043574"/>
              </p:ext>
            </p:extLst>
          </p:nvPr>
        </p:nvGraphicFramePr>
        <p:xfrm>
          <a:off x="4583114" y="2322520"/>
          <a:ext cx="2089150" cy="571500"/>
        </p:xfrm>
        <a:graphic>
          <a:graphicData uri="http://schemas.openxmlformats.org/presentationml/2006/ole">
            <p:oleObj spid="_x0000_s40976" name="公式" r:id="rId10" imgW="1193800" imgH="393700" progId="Equation.3">
              <p:embed/>
            </p:oleObj>
          </a:graphicData>
        </a:graphic>
      </p:graphicFrame>
      <p:sp>
        <p:nvSpPr>
          <p:cNvPr id="33825" name="Rectangle 29"/>
          <p:cNvSpPr>
            <a:spLocks noChangeArrowheads="1"/>
          </p:cNvSpPr>
          <p:nvPr/>
        </p:nvSpPr>
        <p:spPr bwMode="auto">
          <a:xfrm>
            <a:off x="2798471" y="42719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3826" name="Rectangle 31"/>
          <p:cNvSpPr>
            <a:spLocks noChangeArrowheads="1"/>
          </p:cNvSpPr>
          <p:nvPr/>
        </p:nvSpPr>
        <p:spPr bwMode="auto">
          <a:xfrm>
            <a:off x="2798471" y="4257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568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271891256"/>
              </p:ext>
            </p:extLst>
          </p:nvPr>
        </p:nvGraphicFramePr>
        <p:xfrm>
          <a:off x="7107031" y="2381251"/>
          <a:ext cx="498682" cy="356488"/>
        </p:xfrm>
        <a:graphic>
          <a:graphicData uri="http://schemas.openxmlformats.org/presentationml/2006/ole">
            <p:oleObj spid="_x0000_s40975" name="公式" r:id="rId11" imgW="266469" imgH="190335" progId="Equation.3">
              <p:embed/>
            </p:oleObj>
          </a:graphicData>
        </a:graphic>
      </p:graphicFrame>
      <p:sp>
        <p:nvSpPr>
          <p:cNvPr id="33827" name="Rectangle 33"/>
          <p:cNvSpPr>
            <a:spLocks noChangeArrowheads="1"/>
          </p:cNvSpPr>
          <p:nvPr/>
        </p:nvSpPr>
        <p:spPr bwMode="auto">
          <a:xfrm>
            <a:off x="2798471" y="4257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568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115637812"/>
              </p:ext>
            </p:extLst>
          </p:nvPr>
        </p:nvGraphicFramePr>
        <p:xfrm>
          <a:off x="7921625" y="2376580"/>
          <a:ext cx="546283" cy="353220"/>
        </p:xfrm>
        <a:graphic>
          <a:graphicData uri="http://schemas.openxmlformats.org/presentationml/2006/ole">
            <p:oleObj spid="_x0000_s40974" name="公式" r:id="rId12" imgW="291973" imgH="190417" progId="Equation.3">
              <p:embed/>
            </p:oleObj>
          </a:graphicData>
        </a:graphic>
      </p:graphicFrame>
      <p:graphicFrame>
        <p:nvGraphicFramePr>
          <p:cNvPr id="15568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691280618"/>
              </p:ext>
            </p:extLst>
          </p:nvPr>
        </p:nvGraphicFramePr>
        <p:xfrm>
          <a:off x="1054099" y="2876666"/>
          <a:ext cx="431801" cy="323852"/>
        </p:xfrm>
        <a:graphic>
          <a:graphicData uri="http://schemas.openxmlformats.org/presentationml/2006/ole">
            <p:oleObj spid="_x0000_s40973" name="公式" r:id="rId13" imgW="164885" imgH="164885" progId="Equation.3">
              <p:embed/>
            </p:oleObj>
          </a:graphicData>
        </a:graphic>
      </p:graphicFrame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374491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基本定理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Rectangle 3"/>
          <p:cNvSpPr>
            <a:spLocks noChangeArrowheads="1"/>
          </p:cNvSpPr>
          <p:nvPr/>
        </p:nvSpPr>
        <p:spPr bwMode="auto">
          <a:xfrm>
            <a:off x="842964" y="3308350"/>
            <a:ext cx="10606086" cy="3449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kumimoji="0" lang="zh-CN" altLang="en-US" sz="2800">
                <a:solidFill>
                  <a:srgbClr val="00B050"/>
                </a:solidFill>
              </a:rPr>
              <a:t>充分性：</a:t>
            </a:r>
            <a:r>
              <a:rPr kumimoji="0" lang="zh-CN" altLang="en-US" sz="2800"/>
              <a:t>若</a:t>
            </a:r>
            <a:r>
              <a:rPr kumimoji="0" lang="en-US" altLang="zh-CN" sz="2400"/>
              <a:t>X</a:t>
            </a:r>
            <a:r>
              <a:rPr kumimoji="0" lang="zh-CN" altLang="en-US" sz="2800"/>
              <a:t>不是可行域</a:t>
            </a:r>
            <a:r>
              <a:rPr kumimoji="0" lang="en-US" altLang="zh-CN" sz="2400"/>
              <a:t>D</a:t>
            </a:r>
            <a:r>
              <a:rPr kumimoji="0" lang="zh-CN" altLang="en-US" sz="2800"/>
              <a:t>的顶点</a:t>
            </a:r>
            <a:r>
              <a:rPr kumimoji="0" lang="zh-CN" altLang="en-US" sz="2800" smtClean="0"/>
              <a:t>，则</a:t>
            </a:r>
            <a:r>
              <a:rPr kumimoji="0" lang="zh-CN" altLang="en-US" sz="2800"/>
              <a:t>存在                     </a:t>
            </a:r>
            <a:r>
              <a:rPr kumimoji="0" lang="zh-CN" altLang="en-US" sz="2800" smtClean="0"/>
              <a:t>，且            及              ， </a:t>
            </a:r>
            <a:r>
              <a:rPr kumimoji="0" lang="zh-CN" altLang="en-US" sz="2800"/>
              <a:t>有：</a:t>
            </a:r>
            <a:r>
              <a:rPr kumimoji="0" lang="zh-CN" altLang="en-US" sz="2800">
                <a:latin typeface="隶书" pitchFamily="49" charset="-122"/>
              </a:rPr>
              <a:t>              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于是，对                         </a:t>
            </a:r>
            <a:r>
              <a:rPr kumimoji="0" lang="zh-CN" altLang="en-US" sz="2800" smtClean="0"/>
              <a:t>  若                                       则</a:t>
            </a:r>
            <a:endParaRPr kumimoji="0" lang="zh-CN" altLang="en-US" sz="280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另外</a:t>
            </a:r>
            <a:r>
              <a:rPr kumimoji="0" lang="zh-CN" altLang="en-US" sz="2800" smtClean="0"/>
              <a:t>：                                             ，则</a:t>
            </a:r>
            <a:endParaRPr kumimoji="0" lang="zh-CN" altLang="en-US" sz="2800"/>
          </a:p>
          <a:p>
            <a:pPr algn="l" eaLnBrk="1" hangingPunct="1">
              <a:spcBef>
                <a:spcPct val="20000"/>
              </a:spcBef>
            </a:pPr>
            <a:endParaRPr kumimoji="0" lang="zh-CN" altLang="en-US" sz="280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因            ，所以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故                   </a:t>
            </a:r>
            <a:r>
              <a:rPr kumimoji="0" lang="zh-CN" altLang="en-US" sz="2800" smtClean="0"/>
              <a:t>   线性相关</a:t>
            </a:r>
            <a:r>
              <a:rPr kumimoji="0" lang="zh-CN" altLang="en-US" sz="2800"/>
              <a:t>，即</a:t>
            </a:r>
            <a:r>
              <a:rPr kumimoji="0" lang="en-US" altLang="zh-CN" sz="2800"/>
              <a:t>X</a:t>
            </a:r>
            <a:r>
              <a:rPr kumimoji="0" lang="zh-CN" altLang="en-US" sz="2800"/>
              <a:t>不是基</a:t>
            </a:r>
            <a:r>
              <a:rPr kumimoji="0" lang="zh-CN" altLang="en-US" sz="2800" smtClean="0"/>
              <a:t>可行解。</a:t>
            </a:r>
          </a:p>
          <a:p>
            <a:pPr algn="r" eaLnBrk="1" hangingPunct="1">
              <a:spcBef>
                <a:spcPct val="20000"/>
              </a:spcBef>
            </a:pPr>
            <a:r>
              <a:rPr kumimoji="0" lang="zh-CN" altLang="en-US" sz="2800" smtClean="0">
                <a:latin typeface="隶书" pitchFamily="49" charset="-122"/>
              </a:rPr>
              <a:t> </a:t>
            </a:r>
            <a:endParaRPr kumimoji="0" lang="zh-CN" altLang="en-US" sz="2800">
              <a:latin typeface="隶书" pitchFamily="49" charset="-122"/>
            </a:endParaRPr>
          </a:p>
        </p:txBody>
      </p: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2898485" y="61007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1" name="Rectangle 5"/>
          <p:cNvSpPr>
            <a:spLocks noChangeArrowheads="1"/>
          </p:cNvSpPr>
          <p:nvPr/>
        </p:nvSpPr>
        <p:spPr bwMode="auto">
          <a:xfrm>
            <a:off x="2898485" y="6105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2" name="Rectangle 6"/>
          <p:cNvSpPr>
            <a:spLocks noChangeArrowheads="1"/>
          </p:cNvSpPr>
          <p:nvPr/>
        </p:nvSpPr>
        <p:spPr bwMode="auto">
          <a:xfrm>
            <a:off x="2898485" y="61007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3" name="Rectangle 7"/>
          <p:cNvSpPr>
            <a:spLocks noChangeArrowheads="1"/>
          </p:cNvSpPr>
          <p:nvPr/>
        </p:nvSpPr>
        <p:spPr bwMode="auto">
          <a:xfrm>
            <a:off x="2898485" y="61388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4" name="Rectangle 8"/>
          <p:cNvSpPr>
            <a:spLocks noChangeArrowheads="1"/>
          </p:cNvSpPr>
          <p:nvPr/>
        </p:nvSpPr>
        <p:spPr bwMode="auto">
          <a:xfrm>
            <a:off x="2898485" y="61007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2898485" y="61039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6" name="Rectangle 10"/>
          <p:cNvSpPr>
            <a:spLocks noChangeArrowheads="1"/>
          </p:cNvSpPr>
          <p:nvPr/>
        </p:nvSpPr>
        <p:spPr bwMode="auto">
          <a:xfrm>
            <a:off x="2898485" y="61293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7" name="Rectangle 11"/>
          <p:cNvSpPr>
            <a:spLocks noChangeArrowheads="1"/>
          </p:cNvSpPr>
          <p:nvPr/>
        </p:nvSpPr>
        <p:spPr bwMode="auto">
          <a:xfrm>
            <a:off x="2898485" y="61293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8" name="Rectangle 12"/>
          <p:cNvSpPr>
            <a:spLocks noChangeArrowheads="1"/>
          </p:cNvSpPr>
          <p:nvPr/>
        </p:nvSpPr>
        <p:spPr bwMode="auto">
          <a:xfrm>
            <a:off x="2898485" y="59911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9" name="Rectangle 13"/>
          <p:cNvSpPr>
            <a:spLocks noChangeArrowheads="1"/>
          </p:cNvSpPr>
          <p:nvPr/>
        </p:nvSpPr>
        <p:spPr bwMode="auto">
          <a:xfrm>
            <a:off x="2898485" y="6105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416325798"/>
              </p:ext>
            </p:extLst>
          </p:nvPr>
        </p:nvGraphicFramePr>
        <p:xfrm>
          <a:off x="1335088" y="6340429"/>
          <a:ext cx="1814512" cy="417513"/>
        </p:xfrm>
        <a:graphic>
          <a:graphicData uri="http://schemas.openxmlformats.org/presentationml/2006/ole">
            <p:oleObj spid="_x0000_s40972" name="公式" r:id="rId14" imgW="787400" imgH="228600" progId="Equation.3">
              <p:embed/>
            </p:oleObj>
          </a:graphicData>
        </a:graphic>
      </p:graphicFrame>
      <p:sp>
        <p:nvSpPr>
          <p:cNvPr id="51" name="Rectangle 15"/>
          <p:cNvSpPr>
            <a:spLocks noChangeArrowheads="1"/>
          </p:cNvSpPr>
          <p:nvPr/>
        </p:nvSpPr>
        <p:spPr bwMode="auto">
          <a:xfrm>
            <a:off x="2898485" y="6105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5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66397021"/>
              </p:ext>
            </p:extLst>
          </p:nvPr>
        </p:nvGraphicFramePr>
        <p:xfrm>
          <a:off x="7510463" y="3404489"/>
          <a:ext cx="1728787" cy="360362"/>
        </p:xfrm>
        <a:graphic>
          <a:graphicData uri="http://schemas.openxmlformats.org/presentationml/2006/ole">
            <p:oleObj spid="_x0000_s40971" name="公式" r:id="rId15" imgW="1117600" imgH="228600" progId="Equation.3">
              <p:embed/>
            </p:oleObj>
          </a:graphicData>
        </a:graphic>
      </p:graphicFrame>
      <p:sp>
        <p:nvSpPr>
          <p:cNvPr id="53" name="Rectangle 17"/>
          <p:cNvSpPr>
            <a:spLocks noChangeArrowheads="1"/>
          </p:cNvSpPr>
          <p:nvPr/>
        </p:nvSpPr>
        <p:spPr bwMode="auto">
          <a:xfrm>
            <a:off x="2898485" y="61245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55" name="Rectangle 19"/>
          <p:cNvSpPr>
            <a:spLocks noChangeArrowheads="1"/>
          </p:cNvSpPr>
          <p:nvPr/>
        </p:nvSpPr>
        <p:spPr bwMode="auto">
          <a:xfrm>
            <a:off x="2898485" y="61293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5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83639601"/>
              </p:ext>
            </p:extLst>
          </p:nvPr>
        </p:nvGraphicFramePr>
        <p:xfrm>
          <a:off x="1335088" y="3879920"/>
          <a:ext cx="1223962" cy="288925"/>
        </p:xfrm>
        <a:graphic>
          <a:graphicData uri="http://schemas.openxmlformats.org/presentationml/2006/ole">
            <p:oleObj spid="_x0000_s40970" name="公式" r:id="rId16" imgW="571004" imgH="177646" progId="Equation.3">
              <p:embed/>
            </p:oleObj>
          </a:graphicData>
        </a:graphic>
      </p:graphicFrame>
      <p:sp>
        <p:nvSpPr>
          <p:cNvPr id="57" name="Rectangle 21"/>
          <p:cNvSpPr>
            <a:spLocks noChangeArrowheads="1"/>
          </p:cNvSpPr>
          <p:nvPr/>
        </p:nvSpPr>
        <p:spPr bwMode="auto">
          <a:xfrm>
            <a:off x="2898485" y="6105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173614619"/>
              </p:ext>
            </p:extLst>
          </p:nvPr>
        </p:nvGraphicFramePr>
        <p:xfrm>
          <a:off x="3638550" y="3851276"/>
          <a:ext cx="2160587" cy="352425"/>
        </p:xfrm>
        <a:graphic>
          <a:graphicData uri="http://schemas.openxmlformats.org/presentationml/2006/ole">
            <p:oleObj spid="_x0000_s40969" name="公式" r:id="rId17" imgW="1397000" imgH="228600" progId="Equation.3">
              <p:embed/>
            </p:oleObj>
          </a:graphicData>
        </a:graphic>
      </p:graphicFrame>
      <p:sp>
        <p:nvSpPr>
          <p:cNvPr id="59" name="Rectangle 23"/>
          <p:cNvSpPr>
            <a:spLocks noChangeArrowheads="1"/>
          </p:cNvSpPr>
          <p:nvPr/>
        </p:nvSpPr>
        <p:spPr bwMode="auto">
          <a:xfrm>
            <a:off x="2898485" y="61197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908286343"/>
              </p:ext>
            </p:extLst>
          </p:nvPr>
        </p:nvGraphicFramePr>
        <p:xfrm>
          <a:off x="2422525" y="4322025"/>
          <a:ext cx="2087563" cy="431800"/>
        </p:xfrm>
        <a:graphic>
          <a:graphicData uri="http://schemas.openxmlformats.org/presentationml/2006/ole">
            <p:oleObj spid="_x0000_s40968" name="公式" r:id="rId18" imgW="1206500" imgH="203200" progId="Equation.3">
              <p:embed/>
            </p:oleObj>
          </a:graphicData>
        </a:graphic>
      </p:graphicFrame>
      <p:sp>
        <p:nvSpPr>
          <p:cNvPr id="61" name="Rectangle 25"/>
          <p:cNvSpPr>
            <a:spLocks noChangeArrowheads="1"/>
          </p:cNvSpPr>
          <p:nvPr/>
        </p:nvSpPr>
        <p:spPr bwMode="auto">
          <a:xfrm>
            <a:off x="2898485" y="60864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131974995"/>
              </p:ext>
            </p:extLst>
          </p:nvPr>
        </p:nvGraphicFramePr>
        <p:xfrm>
          <a:off x="5240520" y="4291807"/>
          <a:ext cx="3240087" cy="473075"/>
        </p:xfrm>
        <a:graphic>
          <a:graphicData uri="http://schemas.openxmlformats.org/presentationml/2006/ole">
            <p:oleObj spid="_x0000_s40967" name="公式" r:id="rId19" imgW="1726451" imgH="266584" progId="Equation.3">
              <p:embed/>
            </p:oleObj>
          </a:graphicData>
        </a:graphic>
      </p:graphicFrame>
      <p:sp>
        <p:nvSpPr>
          <p:cNvPr id="63" name="Rectangle 27"/>
          <p:cNvSpPr>
            <a:spLocks noChangeArrowheads="1"/>
          </p:cNvSpPr>
          <p:nvPr/>
        </p:nvSpPr>
        <p:spPr bwMode="auto">
          <a:xfrm>
            <a:off x="2898485" y="60864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6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720124270"/>
              </p:ext>
            </p:extLst>
          </p:nvPr>
        </p:nvGraphicFramePr>
        <p:xfrm>
          <a:off x="8983844" y="4272786"/>
          <a:ext cx="1871662" cy="503238"/>
        </p:xfrm>
        <a:graphic>
          <a:graphicData uri="http://schemas.openxmlformats.org/presentationml/2006/ole">
            <p:oleObj spid="_x0000_s40966" name="公式" r:id="rId20" imgW="964781" imgH="266584" progId="Equation.3">
              <p:embed/>
            </p:oleObj>
          </a:graphicData>
        </a:graphic>
      </p:graphicFrame>
      <p:sp>
        <p:nvSpPr>
          <p:cNvPr id="65" name="Rectangle 29"/>
          <p:cNvSpPr>
            <a:spLocks noChangeArrowheads="1"/>
          </p:cNvSpPr>
          <p:nvPr/>
        </p:nvSpPr>
        <p:spPr bwMode="auto">
          <a:xfrm>
            <a:off x="2898485" y="56435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6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465885113"/>
              </p:ext>
            </p:extLst>
          </p:nvPr>
        </p:nvGraphicFramePr>
        <p:xfrm>
          <a:off x="2117356" y="4857751"/>
          <a:ext cx="3565525" cy="722313"/>
        </p:xfrm>
        <a:graphic>
          <a:graphicData uri="http://schemas.openxmlformats.org/presentationml/2006/ole">
            <p:oleObj spid="_x0000_s40965" name="公式" r:id="rId21" imgW="1714500" imgH="444500" progId="Equation.3">
              <p:embed/>
            </p:oleObj>
          </a:graphicData>
        </a:graphic>
      </p:graphicFrame>
      <p:sp>
        <p:nvSpPr>
          <p:cNvPr id="67" name="Rectangle 31"/>
          <p:cNvSpPr>
            <a:spLocks noChangeArrowheads="1"/>
          </p:cNvSpPr>
          <p:nvPr/>
        </p:nvSpPr>
        <p:spPr bwMode="auto">
          <a:xfrm>
            <a:off x="3006435" y="53561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6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50584643"/>
              </p:ext>
            </p:extLst>
          </p:nvPr>
        </p:nvGraphicFramePr>
        <p:xfrm>
          <a:off x="6957273" y="4772875"/>
          <a:ext cx="2592388" cy="792162"/>
        </p:xfrm>
        <a:graphic>
          <a:graphicData uri="http://schemas.openxmlformats.org/presentationml/2006/ole">
            <p:oleObj spid="_x0000_s40964" name="Equation" r:id="rId22" imgW="1371600" imgH="444500" progId="">
              <p:embed/>
            </p:oleObj>
          </a:graphicData>
        </a:graphic>
      </p:graphicFrame>
      <p:sp>
        <p:nvSpPr>
          <p:cNvPr id="69" name="Rectangle 33"/>
          <p:cNvSpPr>
            <a:spLocks noChangeArrowheads="1"/>
          </p:cNvSpPr>
          <p:nvPr/>
        </p:nvSpPr>
        <p:spPr bwMode="auto">
          <a:xfrm>
            <a:off x="2898485" y="6105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70" name="Rectangle 35"/>
          <p:cNvSpPr>
            <a:spLocks noChangeArrowheads="1"/>
          </p:cNvSpPr>
          <p:nvPr/>
        </p:nvSpPr>
        <p:spPr bwMode="auto">
          <a:xfrm>
            <a:off x="2898485" y="60864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71" name="Rectangle 37"/>
          <p:cNvSpPr>
            <a:spLocks noChangeArrowheads="1"/>
          </p:cNvSpPr>
          <p:nvPr/>
        </p:nvSpPr>
        <p:spPr bwMode="auto">
          <a:xfrm>
            <a:off x="2898485" y="61245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72" name="Rectangle 39"/>
          <p:cNvSpPr>
            <a:spLocks noChangeArrowheads="1"/>
          </p:cNvSpPr>
          <p:nvPr/>
        </p:nvSpPr>
        <p:spPr bwMode="auto">
          <a:xfrm>
            <a:off x="2898485" y="61245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73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895856059"/>
              </p:ext>
            </p:extLst>
          </p:nvPr>
        </p:nvGraphicFramePr>
        <p:xfrm>
          <a:off x="1420669" y="5928543"/>
          <a:ext cx="900112" cy="288925"/>
        </p:xfrm>
        <a:graphic>
          <a:graphicData uri="http://schemas.openxmlformats.org/presentationml/2006/ole">
            <p:oleObj spid="_x0000_s40963" name="公式" r:id="rId23" imgW="685800" imgH="190500" progId="Equation.3">
              <p:embed/>
            </p:oleObj>
          </a:graphicData>
        </a:graphic>
      </p:graphicFrame>
      <p:graphicFrame>
        <p:nvGraphicFramePr>
          <p:cNvPr id="74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452508549"/>
              </p:ext>
            </p:extLst>
          </p:nvPr>
        </p:nvGraphicFramePr>
        <p:xfrm>
          <a:off x="3614884" y="5837170"/>
          <a:ext cx="3068638" cy="431800"/>
        </p:xfrm>
        <a:graphic>
          <a:graphicData uri="http://schemas.openxmlformats.org/presentationml/2006/ole">
            <p:oleObj spid="_x0000_s40962" name="Equation" r:id="rId24" imgW="1866090" imgH="253890" progId="">
              <p:embed/>
            </p:oleObj>
          </a:graphicData>
        </a:graphic>
      </p:graphicFrame>
      <p:graphicFrame>
        <p:nvGraphicFramePr>
          <p:cNvPr id="7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617448956"/>
              </p:ext>
            </p:extLst>
          </p:nvPr>
        </p:nvGraphicFramePr>
        <p:xfrm>
          <a:off x="10029826" y="3366389"/>
          <a:ext cx="1152525" cy="320675"/>
        </p:xfrm>
        <a:graphic>
          <a:graphicData uri="http://schemas.openxmlformats.org/presentationml/2006/ole">
            <p:oleObj spid="_x0000_s40961" name="公式" r:id="rId25" imgW="685800" imgH="190500" progId="Equation.3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27206116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5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5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5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5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5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5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5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5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5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5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5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838200" y="1346200"/>
            <a:ext cx="10801350" cy="640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2800">
                <a:solidFill>
                  <a:srgbClr val="CC0000"/>
                </a:solidFill>
              </a:rPr>
              <a:t>定理</a:t>
            </a:r>
            <a:r>
              <a:rPr kumimoji="0" lang="en-US" altLang="zh-CN" sz="2800">
                <a:solidFill>
                  <a:srgbClr val="CC0000"/>
                </a:solidFill>
              </a:rPr>
              <a:t>3 </a:t>
            </a:r>
            <a:r>
              <a:rPr kumimoji="0" lang="zh-CN" altLang="en-US" sz="2800">
                <a:solidFill>
                  <a:srgbClr val="CC0000"/>
                </a:solidFill>
              </a:rPr>
              <a:t>：</a:t>
            </a:r>
            <a:r>
              <a:rPr kumimoji="0" lang="zh-CN" altLang="en-US" sz="2800"/>
              <a:t>若线性规划问题有最优解，</a:t>
            </a:r>
            <a:r>
              <a:rPr kumimoji="0" lang="zh-CN" altLang="en-US" sz="2800" smtClean="0"/>
              <a:t>一定存在</a:t>
            </a:r>
            <a:r>
              <a:rPr kumimoji="0" lang="zh-CN" altLang="en-US" sz="2800"/>
              <a:t>一个基可行解（</a:t>
            </a:r>
            <a:r>
              <a:rPr kumimoji="0" lang="zh-CN" altLang="en-US" sz="2800" smtClean="0"/>
              <a:t>可行域</a:t>
            </a:r>
            <a:endParaRPr kumimoji="0" lang="en-US" altLang="zh-CN" sz="2800" smtClean="0"/>
          </a:p>
          <a:p>
            <a:pPr algn="l" eaLnBrk="1" hangingPunct="1">
              <a:spcBef>
                <a:spcPct val="20000"/>
              </a:spcBef>
            </a:pPr>
            <a:r>
              <a:rPr kumimoji="0" lang="en-US" altLang="zh-CN" sz="2800"/>
              <a:t> </a:t>
            </a:r>
            <a:r>
              <a:rPr kumimoji="0" lang="en-US" altLang="zh-CN" sz="2800" smtClean="0"/>
              <a:t>              </a:t>
            </a:r>
            <a:r>
              <a:rPr kumimoji="0" lang="zh-CN" altLang="en-US" sz="2800" smtClean="0"/>
              <a:t>顶点</a:t>
            </a:r>
            <a:r>
              <a:rPr kumimoji="0" lang="zh-CN" altLang="en-US" sz="2800"/>
              <a:t>）是</a:t>
            </a:r>
            <a:r>
              <a:rPr kumimoji="0" lang="zh-CN" altLang="en-US" sz="2800" smtClean="0"/>
              <a:t>最优解</a:t>
            </a:r>
            <a:r>
              <a:rPr kumimoji="0" lang="zh-CN" altLang="en-US" sz="2800"/>
              <a:t>。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 b="1">
                <a:solidFill>
                  <a:srgbClr val="00B050"/>
                </a:solidFill>
              </a:rPr>
              <a:t>证明</a:t>
            </a:r>
            <a:r>
              <a:rPr kumimoji="0" lang="zh-CN" altLang="en-US" sz="2800" b="1" smtClean="0">
                <a:solidFill>
                  <a:srgbClr val="00B050"/>
                </a:solidFill>
              </a:rPr>
              <a:t>：</a:t>
            </a:r>
            <a:endParaRPr kumimoji="0" lang="en-US" altLang="zh-CN" sz="2800" b="1" smtClean="0">
              <a:solidFill>
                <a:srgbClr val="00B050"/>
              </a:solidFill>
            </a:endParaRP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 smtClean="0"/>
              <a:t>设</a:t>
            </a:r>
            <a:r>
              <a:rPr kumimoji="0" lang="en-US" altLang="zh-CN" sz="2400"/>
              <a:t>X</a:t>
            </a:r>
            <a:r>
              <a:rPr kumimoji="0" lang="zh-CN" altLang="en-US" sz="2800"/>
              <a:t>是最优解</a:t>
            </a:r>
            <a:r>
              <a:rPr kumimoji="0" lang="zh-CN" altLang="en-US" sz="2800" smtClean="0"/>
              <a:t>，                    是</a:t>
            </a:r>
            <a:r>
              <a:rPr kumimoji="0" lang="zh-CN" altLang="en-US" sz="2800"/>
              <a:t>可行域的</a:t>
            </a:r>
            <a:r>
              <a:rPr kumimoji="0" lang="en-US" altLang="zh-CN" sz="2800"/>
              <a:t>k</a:t>
            </a:r>
            <a:r>
              <a:rPr kumimoji="0" lang="zh-CN" altLang="en-US" sz="2800"/>
              <a:t>个顶点 ，若</a:t>
            </a:r>
            <a:r>
              <a:rPr kumimoji="0" lang="en-US" altLang="zh-CN" sz="2400"/>
              <a:t>X</a:t>
            </a:r>
            <a:r>
              <a:rPr kumimoji="0" lang="zh-CN" altLang="en-US" sz="2800"/>
              <a:t>不是顶点，则</a:t>
            </a:r>
            <a:r>
              <a:rPr kumimoji="0" lang="en-US" altLang="zh-CN" sz="2400"/>
              <a:t>X</a:t>
            </a:r>
            <a:endParaRPr kumimoji="0" lang="en-US" altLang="zh-CN" sz="280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可以表示为可行域</a:t>
            </a:r>
            <a:r>
              <a:rPr kumimoji="0" lang="en-US" altLang="zh-CN" sz="2800"/>
              <a:t>k</a:t>
            </a:r>
            <a:r>
              <a:rPr kumimoji="0" lang="zh-CN" altLang="en-US" sz="2800"/>
              <a:t>个顶点的凸组合</a:t>
            </a:r>
            <a:r>
              <a:rPr kumimoji="0" lang="zh-CN" altLang="en-US" sz="2800" smtClean="0"/>
              <a:t>，即：</a:t>
            </a:r>
            <a:endParaRPr kumimoji="0" lang="zh-CN" altLang="en-US" sz="280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 smtClean="0"/>
              <a:t>因此</a:t>
            </a:r>
            <a:r>
              <a:rPr kumimoji="0" lang="zh-CN" altLang="en-US" sz="2800"/>
              <a:t>：</a:t>
            </a:r>
          </a:p>
        </p:txBody>
      </p:sp>
      <p:sp>
        <p:nvSpPr>
          <p:cNvPr id="36871" name="Rectangle 4"/>
          <p:cNvSpPr>
            <a:spLocks noChangeArrowheads="1"/>
          </p:cNvSpPr>
          <p:nvPr/>
        </p:nvSpPr>
        <p:spPr bwMode="auto">
          <a:xfrm>
            <a:off x="2798471" y="41957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72" name="Rectangle 5"/>
          <p:cNvSpPr>
            <a:spLocks noChangeArrowheads="1"/>
          </p:cNvSpPr>
          <p:nvPr/>
        </p:nvSpPr>
        <p:spPr bwMode="auto">
          <a:xfrm>
            <a:off x="2798471" y="4200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73" name="Rectangle 6"/>
          <p:cNvSpPr>
            <a:spLocks noChangeArrowheads="1"/>
          </p:cNvSpPr>
          <p:nvPr/>
        </p:nvSpPr>
        <p:spPr bwMode="auto">
          <a:xfrm>
            <a:off x="2798471" y="41957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74" name="Rectangle 7"/>
          <p:cNvSpPr>
            <a:spLocks noChangeArrowheads="1"/>
          </p:cNvSpPr>
          <p:nvPr/>
        </p:nvSpPr>
        <p:spPr bwMode="auto">
          <a:xfrm>
            <a:off x="2798471" y="42338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75" name="Rectangle 8"/>
          <p:cNvSpPr>
            <a:spLocks noChangeArrowheads="1"/>
          </p:cNvSpPr>
          <p:nvPr/>
        </p:nvSpPr>
        <p:spPr bwMode="auto">
          <a:xfrm>
            <a:off x="2798471" y="41957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76" name="Rectangle 9"/>
          <p:cNvSpPr>
            <a:spLocks noChangeArrowheads="1"/>
          </p:cNvSpPr>
          <p:nvPr/>
        </p:nvSpPr>
        <p:spPr bwMode="auto">
          <a:xfrm>
            <a:off x="2798471" y="41989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77" name="Rectangle 10"/>
          <p:cNvSpPr>
            <a:spLocks noChangeArrowheads="1"/>
          </p:cNvSpPr>
          <p:nvPr/>
        </p:nvSpPr>
        <p:spPr bwMode="auto">
          <a:xfrm>
            <a:off x="2798471" y="42243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78" name="Rectangle 11"/>
          <p:cNvSpPr>
            <a:spLocks noChangeArrowheads="1"/>
          </p:cNvSpPr>
          <p:nvPr/>
        </p:nvSpPr>
        <p:spPr bwMode="auto">
          <a:xfrm>
            <a:off x="2798471" y="422430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79" name="Rectangle 12"/>
          <p:cNvSpPr>
            <a:spLocks noChangeArrowheads="1"/>
          </p:cNvSpPr>
          <p:nvPr/>
        </p:nvSpPr>
        <p:spPr bwMode="auto">
          <a:xfrm>
            <a:off x="2798471" y="40861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80" name="Rectangle 13"/>
          <p:cNvSpPr>
            <a:spLocks noChangeArrowheads="1"/>
          </p:cNvSpPr>
          <p:nvPr/>
        </p:nvSpPr>
        <p:spPr bwMode="auto">
          <a:xfrm>
            <a:off x="2798471" y="42338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81" name="Rectangle 15"/>
          <p:cNvSpPr>
            <a:spLocks noChangeArrowheads="1"/>
          </p:cNvSpPr>
          <p:nvPr/>
        </p:nvSpPr>
        <p:spPr bwMode="auto">
          <a:xfrm>
            <a:off x="2798471" y="423383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6882" name="Rectangle 16"/>
          <p:cNvSpPr>
            <a:spLocks noChangeArrowheads="1"/>
          </p:cNvSpPr>
          <p:nvPr/>
        </p:nvSpPr>
        <p:spPr bwMode="auto">
          <a:xfrm>
            <a:off x="2798471" y="42004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873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801369311"/>
              </p:ext>
            </p:extLst>
          </p:nvPr>
        </p:nvGraphicFramePr>
        <p:xfrm>
          <a:off x="3324225" y="2982913"/>
          <a:ext cx="1655762" cy="360362"/>
        </p:xfrm>
        <a:graphic>
          <a:graphicData uri="http://schemas.openxmlformats.org/presentationml/2006/ole">
            <p:oleObj spid="_x0000_s41992" name="公式" r:id="rId3" imgW="1079500" imgH="228600" progId="Equation.3">
              <p:embed/>
            </p:oleObj>
          </a:graphicData>
        </a:graphic>
      </p:graphicFrame>
      <p:sp>
        <p:nvSpPr>
          <p:cNvPr id="36883" name="Rectangle 18"/>
          <p:cNvSpPr>
            <a:spLocks noChangeArrowheads="1"/>
          </p:cNvSpPr>
          <p:nvPr/>
        </p:nvSpPr>
        <p:spPr bwMode="auto">
          <a:xfrm>
            <a:off x="2798471" y="40909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15873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476227892"/>
              </p:ext>
            </p:extLst>
          </p:nvPr>
        </p:nvGraphicFramePr>
        <p:xfrm>
          <a:off x="7421561" y="3360708"/>
          <a:ext cx="3519488" cy="863600"/>
        </p:xfrm>
        <a:graphic>
          <a:graphicData uri="http://schemas.openxmlformats.org/presentationml/2006/ole">
            <p:oleObj spid="_x0000_s41991" name="公式" r:id="rId4" imgW="2032000" imgH="444500" progId="Equation.3">
              <p:embed/>
            </p:oleObj>
          </a:graphicData>
        </a:graphic>
      </p:graphicFrame>
      <p:graphicFrame>
        <p:nvGraphicFramePr>
          <p:cNvPr id="1587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529367249"/>
              </p:ext>
            </p:extLst>
          </p:nvPr>
        </p:nvGraphicFramePr>
        <p:xfrm>
          <a:off x="2014537" y="3890168"/>
          <a:ext cx="2809875" cy="792163"/>
        </p:xfrm>
        <a:graphic>
          <a:graphicData uri="http://schemas.openxmlformats.org/presentationml/2006/ole">
            <p:oleObj spid="_x0000_s41990" name="公式" r:id="rId5" imgW="1930400" imgH="444500" progId="Equation.3">
              <p:embed/>
            </p:oleObj>
          </a:graphicData>
        </a:graphic>
      </p:graphicFrame>
      <p:sp>
        <p:nvSpPr>
          <p:cNvPr id="36884" name="Rectangle 21"/>
          <p:cNvSpPr>
            <a:spLocks noChangeArrowheads="1"/>
          </p:cNvSpPr>
          <p:nvPr/>
        </p:nvSpPr>
        <p:spPr bwMode="auto">
          <a:xfrm>
            <a:off x="2798471" y="42147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22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374491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基本定理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842962" y="4635501"/>
            <a:ext cx="10796587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marL="0" indent="0" algn="l" eaLnBrk="1" hangingPunct="1">
              <a:spcBef>
                <a:spcPct val="20000"/>
              </a:spcBef>
              <a:tabLst>
                <a:tab pos="95250" algn="l"/>
              </a:tabLst>
            </a:pPr>
            <a:r>
              <a:rPr kumimoji="0" lang="zh-CN" altLang="en-US" sz="2800"/>
              <a:t>另外，在所有顶点上必然会找到一个</a:t>
            </a:r>
            <a:r>
              <a:rPr kumimoji="0" lang="zh-CN" altLang="en-US" sz="2800" smtClean="0"/>
              <a:t>顶点     </a:t>
            </a:r>
            <a:r>
              <a:rPr kumimoji="0" lang="zh-CN" altLang="en-US" sz="2800"/>
              <a:t>，使</a:t>
            </a:r>
            <a:r>
              <a:rPr kumimoji="0" lang="en-US" altLang="zh-CN" sz="2400"/>
              <a:t>CX</a:t>
            </a:r>
            <a:r>
              <a:rPr kumimoji="0" lang="en-US" altLang="zh-CN" sz="2800" baseline="30000"/>
              <a:t>(s)</a:t>
            </a:r>
            <a:r>
              <a:rPr kumimoji="0" lang="zh-CN" altLang="en-US" sz="2800"/>
              <a:t>是所有 </a:t>
            </a:r>
            <a:r>
              <a:rPr kumimoji="0" lang="en-US" altLang="zh-CN" sz="2400"/>
              <a:t>CX</a:t>
            </a:r>
            <a:r>
              <a:rPr kumimoji="0" lang="en-US" altLang="zh-CN" sz="2800" baseline="30000"/>
              <a:t>(j)</a:t>
            </a:r>
            <a:r>
              <a:rPr kumimoji="0" lang="en-US" altLang="zh-CN" sz="2800"/>
              <a:t> </a:t>
            </a:r>
            <a:r>
              <a:rPr kumimoji="0" lang="zh-CN" altLang="en-US" sz="2800" smtClean="0"/>
              <a:t>中最大</a:t>
            </a:r>
            <a:r>
              <a:rPr kumimoji="0" lang="zh-CN" altLang="en-US" sz="2800"/>
              <a:t>的</a:t>
            </a:r>
            <a:r>
              <a:rPr kumimoji="0" lang="zh-CN" altLang="en-US" sz="2800" smtClean="0"/>
              <a:t>，则 </a:t>
            </a:r>
            <a:r>
              <a:rPr kumimoji="0" lang="zh-CN" altLang="en-US" sz="2800"/>
              <a:t>，                                        </a:t>
            </a:r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由此</a:t>
            </a:r>
            <a:r>
              <a:rPr kumimoji="0" lang="zh-CN" altLang="en-US" sz="2800" smtClean="0"/>
              <a:t>得到                 。 根据</a:t>
            </a:r>
            <a:r>
              <a:rPr kumimoji="0" lang="zh-CN" altLang="en-US" sz="2800"/>
              <a:t>假设     是最大值，所以只能</a:t>
            </a:r>
            <a:r>
              <a:rPr kumimoji="0" lang="zh-CN" altLang="en-US" sz="2800" smtClean="0"/>
              <a:t>是</a:t>
            </a:r>
            <a:endParaRPr kumimoji="0" lang="zh-CN" altLang="en-US" sz="2800"/>
          </a:p>
          <a:p>
            <a:pPr algn="l" eaLnBrk="1" hangingPunct="1">
              <a:spcBef>
                <a:spcPct val="20000"/>
              </a:spcBef>
            </a:pPr>
            <a:r>
              <a:rPr kumimoji="0" lang="zh-CN" altLang="en-US" sz="2800"/>
              <a:t>即目标函数在顶点</a:t>
            </a:r>
            <a:r>
              <a:rPr kumimoji="0" lang="en-US" altLang="zh-CN" sz="2400"/>
              <a:t>X</a:t>
            </a:r>
            <a:r>
              <a:rPr kumimoji="0" lang="en-US" altLang="zh-CN" sz="2800" baseline="30000"/>
              <a:t>(s)</a:t>
            </a:r>
            <a:r>
              <a:rPr kumimoji="0" lang="zh-CN" altLang="en-US" sz="2800"/>
              <a:t>也取得最大值。</a:t>
            </a:r>
            <a:endParaRPr kumimoji="0" lang="zh-CN" altLang="en-US" sz="3200"/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-1676400" y="6773864"/>
            <a:ext cx="311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buClrTx/>
              <a:buSzTx/>
              <a:buFontTx/>
              <a:buNone/>
            </a:pPr>
            <a:r>
              <a:rPr lang="zh-CN" altLang="en-US" sz="1000">
                <a:ea typeface="宋体" pitchFamily="2" charset="-122"/>
              </a:rPr>
              <a:t>，</a:t>
            </a:r>
            <a:endParaRPr lang="zh-CN" altLang="en-US" sz="2400">
              <a:ea typeface="宋体" pitchFamily="2" charset="-122"/>
            </a:endParaRPr>
          </a:p>
        </p:txBody>
      </p:sp>
      <p:graphicFrame>
        <p:nvGraphicFramePr>
          <p:cNvPr id="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269834273"/>
              </p:ext>
            </p:extLst>
          </p:nvPr>
        </p:nvGraphicFramePr>
        <p:xfrm>
          <a:off x="7364411" y="4739481"/>
          <a:ext cx="431800" cy="298450"/>
        </p:xfrm>
        <a:graphic>
          <a:graphicData uri="http://schemas.openxmlformats.org/presentationml/2006/ole">
            <p:oleObj spid="_x0000_s41989" name="公式" r:id="rId6" imgW="279400" imgH="190500" progId="Equation.3">
              <p:embed/>
            </p:oleObj>
          </a:graphicData>
        </a:graphic>
      </p:graphicFrame>
      <p:graphicFrame>
        <p:nvGraphicFramePr>
          <p:cNvPr id="3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208504353"/>
              </p:ext>
            </p:extLst>
          </p:nvPr>
        </p:nvGraphicFramePr>
        <p:xfrm>
          <a:off x="3254375" y="5107416"/>
          <a:ext cx="3457575" cy="647700"/>
        </p:xfrm>
        <a:graphic>
          <a:graphicData uri="http://schemas.openxmlformats.org/presentationml/2006/ole">
            <p:oleObj spid="_x0000_s41988" name="公式" r:id="rId7" imgW="2044700" imgH="444500" progId="Equation.3">
              <p:embed/>
            </p:oleObj>
          </a:graphicData>
        </a:graphic>
      </p:graphicFrame>
      <p:graphicFrame>
        <p:nvGraphicFramePr>
          <p:cNvPr id="4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769050244"/>
              </p:ext>
            </p:extLst>
          </p:nvPr>
        </p:nvGraphicFramePr>
        <p:xfrm>
          <a:off x="2392361" y="5719000"/>
          <a:ext cx="1295400" cy="344487"/>
        </p:xfrm>
        <a:graphic>
          <a:graphicData uri="http://schemas.openxmlformats.org/presentationml/2006/ole">
            <p:oleObj spid="_x0000_s41987" name="公式" r:id="rId8" imgW="748975" imgH="203112" progId="Equation.3">
              <p:embed/>
            </p:oleObj>
          </a:graphicData>
        </a:graphic>
      </p:graphicFrame>
      <p:graphicFrame>
        <p:nvGraphicFramePr>
          <p:cNvPr id="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702466467"/>
              </p:ext>
            </p:extLst>
          </p:nvPr>
        </p:nvGraphicFramePr>
        <p:xfrm>
          <a:off x="5718172" y="5744399"/>
          <a:ext cx="433388" cy="293687"/>
        </p:xfrm>
        <a:graphic>
          <a:graphicData uri="http://schemas.openxmlformats.org/presentationml/2006/ole">
            <p:oleObj spid="_x0000_s41986" name="公式" r:id="rId9" imgW="266353" imgH="177569" progId="Equation.3">
              <p:embed/>
            </p:oleObj>
          </a:graphicData>
        </a:graphic>
      </p:graphicFrame>
      <p:graphicFrame>
        <p:nvGraphicFramePr>
          <p:cNvPr id="4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60318661"/>
              </p:ext>
            </p:extLst>
          </p:nvPr>
        </p:nvGraphicFramePr>
        <p:xfrm>
          <a:off x="9694068" y="5708315"/>
          <a:ext cx="1296988" cy="341313"/>
        </p:xfrm>
        <a:graphic>
          <a:graphicData uri="http://schemas.openxmlformats.org/presentationml/2006/ole">
            <p:oleObj spid="_x0000_s41985" name="公式" r:id="rId10" imgW="761669" imgH="203112" progId="Equation.3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344127079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838200" y="1306543"/>
            <a:ext cx="996315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3200">
                <a:solidFill>
                  <a:srgbClr val="CC0000"/>
                </a:solidFill>
              </a:rPr>
              <a:t>综上，得到结论：</a:t>
            </a:r>
          </a:p>
          <a:p>
            <a:pPr algn="l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|"/>
            </a:pPr>
            <a:r>
              <a:rPr kumimoji="0" lang="zh-CN" altLang="en-US" sz="3200"/>
              <a:t>线性规划问题的可行域为凸集（定理</a:t>
            </a:r>
            <a:r>
              <a:rPr kumimoji="0" lang="en-US" altLang="zh-CN" sz="3200"/>
              <a:t>1</a:t>
            </a:r>
            <a:r>
              <a:rPr kumimoji="0" lang="zh-CN" altLang="en-US" sz="3200"/>
              <a:t>）；</a:t>
            </a:r>
          </a:p>
          <a:p>
            <a:pPr algn="l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|"/>
            </a:pPr>
            <a:r>
              <a:rPr kumimoji="0" lang="zh-CN" altLang="en-US" sz="3200"/>
              <a:t>凸集的每个顶点对应一个基可行解（定理</a:t>
            </a:r>
            <a:r>
              <a:rPr kumimoji="0" lang="en-US" altLang="zh-CN" sz="3200"/>
              <a:t>2</a:t>
            </a:r>
            <a:r>
              <a:rPr kumimoji="0" lang="zh-CN" altLang="en-US" sz="3200"/>
              <a:t>），基可行解的个数是有限的，当然凸集的顶点个数也是有限的；</a:t>
            </a:r>
          </a:p>
          <a:p>
            <a:pPr algn="l" eaLnBrk="1" hangingPunct="1">
              <a:spcBef>
                <a:spcPts val="1800"/>
              </a:spcBef>
              <a:buClr>
                <a:srgbClr val="C00000"/>
              </a:buClr>
              <a:buFont typeface="Wingdings" panose="05000000000000000000" pitchFamily="2" charset="2"/>
              <a:buChar char="|"/>
            </a:pPr>
            <a:r>
              <a:rPr kumimoji="0" lang="zh-CN" altLang="en-US" sz="3200"/>
              <a:t>若线性规划有最优解，必在可行域某顶点上达到，（定理</a:t>
            </a:r>
            <a:r>
              <a:rPr kumimoji="0" lang="en-US" altLang="zh-CN" sz="3200"/>
              <a:t>3</a:t>
            </a:r>
            <a:r>
              <a:rPr kumimoji="0" lang="zh-CN" altLang="en-US" sz="3200"/>
              <a:t>）亦即在有限个基可行解中间存在最优解</a:t>
            </a:r>
            <a:r>
              <a:rPr kumimoji="0" lang="zh-CN" altLang="en-US" sz="3200" b="1">
                <a:ea typeface="宋体" pitchFamily="2" charset="-122"/>
              </a:rPr>
              <a:t>。</a:t>
            </a:r>
            <a:endParaRPr kumimoji="0" lang="zh-CN" altLang="en-US" sz="3200"/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2" name="Rectangle 6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3" name="Rectangle 7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4" name="Rectangle 8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5" name="Rectangle 9"/>
          <p:cNvSpPr>
            <a:spLocks noChangeArrowheads="1"/>
          </p:cNvSpPr>
          <p:nvPr/>
        </p:nvSpPr>
        <p:spPr bwMode="auto">
          <a:xfrm>
            <a:off x="6003635" y="31130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6" name="Rectangle 10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7" name="Rectangle 11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374491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基本定理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63310278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838199" y="1306543"/>
            <a:ext cx="10382249" cy="2655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marL="0" indent="0" algn="l" eaLnBrk="1" hangingPunct="1">
              <a:spcBef>
                <a:spcPct val="20000"/>
              </a:spcBef>
            </a:pPr>
            <a:r>
              <a:rPr kumimoji="0" lang="zh-CN" altLang="en-US" sz="3200" dirty="0" smtClean="0"/>
              <a:t>        从</a:t>
            </a:r>
            <a:r>
              <a:rPr kumimoji="0" lang="zh-CN" altLang="en-US" sz="3200" dirty="0"/>
              <a:t>一个初始基可行解出发，通过对基变量的迭代运算（每次迭代更换一个基变量，相当于从一个</a:t>
            </a:r>
            <a:r>
              <a:rPr kumimoji="0" lang="zh-CN" altLang="en-US" sz="3200" dirty="0" smtClean="0"/>
              <a:t>可行顶点移动</a:t>
            </a:r>
            <a:r>
              <a:rPr kumimoji="0" lang="zh-CN" altLang="en-US" sz="3200" dirty="0"/>
              <a:t>至与其相邻的另一个</a:t>
            </a:r>
            <a:r>
              <a:rPr kumimoji="0" lang="zh-CN" altLang="en-US" sz="3200" dirty="0" smtClean="0"/>
              <a:t>可行顶点）</a:t>
            </a:r>
            <a:r>
              <a:rPr kumimoji="0" lang="zh-CN" altLang="en-US" sz="3200" dirty="0"/>
              <a:t>而得到下一个基可行解，同时使目标函数值得到改善；经过有限次的迭代运算，就能得到</a:t>
            </a:r>
            <a:r>
              <a:rPr kumimoji="0" lang="en-US" altLang="zh-CN" sz="3200" dirty="0"/>
              <a:t>LP</a:t>
            </a:r>
            <a:r>
              <a:rPr kumimoji="0" lang="zh-CN" altLang="en-US" sz="3200" dirty="0"/>
              <a:t>的最优解。</a:t>
            </a:r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6003635" y="311464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2" name="Rectangle 6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3" name="Rectangle 7"/>
          <p:cNvSpPr>
            <a:spLocks noChangeArrowheads="1"/>
          </p:cNvSpPr>
          <p:nvPr/>
        </p:nvSpPr>
        <p:spPr bwMode="auto">
          <a:xfrm>
            <a:off x="6003635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4" name="Rectangle 8"/>
          <p:cNvSpPr>
            <a:spLocks noChangeArrowheads="1"/>
          </p:cNvSpPr>
          <p:nvPr/>
        </p:nvSpPr>
        <p:spPr bwMode="auto">
          <a:xfrm>
            <a:off x="6003635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5" name="Rectangle 9"/>
          <p:cNvSpPr>
            <a:spLocks noChangeArrowheads="1"/>
          </p:cNvSpPr>
          <p:nvPr/>
        </p:nvSpPr>
        <p:spPr bwMode="auto">
          <a:xfrm>
            <a:off x="6003635" y="31130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6" name="Rectangle 10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11627" name="Rectangle 11"/>
          <p:cNvSpPr>
            <a:spLocks noChangeArrowheads="1"/>
          </p:cNvSpPr>
          <p:nvPr/>
        </p:nvSpPr>
        <p:spPr bwMode="auto">
          <a:xfrm>
            <a:off x="6003635" y="31384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6019800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单纯形法的基本原理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9"/>
          <p:cNvSpPr>
            <a:spLocks noChangeArrowheads="1"/>
          </p:cNvSpPr>
          <p:nvPr/>
        </p:nvSpPr>
        <p:spPr bwMode="auto">
          <a:xfrm>
            <a:off x="887703" y="3811012"/>
            <a:ext cx="10601325" cy="2785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Clr>
                <a:srgbClr val="0070C0"/>
              </a:buClr>
            </a:pPr>
            <a:r>
              <a:rPr lang="zh-CN" altLang="en-US" sz="320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最优性条件：</a:t>
            </a:r>
            <a:r>
              <a:rPr lang="zh-CN" altLang="en-US" sz="3200">
                <a:latin typeface="Times New Roman" pitchFamily="18" charset="0"/>
                <a:ea typeface="隶书" pitchFamily="49" charset="-122"/>
              </a:rPr>
              <a:t>判断是否达到最优解的条件，以及确定下一次应调入哪一个非基变量为基变量，可使目标函数值得到改善；</a:t>
            </a:r>
            <a:endParaRPr lang="en-US" altLang="zh-CN" sz="3200">
              <a:latin typeface="Times New Roman" pitchFamily="18" charset="0"/>
              <a:ea typeface="隶书" pitchFamily="49" charset="-122"/>
            </a:endParaRPr>
          </a:p>
          <a:p>
            <a:pPr>
              <a:spcBef>
                <a:spcPts val="1800"/>
              </a:spcBef>
              <a:buClr>
                <a:srgbClr val="0070C0"/>
              </a:buClr>
            </a:pPr>
            <a:r>
              <a:rPr lang="zh-CN" altLang="en-US" sz="3200">
                <a:solidFill>
                  <a:srgbClr val="C00000"/>
                </a:solidFill>
                <a:latin typeface="Times New Roman" pitchFamily="18" charset="0"/>
                <a:ea typeface="隶书" pitchFamily="49" charset="-122"/>
              </a:rPr>
              <a:t>可行性条件：</a:t>
            </a:r>
            <a:r>
              <a:rPr lang="zh-CN" altLang="en-US" sz="3200">
                <a:latin typeface="Times New Roman" pitchFamily="18" charset="0"/>
                <a:ea typeface="隶书" pitchFamily="49" charset="-122"/>
              </a:rPr>
              <a:t>确定应调出哪一个基变量（使其成为非基变量）可确保新的基本解仍然是可行解。</a:t>
            </a: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427478313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7745122" y="353855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7745122" y="354331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8919" name="Rectangle 6"/>
          <p:cNvSpPr>
            <a:spLocks noChangeArrowheads="1"/>
          </p:cNvSpPr>
          <p:nvPr/>
        </p:nvSpPr>
        <p:spPr bwMode="auto">
          <a:xfrm>
            <a:off x="7745122" y="353855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8920" name="Rectangle 7"/>
          <p:cNvSpPr>
            <a:spLocks noChangeArrowheads="1"/>
          </p:cNvSpPr>
          <p:nvPr/>
        </p:nvSpPr>
        <p:spPr bwMode="auto">
          <a:xfrm>
            <a:off x="7745122" y="357665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8921" name="Rectangle 8"/>
          <p:cNvSpPr>
            <a:spLocks noChangeArrowheads="1"/>
          </p:cNvSpPr>
          <p:nvPr/>
        </p:nvSpPr>
        <p:spPr bwMode="auto">
          <a:xfrm>
            <a:off x="7745122" y="353855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8922" name="Rectangle 9"/>
          <p:cNvSpPr>
            <a:spLocks noChangeArrowheads="1"/>
          </p:cNvSpPr>
          <p:nvPr/>
        </p:nvSpPr>
        <p:spPr bwMode="auto">
          <a:xfrm>
            <a:off x="1524000" y="2830514"/>
            <a:ext cx="311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buClrTx/>
              <a:buSzTx/>
              <a:buFontTx/>
              <a:buNone/>
            </a:pPr>
            <a:r>
              <a:rPr lang="zh-CN" altLang="en-US" sz="1000">
                <a:ea typeface="宋体" pitchFamily="2" charset="-122"/>
              </a:rPr>
              <a:t>，</a:t>
            </a:r>
            <a:endParaRPr lang="zh-CN" altLang="en-US" sz="2400">
              <a:ea typeface="宋体" pitchFamily="2" charset="-122"/>
            </a:endParaRPr>
          </a:p>
        </p:txBody>
      </p:sp>
      <p:sp>
        <p:nvSpPr>
          <p:cNvPr id="38923" name="Rectangle 10"/>
          <p:cNvSpPr>
            <a:spLocks noChangeArrowheads="1"/>
          </p:cNvSpPr>
          <p:nvPr/>
        </p:nvSpPr>
        <p:spPr bwMode="auto">
          <a:xfrm>
            <a:off x="7745122" y="354172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8924" name="Rectangle 11"/>
          <p:cNvSpPr>
            <a:spLocks noChangeArrowheads="1"/>
          </p:cNvSpPr>
          <p:nvPr/>
        </p:nvSpPr>
        <p:spPr bwMode="auto">
          <a:xfrm>
            <a:off x="7745122" y="356712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38925" name="Rectangle 12"/>
          <p:cNvSpPr>
            <a:spLocks noChangeArrowheads="1"/>
          </p:cNvSpPr>
          <p:nvPr/>
        </p:nvSpPr>
        <p:spPr bwMode="auto">
          <a:xfrm>
            <a:off x="7745122" y="356712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pSp>
        <p:nvGrpSpPr>
          <p:cNvPr id="38926" name="Group 13"/>
          <p:cNvGrpSpPr/>
          <p:nvPr/>
        </p:nvGrpSpPr>
        <p:grpSpPr>
          <a:xfrm>
            <a:off x="6450013" y="1554208"/>
            <a:ext cx="5275263" cy="3529012"/>
            <a:chOff x="2006" y="709"/>
            <a:chExt cx="3323" cy="2223"/>
          </a:xfrm>
        </p:grpSpPr>
        <p:sp>
          <p:nvSpPr>
            <p:cNvPr id="38939" name="AutoShape 14"/>
            <p:cNvSpPr>
              <a:spLocks noChangeAspect="1" noChangeArrowheads="1"/>
            </p:cNvSpPr>
            <p:nvPr/>
          </p:nvSpPr>
          <p:spPr bwMode="auto">
            <a:xfrm>
              <a:off x="2006" y="709"/>
              <a:ext cx="3323" cy="2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1pPr>
              <a:lvl2pPr marL="742950" indent="-28575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2pPr>
              <a:lvl3pPr marL="11430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3pPr>
              <a:lvl4pPr marL="16002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4pPr>
              <a:lvl5pPr marL="20574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9pPr>
            </a:lstStyle>
            <a:p>
              <a:pPr algn="l" eaLnBrk="1" hangingPunct="1">
                <a:buClrTx/>
                <a:buSzTx/>
                <a:buFontTx/>
                <a:buNone/>
              </a:pPr>
              <a:endParaRPr lang="zh-CN" altLang="zh-CN" sz="2400">
                <a:ea typeface="宋体" pitchFamily="2" charset="-122"/>
              </a:endParaRPr>
            </a:p>
          </p:txBody>
        </p:sp>
        <p:sp>
          <p:nvSpPr>
            <p:cNvPr id="38940" name="Line 15"/>
            <p:cNvSpPr>
              <a:spLocks noChangeShapeType="1"/>
            </p:cNvSpPr>
            <p:nvPr/>
          </p:nvSpPr>
          <p:spPr bwMode="auto">
            <a:xfrm flipH="1" flipV="1">
              <a:off x="4664" y="1196"/>
              <a:ext cx="0" cy="349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8941" name="Line 16"/>
            <p:cNvSpPr>
              <a:spLocks noChangeShapeType="1"/>
            </p:cNvSpPr>
            <p:nvPr/>
          </p:nvSpPr>
          <p:spPr bwMode="auto">
            <a:xfrm flipH="1">
              <a:off x="2870" y="1196"/>
              <a:ext cx="1794" cy="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 anchor="ctr"/>
            <a:lstStyle/>
            <a:p>
              <a:endParaRPr lang="zh-CN" altLang="en-US"/>
            </a:p>
          </p:txBody>
        </p:sp>
      </p:grpSp>
      <p:grpSp>
        <p:nvGrpSpPr>
          <p:cNvPr id="38927" name="Group 17"/>
          <p:cNvGrpSpPr/>
          <p:nvPr/>
        </p:nvGrpSpPr>
        <p:grpSpPr>
          <a:xfrm>
            <a:off x="6450013" y="1554209"/>
            <a:ext cx="5275263" cy="3481387"/>
            <a:chOff x="2006" y="709"/>
            <a:chExt cx="3323" cy="2193"/>
          </a:xfrm>
        </p:grpSpPr>
        <p:sp>
          <p:nvSpPr>
            <p:cNvPr id="38930" name="AutoShape 18"/>
            <p:cNvSpPr>
              <a:spLocks noChangeArrowheads="1"/>
            </p:cNvSpPr>
            <p:nvPr/>
          </p:nvSpPr>
          <p:spPr bwMode="auto">
            <a:xfrm>
              <a:off x="2106" y="709"/>
              <a:ext cx="1462" cy="31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3532" tIns="31766" rIns="63532" bIns="31766" anchor="ctr"/>
            <a:lstStyle>
              <a:lvl1pPr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1pPr>
              <a:lvl2pPr marL="742950" indent="-28575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2pPr>
              <a:lvl3pPr marL="11430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3pPr>
              <a:lvl4pPr marL="16002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4pPr>
              <a:lvl5pPr marL="20574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80000"/>
                <a:buFont typeface="Monotype Sorts" pitchFamily="2" charset="2"/>
                <a:buNone/>
              </a:pPr>
              <a:r>
                <a:rPr kumimoji="0" lang="zh-CN" altLang="en-US" sz="2400">
                  <a:latin typeface="隶书" pitchFamily="49" charset="-122"/>
                </a:rPr>
                <a:t>初始基可行解</a:t>
              </a:r>
              <a:endParaRPr kumimoji="0" lang="zh-CN" altLang="en-US" sz="2400"/>
            </a:p>
          </p:txBody>
        </p:sp>
        <p:sp>
          <p:nvSpPr>
            <p:cNvPr id="38931" name="AutoShape 19"/>
            <p:cNvSpPr>
              <a:spLocks noChangeArrowheads="1"/>
            </p:cNvSpPr>
            <p:nvPr/>
          </p:nvSpPr>
          <p:spPr bwMode="auto">
            <a:xfrm>
              <a:off x="2006" y="1475"/>
              <a:ext cx="1628" cy="661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32" tIns="31766" rIns="63532" bIns="31766" anchor="ctr"/>
            <a:lstStyle>
              <a:lvl1pPr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1pPr>
              <a:lvl2pPr marL="742950" indent="-28575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2pPr>
              <a:lvl3pPr marL="11430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3pPr>
              <a:lvl4pPr marL="16002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4pPr>
              <a:lvl5pPr marL="20574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80000"/>
                <a:buFont typeface="Monotype Sorts" pitchFamily="2" charset="2"/>
                <a:buNone/>
              </a:pPr>
              <a:r>
                <a:rPr kumimoji="0" lang="zh-CN" altLang="en-US" sz="2400">
                  <a:latin typeface="隶书" pitchFamily="49" charset="-122"/>
                </a:rPr>
                <a:t>是否是</a:t>
              </a:r>
            </a:p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80000"/>
                <a:buFont typeface="Monotype Sorts" pitchFamily="2" charset="2"/>
                <a:buNone/>
              </a:pPr>
              <a:r>
                <a:rPr kumimoji="0" lang="zh-CN" altLang="en-US" sz="2400">
                  <a:latin typeface="隶书" pitchFamily="49" charset="-122"/>
                </a:rPr>
                <a:t>最优解</a:t>
              </a:r>
            </a:p>
          </p:txBody>
        </p:sp>
        <p:sp>
          <p:nvSpPr>
            <p:cNvPr id="38932" name="AutoShape 20"/>
            <p:cNvSpPr>
              <a:spLocks noChangeArrowheads="1"/>
            </p:cNvSpPr>
            <p:nvPr/>
          </p:nvSpPr>
          <p:spPr bwMode="auto">
            <a:xfrm>
              <a:off x="2139" y="2589"/>
              <a:ext cx="1462" cy="31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571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3532" tIns="31766" rIns="63532" bIns="31766" anchor="ctr"/>
            <a:lstStyle>
              <a:lvl1pPr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1pPr>
              <a:lvl2pPr marL="742950" indent="-28575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2pPr>
              <a:lvl3pPr marL="11430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3pPr>
              <a:lvl4pPr marL="16002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4pPr>
              <a:lvl5pPr marL="20574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80000"/>
                <a:buFont typeface="Monotype Sorts" pitchFamily="2" charset="2"/>
                <a:buNone/>
              </a:pPr>
              <a:r>
                <a:rPr kumimoji="0" lang="zh-CN" altLang="en-US" sz="2400">
                  <a:latin typeface="隶书" pitchFamily="49" charset="-122"/>
                </a:rPr>
                <a:t>结束</a:t>
              </a:r>
              <a:endParaRPr kumimoji="0" lang="zh-CN" altLang="en-US" sz="2400"/>
            </a:p>
          </p:txBody>
        </p:sp>
        <p:sp>
          <p:nvSpPr>
            <p:cNvPr id="38933" name="Rectangle 21"/>
            <p:cNvSpPr>
              <a:spLocks noChangeArrowheads="1"/>
            </p:cNvSpPr>
            <p:nvPr/>
          </p:nvSpPr>
          <p:spPr bwMode="auto">
            <a:xfrm>
              <a:off x="4133" y="1545"/>
              <a:ext cx="1196" cy="4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532" tIns="31766" rIns="63532" bIns="31766" anchor="ctr"/>
            <a:lstStyle>
              <a:lvl1pPr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1pPr>
              <a:lvl2pPr marL="742950" indent="-28575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2pPr>
              <a:lvl3pPr marL="11430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3pPr>
              <a:lvl4pPr marL="16002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4pPr>
              <a:lvl5pPr marL="20574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80000"/>
                <a:buFont typeface="Monotype Sorts" pitchFamily="2" charset="2"/>
                <a:buNone/>
              </a:pPr>
              <a:r>
                <a:rPr kumimoji="0" lang="zh-CN" altLang="en-US" sz="2400">
                  <a:latin typeface="隶书" pitchFamily="49" charset="-122"/>
                </a:rPr>
                <a:t>找一个较好</a:t>
              </a:r>
            </a:p>
            <a:p>
              <a:pPr algn="l" eaLnBrk="1" hangingPunct="1">
                <a:spcBef>
                  <a:spcPct val="20000"/>
                </a:spcBef>
                <a:buClr>
                  <a:schemeClr val="hlink"/>
                </a:buClr>
                <a:buSzPct val="80000"/>
                <a:buFont typeface="Monotype Sorts" pitchFamily="2" charset="2"/>
                <a:buNone/>
              </a:pPr>
              <a:r>
                <a:rPr kumimoji="0" lang="zh-CN" altLang="en-US" sz="2400">
                  <a:latin typeface="隶书" pitchFamily="49" charset="-122"/>
                </a:rPr>
                <a:t>  基可行解</a:t>
              </a:r>
              <a:endParaRPr kumimoji="0" lang="zh-CN" altLang="en-US" sz="2400"/>
            </a:p>
          </p:txBody>
        </p:sp>
        <p:sp>
          <p:nvSpPr>
            <p:cNvPr id="38934" name="Line 22"/>
            <p:cNvSpPr>
              <a:spLocks noChangeShapeType="1"/>
            </p:cNvSpPr>
            <p:nvPr/>
          </p:nvSpPr>
          <p:spPr bwMode="auto">
            <a:xfrm flipH="1">
              <a:off x="2803" y="1022"/>
              <a:ext cx="0" cy="453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8935" name="Line 23"/>
            <p:cNvSpPr>
              <a:spLocks noChangeShapeType="1"/>
            </p:cNvSpPr>
            <p:nvPr/>
          </p:nvSpPr>
          <p:spPr bwMode="auto">
            <a:xfrm flipH="1">
              <a:off x="2837" y="2136"/>
              <a:ext cx="0" cy="453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>
              <a:off x="3668" y="1788"/>
              <a:ext cx="465" cy="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 anchor="ctr"/>
            <a:lstStyle/>
            <a:p>
              <a:endParaRPr lang="zh-CN" altLang="en-US"/>
            </a:p>
          </p:txBody>
        </p:sp>
        <p:sp>
          <p:nvSpPr>
            <p:cNvPr id="38937" name="Rectangle 25"/>
            <p:cNvSpPr>
              <a:spLocks noChangeArrowheads="1"/>
            </p:cNvSpPr>
            <p:nvPr/>
          </p:nvSpPr>
          <p:spPr bwMode="auto">
            <a:xfrm>
              <a:off x="3734" y="1545"/>
              <a:ext cx="19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094" tIns="31547" rIns="63094" bIns="31547" anchor="ctr"/>
            <a:lstStyle>
              <a:lvl1pPr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1pPr>
              <a:lvl2pPr marL="742950" indent="-28575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2pPr>
              <a:lvl3pPr marL="11430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3pPr>
              <a:lvl4pPr marL="16002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4pPr>
              <a:lvl5pPr marL="20574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buClr>
                  <a:schemeClr val="hlink"/>
                </a:buClr>
                <a:buSzPct val="80000"/>
                <a:buFont typeface="Monotype Sorts" pitchFamily="2" charset="2"/>
                <a:buNone/>
              </a:pPr>
              <a:r>
                <a:rPr kumimoji="0" lang="en-US" altLang="zh-CN">
                  <a:latin typeface="隶书" pitchFamily="49" charset="-122"/>
                </a:rPr>
                <a:t>N</a:t>
              </a:r>
              <a:endParaRPr kumimoji="0" lang="en-US" altLang="zh-CN"/>
            </a:p>
          </p:txBody>
        </p:sp>
        <p:sp>
          <p:nvSpPr>
            <p:cNvPr id="38938" name="Rectangle 26"/>
            <p:cNvSpPr>
              <a:spLocks noChangeArrowheads="1"/>
            </p:cNvSpPr>
            <p:nvPr/>
          </p:nvSpPr>
          <p:spPr bwMode="auto">
            <a:xfrm>
              <a:off x="2545" y="2251"/>
              <a:ext cx="19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p14="http://schemas.microsoft.com/office/powerpoint/2010/main" xmlns:p15="http://schemas.microsoft.com/office/powerpoint/2012/main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p14="http://schemas.microsoft.com/office/powerpoint/2010/main" xmlns:p15="http://schemas.microsoft.com/office/powerpoint/2012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3094" tIns="31547" rIns="63094" bIns="31547" anchor="ctr"/>
            <a:lstStyle>
              <a:lvl1pPr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1pPr>
              <a:lvl2pPr marL="742950" indent="-28575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2pPr>
              <a:lvl3pPr marL="11430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3pPr>
              <a:lvl4pPr marL="16002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4pPr>
              <a:lvl5pPr marL="2057400" indent="-228600" algn="ctr" eaLnBrk="0" hangingPunct="0">
                <a:spcBef>
                  <a:spcPct val="0"/>
                </a:spcBef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buClr>
                  <a:schemeClr val="hlink"/>
                </a:buClr>
                <a:buSzPct val="80000"/>
                <a:buFont typeface="Monotype Sorts" pitchFamily="2" charset="2"/>
                <a:buNone/>
              </a:pPr>
              <a:r>
                <a:rPr kumimoji="0" lang="en-US" altLang="zh-CN">
                  <a:latin typeface="隶书" pitchFamily="49" charset="-122"/>
                </a:rPr>
                <a:t>Y</a:t>
              </a:r>
              <a:endParaRPr kumimoji="0" lang="en-US" altLang="zh-CN"/>
            </a:p>
          </p:txBody>
        </p:sp>
      </p:grpSp>
      <p:sp>
        <p:nvSpPr>
          <p:cNvPr id="38928" name="Rectangle 27"/>
          <p:cNvSpPr>
            <a:spLocks noChangeArrowheads="1"/>
          </p:cNvSpPr>
          <p:nvPr/>
        </p:nvSpPr>
        <p:spPr bwMode="auto">
          <a:xfrm>
            <a:off x="231776" y="5375296"/>
            <a:ext cx="11696700" cy="86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kumimoji="0" lang="zh-CN" altLang="en-US" sz="2800" dirty="0"/>
              <a:t>由于基可行解数目有限</a:t>
            </a:r>
            <a:r>
              <a:rPr kumimoji="0" lang="zh-CN" altLang="en-US" sz="2800" dirty="0" smtClean="0"/>
              <a:t>（≤     ），因此</a:t>
            </a:r>
            <a:r>
              <a:rPr kumimoji="0" lang="zh-CN" altLang="en-US" sz="2800" dirty="0"/>
              <a:t>，经过有限次迭代即可找到最优解</a:t>
            </a:r>
            <a:r>
              <a:rPr kumimoji="0" lang="zh-CN" altLang="en-US" sz="2800" dirty="0" smtClean="0"/>
              <a:t>。</a:t>
            </a:r>
            <a:r>
              <a:rPr kumimoji="0" lang="zh-CN" altLang="en-US" sz="3200" dirty="0" smtClean="0"/>
              <a:t> </a:t>
            </a:r>
            <a:endParaRPr kumimoji="0" lang="zh-CN" altLang="en-US" dirty="0"/>
          </a:p>
        </p:txBody>
      </p:sp>
      <p:sp>
        <p:nvSpPr>
          <p:cNvPr id="38929" name="Rectangle 28"/>
          <p:cNvSpPr>
            <a:spLocks noChangeArrowheads="1"/>
          </p:cNvSpPr>
          <p:nvPr/>
        </p:nvSpPr>
        <p:spPr bwMode="auto">
          <a:xfrm>
            <a:off x="7745122" y="354331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1pPr>
            <a:lvl2pPr marL="742950" indent="-28575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2pPr>
            <a:lvl3pPr marL="11430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3pPr>
            <a:lvl4pPr marL="16002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4pPr>
            <a:lvl5pPr marL="2057400" indent="-228600" algn="ctr" eaLnBrk="0" hangingPunct="0">
              <a:spcBef>
                <a:spcPct val="0"/>
              </a:spcBef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lang="zh-CN" altLang="en-US"/>
          </a:p>
        </p:txBody>
      </p:sp>
      <p:graphicFrame>
        <p:nvGraphicFramePr>
          <p:cNvPr id="3891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468945441"/>
              </p:ext>
            </p:extLst>
          </p:nvPr>
        </p:nvGraphicFramePr>
        <p:xfrm>
          <a:off x="4463597" y="5442675"/>
          <a:ext cx="431800" cy="414337"/>
        </p:xfrm>
        <a:graphic>
          <a:graphicData uri="http://schemas.openxmlformats.org/presentationml/2006/ole">
            <p:oleObj spid="_x0000_s44033" name="公式" r:id="rId3" imgW="241300" imgH="228600" progId="Equation.3">
              <p:embed/>
            </p:oleObj>
          </a:graphicData>
        </a:graphic>
      </p:graphicFrame>
      <p:sp>
        <p:nvSpPr>
          <p:cNvPr id="31" name="标题 1"/>
          <p:cNvSpPr>
            <a:spLocks noGrp="1"/>
          </p:cNvSpPr>
          <p:nvPr>
            <p:ph type="title"/>
          </p:nvPr>
        </p:nvSpPr>
        <p:spPr>
          <a:xfrm>
            <a:off x="838200" y="228645"/>
            <a:ext cx="6613526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单纯形法基本步骤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" name="矩形 10"/>
          <p:cNvSpPr>
            <a:spLocks noChangeArrowheads="1"/>
          </p:cNvSpPr>
          <p:nvPr/>
        </p:nvSpPr>
        <p:spPr bwMode="auto">
          <a:xfrm>
            <a:off x="430004" y="1887256"/>
            <a:ext cx="5966034" cy="2836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p14="http://schemas.microsoft.com/office/powerpoint/2010/main" xmlns:p15="http://schemas.microsoft.com/office/powerpoint/2012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p14="http://schemas.microsoft.com/office/powerpoint/2010/main" xmlns:p15="http://schemas.microsoft.com/office/powerpoint/2012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571500" indent="-571500" algn="l">
              <a:lnSpc>
                <a:spcPts val="3200"/>
              </a:lnSpc>
              <a:spcBef>
                <a:spcPts val="1800"/>
              </a:spcBef>
              <a:buClr>
                <a:srgbClr val="0070C0"/>
              </a:buClr>
              <a:buFont typeface="+mj-lt"/>
              <a:buAutoNum type="romanUcPeriod"/>
            </a:pPr>
            <a:r>
              <a:rPr lang="zh-CN" altLang="en-US" sz="3200" smtClean="0">
                <a:latin typeface="Times New Roman" pitchFamily="18" charset="0"/>
                <a:ea typeface="隶书" pitchFamily="49" charset="-122"/>
              </a:rPr>
              <a:t>求初始</a:t>
            </a:r>
            <a:r>
              <a:rPr lang="zh-CN" altLang="en-US" sz="3200">
                <a:latin typeface="Times New Roman" pitchFamily="18" charset="0"/>
                <a:ea typeface="隶书" pitchFamily="49" charset="-122"/>
              </a:rPr>
              <a:t>基可行解</a:t>
            </a:r>
          </a:p>
          <a:p>
            <a:pPr marL="571500" indent="-571500" algn="l">
              <a:lnSpc>
                <a:spcPts val="3200"/>
              </a:lnSpc>
              <a:spcBef>
                <a:spcPts val="1800"/>
              </a:spcBef>
              <a:buClr>
                <a:srgbClr val="0070C0"/>
              </a:buClr>
              <a:buFont typeface="+mj-lt"/>
              <a:buAutoNum type="romanUcPeriod"/>
            </a:pPr>
            <a:r>
              <a:rPr lang="zh-CN" altLang="en-US" sz="3200" smtClean="0">
                <a:latin typeface="Times New Roman" pitchFamily="18" charset="0"/>
                <a:ea typeface="隶书" pitchFamily="49" charset="-122"/>
              </a:rPr>
              <a:t>确定换入变量</a:t>
            </a:r>
            <a:r>
              <a:rPr lang="zh-CN" altLang="en-US" sz="3200">
                <a:latin typeface="Times New Roman" pitchFamily="18" charset="0"/>
                <a:ea typeface="隶书" pitchFamily="49" charset="-122"/>
              </a:rPr>
              <a:t>的</a:t>
            </a:r>
            <a:r>
              <a:rPr lang="zh-CN" altLang="en-US" sz="3200" smtClean="0">
                <a:latin typeface="Times New Roman" pitchFamily="18" charset="0"/>
                <a:ea typeface="隶书" pitchFamily="49" charset="-122"/>
              </a:rPr>
              <a:t>最优性条件</a:t>
            </a:r>
            <a:endParaRPr lang="zh-CN" altLang="en-US" sz="3200">
              <a:latin typeface="Times New Roman" pitchFamily="18" charset="0"/>
              <a:ea typeface="隶书" pitchFamily="49" charset="-122"/>
            </a:endParaRPr>
          </a:p>
          <a:p>
            <a:pPr marL="571500" indent="-571500" algn="l">
              <a:lnSpc>
                <a:spcPts val="3200"/>
              </a:lnSpc>
              <a:spcBef>
                <a:spcPts val="1800"/>
              </a:spcBef>
              <a:buClr>
                <a:srgbClr val="0070C0"/>
              </a:buClr>
              <a:buFont typeface="+mj-lt"/>
              <a:buAutoNum type="romanUcPeriod"/>
            </a:pPr>
            <a:r>
              <a:rPr lang="zh-CN" altLang="en-US" sz="3200" smtClean="0">
                <a:latin typeface="Times New Roman" pitchFamily="18" charset="0"/>
                <a:ea typeface="隶书" pitchFamily="49" charset="-122"/>
              </a:rPr>
              <a:t>确定换出</a:t>
            </a:r>
            <a:r>
              <a:rPr lang="zh-CN" altLang="en-US" sz="3200">
                <a:latin typeface="Times New Roman" pitchFamily="18" charset="0"/>
                <a:ea typeface="隶书" pitchFamily="49" charset="-122"/>
              </a:rPr>
              <a:t>变量的</a:t>
            </a:r>
            <a:r>
              <a:rPr lang="zh-CN" altLang="en-US" sz="3200" smtClean="0">
                <a:latin typeface="Times New Roman" pitchFamily="18" charset="0"/>
                <a:ea typeface="隶书" pitchFamily="49" charset="-122"/>
              </a:rPr>
              <a:t>可行性条件</a:t>
            </a:r>
            <a:endParaRPr lang="zh-CN" altLang="en-US" sz="3200">
              <a:latin typeface="Times New Roman" pitchFamily="18" charset="0"/>
              <a:ea typeface="隶书" pitchFamily="49" charset="-122"/>
            </a:endParaRPr>
          </a:p>
          <a:p>
            <a:pPr marL="571500" indent="-571500" algn="l">
              <a:lnSpc>
                <a:spcPts val="3200"/>
              </a:lnSpc>
              <a:spcBef>
                <a:spcPts val="1800"/>
              </a:spcBef>
              <a:buClr>
                <a:srgbClr val="0070C0"/>
              </a:buClr>
              <a:buFont typeface="+mj-lt"/>
              <a:buAutoNum type="romanUcPeriod"/>
            </a:pPr>
            <a:r>
              <a:rPr lang="zh-CN" altLang="en-US" sz="3200" smtClean="0">
                <a:latin typeface="Times New Roman" pitchFamily="18" charset="0"/>
                <a:ea typeface="隶书" pitchFamily="49" charset="-122"/>
              </a:rPr>
              <a:t>运用</a:t>
            </a:r>
            <a:r>
              <a:rPr lang="zh-CN" altLang="en-US" sz="3200">
                <a:latin typeface="Times New Roman" pitchFamily="18" charset="0"/>
                <a:ea typeface="隶书" pitchFamily="49" charset="-122"/>
              </a:rPr>
              <a:t>初等行变换</a:t>
            </a:r>
            <a:r>
              <a:rPr lang="zh-CN" altLang="en-US" sz="3200" smtClean="0">
                <a:latin typeface="Times New Roman" pitchFamily="18" charset="0"/>
                <a:ea typeface="隶书" pitchFamily="49" charset="-122"/>
              </a:rPr>
              <a:t>求出新的基 </a:t>
            </a:r>
            <a:r>
              <a:rPr lang="en-US" altLang="zh-CN" sz="320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3200" smtClean="0">
                <a:latin typeface="Times New Roman" pitchFamily="18" charset="0"/>
                <a:ea typeface="隶书" pitchFamily="49" charset="-122"/>
              </a:rPr>
              <a:t>  </a:t>
            </a:r>
          </a:p>
          <a:p>
            <a:pPr algn="l">
              <a:lnSpc>
                <a:spcPts val="3200"/>
              </a:lnSpc>
              <a:buClr>
                <a:srgbClr val="0070C0"/>
              </a:buClr>
            </a:pPr>
            <a:r>
              <a:rPr lang="en-US" altLang="zh-CN" sz="3200">
                <a:latin typeface="Times New Roman" pitchFamily="18" charset="0"/>
                <a:ea typeface="隶书" pitchFamily="49" charset="-122"/>
              </a:rPr>
              <a:t> </a:t>
            </a:r>
            <a:r>
              <a:rPr lang="en-US" altLang="zh-CN" sz="3200" smtClean="0">
                <a:latin typeface="Times New Roman" pitchFamily="18" charset="0"/>
                <a:ea typeface="隶书" pitchFamily="49" charset="-122"/>
              </a:rPr>
              <a:t>      </a:t>
            </a:r>
            <a:r>
              <a:rPr lang="zh-CN" altLang="en-US" sz="3200" smtClean="0">
                <a:latin typeface="Times New Roman" pitchFamily="18" charset="0"/>
                <a:ea typeface="隶书" pitchFamily="49" charset="-122"/>
              </a:rPr>
              <a:t>可行解</a:t>
            </a:r>
            <a:endParaRPr lang="zh-CN" altLang="en-US" sz="3200">
              <a:latin typeface="Times New Roman" pitchFamily="18" charset="0"/>
              <a:ea typeface="隶书" pitchFamily="49" charset="-122"/>
            </a:endParaRP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36400241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>
          <a:xfrm>
            <a:off x="838199" y="228645"/>
            <a:ext cx="1078774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单纯形法求解</a:t>
            </a:r>
            <a:r>
              <a:rPr lang="en-US" altLang="zh-CN" b="1" smtClean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en-US" altLang="zh-CN" b="1" smtClean="0">
                <a:solidFill>
                  <a:srgbClr val="0070C0"/>
                </a:solidFill>
                <a:latin typeface="Times New Roman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I.</a:t>
            </a:r>
            <a:r>
              <a:rPr lang="zh-CN" altLang="en-US" sz="4000" b="1" smtClean="0">
                <a:latin typeface="楷体" panose="02010609060101010101" pitchFamily="49" charset="-122"/>
                <a:ea typeface="楷体" panose="02010609060101010101" pitchFamily="49" charset="-122"/>
              </a:rPr>
              <a:t>求初始</a:t>
            </a:r>
            <a:r>
              <a:rPr lang="zh-CN" altLang="en-US" sz="4000" b="1">
                <a:latin typeface="楷体" panose="02010609060101010101" pitchFamily="49" charset="-122"/>
                <a:ea typeface="楷体" panose="02010609060101010101" pitchFamily="49" charset="-122"/>
              </a:rPr>
              <a:t>基</a:t>
            </a:r>
            <a:r>
              <a:rPr lang="zh-CN" altLang="en-US" sz="4000" b="1" smtClean="0">
                <a:latin typeface="楷体" panose="02010609060101010101" pitchFamily="49" charset="-122"/>
                <a:ea typeface="楷体" panose="02010609060101010101" pitchFamily="49" charset="-122"/>
              </a:rPr>
              <a:t>可行解</a:t>
            </a:r>
            <a:endParaRPr lang="zh-CN" altLang="en-US" sz="32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1486" y="1757404"/>
            <a:ext cx="93326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因为，基可行解是由一个可行基决定，</a:t>
            </a:r>
            <a:endParaRPr lang="en-US" altLang="zh-CN" sz="2800" smtClean="0">
              <a:latin typeface="隶书" pitchFamily="49" charset="-122"/>
              <a:ea typeface="隶书" pitchFamily="49" charset="-122"/>
            </a:endParaRPr>
          </a:p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所以，构造初始基可行解   ，相当于确定一个初始可行基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260329452"/>
              </p:ext>
            </p:extLst>
          </p:nvPr>
        </p:nvGraphicFramePr>
        <p:xfrm>
          <a:off x="4995129" y="2248836"/>
          <a:ext cx="526022" cy="475116"/>
        </p:xfrm>
        <a:graphic>
          <a:graphicData uri="http://schemas.openxmlformats.org/presentationml/2006/ole">
            <p:oleObj spid="_x0000_s47111" name="Equation" r:id="rId3" imgW="0" imgH="0" progId="">
              <p:embed/>
            </p:oleObj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517965931"/>
              </p:ext>
            </p:extLst>
          </p:nvPr>
        </p:nvGraphicFramePr>
        <p:xfrm>
          <a:off x="10145144" y="2241482"/>
          <a:ext cx="465137" cy="476250"/>
        </p:xfrm>
        <a:graphic>
          <a:graphicData uri="http://schemas.openxmlformats.org/presentationml/2006/ole">
            <p:oleObj spid="_x0000_s47110" name="Equation" r:id="rId4" imgW="0" imgH="0" progId="">
              <p:embed/>
            </p:oleObj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05064" y="3105193"/>
            <a:ext cx="10943772" cy="11849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smtClean="0">
                <a:latin typeface="+mn-ea"/>
              </a:rPr>
              <a:t>方法：</a:t>
            </a:r>
            <a:r>
              <a:rPr lang="zh-CN" altLang="en-US" sz="2800" smtClean="0">
                <a:latin typeface="Times New Roman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smtClean="0">
                <a:latin typeface="Times New Roman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smtClean="0">
                <a:latin typeface="Times New Roman" pitchFamily="18" charset="0"/>
                <a:cs typeface="Times New Roman" panose="02020603050405020304" pitchFamily="18" charset="0"/>
              </a:rPr>
              <a:t>中含</a:t>
            </a:r>
            <a:r>
              <a:rPr lang="en-US" altLang="zh-CN" sz="2800" i="1" smtClean="0">
                <a:latin typeface="Times New Roman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smtClean="0">
                <a:latin typeface="+mn-ea"/>
              </a:rPr>
              <a:t>，  则       ；</a:t>
            </a:r>
            <a:endParaRPr lang="en-US" altLang="zh-CN" sz="2800" smtClean="0">
              <a:latin typeface="+mn-ea"/>
            </a:endParaRPr>
          </a:p>
          <a:p>
            <a:pPr>
              <a:spcBef>
                <a:spcPts val="1800"/>
              </a:spcBef>
            </a:pPr>
            <a:r>
              <a:rPr lang="en-US" altLang="zh-CN" sz="2800">
                <a:latin typeface="+mn-ea"/>
              </a:rPr>
              <a:t> </a:t>
            </a:r>
            <a:r>
              <a:rPr lang="en-US" altLang="zh-CN" sz="2800" smtClean="0">
                <a:latin typeface="+mn-ea"/>
              </a:rPr>
              <a:t>     </a:t>
            </a:r>
            <a:r>
              <a:rPr lang="zh-CN" altLang="en-US" sz="2800" smtClean="0">
                <a:latin typeface="Times New Roman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smtClean="0">
                <a:latin typeface="Times New Roman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smtClean="0">
                <a:latin typeface="Times New Roman" pitchFamily="18" charset="0"/>
                <a:cs typeface="Times New Roman" panose="02020603050405020304" pitchFamily="18" charset="0"/>
              </a:rPr>
              <a:t>中不含</a:t>
            </a:r>
            <a:r>
              <a:rPr lang="en-US" altLang="zh-CN" sz="2800" i="1" smtClean="0">
                <a:latin typeface="Times New Roman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smtClean="0">
                <a:latin typeface="Times New Roman" pitchFamily="18" charset="0"/>
                <a:cs typeface="Times New Roman" panose="02020603050405020304" pitchFamily="18" charset="0"/>
              </a:rPr>
              <a:t>，则用人工变量</a:t>
            </a:r>
            <a:r>
              <a:rPr lang="zh-CN" altLang="en-US" sz="2800">
                <a:latin typeface="Times New Roman" pitchFamily="18" charset="0"/>
                <a:cs typeface="Times New Roman" panose="02020603050405020304" pitchFamily="18" charset="0"/>
              </a:rPr>
              <a:t>法（</a:t>
            </a:r>
            <a:r>
              <a:rPr lang="zh-CN" altLang="en-US" sz="2800" b="1">
                <a:latin typeface="Times New Roman" pitchFamily="18" charset="0"/>
                <a:cs typeface="Times New Roman" panose="02020603050405020304" pitchFamily="18" charset="0"/>
              </a:rPr>
              <a:t>大</a:t>
            </a:r>
            <a:r>
              <a:rPr lang="en-US" altLang="zh-CN" sz="2800" b="1" i="1">
                <a:latin typeface="Times New Roman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b="1" smtClean="0">
                <a:latin typeface="Times New Roman" pitchFamily="18" charset="0"/>
                <a:cs typeface="Times New Roman" panose="02020603050405020304" pitchFamily="18" charset="0"/>
              </a:rPr>
              <a:t>法）</a:t>
            </a:r>
            <a:r>
              <a:rPr lang="zh-CN" altLang="en-US" sz="2800" smtClean="0">
                <a:latin typeface="Times New Roman" pitchFamily="18" charset="0"/>
                <a:cs typeface="Times New Roman" panose="02020603050405020304" pitchFamily="18" charset="0"/>
              </a:rPr>
              <a:t>构造一个</a:t>
            </a:r>
            <a:r>
              <a:rPr lang="en-US" altLang="zh-CN" sz="2800" i="1" smtClean="0">
                <a:latin typeface="Times New Roman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i="1" smtClean="0">
                <a:latin typeface="Times New Roman" pitchFamily="18" charset="0"/>
                <a:cs typeface="Times New Roman" panose="02020603050405020304" pitchFamily="18" charset="0"/>
              </a:rPr>
              <a:t>。</a:t>
            </a:r>
            <a:endParaRPr lang="en-US" altLang="zh-CN" sz="2800">
              <a:latin typeface="+mn-ea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851966058"/>
              </p:ext>
            </p:extLst>
          </p:nvPr>
        </p:nvGraphicFramePr>
        <p:xfrm>
          <a:off x="4371745" y="3154682"/>
          <a:ext cx="1055687" cy="476250"/>
        </p:xfrm>
        <a:graphic>
          <a:graphicData uri="http://schemas.openxmlformats.org/presentationml/2006/ole">
            <p:oleObj spid="_x0000_s47109" name="Equation" r:id="rId5" imgW="0" imgH="0" progId="">
              <p:embed/>
            </p:oleObj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045028" y="4812665"/>
            <a:ext cx="933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mtClean="0">
                <a:solidFill>
                  <a:srgbClr val="0070C0"/>
                </a:solidFill>
                <a:latin typeface="隶书" pitchFamily="49" charset="-122"/>
                <a:ea typeface="隶书" pitchFamily="49" charset="-122"/>
              </a:rPr>
              <a:t>问题：</a:t>
            </a:r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若      ，则        例</a:t>
            </a:r>
            <a:r>
              <a:rPr lang="en-US" altLang="zh-CN" sz="2800" smtClean="0"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中的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839846308"/>
              </p:ext>
            </p:extLst>
          </p:nvPr>
        </p:nvGraphicFramePr>
        <p:xfrm>
          <a:off x="2603953" y="4917691"/>
          <a:ext cx="1055687" cy="476250"/>
        </p:xfrm>
        <a:graphic>
          <a:graphicData uri="http://schemas.openxmlformats.org/presentationml/2006/ole">
            <p:oleObj spid="_x0000_s47108" name="Equation" r:id="rId6" imgW="0" imgH="0" progId="">
              <p:embed/>
            </p:oleObj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498278816"/>
              </p:ext>
            </p:extLst>
          </p:nvPr>
        </p:nvGraphicFramePr>
        <p:xfrm>
          <a:off x="4371745" y="4903561"/>
          <a:ext cx="1082675" cy="476250"/>
        </p:xfrm>
        <a:graphic>
          <a:graphicData uri="http://schemas.openxmlformats.org/presentationml/2006/ole">
            <p:oleObj spid="_x0000_s47107" name="Equation" r:id="rId7" imgW="0" imgH="0" progId="">
              <p:embed/>
            </p:oleObj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671527848"/>
              </p:ext>
            </p:extLst>
          </p:nvPr>
        </p:nvGraphicFramePr>
        <p:xfrm>
          <a:off x="6986357" y="4881598"/>
          <a:ext cx="1082675" cy="476250"/>
        </p:xfrm>
        <a:graphic>
          <a:graphicData uri="http://schemas.openxmlformats.org/presentationml/2006/ole">
            <p:oleObj spid="_x0000_s47106" name="Equation" r:id="rId8" imgW="0" imgH="0" progId="">
              <p:embed/>
            </p:oleObj>
          </a:graphicData>
        </a:graphic>
      </p:graphicFrame>
      <p:graphicFrame>
        <p:nvGraphicFramePr>
          <p:cNvPr id="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756501028"/>
              </p:ext>
            </p:extLst>
          </p:nvPr>
        </p:nvGraphicFramePr>
        <p:xfrm>
          <a:off x="1045029" y="5434415"/>
          <a:ext cx="3213072" cy="1280057"/>
        </p:xfrm>
        <a:graphic>
          <a:graphicData uri="http://schemas.openxmlformats.org/presentationml/2006/ole">
            <p:oleObj spid="_x0000_s47105" name="Equation" r:id="rId9" imgW="0" imgH="0" progId="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1073191436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199" y="228645"/>
            <a:ext cx="1078774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单纯形法求解</a:t>
            </a:r>
            <a:r>
              <a:rPr lang="en-US" altLang="zh-CN" b="1" smtClean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en-US" altLang="zh-CN" sz="4000" b="1" smtClean="0">
                <a:solidFill>
                  <a:srgbClr val="0070C0"/>
                </a:solidFill>
                <a:latin typeface="Times New Roman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II.</a:t>
            </a:r>
            <a:r>
              <a:rPr lang="zh-CN" altLang="en-US" sz="4000" b="1" smtClean="0">
                <a:latin typeface="楷体" panose="02010609060101010101" pitchFamily="49" charset="-122"/>
                <a:ea typeface="楷体" panose="02010609060101010101" pitchFamily="49" charset="-122"/>
              </a:rPr>
              <a:t>最优性检验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514" y="1536122"/>
            <a:ext cx="933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把目标函数用</a:t>
            </a:r>
            <a:r>
              <a:rPr lang="zh-CN" altLang="en-US" sz="280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非基变量</a:t>
            </a:r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表示：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rcRect b="68336"/>
          <a:stretch>
            <a:fillRect/>
          </a:stretch>
        </p:blipFill>
        <p:spPr>
          <a:xfrm>
            <a:off x="395515" y="2164513"/>
            <a:ext cx="7934589" cy="94154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rcRect t="30372"/>
          <a:stretch>
            <a:fillRect/>
          </a:stretch>
        </p:blipFill>
        <p:spPr>
          <a:xfrm>
            <a:off x="395514" y="3483428"/>
            <a:ext cx="7934589" cy="2070422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95516" y="5747656"/>
            <a:ext cx="7934588" cy="711201"/>
            <a:chOff x="395516" y="5747656"/>
            <a:chExt cx="7934588" cy="711201"/>
          </a:xfrm>
        </p:grpSpPr>
        <p:sp>
          <p:nvSpPr>
            <p:cNvPr id="8" name="圆角矩形标注 7"/>
            <p:cNvSpPr/>
            <p:nvPr/>
          </p:nvSpPr>
          <p:spPr>
            <a:xfrm>
              <a:off x="395516" y="5747656"/>
              <a:ext cx="7934588" cy="711201"/>
            </a:xfrm>
            <a:prstGeom prst="wedgeRoundRectCallout">
              <a:avLst>
                <a:gd name="adj1" fmla="val -13515"/>
                <a:gd name="adj2" fmla="val -69044"/>
                <a:gd name="adj3" fmla="val 16667"/>
              </a:avLst>
            </a:prstGeom>
            <a:solidFill>
              <a:srgbClr val="DED45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b="1" smtClean="0">
                  <a:solidFill>
                    <a:schemeClr val="tx1"/>
                  </a:solidFill>
                </a:rPr>
                <a:t>检验数向量，记为     。当               时，当前解为最优解。    </a:t>
              </a:r>
              <a:endParaRPr lang="zh-CN" altLang="en-US" sz="2400" b="1">
                <a:solidFill>
                  <a:schemeClr val="tx1"/>
                </a:solidFill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427664904"/>
                </p:ext>
              </p:extLst>
            </p:nvPr>
          </p:nvGraphicFramePr>
          <p:xfrm>
            <a:off x="2967489" y="5957999"/>
            <a:ext cx="371475" cy="290513"/>
          </p:xfrm>
          <a:graphic>
            <a:graphicData uri="http://schemas.openxmlformats.org/presentationml/2006/ole">
              <p:oleObj spid="_x0000_s48136" name="Equation" r:id="rId4" imgW="0" imgH="0" progId="">
                <p:embed/>
              </p:oleObj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2601828907"/>
                </p:ext>
              </p:extLst>
            </p:nvPr>
          </p:nvGraphicFramePr>
          <p:xfrm>
            <a:off x="4013424" y="5880212"/>
            <a:ext cx="928688" cy="368300"/>
          </p:xfrm>
          <a:graphic>
            <a:graphicData uri="http://schemas.openxmlformats.org/presentationml/2006/ole">
              <p:oleObj spid="_x0000_s48135" name="Equation" r:id="rId5" imgW="0" imgH="0" progId="">
                <p:embed/>
              </p:oleObj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8418288" y="1755363"/>
            <a:ext cx="3541486" cy="4662815"/>
            <a:chOff x="8418288" y="1755363"/>
            <a:chExt cx="3541486" cy="4662815"/>
          </a:xfrm>
        </p:grpSpPr>
        <p:sp>
          <p:nvSpPr>
            <p:cNvPr id="12" name="文本框 11"/>
            <p:cNvSpPr txBox="1"/>
            <p:nvPr/>
          </p:nvSpPr>
          <p:spPr>
            <a:xfrm>
              <a:off x="8418288" y="1755363"/>
              <a:ext cx="3541486" cy="46628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zh-CN" altLang="en-US" sz="2800" b="1" smtClean="0">
                  <a:latin typeface="+mn-ea"/>
                </a:rPr>
                <a:t>方法：</a:t>
              </a:r>
              <a:endParaRPr lang="en-US" altLang="zh-CN" sz="2800" b="1" smtClean="0">
                <a:latin typeface="+mn-ea"/>
              </a:endParaRPr>
            </a:p>
            <a:p>
              <a:pPr marL="449263" indent="-449263"/>
              <a:r>
                <a:rPr lang="zh-CN" altLang="en-US" sz="2800" smtClean="0">
                  <a:latin typeface="Times New Roman" pitchFamily="18" charset="0"/>
                  <a:cs typeface="Times New Roman" panose="02020603050405020304" pitchFamily="18" charset="0"/>
                </a:rPr>
                <a:t>① 计算每个    的检验  数                        </a:t>
              </a:r>
              <a:endParaRPr lang="en-US" altLang="zh-CN" sz="2800" smtClean="0">
                <a:latin typeface="Times New Roman" pitchFamily="18" charset="0"/>
                <a:cs typeface="Times New Roman" panose="02020603050405020304" pitchFamily="18" charset="0"/>
              </a:endParaRPr>
            </a:p>
            <a:p>
              <a:pPr marL="449263" indent="-449263">
                <a:spcBef>
                  <a:spcPts val="1800"/>
                </a:spcBef>
              </a:pPr>
              <a:r>
                <a:rPr lang="zh-CN" altLang="en-US" sz="2800" smtClean="0">
                  <a:latin typeface="+mn-ea"/>
                </a:rPr>
                <a:t>②若所有      ，则当前解为最优解</a:t>
              </a:r>
              <a:endParaRPr lang="en-US" altLang="zh-CN" sz="2800" smtClean="0">
                <a:latin typeface="+mn-ea"/>
              </a:endParaRPr>
            </a:p>
            <a:p>
              <a:pPr marL="449263" indent="-449263">
                <a:spcBef>
                  <a:spcPts val="1800"/>
                </a:spcBef>
              </a:pPr>
              <a:r>
                <a:rPr lang="zh-CN" altLang="en-US" sz="2800" smtClean="0">
                  <a:latin typeface="+mn-ea"/>
                </a:rPr>
                <a:t>③否则，有      ，则找到最大的   ，其对应的    作为</a:t>
              </a:r>
              <a:r>
                <a:rPr lang="zh-CN" altLang="en-US" sz="2800" smtClean="0">
                  <a:solidFill>
                    <a:srgbClr val="FF0000"/>
                  </a:solidFill>
                  <a:latin typeface="+mn-ea"/>
                </a:rPr>
                <a:t>换入变量</a:t>
              </a:r>
              <a:r>
                <a:rPr lang="zh-CN" altLang="en-US" sz="2800" smtClean="0">
                  <a:latin typeface="+mn-ea"/>
                </a:rPr>
                <a:t>。</a:t>
              </a:r>
              <a:endParaRPr lang="en-US" altLang="zh-CN" sz="2800" smtClean="0">
                <a:latin typeface="+mn-ea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600146945"/>
                </p:ext>
              </p:extLst>
            </p:nvPr>
          </p:nvGraphicFramePr>
          <p:xfrm>
            <a:off x="10308774" y="2398712"/>
            <a:ext cx="401638" cy="503237"/>
          </p:xfrm>
          <a:graphic>
            <a:graphicData uri="http://schemas.openxmlformats.org/presentationml/2006/ole">
              <p:oleObj spid="_x0000_s48134" name="Equation" r:id="rId6" imgW="0" imgH="0" progId="">
                <p:embed/>
              </p:oleObj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4114738980"/>
                </p:ext>
              </p:extLst>
            </p:nvPr>
          </p:nvGraphicFramePr>
          <p:xfrm>
            <a:off x="9267374" y="2853189"/>
            <a:ext cx="2692400" cy="528638"/>
          </p:xfrm>
          <a:graphic>
            <a:graphicData uri="http://schemas.openxmlformats.org/presentationml/2006/ole">
              <p:oleObj spid="_x0000_s48133" name="Equation" r:id="rId7" imgW="0" imgH="0" progId="">
                <p:embed/>
              </p:oleObj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1831725164"/>
                </p:ext>
              </p:extLst>
            </p:nvPr>
          </p:nvGraphicFramePr>
          <p:xfrm>
            <a:off x="9983788" y="3487735"/>
            <a:ext cx="1052512" cy="500062"/>
          </p:xfrm>
          <a:graphic>
            <a:graphicData uri="http://schemas.openxmlformats.org/presentationml/2006/ole">
              <p:oleObj spid="_x0000_s48132" name="Equation" r:id="rId8" imgW="0" imgH="0" progId="">
                <p:embed/>
              </p:oleObj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866290665"/>
                </p:ext>
              </p:extLst>
            </p:nvPr>
          </p:nvGraphicFramePr>
          <p:xfrm>
            <a:off x="10309225" y="4646610"/>
            <a:ext cx="1052513" cy="501650"/>
          </p:xfrm>
          <a:graphic>
            <a:graphicData uri="http://schemas.openxmlformats.org/presentationml/2006/ole">
              <p:oleObj spid="_x0000_s48131" name="Equation" r:id="rId9" imgW="0" imgH="0" progId="">
                <p:embed/>
              </p:oleObj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2757111670"/>
                </p:ext>
              </p:extLst>
            </p:nvPr>
          </p:nvGraphicFramePr>
          <p:xfrm>
            <a:off x="11129963" y="5046101"/>
            <a:ext cx="463550" cy="476250"/>
          </p:xfrm>
          <a:graphic>
            <a:graphicData uri="http://schemas.openxmlformats.org/presentationml/2006/ole">
              <p:oleObj spid="_x0000_s48130" name="Equation" r:id="rId10" imgW="0" imgH="0" progId="">
                <p:embed/>
              </p:oleObj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2958948336"/>
                </p:ext>
              </p:extLst>
            </p:nvPr>
          </p:nvGraphicFramePr>
          <p:xfrm>
            <a:off x="10539413" y="5430835"/>
            <a:ext cx="401637" cy="531812"/>
          </p:xfrm>
          <a:graphic>
            <a:graphicData uri="http://schemas.openxmlformats.org/presentationml/2006/ole">
              <p:oleObj spid="_x0000_s48129" name="Equation" r:id="rId11" imgW="0" imgH="0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="" xmlns:p15="http://schemas.microsoft.com/office/powerpoint/2012/main" xmlns:p14="http://schemas.microsoft.com/office/powerpoint/2010/main" val="3361163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199" y="228645"/>
            <a:ext cx="1078774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单纯形法求解</a:t>
            </a:r>
            <a:r>
              <a:rPr lang="en-US" altLang="zh-CN" b="1" smtClean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en-US" altLang="zh-CN" b="1" smtClean="0">
                <a:solidFill>
                  <a:srgbClr val="0070C0"/>
                </a:solidFill>
                <a:latin typeface="Times New Roman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III.</a:t>
            </a:r>
            <a:r>
              <a:rPr lang="zh-CN" altLang="en-US" sz="4000" b="1" smtClean="0">
                <a:latin typeface="楷体" panose="02010609060101010101" pitchFamily="49" charset="-122"/>
                <a:ea typeface="楷体" panose="02010609060101010101" pitchFamily="49" charset="-122"/>
              </a:rPr>
              <a:t>可行性检验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1832" y="1757404"/>
            <a:ext cx="1076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因为，基可行解与基相对应，</a:t>
            </a:r>
            <a:endParaRPr lang="en-US" altLang="zh-CN" sz="2800" smtClean="0">
              <a:latin typeface="隶书" pitchFamily="49" charset="-122"/>
              <a:ea typeface="隶书" pitchFamily="49" charset="-122"/>
            </a:endParaRPr>
          </a:p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所以，寻找新的可行解，即将初始可行基   转化为   ，称基变换。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873058295"/>
              </p:ext>
            </p:extLst>
          </p:nvPr>
        </p:nvGraphicFramePr>
        <p:xfrm>
          <a:off x="7416461" y="2240804"/>
          <a:ext cx="465137" cy="476250"/>
        </p:xfrm>
        <a:graphic>
          <a:graphicData uri="http://schemas.openxmlformats.org/presentationml/2006/ole">
            <p:oleObj spid="_x0000_s71682" name="Equation" r:id="rId3" imgW="0" imgH="0" progId="">
              <p:embed/>
            </p:oleObj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95223025"/>
              </p:ext>
            </p:extLst>
          </p:nvPr>
        </p:nvGraphicFramePr>
        <p:xfrm>
          <a:off x="8977312" y="2252663"/>
          <a:ext cx="403225" cy="476250"/>
        </p:xfrm>
        <a:graphic>
          <a:graphicData uri="http://schemas.openxmlformats.org/presentationml/2006/ole">
            <p:oleObj spid="_x0000_s71683" name="Equation" r:id="rId4" imgW="0" imgH="0" progId="">
              <p:embed/>
            </p:oleObj>
          </a:graphicData>
        </a:graphic>
      </p:graphicFrame>
      <p:grpSp>
        <p:nvGrpSpPr>
          <p:cNvPr id="2" name="组合 14"/>
          <p:cNvGrpSpPr/>
          <p:nvPr/>
        </p:nvGrpSpPr>
        <p:grpSpPr>
          <a:xfrm>
            <a:off x="838199" y="3274559"/>
            <a:ext cx="4713118" cy="1077682"/>
            <a:chOff x="910769" y="2971804"/>
            <a:chExt cx="4996545" cy="1077682"/>
          </a:xfrm>
        </p:grpSpPr>
        <p:sp>
          <p:nvSpPr>
            <p:cNvPr id="11" name="矩形 10"/>
            <p:cNvSpPr/>
            <p:nvPr/>
          </p:nvSpPr>
          <p:spPr>
            <a:xfrm>
              <a:off x="910769" y="2971804"/>
              <a:ext cx="4996545" cy="1077682"/>
            </a:xfrm>
            <a:prstGeom prst="rect">
              <a:avLst/>
            </a:prstGeom>
            <a:solidFill>
              <a:srgbClr val="DED4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b="1">
                  <a:solidFill>
                    <a:schemeClr val="tx1"/>
                  </a:solidFill>
                </a:rPr>
                <a:t>基变换的原则</a:t>
              </a: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1394020493"/>
                </p:ext>
              </p:extLst>
            </p:nvPr>
          </p:nvGraphicFramePr>
          <p:xfrm>
            <a:off x="2978832" y="3007407"/>
            <a:ext cx="2605087" cy="1006475"/>
          </p:xfrm>
          <a:graphic>
            <a:graphicData uri="http://schemas.openxmlformats.org/presentationml/2006/ole">
              <p:oleObj spid="_x0000_s71684" name="Equation" r:id="rId5" imgW="0" imgH="0" progId="">
                <p:embed/>
              </p:oleObj>
            </a:graphicData>
          </a:graphic>
        </p:graphicFrame>
      </p:grpSp>
      <p:grpSp>
        <p:nvGrpSpPr>
          <p:cNvPr id="3" name="组合 1"/>
          <p:cNvGrpSpPr/>
          <p:nvPr/>
        </p:nvGrpSpPr>
        <p:grpSpPr>
          <a:xfrm>
            <a:off x="5762176" y="2805853"/>
            <a:ext cx="5384800" cy="960230"/>
            <a:chOff x="5762176" y="2805853"/>
            <a:chExt cx="5384800" cy="960230"/>
          </a:xfrm>
        </p:grpSpPr>
        <p:sp>
          <p:nvSpPr>
            <p:cNvPr id="17" name="矩形 16"/>
            <p:cNvSpPr/>
            <p:nvPr/>
          </p:nvSpPr>
          <p:spPr>
            <a:xfrm>
              <a:off x="5762176" y="2805853"/>
              <a:ext cx="5384800" cy="960230"/>
            </a:xfrm>
            <a:prstGeom prst="rect">
              <a:avLst/>
            </a:prstGeom>
            <a:solidFill>
              <a:srgbClr val="DED4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7313" indent="-87313"/>
              <a:r>
                <a:rPr lang="zh-CN" altLang="en-US" sz="2400" b="1" smtClean="0">
                  <a:solidFill>
                    <a:schemeClr val="tx1"/>
                  </a:solidFill>
                </a:rPr>
                <a:t> 换入变量：                中最大的       所对     </a:t>
              </a:r>
              <a:endParaRPr lang="en-US" altLang="zh-CN" sz="2400" b="1" smtClean="0">
                <a:solidFill>
                  <a:schemeClr val="tx1"/>
                </a:solidFill>
              </a:endParaRPr>
            </a:p>
            <a:p>
              <a:pPr marL="87313" indent="-87313"/>
              <a:r>
                <a:rPr lang="en-US" altLang="zh-CN" sz="2400" b="1">
                  <a:solidFill>
                    <a:schemeClr val="tx1"/>
                  </a:solidFill>
                </a:rPr>
                <a:t> </a:t>
              </a:r>
              <a:r>
                <a:rPr lang="en-US" altLang="zh-CN" sz="2400" b="1" smtClean="0">
                  <a:solidFill>
                    <a:schemeClr val="tx1"/>
                  </a:solidFill>
                </a:rPr>
                <a:t>                       </a:t>
              </a:r>
              <a:r>
                <a:rPr lang="zh-CN" altLang="en-US" sz="2400" b="1" smtClean="0">
                  <a:solidFill>
                    <a:schemeClr val="tx1"/>
                  </a:solidFill>
                </a:rPr>
                <a:t>应的        换入基；</a:t>
              </a:r>
              <a:endParaRPr lang="zh-CN" altLang="en-US" sz="2400" b="1">
                <a:solidFill>
                  <a:schemeClr val="tx1"/>
                </a:solidFill>
              </a:endParaRP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945247299"/>
                </p:ext>
              </p:extLst>
            </p:nvPr>
          </p:nvGraphicFramePr>
          <p:xfrm>
            <a:off x="7509162" y="2829620"/>
            <a:ext cx="1052513" cy="501650"/>
          </p:xfrm>
          <a:graphic>
            <a:graphicData uri="http://schemas.openxmlformats.org/presentationml/2006/ole">
              <p:oleObj spid="_x0000_s71685" name="Equation" r:id="rId6" imgW="0" imgH="0" progId="">
                <p:embed/>
              </p:oleObj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3858983727"/>
                </p:ext>
              </p:extLst>
            </p:nvPr>
          </p:nvGraphicFramePr>
          <p:xfrm>
            <a:off x="9790566" y="2850302"/>
            <a:ext cx="463550" cy="476250"/>
          </p:xfrm>
          <a:graphic>
            <a:graphicData uri="http://schemas.openxmlformats.org/presentationml/2006/ole">
              <p:oleObj spid="_x0000_s71686" name="Equation" r:id="rId7" imgW="0" imgH="0" progId="">
                <p:embed/>
              </p:oleObj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4113149370"/>
                </p:ext>
              </p:extLst>
            </p:nvPr>
          </p:nvGraphicFramePr>
          <p:xfrm>
            <a:off x="8160038" y="3176215"/>
            <a:ext cx="401637" cy="531812"/>
          </p:xfrm>
          <a:graphic>
            <a:graphicData uri="http://schemas.openxmlformats.org/presentationml/2006/ole">
              <p:oleObj spid="_x0000_s71687" name="Equation" r:id="rId8" imgW="0" imgH="0" progId="">
                <p:embed/>
              </p:oleObj>
            </a:graphicData>
          </a:graphic>
        </p:graphicFrame>
      </p:grpSp>
      <p:grpSp>
        <p:nvGrpSpPr>
          <p:cNvPr id="5" name="组合 25"/>
          <p:cNvGrpSpPr/>
          <p:nvPr/>
        </p:nvGrpSpPr>
        <p:grpSpPr>
          <a:xfrm>
            <a:off x="5762176" y="3879913"/>
            <a:ext cx="5399311" cy="1005014"/>
            <a:chOff x="5762176" y="3996025"/>
            <a:chExt cx="5399311" cy="1005014"/>
          </a:xfrm>
        </p:grpSpPr>
        <p:sp>
          <p:nvSpPr>
            <p:cNvPr id="20" name="矩形 19"/>
            <p:cNvSpPr/>
            <p:nvPr/>
          </p:nvSpPr>
          <p:spPr>
            <a:xfrm>
              <a:off x="5762176" y="3996025"/>
              <a:ext cx="5399311" cy="1005014"/>
            </a:xfrm>
            <a:prstGeom prst="rect">
              <a:avLst/>
            </a:prstGeom>
            <a:solidFill>
              <a:srgbClr val="DED4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b="1" smtClean="0">
                  <a:solidFill>
                    <a:schemeClr val="tx1"/>
                  </a:solidFill>
                </a:rPr>
                <a:t>换出变量：由                                             </a:t>
              </a:r>
              <a:endParaRPr lang="en-US" altLang="zh-CN" sz="2400" b="1" smtClean="0">
                <a:solidFill>
                  <a:schemeClr val="tx1"/>
                </a:solidFill>
              </a:endParaRPr>
            </a:p>
            <a:p>
              <a:r>
                <a:rPr lang="en-US" altLang="zh-CN" sz="2400" b="1" smtClean="0">
                  <a:solidFill>
                    <a:schemeClr val="tx1"/>
                  </a:solidFill>
                </a:rPr>
                <a:t>                       </a:t>
              </a:r>
              <a:r>
                <a:rPr lang="zh-CN" altLang="en-US" sz="2400" b="1" smtClean="0">
                  <a:solidFill>
                    <a:schemeClr val="tx1"/>
                  </a:solidFill>
                </a:rPr>
                <a:t>决定出基变量。</a:t>
              </a:r>
              <a:endParaRPr lang="zh-CN" altLang="en-US" sz="2400" b="1">
                <a:solidFill>
                  <a:schemeClr val="tx1"/>
                </a:solidFill>
              </a:endParaRP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2654997682"/>
                </p:ext>
              </p:extLst>
            </p:nvPr>
          </p:nvGraphicFramePr>
          <p:xfrm>
            <a:off x="7672162" y="4047559"/>
            <a:ext cx="3489325" cy="522287"/>
          </p:xfrm>
          <a:graphic>
            <a:graphicData uri="http://schemas.openxmlformats.org/presentationml/2006/ole">
              <p:oleObj spid="_x0000_s71688" name="Equation" r:id="rId9" imgW="0" imgH="0" progId="">
                <p:embed/>
              </p:oleObj>
            </a:graphicData>
          </a:graphic>
        </p:graphicFrame>
      </p:grpSp>
      <p:grpSp>
        <p:nvGrpSpPr>
          <p:cNvPr id="9" name="组合 2"/>
          <p:cNvGrpSpPr/>
          <p:nvPr/>
        </p:nvGrpSpPr>
        <p:grpSpPr>
          <a:xfrm>
            <a:off x="841832" y="4961245"/>
            <a:ext cx="10319656" cy="1640730"/>
            <a:chOff x="841832" y="5206906"/>
            <a:chExt cx="10319656" cy="1640730"/>
          </a:xfrm>
        </p:grpSpPr>
        <p:sp>
          <p:nvSpPr>
            <p:cNvPr id="32" name="矩形 31"/>
            <p:cNvSpPr/>
            <p:nvPr/>
          </p:nvSpPr>
          <p:spPr>
            <a:xfrm>
              <a:off x="841832" y="5206906"/>
              <a:ext cx="10319656" cy="160294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ctr"/>
            <a:lstStyle/>
            <a:p>
              <a:pPr>
                <a:spcBef>
                  <a:spcPts val="1800"/>
                </a:spcBef>
              </a:pPr>
              <a:r>
                <a:rPr lang="zh-CN" altLang="en-US" sz="2800" b="1">
                  <a:solidFill>
                    <a:prstClr val="black"/>
                  </a:solidFill>
                  <a:latin typeface="宋体" pitchFamily="2" charset="-122"/>
                </a:rPr>
                <a:t>方法：</a:t>
              </a:r>
              <a:r>
                <a:rPr lang="zh-CN" altLang="en-US" sz="2800" b="1" smtClean="0">
                  <a:solidFill>
                    <a:prstClr val="black"/>
                  </a:solidFill>
                  <a:latin typeface="宋体" pitchFamily="2" charset="-122"/>
                </a:rPr>
                <a:t>令</a:t>
              </a:r>
              <a:endParaRPr lang="en-US" altLang="zh-CN" sz="2800" b="1" smtClean="0">
                <a:solidFill>
                  <a:prstClr val="black"/>
                </a:solidFill>
                <a:latin typeface="宋体" pitchFamily="2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2800" b="1">
                  <a:solidFill>
                    <a:prstClr val="black"/>
                  </a:solidFill>
                  <a:latin typeface="宋体" pitchFamily="2" charset="-122"/>
                </a:rPr>
                <a:t> </a:t>
              </a:r>
              <a:r>
                <a:rPr lang="en-US" altLang="zh-CN" sz="2800" b="1" smtClean="0">
                  <a:solidFill>
                    <a:prstClr val="black"/>
                  </a:solidFill>
                  <a:latin typeface="宋体" pitchFamily="2" charset="-122"/>
                </a:rPr>
                <a:t>     </a:t>
              </a:r>
              <a:r>
                <a:rPr lang="zh-CN" altLang="en-US" sz="2800" b="1" smtClean="0">
                  <a:solidFill>
                    <a:prstClr val="black"/>
                  </a:solidFill>
                  <a:latin typeface="宋体" pitchFamily="2" charset="-122"/>
                </a:rPr>
                <a:t>令</a:t>
              </a:r>
              <a:endParaRPr lang="zh-CN" altLang="en-US"/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1582621048"/>
                </p:ext>
              </p:extLst>
            </p:nvPr>
          </p:nvGraphicFramePr>
          <p:xfrm>
            <a:off x="2495211" y="5282677"/>
            <a:ext cx="5386387" cy="660400"/>
          </p:xfrm>
          <a:graphic>
            <a:graphicData uri="http://schemas.openxmlformats.org/presentationml/2006/ole">
              <p:oleObj spid="_x0000_s71689" name="Equation" r:id="rId10" imgW="0" imgH="0" progId="">
                <p:embed/>
              </p:oleObj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3230907025"/>
                </p:ext>
              </p:extLst>
            </p:nvPr>
          </p:nvGraphicFramePr>
          <p:xfrm>
            <a:off x="2495211" y="5844336"/>
            <a:ext cx="8140700" cy="1003300"/>
          </p:xfrm>
          <a:graphic>
            <a:graphicData uri="http://schemas.openxmlformats.org/presentationml/2006/ole">
              <p:oleObj spid="_x0000_s71690" name="Equation" r:id="rId11" imgW="0" imgH="0" progId="">
                <p:embed/>
              </p:oleObj>
            </a:graphicData>
          </a:graphic>
        </p:graphicFrame>
      </p:grpSp>
      <p:sp>
        <p:nvSpPr>
          <p:cNvPr id="34" name="文本框 33"/>
          <p:cNvSpPr txBox="1"/>
          <p:nvPr/>
        </p:nvSpPr>
        <p:spPr>
          <a:xfrm>
            <a:off x="11145723" y="6352770"/>
            <a:ext cx="1046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mtClean="0">
                <a:solidFill>
                  <a:prstClr val="black"/>
                </a:solidFill>
                <a:latin typeface="宋体" pitchFamily="2" charset="-122"/>
              </a:rPr>
              <a:t>检验</a:t>
            </a:r>
            <a:r>
              <a:rPr lang="zh-CN" altLang="en-US" sz="2000" b="1">
                <a:solidFill>
                  <a:prstClr val="black"/>
                </a:solidFill>
                <a:latin typeface="宋体" pitchFamily="2" charset="-122"/>
              </a:rPr>
              <a:t>比</a:t>
            </a: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626204239"/>
              </p:ext>
            </p:extLst>
          </p:nvPr>
        </p:nvGraphicFramePr>
        <p:xfrm>
          <a:off x="11225099" y="5709649"/>
          <a:ext cx="801688" cy="595313"/>
        </p:xfrm>
        <a:graphic>
          <a:graphicData uri="http://schemas.openxmlformats.org/presentationml/2006/ole">
            <p:oleObj spid="_x0000_s71691" name="Equation" r:id="rId12" imgW="0" imgH="0" progId="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3417956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199" y="228645"/>
            <a:ext cx="10787744" cy="1325563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单纯形法求解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573205" y="1517297"/>
            <a:ext cx="10836323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66700"/>
            <a:r>
              <a:rPr kumimoji="1" lang="zh-CN" altLang="en-US" sz="2800" b="1" dirty="0" smtClean="0">
                <a:latin typeface="宋体" pitchFamily="2" charset="-122"/>
              </a:rPr>
              <a:t>   定义</a:t>
            </a:r>
            <a:r>
              <a:rPr kumimoji="1" lang="zh-CN" altLang="en-US" sz="2800" b="1" dirty="0">
                <a:latin typeface="宋体" pitchFamily="2" charset="-122"/>
              </a:rPr>
              <a:t>：两个基可行解称为相邻的，如果它们之间</a:t>
            </a:r>
            <a:r>
              <a:rPr kumimoji="1" lang="zh-CN" altLang="en-US" sz="2800" b="1" dirty="0" smtClean="0">
                <a:latin typeface="宋体" pitchFamily="2" charset="-122"/>
              </a:rPr>
              <a:t>变换且</a:t>
            </a:r>
            <a:r>
              <a:rPr kumimoji="1" lang="zh-CN" altLang="en-US" sz="2800" b="1" dirty="0">
                <a:latin typeface="宋体" pitchFamily="2" charset="-122"/>
              </a:rPr>
              <a:t>仅变换一个基变量。</a:t>
            </a:r>
          </a:p>
          <a:p>
            <a:pPr indent="266700"/>
            <a:r>
              <a:rPr kumimoji="1" lang="zh-CN" altLang="en-US" sz="2800" b="1" dirty="0" smtClean="0">
                <a:latin typeface="宋体" pitchFamily="2" charset="-122"/>
              </a:rPr>
              <a:t>   初始</a:t>
            </a:r>
            <a:r>
              <a:rPr kumimoji="1" lang="zh-CN" altLang="en-US" sz="2800" b="1" dirty="0">
                <a:latin typeface="宋体" pitchFamily="2" charset="-122"/>
              </a:rPr>
              <a:t>基可行解的前</a:t>
            </a:r>
            <a:r>
              <a:rPr kumimoji="1" lang="en-US" altLang="zh-CN" sz="2800" b="1" dirty="0">
                <a:latin typeface="宋体" pitchFamily="2" charset="-122"/>
              </a:rPr>
              <a:t>m</a:t>
            </a:r>
            <a:r>
              <a:rPr kumimoji="1" lang="zh-CN" altLang="en-US" sz="2800" b="1" dirty="0">
                <a:latin typeface="宋体" pitchFamily="2" charset="-122"/>
              </a:rPr>
              <a:t>个为基变量， </a:t>
            </a:r>
          </a:p>
        </p:txBody>
      </p:sp>
      <p:graphicFrame>
        <p:nvGraphicFramePr>
          <p:cNvPr id="33" name="Object 5"/>
          <p:cNvGraphicFramePr>
            <a:graphicFrameLocks noChangeAspect="1"/>
          </p:cNvGraphicFramePr>
          <p:nvPr/>
        </p:nvGraphicFramePr>
        <p:xfrm>
          <a:off x="1754422" y="3033359"/>
          <a:ext cx="5184775" cy="746125"/>
        </p:xfrm>
        <a:graphic>
          <a:graphicData uri="http://schemas.openxmlformats.org/presentationml/2006/ole">
            <p:oleObj spid="_x0000_s72706" name="公式" r:id="rId3" imgW="1790700" imgH="254000" progId="Equation.3">
              <p:embed/>
            </p:oleObj>
          </a:graphicData>
        </a:graphic>
      </p:graphicFrame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5570772" y="4330347"/>
            <a:ext cx="29511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>
                <a:latin typeface="Times New Roman" pitchFamily="18" charset="0"/>
              </a:rPr>
              <a:t>代入约束条件有</a:t>
            </a: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1214672" y="3323872"/>
            <a:ext cx="45720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kumimoji="1" lang="zh-CN" altLang="zh-CN" sz="2000" b="1">
              <a:latin typeface="Times New Roman" pitchFamily="18" charset="0"/>
            </a:endParaRPr>
          </a:p>
        </p:txBody>
      </p:sp>
      <p:graphicFrame>
        <p:nvGraphicFramePr>
          <p:cNvPr id="37" name="Object 8"/>
          <p:cNvGraphicFramePr>
            <a:graphicFrameLocks noChangeAspect="1"/>
          </p:cNvGraphicFramePr>
          <p:nvPr/>
        </p:nvGraphicFramePr>
        <p:xfrm>
          <a:off x="5899150" y="5051425"/>
          <a:ext cx="2438400" cy="1401763"/>
        </p:xfrm>
        <a:graphic>
          <a:graphicData uri="http://schemas.openxmlformats.org/presentationml/2006/ole">
            <p:oleObj spid="_x0000_s72707" name="Equation" r:id="rId4" imgW="749160" imgH="431640" progId="Equation.3">
              <p:embed/>
            </p:oleObj>
          </a:graphicData>
        </a:graphic>
      </p:graphicFrame>
      <p:graphicFrame>
        <p:nvGraphicFramePr>
          <p:cNvPr id="38" name="Object 10" descr="Ricebk"/>
          <p:cNvGraphicFramePr>
            <a:graphicFrameLocks noChangeAspect="1"/>
          </p:cNvGraphicFramePr>
          <p:nvPr>
            <p:ph idx="4294967295"/>
          </p:nvPr>
        </p:nvGraphicFramePr>
        <p:xfrm>
          <a:off x="1754422" y="3898547"/>
          <a:ext cx="3240088" cy="2557462"/>
        </p:xfrm>
        <a:graphic>
          <a:graphicData uri="http://schemas.openxmlformats.org/presentationml/2006/ole">
            <p:oleObj spid="_x0000_s72708" name="Equation" r:id="rId5" imgW="1447560" imgH="1143000" progId="Equation.3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3417956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 nodeType="clickPar">
                      <p:stCondLst>
                        <p:cond delay="indefinite"/>
                      </p:stCondLst>
                      <p:childTnLst>
                        <p:par>
                          <p:cTn id="6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199" y="228645"/>
            <a:ext cx="10787744" cy="1325563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单纯形法求解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337000" y="1292444"/>
            <a:ext cx="36655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>
                <a:latin typeface="Times New Roman" pitchFamily="18" charset="0"/>
              </a:rPr>
              <a:t>系数矩阵的增广矩阵</a:t>
            </a:r>
          </a:p>
        </p:txBody>
      </p:sp>
      <p:graphicFrame>
        <p:nvGraphicFramePr>
          <p:cNvPr id="41" name="Object 5"/>
          <p:cNvGraphicFramePr>
            <a:graphicFrameLocks noChangeAspect="1"/>
          </p:cNvGraphicFramePr>
          <p:nvPr/>
        </p:nvGraphicFramePr>
        <p:xfrm>
          <a:off x="1697362" y="2073494"/>
          <a:ext cx="5737225" cy="2257425"/>
        </p:xfrm>
        <a:graphic>
          <a:graphicData uri="http://schemas.openxmlformats.org/presentationml/2006/ole">
            <p:oleObj spid="_x0000_s49166" name="公式" r:id="rId3" imgW="3022560" imgH="1193760" progId="Equation.3">
              <p:embed/>
            </p:oleObj>
          </a:graphicData>
        </a:graphic>
      </p:graphicFrame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1413222" y="4398587"/>
            <a:ext cx="10078192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因为</a:t>
            </a:r>
            <a:r>
              <a:rPr kumimoji="1" lang="en-US" altLang="zh-CN" sz="2800" b="1" dirty="0">
                <a:latin typeface="Times New Roman" pitchFamily="18" charset="0"/>
              </a:rPr>
              <a:t>p</a:t>
            </a:r>
            <a:r>
              <a:rPr kumimoji="1" lang="en-US" altLang="zh-CN" sz="2800" b="1" baseline="-25000" dirty="0">
                <a:latin typeface="Times New Roman" pitchFamily="18" charset="0"/>
              </a:rPr>
              <a:t>1</a:t>
            </a:r>
            <a:r>
              <a:rPr kumimoji="1" lang="en-US" altLang="zh-CN" sz="2800" b="1" dirty="0">
                <a:latin typeface="Times New Roman" pitchFamily="18" charset="0"/>
              </a:rPr>
              <a:t>,…,p</a:t>
            </a:r>
            <a:r>
              <a:rPr kumimoji="1" lang="en-US" altLang="zh-CN" sz="2800" b="1" baseline="-25000" dirty="0">
                <a:latin typeface="Times New Roman" pitchFamily="18" charset="0"/>
              </a:rPr>
              <a:t>m</a:t>
            </a:r>
            <a:r>
              <a:rPr kumimoji="1" lang="en-US" altLang="zh-CN" sz="2800" b="1" dirty="0">
                <a:latin typeface="Times New Roman" pitchFamily="18" charset="0"/>
              </a:rPr>
              <a:t>,</a:t>
            </a:r>
            <a:r>
              <a:rPr kumimoji="1" lang="zh-CN" altLang="en-US" sz="2800" b="1" dirty="0">
                <a:latin typeface="Times New Roman" pitchFamily="18" charset="0"/>
              </a:rPr>
              <a:t>是一个基，其他向量</a:t>
            </a:r>
            <a:r>
              <a:rPr kumimoji="1" lang="en-US" altLang="zh-CN" sz="2800" b="1" dirty="0" err="1">
                <a:latin typeface="Times New Roman" pitchFamily="18" charset="0"/>
              </a:rPr>
              <a:t>p</a:t>
            </a:r>
            <a:r>
              <a:rPr kumimoji="1" lang="en-US" altLang="zh-CN" sz="2800" b="1" baseline="-25000" dirty="0" err="1">
                <a:latin typeface="Times New Roman" pitchFamily="18" charset="0"/>
              </a:rPr>
              <a:t>j</a:t>
            </a:r>
            <a:r>
              <a:rPr kumimoji="1" lang="zh-CN" altLang="en-US" sz="2800" b="1" dirty="0">
                <a:latin typeface="Times New Roman" pitchFamily="18" charset="0"/>
              </a:rPr>
              <a:t>可以这个基的线性组合表示：</a:t>
            </a:r>
          </a:p>
        </p:txBody>
      </p:sp>
      <p:graphicFrame>
        <p:nvGraphicFramePr>
          <p:cNvPr id="43" name="Object 8" descr="Ricebk"/>
          <p:cNvGraphicFramePr>
            <a:graphicFrameLocks noChangeAspect="1"/>
          </p:cNvGraphicFramePr>
          <p:nvPr>
            <p:ph idx="4294967295"/>
          </p:nvPr>
        </p:nvGraphicFramePr>
        <p:xfrm>
          <a:off x="3594431" y="5071115"/>
          <a:ext cx="3097213" cy="1620837"/>
        </p:xfrm>
        <a:graphic>
          <a:graphicData uri="http://schemas.openxmlformats.org/presentationml/2006/ole">
            <p:oleObj spid="_x0000_s49167" name="公式" r:id="rId4" imgW="825480" imgH="431640" progId="Equation.3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3417956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 nodeType="clickPar">
                      <p:stCondLst>
                        <p:cond delay="indefinite"/>
                      </p:stCondLst>
                      <p:childTnLst>
                        <p:par>
                          <p:cTn id="6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199" y="228645"/>
            <a:ext cx="10787744" cy="1325563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单纯形法求解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686182" y="1425794"/>
          <a:ext cx="1974850" cy="1030287"/>
        </p:xfrm>
        <a:graphic>
          <a:graphicData uri="http://schemas.openxmlformats.org/presentationml/2006/ole">
            <p:oleObj spid="_x0000_s73732" name="公式" r:id="rId3" imgW="825480" imgH="431640" progId="Equation.3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686182" y="2576731"/>
          <a:ext cx="1943100" cy="1004888"/>
        </p:xfrm>
        <a:graphic>
          <a:graphicData uri="http://schemas.openxmlformats.org/presentationml/2006/ole">
            <p:oleObj spid="_x0000_s73733" name="公式" r:id="rId4" imgW="825500" imgH="431800" progId="Equation.3">
              <p:embed/>
            </p:oleObj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1768732" y="3800694"/>
          <a:ext cx="7324725" cy="925512"/>
        </p:xfrm>
        <a:graphic>
          <a:graphicData uri="http://schemas.openxmlformats.org/presentationml/2006/ole">
            <p:oleObj spid="_x0000_s73734" name="公式" r:id="rId5" imgW="3390840" imgH="431640" progId="Equation.3">
              <p:embed/>
            </p:oleObj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3702307" y="1713131"/>
            <a:ext cx="5545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>
                <a:latin typeface="宋体" pitchFamily="2" charset="-122"/>
              </a:rPr>
              <a:t>相减，然后乘上一个正数</a:t>
            </a:r>
            <a:r>
              <a:rPr kumimoji="1" lang="en-US" altLang="zh-CN" sz="2800">
                <a:latin typeface="宋体" pitchFamily="2" charset="-122"/>
              </a:rPr>
              <a:t>θ,</a:t>
            </a:r>
            <a:r>
              <a:rPr kumimoji="1" lang="zh-CN" altLang="en-US" sz="2800">
                <a:latin typeface="宋体" pitchFamily="2" charset="-122"/>
              </a:rPr>
              <a:t>加上</a:t>
            </a:r>
            <a:endParaRPr kumimoji="1" lang="zh-CN" altLang="en-US" sz="2800">
              <a:latin typeface="Times New Roman" pitchFamily="18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3773745" y="2792631"/>
            <a:ext cx="2673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>
                <a:latin typeface="宋体" pitchFamily="2" charset="-122"/>
              </a:rPr>
              <a:t>经过整理得到：</a:t>
            </a:r>
            <a:endParaRPr kumimoji="1" lang="zh-CN" altLang="en-US" sz="2800">
              <a:latin typeface="Times New Roman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997707" y="4808756"/>
          <a:ext cx="1873250" cy="1100138"/>
        </p:xfrm>
        <a:graphic>
          <a:graphicData uri="http://schemas.openxmlformats.org/presentationml/2006/ole">
            <p:oleObj spid="_x0000_s73735" name="公式" r:id="rId6" imgW="761669" imgH="444307" progId="Equation.3">
              <p:embed/>
            </p:oleObj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1757620" y="6034306"/>
          <a:ext cx="5689600" cy="574675"/>
        </p:xfrm>
        <a:graphic>
          <a:graphicData uri="http://schemas.openxmlformats.org/presentationml/2006/ole">
            <p:oleObj spid="_x0000_s73736" name="公式" r:id="rId7" imgW="2540000" imgH="254000" progId="Equation.3">
              <p:embed/>
            </p:oleObj>
          </a:graphicData>
        </a:graphic>
      </p:graphicFrame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942395" y="5024656"/>
            <a:ext cx="20875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>
                <a:latin typeface="宋体" pitchFamily="2" charset="-122"/>
              </a:rPr>
              <a:t>的另一点：</a:t>
            </a:r>
            <a:endParaRPr kumimoji="1" lang="zh-CN" altLang="en-US" sz="2800">
              <a:latin typeface="Times New Roman" pitchFamily="18" charset="0"/>
            </a:endParaRPr>
          </a:p>
        </p:txBody>
      </p:sp>
      <p:grpSp>
        <p:nvGrpSpPr>
          <p:cNvPr id="15" name="Group 18"/>
          <p:cNvGrpSpPr>
            <a:grpSpLocks/>
          </p:cNvGrpSpPr>
          <p:nvPr/>
        </p:nvGrpSpPr>
        <p:grpSpPr bwMode="auto">
          <a:xfrm>
            <a:off x="5789870" y="489169"/>
            <a:ext cx="3313112" cy="1008062"/>
            <a:chOff x="2925" y="119"/>
            <a:chExt cx="2087" cy="635"/>
          </a:xfrm>
        </p:grpSpPr>
        <p:sp>
          <p:nvSpPr>
            <p:cNvPr id="16" name="AutoShape 15"/>
            <p:cNvSpPr>
              <a:spLocks noChangeArrowheads="1"/>
            </p:cNvSpPr>
            <p:nvPr/>
          </p:nvSpPr>
          <p:spPr bwMode="auto">
            <a:xfrm>
              <a:off x="2925" y="119"/>
              <a:ext cx="2087" cy="635"/>
            </a:xfrm>
            <a:prstGeom prst="wedgeRectCallout">
              <a:avLst>
                <a:gd name="adj1" fmla="val -47366"/>
                <a:gd name="adj2" fmla="val 90472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kumimoji="1" lang="zh-CN" altLang="zh-CN" sz="2000">
                <a:latin typeface="Times New Roman" pitchFamily="18" charset="0"/>
              </a:endParaRPr>
            </a:p>
          </p:txBody>
        </p:sp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3061" y="218"/>
            <a:ext cx="1769" cy="498"/>
          </p:xfrm>
          <a:graphic>
            <a:graphicData uri="http://schemas.openxmlformats.org/presentationml/2006/ole">
              <p:oleObj spid="_x0000_s73737" name="公式" r:id="rId8" imgW="1218960" imgH="431640" progId="Equation.3">
                <p:embed/>
              </p:oleObj>
            </a:graphicData>
          </a:graphic>
        </p:graphicFrame>
      </p:grp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789870" y="3657819"/>
            <a:ext cx="3600450" cy="1223962"/>
          </a:xfrm>
          <a:prstGeom prst="rect">
            <a:avLst/>
          </a:prstGeom>
          <a:solidFill>
            <a:srgbClr val="FFFF00">
              <a:alpha val="74117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zh-CN" altLang="zh-CN" sz="2000" b="1">
              <a:latin typeface="Times New Roman" pitchFamily="18" charset="0"/>
            </a:endParaRPr>
          </a:p>
        </p:txBody>
      </p:sp>
      <p:sp>
        <p:nvSpPr>
          <p:cNvPr id="19" name="AutoShape 20"/>
          <p:cNvSpPr>
            <a:spLocks noChangeArrowheads="1"/>
          </p:cNvSpPr>
          <p:nvPr/>
        </p:nvSpPr>
        <p:spPr bwMode="auto">
          <a:xfrm>
            <a:off x="7879020" y="5458044"/>
            <a:ext cx="2232025" cy="1295400"/>
          </a:xfrm>
          <a:prstGeom prst="wedgeRectCallout">
            <a:avLst>
              <a:gd name="adj1" fmla="val -106972"/>
              <a:gd name="adj2" fmla="val -856"/>
            </a:avLst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 algn="ctr"/>
            <a:r>
              <a:rPr kumimoji="1" lang="zh-CN" altLang="en-US" sz="2000">
                <a:latin typeface="Times New Roman" pitchFamily="18" charset="0"/>
              </a:rPr>
              <a:t>第</a:t>
            </a:r>
            <a:r>
              <a:rPr kumimoji="1" lang="en-US" altLang="zh-CN" sz="2000">
                <a:latin typeface="Times New Roman" pitchFamily="18" charset="0"/>
              </a:rPr>
              <a:t>j</a:t>
            </a:r>
            <a:r>
              <a:rPr kumimoji="1" lang="zh-CN" altLang="en-US" sz="2000">
                <a:latin typeface="Times New Roman" pitchFamily="18" charset="0"/>
              </a:rPr>
              <a:t>个大于</a:t>
            </a:r>
            <a:r>
              <a:rPr kumimoji="1" lang="en-US" altLang="zh-CN" sz="2000">
                <a:latin typeface="Times New Roman" pitchFamily="18" charset="0"/>
              </a:rPr>
              <a:t>0</a:t>
            </a:r>
          </a:p>
          <a:p>
            <a:pPr algn="ctr"/>
            <a:r>
              <a:rPr kumimoji="1" lang="zh-CN" altLang="en-US" sz="2000">
                <a:latin typeface="Times New Roman" pitchFamily="18" charset="0"/>
              </a:rPr>
              <a:t>只变换</a:t>
            </a:r>
            <a:r>
              <a:rPr kumimoji="1" lang="en-US" altLang="zh-CN" sz="2000">
                <a:latin typeface="Times New Roman" pitchFamily="18" charset="0"/>
              </a:rPr>
              <a:t>1</a:t>
            </a:r>
            <a:r>
              <a:rPr kumimoji="1" lang="zh-CN" altLang="en-US" sz="2000">
                <a:latin typeface="Times New Roman" pitchFamily="18" charset="0"/>
              </a:rPr>
              <a:t>个变量；</a:t>
            </a:r>
          </a:p>
          <a:p>
            <a:pPr algn="ctr"/>
            <a:r>
              <a:rPr kumimoji="1" lang="zh-CN" altLang="en-US" sz="2000">
                <a:latin typeface="Times New Roman" pitchFamily="18" charset="0"/>
              </a:rPr>
              <a:t>前</a:t>
            </a:r>
            <a:r>
              <a:rPr kumimoji="1" lang="en-US" altLang="zh-CN" sz="2000">
                <a:latin typeface="Times New Roman" pitchFamily="18" charset="0"/>
              </a:rPr>
              <a:t>m</a:t>
            </a:r>
            <a:r>
              <a:rPr kumimoji="1" lang="zh-CN" altLang="en-US" sz="2000">
                <a:latin typeface="Times New Roman" pitchFamily="18" charset="0"/>
              </a:rPr>
              <a:t>个变量必须换出</a:t>
            </a:r>
            <a:r>
              <a:rPr kumimoji="1" lang="en-US" altLang="zh-CN" sz="2000">
                <a:latin typeface="Times New Roman" pitchFamily="18" charset="0"/>
              </a:rPr>
              <a:t>1</a:t>
            </a:r>
            <a:r>
              <a:rPr kumimoji="1" lang="zh-CN" altLang="en-US" sz="2000">
                <a:latin typeface="Times New Roman" pitchFamily="18" charset="0"/>
              </a:rPr>
              <a:t>个</a:t>
            </a: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3417956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 nodeType="clickPar">
                      <p:stCondLst>
                        <p:cond delay="indefinite"/>
                      </p:stCondLst>
                      <p:childTnLst>
                        <p:par>
                          <p:cTn id="6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199" y="228645"/>
            <a:ext cx="1078774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单纯形法求解</a:t>
            </a:r>
            <a:r>
              <a:rPr lang="en-US" altLang="zh-CN" b="1" smtClean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en-US" altLang="zh-CN" b="1" smtClean="0">
                <a:solidFill>
                  <a:srgbClr val="0070C0"/>
                </a:solidFill>
                <a:latin typeface="Times New Roman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III.</a:t>
            </a:r>
            <a:r>
              <a:rPr lang="zh-CN" altLang="en-US" sz="4000" b="1" smtClean="0">
                <a:latin typeface="楷体" panose="02010609060101010101" pitchFamily="49" charset="-122"/>
                <a:ea typeface="楷体" panose="02010609060101010101" pitchFamily="49" charset="-122"/>
              </a:rPr>
              <a:t>可行性检验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1331334" y="2210041"/>
          <a:ext cx="2016125" cy="649288"/>
        </p:xfrm>
        <a:graphic>
          <a:graphicData uri="http://schemas.openxmlformats.org/presentationml/2006/ole">
            <p:oleObj spid="_x0000_s74754" name="公式" r:id="rId3" imgW="799753" imgH="253890" progId="Equation.3">
              <p:embed/>
            </p:oleObj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331334" y="3865804"/>
          <a:ext cx="7488238" cy="1163637"/>
        </p:xfrm>
        <a:graphic>
          <a:graphicData uri="http://schemas.openxmlformats.org/presentationml/2006/ole">
            <p:oleObj spid="_x0000_s74755" name="公式" r:id="rId4" imgW="2997200" imgH="469900" progId="Equation.3">
              <p:embed/>
            </p:oleObj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331334" y="5378691"/>
          <a:ext cx="3455988" cy="1306513"/>
        </p:xfrm>
        <a:graphic>
          <a:graphicData uri="http://schemas.openxmlformats.org/presentationml/2006/ole">
            <p:oleObj spid="_x0000_s74756" name="公式" r:id="rId5" imgW="1206500" imgH="457200" progId="Equation.3">
              <p:embed/>
            </p:oleObj>
          </a:graphicData>
        </a:graphic>
      </p:graphicFrame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115434" y="1246429"/>
            <a:ext cx="9843718" cy="95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其中</a:t>
            </a:r>
            <a:r>
              <a:rPr kumimoji="1" lang="en-US" altLang="zh-CN" sz="2800" b="1" dirty="0">
                <a:latin typeface="宋体" pitchFamily="2" charset="-122"/>
              </a:rPr>
              <a:t>θ</a:t>
            </a:r>
            <a:r>
              <a:rPr kumimoji="1" lang="zh-CN" altLang="en-US" sz="2800" b="1" dirty="0">
                <a:latin typeface="宋体" pitchFamily="2" charset="-122"/>
              </a:rPr>
              <a:t>是</a:t>
            </a:r>
            <a:r>
              <a:rPr kumimoji="1" lang="en-US" altLang="zh-CN" sz="2800" b="1" dirty="0">
                <a:latin typeface="宋体" pitchFamily="2" charset="-122"/>
              </a:rPr>
              <a:t>X</a:t>
            </a:r>
            <a:r>
              <a:rPr kumimoji="1" lang="zh-CN" altLang="en-US" sz="2800" b="1" baseline="30000" dirty="0">
                <a:latin typeface="宋体" pitchFamily="2" charset="-122"/>
              </a:rPr>
              <a:t>（</a:t>
            </a:r>
            <a:r>
              <a:rPr kumimoji="1" lang="en-US" altLang="zh-CN" sz="2800" b="1" baseline="30000" dirty="0">
                <a:latin typeface="宋体" pitchFamily="2" charset="-122"/>
              </a:rPr>
              <a:t>1</a:t>
            </a:r>
            <a:r>
              <a:rPr kumimoji="1" lang="zh-CN" altLang="en-US" sz="2800" b="1" baseline="30000" dirty="0">
                <a:latin typeface="宋体" pitchFamily="2" charset="-122"/>
              </a:rPr>
              <a:t>）</a:t>
            </a:r>
            <a:r>
              <a:rPr kumimoji="1" lang="zh-CN" altLang="en-US" sz="2800" b="1" dirty="0">
                <a:latin typeface="宋体" pitchFamily="2" charset="-122"/>
              </a:rPr>
              <a:t>的第</a:t>
            </a:r>
            <a:r>
              <a:rPr kumimoji="1" lang="en-US" altLang="zh-CN" sz="2800" b="1" dirty="0">
                <a:latin typeface="宋体" pitchFamily="2" charset="-122"/>
              </a:rPr>
              <a:t>j</a:t>
            </a:r>
            <a:r>
              <a:rPr kumimoji="1" lang="zh-CN" altLang="en-US" sz="2800" b="1" dirty="0">
                <a:latin typeface="宋体" pitchFamily="2" charset="-122"/>
              </a:rPr>
              <a:t>个坐标的值，要使</a:t>
            </a:r>
            <a:r>
              <a:rPr kumimoji="1" lang="en-US" altLang="zh-CN" sz="2800" b="1" dirty="0">
                <a:latin typeface="宋体" pitchFamily="2" charset="-122"/>
              </a:rPr>
              <a:t>X</a:t>
            </a:r>
            <a:r>
              <a:rPr kumimoji="1" lang="zh-CN" altLang="en-US" sz="2800" b="1" baseline="30000" dirty="0">
                <a:latin typeface="宋体" pitchFamily="2" charset="-122"/>
              </a:rPr>
              <a:t>（</a:t>
            </a:r>
            <a:r>
              <a:rPr kumimoji="1" lang="en-US" altLang="zh-CN" sz="2800" b="1" baseline="30000" dirty="0">
                <a:latin typeface="宋体" pitchFamily="2" charset="-122"/>
              </a:rPr>
              <a:t>1</a:t>
            </a:r>
            <a:r>
              <a:rPr kumimoji="1" lang="zh-CN" altLang="en-US" sz="2800" b="1" baseline="30000" dirty="0">
                <a:latin typeface="宋体" pitchFamily="2" charset="-122"/>
              </a:rPr>
              <a:t>）</a:t>
            </a:r>
            <a:r>
              <a:rPr kumimoji="1" lang="zh-CN" altLang="en-US" sz="2800" b="1" dirty="0">
                <a:latin typeface="宋体" pitchFamily="2" charset="-122"/>
              </a:rPr>
              <a:t>是一个基可行解，对所有的</a:t>
            </a:r>
            <a:r>
              <a:rPr kumimoji="1" lang="en-US" altLang="zh-CN" sz="2800" b="1" dirty="0" err="1">
                <a:latin typeface="宋体" pitchFamily="2" charset="-122"/>
              </a:rPr>
              <a:t>i</a:t>
            </a:r>
            <a:r>
              <a:rPr kumimoji="1" lang="en-US" altLang="zh-CN" sz="2800" b="1" dirty="0">
                <a:latin typeface="宋体" pitchFamily="2" charset="-122"/>
              </a:rPr>
              <a:t>=1,</a:t>
            </a:r>
            <a:r>
              <a:rPr kumimoji="1" lang="en-US" altLang="zh-CN" sz="2800" b="1" dirty="0">
                <a:latin typeface="Times New Roman" pitchFamily="18" charset="0"/>
              </a:rPr>
              <a:t>…</a:t>
            </a:r>
            <a:r>
              <a:rPr kumimoji="1" lang="en-US" altLang="zh-CN" sz="2800" b="1" dirty="0">
                <a:latin typeface="宋体" pitchFamily="2" charset="-122"/>
              </a:rPr>
              <a:t>,m,</a:t>
            </a:r>
            <a:r>
              <a:rPr kumimoji="1" lang="zh-CN" altLang="en-US" sz="2800" b="1" dirty="0">
                <a:latin typeface="宋体" pitchFamily="2" charset="-122"/>
              </a:rPr>
              <a:t>存在</a:t>
            </a:r>
            <a:endParaRPr kumimoji="1" lang="en-US" altLang="zh-CN" sz="2400" dirty="0">
              <a:latin typeface="Times New Roman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331334" y="2929179"/>
            <a:ext cx="7488238" cy="946150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>
                <a:latin typeface="宋体" pitchFamily="2" charset="-122"/>
              </a:rPr>
              <a:t>令这</a:t>
            </a:r>
            <a:r>
              <a:rPr kumimoji="1" lang="en-US" altLang="zh-CN" sz="2800">
                <a:latin typeface="宋体" pitchFamily="2" charset="-122"/>
              </a:rPr>
              <a:t>m</a:t>
            </a:r>
            <a:r>
              <a:rPr kumimoji="1" lang="zh-CN" altLang="en-US" sz="2800">
                <a:latin typeface="宋体" pitchFamily="2" charset="-122"/>
              </a:rPr>
              <a:t>个不等式至少有一个等号成立，当</a:t>
            </a:r>
            <a:endParaRPr kumimoji="1" lang="zh-CN" altLang="en-US" sz="2800">
              <a:latin typeface="Times New Roman" pitchFamily="18" charset="0"/>
            </a:endParaRPr>
          </a:p>
          <a:p>
            <a:pPr eaLnBrk="0" hangingPunct="0"/>
            <a:endParaRPr kumimoji="1" lang="en-US" altLang="zh-CN" sz="28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3417956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 nodeType="clickPar">
                      <p:stCondLst>
                        <p:cond delay="indefinite"/>
                      </p:stCondLst>
                      <p:childTnLst>
                        <p:par>
                          <p:cTn id="6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838199" y="228645"/>
            <a:ext cx="10787744" cy="1325563"/>
          </a:xfrm>
        </p:spPr>
        <p:txBody>
          <a:bodyPr>
            <a:normAutofit/>
          </a:bodyPr>
          <a:lstStyle/>
          <a:p>
            <a:r>
              <a:rPr lang="zh-CN" altLang="en-US" b="1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单纯形法求解</a:t>
            </a:r>
            <a:r>
              <a:rPr lang="en-US" altLang="zh-CN" b="1" smtClean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en-US" altLang="zh-CN" b="1" smtClean="0">
                <a:solidFill>
                  <a:srgbClr val="0070C0"/>
                </a:solidFill>
                <a:latin typeface="Times New Roman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IV.</a:t>
            </a:r>
            <a:r>
              <a:rPr lang="zh-CN" altLang="en-US" sz="4000" b="1">
                <a:latin typeface="楷体" panose="02010609060101010101" pitchFamily="49" charset="-122"/>
                <a:ea typeface="楷体" panose="02010609060101010101" pitchFamily="49" charset="-122"/>
              </a:rPr>
              <a:t>求解新的基可行解</a:t>
            </a:r>
          </a:p>
        </p:txBody>
      </p:sp>
      <p:grpSp>
        <p:nvGrpSpPr>
          <p:cNvPr id="18" name="组合 9"/>
          <p:cNvGrpSpPr/>
          <p:nvPr/>
        </p:nvGrpSpPr>
        <p:grpSpPr>
          <a:xfrm>
            <a:off x="898075" y="1894320"/>
            <a:ext cx="10319656" cy="3072882"/>
            <a:chOff x="898075" y="1894320"/>
            <a:chExt cx="10319656" cy="3072882"/>
          </a:xfrm>
        </p:grpSpPr>
        <p:sp>
          <p:nvSpPr>
            <p:cNvPr id="19" name="矩形 18"/>
            <p:cNvSpPr/>
            <p:nvPr/>
          </p:nvSpPr>
          <p:spPr>
            <a:xfrm>
              <a:off x="898075" y="1894320"/>
              <a:ext cx="10319656" cy="307288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>
                <a:spcBef>
                  <a:spcPts val="1800"/>
                </a:spcBef>
              </a:pPr>
              <a:r>
                <a:rPr lang="zh-CN" altLang="en-US" sz="2800" b="1">
                  <a:solidFill>
                    <a:prstClr val="black"/>
                  </a:solidFill>
                  <a:latin typeface="宋体" pitchFamily="2" charset="-122"/>
                </a:rPr>
                <a:t>方法</a:t>
              </a:r>
              <a:r>
                <a:rPr lang="zh-CN" altLang="en-US" sz="2800" b="1" smtClean="0">
                  <a:solidFill>
                    <a:prstClr val="black"/>
                  </a:solidFill>
                  <a:latin typeface="宋体" pitchFamily="2" charset="-122"/>
                </a:rPr>
                <a:t>： </a:t>
              </a:r>
              <a:endParaRPr lang="en-US" altLang="zh-CN" sz="2800" b="1" smtClean="0">
                <a:solidFill>
                  <a:prstClr val="black"/>
                </a:solidFill>
                <a:latin typeface="宋体" pitchFamily="2" charset="-122"/>
              </a:endParaRPr>
            </a:p>
            <a:p>
              <a:pPr>
                <a:spcBef>
                  <a:spcPts val="1800"/>
                </a:spcBef>
              </a:pPr>
              <a:r>
                <a:rPr lang="zh-CN" altLang="en-US" sz="2800" b="1" smtClean="0">
                  <a:solidFill>
                    <a:prstClr val="black"/>
                  </a:solidFill>
                  <a:latin typeface="宋体" pitchFamily="2" charset="-122"/>
                </a:rPr>
                <a:t>① 用入基变量   替换基变量中的换出变量   ，得到一个新的基                         ；</a:t>
              </a:r>
              <a:endParaRPr lang="en-US" altLang="zh-CN" sz="2800" b="1" smtClean="0">
                <a:solidFill>
                  <a:prstClr val="black"/>
                </a:solidFill>
                <a:latin typeface="宋体" pitchFamily="2" charset="-122"/>
              </a:endParaRPr>
            </a:p>
            <a:p>
              <a:pPr>
                <a:spcBef>
                  <a:spcPts val="1800"/>
                </a:spcBef>
              </a:pPr>
              <a:r>
                <a:rPr lang="zh-CN" altLang="en-US" sz="2800" b="1" smtClean="0">
                  <a:solidFill>
                    <a:prstClr val="black"/>
                  </a:solidFill>
                  <a:latin typeface="宋体" pitchFamily="2" charset="-122"/>
                </a:rPr>
                <a:t>② 对应这个基可以找到一个新的基可行解；</a:t>
              </a:r>
              <a:endParaRPr lang="en-US" altLang="zh-CN" sz="2800" b="1" smtClean="0">
                <a:solidFill>
                  <a:prstClr val="black"/>
                </a:solidFill>
                <a:latin typeface="宋体" pitchFamily="2" charset="-122"/>
              </a:endParaRPr>
            </a:p>
            <a:p>
              <a:pPr>
                <a:spcBef>
                  <a:spcPts val="1800"/>
                </a:spcBef>
              </a:pPr>
              <a:r>
                <a:rPr lang="zh-CN" altLang="en-US" sz="2800" b="1" smtClean="0">
                  <a:solidFill>
                    <a:prstClr val="black"/>
                  </a:solidFill>
                  <a:latin typeface="宋体" pitchFamily="2" charset="-122"/>
                </a:rPr>
                <a:t>③ 重复步骤</a:t>
              </a:r>
              <a:r>
                <a:rPr lang="en-US" altLang="zh-CN" sz="2800" b="1" smtClean="0">
                  <a:solidFill>
                    <a:prstClr val="black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II</a:t>
              </a:r>
              <a:r>
                <a:rPr lang="zh-CN" altLang="en-US" sz="2800" b="1" smtClean="0">
                  <a:solidFill>
                    <a:prstClr val="black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800" b="1" smtClean="0">
                  <a:solidFill>
                    <a:prstClr val="black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III</a:t>
              </a:r>
              <a:r>
                <a:rPr lang="zh-CN" altLang="en-US" sz="2800" b="1" smtClean="0">
                  <a:solidFill>
                    <a:prstClr val="black"/>
                  </a:solidFill>
                  <a:latin typeface="宋体" pitchFamily="2" charset="-122"/>
                </a:rPr>
                <a:t>，直到结束，求出最优解。</a:t>
              </a:r>
              <a:r>
                <a:rPr lang="en-US" altLang="zh-CN" sz="2800" b="1" smtClean="0">
                  <a:solidFill>
                    <a:prstClr val="black"/>
                  </a:solidFill>
                  <a:latin typeface="宋体" pitchFamily="2" charset="-122"/>
                </a:rPr>
                <a:t>           </a:t>
              </a:r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367531804"/>
                </p:ext>
              </p:extLst>
            </p:nvPr>
          </p:nvGraphicFramePr>
          <p:xfrm>
            <a:off x="3441476" y="2639204"/>
            <a:ext cx="403225" cy="476250"/>
          </p:xfrm>
          <a:graphic>
            <a:graphicData uri="http://schemas.openxmlformats.org/presentationml/2006/ole">
              <p:oleObj spid="_x0000_s88072" name="Equation" r:id="rId3" imgW="0" imgH="0" progId="">
                <p:embed/>
              </p:oleObj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3666023076"/>
                </p:ext>
              </p:extLst>
            </p:nvPr>
          </p:nvGraphicFramePr>
          <p:xfrm>
            <a:off x="7875462" y="2672375"/>
            <a:ext cx="371475" cy="476250"/>
          </p:xfrm>
          <a:graphic>
            <a:graphicData uri="http://schemas.openxmlformats.org/presentationml/2006/ole">
              <p:oleObj spid="_x0000_s88073" name="Equation" r:id="rId4" imgW="0" imgH="0" progId="">
                <p:embed/>
              </p:oleObj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3225908424"/>
                </p:ext>
              </p:extLst>
            </p:nvPr>
          </p:nvGraphicFramePr>
          <p:xfrm>
            <a:off x="1436220" y="3100942"/>
            <a:ext cx="4310063" cy="476250"/>
          </p:xfrm>
          <a:graphic>
            <a:graphicData uri="http://schemas.openxmlformats.org/presentationml/2006/ole">
              <p:oleObj spid="_x0000_s88074" name="Equation" r:id="rId5" imgW="0" imgH="0" progId="">
                <p:embed/>
              </p:oleObj>
            </a:graphicData>
          </a:graphic>
        </p:graphicFrame>
      </p:grpSp>
      <p:sp>
        <p:nvSpPr>
          <p:cNvPr id="23" name="矩形 22"/>
          <p:cNvSpPr/>
          <p:nvPr/>
        </p:nvSpPr>
        <p:spPr>
          <a:xfrm>
            <a:off x="708483" y="5365049"/>
            <a:ext cx="10698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</a:pPr>
            <a:r>
              <a:rPr lang="zh-CN" altLang="en-US" sz="3200" smtClean="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旋转变换的</a:t>
            </a:r>
            <a:r>
              <a:rPr lang="zh-CN" altLang="en-US" sz="32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实质就是用一系列的初等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行</a:t>
            </a:r>
            <a:r>
              <a:rPr lang="zh-CN" altLang="en-US" sz="3200" smtClean="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变换</a:t>
            </a:r>
            <a:r>
              <a:rPr lang="zh-CN" altLang="en-US" sz="3200" smtClean="0">
                <a:solidFill>
                  <a:srgbClr val="CC0000"/>
                </a:solidFill>
                <a:latin typeface="Times New Roman" pitchFamily="18" charset="0"/>
                <a:ea typeface="隶书" pitchFamily="49" charset="-122"/>
              </a:rPr>
              <a:t>将</a:t>
            </a:r>
            <a:r>
              <a:rPr lang="zh-CN" altLang="en-US" sz="3200">
                <a:solidFill>
                  <a:srgbClr val="CC0000"/>
                </a:solidFill>
                <a:latin typeface="Times New Roman" pitchFamily="18" charset="0"/>
                <a:ea typeface="隶书" pitchFamily="49" charset="-122"/>
              </a:rPr>
              <a:t>主元列变为单位列向量</a:t>
            </a:r>
            <a:r>
              <a:rPr lang="zh-CN" altLang="en-US" sz="32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，其中</a:t>
            </a:r>
            <a:r>
              <a:rPr lang="zh-CN" altLang="en-US" sz="3200" smtClean="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主元</a:t>
            </a:r>
            <a:r>
              <a:rPr lang="zh-CN" altLang="en-US" sz="32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变为</a:t>
            </a:r>
            <a:r>
              <a:rPr lang="en-US" altLang="zh-CN" sz="32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1</a:t>
            </a:r>
            <a:r>
              <a:rPr lang="zh-CN" altLang="en-US" sz="32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，主元列的其余元素都</a:t>
            </a:r>
            <a:r>
              <a:rPr lang="zh-CN" altLang="en-US" sz="3200" smtClean="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为零</a:t>
            </a:r>
            <a:r>
              <a:rPr lang="zh-CN" altLang="en-US" sz="3200">
                <a:solidFill>
                  <a:srgbClr val="000000"/>
                </a:solidFill>
                <a:latin typeface="Times New Roman" pitchFamily="18" charset="0"/>
                <a:ea typeface="隶书" pitchFamily="49" charset="-122"/>
              </a:rPr>
              <a:t>。</a:t>
            </a: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3417956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5" fill="hold" nodeType="clickPar">
                      <p:stCondLst>
                        <p:cond delay="indefinite"/>
                      </p:stCondLst>
                      <p:childTnLst>
                        <p:par>
                          <p:cTn id="6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indefinite"/>
                            </p:stCond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806920028"/>
              </p:ext>
            </p:extLst>
          </p:nvPr>
        </p:nvGraphicFramePr>
        <p:xfrm>
          <a:off x="2075544" y="3755457"/>
          <a:ext cx="812799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3111"/>
                <a:gridCol w="903111"/>
                <a:gridCol w="903111"/>
                <a:gridCol w="903111"/>
                <a:gridCol w="903111"/>
                <a:gridCol w="903111"/>
                <a:gridCol w="903111"/>
                <a:gridCol w="903111"/>
                <a:gridCol w="903111"/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400" i="1" baseline="-250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400" i="1" baseline="30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360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i="1" baseline="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i="1" baseline="-250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 i="1" baseline="-25000" smtClean="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smtClean="0">
                          <a:latin typeface="Times New Roman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zh-CN" altLang="en-US" sz="2400">
                        <a:latin typeface="Times New Roman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gridSpan="3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kern="120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2400" kern="120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kern="120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anose="02020603050405020304" pitchFamily="18" charset="0"/>
                        </a:rPr>
                        <a:t>12</a:t>
                      </a:r>
                      <a:endParaRPr lang="zh-CN" altLang="en-US" sz="2400" kern="120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kern="120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kern="120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kern="120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kern="120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kern="120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kern="120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圆角矩形标注 12"/>
          <p:cNvSpPr/>
          <p:nvPr/>
        </p:nvSpPr>
        <p:spPr>
          <a:xfrm>
            <a:off x="10249470" y="3637066"/>
            <a:ext cx="1691783" cy="1613361"/>
          </a:xfrm>
          <a:prstGeom prst="wedgeRoundRectCallout">
            <a:avLst>
              <a:gd name="adj1" fmla="val -61169"/>
              <a:gd name="adj2" fmla="val -5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9359" y="1371079"/>
            <a:ext cx="5693227" cy="252004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mtClean="0"/>
              <a:t>例</a:t>
            </a:r>
            <a:r>
              <a:rPr lang="en-US" altLang="zh-CN" smtClean="0"/>
              <a:t>2  </a:t>
            </a:r>
            <a:r>
              <a:rPr lang="zh-CN" altLang="en-US" smtClean="0"/>
              <a:t>用单纯形法求解线性规划问题</a:t>
            </a:r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199" y="228645"/>
            <a:ext cx="10787744" cy="1325563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单纯形法求解</a:t>
            </a:r>
            <a:endParaRPr lang="zh-CN" altLang="en-US" sz="4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857788219"/>
              </p:ext>
            </p:extLst>
          </p:nvPr>
        </p:nvGraphicFramePr>
        <p:xfrm>
          <a:off x="531860" y="2199796"/>
          <a:ext cx="2835454" cy="1580843"/>
        </p:xfrm>
        <a:graphic>
          <a:graphicData uri="http://schemas.openxmlformats.org/presentationml/2006/ole">
            <p:oleObj spid="_x0000_s86018" name="Equation" r:id="rId3" imgW="0" imgH="0" progId="">
              <p:embed/>
            </p:oleObj>
          </a:graphicData>
        </a:graphic>
      </p:graphicFrame>
      <p:graphicFrame>
        <p:nvGraphicFramePr>
          <p:cNvPr id="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759113927"/>
              </p:ext>
            </p:extLst>
          </p:nvPr>
        </p:nvGraphicFramePr>
        <p:xfrm>
          <a:off x="923633" y="1758572"/>
          <a:ext cx="3120680" cy="469589"/>
        </p:xfrm>
        <a:graphic>
          <a:graphicData uri="http://schemas.openxmlformats.org/presentationml/2006/ole">
            <p:oleObj spid="_x0000_s86019" name="Equation" r:id="rId4" imgW="0" imgH="0" progId="">
              <p:embed/>
            </p:oleObj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6531426" y="956219"/>
            <a:ext cx="5823857" cy="499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B050"/>
                </a:solidFill>
              </a:rPr>
              <a:t>解：（</a:t>
            </a:r>
            <a:r>
              <a:rPr lang="en-US" altLang="zh-CN" smtClean="0">
                <a:solidFill>
                  <a:srgbClr val="00B050"/>
                </a:solidFill>
              </a:rPr>
              <a:t>1</a:t>
            </a:r>
            <a:r>
              <a:rPr lang="zh-CN" altLang="en-US" smtClean="0">
                <a:solidFill>
                  <a:srgbClr val="00B050"/>
                </a:solidFill>
              </a:rPr>
              <a:t>）转化为标准型</a:t>
            </a:r>
            <a:endParaRPr lang="zh-CN" altLang="en-US">
              <a:solidFill>
                <a:srgbClr val="00B050"/>
              </a:solidFill>
            </a:endParaRPr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701442406"/>
              </p:ext>
            </p:extLst>
          </p:nvPr>
        </p:nvGraphicFramePr>
        <p:xfrm>
          <a:off x="6440085" y="2026743"/>
          <a:ext cx="5405632" cy="1681599"/>
        </p:xfrm>
        <a:graphic>
          <a:graphicData uri="http://schemas.openxmlformats.org/presentationml/2006/ole">
            <p:oleObj spid="_x0000_s86020" name="Equation" r:id="rId5" imgW="0" imgH="0" progId="">
              <p:embed/>
            </p:oleObj>
          </a:graphicData>
        </a:graphic>
      </p:graphicFrame>
      <p:graphicFrame>
        <p:nvGraphicFramePr>
          <p:cNvPr id="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3644647504"/>
              </p:ext>
            </p:extLst>
          </p:nvPr>
        </p:nvGraphicFramePr>
        <p:xfrm>
          <a:off x="6332586" y="1513400"/>
          <a:ext cx="5728783" cy="455532"/>
        </p:xfrm>
        <a:graphic>
          <a:graphicData uri="http://schemas.openxmlformats.org/presentationml/2006/ole">
            <p:oleObj spid="_x0000_s86021" name="Equation" r:id="rId6" imgW="0" imgH="0" progId="">
              <p:embed/>
            </p:oleObj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878609423"/>
              </p:ext>
            </p:extLst>
          </p:nvPr>
        </p:nvGraphicFramePr>
        <p:xfrm>
          <a:off x="3300234" y="6186488"/>
          <a:ext cx="371475" cy="290512"/>
        </p:xfrm>
        <a:graphic>
          <a:graphicData uri="http://schemas.openxmlformats.org/presentationml/2006/ole">
            <p:oleObj spid="_x0000_s86022" name="Equation" r:id="rId7" imgW="0" imgH="0" progId="">
              <p:embed/>
            </p:oleObj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197077160"/>
              </p:ext>
            </p:extLst>
          </p:nvPr>
        </p:nvGraphicFramePr>
        <p:xfrm>
          <a:off x="9563328" y="4232729"/>
          <a:ext cx="309562" cy="368300"/>
        </p:xfrm>
        <a:graphic>
          <a:graphicData uri="http://schemas.openxmlformats.org/presentationml/2006/ole">
            <p:oleObj spid="_x0000_s86023" name="Equation" r:id="rId8" imgW="0" imgH="0" progId="">
              <p:embed/>
            </p:oleObj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17713" y="4847772"/>
            <a:ext cx="1770743" cy="1796142"/>
            <a:chOff x="217713" y="4847772"/>
            <a:chExt cx="1770743" cy="1796142"/>
          </a:xfrm>
        </p:grpSpPr>
        <p:sp>
          <p:nvSpPr>
            <p:cNvPr id="16" name="圆角矩形标注 15"/>
            <p:cNvSpPr/>
            <p:nvPr/>
          </p:nvSpPr>
          <p:spPr>
            <a:xfrm>
              <a:off x="217713" y="4847772"/>
              <a:ext cx="1770743" cy="1796142"/>
            </a:xfrm>
            <a:prstGeom prst="wedgeRoundRectCallout">
              <a:avLst>
                <a:gd name="adj1" fmla="val 62771"/>
                <a:gd name="adj2" fmla="val 3855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5="http://schemas.microsoft.com/office/powerpoint/2012/main" xmlns:p14="http://schemas.microsoft.com/office/powerpoint/2010/main" val="1529121703"/>
                </p:ext>
              </p:extLst>
            </p:nvPr>
          </p:nvGraphicFramePr>
          <p:xfrm>
            <a:off x="217714" y="5011777"/>
            <a:ext cx="1770742" cy="1465223"/>
          </p:xfrm>
          <a:graphic>
            <a:graphicData uri="http://schemas.openxmlformats.org/presentationml/2006/ole">
              <p:oleObj spid="_x0000_s86024" name="Equation" r:id="rId9" imgW="0" imgH="0" progId="">
                <p:embed/>
              </p:oleObj>
            </a:graphicData>
          </a:graphic>
        </p:graphicFrame>
      </p:grpSp>
      <p:sp>
        <p:nvSpPr>
          <p:cNvPr id="17" name="上箭头 16"/>
          <p:cNvSpPr/>
          <p:nvPr/>
        </p:nvSpPr>
        <p:spPr>
          <a:xfrm>
            <a:off x="6096000" y="6553199"/>
            <a:ext cx="136071" cy="21408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左箭头 22"/>
          <p:cNvSpPr/>
          <p:nvPr/>
        </p:nvSpPr>
        <p:spPr>
          <a:xfrm>
            <a:off x="10334171" y="5791200"/>
            <a:ext cx="377372" cy="15965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718627" y="5595257"/>
            <a:ext cx="841829" cy="4209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smtClean="0">
                <a:solidFill>
                  <a:srgbClr val="C00000"/>
                </a:solidFill>
              </a:rPr>
              <a:t>[    ]</a:t>
            </a:r>
            <a:endParaRPr lang="zh-CN" altLang="en-US" sz="3200">
              <a:solidFill>
                <a:srgbClr val="C00000"/>
              </a:solidFill>
            </a:endParaRPr>
          </a:p>
        </p:txBody>
      </p:sp>
      <p:sp>
        <p:nvSpPr>
          <p:cNvPr id="25" name="云形标注 24"/>
          <p:cNvSpPr/>
          <p:nvPr/>
        </p:nvSpPr>
        <p:spPr>
          <a:xfrm>
            <a:off x="4654827" y="2683830"/>
            <a:ext cx="1785258" cy="747485"/>
          </a:xfrm>
          <a:prstGeom prst="cloudCallout">
            <a:avLst>
              <a:gd name="adj1" fmla="val 27378"/>
              <a:gd name="adj2" fmla="val 34790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/>
              <a:t>主元素</a:t>
            </a:r>
            <a:endParaRPr lang="zh-CN" altLang="en-US" sz="2400" b="1"/>
          </a:p>
        </p:txBody>
      </p:sp>
      <p:sp>
        <p:nvSpPr>
          <p:cNvPr id="10" name="文本框 9"/>
          <p:cNvSpPr txBox="1"/>
          <p:nvPr/>
        </p:nvSpPr>
        <p:spPr>
          <a:xfrm>
            <a:off x="5131837" y="6093183"/>
            <a:ext cx="2239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14745" y="6093182"/>
            <a:ext cx="299179" cy="3564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934977" y="6081809"/>
            <a:ext cx="2239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816508" y="6080253"/>
            <a:ext cx="2239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706625" y="6080253"/>
            <a:ext cx="2239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9600650" y="4785103"/>
            <a:ext cx="309562" cy="240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9592642" y="5250427"/>
            <a:ext cx="309562" cy="240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9603762" y="5707624"/>
            <a:ext cx="309562" cy="240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2901379330"/>
              </p:ext>
            </p:extLst>
          </p:nvPr>
        </p:nvGraphicFramePr>
        <p:xfrm>
          <a:off x="10771188" y="3730625"/>
          <a:ext cx="623887" cy="282575"/>
        </p:xfrm>
        <a:graphic>
          <a:graphicData uri="http://schemas.openxmlformats.org/presentationml/2006/ole">
            <p:oleObj spid="_x0000_s86025" name="Equation" r:id="rId10" imgW="0" imgH="0" progId="">
              <p:embed/>
            </p:oleObj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="" xmlns:p15="http://schemas.microsoft.com/office/powerpoint/2012/main" xmlns:p14="http://schemas.microsoft.com/office/powerpoint/2010/main" val="649244681"/>
              </p:ext>
            </p:extLst>
          </p:nvPr>
        </p:nvGraphicFramePr>
        <p:xfrm>
          <a:off x="10431462" y="4232729"/>
          <a:ext cx="1459743" cy="875846"/>
        </p:xfrm>
        <a:graphic>
          <a:graphicData uri="http://schemas.openxmlformats.org/presentationml/2006/ole">
            <p:oleObj spid="_x0000_s86026" name="Equation" r:id="rId11" imgW="0" imgH="0" progId="">
              <p:embed/>
            </p:oleObj>
          </a:graphicData>
        </a:graphic>
      </p:graphicFrame>
    </p:spTree>
    <p:extLst>
      <p:ext uri="{BB962C8B-B14F-4D97-AF65-F5344CB8AC3E}">
        <p14:creationId xmlns="" xmlns:p15="http://schemas.microsoft.com/office/powerpoint/2012/main" xmlns:p14="http://schemas.microsoft.com/office/powerpoint/2010/main" val="32630932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indefinite"/>
                            </p:stCondLst>
                          </p:cTn>
                        </p:par>
                        <p:par>
                          <p:cTn id="8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/>
      <p:bldP spid="17" grpId="0" animBg="1"/>
      <p:bldP spid="23" grpId="0" animBg="1"/>
      <p:bldP spid="24" grpId="0"/>
      <p:bldP spid="25" grpId="0" animBg="1"/>
      <p:bldP spid="10" grpId="0" animBg="1"/>
      <p:bldP spid="10" grpId="1" animBg="1"/>
      <p:bldP spid="19" grpId="0" animBg="1"/>
      <p:bldP spid="19" grpId="1" animBg="1"/>
      <p:bldP spid="20" grpId="0" animBg="1"/>
      <p:bldP spid="20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599" y="8207"/>
            <a:ext cx="9114971" cy="684979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="" xmlns:p15="http://schemas.microsoft.com/office/powerpoint/2012/main" xmlns:p14="http://schemas.microsoft.com/office/powerpoint/2010/main" val="83408593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rcRect l="1115" r="1262"/>
          <a:stretch>
            <a:fillRect/>
          </a:stretch>
        </p:blipFill>
        <p:spPr>
          <a:xfrm>
            <a:off x="1132114" y="0"/>
            <a:ext cx="8984343" cy="6858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="" xmlns:p15="http://schemas.microsoft.com/office/powerpoint/2012/main" xmlns:p14="http://schemas.microsoft.com/office/powerpoint/2010/main" val="34582465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p14="http://schemas.microsoft.com/office/powerpoint/2010/main" xmlns:p15="http://schemas.microsoft.com/office/powerpoint/2012/main" xmlns:a14="http://schemas.microsoft.com/office/drawing/2010/main" val="0"/>
              </a:ext>
            </a:extLst>
          </a:blip>
          <a:srcRect r="796"/>
          <a:stretch>
            <a:fillRect/>
          </a:stretch>
        </p:blipFill>
        <p:spPr>
          <a:xfrm>
            <a:off x="1117599" y="32506"/>
            <a:ext cx="9042402" cy="6842990"/>
          </a:xfrm>
          <a:prstGeom prst="rect">
            <a:avLst/>
          </a:prstGeom>
        </p:spPr>
      </p:pic>
    </p:spTree>
    <p:extLst>
      <p:ext uri="{BB962C8B-B14F-4D97-AF65-F5344CB8AC3E}">
        <p14:creationId xmlns="" xmlns:p15="http://schemas.microsoft.com/office/powerpoint/2012/main" xmlns:p14="http://schemas.microsoft.com/office/powerpoint/2010/main" val="320042765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3110" y="300246"/>
            <a:ext cx="9144000" cy="29864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8000" dirty="0" smtClean="0"/>
              <a:t>谢  谢</a:t>
            </a:r>
            <a:endParaRPr lang="zh-CN" altLang="en-US" sz="8000" dirty="0"/>
          </a:p>
        </p:txBody>
      </p:sp>
      <p:sp>
        <p:nvSpPr>
          <p:cNvPr id="5" name="TextBox 4"/>
          <p:cNvSpPr txBox="1"/>
          <p:nvPr/>
        </p:nvSpPr>
        <p:spPr>
          <a:xfrm>
            <a:off x="1884877" y="4291947"/>
            <a:ext cx="79551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许  伟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教授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博导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hlinkClick r:id="rId2"/>
              </a:rPr>
              <a:t>weixu@ruc.edu.cn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u="sng" dirty="0" smtClean="0">
                <a:latin typeface="微软雅黑" pitchFamily="34" charset="-122"/>
                <a:ea typeface="微软雅黑" pitchFamily="34" charset="-122"/>
              </a:rPr>
              <a:t>lisa.ruc.edu.cn</a:t>
            </a:r>
          </a:p>
        </p:txBody>
      </p:sp>
    </p:spTree>
    <p:extLst>
      <p:ext uri="{BB962C8B-B14F-4D97-AF65-F5344CB8AC3E}">
        <p14:creationId xmlns="" xmlns:p15="http://schemas.microsoft.com/office/powerpoint/2012/main" xmlns:p14="http://schemas.microsoft.com/office/powerpoint/2010/main" val="302578426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2.0"/>
  <p:tag name="AS_VERSION" val="16.9.0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charset="0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r="http://schemas.openxmlformats.org/officeDocument/2006/relationships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charset="0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r="http://schemas.openxmlformats.org/officeDocument/2006/relationships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2156</TotalTime>
  <Words>2116</Words>
  <Application>Aspose.Slides for .NET</Application>
  <PresentationFormat>自定义</PresentationFormat>
  <Paragraphs>281</Paragraphs>
  <Slides>35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38" baseType="lpstr">
      <vt:lpstr>Office 主题</vt:lpstr>
      <vt:lpstr>公式</vt:lpstr>
      <vt:lpstr>Equation</vt:lpstr>
      <vt:lpstr>第一章 线性规划</vt:lpstr>
      <vt:lpstr>主要内容</vt:lpstr>
      <vt:lpstr>思考</vt:lpstr>
      <vt:lpstr>线性规划问题数学模型的标准形式</vt:lpstr>
      <vt:lpstr>幻灯片 5</vt:lpstr>
      <vt:lpstr>线性规划标准型解的概念</vt:lpstr>
      <vt:lpstr>线性规划标准型解的概念</vt:lpstr>
      <vt:lpstr>线性规划标准型解的概念</vt:lpstr>
      <vt:lpstr>线性规划标准型解的概念</vt:lpstr>
      <vt:lpstr>线性规划标准型解的概念</vt:lpstr>
      <vt:lpstr>基本定理</vt:lpstr>
      <vt:lpstr>凸集</vt:lpstr>
      <vt:lpstr>顶点</vt:lpstr>
      <vt:lpstr>基本定理</vt:lpstr>
      <vt:lpstr>基本定理</vt:lpstr>
      <vt:lpstr>基本定理</vt:lpstr>
      <vt:lpstr>基本定理</vt:lpstr>
      <vt:lpstr>基本定理</vt:lpstr>
      <vt:lpstr>基本定理</vt:lpstr>
      <vt:lpstr>基本定理</vt:lpstr>
      <vt:lpstr>单纯形法的基本原理</vt:lpstr>
      <vt:lpstr>单纯形法基本步骤</vt:lpstr>
      <vt:lpstr>单纯形法求解——I.求初始基可行解</vt:lpstr>
      <vt:lpstr>单纯形法求解——II.最优性检验</vt:lpstr>
      <vt:lpstr>单纯形法求解——III.可行性检验</vt:lpstr>
      <vt:lpstr>单纯形法求解</vt:lpstr>
      <vt:lpstr>单纯形法求解</vt:lpstr>
      <vt:lpstr>单纯形法求解</vt:lpstr>
      <vt:lpstr>单纯形法求解——III.可行性检验</vt:lpstr>
      <vt:lpstr>单纯形法求解——IV.求解新的基可行解</vt:lpstr>
      <vt:lpstr>单纯形法求解</vt:lpstr>
      <vt:lpstr>幻灯片 32</vt:lpstr>
      <vt:lpstr>幻灯片 33</vt:lpstr>
      <vt:lpstr>幻灯片 34</vt:lpstr>
      <vt:lpstr>谢  谢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线性规划</dc:title>
  <dc:creator>Joyce Kong</dc:creator>
  <cp:lastModifiedBy>XuWei</cp:lastModifiedBy>
  <cp:revision>122</cp:revision>
  <dcterms:created xsi:type="dcterms:W3CDTF">2015-03-11T08:48:56Z</dcterms:created>
  <dcterms:modified xsi:type="dcterms:W3CDTF">2021-03-16T08:07:08Z</dcterms:modified>
</cp:coreProperties>
</file>