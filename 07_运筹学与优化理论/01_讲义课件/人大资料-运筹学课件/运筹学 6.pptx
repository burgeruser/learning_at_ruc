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Default Extension="doc" ContentType="application/msword"/>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notesMasterIdLst>
    <p:notesMasterId r:id="rId68"/>
  </p:notesMasterIdLst>
  <p:handoutMasterIdLst>
    <p:handoutMasterId r:id="rId69"/>
  </p:handoutMasterIdLst>
  <p:sldIdLst>
    <p:sldId id="268" r:id="rId2"/>
    <p:sldId id="343" r:id="rId3"/>
    <p:sldId id="444" r:id="rId4"/>
    <p:sldId id="413" r:id="rId5"/>
    <p:sldId id="445" r:id="rId6"/>
    <p:sldId id="414" r:id="rId7"/>
    <p:sldId id="415" r:id="rId8"/>
    <p:sldId id="487" r:id="rId9"/>
    <p:sldId id="488" r:id="rId10"/>
    <p:sldId id="489" r:id="rId11"/>
    <p:sldId id="490" r:id="rId12"/>
    <p:sldId id="491" r:id="rId13"/>
    <p:sldId id="492" r:id="rId14"/>
    <p:sldId id="496" r:id="rId15"/>
    <p:sldId id="497" r:id="rId16"/>
    <p:sldId id="498" r:id="rId17"/>
    <p:sldId id="499" r:id="rId18"/>
    <p:sldId id="500" r:id="rId19"/>
    <p:sldId id="501" r:id="rId20"/>
    <p:sldId id="502" r:id="rId21"/>
    <p:sldId id="503" r:id="rId22"/>
    <p:sldId id="504" r:id="rId23"/>
    <p:sldId id="505" r:id="rId24"/>
    <p:sldId id="506" r:id="rId25"/>
    <p:sldId id="507" r:id="rId26"/>
    <p:sldId id="508" r:id="rId27"/>
    <p:sldId id="509" r:id="rId28"/>
    <p:sldId id="510" r:id="rId29"/>
    <p:sldId id="511" r:id="rId30"/>
    <p:sldId id="512" r:id="rId31"/>
    <p:sldId id="513" r:id="rId32"/>
    <p:sldId id="514" r:id="rId33"/>
    <p:sldId id="515" r:id="rId34"/>
    <p:sldId id="516" r:id="rId35"/>
    <p:sldId id="517" r:id="rId36"/>
    <p:sldId id="518" r:id="rId37"/>
    <p:sldId id="558" r:id="rId38"/>
    <p:sldId id="520" r:id="rId39"/>
    <p:sldId id="559" r:id="rId40"/>
    <p:sldId id="522" r:id="rId41"/>
    <p:sldId id="523" r:id="rId42"/>
    <p:sldId id="524" r:id="rId43"/>
    <p:sldId id="525" r:id="rId44"/>
    <p:sldId id="526" r:id="rId45"/>
    <p:sldId id="560" r:id="rId46"/>
    <p:sldId id="561" r:id="rId47"/>
    <p:sldId id="529" r:id="rId48"/>
    <p:sldId id="530" r:id="rId49"/>
    <p:sldId id="531" r:id="rId50"/>
    <p:sldId id="532" r:id="rId51"/>
    <p:sldId id="533" r:id="rId52"/>
    <p:sldId id="534" r:id="rId53"/>
    <p:sldId id="535" r:id="rId54"/>
    <p:sldId id="546" r:id="rId55"/>
    <p:sldId id="547" r:id="rId56"/>
    <p:sldId id="548" r:id="rId57"/>
    <p:sldId id="549" r:id="rId58"/>
    <p:sldId id="550" r:id="rId59"/>
    <p:sldId id="551" r:id="rId60"/>
    <p:sldId id="552" r:id="rId61"/>
    <p:sldId id="553" r:id="rId62"/>
    <p:sldId id="554" r:id="rId63"/>
    <p:sldId id="555" r:id="rId64"/>
    <p:sldId id="556" r:id="rId65"/>
    <p:sldId id="557" r:id="rId66"/>
    <p:sldId id="320" r:id="rId67"/>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33CC33"/>
    <a:srgbClr val="FF99FF"/>
    <a:srgbClr val="66FFCC"/>
    <a:srgbClr val="CCFFFF"/>
    <a:srgbClr val="333399"/>
    <a:srgbClr val="CCECFF"/>
    <a:srgbClr val="99CC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autoAdjust="0"/>
    <p:restoredTop sz="94526" autoAdjust="0"/>
  </p:normalViewPr>
  <p:slideViewPr>
    <p:cSldViewPr>
      <p:cViewPr>
        <p:scale>
          <a:sx n="60" d="100"/>
          <a:sy n="60" d="100"/>
        </p:scale>
        <p:origin x="-1572" y="-144"/>
      </p:cViewPr>
      <p:guideLst>
        <p:guide orient="horz" pos="2160"/>
        <p:guide pos="2880"/>
      </p:guideLst>
    </p:cSldViewPr>
  </p:slideViewPr>
  <p:outlineViewPr>
    <p:cViewPr>
      <p:scale>
        <a:sx n="50" d="100"/>
        <a:sy n="50"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6" d="100"/>
          <a:sy n="46" d="100"/>
        </p:scale>
        <p:origin x="-1362" y="-7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4"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4" Type="http://schemas.openxmlformats.org/officeDocument/2006/relationships/image" Target="../media/image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4"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4" Type="http://schemas.openxmlformats.org/officeDocument/2006/relationships/image" Target="../media/image4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image" Target="../media/image51.wmf"/><Relationship Id="rId7" Type="http://schemas.openxmlformats.org/officeDocument/2006/relationships/image" Target="../media/image55.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wmf"/><Relationship Id="rId11" Type="http://schemas.openxmlformats.org/officeDocument/2006/relationships/image" Target="../media/image59.wmf"/><Relationship Id="rId5" Type="http://schemas.openxmlformats.org/officeDocument/2006/relationships/image" Target="../media/image53.wmf"/><Relationship Id="rId10" Type="http://schemas.openxmlformats.org/officeDocument/2006/relationships/image" Target="../media/image58.wmf"/><Relationship Id="rId4" Type="http://schemas.openxmlformats.org/officeDocument/2006/relationships/image" Target="../media/image52.wmf"/><Relationship Id="rId9" Type="http://schemas.openxmlformats.org/officeDocument/2006/relationships/image" Target="../media/image5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0.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6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image" Target="../media/image72.wmf"/><Relationship Id="rId7" Type="http://schemas.openxmlformats.org/officeDocument/2006/relationships/image" Target="../media/image76.wmf"/><Relationship Id="rId2" Type="http://schemas.openxmlformats.org/officeDocument/2006/relationships/image" Target="../media/image71.wmf"/><Relationship Id="rId1" Type="http://schemas.openxmlformats.org/officeDocument/2006/relationships/image" Target="../media/image70.wmf"/><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 Id="rId9" Type="http://schemas.openxmlformats.org/officeDocument/2006/relationships/image" Target="../media/image78.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9.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88.wmf"/><Relationship Id="rId1" Type="http://schemas.openxmlformats.org/officeDocument/2006/relationships/image" Target="../media/image87.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89.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 Id="rId5" Type="http://schemas.openxmlformats.org/officeDocument/2006/relationships/image" Target="../media/image95.wmf"/><Relationship Id="rId4" Type="http://schemas.openxmlformats.org/officeDocument/2006/relationships/image" Target="../media/image94.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6.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image" Target="../media/image102.wmf"/><Relationship Id="rId1" Type="http://schemas.openxmlformats.org/officeDocument/2006/relationships/image" Target="../media/image101.wmf"/><Relationship Id="rId4" Type="http://schemas.openxmlformats.org/officeDocument/2006/relationships/image" Target="../media/image103.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05.wmf"/><Relationship Id="rId1" Type="http://schemas.openxmlformats.org/officeDocument/2006/relationships/image" Target="../media/image104.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 Id="rId4" Type="http://schemas.openxmlformats.org/officeDocument/2006/relationships/image" Target="../media/image112.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14.wmf"/><Relationship Id="rId1" Type="http://schemas.openxmlformats.org/officeDocument/2006/relationships/image" Target="../media/image113.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image" Target="../media/image116.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18.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19.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21.wmf"/><Relationship Id="rId1" Type="http://schemas.openxmlformats.org/officeDocument/2006/relationships/image" Target="../media/image120.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2867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defRPr>
            </a:lvl1pPr>
          </a:lstStyle>
          <a:p>
            <a:pPr>
              <a:defRPr/>
            </a:pPr>
            <a:endParaRPr lang="en-US" altLang="zh-CN"/>
          </a:p>
        </p:txBody>
      </p:sp>
      <p:sp>
        <p:nvSpPr>
          <p:cNvPr id="2867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zh-CN" altLang="zh-CN"/>
          </a:p>
        </p:txBody>
      </p:sp>
      <p:sp>
        <p:nvSpPr>
          <p:cNvPr id="2867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7D437B19-B4FC-4203-A7CA-8499CC37310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kumimoji="1" sz="1200">
                <a:latin typeface="Times New Roman" pitchFamily="18" charset="0"/>
              </a:defRPr>
            </a:lvl1pPr>
          </a:lstStyle>
          <a:p>
            <a:pPr>
              <a:defRPr/>
            </a:pPr>
            <a:endParaRPr lang="en-US" altLang="zh-CN"/>
          </a:p>
        </p:txBody>
      </p:sp>
      <p:sp>
        <p:nvSpPr>
          <p:cNvPr id="276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kumimoji="1" sz="1200">
                <a:latin typeface="Times New Roman" pitchFamily="18"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76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76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latinLnBrk="1" hangingPunct="1">
              <a:defRPr kumimoji="1" sz="1200">
                <a:latin typeface="Times New Roman" pitchFamily="18" charset="0"/>
              </a:defRPr>
            </a:lvl1pPr>
          </a:lstStyle>
          <a:p>
            <a:pPr>
              <a:defRPr/>
            </a:pPr>
            <a:endParaRPr lang="en-US" altLang="zh-CN"/>
          </a:p>
        </p:txBody>
      </p:sp>
      <p:sp>
        <p:nvSpPr>
          <p:cNvPr id="276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latinLnBrk="1" hangingPunct="1">
              <a:defRPr kumimoji="1" sz="1200">
                <a:latin typeface="Times New Roman" panose="02020603050405020304" pitchFamily="18" charset="0"/>
              </a:defRPr>
            </a:lvl1pPr>
          </a:lstStyle>
          <a:p>
            <a:pPr>
              <a:defRPr/>
            </a:pPr>
            <a:fld id="{85FF4265-7EBB-43EB-B819-893A8E652EB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endParaRPr lang="zh-CN" altLang="en-US" sz="1800">
              <a:latin typeface="Arial" panose="020B0604020202020204" pitchFamily="34" charset="0"/>
            </a:endParaRPr>
          </a:p>
        </p:txBody>
      </p:sp>
      <p:sp>
        <p:nvSpPr>
          <p:cNvPr id="15363" name="Rectangle 3"/>
          <p:cNvSpPr>
            <a:spLocks noGrp="1" noRot="1" noChangeAspect="1" noChangeArrowheads="1" noTextEdit="1"/>
          </p:cNvSpPr>
          <p:nvPr>
            <p:ph type="sldImg"/>
          </p:nvPr>
        </p:nvSpPr>
        <p:spPr>
          <a:xfrm>
            <a:off x="1150938" y="692150"/>
            <a:ext cx="4556125" cy="3416300"/>
          </a:xfrm>
          <a:ln cap="flat"/>
        </p:spPr>
      </p:sp>
      <p:sp>
        <p:nvSpPr>
          <p:cNvPr id="15364" name="Rectangle 4"/>
          <p:cNvSpPr>
            <a:spLocks noGrp="1" noChangeArrowheads="1"/>
          </p:cNvSpPr>
          <p:nvPr>
            <p:ph type="body" idx="1"/>
          </p:nvPr>
        </p:nvSpPr>
        <p:spPr>
          <a:xfrm>
            <a:off x="914400" y="3276600"/>
            <a:ext cx="5029200" cy="518160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488" tIns="44450" rIns="90488" bIns="44450"/>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endParaRPr lang="zh-CN" altLang="en-US" sz="1800">
              <a:latin typeface="Arial" panose="020B0604020202020204" pitchFamily="34" charset="0"/>
            </a:endParaRPr>
          </a:p>
        </p:txBody>
      </p:sp>
      <p:sp>
        <p:nvSpPr>
          <p:cNvPr id="17411" name="Rectangle 3"/>
          <p:cNvSpPr>
            <a:spLocks noGrp="1" noRot="1" noChangeAspect="1" noChangeArrowheads="1" noTextEdit="1"/>
          </p:cNvSpPr>
          <p:nvPr>
            <p:ph type="sldImg"/>
          </p:nvPr>
        </p:nvSpPr>
        <p:spPr>
          <a:xfrm>
            <a:off x="1150938" y="692150"/>
            <a:ext cx="4556125" cy="3416300"/>
          </a:xfrm>
          <a:ln cap="flat"/>
        </p:spPr>
      </p:sp>
      <p:sp>
        <p:nvSpPr>
          <p:cNvPr id="17412" name="Rectangle 4"/>
          <p:cNvSpPr>
            <a:spLocks noGrp="1" noChangeArrowheads="1"/>
          </p:cNvSpPr>
          <p:nvPr>
            <p:ph type="body" idx="1"/>
          </p:nvPr>
        </p:nvSpPr>
        <p:spPr>
          <a:xfrm>
            <a:off x="914400" y="3276600"/>
            <a:ext cx="5029200" cy="518160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488" tIns="44450" rIns="90488" bIns="44450"/>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smtClean="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grpSp>
      </p:grpSp>
      <p:pic>
        <p:nvPicPr>
          <p:cNvPr id="18" name="Picture 21" descr="Renmin Logo"/>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523163" y="80963"/>
            <a:ext cx="1512887" cy="1403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915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21915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zh-CN" altLang="en-US"/>
              <a:t>单击此处编辑母版副标题样式</a:t>
            </a:r>
          </a:p>
        </p:txBody>
      </p:sp>
      <p:sp>
        <p:nvSpPr>
          <p:cNvPr id="19" name="Rectangle 16"/>
          <p:cNvSpPr>
            <a:spLocks noGrp="1" noChangeArrowheads="1"/>
          </p:cNvSpPr>
          <p:nvPr>
            <p:ph type="dt" sz="half" idx="10"/>
          </p:nvPr>
        </p:nvSpPr>
        <p:spPr>
          <a:xfrm>
            <a:off x="457200" y="6248400"/>
            <a:ext cx="2133600" cy="457200"/>
          </a:xfrm>
        </p:spPr>
        <p:txBody>
          <a:bodyPr/>
          <a:lstStyle>
            <a:lvl1pPr>
              <a:defRPr/>
            </a:lvl1pPr>
          </a:lstStyle>
          <a:p>
            <a:pPr>
              <a:defRPr/>
            </a:pPr>
            <a:r>
              <a:rPr lang="en-US" altLang="zh-CN"/>
              <a:t>2009-09-11</a:t>
            </a:r>
          </a:p>
        </p:txBody>
      </p:sp>
      <p:sp>
        <p:nvSpPr>
          <p:cNvPr id="20" name="Rectangle 17"/>
          <p:cNvSpPr>
            <a:spLocks noGrp="1" noChangeArrowheads="1"/>
          </p:cNvSpPr>
          <p:nvPr>
            <p:ph type="ftr" sz="quarter" idx="11"/>
          </p:nvPr>
        </p:nvSpPr>
        <p:spPr/>
        <p:txBody>
          <a:bodyPr/>
          <a:lstStyle>
            <a:lvl1pPr>
              <a:defRPr/>
            </a:lvl1pPr>
          </a:lstStyle>
          <a:p>
            <a:pPr>
              <a:defRPr/>
            </a:pPr>
            <a:endParaRPr lang="en-US" altLang="zh-CN"/>
          </a:p>
        </p:txBody>
      </p:sp>
      <p:sp>
        <p:nvSpPr>
          <p:cNvPr id="21" name="Rectangle 18"/>
          <p:cNvSpPr>
            <a:spLocks noGrp="1" noChangeArrowheads="1"/>
          </p:cNvSpPr>
          <p:nvPr>
            <p:ph type="sldNum" sz="quarter" idx="12"/>
          </p:nvPr>
        </p:nvSpPr>
        <p:spPr/>
        <p:txBody>
          <a:bodyPr/>
          <a:lstStyle>
            <a:lvl1pPr>
              <a:defRPr/>
            </a:lvl1pPr>
          </a:lstStyle>
          <a:p>
            <a:pPr>
              <a:defRPr/>
            </a:pPr>
            <a:fld id="{75E6E737-ED61-46F6-AA64-95906EA1E124}" type="slidenum">
              <a:rPr lang="en-US" altLang="zh-CN"/>
              <a:pPr>
                <a:defRPr/>
              </a:pPr>
              <a:t>‹#›</a:t>
            </a:fld>
            <a:endParaRPr lang="en-US" altLang="zh-CN"/>
          </a:p>
        </p:txBody>
      </p:sp>
    </p:spTree>
    <p:extLst>
      <p:ext uri="{BB962C8B-B14F-4D97-AF65-F5344CB8AC3E}">
        <p14:creationId xmlns:p14="http://schemas.microsoft.com/office/powerpoint/2010/main" xmlns="" val="836745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ABEF3C97-E422-4254-AFCC-2E004597D1DE}"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r>
              <a:rPr lang="en-US" altLang="zh-CN"/>
              <a:t>2009-09-11</a:t>
            </a:r>
          </a:p>
        </p:txBody>
      </p:sp>
    </p:spTree>
    <p:extLst>
      <p:ext uri="{BB962C8B-B14F-4D97-AF65-F5344CB8AC3E}">
        <p14:creationId xmlns:p14="http://schemas.microsoft.com/office/powerpoint/2010/main" xmlns="" val="421209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5E76AB8C-83E2-41A0-9765-AAB50FB89526}"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r>
              <a:rPr lang="en-US" altLang="zh-CN"/>
              <a:t>2009-09-11</a:t>
            </a:r>
          </a:p>
        </p:txBody>
      </p:sp>
    </p:spTree>
    <p:extLst>
      <p:ext uri="{BB962C8B-B14F-4D97-AF65-F5344CB8AC3E}">
        <p14:creationId xmlns:p14="http://schemas.microsoft.com/office/powerpoint/2010/main" xmlns="" val="3397795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A68D6CD8-3CD2-4C81-A165-248F9E15C691}"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r>
              <a:rPr lang="en-US" altLang="zh-CN"/>
              <a:t>2009-09-11</a:t>
            </a:r>
          </a:p>
        </p:txBody>
      </p:sp>
    </p:spTree>
    <p:extLst>
      <p:ext uri="{BB962C8B-B14F-4D97-AF65-F5344CB8AC3E}">
        <p14:creationId xmlns:p14="http://schemas.microsoft.com/office/powerpoint/2010/main" xmlns="" val="426397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3E8B1301-2917-4612-9F2D-93499C97EAA0}"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r>
              <a:rPr lang="en-US" altLang="zh-CN"/>
              <a:t>2009-09-11</a:t>
            </a:r>
          </a:p>
        </p:txBody>
      </p:sp>
    </p:spTree>
    <p:extLst>
      <p:ext uri="{BB962C8B-B14F-4D97-AF65-F5344CB8AC3E}">
        <p14:creationId xmlns:p14="http://schemas.microsoft.com/office/powerpoint/2010/main" xmlns="" val="1004327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5F90640E-7131-40E8-A758-41B76DC5C455}"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r>
              <a:rPr lang="en-US" altLang="zh-CN"/>
              <a:t>2009-09-11</a:t>
            </a:r>
          </a:p>
        </p:txBody>
      </p:sp>
    </p:spTree>
    <p:extLst>
      <p:ext uri="{BB962C8B-B14F-4D97-AF65-F5344CB8AC3E}">
        <p14:creationId xmlns:p14="http://schemas.microsoft.com/office/powerpoint/2010/main" xmlns="" val="1489817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E6C21122-2307-4E9A-BEBD-2DE519BBFB9A}"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r>
              <a:rPr lang="en-US" altLang="zh-CN"/>
              <a:t>2009-09-11</a:t>
            </a:r>
          </a:p>
        </p:txBody>
      </p:sp>
    </p:spTree>
    <p:extLst>
      <p:ext uri="{BB962C8B-B14F-4D97-AF65-F5344CB8AC3E}">
        <p14:creationId xmlns:p14="http://schemas.microsoft.com/office/powerpoint/2010/main" xmlns="" val="2850201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BC8257AA-30F3-49D5-89C5-B5A4BA6CB1B8}"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r>
              <a:rPr lang="en-US" altLang="zh-CN"/>
              <a:t>2009-09-11</a:t>
            </a:r>
          </a:p>
        </p:txBody>
      </p:sp>
    </p:spTree>
    <p:extLst>
      <p:ext uri="{BB962C8B-B14F-4D97-AF65-F5344CB8AC3E}">
        <p14:creationId xmlns:p14="http://schemas.microsoft.com/office/powerpoint/2010/main" xmlns="" val="141454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DAD0D8D2-DECB-4AC9-BE96-A7D61FCF2164}"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r>
              <a:rPr lang="en-US" altLang="zh-CN"/>
              <a:t>2009-09-11</a:t>
            </a:r>
          </a:p>
        </p:txBody>
      </p:sp>
    </p:spTree>
    <p:extLst>
      <p:ext uri="{BB962C8B-B14F-4D97-AF65-F5344CB8AC3E}">
        <p14:creationId xmlns:p14="http://schemas.microsoft.com/office/powerpoint/2010/main" xmlns="" val="661479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5A1AC2B3-3349-4175-B7D7-62A72FBED14E}"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r>
              <a:rPr lang="en-US" altLang="zh-CN"/>
              <a:t>2009-09-11</a:t>
            </a:r>
          </a:p>
        </p:txBody>
      </p:sp>
    </p:spTree>
    <p:extLst>
      <p:ext uri="{BB962C8B-B14F-4D97-AF65-F5344CB8AC3E}">
        <p14:creationId xmlns:p14="http://schemas.microsoft.com/office/powerpoint/2010/main" xmlns="" val="1839818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D984CD7C-6C7E-4081-874C-08A5ACC7DC12}"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r>
              <a:rPr lang="en-US" altLang="zh-CN"/>
              <a:t>2009-09-11</a:t>
            </a:r>
          </a:p>
        </p:txBody>
      </p:sp>
    </p:spTree>
    <p:extLst>
      <p:ext uri="{BB962C8B-B14F-4D97-AF65-F5344CB8AC3E}">
        <p14:creationId xmlns:p14="http://schemas.microsoft.com/office/powerpoint/2010/main" xmlns="" val="3983652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ltLang="zh-CN"/>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468522E1-F076-42D4-B879-AEC82AFED6C5}" type="slidenum">
              <a:rPr lang="en-US" altLang="zh-CN"/>
              <a:pPr/>
              <a:t>‹#›</a:t>
            </a:fld>
            <a:endParaRPr lang="en-US" altLang="zh-CN"/>
          </a:p>
        </p:txBody>
      </p:sp>
    </p:spTree>
    <p:extLst>
      <p:ext uri="{BB962C8B-B14F-4D97-AF65-F5344CB8AC3E}">
        <p14:creationId xmlns:p14="http://schemas.microsoft.com/office/powerpoint/2010/main" xmlns="" val="14463456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a:xfrm>
            <a:off x="685800" y="6248400"/>
            <a:ext cx="1905000" cy="457200"/>
          </a:xfrm>
        </p:spPr>
        <p:txBody>
          <a:bodyPr/>
          <a:lstStyle>
            <a:lvl1pPr>
              <a:defRPr/>
            </a:lvl1pPr>
          </a:lstStyle>
          <a:p>
            <a:endParaRPr lang="en-US" altLang="zh-CN"/>
          </a:p>
        </p:txBody>
      </p:sp>
      <p:sp>
        <p:nvSpPr>
          <p:cNvPr id="4" name="Footer Placeholder 3"/>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5" name="Slide Number Placeholder 4"/>
          <p:cNvSpPr>
            <a:spLocks noGrp="1"/>
          </p:cNvSpPr>
          <p:nvPr>
            <p:ph type="sldNum" sz="quarter" idx="12"/>
          </p:nvPr>
        </p:nvSpPr>
        <p:spPr>
          <a:xfrm>
            <a:off x="6553200" y="6248400"/>
            <a:ext cx="1905000" cy="457200"/>
          </a:xfrm>
        </p:spPr>
        <p:txBody>
          <a:bodyPr/>
          <a:lstStyle>
            <a:lvl1pPr>
              <a:defRPr/>
            </a:lvl1pPr>
          </a:lstStyle>
          <a:p>
            <a:fld id="{D51E1802-FFC5-4D46-9C94-F3FF72597112}" type="slidenum">
              <a:rPr lang="en-US" altLang="zh-CN"/>
              <a:pPr/>
              <a:t>‹#›</a:t>
            </a:fld>
            <a:endParaRPr lang="en-US" altLang="zh-CN"/>
          </a:p>
        </p:txBody>
      </p:sp>
    </p:spTree>
    <p:extLst>
      <p:ext uri="{BB962C8B-B14F-4D97-AF65-F5344CB8AC3E}">
        <p14:creationId xmlns:p14="http://schemas.microsoft.com/office/powerpoint/2010/main" xmlns="" val="2461834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endParaRPr lang="en-US"/>
          </a:p>
        </p:txBody>
      </p:sp>
      <p:sp>
        <p:nvSpPr>
          <p:cNvPr id="4" name="Date Placeholder 3"/>
          <p:cNvSpPr>
            <a:spLocks noGrp="1"/>
          </p:cNvSpPr>
          <p:nvPr>
            <p:ph type="dt" sz="half" idx="10"/>
          </p:nvPr>
        </p:nvSpPr>
        <p:spPr>
          <a:xfrm>
            <a:off x="685800" y="6248400"/>
            <a:ext cx="1905000" cy="457200"/>
          </a:xfrm>
        </p:spPr>
        <p:txBody>
          <a:bodyPr/>
          <a:lstStyle>
            <a:lvl1pPr>
              <a:defRPr/>
            </a:lvl1pPr>
          </a:lstStyle>
          <a:p>
            <a:endParaRPr lang="en-US" altLang="zh-CN"/>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6" name="Slide Number Placeholder 5"/>
          <p:cNvSpPr>
            <a:spLocks noGrp="1"/>
          </p:cNvSpPr>
          <p:nvPr>
            <p:ph type="sldNum" sz="quarter" idx="12"/>
          </p:nvPr>
        </p:nvSpPr>
        <p:spPr>
          <a:xfrm>
            <a:off x="6553200" y="6248400"/>
            <a:ext cx="1905000" cy="457200"/>
          </a:xfrm>
        </p:spPr>
        <p:txBody>
          <a:bodyPr/>
          <a:lstStyle>
            <a:lvl1pPr>
              <a:defRPr/>
            </a:lvl1pPr>
          </a:lstStyle>
          <a:p>
            <a:fld id="{C3485ECA-D562-43E2-B601-C680B14FDACE}" type="slidenum">
              <a:rPr lang="en-US" altLang="zh-CN"/>
              <a:pPr/>
              <a:t>‹#›</a:t>
            </a:fld>
            <a:endParaRPr lang="en-US" altLang="zh-CN"/>
          </a:p>
        </p:txBody>
      </p:sp>
    </p:spTree>
    <p:extLst>
      <p:ext uri="{BB962C8B-B14F-4D97-AF65-F5344CB8AC3E}">
        <p14:creationId xmlns:p14="http://schemas.microsoft.com/office/powerpoint/2010/main" xmlns="" val="2960072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8114"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18115"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EC89B46A-F3A8-4AF1-8D14-C27081EF1940}"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3"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smtClean="0">
                <a:latin typeface="Times New Roman" panose="02020603050405020304" pitchFamily="18" charset="0"/>
              </a:endParaRPr>
            </a:p>
          </p:txBody>
        </p:sp>
        <p:sp>
          <p:nvSpPr>
            <p:cNvPr id="1034"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035"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mtClean="0">
                <a:solidFill>
                  <a:schemeClr val="hlink"/>
                </a:solidFill>
              </a:endParaRPr>
            </a:p>
          </p:txBody>
        </p:sp>
        <p:sp>
          <p:nvSpPr>
            <p:cNvPr id="1036"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mtClean="0">
                <a:solidFill>
                  <a:schemeClr val="hlink"/>
                </a:solidFill>
              </a:endParaRPr>
            </a:p>
          </p:txBody>
        </p:sp>
        <p:sp>
          <p:nvSpPr>
            <p:cNvPr id="1037"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mtClean="0">
                <a:solidFill>
                  <a:schemeClr val="accent2"/>
                </a:solidFill>
              </a:endParaRPr>
            </a:p>
          </p:txBody>
        </p:sp>
        <p:sp>
          <p:nvSpPr>
            <p:cNvPr id="1038"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mtClean="0">
                <a:solidFill>
                  <a:schemeClr val="hlink"/>
                </a:solidFill>
              </a:endParaRPr>
            </a:p>
          </p:txBody>
        </p:sp>
        <p:sp>
          <p:nvSpPr>
            <p:cNvPr id="1039"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040"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mtClean="0">
                <a:solidFill>
                  <a:schemeClr val="accent2"/>
                </a:solidFill>
              </a:endParaRPr>
            </a:p>
          </p:txBody>
        </p:sp>
        <p:sp>
          <p:nvSpPr>
            <p:cNvPr id="1041"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mtClean="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18128"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r>
              <a:rPr lang="en-US" altLang="zh-CN"/>
              <a:t>2009-09-11</a:t>
            </a:r>
          </a:p>
        </p:txBody>
      </p:sp>
      <p:pic>
        <p:nvPicPr>
          <p:cNvPr id="1032" name="Picture 17" descr="Renmin Logo"/>
          <p:cNvPicPr>
            <a:picLocks noChangeAspect="1" noChangeArrowheads="1"/>
          </p:cNvPicPr>
          <p:nvPr userDrawn="1"/>
        </p:nvPicPr>
        <p:blipFill>
          <a:blip r:embed="rId16">
            <a:extLst>
              <a:ext uri="{28A0092B-C50C-407E-A947-70E740481C1C}">
                <a14:useLocalDpi xmlns:a14="http://schemas.microsoft.com/office/drawing/2010/main" xmlns="" val="0"/>
              </a:ext>
            </a:extLst>
          </a:blip>
          <a:srcRect/>
          <a:stretch>
            <a:fillRect/>
          </a:stretch>
        </p:blipFill>
        <p:spPr bwMode="auto">
          <a:xfrm>
            <a:off x="7451725" y="115888"/>
            <a:ext cx="1546225" cy="14747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38" r:id="rId1"/>
    <p:sldLayoutId id="2147484128" r:id="rId2"/>
    <p:sldLayoutId id="2147484129" r:id="rId3"/>
    <p:sldLayoutId id="2147484130" r:id="rId4"/>
    <p:sldLayoutId id="2147484131" r:id="rId5"/>
    <p:sldLayoutId id="2147484132" r:id="rId6"/>
    <p:sldLayoutId id="2147484133" r:id="rId7"/>
    <p:sldLayoutId id="2147484134" r:id="rId8"/>
    <p:sldLayoutId id="2147484135" r:id="rId9"/>
    <p:sldLayoutId id="2147484136" r:id="rId10"/>
    <p:sldLayoutId id="2147484137" r:id="rId11"/>
    <p:sldLayoutId id="2147484139" r:id="rId12"/>
    <p:sldLayoutId id="2147484140" r:id="rId13"/>
    <p:sldLayoutId id="2147484141" r:id="rId14"/>
  </p:sldLayoutIdLst>
  <p:hf hdr="0" ftr="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vmlDrawing" Target="../drawings/vmlDrawing1.v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7.bin"/><Relationship Id="rId5" Type="http://schemas.openxmlformats.org/officeDocument/2006/relationships/oleObject" Target="../embeddings/oleObject16.bin"/><Relationship Id="rId4" Type="http://schemas.openxmlformats.org/officeDocument/2006/relationships/oleObject" Target="../embeddings/oleObject15.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oleObject" Target="../embeddings/Microsoft_Office_Word_97_-_2003___1.doc"/><Relationship Id="rId4" Type="http://schemas.openxmlformats.org/officeDocument/2006/relationships/oleObject" Target="../embeddings/oleObject19.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Microsoft_Office_Word_97_-_2003___2.doc"/><Relationship Id="rId2" Type="http://schemas.openxmlformats.org/officeDocument/2006/relationships/slideLayout" Target="../slideLayouts/slideLayout7.xml"/><Relationship Id="rId1" Type="http://schemas.openxmlformats.org/officeDocument/2006/relationships/vmlDrawing" Target="../drawings/vmlDrawing9.v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23.bin"/><Relationship Id="rId5" Type="http://schemas.openxmlformats.org/officeDocument/2006/relationships/oleObject" Target="../embeddings/oleObject22.bin"/><Relationship Id="rId4" Type="http://schemas.openxmlformats.org/officeDocument/2006/relationships/oleObject" Target="../embeddings/oleObject21.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Microsoft_Office_Word_97_-_2003___3.doc"/><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26.bin"/><Relationship Id="rId5" Type="http://schemas.openxmlformats.org/officeDocument/2006/relationships/oleObject" Target="../embeddings/oleObject25.bin"/><Relationship Id="rId4" Type="http://schemas.openxmlformats.org/officeDocument/2006/relationships/oleObject" Target="../embeddings/oleObject24.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2.v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3.v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14.vml"/><Relationship Id="rId5" Type="http://schemas.openxmlformats.org/officeDocument/2006/relationships/oleObject" Target="../embeddings/oleObject31.bin"/><Relationship Id="rId4" Type="http://schemas.openxmlformats.org/officeDocument/2006/relationships/oleObject" Target="../embeddings/oleObject30.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5.vml"/><Relationship Id="rId5" Type="http://schemas.openxmlformats.org/officeDocument/2006/relationships/oleObject" Target="../embeddings/oleObject34.bin"/><Relationship Id="rId4" Type="http://schemas.openxmlformats.org/officeDocument/2006/relationships/oleObject" Target="../embeddings/oleObject33.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7.xml"/><Relationship Id="rId1" Type="http://schemas.openxmlformats.org/officeDocument/2006/relationships/vmlDrawing" Target="../drawings/vmlDrawing16.v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oleObject" Target="../embeddings/oleObject37.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41.bin"/><Relationship Id="rId5" Type="http://schemas.openxmlformats.org/officeDocument/2006/relationships/oleObject" Target="../embeddings/oleObject40.bin"/><Relationship Id="rId4" Type="http://schemas.openxmlformats.org/officeDocument/2006/relationships/oleObject" Target="../embeddings/oleObject39.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19.v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oleObject" Target="../embeddings/oleObject53.bin"/><Relationship Id="rId3" Type="http://schemas.openxmlformats.org/officeDocument/2006/relationships/oleObject" Target="../embeddings/oleObject43.bin"/><Relationship Id="rId7" Type="http://schemas.openxmlformats.org/officeDocument/2006/relationships/oleObject" Target="../embeddings/oleObject47.bin"/><Relationship Id="rId12"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46.bin"/><Relationship Id="rId11" Type="http://schemas.openxmlformats.org/officeDocument/2006/relationships/oleObject" Target="../embeddings/oleObject51.bin"/><Relationship Id="rId5" Type="http://schemas.openxmlformats.org/officeDocument/2006/relationships/oleObject" Target="../embeddings/oleObject45.bin"/><Relationship Id="rId10" Type="http://schemas.openxmlformats.org/officeDocument/2006/relationships/oleObject" Target="../embeddings/oleObject50.bin"/><Relationship Id="rId4" Type="http://schemas.openxmlformats.org/officeDocument/2006/relationships/oleObject" Target="../embeddings/oleObject44.bin"/><Relationship Id="rId9" Type="http://schemas.openxmlformats.org/officeDocument/2006/relationships/oleObject" Target="../embeddings/oleObject49.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Microsoft_Office_Word_97_-_2003___4.doc"/><Relationship Id="rId2" Type="http://schemas.openxmlformats.org/officeDocument/2006/relationships/slideLayout" Target="../slideLayouts/slideLayout12.xml"/><Relationship Id="rId1" Type="http://schemas.openxmlformats.org/officeDocument/2006/relationships/vmlDrawing" Target="../drawings/vmlDrawing21.vml"/></Relationships>
</file>

<file path=ppt/slides/_rels/slide32.xml.rels><?xml version="1.0" encoding="UTF-8" standalone="yes"?>
<Relationships xmlns="http://schemas.openxmlformats.org/package/2006/relationships"><Relationship Id="rId3" Type="http://schemas.openxmlformats.org/officeDocument/2006/relationships/oleObject" Target="../embeddings/Microsoft_Office_Word_97_-_2003___5.doc"/><Relationship Id="rId2" Type="http://schemas.openxmlformats.org/officeDocument/2006/relationships/slideLayout" Target="../slideLayouts/slideLayout7.xml"/><Relationship Id="rId1" Type="http://schemas.openxmlformats.org/officeDocument/2006/relationships/vmlDrawing" Target="../drawings/vmlDrawing22.v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13.xml"/><Relationship Id="rId1" Type="http://schemas.openxmlformats.org/officeDocument/2006/relationships/vmlDrawing" Target="../drawings/vmlDrawing23.v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oleObject" Target="../embeddings/oleObject56.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oleObject" Target="../embeddings/oleObject57.bin"/><Relationship Id="rId7" Type="http://schemas.openxmlformats.org/officeDocument/2006/relationships/oleObject" Target="../embeddings/oleObject61.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60.bin"/><Relationship Id="rId5" Type="http://schemas.openxmlformats.org/officeDocument/2006/relationships/oleObject" Target="../embeddings/oleObject59.bin"/><Relationship Id="rId4" Type="http://schemas.openxmlformats.org/officeDocument/2006/relationships/oleObject" Target="../embeddings/oleObject58.bin"/><Relationship Id="rId9" Type="http://schemas.openxmlformats.org/officeDocument/2006/relationships/oleObject" Target="../embeddings/oleObject63.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oleObject" Target="../embeddings/oleObject64.bin"/><Relationship Id="rId7"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67.bin"/><Relationship Id="rId11" Type="http://schemas.openxmlformats.org/officeDocument/2006/relationships/oleObject" Target="../embeddings/oleObject72.bin"/><Relationship Id="rId5" Type="http://schemas.openxmlformats.org/officeDocument/2006/relationships/oleObject" Target="../embeddings/oleObject66.bin"/><Relationship Id="rId10" Type="http://schemas.openxmlformats.org/officeDocument/2006/relationships/oleObject" Target="../embeddings/oleObject71.bin"/><Relationship Id="rId4" Type="http://schemas.openxmlformats.org/officeDocument/2006/relationships/oleObject" Target="../embeddings/oleObject65.bin"/><Relationship Id="rId9" Type="http://schemas.openxmlformats.org/officeDocument/2006/relationships/oleObject" Target="../embeddings/oleObject70.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27.vml"/><Relationship Id="rId4" Type="http://schemas.openxmlformats.org/officeDocument/2006/relationships/oleObject" Target="../embeddings/oleObject74.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28.vml"/><Relationship Id="rId5" Type="http://schemas.openxmlformats.org/officeDocument/2006/relationships/oleObject" Target="../embeddings/oleObject77.bin"/><Relationship Id="rId4" Type="http://schemas.openxmlformats.org/officeDocument/2006/relationships/oleObject" Target="../embeddings/oleObject76.bin"/></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7.xml"/><Relationship Id="rId1" Type="http://schemas.openxmlformats.org/officeDocument/2006/relationships/vmlDrawing" Target="../drawings/vmlDrawing29.v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7.xml"/><Relationship Id="rId1" Type="http://schemas.openxmlformats.org/officeDocument/2006/relationships/vmlDrawing" Target="../drawings/vmlDrawing30.v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31.vml"/><Relationship Id="rId4" Type="http://schemas.openxmlformats.org/officeDocument/2006/relationships/oleObject" Target="../embeddings/oleObject81.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oleObject" Target="../embeddings/oleObject83.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oleObject" Target="../embeddings/oleObject85.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86.bin"/><Relationship Id="rId7" Type="http://schemas.openxmlformats.org/officeDocument/2006/relationships/oleObject" Target="../embeddings/oleObject90.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oleObject" Target="../embeddings/oleObject89.bin"/><Relationship Id="rId5" Type="http://schemas.openxmlformats.org/officeDocument/2006/relationships/oleObject" Target="../embeddings/oleObject88.bin"/><Relationship Id="rId4" Type="http://schemas.openxmlformats.org/officeDocument/2006/relationships/oleObject" Target="../embeddings/oleObject87.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Layout" Target="../slideLayouts/slideLayout7.xml"/><Relationship Id="rId1" Type="http://schemas.openxmlformats.org/officeDocument/2006/relationships/vmlDrawing" Target="../drawings/vmlDrawing35.vml"/><Relationship Id="rId4" Type="http://schemas.openxmlformats.org/officeDocument/2006/relationships/oleObject" Target="../embeddings/oleObject92.bin"/></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36.vml"/><Relationship Id="rId5" Type="http://schemas.openxmlformats.org/officeDocument/2006/relationships/oleObject" Target="../embeddings/oleObject95.bin"/><Relationship Id="rId4" Type="http://schemas.openxmlformats.org/officeDocument/2006/relationships/oleObject" Target="../embeddings/oleObject94.bin"/></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oleObject" Target="../embeddings/oleObject99.bin"/><Relationship Id="rId5" Type="http://schemas.openxmlformats.org/officeDocument/2006/relationships/oleObject" Target="../embeddings/oleObject98.bin"/><Relationship Id="rId4" Type="http://schemas.openxmlformats.org/officeDocument/2006/relationships/oleObject" Target="../embeddings/oleObject97.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Layout" Target="../slideLayouts/slideLayout7.xml"/><Relationship Id="rId1" Type="http://schemas.openxmlformats.org/officeDocument/2006/relationships/vmlDrawing" Target="../drawings/vmlDrawing38.vml"/><Relationship Id="rId4" Type="http://schemas.openxmlformats.org/officeDocument/2006/relationships/oleObject" Target="../embeddings/oleObject101.bin"/></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7.xml"/><Relationship Id="rId1" Type="http://schemas.openxmlformats.org/officeDocument/2006/relationships/vmlDrawing" Target="../drawings/vmlDrawing39.vml"/><Relationship Id="rId5" Type="http://schemas.openxmlformats.org/officeDocument/2006/relationships/oleObject" Target="../embeddings/oleObject104.bin"/><Relationship Id="rId4" Type="http://schemas.openxmlformats.org/officeDocument/2006/relationships/oleObject" Target="../embeddings/oleObject103.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oleObject" Target="../embeddings/oleObject108.bin"/><Relationship Id="rId5" Type="http://schemas.openxmlformats.org/officeDocument/2006/relationships/oleObject" Target="../embeddings/oleObject107.bin"/><Relationship Id="rId4" Type="http://schemas.openxmlformats.org/officeDocument/2006/relationships/oleObject" Target="../embeddings/oleObject106.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7.xml"/><Relationship Id="rId1" Type="http://schemas.openxmlformats.org/officeDocument/2006/relationships/vmlDrawing" Target="../drawings/vmlDrawing41.vml"/><Relationship Id="rId4" Type="http://schemas.openxmlformats.org/officeDocument/2006/relationships/oleObject" Target="../embeddings/oleObject110.bin"/></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11.bin"/><Relationship Id="rId2" Type="http://schemas.openxmlformats.org/officeDocument/2006/relationships/slideLayout" Target="../slideLayouts/slideLayout4.xml"/><Relationship Id="rId1" Type="http://schemas.openxmlformats.org/officeDocument/2006/relationships/vmlDrawing" Target="../drawings/vmlDrawing42.v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7.xml"/><Relationship Id="rId1" Type="http://schemas.openxmlformats.org/officeDocument/2006/relationships/vmlDrawing" Target="../drawings/vmlDrawing43.vml"/><Relationship Id="rId5" Type="http://schemas.openxmlformats.org/officeDocument/2006/relationships/oleObject" Target="../embeddings/oleObject114.bin"/><Relationship Id="rId4" Type="http://schemas.openxmlformats.org/officeDocument/2006/relationships/oleObject" Target="../embeddings/oleObject113.bin"/></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15.bin"/><Relationship Id="rId2" Type="http://schemas.openxmlformats.org/officeDocument/2006/relationships/slideLayout" Target="../slideLayouts/slideLayout7.xml"/><Relationship Id="rId1" Type="http://schemas.openxmlformats.org/officeDocument/2006/relationships/vmlDrawing" Target="../drawings/vmlDrawing44.v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16.bin"/><Relationship Id="rId2" Type="http://schemas.openxmlformats.org/officeDocument/2006/relationships/slideLayout" Target="../slideLayouts/slideLayout7.xml"/><Relationship Id="rId1" Type="http://schemas.openxmlformats.org/officeDocument/2006/relationships/vmlDrawing" Target="../drawings/vmlDrawing45.v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slideLayout" Target="../slideLayouts/slideLayout7.xml"/><Relationship Id="rId1" Type="http://schemas.openxmlformats.org/officeDocument/2006/relationships/vmlDrawing" Target="../drawings/vmlDrawing46.vml"/><Relationship Id="rId4" Type="http://schemas.openxmlformats.org/officeDocument/2006/relationships/oleObject" Target="../embeddings/oleObject118.bin"/></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19.bin"/><Relationship Id="rId2" Type="http://schemas.openxmlformats.org/officeDocument/2006/relationships/slideLayout" Target="../slideLayouts/slideLayout7.xml"/><Relationship Id="rId1" Type="http://schemas.openxmlformats.org/officeDocument/2006/relationships/vmlDrawing" Target="../drawings/vmlDrawing47.v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8"/>
          <p:cNvSpPr>
            <a:spLocks noGrp="1" noChangeArrowheads="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2DEA7AC-EE16-40BF-A148-0979423A2D79}" type="slidenum">
              <a:rPr lang="en-US" altLang="zh-CN" sz="1200" smtClean="0">
                <a:latin typeface="Arial Black" panose="020B0A04020102020204" pitchFamily="34" charset="0"/>
              </a:rPr>
              <a:pPr>
                <a:spcBef>
                  <a:spcPct val="0"/>
                </a:spcBef>
                <a:buClrTx/>
                <a:buSzTx/>
                <a:buFontTx/>
                <a:buNone/>
              </a:pPr>
              <a:t>1</a:t>
            </a:fld>
            <a:endParaRPr lang="en-US" altLang="zh-CN" sz="1200" smtClean="0">
              <a:latin typeface="Arial Black" panose="020B0A04020102020204" pitchFamily="34" charset="0"/>
            </a:endParaRPr>
          </a:p>
        </p:txBody>
      </p:sp>
      <p:sp>
        <p:nvSpPr>
          <p:cNvPr id="5123" name="Rectangle 2"/>
          <p:cNvSpPr>
            <a:spLocks noGrp="1" noChangeArrowheads="1"/>
          </p:cNvSpPr>
          <p:nvPr>
            <p:ph type="ctrTitle"/>
          </p:nvPr>
        </p:nvSpPr>
        <p:spPr>
          <a:xfrm>
            <a:off x="3348038" y="1989138"/>
            <a:ext cx="4800600" cy="1455737"/>
          </a:xfrm>
        </p:spPr>
        <p:txBody>
          <a:bodyPr/>
          <a:lstStyle/>
          <a:p>
            <a:pPr eaLnBrk="1" hangingPunct="1"/>
            <a:r>
              <a:rPr lang="zh-CN" altLang="en-US" sz="6000" smtClean="0"/>
              <a:t>运筹学</a:t>
            </a:r>
          </a:p>
        </p:txBody>
      </p:sp>
      <p:sp>
        <p:nvSpPr>
          <p:cNvPr id="5124" name="Rectangle 3"/>
          <p:cNvSpPr>
            <a:spLocks noGrp="1" noChangeArrowheads="1"/>
          </p:cNvSpPr>
          <p:nvPr>
            <p:ph type="subTitle" idx="1"/>
          </p:nvPr>
        </p:nvSpPr>
        <p:spPr>
          <a:xfrm>
            <a:off x="3635375" y="4652963"/>
            <a:ext cx="4464050" cy="1512887"/>
          </a:xfrm>
        </p:spPr>
        <p:txBody>
          <a:bodyPr/>
          <a:lstStyle/>
          <a:p>
            <a:pPr eaLnBrk="1" hangingPunct="1"/>
            <a:r>
              <a:rPr lang="zh-CN" altLang="en-US" b="1" smtClean="0">
                <a:latin typeface="宋体" panose="02010600030101010101" pitchFamily="2" charset="-122"/>
              </a:rPr>
              <a:t>许 伟</a:t>
            </a:r>
            <a:r>
              <a:rPr lang="zh-CN" altLang="en-US" smtClean="0">
                <a:latin typeface="宋体" panose="02010600030101010101" pitchFamily="2" charset="-122"/>
              </a:rPr>
              <a:t> </a:t>
            </a:r>
            <a:r>
              <a:rPr lang="zh-CN" altLang="en-US" sz="2800" smtClean="0">
                <a:latin typeface="宋体" panose="02010600030101010101" pitchFamily="2" charset="-122"/>
              </a:rPr>
              <a:t>教授</a:t>
            </a:r>
            <a:r>
              <a:rPr lang="en-US" altLang="zh-CN" sz="2800" smtClean="0">
                <a:latin typeface="宋体" panose="02010600030101010101" pitchFamily="2" charset="-122"/>
              </a:rPr>
              <a:t>/</a:t>
            </a:r>
            <a:r>
              <a:rPr lang="zh-CN" altLang="en-US" sz="2800" smtClean="0">
                <a:latin typeface="宋体" panose="02010600030101010101" pitchFamily="2" charset="-122"/>
              </a:rPr>
              <a:t>博导</a:t>
            </a:r>
          </a:p>
          <a:p>
            <a:pPr eaLnBrk="1" hangingPunct="1"/>
            <a:r>
              <a:rPr lang="zh-CN" altLang="en-US" sz="2800" smtClean="0">
                <a:latin typeface="宋体" panose="02010600030101010101" pitchFamily="2" charset="-122"/>
              </a:rPr>
              <a:t>中国人民大学信息学院</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71500" y="709613"/>
            <a:ext cx="5472113" cy="933450"/>
          </a:xfrm>
          <a:noFill/>
        </p:spPr>
        <p:txBody>
          <a:bodyPr anchor="t"/>
          <a:lstStyle/>
          <a:p>
            <a:r>
              <a:rPr lang="zh-CN" altLang="en-US" sz="4800" smtClean="0">
                <a:solidFill>
                  <a:srgbClr val="0D04BE"/>
                </a:solidFill>
                <a:ea typeface="楷体_GB2312" pitchFamily="49" charset="-122"/>
              </a:rPr>
              <a:t>本章内容</a:t>
            </a:r>
          </a:p>
        </p:txBody>
      </p:sp>
      <p:sp>
        <p:nvSpPr>
          <p:cNvPr id="12291" name="Rectangle 3"/>
          <p:cNvSpPr>
            <a:spLocks noGrp="1" noChangeArrowheads="1"/>
          </p:cNvSpPr>
          <p:nvPr>
            <p:ph type="body" idx="1"/>
          </p:nvPr>
        </p:nvSpPr>
        <p:spPr>
          <a:xfrm>
            <a:off x="714375" y="1785938"/>
            <a:ext cx="7848600" cy="4572000"/>
          </a:xfrm>
        </p:spPr>
        <p:txBody>
          <a:bodyPr/>
          <a:lstStyle/>
          <a:p>
            <a:pPr>
              <a:lnSpc>
                <a:spcPct val="150000"/>
              </a:lnSpc>
              <a:buFont typeface="Wingdings" panose="05000000000000000000" pitchFamily="2" charset="2"/>
              <a:buNone/>
              <a:defRPr/>
            </a:pPr>
            <a:r>
              <a:rPr lang="en-US" altLang="zh-CN" sz="2800" b="1" dirty="0" smtClean="0">
                <a:solidFill>
                  <a:srgbClr val="000000"/>
                </a:solidFill>
                <a:latin typeface="楷体_GB2312" pitchFamily="49" charset="-122"/>
                <a:ea typeface="楷体_GB2312" pitchFamily="49" charset="-122"/>
              </a:rPr>
              <a:t>2.1 </a:t>
            </a:r>
            <a:r>
              <a:rPr lang="zh-CN" altLang="en-US" sz="2800" b="1" dirty="0" smtClean="0">
                <a:solidFill>
                  <a:srgbClr val="000000"/>
                </a:solidFill>
                <a:latin typeface="楷体_GB2312" pitchFamily="49" charset="-122"/>
                <a:ea typeface="楷体_GB2312" pitchFamily="49" charset="-122"/>
              </a:rPr>
              <a:t>线性规划的对偶问题</a:t>
            </a:r>
          </a:p>
          <a:p>
            <a:pPr marL="0" indent="0">
              <a:lnSpc>
                <a:spcPct val="150000"/>
              </a:lnSpc>
              <a:buFont typeface="Wingdings" panose="05000000000000000000" pitchFamily="2" charset="2"/>
              <a:buNone/>
              <a:defRPr/>
            </a:pPr>
            <a:r>
              <a:rPr lang="en-US" altLang="zh-CN" sz="2800" b="1" dirty="0" smtClean="0">
                <a:solidFill>
                  <a:srgbClr val="000000"/>
                </a:solidFill>
                <a:latin typeface="楷体_GB2312" pitchFamily="49" charset="-122"/>
                <a:ea typeface="楷体_GB2312" pitchFamily="49" charset="-122"/>
              </a:rPr>
              <a:t>2.2 </a:t>
            </a:r>
            <a:r>
              <a:rPr lang="zh-CN" altLang="en-US" sz="2800" b="1" dirty="0" smtClean="0">
                <a:solidFill>
                  <a:srgbClr val="000000"/>
                </a:solidFill>
                <a:latin typeface="楷体_GB2312" pitchFamily="49" charset="-122"/>
                <a:ea typeface="楷体_GB2312" pitchFamily="49" charset="-122"/>
              </a:rPr>
              <a:t>对偶问题的基本性质</a:t>
            </a:r>
          </a:p>
          <a:p>
            <a:pPr>
              <a:lnSpc>
                <a:spcPct val="150000"/>
              </a:lnSpc>
              <a:buFont typeface="Wingdings" panose="05000000000000000000" pitchFamily="2" charset="2"/>
              <a:buNone/>
              <a:defRPr/>
            </a:pPr>
            <a:r>
              <a:rPr lang="en-US" altLang="zh-CN" sz="2800" b="1" dirty="0" smtClean="0">
                <a:solidFill>
                  <a:srgbClr val="000000"/>
                </a:solidFill>
                <a:latin typeface="楷体_GB2312" pitchFamily="49" charset="-122"/>
                <a:ea typeface="楷体_GB2312" pitchFamily="49" charset="-122"/>
              </a:rPr>
              <a:t>2.3 </a:t>
            </a:r>
            <a:r>
              <a:rPr lang="zh-CN" altLang="en-US" sz="2800" b="1" dirty="0" smtClean="0">
                <a:solidFill>
                  <a:srgbClr val="000000"/>
                </a:solidFill>
                <a:latin typeface="楷体_GB2312" pitchFamily="49" charset="-122"/>
                <a:ea typeface="楷体_GB2312" pitchFamily="49" charset="-122"/>
              </a:rPr>
              <a:t>影子价格</a:t>
            </a:r>
          </a:p>
          <a:p>
            <a:pPr>
              <a:lnSpc>
                <a:spcPct val="150000"/>
              </a:lnSpc>
              <a:buFont typeface="Wingdings" panose="05000000000000000000" pitchFamily="2" charset="2"/>
              <a:buNone/>
              <a:defRPr/>
            </a:pPr>
            <a:r>
              <a:rPr lang="en-US" altLang="zh-CN" sz="2800" b="1" dirty="0" smtClean="0">
                <a:solidFill>
                  <a:srgbClr val="000000"/>
                </a:solidFill>
                <a:latin typeface="楷体_GB2312" pitchFamily="49" charset="-122"/>
                <a:ea typeface="楷体_GB2312" pitchFamily="49" charset="-122"/>
              </a:rPr>
              <a:t>2.4 </a:t>
            </a:r>
            <a:r>
              <a:rPr lang="zh-CN" altLang="en-US" sz="2800" b="1" dirty="0" smtClean="0">
                <a:solidFill>
                  <a:srgbClr val="000000"/>
                </a:solidFill>
                <a:latin typeface="楷体_GB2312" pitchFamily="49" charset="-122"/>
                <a:ea typeface="楷体_GB2312" pitchFamily="49" charset="-122"/>
              </a:rPr>
              <a:t>对偶单纯形法</a:t>
            </a:r>
            <a:endParaRPr lang="en-US" altLang="zh-CN" sz="2800" b="1" dirty="0" smtClean="0">
              <a:solidFill>
                <a:srgbClr val="000000"/>
              </a:solidFill>
              <a:latin typeface="楷体_GB2312" pitchFamily="49" charset="-122"/>
              <a:ea typeface="楷体_GB2312" pitchFamily="49" charset="-122"/>
            </a:endParaRPr>
          </a:p>
          <a:p>
            <a:pPr>
              <a:lnSpc>
                <a:spcPct val="150000"/>
              </a:lnSpc>
              <a:buFont typeface="Wingdings" panose="05000000000000000000" pitchFamily="2" charset="2"/>
              <a:buNone/>
              <a:defRPr/>
            </a:pPr>
            <a:r>
              <a:rPr lang="en-US" altLang="zh-CN" sz="2800" b="1" dirty="0" smtClean="0">
                <a:solidFill>
                  <a:srgbClr val="000000"/>
                </a:solidFill>
                <a:latin typeface="楷体_GB2312" pitchFamily="49" charset="-122"/>
                <a:ea typeface="楷体_GB2312" pitchFamily="49" charset="-122"/>
              </a:rPr>
              <a:t>2.5 </a:t>
            </a:r>
            <a:r>
              <a:rPr lang="zh-CN" altLang="en-US" sz="2800" b="1" dirty="0" smtClean="0">
                <a:solidFill>
                  <a:srgbClr val="000000"/>
                </a:solidFill>
                <a:latin typeface="楷体_GB2312" pitchFamily="49" charset="-122"/>
                <a:ea typeface="楷体_GB2312" pitchFamily="49" charset="-122"/>
              </a:rPr>
              <a:t>灵敏度分析</a:t>
            </a:r>
            <a:endParaRPr lang="en-US" altLang="zh-CN" sz="2800" b="1" dirty="0" smtClean="0">
              <a:solidFill>
                <a:srgbClr val="000000"/>
              </a:solidFill>
              <a:latin typeface="楷体_GB2312" pitchFamily="49" charset="-122"/>
              <a:ea typeface="楷体_GB2312" pitchFamily="49" charset="-122"/>
            </a:endParaRPr>
          </a:p>
          <a:p>
            <a:pPr>
              <a:lnSpc>
                <a:spcPct val="150000"/>
              </a:lnSpc>
              <a:buFont typeface="Wingdings" panose="05000000000000000000" pitchFamily="2" charset="2"/>
              <a:buNone/>
              <a:defRPr/>
            </a:pPr>
            <a:r>
              <a:rPr lang="en-US" altLang="zh-CN" sz="2800" b="1" dirty="0" smtClean="0">
                <a:solidFill>
                  <a:srgbClr val="000000"/>
                </a:solidFill>
                <a:latin typeface="楷体_GB2312" pitchFamily="49" charset="-122"/>
                <a:ea typeface="楷体_GB2312" pitchFamily="49" charset="-122"/>
              </a:rPr>
              <a:t>2.6 </a:t>
            </a:r>
            <a:r>
              <a:rPr lang="zh-CN" altLang="en-US" sz="2800" b="1" dirty="0" smtClean="0">
                <a:solidFill>
                  <a:srgbClr val="000000"/>
                </a:solidFill>
                <a:latin typeface="楷体_GB2312" pitchFamily="49" charset="-122"/>
                <a:ea typeface="楷体_GB2312" pitchFamily="49" charset="-122"/>
              </a:rPr>
              <a:t>参数线性规划</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6"/>
          <p:cNvSpPr>
            <a:spLocks noGrp="1" noChangeArrowheads="1"/>
          </p:cNvSpPr>
          <p:nvPr>
            <p:ph type="title"/>
          </p:nvPr>
        </p:nvSpPr>
        <p:spPr>
          <a:xfrm>
            <a:off x="357188" y="625475"/>
            <a:ext cx="5257800" cy="874713"/>
          </a:xfrm>
          <a:noFill/>
        </p:spPr>
        <p:txBody>
          <a:bodyPr anchor="t"/>
          <a:lstStyle/>
          <a:p>
            <a:r>
              <a:rPr lang="zh-CN" altLang="en-US" sz="4800" smtClean="0">
                <a:solidFill>
                  <a:srgbClr val="0D04BE"/>
                </a:solidFill>
                <a:ea typeface="楷体_GB2312" pitchFamily="49" charset="-122"/>
              </a:rPr>
              <a:t>本章内容要点</a:t>
            </a:r>
          </a:p>
        </p:txBody>
      </p:sp>
      <p:sp>
        <p:nvSpPr>
          <p:cNvPr id="16387" name="Rectangle 7"/>
          <p:cNvSpPr>
            <a:spLocks noGrp="1" noChangeArrowheads="1"/>
          </p:cNvSpPr>
          <p:nvPr>
            <p:ph type="body" idx="1"/>
          </p:nvPr>
        </p:nvSpPr>
        <p:spPr>
          <a:xfrm>
            <a:off x="468313" y="1704975"/>
            <a:ext cx="8532812" cy="4367213"/>
          </a:xfrm>
          <a:noFill/>
        </p:spPr>
        <p:txBody>
          <a:bodyPr/>
          <a:lstStyle/>
          <a:p>
            <a:pPr marL="609600" indent="-609600">
              <a:lnSpc>
                <a:spcPct val="150000"/>
              </a:lnSpc>
              <a:buFontTx/>
              <a:buBlip>
                <a:blip r:embed="rId3"/>
              </a:buBlip>
            </a:pPr>
            <a:r>
              <a:rPr lang="zh-CN" altLang="en-US" b="1" smtClean="0">
                <a:solidFill>
                  <a:srgbClr val="000000"/>
                </a:solidFill>
                <a:latin typeface="楷体_GB2312" pitchFamily="49" charset="-122"/>
                <a:ea typeface="楷体_GB2312" pitchFamily="49" charset="-122"/>
              </a:rPr>
              <a:t>线性规划的对偶问题</a:t>
            </a:r>
          </a:p>
          <a:p>
            <a:pPr marL="609600" indent="-609600">
              <a:lnSpc>
                <a:spcPct val="150000"/>
              </a:lnSpc>
              <a:buFontTx/>
              <a:buBlip>
                <a:blip r:embed="rId3"/>
              </a:buBlip>
            </a:pPr>
            <a:r>
              <a:rPr lang="zh-CN" altLang="en-US" b="1" smtClean="0">
                <a:solidFill>
                  <a:srgbClr val="000000"/>
                </a:solidFill>
                <a:latin typeface="楷体_GB2312" pitchFamily="49" charset="-122"/>
                <a:ea typeface="楷体_GB2312" pitchFamily="49" charset="-122"/>
              </a:rPr>
              <a:t>影子价格的经济意义和应用</a:t>
            </a:r>
            <a:endParaRPr lang="en-US" altLang="zh-CN" b="1" smtClean="0">
              <a:solidFill>
                <a:srgbClr val="000000"/>
              </a:solidFill>
              <a:latin typeface="楷体_GB2312" pitchFamily="49" charset="-122"/>
              <a:ea typeface="楷体_GB2312" pitchFamily="49" charset="-122"/>
            </a:endParaRPr>
          </a:p>
          <a:p>
            <a:pPr marL="609600" indent="-609600">
              <a:lnSpc>
                <a:spcPct val="150000"/>
              </a:lnSpc>
              <a:buFontTx/>
              <a:buBlip>
                <a:blip r:embed="rId3"/>
              </a:buBlip>
            </a:pPr>
            <a:r>
              <a:rPr lang="zh-CN" altLang="en-US" b="1" smtClean="0">
                <a:solidFill>
                  <a:srgbClr val="000000"/>
                </a:solidFill>
                <a:latin typeface="楷体_GB2312" pitchFamily="49" charset="-122"/>
                <a:ea typeface="楷体_GB2312" pitchFamily="49" charset="-122"/>
              </a:rPr>
              <a:t>对偶单纯形法</a:t>
            </a:r>
            <a:endParaRPr lang="en-US" altLang="zh-CN" b="1" smtClean="0">
              <a:solidFill>
                <a:srgbClr val="000000"/>
              </a:solidFill>
              <a:latin typeface="楷体_GB2312" pitchFamily="49" charset="-122"/>
              <a:ea typeface="楷体_GB2312" pitchFamily="49" charset="-122"/>
            </a:endParaRPr>
          </a:p>
          <a:p>
            <a:pPr marL="609600" indent="-609600">
              <a:lnSpc>
                <a:spcPct val="150000"/>
              </a:lnSpc>
              <a:buFontTx/>
              <a:buBlip>
                <a:blip r:embed="rId3"/>
              </a:buBlip>
            </a:pPr>
            <a:r>
              <a:rPr lang="zh-CN" altLang="en-US" b="1" smtClean="0">
                <a:solidFill>
                  <a:srgbClr val="000000"/>
                </a:solidFill>
                <a:latin typeface="楷体_GB2312" pitchFamily="49" charset="-122"/>
                <a:ea typeface="楷体_GB2312" pitchFamily="49" charset="-122"/>
              </a:rPr>
              <a:t>灵敏度分析</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5A86ACD-63ED-4D97-B9B5-B63088043499}" type="slidenum">
              <a:rPr lang="en-US" altLang="zh-CN" sz="1200" smtClean="0">
                <a:latin typeface="Arial Black" panose="020B0A04020102020204" pitchFamily="34" charset="0"/>
              </a:rPr>
              <a:pPr>
                <a:spcBef>
                  <a:spcPct val="0"/>
                </a:spcBef>
                <a:buClrTx/>
                <a:buSzTx/>
                <a:buFontTx/>
                <a:buNone/>
              </a:pPr>
              <a:t>4</a:t>
            </a:fld>
            <a:endParaRPr lang="en-US" altLang="zh-CN" sz="1200" smtClean="0">
              <a:latin typeface="Arial Black" panose="020B0A04020102020204" pitchFamily="34" charset="0"/>
            </a:endParaRPr>
          </a:p>
        </p:txBody>
      </p:sp>
      <p:sp>
        <p:nvSpPr>
          <p:cNvPr id="18435" name="Line 4"/>
          <p:cNvSpPr>
            <a:spLocks noChangeShapeType="1"/>
          </p:cNvSpPr>
          <p:nvPr/>
        </p:nvSpPr>
        <p:spPr bwMode="auto">
          <a:xfrm>
            <a:off x="12192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36" name="Line 5"/>
          <p:cNvSpPr>
            <a:spLocks noChangeShapeType="1"/>
          </p:cNvSpPr>
          <p:nvPr/>
        </p:nvSpPr>
        <p:spPr bwMode="auto">
          <a:xfrm>
            <a:off x="14478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37" name="Line 6"/>
          <p:cNvSpPr>
            <a:spLocks noChangeShapeType="1"/>
          </p:cNvSpPr>
          <p:nvPr/>
        </p:nvSpPr>
        <p:spPr bwMode="auto">
          <a:xfrm>
            <a:off x="4953000" y="38100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38" name="Line 7"/>
          <p:cNvSpPr>
            <a:spLocks noChangeShapeType="1"/>
          </p:cNvSpPr>
          <p:nvPr/>
        </p:nvSpPr>
        <p:spPr bwMode="auto">
          <a:xfrm>
            <a:off x="61722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39" name="Line 8"/>
          <p:cNvSpPr>
            <a:spLocks noChangeShapeType="1"/>
          </p:cNvSpPr>
          <p:nvPr/>
        </p:nvSpPr>
        <p:spPr bwMode="auto">
          <a:xfrm>
            <a:off x="2971800" y="50292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40" name="Line 9"/>
          <p:cNvSpPr>
            <a:spLocks noChangeShapeType="1"/>
          </p:cNvSpPr>
          <p:nvPr/>
        </p:nvSpPr>
        <p:spPr bwMode="auto">
          <a:xfrm>
            <a:off x="5257800" y="60960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41" name="Rectangle 2"/>
          <p:cNvSpPr>
            <a:spLocks noGrp="1" noChangeArrowheads="1"/>
          </p:cNvSpPr>
          <p:nvPr>
            <p:ph type="title"/>
          </p:nvPr>
        </p:nvSpPr>
        <p:spPr>
          <a:xfrm>
            <a:off x="388938" y="714375"/>
            <a:ext cx="6040437" cy="693738"/>
          </a:xfrm>
          <a:noFill/>
        </p:spPr>
        <p:txBody>
          <a:bodyPr anchor="t"/>
          <a:lstStyle/>
          <a:p>
            <a:r>
              <a:rPr lang="en-US" altLang="en-US" sz="3200" smtClean="0">
                <a:solidFill>
                  <a:srgbClr val="0D04BE"/>
                </a:solidFill>
                <a:latin typeface="楷体_GB2312" pitchFamily="49" charset="-122"/>
                <a:ea typeface="楷体_GB2312" pitchFamily="49" charset="-122"/>
              </a:rPr>
              <a:t>2.1 </a:t>
            </a:r>
            <a:r>
              <a:rPr lang="zh-CN" altLang="en-US" sz="3200" smtClean="0">
                <a:solidFill>
                  <a:srgbClr val="0D04BE"/>
                </a:solidFill>
                <a:latin typeface="楷体_GB2312" pitchFamily="49" charset="-122"/>
                <a:ea typeface="楷体_GB2312" pitchFamily="49" charset="-122"/>
              </a:rPr>
              <a:t>线性规划的对偶问题</a:t>
            </a:r>
          </a:p>
        </p:txBody>
      </p:sp>
      <p:pic>
        <p:nvPicPr>
          <p:cNvPr id="18442" name="Picture 1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1714500"/>
            <a:ext cx="9144000" cy="4572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114CB55-A9AC-4044-A144-7F016C26B19B}" type="slidenum">
              <a:rPr lang="en-US" altLang="zh-CN" sz="1200" smtClean="0">
                <a:latin typeface="Arial Black" panose="020B0A04020102020204" pitchFamily="34" charset="0"/>
              </a:rPr>
              <a:pPr>
                <a:spcBef>
                  <a:spcPct val="0"/>
                </a:spcBef>
                <a:buClrTx/>
                <a:buSzTx/>
                <a:buFontTx/>
                <a:buNone/>
              </a:pPr>
              <a:t>5</a:t>
            </a:fld>
            <a:endParaRPr lang="en-US" altLang="zh-CN" sz="1200" smtClean="0">
              <a:latin typeface="Arial Black" panose="020B0A04020102020204" pitchFamily="34" charset="0"/>
            </a:endParaRPr>
          </a:p>
        </p:txBody>
      </p:sp>
      <p:sp>
        <p:nvSpPr>
          <p:cNvPr id="19459" name="Line 4"/>
          <p:cNvSpPr>
            <a:spLocks noChangeShapeType="1"/>
          </p:cNvSpPr>
          <p:nvPr/>
        </p:nvSpPr>
        <p:spPr bwMode="auto">
          <a:xfrm>
            <a:off x="12192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460" name="Line 5"/>
          <p:cNvSpPr>
            <a:spLocks noChangeShapeType="1"/>
          </p:cNvSpPr>
          <p:nvPr/>
        </p:nvSpPr>
        <p:spPr bwMode="auto">
          <a:xfrm>
            <a:off x="14478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461" name="Line 6"/>
          <p:cNvSpPr>
            <a:spLocks noChangeShapeType="1"/>
          </p:cNvSpPr>
          <p:nvPr/>
        </p:nvSpPr>
        <p:spPr bwMode="auto">
          <a:xfrm>
            <a:off x="4953000" y="38100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462" name="Line 7"/>
          <p:cNvSpPr>
            <a:spLocks noChangeShapeType="1"/>
          </p:cNvSpPr>
          <p:nvPr/>
        </p:nvSpPr>
        <p:spPr bwMode="auto">
          <a:xfrm>
            <a:off x="61722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463" name="Line 8"/>
          <p:cNvSpPr>
            <a:spLocks noChangeShapeType="1"/>
          </p:cNvSpPr>
          <p:nvPr/>
        </p:nvSpPr>
        <p:spPr bwMode="auto">
          <a:xfrm>
            <a:off x="2971800" y="50292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464" name="Line 9"/>
          <p:cNvSpPr>
            <a:spLocks noChangeShapeType="1"/>
          </p:cNvSpPr>
          <p:nvPr/>
        </p:nvSpPr>
        <p:spPr bwMode="auto">
          <a:xfrm>
            <a:off x="5257800" y="60960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465" name="Rectangle 2"/>
          <p:cNvSpPr>
            <a:spLocks noGrp="1" noChangeArrowheads="1"/>
          </p:cNvSpPr>
          <p:nvPr>
            <p:ph type="title"/>
          </p:nvPr>
        </p:nvSpPr>
        <p:spPr>
          <a:xfrm>
            <a:off x="388938" y="714375"/>
            <a:ext cx="6040437" cy="693738"/>
          </a:xfrm>
          <a:noFill/>
        </p:spPr>
        <p:txBody>
          <a:bodyPr anchor="t"/>
          <a:lstStyle/>
          <a:p>
            <a:r>
              <a:rPr lang="en-US" altLang="en-US" sz="3200" smtClean="0">
                <a:solidFill>
                  <a:srgbClr val="0D04BE"/>
                </a:solidFill>
                <a:latin typeface="楷体_GB2312" pitchFamily="49" charset="-122"/>
                <a:ea typeface="楷体_GB2312" pitchFamily="49" charset="-122"/>
              </a:rPr>
              <a:t>2.1 </a:t>
            </a:r>
            <a:r>
              <a:rPr lang="zh-CN" altLang="en-US" sz="3200" smtClean="0">
                <a:solidFill>
                  <a:srgbClr val="0D04BE"/>
                </a:solidFill>
                <a:latin typeface="楷体_GB2312" pitchFamily="49" charset="-122"/>
                <a:ea typeface="楷体_GB2312" pitchFamily="49" charset="-122"/>
              </a:rPr>
              <a:t>线性规划的对偶问题</a:t>
            </a:r>
          </a:p>
        </p:txBody>
      </p:sp>
      <p:pic>
        <p:nvPicPr>
          <p:cNvPr id="19466" name="Picture 1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1928813"/>
            <a:ext cx="9144000" cy="3000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070D90D-C27C-46EF-A901-98522BFD2EFB}" type="slidenum">
              <a:rPr lang="en-US" altLang="zh-CN" sz="1200" smtClean="0">
                <a:latin typeface="Arial Black" panose="020B0A04020102020204" pitchFamily="34" charset="0"/>
              </a:rPr>
              <a:pPr>
                <a:spcBef>
                  <a:spcPct val="0"/>
                </a:spcBef>
                <a:buClrTx/>
                <a:buSzTx/>
                <a:buFontTx/>
                <a:buNone/>
              </a:pPr>
              <a:t>6</a:t>
            </a:fld>
            <a:endParaRPr lang="en-US" altLang="zh-CN" sz="1200" smtClean="0">
              <a:latin typeface="Arial Black" panose="020B0A04020102020204" pitchFamily="34" charset="0"/>
            </a:endParaRPr>
          </a:p>
        </p:txBody>
      </p:sp>
      <p:sp>
        <p:nvSpPr>
          <p:cNvPr id="20483" name="Line 4"/>
          <p:cNvSpPr>
            <a:spLocks noChangeShapeType="1"/>
          </p:cNvSpPr>
          <p:nvPr/>
        </p:nvSpPr>
        <p:spPr bwMode="auto">
          <a:xfrm>
            <a:off x="12192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84" name="Line 5"/>
          <p:cNvSpPr>
            <a:spLocks noChangeShapeType="1"/>
          </p:cNvSpPr>
          <p:nvPr/>
        </p:nvSpPr>
        <p:spPr bwMode="auto">
          <a:xfrm>
            <a:off x="14478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85" name="Line 6"/>
          <p:cNvSpPr>
            <a:spLocks noChangeShapeType="1"/>
          </p:cNvSpPr>
          <p:nvPr/>
        </p:nvSpPr>
        <p:spPr bwMode="auto">
          <a:xfrm>
            <a:off x="4953000" y="38100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86" name="Line 7"/>
          <p:cNvSpPr>
            <a:spLocks noChangeShapeType="1"/>
          </p:cNvSpPr>
          <p:nvPr/>
        </p:nvSpPr>
        <p:spPr bwMode="auto">
          <a:xfrm>
            <a:off x="61722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87" name="Line 8"/>
          <p:cNvSpPr>
            <a:spLocks noChangeShapeType="1"/>
          </p:cNvSpPr>
          <p:nvPr/>
        </p:nvSpPr>
        <p:spPr bwMode="auto">
          <a:xfrm>
            <a:off x="2971800" y="50292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88" name="Line 9"/>
          <p:cNvSpPr>
            <a:spLocks noChangeShapeType="1"/>
          </p:cNvSpPr>
          <p:nvPr/>
        </p:nvSpPr>
        <p:spPr bwMode="auto">
          <a:xfrm>
            <a:off x="5257800" y="60960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89" name="Rectangle 2"/>
          <p:cNvSpPr>
            <a:spLocks noGrp="1" noChangeArrowheads="1"/>
          </p:cNvSpPr>
          <p:nvPr>
            <p:ph type="title"/>
          </p:nvPr>
        </p:nvSpPr>
        <p:spPr>
          <a:xfrm>
            <a:off x="357188" y="714375"/>
            <a:ext cx="6040437" cy="693738"/>
          </a:xfrm>
          <a:noFill/>
        </p:spPr>
        <p:txBody>
          <a:bodyPr anchor="t"/>
          <a:lstStyle/>
          <a:p>
            <a:r>
              <a:rPr lang="en-US" altLang="en-US" sz="3200" smtClean="0">
                <a:solidFill>
                  <a:srgbClr val="0D04BE"/>
                </a:solidFill>
                <a:latin typeface="楷体_GB2312" pitchFamily="49" charset="-122"/>
                <a:ea typeface="楷体_GB2312" pitchFamily="49" charset="-122"/>
              </a:rPr>
              <a:t>2.1 </a:t>
            </a:r>
            <a:r>
              <a:rPr lang="zh-CN" altLang="en-US" sz="3200" smtClean="0">
                <a:solidFill>
                  <a:srgbClr val="0D04BE"/>
                </a:solidFill>
                <a:latin typeface="楷体_GB2312" pitchFamily="49" charset="-122"/>
                <a:ea typeface="楷体_GB2312" pitchFamily="49" charset="-122"/>
              </a:rPr>
              <a:t>线性规划的对偶问题</a:t>
            </a:r>
          </a:p>
        </p:txBody>
      </p:sp>
      <p:pic>
        <p:nvPicPr>
          <p:cNvPr id="20490" name="Picture 1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1857375"/>
            <a:ext cx="9144000" cy="4429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EBAE69E-07C7-4687-A215-C74F30763117}" type="slidenum">
              <a:rPr lang="en-US" altLang="zh-CN" sz="1200" smtClean="0">
                <a:latin typeface="Arial Black" panose="020B0A04020102020204" pitchFamily="34" charset="0"/>
              </a:rPr>
              <a:pPr>
                <a:spcBef>
                  <a:spcPct val="0"/>
                </a:spcBef>
                <a:buClrTx/>
                <a:buSzTx/>
                <a:buFontTx/>
                <a:buNone/>
              </a:pPr>
              <a:t>7</a:t>
            </a:fld>
            <a:endParaRPr lang="en-US" altLang="zh-CN" sz="1200" smtClean="0">
              <a:latin typeface="Arial Black" panose="020B0A04020102020204" pitchFamily="34" charset="0"/>
            </a:endParaRPr>
          </a:p>
        </p:txBody>
      </p:sp>
      <p:sp>
        <p:nvSpPr>
          <p:cNvPr id="21507" name="Line 4"/>
          <p:cNvSpPr>
            <a:spLocks noChangeShapeType="1"/>
          </p:cNvSpPr>
          <p:nvPr/>
        </p:nvSpPr>
        <p:spPr bwMode="auto">
          <a:xfrm>
            <a:off x="12192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08" name="Line 5"/>
          <p:cNvSpPr>
            <a:spLocks noChangeShapeType="1"/>
          </p:cNvSpPr>
          <p:nvPr/>
        </p:nvSpPr>
        <p:spPr bwMode="auto">
          <a:xfrm>
            <a:off x="14478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09" name="Line 6"/>
          <p:cNvSpPr>
            <a:spLocks noChangeShapeType="1"/>
          </p:cNvSpPr>
          <p:nvPr/>
        </p:nvSpPr>
        <p:spPr bwMode="auto">
          <a:xfrm>
            <a:off x="4953000" y="38100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10" name="Line 7"/>
          <p:cNvSpPr>
            <a:spLocks noChangeShapeType="1"/>
          </p:cNvSpPr>
          <p:nvPr/>
        </p:nvSpPr>
        <p:spPr bwMode="auto">
          <a:xfrm>
            <a:off x="61722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11" name="Line 8"/>
          <p:cNvSpPr>
            <a:spLocks noChangeShapeType="1"/>
          </p:cNvSpPr>
          <p:nvPr/>
        </p:nvSpPr>
        <p:spPr bwMode="auto">
          <a:xfrm>
            <a:off x="2971800" y="50292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12" name="Line 9"/>
          <p:cNvSpPr>
            <a:spLocks noChangeShapeType="1"/>
          </p:cNvSpPr>
          <p:nvPr/>
        </p:nvSpPr>
        <p:spPr bwMode="auto">
          <a:xfrm>
            <a:off x="5257800" y="60960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13" name="Rectangle 2"/>
          <p:cNvSpPr>
            <a:spLocks noGrp="1" noChangeArrowheads="1"/>
          </p:cNvSpPr>
          <p:nvPr>
            <p:ph type="title"/>
          </p:nvPr>
        </p:nvSpPr>
        <p:spPr>
          <a:xfrm>
            <a:off x="428625" y="714375"/>
            <a:ext cx="6040438" cy="693738"/>
          </a:xfrm>
          <a:noFill/>
        </p:spPr>
        <p:txBody>
          <a:bodyPr anchor="t"/>
          <a:lstStyle/>
          <a:p>
            <a:r>
              <a:rPr lang="en-US" altLang="en-US" sz="3200" smtClean="0">
                <a:solidFill>
                  <a:srgbClr val="0D04BE"/>
                </a:solidFill>
                <a:latin typeface="楷体_GB2312" pitchFamily="49" charset="-122"/>
                <a:ea typeface="楷体_GB2312" pitchFamily="49" charset="-122"/>
              </a:rPr>
              <a:t>2.1 </a:t>
            </a:r>
            <a:r>
              <a:rPr lang="zh-CN" altLang="en-US" sz="3200" smtClean="0">
                <a:solidFill>
                  <a:srgbClr val="0D04BE"/>
                </a:solidFill>
                <a:latin typeface="楷体_GB2312" pitchFamily="49" charset="-122"/>
                <a:ea typeface="楷体_GB2312" pitchFamily="49" charset="-122"/>
              </a:rPr>
              <a:t>线性规划的对偶问题</a:t>
            </a:r>
          </a:p>
        </p:txBody>
      </p:sp>
      <p:pic>
        <p:nvPicPr>
          <p:cNvPr id="21514" name="Picture 1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1643063"/>
            <a:ext cx="9144000" cy="17859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pic>
        <p:nvPicPr>
          <p:cNvPr id="21515" name="Picture 14"/>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3429000"/>
            <a:ext cx="9144000" cy="19288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Text Box 2"/>
          <p:cNvSpPr txBox="1">
            <a:spLocks noChangeArrowheads="1"/>
          </p:cNvSpPr>
          <p:nvPr/>
        </p:nvSpPr>
        <p:spPr bwMode="auto">
          <a:xfrm>
            <a:off x="395287" y="781230"/>
            <a:ext cx="4419600" cy="579438"/>
          </a:xfrm>
          <a:prstGeom prst="rect">
            <a:avLst/>
          </a:prstGeom>
          <a:noFill/>
          <a:ln>
            <a:noFill/>
          </a:ln>
          <a:effectLst/>
          <a:extLst>
            <a:ext uri="{909E8E84-426E-40DD-AFC4-6F175D3DCCD1}">
              <a14:hiddenFill xmlns:a14="http://schemas.microsoft.com/office/drawing/2010/main" xmlns="">
                <a:solidFill>
                  <a:srgbClr val="FFFF99"/>
                </a:solidFill>
              </a14:hiddenFill>
            </a:ext>
            <a:ext uri="{91240B29-F687-4F45-9708-019B960494DF}">
              <a14:hiddenLine xmlns:a14="http://schemas.microsoft.com/office/drawing/2010/main" xmlns="" w="9525">
                <a:solidFill>
                  <a:srgbClr val="FF3300"/>
                </a:solidFill>
                <a:miter lim="800000"/>
                <a:headEnd/>
                <a:tailEnd/>
              </a14:hiddenLine>
            </a:ext>
            <a:ext uri="{AF507438-7753-43E0-B8FC-AC1667EBCBE1}">
              <a14:hiddenEffects xmlns:a14="http://schemas.microsoft.com/office/drawing/2010/main" xmlns="">
                <a:effectLst>
                  <a:outerShdw kx="-3284103" algn="br" rotWithShape="0">
                    <a:schemeClr val="bg2"/>
                  </a:outerShdw>
                </a:effectLst>
              </a14:hiddenEffects>
            </a:ext>
          </a:extLst>
        </p:spPr>
        <p:txBody>
          <a:bodyPr>
            <a:spAutoFit/>
          </a:bodyPr>
          <a:lstStyle/>
          <a:p>
            <a:pPr algn="ctr">
              <a:spcBef>
                <a:spcPct val="50000"/>
              </a:spcBef>
            </a:pPr>
            <a:r>
              <a:rPr lang="zh-CN" altLang="en-US" sz="3200" dirty="0" smtClean="0">
                <a:latin typeface="宋体" panose="02010600030101010101" pitchFamily="2" charset="-122"/>
              </a:rPr>
              <a:t>对</a:t>
            </a:r>
            <a:r>
              <a:rPr lang="zh-CN" altLang="en-US" sz="3200" dirty="0">
                <a:latin typeface="宋体" panose="02010600030101010101" pitchFamily="2" charset="-122"/>
              </a:rPr>
              <a:t>偶模型的提出</a:t>
            </a:r>
          </a:p>
        </p:txBody>
      </p:sp>
      <p:sp>
        <p:nvSpPr>
          <p:cNvPr id="685059" name="Text Box 3"/>
          <p:cNvSpPr txBox="1">
            <a:spLocks noChangeArrowheads="1"/>
          </p:cNvSpPr>
          <p:nvPr/>
        </p:nvSpPr>
        <p:spPr bwMode="auto">
          <a:xfrm>
            <a:off x="395287" y="1582794"/>
            <a:ext cx="807720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smtClean="0"/>
              <a:t>实</a:t>
            </a:r>
            <a:r>
              <a:rPr lang="zh-CN" altLang="en-US" dirty="0"/>
              <a:t>际角度对偶模型的提出</a:t>
            </a:r>
          </a:p>
        </p:txBody>
      </p:sp>
      <p:graphicFrame>
        <p:nvGraphicFramePr>
          <p:cNvPr id="685060" name="Group 4"/>
          <p:cNvGraphicFramePr>
            <a:graphicFrameLocks noGrp="1"/>
          </p:cNvGraphicFramePr>
          <p:nvPr/>
        </p:nvGraphicFramePr>
        <p:xfrm>
          <a:off x="1258888" y="3500438"/>
          <a:ext cx="6643687" cy="2968752"/>
        </p:xfrm>
        <a:graphic>
          <a:graphicData uri="http://schemas.openxmlformats.org/drawingml/2006/table">
            <a:tbl>
              <a:tblPr/>
              <a:tblGrid>
                <a:gridCol w="1660525">
                  <a:extLst>
                    <a:ext uri="{9D8B030D-6E8A-4147-A177-3AD203B41FA5}">
                      <a16:colId xmlns:a16="http://schemas.microsoft.com/office/drawing/2014/main" xmlns="" val="3068910421"/>
                    </a:ext>
                  </a:extLst>
                </a:gridCol>
                <a:gridCol w="1662112">
                  <a:extLst>
                    <a:ext uri="{9D8B030D-6E8A-4147-A177-3AD203B41FA5}">
                      <a16:colId xmlns:a16="http://schemas.microsoft.com/office/drawing/2014/main" xmlns="" val="2296149421"/>
                    </a:ext>
                  </a:extLst>
                </a:gridCol>
                <a:gridCol w="1660525">
                  <a:extLst>
                    <a:ext uri="{9D8B030D-6E8A-4147-A177-3AD203B41FA5}">
                      <a16:colId xmlns:a16="http://schemas.microsoft.com/office/drawing/2014/main" xmlns="" val="4055881754"/>
                    </a:ext>
                  </a:extLst>
                </a:gridCol>
                <a:gridCol w="1660525">
                  <a:extLst>
                    <a:ext uri="{9D8B030D-6E8A-4147-A177-3AD203B41FA5}">
                      <a16:colId xmlns:a16="http://schemas.microsoft.com/office/drawing/2014/main" xmlns="" val="3472543969"/>
                    </a:ext>
                  </a:extLst>
                </a:gridCol>
              </a:tblGrid>
              <a:tr h="8382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产品</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资源</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   </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资源限制</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9558052"/>
                  </a:ext>
                </a:extLst>
              </a:tr>
              <a:tr h="5000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甲</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182418328"/>
                  </a:ext>
                </a:extLst>
              </a:tr>
              <a:tr h="2714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777614168"/>
                  </a:ext>
                </a:extLst>
              </a:tr>
              <a:tr h="177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782228827"/>
                  </a:ext>
                </a:extLst>
              </a:tr>
              <a:tr h="5064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利润</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772512528"/>
                  </a:ext>
                </a:extLst>
              </a:tr>
            </a:tbl>
          </a:graphicData>
        </a:graphic>
      </p:graphicFrame>
      <p:sp>
        <p:nvSpPr>
          <p:cNvPr id="685095" name="Text Box 39"/>
          <p:cNvSpPr txBox="1">
            <a:spLocks noChangeArrowheads="1"/>
          </p:cNvSpPr>
          <p:nvPr/>
        </p:nvSpPr>
        <p:spPr bwMode="auto">
          <a:xfrm>
            <a:off x="395287" y="2132856"/>
            <a:ext cx="8237537" cy="923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t>      【</a:t>
            </a:r>
            <a:r>
              <a:rPr lang="zh-CN" altLang="en-US" dirty="0"/>
              <a:t>例</a:t>
            </a:r>
            <a:r>
              <a:rPr lang="en-US" altLang="zh-CN" dirty="0"/>
              <a:t>4-1】</a:t>
            </a:r>
            <a:r>
              <a:rPr lang="zh-CN" altLang="en-US" dirty="0"/>
              <a:t>某厂用甲、乙、丙三种原料生产</a:t>
            </a:r>
            <a:r>
              <a:rPr lang="en-US" altLang="zh-CN" dirty="0"/>
              <a:t>A</a:t>
            </a:r>
            <a:r>
              <a:rPr lang="zh-CN" altLang="en-US" dirty="0"/>
              <a:t>和</a:t>
            </a:r>
            <a:r>
              <a:rPr lang="en-US" altLang="zh-CN" dirty="0"/>
              <a:t>B</a:t>
            </a:r>
            <a:r>
              <a:rPr lang="zh-CN" altLang="en-US" dirty="0"/>
              <a:t>两种产品，每种产品耗用的各种原料、利润以及原料库存如表</a:t>
            </a:r>
            <a:r>
              <a:rPr lang="en-US" altLang="zh-CN" dirty="0"/>
              <a:t>4-1</a:t>
            </a:r>
            <a:r>
              <a:rPr lang="zh-CN" altLang="en-US" dirty="0"/>
              <a:t>所示，如何安排生产使得在现有条件下获得利润最多</a:t>
            </a:r>
            <a:r>
              <a:rPr lang="en-US" altLang="zh-CN" dirty="0"/>
              <a:t>?</a:t>
            </a:r>
          </a:p>
        </p:txBody>
      </p:sp>
    </p:spTree>
    <p:extLst>
      <p:ext uri="{BB962C8B-B14F-4D97-AF65-F5344CB8AC3E}">
        <p14:creationId xmlns:p14="http://schemas.microsoft.com/office/powerpoint/2010/main" xmlns="" val="1248274475"/>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a:xfrm>
            <a:off x="179388" y="260350"/>
            <a:ext cx="8713787" cy="720725"/>
          </a:xfrm>
        </p:spPr>
        <p:txBody>
          <a:bodyPr/>
          <a:lstStyle/>
          <a:p>
            <a:r>
              <a:rPr lang="zh-CN" altLang="en-US" sz="2800" b="1">
                <a:latin typeface="宋体" panose="02010600030101010101" pitchFamily="2" charset="-122"/>
              </a:rPr>
              <a:t>设生产</a:t>
            </a:r>
            <a:r>
              <a:rPr lang="en-US" altLang="zh-CN" sz="2800" b="1">
                <a:latin typeface="宋体" panose="02010600030101010101" pitchFamily="2" charset="-122"/>
              </a:rPr>
              <a:t>A</a:t>
            </a:r>
            <a:r>
              <a:rPr lang="zh-CN" altLang="en-US" sz="2800" b="1">
                <a:latin typeface="宋体" panose="02010600030101010101" pitchFamily="2" charset="-122"/>
              </a:rPr>
              <a:t>、</a:t>
            </a:r>
            <a:r>
              <a:rPr lang="en-US" altLang="zh-CN" sz="2800" b="1">
                <a:latin typeface="宋体" panose="02010600030101010101" pitchFamily="2" charset="-122"/>
              </a:rPr>
              <a:t>B</a:t>
            </a:r>
            <a:r>
              <a:rPr lang="zh-CN" altLang="en-US" sz="2800" b="1">
                <a:latin typeface="宋体" panose="02010600030101010101" pitchFamily="2" charset="-122"/>
              </a:rPr>
              <a:t>产品数分别为</a:t>
            </a:r>
            <a:r>
              <a:rPr lang="en-US" altLang="zh-CN" sz="2800" b="1">
                <a:latin typeface="宋体" panose="02010600030101010101" pitchFamily="2" charset="-122"/>
              </a:rPr>
              <a:t>x</a:t>
            </a:r>
            <a:r>
              <a:rPr lang="en-US" altLang="zh-CN" sz="2800" b="1" baseline="-25000">
                <a:latin typeface="宋体" panose="02010600030101010101" pitchFamily="2" charset="-122"/>
              </a:rPr>
              <a:t>1</a:t>
            </a:r>
            <a:r>
              <a:rPr lang="zh-CN" altLang="en-US" sz="2800" b="1">
                <a:latin typeface="宋体" panose="02010600030101010101" pitchFamily="2" charset="-122"/>
              </a:rPr>
              <a:t>、</a:t>
            </a:r>
            <a:r>
              <a:rPr lang="en-US" altLang="zh-CN" sz="2800" b="1">
                <a:latin typeface="宋体" panose="02010600030101010101" pitchFamily="2" charset="-122"/>
              </a:rPr>
              <a:t>x</a:t>
            </a:r>
            <a:r>
              <a:rPr lang="en-US" altLang="zh-CN" sz="2800" b="1" baseline="-25000">
                <a:latin typeface="宋体" panose="02010600030101010101" pitchFamily="2" charset="-122"/>
              </a:rPr>
              <a:t>2</a:t>
            </a:r>
            <a:r>
              <a:rPr lang="zh-CN" altLang="en-US" sz="2800" b="1">
                <a:latin typeface="宋体" panose="02010600030101010101" pitchFamily="2" charset="-122"/>
              </a:rPr>
              <a:t>，则数学模型为</a:t>
            </a:r>
          </a:p>
        </p:txBody>
      </p:sp>
      <p:graphicFrame>
        <p:nvGraphicFramePr>
          <p:cNvPr id="686083" name="Object 3"/>
          <p:cNvGraphicFramePr>
            <a:graphicFrameLocks noGrp="1" noChangeAspect="1"/>
          </p:cNvGraphicFramePr>
          <p:nvPr>
            <p:ph idx="4294967295"/>
          </p:nvPr>
        </p:nvGraphicFramePr>
        <p:xfrm>
          <a:off x="1116013" y="1052513"/>
          <a:ext cx="2724150" cy="2881312"/>
        </p:xfrm>
        <a:graphic>
          <a:graphicData uri="http://schemas.openxmlformats.org/presentationml/2006/ole">
            <p:oleObj spid="_x0000_s1041" name="Equation" r:id="rId3" imgW="1104900" imgH="1168400" progId="">
              <p:embed/>
            </p:oleObj>
          </a:graphicData>
        </a:graphic>
      </p:graphicFrame>
      <p:sp>
        <p:nvSpPr>
          <p:cNvPr id="686084" name="Rectangle 4"/>
          <p:cNvSpPr>
            <a:spLocks noChangeArrowheads="1"/>
          </p:cNvSpPr>
          <p:nvPr/>
        </p:nvSpPr>
        <p:spPr bwMode="auto">
          <a:xfrm>
            <a:off x="5580063" y="1412875"/>
            <a:ext cx="1657350" cy="2232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zh-CN" altLang="en-US" sz="2800">
                <a:latin typeface="宋体" panose="02010600030101010101" pitchFamily="2" charset="-122"/>
              </a:rPr>
              <a:t>求解得：</a:t>
            </a:r>
            <a:r>
              <a:rPr lang="en-US" altLang="zh-CN" sz="2800">
                <a:latin typeface="宋体" panose="02010600030101010101" pitchFamily="2" charset="-122"/>
              </a:rPr>
              <a:t>x</a:t>
            </a:r>
            <a:r>
              <a:rPr lang="en-US" altLang="zh-CN" sz="2800" baseline="-25000">
                <a:latin typeface="宋体" panose="02010600030101010101" pitchFamily="2" charset="-122"/>
              </a:rPr>
              <a:t>1</a:t>
            </a:r>
            <a:r>
              <a:rPr lang="en-US" altLang="zh-CN" sz="2800">
                <a:latin typeface="宋体" panose="02010600030101010101" pitchFamily="2" charset="-122"/>
              </a:rPr>
              <a:t>=75</a:t>
            </a:r>
            <a:r>
              <a:rPr lang="zh-CN" altLang="en-US" sz="2800">
                <a:latin typeface="宋体" panose="02010600030101010101" pitchFamily="2" charset="-122"/>
              </a:rPr>
              <a:t>，</a:t>
            </a:r>
            <a:br>
              <a:rPr lang="zh-CN" altLang="en-US" sz="2800">
                <a:latin typeface="宋体" panose="02010600030101010101" pitchFamily="2" charset="-122"/>
              </a:rPr>
            </a:br>
            <a:r>
              <a:rPr lang="en-US" altLang="zh-CN" sz="2800">
                <a:latin typeface="宋体" panose="02010600030101010101" pitchFamily="2" charset="-122"/>
              </a:rPr>
              <a:t>x</a:t>
            </a:r>
            <a:r>
              <a:rPr lang="en-US" altLang="zh-CN" sz="2800" baseline="-25000">
                <a:latin typeface="宋体" panose="02010600030101010101" pitchFamily="2" charset="-122"/>
              </a:rPr>
              <a:t>2</a:t>
            </a:r>
            <a:r>
              <a:rPr lang="en-US" altLang="zh-CN" sz="2800">
                <a:latin typeface="宋体" panose="02010600030101010101" pitchFamily="2" charset="-122"/>
              </a:rPr>
              <a:t>=15</a:t>
            </a:r>
            <a:r>
              <a:rPr lang="zh-CN" altLang="en-US" sz="2800">
                <a:latin typeface="宋体" panose="02010600030101010101" pitchFamily="2" charset="-122"/>
              </a:rPr>
              <a:t>。最优值为</a:t>
            </a:r>
            <a:r>
              <a:rPr lang="en-US" altLang="zh-CN" sz="2800">
                <a:latin typeface="宋体" panose="02010600030101010101" pitchFamily="2" charset="-122"/>
              </a:rPr>
              <a:t>570</a:t>
            </a:r>
            <a:r>
              <a:rPr lang="zh-CN" altLang="en-US" sz="2800">
                <a:latin typeface="宋体" panose="02010600030101010101" pitchFamily="2" charset="-122"/>
              </a:rPr>
              <a:t>。</a:t>
            </a:r>
          </a:p>
        </p:txBody>
      </p:sp>
      <p:sp>
        <p:nvSpPr>
          <p:cNvPr id="686085" name="Rectangle 5"/>
          <p:cNvSpPr>
            <a:spLocks noChangeArrowheads="1"/>
          </p:cNvSpPr>
          <p:nvPr/>
        </p:nvSpPr>
        <p:spPr bwMode="auto">
          <a:xfrm>
            <a:off x="611188" y="4005263"/>
            <a:ext cx="7988300" cy="1584325"/>
          </a:xfrm>
          <a:prstGeom prst="rect">
            <a:avLst/>
          </a:prstGeom>
          <a:solidFill>
            <a:srgbClr val="FFFF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lang="en-US" altLang="zh-CN" sz="3200">
                <a:latin typeface="宋体" panose="02010600030101010101" pitchFamily="2" charset="-122"/>
              </a:rPr>
              <a:t>    </a:t>
            </a:r>
            <a:r>
              <a:rPr lang="zh-CN" altLang="en-US" sz="2800">
                <a:latin typeface="宋体" panose="02010600030101010101" pitchFamily="2" charset="-122"/>
              </a:rPr>
              <a:t>现在从另一个角度讨论这一问题，假设</a:t>
            </a:r>
            <a:r>
              <a:rPr lang="zh-CN" altLang="en-US" sz="2800">
                <a:solidFill>
                  <a:schemeClr val="tx1"/>
                </a:solidFill>
              </a:rPr>
              <a:t>该企业决策者决定</a:t>
            </a:r>
            <a:r>
              <a:rPr lang="zh-CN" altLang="en-US" sz="2800">
                <a:latin typeface="宋体" panose="02010600030101010101" pitchFamily="2" charset="-122"/>
              </a:rPr>
              <a:t>不生产这两种产品，而将其资源出租，问题是对每种资源如何定价？</a:t>
            </a:r>
          </a:p>
        </p:txBody>
      </p:sp>
      <p:sp>
        <p:nvSpPr>
          <p:cNvPr id="686086" name="AutoShape 6"/>
          <p:cNvSpPr>
            <a:spLocks noChangeArrowheads="1"/>
          </p:cNvSpPr>
          <p:nvPr/>
        </p:nvSpPr>
        <p:spPr bwMode="auto">
          <a:xfrm>
            <a:off x="5076825" y="5445125"/>
            <a:ext cx="3695700" cy="1223963"/>
          </a:xfrm>
          <a:prstGeom prst="wedgeRoundRectCallout">
            <a:avLst>
              <a:gd name="adj1" fmla="val -60954"/>
              <a:gd name="adj2" fmla="val -50907"/>
              <a:gd name="adj3" fmla="val 16667"/>
            </a:avLst>
          </a:prstGeom>
          <a:solidFill>
            <a:srgbClr val="FFCC99"/>
          </a:solidFill>
          <a:ln w="9525">
            <a:solidFill>
              <a:schemeClr val="accent2"/>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a:t>出让代价应不低于</a:t>
            </a:r>
          </a:p>
          <a:p>
            <a:pPr algn="ctr"/>
            <a:r>
              <a:rPr lang="zh-CN" altLang="en-US"/>
              <a:t>用同等数量的资源</a:t>
            </a:r>
          </a:p>
          <a:p>
            <a:pPr algn="ctr"/>
            <a:r>
              <a:rPr lang="zh-CN" altLang="en-US"/>
              <a:t>自己生产的利润。</a:t>
            </a:r>
          </a:p>
        </p:txBody>
      </p:sp>
    </p:spTree>
    <p:extLst>
      <p:ext uri="{BB962C8B-B14F-4D97-AF65-F5344CB8AC3E}">
        <p14:creationId xmlns:p14="http://schemas.microsoft.com/office/powerpoint/2010/main" xmlns="" val="36584989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86084"/>
                                        </p:tgtEl>
                                        <p:attrNameLst>
                                          <p:attrName>style.visibility</p:attrName>
                                        </p:attrNameLst>
                                      </p:cBhvr>
                                      <p:to>
                                        <p:strVal val="visible"/>
                                      </p:to>
                                    </p:set>
                                    <p:anim calcmode="lin" valueType="num">
                                      <p:cBhvr additive="base">
                                        <p:cTn id="7" dur="500" fill="hold"/>
                                        <p:tgtEl>
                                          <p:spTgt spid="686084"/>
                                        </p:tgtEl>
                                        <p:attrNameLst>
                                          <p:attrName>ppt_x</p:attrName>
                                        </p:attrNameLst>
                                      </p:cBhvr>
                                      <p:tavLst>
                                        <p:tav tm="0">
                                          <p:val>
                                            <p:strVal val="1+#ppt_w/2"/>
                                          </p:val>
                                        </p:tav>
                                        <p:tav tm="100000">
                                          <p:val>
                                            <p:strVal val="#ppt_x"/>
                                          </p:val>
                                        </p:tav>
                                      </p:tavLst>
                                    </p:anim>
                                    <p:anim calcmode="lin" valueType="num">
                                      <p:cBhvr additive="base">
                                        <p:cTn id="8" dur="500" fill="hold"/>
                                        <p:tgtEl>
                                          <p:spTgt spid="68608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86085"/>
                                        </p:tgtEl>
                                        <p:attrNameLst>
                                          <p:attrName>style.visibility</p:attrName>
                                        </p:attrNameLst>
                                      </p:cBhvr>
                                      <p:to>
                                        <p:strVal val="visible"/>
                                      </p:to>
                                    </p:set>
                                    <p:anim calcmode="lin" valueType="num">
                                      <p:cBhvr additive="base">
                                        <p:cTn id="13" dur="500" fill="hold"/>
                                        <p:tgtEl>
                                          <p:spTgt spid="686085"/>
                                        </p:tgtEl>
                                        <p:attrNameLst>
                                          <p:attrName>ppt_x</p:attrName>
                                        </p:attrNameLst>
                                      </p:cBhvr>
                                      <p:tavLst>
                                        <p:tav tm="0">
                                          <p:val>
                                            <p:strVal val="#ppt_x"/>
                                          </p:val>
                                        </p:tav>
                                        <p:tav tm="100000">
                                          <p:val>
                                            <p:strVal val="#ppt_x"/>
                                          </p:val>
                                        </p:tav>
                                      </p:tavLst>
                                    </p:anim>
                                    <p:anim calcmode="lin" valueType="num">
                                      <p:cBhvr additive="base">
                                        <p:cTn id="14" dur="500" fill="hold"/>
                                        <p:tgtEl>
                                          <p:spTgt spid="68608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86086"/>
                                        </p:tgtEl>
                                        <p:attrNameLst>
                                          <p:attrName>style.visibility</p:attrName>
                                        </p:attrNameLst>
                                      </p:cBhvr>
                                      <p:to>
                                        <p:strVal val="visible"/>
                                      </p:to>
                                    </p:set>
                                    <p:anim calcmode="lin" valueType="num">
                                      <p:cBhvr additive="base">
                                        <p:cTn id="19" dur="500" fill="hold"/>
                                        <p:tgtEl>
                                          <p:spTgt spid="686086"/>
                                        </p:tgtEl>
                                        <p:attrNameLst>
                                          <p:attrName>ppt_x</p:attrName>
                                        </p:attrNameLst>
                                      </p:cBhvr>
                                      <p:tavLst>
                                        <p:tav tm="0">
                                          <p:val>
                                            <p:strVal val="#ppt_x"/>
                                          </p:val>
                                        </p:tav>
                                        <p:tav tm="100000">
                                          <p:val>
                                            <p:strVal val="#ppt_x"/>
                                          </p:val>
                                        </p:tav>
                                      </p:tavLst>
                                    </p:anim>
                                    <p:anim calcmode="lin" valueType="num">
                                      <p:cBhvr additive="base">
                                        <p:cTn id="20" dur="500" fill="hold"/>
                                        <p:tgtEl>
                                          <p:spTgt spid="6860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084" grpId="0"/>
      <p:bldP spid="686085" grpId="0" animBg="1"/>
      <p:bldP spid="686086"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Text Box 2"/>
          <p:cNvSpPr txBox="1">
            <a:spLocks noChangeArrowheads="1"/>
          </p:cNvSpPr>
          <p:nvPr/>
        </p:nvSpPr>
        <p:spPr bwMode="auto">
          <a:xfrm>
            <a:off x="323850" y="4652963"/>
            <a:ext cx="8305800" cy="13731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r>
              <a:rPr lang="en-US" altLang="zh-CN"/>
              <a:t>         </a:t>
            </a:r>
            <a:r>
              <a:rPr lang="zh-CN" altLang="en-US"/>
              <a:t>生产一单位</a:t>
            </a:r>
            <a:r>
              <a:rPr lang="en-US" altLang="zh-CN"/>
              <a:t>A</a:t>
            </a:r>
            <a:r>
              <a:rPr lang="zh-CN" altLang="en-US"/>
              <a:t>产品所用的</a:t>
            </a:r>
            <a:r>
              <a:rPr lang="zh-CN" altLang="en-US">
                <a:latin typeface="Arial" panose="020B0604020202020204" pitchFamily="34" charset="0"/>
              </a:rPr>
              <a:t>甲、乙、丙</a:t>
            </a:r>
            <a:r>
              <a:rPr lang="zh-CN" altLang="en-US"/>
              <a:t>资源出让所得的净收入（售价扣除资源的买入价）应不低于生产</a:t>
            </a:r>
            <a:r>
              <a:rPr lang="zh-CN" altLang="en-US">
                <a:latin typeface="Arial" panose="020B0604020202020204" pitchFamily="34" charset="0"/>
              </a:rPr>
              <a:t>一单位</a:t>
            </a:r>
            <a:r>
              <a:rPr lang="en-US" altLang="zh-CN"/>
              <a:t>A</a:t>
            </a:r>
            <a:r>
              <a:rPr lang="zh-CN" altLang="en-US">
                <a:latin typeface="Arial" panose="020B0604020202020204" pitchFamily="34" charset="0"/>
              </a:rPr>
              <a:t>产品</a:t>
            </a:r>
            <a:r>
              <a:rPr lang="zh-CN" altLang="en-US"/>
              <a:t>的利润，有</a:t>
            </a:r>
          </a:p>
        </p:txBody>
      </p:sp>
      <p:graphicFrame>
        <p:nvGraphicFramePr>
          <p:cNvPr id="687107" name="Object 3"/>
          <p:cNvGraphicFramePr>
            <a:graphicFrameLocks noChangeAspect="1"/>
          </p:cNvGraphicFramePr>
          <p:nvPr>
            <p:extLst>
              <p:ext uri="{D42A27DB-BD31-4B8C-83A1-F6EECF244321}">
                <p14:modId xmlns:p14="http://schemas.microsoft.com/office/powerpoint/2010/main" xmlns="" val="3343073905"/>
              </p:ext>
            </p:extLst>
          </p:nvPr>
        </p:nvGraphicFramePr>
        <p:xfrm>
          <a:off x="4710112" y="5517232"/>
          <a:ext cx="3049588" cy="633412"/>
        </p:xfrm>
        <a:graphic>
          <a:graphicData uri="http://schemas.openxmlformats.org/presentationml/2006/ole">
            <p:oleObj spid="_x0000_s2065" name="Equation" r:id="rId3" imgW="1104900" imgH="228600" progId="">
              <p:embed/>
            </p:oleObj>
          </a:graphicData>
        </a:graphic>
      </p:graphicFrame>
      <p:sp>
        <p:nvSpPr>
          <p:cNvPr id="687108" name="Text Box 4"/>
          <p:cNvSpPr txBox="1">
            <a:spLocks noChangeArrowheads="1"/>
          </p:cNvSpPr>
          <p:nvPr/>
        </p:nvSpPr>
        <p:spPr bwMode="auto">
          <a:xfrm>
            <a:off x="2212975" y="2246313"/>
            <a:ext cx="846138" cy="1758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30000"/>
              </a:lnSpc>
              <a:spcBef>
                <a:spcPct val="50000"/>
              </a:spcBef>
            </a:pPr>
            <a:r>
              <a:rPr lang="en-US" altLang="zh-CN">
                <a:solidFill>
                  <a:srgbClr val="FF0000"/>
                </a:solidFill>
              </a:rPr>
              <a:t>y</a:t>
            </a:r>
            <a:r>
              <a:rPr lang="en-US" altLang="zh-CN" baseline="-25000">
                <a:solidFill>
                  <a:srgbClr val="FF0000"/>
                </a:solidFill>
              </a:rPr>
              <a:t>1</a:t>
            </a:r>
            <a:r>
              <a:rPr lang="en-US" altLang="zh-CN">
                <a:solidFill>
                  <a:srgbClr val="FF0000"/>
                </a:solidFill>
              </a:rPr>
              <a:t>               y</a:t>
            </a:r>
            <a:r>
              <a:rPr lang="en-US" altLang="zh-CN" baseline="-25000">
                <a:solidFill>
                  <a:srgbClr val="FF0000"/>
                </a:solidFill>
              </a:rPr>
              <a:t>2 </a:t>
            </a:r>
            <a:r>
              <a:rPr lang="en-US" altLang="zh-CN">
                <a:solidFill>
                  <a:srgbClr val="FF0000"/>
                </a:solidFill>
              </a:rPr>
              <a:t>             y</a:t>
            </a:r>
            <a:r>
              <a:rPr lang="en-US" altLang="zh-CN" baseline="-25000">
                <a:solidFill>
                  <a:srgbClr val="FF0000"/>
                </a:solidFill>
              </a:rPr>
              <a:t>3</a:t>
            </a:r>
          </a:p>
        </p:txBody>
      </p:sp>
      <p:sp>
        <p:nvSpPr>
          <p:cNvPr id="687109" name="Rectangle 5"/>
          <p:cNvSpPr>
            <a:spLocks noChangeArrowheads="1"/>
          </p:cNvSpPr>
          <p:nvPr/>
        </p:nvSpPr>
        <p:spPr bwMode="auto">
          <a:xfrm>
            <a:off x="179512" y="836712"/>
            <a:ext cx="8640638"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dirty="0" smtClean="0">
                <a:latin typeface="宋体" panose="02010600030101010101" pitchFamily="2" charset="-122"/>
              </a:rPr>
              <a:t>设</a:t>
            </a:r>
            <a:r>
              <a:rPr lang="zh-CN" altLang="en-US" dirty="0">
                <a:latin typeface="宋体" panose="02010600030101010101" pitchFamily="2" charset="-122"/>
              </a:rPr>
              <a:t>用</a:t>
            </a:r>
            <a:r>
              <a:rPr lang="en-US" altLang="zh-CN" dirty="0">
                <a:latin typeface="宋体" panose="02010600030101010101" pitchFamily="2" charset="-122"/>
              </a:rPr>
              <a:t>y</a:t>
            </a:r>
            <a:r>
              <a:rPr lang="en-US" altLang="zh-CN" baseline="-25000" dirty="0">
                <a:latin typeface="宋体" panose="02010600030101010101" pitchFamily="2" charset="-122"/>
              </a:rPr>
              <a:t>1</a:t>
            </a:r>
            <a:r>
              <a:rPr lang="en-US" altLang="zh-CN" dirty="0">
                <a:latin typeface="宋体" panose="02010600030101010101" pitchFamily="2" charset="-122"/>
              </a:rPr>
              <a:t>,y</a:t>
            </a:r>
            <a:r>
              <a:rPr lang="en-US" altLang="zh-CN" baseline="-25000" dirty="0">
                <a:latin typeface="宋体" panose="02010600030101010101" pitchFamily="2" charset="-122"/>
              </a:rPr>
              <a:t>2</a:t>
            </a:r>
            <a:r>
              <a:rPr lang="en-US" altLang="zh-CN" dirty="0">
                <a:latin typeface="宋体" panose="02010600030101010101" pitchFamily="2" charset="-122"/>
              </a:rPr>
              <a:t>,y</a:t>
            </a:r>
            <a:r>
              <a:rPr lang="en-US" altLang="zh-CN" baseline="-25000" dirty="0">
                <a:latin typeface="宋体" panose="02010600030101010101" pitchFamily="2" charset="-122"/>
              </a:rPr>
              <a:t>3</a:t>
            </a:r>
            <a:r>
              <a:rPr lang="zh-CN" altLang="en-US" dirty="0">
                <a:latin typeface="宋体" panose="02010600030101010101" pitchFamily="2" charset="-122"/>
              </a:rPr>
              <a:t>分别表示出让甲、乙、丙三种资源的附加额。做定价策略时，应比较：</a:t>
            </a:r>
          </a:p>
        </p:txBody>
      </p:sp>
      <p:sp>
        <p:nvSpPr>
          <p:cNvPr id="687110" name="Rectangle 6"/>
          <p:cNvSpPr>
            <a:spLocks noChangeArrowheads="1"/>
          </p:cNvSpPr>
          <p:nvPr/>
        </p:nvSpPr>
        <p:spPr bwMode="auto">
          <a:xfrm>
            <a:off x="2771775" y="2420938"/>
            <a:ext cx="1655763" cy="20161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aphicFrame>
        <p:nvGraphicFramePr>
          <p:cNvPr id="687111" name="Group 7"/>
          <p:cNvGraphicFramePr>
            <a:graphicFrameLocks noGrp="1"/>
          </p:cNvGraphicFramePr>
          <p:nvPr/>
        </p:nvGraphicFramePr>
        <p:xfrm>
          <a:off x="1116013" y="1473200"/>
          <a:ext cx="6643687" cy="2968752"/>
        </p:xfrm>
        <a:graphic>
          <a:graphicData uri="http://schemas.openxmlformats.org/drawingml/2006/table">
            <a:tbl>
              <a:tblPr/>
              <a:tblGrid>
                <a:gridCol w="1660525">
                  <a:extLst>
                    <a:ext uri="{9D8B030D-6E8A-4147-A177-3AD203B41FA5}">
                      <a16:colId xmlns:a16="http://schemas.microsoft.com/office/drawing/2014/main" xmlns="" val="748414574"/>
                    </a:ext>
                  </a:extLst>
                </a:gridCol>
                <a:gridCol w="1651000">
                  <a:extLst>
                    <a:ext uri="{9D8B030D-6E8A-4147-A177-3AD203B41FA5}">
                      <a16:colId xmlns:a16="http://schemas.microsoft.com/office/drawing/2014/main" xmlns="" val="4081714590"/>
                    </a:ext>
                  </a:extLst>
                </a:gridCol>
                <a:gridCol w="1671637">
                  <a:extLst>
                    <a:ext uri="{9D8B030D-6E8A-4147-A177-3AD203B41FA5}">
                      <a16:colId xmlns:a16="http://schemas.microsoft.com/office/drawing/2014/main" xmlns="" val="3289558923"/>
                    </a:ext>
                  </a:extLst>
                </a:gridCol>
                <a:gridCol w="1660525">
                  <a:extLst>
                    <a:ext uri="{9D8B030D-6E8A-4147-A177-3AD203B41FA5}">
                      <a16:colId xmlns:a16="http://schemas.microsoft.com/office/drawing/2014/main" xmlns="" val="3899276204"/>
                    </a:ext>
                  </a:extLst>
                </a:gridCol>
              </a:tblGrid>
              <a:tr h="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产品</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资源</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   </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资源限制</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561887894"/>
                  </a:ext>
                </a:extLst>
              </a:tr>
              <a:tr h="4429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甲</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937985840"/>
                  </a:ext>
                </a:extLst>
              </a:tr>
              <a:tr h="4572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693542978"/>
                  </a:ext>
                </a:extLst>
              </a:tr>
              <a:tr h="4429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352895038"/>
                  </a:ext>
                </a:extLst>
              </a:tr>
              <a:tr h="5048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利润</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677323139"/>
                  </a:ext>
                </a:extLst>
              </a:tr>
            </a:tbl>
          </a:graphicData>
        </a:graphic>
      </p:graphicFrame>
    </p:spTree>
    <p:extLst>
      <p:ext uri="{BB962C8B-B14F-4D97-AF65-F5344CB8AC3E}">
        <p14:creationId xmlns:p14="http://schemas.microsoft.com/office/powerpoint/2010/main" xmlns="" val="9346606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87108"/>
                                        </p:tgtEl>
                                        <p:attrNameLst>
                                          <p:attrName>style.visibility</p:attrName>
                                        </p:attrNameLst>
                                      </p:cBhvr>
                                      <p:to>
                                        <p:strVal val="visible"/>
                                      </p:to>
                                    </p:set>
                                    <p:anim calcmode="lin" valueType="num">
                                      <p:cBhvr additive="base">
                                        <p:cTn id="7" dur="500" fill="hold"/>
                                        <p:tgtEl>
                                          <p:spTgt spid="687108"/>
                                        </p:tgtEl>
                                        <p:attrNameLst>
                                          <p:attrName>ppt_x</p:attrName>
                                        </p:attrNameLst>
                                      </p:cBhvr>
                                      <p:tavLst>
                                        <p:tav tm="0">
                                          <p:val>
                                            <p:strVal val="0-#ppt_w/2"/>
                                          </p:val>
                                        </p:tav>
                                        <p:tav tm="100000">
                                          <p:val>
                                            <p:strVal val="#ppt_x"/>
                                          </p:val>
                                        </p:tav>
                                      </p:tavLst>
                                    </p:anim>
                                    <p:anim calcmode="lin" valueType="num">
                                      <p:cBhvr additive="base">
                                        <p:cTn id="8" dur="500" fill="hold"/>
                                        <p:tgtEl>
                                          <p:spTgt spid="68710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68710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687110"/>
                                        </p:tgtEl>
                                        <p:attrNameLst>
                                          <p:attrName>style.visibility</p:attrName>
                                        </p:attrNameLst>
                                      </p:cBhvr>
                                      <p:to>
                                        <p:strVal val="visible"/>
                                      </p:to>
                                    </p:set>
                                    <p:anim calcmode="lin" valueType="num">
                                      <p:cBhvr additive="base">
                                        <p:cTn id="17" dur="500" fill="hold"/>
                                        <p:tgtEl>
                                          <p:spTgt spid="687110"/>
                                        </p:tgtEl>
                                        <p:attrNameLst>
                                          <p:attrName>ppt_x</p:attrName>
                                        </p:attrNameLst>
                                      </p:cBhvr>
                                      <p:tavLst>
                                        <p:tav tm="0">
                                          <p:val>
                                            <p:strVal val="#ppt_x"/>
                                          </p:val>
                                        </p:tav>
                                        <p:tav tm="100000">
                                          <p:val>
                                            <p:strVal val="#ppt_x"/>
                                          </p:val>
                                        </p:tav>
                                      </p:tavLst>
                                    </p:anim>
                                    <p:anim calcmode="lin" valueType="num">
                                      <p:cBhvr additive="base">
                                        <p:cTn id="18" dur="500" fill="hold"/>
                                        <p:tgtEl>
                                          <p:spTgt spid="687110"/>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687107"/>
                                        </p:tgtEl>
                                        <p:attrNameLst>
                                          <p:attrName>style.visibility</p:attrName>
                                        </p:attrNameLst>
                                      </p:cBhvr>
                                      <p:to>
                                        <p:strVal val="visible"/>
                                      </p:to>
                                    </p:set>
                                    <p:animEffect transition="in" filter="blinds(horizontal)">
                                      <p:cBhvr>
                                        <p:cTn id="23" dur="500"/>
                                        <p:tgtEl>
                                          <p:spTgt spid="687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06" grpId="0" autoUpdateAnimBg="0"/>
      <p:bldP spid="68710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Text Box 2"/>
          <p:cNvSpPr txBox="1">
            <a:spLocks noChangeArrowheads="1"/>
          </p:cNvSpPr>
          <p:nvPr/>
        </p:nvSpPr>
        <p:spPr bwMode="auto">
          <a:xfrm>
            <a:off x="144463" y="4271963"/>
            <a:ext cx="8675687" cy="946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a:t>         </a:t>
            </a:r>
            <a:r>
              <a:rPr lang="zh-CN" altLang="en-US"/>
              <a:t>同理，生</a:t>
            </a:r>
            <a:r>
              <a:rPr lang="zh-CN" altLang="en-US">
                <a:latin typeface="宋体" panose="02010600030101010101" pitchFamily="2" charset="-122"/>
              </a:rPr>
              <a:t>产一单位</a:t>
            </a:r>
            <a:r>
              <a:rPr lang="en-US" altLang="zh-CN">
                <a:latin typeface="宋体" panose="02010600030101010101" pitchFamily="2" charset="-122"/>
              </a:rPr>
              <a:t>B</a:t>
            </a:r>
            <a:r>
              <a:rPr lang="zh-CN" altLang="en-US">
                <a:latin typeface="宋体" panose="02010600030101010101" pitchFamily="2" charset="-122"/>
              </a:rPr>
              <a:t>产品所用的甲、乙、丙资源</a:t>
            </a:r>
            <a:r>
              <a:rPr lang="zh-CN" altLang="en-US">
                <a:latin typeface="Arial" panose="020B0604020202020204" pitchFamily="34" charset="0"/>
              </a:rPr>
              <a:t>出让所得的净收入</a:t>
            </a:r>
            <a:r>
              <a:rPr lang="zh-CN" altLang="en-US">
                <a:latin typeface="宋体" panose="02010600030101010101" pitchFamily="2" charset="-122"/>
              </a:rPr>
              <a:t>应不低于生产一单位</a:t>
            </a:r>
            <a:r>
              <a:rPr lang="en-US" altLang="zh-CN">
                <a:latin typeface="宋体" panose="02010600030101010101" pitchFamily="2" charset="-122"/>
              </a:rPr>
              <a:t>B</a:t>
            </a:r>
            <a:r>
              <a:rPr lang="zh-CN" altLang="en-US">
                <a:latin typeface="宋体" panose="02010600030101010101" pitchFamily="2" charset="-122"/>
              </a:rPr>
              <a:t>产品的利润，</a:t>
            </a:r>
          </a:p>
        </p:txBody>
      </p:sp>
      <p:graphicFrame>
        <p:nvGraphicFramePr>
          <p:cNvPr id="688131" name="Object 3"/>
          <p:cNvGraphicFramePr>
            <a:graphicFrameLocks noChangeAspect="1"/>
          </p:cNvGraphicFramePr>
          <p:nvPr/>
        </p:nvGraphicFramePr>
        <p:xfrm>
          <a:off x="3203575" y="5445125"/>
          <a:ext cx="2881313" cy="596900"/>
        </p:xfrm>
        <a:graphic>
          <a:graphicData uri="http://schemas.openxmlformats.org/presentationml/2006/ole">
            <p:oleObj spid="_x0000_s3089" name="Equation" r:id="rId3" imgW="1104900" imgH="228600" progId="">
              <p:embed/>
            </p:oleObj>
          </a:graphicData>
        </a:graphic>
      </p:graphicFrame>
      <p:sp>
        <p:nvSpPr>
          <p:cNvPr id="688132" name="Text Box 4"/>
          <p:cNvSpPr txBox="1">
            <a:spLocks noChangeArrowheads="1"/>
          </p:cNvSpPr>
          <p:nvPr/>
        </p:nvSpPr>
        <p:spPr bwMode="auto">
          <a:xfrm>
            <a:off x="2212975" y="1412875"/>
            <a:ext cx="846138" cy="1758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30000"/>
              </a:lnSpc>
              <a:spcBef>
                <a:spcPct val="50000"/>
              </a:spcBef>
            </a:pPr>
            <a:r>
              <a:rPr lang="en-US" altLang="zh-CN">
                <a:solidFill>
                  <a:srgbClr val="FF0000"/>
                </a:solidFill>
              </a:rPr>
              <a:t>y</a:t>
            </a:r>
            <a:r>
              <a:rPr lang="en-US" altLang="zh-CN" baseline="-25000">
                <a:solidFill>
                  <a:srgbClr val="FF0000"/>
                </a:solidFill>
              </a:rPr>
              <a:t>1</a:t>
            </a:r>
            <a:r>
              <a:rPr lang="en-US" altLang="zh-CN">
                <a:solidFill>
                  <a:srgbClr val="FF0000"/>
                </a:solidFill>
              </a:rPr>
              <a:t>               y</a:t>
            </a:r>
            <a:r>
              <a:rPr lang="en-US" altLang="zh-CN" baseline="-25000">
                <a:solidFill>
                  <a:srgbClr val="FF0000"/>
                </a:solidFill>
              </a:rPr>
              <a:t>2 </a:t>
            </a:r>
            <a:r>
              <a:rPr lang="en-US" altLang="zh-CN">
                <a:solidFill>
                  <a:srgbClr val="FF0000"/>
                </a:solidFill>
              </a:rPr>
              <a:t>             y</a:t>
            </a:r>
            <a:r>
              <a:rPr lang="en-US" altLang="zh-CN" baseline="-25000">
                <a:solidFill>
                  <a:srgbClr val="FF0000"/>
                </a:solidFill>
              </a:rPr>
              <a:t>3</a:t>
            </a:r>
          </a:p>
        </p:txBody>
      </p:sp>
      <p:sp>
        <p:nvSpPr>
          <p:cNvPr id="688133" name="Rectangle 5"/>
          <p:cNvSpPr>
            <a:spLocks noChangeArrowheads="1"/>
          </p:cNvSpPr>
          <p:nvPr/>
        </p:nvSpPr>
        <p:spPr bwMode="auto">
          <a:xfrm>
            <a:off x="4356100" y="1628775"/>
            <a:ext cx="1655763" cy="2087563"/>
          </a:xfrm>
          <a:prstGeom prst="rect">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aphicFrame>
        <p:nvGraphicFramePr>
          <p:cNvPr id="688134" name="Group 6"/>
          <p:cNvGraphicFramePr>
            <a:graphicFrameLocks noGrp="1"/>
          </p:cNvGraphicFramePr>
          <p:nvPr/>
        </p:nvGraphicFramePr>
        <p:xfrm>
          <a:off x="1042988" y="742950"/>
          <a:ext cx="6643687" cy="2984945"/>
        </p:xfrm>
        <a:graphic>
          <a:graphicData uri="http://schemas.openxmlformats.org/drawingml/2006/table">
            <a:tbl>
              <a:tblPr/>
              <a:tblGrid>
                <a:gridCol w="1660525">
                  <a:extLst>
                    <a:ext uri="{9D8B030D-6E8A-4147-A177-3AD203B41FA5}">
                      <a16:colId xmlns:a16="http://schemas.microsoft.com/office/drawing/2014/main" xmlns="" val="864474954"/>
                    </a:ext>
                  </a:extLst>
                </a:gridCol>
                <a:gridCol w="1662112">
                  <a:extLst>
                    <a:ext uri="{9D8B030D-6E8A-4147-A177-3AD203B41FA5}">
                      <a16:colId xmlns:a16="http://schemas.microsoft.com/office/drawing/2014/main" xmlns="" val="1409332624"/>
                    </a:ext>
                  </a:extLst>
                </a:gridCol>
                <a:gridCol w="1660525">
                  <a:extLst>
                    <a:ext uri="{9D8B030D-6E8A-4147-A177-3AD203B41FA5}">
                      <a16:colId xmlns:a16="http://schemas.microsoft.com/office/drawing/2014/main" xmlns="" val="2737457485"/>
                    </a:ext>
                  </a:extLst>
                </a:gridCol>
                <a:gridCol w="1660525">
                  <a:extLst>
                    <a:ext uri="{9D8B030D-6E8A-4147-A177-3AD203B41FA5}">
                      <a16:colId xmlns:a16="http://schemas.microsoft.com/office/drawing/2014/main" xmlns="" val="931339242"/>
                    </a:ext>
                  </a:extLst>
                </a:gridCol>
              </a:tblGrid>
              <a:tr h="1222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产品</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资源</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   </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资源限制</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998555699"/>
                  </a:ext>
                </a:extLst>
              </a:tr>
              <a:tr h="5000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甲</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4061111163"/>
                  </a:ext>
                </a:extLst>
              </a:tr>
              <a:tr h="5334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94663373"/>
                  </a:ext>
                </a:extLst>
              </a:tr>
              <a:tr h="5191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777931927"/>
                  </a:ext>
                </a:extLst>
              </a:tr>
              <a:tr h="4937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利润</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662451624"/>
                  </a:ext>
                </a:extLst>
              </a:tr>
            </a:tbl>
          </a:graphicData>
        </a:graphic>
      </p:graphicFrame>
    </p:spTree>
    <p:extLst>
      <p:ext uri="{BB962C8B-B14F-4D97-AF65-F5344CB8AC3E}">
        <p14:creationId xmlns:p14="http://schemas.microsoft.com/office/powerpoint/2010/main" xmlns="" val="27803031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88133"/>
                                        </p:tgtEl>
                                        <p:attrNameLst>
                                          <p:attrName>style.visibility</p:attrName>
                                        </p:attrNameLst>
                                      </p:cBhvr>
                                      <p:to>
                                        <p:strVal val="visible"/>
                                      </p:to>
                                    </p:set>
                                    <p:anim calcmode="lin" valueType="num">
                                      <p:cBhvr additive="base">
                                        <p:cTn id="7" dur="500" fill="hold"/>
                                        <p:tgtEl>
                                          <p:spTgt spid="688133"/>
                                        </p:tgtEl>
                                        <p:attrNameLst>
                                          <p:attrName>ppt_x</p:attrName>
                                        </p:attrNameLst>
                                      </p:cBhvr>
                                      <p:tavLst>
                                        <p:tav tm="0">
                                          <p:val>
                                            <p:strVal val="#ppt_x"/>
                                          </p:val>
                                        </p:tav>
                                        <p:tav tm="100000">
                                          <p:val>
                                            <p:strVal val="#ppt_x"/>
                                          </p:val>
                                        </p:tav>
                                      </p:tavLst>
                                    </p:anim>
                                    <p:anim calcmode="lin" valueType="num">
                                      <p:cBhvr additive="base">
                                        <p:cTn id="8" dur="500" fill="hold"/>
                                        <p:tgtEl>
                                          <p:spTgt spid="68813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88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Text Box 2"/>
          <p:cNvSpPr txBox="1">
            <a:spLocks noChangeArrowheads="1"/>
          </p:cNvSpPr>
          <p:nvPr/>
        </p:nvSpPr>
        <p:spPr bwMode="auto">
          <a:xfrm>
            <a:off x="468313" y="1844675"/>
            <a:ext cx="83058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把企业</a:t>
            </a:r>
            <a:r>
              <a:rPr lang="zh-CN" altLang="en-US">
                <a:latin typeface="Arial" panose="020B0604020202020204" pitchFamily="34" charset="0"/>
              </a:rPr>
              <a:t>甲、乙、丙资源</a:t>
            </a:r>
            <a:r>
              <a:rPr lang="zh-CN" altLang="en-US"/>
              <a:t>都出让，其收入为：</a:t>
            </a:r>
          </a:p>
        </p:txBody>
      </p:sp>
      <p:graphicFrame>
        <p:nvGraphicFramePr>
          <p:cNvPr id="689155" name="Object 3"/>
          <p:cNvGraphicFramePr>
            <a:graphicFrameLocks noChangeAspect="1"/>
          </p:cNvGraphicFramePr>
          <p:nvPr/>
        </p:nvGraphicFramePr>
        <p:xfrm>
          <a:off x="2878138" y="2565400"/>
          <a:ext cx="4573587" cy="647700"/>
        </p:xfrm>
        <a:graphic>
          <a:graphicData uri="http://schemas.openxmlformats.org/presentationml/2006/ole">
            <p:oleObj spid="_x0000_s4143" name="Equation" r:id="rId3" imgW="1612900" imgH="228600" progId="">
              <p:embed/>
            </p:oleObj>
          </a:graphicData>
        </a:graphic>
      </p:graphicFrame>
      <p:sp>
        <p:nvSpPr>
          <p:cNvPr id="689156" name="Rectangle 4"/>
          <p:cNvSpPr>
            <a:spLocks noChangeArrowheads="1"/>
          </p:cNvSpPr>
          <p:nvPr/>
        </p:nvSpPr>
        <p:spPr bwMode="auto">
          <a:xfrm>
            <a:off x="468313" y="333375"/>
            <a:ext cx="4321175" cy="7207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r>
              <a:rPr lang="zh-CN" altLang="en-US"/>
              <a:t>企业能接受的条件：</a:t>
            </a:r>
          </a:p>
        </p:txBody>
      </p:sp>
      <p:graphicFrame>
        <p:nvGraphicFramePr>
          <p:cNvPr id="689157" name="Object 5"/>
          <p:cNvGraphicFramePr>
            <a:graphicFrameLocks noChangeAspect="1"/>
          </p:cNvGraphicFramePr>
          <p:nvPr>
            <p:extLst>
              <p:ext uri="{D42A27DB-BD31-4B8C-83A1-F6EECF244321}">
                <p14:modId xmlns:p14="http://schemas.microsoft.com/office/powerpoint/2010/main" xmlns="" val="277580565"/>
              </p:ext>
            </p:extLst>
          </p:nvPr>
        </p:nvGraphicFramePr>
        <p:xfrm>
          <a:off x="3676650" y="411163"/>
          <a:ext cx="2976562" cy="1231900"/>
        </p:xfrm>
        <a:graphic>
          <a:graphicData uri="http://schemas.openxmlformats.org/presentationml/2006/ole">
            <p:oleObj spid="_x0000_s4144" name="Equation" r:id="rId4" imgW="1104900" imgH="457200" progId="">
              <p:embed/>
            </p:oleObj>
          </a:graphicData>
        </a:graphic>
      </p:graphicFrame>
      <p:sp>
        <p:nvSpPr>
          <p:cNvPr id="689158" name="Rectangle 6"/>
          <p:cNvSpPr>
            <a:spLocks noChangeArrowheads="1"/>
          </p:cNvSpPr>
          <p:nvPr/>
        </p:nvSpPr>
        <p:spPr bwMode="auto">
          <a:xfrm>
            <a:off x="395288" y="4076700"/>
            <a:ext cx="3024187" cy="51911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zh-CN" altLang="en-US" sz="2800">
                <a:latin typeface="宋体" panose="02010600030101010101" pitchFamily="2" charset="-122"/>
              </a:rPr>
              <a:t>支付方的意愿：</a:t>
            </a:r>
          </a:p>
        </p:txBody>
      </p:sp>
      <p:graphicFrame>
        <p:nvGraphicFramePr>
          <p:cNvPr id="689159" name="Object 7"/>
          <p:cNvGraphicFramePr>
            <a:graphicFrameLocks noChangeAspect="1"/>
          </p:cNvGraphicFramePr>
          <p:nvPr/>
        </p:nvGraphicFramePr>
        <p:xfrm>
          <a:off x="2987675" y="4076700"/>
          <a:ext cx="4968875" cy="603250"/>
        </p:xfrm>
        <a:graphic>
          <a:graphicData uri="http://schemas.openxmlformats.org/presentationml/2006/ole">
            <p:oleObj spid="_x0000_s4145" name="Equation" r:id="rId5" imgW="1879600" imgH="228600" progId="">
              <p:embed/>
            </p:oleObj>
          </a:graphicData>
        </a:graphic>
      </p:graphicFrame>
      <p:sp>
        <p:nvSpPr>
          <p:cNvPr id="689160" name="AutoShape 8"/>
          <p:cNvSpPr>
            <a:spLocks noChangeArrowheads="1"/>
          </p:cNvSpPr>
          <p:nvPr/>
        </p:nvSpPr>
        <p:spPr bwMode="auto">
          <a:xfrm>
            <a:off x="250825" y="2708275"/>
            <a:ext cx="2190750" cy="1143000"/>
          </a:xfrm>
          <a:prstGeom prst="wedgeRoundRectCallout">
            <a:avLst>
              <a:gd name="adj1" fmla="val 67463"/>
              <a:gd name="adj2" fmla="val -39444"/>
              <a:gd name="adj3" fmla="val 16667"/>
            </a:avLst>
          </a:prstGeom>
          <a:solidFill>
            <a:srgbClr val="FFFF99"/>
          </a:solidFill>
          <a:ln w="9525">
            <a:solidFill>
              <a:srgbClr val="FF33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a:t>从支付者看</a:t>
            </a:r>
            <a:r>
              <a:rPr lang="en-US" altLang="zh-CN"/>
              <a:t>,</a:t>
            </a:r>
            <a:r>
              <a:rPr lang="zh-CN" altLang="en-US"/>
              <a:t>越少越好</a:t>
            </a:r>
          </a:p>
        </p:txBody>
      </p:sp>
      <p:sp>
        <p:nvSpPr>
          <p:cNvPr id="689161" name="Rectangle 9"/>
          <p:cNvSpPr>
            <a:spLocks noChangeArrowheads="1"/>
          </p:cNvSpPr>
          <p:nvPr/>
        </p:nvSpPr>
        <p:spPr bwMode="auto">
          <a:xfrm>
            <a:off x="323850" y="5013325"/>
            <a:ext cx="8496300" cy="1066800"/>
          </a:xfrm>
          <a:prstGeom prst="rect">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a:latin typeface="宋体" panose="02010600030101010101" pitchFamily="2" charset="-122"/>
              </a:rPr>
              <a:t>    </a:t>
            </a:r>
            <a:r>
              <a:rPr lang="zh-CN" altLang="en-US" sz="3200">
                <a:latin typeface="宋体" panose="02010600030101010101" pitchFamily="2" charset="-122"/>
              </a:rPr>
              <a:t>只能在满足≥所有产品的利润的条件下</a:t>
            </a:r>
            <a:r>
              <a:rPr lang="en-US" altLang="zh-CN" sz="3200">
                <a:latin typeface="宋体" panose="02010600030101010101" pitchFamily="2" charset="-122"/>
              </a:rPr>
              <a:t>,</a:t>
            </a:r>
          </a:p>
          <a:p>
            <a:r>
              <a:rPr lang="zh-CN" altLang="en-US" sz="3200">
                <a:latin typeface="宋体" panose="02010600030101010101" pitchFamily="2" charset="-122"/>
              </a:rPr>
              <a:t>其总收入尽可能少</a:t>
            </a:r>
            <a:r>
              <a:rPr lang="en-US" altLang="zh-CN" sz="3200">
                <a:latin typeface="宋体" panose="02010600030101010101" pitchFamily="2" charset="-122"/>
              </a:rPr>
              <a:t>,</a:t>
            </a:r>
            <a:r>
              <a:rPr lang="zh-CN" altLang="en-US" sz="3200">
                <a:latin typeface="宋体" panose="02010600030101010101" pitchFamily="2" charset="-122"/>
              </a:rPr>
              <a:t>才能成交</a:t>
            </a:r>
            <a:r>
              <a:rPr lang="en-US" altLang="zh-CN" sz="3200">
                <a:latin typeface="宋体" panose="02010600030101010101" pitchFamily="2" charset="-122"/>
              </a:rPr>
              <a:t>.</a:t>
            </a:r>
          </a:p>
        </p:txBody>
      </p:sp>
    </p:spTree>
    <p:extLst>
      <p:ext uri="{BB962C8B-B14F-4D97-AF65-F5344CB8AC3E}">
        <p14:creationId xmlns:p14="http://schemas.microsoft.com/office/powerpoint/2010/main" xmlns="" val="31478991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91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915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8915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8915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8916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8915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89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9154" grpId="0"/>
      <p:bldP spid="689158" grpId="0"/>
      <p:bldP spid="689160" grpId="0" animBg="1" autoUpdateAnimBg="0"/>
      <p:bldP spid="68916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Text Box 2"/>
          <p:cNvSpPr txBox="1">
            <a:spLocks noChangeArrowheads="1"/>
          </p:cNvSpPr>
          <p:nvPr/>
        </p:nvSpPr>
        <p:spPr bwMode="auto">
          <a:xfrm>
            <a:off x="4888706" y="1575005"/>
            <a:ext cx="3613150" cy="1587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a:t>【</a:t>
            </a:r>
            <a:r>
              <a:rPr lang="zh-CN" altLang="en-US"/>
              <a:t>例</a:t>
            </a:r>
            <a:r>
              <a:rPr lang="en-US" altLang="zh-CN"/>
              <a:t>4-1】</a:t>
            </a:r>
            <a:r>
              <a:rPr lang="zh-CN" altLang="en-US"/>
              <a:t>称为原问题。</a:t>
            </a:r>
          </a:p>
          <a:p>
            <a:pPr>
              <a:spcBef>
                <a:spcPct val="50000"/>
              </a:spcBef>
            </a:pPr>
            <a:r>
              <a:rPr lang="zh-CN" altLang="en-US"/>
              <a:t>称为</a:t>
            </a:r>
            <a:r>
              <a:rPr lang="en-US" altLang="zh-CN"/>
              <a:t>【</a:t>
            </a:r>
            <a:r>
              <a:rPr lang="zh-CN" altLang="en-US"/>
              <a:t>例</a:t>
            </a:r>
            <a:r>
              <a:rPr lang="en-US" altLang="zh-CN"/>
              <a:t>4-1】</a:t>
            </a:r>
            <a:r>
              <a:rPr lang="zh-CN" altLang="en-US"/>
              <a:t>的对偶问题。</a:t>
            </a:r>
          </a:p>
        </p:txBody>
      </p:sp>
      <p:sp>
        <p:nvSpPr>
          <p:cNvPr id="690179" name="Text Box 3"/>
          <p:cNvSpPr txBox="1">
            <a:spLocks noChangeArrowheads="1"/>
          </p:cNvSpPr>
          <p:nvPr/>
        </p:nvSpPr>
        <p:spPr bwMode="auto">
          <a:xfrm>
            <a:off x="395288" y="2997200"/>
            <a:ext cx="84582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a:t>               </a:t>
            </a:r>
            <a:r>
              <a:rPr lang="zh-CN" altLang="en-US"/>
              <a:t>原问题                                   对偶问题</a:t>
            </a:r>
          </a:p>
        </p:txBody>
      </p:sp>
      <p:graphicFrame>
        <p:nvGraphicFramePr>
          <p:cNvPr id="690180" name="Object 4"/>
          <p:cNvGraphicFramePr>
            <a:graphicFrameLocks noChangeAspect="1"/>
          </p:cNvGraphicFramePr>
          <p:nvPr/>
        </p:nvGraphicFramePr>
        <p:xfrm>
          <a:off x="1179513" y="3484563"/>
          <a:ext cx="2749550" cy="2906712"/>
        </p:xfrm>
        <a:graphic>
          <a:graphicData uri="http://schemas.openxmlformats.org/presentationml/2006/ole">
            <p:oleObj spid="_x0000_s5167" name="Equation" r:id="rId3" imgW="1104900" imgH="1168400" progId="">
              <p:embed/>
            </p:oleObj>
          </a:graphicData>
        </a:graphic>
      </p:graphicFrame>
      <p:graphicFrame>
        <p:nvGraphicFramePr>
          <p:cNvPr id="690181" name="Object 5"/>
          <p:cNvGraphicFramePr>
            <a:graphicFrameLocks noChangeAspect="1"/>
          </p:cNvGraphicFramePr>
          <p:nvPr/>
        </p:nvGraphicFramePr>
        <p:xfrm>
          <a:off x="4643438" y="3860800"/>
          <a:ext cx="4103687" cy="2051050"/>
        </p:xfrm>
        <a:graphic>
          <a:graphicData uri="http://schemas.openxmlformats.org/presentationml/2006/ole">
            <p:oleObj spid="_x0000_s5168" name="Equation" r:id="rId4" imgW="1879600" imgH="939800" progId="">
              <p:embed/>
            </p:oleObj>
          </a:graphicData>
        </a:graphic>
      </p:graphicFrame>
      <p:graphicFrame>
        <p:nvGraphicFramePr>
          <p:cNvPr id="690182" name="Object 6"/>
          <p:cNvGraphicFramePr>
            <a:graphicFrameLocks noChangeAspect="1"/>
          </p:cNvGraphicFramePr>
          <p:nvPr/>
        </p:nvGraphicFramePr>
        <p:xfrm>
          <a:off x="900113" y="620713"/>
          <a:ext cx="4211637" cy="2105025"/>
        </p:xfrm>
        <a:graphic>
          <a:graphicData uri="http://schemas.openxmlformats.org/presentationml/2006/ole">
            <p:oleObj spid="_x0000_s5169" name="Equation" r:id="rId5" imgW="1879600" imgH="939800" progId="">
              <p:embed/>
            </p:oleObj>
          </a:graphicData>
        </a:graphic>
      </p:graphicFrame>
      <p:sp>
        <p:nvSpPr>
          <p:cNvPr id="690183" name="AutoShape 7"/>
          <p:cNvSpPr>
            <a:spLocks noChangeArrowheads="1"/>
          </p:cNvSpPr>
          <p:nvPr/>
        </p:nvSpPr>
        <p:spPr bwMode="auto">
          <a:xfrm>
            <a:off x="3911600" y="1539875"/>
            <a:ext cx="865188" cy="431800"/>
          </a:xfrm>
          <a:prstGeom prst="rightArrow">
            <a:avLst>
              <a:gd name="adj1" fmla="val 50000"/>
              <a:gd name="adj2" fmla="val 5009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xmlns="" val="22164138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01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017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690179"/>
                                        </p:tgtEl>
                                        <p:attrNameLst>
                                          <p:attrName>style.visibility</p:attrName>
                                        </p:attrNameLst>
                                      </p:cBhvr>
                                      <p:to>
                                        <p:strVal val="visible"/>
                                      </p:to>
                                    </p:set>
                                    <p:animEffect transition="in" filter="checkerboard(across)">
                                      <p:cBhvr>
                                        <p:cTn id="15" dur="500"/>
                                        <p:tgtEl>
                                          <p:spTgt spid="690179"/>
                                        </p:tgtEl>
                                      </p:cBhvr>
                                    </p:animEffect>
                                  </p:childTnLst>
                                </p:cTn>
                              </p:par>
                              <p:par>
                                <p:cTn id="16" presetID="5" presetClass="entr" presetSubtype="10" fill="hold" nodeType="withEffect">
                                  <p:stCondLst>
                                    <p:cond delay="0"/>
                                  </p:stCondLst>
                                  <p:childTnLst>
                                    <p:set>
                                      <p:cBhvr>
                                        <p:cTn id="17" dur="1" fill="hold">
                                          <p:stCondLst>
                                            <p:cond delay="0"/>
                                          </p:stCondLst>
                                        </p:cTn>
                                        <p:tgtEl>
                                          <p:spTgt spid="690180"/>
                                        </p:tgtEl>
                                        <p:attrNameLst>
                                          <p:attrName>style.visibility</p:attrName>
                                        </p:attrNameLst>
                                      </p:cBhvr>
                                      <p:to>
                                        <p:strVal val="visible"/>
                                      </p:to>
                                    </p:set>
                                    <p:animEffect transition="in" filter="checkerboard(across)">
                                      <p:cBhvr>
                                        <p:cTn id="18" dur="500"/>
                                        <p:tgtEl>
                                          <p:spTgt spid="690180"/>
                                        </p:tgtEl>
                                      </p:cBhvr>
                                    </p:animEffect>
                                  </p:childTnLst>
                                </p:cTn>
                              </p:par>
                              <p:par>
                                <p:cTn id="19" presetID="5" presetClass="entr" presetSubtype="10" fill="hold" nodeType="withEffect">
                                  <p:stCondLst>
                                    <p:cond delay="0"/>
                                  </p:stCondLst>
                                  <p:childTnLst>
                                    <p:set>
                                      <p:cBhvr>
                                        <p:cTn id="20" dur="1" fill="hold">
                                          <p:stCondLst>
                                            <p:cond delay="0"/>
                                          </p:stCondLst>
                                        </p:cTn>
                                        <p:tgtEl>
                                          <p:spTgt spid="690181"/>
                                        </p:tgtEl>
                                        <p:attrNameLst>
                                          <p:attrName>style.visibility</p:attrName>
                                        </p:attrNameLst>
                                      </p:cBhvr>
                                      <p:to>
                                        <p:strVal val="visible"/>
                                      </p:to>
                                    </p:set>
                                    <p:animEffect transition="in" filter="checkerboard(across)">
                                      <p:cBhvr>
                                        <p:cTn id="21" dur="500"/>
                                        <p:tgtEl>
                                          <p:spTgt spid="690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178" grpId="0"/>
      <p:bldP spid="69017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Text Box 2"/>
          <p:cNvSpPr txBox="1">
            <a:spLocks noChangeArrowheads="1"/>
          </p:cNvSpPr>
          <p:nvPr/>
        </p:nvSpPr>
        <p:spPr bwMode="auto">
          <a:xfrm>
            <a:off x="250825" y="2852738"/>
            <a:ext cx="8382000"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dirty="0"/>
              <a:t>       </a:t>
            </a:r>
            <a:r>
              <a:rPr lang="zh-CN" altLang="en-US" dirty="0" smtClean="0"/>
              <a:t>由</a:t>
            </a:r>
            <a:r>
              <a:rPr lang="zh-CN" altLang="en-US" dirty="0"/>
              <a:t>式</a:t>
            </a:r>
            <a:r>
              <a:rPr lang="en-US" altLang="zh-CN" dirty="0"/>
              <a:t>(4-1) </a:t>
            </a:r>
            <a:r>
              <a:rPr lang="zh-CN" altLang="en-US" dirty="0"/>
              <a:t>、</a:t>
            </a:r>
            <a:r>
              <a:rPr lang="en-US" altLang="zh-CN" dirty="0"/>
              <a:t>(4-5)</a:t>
            </a:r>
            <a:r>
              <a:rPr lang="zh-CN" altLang="en-US" dirty="0"/>
              <a:t>可看出，原线性规划模型和它的对偶模型的系数矩阵</a:t>
            </a:r>
            <a:r>
              <a:rPr lang="en-US" altLang="zh-CN" dirty="0"/>
              <a:t>A</a:t>
            </a:r>
            <a:r>
              <a:rPr lang="zh-CN" altLang="en-US" dirty="0"/>
              <a:t>、</a:t>
            </a:r>
            <a:r>
              <a:rPr lang="en-US" altLang="zh-CN" dirty="0"/>
              <a:t>C</a:t>
            </a:r>
            <a:r>
              <a:rPr lang="zh-CN" altLang="en-US" dirty="0"/>
              <a:t>、</a:t>
            </a:r>
            <a:r>
              <a:rPr lang="en-US" altLang="zh-CN" dirty="0"/>
              <a:t>b</a:t>
            </a:r>
            <a:r>
              <a:rPr lang="zh-CN" altLang="en-US" dirty="0"/>
              <a:t>就之间有紧密的联系。</a:t>
            </a:r>
          </a:p>
        </p:txBody>
      </p:sp>
      <p:graphicFrame>
        <p:nvGraphicFramePr>
          <p:cNvPr id="694275" name="Object 3"/>
          <p:cNvGraphicFramePr>
            <a:graphicFrameLocks noChangeAspect="1"/>
          </p:cNvGraphicFramePr>
          <p:nvPr/>
        </p:nvGraphicFramePr>
        <p:xfrm>
          <a:off x="2078038" y="4570413"/>
          <a:ext cx="2006600" cy="1695450"/>
        </p:xfrm>
        <a:graphic>
          <a:graphicData uri="http://schemas.openxmlformats.org/presentationml/2006/ole">
            <p:oleObj spid="_x0000_s9278" name="Equation" r:id="rId3" imgW="812800" imgH="685800" progId="">
              <p:embed/>
            </p:oleObj>
          </a:graphicData>
        </a:graphic>
      </p:graphicFrame>
      <p:graphicFrame>
        <p:nvGraphicFramePr>
          <p:cNvPr id="694276" name="Object 4"/>
          <p:cNvGraphicFramePr>
            <a:graphicFrameLocks noChangeAspect="1"/>
          </p:cNvGraphicFramePr>
          <p:nvPr/>
        </p:nvGraphicFramePr>
        <p:xfrm>
          <a:off x="5905500" y="4535488"/>
          <a:ext cx="1816100" cy="1662112"/>
        </p:xfrm>
        <a:graphic>
          <a:graphicData uri="http://schemas.openxmlformats.org/presentationml/2006/ole">
            <p:oleObj spid="_x0000_s9279" name="Equation" r:id="rId4" imgW="749300" imgH="685800" progId="">
              <p:embed/>
            </p:oleObj>
          </a:graphicData>
        </a:graphic>
      </p:graphicFrame>
      <p:sp>
        <p:nvSpPr>
          <p:cNvPr id="694277" name="Text Box 5"/>
          <p:cNvSpPr txBox="1">
            <a:spLocks noChangeArrowheads="1"/>
          </p:cNvSpPr>
          <p:nvPr/>
        </p:nvSpPr>
        <p:spPr bwMode="auto">
          <a:xfrm>
            <a:off x="755650" y="5097463"/>
            <a:ext cx="1981200"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原问题：</a:t>
            </a:r>
          </a:p>
        </p:txBody>
      </p:sp>
      <p:sp>
        <p:nvSpPr>
          <p:cNvPr id="694278" name="Text Box 6"/>
          <p:cNvSpPr txBox="1">
            <a:spLocks noChangeArrowheads="1"/>
          </p:cNvSpPr>
          <p:nvPr/>
        </p:nvSpPr>
        <p:spPr bwMode="auto">
          <a:xfrm>
            <a:off x="4184650" y="5035550"/>
            <a:ext cx="19812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对偶问题：</a:t>
            </a:r>
          </a:p>
        </p:txBody>
      </p:sp>
      <p:graphicFrame>
        <p:nvGraphicFramePr>
          <p:cNvPr id="694279" name="Object 7"/>
          <p:cNvGraphicFramePr>
            <a:graphicFrameLocks noChangeAspect="1"/>
          </p:cNvGraphicFramePr>
          <p:nvPr>
            <p:extLst>
              <p:ext uri="{D42A27DB-BD31-4B8C-83A1-F6EECF244321}">
                <p14:modId xmlns:p14="http://schemas.microsoft.com/office/powerpoint/2010/main" xmlns="" val="1917211638"/>
              </p:ext>
            </p:extLst>
          </p:nvPr>
        </p:nvGraphicFramePr>
        <p:xfrm>
          <a:off x="4705350" y="1094582"/>
          <a:ext cx="3016250" cy="1549400"/>
        </p:xfrm>
        <a:graphic>
          <a:graphicData uri="http://schemas.openxmlformats.org/presentationml/2006/ole">
            <p:oleObj spid="_x0000_s9280" name="Equation" r:id="rId5" imgW="1384300" imgH="711200" progId="">
              <p:embed/>
            </p:oleObj>
          </a:graphicData>
        </a:graphic>
      </p:graphicFrame>
      <p:graphicFrame>
        <p:nvGraphicFramePr>
          <p:cNvPr id="694280" name="Object 8"/>
          <p:cNvGraphicFramePr>
            <a:graphicFrameLocks noChangeAspect="1"/>
          </p:cNvGraphicFramePr>
          <p:nvPr>
            <p:extLst>
              <p:ext uri="{D42A27DB-BD31-4B8C-83A1-F6EECF244321}">
                <p14:modId xmlns:p14="http://schemas.microsoft.com/office/powerpoint/2010/main" xmlns="" val="2748569687"/>
              </p:ext>
            </p:extLst>
          </p:nvPr>
        </p:nvGraphicFramePr>
        <p:xfrm>
          <a:off x="539751" y="1149351"/>
          <a:ext cx="2808287" cy="1439862"/>
        </p:xfrm>
        <a:graphic>
          <a:graphicData uri="http://schemas.openxmlformats.org/presentationml/2006/ole">
            <p:oleObj spid="_x0000_s9281" name="Equation" r:id="rId6" imgW="1384300" imgH="711200" progId="">
              <p:embed/>
            </p:oleObj>
          </a:graphicData>
        </a:graphic>
      </p:graphicFrame>
      <p:sp>
        <p:nvSpPr>
          <p:cNvPr id="694281" name="Rectangle 9"/>
          <p:cNvSpPr>
            <a:spLocks noChangeArrowheads="1"/>
          </p:cNvSpPr>
          <p:nvPr/>
        </p:nvSpPr>
        <p:spPr bwMode="auto">
          <a:xfrm>
            <a:off x="3348038" y="3860800"/>
            <a:ext cx="2327275" cy="604838"/>
          </a:xfrm>
          <a:prstGeom prst="rect">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20000"/>
              </a:spcBef>
            </a:pPr>
            <a:r>
              <a:rPr lang="zh-CN" altLang="en-US" sz="2800">
                <a:solidFill>
                  <a:srgbClr val="000000"/>
                </a:solidFill>
                <a:latin typeface="宋体" panose="02010600030101010101" pitchFamily="2" charset="-122"/>
              </a:rPr>
              <a:t>一对对偶问题</a:t>
            </a:r>
          </a:p>
        </p:txBody>
      </p:sp>
    </p:spTree>
    <p:extLst>
      <p:ext uri="{BB962C8B-B14F-4D97-AF65-F5344CB8AC3E}">
        <p14:creationId xmlns:p14="http://schemas.microsoft.com/office/powerpoint/2010/main" xmlns="" val="13901293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4274"/>
                                        </p:tgtEl>
                                        <p:attrNameLst>
                                          <p:attrName>style.visibility</p:attrName>
                                        </p:attrNameLst>
                                      </p:cBhvr>
                                      <p:to>
                                        <p:strVal val="visible"/>
                                      </p:to>
                                    </p:set>
                                    <p:anim calcmode="lin" valueType="num">
                                      <p:cBhvr additive="base">
                                        <p:cTn id="7" dur="500" fill="hold"/>
                                        <p:tgtEl>
                                          <p:spTgt spid="694274"/>
                                        </p:tgtEl>
                                        <p:attrNameLst>
                                          <p:attrName>ppt_x</p:attrName>
                                        </p:attrNameLst>
                                      </p:cBhvr>
                                      <p:tavLst>
                                        <p:tav tm="0">
                                          <p:val>
                                            <p:strVal val="0-#ppt_w/2"/>
                                          </p:val>
                                        </p:tav>
                                        <p:tav tm="100000">
                                          <p:val>
                                            <p:strVal val="#ppt_x"/>
                                          </p:val>
                                        </p:tav>
                                      </p:tavLst>
                                    </p:anim>
                                    <p:anim calcmode="lin" valueType="num">
                                      <p:cBhvr additive="base">
                                        <p:cTn id="8" dur="500" fill="hold"/>
                                        <p:tgtEl>
                                          <p:spTgt spid="6942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9428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9427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942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9427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94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4274" grpId="0" autoUpdateAnimBg="0"/>
      <p:bldP spid="694277" grpId="0"/>
      <p:bldP spid="694278" grpId="0"/>
      <p:bldP spid="69428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Text Box 2"/>
          <p:cNvSpPr txBox="1">
            <a:spLocks noChangeArrowheads="1"/>
          </p:cNvSpPr>
          <p:nvPr/>
        </p:nvSpPr>
        <p:spPr bwMode="auto">
          <a:xfrm>
            <a:off x="179512" y="1340768"/>
            <a:ext cx="7812087" cy="1019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en-US" altLang="zh-CN" sz="3200" dirty="0">
                <a:latin typeface="宋体" panose="02010600030101010101" pitchFamily="2" charset="-122"/>
              </a:rPr>
              <a:t>4.2  </a:t>
            </a:r>
            <a:r>
              <a:rPr lang="zh-CN" altLang="en-US" sz="3200" dirty="0">
                <a:latin typeface="宋体" panose="02010600030101010101" pitchFamily="2" charset="-122"/>
              </a:rPr>
              <a:t>原模型与对偶模型的线性规划模型</a:t>
            </a:r>
          </a:p>
          <a:p>
            <a:pPr algn="ctr">
              <a:lnSpc>
                <a:spcPct val="40000"/>
              </a:lnSpc>
              <a:spcBef>
                <a:spcPct val="50000"/>
              </a:spcBef>
            </a:pPr>
            <a:r>
              <a:rPr lang="zh-CN" altLang="en-US" sz="3200" dirty="0">
                <a:latin typeface="宋体" panose="02010600030101010101" pitchFamily="2" charset="-122"/>
              </a:rPr>
              <a:t>之间的关系</a:t>
            </a:r>
          </a:p>
        </p:txBody>
      </p:sp>
      <p:sp>
        <p:nvSpPr>
          <p:cNvPr id="695299" name="Text Box 3"/>
          <p:cNvSpPr txBox="1">
            <a:spLocks noChangeArrowheads="1"/>
          </p:cNvSpPr>
          <p:nvPr/>
        </p:nvSpPr>
        <p:spPr bwMode="auto">
          <a:xfrm>
            <a:off x="251520" y="3429000"/>
            <a:ext cx="8530530" cy="7571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zh-CN" altLang="en-US"/>
              <a:t>定义</a:t>
            </a:r>
            <a:r>
              <a:rPr lang="en-US" altLang="zh-CN"/>
              <a:t>1  </a:t>
            </a:r>
            <a:r>
              <a:rPr lang="zh-CN" altLang="en-US"/>
              <a:t>具有下列特点的线性规划模型称为对称形式的线性规划模型，变量均具有非负约束，其约束条件为当目标函数求最大时取“≤”、目标函数求最小时取</a:t>
            </a:r>
            <a:r>
              <a:rPr lang="zh-CN" altLang="en-US">
                <a:latin typeface="Arial" panose="020B0604020202020204" pitchFamily="34" charset="0"/>
              </a:rPr>
              <a:t>“≥”。</a:t>
            </a:r>
          </a:p>
        </p:txBody>
      </p:sp>
      <p:sp>
        <p:nvSpPr>
          <p:cNvPr id="695300" name="Text Box 4"/>
          <p:cNvSpPr txBox="1">
            <a:spLocks noChangeArrowheads="1"/>
          </p:cNvSpPr>
          <p:nvPr/>
        </p:nvSpPr>
        <p:spPr bwMode="auto">
          <a:xfrm>
            <a:off x="251520" y="2780928"/>
            <a:ext cx="7162800"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dirty="0"/>
              <a:t>4.2.1  </a:t>
            </a:r>
            <a:r>
              <a:rPr lang="zh-CN" altLang="en-US" dirty="0"/>
              <a:t>对称形式线性规划模型的对偶模型</a:t>
            </a:r>
          </a:p>
        </p:txBody>
      </p:sp>
    </p:spTree>
    <p:extLst>
      <p:ext uri="{BB962C8B-B14F-4D97-AF65-F5344CB8AC3E}">
        <p14:creationId xmlns:p14="http://schemas.microsoft.com/office/powerpoint/2010/main" xmlns="" val="757013817"/>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22" name="Object 2"/>
          <p:cNvGraphicFramePr>
            <a:graphicFrameLocks noGrp="1" noChangeAspect="1"/>
          </p:cNvGraphicFramePr>
          <p:nvPr>
            <p:ph type="title"/>
          </p:nvPr>
        </p:nvGraphicFramePr>
        <p:xfrm>
          <a:off x="539750" y="1125538"/>
          <a:ext cx="4032250" cy="2992437"/>
        </p:xfrm>
        <a:graphic>
          <a:graphicData uri="http://schemas.openxmlformats.org/presentationml/2006/ole">
            <p:oleObj spid="_x0000_s10302" name="Equation" r:id="rId3" imgW="1917700" imgH="1422400" progId="">
              <p:embed/>
            </p:oleObj>
          </a:graphicData>
        </a:graphic>
      </p:graphicFrame>
      <p:graphicFrame>
        <p:nvGraphicFramePr>
          <p:cNvPr id="696323" name="Object 3"/>
          <p:cNvGraphicFramePr>
            <a:graphicFrameLocks noGrp="1" noChangeAspect="1"/>
          </p:cNvGraphicFramePr>
          <p:nvPr>
            <p:ph idx="1"/>
          </p:nvPr>
        </p:nvGraphicFramePr>
        <p:xfrm>
          <a:off x="4787900" y="1125538"/>
          <a:ext cx="3887788" cy="2903537"/>
        </p:xfrm>
        <a:graphic>
          <a:graphicData uri="http://schemas.openxmlformats.org/presentationml/2006/ole">
            <p:oleObj spid="_x0000_s10303" name="Equation" r:id="rId4" imgW="1905000" imgH="1422400" progId="">
              <p:embed/>
            </p:oleObj>
          </a:graphicData>
        </a:graphic>
      </p:graphicFrame>
      <p:sp>
        <p:nvSpPr>
          <p:cNvPr id="696324" name="Text Box 4"/>
          <p:cNvSpPr txBox="1">
            <a:spLocks noChangeArrowheads="1"/>
          </p:cNvSpPr>
          <p:nvPr/>
        </p:nvSpPr>
        <p:spPr bwMode="auto">
          <a:xfrm>
            <a:off x="323850" y="333375"/>
            <a:ext cx="446405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对称形式的线性规划模型</a:t>
            </a:r>
            <a:r>
              <a:rPr lang="en-US" altLang="zh-CN"/>
              <a:t>:</a:t>
            </a:r>
          </a:p>
        </p:txBody>
      </p:sp>
      <p:sp>
        <p:nvSpPr>
          <p:cNvPr id="696325" name="Text Box 5"/>
          <p:cNvSpPr txBox="1">
            <a:spLocks noChangeArrowheads="1"/>
          </p:cNvSpPr>
          <p:nvPr/>
        </p:nvSpPr>
        <p:spPr bwMode="auto">
          <a:xfrm>
            <a:off x="5651500" y="333375"/>
            <a:ext cx="19812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其对偶模型：</a:t>
            </a:r>
          </a:p>
        </p:txBody>
      </p:sp>
      <p:graphicFrame>
        <p:nvGraphicFramePr>
          <p:cNvPr id="696326" name="Object 6"/>
          <p:cNvGraphicFramePr>
            <a:graphicFrameLocks noChangeAspect="1"/>
          </p:cNvGraphicFramePr>
          <p:nvPr/>
        </p:nvGraphicFramePr>
        <p:xfrm>
          <a:off x="5292725" y="4868863"/>
          <a:ext cx="3016250" cy="1549400"/>
        </p:xfrm>
        <a:graphic>
          <a:graphicData uri="http://schemas.openxmlformats.org/presentationml/2006/ole">
            <p:oleObj spid="_x0000_s10304" name="Equation" r:id="rId5" imgW="1384300" imgH="711200" progId="">
              <p:embed/>
            </p:oleObj>
          </a:graphicData>
        </a:graphic>
      </p:graphicFrame>
      <p:graphicFrame>
        <p:nvGraphicFramePr>
          <p:cNvPr id="696327" name="Object 7"/>
          <p:cNvGraphicFramePr>
            <a:graphicFrameLocks noChangeAspect="1"/>
          </p:cNvGraphicFramePr>
          <p:nvPr/>
        </p:nvGraphicFramePr>
        <p:xfrm>
          <a:off x="827088" y="4868863"/>
          <a:ext cx="2808287" cy="1439862"/>
        </p:xfrm>
        <a:graphic>
          <a:graphicData uri="http://schemas.openxmlformats.org/presentationml/2006/ole">
            <p:oleObj spid="_x0000_s10305" name="Equation" r:id="rId6" imgW="1384300" imgH="711200" progId="">
              <p:embed/>
            </p:oleObj>
          </a:graphicData>
        </a:graphic>
      </p:graphicFrame>
      <p:sp>
        <p:nvSpPr>
          <p:cNvPr id="696328" name="Text Box 8"/>
          <p:cNvSpPr txBox="1">
            <a:spLocks noChangeArrowheads="1"/>
          </p:cNvSpPr>
          <p:nvPr/>
        </p:nvSpPr>
        <p:spPr bwMode="auto">
          <a:xfrm>
            <a:off x="395288" y="4205288"/>
            <a:ext cx="4464050"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线性规划</a:t>
            </a:r>
          </a:p>
        </p:txBody>
      </p:sp>
      <p:sp>
        <p:nvSpPr>
          <p:cNvPr id="696329" name="Text Box 9"/>
          <p:cNvSpPr txBox="1">
            <a:spLocks noChangeArrowheads="1"/>
          </p:cNvSpPr>
          <p:nvPr/>
        </p:nvSpPr>
        <p:spPr bwMode="auto">
          <a:xfrm>
            <a:off x="5722938" y="4205288"/>
            <a:ext cx="1981200"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对偶规划</a:t>
            </a:r>
          </a:p>
        </p:txBody>
      </p:sp>
    </p:spTree>
    <p:extLst>
      <p:ext uri="{BB962C8B-B14F-4D97-AF65-F5344CB8AC3E}">
        <p14:creationId xmlns:p14="http://schemas.microsoft.com/office/powerpoint/2010/main" xmlns="" val="21015486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7346" name="Group 2"/>
          <p:cNvGrpSpPr>
            <a:grpSpLocks/>
          </p:cNvGrpSpPr>
          <p:nvPr/>
        </p:nvGrpSpPr>
        <p:grpSpPr bwMode="auto">
          <a:xfrm>
            <a:off x="2466975" y="4340225"/>
            <a:ext cx="3829050" cy="381000"/>
            <a:chOff x="1572" y="2844"/>
            <a:chExt cx="2412" cy="240"/>
          </a:xfrm>
        </p:grpSpPr>
        <p:sp>
          <p:nvSpPr>
            <p:cNvPr id="697347" name="Rectangle 3"/>
            <p:cNvSpPr>
              <a:spLocks noChangeArrowheads="1"/>
            </p:cNvSpPr>
            <p:nvPr/>
          </p:nvSpPr>
          <p:spPr bwMode="auto">
            <a:xfrm>
              <a:off x="3744" y="2844"/>
              <a:ext cx="240" cy="24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97348" name="Rectangle 4"/>
            <p:cNvSpPr>
              <a:spLocks noChangeArrowheads="1"/>
            </p:cNvSpPr>
            <p:nvPr/>
          </p:nvSpPr>
          <p:spPr bwMode="auto">
            <a:xfrm>
              <a:off x="1572" y="2844"/>
              <a:ext cx="240" cy="24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pSp>
      <p:grpSp>
        <p:nvGrpSpPr>
          <p:cNvPr id="697349" name="Group 5"/>
          <p:cNvGrpSpPr>
            <a:grpSpLocks/>
          </p:cNvGrpSpPr>
          <p:nvPr/>
        </p:nvGrpSpPr>
        <p:grpSpPr bwMode="auto">
          <a:xfrm>
            <a:off x="2152650" y="3873500"/>
            <a:ext cx="4133850" cy="304800"/>
            <a:chOff x="1392" y="2544"/>
            <a:chExt cx="2604" cy="192"/>
          </a:xfrm>
        </p:grpSpPr>
        <p:sp>
          <p:nvSpPr>
            <p:cNvPr id="697350" name="Rectangle 6"/>
            <p:cNvSpPr>
              <a:spLocks noChangeArrowheads="1"/>
            </p:cNvSpPr>
            <p:nvPr/>
          </p:nvSpPr>
          <p:spPr bwMode="auto">
            <a:xfrm>
              <a:off x="3612" y="2544"/>
              <a:ext cx="384" cy="192"/>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97351" name="Rectangle 7"/>
            <p:cNvSpPr>
              <a:spLocks noChangeArrowheads="1"/>
            </p:cNvSpPr>
            <p:nvPr/>
          </p:nvSpPr>
          <p:spPr bwMode="auto">
            <a:xfrm>
              <a:off x="1392" y="2544"/>
              <a:ext cx="384" cy="192"/>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pSp>
      <p:graphicFrame>
        <p:nvGraphicFramePr>
          <p:cNvPr id="697352" name="Object 8"/>
          <p:cNvGraphicFramePr>
            <a:graphicFrameLocks noChangeAspect="1"/>
          </p:cNvGraphicFramePr>
          <p:nvPr/>
        </p:nvGraphicFramePr>
        <p:xfrm>
          <a:off x="762000" y="762000"/>
          <a:ext cx="1722438" cy="1444625"/>
        </p:xfrm>
        <a:graphic>
          <a:graphicData uri="http://schemas.openxmlformats.org/presentationml/2006/ole">
            <p:oleObj spid="_x0000_s11311" r:id="rId3" imgW="1536700" imgH="1282700" progId="Equation.3">
              <p:embed/>
            </p:oleObj>
          </a:graphicData>
        </a:graphic>
      </p:graphicFrame>
      <p:grpSp>
        <p:nvGrpSpPr>
          <p:cNvPr id="697353" name="Group 9"/>
          <p:cNvGrpSpPr>
            <a:grpSpLocks/>
          </p:cNvGrpSpPr>
          <p:nvPr/>
        </p:nvGrpSpPr>
        <p:grpSpPr bwMode="auto">
          <a:xfrm>
            <a:off x="3276600" y="685800"/>
            <a:ext cx="4824413" cy="1519238"/>
            <a:chOff x="2160" y="672"/>
            <a:chExt cx="2922" cy="822"/>
          </a:xfrm>
        </p:grpSpPr>
        <p:graphicFrame>
          <p:nvGraphicFramePr>
            <p:cNvPr id="697354" name="Object 10"/>
            <p:cNvGraphicFramePr>
              <a:graphicFrameLocks noChangeAspect="1"/>
            </p:cNvGraphicFramePr>
            <p:nvPr/>
          </p:nvGraphicFramePr>
          <p:xfrm>
            <a:off x="3696" y="672"/>
            <a:ext cx="1386" cy="822"/>
          </p:xfrm>
          <a:graphic>
            <a:graphicData uri="http://schemas.openxmlformats.org/presentationml/2006/ole">
              <p:oleObj spid="_x0000_s11312" r:id="rId4" imgW="2197100" imgH="1308100" progId="Equation.3">
                <p:embed/>
              </p:oleObj>
            </a:graphicData>
          </a:graphic>
        </p:graphicFrame>
        <p:sp>
          <p:nvSpPr>
            <p:cNvPr id="697355" name="Text Box 11"/>
            <p:cNvSpPr txBox="1">
              <a:spLocks noChangeArrowheads="1"/>
            </p:cNvSpPr>
            <p:nvPr/>
          </p:nvSpPr>
          <p:spPr bwMode="auto">
            <a:xfrm>
              <a:off x="2160" y="768"/>
              <a:ext cx="1344" cy="2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eaLnBrk="0" hangingPunct="0">
                <a:spcBef>
                  <a:spcPct val="50000"/>
                </a:spcBef>
              </a:pPr>
              <a:r>
                <a:rPr lang="zh-CN" altLang="en-US" sz="2400"/>
                <a:t>标准型为：</a:t>
              </a:r>
            </a:p>
          </p:txBody>
        </p:sp>
      </p:grpSp>
      <p:graphicFrame>
        <p:nvGraphicFramePr>
          <p:cNvPr id="697356" name="Object 12"/>
          <p:cNvGraphicFramePr>
            <a:graphicFrameLocks noChangeAspect="1"/>
          </p:cNvGraphicFramePr>
          <p:nvPr/>
        </p:nvGraphicFramePr>
        <p:xfrm>
          <a:off x="611188" y="2205038"/>
          <a:ext cx="8040687" cy="3629025"/>
        </p:xfrm>
        <a:graphic>
          <a:graphicData uri="http://schemas.openxmlformats.org/presentationml/2006/ole">
            <p:oleObj spid="_x0000_s11313" name="文档" r:id="rId5" imgW="8122539" imgH="3676269" progId="Word.Document.8">
              <p:embed/>
            </p:oleObj>
          </a:graphicData>
        </a:graphic>
      </p:graphicFrame>
      <p:grpSp>
        <p:nvGrpSpPr>
          <p:cNvPr id="697357" name="Group 13"/>
          <p:cNvGrpSpPr>
            <a:grpSpLocks/>
          </p:cNvGrpSpPr>
          <p:nvPr/>
        </p:nvGrpSpPr>
        <p:grpSpPr bwMode="auto">
          <a:xfrm>
            <a:off x="1885950" y="3721100"/>
            <a:ext cx="4267200" cy="0"/>
            <a:chOff x="1200" y="2448"/>
            <a:chExt cx="2688" cy="0"/>
          </a:xfrm>
        </p:grpSpPr>
        <p:sp>
          <p:nvSpPr>
            <p:cNvPr id="697358" name="Line 14"/>
            <p:cNvSpPr>
              <a:spLocks noChangeShapeType="1"/>
            </p:cNvSpPr>
            <p:nvPr/>
          </p:nvSpPr>
          <p:spPr bwMode="auto">
            <a:xfrm>
              <a:off x="1200" y="2448"/>
              <a:ext cx="480" cy="0"/>
            </a:xfrm>
            <a:prstGeom prst="line">
              <a:avLst/>
            </a:prstGeom>
            <a:noFill/>
            <a:ln w="3810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697359" name="Line 15"/>
            <p:cNvSpPr>
              <a:spLocks noChangeShapeType="1"/>
            </p:cNvSpPr>
            <p:nvPr/>
          </p:nvSpPr>
          <p:spPr bwMode="auto">
            <a:xfrm>
              <a:off x="3408" y="2448"/>
              <a:ext cx="480" cy="0"/>
            </a:xfrm>
            <a:prstGeom prst="line">
              <a:avLst/>
            </a:prstGeom>
            <a:noFill/>
            <a:ln w="3810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grpSp>
      <p:sp>
        <p:nvSpPr>
          <p:cNvPr id="697360" name="Line 16"/>
          <p:cNvSpPr>
            <a:spLocks noChangeShapeType="1"/>
          </p:cNvSpPr>
          <p:nvPr/>
        </p:nvSpPr>
        <p:spPr bwMode="auto">
          <a:xfrm>
            <a:off x="3429000" y="3644900"/>
            <a:ext cx="3124200" cy="30480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697361" name="Line 17"/>
          <p:cNvSpPr>
            <a:spLocks noChangeShapeType="1"/>
          </p:cNvSpPr>
          <p:nvPr/>
        </p:nvSpPr>
        <p:spPr bwMode="auto">
          <a:xfrm flipV="1">
            <a:off x="3429000" y="3721100"/>
            <a:ext cx="3276600" cy="38100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grpSp>
        <p:nvGrpSpPr>
          <p:cNvPr id="697362" name="Group 18"/>
          <p:cNvGrpSpPr>
            <a:grpSpLocks/>
          </p:cNvGrpSpPr>
          <p:nvPr/>
        </p:nvGrpSpPr>
        <p:grpSpPr bwMode="auto">
          <a:xfrm>
            <a:off x="3048000" y="4102100"/>
            <a:ext cx="3276600" cy="457200"/>
            <a:chOff x="1920" y="2688"/>
            <a:chExt cx="2064" cy="288"/>
          </a:xfrm>
        </p:grpSpPr>
        <p:sp>
          <p:nvSpPr>
            <p:cNvPr id="697363" name="Line 19"/>
            <p:cNvSpPr>
              <a:spLocks noChangeShapeType="1"/>
            </p:cNvSpPr>
            <p:nvPr/>
          </p:nvSpPr>
          <p:spPr bwMode="auto">
            <a:xfrm>
              <a:off x="1920" y="2688"/>
              <a:ext cx="1008" cy="288"/>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697364" name="Line 20"/>
            <p:cNvSpPr>
              <a:spLocks noChangeShapeType="1"/>
            </p:cNvSpPr>
            <p:nvPr/>
          </p:nvSpPr>
          <p:spPr bwMode="auto">
            <a:xfrm flipV="1">
              <a:off x="2928" y="2760"/>
              <a:ext cx="1056" cy="216"/>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xmlns="" val="35019818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973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9735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97357"/>
                                        </p:tgtEl>
                                        <p:attrNameLst>
                                          <p:attrName>style.visibility</p:attrName>
                                        </p:attrNameLst>
                                      </p:cBhvr>
                                      <p:to>
                                        <p:strVal val="visible"/>
                                      </p:to>
                                    </p:set>
                                  </p:childTnLst>
                                  <p:subTnLst>
                                    <p:set>
                                      <p:cBhvr override="childStyle">
                                        <p:cTn dur="1" fill="hold" display="0" masterRel="nextClick" afterEffect="1"/>
                                        <p:tgtEl>
                                          <p:spTgt spid="697357"/>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97360"/>
                                        </p:tgtEl>
                                        <p:attrNameLst>
                                          <p:attrName>style.visibility</p:attrName>
                                        </p:attrNameLst>
                                      </p:cBhvr>
                                      <p:to>
                                        <p:strVal val="visible"/>
                                      </p:to>
                                    </p:set>
                                  </p:childTnLst>
                                  <p:subTnLst>
                                    <p:set>
                                      <p:cBhvr override="childStyle">
                                        <p:cTn dur="1" fill="hold" display="0" masterRel="nextClick" afterEffect="1"/>
                                        <p:tgtEl>
                                          <p:spTgt spid="697360"/>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97361"/>
                                        </p:tgtEl>
                                        <p:attrNameLst>
                                          <p:attrName>style.visibility</p:attrName>
                                        </p:attrNameLst>
                                      </p:cBhvr>
                                      <p:to>
                                        <p:strVal val="visible"/>
                                      </p:to>
                                    </p:set>
                                  </p:childTnLst>
                                  <p:subTnLst>
                                    <p:set>
                                      <p:cBhvr override="childStyle">
                                        <p:cTn dur="1" fill="hold" display="0" masterRel="nextClick" afterEffect="1"/>
                                        <p:tgtEl>
                                          <p:spTgt spid="697361"/>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97349"/>
                                        </p:tgtEl>
                                        <p:attrNameLst>
                                          <p:attrName>style.visibility</p:attrName>
                                        </p:attrNameLst>
                                      </p:cBhvr>
                                      <p:to>
                                        <p:strVal val="visible"/>
                                      </p:to>
                                    </p:set>
                                  </p:childTnLst>
                                  <p:subTnLst>
                                    <p:set>
                                      <p:cBhvr override="childStyle">
                                        <p:cTn dur="1" fill="hold" display="0" masterRel="nextClick" afterEffect="1"/>
                                        <p:tgtEl>
                                          <p:spTgt spid="697349"/>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69734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697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8370" name="Object 2"/>
          <p:cNvGraphicFramePr>
            <a:graphicFrameLocks noChangeAspect="1"/>
          </p:cNvGraphicFramePr>
          <p:nvPr/>
        </p:nvGraphicFramePr>
        <p:xfrm>
          <a:off x="946150" y="620713"/>
          <a:ext cx="8096250" cy="5943600"/>
        </p:xfrm>
        <a:graphic>
          <a:graphicData uri="http://schemas.openxmlformats.org/presentationml/2006/ole">
            <p:oleObj spid="_x0000_s12305" name="文档" r:id="rId3" imgW="8097012" imgH="5943600" progId="Word.Document.8">
              <p:embed/>
            </p:oleObj>
          </a:graphicData>
        </a:graphic>
      </p:graphicFrame>
      <p:grpSp>
        <p:nvGrpSpPr>
          <p:cNvPr id="698371" name="Group 3"/>
          <p:cNvGrpSpPr>
            <a:grpSpLocks/>
          </p:cNvGrpSpPr>
          <p:nvPr/>
        </p:nvGrpSpPr>
        <p:grpSpPr bwMode="auto">
          <a:xfrm>
            <a:off x="3384550" y="2373313"/>
            <a:ext cx="4038600" cy="2133600"/>
            <a:chOff x="2352" y="1248"/>
            <a:chExt cx="2544" cy="1344"/>
          </a:xfrm>
        </p:grpSpPr>
        <p:sp>
          <p:nvSpPr>
            <p:cNvPr id="698372" name="AutoShape 4"/>
            <p:cNvSpPr>
              <a:spLocks noChangeArrowheads="1"/>
            </p:cNvSpPr>
            <p:nvPr/>
          </p:nvSpPr>
          <p:spPr bwMode="auto">
            <a:xfrm>
              <a:off x="3648" y="1248"/>
              <a:ext cx="1248" cy="432"/>
            </a:xfrm>
            <a:prstGeom prst="wedgeRoundRectCallout">
              <a:avLst>
                <a:gd name="adj1" fmla="val -82694"/>
                <a:gd name="adj2" fmla="val 160185"/>
                <a:gd name="adj3" fmla="val 16667"/>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eaLnBrk="0" hangingPunct="0"/>
              <a:r>
                <a:rPr lang="zh-CN" altLang="en-US">
                  <a:solidFill>
                    <a:srgbClr val="CC0000"/>
                  </a:solidFill>
                </a:rPr>
                <a:t>互为转置</a:t>
              </a:r>
            </a:p>
          </p:txBody>
        </p:sp>
        <p:sp>
          <p:nvSpPr>
            <p:cNvPr id="698373" name="Line 5"/>
            <p:cNvSpPr>
              <a:spLocks noChangeShapeType="1"/>
            </p:cNvSpPr>
            <p:nvPr/>
          </p:nvSpPr>
          <p:spPr bwMode="auto">
            <a:xfrm>
              <a:off x="2352" y="1440"/>
              <a:ext cx="1392" cy="1152"/>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grpSp>
      <p:sp>
        <p:nvSpPr>
          <p:cNvPr id="698374" name="AutoShape 6"/>
          <p:cNvSpPr>
            <a:spLocks noChangeArrowheads="1"/>
          </p:cNvSpPr>
          <p:nvPr/>
        </p:nvSpPr>
        <p:spPr bwMode="auto">
          <a:xfrm>
            <a:off x="6432550" y="773113"/>
            <a:ext cx="1524000" cy="685800"/>
          </a:xfrm>
          <a:prstGeom prst="wedgeRoundRectCallout">
            <a:avLst>
              <a:gd name="adj1" fmla="val -157500"/>
              <a:gd name="adj2" fmla="val 34722"/>
              <a:gd name="adj3" fmla="val 16667"/>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eaLnBrk="0" hangingPunct="0"/>
            <a:r>
              <a:rPr lang="zh-CN" altLang="en-US">
                <a:solidFill>
                  <a:srgbClr val="CC0000"/>
                </a:solidFill>
              </a:rPr>
              <a:t>列向量</a:t>
            </a:r>
          </a:p>
        </p:txBody>
      </p:sp>
      <p:sp>
        <p:nvSpPr>
          <p:cNvPr id="698375" name="AutoShape 7"/>
          <p:cNvSpPr>
            <a:spLocks noChangeArrowheads="1"/>
          </p:cNvSpPr>
          <p:nvPr/>
        </p:nvSpPr>
        <p:spPr bwMode="auto">
          <a:xfrm>
            <a:off x="1555750" y="5649913"/>
            <a:ext cx="1524000" cy="685800"/>
          </a:xfrm>
          <a:prstGeom prst="wedgeRoundRectCallout">
            <a:avLst>
              <a:gd name="adj1" fmla="val 1565"/>
              <a:gd name="adj2" fmla="val -111111"/>
              <a:gd name="adj3" fmla="val 16667"/>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eaLnBrk="0" hangingPunct="0"/>
            <a:r>
              <a:rPr lang="zh-CN" altLang="en-US">
                <a:solidFill>
                  <a:srgbClr val="CC0000"/>
                </a:solidFill>
              </a:rPr>
              <a:t>行向量</a:t>
            </a:r>
          </a:p>
        </p:txBody>
      </p:sp>
      <p:sp>
        <p:nvSpPr>
          <p:cNvPr id="698376" name="AutoShape 8"/>
          <p:cNvSpPr>
            <a:spLocks noChangeArrowheads="1"/>
          </p:cNvSpPr>
          <p:nvPr/>
        </p:nvSpPr>
        <p:spPr bwMode="auto">
          <a:xfrm>
            <a:off x="107950" y="773113"/>
            <a:ext cx="1676400" cy="533400"/>
          </a:xfrm>
          <a:prstGeom prst="wedgeRoundRectCallout">
            <a:avLst>
              <a:gd name="adj1" fmla="val 179449"/>
              <a:gd name="adj2" fmla="val 49106"/>
              <a:gd name="adj3" fmla="val 16667"/>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eaLnBrk="0" hangingPunct="0"/>
            <a:r>
              <a:rPr lang="en-US" altLang="zh-CN">
                <a:solidFill>
                  <a:srgbClr val="CC0000"/>
                </a:solidFill>
              </a:rPr>
              <a:t>n</a:t>
            </a:r>
            <a:r>
              <a:rPr lang="zh-CN" altLang="en-US">
                <a:solidFill>
                  <a:srgbClr val="CC0000"/>
                </a:solidFill>
              </a:rPr>
              <a:t>个变量</a:t>
            </a:r>
          </a:p>
        </p:txBody>
      </p:sp>
      <p:sp>
        <p:nvSpPr>
          <p:cNvPr id="698377" name="AutoShape 9"/>
          <p:cNvSpPr>
            <a:spLocks noChangeArrowheads="1"/>
          </p:cNvSpPr>
          <p:nvPr/>
        </p:nvSpPr>
        <p:spPr bwMode="auto">
          <a:xfrm>
            <a:off x="6737350" y="3592513"/>
            <a:ext cx="1752600" cy="609600"/>
          </a:xfrm>
          <a:prstGeom prst="wedgeRoundRectCallout">
            <a:avLst>
              <a:gd name="adj1" fmla="val -100542"/>
              <a:gd name="adj2" fmla="val 109375"/>
              <a:gd name="adj3" fmla="val 16667"/>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eaLnBrk="0" hangingPunct="0"/>
            <a:r>
              <a:rPr lang="en-US" altLang="zh-CN">
                <a:solidFill>
                  <a:srgbClr val="CC0000"/>
                </a:solidFill>
              </a:rPr>
              <a:t>n</a:t>
            </a:r>
            <a:r>
              <a:rPr lang="zh-CN" altLang="en-US">
                <a:solidFill>
                  <a:srgbClr val="CC0000"/>
                </a:solidFill>
              </a:rPr>
              <a:t>个约束</a:t>
            </a:r>
          </a:p>
        </p:txBody>
      </p:sp>
    </p:spTree>
    <p:extLst>
      <p:ext uri="{BB962C8B-B14F-4D97-AF65-F5344CB8AC3E}">
        <p14:creationId xmlns:p14="http://schemas.microsoft.com/office/powerpoint/2010/main" xmlns="" val="10656225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983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9837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9837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9837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98376"/>
                                        </p:tgtEl>
                                        <p:attrNameLst>
                                          <p:attrName>style.visibility</p:attrName>
                                        </p:attrNameLst>
                                      </p:cBhvr>
                                      <p:to>
                                        <p:strVal val="visible"/>
                                      </p:to>
                                    </p:set>
                                  </p:childTnLst>
                                  <p:subTnLst>
                                    <p:set>
                                      <p:cBhvr override="childStyle">
                                        <p:cTn dur="1" fill="hold" display="0" masterRel="nextClick" afterEffect="1"/>
                                        <p:tgtEl>
                                          <p:spTgt spid="698376"/>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983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374" grpId="0" animBg="1" autoUpdateAnimBg="0"/>
      <p:bldP spid="698375" grpId="0" animBg="1" autoUpdateAnimBg="0"/>
      <p:bldP spid="698376" grpId="0" animBg="1" autoUpdateAnimBg="0"/>
      <p:bldP spid="698377"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Text Box 2"/>
          <p:cNvSpPr txBox="1">
            <a:spLocks noChangeArrowheads="1"/>
          </p:cNvSpPr>
          <p:nvPr/>
        </p:nvSpPr>
        <p:spPr bwMode="auto">
          <a:xfrm>
            <a:off x="3492500" y="260350"/>
            <a:ext cx="5127625"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前例，原问题中各系数矩阵为</a:t>
            </a:r>
          </a:p>
        </p:txBody>
      </p:sp>
      <p:graphicFrame>
        <p:nvGraphicFramePr>
          <p:cNvPr id="699395" name="Object 3"/>
          <p:cNvGraphicFramePr>
            <a:graphicFrameLocks noChangeAspect="1"/>
          </p:cNvGraphicFramePr>
          <p:nvPr/>
        </p:nvGraphicFramePr>
        <p:xfrm>
          <a:off x="3635375" y="1052513"/>
          <a:ext cx="5287963" cy="1535112"/>
        </p:xfrm>
        <a:graphic>
          <a:graphicData uri="http://schemas.openxmlformats.org/presentationml/2006/ole">
            <p:oleObj spid="_x0000_s13374" name="Equation" r:id="rId3" imgW="2451100" imgH="711200" progId="">
              <p:embed/>
            </p:oleObj>
          </a:graphicData>
        </a:graphic>
      </p:graphicFrame>
      <p:sp>
        <p:nvSpPr>
          <p:cNvPr id="699396" name="Text Box 4"/>
          <p:cNvSpPr txBox="1">
            <a:spLocks noChangeArrowheads="1"/>
          </p:cNvSpPr>
          <p:nvPr/>
        </p:nvSpPr>
        <p:spPr bwMode="auto">
          <a:xfrm>
            <a:off x="395288" y="3141663"/>
            <a:ext cx="8077200"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它的对偶问题是：</a:t>
            </a:r>
          </a:p>
        </p:txBody>
      </p:sp>
      <p:graphicFrame>
        <p:nvGraphicFramePr>
          <p:cNvPr id="699397" name="Object 5"/>
          <p:cNvGraphicFramePr>
            <a:graphicFrameLocks noChangeAspect="1"/>
          </p:cNvGraphicFramePr>
          <p:nvPr/>
        </p:nvGraphicFramePr>
        <p:xfrm>
          <a:off x="512763" y="3860800"/>
          <a:ext cx="3582987" cy="2547938"/>
        </p:xfrm>
        <a:graphic>
          <a:graphicData uri="http://schemas.openxmlformats.org/presentationml/2006/ole">
            <p:oleObj spid="_x0000_s13375" name="Equation" r:id="rId4" imgW="1714500" imgH="1219200" progId="">
              <p:embed/>
            </p:oleObj>
          </a:graphicData>
        </a:graphic>
      </p:graphicFrame>
      <p:graphicFrame>
        <p:nvGraphicFramePr>
          <p:cNvPr id="699398" name="Object 6"/>
          <p:cNvGraphicFramePr>
            <a:graphicFrameLocks noChangeAspect="1"/>
          </p:cNvGraphicFramePr>
          <p:nvPr/>
        </p:nvGraphicFramePr>
        <p:xfrm>
          <a:off x="4356100" y="3716338"/>
          <a:ext cx="4321175" cy="2755900"/>
        </p:xfrm>
        <a:graphic>
          <a:graphicData uri="http://schemas.openxmlformats.org/presentationml/2006/ole">
            <p:oleObj spid="_x0000_s13376" name="Equation" r:id="rId5" imgW="1892300" imgH="1206500" progId="">
              <p:embed/>
            </p:oleObj>
          </a:graphicData>
        </a:graphic>
      </p:graphicFrame>
      <p:sp>
        <p:nvSpPr>
          <p:cNvPr id="699399" name="Text Box 7"/>
          <p:cNvSpPr txBox="1">
            <a:spLocks noChangeArrowheads="1"/>
          </p:cNvSpPr>
          <p:nvPr/>
        </p:nvSpPr>
        <p:spPr bwMode="auto">
          <a:xfrm>
            <a:off x="4284663" y="3141663"/>
            <a:ext cx="1752600"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这里</a:t>
            </a:r>
          </a:p>
        </p:txBody>
      </p:sp>
      <p:graphicFrame>
        <p:nvGraphicFramePr>
          <p:cNvPr id="699400" name="Object 8"/>
          <p:cNvGraphicFramePr>
            <a:graphicFrameLocks noChangeAspect="1"/>
          </p:cNvGraphicFramePr>
          <p:nvPr/>
        </p:nvGraphicFramePr>
        <p:xfrm>
          <a:off x="611188" y="333375"/>
          <a:ext cx="2452687" cy="2592388"/>
        </p:xfrm>
        <a:graphic>
          <a:graphicData uri="http://schemas.openxmlformats.org/presentationml/2006/ole">
            <p:oleObj spid="_x0000_s13377" name="Equation" r:id="rId6" imgW="1104900" imgH="1168400" progId="">
              <p:embed/>
            </p:oleObj>
          </a:graphicData>
        </a:graphic>
      </p:graphicFrame>
    </p:spTree>
    <p:extLst>
      <p:ext uri="{BB962C8B-B14F-4D97-AF65-F5344CB8AC3E}">
        <p14:creationId xmlns:p14="http://schemas.microsoft.com/office/powerpoint/2010/main" xmlns="" val="28715426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699400"/>
                                        </p:tgtEl>
                                        <p:attrNameLst>
                                          <p:attrName>style.visibility</p:attrName>
                                        </p:attrNameLst>
                                      </p:cBhvr>
                                      <p:to>
                                        <p:strVal val="visible"/>
                                      </p:to>
                                    </p:set>
                                    <p:animEffect transition="in" filter="checkerboard(across)">
                                      <p:cBhvr>
                                        <p:cTn id="7" dur="500"/>
                                        <p:tgtEl>
                                          <p:spTgt spid="699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0418" name="Object 2"/>
          <p:cNvGraphicFramePr>
            <a:graphicFrameLocks noChangeAspect="1"/>
          </p:cNvGraphicFramePr>
          <p:nvPr/>
        </p:nvGraphicFramePr>
        <p:xfrm>
          <a:off x="457200" y="533400"/>
          <a:ext cx="4262438" cy="2438400"/>
        </p:xfrm>
        <a:graphic>
          <a:graphicData uri="http://schemas.openxmlformats.org/presentationml/2006/ole">
            <p:oleObj spid="_x0000_s14398" name="Document" r:id="rId3" imgW="4094988" imgH="2621280" progId="Word.Document.8">
              <p:embed/>
            </p:oleObj>
          </a:graphicData>
        </a:graphic>
      </p:graphicFrame>
      <p:graphicFrame>
        <p:nvGraphicFramePr>
          <p:cNvPr id="700419" name="Object 3"/>
          <p:cNvGraphicFramePr>
            <a:graphicFrameLocks noChangeAspect="1"/>
          </p:cNvGraphicFramePr>
          <p:nvPr/>
        </p:nvGraphicFramePr>
        <p:xfrm>
          <a:off x="4419600" y="3605213"/>
          <a:ext cx="3886200" cy="1933575"/>
        </p:xfrm>
        <a:graphic>
          <a:graphicData uri="http://schemas.openxmlformats.org/presentationml/2006/ole">
            <p:oleObj spid="_x0000_s14399" r:id="rId4" imgW="3886200" imgH="1930400" progId="Equation.3">
              <p:embed/>
            </p:oleObj>
          </a:graphicData>
        </a:graphic>
      </p:graphicFrame>
      <p:graphicFrame>
        <p:nvGraphicFramePr>
          <p:cNvPr id="700420" name="Object 4"/>
          <p:cNvGraphicFramePr>
            <a:graphicFrameLocks noChangeAspect="1"/>
          </p:cNvGraphicFramePr>
          <p:nvPr/>
        </p:nvGraphicFramePr>
        <p:xfrm>
          <a:off x="609600" y="3357563"/>
          <a:ext cx="3190875" cy="2428875"/>
        </p:xfrm>
        <a:graphic>
          <a:graphicData uri="http://schemas.openxmlformats.org/presentationml/2006/ole">
            <p:oleObj spid="_x0000_s14400" r:id="rId5" imgW="3187700" imgH="2425700" progId="Equation.3">
              <p:embed/>
            </p:oleObj>
          </a:graphicData>
        </a:graphic>
      </p:graphicFrame>
      <p:graphicFrame>
        <p:nvGraphicFramePr>
          <p:cNvPr id="700421" name="Object 5"/>
          <p:cNvGraphicFramePr>
            <a:graphicFrameLocks noChangeAspect="1"/>
          </p:cNvGraphicFramePr>
          <p:nvPr/>
        </p:nvGraphicFramePr>
        <p:xfrm>
          <a:off x="4953000" y="914400"/>
          <a:ext cx="3314700" cy="1866900"/>
        </p:xfrm>
        <a:graphic>
          <a:graphicData uri="http://schemas.openxmlformats.org/presentationml/2006/ole">
            <p:oleObj spid="_x0000_s14401" r:id="rId6" imgW="1384300" imgH="787400" progId="Equation.3">
              <p:embed/>
            </p:oleObj>
          </a:graphicData>
        </a:graphic>
      </p:graphicFrame>
    </p:spTree>
    <p:extLst>
      <p:ext uri="{BB962C8B-B14F-4D97-AF65-F5344CB8AC3E}">
        <p14:creationId xmlns:p14="http://schemas.microsoft.com/office/powerpoint/2010/main" xmlns="" val="25008031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00421"/>
                                        </p:tgtEl>
                                        <p:attrNameLst>
                                          <p:attrName>style.visibility</p:attrName>
                                        </p:attrNameLst>
                                      </p:cBhvr>
                                      <p:to>
                                        <p:strVal val="visible"/>
                                      </p:to>
                                    </p:set>
                                    <p:animEffect transition="in" filter="blinds(horizontal)">
                                      <p:cBhvr>
                                        <p:cTn id="7" dur="500"/>
                                        <p:tgtEl>
                                          <p:spTgt spid="7004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00420"/>
                                        </p:tgtEl>
                                        <p:attrNameLst>
                                          <p:attrName>style.visibility</p:attrName>
                                        </p:attrNameLst>
                                      </p:cBhvr>
                                      <p:to>
                                        <p:strVal val="visible"/>
                                      </p:to>
                                    </p:set>
                                    <p:animEffect transition="in" filter="blinds(horizontal)">
                                      <p:cBhvr>
                                        <p:cTn id="12" dur="500"/>
                                        <p:tgtEl>
                                          <p:spTgt spid="7004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00419"/>
                                        </p:tgtEl>
                                        <p:attrNameLst>
                                          <p:attrName>style.visibility</p:attrName>
                                        </p:attrNameLst>
                                      </p:cBhvr>
                                      <p:to>
                                        <p:strVal val="visible"/>
                                      </p:to>
                                    </p:set>
                                    <p:animEffect transition="in" filter="blinds(horizontal)">
                                      <p:cBhvr>
                                        <p:cTn id="17" dur="500"/>
                                        <p:tgtEl>
                                          <p:spTgt spid="700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107504" y="560487"/>
            <a:ext cx="8755062"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dirty="0"/>
              <a:t>4.2.2  </a:t>
            </a:r>
            <a:r>
              <a:rPr lang="zh-CN" altLang="en-US" dirty="0"/>
              <a:t>一般形式的线性规划模型与对偶模型之间的关系</a:t>
            </a:r>
          </a:p>
        </p:txBody>
      </p:sp>
      <p:sp>
        <p:nvSpPr>
          <p:cNvPr id="78851" name="Text Box 3"/>
          <p:cNvSpPr txBox="1">
            <a:spLocks noChangeArrowheads="1"/>
          </p:cNvSpPr>
          <p:nvPr/>
        </p:nvSpPr>
        <p:spPr bwMode="auto">
          <a:xfrm>
            <a:off x="254000" y="1598894"/>
            <a:ext cx="8229352" cy="4108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nSpc>
                <a:spcPct val="115000"/>
              </a:lnSpc>
              <a:spcBef>
                <a:spcPct val="50000"/>
              </a:spcBef>
            </a:pPr>
            <a:r>
              <a:rPr lang="en-US" altLang="zh-CN" dirty="0"/>
              <a:t>        </a:t>
            </a:r>
            <a:r>
              <a:rPr lang="zh-CN" altLang="en-US" dirty="0"/>
              <a:t>对于非对称形式的线性规划模型如何写出其对偶模型？</a:t>
            </a:r>
          </a:p>
        </p:txBody>
      </p:sp>
      <p:sp>
        <p:nvSpPr>
          <p:cNvPr id="78852" name="Text Box 4"/>
          <p:cNvSpPr txBox="1">
            <a:spLocks noChangeArrowheads="1"/>
          </p:cNvSpPr>
          <p:nvPr/>
        </p:nvSpPr>
        <p:spPr bwMode="auto">
          <a:xfrm>
            <a:off x="250825" y="2276475"/>
            <a:ext cx="8458200" cy="1117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a:t>        </a:t>
            </a:r>
            <a:r>
              <a:rPr lang="zh-CN" altLang="en-US"/>
              <a:t>其思路是首先将非对称形式转换为对称形式，然后再按照对应关系写出其对偶模型。</a:t>
            </a:r>
          </a:p>
        </p:txBody>
      </p:sp>
      <p:grpSp>
        <p:nvGrpSpPr>
          <p:cNvPr id="78859" name="Group 11"/>
          <p:cNvGrpSpPr>
            <a:grpSpLocks/>
          </p:cNvGrpSpPr>
          <p:nvPr/>
        </p:nvGrpSpPr>
        <p:grpSpPr bwMode="auto">
          <a:xfrm>
            <a:off x="250825" y="3789363"/>
            <a:ext cx="6340475" cy="619125"/>
            <a:chOff x="204" y="2568"/>
            <a:chExt cx="3994" cy="390"/>
          </a:xfrm>
        </p:grpSpPr>
        <p:sp>
          <p:nvSpPr>
            <p:cNvPr id="78854" name="Text Box 6"/>
            <p:cNvSpPr txBox="1">
              <a:spLocks noChangeArrowheads="1"/>
            </p:cNvSpPr>
            <p:nvPr/>
          </p:nvSpPr>
          <p:spPr bwMode="auto">
            <a:xfrm>
              <a:off x="204" y="2572"/>
              <a:ext cx="1950"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原问题求极小</a:t>
              </a:r>
              <a:r>
                <a:rPr lang="en-US" altLang="zh-CN"/>
                <a:t>------</a:t>
              </a:r>
            </a:p>
          </p:txBody>
        </p:sp>
        <p:graphicFrame>
          <p:nvGraphicFramePr>
            <p:cNvPr id="78855" name="Object 7"/>
            <p:cNvGraphicFramePr>
              <a:graphicFrameLocks noChangeAspect="1"/>
            </p:cNvGraphicFramePr>
            <p:nvPr/>
          </p:nvGraphicFramePr>
          <p:xfrm>
            <a:off x="2154" y="2568"/>
            <a:ext cx="2044" cy="390"/>
          </p:xfrm>
          <a:graphic>
            <a:graphicData uri="http://schemas.openxmlformats.org/presentationml/2006/ole">
              <p:oleObj spid="_x0000_s15377" name="Equation" r:id="rId3" imgW="1333500" imgH="254000" progId="">
                <p:embed/>
              </p:oleObj>
            </a:graphicData>
          </a:graphic>
        </p:graphicFrame>
      </p:grpSp>
      <p:sp>
        <p:nvSpPr>
          <p:cNvPr id="78856" name="Text Box 8"/>
          <p:cNvSpPr txBox="1">
            <a:spLocks noChangeArrowheads="1"/>
          </p:cNvSpPr>
          <p:nvPr/>
        </p:nvSpPr>
        <p:spPr bwMode="auto">
          <a:xfrm>
            <a:off x="250825" y="4581525"/>
            <a:ext cx="84582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原问题约束方程有“≥”</a:t>
            </a:r>
            <a:r>
              <a:rPr lang="en-US" altLang="zh-CN"/>
              <a:t>------</a:t>
            </a:r>
            <a:r>
              <a:rPr lang="zh-CN" altLang="en-US"/>
              <a:t>两边同乘（</a:t>
            </a:r>
            <a:r>
              <a:rPr lang="en-US" altLang="zh-CN"/>
              <a:t>-1</a:t>
            </a:r>
            <a:r>
              <a:rPr lang="zh-CN" altLang="en-US"/>
              <a:t>），“≤”</a:t>
            </a:r>
          </a:p>
        </p:txBody>
      </p:sp>
      <p:sp>
        <p:nvSpPr>
          <p:cNvPr id="78857" name="Text Box 9"/>
          <p:cNvSpPr txBox="1">
            <a:spLocks noChangeArrowheads="1"/>
          </p:cNvSpPr>
          <p:nvPr/>
        </p:nvSpPr>
        <p:spPr bwMode="auto">
          <a:xfrm>
            <a:off x="250825" y="5373688"/>
            <a:ext cx="8458200" cy="519112"/>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原问题约束方程有“</a:t>
            </a:r>
            <a:r>
              <a:rPr lang="en-US" altLang="zh-CN"/>
              <a:t>=”------</a:t>
            </a:r>
            <a:r>
              <a:rPr lang="zh-CN" altLang="en-US"/>
              <a:t>对偶问题？</a:t>
            </a:r>
          </a:p>
        </p:txBody>
      </p:sp>
    </p:spTree>
    <p:extLst>
      <p:ext uri="{BB962C8B-B14F-4D97-AF65-F5344CB8AC3E}">
        <p14:creationId xmlns:p14="http://schemas.microsoft.com/office/powerpoint/2010/main" xmlns="" val="11382102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885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885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88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p:bldP spid="78856" grpId="0"/>
      <p:bldP spid="7885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2050" name="Object 2"/>
          <p:cNvGraphicFramePr>
            <a:graphicFrameLocks noGrp="1" noChangeAspect="1"/>
          </p:cNvGraphicFramePr>
          <p:nvPr>
            <p:ph type="title"/>
          </p:nvPr>
        </p:nvGraphicFramePr>
        <p:xfrm>
          <a:off x="1476375" y="1700213"/>
          <a:ext cx="6408738" cy="3171825"/>
        </p:xfrm>
        <a:graphic>
          <a:graphicData uri="http://schemas.openxmlformats.org/presentationml/2006/ole">
            <p:oleObj spid="_x0000_s16401" name="Equation" r:id="rId3" imgW="2438400" imgH="1206500" progId="">
              <p:embed/>
            </p:oleObj>
          </a:graphicData>
        </a:graphic>
      </p:graphicFrame>
      <p:sp>
        <p:nvSpPr>
          <p:cNvPr id="642052" name="Rectangle 4"/>
          <p:cNvSpPr>
            <a:spLocks noChangeArrowheads="1"/>
          </p:cNvSpPr>
          <p:nvPr/>
        </p:nvSpPr>
        <p:spPr bwMode="auto">
          <a:xfrm>
            <a:off x="755650" y="836613"/>
            <a:ext cx="7088188"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zh-CN"/>
              <a:t>【</a:t>
            </a:r>
            <a:r>
              <a:rPr lang="zh-CN" altLang="en-US"/>
              <a:t>例</a:t>
            </a:r>
            <a:r>
              <a:rPr lang="en-US" altLang="zh-CN"/>
              <a:t>4-3】</a:t>
            </a:r>
            <a:r>
              <a:rPr lang="zh-CN" altLang="en-US"/>
              <a:t>写出下列线性回归模型的对偶模型</a:t>
            </a:r>
          </a:p>
        </p:txBody>
      </p:sp>
      <p:sp>
        <p:nvSpPr>
          <p:cNvPr id="642053" name="Text Box 5"/>
          <p:cNvSpPr txBox="1">
            <a:spLocks noChangeArrowheads="1"/>
          </p:cNvSpPr>
          <p:nvPr/>
        </p:nvSpPr>
        <p:spPr bwMode="auto">
          <a:xfrm>
            <a:off x="1547813" y="5229225"/>
            <a:ext cx="6048375" cy="51911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原问题约束方程有“</a:t>
            </a:r>
            <a:r>
              <a:rPr lang="en-US" altLang="zh-CN"/>
              <a:t>=”</a:t>
            </a:r>
            <a:r>
              <a:rPr lang="zh-CN" altLang="en-US"/>
              <a:t>，如何转化？</a:t>
            </a:r>
          </a:p>
        </p:txBody>
      </p:sp>
    </p:spTree>
    <p:extLst>
      <p:ext uri="{BB962C8B-B14F-4D97-AF65-F5344CB8AC3E}">
        <p14:creationId xmlns:p14="http://schemas.microsoft.com/office/powerpoint/2010/main" xmlns="" val="22832624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2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05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8980" name="Object 4"/>
          <p:cNvGraphicFramePr>
            <a:graphicFrameLocks noChangeAspect="1"/>
          </p:cNvGraphicFramePr>
          <p:nvPr/>
        </p:nvGraphicFramePr>
        <p:xfrm>
          <a:off x="250825" y="404813"/>
          <a:ext cx="8640763" cy="2971800"/>
        </p:xfrm>
        <a:graphic>
          <a:graphicData uri="http://schemas.openxmlformats.org/presentationml/2006/ole">
            <p:oleObj spid="_x0000_s17455" name="Equation" r:id="rId3" imgW="3543300" imgH="1219200" progId="">
              <p:embed/>
            </p:oleObj>
          </a:graphicData>
        </a:graphic>
      </p:graphicFrame>
      <p:graphicFrame>
        <p:nvGraphicFramePr>
          <p:cNvPr id="638981" name="Object 5"/>
          <p:cNvGraphicFramePr>
            <a:graphicFrameLocks noChangeAspect="1"/>
          </p:cNvGraphicFramePr>
          <p:nvPr/>
        </p:nvGraphicFramePr>
        <p:xfrm>
          <a:off x="323850" y="3644900"/>
          <a:ext cx="8353425" cy="1093788"/>
        </p:xfrm>
        <a:graphic>
          <a:graphicData uri="http://schemas.openxmlformats.org/presentationml/2006/ole">
            <p:oleObj spid="_x0000_s17456" name="Equation" r:id="rId4" imgW="3492500" imgH="457200" progId="">
              <p:embed/>
            </p:oleObj>
          </a:graphicData>
        </a:graphic>
      </p:graphicFrame>
      <p:graphicFrame>
        <p:nvGraphicFramePr>
          <p:cNvPr id="638982" name="Object 6"/>
          <p:cNvGraphicFramePr>
            <a:graphicFrameLocks noChangeAspect="1"/>
          </p:cNvGraphicFramePr>
          <p:nvPr/>
        </p:nvGraphicFramePr>
        <p:xfrm>
          <a:off x="395288" y="5013325"/>
          <a:ext cx="7881937" cy="1344613"/>
        </p:xfrm>
        <a:graphic>
          <a:graphicData uri="http://schemas.openxmlformats.org/presentationml/2006/ole">
            <p:oleObj spid="_x0000_s17457" name="Equation" r:id="rId5" imgW="3276600" imgH="558800" progId="">
              <p:embed/>
            </p:oleObj>
          </a:graphicData>
        </a:graphic>
      </p:graphicFrame>
    </p:spTree>
    <p:extLst>
      <p:ext uri="{BB962C8B-B14F-4D97-AF65-F5344CB8AC3E}">
        <p14:creationId xmlns:p14="http://schemas.microsoft.com/office/powerpoint/2010/main" xmlns="" val="24410433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389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389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0004" name="Object 4"/>
          <p:cNvGraphicFramePr>
            <a:graphicFrameLocks noChangeAspect="1"/>
          </p:cNvGraphicFramePr>
          <p:nvPr/>
        </p:nvGraphicFramePr>
        <p:xfrm>
          <a:off x="755650" y="260350"/>
          <a:ext cx="6337300" cy="4710113"/>
        </p:xfrm>
        <a:graphic>
          <a:graphicData uri="http://schemas.openxmlformats.org/presentationml/2006/ole">
            <p:oleObj spid="_x0000_s18479" name="Equation" r:id="rId3" imgW="2717800" imgH="2019300" progId="">
              <p:embed/>
            </p:oleObj>
          </a:graphicData>
        </a:graphic>
      </p:graphicFrame>
      <p:grpSp>
        <p:nvGrpSpPr>
          <p:cNvPr id="640012" name="Group 12"/>
          <p:cNvGrpSpPr>
            <a:grpSpLocks/>
          </p:cNvGrpSpPr>
          <p:nvPr/>
        </p:nvGrpSpPr>
        <p:grpSpPr bwMode="auto">
          <a:xfrm>
            <a:off x="250825" y="5013325"/>
            <a:ext cx="3744913" cy="1649413"/>
            <a:chOff x="158" y="3158"/>
            <a:chExt cx="2359" cy="1039"/>
          </a:xfrm>
        </p:grpSpPr>
        <p:sp>
          <p:nvSpPr>
            <p:cNvPr id="640007" name="Text Box 7"/>
            <p:cNvSpPr txBox="1">
              <a:spLocks noChangeArrowheads="1"/>
            </p:cNvSpPr>
            <p:nvPr/>
          </p:nvSpPr>
          <p:spPr bwMode="auto">
            <a:xfrm>
              <a:off x="158" y="3521"/>
              <a:ext cx="1248"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原问题：</a:t>
              </a:r>
            </a:p>
          </p:txBody>
        </p:sp>
        <p:graphicFrame>
          <p:nvGraphicFramePr>
            <p:cNvPr id="640010" name="Object 10"/>
            <p:cNvGraphicFramePr>
              <a:graphicFrameLocks noChangeAspect="1"/>
            </p:cNvGraphicFramePr>
            <p:nvPr/>
          </p:nvGraphicFramePr>
          <p:xfrm>
            <a:off x="1247" y="3158"/>
            <a:ext cx="1270" cy="1039"/>
          </p:xfrm>
          <a:graphic>
            <a:graphicData uri="http://schemas.openxmlformats.org/presentationml/2006/ole">
              <p:oleObj spid="_x0000_s18480" name="Equation" r:id="rId4" imgW="838200" imgH="685800" progId="">
                <p:embed/>
              </p:oleObj>
            </a:graphicData>
          </a:graphic>
        </p:graphicFrame>
      </p:grpSp>
      <p:grpSp>
        <p:nvGrpSpPr>
          <p:cNvPr id="640013" name="Group 13"/>
          <p:cNvGrpSpPr>
            <a:grpSpLocks/>
          </p:cNvGrpSpPr>
          <p:nvPr/>
        </p:nvGrpSpPr>
        <p:grpSpPr bwMode="auto">
          <a:xfrm>
            <a:off x="3708400" y="4941888"/>
            <a:ext cx="4032250" cy="1693862"/>
            <a:chOff x="2744" y="3113"/>
            <a:chExt cx="2540" cy="1067"/>
          </a:xfrm>
        </p:grpSpPr>
        <p:sp>
          <p:nvSpPr>
            <p:cNvPr id="640008" name="Text Box 8"/>
            <p:cNvSpPr txBox="1">
              <a:spLocks noChangeArrowheads="1"/>
            </p:cNvSpPr>
            <p:nvPr/>
          </p:nvSpPr>
          <p:spPr bwMode="auto">
            <a:xfrm>
              <a:off x="2744" y="3475"/>
              <a:ext cx="1248"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对偶问题：</a:t>
              </a:r>
            </a:p>
          </p:txBody>
        </p:sp>
        <p:graphicFrame>
          <p:nvGraphicFramePr>
            <p:cNvPr id="640011" name="Object 11"/>
            <p:cNvGraphicFramePr>
              <a:graphicFrameLocks noChangeAspect="1"/>
            </p:cNvGraphicFramePr>
            <p:nvPr/>
          </p:nvGraphicFramePr>
          <p:xfrm>
            <a:off x="4059" y="3113"/>
            <a:ext cx="1225" cy="1067"/>
          </p:xfrm>
          <a:graphic>
            <a:graphicData uri="http://schemas.openxmlformats.org/presentationml/2006/ole">
              <p:oleObj spid="_x0000_s18481" name="Equation" r:id="rId5" imgW="787400" imgH="685800" progId="">
                <p:embed/>
              </p:oleObj>
            </a:graphicData>
          </a:graphic>
        </p:graphicFrame>
      </p:grpSp>
      <p:sp>
        <p:nvSpPr>
          <p:cNvPr id="640015" name="AutoShape 15"/>
          <p:cNvSpPr>
            <a:spLocks noChangeArrowheads="1"/>
          </p:cNvSpPr>
          <p:nvPr/>
        </p:nvSpPr>
        <p:spPr bwMode="auto">
          <a:xfrm>
            <a:off x="7308850" y="2205038"/>
            <a:ext cx="1368425" cy="2449512"/>
          </a:xfrm>
          <a:prstGeom prst="wedgeRoundRectCallout">
            <a:avLst>
              <a:gd name="adj1" fmla="val -41648"/>
              <a:gd name="adj2" fmla="val 59722"/>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50000"/>
              </a:spcBef>
            </a:pPr>
            <a:r>
              <a:rPr lang="zh-CN" altLang="en-US"/>
              <a:t>对称形式线性规划模型的对偶模型</a:t>
            </a:r>
          </a:p>
        </p:txBody>
      </p:sp>
    </p:spTree>
    <p:extLst>
      <p:ext uri="{BB962C8B-B14F-4D97-AF65-F5344CB8AC3E}">
        <p14:creationId xmlns:p14="http://schemas.microsoft.com/office/powerpoint/2010/main" xmlns="" val="38140950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400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400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400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00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1028" name="Object 4"/>
          <p:cNvGraphicFramePr>
            <a:graphicFrameLocks noChangeAspect="1"/>
          </p:cNvGraphicFramePr>
          <p:nvPr/>
        </p:nvGraphicFramePr>
        <p:xfrm>
          <a:off x="755650" y="620713"/>
          <a:ext cx="7632700" cy="5468937"/>
        </p:xfrm>
        <a:graphic>
          <a:graphicData uri="http://schemas.openxmlformats.org/presentationml/2006/ole">
            <p:oleObj spid="_x0000_s19473" name="Equation" r:id="rId3" imgW="3225800" imgH="2311400" progId="">
              <p:embed/>
            </p:oleObj>
          </a:graphicData>
        </a:graphic>
      </p:graphicFrame>
      <p:sp>
        <p:nvSpPr>
          <p:cNvPr id="641029" name="Rectangle 5"/>
          <p:cNvSpPr>
            <a:spLocks noChangeArrowheads="1"/>
          </p:cNvSpPr>
          <p:nvPr/>
        </p:nvSpPr>
        <p:spPr bwMode="auto">
          <a:xfrm>
            <a:off x="2051050" y="2636838"/>
            <a:ext cx="2233613" cy="2663825"/>
          </a:xfrm>
          <a:prstGeom prst="rect">
            <a:avLst/>
          </a:prstGeom>
          <a:noFill/>
          <a:ln w="31750">
            <a:solidFill>
              <a:srgbClr val="FF33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xmlns="" val="36803575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1029"/>
                                        </p:tgtEl>
                                        <p:attrNameLst>
                                          <p:attrName>style.visibility</p:attrName>
                                        </p:attrNameLst>
                                      </p:cBhvr>
                                      <p:to>
                                        <p:strVal val="visible"/>
                                      </p:to>
                                    </p:set>
                                    <p:anim calcmode="lin" valueType="num">
                                      <p:cBhvr additive="base">
                                        <p:cTn id="7" dur="500" fill="hold"/>
                                        <p:tgtEl>
                                          <p:spTgt spid="641029"/>
                                        </p:tgtEl>
                                        <p:attrNameLst>
                                          <p:attrName>ppt_x</p:attrName>
                                        </p:attrNameLst>
                                      </p:cBhvr>
                                      <p:tavLst>
                                        <p:tav tm="0">
                                          <p:val>
                                            <p:strVal val="#ppt_x"/>
                                          </p:val>
                                        </p:tav>
                                        <p:tav tm="100000">
                                          <p:val>
                                            <p:strVal val="#ppt_x"/>
                                          </p:val>
                                        </p:tav>
                                      </p:tavLst>
                                    </p:anim>
                                    <p:anim calcmode="lin" valueType="num">
                                      <p:cBhvr additive="base">
                                        <p:cTn id="8" dur="500" fill="hold"/>
                                        <p:tgtEl>
                                          <p:spTgt spid="6410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3076" name="Object 4"/>
          <p:cNvGraphicFramePr>
            <a:graphicFrameLocks noChangeAspect="1"/>
          </p:cNvGraphicFramePr>
          <p:nvPr/>
        </p:nvGraphicFramePr>
        <p:xfrm>
          <a:off x="250825" y="260350"/>
          <a:ext cx="5400675" cy="4162425"/>
        </p:xfrm>
        <a:graphic>
          <a:graphicData uri="http://schemas.openxmlformats.org/presentationml/2006/ole">
            <p:oleObj spid="_x0000_s20512" name="Equation" r:id="rId3" imgW="2273300" imgH="1752600" progId="">
              <p:embed/>
            </p:oleObj>
          </a:graphicData>
        </a:graphic>
      </p:graphicFrame>
      <p:graphicFrame>
        <p:nvGraphicFramePr>
          <p:cNvPr id="643077" name="Object 5"/>
          <p:cNvGraphicFramePr>
            <a:graphicFrameLocks noChangeAspect="1"/>
          </p:cNvGraphicFramePr>
          <p:nvPr/>
        </p:nvGraphicFramePr>
        <p:xfrm>
          <a:off x="4356100" y="3284538"/>
          <a:ext cx="4787900" cy="3032125"/>
        </p:xfrm>
        <a:graphic>
          <a:graphicData uri="http://schemas.openxmlformats.org/presentationml/2006/ole">
            <p:oleObj spid="_x0000_s20513" name="Equation" r:id="rId4" imgW="1905000" imgH="1206500" progId="">
              <p:embed/>
            </p:oleObj>
          </a:graphicData>
        </a:graphic>
      </p:graphicFrame>
      <p:sp>
        <p:nvSpPr>
          <p:cNvPr id="643078" name="Rectangle 6"/>
          <p:cNvSpPr>
            <a:spLocks noChangeArrowheads="1"/>
          </p:cNvSpPr>
          <p:nvPr/>
        </p:nvSpPr>
        <p:spPr bwMode="auto">
          <a:xfrm>
            <a:off x="4859338" y="1484313"/>
            <a:ext cx="3529012" cy="1373187"/>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将条件</a:t>
            </a:r>
            <a:r>
              <a:rPr lang="en-US" altLang="zh-CN"/>
              <a:t>2</a:t>
            </a:r>
            <a:r>
              <a:rPr lang="zh-CN" altLang="en-US"/>
              <a:t>两端同乘</a:t>
            </a:r>
            <a:r>
              <a:rPr lang="en-US" altLang="zh-CN"/>
              <a:t>-1</a:t>
            </a:r>
            <a:r>
              <a:rPr lang="zh-CN" altLang="en-US"/>
              <a:t>，并将条件</a:t>
            </a:r>
            <a:r>
              <a:rPr lang="en-US" altLang="zh-CN"/>
              <a:t>3</a:t>
            </a:r>
            <a:r>
              <a:rPr lang="zh-CN" altLang="en-US"/>
              <a:t>、</a:t>
            </a:r>
            <a:r>
              <a:rPr lang="en-US" altLang="zh-CN"/>
              <a:t>4</a:t>
            </a:r>
            <a:r>
              <a:rPr lang="zh-CN" altLang="en-US"/>
              <a:t>合并为等式，得</a:t>
            </a:r>
          </a:p>
        </p:txBody>
      </p:sp>
    </p:spTree>
    <p:extLst>
      <p:ext uri="{BB962C8B-B14F-4D97-AF65-F5344CB8AC3E}">
        <p14:creationId xmlns:p14="http://schemas.microsoft.com/office/powerpoint/2010/main" xmlns="" val="284281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307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430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7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ChangeArrowheads="1"/>
          </p:cNvSpPr>
          <p:nvPr/>
        </p:nvSpPr>
        <p:spPr bwMode="auto">
          <a:xfrm>
            <a:off x="538164" y="1268759"/>
            <a:ext cx="4538662" cy="17903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lang="zh-CN" altLang="en-US"/>
              <a:t>原问题</a:t>
            </a:r>
          </a:p>
          <a:p>
            <a:r>
              <a:rPr lang="zh-CN" altLang="en-US"/>
              <a:t>目标函数</a:t>
            </a:r>
          </a:p>
          <a:p>
            <a:endParaRPr lang="zh-CN" altLang="en-US"/>
          </a:p>
          <a:p>
            <a:r>
              <a:rPr lang="zh-CN" altLang="en-US"/>
              <a:t>约束条件右端项</a:t>
            </a:r>
          </a:p>
          <a:p>
            <a:r>
              <a:rPr lang="zh-CN" altLang="en-US"/>
              <a:t>目标函数中变量的系数</a:t>
            </a:r>
          </a:p>
          <a:p>
            <a:r>
              <a:rPr lang="zh-CN" altLang="en-US"/>
              <a:t>约束矩阵</a:t>
            </a:r>
            <a:r>
              <a:rPr lang="en-US" altLang="zh-CN"/>
              <a:t>A</a:t>
            </a:r>
          </a:p>
        </p:txBody>
      </p:sp>
      <p:sp>
        <p:nvSpPr>
          <p:cNvPr id="654339" name="Rectangle 3"/>
          <p:cNvSpPr>
            <a:spLocks noChangeArrowheads="1"/>
          </p:cNvSpPr>
          <p:nvPr/>
        </p:nvSpPr>
        <p:spPr bwMode="auto">
          <a:xfrm>
            <a:off x="5292725" y="4005263"/>
            <a:ext cx="3455988" cy="3810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40" name="Rectangle 4"/>
          <p:cNvSpPr>
            <a:spLocks noChangeArrowheads="1"/>
          </p:cNvSpPr>
          <p:nvPr/>
        </p:nvSpPr>
        <p:spPr bwMode="auto">
          <a:xfrm>
            <a:off x="1474788" y="5640388"/>
            <a:ext cx="381000" cy="381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pSp>
        <p:nvGrpSpPr>
          <p:cNvPr id="654341" name="Group 5"/>
          <p:cNvGrpSpPr>
            <a:grpSpLocks/>
          </p:cNvGrpSpPr>
          <p:nvPr/>
        </p:nvGrpSpPr>
        <p:grpSpPr bwMode="auto">
          <a:xfrm>
            <a:off x="611188" y="3789363"/>
            <a:ext cx="5040312" cy="73025"/>
            <a:chOff x="1200" y="2448"/>
            <a:chExt cx="2688" cy="0"/>
          </a:xfrm>
        </p:grpSpPr>
        <p:sp>
          <p:nvSpPr>
            <p:cNvPr id="654342" name="Line 6"/>
            <p:cNvSpPr>
              <a:spLocks noChangeShapeType="1"/>
            </p:cNvSpPr>
            <p:nvPr/>
          </p:nvSpPr>
          <p:spPr bwMode="auto">
            <a:xfrm>
              <a:off x="1200" y="2448"/>
              <a:ext cx="480" cy="0"/>
            </a:xfrm>
            <a:prstGeom prst="line">
              <a:avLst/>
            </a:prstGeom>
            <a:noFill/>
            <a:ln w="3810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654343" name="Line 7"/>
            <p:cNvSpPr>
              <a:spLocks noChangeShapeType="1"/>
            </p:cNvSpPr>
            <p:nvPr/>
          </p:nvSpPr>
          <p:spPr bwMode="auto">
            <a:xfrm>
              <a:off x="3408" y="2448"/>
              <a:ext cx="480" cy="0"/>
            </a:xfrm>
            <a:prstGeom prst="line">
              <a:avLst/>
            </a:prstGeom>
            <a:noFill/>
            <a:ln w="3810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grpSp>
      <p:sp>
        <p:nvSpPr>
          <p:cNvPr id="654344" name="Rectangle 8"/>
          <p:cNvSpPr>
            <a:spLocks noChangeArrowheads="1"/>
          </p:cNvSpPr>
          <p:nvPr/>
        </p:nvSpPr>
        <p:spPr bwMode="auto">
          <a:xfrm>
            <a:off x="1093788" y="5640388"/>
            <a:ext cx="381000" cy="3810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45" name="Rectangle 9"/>
          <p:cNvSpPr>
            <a:spLocks noChangeArrowheads="1"/>
          </p:cNvSpPr>
          <p:nvPr/>
        </p:nvSpPr>
        <p:spPr bwMode="auto">
          <a:xfrm>
            <a:off x="2122488" y="5640388"/>
            <a:ext cx="381000" cy="3810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46" name="Rectangle 10"/>
          <p:cNvSpPr>
            <a:spLocks noChangeArrowheads="1"/>
          </p:cNvSpPr>
          <p:nvPr/>
        </p:nvSpPr>
        <p:spPr bwMode="auto">
          <a:xfrm>
            <a:off x="3130550" y="5640388"/>
            <a:ext cx="381000" cy="3810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47" name="Rectangle 11"/>
          <p:cNvSpPr>
            <a:spLocks noChangeArrowheads="1"/>
          </p:cNvSpPr>
          <p:nvPr/>
        </p:nvSpPr>
        <p:spPr bwMode="auto">
          <a:xfrm>
            <a:off x="5292725" y="4508500"/>
            <a:ext cx="3455988" cy="3810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48" name="Rectangle 12"/>
          <p:cNvSpPr>
            <a:spLocks noChangeArrowheads="1"/>
          </p:cNvSpPr>
          <p:nvPr/>
        </p:nvSpPr>
        <p:spPr bwMode="auto">
          <a:xfrm>
            <a:off x="5292725" y="5013325"/>
            <a:ext cx="3455988" cy="3810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50" name="Rectangle 14"/>
          <p:cNvSpPr>
            <a:spLocks noChangeArrowheads="1"/>
          </p:cNvSpPr>
          <p:nvPr/>
        </p:nvSpPr>
        <p:spPr bwMode="auto">
          <a:xfrm>
            <a:off x="2482850" y="5640388"/>
            <a:ext cx="381000" cy="381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51" name="Rectangle 15"/>
          <p:cNvSpPr>
            <a:spLocks noChangeArrowheads="1"/>
          </p:cNvSpPr>
          <p:nvPr/>
        </p:nvSpPr>
        <p:spPr bwMode="auto">
          <a:xfrm>
            <a:off x="3490913" y="5640388"/>
            <a:ext cx="1152525" cy="381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53" name="Rectangle 17"/>
          <p:cNvSpPr>
            <a:spLocks noChangeArrowheads="1"/>
          </p:cNvSpPr>
          <p:nvPr/>
        </p:nvSpPr>
        <p:spPr bwMode="auto">
          <a:xfrm>
            <a:off x="8101013" y="4508500"/>
            <a:ext cx="381000" cy="381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54" name="Rectangle 18"/>
          <p:cNvSpPr>
            <a:spLocks noChangeArrowheads="1"/>
          </p:cNvSpPr>
          <p:nvPr/>
        </p:nvSpPr>
        <p:spPr bwMode="auto">
          <a:xfrm>
            <a:off x="8101013" y="4005263"/>
            <a:ext cx="381000" cy="381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55" name="Rectangle 19"/>
          <p:cNvSpPr>
            <a:spLocks noChangeArrowheads="1"/>
          </p:cNvSpPr>
          <p:nvPr/>
        </p:nvSpPr>
        <p:spPr bwMode="auto">
          <a:xfrm>
            <a:off x="8101013" y="5013325"/>
            <a:ext cx="381000" cy="381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56" name="Rectangle 20"/>
          <p:cNvSpPr>
            <a:spLocks noChangeArrowheads="1"/>
          </p:cNvSpPr>
          <p:nvPr/>
        </p:nvSpPr>
        <p:spPr bwMode="auto">
          <a:xfrm>
            <a:off x="3995738" y="4559300"/>
            <a:ext cx="381000" cy="381000"/>
          </a:xfrm>
          <a:prstGeom prst="rect">
            <a:avLst/>
          </a:prstGeom>
          <a:noFill/>
          <a:ln w="38100">
            <a:solidFill>
              <a:schemeClr val="accent2"/>
            </a:solidFill>
            <a:miter lim="800000"/>
            <a:headEnd/>
            <a:tailEnd/>
          </a:ln>
          <a:effectLst/>
          <a:extLst>
            <a:ext uri="{909E8E84-426E-40DD-AFC4-6F175D3DCCD1}">
              <a14:hiddenFill xmlns:a14="http://schemas.microsoft.com/office/drawing/2010/main" xmlns="">
                <a:solidFill>
                  <a:srgbClr val="0066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57" name="Rectangle 21"/>
          <p:cNvSpPr>
            <a:spLocks noChangeArrowheads="1"/>
          </p:cNvSpPr>
          <p:nvPr/>
        </p:nvSpPr>
        <p:spPr bwMode="auto">
          <a:xfrm>
            <a:off x="3995738" y="4056063"/>
            <a:ext cx="381000" cy="381000"/>
          </a:xfrm>
          <a:prstGeom prst="rect">
            <a:avLst/>
          </a:prstGeom>
          <a:noFill/>
          <a:ln w="38100">
            <a:solidFill>
              <a:schemeClr val="accent2"/>
            </a:solidFill>
            <a:miter lim="800000"/>
            <a:headEnd/>
            <a:tailEnd/>
          </a:ln>
          <a:effectLst/>
          <a:extLst>
            <a:ext uri="{909E8E84-426E-40DD-AFC4-6F175D3DCCD1}">
              <a14:hiddenFill xmlns:a14="http://schemas.microsoft.com/office/drawing/2010/main" xmlns="">
                <a:solidFill>
                  <a:srgbClr val="0066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58" name="Rectangle 22"/>
          <p:cNvSpPr>
            <a:spLocks noChangeArrowheads="1"/>
          </p:cNvSpPr>
          <p:nvPr/>
        </p:nvSpPr>
        <p:spPr bwMode="auto">
          <a:xfrm>
            <a:off x="3995738" y="5064125"/>
            <a:ext cx="381000" cy="381000"/>
          </a:xfrm>
          <a:prstGeom prst="rect">
            <a:avLst/>
          </a:prstGeom>
          <a:noFill/>
          <a:ln w="38100">
            <a:solidFill>
              <a:schemeClr val="accent2"/>
            </a:solidFill>
            <a:miter lim="800000"/>
            <a:headEnd/>
            <a:tailEnd/>
          </a:ln>
          <a:effectLst/>
          <a:extLst>
            <a:ext uri="{909E8E84-426E-40DD-AFC4-6F175D3DCCD1}">
              <a14:hiddenFill xmlns:a14="http://schemas.microsoft.com/office/drawing/2010/main" xmlns="">
                <a:solidFill>
                  <a:srgbClr val="0066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59" name="Rectangle 23"/>
          <p:cNvSpPr>
            <a:spLocks noChangeArrowheads="1"/>
          </p:cNvSpPr>
          <p:nvPr/>
        </p:nvSpPr>
        <p:spPr bwMode="auto">
          <a:xfrm>
            <a:off x="6661150" y="5589588"/>
            <a:ext cx="1008063" cy="381000"/>
          </a:xfrm>
          <a:prstGeom prst="rect">
            <a:avLst/>
          </a:prstGeom>
          <a:noFill/>
          <a:ln w="38100">
            <a:solidFill>
              <a:schemeClr val="accent2"/>
            </a:solidFill>
            <a:miter lim="800000"/>
            <a:headEnd/>
            <a:tailEnd/>
          </a:ln>
          <a:effectLst/>
          <a:extLst>
            <a:ext uri="{909E8E84-426E-40DD-AFC4-6F175D3DCCD1}">
              <a14:hiddenFill xmlns:a14="http://schemas.microsoft.com/office/drawing/2010/main" xmlns="">
                <a:solidFill>
                  <a:srgbClr val="0066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60" name="Rectangle 24"/>
          <p:cNvSpPr>
            <a:spLocks noChangeArrowheads="1"/>
          </p:cNvSpPr>
          <p:nvPr/>
        </p:nvSpPr>
        <p:spPr bwMode="auto">
          <a:xfrm>
            <a:off x="5653088" y="5589588"/>
            <a:ext cx="381000" cy="381000"/>
          </a:xfrm>
          <a:prstGeom prst="rect">
            <a:avLst/>
          </a:prstGeom>
          <a:noFill/>
          <a:ln w="38100">
            <a:solidFill>
              <a:schemeClr val="accent2"/>
            </a:solidFill>
            <a:miter lim="800000"/>
            <a:headEnd/>
            <a:tailEnd/>
          </a:ln>
          <a:effectLst/>
          <a:extLst>
            <a:ext uri="{909E8E84-426E-40DD-AFC4-6F175D3DCCD1}">
              <a14:hiddenFill xmlns:a14="http://schemas.microsoft.com/office/drawing/2010/main" xmlns="">
                <a:solidFill>
                  <a:srgbClr val="0066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61" name="Rectangle 25"/>
          <p:cNvSpPr>
            <a:spLocks noChangeArrowheads="1"/>
          </p:cNvSpPr>
          <p:nvPr/>
        </p:nvSpPr>
        <p:spPr bwMode="auto">
          <a:xfrm>
            <a:off x="8101013" y="5589588"/>
            <a:ext cx="381000" cy="381000"/>
          </a:xfrm>
          <a:prstGeom prst="rect">
            <a:avLst/>
          </a:prstGeom>
          <a:noFill/>
          <a:ln w="38100">
            <a:solidFill>
              <a:schemeClr val="accent2"/>
            </a:solidFill>
            <a:miter lim="800000"/>
            <a:headEnd/>
            <a:tailEnd/>
          </a:ln>
          <a:effectLst/>
          <a:extLst>
            <a:ext uri="{909E8E84-426E-40DD-AFC4-6F175D3DCCD1}">
              <a14:hiddenFill xmlns:a14="http://schemas.microsoft.com/office/drawing/2010/main" xmlns="">
                <a:solidFill>
                  <a:srgbClr val="0066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4362" name="Rectangle 26"/>
          <p:cNvSpPr>
            <a:spLocks noChangeArrowheads="1"/>
          </p:cNvSpPr>
          <p:nvPr/>
        </p:nvSpPr>
        <p:spPr bwMode="auto">
          <a:xfrm>
            <a:off x="5002465" y="1268759"/>
            <a:ext cx="3817685" cy="17903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lang="zh-CN" altLang="en-US"/>
              <a:t>对偶问题</a:t>
            </a:r>
          </a:p>
          <a:p>
            <a:r>
              <a:rPr lang="zh-CN" altLang="en-US"/>
              <a:t>目标函数</a:t>
            </a:r>
          </a:p>
          <a:p>
            <a:endParaRPr lang="zh-CN" altLang="en-US"/>
          </a:p>
          <a:p>
            <a:r>
              <a:rPr lang="zh-CN" altLang="en-US"/>
              <a:t>目标函数中变量的系数</a:t>
            </a:r>
          </a:p>
          <a:p>
            <a:r>
              <a:rPr lang="zh-CN" altLang="en-US"/>
              <a:t>约束条件右端项</a:t>
            </a:r>
          </a:p>
          <a:p>
            <a:r>
              <a:rPr lang="en-US" altLang="zh-CN"/>
              <a:t>A</a:t>
            </a:r>
            <a:r>
              <a:rPr lang="zh-CN" altLang="en-US"/>
              <a:t>的转置为约束矩阵</a:t>
            </a:r>
          </a:p>
        </p:txBody>
      </p:sp>
      <p:graphicFrame>
        <p:nvGraphicFramePr>
          <p:cNvPr id="654363" name="Object 27"/>
          <p:cNvGraphicFramePr>
            <a:graphicFrameLocks noChangeAspect="1"/>
          </p:cNvGraphicFramePr>
          <p:nvPr>
            <p:extLst>
              <p:ext uri="{D42A27DB-BD31-4B8C-83A1-F6EECF244321}">
                <p14:modId xmlns:p14="http://schemas.microsoft.com/office/powerpoint/2010/main" xmlns="" val="1962575407"/>
              </p:ext>
            </p:extLst>
          </p:nvPr>
        </p:nvGraphicFramePr>
        <p:xfrm>
          <a:off x="2123244" y="1370638"/>
          <a:ext cx="2377319" cy="978242"/>
        </p:xfrm>
        <a:graphic>
          <a:graphicData uri="http://schemas.openxmlformats.org/presentationml/2006/ole">
            <p:oleObj spid="_x0000_s21566" name="Equation" r:id="rId3" imgW="1079032" imgH="444307" progId="">
              <p:embed/>
            </p:oleObj>
          </a:graphicData>
        </a:graphic>
      </p:graphicFrame>
      <p:graphicFrame>
        <p:nvGraphicFramePr>
          <p:cNvPr id="654364" name="Object 28"/>
          <p:cNvGraphicFramePr>
            <a:graphicFrameLocks noChangeAspect="1"/>
          </p:cNvGraphicFramePr>
          <p:nvPr>
            <p:extLst>
              <p:ext uri="{D42A27DB-BD31-4B8C-83A1-F6EECF244321}">
                <p14:modId xmlns:p14="http://schemas.microsoft.com/office/powerpoint/2010/main" xmlns="" val="2315924839"/>
              </p:ext>
            </p:extLst>
          </p:nvPr>
        </p:nvGraphicFramePr>
        <p:xfrm>
          <a:off x="6372200" y="1412776"/>
          <a:ext cx="2267743" cy="929012"/>
        </p:xfrm>
        <a:graphic>
          <a:graphicData uri="http://schemas.openxmlformats.org/presentationml/2006/ole">
            <p:oleObj spid="_x0000_s21567" name="Equation" r:id="rId4" imgW="1054100" imgH="431800" progId="">
              <p:embed/>
            </p:oleObj>
          </a:graphicData>
        </a:graphic>
      </p:graphicFrame>
      <p:graphicFrame>
        <p:nvGraphicFramePr>
          <p:cNvPr id="654365" name="Object 29"/>
          <p:cNvGraphicFramePr>
            <a:graphicFrameLocks noChangeAspect="1"/>
          </p:cNvGraphicFramePr>
          <p:nvPr/>
        </p:nvGraphicFramePr>
        <p:xfrm>
          <a:off x="538163" y="3357563"/>
          <a:ext cx="4681537" cy="2763837"/>
        </p:xfrm>
        <a:graphic>
          <a:graphicData uri="http://schemas.openxmlformats.org/presentationml/2006/ole">
            <p:oleObj spid="_x0000_s21568" name="Equation" r:id="rId5" imgW="2044700" imgH="1206500" progId="">
              <p:embed/>
            </p:oleObj>
          </a:graphicData>
        </a:graphic>
      </p:graphicFrame>
      <p:graphicFrame>
        <p:nvGraphicFramePr>
          <p:cNvPr id="654366" name="Object 30"/>
          <p:cNvGraphicFramePr>
            <a:graphicFrameLocks noChangeAspect="1"/>
          </p:cNvGraphicFramePr>
          <p:nvPr/>
        </p:nvGraphicFramePr>
        <p:xfrm>
          <a:off x="4716463" y="3357563"/>
          <a:ext cx="4103687" cy="2706687"/>
        </p:xfrm>
        <a:graphic>
          <a:graphicData uri="http://schemas.openxmlformats.org/presentationml/2006/ole">
            <p:oleObj spid="_x0000_s21569" name="Equation" r:id="rId6" imgW="1828800" imgH="1206500" progId="">
              <p:embed/>
            </p:oleObj>
          </a:graphicData>
        </a:graphic>
      </p:graphicFrame>
    </p:spTree>
    <p:extLst>
      <p:ext uri="{BB962C8B-B14F-4D97-AF65-F5344CB8AC3E}">
        <p14:creationId xmlns:p14="http://schemas.microsoft.com/office/powerpoint/2010/main" xmlns="" val="23455081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54341"/>
                                        </p:tgtEl>
                                        <p:attrNameLst>
                                          <p:attrName>style.visibility</p:attrName>
                                        </p:attrNameLst>
                                      </p:cBhvr>
                                      <p:to>
                                        <p:strVal val="visible"/>
                                      </p:to>
                                    </p:set>
                                  </p:childTnLst>
                                  <p:subTnLst>
                                    <p:set>
                                      <p:cBhvr override="childStyle">
                                        <p:cTn dur="1" fill="hold" display="0" masterRel="nextClick" afterEffect="1"/>
                                        <p:tgtEl>
                                          <p:spTgt spid="654341"/>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654344"/>
                                        </p:tgtEl>
                                        <p:attrNameLst>
                                          <p:attrName>style.visibility</p:attrName>
                                        </p:attrNameLst>
                                      </p:cBhvr>
                                      <p:to>
                                        <p:strVal val="visible"/>
                                      </p:to>
                                    </p:set>
                                    <p:anim calcmode="lin" valueType="num">
                                      <p:cBhvr additive="base">
                                        <p:cTn id="11" dur="500" fill="hold"/>
                                        <p:tgtEl>
                                          <p:spTgt spid="654344"/>
                                        </p:tgtEl>
                                        <p:attrNameLst>
                                          <p:attrName>ppt_x</p:attrName>
                                        </p:attrNameLst>
                                      </p:cBhvr>
                                      <p:tavLst>
                                        <p:tav tm="0">
                                          <p:val>
                                            <p:strVal val="#ppt_x"/>
                                          </p:val>
                                        </p:tav>
                                        <p:tav tm="100000">
                                          <p:val>
                                            <p:strVal val="#ppt_x"/>
                                          </p:val>
                                        </p:tav>
                                      </p:tavLst>
                                    </p:anim>
                                    <p:anim calcmode="lin" valueType="num">
                                      <p:cBhvr additive="base">
                                        <p:cTn id="12" dur="500" fill="hold"/>
                                        <p:tgtEl>
                                          <p:spTgt spid="65434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54345"/>
                                        </p:tgtEl>
                                        <p:attrNameLst>
                                          <p:attrName>style.visibility</p:attrName>
                                        </p:attrNameLst>
                                      </p:cBhvr>
                                      <p:to>
                                        <p:strVal val="visible"/>
                                      </p:to>
                                    </p:set>
                                    <p:anim calcmode="lin" valueType="num">
                                      <p:cBhvr additive="base">
                                        <p:cTn id="15" dur="500" fill="hold"/>
                                        <p:tgtEl>
                                          <p:spTgt spid="654345"/>
                                        </p:tgtEl>
                                        <p:attrNameLst>
                                          <p:attrName>ppt_x</p:attrName>
                                        </p:attrNameLst>
                                      </p:cBhvr>
                                      <p:tavLst>
                                        <p:tav tm="0">
                                          <p:val>
                                            <p:strVal val="#ppt_x"/>
                                          </p:val>
                                        </p:tav>
                                        <p:tav tm="100000">
                                          <p:val>
                                            <p:strVal val="#ppt_x"/>
                                          </p:val>
                                        </p:tav>
                                      </p:tavLst>
                                    </p:anim>
                                    <p:anim calcmode="lin" valueType="num">
                                      <p:cBhvr additive="base">
                                        <p:cTn id="16" dur="500" fill="hold"/>
                                        <p:tgtEl>
                                          <p:spTgt spid="65434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54346"/>
                                        </p:tgtEl>
                                        <p:attrNameLst>
                                          <p:attrName>style.visibility</p:attrName>
                                        </p:attrNameLst>
                                      </p:cBhvr>
                                      <p:to>
                                        <p:strVal val="visible"/>
                                      </p:to>
                                    </p:set>
                                    <p:anim calcmode="lin" valueType="num">
                                      <p:cBhvr additive="base">
                                        <p:cTn id="19" dur="500" fill="hold"/>
                                        <p:tgtEl>
                                          <p:spTgt spid="654346"/>
                                        </p:tgtEl>
                                        <p:attrNameLst>
                                          <p:attrName>ppt_x</p:attrName>
                                        </p:attrNameLst>
                                      </p:cBhvr>
                                      <p:tavLst>
                                        <p:tav tm="0">
                                          <p:val>
                                            <p:strVal val="#ppt_x"/>
                                          </p:val>
                                        </p:tav>
                                        <p:tav tm="100000">
                                          <p:val>
                                            <p:strVal val="#ppt_x"/>
                                          </p:val>
                                        </p:tav>
                                      </p:tavLst>
                                    </p:anim>
                                    <p:anim calcmode="lin" valueType="num">
                                      <p:cBhvr additive="base">
                                        <p:cTn id="20" dur="500" fill="hold"/>
                                        <p:tgtEl>
                                          <p:spTgt spid="65434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654339"/>
                                        </p:tgtEl>
                                        <p:attrNameLst>
                                          <p:attrName>style.visibility</p:attrName>
                                        </p:attrNameLst>
                                      </p:cBhvr>
                                      <p:to>
                                        <p:strVal val="visible"/>
                                      </p:to>
                                    </p:set>
                                    <p:anim calcmode="lin" valueType="num">
                                      <p:cBhvr additive="base">
                                        <p:cTn id="25" dur="500" fill="hold"/>
                                        <p:tgtEl>
                                          <p:spTgt spid="654339"/>
                                        </p:tgtEl>
                                        <p:attrNameLst>
                                          <p:attrName>ppt_x</p:attrName>
                                        </p:attrNameLst>
                                      </p:cBhvr>
                                      <p:tavLst>
                                        <p:tav tm="0">
                                          <p:val>
                                            <p:strVal val="1+#ppt_w/2"/>
                                          </p:val>
                                        </p:tav>
                                        <p:tav tm="100000">
                                          <p:val>
                                            <p:strVal val="#ppt_x"/>
                                          </p:val>
                                        </p:tav>
                                      </p:tavLst>
                                    </p:anim>
                                    <p:anim calcmode="lin" valueType="num">
                                      <p:cBhvr additive="base">
                                        <p:cTn id="26" dur="500" fill="hold"/>
                                        <p:tgtEl>
                                          <p:spTgt spid="654339"/>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654347"/>
                                        </p:tgtEl>
                                        <p:attrNameLst>
                                          <p:attrName>style.visibility</p:attrName>
                                        </p:attrNameLst>
                                      </p:cBhvr>
                                      <p:to>
                                        <p:strVal val="visible"/>
                                      </p:to>
                                    </p:set>
                                    <p:anim calcmode="lin" valueType="num">
                                      <p:cBhvr additive="base">
                                        <p:cTn id="29" dur="500" fill="hold"/>
                                        <p:tgtEl>
                                          <p:spTgt spid="654347"/>
                                        </p:tgtEl>
                                        <p:attrNameLst>
                                          <p:attrName>ppt_x</p:attrName>
                                        </p:attrNameLst>
                                      </p:cBhvr>
                                      <p:tavLst>
                                        <p:tav tm="0">
                                          <p:val>
                                            <p:strVal val="1+#ppt_w/2"/>
                                          </p:val>
                                        </p:tav>
                                        <p:tav tm="100000">
                                          <p:val>
                                            <p:strVal val="#ppt_x"/>
                                          </p:val>
                                        </p:tav>
                                      </p:tavLst>
                                    </p:anim>
                                    <p:anim calcmode="lin" valueType="num">
                                      <p:cBhvr additive="base">
                                        <p:cTn id="30" dur="500" fill="hold"/>
                                        <p:tgtEl>
                                          <p:spTgt spid="654347"/>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654348"/>
                                        </p:tgtEl>
                                        <p:attrNameLst>
                                          <p:attrName>style.visibility</p:attrName>
                                        </p:attrNameLst>
                                      </p:cBhvr>
                                      <p:to>
                                        <p:strVal val="visible"/>
                                      </p:to>
                                    </p:set>
                                    <p:anim calcmode="lin" valueType="num">
                                      <p:cBhvr additive="base">
                                        <p:cTn id="33" dur="500" fill="hold"/>
                                        <p:tgtEl>
                                          <p:spTgt spid="654348"/>
                                        </p:tgtEl>
                                        <p:attrNameLst>
                                          <p:attrName>ppt_x</p:attrName>
                                        </p:attrNameLst>
                                      </p:cBhvr>
                                      <p:tavLst>
                                        <p:tav tm="0">
                                          <p:val>
                                            <p:strVal val="1+#ppt_w/2"/>
                                          </p:val>
                                        </p:tav>
                                        <p:tav tm="100000">
                                          <p:val>
                                            <p:strVal val="#ppt_x"/>
                                          </p:val>
                                        </p:tav>
                                      </p:tavLst>
                                    </p:anim>
                                    <p:anim calcmode="lin" valueType="num">
                                      <p:cBhvr additive="base">
                                        <p:cTn id="34" dur="500" fill="hold"/>
                                        <p:tgtEl>
                                          <p:spTgt spid="654348"/>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65434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654354"/>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65435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654353"/>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654351"/>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654355"/>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654357"/>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654360"/>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654356"/>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654359"/>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654358"/>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0"/>
                                          </p:stCondLst>
                                        </p:cTn>
                                        <p:tgtEl>
                                          <p:spTgt spid="6543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4" name="Group 24"/>
          <p:cNvGraphicFramePr>
            <a:graphicFrameLocks noGrp="1"/>
          </p:cNvGraphicFramePr>
          <p:nvPr/>
        </p:nvGraphicFramePr>
        <p:xfrm>
          <a:off x="539750" y="908050"/>
          <a:ext cx="8154988" cy="5741988"/>
        </p:xfrm>
        <a:graphic>
          <a:graphicData uri="http://schemas.openxmlformats.org/drawingml/2006/table">
            <a:tbl>
              <a:tblPr/>
              <a:tblGrid>
                <a:gridCol w="3965575">
                  <a:extLst>
                    <a:ext uri="{9D8B030D-6E8A-4147-A177-3AD203B41FA5}">
                      <a16:colId xmlns:a16="http://schemas.microsoft.com/office/drawing/2014/main" xmlns="" val="1645551465"/>
                    </a:ext>
                  </a:extLst>
                </a:gridCol>
                <a:gridCol w="4189413">
                  <a:extLst>
                    <a:ext uri="{9D8B030D-6E8A-4147-A177-3AD203B41FA5}">
                      <a16:colId xmlns:a16="http://schemas.microsoft.com/office/drawing/2014/main" xmlns="" val="2091731719"/>
                    </a:ext>
                  </a:extLst>
                </a:gridCol>
              </a:tblGrid>
              <a:tr h="4921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原问题</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或对偶问题</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对偶问题</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或原问题</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4045307223"/>
                  </a:ext>
                </a:extLst>
              </a:tr>
              <a:tr h="23876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目标函数</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maxZ</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n</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个</a:t>
                      </a: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变量</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变量≥</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变量≤</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变量无限制</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目标函数</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minW</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n</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个</a:t>
                      </a: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约束</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约束≥</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约束≤</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约束</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180077833"/>
                  </a:ext>
                </a:extLst>
              </a:tr>
              <a:tr h="28622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约束</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m</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个</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约束≤</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约束≥</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约束</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约束右端项</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目标函数系数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m</a:t>
                      </a: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个</a:t>
                      </a:r>
                      <a:r>
                        <a:rPr kumimoji="1" lang="zh-CN" altLang="en-US" sz="2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rPr>
                        <a:t>变量</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变量≥</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变量≤ </a:t>
                      </a: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变量无限制</a:t>
                      </a:r>
                    </a:p>
                    <a:p>
                      <a:pPr marL="0" marR="0" lvl="0" indent="0" algn="ctr" defTabSz="914400" rtl="0" eaLnBrk="0" fontAlgn="base" latinLnBrk="0" hangingPunct="0">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目标函数系数</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约束右端项</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625613059"/>
                  </a:ext>
                </a:extLst>
              </a:tr>
            </a:tbl>
          </a:graphicData>
        </a:graphic>
      </p:graphicFrame>
      <p:sp>
        <p:nvSpPr>
          <p:cNvPr id="81940" name="Text Box 20"/>
          <p:cNvSpPr txBox="1">
            <a:spLocks noChangeArrowheads="1"/>
          </p:cNvSpPr>
          <p:nvPr/>
        </p:nvSpPr>
        <p:spPr bwMode="auto">
          <a:xfrm>
            <a:off x="251519" y="548680"/>
            <a:ext cx="860990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dirty="0"/>
              <a:t>原模型与对偶模型之间的关系</a:t>
            </a:r>
          </a:p>
        </p:txBody>
      </p:sp>
    </p:spTree>
    <p:extLst>
      <p:ext uri="{BB962C8B-B14F-4D97-AF65-F5344CB8AC3E}">
        <p14:creationId xmlns:p14="http://schemas.microsoft.com/office/powerpoint/2010/main" xmlns="" val="1730242238"/>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2195513" y="2924944"/>
            <a:ext cx="6324600" cy="3743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spcBef>
                <a:spcPct val="50000"/>
              </a:spcBef>
            </a:pPr>
            <a:endParaRPr lang="en-US" altLang="zh-CN" sz="2400" b="0" dirty="0"/>
          </a:p>
          <a:p>
            <a:pPr algn="ctr" eaLnBrk="0" hangingPunct="0">
              <a:spcBef>
                <a:spcPct val="50000"/>
              </a:spcBef>
            </a:pPr>
            <a:r>
              <a:rPr lang="en-US" altLang="zh-CN" sz="2400" i="1" dirty="0"/>
              <a:t>Max w=5y</a:t>
            </a:r>
            <a:r>
              <a:rPr lang="en-US" altLang="zh-CN" sz="2400" i="1" baseline="-25000" dirty="0"/>
              <a:t>1</a:t>
            </a:r>
            <a:r>
              <a:rPr lang="en-US" altLang="zh-CN" sz="2400" i="1" dirty="0"/>
              <a:t>+4y</a:t>
            </a:r>
            <a:r>
              <a:rPr lang="en-US" altLang="zh-CN" sz="2400" i="1" baseline="-25000" dirty="0"/>
              <a:t>2</a:t>
            </a:r>
            <a:r>
              <a:rPr lang="en-US" altLang="zh-CN" sz="2400" i="1" dirty="0"/>
              <a:t>+6y</a:t>
            </a:r>
            <a:r>
              <a:rPr lang="en-US" altLang="zh-CN" sz="2400" i="1" baseline="-25000" dirty="0"/>
              <a:t>3</a:t>
            </a:r>
          </a:p>
          <a:p>
            <a:pPr eaLnBrk="0" hangingPunct="0">
              <a:spcBef>
                <a:spcPct val="50000"/>
              </a:spcBef>
            </a:pPr>
            <a:r>
              <a:rPr lang="en-US" altLang="zh-CN" sz="2400" i="1" dirty="0"/>
              <a:t>                           y</a:t>
            </a:r>
            <a:r>
              <a:rPr lang="en-US" altLang="zh-CN" sz="2400" i="1" baseline="-25000" dirty="0"/>
              <a:t>1 </a:t>
            </a:r>
            <a:r>
              <a:rPr lang="en-US" altLang="zh-CN" sz="2400" i="1" dirty="0"/>
              <a:t>+2y</a:t>
            </a:r>
            <a:r>
              <a:rPr lang="en-US" altLang="zh-CN" sz="2400" i="1" baseline="-25000" dirty="0"/>
              <a:t>2</a:t>
            </a:r>
          </a:p>
          <a:p>
            <a:pPr eaLnBrk="0" hangingPunct="0">
              <a:spcBef>
                <a:spcPct val="50000"/>
              </a:spcBef>
            </a:pPr>
            <a:r>
              <a:rPr lang="en-US" altLang="zh-CN" sz="2400" i="1" dirty="0"/>
              <a:t>                           y</a:t>
            </a:r>
            <a:r>
              <a:rPr lang="en-US" altLang="zh-CN" sz="2400" i="1" baseline="-25000" dirty="0"/>
              <a:t>1</a:t>
            </a:r>
            <a:r>
              <a:rPr lang="en-US" altLang="zh-CN" sz="2400" i="1" dirty="0"/>
              <a:t>         + y</a:t>
            </a:r>
            <a:r>
              <a:rPr lang="en-US" altLang="zh-CN" sz="2400" i="1" baseline="-25000" dirty="0"/>
              <a:t>3</a:t>
            </a:r>
          </a:p>
          <a:p>
            <a:pPr eaLnBrk="0" hangingPunct="0">
              <a:spcBef>
                <a:spcPct val="50000"/>
              </a:spcBef>
            </a:pPr>
            <a:r>
              <a:rPr lang="en-US" altLang="zh-CN" sz="2400" i="1" dirty="0"/>
              <a:t>                        -3y</a:t>
            </a:r>
            <a:r>
              <a:rPr lang="en-US" altLang="zh-CN" sz="2400" i="1" baseline="-25000" dirty="0"/>
              <a:t>1 </a:t>
            </a:r>
            <a:r>
              <a:rPr lang="en-US" altLang="zh-CN" sz="2400" i="1" dirty="0"/>
              <a:t>+2y</a:t>
            </a:r>
            <a:r>
              <a:rPr lang="en-US" altLang="zh-CN" sz="2400" i="1" baseline="-25000" dirty="0"/>
              <a:t>2 </a:t>
            </a:r>
            <a:r>
              <a:rPr lang="en-US" altLang="zh-CN" sz="2400" i="1" dirty="0"/>
              <a:t>+y</a:t>
            </a:r>
            <a:r>
              <a:rPr lang="en-US" altLang="zh-CN" sz="2400" i="1" baseline="-25000" dirty="0"/>
              <a:t>3</a:t>
            </a:r>
          </a:p>
          <a:p>
            <a:pPr eaLnBrk="0" hangingPunct="0">
              <a:spcBef>
                <a:spcPct val="50000"/>
              </a:spcBef>
            </a:pPr>
            <a:r>
              <a:rPr lang="en-US" altLang="zh-CN" sz="2400" i="1" dirty="0"/>
              <a:t>                           y</a:t>
            </a:r>
            <a:r>
              <a:rPr lang="en-US" altLang="zh-CN" sz="2400" i="1" baseline="-25000" dirty="0"/>
              <a:t>1 </a:t>
            </a:r>
            <a:r>
              <a:rPr lang="en-US" altLang="zh-CN" sz="2400" i="1" dirty="0"/>
              <a:t>- y</a:t>
            </a:r>
            <a:r>
              <a:rPr lang="en-US" altLang="zh-CN" sz="2400" i="1" baseline="-25000" dirty="0"/>
              <a:t>2</a:t>
            </a:r>
            <a:r>
              <a:rPr lang="en-US" altLang="zh-CN" sz="2400" i="1" dirty="0"/>
              <a:t>   +y</a:t>
            </a:r>
            <a:r>
              <a:rPr lang="en-US" altLang="zh-CN" sz="2400" i="1" baseline="-25000" dirty="0"/>
              <a:t>3</a:t>
            </a:r>
          </a:p>
          <a:p>
            <a:pPr eaLnBrk="0" hangingPunct="0">
              <a:spcBef>
                <a:spcPct val="50000"/>
              </a:spcBef>
            </a:pPr>
            <a:endParaRPr lang="en-US" altLang="zh-CN" sz="2400" i="1" dirty="0"/>
          </a:p>
        </p:txBody>
      </p:sp>
      <p:sp>
        <p:nvSpPr>
          <p:cNvPr id="82947" name="Text Box 3"/>
          <p:cNvSpPr txBox="1">
            <a:spLocks noChangeArrowheads="1"/>
          </p:cNvSpPr>
          <p:nvPr/>
        </p:nvSpPr>
        <p:spPr bwMode="auto">
          <a:xfrm>
            <a:off x="6132513" y="3997325"/>
            <a:ext cx="744537" cy="2100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sz="2400" i="1"/>
              <a:t>≥</a:t>
            </a:r>
          </a:p>
          <a:p>
            <a:pPr eaLnBrk="0" hangingPunct="0">
              <a:spcBef>
                <a:spcPct val="50000"/>
              </a:spcBef>
            </a:pPr>
            <a:r>
              <a:rPr lang="en-US" altLang="zh-CN" sz="2400" i="1"/>
              <a:t>≤</a:t>
            </a:r>
          </a:p>
          <a:p>
            <a:pPr eaLnBrk="0" hangingPunct="0">
              <a:spcBef>
                <a:spcPct val="50000"/>
              </a:spcBef>
            </a:pPr>
            <a:r>
              <a:rPr lang="en-US" altLang="zh-CN" sz="2400" i="1"/>
              <a:t>≤</a:t>
            </a:r>
          </a:p>
          <a:p>
            <a:pPr eaLnBrk="0" hangingPunct="0">
              <a:spcBef>
                <a:spcPct val="50000"/>
              </a:spcBef>
            </a:pPr>
            <a:r>
              <a:rPr lang="en-US" altLang="zh-CN" sz="2400" i="1"/>
              <a:t>=</a:t>
            </a:r>
          </a:p>
        </p:txBody>
      </p:sp>
      <p:sp>
        <p:nvSpPr>
          <p:cNvPr id="82948" name="Text Box 4"/>
          <p:cNvSpPr txBox="1">
            <a:spLocks noChangeArrowheads="1"/>
          </p:cNvSpPr>
          <p:nvPr/>
        </p:nvSpPr>
        <p:spPr bwMode="auto">
          <a:xfrm>
            <a:off x="4303713" y="6054725"/>
            <a:ext cx="398621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sz="2400" i="1"/>
              <a:t>y</a:t>
            </a:r>
            <a:r>
              <a:rPr lang="en-US" altLang="zh-CN" sz="2400" i="1" baseline="-25000"/>
              <a:t>1</a:t>
            </a:r>
            <a:r>
              <a:rPr lang="en-US" altLang="zh-CN" sz="2400" i="1"/>
              <a:t>≥0,  y</a:t>
            </a:r>
            <a:r>
              <a:rPr lang="en-US" altLang="zh-CN" sz="2400" i="1" baseline="-25000"/>
              <a:t>2</a:t>
            </a:r>
            <a:r>
              <a:rPr lang="en-US" altLang="zh-CN" sz="2400" i="1"/>
              <a:t>≤0,  y</a:t>
            </a:r>
            <a:r>
              <a:rPr lang="en-US" altLang="zh-CN" sz="2400" i="1" baseline="-25000"/>
              <a:t>3</a:t>
            </a:r>
            <a:r>
              <a:rPr lang="zh-CN" altLang="en-US" sz="2400" b="0"/>
              <a:t>无约束</a:t>
            </a:r>
          </a:p>
        </p:txBody>
      </p:sp>
      <p:sp>
        <p:nvSpPr>
          <p:cNvPr id="82949" name="Rectangle 5"/>
          <p:cNvSpPr>
            <a:spLocks noChangeArrowheads="1"/>
          </p:cNvSpPr>
          <p:nvPr/>
        </p:nvSpPr>
        <p:spPr bwMode="auto">
          <a:xfrm>
            <a:off x="468313" y="3429000"/>
            <a:ext cx="2663825" cy="16303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a:latin typeface="宋体" panose="02010600030101010101" pitchFamily="2" charset="-122"/>
              </a:rPr>
              <a:t>设对偶变量为</a:t>
            </a:r>
            <a:r>
              <a:rPr lang="en-US" altLang="zh-CN">
                <a:latin typeface="宋体" panose="02010600030101010101" pitchFamily="2" charset="-122"/>
              </a:rPr>
              <a:t>y</a:t>
            </a:r>
            <a:r>
              <a:rPr lang="en-US" altLang="zh-CN" baseline="-25000">
                <a:latin typeface="宋体" panose="02010600030101010101" pitchFamily="2" charset="-122"/>
              </a:rPr>
              <a:t>1</a:t>
            </a:r>
            <a:r>
              <a:rPr lang="en-US" altLang="zh-CN">
                <a:latin typeface="宋体" panose="02010600030101010101" pitchFamily="2" charset="-122"/>
              </a:rPr>
              <a:t>,y</a:t>
            </a:r>
            <a:r>
              <a:rPr lang="en-US" altLang="zh-CN" baseline="-25000">
                <a:latin typeface="宋体" panose="02010600030101010101" pitchFamily="2" charset="-122"/>
              </a:rPr>
              <a:t>2</a:t>
            </a:r>
            <a:r>
              <a:rPr lang="en-US" altLang="zh-CN">
                <a:latin typeface="宋体" panose="02010600030101010101" pitchFamily="2" charset="-122"/>
              </a:rPr>
              <a:t>,y</a:t>
            </a:r>
            <a:r>
              <a:rPr lang="en-US" altLang="zh-CN" baseline="-25000">
                <a:latin typeface="宋体" panose="02010600030101010101" pitchFamily="2" charset="-122"/>
              </a:rPr>
              <a:t>3</a:t>
            </a:r>
            <a:r>
              <a:rPr lang="en-US" altLang="zh-CN">
                <a:latin typeface="宋体" panose="02010600030101010101" pitchFamily="2" charset="-122"/>
              </a:rPr>
              <a:t>,</a:t>
            </a:r>
            <a:r>
              <a:rPr lang="zh-CN" altLang="en-US">
                <a:latin typeface="宋体" panose="02010600030101010101" pitchFamily="2" charset="-122"/>
              </a:rPr>
              <a:t>对偶问题模型为：</a:t>
            </a:r>
          </a:p>
        </p:txBody>
      </p:sp>
      <p:sp>
        <p:nvSpPr>
          <p:cNvPr id="82950" name="Text Box 6"/>
          <p:cNvSpPr txBox="1">
            <a:spLocks noChangeArrowheads="1"/>
          </p:cNvSpPr>
          <p:nvPr/>
        </p:nvSpPr>
        <p:spPr bwMode="auto">
          <a:xfrm>
            <a:off x="112713" y="461169"/>
            <a:ext cx="8382000"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dirty="0"/>
              <a:t>      【</a:t>
            </a:r>
            <a:r>
              <a:rPr lang="zh-CN" altLang="en-US" dirty="0"/>
              <a:t>例</a:t>
            </a:r>
            <a:r>
              <a:rPr lang="en-US" altLang="zh-CN" dirty="0"/>
              <a:t>4-4】</a:t>
            </a:r>
            <a:r>
              <a:rPr lang="zh-CN" altLang="en-US" dirty="0"/>
              <a:t>写出下列线性规划模型的对偶模型</a:t>
            </a:r>
          </a:p>
        </p:txBody>
      </p:sp>
      <p:graphicFrame>
        <p:nvGraphicFramePr>
          <p:cNvPr id="82951" name="Object 7"/>
          <p:cNvGraphicFramePr>
            <a:graphicFrameLocks noChangeAspect="1"/>
          </p:cNvGraphicFramePr>
          <p:nvPr/>
        </p:nvGraphicFramePr>
        <p:xfrm>
          <a:off x="2195513" y="936625"/>
          <a:ext cx="4391025" cy="2276475"/>
        </p:xfrm>
        <a:graphic>
          <a:graphicData uri="http://schemas.openxmlformats.org/presentationml/2006/ole">
            <p:oleObj spid="_x0000_s22545" name="Equation" r:id="rId3" imgW="4394200" imgH="2273300" progId="">
              <p:embed/>
            </p:oleObj>
          </a:graphicData>
        </a:graphic>
      </p:graphicFrame>
      <p:sp>
        <p:nvSpPr>
          <p:cNvPr id="82952" name="Text Box 8"/>
          <p:cNvSpPr txBox="1">
            <a:spLocks noChangeArrowheads="1"/>
          </p:cNvSpPr>
          <p:nvPr/>
        </p:nvSpPr>
        <p:spPr bwMode="auto">
          <a:xfrm>
            <a:off x="6732588" y="3933825"/>
            <a:ext cx="647700" cy="2100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sz="2400" i="1"/>
              <a:t>2</a:t>
            </a:r>
          </a:p>
          <a:p>
            <a:pPr eaLnBrk="0" hangingPunct="0">
              <a:spcBef>
                <a:spcPct val="50000"/>
              </a:spcBef>
            </a:pPr>
            <a:r>
              <a:rPr lang="en-US" altLang="zh-CN" sz="2400" i="1"/>
              <a:t>3</a:t>
            </a:r>
          </a:p>
          <a:p>
            <a:pPr eaLnBrk="0" hangingPunct="0">
              <a:spcBef>
                <a:spcPct val="50000"/>
              </a:spcBef>
            </a:pPr>
            <a:r>
              <a:rPr lang="en-US" altLang="zh-CN" sz="2400" i="1"/>
              <a:t>-5</a:t>
            </a:r>
          </a:p>
          <a:p>
            <a:pPr eaLnBrk="0" hangingPunct="0">
              <a:spcBef>
                <a:spcPct val="50000"/>
              </a:spcBef>
            </a:pPr>
            <a:r>
              <a:rPr lang="en-US" altLang="zh-CN" sz="2400" i="1"/>
              <a:t>1</a:t>
            </a:r>
          </a:p>
        </p:txBody>
      </p:sp>
    </p:spTree>
    <p:extLst>
      <p:ext uri="{BB962C8B-B14F-4D97-AF65-F5344CB8AC3E}">
        <p14:creationId xmlns:p14="http://schemas.microsoft.com/office/powerpoint/2010/main" xmlns="" val="12771385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9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82946"/>
                                        </p:tgtEl>
                                        <p:attrNameLst>
                                          <p:attrName>style.visibility</p:attrName>
                                        </p:attrNameLst>
                                      </p:cBhvr>
                                      <p:to>
                                        <p:strVal val="visible"/>
                                      </p:to>
                                    </p:set>
                                    <p:anim calcmode="lin" valueType="num">
                                      <p:cBhvr additive="base">
                                        <p:cTn id="11" dur="500" fill="hold"/>
                                        <p:tgtEl>
                                          <p:spTgt spid="82946"/>
                                        </p:tgtEl>
                                        <p:attrNameLst>
                                          <p:attrName>ppt_x</p:attrName>
                                        </p:attrNameLst>
                                      </p:cBhvr>
                                      <p:tavLst>
                                        <p:tav tm="0">
                                          <p:val>
                                            <p:strVal val="0-#ppt_w/2"/>
                                          </p:val>
                                        </p:tav>
                                        <p:tav tm="100000">
                                          <p:val>
                                            <p:strVal val="#ppt_x"/>
                                          </p:val>
                                        </p:tav>
                                      </p:tavLst>
                                    </p:anim>
                                    <p:anim calcmode="lin" valueType="num">
                                      <p:cBhvr additive="base">
                                        <p:cTn id="12" dur="500" fill="hold"/>
                                        <p:tgtEl>
                                          <p:spTgt spid="82946"/>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82952"/>
                                        </p:tgtEl>
                                        <p:attrNameLst>
                                          <p:attrName>style.visibility</p:attrName>
                                        </p:attrNameLst>
                                      </p:cBhvr>
                                      <p:to>
                                        <p:strVal val="visible"/>
                                      </p:to>
                                    </p:set>
                                    <p:anim calcmode="lin" valueType="num">
                                      <p:cBhvr additive="base">
                                        <p:cTn id="17" dur="500" fill="hold"/>
                                        <p:tgtEl>
                                          <p:spTgt spid="82952"/>
                                        </p:tgtEl>
                                        <p:attrNameLst>
                                          <p:attrName>ppt_x</p:attrName>
                                        </p:attrNameLst>
                                      </p:cBhvr>
                                      <p:tavLst>
                                        <p:tav tm="0">
                                          <p:val>
                                            <p:strVal val="1+#ppt_w/2"/>
                                          </p:val>
                                        </p:tav>
                                        <p:tav tm="100000">
                                          <p:val>
                                            <p:strVal val="#ppt_x"/>
                                          </p:val>
                                        </p:tav>
                                      </p:tavLst>
                                    </p:anim>
                                    <p:anim calcmode="lin" valueType="num">
                                      <p:cBhvr additive="base">
                                        <p:cTn id="18" dur="500" fill="hold"/>
                                        <p:tgtEl>
                                          <p:spTgt spid="82952"/>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82947"/>
                                        </p:tgtEl>
                                        <p:attrNameLst>
                                          <p:attrName>style.visibility</p:attrName>
                                        </p:attrNameLst>
                                      </p:cBhvr>
                                      <p:to>
                                        <p:strVal val="visible"/>
                                      </p:to>
                                    </p:set>
                                    <p:anim calcmode="lin" valueType="num">
                                      <p:cBhvr additive="base">
                                        <p:cTn id="23" dur="500" fill="hold"/>
                                        <p:tgtEl>
                                          <p:spTgt spid="82947"/>
                                        </p:tgtEl>
                                        <p:attrNameLst>
                                          <p:attrName>ppt_x</p:attrName>
                                        </p:attrNameLst>
                                      </p:cBhvr>
                                      <p:tavLst>
                                        <p:tav tm="0">
                                          <p:val>
                                            <p:strVal val="1+#ppt_w/2"/>
                                          </p:val>
                                        </p:tav>
                                        <p:tav tm="100000">
                                          <p:val>
                                            <p:strVal val="#ppt_x"/>
                                          </p:val>
                                        </p:tav>
                                      </p:tavLst>
                                    </p:anim>
                                    <p:anim calcmode="lin" valueType="num">
                                      <p:cBhvr additive="base">
                                        <p:cTn id="24" dur="500" fill="hold"/>
                                        <p:tgtEl>
                                          <p:spTgt spid="82947"/>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82948"/>
                                        </p:tgtEl>
                                        <p:attrNameLst>
                                          <p:attrName>style.visibility</p:attrName>
                                        </p:attrNameLst>
                                      </p:cBhvr>
                                      <p:to>
                                        <p:strVal val="visible"/>
                                      </p:to>
                                    </p:set>
                                    <p:animEffect transition="in" filter="slide(fromBottom)">
                                      <p:cBhvr>
                                        <p:cTn id="29" dur="500"/>
                                        <p:tgtEl>
                                          <p:spTgt spid="82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autoUpdateAnimBg="0"/>
      <p:bldP spid="82947" grpId="0" autoUpdateAnimBg="0"/>
      <p:bldP spid="82948" grpId="0" autoUpdateAnimBg="0"/>
      <p:bldP spid="82949" grpId="0"/>
      <p:bldP spid="8295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6386" name="Group 2"/>
          <p:cNvGrpSpPr>
            <a:grpSpLocks/>
          </p:cNvGrpSpPr>
          <p:nvPr/>
        </p:nvGrpSpPr>
        <p:grpSpPr bwMode="auto">
          <a:xfrm>
            <a:off x="3733800" y="914400"/>
            <a:ext cx="381000" cy="1219200"/>
            <a:chOff x="2352" y="576"/>
            <a:chExt cx="240" cy="768"/>
          </a:xfrm>
        </p:grpSpPr>
        <p:sp>
          <p:nvSpPr>
            <p:cNvPr id="656387" name="Oval 3"/>
            <p:cNvSpPr>
              <a:spLocks noChangeArrowheads="1"/>
            </p:cNvSpPr>
            <p:nvPr/>
          </p:nvSpPr>
          <p:spPr bwMode="auto">
            <a:xfrm>
              <a:off x="2352" y="576"/>
              <a:ext cx="192" cy="240"/>
            </a:xfrm>
            <a:prstGeom prst="ellipse">
              <a:avLst/>
            </a:prstGeom>
            <a:solidFill>
              <a:srgbClr val="FFFF66"/>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56388" name="Oval 4"/>
            <p:cNvSpPr>
              <a:spLocks noChangeArrowheads="1"/>
            </p:cNvSpPr>
            <p:nvPr/>
          </p:nvSpPr>
          <p:spPr bwMode="auto">
            <a:xfrm>
              <a:off x="2400" y="1104"/>
              <a:ext cx="192" cy="240"/>
            </a:xfrm>
            <a:prstGeom prst="ellipse">
              <a:avLst/>
            </a:prstGeom>
            <a:solidFill>
              <a:srgbClr val="FFFF66"/>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pSp>
      <p:sp>
        <p:nvSpPr>
          <p:cNvPr id="656389" name="Oval 5"/>
          <p:cNvSpPr>
            <a:spLocks noChangeArrowheads="1"/>
          </p:cNvSpPr>
          <p:nvPr/>
        </p:nvSpPr>
        <p:spPr bwMode="auto">
          <a:xfrm>
            <a:off x="457200" y="533400"/>
            <a:ext cx="838200" cy="457200"/>
          </a:xfrm>
          <a:prstGeom prst="ellipse">
            <a:avLst/>
          </a:prstGeom>
          <a:solidFill>
            <a:srgbClr val="FFFF66"/>
          </a:solidFill>
          <a:ln w="9525">
            <a:solidFill>
              <a:srgbClr val="CC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aphicFrame>
        <p:nvGraphicFramePr>
          <p:cNvPr id="656390" name="Object 6"/>
          <p:cNvGraphicFramePr>
            <a:graphicFrameLocks noChangeAspect="1"/>
          </p:cNvGraphicFramePr>
          <p:nvPr/>
        </p:nvGraphicFramePr>
        <p:xfrm>
          <a:off x="533400" y="457200"/>
          <a:ext cx="4038600" cy="2171700"/>
        </p:xfrm>
        <a:graphic>
          <a:graphicData uri="http://schemas.openxmlformats.org/presentationml/2006/ole">
            <p:oleObj spid="_x0000_s23719" name="Equation" r:id="rId3" imgW="1345616" imgH="723586" progId="Equation.3">
              <p:embed/>
            </p:oleObj>
          </a:graphicData>
        </a:graphic>
      </p:graphicFrame>
      <p:graphicFrame>
        <p:nvGraphicFramePr>
          <p:cNvPr id="656391" name="Object 7"/>
          <p:cNvGraphicFramePr>
            <a:graphicFrameLocks noChangeAspect="1"/>
          </p:cNvGraphicFramePr>
          <p:nvPr/>
        </p:nvGraphicFramePr>
        <p:xfrm>
          <a:off x="4648200" y="381000"/>
          <a:ext cx="4343400" cy="2171700"/>
        </p:xfrm>
        <a:graphic>
          <a:graphicData uri="http://schemas.openxmlformats.org/presentationml/2006/ole">
            <p:oleObj spid="_x0000_s23720" name="Equation" r:id="rId4" imgW="1447172" imgH="723586" progId="Equation.3">
              <p:embed/>
            </p:oleObj>
          </a:graphicData>
        </a:graphic>
      </p:graphicFrame>
      <p:graphicFrame>
        <p:nvGraphicFramePr>
          <p:cNvPr id="656392" name="Object 8"/>
          <p:cNvGraphicFramePr>
            <a:graphicFrameLocks noChangeAspect="1"/>
          </p:cNvGraphicFramePr>
          <p:nvPr/>
        </p:nvGraphicFramePr>
        <p:xfrm>
          <a:off x="4495800" y="838200"/>
          <a:ext cx="558800" cy="1377950"/>
        </p:xfrm>
        <a:graphic>
          <a:graphicData uri="http://schemas.openxmlformats.org/presentationml/2006/ole">
            <p:oleObj spid="_x0000_s23721" name="Equation" r:id="rId5" imgW="190417" imgH="469696" progId="Equation.3">
              <p:embed/>
            </p:oleObj>
          </a:graphicData>
        </a:graphic>
      </p:graphicFrame>
      <p:graphicFrame>
        <p:nvGraphicFramePr>
          <p:cNvPr id="656393" name="Object 9"/>
          <p:cNvGraphicFramePr>
            <a:graphicFrameLocks noChangeAspect="1"/>
          </p:cNvGraphicFramePr>
          <p:nvPr/>
        </p:nvGraphicFramePr>
        <p:xfrm>
          <a:off x="4572000" y="2971800"/>
          <a:ext cx="4495800" cy="2228850"/>
        </p:xfrm>
        <a:graphic>
          <a:graphicData uri="http://schemas.openxmlformats.org/presentationml/2006/ole">
            <p:oleObj spid="_x0000_s23722" name="Equation" r:id="rId6" imgW="1459866" imgH="723586" progId="Equation.3">
              <p:embed/>
            </p:oleObj>
          </a:graphicData>
        </a:graphic>
      </p:graphicFrame>
      <p:graphicFrame>
        <p:nvGraphicFramePr>
          <p:cNvPr id="656394" name="Object 10"/>
          <p:cNvGraphicFramePr>
            <a:graphicFrameLocks noChangeAspect="1"/>
          </p:cNvGraphicFramePr>
          <p:nvPr/>
        </p:nvGraphicFramePr>
        <p:xfrm>
          <a:off x="304800" y="2895600"/>
          <a:ext cx="4340225" cy="898525"/>
        </p:xfrm>
        <a:graphic>
          <a:graphicData uri="http://schemas.openxmlformats.org/presentationml/2006/ole">
            <p:oleObj spid="_x0000_s23723" name="Equation" r:id="rId7" imgW="1409088" imgH="317362" progId="Equation.3">
              <p:embed/>
            </p:oleObj>
          </a:graphicData>
        </a:graphic>
      </p:graphicFrame>
      <p:graphicFrame>
        <p:nvGraphicFramePr>
          <p:cNvPr id="656395" name="Object 11"/>
          <p:cNvGraphicFramePr>
            <a:graphicFrameLocks noChangeAspect="1"/>
          </p:cNvGraphicFramePr>
          <p:nvPr/>
        </p:nvGraphicFramePr>
        <p:xfrm>
          <a:off x="360363" y="3505200"/>
          <a:ext cx="2708275" cy="625475"/>
        </p:xfrm>
        <a:graphic>
          <a:graphicData uri="http://schemas.openxmlformats.org/presentationml/2006/ole">
            <p:oleObj spid="_x0000_s23724" name="Equation" r:id="rId8" imgW="825500" imgH="190500" progId="Equation.3">
              <p:embed/>
            </p:oleObj>
          </a:graphicData>
        </a:graphic>
      </p:graphicFrame>
      <p:sp>
        <p:nvSpPr>
          <p:cNvPr id="656396" name="Text Box 12"/>
          <p:cNvSpPr txBox="1">
            <a:spLocks noChangeArrowheads="1"/>
          </p:cNvSpPr>
          <p:nvPr/>
        </p:nvSpPr>
        <p:spPr bwMode="auto">
          <a:xfrm>
            <a:off x="2057400" y="3567113"/>
            <a:ext cx="2286000"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zh-CN"/>
              <a:t>≤</a:t>
            </a:r>
          </a:p>
        </p:txBody>
      </p:sp>
      <p:grpSp>
        <p:nvGrpSpPr>
          <p:cNvPr id="656397" name="Group 13"/>
          <p:cNvGrpSpPr>
            <a:grpSpLocks/>
          </p:cNvGrpSpPr>
          <p:nvPr/>
        </p:nvGrpSpPr>
        <p:grpSpPr bwMode="auto">
          <a:xfrm>
            <a:off x="1828800" y="914400"/>
            <a:ext cx="1600200" cy="2819400"/>
            <a:chOff x="1152" y="576"/>
            <a:chExt cx="1008" cy="1776"/>
          </a:xfrm>
        </p:grpSpPr>
        <p:sp>
          <p:nvSpPr>
            <p:cNvPr id="656398" name="Line 14"/>
            <p:cNvSpPr>
              <a:spLocks noChangeShapeType="1"/>
            </p:cNvSpPr>
            <p:nvPr/>
          </p:nvSpPr>
          <p:spPr bwMode="auto">
            <a:xfrm>
              <a:off x="1152" y="576"/>
              <a:ext cx="240" cy="0"/>
            </a:xfrm>
            <a:prstGeom prst="line">
              <a:avLst/>
            </a:prstGeom>
            <a:noFill/>
            <a:ln w="3810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656399" name="Line 15"/>
            <p:cNvSpPr>
              <a:spLocks noChangeShapeType="1"/>
            </p:cNvSpPr>
            <p:nvPr/>
          </p:nvSpPr>
          <p:spPr bwMode="auto">
            <a:xfrm>
              <a:off x="1296" y="576"/>
              <a:ext cx="864" cy="1776"/>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grpSp>
      <p:grpSp>
        <p:nvGrpSpPr>
          <p:cNvPr id="656400" name="Group 16"/>
          <p:cNvGrpSpPr>
            <a:grpSpLocks/>
          </p:cNvGrpSpPr>
          <p:nvPr/>
        </p:nvGrpSpPr>
        <p:grpSpPr bwMode="auto">
          <a:xfrm>
            <a:off x="1143000" y="2590800"/>
            <a:ext cx="1981200" cy="1066800"/>
            <a:chOff x="720" y="1632"/>
            <a:chExt cx="1248" cy="672"/>
          </a:xfrm>
        </p:grpSpPr>
        <p:sp>
          <p:nvSpPr>
            <p:cNvPr id="656401" name="Line 17"/>
            <p:cNvSpPr>
              <a:spLocks noChangeShapeType="1"/>
            </p:cNvSpPr>
            <p:nvPr/>
          </p:nvSpPr>
          <p:spPr bwMode="auto">
            <a:xfrm>
              <a:off x="816" y="1632"/>
              <a:ext cx="1152" cy="672"/>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656402" name="Line 18"/>
            <p:cNvSpPr>
              <a:spLocks noChangeShapeType="1"/>
            </p:cNvSpPr>
            <p:nvPr/>
          </p:nvSpPr>
          <p:spPr bwMode="auto">
            <a:xfrm>
              <a:off x="720" y="1632"/>
              <a:ext cx="240" cy="0"/>
            </a:xfrm>
            <a:prstGeom prst="line">
              <a:avLst/>
            </a:prstGeom>
            <a:noFill/>
            <a:ln w="3810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grpSp>
      <p:sp>
        <p:nvSpPr>
          <p:cNvPr id="656403" name="Text Box 19"/>
          <p:cNvSpPr txBox="1">
            <a:spLocks noChangeArrowheads="1"/>
          </p:cNvSpPr>
          <p:nvPr/>
        </p:nvSpPr>
        <p:spPr bwMode="auto">
          <a:xfrm>
            <a:off x="1219200" y="3575050"/>
            <a:ext cx="4681538"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zh-CN"/>
              <a:t>2</a:t>
            </a:r>
          </a:p>
        </p:txBody>
      </p:sp>
      <p:graphicFrame>
        <p:nvGraphicFramePr>
          <p:cNvPr id="656404" name="Object 20"/>
          <p:cNvGraphicFramePr>
            <a:graphicFrameLocks noChangeAspect="1"/>
          </p:cNvGraphicFramePr>
          <p:nvPr/>
        </p:nvGraphicFramePr>
        <p:xfrm>
          <a:off x="381000" y="3956050"/>
          <a:ext cx="3581400" cy="615950"/>
        </p:xfrm>
        <a:graphic>
          <a:graphicData uri="http://schemas.openxmlformats.org/presentationml/2006/ole">
            <p:oleObj spid="_x0000_s23725" name="Equation" r:id="rId9" imgW="1104900" imgH="190500" progId="Equation.3">
              <p:embed/>
            </p:oleObj>
          </a:graphicData>
        </a:graphic>
      </p:graphicFrame>
      <p:graphicFrame>
        <p:nvGraphicFramePr>
          <p:cNvPr id="656405" name="Object 21"/>
          <p:cNvGraphicFramePr>
            <a:graphicFrameLocks noChangeAspect="1"/>
          </p:cNvGraphicFramePr>
          <p:nvPr/>
        </p:nvGraphicFramePr>
        <p:xfrm>
          <a:off x="363538" y="4495800"/>
          <a:ext cx="3336925" cy="538163"/>
        </p:xfrm>
        <a:graphic>
          <a:graphicData uri="http://schemas.openxmlformats.org/presentationml/2006/ole">
            <p:oleObj spid="_x0000_s23726" name="Equation" r:id="rId10" imgW="1180588" imgH="190417" progId="Equation.3">
              <p:embed/>
            </p:oleObj>
          </a:graphicData>
        </a:graphic>
      </p:graphicFrame>
      <p:graphicFrame>
        <p:nvGraphicFramePr>
          <p:cNvPr id="656406" name="Object 22"/>
          <p:cNvGraphicFramePr>
            <a:graphicFrameLocks noChangeAspect="1"/>
          </p:cNvGraphicFramePr>
          <p:nvPr/>
        </p:nvGraphicFramePr>
        <p:xfrm>
          <a:off x="533400" y="4953000"/>
          <a:ext cx="2362200" cy="590550"/>
        </p:xfrm>
        <a:graphic>
          <a:graphicData uri="http://schemas.openxmlformats.org/presentationml/2006/ole">
            <p:oleObj spid="_x0000_s23727" name="Equation" r:id="rId11" imgW="761669" imgH="190417" progId="Equation.3">
              <p:embed/>
            </p:oleObj>
          </a:graphicData>
        </a:graphic>
      </p:graphicFrame>
      <p:sp>
        <p:nvSpPr>
          <p:cNvPr id="656407" name="AutoShape 23"/>
          <p:cNvSpPr>
            <a:spLocks noChangeArrowheads="1"/>
          </p:cNvSpPr>
          <p:nvPr/>
        </p:nvSpPr>
        <p:spPr bwMode="auto">
          <a:xfrm>
            <a:off x="2133600" y="0"/>
            <a:ext cx="914400" cy="533400"/>
          </a:xfrm>
          <a:prstGeom prst="wedgeEllipseCallout">
            <a:avLst>
              <a:gd name="adj1" fmla="val -141319"/>
              <a:gd name="adj2" fmla="val 44940"/>
            </a:avLst>
          </a:prstGeom>
          <a:solidFill>
            <a:srgbClr val="FFFF66"/>
          </a:solidFill>
          <a:ln w="9525">
            <a:solidFill>
              <a:srgbClr val="CC00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eaLnBrk="0" hangingPunct="0"/>
            <a:r>
              <a:rPr lang="en-US" altLang="zh-CN"/>
              <a:t>≥</a:t>
            </a:r>
          </a:p>
        </p:txBody>
      </p:sp>
      <p:graphicFrame>
        <p:nvGraphicFramePr>
          <p:cNvPr id="656408" name="Object 24"/>
          <p:cNvGraphicFramePr>
            <a:graphicFrameLocks noChangeAspect="1"/>
          </p:cNvGraphicFramePr>
          <p:nvPr/>
        </p:nvGraphicFramePr>
        <p:xfrm>
          <a:off x="457200" y="4953000"/>
          <a:ext cx="1771650" cy="590550"/>
        </p:xfrm>
        <a:graphic>
          <a:graphicData uri="http://schemas.openxmlformats.org/presentationml/2006/ole">
            <p:oleObj spid="_x0000_s23728" name="Equation" r:id="rId12" imgW="571252" imgH="190417" progId="Equation.3">
              <p:embed/>
            </p:oleObj>
          </a:graphicData>
        </a:graphic>
      </p:graphicFrame>
      <p:graphicFrame>
        <p:nvGraphicFramePr>
          <p:cNvPr id="656409" name="Object 25"/>
          <p:cNvGraphicFramePr>
            <a:graphicFrameLocks noChangeAspect="1"/>
          </p:cNvGraphicFramePr>
          <p:nvPr/>
        </p:nvGraphicFramePr>
        <p:xfrm>
          <a:off x="2590800" y="4953000"/>
          <a:ext cx="1143000" cy="554038"/>
        </p:xfrm>
        <a:graphic>
          <a:graphicData uri="http://schemas.openxmlformats.org/presentationml/2006/ole">
            <p:oleObj spid="_x0000_s23729" name="Equation" r:id="rId13" imgW="393529" imgH="190417" progId="Equation.3">
              <p:embed/>
            </p:oleObj>
          </a:graphicData>
        </a:graphic>
      </p:graphicFrame>
    </p:spTree>
    <p:extLst>
      <p:ext uri="{BB962C8B-B14F-4D97-AF65-F5344CB8AC3E}">
        <p14:creationId xmlns:p14="http://schemas.microsoft.com/office/powerpoint/2010/main" xmlns="" val="42051030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563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5639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5639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5639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5639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56400"/>
                                        </p:tgtEl>
                                        <p:attrNameLst>
                                          <p:attrName>style.visibility</p:attrName>
                                        </p:attrNameLst>
                                      </p:cBhvr>
                                      <p:to>
                                        <p:strVal val="visible"/>
                                      </p:to>
                                    </p:set>
                                  </p:childTnLst>
                                  <p:subTnLst>
                                    <p:set>
                                      <p:cBhvr override="childStyle">
                                        <p:cTn dur="1" fill="hold" display="0" masterRel="nextClick" afterEffect="1"/>
                                        <p:tgtEl>
                                          <p:spTgt spid="656400"/>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65639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656397"/>
                                        </p:tgtEl>
                                        <p:attrNameLst>
                                          <p:attrName>style.visibility</p:attrName>
                                        </p:attrNameLst>
                                      </p:cBhvr>
                                      <p:to>
                                        <p:strVal val="visible"/>
                                      </p:to>
                                    </p:set>
                                  </p:childTnLst>
                                  <p:subTnLst>
                                    <p:set>
                                      <p:cBhvr override="childStyle">
                                        <p:cTn dur="1" fill="hold" display="0" masterRel="nextClick" afterEffect="1"/>
                                        <p:tgtEl>
                                          <p:spTgt spid="656397"/>
                                        </p:tgtEl>
                                        <p:attrNameLst>
                                          <p:attrName>style.visibility</p:attrName>
                                        </p:attrNameLst>
                                      </p:cBhvr>
                                      <p:to>
                                        <p:strVal val="hidden"/>
                                      </p:to>
                                    </p:set>
                                  </p:sub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65640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656404"/>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656405"/>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656406"/>
                                        </p:tgtEl>
                                        <p:attrNameLst>
                                          <p:attrName>style.visibility</p:attrName>
                                        </p:attrNameLst>
                                      </p:cBhvr>
                                      <p:to>
                                        <p:strVal val="visible"/>
                                      </p:to>
                                    </p:set>
                                  </p:childTnLst>
                                  <p:subTnLst>
                                    <p:set>
                                      <p:cBhvr override="childStyle">
                                        <p:cTn dur="1" fill="hold" display="0" masterRel="nextClick" afterEffect="1"/>
                                        <p:tgtEl>
                                          <p:spTgt spid="656406"/>
                                        </p:tgtEl>
                                        <p:attrNameLst>
                                          <p:attrName>style.visibility</p:attrName>
                                        </p:attrNameLst>
                                      </p:cBhvr>
                                      <p:to>
                                        <p:strVal val="hidden"/>
                                      </p:to>
                                    </p:set>
                                  </p:sub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656389"/>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656407"/>
                                        </p:tgtEl>
                                        <p:attrNameLst>
                                          <p:attrName>style.visibility</p:attrName>
                                        </p:attrNameLst>
                                      </p:cBhvr>
                                      <p:to>
                                        <p:strVal val="visible"/>
                                      </p:to>
                                    </p:set>
                                  </p:childTnLst>
                                  <p:subTnLst>
                                    <p:set>
                                      <p:cBhvr override="childStyle">
                                        <p:cTn dur="1" fill="hold" display="0" masterRel="nextClick" afterEffect="1"/>
                                        <p:tgtEl>
                                          <p:spTgt spid="656407"/>
                                        </p:tgtEl>
                                        <p:attrNameLst>
                                          <p:attrName>style.visibility</p:attrName>
                                        </p:attrNameLst>
                                      </p:cBhvr>
                                      <p:to>
                                        <p:strVal val="hidden"/>
                                      </p:to>
                                    </p:set>
                                  </p:sub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656386"/>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656408"/>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499"/>
                                          </p:stCondLst>
                                        </p:cTn>
                                        <p:tgtEl>
                                          <p:spTgt spid="6564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396" grpId="0" autoUpdateAnimBg="0"/>
      <p:bldP spid="656403" grpId="0" autoUpdateAnimBg="0"/>
      <p:bldP spid="656407"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684213" y="333375"/>
            <a:ext cx="7772400" cy="1143000"/>
          </a:xfrm>
          <a:noFill/>
          <a:ln/>
          <a:extLst>
            <a:ext uri="{909E8E84-426E-40DD-AFC4-6F175D3DCCD1}">
              <a14:hiddenFill xmlns:a14="http://schemas.microsoft.com/office/drawing/2010/main" xmlns="">
                <a:solidFill>
                  <a:srgbClr val="FFCC99"/>
                </a:solidFill>
              </a14:hiddenFill>
            </a:ext>
            <a:ext uri="{91240B29-F687-4F45-9708-019B960494DF}">
              <a14:hiddenLine xmlns:a14="http://schemas.microsoft.com/office/drawing/2010/main" xmlns="" w="28575" cmpd="sng">
                <a:solidFill>
                  <a:schemeClr val="accent1"/>
                </a:solidFill>
                <a:miter lim="800000"/>
                <a:headEnd/>
                <a:tailEnd/>
              </a14:hiddenLine>
            </a:ext>
            <a:ext uri="{AF507438-7753-43E0-B8FC-AC1667EBCBE1}">
              <a14:hiddenEffects xmlns:a14="http://schemas.microsoft.com/office/drawing/2010/main" xmlns="">
                <a:effectLst>
                  <a:outerShdw kx="-3284103" algn="br" rotWithShape="0">
                    <a:schemeClr val="bg2"/>
                  </a:outerShdw>
                </a:effectLst>
              </a14:hiddenEffects>
            </a:ext>
          </a:extLst>
        </p:spPr>
        <p:txBody>
          <a:bodyPr/>
          <a:lstStyle/>
          <a:p>
            <a:r>
              <a:rPr lang="en-US" altLang="zh-CN" sz="3200" b="1">
                <a:solidFill>
                  <a:schemeClr val="tx1"/>
                </a:solidFill>
                <a:ea typeface="华文隶书" pitchFamily="2" charset="-122"/>
              </a:rPr>
              <a:t>4.3    </a:t>
            </a:r>
            <a:r>
              <a:rPr lang="zh-CN" altLang="en-US" sz="3200" b="1">
                <a:solidFill>
                  <a:schemeClr val="tx1"/>
                </a:solidFill>
                <a:ea typeface="华文隶书" pitchFamily="2" charset="-122"/>
              </a:rPr>
              <a:t>对偶模型的基本性质</a:t>
            </a:r>
          </a:p>
        </p:txBody>
      </p:sp>
      <p:sp>
        <p:nvSpPr>
          <p:cNvPr id="2051" name="Rectangle 3"/>
          <p:cNvSpPr>
            <a:spLocks noGrp="1" noChangeArrowheads="1"/>
          </p:cNvSpPr>
          <p:nvPr>
            <p:ph type="body" sz="half" idx="1"/>
          </p:nvPr>
        </p:nvSpPr>
        <p:spPr>
          <a:xfrm>
            <a:off x="539750" y="1268413"/>
            <a:ext cx="7704138" cy="2665412"/>
          </a:xfrm>
        </p:spPr>
        <p:txBody>
          <a:bodyPr/>
          <a:lstStyle/>
          <a:p>
            <a:pPr>
              <a:buFontTx/>
              <a:buNone/>
            </a:pPr>
            <a:r>
              <a:rPr lang="zh-CN" altLang="en-US" sz="2800" b="1"/>
              <a:t>对称性</a:t>
            </a:r>
          </a:p>
          <a:p>
            <a:pPr>
              <a:buFontTx/>
              <a:buNone/>
            </a:pPr>
            <a:r>
              <a:rPr lang="zh-CN" altLang="en-US" sz="2800" b="1"/>
              <a:t>弱对偶性</a:t>
            </a:r>
          </a:p>
          <a:p>
            <a:pPr>
              <a:buFontTx/>
              <a:buNone/>
            </a:pPr>
            <a:r>
              <a:rPr lang="zh-CN" altLang="en-US" sz="2800" b="1"/>
              <a:t>最优解性</a:t>
            </a:r>
          </a:p>
          <a:p>
            <a:pPr>
              <a:buFontTx/>
              <a:buNone/>
            </a:pPr>
            <a:r>
              <a:rPr lang="zh-CN" altLang="en-US" sz="2800" b="1"/>
              <a:t>强对偶性（对偶定理）</a:t>
            </a:r>
          </a:p>
          <a:p>
            <a:pPr>
              <a:buFontTx/>
              <a:buNone/>
            </a:pPr>
            <a:r>
              <a:rPr lang="zh-CN" altLang="en-US" sz="2800" b="1"/>
              <a:t>互补松弛性</a:t>
            </a:r>
          </a:p>
        </p:txBody>
      </p:sp>
      <p:graphicFrame>
        <p:nvGraphicFramePr>
          <p:cNvPr id="2052" name="Object 4"/>
          <p:cNvGraphicFramePr>
            <a:graphicFrameLocks noGrp="1" noChangeAspect="1"/>
          </p:cNvGraphicFramePr>
          <p:nvPr>
            <p:ph sz="half" idx="2"/>
          </p:nvPr>
        </p:nvGraphicFramePr>
        <p:xfrm>
          <a:off x="609600" y="4078288"/>
          <a:ext cx="7837488" cy="2249487"/>
        </p:xfrm>
        <a:graphic>
          <a:graphicData uri="http://schemas.openxmlformats.org/presentationml/2006/ole">
            <p:oleObj spid="_x0000_s24593" name="文档" r:id="rId3" imgW="7144512" imgH="2052447" progId="Word.Document.8">
              <p:embed/>
            </p:oleObj>
          </a:graphicData>
        </a:graphic>
      </p:graphicFrame>
    </p:spTree>
    <p:extLst>
      <p:ext uri="{BB962C8B-B14F-4D97-AF65-F5344CB8AC3E}">
        <p14:creationId xmlns:p14="http://schemas.microsoft.com/office/powerpoint/2010/main" xmlns="" val="13410864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5" name="Object 3"/>
          <p:cNvGraphicFramePr>
            <a:graphicFrameLocks noChangeAspect="1"/>
          </p:cNvGraphicFramePr>
          <p:nvPr>
            <p:extLst>
              <p:ext uri="{D42A27DB-BD31-4B8C-83A1-F6EECF244321}">
                <p14:modId xmlns:p14="http://schemas.microsoft.com/office/powerpoint/2010/main" xmlns="" val="2363269185"/>
              </p:ext>
            </p:extLst>
          </p:nvPr>
        </p:nvGraphicFramePr>
        <p:xfrm>
          <a:off x="179512" y="1196752"/>
          <a:ext cx="8707437" cy="4933950"/>
        </p:xfrm>
        <a:graphic>
          <a:graphicData uri="http://schemas.openxmlformats.org/presentationml/2006/ole">
            <p:oleObj spid="_x0000_s25617" name="文档" r:id="rId3" imgW="7429119" imgH="4213098" progId="Word.Document.8">
              <p:embed/>
            </p:oleObj>
          </a:graphicData>
        </a:graphic>
      </p:graphicFrame>
      <p:grpSp>
        <p:nvGrpSpPr>
          <p:cNvPr id="3080" name="Group 8"/>
          <p:cNvGrpSpPr>
            <a:grpSpLocks/>
          </p:cNvGrpSpPr>
          <p:nvPr/>
        </p:nvGrpSpPr>
        <p:grpSpPr bwMode="auto">
          <a:xfrm flipV="1">
            <a:off x="6011863" y="5445125"/>
            <a:ext cx="2592387" cy="71438"/>
            <a:chOff x="3648" y="4032"/>
            <a:chExt cx="1296" cy="0"/>
          </a:xfrm>
        </p:grpSpPr>
        <p:sp>
          <p:nvSpPr>
            <p:cNvPr id="3078" name="Line 6"/>
            <p:cNvSpPr>
              <a:spLocks noChangeShapeType="1"/>
            </p:cNvSpPr>
            <p:nvPr/>
          </p:nvSpPr>
          <p:spPr bwMode="auto">
            <a:xfrm>
              <a:off x="3648" y="4032"/>
              <a:ext cx="240" cy="0"/>
            </a:xfrm>
            <a:prstGeom prst="line">
              <a:avLst/>
            </a:prstGeom>
            <a:noFill/>
            <a:ln w="38100">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3079" name="Line 7"/>
            <p:cNvSpPr>
              <a:spLocks noChangeShapeType="1"/>
            </p:cNvSpPr>
            <p:nvPr/>
          </p:nvSpPr>
          <p:spPr bwMode="auto">
            <a:xfrm>
              <a:off x="4704" y="4032"/>
              <a:ext cx="240" cy="0"/>
            </a:xfrm>
            <a:prstGeom prst="line">
              <a:avLst/>
            </a:prstGeom>
            <a:noFill/>
            <a:ln w="38100">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xmlns="" val="16458048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0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type="body" idx="1"/>
          </p:nvPr>
        </p:nvSpPr>
        <p:spPr>
          <a:xfrm>
            <a:off x="107504" y="1628800"/>
            <a:ext cx="8893621" cy="4752950"/>
          </a:xfrm>
        </p:spPr>
        <p:txBody>
          <a:bodyPr/>
          <a:lstStyle/>
          <a:p>
            <a:pPr>
              <a:lnSpc>
                <a:spcPct val="125000"/>
              </a:lnSpc>
              <a:spcBef>
                <a:spcPct val="0"/>
              </a:spcBef>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1</a:t>
            </a:r>
            <a:r>
              <a:rPr lang="zh-CN" altLang="en-US" sz="2800" b="1" dirty="0">
                <a:latin typeface="宋体" panose="02010600030101010101" pitchFamily="2" charset="-122"/>
              </a:rPr>
              <a:t>）原问题任一可行解的目标函数值是其对偶问题目标函数值的下界；反之对偶问题任一可行解的目标函数值是其原问题目标函数值的上界。</a:t>
            </a:r>
          </a:p>
          <a:p>
            <a:pPr>
              <a:lnSpc>
                <a:spcPct val="50000"/>
              </a:lnSpc>
              <a:spcBef>
                <a:spcPct val="0"/>
              </a:spcBef>
              <a:buFontTx/>
              <a:buNone/>
            </a:pPr>
            <a:endParaRPr lang="zh-CN" altLang="en-US" sz="2800" b="1" dirty="0">
              <a:latin typeface="宋体" panose="02010600030101010101" pitchFamily="2" charset="-122"/>
            </a:endParaRPr>
          </a:p>
          <a:p>
            <a:pPr>
              <a:lnSpc>
                <a:spcPct val="125000"/>
              </a:lnSpc>
              <a:spcBef>
                <a:spcPct val="0"/>
              </a:spcBef>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2</a:t>
            </a:r>
            <a:r>
              <a:rPr lang="zh-CN" altLang="en-US" sz="2800" b="1" dirty="0">
                <a:latin typeface="宋体" panose="02010600030101010101" pitchFamily="2" charset="-122"/>
              </a:rPr>
              <a:t>）如原问题有可行解且目标函数值无界（或具有无界解），则其对偶问题无可行解；反之对偶问题有可行解且目标函数值无界，则其原问题无可行解（注意：本点性质的逆不成立，当对偶问题无可行解时，其原问题或具有无界解或无可行解，反之亦然）。</a:t>
            </a:r>
          </a:p>
        </p:txBody>
      </p:sp>
      <p:sp>
        <p:nvSpPr>
          <p:cNvPr id="657411" name="Rectangle 3"/>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657412" name="Rectangle 4"/>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657413" name="Rectangle 5"/>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657414" name="Rectangle 6"/>
          <p:cNvSpPr>
            <a:spLocks noChangeArrowheads="1"/>
          </p:cNvSpPr>
          <p:nvPr/>
        </p:nvSpPr>
        <p:spPr bwMode="auto">
          <a:xfrm>
            <a:off x="251520" y="477839"/>
            <a:ext cx="5437187" cy="628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nSpc>
                <a:spcPct val="110000"/>
              </a:lnSpc>
            </a:pPr>
            <a:r>
              <a:rPr lang="zh-CN" altLang="en-US" sz="3200" dirty="0"/>
              <a:t>由弱对偶性可得出以下推论</a:t>
            </a:r>
            <a:r>
              <a:rPr lang="zh-CN" altLang="en-US" dirty="0"/>
              <a:t>：</a:t>
            </a:r>
          </a:p>
        </p:txBody>
      </p:sp>
    </p:spTree>
    <p:extLst>
      <p:ext uri="{BB962C8B-B14F-4D97-AF65-F5344CB8AC3E}">
        <p14:creationId xmlns:p14="http://schemas.microsoft.com/office/powerpoint/2010/main" xmlns="" val="255825289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Rectangle 3"/>
          <p:cNvSpPr>
            <a:spLocks noGrp="1" noChangeArrowheads="1"/>
          </p:cNvSpPr>
          <p:nvPr>
            <p:ph/>
          </p:nvPr>
        </p:nvSpPr>
        <p:spPr>
          <a:xfrm>
            <a:off x="179512" y="1124744"/>
            <a:ext cx="8712968" cy="2409030"/>
          </a:xfrm>
        </p:spPr>
        <p:txBody>
          <a:bodyPr/>
          <a:lstStyle/>
          <a:p>
            <a:pPr>
              <a:lnSpc>
                <a:spcPct val="120000"/>
              </a:lnSpc>
              <a:buFontTx/>
              <a:buNone/>
            </a:pPr>
            <a:r>
              <a:rPr lang="zh-CN" altLang="en-US" b="1" dirty="0">
                <a:latin typeface="宋体" panose="02010600030101010101" pitchFamily="2" charset="-122"/>
              </a:rPr>
              <a:t>（</a:t>
            </a:r>
            <a:r>
              <a:rPr lang="en-US" altLang="zh-CN" sz="2800" b="1" dirty="0">
                <a:latin typeface="宋体" panose="02010600030101010101" pitchFamily="2" charset="-122"/>
              </a:rPr>
              <a:t>3</a:t>
            </a:r>
            <a:r>
              <a:rPr lang="zh-CN" altLang="en-US" sz="2800" b="1" dirty="0">
                <a:latin typeface="宋体" panose="02010600030101010101" pitchFamily="2" charset="-122"/>
              </a:rPr>
              <a:t>）若原问题有可行解而其对偶问题无可行解，则原问题目标函数值无界；反之对偶问题有可行解而其原问题无可行解，则对偶问题的目标函数值无界。</a:t>
            </a:r>
            <a:endParaRPr lang="zh-CN" altLang="en-US" sz="2800" dirty="0">
              <a:latin typeface="宋体" panose="02010600030101010101" pitchFamily="2" charset="-122"/>
            </a:endParaRPr>
          </a:p>
        </p:txBody>
      </p:sp>
      <p:graphicFrame>
        <p:nvGraphicFramePr>
          <p:cNvPr id="38923" name="Object 11"/>
          <p:cNvGraphicFramePr>
            <a:graphicFrameLocks noChangeAspect="1"/>
          </p:cNvGraphicFramePr>
          <p:nvPr/>
        </p:nvGraphicFramePr>
        <p:xfrm>
          <a:off x="2771775" y="3573463"/>
          <a:ext cx="3384550" cy="1827212"/>
        </p:xfrm>
        <a:graphic>
          <a:graphicData uri="http://schemas.openxmlformats.org/presentationml/2006/ole">
            <p:oleObj spid="_x0000_s26641" name="Equation" r:id="rId3" imgW="1129810" imgH="609336" progId="Equation.3">
              <p:embed/>
            </p:oleObj>
          </a:graphicData>
        </a:graphic>
      </p:graphicFrame>
      <p:sp>
        <p:nvSpPr>
          <p:cNvPr id="38924" name="Text Box 12"/>
          <p:cNvSpPr txBox="1">
            <a:spLocks noChangeArrowheads="1"/>
          </p:cNvSpPr>
          <p:nvPr/>
        </p:nvSpPr>
        <p:spPr bwMode="auto">
          <a:xfrm>
            <a:off x="395288" y="5589588"/>
            <a:ext cx="7850187"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t>       </a:t>
            </a:r>
            <a:r>
              <a:rPr lang="zh-CN" altLang="en-US"/>
              <a:t>试用对偶理论证明上述问题无最优解。</a:t>
            </a:r>
          </a:p>
        </p:txBody>
      </p:sp>
      <p:sp>
        <p:nvSpPr>
          <p:cNvPr id="38925" name="Text Box 13"/>
          <p:cNvSpPr txBox="1">
            <a:spLocks noChangeArrowheads="1"/>
          </p:cNvSpPr>
          <p:nvPr/>
        </p:nvSpPr>
        <p:spPr bwMode="auto">
          <a:xfrm>
            <a:off x="838200" y="2997200"/>
            <a:ext cx="6181725"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US"/>
              <a:t>例   已知线性规划问题</a:t>
            </a:r>
          </a:p>
        </p:txBody>
      </p:sp>
    </p:spTree>
    <p:extLst>
      <p:ext uri="{BB962C8B-B14F-4D97-AF65-F5344CB8AC3E}">
        <p14:creationId xmlns:p14="http://schemas.microsoft.com/office/powerpoint/2010/main" xmlns="" val="34206039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9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9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4" grpId="0"/>
      <p:bldP spid="3892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0611" name="Object 3"/>
          <p:cNvGraphicFramePr>
            <a:graphicFrameLocks noChangeAspect="1"/>
          </p:cNvGraphicFramePr>
          <p:nvPr/>
        </p:nvGraphicFramePr>
        <p:xfrm>
          <a:off x="611188" y="1052513"/>
          <a:ext cx="3384550" cy="1827212"/>
        </p:xfrm>
        <a:graphic>
          <a:graphicData uri="http://schemas.openxmlformats.org/presentationml/2006/ole">
            <p:oleObj spid="_x0000_s27680" name="Equation" r:id="rId3" imgW="1129810" imgH="609336" progId="">
              <p:embed/>
            </p:oleObj>
          </a:graphicData>
        </a:graphic>
      </p:graphicFrame>
      <p:sp>
        <p:nvSpPr>
          <p:cNvPr id="580624" name="Text Box 16"/>
          <p:cNvSpPr txBox="1">
            <a:spLocks noChangeArrowheads="1"/>
          </p:cNvSpPr>
          <p:nvPr/>
        </p:nvSpPr>
        <p:spPr bwMode="auto">
          <a:xfrm>
            <a:off x="4895850" y="682625"/>
            <a:ext cx="3024187"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US" dirty="0"/>
              <a:t>对偶问题</a:t>
            </a:r>
          </a:p>
        </p:txBody>
      </p:sp>
      <p:graphicFrame>
        <p:nvGraphicFramePr>
          <p:cNvPr id="580625" name="Object 17"/>
          <p:cNvGraphicFramePr>
            <a:graphicFrameLocks noChangeAspect="1"/>
          </p:cNvGraphicFramePr>
          <p:nvPr/>
        </p:nvGraphicFramePr>
        <p:xfrm>
          <a:off x="5003800" y="981075"/>
          <a:ext cx="2808288" cy="2024063"/>
        </p:xfrm>
        <a:graphic>
          <a:graphicData uri="http://schemas.openxmlformats.org/presentationml/2006/ole">
            <p:oleObj spid="_x0000_s27681" name="Equation" r:id="rId4" imgW="1002865" imgH="723586" progId="">
              <p:embed/>
            </p:oleObj>
          </a:graphicData>
        </a:graphic>
      </p:graphicFrame>
      <p:sp>
        <p:nvSpPr>
          <p:cNvPr id="580638" name="Text Box 30"/>
          <p:cNvSpPr txBox="1">
            <a:spLocks noChangeArrowheads="1"/>
          </p:cNvSpPr>
          <p:nvPr/>
        </p:nvSpPr>
        <p:spPr bwMode="auto">
          <a:xfrm>
            <a:off x="611188" y="3141663"/>
            <a:ext cx="3962400" cy="946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t>X</a:t>
            </a:r>
            <a:r>
              <a:rPr lang="zh-CN" altLang="en-US" baseline="30000"/>
              <a:t>（</a:t>
            </a:r>
            <a:r>
              <a:rPr lang="en-US" altLang="zh-CN" baseline="30000"/>
              <a:t>0</a:t>
            </a:r>
            <a:r>
              <a:rPr lang="zh-CN" altLang="en-US" baseline="30000"/>
              <a:t>）</a:t>
            </a:r>
            <a:r>
              <a:rPr lang="en-US" altLang="zh-CN"/>
              <a:t>=</a:t>
            </a:r>
            <a:r>
              <a:rPr lang="zh-CN" altLang="en-US"/>
              <a:t>（</a:t>
            </a:r>
            <a:r>
              <a:rPr lang="en-US" altLang="zh-CN"/>
              <a:t>0</a:t>
            </a:r>
            <a:r>
              <a:rPr lang="zh-CN" altLang="en-US"/>
              <a:t>，</a:t>
            </a:r>
            <a:r>
              <a:rPr lang="en-US" altLang="zh-CN"/>
              <a:t>0</a:t>
            </a:r>
            <a:r>
              <a:rPr lang="zh-CN" altLang="en-US"/>
              <a:t>，</a:t>
            </a:r>
            <a:r>
              <a:rPr lang="en-US" altLang="zh-CN"/>
              <a:t>0</a:t>
            </a:r>
            <a:r>
              <a:rPr lang="zh-CN" altLang="en-US"/>
              <a:t>）</a:t>
            </a:r>
            <a:r>
              <a:rPr lang="en-US" altLang="zh-CN" baseline="30000"/>
              <a:t>T</a:t>
            </a:r>
            <a:r>
              <a:rPr lang="zh-CN" altLang="en-US"/>
              <a:t>是原问题的一个可行解</a:t>
            </a:r>
          </a:p>
        </p:txBody>
      </p:sp>
      <p:sp>
        <p:nvSpPr>
          <p:cNvPr id="580639" name="Rectangle 31"/>
          <p:cNvSpPr>
            <a:spLocks noChangeArrowheads="1"/>
          </p:cNvSpPr>
          <p:nvPr/>
        </p:nvSpPr>
        <p:spPr bwMode="auto">
          <a:xfrm>
            <a:off x="589509" y="768351"/>
            <a:ext cx="12557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dirty="0"/>
              <a:t>原问题</a:t>
            </a:r>
          </a:p>
        </p:txBody>
      </p:sp>
      <p:sp>
        <p:nvSpPr>
          <p:cNvPr id="580640" name="Text Box 32"/>
          <p:cNvSpPr txBox="1">
            <a:spLocks noChangeArrowheads="1"/>
          </p:cNvSpPr>
          <p:nvPr/>
        </p:nvSpPr>
        <p:spPr bwMode="auto">
          <a:xfrm>
            <a:off x="4716463" y="3357563"/>
            <a:ext cx="3240087"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US"/>
              <a:t>对偶问题不可行</a:t>
            </a:r>
          </a:p>
        </p:txBody>
      </p:sp>
      <p:sp>
        <p:nvSpPr>
          <p:cNvPr id="580661" name="Rectangle 53"/>
          <p:cNvSpPr>
            <a:spLocks noChangeArrowheads="1"/>
          </p:cNvSpPr>
          <p:nvPr/>
        </p:nvSpPr>
        <p:spPr bwMode="auto">
          <a:xfrm>
            <a:off x="468313" y="4652963"/>
            <a:ext cx="8135937" cy="115252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buFontTx/>
              <a:buNone/>
            </a:pPr>
            <a:r>
              <a:rPr lang="en-US" altLang="zh-CN" sz="2800">
                <a:latin typeface="宋体" panose="02010600030101010101" pitchFamily="2" charset="-122"/>
              </a:rPr>
              <a:t>      </a:t>
            </a:r>
            <a:r>
              <a:rPr lang="zh-CN" altLang="en-US" sz="2800">
                <a:latin typeface="宋体" panose="02010600030101010101" pitchFamily="2" charset="-122"/>
              </a:rPr>
              <a:t>若原问题有可行解而其对偶问题无可行解，则原问题目标函数值无界。</a:t>
            </a:r>
            <a:endParaRPr lang="zh-CN" altLang="en-US" sz="2800" b="0">
              <a:latin typeface="宋体" panose="02010600030101010101" pitchFamily="2" charset="-122"/>
            </a:endParaRPr>
          </a:p>
        </p:txBody>
      </p:sp>
      <p:sp>
        <p:nvSpPr>
          <p:cNvPr id="580664" name="AutoShape 56"/>
          <p:cNvSpPr>
            <a:spLocks noChangeArrowheads="1"/>
          </p:cNvSpPr>
          <p:nvPr/>
        </p:nvSpPr>
        <p:spPr bwMode="auto">
          <a:xfrm>
            <a:off x="7488238" y="1628775"/>
            <a:ext cx="1655762" cy="2520950"/>
          </a:xfrm>
          <a:prstGeom prst="wedgeRoundRectCallout">
            <a:avLst>
              <a:gd name="adj1" fmla="val -42236"/>
              <a:gd name="adj2" fmla="val -57366"/>
              <a:gd name="adj3" fmla="val 16667"/>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eaLnBrk="0" hangingPunct="0"/>
            <a:r>
              <a:rPr lang="en-US" altLang="zh-CN"/>
              <a:t>y</a:t>
            </a:r>
            <a:r>
              <a:rPr lang="en-US" altLang="zh-CN" baseline="-25000"/>
              <a:t>1</a:t>
            </a:r>
            <a:r>
              <a:rPr lang="en-US" altLang="zh-CN"/>
              <a:t>≥0</a:t>
            </a:r>
            <a:r>
              <a:rPr lang="zh-CN" altLang="en-US"/>
              <a:t>，</a:t>
            </a:r>
          </a:p>
          <a:p>
            <a:pPr algn="ctr" eaLnBrk="0" hangingPunct="0"/>
            <a:r>
              <a:rPr lang="en-US" altLang="zh-CN"/>
              <a:t>y</a:t>
            </a:r>
            <a:r>
              <a:rPr lang="en-US" altLang="zh-CN" baseline="-25000"/>
              <a:t>2</a:t>
            </a:r>
            <a:r>
              <a:rPr lang="en-US" altLang="zh-CN"/>
              <a:t>≥0</a:t>
            </a:r>
            <a:r>
              <a:rPr lang="zh-CN" altLang="en-US"/>
              <a:t>，</a:t>
            </a:r>
          </a:p>
          <a:p>
            <a:pPr algn="ctr" eaLnBrk="0" hangingPunct="0"/>
            <a:r>
              <a:rPr lang="zh-CN" altLang="en-US"/>
              <a:t>不满足该约束条件</a:t>
            </a:r>
          </a:p>
        </p:txBody>
      </p:sp>
    </p:spTree>
    <p:extLst>
      <p:ext uri="{BB962C8B-B14F-4D97-AF65-F5344CB8AC3E}">
        <p14:creationId xmlns:p14="http://schemas.microsoft.com/office/powerpoint/2010/main" xmlns="" val="24491517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806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8066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8064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8" presetClass="entr" presetSubtype="3" fill="hold" grpId="0" nodeType="clickEffect">
                                  <p:stCondLst>
                                    <p:cond delay="0"/>
                                  </p:stCondLst>
                                  <p:childTnLst>
                                    <p:set>
                                      <p:cBhvr>
                                        <p:cTn id="18" dur="1" fill="hold">
                                          <p:stCondLst>
                                            <p:cond delay="0"/>
                                          </p:stCondLst>
                                        </p:cTn>
                                        <p:tgtEl>
                                          <p:spTgt spid="580661"/>
                                        </p:tgtEl>
                                        <p:attrNameLst>
                                          <p:attrName>style.visibility</p:attrName>
                                        </p:attrNameLst>
                                      </p:cBhvr>
                                      <p:to>
                                        <p:strVal val="visible"/>
                                      </p:to>
                                    </p:set>
                                    <p:animEffect transition="in" filter="strips(upRight)">
                                      <p:cBhvr>
                                        <p:cTn id="19" dur="500"/>
                                        <p:tgtEl>
                                          <p:spTgt spid="580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38" grpId="0" autoUpdateAnimBg="0"/>
      <p:bldP spid="580640" grpId="0" autoUpdateAnimBg="0"/>
      <p:bldP spid="580661" grpId="0" animBg="1"/>
      <p:bldP spid="580664"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9" name="Text Box 3"/>
          <p:cNvSpPr txBox="1">
            <a:spLocks noChangeArrowheads="1"/>
          </p:cNvSpPr>
          <p:nvPr/>
        </p:nvSpPr>
        <p:spPr bwMode="auto">
          <a:xfrm>
            <a:off x="179512" y="1628800"/>
            <a:ext cx="8763000"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just" eaLnBrk="0" hangingPunct="0">
              <a:spcBef>
                <a:spcPct val="50000"/>
              </a:spcBef>
            </a:pPr>
            <a:r>
              <a:rPr lang="zh-CN" altLang="en-US" dirty="0">
                <a:latin typeface="宋体" panose="02010600030101010101" pitchFamily="2" charset="-122"/>
              </a:rPr>
              <a:t>性质</a:t>
            </a:r>
            <a:r>
              <a:rPr lang="en-US" altLang="zh-CN" dirty="0">
                <a:latin typeface="宋体" panose="02010600030101010101" pitchFamily="2" charset="-122"/>
              </a:rPr>
              <a:t>3</a:t>
            </a:r>
            <a:r>
              <a:rPr lang="en-US" altLang="zh-CN" dirty="0">
                <a:latin typeface="宋体" panose="02010600030101010101" pitchFamily="2" charset="-122"/>
                <a:cs typeface="Times New Roman" panose="02020603050405020304" pitchFamily="18" charset="0"/>
              </a:rPr>
              <a:t>  </a:t>
            </a:r>
            <a:r>
              <a:rPr lang="zh-CN" altLang="en-US" dirty="0">
                <a:latin typeface="宋体" panose="02010600030101010101" pitchFamily="2" charset="-122"/>
              </a:rPr>
              <a:t>最优性</a:t>
            </a:r>
          </a:p>
          <a:p>
            <a:pPr algn="just" eaLnBrk="0" hangingPunct="0">
              <a:spcBef>
                <a:spcPct val="50000"/>
              </a:spcBef>
            </a:pPr>
            <a:r>
              <a:rPr lang="zh-CN" altLang="en-US" b="0" dirty="0">
                <a:solidFill>
                  <a:srgbClr val="000000"/>
                </a:solidFill>
              </a:rPr>
              <a:t>         </a:t>
            </a:r>
            <a:r>
              <a:rPr lang="zh-CN" altLang="en-US" dirty="0">
                <a:solidFill>
                  <a:srgbClr val="000000"/>
                </a:solidFill>
              </a:rPr>
              <a:t>设      是原问题的可行解，    是对偶问题的可</a:t>
            </a:r>
            <a:r>
              <a:rPr lang="zh-CN" altLang="en-US" dirty="0" smtClean="0">
                <a:solidFill>
                  <a:srgbClr val="000000"/>
                </a:solidFill>
              </a:rPr>
              <a:t>行解，</a:t>
            </a:r>
            <a:endParaRPr lang="en-US" altLang="zh-CN" dirty="0" smtClean="0">
              <a:solidFill>
                <a:srgbClr val="000000"/>
              </a:solidFill>
            </a:endParaRPr>
          </a:p>
          <a:p>
            <a:pPr algn="just" eaLnBrk="0" hangingPunct="0">
              <a:spcBef>
                <a:spcPct val="50000"/>
              </a:spcBef>
            </a:pPr>
            <a:r>
              <a:rPr lang="zh-CN" altLang="en-US" dirty="0" smtClean="0">
                <a:solidFill>
                  <a:srgbClr val="000000"/>
                </a:solidFill>
              </a:rPr>
              <a:t>当                      </a:t>
            </a:r>
            <a:r>
              <a:rPr lang="zh-CN" altLang="en-US" dirty="0">
                <a:solidFill>
                  <a:srgbClr val="000000"/>
                </a:solidFill>
              </a:rPr>
              <a:t>时，      </a:t>
            </a:r>
            <a:r>
              <a:rPr lang="zh-CN" altLang="en-US" dirty="0" smtClean="0">
                <a:solidFill>
                  <a:srgbClr val="000000"/>
                </a:solidFill>
              </a:rPr>
              <a:t>     是</a:t>
            </a:r>
            <a:r>
              <a:rPr lang="zh-CN" altLang="en-US" dirty="0">
                <a:solidFill>
                  <a:srgbClr val="000000"/>
                </a:solidFill>
              </a:rPr>
              <a:t>最优解。</a:t>
            </a:r>
            <a:endParaRPr lang="zh-CN" altLang="en-US" dirty="0"/>
          </a:p>
        </p:txBody>
      </p:sp>
      <p:graphicFrame>
        <p:nvGraphicFramePr>
          <p:cNvPr id="582660" name="Object 4"/>
          <p:cNvGraphicFramePr>
            <a:graphicFrameLocks noChangeAspect="1"/>
          </p:cNvGraphicFramePr>
          <p:nvPr>
            <p:extLst>
              <p:ext uri="{D42A27DB-BD31-4B8C-83A1-F6EECF244321}">
                <p14:modId xmlns:p14="http://schemas.microsoft.com/office/powerpoint/2010/main" xmlns="" val="2414279888"/>
              </p:ext>
            </p:extLst>
          </p:nvPr>
        </p:nvGraphicFramePr>
        <p:xfrm>
          <a:off x="1011363" y="1959000"/>
          <a:ext cx="427037" cy="488950"/>
        </p:xfrm>
        <a:graphic>
          <a:graphicData uri="http://schemas.openxmlformats.org/presentationml/2006/ole">
            <p:oleObj spid="_x0000_s28779" name="Equation" r:id="rId3" imgW="177569" imgH="202936" progId="">
              <p:embed/>
            </p:oleObj>
          </a:graphicData>
        </a:graphic>
      </p:graphicFrame>
      <p:graphicFrame>
        <p:nvGraphicFramePr>
          <p:cNvPr id="582661" name="Object 5"/>
          <p:cNvGraphicFramePr>
            <a:graphicFrameLocks noChangeAspect="1"/>
          </p:cNvGraphicFramePr>
          <p:nvPr>
            <p:extLst>
              <p:ext uri="{D42A27DB-BD31-4B8C-83A1-F6EECF244321}">
                <p14:modId xmlns:p14="http://schemas.microsoft.com/office/powerpoint/2010/main" xmlns="" val="3236178646"/>
              </p:ext>
            </p:extLst>
          </p:nvPr>
        </p:nvGraphicFramePr>
        <p:xfrm>
          <a:off x="3469209" y="1935982"/>
          <a:ext cx="374650" cy="503237"/>
        </p:xfrm>
        <a:graphic>
          <a:graphicData uri="http://schemas.openxmlformats.org/presentationml/2006/ole">
            <p:oleObj spid="_x0000_s28780" name="Equation" r:id="rId4" imgW="152268" imgH="203024" progId="">
              <p:embed/>
            </p:oleObj>
          </a:graphicData>
        </a:graphic>
      </p:graphicFrame>
      <p:graphicFrame>
        <p:nvGraphicFramePr>
          <p:cNvPr id="582662" name="Object 6"/>
          <p:cNvGraphicFramePr>
            <a:graphicFrameLocks noChangeAspect="1"/>
          </p:cNvGraphicFramePr>
          <p:nvPr>
            <p:extLst>
              <p:ext uri="{D42A27DB-BD31-4B8C-83A1-F6EECF244321}">
                <p14:modId xmlns:p14="http://schemas.microsoft.com/office/powerpoint/2010/main" xmlns="" val="2128326976"/>
              </p:ext>
            </p:extLst>
          </p:nvPr>
        </p:nvGraphicFramePr>
        <p:xfrm>
          <a:off x="602414" y="2403391"/>
          <a:ext cx="1232260" cy="455901"/>
        </p:xfrm>
        <a:graphic>
          <a:graphicData uri="http://schemas.openxmlformats.org/presentationml/2006/ole">
            <p:oleObj spid="_x0000_s28781" name="Equation" r:id="rId5" imgW="583693" imgH="215713" progId="">
              <p:embed/>
            </p:oleObj>
          </a:graphicData>
        </a:graphic>
      </p:graphicFrame>
      <p:sp>
        <p:nvSpPr>
          <p:cNvPr id="582664" name="AutoShape 8"/>
          <p:cNvSpPr>
            <a:spLocks noChangeArrowheads="1"/>
          </p:cNvSpPr>
          <p:nvPr/>
        </p:nvSpPr>
        <p:spPr bwMode="auto">
          <a:xfrm>
            <a:off x="5049962" y="5314816"/>
            <a:ext cx="3248025" cy="609600"/>
          </a:xfrm>
          <a:prstGeom prst="wedgeRoundRectCallout">
            <a:avLst>
              <a:gd name="adj1" fmla="val -94279"/>
              <a:gd name="adj2" fmla="val -276824"/>
              <a:gd name="adj3" fmla="val 16667"/>
            </a:avLst>
          </a:prstGeom>
          <a:solidFill>
            <a:srgbClr val="FFFF66"/>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eaLnBrk="0" hangingPunct="0"/>
            <a:r>
              <a:rPr lang="zh-CN" altLang="en-US">
                <a:solidFill>
                  <a:srgbClr val="3333FF"/>
                </a:solidFill>
              </a:rPr>
              <a:t>利用弱对偶定理</a:t>
            </a:r>
          </a:p>
        </p:txBody>
      </p:sp>
      <p:grpSp>
        <p:nvGrpSpPr>
          <p:cNvPr id="582665" name="Group 9"/>
          <p:cNvGrpSpPr>
            <a:grpSpLocks/>
          </p:cNvGrpSpPr>
          <p:nvPr/>
        </p:nvGrpSpPr>
        <p:grpSpPr bwMode="auto">
          <a:xfrm>
            <a:off x="312862" y="4786336"/>
            <a:ext cx="8305800" cy="601663"/>
            <a:chOff x="288" y="3644"/>
            <a:chExt cx="5232" cy="379"/>
          </a:xfrm>
        </p:grpSpPr>
        <p:sp>
          <p:nvSpPr>
            <p:cNvPr id="582666" name="Text Box 10"/>
            <p:cNvSpPr txBox="1">
              <a:spLocks noChangeArrowheads="1"/>
            </p:cNvSpPr>
            <p:nvPr/>
          </p:nvSpPr>
          <p:spPr bwMode="auto">
            <a:xfrm>
              <a:off x="288" y="3696"/>
              <a:ext cx="5232"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同理可知</a:t>
              </a:r>
              <a:r>
                <a:rPr lang="en-US" altLang="zh-CN"/>
                <a:t>,       </a:t>
              </a:r>
              <a:r>
                <a:rPr lang="zh-CN" altLang="en-US"/>
                <a:t>也是最优解</a:t>
              </a:r>
              <a:r>
                <a:rPr lang="en-US" altLang="zh-CN"/>
                <a:t>.</a:t>
              </a:r>
            </a:p>
          </p:txBody>
        </p:sp>
        <p:graphicFrame>
          <p:nvGraphicFramePr>
            <p:cNvPr id="582667" name="Object 11"/>
            <p:cNvGraphicFramePr>
              <a:graphicFrameLocks noChangeAspect="1"/>
            </p:cNvGraphicFramePr>
            <p:nvPr>
              <p:extLst>
                <p:ext uri="{D42A27DB-BD31-4B8C-83A1-F6EECF244321}">
                  <p14:modId xmlns:p14="http://schemas.microsoft.com/office/powerpoint/2010/main" xmlns="" val="1584841268"/>
                </p:ext>
              </p:extLst>
            </p:nvPr>
          </p:nvGraphicFramePr>
          <p:xfrm>
            <a:off x="965" y="3644"/>
            <a:ext cx="282" cy="304"/>
          </p:xfrm>
          <a:graphic>
            <a:graphicData uri="http://schemas.openxmlformats.org/presentationml/2006/ole">
              <p:oleObj spid="_x0000_s28782" name="Equation" r:id="rId6" imgW="164814" imgH="177492" progId="Equation.3">
                <p:embed/>
              </p:oleObj>
            </a:graphicData>
          </a:graphic>
        </p:graphicFrame>
      </p:grpSp>
      <p:grpSp>
        <p:nvGrpSpPr>
          <p:cNvPr id="582668" name="Group 12"/>
          <p:cNvGrpSpPr>
            <a:grpSpLocks/>
          </p:cNvGrpSpPr>
          <p:nvPr/>
        </p:nvGrpSpPr>
        <p:grpSpPr bwMode="auto">
          <a:xfrm>
            <a:off x="312862" y="3456195"/>
            <a:ext cx="8458200" cy="850901"/>
            <a:chOff x="192" y="3013"/>
            <a:chExt cx="5328" cy="536"/>
          </a:xfrm>
        </p:grpSpPr>
        <p:sp>
          <p:nvSpPr>
            <p:cNvPr id="582669" name="Text Box 13"/>
            <p:cNvSpPr txBox="1">
              <a:spLocks noChangeArrowheads="1"/>
            </p:cNvSpPr>
            <p:nvPr/>
          </p:nvSpPr>
          <p:spPr bwMode="auto">
            <a:xfrm>
              <a:off x="192" y="3072"/>
              <a:ext cx="5328" cy="4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dirty="0"/>
                <a:t>        </a:t>
              </a:r>
              <a:r>
                <a:rPr lang="zh-CN" altLang="en-US" dirty="0"/>
                <a:t>对任何可行解，均</a:t>
              </a:r>
              <a:r>
                <a:rPr lang="zh-CN" altLang="en-US" dirty="0" smtClean="0"/>
                <a:t>有                                </a:t>
              </a:r>
              <a:r>
                <a:rPr lang="zh-CN" altLang="en-US" dirty="0"/>
                <a:t>，故       是目标函数取值最小的可行解，因而是最优解。</a:t>
              </a:r>
            </a:p>
          </p:txBody>
        </p:sp>
        <p:graphicFrame>
          <p:nvGraphicFramePr>
            <p:cNvPr id="582670" name="Object 14"/>
            <p:cNvGraphicFramePr>
              <a:graphicFrameLocks noChangeAspect="1"/>
            </p:cNvGraphicFramePr>
            <p:nvPr>
              <p:extLst>
                <p:ext uri="{D42A27DB-BD31-4B8C-83A1-F6EECF244321}">
                  <p14:modId xmlns:p14="http://schemas.microsoft.com/office/powerpoint/2010/main" xmlns="" val="2823126696"/>
                </p:ext>
              </p:extLst>
            </p:nvPr>
          </p:nvGraphicFramePr>
          <p:xfrm>
            <a:off x="1832" y="3013"/>
            <a:ext cx="1344" cy="326"/>
          </p:xfrm>
          <a:graphic>
            <a:graphicData uri="http://schemas.openxmlformats.org/presentationml/2006/ole">
              <p:oleObj spid="_x0000_s28783" name="Equation" r:id="rId7" imgW="888614" imgH="215806" progId="">
                <p:embed/>
              </p:oleObj>
            </a:graphicData>
          </a:graphic>
        </p:graphicFrame>
      </p:grpSp>
      <p:graphicFrame>
        <p:nvGraphicFramePr>
          <p:cNvPr id="582672" name="Object 16"/>
          <p:cNvGraphicFramePr>
            <a:graphicFrameLocks noChangeAspect="1"/>
          </p:cNvGraphicFramePr>
          <p:nvPr>
            <p:extLst>
              <p:ext uri="{D42A27DB-BD31-4B8C-83A1-F6EECF244321}">
                <p14:modId xmlns:p14="http://schemas.microsoft.com/office/powerpoint/2010/main" xmlns="" val="3386947855"/>
              </p:ext>
            </p:extLst>
          </p:nvPr>
        </p:nvGraphicFramePr>
        <p:xfrm>
          <a:off x="2280074" y="2340883"/>
          <a:ext cx="823912" cy="549275"/>
        </p:xfrm>
        <a:graphic>
          <a:graphicData uri="http://schemas.openxmlformats.org/presentationml/2006/ole">
            <p:oleObj spid="_x0000_s28784" name="Equation" r:id="rId8" imgW="342751" imgH="228501" progId="">
              <p:embed/>
            </p:oleObj>
          </a:graphicData>
        </a:graphic>
      </p:graphicFrame>
      <p:graphicFrame>
        <p:nvGraphicFramePr>
          <p:cNvPr id="582674" name="Object 18"/>
          <p:cNvGraphicFramePr>
            <a:graphicFrameLocks noChangeAspect="1"/>
          </p:cNvGraphicFramePr>
          <p:nvPr>
            <p:extLst>
              <p:ext uri="{D42A27DB-BD31-4B8C-83A1-F6EECF244321}">
                <p14:modId xmlns:p14="http://schemas.microsoft.com/office/powerpoint/2010/main" xmlns="" val="2213806915"/>
              </p:ext>
            </p:extLst>
          </p:nvPr>
        </p:nvGraphicFramePr>
        <p:xfrm>
          <a:off x="5543675" y="3463339"/>
          <a:ext cx="374650" cy="503238"/>
        </p:xfrm>
        <a:graphic>
          <a:graphicData uri="http://schemas.openxmlformats.org/presentationml/2006/ole">
            <p:oleObj spid="_x0000_s28785" name="Equation" r:id="rId9" imgW="152268" imgH="203024" progId="">
              <p:embed/>
            </p:oleObj>
          </a:graphicData>
        </a:graphic>
      </p:graphicFrame>
    </p:spTree>
    <p:extLst>
      <p:ext uri="{BB962C8B-B14F-4D97-AF65-F5344CB8AC3E}">
        <p14:creationId xmlns:p14="http://schemas.microsoft.com/office/powerpoint/2010/main" xmlns="" val="1323393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826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826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64"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468313" y="188913"/>
            <a:ext cx="8458200" cy="1587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a:t>性质</a:t>
            </a:r>
            <a:r>
              <a:rPr lang="en-US" altLang="zh-CN"/>
              <a:t>4  </a:t>
            </a:r>
            <a:r>
              <a:rPr lang="zh-CN" altLang="en-US"/>
              <a:t>强对偶性（对偶定理）</a:t>
            </a:r>
          </a:p>
          <a:p>
            <a:pPr>
              <a:spcBef>
                <a:spcPct val="50000"/>
              </a:spcBef>
            </a:pPr>
            <a:r>
              <a:rPr lang="zh-CN" altLang="en-US"/>
              <a:t>        若原问题有最优解，则对偶问题也有最优解，且目标函数最优值相等。</a:t>
            </a:r>
          </a:p>
        </p:txBody>
      </p:sp>
      <p:graphicFrame>
        <p:nvGraphicFramePr>
          <p:cNvPr id="36867" name="Object 5"/>
          <p:cNvGraphicFramePr>
            <a:graphicFrameLocks noChangeAspect="1"/>
          </p:cNvGraphicFramePr>
          <p:nvPr/>
        </p:nvGraphicFramePr>
        <p:xfrm>
          <a:off x="3836988" y="4397375"/>
          <a:ext cx="469900" cy="536575"/>
        </p:xfrm>
        <a:graphic>
          <a:graphicData uri="http://schemas.openxmlformats.org/presentationml/2006/ole">
            <p:oleObj spid="_x0000_s57373" name="Equation" r:id="rId3" imgW="177569" imgH="202936" progId="">
              <p:embed/>
            </p:oleObj>
          </a:graphicData>
        </a:graphic>
      </p:graphicFrame>
      <p:graphicFrame>
        <p:nvGraphicFramePr>
          <p:cNvPr id="36868" name="Object 6"/>
          <p:cNvGraphicFramePr>
            <a:graphicFrameLocks noChangeAspect="1"/>
          </p:cNvGraphicFramePr>
          <p:nvPr/>
        </p:nvGraphicFramePr>
        <p:xfrm>
          <a:off x="1490663" y="2536825"/>
          <a:ext cx="2505075" cy="598488"/>
        </p:xfrm>
        <a:graphic>
          <a:graphicData uri="http://schemas.openxmlformats.org/presentationml/2006/ole">
            <p:oleObj spid="_x0000_s57374" name="Equation" r:id="rId4" imgW="901309" imgH="215806" progId="Equation.3">
              <p:embed/>
            </p:oleObj>
          </a:graphicData>
        </a:graphic>
      </p:graphicFrame>
      <p:graphicFrame>
        <p:nvGraphicFramePr>
          <p:cNvPr id="36869" name="Object 7"/>
          <p:cNvGraphicFramePr>
            <a:graphicFrameLocks noChangeAspect="1"/>
          </p:cNvGraphicFramePr>
          <p:nvPr/>
        </p:nvGraphicFramePr>
        <p:xfrm>
          <a:off x="5521325" y="2514600"/>
          <a:ext cx="3622675" cy="606425"/>
        </p:xfrm>
        <a:graphic>
          <a:graphicData uri="http://schemas.openxmlformats.org/presentationml/2006/ole">
            <p:oleObj spid="_x0000_s57375" name="Equation" r:id="rId5" imgW="1511300" imgH="254000" progId="">
              <p:embed/>
            </p:oleObj>
          </a:graphicData>
        </a:graphic>
      </p:graphicFrame>
      <p:graphicFrame>
        <p:nvGraphicFramePr>
          <p:cNvPr id="36870" name="Object 11"/>
          <p:cNvGraphicFramePr>
            <a:graphicFrameLocks noChangeAspect="1"/>
          </p:cNvGraphicFramePr>
          <p:nvPr/>
        </p:nvGraphicFramePr>
        <p:xfrm>
          <a:off x="2171700" y="3165475"/>
          <a:ext cx="403225" cy="538163"/>
        </p:xfrm>
        <a:graphic>
          <a:graphicData uri="http://schemas.openxmlformats.org/presentationml/2006/ole">
            <p:oleObj spid="_x0000_s57376" name="Equation" r:id="rId6" imgW="152268" imgH="203024" progId="">
              <p:embed/>
            </p:oleObj>
          </a:graphicData>
        </a:graphic>
      </p:graphicFrame>
      <p:graphicFrame>
        <p:nvGraphicFramePr>
          <p:cNvPr id="36871" name="Object 12"/>
          <p:cNvGraphicFramePr>
            <a:graphicFrameLocks noChangeAspect="1"/>
          </p:cNvGraphicFramePr>
          <p:nvPr/>
        </p:nvGraphicFramePr>
        <p:xfrm>
          <a:off x="2708275" y="3698875"/>
          <a:ext cx="2747963" cy="617538"/>
        </p:xfrm>
        <a:graphic>
          <a:graphicData uri="http://schemas.openxmlformats.org/presentationml/2006/ole">
            <p:oleObj spid="_x0000_s57377" name="Equation" r:id="rId7" imgW="1129810" imgH="253890" progId="">
              <p:embed/>
            </p:oleObj>
          </a:graphicData>
        </a:graphic>
      </p:graphicFrame>
      <p:graphicFrame>
        <p:nvGraphicFramePr>
          <p:cNvPr id="36872" name="Object 13"/>
          <p:cNvGraphicFramePr>
            <a:graphicFrameLocks noChangeAspect="1"/>
          </p:cNvGraphicFramePr>
          <p:nvPr/>
        </p:nvGraphicFramePr>
        <p:xfrm>
          <a:off x="1474788" y="1882775"/>
          <a:ext cx="469900" cy="538163"/>
        </p:xfrm>
        <a:graphic>
          <a:graphicData uri="http://schemas.openxmlformats.org/presentationml/2006/ole">
            <p:oleObj spid="_x0000_s57378" name="Equation" r:id="rId8" imgW="177569" imgH="202936" progId="">
              <p:embed/>
            </p:oleObj>
          </a:graphicData>
        </a:graphic>
      </p:graphicFrame>
      <p:graphicFrame>
        <p:nvGraphicFramePr>
          <p:cNvPr id="36873" name="Object 14"/>
          <p:cNvGraphicFramePr>
            <a:graphicFrameLocks noChangeAspect="1"/>
          </p:cNvGraphicFramePr>
          <p:nvPr/>
        </p:nvGraphicFramePr>
        <p:xfrm>
          <a:off x="2700338" y="4891088"/>
          <a:ext cx="2600325" cy="571500"/>
        </p:xfrm>
        <a:graphic>
          <a:graphicData uri="http://schemas.openxmlformats.org/presentationml/2006/ole">
            <p:oleObj spid="_x0000_s57379" name="Equation" r:id="rId9" imgW="1155700" imgH="254000" progId="">
              <p:embed/>
            </p:oleObj>
          </a:graphicData>
        </a:graphic>
      </p:graphicFrame>
      <p:graphicFrame>
        <p:nvGraphicFramePr>
          <p:cNvPr id="36874" name="Object 15"/>
          <p:cNvGraphicFramePr>
            <a:graphicFrameLocks noChangeAspect="1"/>
          </p:cNvGraphicFramePr>
          <p:nvPr/>
        </p:nvGraphicFramePr>
        <p:xfrm>
          <a:off x="2695575" y="5453063"/>
          <a:ext cx="2847975" cy="606425"/>
        </p:xfrm>
        <a:graphic>
          <a:graphicData uri="http://schemas.openxmlformats.org/presentationml/2006/ole">
            <p:oleObj spid="_x0000_s57380" name="Equation" r:id="rId10" imgW="1193800" imgH="254000" progId="">
              <p:embed/>
            </p:oleObj>
          </a:graphicData>
        </a:graphic>
      </p:graphicFrame>
      <p:graphicFrame>
        <p:nvGraphicFramePr>
          <p:cNvPr id="36875" name="Object 17"/>
          <p:cNvGraphicFramePr>
            <a:graphicFrameLocks noChangeAspect="1"/>
          </p:cNvGraphicFramePr>
          <p:nvPr/>
        </p:nvGraphicFramePr>
        <p:xfrm>
          <a:off x="1789113" y="6137275"/>
          <a:ext cx="404812" cy="538163"/>
        </p:xfrm>
        <a:graphic>
          <a:graphicData uri="http://schemas.openxmlformats.org/presentationml/2006/ole">
            <p:oleObj spid="_x0000_s57381" name="Equation" r:id="rId11" imgW="152268" imgH="203024" progId="">
              <p:embed/>
            </p:oleObj>
          </a:graphicData>
        </a:graphic>
      </p:graphicFrame>
      <p:sp>
        <p:nvSpPr>
          <p:cNvPr id="36876" name="Text Box 20"/>
          <p:cNvSpPr txBox="1">
            <a:spLocks noChangeArrowheads="1"/>
          </p:cNvSpPr>
          <p:nvPr/>
        </p:nvSpPr>
        <p:spPr bwMode="auto">
          <a:xfrm>
            <a:off x="271463" y="1916113"/>
            <a:ext cx="8610600" cy="4748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证：设      是原问题的最优解 ，它对应的基矩阵必存</a:t>
            </a:r>
          </a:p>
          <a:p>
            <a:pPr eaLnBrk="1" hangingPunct="1">
              <a:spcBef>
                <a:spcPct val="50000"/>
              </a:spcBef>
            </a:pPr>
            <a:r>
              <a:rPr lang="zh-CN" altLang="en-US"/>
              <a:t>        在                            ，即得到</a:t>
            </a:r>
          </a:p>
          <a:p>
            <a:pPr eaLnBrk="1" hangingPunct="1">
              <a:spcBef>
                <a:spcPct val="50000"/>
              </a:spcBef>
            </a:pPr>
            <a:r>
              <a:rPr lang="zh-CN" altLang="en-US"/>
              <a:t>        若这时     是对偶问题的可行解，它使</a:t>
            </a:r>
          </a:p>
          <a:p>
            <a:pPr eaLnBrk="1" hangingPunct="1">
              <a:spcBef>
                <a:spcPct val="50000"/>
              </a:spcBef>
            </a:pPr>
            <a:endParaRPr lang="zh-CN" altLang="en-US"/>
          </a:p>
          <a:p>
            <a:pPr eaLnBrk="1" hangingPunct="1">
              <a:spcBef>
                <a:spcPct val="35000"/>
              </a:spcBef>
            </a:pPr>
            <a:r>
              <a:rPr lang="zh-CN" altLang="en-US"/>
              <a:t>       因原问题的最优解       使目标函数取值</a:t>
            </a:r>
          </a:p>
          <a:p>
            <a:pPr eaLnBrk="1" hangingPunct="1">
              <a:spcBef>
                <a:spcPct val="35000"/>
              </a:spcBef>
            </a:pPr>
            <a:r>
              <a:rPr lang="zh-CN" altLang="en-US"/>
              <a:t>                    </a:t>
            </a:r>
          </a:p>
          <a:p>
            <a:pPr eaLnBrk="1" hangingPunct="1">
              <a:spcBef>
                <a:spcPct val="35000"/>
              </a:spcBef>
            </a:pPr>
            <a:r>
              <a:rPr lang="zh-CN" altLang="en-US"/>
              <a:t>      由此得到</a:t>
            </a:r>
          </a:p>
          <a:p>
            <a:pPr eaLnBrk="1" hangingPunct="1">
              <a:spcBef>
                <a:spcPct val="35000"/>
              </a:spcBef>
            </a:pPr>
            <a:r>
              <a:rPr lang="zh-CN" altLang="en-US"/>
              <a:t>       可见      是对偶问题的最优解。</a:t>
            </a:r>
          </a:p>
        </p:txBody>
      </p:sp>
    </p:spTree>
    <p:extLst>
      <p:ext uri="{BB962C8B-B14F-4D97-AF65-F5344CB8AC3E}">
        <p14:creationId xmlns:p14="http://schemas.microsoft.com/office/powerpoint/2010/main" xmlns="" val="25641847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ChangeArrowheads="1"/>
          </p:cNvSpPr>
          <p:nvPr>
            <p:ph type="title"/>
          </p:nvPr>
        </p:nvSpPr>
        <p:spPr>
          <a:xfrm>
            <a:off x="609600" y="844550"/>
            <a:ext cx="8135938" cy="1143000"/>
          </a:xfrm>
        </p:spPr>
        <p:txBody>
          <a:bodyPr/>
          <a:lstStyle/>
          <a:p>
            <a:pPr algn="l"/>
            <a:r>
              <a:rPr lang="zh-CN" altLang="en-US" sz="3200" b="1"/>
              <a:t>原问题与对偶问题的解和目标函数值之间的关系</a:t>
            </a:r>
          </a:p>
        </p:txBody>
      </p:sp>
      <p:graphicFrame>
        <p:nvGraphicFramePr>
          <p:cNvPr id="604216" name="Group 56"/>
          <p:cNvGraphicFramePr>
            <a:graphicFrameLocks noGrp="1"/>
          </p:cNvGraphicFramePr>
          <p:nvPr>
            <p:ph idx="1"/>
          </p:nvPr>
        </p:nvGraphicFramePr>
        <p:xfrm>
          <a:off x="684213" y="2420938"/>
          <a:ext cx="7772400" cy="2960688"/>
        </p:xfrm>
        <a:graphic>
          <a:graphicData uri="http://schemas.openxmlformats.org/drawingml/2006/table">
            <a:tbl>
              <a:tblPr/>
              <a:tblGrid>
                <a:gridCol w="1943100">
                  <a:extLst>
                    <a:ext uri="{9D8B030D-6E8A-4147-A177-3AD203B41FA5}">
                      <a16:colId xmlns:a16="http://schemas.microsoft.com/office/drawing/2014/main" xmlns="" val="2210436620"/>
                    </a:ext>
                  </a:extLst>
                </a:gridCol>
                <a:gridCol w="1943100">
                  <a:extLst>
                    <a:ext uri="{9D8B030D-6E8A-4147-A177-3AD203B41FA5}">
                      <a16:colId xmlns:a16="http://schemas.microsoft.com/office/drawing/2014/main" xmlns="" val="42274862"/>
                    </a:ext>
                  </a:extLst>
                </a:gridCol>
                <a:gridCol w="1943100">
                  <a:extLst>
                    <a:ext uri="{9D8B030D-6E8A-4147-A177-3AD203B41FA5}">
                      <a16:colId xmlns:a16="http://schemas.microsoft.com/office/drawing/2014/main" xmlns="" val="2057216406"/>
                    </a:ext>
                  </a:extLst>
                </a:gridCol>
                <a:gridCol w="1943100">
                  <a:extLst>
                    <a:ext uri="{9D8B030D-6E8A-4147-A177-3AD203B41FA5}">
                      <a16:colId xmlns:a16="http://schemas.microsoft.com/office/drawing/2014/main" xmlns="" val="1960967839"/>
                    </a:ext>
                  </a:extLst>
                </a:gridCol>
              </a:tblGrid>
              <a:tr h="6032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原问题</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关系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对偶问题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目标函数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677951541"/>
                  </a:ext>
                </a:extLst>
              </a:tr>
              <a:tr h="23574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最优解</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无界解</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无可行解</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最优解</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无可行解</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无界解</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Z </a:t>
                      </a:r>
                      <a:r>
                        <a:rPr kumimoji="1" lang="en-US" altLang="zh-CN" sz="28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W </a:t>
                      </a:r>
                      <a:r>
                        <a:rPr kumimoji="1" lang="en-US" altLang="zh-CN" sz="28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209419335"/>
                  </a:ext>
                </a:extLst>
              </a:tr>
            </a:tbl>
          </a:graphicData>
        </a:graphic>
      </p:graphicFrame>
      <p:sp>
        <p:nvSpPr>
          <p:cNvPr id="604222" name="AutoShape 62"/>
          <p:cNvSpPr>
            <a:spLocks noChangeArrowheads="1"/>
          </p:cNvSpPr>
          <p:nvPr/>
        </p:nvSpPr>
        <p:spPr bwMode="auto">
          <a:xfrm>
            <a:off x="2986088" y="3221038"/>
            <a:ext cx="1152525" cy="287337"/>
          </a:xfrm>
          <a:prstGeom prst="leftRightArrow">
            <a:avLst>
              <a:gd name="adj1" fmla="val 50000"/>
              <a:gd name="adj2" fmla="val 8022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04226" name="AutoShape 66"/>
          <p:cNvSpPr>
            <a:spLocks noChangeArrowheads="1"/>
          </p:cNvSpPr>
          <p:nvPr/>
        </p:nvSpPr>
        <p:spPr bwMode="auto">
          <a:xfrm>
            <a:off x="2986088" y="3652838"/>
            <a:ext cx="1152525" cy="287337"/>
          </a:xfrm>
          <a:prstGeom prst="leftRightArrow">
            <a:avLst>
              <a:gd name="adj1" fmla="val 50000"/>
              <a:gd name="adj2" fmla="val 8022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04227" name="AutoShape 67"/>
          <p:cNvSpPr>
            <a:spLocks noChangeArrowheads="1"/>
          </p:cNvSpPr>
          <p:nvPr/>
        </p:nvSpPr>
        <p:spPr bwMode="auto">
          <a:xfrm>
            <a:off x="2986088" y="4805363"/>
            <a:ext cx="1152525" cy="287337"/>
          </a:xfrm>
          <a:prstGeom prst="leftRightArrow">
            <a:avLst>
              <a:gd name="adj1" fmla="val 50000"/>
              <a:gd name="adj2" fmla="val 8022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604230" name="AutoShape 70"/>
          <p:cNvSpPr>
            <a:spLocks noChangeArrowheads="1"/>
          </p:cNvSpPr>
          <p:nvPr/>
        </p:nvSpPr>
        <p:spPr bwMode="auto">
          <a:xfrm rot="-1115246">
            <a:off x="2986088" y="4229100"/>
            <a:ext cx="1152525" cy="287338"/>
          </a:xfrm>
          <a:prstGeom prst="leftRightArrow">
            <a:avLst>
              <a:gd name="adj1" fmla="val 50000"/>
              <a:gd name="adj2" fmla="val 8022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xmlns="" val="138830699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685800" y="381000"/>
            <a:ext cx="74676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dirty="0"/>
              <a:t>性质</a:t>
            </a:r>
            <a:r>
              <a:rPr lang="en-US" altLang="zh-CN" dirty="0"/>
              <a:t>5   </a:t>
            </a:r>
            <a:r>
              <a:rPr lang="zh-CN" altLang="en-US" dirty="0"/>
              <a:t>互补松弛性</a:t>
            </a:r>
          </a:p>
        </p:txBody>
      </p:sp>
      <p:sp>
        <p:nvSpPr>
          <p:cNvPr id="38915" name="Text Box 3"/>
          <p:cNvSpPr txBox="1">
            <a:spLocks noChangeArrowheads="1"/>
          </p:cNvSpPr>
          <p:nvPr/>
        </p:nvSpPr>
        <p:spPr bwMode="auto">
          <a:xfrm>
            <a:off x="304800" y="914400"/>
            <a:ext cx="8534400" cy="946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       </a:t>
            </a:r>
            <a:r>
              <a:rPr lang="zh-CN" altLang="en-US"/>
              <a:t>设</a:t>
            </a:r>
            <a:r>
              <a:rPr lang="en-US" altLang="zh-CN"/>
              <a:t>X*</a:t>
            </a:r>
            <a:r>
              <a:rPr lang="zh-CN" altLang="en-US"/>
              <a:t>和</a:t>
            </a:r>
            <a:r>
              <a:rPr lang="en-US" altLang="zh-CN"/>
              <a:t>Y*</a:t>
            </a:r>
            <a:r>
              <a:rPr lang="zh-CN" altLang="en-US"/>
              <a:t>分别原问题和对偶问题的可行解，那么 </a:t>
            </a:r>
            <a:r>
              <a:rPr lang="en-US" altLang="zh-CN"/>
              <a:t>Y*X</a:t>
            </a:r>
            <a:r>
              <a:rPr lang="en-US" altLang="zh-CN" baseline="-25000"/>
              <a:t>S</a:t>
            </a:r>
            <a:r>
              <a:rPr lang="en-US" altLang="zh-CN"/>
              <a:t>*=0</a:t>
            </a:r>
            <a:r>
              <a:rPr lang="zh-CN" altLang="en-US"/>
              <a:t>和 </a:t>
            </a:r>
            <a:r>
              <a:rPr lang="en-US" altLang="zh-CN"/>
              <a:t>Y</a:t>
            </a:r>
            <a:r>
              <a:rPr lang="en-US" altLang="zh-CN" baseline="-25000"/>
              <a:t>S</a:t>
            </a:r>
            <a:r>
              <a:rPr lang="en-US" altLang="zh-CN"/>
              <a:t>*X*=0 </a:t>
            </a:r>
            <a:r>
              <a:rPr lang="zh-CN" altLang="en-US"/>
              <a:t>，当且仅当</a:t>
            </a:r>
            <a:r>
              <a:rPr lang="en-US" altLang="zh-CN"/>
              <a:t>X*</a:t>
            </a:r>
            <a:r>
              <a:rPr lang="zh-CN" altLang="en-US"/>
              <a:t>，</a:t>
            </a:r>
            <a:r>
              <a:rPr lang="en-US" altLang="zh-CN"/>
              <a:t>Y*</a:t>
            </a:r>
            <a:r>
              <a:rPr lang="zh-CN" altLang="en-US"/>
              <a:t>是最优解。</a:t>
            </a:r>
          </a:p>
        </p:txBody>
      </p:sp>
      <p:grpSp>
        <p:nvGrpSpPr>
          <p:cNvPr id="583699" name="Group 19"/>
          <p:cNvGrpSpPr>
            <a:grpSpLocks/>
          </p:cNvGrpSpPr>
          <p:nvPr/>
        </p:nvGrpSpPr>
        <p:grpSpPr bwMode="auto">
          <a:xfrm>
            <a:off x="304800" y="2565400"/>
            <a:ext cx="7723188" cy="544513"/>
            <a:chOff x="192" y="1616"/>
            <a:chExt cx="4865" cy="343"/>
          </a:xfrm>
        </p:grpSpPr>
        <p:sp>
          <p:nvSpPr>
            <p:cNvPr id="38927" name="Text Box 4"/>
            <p:cNvSpPr txBox="1">
              <a:spLocks noChangeArrowheads="1"/>
            </p:cNvSpPr>
            <p:nvPr/>
          </p:nvSpPr>
          <p:spPr bwMode="auto">
            <a:xfrm>
              <a:off x="192" y="1632"/>
              <a:ext cx="1728"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a:t>AX*≤ b</a:t>
              </a:r>
            </a:p>
          </p:txBody>
        </p:sp>
        <p:grpSp>
          <p:nvGrpSpPr>
            <p:cNvPr id="38928" name="Group 5"/>
            <p:cNvGrpSpPr>
              <a:grpSpLocks/>
            </p:cNvGrpSpPr>
            <p:nvPr/>
          </p:nvGrpSpPr>
          <p:grpSpPr bwMode="auto">
            <a:xfrm>
              <a:off x="1632" y="1632"/>
              <a:ext cx="2160" cy="327"/>
              <a:chOff x="3024" y="2040"/>
              <a:chExt cx="2160" cy="327"/>
            </a:xfrm>
          </p:grpSpPr>
          <p:sp>
            <p:nvSpPr>
              <p:cNvPr id="38931" name="Text Box 6"/>
              <p:cNvSpPr txBox="1">
                <a:spLocks noChangeArrowheads="1"/>
              </p:cNvSpPr>
              <p:nvPr/>
            </p:nvSpPr>
            <p:spPr bwMode="auto">
              <a:xfrm>
                <a:off x="3312" y="2040"/>
                <a:ext cx="1872"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AX*+X</a:t>
                </a:r>
                <a:r>
                  <a:rPr lang="en-US" altLang="zh-CN" baseline="-25000"/>
                  <a:t>S</a:t>
                </a:r>
                <a:r>
                  <a:rPr lang="en-US" altLang="zh-CN"/>
                  <a:t>*= b</a:t>
                </a:r>
              </a:p>
            </p:txBody>
          </p:sp>
          <p:sp>
            <p:nvSpPr>
              <p:cNvPr id="38932" name="AutoShape 7"/>
              <p:cNvSpPr>
                <a:spLocks noChangeArrowheads="1"/>
              </p:cNvSpPr>
              <p:nvPr/>
            </p:nvSpPr>
            <p:spPr bwMode="auto">
              <a:xfrm>
                <a:off x="3024" y="2136"/>
                <a:ext cx="288" cy="144"/>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en-US" altLang="en-US"/>
              </a:p>
            </p:txBody>
          </p:sp>
        </p:grpSp>
        <p:sp>
          <p:nvSpPr>
            <p:cNvPr id="38929" name="Text Box 8"/>
            <p:cNvSpPr txBox="1">
              <a:spLocks noChangeArrowheads="1"/>
            </p:cNvSpPr>
            <p:nvPr/>
          </p:nvSpPr>
          <p:spPr bwMode="auto">
            <a:xfrm>
              <a:off x="3720" y="1616"/>
              <a:ext cx="1337"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X</a:t>
              </a:r>
              <a:r>
                <a:rPr lang="en-US" altLang="zh-CN" baseline="-25000"/>
                <a:t>S</a:t>
              </a:r>
              <a:r>
                <a:rPr lang="en-US" altLang="zh-CN"/>
                <a:t>* =b-AX*</a:t>
              </a:r>
            </a:p>
          </p:txBody>
        </p:sp>
        <p:sp>
          <p:nvSpPr>
            <p:cNvPr id="38930" name="AutoShape 9"/>
            <p:cNvSpPr>
              <a:spLocks noChangeArrowheads="1"/>
            </p:cNvSpPr>
            <p:nvPr/>
          </p:nvSpPr>
          <p:spPr bwMode="auto">
            <a:xfrm>
              <a:off x="3360" y="1706"/>
              <a:ext cx="309" cy="175"/>
            </a:xfrm>
            <a:prstGeom prst="rightArrow">
              <a:avLst>
                <a:gd name="adj1" fmla="val 50000"/>
                <a:gd name="adj2" fmla="val 4414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en-US" altLang="en-US"/>
            </a:p>
          </p:txBody>
        </p:sp>
      </p:grpSp>
      <p:grpSp>
        <p:nvGrpSpPr>
          <p:cNvPr id="583700" name="Group 20"/>
          <p:cNvGrpSpPr>
            <a:grpSpLocks/>
          </p:cNvGrpSpPr>
          <p:nvPr/>
        </p:nvGrpSpPr>
        <p:grpSpPr bwMode="auto">
          <a:xfrm>
            <a:off x="914400" y="3200400"/>
            <a:ext cx="4648200" cy="531813"/>
            <a:chOff x="576" y="2016"/>
            <a:chExt cx="2928" cy="335"/>
          </a:xfrm>
        </p:grpSpPr>
        <p:grpSp>
          <p:nvGrpSpPr>
            <p:cNvPr id="38923" name="Group 10"/>
            <p:cNvGrpSpPr>
              <a:grpSpLocks/>
            </p:cNvGrpSpPr>
            <p:nvPr/>
          </p:nvGrpSpPr>
          <p:grpSpPr bwMode="auto">
            <a:xfrm>
              <a:off x="576" y="2016"/>
              <a:ext cx="1872" cy="327"/>
              <a:chOff x="2352" y="3168"/>
              <a:chExt cx="1872" cy="327"/>
            </a:xfrm>
          </p:grpSpPr>
          <p:sp>
            <p:nvSpPr>
              <p:cNvPr id="38925" name="AutoShape 11"/>
              <p:cNvSpPr>
                <a:spLocks noChangeArrowheads="1"/>
              </p:cNvSpPr>
              <p:nvPr/>
            </p:nvSpPr>
            <p:spPr bwMode="auto">
              <a:xfrm>
                <a:off x="3936" y="3264"/>
                <a:ext cx="288" cy="144"/>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en-US" altLang="en-US"/>
              </a:p>
            </p:txBody>
          </p:sp>
          <p:sp>
            <p:nvSpPr>
              <p:cNvPr id="38926" name="Text Box 12"/>
              <p:cNvSpPr txBox="1">
                <a:spLocks noChangeArrowheads="1"/>
              </p:cNvSpPr>
              <p:nvPr/>
            </p:nvSpPr>
            <p:spPr bwMode="auto">
              <a:xfrm>
                <a:off x="2352" y="3168"/>
                <a:ext cx="1632"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Y*</a:t>
                </a:r>
                <a:r>
                  <a:rPr lang="zh-CN" altLang="en-US"/>
                  <a:t>（</a:t>
                </a:r>
                <a:r>
                  <a:rPr lang="en-US" altLang="zh-CN"/>
                  <a:t>b-AX*)=0</a:t>
                </a:r>
              </a:p>
            </p:txBody>
          </p:sp>
        </p:grpSp>
        <p:sp>
          <p:nvSpPr>
            <p:cNvPr id="38924" name="Text Box 13"/>
            <p:cNvSpPr txBox="1">
              <a:spLocks noChangeArrowheads="1"/>
            </p:cNvSpPr>
            <p:nvPr/>
          </p:nvSpPr>
          <p:spPr bwMode="auto">
            <a:xfrm>
              <a:off x="2448" y="2024"/>
              <a:ext cx="1056"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Y*X</a:t>
              </a:r>
              <a:r>
                <a:rPr lang="en-US" altLang="zh-CN" baseline="-25000"/>
                <a:t>S</a:t>
              </a:r>
              <a:r>
                <a:rPr lang="en-US" altLang="zh-CN"/>
                <a:t>*=0</a:t>
              </a:r>
            </a:p>
          </p:txBody>
        </p:sp>
      </p:grpSp>
      <p:graphicFrame>
        <p:nvGraphicFramePr>
          <p:cNvPr id="583694" name="Object 14"/>
          <p:cNvGraphicFramePr>
            <a:graphicFrameLocks noChangeAspect="1"/>
          </p:cNvGraphicFramePr>
          <p:nvPr/>
        </p:nvGraphicFramePr>
        <p:xfrm>
          <a:off x="990600" y="3733800"/>
          <a:ext cx="4445000" cy="2008188"/>
        </p:xfrm>
        <a:graphic>
          <a:graphicData uri="http://schemas.openxmlformats.org/presentationml/2006/ole">
            <p:oleObj spid="_x0000_s58378" name="Equation" r:id="rId3" imgW="1574800" imgH="711200" progId="Equation.3">
              <p:embed/>
            </p:oleObj>
          </a:graphicData>
        </a:graphic>
      </p:graphicFrame>
      <p:graphicFrame>
        <p:nvGraphicFramePr>
          <p:cNvPr id="583695" name="Object 15"/>
          <p:cNvGraphicFramePr>
            <a:graphicFrameLocks noChangeAspect="1"/>
          </p:cNvGraphicFramePr>
          <p:nvPr/>
        </p:nvGraphicFramePr>
        <p:xfrm>
          <a:off x="838200" y="5773738"/>
          <a:ext cx="6096000" cy="703262"/>
        </p:xfrm>
        <a:graphic>
          <a:graphicData uri="http://schemas.openxmlformats.org/presentationml/2006/ole">
            <p:oleObj spid="_x0000_s58379" name="Equation" r:id="rId4" imgW="1981200" imgH="228600" progId="Equation.3">
              <p:embed/>
            </p:oleObj>
          </a:graphicData>
        </a:graphic>
      </p:graphicFrame>
      <p:sp>
        <p:nvSpPr>
          <p:cNvPr id="583696" name="Line 16"/>
          <p:cNvSpPr>
            <a:spLocks noChangeShapeType="1"/>
          </p:cNvSpPr>
          <p:nvPr/>
        </p:nvSpPr>
        <p:spPr bwMode="auto">
          <a:xfrm>
            <a:off x="4038600" y="1828800"/>
            <a:ext cx="1447800" cy="0"/>
          </a:xfrm>
          <a:prstGeom prst="line">
            <a:avLst/>
          </a:prstGeom>
          <a:noFill/>
          <a:ln w="38100">
            <a:solidFill>
              <a:srgbClr val="FF33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583697" name="AutoShape 17"/>
          <p:cNvSpPr>
            <a:spLocks noChangeArrowheads="1"/>
          </p:cNvSpPr>
          <p:nvPr/>
        </p:nvSpPr>
        <p:spPr bwMode="auto">
          <a:xfrm>
            <a:off x="5219700" y="260350"/>
            <a:ext cx="2952750" cy="576263"/>
          </a:xfrm>
          <a:prstGeom prst="wedgeRoundRectCallout">
            <a:avLst>
              <a:gd name="adj1" fmla="val -46505"/>
              <a:gd name="adj2" fmla="val 123556"/>
              <a:gd name="adj3" fmla="val 16667"/>
            </a:avLst>
          </a:prstGeom>
          <a:solidFill>
            <a:srgbClr val="FFCC99"/>
          </a:solidFill>
          <a:ln w="38100">
            <a:solidFill>
              <a:schemeClr val="accent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t>充分必要条件</a:t>
            </a:r>
          </a:p>
        </p:txBody>
      </p:sp>
      <p:sp>
        <p:nvSpPr>
          <p:cNvPr id="583698" name="Text Box 18"/>
          <p:cNvSpPr txBox="1">
            <a:spLocks noChangeArrowheads="1"/>
          </p:cNvSpPr>
          <p:nvPr/>
        </p:nvSpPr>
        <p:spPr bwMode="auto">
          <a:xfrm>
            <a:off x="914400" y="1981200"/>
            <a:ext cx="64770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a:t>Y*</a:t>
            </a:r>
            <a:r>
              <a:rPr lang="zh-CN" altLang="en-US"/>
              <a:t>（</a:t>
            </a:r>
            <a:r>
              <a:rPr lang="en-US" altLang="zh-CN"/>
              <a:t>b-AX*)=0               (Y*A-C)X*=0</a:t>
            </a:r>
            <a:endParaRPr lang="en-US" altLang="zh-CN" sz="2400" b="0"/>
          </a:p>
        </p:txBody>
      </p:sp>
    </p:spTree>
    <p:extLst>
      <p:ext uri="{BB962C8B-B14F-4D97-AF65-F5344CB8AC3E}">
        <p14:creationId xmlns:p14="http://schemas.microsoft.com/office/powerpoint/2010/main" xmlns="" val="889751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8369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83697"/>
                                        </p:tgtEl>
                                        <p:attrNameLst>
                                          <p:attrName>style.visibility</p:attrName>
                                        </p:attrNameLst>
                                      </p:cBhvr>
                                      <p:to>
                                        <p:strVal val="visible"/>
                                      </p:to>
                                    </p:set>
                                  </p:childTnLst>
                                  <p:subTnLst>
                                    <p:set>
                                      <p:cBhvr override="childStyle">
                                        <p:cTn dur="1" fill="hold" display="0" masterRel="nextClick" afterEffect="1"/>
                                        <p:tgtEl>
                                          <p:spTgt spid="58369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8369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8" presetClass="entr" presetSubtype="6" fill="hold" nodeType="clickEffect">
                                  <p:stCondLst>
                                    <p:cond delay="0"/>
                                  </p:stCondLst>
                                  <p:childTnLst>
                                    <p:set>
                                      <p:cBhvr>
                                        <p:cTn id="18" dur="1" fill="hold">
                                          <p:stCondLst>
                                            <p:cond delay="0"/>
                                          </p:stCondLst>
                                        </p:cTn>
                                        <p:tgtEl>
                                          <p:spTgt spid="583699"/>
                                        </p:tgtEl>
                                        <p:attrNameLst>
                                          <p:attrName>style.visibility</p:attrName>
                                        </p:attrNameLst>
                                      </p:cBhvr>
                                      <p:to>
                                        <p:strVal val="visible"/>
                                      </p:to>
                                    </p:set>
                                    <p:animEffect transition="in" filter="strips(downRight)">
                                      <p:cBhvr>
                                        <p:cTn id="19" dur="500"/>
                                        <p:tgtEl>
                                          <p:spTgt spid="58369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6" fill="hold" nodeType="clickEffect">
                                  <p:stCondLst>
                                    <p:cond delay="0"/>
                                  </p:stCondLst>
                                  <p:childTnLst>
                                    <p:set>
                                      <p:cBhvr>
                                        <p:cTn id="23" dur="1" fill="hold">
                                          <p:stCondLst>
                                            <p:cond delay="0"/>
                                          </p:stCondLst>
                                        </p:cTn>
                                        <p:tgtEl>
                                          <p:spTgt spid="583700"/>
                                        </p:tgtEl>
                                        <p:attrNameLst>
                                          <p:attrName>style.visibility</p:attrName>
                                        </p:attrNameLst>
                                      </p:cBhvr>
                                      <p:to>
                                        <p:strVal val="visible"/>
                                      </p:to>
                                    </p:set>
                                    <p:animEffect transition="in" filter="strips(downRight)">
                                      <p:cBhvr>
                                        <p:cTn id="24" dur="500"/>
                                        <p:tgtEl>
                                          <p:spTgt spid="58370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nodeType="clickEffect">
                                  <p:stCondLst>
                                    <p:cond delay="0"/>
                                  </p:stCondLst>
                                  <p:childTnLst>
                                    <p:set>
                                      <p:cBhvr>
                                        <p:cTn id="28" dur="1" fill="hold">
                                          <p:stCondLst>
                                            <p:cond delay="0"/>
                                          </p:stCondLst>
                                        </p:cTn>
                                        <p:tgtEl>
                                          <p:spTgt spid="583694"/>
                                        </p:tgtEl>
                                        <p:attrNameLst>
                                          <p:attrName>style.visibility</p:attrName>
                                        </p:attrNameLst>
                                      </p:cBhvr>
                                      <p:to>
                                        <p:strVal val="visible"/>
                                      </p:to>
                                    </p:set>
                                    <p:animEffect transition="in" filter="checkerboard(across)">
                                      <p:cBhvr>
                                        <p:cTn id="29" dur="500"/>
                                        <p:tgtEl>
                                          <p:spTgt spid="58369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583695"/>
                                        </p:tgtEl>
                                        <p:attrNameLst>
                                          <p:attrName>style.visibility</p:attrName>
                                        </p:attrNameLst>
                                      </p:cBhvr>
                                      <p:to>
                                        <p:strVal val="visible"/>
                                      </p:to>
                                    </p:set>
                                    <p:anim calcmode="lin" valueType="num">
                                      <p:cBhvr additive="base">
                                        <p:cTn id="34" dur="500" fill="hold"/>
                                        <p:tgtEl>
                                          <p:spTgt spid="583695"/>
                                        </p:tgtEl>
                                        <p:attrNameLst>
                                          <p:attrName>ppt_x</p:attrName>
                                        </p:attrNameLst>
                                      </p:cBhvr>
                                      <p:tavLst>
                                        <p:tav tm="0">
                                          <p:val>
                                            <p:strVal val="#ppt_x"/>
                                          </p:val>
                                        </p:tav>
                                        <p:tav tm="100000">
                                          <p:val>
                                            <p:strVal val="#ppt_x"/>
                                          </p:val>
                                        </p:tav>
                                      </p:tavLst>
                                    </p:anim>
                                    <p:anim calcmode="lin" valueType="num">
                                      <p:cBhvr additive="base">
                                        <p:cTn id="35" dur="500" fill="hold"/>
                                        <p:tgtEl>
                                          <p:spTgt spid="5836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97" grpId="0" animBg="1" autoUpdateAnimBg="0"/>
      <p:bldP spid="583698"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2"/>
          <p:cNvGraphicFramePr>
            <a:graphicFrameLocks noChangeAspect="1"/>
          </p:cNvGraphicFramePr>
          <p:nvPr/>
        </p:nvGraphicFramePr>
        <p:xfrm>
          <a:off x="1092200" y="577850"/>
          <a:ext cx="6096000" cy="703263"/>
        </p:xfrm>
        <a:graphic>
          <a:graphicData uri="http://schemas.openxmlformats.org/presentationml/2006/ole">
            <p:oleObj spid="_x0000_s31791" name="Equation" r:id="rId3" imgW="1981200" imgH="228600" progId="Equation.3">
              <p:embed/>
            </p:oleObj>
          </a:graphicData>
        </a:graphic>
      </p:graphicFrame>
      <p:graphicFrame>
        <p:nvGraphicFramePr>
          <p:cNvPr id="7171" name="Object 3"/>
          <p:cNvGraphicFramePr>
            <a:graphicFrameLocks noChangeAspect="1"/>
          </p:cNvGraphicFramePr>
          <p:nvPr/>
        </p:nvGraphicFramePr>
        <p:xfrm>
          <a:off x="695325" y="2852738"/>
          <a:ext cx="1879600" cy="1812925"/>
        </p:xfrm>
        <a:graphic>
          <a:graphicData uri="http://schemas.openxmlformats.org/presentationml/2006/ole">
            <p:oleObj spid="_x0000_s31792" name="Equation" r:id="rId4" imgW="711200" imgH="685800" progId="Equation.3">
              <p:embed/>
            </p:oleObj>
          </a:graphicData>
        </a:graphic>
      </p:graphicFrame>
      <p:graphicFrame>
        <p:nvGraphicFramePr>
          <p:cNvPr id="7172" name="Object 4"/>
          <p:cNvGraphicFramePr>
            <a:graphicFrameLocks noChangeAspect="1"/>
          </p:cNvGraphicFramePr>
          <p:nvPr/>
        </p:nvGraphicFramePr>
        <p:xfrm>
          <a:off x="2676525" y="3386138"/>
          <a:ext cx="2914650" cy="1038225"/>
        </p:xfrm>
        <a:graphic>
          <a:graphicData uri="http://schemas.openxmlformats.org/presentationml/2006/ole">
            <p:oleObj spid="_x0000_s31793" name="Equation" r:id="rId5" imgW="1104900" imgH="393700" progId="Equation.3">
              <p:embed/>
            </p:oleObj>
          </a:graphicData>
        </a:graphic>
      </p:graphicFrame>
      <p:sp>
        <p:nvSpPr>
          <p:cNvPr id="7173" name="Text Box 5"/>
          <p:cNvSpPr txBox="1">
            <a:spLocks noChangeArrowheads="1"/>
          </p:cNvSpPr>
          <p:nvPr/>
        </p:nvSpPr>
        <p:spPr bwMode="auto">
          <a:xfrm>
            <a:off x="5800725" y="3309938"/>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eaLnBrk="0" hangingPunct="0">
              <a:spcBef>
                <a:spcPct val="50000"/>
              </a:spcBef>
            </a:pPr>
            <a:endParaRPr lang="en-US" altLang="en-US" sz="2400" b="0"/>
          </a:p>
        </p:txBody>
      </p:sp>
      <p:grpSp>
        <p:nvGrpSpPr>
          <p:cNvPr id="7174" name="Group 6"/>
          <p:cNvGrpSpPr>
            <a:grpSpLocks/>
          </p:cNvGrpSpPr>
          <p:nvPr/>
        </p:nvGrpSpPr>
        <p:grpSpPr bwMode="auto">
          <a:xfrm>
            <a:off x="5724525" y="2852738"/>
            <a:ext cx="3124200" cy="1382712"/>
            <a:chOff x="3600" y="672"/>
            <a:chExt cx="1968" cy="871"/>
          </a:xfrm>
        </p:grpSpPr>
        <p:sp>
          <p:nvSpPr>
            <p:cNvPr id="7175" name="AutoShape 7"/>
            <p:cNvSpPr>
              <a:spLocks noChangeArrowheads="1"/>
            </p:cNvSpPr>
            <p:nvPr/>
          </p:nvSpPr>
          <p:spPr bwMode="auto">
            <a:xfrm>
              <a:off x="3600" y="1056"/>
              <a:ext cx="240" cy="192"/>
            </a:xfrm>
            <a:prstGeom prst="rightArrow">
              <a:avLst>
                <a:gd name="adj1" fmla="val 50000"/>
                <a:gd name="adj2" fmla="val 3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176" name="Text Box 8"/>
            <p:cNvSpPr txBox="1">
              <a:spLocks noChangeArrowheads="1"/>
            </p:cNvSpPr>
            <p:nvPr/>
          </p:nvSpPr>
          <p:spPr bwMode="auto">
            <a:xfrm>
              <a:off x="3936" y="672"/>
              <a:ext cx="1632" cy="871"/>
            </a:xfrm>
            <a:prstGeom prst="rect">
              <a:avLst/>
            </a:prstGeom>
            <a:solidFill>
              <a:srgbClr val="99FFCC"/>
            </a:solidFill>
            <a:ln w="9525">
              <a:solidFill>
                <a:srgbClr val="9900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eaLnBrk="0" hangingPunct="0">
                <a:spcBef>
                  <a:spcPct val="50000"/>
                </a:spcBef>
              </a:pPr>
              <a:r>
                <a:rPr lang="zh-CN" altLang="en-US">
                  <a:solidFill>
                    <a:srgbClr val="990000"/>
                  </a:solidFill>
                </a:rPr>
                <a:t>对偶变量不为</a:t>
              </a:r>
              <a:r>
                <a:rPr lang="en-US" altLang="zh-CN">
                  <a:solidFill>
                    <a:srgbClr val="990000"/>
                  </a:solidFill>
                </a:rPr>
                <a:t>0</a:t>
              </a:r>
              <a:r>
                <a:rPr lang="zh-CN" altLang="en-US">
                  <a:solidFill>
                    <a:srgbClr val="990000"/>
                  </a:solidFill>
                </a:rPr>
                <a:t>，原问题相应约束式是等式</a:t>
              </a:r>
            </a:p>
          </p:txBody>
        </p:sp>
      </p:grpSp>
      <p:grpSp>
        <p:nvGrpSpPr>
          <p:cNvPr id="7178" name="Group 10"/>
          <p:cNvGrpSpPr>
            <a:grpSpLocks/>
          </p:cNvGrpSpPr>
          <p:nvPr/>
        </p:nvGrpSpPr>
        <p:grpSpPr bwMode="auto">
          <a:xfrm>
            <a:off x="5734050" y="4229100"/>
            <a:ext cx="3124200" cy="1611313"/>
            <a:chOff x="3600" y="1584"/>
            <a:chExt cx="1968" cy="1015"/>
          </a:xfrm>
        </p:grpSpPr>
        <p:sp>
          <p:nvSpPr>
            <p:cNvPr id="7179" name="AutoShape 11"/>
            <p:cNvSpPr>
              <a:spLocks noChangeArrowheads="1"/>
            </p:cNvSpPr>
            <p:nvPr/>
          </p:nvSpPr>
          <p:spPr bwMode="auto">
            <a:xfrm rot="2216410">
              <a:off x="3600" y="1584"/>
              <a:ext cx="240" cy="192"/>
            </a:xfrm>
            <a:prstGeom prst="rightArrow">
              <a:avLst>
                <a:gd name="adj1" fmla="val 50000"/>
                <a:gd name="adj2" fmla="val 3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180" name="Text Box 12"/>
            <p:cNvSpPr txBox="1">
              <a:spLocks noChangeArrowheads="1"/>
            </p:cNvSpPr>
            <p:nvPr/>
          </p:nvSpPr>
          <p:spPr bwMode="auto">
            <a:xfrm>
              <a:off x="3888" y="1728"/>
              <a:ext cx="1680" cy="871"/>
            </a:xfrm>
            <a:prstGeom prst="rect">
              <a:avLst/>
            </a:prstGeom>
            <a:solidFill>
              <a:srgbClr val="99FFCC"/>
            </a:solidFill>
            <a:ln w="9525">
              <a:solidFill>
                <a:srgbClr val="9900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eaLnBrk="0" hangingPunct="0">
                <a:spcBef>
                  <a:spcPct val="50000"/>
                </a:spcBef>
              </a:pPr>
              <a:r>
                <a:rPr lang="zh-CN" altLang="en-US">
                  <a:solidFill>
                    <a:srgbClr val="990000"/>
                  </a:solidFill>
                </a:rPr>
                <a:t>原问题约束为不等式，相应对偶变量为</a:t>
              </a:r>
              <a:r>
                <a:rPr lang="en-US" altLang="zh-CN">
                  <a:solidFill>
                    <a:srgbClr val="990000"/>
                  </a:solidFill>
                </a:rPr>
                <a:t>0</a:t>
              </a:r>
            </a:p>
          </p:txBody>
        </p:sp>
      </p:grpSp>
      <p:sp>
        <p:nvSpPr>
          <p:cNvPr id="7181" name="AutoShape 13"/>
          <p:cNvSpPr>
            <a:spLocks noChangeArrowheads="1"/>
          </p:cNvSpPr>
          <p:nvPr/>
        </p:nvSpPr>
        <p:spPr bwMode="auto">
          <a:xfrm>
            <a:off x="5627688" y="1658938"/>
            <a:ext cx="2514600" cy="1066800"/>
          </a:xfrm>
          <a:prstGeom prst="wedgeEllipseCallout">
            <a:avLst>
              <a:gd name="adj1" fmla="val -43750"/>
              <a:gd name="adj2" fmla="val 70000"/>
            </a:avLst>
          </a:prstGeom>
          <a:solidFill>
            <a:srgbClr val="99FFCC"/>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eaLnBrk="0" hangingPunct="0"/>
            <a:r>
              <a:rPr lang="zh-CN" altLang="en-US">
                <a:solidFill>
                  <a:srgbClr val="990000"/>
                </a:solidFill>
              </a:rPr>
              <a:t>最优解点</a:t>
            </a:r>
          </a:p>
        </p:txBody>
      </p:sp>
      <p:sp>
        <p:nvSpPr>
          <p:cNvPr id="7185" name="Rectangle 17"/>
          <p:cNvSpPr>
            <a:spLocks noChangeArrowheads="1"/>
          </p:cNvSpPr>
          <p:nvPr/>
        </p:nvSpPr>
        <p:spPr bwMode="auto">
          <a:xfrm>
            <a:off x="803275" y="1716088"/>
            <a:ext cx="3768725" cy="8842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spAutoFit/>
          </a:bodyPr>
          <a:lstStyle/>
          <a:p>
            <a:r>
              <a:rPr lang="en-US" altLang="zh-CN" b="0">
                <a:solidFill>
                  <a:srgbClr val="000000"/>
                </a:solidFill>
                <a:latin typeface="宋体" panose="02010600030101010101" pitchFamily="2" charset="-122"/>
              </a:rPr>
              <a:t> </a:t>
            </a:r>
            <a:r>
              <a:rPr lang="zh-CN" altLang="en-US">
                <a:solidFill>
                  <a:srgbClr val="000000"/>
                </a:solidFill>
                <a:latin typeface="宋体" panose="02010600030101010101" pitchFamily="2" charset="-122"/>
              </a:rPr>
              <a:t>已知线性规划问题</a:t>
            </a:r>
            <a:endParaRPr lang="zh-CN" altLang="en-US">
              <a:latin typeface="宋体" panose="02010600030101010101" pitchFamily="2" charset="-122"/>
            </a:endParaRPr>
          </a:p>
          <a:p>
            <a:pPr eaLnBrk="0" hangingPunct="0"/>
            <a:endParaRPr lang="zh-CN" altLang="en-US" sz="2400" b="0"/>
          </a:p>
        </p:txBody>
      </p:sp>
    </p:spTree>
    <p:extLst>
      <p:ext uri="{BB962C8B-B14F-4D97-AF65-F5344CB8AC3E}">
        <p14:creationId xmlns:p14="http://schemas.microsoft.com/office/powerpoint/2010/main" xmlns="" val="8200928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blinds(vertical)">
                                      <p:cBhvr>
                                        <p:cTn id="7" dur="500"/>
                                        <p:tgtEl>
                                          <p:spTgt spid="71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7172"/>
                                        </p:tgtEl>
                                        <p:attrNameLst>
                                          <p:attrName>style.visibility</p:attrName>
                                        </p:attrNameLst>
                                      </p:cBhvr>
                                      <p:to>
                                        <p:strVal val="visible"/>
                                      </p:to>
                                    </p:set>
                                    <p:animEffect transition="in" filter="blinds(vertical)">
                                      <p:cBhvr>
                                        <p:cTn id="12" dur="500"/>
                                        <p:tgtEl>
                                          <p:spTgt spid="71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718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7174"/>
                                        </p:tgtEl>
                                        <p:attrNameLst>
                                          <p:attrName>style.visibility</p:attrName>
                                        </p:attrNameLst>
                                      </p:cBhvr>
                                      <p:to>
                                        <p:strVal val="visible"/>
                                      </p:to>
                                    </p:set>
                                    <p:animEffect transition="in" filter="blinds(horizontal)">
                                      <p:cBhvr>
                                        <p:cTn id="21" dur="500"/>
                                        <p:tgtEl>
                                          <p:spTgt spid="717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7178"/>
                                        </p:tgtEl>
                                        <p:attrNameLst>
                                          <p:attrName>style.visibility</p:attrName>
                                        </p:attrNameLst>
                                      </p:cBhvr>
                                      <p:to>
                                        <p:strVal val="visible"/>
                                      </p:to>
                                    </p:set>
                                    <p:animEffect transition="in" filter="blinds(horizontal)">
                                      <p:cBhvr>
                                        <p:cTn id="26" dur="500"/>
                                        <p:tgtEl>
                                          <p:spTgt spid="7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1"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5"/>
          <p:cNvSpPr>
            <a:spLocks noChangeArrowheads="1"/>
          </p:cNvSpPr>
          <p:nvPr/>
        </p:nvSpPr>
        <p:spPr bwMode="auto">
          <a:xfrm>
            <a:off x="827584" y="533400"/>
            <a:ext cx="4765675"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zh-CN" dirty="0"/>
              <a:t>【</a:t>
            </a:r>
            <a:r>
              <a:rPr lang="zh-CN" altLang="en-US" dirty="0"/>
              <a:t>例</a:t>
            </a:r>
            <a:r>
              <a:rPr lang="en-US" altLang="zh-CN" dirty="0"/>
              <a:t>4-5】  </a:t>
            </a:r>
            <a:r>
              <a:rPr lang="zh-CN" altLang="en-US" dirty="0"/>
              <a:t>已知线性规划模型</a:t>
            </a:r>
          </a:p>
        </p:txBody>
      </p:sp>
      <p:sp>
        <p:nvSpPr>
          <p:cNvPr id="43015" name="Rectangle 7"/>
          <p:cNvSpPr>
            <a:spLocks noChangeArrowheads="1"/>
          </p:cNvSpPr>
          <p:nvPr/>
        </p:nvSpPr>
        <p:spPr bwMode="auto">
          <a:xfrm>
            <a:off x="611188" y="4941888"/>
            <a:ext cx="8123237" cy="13731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a:t>（</a:t>
            </a:r>
            <a:r>
              <a:rPr lang="en-US" altLang="zh-CN"/>
              <a:t>1</a:t>
            </a:r>
            <a:r>
              <a:rPr lang="zh-CN" altLang="en-US"/>
              <a:t>）写出该模型的对偶模型</a:t>
            </a:r>
          </a:p>
          <a:p>
            <a:r>
              <a:rPr lang="zh-CN" altLang="en-US"/>
              <a:t>（</a:t>
            </a:r>
            <a:r>
              <a:rPr lang="en-US" altLang="zh-CN"/>
              <a:t>2</a:t>
            </a:r>
            <a:r>
              <a:rPr lang="zh-CN" altLang="en-US"/>
              <a:t>）已知原模型的最优解为：</a:t>
            </a:r>
            <a:r>
              <a:rPr lang="en-US" altLang="zh-CN"/>
              <a:t>X=</a:t>
            </a:r>
            <a:r>
              <a:rPr lang="zh-CN" altLang="en-US"/>
              <a:t>（</a:t>
            </a:r>
            <a:r>
              <a:rPr lang="en-US" altLang="zh-CN"/>
              <a:t>2</a:t>
            </a:r>
            <a:r>
              <a:rPr lang="zh-CN" altLang="en-US"/>
              <a:t>，</a:t>
            </a:r>
            <a:r>
              <a:rPr lang="en-US" altLang="zh-CN"/>
              <a:t>2</a:t>
            </a:r>
            <a:r>
              <a:rPr lang="zh-CN" altLang="en-US"/>
              <a:t>，</a:t>
            </a:r>
            <a:r>
              <a:rPr lang="en-US" altLang="zh-CN"/>
              <a:t>4</a:t>
            </a:r>
            <a:r>
              <a:rPr lang="zh-CN" altLang="en-US"/>
              <a:t>，</a:t>
            </a:r>
            <a:r>
              <a:rPr lang="en-US" altLang="zh-CN"/>
              <a:t>0</a:t>
            </a:r>
            <a:r>
              <a:rPr lang="zh-CN" altLang="en-US"/>
              <a:t>）</a:t>
            </a:r>
            <a:r>
              <a:rPr lang="en-US" altLang="zh-CN" baseline="30000"/>
              <a:t>T</a:t>
            </a:r>
          </a:p>
          <a:p>
            <a:r>
              <a:rPr lang="zh-CN" altLang="en-US"/>
              <a:t>根据对偶理论，直接求对偶模型的最优解。</a:t>
            </a:r>
          </a:p>
        </p:txBody>
      </p:sp>
      <p:graphicFrame>
        <p:nvGraphicFramePr>
          <p:cNvPr id="43016" name="Object 8"/>
          <p:cNvGraphicFramePr>
            <a:graphicFrameLocks noChangeAspect="1"/>
          </p:cNvGraphicFramePr>
          <p:nvPr/>
        </p:nvGraphicFramePr>
        <p:xfrm>
          <a:off x="1835150" y="1052513"/>
          <a:ext cx="4537075" cy="3811587"/>
        </p:xfrm>
        <a:graphic>
          <a:graphicData uri="http://schemas.openxmlformats.org/presentationml/2006/ole">
            <p:oleObj spid="_x0000_s32786" name="Equation" r:id="rId3" imgW="1752600" imgH="1473200" progId="">
              <p:embed/>
            </p:oleObj>
          </a:graphicData>
        </a:graphic>
      </p:graphicFrame>
    </p:spTree>
    <p:extLst>
      <p:ext uri="{BB962C8B-B14F-4D97-AF65-F5344CB8AC3E}">
        <p14:creationId xmlns:p14="http://schemas.microsoft.com/office/powerpoint/2010/main" xmlns="" val="415278220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Text Box 4"/>
          <p:cNvSpPr txBox="1">
            <a:spLocks noChangeArrowheads="1"/>
          </p:cNvSpPr>
          <p:nvPr/>
        </p:nvSpPr>
        <p:spPr bwMode="auto">
          <a:xfrm>
            <a:off x="395288" y="692150"/>
            <a:ext cx="80772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a:t>
            </a:r>
            <a:r>
              <a:rPr lang="en-US" altLang="zh-CN"/>
              <a:t>1</a:t>
            </a:r>
            <a:r>
              <a:rPr lang="zh-CN" altLang="en-US"/>
              <a:t>）对偶模型是：</a:t>
            </a:r>
          </a:p>
        </p:txBody>
      </p:sp>
      <p:sp>
        <p:nvSpPr>
          <p:cNvPr id="44041" name="Rectangle 9"/>
          <p:cNvSpPr>
            <a:spLocks noChangeArrowheads="1"/>
          </p:cNvSpPr>
          <p:nvPr/>
        </p:nvSpPr>
        <p:spPr bwMode="auto">
          <a:xfrm>
            <a:off x="611188" y="4941888"/>
            <a:ext cx="8094662" cy="946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a:t>（</a:t>
            </a:r>
            <a:r>
              <a:rPr lang="en-US" altLang="zh-CN"/>
              <a:t>2</a:t>
            </a:r>
            <a:r>
              <a:rPr lang="zh-CN" altLang="en-US"/>
              <a:t>）已知原模型的最优解为：</a:t>
            </a:r>
            <a:r>
              <a:rPr lang="en-US" altLang="zh-CN"/>
              <a:t>X=</a:t>
            </a:r>
            <a:r>
              <a:rPr lang="zh-CN" altLang="en-US"/>
              <a:t>（</a:t>
            </a:r>
            <a:r>
              <a:rPr lang="en-US" altLang="zh-CN"/>
              <a:t>2</a:t>
            </a:r>
            <a:r>
              <a:rPr lang="zh-CN" altLang="en-US"/>
              <a:t>，</a:t>
            </a:r>
            <a:r>
              <a:rPr lang="en-US" altLang="zh-CN"/>
              <a:t>2</a:t>
            </a:r>
            <a:r>
              <a:rPr lang="zh-CN" altLang="en-US"/>
              <a:t>，</a:t>
            </a:r>
            <a:r>
              <a:rPr lang="en-US" altLang="zh-CN"/>
              <a:t>4</a:t>
            </a:r>
            <a:r>
              <a:rPr lang="zh-CN" altLang="en-US"/>
              <a:t>，</a:t>
            </a:r>
            <a:r>
              <a:rPr lang="en-US" altLang="zh-CN"/>
              <a:t>0</a:t>
            </a:r>
            <a:r>
              <a:rPr lang="zh-CN" altLang="en-US"/>
              <a:t>）</a:t>
            </a:r>
            <a:r>
              <a:rPr lang="en-US" altLang="zh-CN" baseline="30000"/>
              <a:t>T</a:t>
            </a:r>
          </a:p>
          <a:p>
            <a:r>
              <a:rPr lang="zh-CN" altLang="en-US"/>
              <a:t>根据对偶理论，直接求对偶模型的最优解。</a:t>
            </a:r>
          </a:p>
        </p:txBody>
      </p:sp>
      <p:graphicFrame>
        <p:nvGraphicFramePr>
          <p:cNvPr id="44042" name="Object 10"/>
          <p:cNvGraphicFramePr>
            <a:graphicFrameLocks noChangeAspect="1"/>
          </p:cNvGraphicFramePr>
          <p:nvPr/>
        </p:nvGraphicFramePr>
        <p:xfrm>
          <a:off x="2268538" y="1196975"/>
          <a:ext cx="4852987" cy="3608388"/>
        </p:xfrm>
        <a:graphic>
          <a:graphicData uri="http://schemas.openxmlformats.org/presentationml/2006/ole">
            <p:oleObj spid="_x0000_s33809" name="Equation" r:id="rId3" imgW="1930400" imgH="1435100" progId="">
              <p:embed/>
            </p:oleObj>
          </a:graphicData>
        </a:graphic>
      </p:graphicFrame>
    </p:spTree>
    <p:extLst>
      <p:ext uri="{BB962C8B-B14F-4D97-AF65-F5344CB8AC3E}">
        <p14:creationId xmlns:p14="http://schemas.microsoft.com/office/powerpoint/2010/main" xmlns="" val="1340671323"/>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02" name="Object 2"/>
          <p:cNvGraphicFramePr>
            <a:graphicFrameLocks noChangeAspect="1"/>
          </p:cNvGraphicFramePr>
          <p:nvPr/>
        </p:nvGraphicFramePr>
        <p:xfrm>
          <a:off x="323850" y="260350"/>
          <a:ext cx="4237038" cy="3562350"/>
        </p:xfrm>
        <a:graphic>
          <a:graphicData uri="http://schemas.openxmlformats.org/presentationml/2006/ole">
            <p:oleObj spid="_x0000_s34850" name="Equation" r:id="rId3" imgW="1752600" imgH="1473200" progId="">
              <p:embed/>
            </p:oleObj>
          </a:graphicData>
        </a:graphic>
      </p:graphicFrame>
      <p:sp>
        <p:nvSpPr>
          <p:cNvPr id="51203" name="Rectangle 3"/>
          <p:cNvSpPr>
            <a:spLocks noChangeArrowheads="1"/>
          </p:cNvSpPr>
          <p:nvPr/>
        </p:nvSpPr>
        <p:spPr bwMode="auto">
          <a:xfrm>
            <a:off x="251520" y="4365626"/>
            <a:ext cx="8471793" cy="11255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nSpc>
                <a:spcPct val="120000"/>
              </a:lnSpc>
            </a:pPr>
            <a:r>
              <a:rPr lang="zh-CN" altLang="en-US" dirty="0"/>
              <a:t>（</a:t>
            </a:r>
            <a:r>
              <a:rPr lang="en-US" altLang="zh-CN" dirty="0"/>
              <a:t>2</a:t>
            </a:r>
            <a:r>
              <a:rPr lang="zh-CN" altLang="en-US" dirty="0"/>
              <a:t>）根据原模型的最优解为</a:t>
            </a:r>
            <a:r>
              <a:rPr lang="en-US" altLang="zh-CN" dirty="0"/>
              <a:t>X=</a:t>
            </a:r>
            <a:r>
              <a:rPr lang="zh-CN" altLang="en-US" dirty="0"/>
              <a:t>（</a:t>
            </a:r>
            <a:r>
              <a:rPr lang="en-US" altLang="zh-CN" dirty="0"/>
              <a:t>2</a:t>
            </a:r>
            <a:r>
              <a:rPr lang="zh-CN" altLang="en-US" dirty="0"/>
              <a:t>，</a:t>
            </a:r>
            <a:r>
              <a:rPr lang="en-US" altLang="zh-CN" dirty="0"/>
              <a:t>2</a:t>
            </a:r>
            <a:r>
              <a:rPr lang="zh-CN" altLang="en-US" dirty="0"/>
              <a:t>，</a:t>
            </a:r>
            <a:r>
              <a:rPr lang="en-US" altLang="zh-CN" dirty="0"/>
              <a:t>4</a:t>
            </a:r>
            <a:r>
              <a:rPr lang="zh-CN" altLang="en-US" dirty="0"/>
              <a:t>，</a:t>
            </a:r>
            <a:r>
              <a:rPr lang="en-US" altLang="zh-CN" dirty="0"/>
              <a:t>0</a:t>
            </a:r>
            <a:r>
              <a:rPr lang="zh-CN" altLang="en-US" dirty="0"/>
              <a:t>）</a:t>
            </a:r>
            <a:r>
              <a:rPr lang="en-US" altLang="zh-CN" baseline="30000" dirty="0"/>
              <a:t>T</a:t>
            </a:r>
          </a:p>
          <a:p>
            <a:pPr>
              <a:lnSpc>
                <a:spcPct val="120000"/>
              </a:lnSpc>
            </a:pPr>
            <a:r>
              <a:rPr kumimoji="0" lang="zh-CN" altLang="en-US" dirty="0"/>
              <a:t>将</a:t>
            </a:r>
            <a:r>
              <a:rPr lang="zh-CN" altLang="en-US" dirty="0"/>
              <a:t>其代入原问题的约束条件，得原模型的松弛变量：</a:t>
            </a:r>
          </a:p>
          <a:p>
            <a:pPr>
              <a:lnSpc>
                <a:spcPct val="120000"/>
              </a:lnSpc>
            </a:pPr>
            <a:r>
              <a:rPr lang="zh-CN" altLang="en-US" dirty="0"/>
              <a:t>          </a:t>
            </a:r>
            <a:r>
              <a:rPr lang="en-US" altLang="zh-CN" dirty="0"/>
              <a:t>x</a:t>
            </a:r>
            <a:r>
              <a:rPr lang="en-US" altLang="zh-CN" baseline="-25000" dirty="0"/>
              <a:t>5</a:t>
            </a:r>
            <a:r>
              <a:rPr lang="en-US" altLang="zh-CN" dirty="0"/>
              <a:t>=0</a:t>
            </a:r>
            <a:r>
              <a:rPr lang="zh-CN" altLang="en-US" dirty="0"/>
              <a:t>，</a:t>
            </a:r>
            <a:r>
              <a:rPr lang="en-US" altLang="zh-CN" dirty="0"/>
              <a:t>x</a:t>
            </a:r>
            <a:r>
              <a:rPr lang="en-US" altLang="zh-CN" baseline="-25000" dirty="0"/>
              <a:t>6</a:t>
            </a:r>
            <a:r>
              <a:rPr lang="en-US" altLang="zh-CN" dirty="0"/>
              <a:t>=0</a:t>
            </a:r>
            <a:r>
              <a:rPr lang="zh-CN" altLang="en-US" dirty="0"/>
              <a:t>，</a:t>
            </a:r>
            <a:r>
              <a:rPr lang="en-US" altLang="zh-CN" dirty="0"/>
              <a:t>x</a:t>
            </a:r>
            <a:r>
              <a:rPr lang="en-US" altLang="zh-CN" baseline="-25000" dirty="0"/>
              <a:t>7</a:t>
            </a:r>
            <a:r>
              <a:rPr lang="en-US" altLang="zh-CN" dirty="0"/>
              <a:t>=1</a:t>
            </a:r>
            <a:r>
              <a:rPr lang="zh-CN" altLang="en-US" dirty="0"/>
              <a:t>，</a:t>
            </a:r>
            <a:r>
              <a:rPr lang="en-US" altLang="zh-CN" dirty="0"/>
              <a:t>x</a:t>
            </a:r>
            <a:r>
              <a:rPr lang="en-US" altLang="zh-CN" baseline="-25000" dirty="0"/>
              <a:t>8</a:t>
            </a:r>
            <a:r>
              <a:rPr lang="en-US" altLang="zh-CN" dirty="0"/>
              <a:t>=0</a:t>
            </a:r>
          </a:p>
        </p:txBody>
      </p:sp>
      <p:graphicFrame>
        <p:nvGraphicFramePr>
          <p:cNvPr id="51205" name="Object 5"/>
          <p:cNvGraphicFramePr>
            <a:graphicFrameLocks noChangeAspect="1"/>
          </p:cNvGraphicFramePr>
          <p:nvPr/>
        </p:nvGraphicFramePr>
        <p:xfrm>
          <a:off x="3995738" y="836613"/>
          <a:ext cx="4795837" cy="2952750"/>
        </p:xfrm>
        <a:graphic>
          <a:graphicData uri="http://schemas.openxmlformats.org/presentationml/2006/ole">
            <p:oleObj spid="_x0000_s34851" name="Equation" r:id="rId4" imgW="2019300" imgH="1244600" progId="">
              <p:embed/>
            </p:oleObj>
          </a:graphicData>
        </a:graphic>
      </p:graphicFrame>
      <p:sp>
        <p:nvSpPr>
          <p:cNvPr id="51206" name="Rectangle 6"/>
          <p:cNvSpPr>
            <a:spLocks noChangeArrowheads="1"/>
          </p:cNvSpPr>
          <p:nvPr/>
        </p:nvSpPr>
        <p:spPr bwMode="auto">
          <a:xfrm>
            <a:off x="114300" y="5661025"/>
            <a:ext cx="8778875" cy="604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nSpc>
                <a:spcPct val="120000"/>
              </a:lnSpc>
            </a:pPr>
            <a:r>
              <a:rPr kumimoji="0" lang="zh-CN" altLang="en-US"/>
              <a:t>约束条件 </a:t>
            </a:r>
            <a:r>
              <a:rPr kumimoji="0" lang="en-US" altLang="zh-CN"/>
              <a:t>(3) </a:t>
            </a:r>
            <a:r>
              <a:rPr kumimoji="0" lang="zh-CN" altLang="en-US"/>
              <a:t>为严格不等式，由互补松弛定理知：</a:t>
            </a:r>
            <a:r>
              <a:rPr kumimoji="0" lang="en-US" altLang="zh-CN"/>
              <a:t>y</a:t>
            </a:r>
            <a:r>
              <a:rPr kumimoji="0" lang="en-US" altLang="zh-CN" baseline="-25000"/>
              <a:t>3</a:t>
            </a:r>
            <a:r>
              <a:rPr kumimoji="0" lang="en-US" altLang="zh-CN"/>
              <a:t>*=0</a:t>
            </a:r>
            <a:endParaRPr lang="en-US" altLang="zh-CN"/>
          </a:p>
        </p:txBody>
      </p:sp>
    </p:spTree>
    <p:extLst>
      <p:ext uri="{BB962C8B-B14F-4D97-AF65-F5344CB8AC3E}">
        <p14:creationId xmlns:p14="http://schemas.microsoft.com/office/powerpoint/2010/main" xmlns="" val="40194152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strips(upRight)">
                                      <p:cBhvr>
                                        <p:cTn id="7" dur="500"/>
                                        <p:tgtEl>
                                          <p:spTgt spid="512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1206"/>
                                        </p:tgtEl>
                                        <p:attrNameLst>
                                          <p:attrName>style.visibility</p:attrName>
                                        </p:attrNameLst>
                                      </p:cBhvr>
                                      <p:to>
                                        <p:strVal val="visible"/>
                                      </p:to>
                                    </p:set>
                                    <p:animEffect transition="in" filter="strips(downRight)">
                                      <p:cBhvr>
                                        <p:cTn id="12" dur="500"/>
                                        <p:tgtEl>
                                          <p:spTgt spid="51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p:bldP spid="5120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6" name="Rectangle 2"/>
          <p:cNvSpPr>
            <a:spLocks noChangeArrowheads="1"/>
          </p:cNvSpPr>
          <p:nvPr/>
        </p:nvSpPr>
        <p:spPr bwMode="auto">
          <a:xfrm>
            <a:off x="574452" y="1196751"/>
            <a:ext cx="8066311" cy="7571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nSpc>
                <a:spcPct val="120000"/>
              </a:lnSpc>
            </a:pPr>
            <a:r>
              <a:rPr lang="zh-CN" altLang="en-US" dirty="0"/>
              <a:t>由原模型的最优解为</a:t>
            </a:r>
            <a:r>
              <a:rPr lang="en-US" altLang="zh-CN" dirty="0"/>
              <a:t>X=</a:t>
            </a:r>
            <a:r>
              <a:rPr lang="zh-CN" altLang="en-US" dirty="0"/>
              <a:t>（</a:t>
            </a:r>
            <a:r>
              <a:rPr lang="en-US" altLang="zh-CN" dirty="0"/>
              <a:t>2</a:t>
            </a:r>
            <a:r>
              <a:rPr lang="zh-CN" altLang="en-US" dirty="0"/>
              <a:t>，</a:t>
            </a:r>
            <a:r>
              <a:rPr lang="en-US" altLang="zh-CN" dirty="0"/>
              <a:t>2</a:t>
            </a:r>
            <a:r>
              <a:rPr lang="zh-CN" altLang="en-US" dirty="0"/>
              <a:t>，</a:t>
            </a:r>
            <a:r>
              <a:rPr lang="en-US" altLang="zh-CN" dirty="0"/>
              <a:t>4</a:t>
            </a:r>
            <a:r>
              <a:rPr lang="zh-CN" altLang="en-US" dirty="0"/>
              <a:t>，</a:t>
            </a:r>
            <a:r>
              <a:rPr lang="en-US" altLang="zh-CN" dirty="0"/>
              <a:t>0</a:t>
            </a:r>
            <a:r>
              <a:rPr lang="zh-CN" altLang="en-US" dirty="0"/>
              <a:t>）</a:t>
            </a:r>
            <a:r>
              <a:rPr lang="en-US" altLang="zh-CN" baseline="30000" dirty="0"/>
              <a:t>T </a:t>
            </a:r>
            <a:r>
              <a:rPr lang="zh-CN" altLang="en-US" dirty="0"/>
              <a:t>，</a:t>
            </a:r>
            <a:r>
              <a:rPr kumimoji="0" lang="zh-CN" altLang="en-US" dirty="0"/>
              <a:t>根据互补松弛定理知： </a:t>
            </a:r>
            <a:r>
              <a:rPr lang="en-US" altLang="zh-CN" dirty="0"/>
              <a:t>y</a:t>
            </a:r>
            <a:r>
              <a:rPr lang="en-US" altLang="zh-CN" baseline="-25000" dirty="0"/>
              <a:t>5</a:t>
            </a:r>
            <a:r>
              <a:rPr lang="en-US" altLang="zh-CN" dirty="0"/>
              <a:t>=0</a:t>
            </a:r>
            <a:r>
              <a:rPr lang="zh-CN" altLang="en-US" dirty="0"/>
              <a:t>，</a:t>
            </a:r>
            <a:r>
              <a:rPr lang="en-US" altLang="zh-CN" dirty="0"/>
              <a:t>y</a:t>
            </a:r>
            <a:r>
              <a:rPr lang="en-US" altLang="zh-CN" baseline="-25000" dirty="0"/>
              <a:t>6</a:t>
            </a:r>
            <a:r>
              <a:rPr lang="en-US" altLang="zh-CN" dirty="0"/>
              <a:t>=0</a:t>
            </a:r>
            <a:r>
              <a:rPr lang="zh-CN" altLang="en-US" dirty="0"/>
              <a:t>，</a:t>
            </a:r>
            <a:r>
              <a:rPr lang="en-US" altLang="zh-CN" dirty="0"/>
              <a:t>y</a:t>
            </a:r>
            <a:r>
              <a:rPr lang="en-US" altLang="zh-CN" baseline="-25000" dirty="0"/>
              <a:t>7</a:t>
            </a:r>
            <a:r>
              <a:rPr lang="en-US" altLang="zh-CN" dirty="0"/>
              <a:t>=0</a:t>
            </a:r>
            <a:r>
              <a:rPr lang="zh-CN" altLang="en-US" dirty="0"/>
              <a:t>，</a:t>
            </a:r>
          </a:p>
        </p:txBody>
      </p:sp>
      <p:graphicFrame>
        <p:nvGraphicFramePr>
          <p:cNvPr id="661507" name="Object 3"/>
          <p:cNvGraphicFramePr>
            <a:graphicFrameLocks noChangeAspect="1"/>
          </p:cNvGraphicFramePr>
          <p:nvPr/>
        </p:nvGraphicFramePr>
        <p:xfrm>
          <a:off x="4859338" y="2420938"/>
          <a:ext cx="3600450" cy="2322512"/>
        </p:xfrm>
        <a:graphic>
          <a:graphicData uri="http://schemas.openxmlformats.org/presentationml/2006/ole">
            <p:oleObj spid="_x0000_s35874" name="Equation" r:id="rId3" imgW="1574800" imgH="1016000" progId="">
              <p:embed/>
            </p:oleObj>
          </a:graphicData>
        </a:graphic>
      </p:graphicFrame>
      <p:graphicFrame>
        <p:nvGraphicFramePr>
          <p:cNvPr id="661508" name="Object 4"/>
          <p:cNvGraphicFramePr>
            <a:graphicFrameLocks noChangeAspect="1"/>
          </p:cNvGraphicFramePr>
          <p:nvPr/>
        </p:nvGraphicFramePr>
        <p:xfrm>
          <a:off x="684213" y="1844675"/>
          <a:ext cx="4032250" cy="3114675"/>
        </p:xfrm>
        <a:graphic>
          <a:graphicData uri="http://schemas.openxmlformats.org/presentationml/2006/ole">
            <p:oleObj spid="_x0000_s35875" name="Equation" r:id="rId4" imgW="1841500" imgH="1422400" progId="">
              <p:embed/>
            </p:oleObj>
          </a:graphicData>
        </a:graphic>
      </p:graphicFrame>
      <p:sp>
        <p:nvSpPr>
          <p:cNvPr id="661509" name="Rectangle 5"/>
          <p:cNvSpPr>
            <a:spLocks noChangeArrowheads="1"/>
          </p:cNvSpPr>
          <p:nvPr/>
        </p:nvSpPr>
        <p:spPr bwMode="auto">
          <a:xfrm>
            <a:off x="358775" y="5301207"/>
            <a:ext cx="8461697"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lang="zh-CN" altLang="en-US" dirty="0"/>
              <a:t>求解上面的方程组得：</a:t>
            </a:r>
            <a:r>
              <a:rPr lang="en-US" altLang="zh-CN" dirty="0"/>
              <a:t>y</a:t>
            </a:r>
            <a:r>
              <a:rPr lang="en-US" altLang="zh-CN" baseline="-25000" dirty="0"/>
              <a:t>1</a:t>
            </a:r>
            <a:r>
              <a:rPr lang="en-US" altLang="zh-CN" dirty="0"/>
              <a:t>*=4/5 </a:t>
            </a:r>
            <a:r>
              <a:rPr lang="zh-CN" altLang="en-US" dirty="0"/>
              <a:t>， </a:t>
            </a:r>
            <a:r>
              <a:rPr lang="en-US" altLang="zh-CN" dirty="0"/>
              <a:t>y</a:t>
            </a:r>
            <a:r>
              <a:rPr lang="en-US" altLang="zh-CN" baseline="-25000" dirty="0"/>
              <a:t>2</a:t>
            </a:r>
            <a:r>
              <a:rPr lang="en-US" altLang="zh-CN" dirty="0"/>
              <a:t>*=3/5 </a:t>
            </a:r>
            <a:r>
              <a:rPr lang="zh-CN" altLang="en-US" dirty="0"/>
              <a:t>， </a:t>
            </a:r>
            <a:r>
              <a:rPr lang="en-US" altLang="zh-CN" dirty="0"/>
              <a:t>y</a:t>
            </a:r>
            <a:r>
              <a:rPr lang="en-US" altLang="zh-CN" baseline="-25000" dirty="0"/>
              <a:t>3</a:t>
            </a:r>
            <a:r>
              <a:rPr lang="en-US" altLang="zh-CN" dirty="0"/>
              <a:t>*=0,</a:t>
            </a:r>
          </a:p>
          <a:p>
            <a:r>
              <a:rPr lang="en-US" altLang="zh-CN" dirty="0"/>
              <a:t> y</a:t>
            </a:r>
            <a:r>
              <a:rPr lang="en-US" altLang="zh-CN" baseline="-25000" dirty="0"/>
              <a:t>4</a:t>
            </a:r>
            <a:r>
              <a:rPr lang="en-US" altLang="zh-CN" dirty="0"/>
              <a:t>* =1</a:t>
            </a:r>
            <a:endParaRPr kumimoji="0" lang="en-US" altLang="zh-CN" dirty="0"/>
          </a:p>
        </p:txBody>
      </p:sp>
      <p:sp>
        <p:nvSpPr>
          <p:cNvPr id="661510" name="Rectangle 6"/>
          <p:cNvSpPr>
            <a:spLocks noChangeArrowheads="1"/>
          </p:cNvSpPr>
          <p:nvPr/>
        </p:nvSpPr>
        <p:spPr bwMode="auto">
          <a:xfrm>
            <a:off x="556593" y="732645"/>
            <a:ext cx="6735762"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dirty="0"/>
              <a:t>设对偶模型的剩余变量为</a:t>
            </a:r>
            <a:r>
              <a:rPr lang="en-US" altLang="zh-CN" dirty="0"/>
              <a:t>y</a:t>
            </a:r>
            <a:r>
              <a:rPr lang="en-US" altLang="zh-CN" baseline="-25000" dirty="0"/>
              <a:t>5</a:t>
            </a:r>
            <a:r>
              <a:rPr lang="zh-CN" altLang="en-US" dirty="0"/>
              <a:t>，</a:t>
            </a:r>
            <a:r>
              <a:rPr lang="en-US" altLang="zh-CN" dirty="0"/>
              <a:t>y</a:t>
            </a:r>
            <a:r>
              <a:rPr lang="en-US" altLang="zh-CN" baseline="-25000" dirty="0"/>
              <a:t>6</a:t>
            </a:r>
            <a:r>
              <a:rPr lang="zh-CN" altLang="en-US" dirty="0"/>
              <a:t>，</a:t>
            </a:r>
            <a:r>
              <a:rPr lang="en-US" altLang="zh-CN" dirty="0"/>
              <a:t>y</a:t>
            </a:r>
            <a:r>
              <a:rPr lang="en-US" altLang="zh-CN" baseline="-25000" dirty="0"/>
              <a:t>7</a:t>
            </a:r>
            <a:r>
              <a:rPr lang="zh-CN" altLang="en-US" dirty="0"/>
              <a:t>，</a:t>
            </a:r>
            <a:r>
              <a:rPr lang="en-US" altLang="zh-CN" dirty="0"/>
              <a:t>y</a:t>
            </a:r>
            <a:r>
              <a:rPr lang="en-US" altLang="zh-CN" baseline="-25000" dirty="0"/>
              <a:t>8</a:t>
            </a:r>
            <a:r>
              <a:rPr lang="zh-CN" altLang="en-US" dirty="0"/>
              <a:t>，</a:t>
            </a:r>
          </a:p>
        </p:txBody>
      </p:sp>
    </p:spTree>
    <p:extLst>
      <p:ext uri="{BB962C8B-B14F-4D97-AF65-F5344CB8AC3E}">
        <p14:creationId xmlns:p14="http://schemas.microsoft.com/office/powerpoint/2010/main" xmlns="" val="14266429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61506"/>
                                        </p:tgtEl>
                                        <p:attrNameLst>
                                          <p:attrName>style.visibility</p:attrName>
                                        </p:attrNameLst>
                                      </p:cBhvr>
                                      <p:to>
                                        <p:strVal val="visible"/>
                                      </p:to>
                                    </p:set>
                                    <p:animEffect transition="in" filter="strips(downRight)">
                                      <p:cBhvr>
                                        <p:cTn id="7" dur="500"/>
                                        <p:tgtEl>
                                          <p:spTgt spid="6615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66150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6150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ntr" presetSubtype="6" fill="hold" grpId="0" nodeType="clickEffect">
                                  <p:stCondLst>
                                    <p:cond delay="0"/>
                                  </p:stCondLst>
                                  <p:childTnLst>
                                    <p:set>
                                      <p:cBhvr>
                                        <p:cTn id="19" dur="1" fill="hold">
                                          <p:stCondLst>
                                            <p:cond delay="0"/>
                                          </p:stCondLst>
                                        </p:cTn>
                                        <p:tgtEl>
                                          <p:spTgt spid="661509"/>
                                        </p:tgtEl>
                                        <p:attrNameLst>
                                          <p:attrName>style.visibility</p:attrName>
                                        </p:attrNameLst>
                                      </p:cBhvr>
                                      <p:to>
                                        <p:strVal val="visible"/>
                                      </p:to>
                                    </p:set>
                                    <p:animEffect transition="in" filter="strips(downRight)">
                                      <p:cBhvr>
                                        <p:cTn id="20" dur="500"/>
                                        <p:tgtEl>
                                          <p:spTgt spid="661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06" grpId="0"/>
      <p:bldP spid="66150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4" name="Text Box 2"/>
          <p:cNvSpPr txBox="1">
            <a:spLocks noChangeArrowheads="1"/>
          </p:cNvSpPr>
          <p:nvPr/>
        </p:nvSpPr>
        <p:spPr bwMode="auto">
          <a:xfrm>
            <a:off x="381000" y="4876800"/>
            <a:ext cx="8382000" cy="13731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         </a:t>
            </a:r>
            <a:r>
              <a:rPr lang="zh-CN" altLang="en-US"/>
              <a:t>当某约束条件的右端常数增加一个单位时（假设原问题的最优基不变），原问题的目标函数最优值增加的数量。</a:t>
            </a:r>
          </a:p>
        </p:txBody>
      </p:sp>
      <p:sp>
        <p:nvSpPr>
          <p:cNvPr id="663556" name="Text Box 4"/>
          <p:cNvSpPr txBox="1">
            <a:spLocks noChangeArrowheads="1"/>
          </p:cNvSpPr>
          <p:nvPr/>
        </p:nvSpPr>
        <p:spPr bwMode="auto">
          <a:xfrm>
            <a:off x="304800" y="1143000"/>
            <a:ext cx="8229600" cy="955675"/>
          </a:xfrm>
          <a:prstGeom prst="rect">
            <a:avLst/>
          </a:prstGeom>
          <a:solidFill>
            <a:schemeClr val="bg1"/>
          </a:solidFill>
          <a:ln w="9525">
            <a:solidFill>
              <a:srgbClr val="FF33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a:t>目标函数</a:t>
            </a:r>
            <a:r>
              <a:rPr lang="en-US" altLang="zh-CN"/>
              <a:t>Z=C</a:t>
            </a:r>
            <a:r>
              <a:rPr lang="en-US" altLang="zh-CN" baseline="-25000"/>
              <a:t>B</a:t>
            </a:r>
            <a:r>
              <a:rPr lang="en-US" altLang="zh-CN"/>
              <a:t>B</a:t>
            </a:r>
            <a:r>
              <a:rPr lang="en-US" altLang="zh-CN" baseline="30000"/>
              <a:t>-1</a:t>
            </a:r>
            <a:r>
              <a:rPr lang="en-US" altLang="zh-CN"/>
              <a:t>b</a:t>
            </a:r>
            <a:r>
              <a:rPr lang="zh-CN" altLang="en-US"/>
              <a:t>和检验数</a:t>
            </a:r>
            <a:r>
              <a:rPr lang="en-US" altLang="zh-CN"/>
              <a:t>C</a:t>
            </a:r>
            <a:r>
              <a:rPr lang="en-US" altLang="zh-CN" baseline="-25000"/>
              <a:t>N</a:t>
            </a:r>
            <a:r>
              <a:rPr lang="en-US" altLang="zh-CN"/>
              <a:t>-C</a:t>
            </a:r>
            <a:r>
              <a:rPr lang="en-US" altLang="zh-CN" baseline="-25000"/>
              <a:t>B</a:t>
            </a:r>
            <a:r>
              <a:rPr lang="en-US" altLang="zh-CN"/>
              <a:t>B</a:t>
            </a:r>
            <a:r>
              <a:rPr lang="en-US" altLang="zh-CN" baseline="30000"/>
              <a:t>-1</a:t>
            </a:r>
            <a:r>
              <a:rPr lang="en-US" altLang="zh-CN"/>
              <a:t>N</a:t>
            </a:r>
            <a:r>
              <a:rPr lang="zh-CN" altLang="en-US"/>
              <a:t>中都有乘子</a:t>
            </a:r>
            <a:r>
              <a:rPr lang="en-US" altLang="zh-CN"/>
              <a:t>Y=C</a:t>
            </a:r>
            <a:r>
              <a:rPr lang="en-US" altLang="zh-CN" baseline="-25000"/>
              <a:t>B</a:t>
            </a:r>
            <a:r>
              <a:rPr lang="en-US" altLang="zh-CN"/>
              <a:t>B</a:t>
            </a:r>
            <a:r>
              <a:rPr lang="en-US" altLang="zh-CN" baseline="30000"/>
              <a:t>-1</a:t>
            </a:r>
            <a:r>
              <a:rPr lang="en-US" altLang="zh-CN"/>
              <a:t>,Y</a:t>
            </a:r>
            <a:r>
              <a:rPr lang="zh-CN" altLang="en-US"/>
              <a:t>的经济意义？</a:t>
            </a:r>
            <a:endParaRPr lang="zh-CN" altLang="en-US" baseline="30000"/>
          </a:p>
        </p:txBody>
      </p:sp>
      <p:grpSp>
        <p:nvGrpSpPr>
          <p:cNvPr id="663557" name="Group 5"/>
          <p:cNvGrpSpPr>
            <a:grpSpLocks/>
          </p:cNvGrpSpPr>
          <p:nvPr/>
        </p:nvGrpSpPr>
        <p:grpSpPr bwMode="auto">
          <a:xfrm>
            <a:off x="304800" y="2209800"/>
            <a:ext cx="8610600" cy="1801813"/>
            <a:chOff x="192" y="1392"/>
            <a:chExt cx="5424" cy="1135"/>
          </a:xfrm>
        </p:grpSpPr>
        <p:sp>
          <p:nvSpPr>
            <p:cNvPr id="45065" name="Text Box 6"/>
            <p:cNvSpPr txBox="1">
              <a:spLocks noChangeArrowheads="1"/>
            </p:cNvSpPr>
            <p:nvPr/>
          </p:nvSpPr>
          <p:spPr bwMode="auto">
            <a:xfrm>
              <a:off x="192" y="1392"/>
              <a:ext cx="5424" cy="11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       </a:t>
              </a:r>
              <a:r>
                <a:rPr lang="zh-CN" altLang="en-US"/>
                <a:t>设</a:t>
              </a:r>
              <a:r>
                <a:rPr lang="en-US" altLang="zh-CN"/>
                <a:t>B</a:t>
              </a:r>
              <a:r>
                <a:rPr lang="zh-CN" altLang="en-US"/>
                <a:t>是                                                的最优解，则该</a:t>
              </a:r>
            </a:p>
            <a:p>
              <a:pPr eaLnBrk="1" hangingPunct="1">
                <a:spcBef>
                  <a:spcPct val="50000"/>
                </a:spcBef>
              </a:pPr>
              <a:r>
                <a:rPr lang="zh-CN" altLang="en-US"/>
                <a:t>基所对应最优解的目标函数值</a:t>
              </a:r>
            </a:p>
            <a:p>
              <a:pPr eaLnBrk="1" hangingPunct="1">
                <a:spcBef>
                  <a:spcPct val="50000"/>
                </a:spcBef>
              </a:pPr>
              <a:r>
                <a:rPr lang="zh-CN" altLang="en-US"/>
                <a:t>                       </a:t>
              </a:r>
              <a:r>
                <a:rPr lang="en-US" altLang="zh-CN"/>
                <a:t>Z*=C</a:t>
              </a:r>
              <a:r>
                <a:rPr lang="en-US" altLang="zh-CN" baseline="-25000"/>
                <a:t>B</a:t>
              </a:r>
              <a:r>
                <a:rPr lang="en-US" altLang="zh-CN"/>
                <a:t>B</a:t>
              </a:r>
              <a:r>
                <a:rPr lang="en-US" altLang="zh-CN" baseline="30000"/>
                <a:t>-1</a:t>
              </a:r>
              <a:r>
                <a:rPr lang="en-US" altLang="zh-CN"/>
                <a:t>b=Y*b</a:t>
              </a:r>
            </a:p>
          </p:txBody>
        </p:sp>
        <p:graphicFrame>
          <p:nvGraphicFramePr>
            <p:cNvPr id="45066" name="Object 7"/>
            <p:cNvGraphicFramePr>
              <a:graphicFrameLocks noChangeAspect="1"/>
            </p:cNvGraphicFramePr>
            <p:nvPr/>
          </p:nvGraphicFramePr>
          <p:xfrm>
            <a:off x="1344" y="1427"/>
            <a:ext cx="2504" cy="349"/>
          </p:xfrm>
          <a:graphic>
            <a:graphicData uri="http://schemas.openxmlformats.org/presentationml/2006/ole">
              <p:oleObj spid="_x0000_s59396" name="Equation" r:id="rId3" imgW="1548728" imgH="215806" progId="Equation.3">
                <p:embed/>
              </p:oleObj>
            </a:graphicData>
          </a:graphic>
        </p:graphicFrame>
      </p:grpSp>
      <p:grpSp>
        <p:nvGrpSpPr>
          <p:cNvPr id="663560" name="Group 8"/>
          <p:cNvGrpSpPr>
            <a:grpSpLocks/>
          </p:cNvGrpSpPr>
          <p:nvPr/>
        </p:nvGrpSpPr>
        <p:grpSpPr bwMode="auto">
          <a:xfrm>
            <a:off x="533400" y="3962400"/>
            <a:ext cx="4783138" cy="1066800"/>
            <a:chOff x="336" y="2496"/>
            <a:chExt cx="3013" cy="672"/>
          </a:xfrm>
        </p:grpSpPr>
        <p:sp>
          <p:nvSpPr>
            <p:cNvPr id="45063" name="Text Box 9"/>
            <p:cNvSpPr txBox="1">
              <a:spLocks noChangeArrowheads="1"/>
            </p:cNvSpPr>
            <p:nvPr/>
          </p:nvSpPr>
          <p:spPr bwMode="auto">
            <a:xfrm>
              <a:off x="336" y="2496"/>
              <a:ext cx="1632"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t>由此</a:t>
              </a:r>
            </a:p>
          </p:txBody>
        </p:sp>
        <p:graphicFrame>
          <p:nvGraphicFramePr>
            <p:cNvPr id="45064" name="Object 10"/>
            <p:cNvGraphicFramePr>
              <a:graphicFrameLocks noChangeAspect="1"/>
            </p:cNvGraphicFramePr>
            <p:nvPr/>
          </p:nvGraphicFramePr>
          <p:xfrm>
            <a:off x="1451" y="2557"/>
            <a:ext cx="1898" cy="611"/>
          </p:xfrm>
          <a:graphic>
            <a:graphicData uri="http://schemas.openxmlformats.org/presentationml/2006/ole">
              <p:oleObj spid="_x0000_s59397" name="Equation" r:id="rId4" imgW="1104421" imgH="355446" progId="Equation.3">
                <p:embed/>
              </p:oleObj>
            </a:graphicData>
          </a:graphic>
        </p:graphicFrame>
      </p:grpSp>
      <p:sp>
        <p:nvSpPr>
          <p:cNvPr id="45062" name="Rectangle 11"/>
          <p:cNvSpPr>
            <a:spLocks noChangeArrowheads="1"/>
          </p:cNvSpPr>
          <p:nvPr/>
        </p:nvSpPr>
        <p:spPr bwMode="auto">
          <a:xfrm>
            <a:off x="611188" y="260350"/>
            <a:ext cx="8064500" cy="579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dirty="0"/>
              <a:t>4.4  </a:t>
            </a:r>
            <a:r>
              <a:rPr lang="zh-CN" altLang="en-US" sz="3200" dirty="0"/>
              <a:t>对偶模型的经济意义</a:t>
            </a:r>
            <a:r>
              <a:rPr lang="en-US" altLang="zh-CN" sz="3200" dirty="0"/>
              <a:t>——</a:t>
            </a:r>
            <a:r>
              <a:rPr lang="zh-CN" altLang="en-US" sz="3200" dirty="0"/>
              <a:t>影子价格</a:t>
            </a:r>
          </a:p>
        </p:txBody>
      </p:sp>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xmlns="" val="39364109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35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6355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6356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635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554" grpId="0" autoUpdateAnimBg="0"/>
      <p:bldP spid="663556"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a:spLocks noChangeArrowheads="1"/>
          </p:cNvSpPr>
          <p:nvPr/>
        </p:nvSpPr>
        <p:spPr bwMode="auto">
          <a:xfrm>
            <a:off x="5943600" y="1447800"/>
            <a:ext cx="533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en-US" altLang="en-US"/>
          </a:p>
        </p:txBody>
      </p:sp>
      <p:grpSp>
        <p:nvGrpSpPr>
          <p:cNvPr id="664580" name="Group 4"/>
          <p:cNvGrpSpPr>
            <a:grpSpLocks/>
          </p:cNvGrpSpPr>
          <p:nvPr/>
        </p:nvGrpSpPr>
        <p:grpSpPr bwMode="auto">
          <a:xfrm>
            <a:off x="6553200" y="1295400"/>
            <a:ext cx="2286000" cy="831850"/>
            <a:chOff x="336" y="1104"/>
            <a:chExt cx="1440" cy="524"/>
          </a:xfrm>
        </p:grpSpPr>
        <p:sp>
          <p:nvSpPr>
            <p:cNvPr id="46090" name="Text Box 5"/>
            <p:cNvSpPr txBox="1">
              <a:spLocks noChangeArrowheads="1"/>
            </p:cNvSpPr>
            <p:nvPr/>
          </p:nvSpPr>
          <p:spPr bwMode="auto">
            <a:xfrm>
              <a:off x="336" y="1104"/>
              <a:ext cx="1440" cy="524"/>
            </a:xfrm>
            <a:prstGeom prst="rect">
              <a:avLst/>
            </a:prstGeom>
            <a:solidFill>
              <a:srgbClr val="99FFCC"/>
            </a:solidFill>
            <a:ln w="9525">
              <a:solidFill>
                <a:srgbClr val="9900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a:t>当某个右端常数</a:t>
              </a:r>
              <a:r>
                <a:rPr lang="en-US" altLang="zh-CN" sz="2400"/>
                <a:t>b</a:t>
              </a:r>
              <a:r>
                <a:rPr lang="en-US" altLang="zh-CN" sz="2400" baseline="-25000"/>
                <a:t>i           </a:t>
              </a:r>
              <a:r>
                <a:rPr lang="en-US" altLang="zh-CN" sz="2400"/>
                <a:t>b</a:t>
              </a:r>
              <a:r>
                <a:rPr lang="en-US" altLang="zh-CN" sz="2400" baseline="-25000"/>
                <a:t>i</a:t>
              </a:r>
              <a:r>
                <a:rPr lang="en-US" altLang="zh-CN" sz="2400"/>
                <a:t>+1</a:t>
              </a:r>
              <a:r>
                <a:rPr lang="zh-CN" altLang="en-US" sz="2400"/>
                <a:t>时</a:t>
              </a:r>
            </a:p>
          </p:txBody>
        </p:sp>
        <p:sp>
          <p:nvSpPr>
            <p:cNvPr id="46091" name="Line 6"/>
            <p:cNvSpPr>
              <a:spLocks noChangeShapeType="1"/>
            </p:cNvSpPr>
            <p:nvPr/>
          </p:nvSpPr>
          <p:spPr bwMode="auto">
            <a:xfrm>
              <a:off x="768" y="1488"/>
              <a:ext cx="243" cy="0"/>
            </a:xfrm>
            <a:prstGeom prst="line">
              <a:avLst/>
            </a:prstGeom>
            <a:noFill/>
            <a:ln w="57150">
              <a:solidFill>
                <a:srgbClr val="990000"/>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a:p>
          </p:txBody>
        </p:sp>
      </p:grpSp>
      <p:graphicFrame>
        <p:nvGraphicFramePr>
          <p:cNvPr id="46084" name="Object 7"/>
          <p:cNvGraphicFramePr>
            <a:graphicFrameLocks noChangeAspect="1"/>
          </p:cNvGraphicFramePr>
          <p:nvPr/>
        </p:nvGraphicFramePr>
        <p:xfrm>
          <a:off x="304800" y="76200"/>
          <a:ext cx="6324600" cy="3389313"/>
        </p:xfrm>
        <a:graphic>
          <a:graphicData uri="http://schemas.openxmlformats.org/presentationml/2006/ole">
            <p:oleObj spid="_x0000_s60423" name="Equation" r:id="rId3" imgW="2489200" imgH="1333500" progId="Equation.3">
              <p:embed/>
            </p:oleObj>
          </a:graphicData>
        </a:graphic>
      </p:graphicFrame>
      <p:graphicFrame>
        <p:nvGraphicFramePr>
          <p:cNvPr id="664584" name="Object 8"/>
          <p:cNvGraphicFramePr>
            <a:graphicFrameLocks noChangeAspect="1"/>
          </p:cNvGraphicFramePr>
          <p:nvPr/>
        </p:nvGraphicFramePr>
        <p:xfrm>
          <a:off x="273050" y="3567113"/>
          <a:ext cx="6227763" cy="547687"/>
        </p:xfrm>
        <a:graphic>
          <a:graphicData uri="http://schemas.openxmlformats.org/presentationml/2006/ole">
            <p:oleObj spid="_x0000_s60424" name="Equation" r:id="rId4" imgW="2451100" imgH="215900" progId="Equation.3">
              <p:embed/>
            </p:oleObj>
          </a:graphicData>
        </a:graphic>
      </p:graphicFrame>
      <p:graphicFrame>
        <p:nvGraphicFramePr>
          <p:cNvPr id="664585" name="Object 9"/>
          <p:cNvGraphicFramePr>
            <a:graphicFrameLocks noChangeAspect="1"/>
          </p:cNvGraphicFramePr>
          <p:nvPr/>
        </p:nvGraphicFramePr>
        <p:xfrm>
          <a:off x="273050" y="4191000"/>
          <a:ext cx="6227763" cy="547688"/>
        </p:xfrm>
        <a:graphic>
          <a:graphicData uri="http://schemas.openxmlformats.org/presentationml/2006/ole">
            <p:oleObj spid="_x0000_s60425" name="Equation" r:id="rId5" imgW="2451100" imgH="215900" progId="Equation.3">
              <p:embed/>
            </p:oleObj>
          </a:graphicData>
        </a:graphic>
      </p:graphicFrame>
      <p:graphicFrame>
        <p:nvGraphicFramePr>
          <p:cNvPr id="664586" name="Object 10"/>
          <p:cNvGraphicFramePr>
            <a:graphicFrameLocks noChangeAspect="1"/>
          </p:cNvGraphicFramePr>
          <p:nvPr/>
        </p:nvGraphicFramePr>
        <p:xfrm>
          <a:off x="762000" y="4800600"/>
          <a:ext cx="1600200" cy="544513"/>
        </p:xfrm>
        <a:graphic>
          <a:graphicData uri="http://schemas.openxmlformats.org/presentationml/2006/ole">
            <p:oleObj spid="_x0000_s60426" name="Equation" r:id="rId6" imgW="634449" imgH="215713" progId="Equation.3">
              <p:embed/>
            </p:oleObj>
          </a:graphicData>
        </a:graphic>
      </p:graphicFrame>
      <p:graphicFrame>
        <p:nvGraphicFramePr>
          <p:cNvPr id="664587" name="Object 11"/>
          <p:cNvGraphicFramePr>
            <a:graphicFrameLocks noChangeAspect="1"/>
          </p:cNvGraphicFramePr>
          <p:nvPr/>
        </p:nvGraphicFramePr>
        <p:xfrm>
          <a:off x="2549525" y="4800600"/>
          <a:ext cx="1376363" cy="544513"/>
        </p:xfrm>
        <a:graphic>
          <a:graphicData uri="http://schemas.openxmlformats.org/presentationml/2006/ole">
            <p:oleObj spid="_x0000_s60427" name="Equation" r:id="rId7" imgW="545626" imgH="215713" progId="Equation.3">
              <p:embed/>
            </p:oleObj>
          </a:graphicData>
        </a:graphic>
      </p:graphicFrame>
      <p:sp>
        <p:nvSpPr>
          <p:cNvPr id="664588" name="AutoShape 12"/>
          <p:cNvSpPr>
            <a:spLocks noChangeArrowheads="1"/>
          </p:cNvSpPr>
          <p:nvPr/>
        </p:nvSpPr>
        <p:spPr bwMode="auto">
          <a:xfrm>
            <a:off x="5867400" y="4581525"/>
            <a:ext cx="2971800" cy="1981200"/>
          </a:xfrm>
          <a:prstGeom prst="wedgeRoundRectCallout">
            <a:avLst>
              <a:gd name="adj1" fmla="val -97009"/>
              <a:gd name="adj2" fmla="val -39824"/>
              <a:gd name="adj3" fmla="val 16667"/>
            </a:avLst>
          </a:prstGeom>
          <a:solidFill>
            <a:srgbClr val="AFF0F7"/>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a:t>第</a:t>
            </a:r>
            <a:r>
              <a:rPr lang="en-US" altLang="zh-CN" sz="2400"/>
              <a:t>i </a:t>
            </a:r>
            <a:r>
              <a:rPr lang="zh-CN" altLang="en-US" sz="2400"/>
              <a:t>种资源的影子价格是第</a:t>
            </a:r>
            <a:r>
              <a:rPr lang="en-US" altLang="zh-CN" sz="2400"/>
              <a:t>i</a:t>
            </a:r>
            <a:r>
              <a:rPr lang="zh-CN" altLang="en-US" sz="2400"/>
              <a:t>个约束条件的右端常数增加一个单位时，目标函数增加的数量</a:t>
            </a:r>
          </a:p>
        </p:txBody>
      </p:sp>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xmlns="" val="42817227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645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664578"/>
                                        </p:tgtEl>
                                        <p:attrNameLst>
                                          <p:attrName>style.visibility</p:attrName>
                                        </p:attrNameLst>
                                      </p:cBhvr>
                                      <p:to>
                                        <p:strVal val="visible"/>
                                      </p:to>
                                    </p:set>
                                    <p:anim calcmode="lin" valueType="num">
                                      <p:cBhvr additive="base">
                                        <p:cTn id="11" dur="500" fill="hold"/>
                                        <p:tgtEl>
                                          <p:spTgt spid="664578"/>
                                        </p:tgtEl>
                                        <p:attrNameLst>
                                          <p:attrName>ppt_x</p:attrName>
                                        </p:attrNameLst>
                                      </p:cBhvr>
                                      <p:tavLst>
                                        <p:tav tm="0">
                                          <p:val>
                                            <p:strVal val="0-#ppt_w/2"/>
                                          </p:val>
                                        </p:tav>
                                        <p:tav tm="100000">
                                          <p:val>
                                            <p:strVal val="#ppt_x"/>
                                          </p:val>
                                        </p:tav>
                                      </p:tavLst>
                                    </p:anim>
                                    <p:anim calcmode="lin" valueType="num">
                                      <p:cBhvr additive="base">
                                        <p:cTn id="12" dur="500" fill="hold"/>
                                        <p:tgtEl>
                                          <p:spTgt spid="664578"/>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64584"/>
                                        </p:tgtEl>
                                        <p:attrNameLst>
                                          <p:attrName>style.visibility</p:attrName>
                                        </p:attrNameLst>
                                      </p:cBhvr>
                                      <p:to>
                                        <p:strVal val="visible"/>
                                      </p:to>
                                    </p:set>
                                    <p:animEffect transition="in" filter="wipe(left)">
                                      <p:cBhvr>
                                        <p:cTn id="17" dur="500"/>
                                        <p:tgtEl>
                                          <p:spTgt spid="6645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64585"/>
                                        </p:tgtEl>
                                        <p:attrNameLst>
                                          <p:attrName>style.visibility</p:attrName>
                                        </p:attrNameLst>
                                      </p:cBhvr>
                                      <p:to>
                                        <p:strVal val="visible"/>
                                      </p:to>
                                    </p:set>
                                    <p:animEffect transition="in" filter="wipe(left)">
                                      <p:cBhvr>
                                        <p:cTn id="22" dur="500"/>
                                        <p:tgtEl>
                                          <p:spTgt spid="6645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64586"/>
                                        </p:tgtEl>
                                        <p:attrNameLst>
                                          <p:attrName>style.visibility</p:attrName>
                                        </p:attrNameLst>
                                      </p:cBhvr>
                                      <p:to>
                                        <p:strVal val="visible"/>
                                      </p:to>
                                    </p:set>
                                    <p:animEffect transition="in" filter="wipe(left)">
                                      <p:cBhvr>
                                        <p:cTn id="27" dur="500"/>
                                        <p:tgtEl>
                                          <p:spTgt spid="6645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64587"/>
                                        </p:tgtEl>
                                        <p:attrNameLst>
                                          <p:attrName>style.visibility</p:attrName>
                                        </p:attrNameLst>
                                      </p:cBhvr>
                                      <p:to>
                                        <p:strVal val="visible"/>
                                      </p:to>
                                    </p:set>
                                    <p:animEffect transition="in" filter="wipe(left)">
                                      <p:cBhvr>
                                        <p:cTn id="32" dur="500"/>
                                        <p:tgtEl>
                                          <p:spTgt spid="66458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664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4588"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p:cNvSpPr>
            <a:spLocks noGrp="1" noChangeArrowheads="1"/>
          </p:cNvSpPr>
          <p:nvPr>
            <p:ph type="body" sz="half" idx="4294967295"/>
          </p:nvPr>
        </p:nvSpPr>
        <p:spPr>
          <a:xfrm>
            <a:off x="323850" y="260350"/>
            <a:ext cx="8532813" cy="4114800"/>
          </a:xfrm>
        </p:spPr>
        <p:txBody>
          <a:bodyPr/>
          <a:lstStyle/>
          <a:p>
            <a:pPr>
              <a:buFontTx/>
              <a:buNone/>
            </a:pPr>
            <a:r>
              <a:rPr lang="en-US" altLang="zh-CN" sz="2400" b="1">
                <a:latin typeface="宋体" panose="02010600030101010101" pitchFamily="2" charset="-122"/>
              </a:rPr>
              <a:t>    </a:t>
            </a:r>
            <a:r>
              <a:rPr lang="zh-CN" altLang="en-US" sz="2800" b="1">
                <a:latin typeface="宋体" panose="02010600030101010101" pitchFamily="2" charset="-122"/>
              </a:rPr>
              <a:t>在</a:t>
            </a:r>
            <a:r>
              <a:rPr lang="en-US" altLang="zh-CN" sz="2800" b="1">
                <a:latin typeface="宋体" panose="02010600030101010101" pitchFamily="2" charset="-122"/>
              </a:rPr>
              <a:t>【</a:t>
            </a:r>
            <a:r>
              <a:rPr lang="zh-CN" altLang="en-US" sz="2800" b="1">
                <a:latin typeface="宋体" panose="02010600030101010101" pitchFamily="2" charset="-122"/>
              </a:rPr>
              <a:t>例</a:t>
            </a:r>
            <a:r>
              <a:rPr lang="en-US" altLang="zh-CN" sz="2800" b="1">
                <a:latin typeface="宋体" panose="02010600030101010101" pitchFamily="2" charset="-122"/>
              </a:rPr>
              <a:t>4-1】</a:t>
            </a:r>
            <a:r>
              <a:rPr lang="zh-CN" altLang="en-US" sz="2800" b="1">
                <a:latin typeface="宋体" panose="02010600030101010101" pitchFamily="2" charset="-122"/>
              </a:rPr>
              <a:t>中，当原问题和对偶问题都取得最</a:t>
            </a:r>
          </a:p>
          <a:p>
            <a:pPr>
              <a:buFontTx/>
              <a:buNone/>
            </a:pPr>
            <a:r>
              <a:rPr lang="zh-CN" altLang="en-US" sz="2800" b="1">
                <a:latin typeface="宋体" panose="02010600030101010101" pitchFamily="2" charset="-122"/>
              </a:rPr>
              <a:t>优解时，这一对线性规划对应的目标函数值相等，</a:t>
            </a:r>
          </a:p>
          <a:p>
            <a:pPr>
              <a:buFontTx/>
              <a:buNone/>
            </a:pPr>
            <a:r>
              <a:rPr lang="zh-CN" altLang="en-US" sz="2800" b="1">
                <a:latin typeface="宋体" panose="02010600030101010101" pitchFamily="2" charset="-122"/>
              </a:rPr>
              <a:t>即有：</a:t>
            </a:r>
          </a:p>
          <a:p>
            <a:pPr>
              <a:buFontTx/>
              <a:buNone/>
            </a:pPr>
            <a:r>
              <a:rPr lang="zh-CN" altLang="en-US" sz="2800" b="1">
                <a:latin typeface="宋体" panose="02010600030101010101" pitchFamily="2" charset="-122"/>
              </a:rPr>
              <a:t>      </a:t>
            </a:r>
          </a:p>
          <a:p>
            <a:pPr>
              <a:buFontTx/>
              <a:buNone/>
            </a:pPr>
            <a:endParaRPr lang="zh-CN" altLang="en-US" sz="2800" b="1">
              <a:latin typeface="宋体" panose="02010600030101010101" pitchFamily="2" charset="-122"/>
            </a:endParaRPr>
          </a:p>
          <a:p>
            <a:pPr>
              <a:buFontTx/>
              <a:buNone/>
            </a:pPr>
            <a:r>
              <a:rPr lang="zh-CN" altLang="en-US" sz="2800" b="1">
                <a:latin typeface="宋体" panose="02010600030101010101" pitchFamily="2" charset="-122"/>
              </a:rPr>
              <a:t>其中</a:t>
            </a:r>
            <a:r>
              <a:rPr lang="en-US" altLang="zh-CN" sz="2800" b="1">
                <a:latin typeface="宋体" panose="02010600030101010101" pitchFamily="2" charset="-122"/>
              </a:rPr>
              <a:t>X</a:t>
            </a:r>
            <a:r>
              <a:rPr lang="en-US" altLang="zh-CN" sz="2800" b="1" baseline="30000">
                <a:latin typeface="宋体" panose="02010600030101010101" pitchFamily="2" charset="-122"/>
              </a:rPr>
              <a:t>*</a:t>
            </a:r>
            <a:r>
              <a:rPr lang="en-US" altLang="zh-CN" sz="2800" b="1">
                <a:latin typeface="宋体" panose="02010600030101010101" pitchFamily="2" charset="-122"/>
              </a:rPr>
              <a:t>=</a:t>
            </a:r>
            <a:r>
              <a:rPr lang="zh-CN" altLang="en-US" sz="2800" b="1">
                <a:latin typeface="宋体" panose="02010600030101010101" pitchFamily="2" charset="-122"/>
              </a:rPr>
              <a:t>（</a:t>
            </a:r>
            <a:r>
              <a:rPr lang="en-US" altLang="zh-CN" sz="2800" b="1">
                <a:latin typeface="宋体" panose="02010600030101010101" pitchFamily="2" charset="-122"/>
              </a:rPr>
              <a:t>75</a:t>
            </a:r>
            <a:r>
              <a:rPr lang="zh-CN" altLang="en-US" sz="2800" b="1">
                <a:latin typeface="宋体" panose="02010600030101010101" pitchFamily="2" charset="-122"/>
              </a:rPr>
              <a:t>，</a:t>
            </a:r>
            <a:r>
              <a:rPr lang="en-US" altLang="zh-CN" sz="2800" b="1">
                <a:latin typeface="宋体" panose="02010600030101010101" pitchFamily="2" charset="-122"/>
              </a:rPr>
              <a:t>15</a:t>
            </a:r>
            <a:r>
              <a:rPr lang="zh-CN" altLang="en-US" sz="2800" b="1">
                <a:latin typeface="宋体" panose="02010600030101010101" pitchFamily="2" charset="-122"/>
              </a:rPr>
              <a:t>）</a:t>
            </a:r>
            <a:r>
              <a:rPr lang="en-US" altLang="zh-CN" sz="2800" b="1" baseline="30000">
                <a:latin typeface="宋体" panose="02010600030101010101" pitchFamily="2" charset="-122"/>
              </a:rPr>
              <a:t>T</a:t>
            </a:r>
            <a:r>
              <a:rPr lang="zh-CN" altLang="en-US" sz="2800" b="1">
                <a:latin typeface="宋体" panose="02010600030101010101" pitchFamily="2" charset="-122"/>
              </a:rPr>
              <a:t>，是原问题的最优解，</a:t>
            </a:r>
          </a:p>
          <a:p>
            <a:pPr>
              <a:buFontTx/>
              <a:buNone/>
            </a:pPr>
            <a:r>
              <a:rPr lang="zh-CN" altLang="en-US" sz="2800" b="1">
                <a:latin typeface="宋体" panose="02010600030101010101" pitchFamily="2" charset="-122"/>
              </a:rPr>
              <a:t>    </a:t>
            </a:r>
            <a:r>
              <a:rPr lang="en-US" altLang="zh-CN" sz="2800" b="1">
                <a:latin typeface="宋体" panose="02010600030101010101" pitchFamily="2" charset="-122"/>
              </a:rPr>
              <a:t>y</a:t>
            </a:r>
            <a:r>
              <a:rPr lang="en-US" altLang="zh-CN" sz="2800" b="1" baseline="30000">
                <a:latin typeface="宋体" panose="02010600030101010101" pitchFamily="2" charset="-122"/>
              </a:rPr>
              <a:t>* </a:t>
            </a:r>
            <a:r>
              <a:rPr lang="en-US" altLang="zh-CN" sz="2800" b="1">
                <a:latin typeface="宋体" panose="02010600030101010101" pitchFamily="2" charset="-122"/>
              </a:rPr>
              <a:t>=</a:t>
            </a:r>
            <a:r>
              <a:rPr lang="zh-CN" altLang="en-US" sz="2800" b="1">
                <a:latin typeface="宋体" panose="02010600030101010101" pitchFamily="2" charset="-122"/>
              </a:rPr>
              <a:t>（</a:t>
            </a:r>
            <a:r>
              <a:rPr lang="en-US" altLang="zh-CN" sz="2800" b="1">
                <a:latin typeface="宋体" panose="02010600030101010101" pitchFamily="2" charset="-122"/>
              </a:rPr>
              <a:t>5</a:t>
            </a:r>
            <a:r>
              <a:rPr lang="zh-CN" altLang="en-US" sz="2800" b="1">
                <a:latin typeface="宋体" panose="02010600030101010101" pitchFamily="2" charset="-122"/>
              </a:rPr>
              <a:t>，</a:t>
            </a:r>
            <a:r>
              <a:rPr lang="en-US" altLang="zh-CN" sz="2800" b="1">
                <a:latin typeface="宋体" panose="02010600030101010101" pitchFamily="2" charset="-122"/>
              </a:rPr>
              <a:t>0</a:t>
            </a:r>
            <a:r>
              <a:rPr lang="zh-CN" altLang="en-US" sz="2800" b="1">
                <a:latin typeface="宋体" panose="02010600030101010101" pitchFamily="2" charset="-122"/>
              </a:rPr>
              <a:t>，</a:t>
            </a:r>
            <a:r>
              <a:rPr lang="en-US" altLang="zh-CN" sz="2800" b="1">
                <a:latin typeface="宋体" panose="02010600030101010101" pitchFamily="2" charset="-122"/>
              </a:rPr>
              <a:t>0.5</a:t>
            </a:r>
            <a:r>
              <a:rPr lang="zh-CN" altLang="en-US" sz="2800" b="1">
                <a:latin typeface="宋体" panose="02010600030101010101" pitchFamily="2" charset="-122"/>
              </a:rPr>
              <a:t>）</a:t>
            </a:r>
            <a:r>
              <a:rPr lang="en-US" altLang="zh-CN" sz="2800" b="1" baseline="30000">
                <a:latin typeface="宋体" panose="02010600030101010101" pitchFamily="2" charset="-122"/>
              </a:rPr>
              <a:t>T</a:t>
            </a:r>
            <a:r>
              <a:rPr lang="zh-CN" altLang="en-US" sz="2800" b="1">
                <a:latin typeface="宋体" panose="02010600030101010101" pitchFamily="2" charset="-122"/>
              </a:rPr>
              <a:t>是对偶问题最优解。</a:t>
            </a:r>
          </a:p>
        </p:txBody>
      </p:sp>
      <p:graphicFrame>
        <p:nvGraphicFramePr>
          <p:cNvPr id="93190" name="Object 6"/>
          <p:cNvGraphicFramePr>
            <a:graphicFrameLocks noGrp="1" noChangeAspect="1"/>
          </p:cNvGraphicFramePr>
          <p:nvPr>
            <p:ph sz="half" idx="4294967295"/>
          </p:nvPr>
        </p:nvGraphicFramePr>
        <p:xfrm>
          <a:off x="2051050" y="1412875"/>
          <a:ext cx="5976938" cy="1206500"/>
        </p:xfrm>
        <a:graphic>
          <a:graphicData uri="http://schemas.openxmlformats.org/presentationml/2006/ole">
            <p:oleObj spid="_x0000_s38944" name="Equation" r:id="rId3" imgW="2540000" imgH="495300" progId="">
              <p:embed/>
            </p:oleObj>
          </a:graphicData>
        </a:graphic>
      </p:graphicFrame>
      <p:sp>
        <p:nvSpPr>
          <p:cNvPr id="93197" name="Rectangle 13"/>
          <p:cNvSpPr>
            <a:spLocks noChangeArrowheads="1"/>
          </p:cNvSpPr>
          <p:nvPr/>
        </p:nvSpPr>
        <p:spPr bwMode="auto">
          <a:xfrm>
            <a:off x="250825" y="4005263"/>
            <a:ext cx="8713788" cy="1512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r>
              <a:rPr lang="en-US" altLang="zh-CN"/>
              <a:t>           </a:t>
            </a:r>
            <a:r>
              <a:rPr lang="zh-CN" altLang="en-US"/>
              <a:t>若甲原料供应量能增加一个单位，即右端常数向量</a:t>
            </a:r>
            <a:r>
              <a:rPr lang="en-US" altLang="zh-CN"/>
              <a:t>b=(90</a:t>
            </a:r>
            <a:r>
              <a:rPr lang="zh-CN" altLang="en-US"/>
              <a:t>，</a:t>
            </a:r>
            <a:r>
              <a:rPr lang="en-US" altLang="zh-CN"/>
              <a:t>490</a:t>
            </a:r>
            <a:r>
              <a:rPr lang="zh-CN" altLang="en-US"/>
              <a:t>，</a:t>
            </a:r>
            <a:r>
              <a:rPr lang="en-US" altLang="zh-CN"/>
              <a:t>240)</a:t>
            </a:r>
            <a:r>
              <a:rPr lang="en-US" altLang="zh-CN" baseline="30000"/>
              <a:t>T</a:t>
            </a:r>
            <a:r>
              <a:rPr lang="zh-CN" altLang="en-US"/>
              <a:t>中的</a:t>
            </a:r>
            <a:r>
              <a:rPr lang="en-US" altLang="zh-CN"/>
              <a:t>b</a:t>
            </a:r>
            <a:r>
              <a:rPr lang="en-US" altLang="zh-CN" baseline="-25000"/>
              <a:t>1</a:t>
            </a:r>
            <a:r>
              <a:rPr lang="zh-CN" altLang="en-US"/>
              <a:t>从</a:t>
            </a:r>
            <a:r>
              <a:rPr lang="en-US" altLang="zh-CN"/>
              <a:t>90</a:t>
            </a:r>
            <a:r>
              <a:rPr lang="zh-CN" altLang="en-US"/>
              <a:t>个单位增加到</a:t>
            </a:r>
            <a:r>
              <a:rPr lang="en-US" altLang="zh-CN"/>
              <a:t>91</a:t>
            </a:r>
            <a:r>
              <a:rPr lang="zh-CN" altLang="en-US"/>
              <a:t>个单位，则目标函数值的变化量为：</a:t>
            </a:r>
          </a:p>
          <a:p>
            <a:pPr>
              <a:buFontTx/>
              <a:buNone/>
            </a:pPr>
            <a:r>
              <a:rPr lang="zh-CN" altLang="en-US"/>
              <a:t>   </a:t>
            </a:r>
          </a:p>
        </p:txBody>
      </p:sp>
      <p:graphicFrame>
        <p:nvGraphicFramePr>
          <p:cNvPr id="93201" name="Object 17"/>
          <p:cNvGraphicFramePr>
            <a:graphicFrameLocks noChangeAspect="1"/>
          </p:cNvGraphicFramePr>
          <p:nvPr/>
        </p:nvGraphicFramePr>
        <p:xfrm>
          <a:off x="395288" y="5589588"/>
          <a:ext cx="8532812" cy="565150"/>
        </p:xfrm>
        <a:graphic>
          <a:graphicData uri="http://schemas.openxmlformats.org/presentationml/2006/ole">
            <p:oleObj spid="_x0000_s38945" name="Equation" r:id="rId4" imgW="3644900" imgH="241300" progId="">
              <p:embed/>
            </p:oleObj>
          </a:graphicData>
        </a:graphic>
      </p:graphicFrame>
    </p:spTree>
    <p:extLst>
      <p:ext uri="{BB962C8B-B14F-4D97-AF65-F5344CB8AC3E}">
        <p14:creationId xmlns:p14="http://schemas.microsoft.com/office/powerpoint/2010/main" xmlns="" val="10519564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93197"/>
                                        </p:tgtEl>
                                        <p:attrNameLst>
                                          <p:attrName>style.visibility</p:attrName>
                                        </p:attrNameLst>
                                      </p:cBhvr>
                                      <p:to>
                                        <p:strVal val="visible"/>
                                      </p:to>
                                    </p:set>
                                    <p:animEffect transition="in" filter="strips(upRight)">
                                      <p:cBhvr>
                                        <p:cTn id="7" dur="500"/>
                                        <p:tgtEl>
                                          <p:spTgt spid="931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nodeType="clickEffect">
                                  <p:stCondLst>
                                    <p:cond delay="0"/>
                                  </p:stCondLst>
                                  <p:childTnLst>
                                    <p:set>
                                      <p:cBhvr>
                                        <p:cTn id="11" dur="1" fill="hold">
                                          <p:stCondLst>
                                            <p:cond delay="0"/>
                                          </p:stCondLst>
                                        </p:cTn>
                                        <p:tgtEl>
                                          <p:spTgt spid="93201"/>
                                        </p:tgtEl>
                                        <p:attrNameLst>
                                          <p:attrName>style.visibility</p:attrName>
                                        </p:attrNameLst>
                                      </p:cBhvr>
                                      <p:to>
                                        <p:strVal val="visible"/>
                                      </p:to>
                                    </p:set>
                                    <p:animEffect transition="in" filter="strips(downLeft)">
                                      <p:cBhvr>
                                        <p:cTn id="12" dur="500"/>
                                        <p:tgtEl>
                                          <p:spTgt spid="93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4" name="Rectangle 4"/>
          <p:cNvSpPr>
            <a:spLocks noChangeArrowheads="1"/>
          </p:cNvSpPr>
          <p:nvPr/>
        </p:nvSpPr>
        <p:spPr bwMode="auto">
          <a:xfrm>
            <a:off x="179388" y="2636838"/>
            <a:ext cx="8640762" cy="2520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buFontTx/>
              <a:buNone/>
            </a:pPr>
            <a:r>
              <a:rPr lang="en-US" altLang="zh-CN" b="0"/>
              <a:t>    </a:t>
            </a:r>
            <a:r>
              <a:rPr lang="zh-CN" altLang="en-US" sz="2800">
                <a:latin typeface="宋体" panose="02010600030101010101" pitchFamily="2" charset="-122"/>
              </a:rPr>
              <a:t>对偶变量  的意义</a:t>
            </a:r>
            <a:r>
              <a:rPr lang="en-US" altLang="zh-CN" sz="2800">
                <a:latin typeface="宋体" panose="02010600030101010101" pitchFamily="2" charset="-122"/>
              </a:rPr>
              <a:t>——</a:t>
            </a:r>
            <a:r>
              <a:rPr lang="zh-CN" altLang="en-US" sz="2800">
                <a:latin typeface="宋体" panose="02010600030101010101" pitchFamily="2" charset="-122"/>
              </a:rPr>
              <a:t>代表在资源最优利用条件下对单位第  种资源的估价，这种估价不是资源的市场价格，而是根据资源在生产中作出的贡献而作的估价，为区别起见，称为影子价格（</a:t>
            </a:r>
            <a:r>
              <a:rPr lang="en-US" altLang="zh-CN" sz="2800">
                <a:latin typeface="宋体" panose="02010600030101010101" pitchFamily="2" charset="-122"/>
              </a:rPr>
              <a:t>shadow price)</a:t>
            </a:r>
            <a:r>
              <a:rPr lang="zh-CN" altLang="en-US" sz="2800">
                <a:latin typeface="宋体" panose="02010600030101010101" pitchFamily="2" charset="-122"/>
              </a:rPr>
              <a:t>。</a:t>
            </a:r>
          </a:p>
        </p:txBody>
      </p:sp>
      <p:graphicFrame>
        <p:nvGraphicFramePr>
          <p:cNvPr id="675845" name="Object 5"/>
          <p:cNvGraphicFramePr>
            <a:graphicFrameLocks noChangeAspect="1"/>
          </p:cNvGraphicFramePr>
          <p:nvPr/>
        </p:nvGraphicFramePr>
        <p:xfrm>
          <a:off x="2124075" y="2636838"/>
          <a:ext cx="355600" cy="647700"/>
        </p:xfrm>
        <a:graphic>
          <a:graphicData uri="http://schemas.openxmlformats.org/presentationml/2006/ole">
            <p:oleObj spid="_x0000_s39983" name="公式" r:id="rId3" imgW="177646" imgH="241091" progId="Equation.3">
              <p:embed/>
            </p:oleObj>
          </a:graphicData>
        </a:graphic>
      </p:graphicFrame>
      <p:graphicFrame>
        <p:nvGraphicFramePr>
          <p:cNvPr id="675846" name="Object 6"/>
          <p:cNvGraphicFramePr>
            <a:graphicFrameLocks noChangeAspect="1"/>
          </p:cNvGraphicFramePr>
          <p:nvPr/>
        </p:nvGraphicFramePr>
        <p:xfrm>
          <a:off x="2197100" y="3355975"/>
          <a:ext cx="171450" cy="457200"/>
        </p:xfrm>
        <a:graphic>
          <a:graphicData uri="http://schemas.openxmlformats.org/presentationml/2006/ole">
            <p:oleObj spid="_x0000_s39984" name="公式" r:id="rId4" imgW="88707" imgH="164742" progId="Equation.3">
              <p:embed/>
            </p:oleObj>
          </a:graphicData>
        </a:graphic>
      </p:graphicFrame>
      <p:graphicFrame>
        <p:nvGraphicFramePr>
          <p:cNvPr id="675847" name="Object 7"/>
          <p:cNvGraphicFramePr>
            <a:graphicFrameLocks noChangeAspect="1"/>
          </p:cNvGraphicFramePr>
          <p:nvPr/>
        </p:nvGraphicFramePr>
        <p:xfrm>
          <a:off x="395288" y="476250"/>
          <a:ext cx="8316912" cy="549275"/>
        </p:xfrm>
        <a:graphic>
          <a:graphicData uri="http://schemas.openxmlformats.org/presentationml/2006/ole">
            <p:oleObj spid="_x0000_s39985" name="Equation" r:id="rId5" imgW="3644900" imgH="241300" progId="">
              <p:embed/>
            </p:oleObj>
          </a:graphicData>
        </a:graphic>
      </p:graphicFrame>
      <p:sp>
        <p:nvSpPr>
          <p:cNvPr id="675848" name="Rectangle 8"/>
          <p:cNvSpPr>
            <a:spLocks noChangeArrowheads="1"/>
          </p:cNvSpPr>
          <p:nvPr/>
        </p:nvSpPr>
        <p:spPr bwMode="auto">
          <a:xfrm>
            <a:off x="0" y="1412875"/>
            <a:ext cx="8713788" cy="1512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nSpc>
                <a:spcPct val="120000"/>
              </a:lnSpc>
              <a:buFontTx/>
              <a:buNone/>
            </a:pPr>
            <a:r>
              <a:rPr lang="en-US" altLang="zh-CN"/>
              <a:t>           y</a:t>
            </a:r>
            <a:r>
              <a:rPr lang="en-US" altLang="zh-CN" baseline="-25000"/>
              <a:t>1</a:t>
            </a:r>
            <a:r>
              <a:rPr lang="en-US" altLang="zh-CN" baseline="30000">
                <a:latin typeface="宋体" panose="02010600030101010101" pitchFamily="2" charset="-122"/>
              </a:rPr>
              <a:t>* </a:t>
            </a:r>
            <a:r>
              <a:rPr lang="en-US" altLang="zh-CN"/>
              <a:t>=5</a:t>
            </a:r>
            <a:r>
              <a:rPr lang="zh-CN" altLang="en-US"/>
              <a:t>描述了在生产最优安排下，原料甲的变动给总利润带来的影响。</a:t>
            </a:r>
          </a:p>
          <a:p>
            <a:pPr>
              <a:buFontTx/>
              <a:buNone/>
            </a:pPr>
            <a:r>
              <a:rPr lang="zh-CN" altLang="en-US"/>
              <a:t>   </a:t>
            </a:r>
          </a:p>
        </p:txBody>
      </p:sp>
    </p:spTree>
    <p:extLst>
      <p:ext uri="{BB962C8B-B14F-4D97-AF65-F5344CB8AC3E}">
        <p14:creationId xmlns:p14="http://schemas.microsoft.com/office/powerpoint/2010/main" xmlns="" val="24683653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75848"/>
                                        </p:tgtEl>
                                        <p:attrNameLst>
                                          <p:attrName>style.visibility</p:attrName>
                                        </p:attrNameLst>
                                      </p:cBhvr>
                                      <p:to>
                                        <p:strVal val="visible"/>
                                      </p:to>
                                    </p:set>
                                    <p:animEffect transition="in" filter="checkerboard(across)">
                                      <p:cBhvr>
                                        <p:cTn id="7" dur="500"/>
                                        <p:tgtEl>
                                          <p:spTgt spid="6758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75844">
                                            <p:txEl>
                                              <p:pRg st="0" end="0"/>
                                            </p:txEl>
                                          </p:spTgt>
                                        </p:tgtEl>
                                        <p:attrNameLst>
                                          <p:attrName>style.visibility</p:attrName>
                                        </p:attrNameLst>
                                      </p:cBhvr>
                                      <p:to>
                                        <p:strVal val="visible"/>
                                      </p:to>
                                    </p:set>
                                    <p:animEffect transition="in" filter="strips(downRight)">
                                      <p:cBhvr>
                                        <p:cTn id="12" dur="500"/>
                                        <p:tgtEl>
                                          <p:spTgt spid="675844">
                                            <p:txEl>
                                              <p:pRg st="0" end="0"/>
                                            </p:txEl>
                                          </p:spTgt>
                                        </p:tgtEl>
                                      </p:cBhvr>
                                    </p:animEffect>
                                  </p:childTnLst>
                                </p:cTn>
                              </p:par>
                              <p:par>
                                <p:cTn id="13" presetID="18" presetClass="entr" presetSubtype="6" fill="hold" nodeType="withEffect">
                                  <p:stCondLst>
                                    <p:cond delay="0"/>
                                  </p:stCondLst>
                                  <p:childTnLst>
                                    <p:set>
                                      <p:cBhvr>
                                        <p:cTn id="14" dur="1" fill="hold">
                                          <p:stCondLst>
                                            <p:cond delay="0"/>
                                          </p:stCondLst>
                                        </p:cTn>
                                        <p:tgtEl>
                                          <p:spTgt spid="675845"/>
                                        </p:tgtEl>
                                        <p:attrNameLst>
                                          <p:attrName>style.visibility</p:attrName>
                                        </p:attrNameLst>
                                      </p:cBhvr>
                                      <p:to>
                                        <p:strVal val="visible"/>
                                      </p:to>
                                    </p:set>
                                    <p:animEffect transition="in" filter="strips(downRight)">
                                      <p:cBhvr>
                                        <p:cTn id="15" dur="500"/>
                                        <p:tgtEl>
                                          <p:spTgt spid="675845"/>
                                        </p:tgtEl>
                                      </p:cBhvr>
                                    </p:animEffect>
                                  </p:childTnLst>
                                </p:cTn>
                              </p:par>
                              <p:par>
                                <p:cTn id="16" presetID="18" presetClass="entr" presetSubtype="6" fill="hold" nodeType="withEffect">
                                  <p:stCondLst>
                                    <p:cond delay="0"/>
                                  </p:stCondLst>
                                  <p:childTnLst>
                                    <p:set>
                                      <p:cBhvr>
                                        <p:cTn id="17" dur="1" fill="hold">
                                          <p:stCondLst>
                                            <p:cond delay="0"/>
                                          </p:stCondLst>
                                        </p:cTn>
                                        <p:tgtEl>
                                          <p:spTgt spid="675846"/>
                                        </p:tgtEl>
                                        <p:attrNameLst>
                                          <p:attrName>style.visibility</p:attrName>
                                        </p:attrNameLst>
                                      </p:cBhvr>
                                      <p:to>
                                        <p:strVal val="visible"/>
                                      </p:to>
                                    </p:set>
                                    <p:animEffect transition="in" filter="strips(downRight)">
                                      <p:cBhvr>
                                        <p:cTn id="18" dur="500"/>
                                        <p:tgtEl>
                                          <p:spTgt spid="6758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44" grpId="0" build="p"/>
      <p:bldP spid="67584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2" name="Rectangle 4"/>
          <p:cNvSpPr>
            <a:spLocks noChangeArrowheads="1"/>
          </p:cNvSpPr>
          <p:nvPr/>
        </p:nvSpPr>
        <p:spPr bwMode="auto">
          <a:xfrm>
            <a:off x="323850" y="1196975"/>
            <a:ext cx="8569325" cy="51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Tx/>
              <a:buNone/>
            </a:pPr>
            <a:r>
              <a:rPr lang="en-US" altLang="zh-CN" sz="2800"/>
              <a:t>1</a:t>
            </a:r>
            <a:r>
              <a:rPr lang="zh-CN" altLang="en-US" sz="2800"/>
              <a:t>．资源的市场价格是已知数，相对比较稳定，而它的影子价格则有赖于资源的利用情况，是未知数。由于企业生产任务、产品结构等情况发生变化，资源的影子价格也随之改变。</a:t>
            </a:r>
          </a:p>
          <a:p>
            <a:pPr>
              <a:lnSpc>
                <a:spcPct val="140000"/>
              </a:lnSpc>
              <a:buFontTx/>
              <a:buNone/>
            </a:pPr>
            <a:r>
              <a:rPr lang="en-US" altLang="zh-CN" sz="2800"/>
              <a:t>2</a:t>
            </a:r>
            <a:r>
              <a:rPr lang="zh-CN" altLang="en-US" sz="2800"/>
              <a:t>．影子价格是一种边际价格。</a:t>
            </a:r>
          </a:p>
          <a:p>
            <a:pPr>
              <a:lnSpc>
                <a:spcPct val="140000"/>
              </a:lnSpc>
              <a:buFontTx/>
              <a:buNone/>
            </a:pPr>
            <a:r>
              <a:rPr lang="zh-CN" altLang="en-US" sz="2800"/>
              <a:t>         在式中，                。   </a:t>
            </a:r>
          </a:p>
          <a:p>
            <a:pPr>
              <a:lnSpc>
                <a:spcPct val="140000"/>
              </a:lnSpc>
              <a:buFontTx/>
              <a:buNone/>
            </a:pPr>
            <a:r>
              <a:rPr lang="zh-CN" altLang="en-US" sz="2800"/>
              <a:t>        说明      的值相当于在资源得到最优利用的生产条件下，    每增加一个单位时目标函数     的增量。</a:t>
            </a:r>
          </a:p>
          <a:p>
            <a:pPr>
              <a:buFontTx/>
              <a:buNone/>
            </a:pPr>
            <a:endParaRPr lang="zh-CN" altLang="en-US" sz="2800"/>
          </a:p>
        </p:txBody>
      </p:sp>
      <p:sp>
        <p:nvSpPr>
          <p:cNvPr id="677893" name="Rectangle 5"/>
          <p:cNvSpPr>
            <a:spLocks noChangeArrowheads="1"/>
          </p:cNvSpPr>
          <p:nvPr/>
        </p:nvSpPr>
        <p:spPr bwMode="auto">
          <a:xfrm>
            <a:off x="827088" y="333375"/>
            <a:ext cx="6910387" cy="431800"/>
          </a:xfrm>
          <a:prstGeom prst="rect">
            <a:avLst/>
          </a:prstGeom>
          <a:noFill/>
          <a:ln>
            <a:noFill/>
          </a:ln>
          <a:effectLst/>
          <a:extLst>
            <a:ext uri="{909E8E84-426E-40DD-AFC4-6F175D3DCCD1}">
              <a14:hiddenFill xmlns:a14="http://schemas.microsoft.com/office/drawing/2010/main" xmlns="">
                <a:solidFill>
                  <a:srgbClr val="CCFF99"/>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zh-CN" altLang="en-US" sz="3200">
                <a:solidFill>
                  <a:schemeClr val="tx1"/>
                </a:solidFill>
              </a:rPr>
              <a:t>影子价格的经济意义</a:t>
            </a:r>
          </a:p>
        </p:txBody>
      </p:sp>
      <p:graphicFrame>
        <p:nvGraphicFramePr>
          <p:cNvPr id="677894" name="Object 6"/>
          <p:cNvGraphicFramePr>
            <a:graphicFrameLocks noChangeAspect="1"/>
          </p:cNvGraphicFramePr>
          <p:nvPr/>
        </p:nvGraphicFramePr>
        <p:xfrm>
          <a:off x="6516688" y="5084763"/>
          <a:ext cx="406400" cy="431800"/>
        </p:xfrm>
        <a:graphic>
          <a:graphicData uri="http://schemas.openxmlformats.org/presentationml/2006/ole">
            <p:oleObj spid="_x0000_s41022" name="公式" r:id="rId3" imgW="126725" imgH="126725" progId="Equation.3">
              <p:embed/>
            </p:oleObj>
          </a:graphicData>
        </a:graphic>
      </p:graphicFrame>
      <p:graphicFrame>
        <p:nvGraphicFramePr>
          <p:cNvPr id="677895" name="Object 7"/>
          <p:cNvGraphicFramePr>
            <a:graphicFrameLocks noChangeAspect="1"/>
          </p:cNvGraphicFramePr>
          <p:nvPr/>
        </p:nvGraphicFramePr>
        <p:xfrm>
          <a:off x="2555875" y="3573463"/>
          <a:ext cx="1511300" cy="944562"/>
        </p:xfrm>
        <a:graphic>
          <a:graphicData uri="http://schemas.openxmlformats.org/presentationml/2006/ole">
            <p:oleObj spid="_x0000_s41023" name="公式" r:id="rId4" imgW="558800" imgH="419100" progId="Equation.3">
              <p:embed/>
            </p:oleObj>
          </a:graphicData>
        </a:graphic>
      </p:graphicFrame>
      <p:graphicFrame>
        <p:nvGraphicFramePr>
          <p:cNvPr id="677896" name="Object 8"/>
          <p:cNvGraphicFramePr>
            <a:graphicFrameLocks noChangeAspect="1"/>
          </p:cNvGraphicFramePr>
          <p:nvPr/>
        </p:nvGraphicFramePr>
        <p:xfrm>
          <a:off x="1908175" y="4365625"/>
          <a:ext cx="620713" cy="685800"/>
        </p:xfrm>
        <a:graphic>
          <a:graphicData uri="http://schemas.openxmlformats.org/presentationml/2006/ole">
            <p:oleObj spid="_x0000_s41024" name="公式" r:id="rId5" imgW="177646" imgH="241091" progId="Equation.3">
              <p:embed/>
            </p:oleObj>
          </a:graphicData>
        </a:graphic>
      </p:graphicFrame>
      <p:graphicFrame>
        <p:nvGraphicFramePr>
          <p:cNvPr id="677897" name="Object 9"/>
          <p:cNvGraphicFramePr>
            <a:graphicFrameLocks noChangeAspect="1"/>
          </p:cNvGraphicFramePr>
          <p:nvPr/>
        </p:nvGraphicFramePr>
        <p:xfrm>
          <a:off x="1835150" y="5084763"/>
          <a:ext cx="455613" cy="533400"/>
        </p:xfrm>
        <a:graphic>
          <a:graphicData uri="http://schemas.openxmlformats.org/presentationml/2006/ole">
            <p:oleObj spid="_x0000_s41025" name="公式" r:id="rId6" imgW="139579" imgH="177646" progId="Equation.3">
              <p:embed/>
            </p:oleObj>
          </a:graphicData>
        </a:graphic>
      </p:graphicFrame>
    </p:spTree>
    <p:extLst>
      <p:ext uri="{BB962C8B-B14F-4D97-AF65-F5344CB8AC3E}">
        <p14:creationId xmlns:p14="http://schemas.microsoft.com/office/powerpoint/2010/main" xmlns="" val="387296644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6" name="Rectangle 4"/>
          <p:cNvSpPr>
            <a:spLocks noChangeArrowheads="1"/>
          </p:cNvSpPr>
          <p:nvPr/>
        </p:nvSpPr>
        <p:spPr bwMode="auto">
          <a:xfrm>
            <a:off x="323850" y="692150"/>
            <a:ext cx="8569325"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buFontTx/>
              <a:buNone/>
            </a:pPr>
            <a:r>
              <a:rPr lang="en-US" altLang="zh-CN" sz="2800"/>
              <a:t>3</a:t>
            </a:r>
            <a:r>
              <a:rPr lang="zh-CN" altLang="en-US" sz="2800"/>
              <a:t>．资源的影子价格实际上又是一种机会成本</a:t>
            </a:r>
            <a:r>
              <a:rPr lang="en-US" altLang="zh-CN" sz="2800"/>
              <a:t>.</a:t>
            </a:r>
          </a:p>
          <a:p>
            <a:pPr>
              <a:lnSpc>
                <a:spcPct val="120000"/>
              </a:lnSpc>
              <a:buFontTx/>
              <a:buNone/>
            </a:pPr>
            <a:r>
              <a:rPr lang="en-US" altLang="zh-CN" sz="2800"/>
              <a:t>            </a:t>
            </a:r>
            <a:r>
              <a:rPr lang="zh-CN" altLang="en-US" sz="2800"/>
              <a:t>在纯市场经济条件下</a:t>
            </a:r>
            <a:r>
              <a:rPr lang="en-US" altLang="zh-CN" sz="2800"/>
              <a:t>,</a:t>
            </a:r>
            <a:r>
              <a:rPr lang="zh-CN" altLang="en-US" sz="2800"/>
              <a:t>当资源的市场价格低于影子价格时，可以买进这种资源用于扩大生产；相反当市场价格高于影子价格时，就会卖出这种资源获利。随着资源的买进卖出，它的影子价格也将随之发生变化，一直到影子价格与市场价格保持同等水平时，才处于平衡状态，因此影子价格具有市场调节的作用。</a:t>
            </a:r>
          </a:p>
        </p:txBody>
      </p:sp>
    </p:spTree>
    <p:extLst>
      <p:ext uri="{BB962C8B-B14F-4D97-AF65-F5344CB8AC3E}">
        <p14:creationId xmlns:p14="http://schemas.microsoft.com/office/powerpoint/2010/main" xmlns="" val="229500832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40" name="Rectangle 4"/>
          <p:cNvSpPr>
            <a:spLocks noChangeArrowheads="1"/>
          </p:cNvSpPr>
          <p:nvPr/>
        </p:nvSpPr>
        <p:spPr bwMode="auto">
          <a:xfrm>
            <a:off x="539750" y="404813"/>
            <a:ext cx="7772400" cy="54864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buFontTx/>
              <a:buNone/>
            </a:pPr>
            <a:r>
              <a:rPr lang="en-US" altLang="zh-CN" sz="2800"/>
              <a:t>4</a:t>
            </a:r>
            <a:r>
              <a:rPr lang="zh-CN" altLang="en-US" sz="2800"/>
              <a:t>．在对偶问题的互补松弛性质中有</a:t>
            </a:r>
          </a:p>
          <a:p>
            <a:pPr>
              <a:lnSpc>
                <a:spcPct val="120000"/>
              </a:lnSpc>
              <a:buFontTx/>
              <a:buNone/>
            </a:pPr>
            <a:r>
              <a:rPr lang="zh-CN" altLang="en-US" sz="2800"/>
              <a:t>        </a:t>
            </a:r>
          </a:p>
          <a:p>
            <a:pPr>
              <a:lnSpc>
                <a:spcPct val="120000"/>
              </a:lnSpc>
            </a:pPr>
            <a:endParaRPr lang="zh-CN" altLang="en-US" sz="2800"/>
          </a:p>
          <a:p>
            <a:pPr>
              <a:lnSpc>
                <a:spcPct val="120000"/>
              </a:lnSpc>
              <a:buFontTx/>
              <a:buNone/>
            </a:pPr>
            <a:r>
              <a:rPr lang="zh-CN" altLang="en-US" sz="2800"/>
              <a:t>        </a:t>
            </a:r>
          </a:p>
          <a:p>
            <a:pPr>
              <a:lnSpc>
                <a:spcPct val="120000"/>
              </a:lnSpc>
              <a:buFontTx/>
              <a:buNone/>
            </a:pPr>
            <a:r>
              <a:rPr lang="zh-CN" altLang="en-US" sz="2800"/>
              <a:t>           </a:t>
            </a:r>
          </a:p>
          <a:p>
            <a:pPr>
              <a:lnSpc>
                <a:spcPct val="120000"/>
              </a:lnSpc>
              <a:buFontTx/>
              <a:buNone/>
            </a:pPr>
            <a:r>
              <a:rPr lang="zh-CN" altLang="en-US" sz="2800"/>
              <a:t>            这表明生产过程中如果某种资源     未得到充分利用时，该种资源的影子价格为零；又当资源的影子价格不为零时，表明该种资源在生产中已耗费完毕。</a:t>
            </a:r>
          </a:p>
        </p:txBody>
      </p:sp>
      <p:graphicFrame>
        <p:nvGraphicFramePr>
          <p:cNvPr id="679941" name="Object 5"/>
          <p:cNvGraphicFramePr>
            <a:graphicFrameLocks noChangeAspect="1"/>
          </p:cNvGraphicFramePr>
          <p:nvPr/>
        </p:nvGraphicFramePr>
        <p:xfrm>
          <a:off x="1331913" y="1125538"/>
          <a:ext cx="5113337" cy="2181225"/>
        </p:xfrm>
        <a:graphic>
          <a:graphicData uri="http://schemas.openxmlformats.org/presentationml/2006/ole">
            <p:oleObj spid="_x0000_s42016" name="Equation" r:id="rId3" imgW="1841500" imgH="914400" progId="">
              <p:embed/>
            </p:oleObj>
          </a:graphicData>
        </a:graphic>
      </p:graphicFrame>
      <p:graphicFrame>
        <p:nvGraphicFramePr>
          <p:cNvPr id="679942" name="Object 6"/>
          <p:cNvGraphicFramePr>
            <a:graphicFrameLocks noChangeAspect="1"/>
          </p:cNvGraphicFramePr>
          <p:nvPr/>
        </p:nvGraphicFramePr>
        <p:xfrm>
          <a:off x="6732588" y="3429000"/>
          <a:ext cx="431800" cy="647700"/>
        </p:xfrm>
        <a:graphic>
          <a:graphicData uri="http://schemas.openxmlformats.org/presentationml/2006/ole">
            <p:oleObj spid="_x0000_s42017" name="Equation" r:id="rId4" imgW="152334" imgH="228501" progId="">
              <p:embed/>
            </p:oleObj>
          </a:graphicData>
        </a:graphic>
      </p:graphicFrame>
    </p:spTree>
    <p:extLst>
      <p:ext uri="{BB962C8B-B14F-4D97-AF65-F5344CB8AC3E}">
        <p14:creationId xmlns:p14="http://schemas.microsoft.com/office/powerpoint/2010/main" xmlns="" val="262346370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4" name="Rectangle 4"/>
          <p:cNvSpPr>
            <a:spLocks noChangeArrowheads="1"/>
          </p:cNvSpPr>
          <p:nvPr/>
        </p:nvSpPr>
        <p:spPr bwMode="auto">
          <a:xfrm>
            <a:off x="611188" y="404813"/>
            <a:ext cx="7772400" cy="115252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Tx/>
              <a:buNone/>
            </a:pPr>
            <a:r>
              <a:rPr lang="en-US" altLang="zh-CN" sz="2800"/>
              <a:t>5</a:t>
            </a:r>
            <a:r>
              <a:rPr lang="zh-CN" altLang="en-US" sz="2800"/>
              <a:t>．从影子价格的含义上考察单纯形表的检验数</a:t>
            </a:r>
          </a:p>
          <a:p>
            <a:pPr>
              <a:buFontTx/>
              <a:buNone/>
            </a:pPr>
            <a:r>
              <a:rPr lang="zh-CN" altLang="en-US" sz="2800"/>
              <a:t>      的经济意义。</a:t>
            </a:r>
          </a:p>
        </p:txBody>
      </p:sp>
      <p:graphicFrame>
        <p:nvGraphicFramePr>
          <p:cNvPr id="680965" name="Object 5"/>
          <p:cNvGraphicFramePr>
            <a:graphicFrameLocks noChangeAspect="1"/>
          </p:cNvGraphicFramePr>
          <p:nvPr/>
        </p:nvGraphicFramePr>
        <p:xfrm>
          <a:off x="2124075" y="2636838"/>
          <a:ext cx="560388" cy="685800"/>
        </p:xfrm>
        <a:graphic>
          <a:graphicData uri="http://schemas.openxmlformats.org/presentationml/2006/ole">
            <p:oleObj spid="_x0000_s43055" name="Equation" r:id="rId3" imgW="164957" imgH="241091" progId="">
              <p:embed/>
            </p:oleObj>
          </a:graphicData>
        </a:graphic>
      </p:graphicFrame>
      <p:sp>
        <p:nvSpPr>
          <p:cNvPr id="680966" name="Text Box 6"/>
          <p:cNvSpPr txBox="1">
            <a:spLocks noChangeArrowheads="1"/>
          </p:cNvSpPr>
          <p:nvPr/>
        </p:nvSpPr>
        <p:spPr bwMode="auto">
          <a:xfrm>
            <a:off x="2824163" y="2636838"/>
            <a:ext cx="4700587" cy="57943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spAutoFit/>
          </a:bodyPr>
          <a:lstStyle/>
          <a:p>
            <a:pPr algn="ctr"/>
            <a:r>
              <a:rPr lang="en-US" altLang="zh-CN" sz="3200">
                <a:latin typeface="宋体" panose="02010600030101010101" pitchFamily="2" charset="-122"/>
              </a:rPr>
              <a:t>—</a:t>
            </a:r>
            <a:r>
              <a:rPr lang="zh-CN" altLang="en-US">
                <a:latin typeface="宋体" panose="02010600030101010101" pitchFamily="2" charset="-122"/>
              </a:rPr>
              <a:t>第</a:t>
            </a:r>
            <a:r>
              <a:rPr lang="en-US" altLang="zh-CN">
                <a:latin typeface="宋体" panose="02010600030101010101" pitchFamily="2" charset="-122"/>
              </a:rPr>
              <a:t>j</a:t>
            </a:r>
            <a:r>
              <a:rPr lang="zh-CN" altLang="en-US">
                <a:latin typeface="宋体" panose="02010600030101010101" pitchFamily="2" charset="-122"/>
              </a:rPr>
              <a:t>种产品的产值或者利润</a:t>
            </a:r>
          </a:p>
        </p:txBody>
      </p:sp>
      <p:graphicFrame>
        <p:nvGraphicFramePr>
          <p:cNvPr id="680967" name="Object 7"/>
          <p:cNvGraphicFramePr>
            <a:graphicFrameLocks noChangeAspect="1"/>
          </p:cNvGraphicFramePr>
          <p:nvPr/>
        </p:nvGraphicFramePr>
        <p:xfrm>
          <a:off x="1476375" y="3068638"/>
          <a:ext cx="1368425" cy="1219200"/>
        </p:xfrm>
        <a:graphic>
          <a:graphicData uri="http://schemas.openxmlformats.org/presentationml/2006/ole">
            <p:oleObj spid="_x0000_s43056" name="Equation" r:id="rId4" imgW="508000" imgH="431800" progId="">
              <p:embed/>
            </p:oleObj>
          </a:graphicData>
        </a:graphic>
      </p:graphicFrame>
      <p:sp>
        <p:nvSpPr>
          <p:cNvPr id="680968" name="Text Box 8"/>
          <p:cNvSpPr txBox="1">
            <a:spLocks noChangeArrowheads="1"/>
          </p:cNvSpPr>
          <p:nvPr/>
        </p:nvSpPr>
        <p:spPr bwMode="auto">
          <a:xfrm>
            <a:off x="2786063" y="3395663"/>
            <a:ext cx="5721350" cy="9461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spAutoFit/>
          </a:bodyPr>
          <a:lstStyle/>
          <a:p>
            <a:pPr algn="ctr"/>
            <a:r>
              <a:rPr lang="en-US" altLang="zh-CN">
                <a:latin typeface="宋体" panose="02010600030101010101" pitchFamily="2" charset="-122"/>
              </a:rPr>
              <a:t>—</a:t>
            </a:r>
            <a:r>
              <a:rPr lang="zh-CN" altLang="en-US">
                <a:latin typeface="宋体" panose="02010600030101010101" pitchFamily="2" charset="-122"/>
              </a:rPr>
              <a:t>生产第</a:t>
            </a:r>
            <a:r>
              <a:rPr lang="en-US" altLang="zh-CN">
                <a:latin typeface="宋体" panose="02010600030101010101" pitchFamily="2" charset="-122"/>
              </a:rPr>
              <a:t>j</a:t>
            </a:r>
            <a:r>
              <a:rPr lang="zh-CN" altLang="en-US">
                <a:latin typeface="宋体" panose="02010600030101010101" pitchFamily="2" charset="-122"/>
              </a:rPr>
              <a:t>中产品所消耗各项资源的</a:t>
            </a:r>
          </a:p>
          <a:p>
            <a:pPr algn="ctr"/>
            <a:r>
              <a:rPr lang="zh-CN" altLang="en-US">
                <a:latin typeface="宋体" panose="02010600030101010101" pitchFamily="2" charset="-122"/>
              </a:rPr>
              <a:t>影子价格的总和。（即隐含成本）</a:t>
            </a:r>
          </a:p>
        </p:txBody>
      </p:sp>
      <p:sp>
        <p:nvSpPr>
          <p:cNvPr id="680969" name="Text Box 9"/>
          <p:cNvSpPr txBox="1">
            <a:spLocks noChangeArrowheads="1"/>
          </p:cNvSpPr>
          <p:nvPr/>
        </p:nvSpPr>
        <p:spPr bwMode="auto">
          <a:xfrm>
            <a:off x="250825" y="4868863"/>
            <a:ext cx="8532813" cy="9461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r>
              <a:rPr lang="zh-CN" altLang="en-US">
                <a:latin typeface="宋体" panose="02010600030101010101" pitchFamily="2" charset="-122"/>
              </a:rPr>
              <a:t>可见，产品产值或者利润</a:t>
            </a:r>
            <a:r>
              <a:rPr lang="en-US" altLang="zh-CN">
                <a:latin typeface="宋体" panose="02010600030101010101" pitchFamily="2" charset="-122"/>
              </a:rPr>
              <a:t>&gt;</a:t>
            </a:r>
            <a:r>
              <a:rPr lang="zh-CN" altLang="en-US">
                <a:latin typeface="宋体" panose="02010600030101010101" pitchFamily="2" charset="-122"/>
              </a:rPr>
              <a:t>隐含成本      可生产该产品；否则，不安排生产。</a:t>
            </a:r>
            <a:r>
              <a:rPr lang="en-US" altLang="zh-CN">
                <a:latin typeface="宋体" panose="02010600030101010101" pitchFamily="2" charset="-122"/>
              </a:rPr>
              <a:t>——</a:t>
            </a:r>
            <a:r>
              <a:rPr lang="zh-CN" altLang="en-US">
                <a:latin typeface="宋体" panose="02010600030101010101" pitchFamily="2" charset="-122"/>
              </a:rPr>
              <a:t>检验数的经济意义</a:t>
            </a:r>
          </a:p>
        </p:txBody>
      </p:sp>
      <p:sp>
        <p:nvSpPr>
          <p:cNvPr id="680970" name="AutoShape 10"/>
          <p:cNvSpPr>
            <a:spLocks noChangeArrowheads="1"/>
          </p:cNvSpPr>
          <p:nvPr/>
        </p:nvSpPr>
        <p:spPr bwMode="auto">
          <a:xfrm>
            <a:off x="6156325" y="4995863"/>
            <a:ext cx="762000" cy="304800"/>
          </a:xfrm>
          <a:prstGeom prst="rightArrow">
            <a:avLst>
              <a:gd name="adj1" fmla="val 50000"/>
              <a:gd name="adj2" fmla="val 62500"/>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graphicFrame>
        <p:nvGraphicFramePr>
          <p:cNvPr id="680971" name="Object 11"/>
          <p:cNvGraphicFramePr>
            <a:graphicFrameLocks noChangeAspect="1"/>
          </p:cNvGraphicFramePr>
          <p:nvPr/>
        </p:nvGraphicFramePr>
        <p:xfrm>
          <a:off x="1619250" y="1628775"/>
          <a:ext cx="4786313" cy="1011238"/>
        </p:xfrm>
        <a:graphic>
          <a:graphicData uri="http://schemas.openxmlformats.org/presentationml/2006/ole">
            <p:oleObj spid="_x0000_s43057" name="Equation" r:id="rId5" imgW="2044700" imgH="431800" progId="">
              <p:embed/>
            </p:oleObj>
          </a:graphicData>
        </a:graphic>
      </p:graphicFrame>
    </p:spTree>
    <p:extLst>
      <p:ext uri="{BB962C8B-B14F-4D97-AF65-F5344CB8AC3E}">
        <p14:creationId xmlns:p14="http://schemas.microsoft.com/office/powerpoint/2010/main" xmlns="" val="103755480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8" name="Rectangle 4"/>
          <p:cNvSpPr>
            <a:spLocks noChangeArrowheads="1"/>
          </p:cNvSpPr>
          <p:nvPr/>
        </p:nvSpPr>
        <p:spPr bwMode="auto">
          <a:xfrm>
            <a:off x="395288" y="692150"/>
            <a:ext cx="8064500" cy="2133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buFontTx/>
              <a:buNone/>
            </a:pPr>
            <a:r>
              <a:rPr lang="en-US" altLang="zh-CN" sz="2800"/>
              <a:t>6</a:t>
            </a:r>
            <a:r>
              <a:rPr lang="zh-CN" altLang="en-US" sz="2800"/>
              <a:t>．一般说对线性规划问题的求解是确定资源的最优分配方案，而对于对偶问题的求解则是确定对资源的恰当估价，这种估价直接涉及到资源的最有效利用</a:t>
            </a:r>
            <a:r>
              <a:rPr lang="zh-CN" altLang="en-US" sz="2800" b="0"/>
              <a:t>。</a:t>
            </a:r>
          </a:p>
        </p:txBody>
      </p:sp>
      <p:sp>
        <p:nvSpPr>
          <p:cNvPr id="681989" name="Text Box 5"/>
          <p:cNvSpPr txBox="1">
            <a:spLocks noChangeArrowheads="1"/>
          </p:cNvSpPr>
          <p:nvPr/>
        </p:nvSpPr>
        <p:spPr bwMode="auto">
          <a:xfrm>
            <a:off x="827088" y="2924175"/>
            <a:ext cx="7561262" cy="641350"/>
          </a:xfrm>
          <a:prstGeom prst="rect">
            <a:avLst/>
          </a:prstGeom>
          <a:noFill/>
          <a:ln>
            <a:noFill/>
          </a:ln>
          <a:effectLst/>
          <a:extLst>
            <a:ext uri="{909E8E84-426E-40DD-AFC4-6F175D3DCCD1}">
              <a14:hiddenFill xmlns:a14="http://schemas.microsoft.com/office/drawing/2010/main" xmlns="">
                <a:solidFill>
                  <a:srgbClr val="CC99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r>
              <a:rPr lang="zh-CN" altLang="en-US" sz="3600">
                <a:solidFill>
                  <a:srgbClr val="FF3300"/>
                </a:solidFill>
                <a:effectLst>
                  <a:outerShdw blurRad="38100" dist="38100" dir="2700000" algn="tl">
                    <a:srgbClr val="000000"/>
                  </a:outerShdw>
                </a:effectLst>
                <a:ea typeface="楷体_GB2312" pitchFamily="49" charset="-122"/>
              </a:rPr>
              <a:t>经济学研究如何管理自己的稀缺资源</a:t>
            </a:r>
            <a:endParaRPr lang="zh-CN" altLang="en-US" sz="3200">
              <a:solidFill>
                <a:srgbClr val="FF3300"/>
              </a:solidFill>
              <a:effectLst>
                <a:outerShdw blurRad="38100" dist="38100" dir="2700000" algn="tl">
                  <a:srgbClr val="000000"/>
                </a:outerShdw>
              </a:effectLst>
            </a:endParaRPr>
          </a:p>
        </p:txBody>
      </p:sp>
      <p:sp>
        <p:nvSpPr>
          <p:cNvPr id="681990" name="Text Box 6"/>
          <p:cNvSpPr txBox="1">
            <a:spLocks noChangeArrowheads="1"/>
          </p:cNvSpPr>
          <p:nvPr/>
        </p:nvSpPr>
        <p:spPr bwMode="auto">
          <a:xfrm>
            <a:off x="468313" y="4868863"/>
            <a:ext cx="7916862" cy="946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just" eaLnBrk="0" hangingPunct="0">
              <a:spcBef>
                <a:spcPct val="50000"/>
              </a:spcBef>
            </a:pPr>
            <a:r>
              <a:rPr lang="en-US" altLang="zh-CN"/>
              <a:t>      </a:t>
            </a:r>
            <a:r>
              <a:rPr lang="zh-CN" altLang="en-US"/>
              <a:t>原问题的最终单纯形表中松弛变量的检验数对应对偶问题的最优解。</a:t>
            </a:r>
          </a:p>
        </p:txBody>
      </p:sp>
      <p:sp>
        <p:nvSpPr>
          <p:cNvPr id="681991" name="Text Box 7"/>
          <p:cNvSpPr txBox="1">
            <a:spLocks noChangeArrowheads="1"/>
          </p:cNvSpPr>
          <p:nvPr/>
        </p:nvSpPr>
        <p:spPr bwMode="auto">
          <a:xfrm>
            <a:off x="611188" y="3989388"/>
            <a:ext cx="7632700"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如何从单纯形表中找到影子价格？</a:t>
            </a:r>
          </a:p>
        </p:txBody>
      </p:sp>
    </p:spTree>
    <p:extLst>
      <p:ext uri="{BB962C8B-B14F-4D97-AF65-F5344CB8AC3E}">
        <p14:creationId xmlns:p14="http://schemas.microsoft.com/office/powerpoint/2010/main" xmlns="" val="3950382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819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819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990" grpId="0" autoUpdateAnimBg="0"/>
      <p:bldP spid="681991"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Text Box 2"/>
          <p:cNvSpPr txBox="1">
            <a:spLocks noChangeArrowheads="1"/>
          </p:cNvSpPr>
          <p:nvPr/>
        </p:nvSpPr>
        <p:spPr bwMode="auto">
          <a:xfrm>
            <a:off x="267038" y="2187576"/>
            <a:ext cx="8382000" cy="946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a:t>        </a:t>
            </a:r>
            <a:r>
              <a:rPr lang="zh-CN" altLang="en-US"/>
              <a:t>对偶单纯形法是根据对偶问题求解的特点和对称性设计出的一种解法。</a:t>
            </a:r>
          </a:p>
        </p:txBody>
      </p:sp>
      <p:sp>
        <p:nvSpPr>
          <p:cNvPr id="715779" name="Text Box 3"/>
          <p:cNvSpPr txBox="1">
            <a:spLocks noChangeArrowheads="1"/>
          </p:cNvSpPr>
          <p:nvPr/>
        </p:nvSpPr>
        <p:spPr bwMode="auto">
          <a:xfrm>
            <a:off x="250825" y="2949575"/>
            <a:ext cx="8588375" cy="923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t>        </a:t>
            </a:r>
            <a:r>
              <a:rPr lang="zh-CN" altLang="en-US" dirty="0"/>
              <a:t>在单纯形法迭代时，在</a:t>
            </a:r>
            <a:r>
              <a:rPr lang="en-US" altLang="zh-CN" dirty="0"/>
              <a:t>b </a:t>
            </a:r>
            <a:r>
              <a:rPr lang="zh-CN" altLang="en-US" dirty="0"/>
              <a:t>列中得到的是原问题的基可行解，而在检验数行得到的是对偶问题的基解，通过逐步迭代，当在检验数行得到的对偶问题的解也是基可行解时，已得到最优解，即原问题与对偶问题都是最优解。</a:t>
            </a:r>
          </a:p>
        </p:txBody>
      </p:sp>
      <p:sp>
        <p:nvSpPr>
          <p:cNvPr id="715780" name="Text Box 4"/>
          <p:cNvSpPr txBox="1">
            <a:spLocks noChangeArrowheads="1"/>
          </p:cNvSpPr>
          <p:nvPr/>
        </p:nvSpPr>
        <p:spPr bwMode="auto">
          <a:xfrm>
            <a:off x="381000" y="4343400"/>
            <a:ext cx="8534400" cy="180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a:t>       </a:t>
            </a:r>
            <a:r>
              <a:rPr lang="zh-CN" altLang="en-US"/>
              <a:t>根据对偶问题的对称性：若保持对偶问题的解是基可行解，即</a:t>
            </a:r>
            <a:r>
              <a:rPr lang="en-US" altLang="zh-CN"/>
              <a:t>c</a:t>
            </a:r>
            <a:r>
              <a:rPr lang="en-US" altLang="zh-CN" baseline="-25000"/>
              <a:t>j</a:t>
            </a:r>
            <a:r>
              <a:rPr lang="en-US" altLang="zh-CN"/>
              <a:t>-C</a:t>
            </a:r>
            <a:r>
              <a:rPr lang="en-US" altLang="zh-CN" baseline="-25000"/>
              <a:t>B</a:t>
            </a:r>
            <a:r>
              <a:rPr lang="en-US" altLang="zh-CN"/>
              <a:t>B</a:t>
            </a:r>
            <a:r>
              <a:rPr lang="en-US" altLang="zh-CN" baseline="30000"/>
              <a:t>-1</a:t>
            </a:r>
            <a:r>
              <a:rPr lang="en-US" altLang="zh-CN"/>
              <a:t>a</a:t>
            </a:r>
            <a:r>
              <a:rPr lang="en-US" altLang="zh-CN" baseline="-25000"/>
              <a:t>j</a:t>
            </a:r>
            <a:r>
              <a:rPr lang="en-US" altLang="zh-CN"/>
              <a:t>≤0,</a:t>
            </a:r>
            <a:r>
              <a:rPr lang="zh-CN" altLang="en-US"/>
              <a:t>而原问题在非可行解的基础上，通过逐步迭代达到基可行解，这样也得到了最优解。</a:t>
            </a:r>
          </a:p>
        </p:txBody>
      </p:sp>
      <p:sp>
        <p:nvSpPr>
          <p:cNvPr id="715781" name="Line 5"/>
          <p:cNvSpPr>
            <a:spLocks noChangeShapeType="1"/>
          </p:cNvSpPr>
          <p:nvPr/>
        </p:nvSpPr>
        <p:spPr bwMode="auto">
          <a:xfrm>
            <a:off x="2209800" y="5257800"/>
            <a:ext cx="1981200" cy="0"/>
          </a:xfrm>
          <a:prstGeom prst="line">
            <a:avLst/>
          </a:prstGeom>
          <a:noFill/>
          <a:ln w="38100">
            <a:solidFill>
              <a:srgbClr val="0066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15782" name="Text Box 6"/>
          <p:cNvSpPr txBox="1">
            <a:spLocks noChangeArrowheads="1"/>
          </p:cNvSpPr>
          <p:nvPr/>
        </p:nvSpPr>
        <p:spPr bwMode="auto">
          <a:xfrm>
            <a:off x="1524000" y="6019800"/>
            <a:ext cx="76200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原问题的某个基解：称该基解为</a:t>
            </a:r>
            <a:r>
              <a:rPr lang="zh-CN" altLang="en-US">
                <a:solidFill>
                  <a:srgbClr val="FF3300"/>
                </a:solidFill>
              </a:rPr>
              <a:t>正则解</a:t>
            </a:r>
            <a:r>
              <a:rPr lang="zh-CN" altLang="en-US"/>
              <a:t>。</a:t>
            </a:r>
          </a:p>
        </p:txBody>
      </p:sp>
      <p:sp>
        <p:nvSpPr>
          <p:cNvPr id="715783" name="Text Box 7"/>
          <p:cNvSpPr txBox="1">
            <a:spLocks noChangeArrowheads="1"/>
          </p:cNvSpPr>
          <p:nvPr/>
        </p:nvSpPr>
        <p:spPr bwMode="auto">
          <a:xfrm>
            <a:off x="2030412" y="885429"/>
            <a:ext cx="5029200" cy="579437"/>
          </a:xfrm>
          <a:prstGeom prst="rect">
            <a:avLst/>
          </a:prstGeom>
          <a:noFill/>
          <a:ln>
            <a:noFill/>
          </a:ln>
          <a:effectLst/>
          <a:extLst>
            <a:ext uri="{909E8E84-426E-40DD-AFC4-6F175D3DCCD1}">
              <a14:hiddenFill xmlns:a14="http://schemas.microsoft.com/office/drawing/2010/main" xmlns="">
                <a:gradFill rotWithShape="0">
                  <a:gsLst>
                    <a:gs pos="0">
                      <a:srgbClr val="99FF99"/>
                    </a:gs>
                    <a:gs pos="100000">
                      <a:srgbClr val="FFFF99"/>
                    </a:gs>
                  </a:gsLst>
                  <a:lin ang="5400000" scaled="1"/>
                </a:gradFill>
              </a14:hiddenFill>
            </a:ext>
            <a:ext uri="{91240B29-F687-4F45-9708-019B960494DF}">
              <a14:hiddenLine xmlns:a14="http://schemas.microsoft.com/office/drawing/2010/main" xmlns="" w="38100">
                <a:solidFill>
                  <a:srgbClr val="0066FF"/>
                </a:solidFill>
                <a:prstDash val="dash"/>
                <a:miter lim="800000"/>
                <a:headEnd/>
                <a:tailEnd/>
              </a14:hiddenLine>
            </a:ext>
            <a:ext uri="{AF507438-7753-43E0-B8FC-AC1667EBCBE1}">
              <a14:hiddenEffects xmlns:a14="http://schemas.microsoft.com/office/drawing/2010/main" xmlns="">
                <a:effectLst>
                  <a:outerShdw kx="-3284103" algn="br" rotWithShape="0">
                    <a:schemeClr val="bg2"/>
                  </a:outerShdw>
                </a:effectLst>
              </a14:hiddenEffects>
            </a:ext>
          </a:extLst>
        </p:spPr>
        <p:txBody>
          <a:bodyPr>
            <a:spAutoFit/>
          </a:bodyPr>
          <a:lstStyle/>
          <a:p>
            <a:pPr>
              <a:spcBef>
                <a:spcPct val="50000"/>
              </a:spcBef>
            </a:pPr>
            <a:r>
              <a:rPr lang="en-US" altLang="zh-CN" sz="3200" dirty="0"/>
              <a:t>  4.6     </a:t>
            </a:r>
            <a:r>
              <a:rPr lang="zh-CN" altLang="en-US" sz="3200" dirty="0"/>
              <a:t>对偶单纯形法</a:t>
            </a:r>
          </a:p>
        </p:txBody>
      </p:sp>
      <p:sp>
        <p:nvSpPr>
          <p:cNvPr id="715784" name="Text Box 8"/>
          <p:cNvSpPr txBox="1">
            <a:spLocks noChangeArrowheads="1"/>
          </p:cNvSpPr>
          <p:nvPr/>
        </p:nvSpPr>
        <p:spPr bwMode="auto">
          <a:xfrm>
            <a:off x="250825" y="1532732"/>
            <a:ext cx="6192838" cy="519112"/>
          </a:xfrm>
          <a:prstGeom prst="rect">
            <a:avLst/>
          </a:prstGeom>
          <a:noFill/>
          <a:ln>
            <a:noFill/>
          </a:ln>
          <a:effectLst/>
          <a:extLst>
            <a:ext uri="{909E8E84-426E-40DD-AFC4-6F175D3DCCD1}">
              <a14:hiddenFill xmlns:a14="http://schemas.microsoft.com/office/drawing/2010/main" xmlns="">
                <a:gradFill rotWithShape="0">
                  <a:gsLst>
                    <a:gs pos="0">
                      <a:srgbClr val="99FF99"/>
                    </a:gs>
                    <a:gs pos="100000">
                      <a:srgbClr val="FFFF99"/>
                    </a:gs>
                  </a:gsLst>
                  <a:lin ang="5400000" scaled="1"/>
                </a:gradFill>
              </a14:hiddenFill>
            </a:ext>
            <a:ext uri="{91240B29-F687-4F45-9708-019B960494DF}">
              <a14:hiddenLine xmlns:a14="http://schemas.microsoft.com/office/drawing/2010/main" xmlns="" w="38100">
                <a:solidFill>
                  <a:srgbClr val="0066FF"/>
                </a:solidFill>
                <a:prstDash val="dash"/>
                <a:miter lim="800000"/>
                <a:headEnd/>
                <a:tailEnd/>
              </a14:hiddenLine>
            </a:ext>
            <a:ext uri="{AF507438-7753-43E0-B8FC-AC1667EBCBE1}">
              <a14:hiddenEffects xmlns:a14="http://schemas.microsoft.com/office/drawing/2010/main" xmlns="">
                <a:effectLst>
                  <a:outerShdw kx="-3284103" algn="br" rotWithShape="0">
                    <a:schemeClr val="bg2"/>
                  </a:outerShdw>
                </a:effectLst>
              </a14:hiddenEffects>
            </a:ext>
          </a:extLst>
        </p:spPr>
        <p:txBody>
          <a:bodyPr>
            <a:spAutoFit/>
          </a:bodyPr>
          <a:lstStyle/>
          <a:p>
            <a:pPr>
              <a:spcBef>
                <a:spcPct val="50000"/>
              </a:spcBef>
            </a:pPr>
            <a:r>
              <a:rPr lang="en-US" altLang="zh-CN"/>
              <a:t>  4.6.1   </a:t>
            </a:r>
            <a:r>
              <a:rPr lang="zh-CN" altLang="en-US"/>
              <a:t>对偶单纯形法的原理</a:t>
            </a:r>
          </a:p>
        </p:txBody>
      </p:sp>
    </p:spTree>
    <p:extLst>
      <p:ext uri="{BB962C8B-B14F-4D97-AF65-F5344CB8AC3E}">
        <p14:creationId xmlns:p14="http://schemas.microsoft.com/office/powerpoint/2010/main" xmlns="" val="38342475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57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15780"/>
                                        </p:tgtEl>
                                        <p:attrNameLst>
                                          <p:attrName>style.visibility</p:attrName>
                                        </p:attrNameLst>
                                      </p:cBhvr>
                                      <p:to>
                                        <p:strVal val="visible"/>
                                      </p:to>
                                    </p:set>
                                    <p:anim calcmode="lin" valueType="num">
                                      <p:cBhvr additive="base">
                                        <p:cTn id="11" dur="500" fill="hold"/>
                                        <p:tgtEl>
                                          <p:spTgt spid="715780"/>
                                        </p:tgtEl>
                                        <p:attrNameLst>
                                          <p:attrName>ppt_x</p:attrName>
                                        </p:attrNameLst>
                                      </p:cBhvr>
                                      <p:tavLst>
                                        <p:tav tm="0">
                                          <p:val>
                                            <p:strVal val="#ppt_x"/>
                                          </p:val>
                                        </p:tav>
                                        <p:tav tm="100000">
                                          <p:val>
                                            <p:strVal val="#ppt_x"/>
                                          </p:val>
                                        </p:tav>
                                      </p:tavLst>
                                    </p:anim>
                                    <p:anim calcmode="lin" valueType="num">
                                      <p:cBhvr additive="base">
                                        <p:cTn id="12" dur="500" fill="hold"/>
                                        <p:tgtEl>
                                          <p:spTgt spid="715780"/>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71578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7157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779" grpId="0" autoUpdateAnimBg="0"/>
      <p:bldP spid="715780" grpId="0" autoUpdateAnimBg="0"/>
      <p:bldP spid="715782"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2" name="Text Box 2"/>
          <p:cNvSpPr txBox="1">
            <a:spLocks noChangeArrowheads="1"/>
          </p:cNvSpPr>
          <p:nvPr/>
        </p:nvSpPr>
        <p:spPr bwMode="auto">
          <a:xfrm>
            <a:off x="5486400" y="3579813"/>
            <a:ext cx="3352800" cy="1373187"/>
          </a:xfrm>
          <a:prstGeom prst="rect">
            <a:avLst/>
          </a:prstGeom>
          <a:solidFill>
            <a:srgbClr val="AFF0F7"/>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US">
                <a:solidFill>
                  <a:srgbClr val="CC0000"/>
                </a:solidFill>
              </a:rPr>
              <a:t>保持对偶可行性，逐步改进主可行性，求解原问题。 </a:t>
            </a:r>
          </a:p>
        </p:txBody>
      </p:sp>
      <p:sp>
        <p:nvSpPr>
          <p:cNvPr id="716803" name="Text Box 3"/>
          <p:cNvSpPr txBox="1">
            <a:spLocks noChangeArrowheads="1"/>
          </p:cNvSpPr>
          <p:nvPr/>
        </p:nvSpPr>
        <p:spPr bwMode="auto">
          <a:xfrm>
            <a:off x="381000" y="5029200"/>
            <a:ext cx="8305800" cy="13731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solidFill>
                  <a:srgbClr val="CC0000"/>
                </a:solidFill>
              </a:rPr>
              <a:t>         </a:t>
            </a:r>
            <a:r>
              <a:rPr lang="zh-CN" altLang="en-US">
                <a:solidFill>
                  <a:srgbClr val="CC0000"/>
                </a:solidFill>
              </a:rPr>
              <a:t>当</a:t>
            </a:r>
            <a:r>
              <a:rPr lang="en-US" altLang="zh-CN" i="1">
                <a:solidFill>
                  <a:srgbClr val="CC0000"/>
                </a:solidFill>
              </a:rPr>
              <a:t>b</a:t>
            </a:r>
            <a:r>
              <a:rPr lang="zh-CN" altLang="en-US">
                <a:solidFill>
                  <a:srgbClr val="CC0000"/>
                </a:solidFill>
              </a:rPr>
              <a:t>有负分量，</a:t>
            </a:r>
            <a:r>
              <a:rPr lang="en-US" altLang="zh-CN">
                <a:solidFill>
                  <a:srgbClr val="CC0000"/>
                </a:solidFill>
              </a:rPr>
              <a:t>A</a:t>
            </a:r>
            <a:r>
              <a:rPr lang="zh-CN" altLang="en-US">
                <a:solidFill>
                  <a:srgbClr val="CC0000"/>
                </a:solidFill>
              </a:rPr>
              <a:t>中有一明显初始对偶可行基</a:t>
            </a:r>
            <a:r>
              <a:rPr lang="en-US" altLang="zh-CN">
                <a:solidFill>
                  <a:srgbClr val="CC0000"/>
                </a:solidFill>
              </a:rPr>
              <a:t>(</a:t>
            </a:r>
            <a:r>
              <a:rPr lang="zh-CN" altLang="en-US">
                <a:solidFill>
                  <a:srgbClr val="CC0000"/>
                </a:solidFill>
              </a:rPr>
              <a:t>检验数均非正</a:t>
            </a:r>
            <a:r>
              <a:rPr lang="en-US" altLang="zh-CN">
                <a:solidFill>
                  <a:srgbClr val="CC0000"/>
                </a:solidFill>
              </a:rPr>
              <a:t>)</a:t>
            </a:r>
            <a:r>
              <a:rPr lang="zh-CN" altLang="en-US">
                <a:solidFill>
                  <a:srgbClr val="CC0000"/>
                </a:solidFill>
              </a:rPr>
              <a:t>，此时为正则解。因而易得一初始解时，可用对偶单纯形法求解。</a:t>
            </a:r>
            <a:r>
              <a:rPr lang="zh-CN" altLang="en-US" sz="2400" b="0">
                <a:solidFill>
                  <a:srgbClr val="CC0000"/>
                </a:solidFill>
              </a:rPr>
              <a:t> </a:t>
            </a:r>
          </a:p>
        </p:txBody>
      </p:sp>
      <p:graphicFrame>
        <p:nvGraphicFramePr>
          <p:cNvPr id="716804" name="Object 4"/>
          <p:cNvGraphicFramePr>
            <a:graphicFrameLocks noChangeAspect="1"/>
          </p:cNvGraphicFramePr>
          <p:nvPr/>
        </p:nvGraphicFramePr>
        <p:xfrm>
          <a:off x="533400" y="762000"/>
          <a:ext cx="2032000" cy="1196975"/>
        </p:xfrm>
        <a:graphic>
          <a:graphicData uri="http://schemas.openxmlformats.org/presentationml/2006/ole">
            <p:oleObj spid="_x0000_s49214" name="Equation" r:id="rId3" imgW="710891" imgH="418918" progId="Equation.3">
              <p:embed/>
            </p:oleObj>
          </a:graphicData>
        </a:graphic>
      </p:graphicFrame>
      <p:sp>
        <p:nvSpPr>
          <p:cNvPr id="716805" name="AutoShape 5"/>
          <p:cNvSpPr>
            <a:spLocks noChangeArrowheads="1"/>
          </p:cNvSpPr>
          <p:nvPr/>
        </p:nvSpPr>
        <p:spPr bwMode="auto">
          <a:xfrm>
            <a:off x="990600" y="2057400"/>
            <a:ext cx="2590800" cy="609600"/>
          </a:xfrm>
          <a:prstGeom prst="wedgeRoundRectCallout">
            <a:avLst>
              <a:gd name="adj1" fmla="val -29657"/>
              <a:gd name="adj2" fmla="val -117968"/>
              <a:gd name="adj3" fmla="val 16667"/>
            </a:avLst>
          </a:prstGeom>
          <a:solidFill>
            <a:srgbClr val="AFF0F7"/>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sz="2400"/>
              <a:t>设</a:t>
            </a:r>
            <a:r>
              <a:rPr lang="en-US" altLang="zh-CN" sz="2400"/>
              <a:t>B</a:t>
            </a:r>
            <a:r>
              <a:rPr lang="zh-CN" altLang="en-US" sz="2400"/>
              <a:t>为一个基</a:t>
            </a:r>
          </a:p>
        </p:txBody>
      </p:sp>
      <p:grpSp>
        <p:nvGrpSpPr>
          <p:cNvPr id="716806" name="Group 6"/>
          <p:cNvGrpSpPr>
            <a:grpSpLocks/>
          </p:cNvGrpSpPr>
          <p:nvPr/>
        </p:nvGrpSpPr>
        <p:grpSpPr bwMode="auto">
          <a:xfrm>
            <a:off x="2667000" y="457200"/>
            <a:ext cx="1981200" cy="1397000"/>
            <a:chOff x="1584" y="624"/>
            <a:chExt cx="1248" cy="880"/>
          </a:xfrm>
        </p:grpSpPr>
        <p:graphicFrame>
          <p:nvGraphicFramePr>
            <p:cNvPr id="716807" name="Object 7"/>
            <p:cNvGraphicFramePr>
              <a:graphicFrameLocks noChangeAspect="1"/>
            </p:cNvGraphicFramePr>
            <p:nvPr/>
          </p:nvGraphicFramePr>
          <p:xfrm>
            <a:off x="1584" y="960"/>
            <a:ext cx="1200" cy="544"/>
          </p:xfrm>
          <a:graphic>
            <a:graphicData uri="http://schemas.openxmlformats.org/presentationml/2006/ole">
              <p:oleObj spid="_x0000_s49215" name="Equation" r:id="rId4" imgW="812447" imgH="368140" progId="Equation.3">
                <p:embed/>
              </p:oleObj>
            </a:graphicData>
          </a:graphic>
        </p:graphicFrame>
        <p:sp>
          <p:nvSpPr>
            <p:cNvPr id="716808" name="Text Box 8"/>
            <p:cNvSpPr txBox="1">
              <a:spLocks noChangeArrowheads="1"/>
            </p:cNvSpPr>
            <p:nvPr/>
          </p:nvSpPr>
          <p:spPr bwMode="auto">
            <a:xfrm>
              <a:off x="2112" y="624"/>
              <a:ext cx="720" cy="288"/>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chemeClr val="folHlink"/>
                  </a:solidFill>
                </a:rPr>
                <a:t>基本解</a:t>
              </a:r>
            </a:p>
          </p:txBody>
        </p:sp>
      </p:grpSp>
      <p:sp>
        <p:nvSpPr>
          <p:cNvPr id="716809" name="AutoShape 9"/>
          <p:cNvSpPr>
            <a:spLocks noChangeArrowheads="1"/>
          </p:cNvSpPr>
          <p:nvPr/>
        </p:nvSpPr>
        <p:spPr bwMode="auto">
          <a:xfrm>
            <a:off x="5410200" y="76200"/>
            <a:ext cx="2590800" cy="914400"/>
          </a:xfrm>
          <a:prstGeom prst="wedgeRoundRectCallout">
            <a:avLst>
              <a:gd name="adj1" fmla="val -85296"/>
              <a:gd name="adj2" fmla="val 57468"/>
              <a:gd name="adj3" fmla="val 16667"/>
            </a:avLst>
          </a:prstGeom>
          <a:solidFill>
            <a:srgbClr val="AFF0F7"/>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sz="2400">
                <a:solidFill>
                  <a:srgbClr val="CC0000"/>
                </a:solidFill>
              </a:rPr>
              <a:t>X</a:t>
            </a:r>
            <a:r>
              <a:rPr lang="zh-CN" altLang="en-US" sz="2400" baseline="30000">
                <a:solidFill>
                  <a:srgbClr val="CC0000"/>
                </a:solidFill>
              </a:rPr>
              <a:t>（</a:t>
            </a:r>
            <a:r>
              <a:rPr lang="en-US" altLang="zh-CN" sz="2400" baseline="30000">
                <a:solidFill>
                  <a:srgbClr val="CC0000"/>
                </a:solidFill>
              </a:rPr>
              <a:t>0</a:t>
            </a:r>
            <a:r>
              <a:rPr lang="zh-CN" altLang="en-US" sz="2400" baseline="30000">
                <a:solidFill>
                  <a:srgbClr val="CC0000"/>
                </a:solidFill>
              </a:rPr>
              <a:t>）</a:t>
            </a:r>
            <a:r>
              <a:rPr lang="zh-CN" altLang="en-US" sz="2400">
                <a:solidFill>
                  <a:srgbClr val="CC0000"/>
                </a:solidFill>
              </a:rPr>
              <a:t>为基本可行解的条件？</a:t>
            </a:r>
          </a:p>
        </p:txBody>
      </p:sp>
      <p:sp>
        <p:nvSpPr>
          <p:cNvPr id="716810" name="Text Box 10"/>
          <p:cNvSpPr txBox="1">
            <a:spLocks noChangeArrowheads="1"/>
          </p:cNvSpPr>
          <p:nvPr/>
        </p:nvSpPr>
        <p:spPr bwMode="auto">
          <a:xfrm>
            <a:off x="4953000" y="1219200"/>
            <a:ext cx="38862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sz="2400"/>
              <a:t>B</a:t>
            </a:r>
            <a:r>
              <a:rPr lang="en-US" altLang="zh-CN" sz="2400" baseline="30000"/>
              <a:t>-1</a:t>
            </a:r>
            <a:r>
              <a:rPr lang="en-US" altLang="zh-CN" sz="2400"/>
              <a:t>b≥0</a:t>
            </a:r>
          </a:p>
        </p:txBody>
      </p:sp>
      <p:sp>
        <p:nvSpPr>
          <p:cNvPr id="716811" name="AutoShape 11"/>
          <p:cNvSpPr>
            <a:spLocks noChangeArrowheads="1"/>
          </p:cNvSpPr>
          <p:nvPr/>
        </p:nvSpPr>
        <p:spPr bwMode="auto">
          <a:xfrm>
            <a:off x="6096000" y="381000"/>
            <a:ext cx="2590800" cy="914400"/>
          </a:xfrm>
          <a:prstGeom prst="wedgeRoundRectCallout">
            <a:avLst>
              <a:gd name="adj1" fmla="val -111398"/>
              <a:gd name="adj2" fmla="val 44792"/>
              <a:gd name="adj3" fmla="val 16667"/>
            </a:avLst>
          </a:prstGeom>
          <a:solidFill>
            <a:srgbClr val="AFF0F7"/>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sz="2400">
                <a:solidFill>
                  <a:srgbClr val="CC0000"/>
                </a:solidFill>
              </a:rPr>
              <a:t>X</a:t>
            </a:r>
            <a:r>
              <a:rPr lang="zh-CN" altLang="en-US" sz="2400" baseline="30000">
                <a:solidFill>
                  <a:srgbClr val="CC0000"/>
                </a:solidFill>
              </a:rPr>
              <a:t>（</a:t>
            </a:r>
            <a:r>
              <a:rPr lang="en-US" altLang="zh-CN" sz="2400" baseline="30000">
                <a:solidFill>
                  <a:srgbClr val="CC0000"/>
                </a:solidFill>
              </a:rPr>
              <a:t>0</a:t>
            </a:r>
            <a:r>
              <a:rPr lang="zh-CN" altLang="en-US" sz="2400" baseline="30000">
                <a:solidFill>
                  <a:srgbClr val="CC0000"/>
                </a:solidFill>
              </a:rPr>
              <a:t>）</a:t>
            </a:r>
            <a:r>
              <a:rPr lang="zh-CN" altLang="en-US" sz="2400">
                <a:solidFill>
                  <a:srgbClr val="CC0000"/>
                </a:solidFill>
              </a:rPr>
              <a:t>为最优解的条件？</a:t>
            </a:r>
          </a:p>
        </p:txBody>
      </p:sp>
      <p:graphicFrame>
        <p:nvGraphicFramePr>
          <p:cNvPr id="716812" name="Object 12"/>
          <p:cNvGraphicFramePr>
            <a:graphicFrameLocks noChangeAspect="1"/>
          </p:cNvGraphicFramePr>
          <p:nvPr/>
        </p:nvGraphicFramePr>
        <p:xfrm>
          <a:off x="6248400" y="1143000"/>
          <a:ext cx="2895600" cy="558800"/>
        </p:xfrm>
        <a:graphic>
          <a:graphicData uri="http://schemas.openxmlformats.org/presentationml/2006/ole">
            <p:oleObj spid="_x0000_s49216" name="Equation" r:id="rId5" imgW="1117115" imgH="215806" progId="Equation.3">
              <p:embed/>
            </p:oleObj>
          </a:graphicData>
        </a:graphic>
      </p:graphicFrame>
      <p:sp>
        <p:nvSpPr>
          <p:cNvPr id="716813" name="Oval 13"/>
          <p:cNvSpPr>
            <a:spLocks noChangeArrowheads="1"/>
          </p:cNvSpPr>
          <p:nvPr/>
        </p:nvSpPr>
        <p:spPr bwMode="auto">
          <a:xfrm>
            <a:off x="381000" y="0"/>
            <a:ext cx="914400" cy="838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sz="3200"/>
              <a:t>原</a:t>
            </a:r>
          </a:p>
        </p:txBody>
      </p:sp>
      <p:sp>
        <p:nvSpPr>
          <p:cNvPr id="716814" name="AutoShape 14"/>
          <p:cNvSpPr>
            <a:spLocks noChangeArrowheads="1"/>
          </p:cNvSpPr>
          <p:nvPr/>
        </p:nvSpPr>
        <p:spPr bwMode="auto">
          <a:xfrm>
            <a:off x="2667000" y="1752600"/>
            <a:ext cx="2743200" cy="609600"/>
          </a:xfrm>
          <a:prstGeom prst="wedgeRoundRectCallout">
            <a:avLst>
              <a:gd name="adj1" fmla="val 35417"/>
              <a:gd name="adj2" fmla="val -11458"/>
              <a:gd name="adj3" fmla="val 16667"/>
            </a:avLst>
          </a:prstGeom>
          <a:solidFill>
            <a:srgbClr val="AFF0F7"/>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sz="2400">
                <a:solidFill>
                  <a:srgbClr val="CC0000"/>
                </a:solidFill>
              </a:rPr>
              <a:t>原始可行性条件</a:t>
            </a:r>
          </a:p>
        </p:txBody>
      </p:sp>
      <p:sp>
        <p:nvSpPr>
          <p:cNvPr id="716815" name="AutoShape 15"/>
          <p:cNvSpPr>
            <a:spLocks noChangeArrowheads="1"/>
          </p:cNvSpPr>
          <p:nvPr/>
        </p:nvSpPr>
        <p:spPr bwMode="auto">
          <a:xfrm>
            <a:off x="5943600" y="1752600"/>
            <a:ext cx="2743200" cy="609600"/>
          </a:xfrm>
          <a:prstGeom prst="wedgeRoundRectCallout">
            <a:avLst>
              <a:gd name="adj1" fmla="val 21528"/>
              <a:gd name="adj2" fmla="val 1042"/>
              <a:gd name="adj3" fmla="val 16667"/>
            </a:avLst>
          </a:prstGeom>
          <a:solidFill>
            <a:srgbClr val="AFF0F7"/>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sz="2400">
                <a:solidFill>
                  <a:srgbClr val="CC0000"/>
                </a:solidFill>
              </a:rPr>
              <a:t>原始最优性条件</a:t>
            </a:r>
          </a:p>
        </p:txBody>
      </p:sp>
      <p:sp>
        <p:nvSpPr>
          <p:cNvPr id="716816" name="Text Box 16"/>
          <p:cNvSpPr txBox="1">
            <a:spLocks noChangeArrowheads="1"/>
          </p:cNvSpPr>
          <p:nvPr/>
        </p:nvSpPr>
        <p:spPr bwMode="auto">
          <a:xfrm>
            <a:off x="609600" y="2895600"/>
            <a:ext cx="7467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400"/>
              <a:t>令</a:t>
            </a:r>
            <a:r>
              <a:rPr lang="en-US" altLang="zh-CN" sz="2400"/>
              <a:t>Y=C</a:t>
            </a:r>
            <a:r>
              <a:rPr lang="en-US" altLang="zh-CN" sz="2400" baseline="-25000"/>
              <a:t>B</a:t>
            </a:r>
            <a:r>
              <a:rPr lang="en-US" altLang="zh-CN" sz="2400"/>
              <a:t>B</a:t>
            </a:r>
            <a:r>
              <a:rPr lang="en-US" altLang="zh-CN" sz="2400" baseline="30000"/>
              <a:t>-1</a:t>
            </a:r>
            <a:r>
              <a:rPr lang="zh-CN" altLang="en-US" sz="2400"/>
              <a:t>，代入原始最优性条件，→</a:t>
            </a:r>
            <a:r>
              <a:rPr lang="en-US" altLang="zh-CN" sz="2400"/>
              <a:t>YA≥C</a:t>
            </a:r>
          </a:p>
        </p:txBody>
      </p:sp>
      <p:grpSp>
        <p:nvGrpSpPr>
          <p:cNvPr id="716817" name="Group 17"/>
          <p:cNvGrpSpPr>
            <a:grpSpLocks/>
          </p:cNvGrpSpPr>
          <p:nvPr/>
        </p:nvGrpSpPr>
        <p:grpSpPr bwMode="auto">
          <a:xfrm>
            <a:off x="684213" y="3429000"/>
            <a:ext cx="5268912" cy="1427163"/>
            <a:chOff x="351" y="2072"/>
            <a:chExt cx="3489" cy="1103"/>
          </a:xfrm>
        </p:grpSpPr>
        <p:graphicFrame>
          <p:nvGraphicFramePr>
            <p:cNvPr id="716818" name="Object 18"/>
            <p:cNvGraphicFramePr>
              <a:graphicFrameLocks noChangeAspect="1"/>
            </p:cNvGraphicFramePr>
            <p:nvPr/>
          </p:nvGraphicFramePr>
          <p:xfrm>
            <a:off x="351" y="2072"/>
            <a:ext cx="1555" cy="1103"/>
          </p:xfrm>
          <a:graphic>
            <a:graphicData uri="http://schemas.openxmlformats.org/presentationml/2006/ole">
              <p:oleObj spid="_x0000_s49217" name="Equation" r:id="rId6" imgW="914400" imgH="647700" progId="">
                <p:embed/>
              </p:oleObj>
            </a:graphicData>
          </a:graphic>
        </p:graphicFrame>
        <p:sp>
          <p:nvSpPr>
            <p:cNvPr id="716819" name="Line 19"/>
            <p:cNvSpPr>
              <a:spLocks noChangeShapeType="1"/>
            </p:cNvSpPr>
            <p:nvPr/>
          </p:nvSpPr>
          <p:spPr bwMode="auto">
            <a:xfrm flipH="1">
              <a:off x="1776" y="2160"/>
              <a:ext cx="2064" cy="288"/>
            </a:xfrm>
            <a:prstGeom prst="line">
              <a:avLst/>
            </a:prstGeom>
            <a:noFill/>
            <a:ln w="38100">
              <a:solidFill>
                <a:srgbClr val="CC0000"/>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a:p>
          </p:txBody>
        </p:sp>
      </p:grpSp>
      <p:sp>
        <p:nvSpPr>
          <p:cNvPr id="716820" name="Text Box 20"/>
          <p:cNvSpPr txBox="1">
            <a:spLocks noChangeArrowheads="1"/>
          </p:cNvSpPr>
          <p:nvPr/>
        </p:nvSpPr>
        <p:spPr bwMode="auto">
          <a:xfrm>
            <a:off x="3132138" y="4005263"/>
            <a:ext cx="24384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400"/>
              <a:t>对偶可行性条件</a:t>
            </a:r>
          </a:p>
        </p:txBody>
      </p:sp>
    </p:spTree>
    <p:extLst>
      <p:ext uri="{BB962C8B-B14F-4D97-AF65-F5344CB8AC3E}">
        <p14:creationId xmlns:p14="http://schemas.microsoft.com/office/powerpoint/2010/main" xmlns="" val="38739000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6805"/>
                                        </p:tgtEl>
                                        <p:attrNameLst>
                                          <p:attrName>style.visibility</p:attrName>
                                        </p:attrNameLst>
                                      </p:cBhvr>
                                      <p:to>
                                        <p:strVal val="visible"/>
                                      </p:to>
                                    </p:set>
                                  </p:childTnLst>
                                  <p:subTnLst>
                                    <p:set>
                                      <p:cBhvr override="childStyle">
                                        <p:cTn dur="1" fill="hold" display="0" masterRel="nextClick" afterEffect="1"/>
                                        <p:tgtEl>
                                          <p:spTgt spid="716805"/>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168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16809"/>
                                        </p:tgtEl>
                                        <p:attrNameLst>
                                          <p:attrName>style.visibility</p:attrName>
                                        </p:attrNameLst>
                                      </p:cBhvr>
                                      <p:to>
                                        <p:strVal val="visible"/>
                                      </p:to>
                                    </p:set>
                                  </p:childTnLst>
                                  <p:subTnLst>
                                    <p:set>
                                      <p:cBhvr override="childStyle">
                                        <p:cTn dur="1" fill="hold" display="0" masterRel="nextClick" afterEffect="1"/>
                                        <p:tgtEl>
                                          <p:spTgt spid="716809"/>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168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6811"/>
                                        </p:tgtEl>
                                        <p:attrNameLst>
                                          <p:attrName>style.visibility</p:attrName>
                                        </p:attrNameLst>
                                      </p:cBhvr>
                                      <p:to>
                                        <p:strVal val="visible"/>
                                      </p:to>
                                    </p:set>
                                  </p:childTnLst>
                                  <p:subTnLst>
                                    <p:set>
                                      <p:cBhvr override="childStyle">
                                        <p:cTn dur="1" fill="hold" display="0" masterRel="nextClick" afterEffect="1"/>
                                        <p:tgtEl>
                                          <p:spTgt spid="716811"/>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71681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716813"/>
                                        </p:tgtEl>
                                        <p:attrNameLst>
                                          <p:attrName>style.visibility</p:attrName>
                                        </p:attrNameLst>
                                      </p:cBhvr>
                                      <p:to>
                                        <p:strVal val="visible"/>
                                      </p:to>
                                    </p:set>
                                    <p:anim calcmode="lin" valueType="num">
                                      <p:cBhvr>
                                        <p:cTn id="31" dur="500" fill="hold"/>
                                        <p:tgtEl>
                                          <p:spTgt spid="716813"/>
                                        </p:tgtEl>
                                        <p:attrNameLst>
                                          <p:attrName>ppt_w</p:attrName>
                                        </p:attrNameLst>
                                      </p:cBhvr>
                                      <p:tavLst>
                                        <p:tav tm="0">
                                          <p:val>
                                            <p:fltVal val="0"/>
                                          </p:val>
                                        </p:tav>
                                        <p:tav tm="100000">
                                          <p:val>
                                            <p:strVal val="#ppt_w"/>
                                          </p:val>
                                        </p:tav>
                                      </p:tavLst>
                                    </p:anim>
                                    <p:anim calcmode="lin" valueType="num">
                                      <p:cBhvr>
                                        <p:cTn id="32" dur="500" fill="hold"/>
                                        <p:tgtEl>
                                          <p:spTgt spid="716813"/>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71681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716815"/>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716816"/>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499"/>
                                          </p:stCondLst>
                                        </p:cTn>
                                        <p:tgtEl>
                                          <p:spTgt spid="716817"/>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716820"/>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8" fill="hold" grpId="0" nodeType="clickEffect">
                                  <p:stCondLst>
                                    <p:cond delay="0"/>
                                  </p:stCondLst>
                                  <p:childTnLst>
                                    <p:set>
                                      <p:cBhvr>
                                        <p:cTn id="56" dur="1" fill="hold">
                                          <p:stCondLst>
                                            <p:cond delay="0"/>
                                          </p:stCondLst>
                                        </p:cTn>
                                        <p:tgtEl>
                                          <p:spTgt spid="716802"/>
                                        </p:tgtEl>
                                        <p:attrNameLst>
                                          <p:attrName>style.visibility</p:attrName>
                                        </p:attrNameLst>
                                      </p:cBhvr>
                                      <p:to>
                                        <p:strVal val="visible"/>
                                      </p:to>
                                    </p:set>
                                    <p:anim calcmode="lin" valueType="num">
                                      <p:cBhvr>
                                        <p:cTn id="57" dur="500" fill="hold"/>
                                        <p:tgtEl>
                                          <p:spTgt spid="716802"/>
                                        </p:tgtEl>
                                        <p:attrNameLst>
                                          <p:attrName>ppt_x</p:attrName>
                                        </p:attrNameLst>
                                      </p:cBhvr>
                                      <p:tavLst>
                                        <p:tav tm="0">
                                          <p:val>
                                            <p:strVal val="#ppt_x-#ppt_w/2"/>
                                          </p:val>
                                        </p:tav>
                                        <p:tav tm="100000">
                                          <p:val>
                                            <p:strVal val="#ppt_x"/>
                                          </p:val>
                                        </p:tav>
                                      </p:tavLst>
                                    </p:anim>
                                    <p:anim calcmode="lin" valueType="num">
                                      <p:cBhvr>
                                        <p:cTn id="58" dur="500" fill="hold"/>
                                        <p:tgtEl>
                                          <p:spTgt spid="716802"/>
                                        </p:tgtEl>
                                        <p:attrNameLst>
                                          <p:attrName>ppt_y</p:attrName>
                                        </p:attrNameLst>
                                      </p:cBhvr>
                                      <p:tavLst>
                                        <p:tav tm="0">
                                          <p:val>
                                            <p:strVal val="#ppt_y"/>
                                          </p:val>
                                        </p:tav>
                                        <p:tav tm="100000">
                                          <p:val>
                                            <p:strVal val="#ppt_y"/>
                                          </p:val>
                                        </p:tav>
                                      </p:tavLst>
                                    </p:anim>
                                    <p:anim calcmode="lin" valueType="num">
                                      <p:cBhvr>
                                        <p:cTn id="59" dur="500" fill="hold"/>
                                        <p:tgtEl>
                                          <p:spTgt spid="716802"/>
                                        </p:tgtEl>
                                        <p:attrNameLst>
                                          <p:attrName>ppt_w</p:attrName>
                                        </p:attrNameLst>
                                      </p:cBhvr>
                                      <p:tavLst>
                                        <p:tav tm="0">
                                          <p:val>
                                            <p:fltVal val="0"/>
                                          </p:val>
                                        </p:tav>
                                        <p:tav tm="100000">
                                          <p:val>
                                            <p:strVal val="#ppt_w"/>
                                          </p:val>
                                        </p:tav>
                                      </p:tavLst>
                                    </p:anim>
                                    <p:anim calcmode="lin" valueType="num">
                                      <p:cBhvr>
                                        <p:cTn id="60" dur="500" fill="hold"/>
                                        <p:tgtEl>
                                          <p:spTgt spid="716802"/>
                                        </p:tgtEl>
                                        <p:attrNameLst>
                                          <p:attrName>ppt_h</p:attrName>
                                        </p:attrNameLst>
                                      </p:cBhvr>
                                      <p:tavLst>
                                        <p:tav tm="0">
                                          <p:val>
                                            <p:strVal val="#ppt_h"/>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2" presetClass="entr" presetSubtype="4" fill="hold" grpId="0" nodeType="clickEffect">
                                  <p:stCondLst>
                                    <p:cond delay="0"/>
                                  </p:stCondLst>
                                  <p:childTnLst>
                                    <p:set>
                                      <p:cBhvr>
                                        <p:cTn id="64" dur="1" fill="hold">
                                          <p:stCondLst>
                                            <p:cond delay="0"/>
                                          </p:stCondLst>
                                        </p:cTn>
                                        <p:tgtEl>
                                          <p:spTgt spid="716803"/>
                                        </p:tgtEl>
                                        <p:attrNameLst>
                                          <p:attrName>style.visibility</p:attrName>
                                        </p:attrNameLst>
                                      </p:cBhvr>
                                      <p:to>
                                        <p:strVal val="visible"/>
                                      </p:to>
                                    </p:set>
                                    <p:animEffect transition="in" filter="slide(fromBottom)">
                                      <p:cBhvr>
                                        <p:cTn id="65" dur="500"/>
                                        <p:tgtEl>
                                          <p:spTgt spid="716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02" grpId="0" animBg="1" autoUpdateAnimBg="0"/>
      <p:bldP spid="716803" grpId="0" autoUpdateAnimBg="0"/>
      <p:bldP spid="716805" grpId="0" animBg="1" autoUpdateAnimBg="0"/>
      <p:bldP spid="716809" grpId="0" animBg="1" autoUpdateAnimBg="0"/>
      <p:bldP spid="716810" grpId="0" autoUpdateAnimBg="0"/>
      <p:bldP spid="716811" grpId="0" animBg="1" autoUpdateAnimBg="0"/>
      <p:bldP spid="716813" grpId="0" animBg="1" autoUpdateAnimBg="0"/>
      <p:bldP spid="716814" grpId="0" animBg="1" autoUpdateAnimBg="0"/>
      <p:bldP spid="716815" grpId="0" animBg="1" autoUpdateAnimBg="0"/>
      <p:bldP spid="716816" grpId="0" autoUpdateAnimBg="0"/>
      <p:bldP spid="716820"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826" name="Group 2"/>
          <p:cNvGrpSpPr>
            <a:grpSpLocks/>
          </p:cNvGrpSpPr>
          <p:nvPr/>
        </p:nvGrpSpPr>
        <p:grpSpPr bwMode="auto">
          <a:xfrm>
            <a:off x="304800" y="2298700"/>
            <a:ext cx="8839200" cy="1587500"/>
            <a:chOff x="192" y="1448"/>
            <a:chExt cx="5568" cy="1000"/>
          </a:xfrm>
        </p:grpSpPr>
        <p:sp>
          <p:nvSpPr>
            <p:cNvPr id="717827" name="Text Box 3"/>
            <p:cNvSpPr txBox="1">
              <a:spLocks noChangeArrowheads="1"/>
            </p:cNvSpPr>
            <p:nvPr/>
          </p:nvSpPr>
          <p:spPr bwMode="auto">
            <a:xfrm>
              <a:off x="192" y="1448"/>
              <a:ext cx="5568" cy="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a:t>2.  </a:t>
              </a:r>
              <a:r>
                <a:rPr lang="zh-CN" altLang="en-US" sz="2800"/>
                <a:t>确定出基变量</a:t>
              </a:r>
            </a:p>
            <a:p>
              <a:pPr>
                <a:spcBef>
                  <a:spcPct val="50000"/>
                </a:spcBef>
              </a:pPr>
              <a:r>
                <a:rPr lang="zh-CN" altLang="en-US" sz="2800"/>
                <a:t>     按                                                    </a:t>
              </a:r>
              <a:r>
                <a:rPr lang="en-US" altLang="zh-CN" sz="2800"/>
                <a:t>,</a:t>
              </a:r>
              <a:r>
                <a:rPr lang="zh-CN" altLang="en-US" sz="2800"/>
                <a:t>对应的基变量</a:t>
              </a:r>
              <a:r>
                <a:rPr lang="en-US" altLang="zh-CN" sz="2800"/>
                <a:t>x</a:t>
              </a:r>
              <a:r>
                <a:rPr lang="en-US" altLang="zh-CN" sz="2800" baseline="-25000"/>
                <a:t>r</a:t>
              </a:r>
              <a:r>
                <a:rPr lang="zh-CN" altLang="en-US" sz="2800"/>
                <a:t>为出基变量。</a:t>
              </a:r>
              <a:endParaRPr lang="zh-CN" altLang="en-US" sz="2800" baseline="-25000"/>
            </a:p>
          </p:txBody>
        </p:sp>
        <p:graphicFrame>
          <p:nvGraphicFramePr>
            <p:cNvPr id="717828" name="Object 4"/>
            <p:cNvGraphicFramePr>
              <a:graphicFrameLocks noChangeAspect="1"/>
            </p:cNvGraphicFramePr>
            <p:nvPr/>
          </p:nvGraphicFramePr>
          <p:xfrm>
            <a:off x="816" y="1830"/>
            <a:ext cx="2858" cy="426"/>
          </p:xfrm>
          <a:graphic>
            <a:graphicData uri="http://schemas.openxmlformats.org/presentationml/2006/ole">
              <p:oleObj spid="_x0000_s50208" name="Equation" r:id="rId3" imgW="1790700" imgH="266700" progId="Equation.3">
                <p:embed/>
              </p:oleObj>
            </a:graphicData>
          </a:graphic>
        </p:graphicFrame>
      </p:grpSp>
      <p:sp>
        <p:nvSpPr>
          <p:cNvPr id="717829" name="Text Box 5"/>
          <p:cNvSpPr txBox="1">
            <a:spLocks noChangeArrowheads="1"/>
          </p:cNvSpPr>
          <p:nvPr/>
        </p:nvSpPr>
        <p:spPr bwMode="auto">
          <a:xfrm>
            <a:off x="304800" y="195263"/>
            <a:ext cx="8610600" cy="20145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a:t>对偶单纯形法步骤：</a:t>
            </a:r>
          </a:p>
          <a:p>
            <a:pPr>
              <a:spcBef>
                <a:spcPct val="50000"/>
              </a:spcBef>
              <a:buFontTx/>
              <a:buAutoNum type="arabicPeriod"/>
            </a:pPr>
            <a:r>
              <a:rPr lang="zh-CN" altLang="en-US" sz="2800"/>
              <a:t>列出该正则解的单纯形表，检查</a:t>
            </a:r>
            <a:r>
              <a:rPr lang="en-US" altLang="zh-CN" sz="2800"/>
              <a:t>b </a:t>
            </a:r>
            <a:r>
              <a:rPr lang="zh-CN" altLang="en-US" sz="2800"/>
              <a:t>列的数字若都为非负，则已得到最优解，停止计算，若</a:t>
            </a:r>
            <a:r>
              <a:rPr lang="en-US" altLang="zh-CN" sz="2800"/>
              <a:t>b</a:t>
            </a:r>
            <a:r>
              <a:rPr lang="zh-CN" altLang="en-US" sz="2800"/>
              <a:t>列的数字中至少有一个负分量，转第二步。</a:t>
            </a:r>
          </a:p>
        </p:txBody>
      </p:sp>
      <p:grpSp>
        <p:nvGrpSpPr>
          <p:cNvPr id="717830" name="Group 6"/>
          <p:cNvGrpSpPr>
            <a:grpSpLocks/>
          </p:cNvGrpSpPr>
          <p:nvPr/>
        </p:nvGrpSpPr>
        <p:grpSpPr bwMode="auto">
          <a:xfrm>
            <a:off x="304800" y="3962400"/>
            <a:ext cx="8610600" cy="2667000"/>
            <a:chOff x="192" y="2496"/>
            <a:chExt cx="5424" cy="1680"/>
          </a:xfrm>
        </p:grpSpPr>
        <p:sp>
          <p:nvSpPr>
            <p:cNvPr id="717831" name="Text Box 7"/>
            <p:cNvSpPr txBox="1">
              <a:spLocks noChangeArrowheads="1"/>
            </p:cNvSpPr>
            <p:nvPr/>
          </p:nvSpPr>
          <p:spPr bwMode="auto">
            <a:xfrm>
              <a:off x="192" y="2496"/>
              <a:ext cx="5424" cy="12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buFontTx/>
                <a:buAutoNum type="arabicPeriod" startAt="3"/>
              </a:pPr>
              <a:r>
                <a:rPr lang="zh-CN" altLang="en-US" sz="2800"/>
                <a:t>确定入基变量</a:t>
              </a:r>
            </a:p>
            <a:p>
              <a:pPr>
                <a:spcBef>
                  <a:spcPct val="50000"/>
                </a:spcBef>
              </a:pPr>
              <a:r>
                <a:rPr lang="zh-CN" altLang="en-US" sz="2800"/>
                <a:t>     在单纯形表中检查</a:t>
              </a:r>
              <a:r>
                <a:rPr lang="en-US" altLang="zh-CN" sz="2800"/>
                <a:t>x</a:t>
              </a:r>
              <a:r>
                <a:rPr lang="en-US" altLang="zh-CN" sz="2800" baseline="-25000"/>
                <a:t>r</a:t>
              </a:r>
              <a:r>
                <a:rPr lang="zh-CN" altLang="en-US" sz="2800"/>
                <a:t>所在行的各系数</a:t>
              </a:r>
              <a:r>
                <a:rPr lang="en-US" altLang="zh-CN" sz="2800"/>
                <a:t>a</a:t>
              </a:r>
              <a:r>
                <a:rPr lang="en-US" altLang="zh-CN" sz="2800" baseline="-25000"/>
                <a:t>rj</a:t>
              </a:r>
              <a:r>
                <a:rPr lang="en-US" altLang="zh-CN" sz="2800"/>
                <a:t>(j=1,2, …,n),</a:t>
              </a:r>
              <a:r>
                <a:rPr lang="zh-CN" altLang="en-US" sz="2800"/>
                <a:t>若所有</a:t>
              </a:r>
              <a:r>
                <a:rPr lang="en-US" altLang="zh-CN" sz="2800"/>
                <a:t>a</a:t>
              </a:r>
              <a:r>
                <a:rPr lang="en-US" altLang="zh-CN" sz="2800" baseline="-25000"/>
                <a:t>rj</a:t>
              </a:r>
              <a:r>
                <a:rPr lang="en-US" altLang="zh-CN" sz="2800"/>
                <a:t> ≥0</a:t>
              </a:r>
              <a:r>
                <a:rPr lang="zh-CN" altLang="en-US" sz="2800"/>
                <a:t>，则无可行解，停止计算，若存在</a:t>
              </a:r>
              <a:r>
                <a:rPr lang="en-US" altLang="zh-CN" sz="2800"/>
                <a:t>a</a:t>
              </a:r>
              <a:r>
                <a:rPr lang="en-US" altLang="zh-CN" sz="2800" baseline="-25000"/>
                <a:t>rj</a:t>
              </a:r>
              <a:r>
                <a:rPr lang="en-US" altLang="zh-CN" sz="2800"/>
                <a:t> </a:t>
              </a:r>
              <a:r>
                <a:rPr lang="zh-CN" altLang="en-US" sz="2800"/>
                <a:t>＜</a:t>
              </a:r>
              <a:r>
                <a:rPr lang="en-US" altLang="zh-CN" sz="2800"/>
                <a:t>0</a:t>
              </a:r>
              <a:r>
                <a:rPr lang="zh-CN" altLang="en-US" sz="2800"/>
                <a:t>，计算</a:t>
              </a:r>
            </a:p>
          </p:txBody>
        </p:sp>
        <p:graphicFrame>
          <p:nvGraphicFramePr>
            <p:cNvPr id="717832" name="Object 8"/>
            <p:cNvGraphicFramePr>
              <a:graphicFrameLocks noChangeAspect="1"/>
            </p:cNvGraphicFramePr>
            <p:nvPr/>
          </p:nvGraphicFramePr>
          <p:xfrm>
            <a:off x="1584" y="3408"/>
            <a:ext cx="3744" cy="768"/>
          </p:xfrm>
          <a:graphic>
            <a:graphicData uri="http://schemas.openxmlformats.org/presentationml/2006/ole">
              <p:oleObj spid="_x0000_s50209" name="Equation" r:id="rId4" imgW="2527300" imgH="495300" progId="Equation.3">
                <p:embed/>
              </p:oleObj>
            </a:graphicData>
          </a:graphic>
        </p:graphicFrame>
      </p:grpSp>
    </p:spTree>
    <p:extLst>
      <p:ext uri="{BB962C8B-B14F-4D97-AF65-F5344CB8AC3E}">
        <p14:creationId xmlns:p14="http://schemas.microsoft.com/office/powerpoint/2010/main" xmlns="" val="5431073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178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178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Text Box 2"/>
          <p:cNvSpPr txBox="1">
            <a:spLocks noChangeArrowheads="1"/>
          </p:cNvSpPr>
          <p:nvPr/>
        </p:nvSpPr>
        <p:spPr bwMode="auto">
          <a:xfrm>
            <a:off x="228600" y="304800"/>
            <a:ext cx="8382000" cy="946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按</a:t>
            </a:r>
            <a:r>
              <a:rPr lang="zh-CN" altLang="en-US">
                <a:sym typeface="Symbol" panose="05050102010706020507" pitchFamily="18" charset="2"/>
              </a:rPr>
              <a:t> 规则所对应的列的非基变量</a:t>
            </a:r>
            <a:r>
              <a:rPr lang="en-US" altLang="zh-CN">
                <a:sym typeface="Symbol" panose="05050102010706020507" pitchFamily="18" charset="2"/>
              </a:rPr>
              <a:t>x</a:t>
            </a:r>
            <a:r>
              <a:rPr lang="en-US" altLang="zh-CN" baseline="-25000">
                <a:sym typeface="Symbol" panose="05050102010706020507" pitchFamily="18" charset="2"/>
              </a:rPr>
              <a:t>k</a:t>
            </a:r>
            <a:r>
              <a:rPr lang="zh-CN" altLang="en-US">
                <a:sym typeface="Symbol" panose="05050102010706020507" pitchFamily="18" charset="2"/>
              </a:rPr>
              <a:t>为入基变量，保证得到的新基解所对应的对偶问题的解仍为可行解。</a:t>
            </a:r>
          </a:p>
        </p:txBody>
      </p:sp>
      <p:sp>
        <p:nvSpPr>
          <p:cNvPr id="718851" name="Text Box 3"/>
          <p:cNvSpPr txBox="1">
            <a:spLocks noChangeArrowheads="1"/>
          </p:cNvSpPr>
          <p:nvPr/>
        </p:nvSpPr>
        <p:spPr bwMode="auto">
          <a:xfrm>
            <a:off x="304800" y="1295400"/>
            <a:ext cx="8839200" cy="1587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buFontTx/>
              <a:buAutoNum type="arabicPeriod" startAt="4"/>
            </a:pPr>
            <a:r>
              <a:rPr lang="zh-CN" altLang="en-US" sz="2800"/>
              <a:t>以 </a:t>
            </a:r>
            <a:r>
              <a:rPr lang="en-US" altLang="zh-CN" sz="2800"/>
              <a:t>a</a:t>
            </a:r>
            <a:r>
              <a:rPr lang="en-US" altLang="zh-CN" sz="2800" baseline="-25000"/>
              <a:t>rk</a:t>
            </a:r>
            <a:r>
              <a:rPr lang="zh-CN" altLang="en-US" sz="2800"/>
              <a:t>为主元素，进行旋转变换，得到新基解的单</a:t>
            </a:r>
          </a:p>
          <a:p>
            <a:pPr>
              <a:spcBef>
                <a:spcPct val="50000"/>
              </a:spcBef>
            </a:pPr>
            <a:r>
              <a:rPr lang="zh-CN" altLang="en-US" sz="2800"/>
              <a:t>     纯形表，重复</a:t>
            </a:r>
            <a:r>
              <a:rPr lang="en-US" altLang="zh-CN" sz="2800"/>
              <a:t>1—4</a:t>
            </a:r>
            <a:r>
              <a:rPr lang="zh-CN" altLang="en-US" sz="2800"/>
              <a:t>的步骤，直至</a:t>
            </a:r>
            <a:r>
              <a:rPr lang="en-US" altLang="zh-CN" sz="2800"/>
              <a:t>b </a:t>
            </a:r>
            <a:r>
              <a:rPr lang="zh-CN" altLang="en-US" sz="2800"/>
              <a:t>列中所有元素均为非负数为止。</a:t>
            </a:r>
          </a:p>
        </p:txBody>
      </p:sp>
      <p:sp>
        <p:nvSpPr>
          <p:cNvPr id="718852" name="Text Box 4"/>
          <p:cNvSpPr txBox="1">
            <a:spLocks noChangeArrowheads="1"/>
          </p:cNvSpPr>
          <p:nvPr/>
        </p:nvSpPr>
        <p:spPr bwMode="auto">
          <a:xfrm>
            <a:off x="468313" y="2997200"/>
            <a:ext cx="8191500" cy="604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a:t>【</a:t>
            </a:r>
            <a:r>
              <a:rPr lang="zh-CN" altLang="en-US"/>
              <a:t>例</a:t>
            </a:r>
            <a:r>
              <a:rPr lang="en-US" altLang="zh-CN"/>
              <a:t>4-7】</a:t>
            </a:r>
            <a:r>
              <a:rPr lang="zh-CN" altLang="en-US"/>
              <a:t>用对偶单纯形法求解下面线性规划模型</a:t>
            </a:r>
          </a:p>
        </p:txBody>
      </p:sp>
      <p:graphicFrame>
        <p:nvGraphicFramePr>
          <p:cNvPr id="718853" name="Object 5"/>
          <p:cNvGraphicFramePr>
            <a:graphicFrameLocks noGrp="1" noChangeAspect="1"/>
          </p:cNvGraphicFramePr>
          <p:nvPr>
            <p:ph sz="half" idx="2"/>
          </p:nvPr>
        </p:nvGraphicFramePr>
        <p:xfrm>
          <a:off x="2771775" y="3716338"/>
          <a:ext cx="3097213" cy="2852737"/>
        </p:xfrm>
        <a:graphic>
          <a:graphicData uri="http://schemas.openxmlformats.org/presentationml/2006/ole">
            <p:oleObj spid="_x0000_s51217" name="Equation" r:id="rId3" imgW="1295400" imgH="1193800" progId="">
              <p:embed/>
            </p:oleObj>
          </a:graphicData>
        </a:graphic>
      </p:graphicFrame>
    </p:spTree>
    <p:extLst>
      <p:ext uri="{BB962C8B-B14F-4D97-AF65-F5344CB8AC3E}">
        <p14:creationId xmlns:p14="http://schemas.microsoft.com/office/powerpoint/2010/main" xmlns="" val="2464251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88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8" presetClass="entr" presetSubtype="12" fill="hold" grpId="0" nodeType="clickEffect">
                                  <p:stCondLst>
                                    <p:cond delay="0"/>
                                  </p:stCondLst>
                                  <p:childTnLst>
                                    <p:set>
                                      <p:cBhvr>
                                        <p:cTn id="10" dur="1" fill="hold">
                                          <p:stCondLst>
                                            <p:cond delay="0"/>
                                          </p:stCondLst>
                                        </p:cTn>
                                        <p:tgtEl>
                                          <p:spTgt spid="718852"/>
                                        </p:tgtEl>
                                        <p:attrNameLst>
                                          <p:attrName>style.visibility</p:attrName>
                                        </p:attrNameLst>
                                      </p:cBhvr>
                                      <p:to>
                                        <p:strVal val="visible"/>
                                      </p:to>
                                    </p:set>
                                    <p:animEffect transition="in" filter="strips(downLeft)">
                                      <p:cBhvr>
                                        <p:cTn id="11" dur="500"/>
                                        <p:tgtEl>
                                          <p:spTgt spid="718852"/>
                                        </p:tgtEl>
                                      </p:cBhvr>
                                    </p:animEffect>
                                  </p:childTnLst>
                                </p:cTn>
                              </p:par>
                              <p:par>
                                <p:cTn id="12" presetID="18" presetClass="entr" presetSubtype="12" fill="hold" nodeType="withEffect">
                                  <p:stCondLst>
                                    <p:cond delay="0"/>
                                  </p:stCondLst>
                                  <p:childTnLst>
                                    <p:set>
                                      <p:cBhvr>
                                        <p:cTn id="13" dur="1" fill="hold">
                                          <p:stCondLst>
                                            <p:cond delay="0"/>
                                          </p:stCondLst>
                                        </p:cTn>
                                        <p:tgtEl>
                                          <p:spTgt spid="718853"/>
                                        </p:tgtEl>
                                        <p:attrNameLst>
                                          <p:attrName>style.visibility</p:attrName>
                                        </p:attrNameLst>
                                      </p:cBhvr>
                                      <p:to>
                                        <p:strVal val="visible"/>
                                      </p:to>
                                    </p:set>
                                    <p:animEffect transition="in" filter="strips(downLeft)">
                                      <p:cBhvr>
                                        <p:cTn id="14" dur="500"/>
                                        <p:tgtEl>
                                          <p:spTgt spid="718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851" grpId="0" autoUpdateAnimBg="0"/>
      <p:bldP spid="71885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Text Box 2"/>
          <p:cNvSpPr txBox="1">
            <a:spLocks noChangeArrowheads="1"/>
          </p:cNvSpPr>
          <p:nvPr/>
        </p:nvSpPr>
        <p:spPr bwMode="auto">
          <a:xfrm>
            <a:off x="611188" y="333375"/>
            <a:ext cx="75438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将模型化为满秩标准型：</a:t>
            </a:r>
          </a:p>
        </p:txBody>
      </p:sp>
      <p:graphicFrame>
        <p:nvGraphicFramePr>
          <p:cNvPr id="719875" name="Object 3"/>
          <p:cNvGraphicFramePr>
            <a:graphicFrameLocks noChangeAspect="1"/>
          </p:cNvGraphicFramePr>
          <p:nvPr/>
        </p:nvGraphicFramePr>
        <p:xfrm>
          <a:off x="468313" y="1125538"/>
          <a:ext cx="2808287" cy="2589212"/>
        </p:xfrm>
        <a:graphic>
          <a:graphicData uri="http://schemas.openxmlformats.org/presentationml/2006/ole">
            <p:oleObj spid="_x0000_s52271" name="Equation" r:id="rId3" imgW="1295400" imgH="1193800" progId="">
              <p:embed/>
            </p:oleObj>
          </a:graphicData>
        </a:graphic>
      </p:graphicFrame>
      <p:graphicFrame>
        <p:nvGraphicFramePr>
          <p:cNvPr id="719876" name="Object 4"/>
          <p:cNvGraphicFramePr>
            <a:graphicFrameLocks noChangeAspect="1"/>
          </p:cNvGraphicFramePr>
          <p:nvPr/>
        </p:nvGraphicFramePr>
        <p:xfrm>
          <a:off x="3708400" y="1125538"/>
          <a:ext cx="4826000" cy="2549525"/>
        </p:xfrm>
        <a:graphic>
          <a:graphicData uri="http://schemas.openxmlformats.org/presentationml/2006/ole">
            <p:oleObj spid="_x0000_s52272" name="Equation" r:id="rId4" imgW="2260600" imgH="1193800" progId="">
              <p:embed/>
            </p:oleObj>
          </a:graphicData>
        </a:graphic>
      </p:graphicFrame>
      <p:graphicFrame>
        <p:nvGraphicFramePr>
          <p:cNvPr id="719877" name="Object 5"/>
          <p:cNvGraphicFramePr>
            <a:graphicFrameLocks noChangeAspect="1"/>
          </p:cNvGraphicFramePr>
          <p:nvPr/>
        </p:nvGraphicFramePr>
        <p:xfrm>
          <a:off x="827088" y="4221163"/>
          <a:ext cx="7416800" cy="1522412"/>
        </p:xfrm>
        <a:graphic>
          <a:graphicData uri="http://schemas.openxmlformats.org/presentationml/2006/ole">
            <p:oleObj spid="_x0000_s52273" name="Equation" r:id="rId5" imgW="3403600" imgH="698500" progId="">
              <p:embed/>
            </p:oleObj>
          </a:graphicData>
        </a:graphic>
      </p:graphicFrame>
    </p:spTree>
    <p:extLst>
      <p:ext uri="{BB962C8B-B14F-4D97-AF65-F5344CB8AC3E}">
        <p14:creationId xmlns:p14="http://schemas.microsoft.com/office/powerpoint/2010/main" xmlns="" val="3560180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19876"/>
                                        </p:tgtEl>
                                        <p:attrNameLst>
                                          <p:attrName>style.visibility</p:attrName>
                                        </p:attrNameLst>
                                      </p:cBhvr>
                                      <p:to>
                                        <p:strVal val="visible"/>
                                      </p:to>
                                    </p:set>
                                    <p:anim calcmode="lin" valueType="num">
                                      <p:cBhvr additive="base">
                                        <p:cTn id="7" dur="500" fill="hold"/>
                                        <p:tgtEl>
                                          <p:spTgt spid="719876"/>
                                        </p:tgtEl>
                                        <p:attrNameLst>
                                          <p:attrName>ppt_x</p:attrName>
                                        </p:attrNameLst>
                                      </p:cBhvr>
                                      <p:tavLst>
                                        <p:tav tm="0">
                                          <p:val>
                                            <p:strVal val="1+#ppt_w/2"/>
                                          </p:val>
                                        </p:tav>
                                        <p:tav tm="100000">
                                          <p:val>
                                            <p:strVal val="#ppt_x"/>
                                          </p:val>
                                        </p:tav>
                                      </p:tavLst>
                                    </p:anim>
                                    <p:anim calcmode="lin" valueType="num">
                                      <p:cBhvr additive="base">
                                        <p:cTn id="8" dur="500" fill="hold"/>
                                        <p:tgtEl>
                                          <p:spTgt spid="71987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12" fill="hold" nodeType="clickEffect">
                                  <p:stCondLst>
                                    <p:cond delay="0"/>
                                  </p:stCondLst>
                                  <p:childTnLst>
                                    <p:set>
                                      <p:cBhvr>
                                        <p:cTn id="12" dur="1" fill="hold">
                                          <p:stCondLst>
                                            <p:cond delay="0"/>
                                          </p:stCondLst>
                                        </p:cTn>
                                        <p:tgtEl>
                                          <p:spTgt spid="719877"/>
                                        </p:tgtEl>
                                        <p:attrNameLst>
                                          <p:attrName>style.visibility</p:attrName>
                                        </p:attrNameLst>
                                      </p:cBhvr>
                                      <p:to>
                                        <p:strVal val="visible"/>
                                      </p:to>
                                    </p:set>
                                    <p:animEffect transition="in" filter="strips(downLeft)">
                                      <p:cBhvr>
                                        <p:cTn id="13" dur="500"/>
                                        <p:tgtEl>
                                          <p:spTgt spid="719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8" name="Text Box 2"/>
          <p:cNvSpPr txBox="1">
            <a:spLocks noChangeArrowheads="1"/>
          </p:cNvSpPr>
          <p:nvPr/>
        </p:nvSpPr>
        <p:spPr bwMode="auto">
          <a:xfrm>
            <a:off x="611188" y="2060575"/>
            <a:ext cx="7848600" cy="946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以</a:t>
            </a:r>
            <a:r>
              <a:rPr lang="en-US" altLang="zh-CN"/>
              <a:t>x</a:t>
            </a:r>
            <a:r>
              <a:rPr lang="en-US" altLang="zh-CN" baseline="-25000"/>
              <a:t>3</a:t>
            </a:r>
            <a:r>
              <a:rPr lang="en-US" altLang="zh-CN"/>
              <a:t>,x</a:t>
            </a:r>
            <a:r>
              <a:rPr lang="en-US" altLang="zh-CN" baseline="-25000"/>
              <a:t>4</a:t>
            </a:r>
            <a:r>
              <a:rPr lang="en-US" altLang="zh-CN"/>
              <a:t>,x</a:t>
            </a:r>
            <a:r>
              <a:rPr lang="en-US" altLang="zh-CN" baseline="-25000"/>
              <a:t>5</a:t>
            </a:r>
            <a:r>
              <a:rPr lang="zh-CN" altLang="en-US"/>
              <a:t>为基变量可得该问题的一基解</a:t>
            </a:r>
            <a:r>
              <a:rPr lang="en-US" altLang="zh-CN"/>
              <a:t>(</a:t>
            </a:r>
            <a:r>
              <a:rPr lang="zh-CN" altLang="en-US"/>
              <a:t>正则解</a:t>
            </a:r>
            <a:r>
              <a:rPr lang="en-US" altLang="zh-CN"/>
              <a:t>),</a:t>
            </a:r>
            <a:r>
              <a:rPr lang="zh-CN" altLang="en-US"/>
              <a:t>其单纯形表如下：</a:t>
            </a:r>
          </a:p>
        </p:txBody>
      </p:sp>
      <p:sp>
        <p:nvSpPr>
          <p:cNvPr id="720899" name="Rectangle 3"/>
          <p:cNvSpPr>
            <a:spLocks noChangeArrowheads="1"/>
          </p:cNvSpPr>
          <p:nvPr/>
        </p:nvSpPr>
        <p:spPr bwMode="auto">
          <a:xfrm>
            <a:off x="2773363" y="493713"/>
            <a:ext cx="1295400" cy="1368425"/>
          </a:xfrm>
          <a:prstGeom prst="rect">
            <a:avLst/>
          </a:prstGeom>
          <a:solidFill>
            <a:srgbClr val="FFFF00"/>
          </a:solidFill>
          <a:ln w="25400">
            <a:solidFill>
              <a:srgbClr val="FF00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en-US" altLang="en-US"/>
          </a:p>
        </p:txBody>
      </p:sp>
      <p:graphicFrame>
        <p:nvGraphicFramePr>
          <p:cNvPr id="720900" name="Group 4"/>
          <p:cNvGraphicFramePr>
            <a:graphicFrameLocks noGrp="1"/>
          </p:cNvGraphicFramePr>
          <p:nvPr/>
        </p:nvGraphicFramePr>
        <p:xfrm>
          <a:off x="395288" y="3213100"/>
          <a:ext cx="8305800" cy="3305175"/>
        </p:xfrm>
        <a:graphic>
          <a:graphicData uri="http://schemas.openxmlformats.org/drawingml/2006/table">
            <a:tbl>
              <a:tblPr/>
              <a:tblGrid>
                <a:gridCol w="1038225">
                  <a:extLst>
                    <a:ext uri="{9D8B030D-6E8A-4147-A177-3AD203B41FA5}">
                      <a16:colId xmlns:a16="http://schemas.microsoft.com/office/drawing/2014/main" xmlns="" val="4038550158"/>
                    </a:ext>
                  </a:extLst>
                </a:gridCol>
                <a:gridCol w="1038225">
                  <a:extLst>
                    <a:ext uri="{9D8B030D-6E8A-4147-A177-3AD203B41FA5}">
                      <a16:colId xmlns:a16="http://schemas.microsoft.com/office/drawing/2014/main" xmlns="" val="1462587737"/>
                    </a:ext>
                  </a:extLst>
                </a:gridCol>
                <a:gridCol w="1038225">
                  <a:extLst>
                    <a:ext uri="{9D8B030D-6E8A-4147-A177-3AD203B41FA5}">
                      <a16:colId xmlns:a16="http://schemas.microsoft.com/office/drawing/2014/main" xmlns="" val="294379466"/>
                    </a:ext>
                  </a:extLst>
                </a:gridCol>
                <a:gridCol w="1038225">
                  <a:extLst>
                    <a:ext uri="{9D8B030D-6E8A-4147-A177-3AD203B41FA5}">
                      <a16:colId xmlns:a16="http://schemas.microsoft.com/office/drawing/2014/main" xmlns="" val="3246955308"/>
                    </a:ext>
                  </a:extLst>
                </a:gridCol>
                <a:gridCol w="1038225">
                  <a:extLst>
                    <a:ext uri="{9D8B030D-6E8A-4147-A177-3AD203B41FA5}">
                      <a16:colId xmlns:a16="http://schemas.microsoft.com/office/drawing/2014/main" xmlns="" val="2806761651"/>
                    </a:ext>
                  </a:extLst>
                </a:gridCol>
                <a:gridCol w="1038225">
                  <a:extLst>
                    <a:ext uri="{9D8B030D-6E8A-4147-A177-3AD203B41FA5}">
                      <a16:colId xmlns:a16="http://schemas.microsoft.com/office/drawing/2014/main" xmlns="" val="462112230"/>
                    </a:ext>
                  </a:extLst>
                </a:gridCol>
                <a:gridCol w="1038225">
                  <a:extLst>
                    <a:ext uri="{9D8B030D-6E8A-4147-A177-3AD203B41FA5}">
                      <a16:colId xmlns:a16="http://schemas.microsoft.com/office/drawing/2014/main" xmlns="" val="10265115"/>
                    </a:ext>
                  </a:extLst>
                </a:gridCol>
                <a:gridCol w="1038225">
                  <a:extLst>
                    <a:ext uri="{9D8B030D-6E8A-4147-A177-3AD203B41FA5}">
                      <a16:colId xmlns:a16="http://schemas.microsoft.com/office/drawing/2014/main" xmlns="" val="1214905035"/>
                    </a:ext>
                  </a:extLst>
                </a:gridCol>
              </a:tblGrid>
              <a:tr h="584200">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j</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592487079"/>
                  </a:ext>
                </a:extLst>
              </a:tr>
              <a:tr h="6096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730733082"/>
                  </a:ext>
                </a:extLst>
              </a:tr>
              <a:tr h="1381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392833069"/>
                  </a:ext>
                </a:extLst>
              </a:tr>
              <a:tr h="3952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084193259"/>
                  </a:ext>
                </a:extLst>
              </a:tr>
              <a:tr h="558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128301033"/>
                  </a:ext>
                </a:extLst>
              </a:tr>
              <a:tr h="498475">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σ</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j</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2709211"/>
                  </a:ext>
                </a:extLst>
              </a:tr>
            </a:tbl>
          </a:graphicData>
        </a:graphic>
      </p:graphicFrame>
      <p:graphicFrame>
        <p:nvGraphicFramePr>
          <p:cNvPr id="720963" name="Object 67"/>
          <p:cNvGraphicFramePr>
            <a:graphicFrameLocks noChangeAspect="1"/>
          </p:cNvGraphicFramePr>
          <p:nvPr/>
        </p:nvGraphicFramePr>
        <p:xfrm>
          <a:off x="827088" y="422275"/>
          <a:ext cx="7273925" cy="1493838"/>
        </p:xfrm>
        <a:graphic>
          <a:graphicData uri="http://schemas.openxmlformats.org/presentationml/2006/ole">
            <p:oleObj spid="_x0000_s53265" name="Equation" r:id="rId3" imgW="3403600" imgH="698500" progId="">
              <p:embed/>
            </p:oleObj>
          </a:graphicData>
        </a:graphic>
      </p:graphicFrame>
    </p:spTree>
    <p:extLst>
      <p:ext uri="{BB962C8B-B14F-4D97-AF65-F5344CB8AC3E}">
        <p14:creationId xmlns:p14="http://schemas.microsoft.com/office/powerpoint/2010/main" xmlns="" val="40346804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208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8" presetClass="entr" presetSubtype="12" fill="hold" grpId="0" nodeType="clickEffect">
                                  <p:stCondLst>
                                    <p:cond delay="0"/>
                                  </p:stCondLst>
                                  <p:childTnLst>
                                    <p:set>
                                      <p:cBhvr>
                                        <p:cTn id="10" dur="1" fill="hold">
                                          <p:stCondLst>
                                            <p:cond delay="0"/>
                                          </p:stCondLst>
                                        </p:cTn>
                                        <p:tgtEl>
                                          <p:spTgt spid="720899"/>
                                        </p:tgtEl>
                                        <p:attrNameLst>
                                          <p:attrName>style.visibility</p:attrName>
                                        </p:attrNameLst>
                                      </p:cBhvr>
                                      <p:to>
                                        <p:strVal val="visible"/>
                                      </p:to>
                                    </p:set>
                                    <p:animEffect transition="in" filter="strips(downLeft)">
                                      <p:cBhvr>
                                        <p:cTn id="11" dur="500"/>
                                        <p:tgtEl>
                                          <p:spTgt spid="72089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12" fill="hold" nodeType="clickEffect">
                                  <p:stCondLst>
                                    <p:cond delay="0"/>
                                  </p:stCondLst>
                                  <p:childTnLst>
                                    <p:set>
                                      <p:cBhvr>
                                        <p:cTn id="15" dur="1" fill="hold">
                                          <p:stCondLst>
                                            <p:cond delay="0"/>
                                          </p:stCondLst>
                                        </p:cTn>
                                        <p:tgtEl>
                                          <p:spTgt spid="720900"/>
                                        </p:tgtEl>
                                        <p:attrNameLst>
                                          <p:attrName>style.visibility</p:attrName>
                                        </p:attrNameLst>
                                      </p:cBhvr>
                                      <p:to>
                                        <p:strVal val="visible"/>
                                      </p:to>
                                    </p:set>
                                    <p:animEffect transition="in" filter="strips(downLeft)">
                                      <p:cBhvr>
                                        <p:cTn id="16" dur="500"/>
                                        <p:tgtEl>
                                          <p:spTgt spid="720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089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1922" name="Group 2"/>
          <p:cNvGraphicFramePr>
            <a:graphicFrameLocks noGrp="1"/>
          </p:cNvGraphicFramePr>
          <p:nvPr/>
        </p:nvGraphicFramePr>
        <p:xfrm>
          <a:off x="468313" y="188913"/>
          <a:ext cx="8305800" cy="3305175"/>
        </p:xfrm>
        <a:graphic>
          <a:graphicData uri="http://schemas.openxmlformats.org/drawingml/2006/table">
            <a:tbl>
              <a:tblPr/>
              <a:tblGrid>
                <a:gridCol w="1038225">
                  <a:extLst>
                    <a:ext uri="{9D8B030D-6E8A-4147-A177-3AD203B41FA5}">
                      <a16:colId xmlns:a16="http://schemas.microsoft.com/office/drawing/2014/main" xmlns="" val="1591214239"/>
                    </a:ext>
                  </a:extLst>
                </a:gridCol>
                <a:gridCol w="1038225">
                  <a:extLst>
                    <a:ext uri="{9D8B030D-6E8A-4147-A177-3AD203B41FA5}">
                      <a16:colId xmlns:a16="http://schemas.microsoft.com/office/drawing/2014/main" xmlns="" val="231281828"/>
                    </a:ext>
                  </a:extLst>
                </a:gridCol>
                <a:gridCol w="1038225">
                  <a:extLst>
                    <a:ext uri="{9D8B030D-6E8A-4147-A177-3AD203B41FA5}">
                      <a16:colId xmlns:a16="http://schemas.microsoft.com/office/drawing/2014/main" xmlns="" val="4151553332"/>
                    </a:ext>
                  </a:extLst>
                </a:gridCol>
                <a:gridCol w="1038225">
                  <a:extLst>
                    <a:ext uri="{9D8B030D-6E8A-4147-A177-3AD203B41FA5}">
                      <a16:colId xmlns:a16="http://schemas.microsoft.com/office/drawing/2014/main" xmlns="" val="3981488371"/>
                    </a:ext>
                  </a:extLst>
                </a:gridCol>
                <a:gridCol w="1038225">
                  <a:extLst>
                    <a:ext uri="{9D8B030D-6E8A-4147-A177-3AD203B41FA5}">
                      <a16:colId xmlns:a16="http://schemas.microsoft.com/office/drawing/2014/main" xmlns="" val="2230488676"/>
                    </a:ext>
                  </a:extLst>
                </a:gridCol>
                <a:gridCol w="1038225">
                  <a:extLst>
                    <a:ext uri="{9D8B030D-6E8A-4147-A177-3AD203B41FA5}">
                      <a16:colId xmlns:a16="http://schemas.microsoft.com/office/drawing/2014/main" xmlns="" val="1784865131"/>
                    </a:ext>
                  </a:extLst>
                </a:gridCol>
                <a:gridCol w="1038225">
                  <a:extLst>
                    <a:ext uri="{9D8B030D-6E8A-4147-A177-3AD203B41FA5}">
                      <a16:colId xmlns:a16="http://schemas.microsoft.com/office/drawing/2014/main" xmlns="" val="114517174"/>
                    </a:ext>
                  </a:extLst>
                </a:gridCol>
                <a:gridCol w="1038225">
                  <a:extLst>
                    <a:ext uri="{9D8B030D-6E8A-4147-A177-3AD203B41FA5}">
                      <a16:colId xmlns:a16="http://schemas.microsoft.com/office/drawing/2014/main" xmlns="" val="1046518463"/>
                    </a:ext>
                  </a:extLst>
                </a:gridCol>
              </a:tblGrid>
              <a:tr h="584200">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j</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739744540"/>
                  </a:ext>
                </a:extLst>
              </a:tr>
              <a:tr h="6096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25493672"/>
                  </a:ext>
                </a:extLst>
              </a:tr>
              <a:tr h="1381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4123198603"/>
                  </a:ext>
                </a:extLst>
              </a:tr>
              <a:tr h="3952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148708908"/>
                  </a:ext>
                </a:extLst>
              </a:tr>
              <a:tr h="558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811930618"/>
                  </a:ext>
                </a:extLst>
              </a:tr>
              <a:tr h="498475">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σ</a:t>
                      </a:r>
                      <a:r>
                        <a:rPr kumimoji="1" lang="en-US" altLang="zh-CN" sz="2800" b="1" i="0" u="none" strike="noStrike" cap="none" normalizeH="0" baseline="-25000" smtClean="0">
                          <a:ln>
                            <a:noFill/>
                          </a:ln>
                          <a:solidFill>
                            <a:schemeClr val="tx1"/>
                          </a:solidFill>
                          <a:effectLst/>
                          <a:latin typeface="宋体" panose="02010600030101010101" pitchFamily="2" charset="-122"/>
                          <a:ea typeface="宋体" panose="02010600030101010101" pitchFamily="2" charset="-122"/>
                        </a:rPr>
                        <a:t>j</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215549975"/>
                  </a:ext>
                </a:extLst>
              </a:tr>
            </a:tbl>
          </a:graphicData>
        </a:graphic>
      </p:graphicFrame>
      <p:sp>
        <p:nvSpPr>
          <p:cNvPr id="721985" name="Text Box 65"/>
          <p:cNvSpPr txBox="1">
            <a:spLocks noChangeArrowheads="1"/>
          </p:cNvSpPr>
          <p:nvPr/>
        </p:nvSpPr>
        <p:spPr bwMode="auto">
          <a:xfrm>
            <a:off x="304800" y="3505200"/>
            <a:ext cx="25908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出基变量确定：</a:t>
            </a:r>
          </a:p>
        </p:txBody>
      </p:sp>
      <p:sp>
        <p:nvSpPr>
          <p:cNvPr id="721986" name="Text Box 66"/>
          <p:cNvSpPr txBox="1">
            <a:spLocks noChangeArrowheads="1"/>
          </p:cNvSpPr>
          <p:nvPr/>
        </p:nvSpPr>
        <p:spPr bwMode="auto">
          <a:xfrm>
            <a:off x="2667000" y="3505200"/>
            <a:ext cx="60960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可任选一个对应的基变量为出基变量。</a:t>
            </a:r>
          </a:p>
        </p:txBody>
      </p:sp>
      <p:sp>
        <p:nvSpPr>
          <p:cNvPr id="721987" name="Text Box 67"/>
          <p:cNvSpPr txBox="1">
            <a:spLocks noChangeArrowheads="1"/>
          </p:cNvSpPr>
          <p:nvPr/>
        </p:nvSpPr>
        <p:spPr bwMode="auto">
          <a:xfrm>
            <a:off x="2819400" y="3962400"/>
            <a:ext cx="58674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取</a:t>
            </a:r>
            <a:r>
              <a:rPr lang="en-US" altLang="zh-CN"/>
              <a:t>-3</a:t>
            </a:r>
            <a:r>
              <a:rPr lang="zh-CN" altLang="en-US"/>
              <a:t>对应的变量</a:t>
            </a:r>
            <a:r>
              <a:rPr lang="en-US" altLang="zh-CN"/>
              <a:t>x</a:t>
            </a:r>
            <a:r>
              <a:rPr lang="en-US" altLang="zh-CN" baseline="-25000"/>
              <a:t>3</a:t>
            </a:r>
            <a:r>
              <a:rPr lang="zh-CN" altLang="en-US"/>
              <a:t>为出基变量。</a:t>
            </a:r>
          </a:p>
        </p:txBody>
      </p:sp>
      <p:sp>
        <p:nvSpPr>
          <p:cNvPr id="721988" name="Text Box 68"/>
          <p:cNvSpPr txBox="1">
            <a:spLocks noChangeArrowheads="1"/>
          </p:cNvSpPr>
          <p:nvPr/>
        </p:nvSpPr>
        <p:spPr bwMode="auto">
          <a:xfrm>
            <a:off x="304800" y="4572000"/>
            <a:ext cx="2682875"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入基变量确定：</a:t>
            </a:r>
          </a:p>
        </p:txBody>
      </p:sp>
      <p:sp>
        <p:nvSpPr>
          <p:cNvPr id="721989" name="Text Box 69"/>
          <p:cNvSpPr txBox="1">
            <a:spLocks noChangeArrowheads="1"/>
          </p:cNvSpPr>
          <p:nvPr/>
        </p:nvSpPr>
        <p:spPr bwMode="auto">
          <a:xfrm>
            <a:off x="611188" y="5876925"/>
            <a:ext cx="6911975"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故</a:t>
            </a:r>
            <a:r>
              <a:rPr lang="en-US" altLang="zh-CN"/>
              <a:t>x</a:t>
            </a:r>
            <a:r>
              <a:rPr lang="en-US" altLang="zh-CN" baseline="-25000"/>
              <a:t>1</a:t>
            </a:r>
            <a:r>
              <a:rPr lang="zh-CN" altLang="en-US"/>
              <a:t>为入基变量。</a:t>
            </a:r>
            <a:endParaRPr lang="zh-CN" altLang="en-US" baseline="-25000"/>
          </a:p>
        </p:txBody>
      </p:sp>
      <p:sp>
        <p:nvSpPr>
          <p:cNvPr id="721990" name="Rectangle 70"/>
          <p:cNvSpPr>
            <a:spLocks noChangeArrowheads="1"/>
          </p:cNvSpPr>
          <p:nvPr/>
        </p:nvSpPr>
        <p:spPr bwMode="auto">
          <a:xfrm>
            <a:off x="7920038" y="1412875"/>
            <a:ext cx="684212" cy="1511300"/>
          </a:xfrm>
          <a:prstGeom prst="rect">
            <a:avLst/>
          </a:prstGeom>
          <a:noFill/>
          <a:ln w="38100">
            <a:solidFill>
              <a:srgbClr val="FFFF00"/>
            </a:solidFill>
            <a:miter lim="800000"/>
            <a:headEnd/>
            <a:tailEnd/>
          </a:ln>
          <a:effectLst/>
          <a:extLst>
            <a:ext uri="{909E8E84-426E-40DD-AFC4-6F175D3DCCD1}">
              <a14:hiddenFill xmlns:a14="http://schemas.microsoft.com/office/drawing/2010/main" xmlns="">
                <a:solidFill>
                  <a:srgbClr val="FFFF99"/>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21991" name="AutoShape 71"/>
          <p:cNvSpPr>
            <a:spLocks noChangeArrowheads="1"/>
          </p:cNvSpPr>
          <p:nvPr/>
        </p:nvSpPr>
        <p:spPr bwMode="auto">
          <a:xfrm>
            <a:off x="179388" y="1052513"/>
            <a:ext cx="1081087" cy="2303462"/>
          </a:xfrm>
          <a:prstGeom prst="wedgeRoundRectCallout">
            <a:avLst>
              <a:gd name="adj1" fmla="val 150880"/>
              <a:gd name="adj2" fmla="val 43796"/>
              <a:gd name="adj3" fmla="val 16667"/>
            </a:avLst>
          </a:prstGeom>
          <a:solidFill>
            <a:schemeClr val="bg1"/>
          </a:solidFill>
          <a:ln w="9525">
            <a:solidFill>
              <a:srgbClr val="FF33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a:t>对偶问题的解是可行解</a:t>
            </a:r>
          </a:p>
        </p:txBody>
      </p:sp>
      <p:sp>
        <p:nvSpPr>
          <p:cNvPr id="721992" name="Rectangle 72"/>
          <p:cNvSpPr>
            <a:spLocks noChangeArrowheads="1"/>
          </p:cNvSpPr>
          <p:nvPr/>
        </p:nvSpPr>
        <p:spPr bwMode="auto">
          <a:xfrm>
            <a:off x="7956550" y="1412875"/>
            <a:ext cx="609600" cy="533400"/>
          </a:xfrm>
          <a:prstGeom prst="rect">
            <a:avLst/>
          </a:prstGeom>
          <a:noFill/>
          <a:ln w="38100">
            <a:solidFill>
              <a:srgbClr val="FF33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21993" name="AutoShape 73"/>
          <p:cNvSpPr>
            <a:spLocks noChangeArrowheads="1"/>
          </p:cNvSpPr>
          <p:nvPr/>
        </p:nvSpPr>
        <p:spPr bwMode="auto">
          <a:xfrm>
            <a:off x="2771775" y="1484313"/>
            <a:ext cx="533400" cy="457200"/>
          </a:xfrm>
          <a:prstGeom prst="bracketPair">
            <a:avLst>
              <a:gd name="adj" fmla="val 16667"/>
            </a:avLst>
          </a:prstGeom>
          <a:noFill/>
          <a:ln w="38100">
            <a:solidFill>
              <a:srgbClr val="FF33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21994" name="AutoShape 74"/>
          <p:cNvSpPr>
            <a:spLocks noChangeArrowheads="1"/>
          </p:cNvSpPr>
          <p:nvPr/>
        </p:nvSpPr>
        <p:spPr bwMode="auto">
          <a:xfrm>
            <a:off x="5257800" y="61913"/>
            <a:ext cx="3200400" cy="990600"/>
          </a:xfrm>
          <a:prstGeom prst="wedgeRoundRectCallout">
            <a:avLst>
              <a:gd name="adj1" fmla="val 31250"/>
              <a:gd name="adj2" fmla="val 107694"/>
              <a:gd name="adj3" fmla="val 16667"/>
            </a:avLst>
          </a:prstGeom>
          <a:solidFill>
            <a:schemeClr val="bg1"/>
          </a:solidFill>
          <a:ln w="9525">
            <a:solidFill>
              <a:srgbClr val="FF3300"/>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a:t>原问题：该基解不是可行解。</a:t>
            </a:r>
          </a:p>
        </p:txBody>
      </p:sp>
      <p:grpSp>
        <p:nvGrpSpPr>
          <p:cNvPr id="721995" name="Group 75"/>
          <p:cNvGrpSpPr>
            <a:grpSpLocks/>
          </p:cNvGrpSpPr>
          <p:nvPr/>
        </p:nvGrpSpPr>
        <p:grpSpPr bwMode="auto">
          <a:xfrm>
            <a:off x="3132138" y="4652963"/>
            <a:ext cx="4335462" cy="1014412"/>
            <a:chOff x="2018" y="2931"/>
            <a:chExt cx="2731" cy="639"/>
          </a:xfrm>
        </p:grpSpPr>
        <p:graphicFrame>
          <p:nvGraphicFramePr>
            <p:cNvPr id="721996" name="Object 76"/>
            <p:cNvGraphicFramePr>
              <a:graphicFrameLocks noChangeAspect="1"/>
            </p:cNvGraphicFramePr>
            <p:nvPr/>
          </p:nvGraphicFramePr>
          <p:xfrm>
            <a:off x="2699" y="2931"/>
            <a:ext cx="2050" cy="639"/>
          </p:xfrm>
          <a:graphic>
            <a:graphicData uri="http://schemas.openxmlformats.org/presentationml/2006/ole">
              <p:oleObj spid="_x0000_s54289" name="Equation" r:id="rId3" imgW="1384300" imgH="431800" progId="">
                <p:embed/>
              </p:oleObj>
            </a:graphicData>
          </a:graphic>
        </p:graphicFrame>
        <p:sp>
          <p:nvSpPr>
            <p:cNvPr id="721997" name="Rectangle 77"/>
            <p:cNvSpPr>
              <a:spLocks noChangeArrowheads="1"/>
            </p:cNvSpPr>
            <p:nvPr/>
          </p:nvSpPr>
          <p:spPr bwMode="auto">
            <a:xfrm>
              <a:off x="2018" y="3067"/>
              <a:ext cx="566"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50000"/>
                </a:spcBef>
              </a:pPr>
              <a:r>
                <a:rPr lang="zh-CN" altLang="en-US"/>
                <a:t>计算</a:t>
              </a:r>
            </a:p>
          </p:txBody>
        </p:sp>
      </p:grpSp>
      <p:sp>
        <p:nvSpPr>
          <p:cNvPr id="721998" name="Line 78"/>
          <p:cNvSpPr>
            <a:spLocks noChangeShapeType="1"/>
          </p:cNvSpPr>
          <p:nvPr/>
        </p:nvSpPr>
        <p:spPr bwMode="auto">
          <a:xfrm flipV="1">
            <a:off x="3348038" y="3068638"/>
            <a:ext cx="0" cy="4572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xmlns="" val="16430078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219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721990"/>
                                        </p:tgtEl>
                                        <p:attrNameLst>
                                          <p:attrName>style.visibility</p:attrName>
                                        </p:attrNameLst>
                                      </p:cBhvr>
                                      <p:to>
                                        <p:strVal val="visible"/>
                                      </p:to>
                                    </p:set>
                                    <p:anim calcmode="lin" valueType="num">
                                      <p:cBhvr additive="base">
                                        <p:cTn id="11" dur="500" fill="hold"/>
                                        <p:tgtEl>
                                          <p:spTgt spid="721990"/>
                                        </p:tgtEl>
                                        <p:attrNameLst>
                                          <p:attrName>ppt_x</p:attrName>
                                        </p:attrNameLst>
                                      </p:cBhvr>
                                      <p:tavLst>
                                        <p:tav tm="0">
                                          <p:val>
                                            <p:strVal val="1+#ppt_w/2"/>
                                          </p:val>
                                        </p:tav>
                                        <p:tav tm="100000">
                                          <p:val>
                                            <p:strVal val="#ppt_x"/>
                                          </p:val>
                                        </p:tav>
                                      </p:tavLst>
                                    </p:anim>
                                    <p:anim calcmode="lin" valueType="num">
                                      <p:cBhvr additive="base">
                                        <p:cTn id="12" dur="500" fill="hold"/>
                                        <p:tgtEl>
                                          <p:spTgt spid="721990"/>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72199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72198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72198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72198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32" fill="hold" nodeType="clickEffect">
                                  <p:stCondLst>
                                    <p:cond delay="0"/>
                                  </p:stCondLst>
                                  <p:childTnLst>
                                    <p:set>
                                      <p:cBhvr>
                                        <p:cTn id="32" dur="1" fill="hold">
                                          <p:stCondLst>
                                            <p:cond delay="0"/>
                                          </p:stCondLst>
                                        </p:cTn>
                                        <p:tgtEl>
                                          <p:spTgt spid="721992"/>
                                        </p:tgtEl>
                                        <p:attrNameLst>
                                          <p:attrName>style.visibility</p:attrName>
                                        </p:attrNameLst>
                                      </p:cBhvr>
                                      <p:to>
                                        <p:strVal val="visible"/>
                                      </p:to>
                                    </p:set>
                                    <p:anim calcmode="lin" valueType="num">
                                      <p:cBhvr>
                                        <p:cTn id="33" dur="500" fill="hold"/>
                                        <p:tgtEl>
                                          <p:spTgt spid="721992"/>
                                        </p:tgtEl>
                                        <p:attrNameLst>
                                          <p:attrName>ppt_w</p:attrName>
                                        </p:attrNameLst>
                                      </p:cBhvr>
                                      <p:tavLst>
                                        <p:tav tm="0">
                                          <p:val>
                                            <p:strVal val="4*#ppt_w"/>
                                          </p:val>
                                        </p:tav>
                                        <p:tav tm="100000">
                                          <p:val>
                                            <p:strVal val="#ppt_w"/>
                                          </p:val>
                                        </p:tav>
                                      </p:tavLst>
                                    </p:anim>
                                    <p:anim calcmode="lin" valueType="num">
                                      <p:cBhvr>
                                        <p:cTn id="34" dur="500" fill="hold"/>
                                        <p:tgtEl>
                                          <p:spTgt spid="721992"/>
                                        </p:tgtEl>
                                        <p:attrNameLst>
                                          <p:attrName>ppt_h</p:attrName>
                                        </p:attrNameLst>
                                      </p:cBhvr>
                                      <p:tavLst>
                                        <p:tav tm="0">
                                          <p:val>
                                            <p:strVal val="4*#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2198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8" presetClass="entr" presetSubtype="12" fill="hold" nodeType="clickEffect">
                                  <p:stCondLst>
                                    <p:cond delay="0"/>
                                  </p:stCondLst>
                                  <p:childTnLst>
                                    <p:set>
                                      <p:cBhvr>
                                        <p:cTn id="42" dur="1" fill="hold">
                                          <p:stCondLst>
                                            <p:cond delay="0"/>
                                          </p:stCondLst>
                                        </p:cTn>
                                        <p:tgtEl>
                                          <p:spTgt spid="721995"/>
                                        </p:tgtEl>
                                        <p:attrNameLst>
                                          <p:attrName>style.visibility</p:attrName>
                                        </p:attrNameLst>
                                      </p:cBhvr>
                                      <p:to>
                                        <p:strVal val="visible"/>
                                      </p:to>
                                    </p:set>
                                    <p:animEffect transition="in" filter="strips(downLeft)">
                                      <p:cBhvr>
                                        <p:cTn id="43" dur="500"/>
                                        <p:tgtEl>
                                          <p:spTgt spid="72199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499"/>
                                          </p:stCondLst>
                                        </p:cTn>
                                        <p:tgtEl>
                                          <p:spTgt spid="721998"/>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721989"/>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499"/>
                                          </p:stCondLst>
                                        </p:cTn>
                                        <p:tgtEl>
                                          <p:spTgt spid="7219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985" grpId="0" autoUpdateAnimBg="0"/>
      <p:bldP spid="721986" grpId="0" autoUpdateAnimBg="0"/>
      <p:bldP spid="721987" grpId="0" autoUpdateAnimBg="0"/>
      <p:bldP spid="721988" grpId="0"/>
      <p:bldP spid="721989" grpId="0" autoUpdateAnimBg="0"/>
      <p:bldP spid="721990" grpId="0" animBg="1"/>
      <p:bldP spid="721991" grpId="0" animBg="1" autoUpdateAnimBg="0"/>
      <p:bldP spid="721994"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2946" name="Group 2"/>
          <p:cNvGraphicFramePr>
            <a:graphicFrameLocks noGrp="1"/>
          </p:cNvGraphicFramePr>
          <p:nvPr/>
        </p:nvGraphicFramePr>
        <p:xfrm>
          <a:off x="381000" y="188913"/>
          <a:ext cx="8305800" cy="3268662"/>
        </p:xfrm>
        <a:graphic>
          <a:graphicData uri="http://schemas.openxmlformats.org/drawingml/2006/table">
            <a:tbl>
              <a:tblPr/>
              <a:tblGrid>
                <a:gridCol w="1038225">
                  <a:extLst>
                    <a:ext uri="{9D8B030D-6E8A-4147-A177-3AD203B41FA5}">
                      <a16:colId xmlns:a16="http://schemas.microsoft.com/office/drawing/2014/main" xmlns="" val="1372731193"/>
                    </a:ext>
                  </a:extLst>
                </a:gridCol>
                <a:gridCol w="1038225">
                  <a:extLst>
                    <a:ext uri="{9D8B030D-6E8A-4147-A177-3AD203B41FA5}">
                      <a16:colId xmlns:a16="http://schemas.microsoft.com/office/drawing/2014/main" xmlns="" val="2035539317"/>
                    </a:ext>
                  </a:extLst>
                </a:gridCol>
                <a:gridCol w="1038225">
                  <a:extLst>
                    <a:ext uri="{9D8B030D-6E8A-4147-A177-3AD203B41FA5}">
                      <a16:colId xmlns:a16="http://schemas.microsoft.com/office/drawing/2014/main" xmlns="" val="3643233046"/>
                    </a:ext>
                  </a:extLst>
                </a:gridCol>
                <a:gridCol w="1038225">
                  <a:extLst>
                    <a:ext uri="{9D8B030D-6E8A-4147-A177-3AD203B41FA5}">
                      <a16:colId xmlns:a16="http://schemas.microsoft.com/office/drawing/2014/main" xmlns="" val="1967908805"/>
                    </a:ext>
                  </a:extLst>
                </a:gridCol>
                <a:gridCol w="1038225">
                  <a:extLst>
                    <a:ext uri="{9D8B030D-6E8A-4147-A177-3AD203B41FA5}">
                      <a16:colId xmlns:a16="http://schemas.microsoft.com/office/drawing/2014/main" xmlns="" val="509712474"/>
                    </a:ext>
                  </a:extLst>
                </a:gridCol>
                <a:gridCol w="1038225">
                  <a:extLst>
                    <a:ext uri="{9D8B030D-6E8A-4147-A177-3AD203B41FA5}">
                      <a16:colId xmlns:a16="http://schemas.microsoft.com/office/drawing/2014/main" xmlns="" val="3226025727"/>
                    </a:ext>
                  </a:extLst>
                </a:gridCol>
                <a:gridCol w="1038225">
                  <a:extLst>
                    <a:ext uri="{9D8B030D-6E8A-4147-A177-3AD203B41FA5}">
                      <a16:colId xmlns:a16="http://schemas.microsoft.com/office/drawing/2014/main" xmlns="" val="3207002563"/>
                    </a:ext>
                  </a:extLst>
                </a:gridCol>
                <a:gridCol w="1038225">
                  <a:extLst>
                    <a:ext uri="{9D8B030D-6E8A-4147-A177-3AD203B41FA5}">
                      <a16:colId xmlns:a16="http://schemas.microsoft.com/office/drawing/2014/main" xmlns="" val="1627626547"/>
                    </a:ext>
                  </a:extLst>
                </a:gridCol>
              </a:tblGrid>
              <a:tr h="547688">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j</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72226388"/>
                  </a:ext>
                </a:extLst>
              </a:tr>
              <a:tr h="6096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705100377"/>
                  </a:ext>
                </a:extLst>
              </a:tr>
              <a:tr h="1381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77609144"/>
                  </a:ext>
                </a:extLst>
              </a:tr>
              <a:tr h="3952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855270589"/>
                  </a:ext>
                </a:extLst>
              </a:tr>
              <a:tr h="558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4153128803"/>
                  </a:ext>
                </a:extLst>
              </a:tr>
              <a:tr h="498475">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σ</a:t>
                      </a:r>
                      <a:r>
                        <a:rPr kumimoji="1" lang="en-US" altLang="zh-CN" sz="2800" b="1" i="0" u="none" strike="noStrike" cap="none" normalizeH="0" baseline="-25000" smtClean="0">
                          <a:ln>
                            <a:noFill/>
                          </a:ln>
                          <a:solidFill>
                            <a:schemeClr val="tx1"/>
                          </a:solidFill>
                          <a:effectLst/>
                          <a:latin typeface="宋体" panose="02010600030101010101" pitchFamily="2" charset="-122"/>
                          <a:ea typeface="宋体" panose="02010600030101010101" pitchFamily="2" charset="-122"/>
                        </a:rPr>
                        <a:t>j</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8394068"/>
                  </a:ext>
                </a:extLst>
              </a:tr>
            </a:tbl>
          </a:graphicData>
        </a:graphic>
      </p:graphicFrame>
      <p:graphicFrame>
        <p:nvGraphicFramePr>
          <p:cNvPr id="723009" name="Group 65"/>
          <p:cNvGraphicFramePr>
            <a:graphicFrameLocks noGrp="1"/>
          </p:cNvGraphicFramePr>
          <p:nvPr/>
        </p:nvGraphicFramePr>
        <p:xfrm>
          <a:off x="395288" y="3573463"/>
          <a:ext cx="8305800" cy="2111375"/>
        </p:xfrm>
        <a:graphic>
          <a:graphicData uri="http://schemas.openxmlformats.org/drawingml/2006/table">
            <a:tbl>
              <a:tblPr/>
              <a:tblGrid>
                <a:gridCol w="1038225">
                  <a:extLst>
                    <a:ext uri="{9D8B030D-6E8A-4147-A177-3AD203B41FA5}">
                      <a16:colId xmlns:a16="http://schemas.microsoft.com/office/drawing/2014/main" xmlns="" val="3975711093"/>
                    </a:ext>
                  </a:extLst>
                </a:gridCol>
                <a:gridCol w="1038225">
                  <a:extLst>
                    <a:ext uri="{9D8B030D-6E8A-4147-A177-3AD203B41FA5}">
                      <a16:colId xmlns:a16="http://schemas.microsoft.com/office/drawing/2014/main" xmlns="" val="357381924"/>
                    </a:ext>
                  </a:extLst>
                </a:gridCol>
                <a:gridCol w="1038225">
                  <a:extLst>
                    <a:ext uri="{9D8B030D-6E8A-4147-A177-3AD203B41FA5}">
                      <a16:colId xmlns:a16="http://schemas.microsoft.com/office/drawing/2014/main" xmlns="" val="2780537941"/>
                    </a:ext>
                  </a:extLst>
                </a:gridCol>
                <a:gridCol w="1038225">
                  <a:extLst>
                    <a:ext uri="{9D8B030D-6E8A-4147-A177-3AD203B41FA5}">
                      <a16:colId xmlns:a16="http://schemas.microsoft.com/office/drawing/2014/main" xmlns="" val="2721532801"/>
                    </a:ext>
                  </a:extLst>
                </a:gridCol>
                <a:gridCol w="1038225">
                  <a:extLst>
                    <a:ext uri="{9D8B030D-6E8A-4147-A177-3AD203B41FA5}">
                      <a16:colId xmlns:a16="http://schemas.microsoft.com/office/drawing/2014/main" xmlns="" val="2582017140"/>
                    </a:ext>
                  </a:extLst>
                </a:gridCol>
                <a:gridCol w="1038225">
                  <a:extLst>
                    <a:ext uri="{9D8B030D-6E8A-4147-A177-3AD203B41FA5}">
                      <a16:colId xmlns:a16="http://schemas.microsoft.com/office/drawing/2014/main" xmlns="" val="26659433"/>
                    </a:ext>
                  </a:extLst>
                </a:gridCol>
                <a:gridCol w="1038225">
                  <a:extLst>
                    <a:ext uri="{9D8B030D-6E8A-4147-A177-3AD203B41FA5}">
                      <a16:colId xmlns:a16="http://schemas.microsoft.com/office/drawing/2014/main" xmlns="" val="3653099046"/>
                    </a:ext>
                  </a:extLst>
                </a:gridCol>
                <a:gridCol w="1038225">
                  <a:extLst>
                    <a:ext uri="{9D8B030D-6E8A-4147-A177-3AD203B41FA5}">
                      <a16:colId xmlns:a16="http://schemas.microsoft.com/office/drawing/2014/main" xmlns="" val="3213264147"/>
                    </a:ext>
                  </a:extLst>
                </a:gridCol>
              </a:tblGrid>
              <a:tr h="1174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564000053"/>
                  </a:ext>
                </a:extLst>
              </a:tr>
              <a:tr h="3952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4087042843"/>
                  </a:ext>
                </a:extLst>
              </a:tr>
              <a:tr h="558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740963980"/>
                  </a:ext>
                </a:extLst>
              </a:tr>
              <a:tr h="498475">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σ</a:t>
                      </a:r>
                      <a:r>
                        <a:rPr kumimoji="1" lang="en-US" altLang="zh-CN" sz="2800" b="1" i="0" u="none" strike="noStrike" cap="none" normalizeH="0" baseline="-25000" smtClean="0">
                          <a:ln>
                            <a:noFill/>
                          </a:ln>
                          <a:solidFill>
                            <a:schemeClr val="tx1"/>
                          </a:solidFill>
                          <a:effectLst/>
                          <a:latin typeface="宋体" panose="02010600030101010101" pitchFamily="2" charset="-122"/>
                          <a:ea typeface="宋体" panose="02010600030101010101" pitchFamily="2" charset="-122"/>
                        </a:rPr>
                        <a:t>j</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300119120"/>
                  </a:ext>
                </a:extLst>
              </a:tr>
            </a:tbl>
          </a:graphicData>
        </a:graphic>
      </p:graphicFrame>
      <p:sp>
        <p:nvSpPr>
          <p:cNvPr id="723055" name="Rectangle 111"/>
          <p:cNvSpPr>
            <a:spLocks noChangeArrowheads="1"/>
          </p:cNvSpPr>
          <p:nvPr/>
        </p:nvSpPr>
        <p:spPr bwMode="auto">
          <a:xfrm>
            <a:off x="971550" y="5868988"/>
            <a:ext cx="6424613" cy="9890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pPr>
              <a:lnSpc>
                <a:spcPct val="80000"/>
              </a:lnSpc>
              <a:spcBef>
                <a:spcPct val="50000"/>
              </a:spcBef>
            </a:pPr>
            <a:r>
              <a:rPr lang="zh-CN" altLang="en-US"/>
              <a:t>最优解是</a:t>
            </a:r>
            <a:r>
              <a:rPr lang="en-US" altLang="zh-CN"/>
              <a:t>X*=</a:t>
            </a:r>
            <a:r>
              <a:rPr lang="zh-CN" altLang="en-US"/>
              <a:t>（</a:t>
            </a:r>
            <a:r>
              <a:rPr lang="en-US" altLang="zh-CN"/>
              <a:t>3/5</a:t>
            </a:r>
            <a:r>
              <a:rPr lang="zh-CN" altLang="en-US"/>
              <a:t>，</a:t>
            </a:r>
            <a:r>
              <a:rPr lang="en-US" altLang="zh-CN"/>
              <a:t>6/5</a:t>
            </a:r>
            <a:r>
              <a:rPr lang="zh-CN" altLang="en-US"/>
              <a:t>，</a:t>
            </a:r>
            <a:r>
              <a:rPr lang="en-US" altLang="zh-CN"/>
              <a:t>0</a:t>
            </a:r>
            <a:r>
              <a:rPr lang="zh-CN" altLang="en-US"/>
              <a:t>，</a:t>
            </a:r>
            <a:r>
              <a:rPr lang="en-US" altLang="zh-CN"/>
              <a:t>0</a:t>
            </a:r>
            <a:r>
              <a:rPr lang="zh-CN" altLang="en-US"/>
              <a:t>，</a:t>
            </a:r>
            <a:r>
              <a:rPr lang="en-US" altLang="zh-CN"/>
              <a:t>1</a:t>
            </a:r>
            <a:r>
              <a:rPr lang="zh-CN" altLang="en-US"/>
              <a:t>）</a:t>
            </a:r>
            <a:r>
              <a:rPr lang="en-US" altLang="zh-CN" baseline="30000"/>
              <a:t>T</a:t>
            </a:r>
            <a:r>
              <a:rPr lang="zh-CN" altLang="en-US"/>
              <a:t>， </a:t>
            </a:r>
          </a:p>
          <a:p>
            <a:pPr>
              <a:lnSpc>
                <a:spcPct val="80000"/>
              </a:lnSpc>
              <a:spcBef>
                <a:spcPct val="50000"/>
              </a:spcBef>
            </a:pPr>
            <a:r>
              <a:rPr lang="zh-CN" altLang="en-US"/>
              <a:t>目标函数最优值为</a:t>
            </a:r>
            <a:r>
              <a:rPr lang="en-US" altLang="zh-CN"/>
              <a:t>Wmin=-Zmax=12/5</a:t>
            </a:r>
          </a:p>
        </p:txBody>
      </p:sp>
      <p:sp>
        <p:nvSpPr>
          <p:cNvPr id="723056" name="Rectangle 112"/>
          <p:cNvSpPr>
            <a:spLocks noChangeArrowheads="1"/>
          </p:cNvSpPr>
          <p:nvPr/>
        </p:nvSpPr>
        <p:spPr bwMode="auto">
          <a:xfrm>
            <a:off x="7885113" y="1844675"/>
            <a:ext cx="609600" cy="533400"/>
          </a:xfrm>
          <a:prstGeom prst="rect">
            <a:avLst/>
          </a:prstGeom>
          <a:noFill/>
          <a:ln w="38100">
            <a:solidFill>
              <a:srgbClr val="FF33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23057" name="Line 113"/>
          <p:cNvSpPr>
            <a:spLocks noChangeShapeType="1"/>
          </p:cNvSpPr>
          <p:nvPr/>
        </p:nvSpPr>
        <p:spPr bwMode="auto">
          <a:xfrm flipV="1">
            <a:off x="4356100" y="2997200"/>
            <a:ext cx="0" cy="4572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23058" name="AutoShape 114"/>
          <p:cNvSpPr>
            <a:spLocks noChangeArrowheads="1"/>
          </p:cNvSpPr>
          <p:nvPr/>
        </p:nvSpPr>
        <p:spPr bwMode="auto">
          <a:xfrm>
            <a:off x="3708400" y="1892300"/>
            <a:ext cx="647700" cy="457200"/>
          </a:xfrm>
          <a:prstGeom prst="bracketPair">
            <a:avLst>
              <a:gd name="adj" fmla="val 16667"/>
            </a:avLst>
          </a:prstGeom>
          <a:noFill/>
          <a:ln w="38100">
            <a:solidFill>
              <a:srgbClr val="FF33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xmlns="" val="31940115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32" fill="hold" nodeType="clickEffect">
                                  <p:stCondLst>
                                    <p:cond delay="0"/>
                                  </p:stCondLst>
                                  <p:childTnLst>
                                    <p:set>
                                      <p:cBhvr>
                                        <p:cTn id="6" dur="1" fill="hold">
                                          <p:stCondLst>
                                            <p:cond delay="0"/>
                                          </p:stCondLst>
                                        </p:cTn>
                                        <p:tgtEl>
                                          <p:spTgt spid="723056"/>
                                        </p:tgtEl>
                                        <p:attrNameLst>
                                          <p:attrName>style.visibility</p:attrName>
                                        </p:attrNameLst>
                                      </p:cBhvr>
                                      <p:to>
                                        <p:strVal val="visible"/>
                                      </p:to>
                                    </p:set>
                                    <p:anim calcmode="lin" valueType="num">
                                      <p:cBhvr>
                                        <p:cTn id="7" dur="500" fill="hold"/>
                                        <p:tgtEl>
                                          <p:spTgt spid="723056"/>
                                        </p:tgtEl>
                                        <p:attrNameLst>
                                          <p:attrName>ppt_w</p:attrName>
                                        </p:attrNameLst>
                                      </p:cBhvr>
                                      <p:tavLst>
                                        <p:tav tm="0">
                                          <p:val>
                                            <p:strVal val="4*#ppt_w"/>
                                          </p:val>
                                        </p:tav>
                                        <p:tav tm="100000">
                                          <p:val>
                                            <p:strVal val="#ppt_w"/>
                                          </p:val>
                                        </p:tav>
                                      </p:tavLst>
                                    </p:anim>
                                    <p:anim calcmode="lin" valueType="num">
                                      <p:cBhvr>
                                        <p:cTn id="8" dur="500" fill="hold"/>
                                        <p:tgtEl>
                                          <p:spTgt spid="723056"/>
                                        </p:tgtEl>
                                        <p:attrNameLst>
                                          <p:attrName>ppt_h</p:attrName>
                                        </p:attrNameLst>
                                      </p:cBhvr>
                                      <p:tavLst>
                                        <p:tav tm="0">
                                          <p:val>
                                            <p:strVal val="4*#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72305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72305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12" fill="hold" nodeType="clickEffect">
                                  <p:stCondLst>
                                    <p:cond delay="0"/>
                                  </p:stCondLst>
                                  <p:childTnLst>
                                    <p:set>
                                      <p:cBhvr>
                                        <p:cTn id="20" dur="1" fill="hold">
                                          <p:stCondLst>
                                            <p:cond delay="0"/>
                                          </p:stCondLst>
                                        </p:cTn>
                                        <p:tgtEl>
                                          <p:spTgt spid="723009"/>
                                        </p:tgtEl>
                                        <p:attrNameLst>
                                          <p:attrName>style.visibility</p:attrName>
                                        </p:attrNameLst>
                                      </p:cBhvr>
                                      <p:to>
                                        <p:strVal val="visible"/>
                                      </p:to>
                                    </p:set>
                                    <p:animEffect transition="in" filter="strips(downLeft)">
                                      <p:cBhvr>
                                        <p:cTn id="21" dur="500"/>
                                        <p:tgtEl>
                                          <p:spTgt spid="72300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723055"/>
                                        </p:tgtEl>
                                        <p:attrNameLst>
                                          <p:attrName>style.visibility</p:attrName>
                                        </p:attrNameLst>
                                      </p:cBhvr>
                                      <p:to>
                                        <p:strVal val="visible"/>
                                      </p:to>
                                    </p:set>
                                    <p:animEffect transition="in" filter="checkerboard(across)">
                                      <p:cBhvr>
                                        <p:cTn id="26" dur="500"/>
                                        <p:tgtEl>
                                          <p:spTgt spid="7230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305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3970" name="Group 2"/>
          <p:cNvGraphicFramePr>
            <a:graphicFrameLocks noGrp="1"/>
          </p:cNvGraphicFramePr>
          <p:nvPr/>
        </p:nvGraphicFramePr>
        <p:xfrm>
          <a:off x="304800" y="609600"/>
          <a:ext cx="4419600" cy="3657600"/>
        </p:xfrm>
        <a:graphic>
          <a:graphicData uri="http://schemas.openxmlformats.org/drawingml/2006/table">
            <a:tbl>
              <a:tblPr/>
              <a:tblGrid>
                <a:gridCol w="1905000">
                  <a:extLst>
                    <a:ext uri="{9D8B030D-6E8A-4147-A177-3AD203B41FA5}">
                      <a16:colId xmlns:a16="http://schemas.microsoft.com/office/drawing/2014/main" xmlns="" val="2419554977"/>
                    </a:ext>
                  </a:extLst>
                </a:gridCol>
                <a:gridCol w="2514600">
                  <a:extLst>
                    <a:ext uri="{9D8B030D-6E8A-4147-A177-3AD203B41FA5}">
                      <a16:colId xmlns:a16="http://schemas.microsoft.com/office/drawing/2014/main" xmlns="" val="3329481105"/>
                    </a:ext>
                  </a:extLst>
                </a:gridCol>
              </a:tblGrid>
              <a:tr h="468313">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单纯形法</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xmlns="" val="2336510883"/>
                  </a:ext>
                </a:extLst>
              </a:tr>
              <a:tr h="603250">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从一个初始基可行解出发</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xmlns="" val="1205233119"/>
                  </a:ext>
                </a:extLst>
              </a:tr>
              <a:tr h="1622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检验数可正可负</a:t>
                      </a:r>
                    </a:p>
                  </a:txBody>
                  <a:tcP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保持右端常数非负（可行性）</a:t>
                      </a:r>
                    </a:p>
                  </a:txBody>
                  <a:tcPr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411870489"/>
                  </a:ext>
                </a:extLst>
              </a:tr>
              <a:tr h="914400">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检验数均≤</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，即为最优解</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xmlns="" val="2935023975"/>
                  </a:ext>
                </a:extLst>
              </a:tr>
            </a:tbl>
          </a:graphicData>
        </a:graphic>
      </p:graphicFrame>
      <p:graphicFrame>
        <p:nvGraphicFramePr>
          <p:cNvPr id="723985" name="Group 17"/>
          <p:cNvGraphicFramePr>
            <a:graphicFrameLocks noGrp="1"/>
          </p:cNvGraphicFramePr>
          <p:nvPr/>
        </p:nvGraphicFramePr>
        <p:xfrm>
          <a:off x="4876800" y="609600"/>
          <a:ext cx="4038600" cy="3687763"/>
        </p:xfrm>
        <a:graphic>
          <a:graphicData uri="http://schemas.openxmlformats.org/drawingml/2006/table">
            <a:tbl>
              <a:tblPr/>
              <a:tblGrid>
                <a:gridCol w="1676400">
                  <a:extLst>
                    <a:ext uri="{9D8B030D-6E8A-4147-A177-3AD203B41FA5}">
                      <a16:colId xmlns:a16="http://schemas.microsoft.com/office/drawing/2014/main" xmlns="" val="2845866736"/>
                    </a:ext>
                  </a:extLst>
                </a:gridCol>
                <a:gridCol w="2362200">
                  <a:extLst>
                    <a:ext uri="{9D8B030D-6E8A-4147-A177-3AD203B41FA5}">
                      <a16:colId xmlns:a16="http://schemas.microsoft.com/office/drawing/2014/main" xmlns="" val="3181903031"/>
                    </a:ext>
                  </a:extLst>
                </a:gridCol>
              </a:tblGrid>
              <a:tr h="533400">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对偶单纯形法</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xmlns="" val="2321885367"/>
                  </a:ext>
                </a:extLst>
              </a:tr>
              <a:tr h="685800">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从一个初始正则解出发</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xmlns="" val="386835898"/>
                  </a:ext>
                </a:extLst>
              </a:tr>
              <a:tr h="15240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右端常数可正可负</a:t>
                      </a:r>
                    </a:p>
                  </a:txBody>
                  <a:tcP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保持检验数非正（正则性）</a:t>
                      </a:r>
                    </a:p>
                  </a:txBody>
                  <a:tcPr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40698337"/>
                  </a:ext>
                </a:extLst>
              </a:tr>
              <a:tr h="685800">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右端常数均≥</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，即为最优解</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xmlns="" val="797413092"/>
                  </a:ext>
                </a:extLst>
              </a:tr>
            </a:tbl>
          </a:graphicData>
        </a:graphic>
      </p:graphicFrame>
      <p:sp>
        <p:nvSpPr>
          <p:cNvPr id="724000" name="Line 32"/>
          <p:cNvSpPr>
            <a:spLocks noChangeShapeType="1"/>
          </p:cNvSpPr>
          <p:nvPr/>
        </p:nvSpPr>
        <p:spPr bwMode="auto">
          <a:xfrm>
            <a:off x="2133600" y="1752600"/>
            <a:ext cx="0" cy="15240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24001" name="Line 33"/>
          <p:cNvSpPr>
            <a:spLocks noChangeShapeType="1"/>
          </p:cNvSpPr>
          <p:nvPr/>
        </p:nvSpPr>
        <p:spPr bwMode="auto">
          <a:xfrm>
            <a:off x="6553200" y="1828800"/>
            <a:ext cx="0" cy="15240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24002" name="Text Box 34"/>
          <p:cNvSpPr txBox="1">
            <a:spLocks noChangeArrowheads="1"/>
          </p:cNvSpPr>
          <p:nvPr/>
        </p:nvSpPr>
        <p:spPr bwMode="auto">
          <a:xfrm>
            <a:off x="304800" y="4648200"/>
            <a:ext cx="8534400" cy="946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a:t>        </a:t>
            </a:r>
            <a:r>
              <a:rPr lang="zh-CN" altLang="en-US"/>
              <a:t>对偶单纯形法的实质就是对原问题的对偶问题运用单纯形法求解</a:t>
            </a:r>
            <a:r>
              <a:rPr lang="en-US" altLang="zh-CN"/>
              <a:t>.</a:t>
            </a:r>
          </a:p>
        </p:txBody>
      </p:sp>
    </p:spTree>
    <p:extLst>
      <p:ext uri="{BB962C8B-B14F-4D97-AF65-F5344CB8AC3E}">
        <p14:creationId xmlns:p14="http://schemas.microsoft.com/office/powerpoint/2010/main" xmlns="" val="37844216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 fill="hold" nodeType="clickEffect">
                                  <p:stCondLst>
                                    <p:cond delay="0"/>
                                  </p:stCondLst>
                                  <p:childTnLst>
                                    <p:set>
                                      <p:cBhvr>
                                        <p:cTn id="6" dur="1" fill="hold">
                                          <p:stCondLst>
                                            <p:cond delay="0"/>
                                          </p:stCondLst>
                                        </p:cTn>
                                        <p:tgtEl>
                                          <p:spTgt spid="724000"/>
                                        </p:tgtEl>
                                        <p:attrNameLst>
                                          <p:attrName>style.visibility</p:attrName>
                                        </p:attrNameLst>
                                      </p:cBhvr>
                                      <p:to>
                                        <p:strVal val="visible"/>
                                      </p:to>
                                    </p:set>
                                    <p:anim calcmode="lin" valueType="num">
                                      <p:cBhvr>
                                        <p:cTn id="7" dur="500" fill="hold"/>
                                        <p:tgtEl>
                                          <p:spTgt spid="724000"/>
                                        </p:tgtEl>
                                        <p:attrNameLst>
                                          <p:attrName>ppt_x</p:attrName>
                                        </p:attrNameLst>
                                      </p:cBhvr>
                                      <p:tavLst>
                                        <p:tav tm="0">
                                          <p:val>
                                            <p:strVal val="#ppt_x"/>
                                          </p:val>
                                        </p:tav>
                                        <p:tav tm="100000">
                                          <p:val>
                                            <p:strVal val="#ppt_x"/>
                                          </p:val>
                                        </p:tav>
                                      </p:tavLst>
                                    </p:anim>
                                    <p:anim calcmode="lin" valueType="num">
                                      <p:cBhvr>
                                        <p:cTn id="8" dur="500" fill="hold"/>
                                        <p:tgtEl>
                                          <p:spTgt spid="724000"/>
                                        </p:tgtEl>
                                        <p:attrNameLst>
                                          <p:attrName>ppt_y</p:attrName>
                                        </p:attrNameLst>
                                      </p:cBhvr>
                                      <p:tavLst>
                                        <p:tav tm="0">
                                          <p:val>
                                            <p:strVal val="#ppt_y-#ppt_h/2"/>
                                          </p:val>
                                        </p:tav>
                                        <p:tav tm="100000">
                                          <p:val>
                                            <p:strVal val="#ppt_y"/>
                                          </p:val>
                                        </p:tav>
                                      </p:tavLst>
                                    </p:anim>
                                    <p:anim calcmode="lin" valueType="num">
                                      <p:cBhvr>
                                        <p:cTn id="9" dur="500" fill="hold"/>
                                        <p:tgtEl>
                                          <p:spTgt spid="724000"/>
                                        </p:tgtEl>
                                        <p:attrNameLst>
                                          <p:attrName>ppt_w</p:attrName>
                                        </p:attrNameLst>
                                      </p:cBhvr>
                                      <p:tavLst>
                                        <p:tav tm="0">
                                          <p:val>
                                            <p:strVal val="#ppt_w"/>
                                          </p:val>
                                        </p:tav>
                                        <p:tav tm="100000">
                                          <p:val>
                                            <p:strVal val="#ppt_w"/>
                                          </p:val>
                                        </p:tav>
                                      </p:tavLst>
                                    </p:anim>
                                    <p:anim calcmode="lin" valueType="num">
                                      <p:cBhvr>
                                        <p:cTn id="10" dur="500" fill="hold"/>
                                        <p:tgtEl>
                                          <p:spTgt spid="724000"/>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723985"/>
                                        </p:tgtEl>
                                        <p:attrNameLst>
                                          <p:attrName>style.visibility</p:attrName>
                                        </p:attrNameLst>
                                      </p:cBhvr>
                                      <p:to>
                                        <p:strVal val="visible"/>
                                      </p:to>
                                    </p:set>
                                    <p:animEffect transition="in" filter="wipe(up)">
                                      <p:cBhvr>
                                        <p:cTn id="15" dur="500"/>
                                        <p:tgtEl>
                                          <p:spTgt spid="72398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 fill="hold" nodeType="clickEffect">
                                  <p:stCondLst>
                                    <p:cond delay="0"/>
                                  </p:stCondLst>
                                  <p:childTnLst>
                                    <p:set>
                                      <p:cBhvr>
                                        <p:cTn id="19" dur="1" fill="hold">
                                          <p:stCondLst>
                                            <p:cond delay="0"/>
                                          </p:stCondLst>
                                        </p:cTn>
                                        <p:tgtEl>
                                          <p:spTgt spid="724001"/>
                                        </p:tgtEl>
                                        <p:attrNameLst>
                                          <p:attrName>style.visibility</p:attrName>
                                        </p:attrNameLst>
                                      </p:cBhvr>
                                      <p:to>
                                        <p:strVal val="visible"/>
                                      </p:to>
                                    </p:set>
                                    <p:anim calcmode="lin" valueType="num">
                                      <p:cBhvr>
                                        <p:cTn id="20" dur="500" fill="hold"/>
                                        <p:tgtEl>
                                          <p:spTgt spid="724001"/>
                                        </p:tgtEl>
                                        <p:attrNameLst>
                                          <p:attrName>ppt_x</p:attrName>
                                        </p:attrNameLst>
                                      </p:cBhvr>
                                      <p:tavLst>
                                        <p:tav tm="0">
                                          <p:val>
                                            <p:strVal val="#ppt_x"/>
                                          </p:val>
                                        </p:tav>
                                        <p:tav tm="100000">
                                          <p:val>
                                            <p:strVal val="#ppt_x"/>
                                          </p:val>
                                        </p:tav>
                                      </p:tavLst>
                                    </p:anim>
                                    <p:anim calcmode="lin" valueType="num">
                                      <p:cBhvr>
                                        <p:cTn id="21" dur="500" fill="hold"/>
                                        <p:tgtEl>
                                          <p:spTgt spid="724001"/>
                                        </p:tgtEl>
                                        <p:attrNameLst>
                                          <p:attrName>ppt_y</p:attrName>
                                        </p:attrNameLst>
                                      </p:cBhvr>
                                      <p:tavLst>
                                        <p:tav tm="0">
                                          <p:val>
                                            <p:strVal val="#ppt_y-#ppt_h/2"/>
                                          </p:val>
                                        </p:tav>
                                        <p:tav tm="100000">
                                          <p:val>
                                            <p:strVal val="#ppt_y"/>
                                          </p:val>
                                        </p:tav>
                                      </p:tavLst>
                                    </p:anim>
                                    <p:anim calcmode="lin" valueType="num">
                                      <p:cBhvr>
                                        <p:cTn id="22" dur="500" fill="hold"/>
                                        <p:tgtEl>
                                          <p:spTgt spid="724001"/>
                                        </p:tgtEl>
                                        <p:attrNameLst>
                                          <p:attrName>ppt_w</p:attrName>
                                        </p:attrNameLst>
                                      </p:cBhvr>
                                      <p:tavLst>
                                        <p:tav tm="0">
                                          <p:val>
                                            <p:strVal val="#ppt_w"/>
                                          </p:val>
                                        </p:tav>
                                        <p:tav tm="100000">
                                          <p:val>
                                            <p:strVal val="#ppt_w"/>
                                          </p:val>
                                        </p:tav>
                                      </p:tavLst>
                                    </p:anim>
                                    <p:anim calcmode="lin" valueType="num">
                                      <p:cBhvr>
                                        <p:cTn id="23" dur="500" fill="hold"/>
                                        <p:tgtEl>
                                          <p:spTgt spid="724001"/>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7240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002"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Text Box 2"/>
          <p:cNvSpPr txBox="1">
            <a:spLocks noChangeArrowheads="1"/>
          </p:cNvSpPr>
          <p:nvPr/>
        </p:nvSpPr>
        <p:spPr bwMode="auto">
          <a:xfrm>
            <a:off x="533400" y="533400"/>
            <a:ext cx="86106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t>例     用对偶单纯形法求解</a:t>
            </a:r>
          </a:p>
        </p:txBody>
      </p:sp>
      <p:graphicFrame>
        <p:nvGraphicFramePr>
          <p:cNvPr id="724995" name="Object 3"/>
          <p:cNvGraphicFramePr>
            <a:graphicFrameLocks noChangeAspect="1"/>
          </p:cNvGraphicFramePr>
          <p:nvPr/>
        </p:nvGraphicFramePr>
        <p:xfrm>
          <a:off x="533400" y="1166813"/>
          <a:ext cx="4191000" cy="1828800"/>
        </p:xfrm>
        <a:graphic>
          <a:graphicData uri="http://schemas.openxmlformats.org/presentationml/2006/ole">
            <p:oleObj spid="_x0000_s55328" name="Equation" r:id="rId3" imgW="1397000" imgH="609600" progId="Equation.3">
              <p:embed/>
            </p:oleObj>
          </a:graphicData>
        </a:graphic>
      </p:graphicFrame>
      <p:sp>
        <p:nvSpPr>
          <p:cNvPr id="724996" name="AutoShape 4"/>
          <p:cNvSpPr>
            <a:spLocks noChangeArrowheads="1"/>
          </p:cNvSpPr>
          <p:nvPr/>
        </p:nvSpPr>
        <p:spPr bwMode="auto">
          <a:xfrm>
            <a:off x="5715000" y="457200"/>
            <a:ext cx="2438400" cy="685800"/>
          </a:xfrm>
          <a:prstGeom prst="wedgeRoundRectCallout">
            <a:avLst>
              <a:gd name="adj1" fmla="val -104361"/>
              <a:gd name="adj2" fmla="val 129861"/>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a:solidFill>
                  <a:srgbClr val="CC0000"/>
                </a:solidFill>
              </a:rPr>
              <a:t>单纯形法</a:t>
            </a:r>
          </a:p>
        </p:txBody>
      </p:sp>
      <p:sp>
        <p:nvSpPr>
          <p:cNvPr id="724997" name="Text Box 5"/>
          <p:cNvSpPr txBox="1">
            <a:spLocks noChangeArrowheads="1"/>
          </p:cNvSpPr>
          <p:nvPr/>
        </p:nvSpPr>
        <p:spPr bwMode="auto">
          <a:xfrm>
            <a:off x="5029200" y="1600200"/>
            <a:ext cx="1676400" cy="51911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zh-CN" altLang="en-US">
                <a:solidFill>
                  <a:srgbClr val="CC0000"/>
                </a:solidFill>
              </a:rPr>
              <a:t>大</a:t>
            </a:r>
            <a:r>
              <a:rPr lang="en-US" altLang="zh-CN">
                <a:solidFill>
                  <a:srgbClr val="CC0000"/>
                </a:solidFill>
              </a:rPr>
              <a:t>M </a:t>
            </a:r>
            <a:r>
              <a:rPr lang="zh-CN" altLang="en-US">
                <a:solidFill>
                  <a:srgbClr val="CC0000"/>
                </a:solidFill>
              </a:rPr>
              <a:t>法</a:t>
            </a:r>
          </a:p>
        </p:txBody>
      </p:sp>
      <p:graphicFrame>
        <p:nvGraphicFramePr>
          <p:cNvPr id="724998" name="Object 6"/>
          <p:cNvGraphicFramePr>
            <a:graphicFrameLocks noChangeAspect="1"/>
          </p:cNvGraphicFramePr>
          <p:nvPr/>
        </p:nvGraphicFramePr>
        <p:xfrm>
          <a:off x="609600" y="4591050"/>
          <a:ext cx="4953000" cy="1828800"/>
        </p:xfrm>
        <a:graphic>
          <a:graphicData uri="http://schemas.openxmlformats.org/presentationml/2006/ole">
            <p:oleObj spid="_x0000_s55329" name="Equation" r:id="rId4" imgW="1651000" imgH="609600" progId="Equation.3">
              <p:embed/>
            </p:oleObj>
          </a:graphicData>
        </a:graphic>
      </p:graphicFrame>
      <p:sp>
        <p:nvSpPr>
          <p:cNvPr id="724999" name="AutoShape 7"/>
          <p:cNvSpPr>
            <a:spLocks noChangeArrowheads="1"/>
          </p:cNvSpPr>
          <p:nvPr/>
        </p:nvSpPr>
        <p:spPr bwMode="auto">
          <a:xfrm>
            <a:off x="6019800" y="1676400"/>
            <a:ext cx="2286000" cy="914400"/>
          </a:xfrm>
          <a:prstGeom prst="wedgeRoundRectCallout">
            <a:avLst>
              <a:gd name="adj1" fmla="val -137778"/>
              <a:gd name="adj2" fmla="val -6944"/>
              <a:gd name="adj3" fmla="val 16667"/>
            </a:avLst>
          </a:prstGeom>
          <a:solidFill>
            <a:srgbClr val="AFF0F7"/>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a:solidFill>
                  <a:srgbClr val="CC0000"/>
                </a:solidFill>
              </a:rPr>
              <a:t>剩余变量、人工变量</a:t>
            </a:r>
          </a:p>
        </p:txBody>
      </p:sp>
      <p:sp>
        <p:nvSpPr>
          <p:cNvPr id="725000" name="Text Box 8"/>
          <p:cNvSpPr txBox="1">
            <a:spLocks noChangeArrowheads="1"/>
          </p:cNvSpPr>
          <p:nvPr/>
        </p:nvSpPr>
        <p:spPr bwMode="auto">
          <a:xfrm>
            <a:off x="152400" y="3581400"/>
            <a:ext cx="85344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a:t>         </a:t>
            </a:r>
            <a:r>
              <a:rPr lang="zh-CN" altLang="en-US"/>
              <a:t>用（</a:t>
            </a:r>
            <a:r>
              <a:rPr lang="en-US" altLang="zh-CN"/>
              <a:t>-1</a:t>
            </a:r>
            <a:r>
              <a:rPr lang="zh-CN" altLang="en-US"/>
              <a:t>）乘不等式两边，再引入松弛变量。</a:t>
            </a:r>
          </a:p>
        </p:txBody>
      </p:sp>
    </p:spTree>
    <p:extLst>
      <p:ext uri="{BB962C8B-B14F-4D97-AF65-F5344CB8AC3E}">
        <p14:creationId xmlns:p14="http://schemas.microsoft.com/office/powerpoint/2010/main" xmlns="" val="565682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24996"/>
                                        </p:tgtEl>
                                        <p:attrNameLst>
                                          <p:attrName>style.visibility</p:attrName>
                                        </p:attrNameLst>
                                      </p:cBhvr>
                                      <p:to>
                                        <p:strVal val="visible"/>
                                      </p:to>
                                    </p:set>
                                  </p:childTnLst>
                                  <p:subTnLst>
                                    <p:set>
                                      <p:cBhvr override="childStyle">
                                        <p:cTn dur="1" fill="hold" display="0" masterRel="nextClick" afterEffect="1"/>
                                        <p:tgtEl>
                                          <p:spTgt spid="724996"/>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24999"/>
                                        </p:tgtEl>
                                        <p:attrNameLst>
                                          <p:attrName>style.visibility</p:attrName>
                                        </p:attrNameLst>
                                      </p:cBhvr>
                                      <p:to>
                                        <p:strVal val="visible"/>
                                      </p:to>
                                    </p:set>
                                  </p:childTnLst>
                                  <p:subTnLst>
                                    <p:set>
                                      <p:cBhvr override="childStyle">
                                        <p:cTn dur="1" fill="hold" display="0" masterRel="nextClick" afterEffect="1"/>
                                        <p:tgtEl>
                                          <p:spTgt spid="724999"/>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24997"/>
                                        </p:tgtEl>
                                        <p:attrNameLst>
                                          <p:attrName>style.visibility</p:attrName>
                                        </p:attrNameLst>
                                      </p:cBhvr>
                                      <p:to>
                                        <p:strVal val="visible"/>
                                      </p:to>
                                    </p:set>
                                  </p:childTnLst>
                                  <p:subTnLst>
                                    <p:set>
                                      <p:cBhvr override="childStyle">
                                        <p:cTn dur="1" fill="hold" display="0" masterRel="nextClick" afterEffect="1"/>
                                        <p:tgtEl>
                                          <p:spTgt spid="724997"/>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2500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724998"/>
                                        </p:tgtEl>
                                        <p:attrNameLst>
                                          <p:attrName>style.visibility</p:attrName>
                                        </p:attrNameLst>
                                      </p:cBhvr>
                                      <p:to>
                                        <p:strVal val="visible"/>
                                      </p:to>
                                    </p:set>
                                    <p:animEffect transition="in" filter="blinds(horizontal)">
                                      <p:cBhvr>
                                        <p:cTn id="23" dur="500"/>
                                        <p:tgtEl>
                                          <p:spTgt spid="724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996" grpId="0" animBg="1" autoUpdateAnimBg="0"/>
      <p:bldP spid="724997" grpId="0" animBg="1" autoUpdateAnimBg="0"/>
      <p:bldP spid="724999" grpId="0" animBg="1" autoUpdateAnimBg="0"/>
      <p:bldP spid="725000"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Oval 2"/>
          <p:cNvSpPr>
            <a:spLocks noChangeArrowheads="1"/>
          </p:cNvSpPr>
          <p:nvPr/>
        </p:nvSpPr>
        <p:spPr bwMode="auto">
          <a:xfrm>
            <a:off x="3657600" y="5562600"/>
            <a:ext cx="381000" cy="457200"/>
          </a:xfrm>
          <a:prstGeom prst="ellipse">
            <a:avLst/>
          </a:prstGeom>
          <a:solidFill>
            <a:srgbClr val="99FFCC"/>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26019" name="Oval 3"/>
          <p:cNvSpPr>
            <a:spLocks noChangeArrowheads="1"/>
          </p:cNvSpPr>
          <p:nvPr/>
        </p:nvSpPr>
        <p:spPr bwMode="auto">
          <a:xfrm>
            <a:off x="2209800" y="1524000"/>
            <a:ext cx="533400" cy="457200"/>
          </a:xfrm>
          <a:prstGeom prst="ellipse">
            <a:avLst/>
          </a:prstGeom>
          <a:solidFill>
            <a:srgbClr val="99FFCC"/>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26020" name="Rectangle 4"/>
          <p:cNvSpPr>
            <a:spLocks noChangeArrowheads="1"/>
          </p:cNvSpPr>
          <p:nvPr/>
        </p:nvSpPr>
        <p:spPr bwMode="auto">
          <a:xfrm>
            <a:off x="6096000" y="1447800"/>
            <a:ext cx="609600" cy="1066800"/>
          </a:xfrm>
          <a:prstGeom prst="rect">
            <a:avLst/>
          </a:prstGeom>
          <a:solidFill>
            <a:srgbClr val="99FFCC"/>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aphicFrame>
        <p:nvGraphicFramePr>
          <p:cNvPr id="726021" name="Group 5"/>
          <p:cNvGraphicFramePr>
            <a:graphicFrameLocks noGrp="1"/>
          </p:cNvGraphicFramePr>
          <p:nvPr/>
        </p:nvGraphicFramePr>
        <p:xfrm>
          <a:off x="685800" y="304800"/>
          <a:ext cx="6019800" cy="2628900"/>
        </p:xfrm>
        <a:graphic>
          <a:graphicData uri="http://schemas.openxmlformats.org/drawingml/2006/table">
            <a:tbl>
              <a:tblPr/>
              <a:tblGrid>
                <a:gridCol w="609600">
                  <a:extLst>
                    <a:ext uri="{9D8B030D-6E8A-4147-A177-3AD203B41FA5}">
                      <a16:colId xmlns:a16="http://schemas.microsoft.com/office/drawing/2014/main" xmlns="" val="60749294"/>
                    </a:ext>
                  </a:extLst>
                </a:gridCol>
                <a:gridCol w="762000">
                  <a:extLst>
                    <a:ext uri="{9D8B030D-6E8A-4147-A177-3AD203B41FA5}">
                      <a16:colId xmlns:a16="http://schemas.microsoft.com/office/drawing/2014/main" xmlns="" val="3512817254"/>
                    </a:ext>
                  </a:extLst>
                </a:gridCol>
                <a:gridCol w="4114800">
                  <a:extLst>
                    <a:ext uri="{9D8B030D-6E8A-4147-A177-3AD203B41FA5}">
                      <a16:colId xmlns:a16="http://schemas.microsoft.com/office/drawing/2014/main" xmlns="" val="610427592"/>
                    </a:ext>
                  </a:extLst>
                </a:gridCol>
                <a:gridCol w="533400">
                  <a:extLst>
                    <a:ext uri="{9D8B030D-6E8A-4147-A177-3AD203B41FA5}">
                      <a16:colId xmlns:a16="http://schemas.microsoft.com/office/drawing/2014/main" xmlns="" val="1793581186"/>
                    </a:ext>
                  </a:extLst>
                </a:gridCol>
              </a:tblGrid>
              <a:tr h="531813">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j</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-4     0    -3     0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587552460"/>
                  </a:ext>
                </a:extLst>
              </a:tr>
              <a:tr h="5334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2  </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3</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4</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  </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6</a:t>
                      </a:r>
                      <a:endPar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15547045"/>
                  </a:ext>
                </a:extLst>
              </a:tr>
              <a:tr h="9906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-1     -2     1   - 1    1    0</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2      1    -4    -1    0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221423099"/>
                  </a:ext>
                </a:extLst>
              </a:tr>
              <a:tr h="5334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-1   -4     0     -3     0     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817718092"/>
                  </a:ext>
                </a:extLst>
              </a:tr>
            </a:tbl>
          </a:graphicData>
        </a:graphic>
      </p:graphicFrame>
      <p:sp>
        <p:nvSpPr>
          <p:cNvPr id="726047" name="AutoShape 31"/>
          <p:cNvSpPr>
            <a:spLocks noChangeArrowheads="1"/>
          </p:cNvSpPr>
          <p:nvPr/>
        </p:nvSpPr>
        <p:spPr bwMode="auto">
          <a:xfrm>
            <a:off x="0" y="0"/>
            <a:ext cx="2667000" cy="1143000"/>
          </a:xfrm>
          <a:prstGeom prst="wedgeRoundRectCallout">
            <a:avLst>
              <a:gd name="adj1" fmla="val 60"/>
              <a:gd name="adj2" fmla="val 58889"/>
              <a:gd name="adj3" fmla="val 16667"/>
            </a:avLst>
          </a:prstGeom>
          <a:solidFill>
            <a:srgbClr val="AFF0F7"/>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sz="2400">
                <a:solidFill>
                  <a:srgbClr val="CC0000"/>
                </a:solidFill>
              </a:rPr>
              <a:t>先选出基变量</a:t>
            </a:r>
          </a:p>
          <a:p>
            <a:pPr algn="ctr"/>
            <a:r>
              <a:rPr lang="zh-CN" altLang="en-US" sz="2400">
                <a:solidFill>
                  <a:srgbClr val="CC0000"/>
                </a:solidFill>
              </a:rPr>
              <a:t>后选进基变量</a:t>
            </a:r>
          </a:p>
        </p:txBody>
      </p:sp>
      <p:sp>
        <p:nvSpPr>
          <p:cNvPr id="726048" name="Text Box 32"/>
          <p:cNvSpPr txBox="1">
            <a:spLocks noChangeArrowheads="1"/>
          </p:cNvSpPr>
          <p:nvPr/>
        </p:nvSpPr>
        <p:spPr bwMode="auto">
          <a:xfrm>
            <a:off x="7010400" y="381000"/>
            <a:ext cx="1752600" cy="2227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eaLnBrk="0" hangingPunct="0">
              <a:spcBef>
                <a:spcPct val="50000"/>
              </a:spcBef>
            </a:pPr>
            <a:r>
              <a:rPr lang="zh-CN" altLang="en-US"/>
              <a:t>原问题，符合原始最优性条件，但不可行</a:t>
            </a:r>
          </a:p>
        </p:txBody>
      </p:sp>
      <p:sp>
        <p:nvSpPr>
          <p:cNvPr id="726049" name="Line 33"/>
          <p:cNvSpPr>
            <a:spLocks noChangeShapeType="1"/>
          </p:cNvSpPr>
          <p:nvPr/>
        </p:nvSpPr>
        <p:spPr bwMode="auto">
          <a:xfrm>
            <a:off x="6629400" y="1905000"/>
            <a:ext cx="685800" cy="0"/>
          </a:xfrm>
          <a:prstGeom prst="line">
            <a:avLst/>
          </a:prstGeom>
          <a:noFill/>
          <a:ln w="57150">
            <a:solidFill>
              <a:srgbClr val="99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grpSp>
        <p:nvGrpSpPr>
          <p:cNvPr id="726050" name="Group 34"/>
          <p:cNvGrpSpPr>
            <a:grpSpLocks/>
          </p:cNvGrpSpPr>
          <p:nvPr/>
        </p:nvGrpSpPr>
        <p:grpSpPr bwMode="auto">
          <a:xfrm>
            <a:off x="2286000" y="2895600"/>
            <a:ext cx="2362200" cy="0"/>
            <a:chOff x="1824" y="2016"/>
            <a:chExt cx="1488" cy="0"/>
          </a:xfrm>
        </p:grpSpPr>
        <p:sp>
          <p:nvSpPr>
            <p:cNvPr id="726051" name="Line 35"/>
            <p:cNvSpPr>
              <a:spLocks noChangeShapeType="1"/>
            </p:cNvSpPr>
            <p:nvPr/>
          </p:nvSpPr>
          <p:spPr bwMode="auto">
            <a:xfrm>
              <a:off x="1824" y="2016"/>
              <a:ext cx="624" cy="0"/>
            </a:xfrm>
            <a:prstGeom prst="line">
              <a:avLst/>
            </a:prstGeom>
            <a:noFill/>
            <a:ln w="38100">
              <a:solidFill>
                <a:srgbClr val="CC0000"/>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a:p>
          </p:txBody>
        </p:sp>
        <p:sp>
          <p:nvSpPr>
            <p:cNvPr id="726052" name="Line 36"/>
            <p:cNvSpPr>
              <a:spLocks noChangeShapeType="1"/>
            </p:cNvSpPr>
            <p:nvPr/>
          </p:nvSpPr>
          <p:spPr bwMode="auto">
            <a:xfrm>
              <a:off x="3024" y="2016"/>
              <a:ext cx="288" cy="0"/>
            </a:xfrm>
            <a:prstGeom prst="line">
              <a:avLst/>
            </a:prstGeom>
            <a:noFill/>
            <a:ln w="38100">
              <a:solidFill>
                <a:srgbClr val="CC0000"/>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en-US"/>
            </a:p>
          </p:txBody>
        </p:sp>
      </p:grpSp>
      <p:grpSp>
        <p:nvGrpSpPr>
          <p:cNvPr id="726053" name="Group 37"/>
          <p:cNvGrpSpPr>
            <a:grpSpLocks/>
          </p:cNvGrpSpPr>
          <p:nvPr/>
        </p:nvGrpSpPr>
        <p:grpSpPr bwMode="auto">
          <a:xfrm>
            <a:off x="990600" y="2971800"/>
            <a:ext cx="3657600" cy="977900"/>
            <a:chOff x="1584" y="3120"/>
            <a:chExt cx="2304" cy="616"/>
          </a:xfrm>
        </p:grpSpPr>
        <p:sp>
          <p:nvSpPr>
            <p:cNvPr id="726054" name="Rectangle 38"/>
            <p:cNvSpPr>
              <a:spLocks noChangeArrowheads="1"/>
            </p:cNvSpPr>
            <p:nvPr/>
          </p:nvSpPr>
          <p:spPr bwMode="auto">
            <a:xfrm>
              <a:off x="2387" y="3203"/>
              <a:ext cx="288" cy="480"/>
            </a:xfrm>
            <a:prstGeom prst="rect">
              <a:avLst/>
            </a:prstGeom>
            <a:solidFill>
              <a:srgbClr val="AFF0F7"/>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aphicFrame>
          <p:nvGraphicFramePr>
            <p:cNvPr id="726055" name="Object 39"/>
            <p:cNvGraphicFramePr>
              <a:graphicFrameLocks noChangeAspect="1"/>
            </p:cNvGraphicFramePr>
            <p:nvPr/>
          </p:nvGraphicFramePr>
          <p:xfrm>
            <a:off x="1584" y="3120"/>
            <a:ext cx="2304" cy="616"/>
          </p:xfrm>
          <a:graphic>
            <a:graphicData uri="http://schemas.openxmlformats.org/presentationml/2006/ole">
              <p:oleObj spid="_x0000_s56337" name="Equation" r:id="rId3" imgW="1473200" imgH="393700" progId="Equation.3">
                <p:embed/>
              </p:oleObj>
            </a:graphicData>
          </a:graphic>
        </p:graphicFrame>
      </p:grpSp>
      <p:sp>
        <p:nvSpPr>
          <p:cNvPr id="726056" name="Line 40"/>
          <p:cNvSpPr>
            <a:spLocks noChangeShapeType="1"/>
          </p:cNvSpPr>
          <p:nvPr/>
        </p:nvSpPr>
        <p:spPr bwMode="auto">
          <a:xfrm flipH="1">
            <a:off x="2743200" y="1066800"/>
            <a:ext cx="0" cy="609600"/>
          </a:xfrm>
          <a:prstGeom prst="line">
            <a:avLst/>
          </a:prstGeom>
          <a:noFill/>
          <a:ln w="57150">
            <a:solidFill>
              <a:srgbClr val="99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graphicFrame>
        <p:nvGraphicFramePr>
          <p:cNvPr id="726057" name="Group 41"/>
          <p:cNvGraphicFramePr>
            <a:graphicFrameLocks noGrp="1"/>
          </p:cNvGraphicFramePr>
          <p:nvPr/>
        </p:nvGraphicFramePr>
        <p:xfrm>
          <a:off x="685800" y="3886200"/>
          <a:ext cx="6253163" cy="2743200"/>
        </p:xfrm>
        <a:graphic>
          <a:graphicData uri="http://schemas.openxmlformats.org/drawingml/2006/table">
            <a:tbl>
              <a:tblPr/>
              <a:tblGrid>
                <a:gridCol w="604838">
                  <a:extLst>
                    <a:ext uri="{9D8B030D-6E8A-4147-A177-3AD203B41FA5}">
                      <a16:colId xmlns:a16="http://schemas.microsoft.com/office/drawing/2014/main" xmlns="" val="2991430927"/>
                    </a:ext>
                  </a:extLst>
                </a:gridCol>
                <a:gridCol w="757237">
                  <a:extLst>
                    <a:ext uri="{9D8B030D-6E8A-4147-A177-3AD203B41FA5}">
                      <a16:colId xmlns:a16="http://schemas.microsoft.com/office/drawing/2014/main" xmlns="" val="2755684081"/>
                    </a:ext>
                  </a:extLst>
                </a:gridCol>
                <a:gridCol w="4083050">
                  <a:extLst>
                    <a:ext uri="{9D8B030D-6E8A-4147-A177-3AD203B41FA5}">
                      <a16:colId xmlns:a16="http://schemas.microsoft.com/office/drawing/2014/main" xmlns="" val="3973333907"/>
                    </a:ext>
                  </a:extLst>
                </a:gridCol>
                <a:gridCol w="808038">
                  <a:extLst>
                    <a:ext uri="{9D8B030D-6E8A-4147-A177-3AD203B41FA5}">
                      <a16:colId xmlns:a16="http://schemas.microsoft.com/office/drawing/2014/main" xmlns="" val="930939265"/>
                    </a:ext>
                  </a:extLst>
                </a:gridCol>
              </a:tblGrid>
              <a:tr h="609600">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j</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-4     0    -3     0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4255899715"/>
                  </a:ext>
                </a:extLst>
              </a:tr>
              <a:tr h="5334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2  </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3</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4</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  </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6</a:t>
                      </a:r>
                      <a:endPar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400538550"/>
                  </a:ext>
                </a:extLst>
              </a:tr>
              <a:tr h="1066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1      2    - 1    1    -1    0</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0     -3    -2   -3     2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585317143"/>
                  </a:ext>
                </a:extLst>
              </a:tr>
              <a:tr h="5334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0     -2     -1   -2    -1    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407847916"/>
                  </a:ext>
                </a:extLst>
              </a:tr>
            </a:tbl>
          </a:graphicData>
        </a:graphic>
      </p:graphicFrame>
    </p:spTree>
    <p:extLst>
      <p:ext uri="{BB962C8B-B14F-4D97-AF65-F5344CB8AC3E}">
        <p14:creationId xmlns:p14="http://schemas.microsoft.com/office/powerpoint/2010/main" xmlns="" val="31749825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260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26047"/>
                                        </p:tgtEl>
                                        <p:attrNameLst>
                                          <p:attrName>style.visibility</p:attrName>
                                        </p:attrNameLst>
                                      </p:cBhvr>
                                      <p:to>
                                        <p:strVal val="visible"/>
                                      </p:to>
                                    </p:set>
                                  </p:childTnLst>
                                  <p:subTnLst>
                                    <p:set>
                                      <p:cBhvr override="childStyle">
                                        <p:cTn dur="1" fill="hold" display="0" masterRel="nextClick" afterEffect="1"/>
                                        <p:tgtEl>
                                          <p:spTgt spid="72604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26020"/>
                                        </p:tgtEl>
                                        <p:attrNameLst>
                                          <p:attrName>style.visibility</p:attrName>
                                        </p:attrNameLst>
                                      </p:cBhvr>
                                      <p:to>
                                        <p:strVal val="visible"/>
                                      </p:to>
                                    </p:set>
                                  </p:childTnLst>
                                  <p:subTnLst>
                                    <p:set>
                                      <p:cBhvr override="childStyle">
                                        <p:cTn dur="1" fill="hold" display="0" masterRel="nextClick" afterEffect="1"/>
                                        <p:tgtEl>
                                          <p:spTgt spid="726020"/>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26" fill="hold" nodeType="clickEffect">
                                  <p:stCondLst>
                                    <p:cond delay="0"/>
                                  </p:stCondLst>
                                  <p:childTnLst>
                                    <p:set>
                                      <p:cBhvr>
                                        <p:cTn id="18" dur="1" fill="hold">
                                          <p:stCondLst>
                                            <p:cond delay="0"/>
                                          </p:stCondLst>
                                        </p:cTn>
                                        <p:tgtEl>
                                          <p:spTgt spid="726049"/>
                                        </p:tgtEl>
                                        <p:attrNameLst>
                                          <p:attrName>style.visibility</p:attrName>
                                        </p:attrNameLst>
                                      </p:cBhvr>
                                      <p:to>
                                        <p:strVal val="visible"/>
                                      </p:to>
                                    </p:set>
                                    <p:animEffect transition="in" filter="barn(inHorizontal)">
                                      <p:cBhvr>
                                        <p:cTn id="19" dur="500"/>
                                        <p:tgtEl>
                                          <p:spTgt spid="72604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726050"/>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499"/>
                                          </p:stCondLst>
                                        </p:cTn>
                                        <p:tgtEl>
                                          <p:spTgt spid="726053"/>
                                        </p:tgtEl>
                                        <p:attrNameLst>
                                          <p:attrName>style.visibility</p:attrName>
                                        </p:attrNameLst>
                                      </p:cBhvr>
                                      <p:to>
                                        <p:strVal val="visible"/>
                                      </p:to>
                                    </p:set>
                                  </p:childTnLst>
                                  <p:subTnLst>
                                    <p:set>
                                      <p:cBhvr override="childStyle">
                                        <p:cTn dur="1" fill="hold" display="0" masterRel="nextClick" afterEffect="1"/>
                                        <p:tgtEl>
                                          <p:spTgt spid="726053"/>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499"/>
                                          </p:stCondLst>
                                        </p:cTn>
                                        <p:tgtEl>
                                          <p:spTgt spid="726056"/>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499"/>
                                          </p:stCondLst>
                                        </p:cTn>
                                        <p:tgtEl>
                                          <p:spTgt spid="726019"/>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726057"/>
                                        </p:tgtEl>
                                        <p:attrNameLst>
                                          <p:attrName>style.visibility</p:attrName>
                                        </p:attrNameLst>
                                      </p:cBhvr>
                                      <p:to>
                                        <p:strVal val="visible"/>
                                      </p:to>
                                    </p:set>
                                    <p:animEffect transition="in" filter="blinds(horizontal)">
                                      <p:cBhvr>
                                        <p:cTn id="40" dur="500"/>
                                        <p:tgtEl>
                                          <p:spTgt spid="72605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499"/>
                                          </p:stCondLst>
                                        </p:cTn>
                                        <p:tgtEl>
                                          <p:spTgt spid="7260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047" grpId="0" animBg="1" autoUpdateAnimBg="0"/>
      <p:bldP spid="726048"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2" name="Oval 2"/>
          <p:cNvSpPr>
            <a:spLocks noChangeArrowheads="1"/>
          </p:cNvSpPr>
          <p:nvPr/>
        </p:nvSpPr>
        <p:spPr bwMode="auto">
          <a:xfrm>
            <a:off x="3505200" y="2133600"/>
            <a:ext cx="533400" cy="381000"/>
          </a:xfrm>
          <a:prstGeom prst="ellipse">
            <a:avLst/>
          </a:prstGeom>
          <a:solidFill>
            <a:srgbClr val="99FFCC"/>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aphicFrame>
        <p:nvGraphicFramePr>
          <p:cNvPr id="727043" name="Group 3"/>
          <p:cNvGraphicFramePr>
            <a:graphicFrameLocks noGrp="1"/>
          </p:cNvGraphicFramePr>
          <p:nvPr/>
        </p:nvGraphicFramePr>
        <p:xfrm>
          <a:off x="533400" y="381000"/>
          <a:ext cx="6172200" cy="2706624"/>
        </p:xfrm>
        <a:graphic>
          <a:graphicData uri="http://schemas.openxmlformats.org/drawingml/2006/table">
            <a:tbl>
              <a:tblPr/>
              <a:tblGrid>
                <a:gridCol w="609600">
                  <a:extLst>
                    <a:ext uri="{9D8B030D-6E8A-4147-A177-3AD203B41FA5}">
                      <a16:colId xmlns:a16="http://schemas.microsoft.com/office/drawing/2014/main" xmlns="" val="2794628107"/>
                    </a:ext>
                  </a:extLst>
                </a:gridCol>
                <a:gridCol w="762000">
                  <a:extLst>
                    <a:ext uri="{9D8B030D-6E8A-4147-A177-3AD203B41FA5}">
                      <a16:colId xmlns:a16="http://schemas.microsoft.com/office/drawing/2014/main" xmlns="" val="603231723"/>
                    </a:ext>
                  </a:extLst>
                </a:gridCol>
                <a:gridCol w="4114800">
                  <a:extLst>
                    <a:ext uri="{9D8B030D-6E8A-4147-A177-3AD203B41FA5}">
                      <a16:colId xmlns:a16="http://schemas.microsoft.com/office/drawing/2014/main" xmlns="" val="864034996"/>
                    </a:ext>
                  </a:extLst>
                </a:gridCol>
                <a:gridCol w="685800">
                  <a:extLst>
                    <a:ext uri="{9D8B030D-6E8A-4147-A177-3AD203B41FA5}">
                      <a16:colId xmlns:a16="http://schemas.microsoft.com/office/drawing/2014/main" xmlns="" val="1000379417"/>
                    </a:ext>
                  </a:extLst>
                </a:gridCol>
              </a:tblGrid>
              <a:tr h="609600">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j</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-4     0    -3     0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457482375"/>
                  </a:ext>
                </a:extLst>
              </a:tr>
              <a:tr h="5334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2  </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3</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4</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  </a:t>
                      </a: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6</a:t>
                      </a:r>
                      <a:endPar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975335975"/>
                  </a:ext>
                </a:extLst>
              </a:tr>
              <a:tr h="9906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1      2    - 1    1    -1    0</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0     -3    -2   -3     2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613197669"/>
                  </a:ext>
                </a:extLst>
              </a:tr>
              <a:tr h="5334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0     -2     -1   -2    -1    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719250987"/>
                  </a:ext>
                </a:extLst>
              </a:tr>
            </a:tbl>
          </a:graphicData>
        </a:graphic>
      </p:graphicFrame>
      <p:graphicFrame>
        <p:nvGraphicFramePr>
          <p:cNvPr id="727069" name="Group 29"/>
          <p:cNvGraphicFramePr>
            <a:graphicFrameLocks noGrp="1"/>
          </p:cNvGraphicFramePr>
          <p:nvPr/>
        </p:nvGraphicFramePr>
        <p:xfrm>
          <a:off x="533400" y="3200400"/>
          <a:ext cx="6096000" cy="1563624"/>
        </p:xfrm>
        <a:graphic>
          <a:graphicData uri="http://schemas.openxmlformats.org/drawingml/2006/table">
            <a:tbl>
              <a:tblPr/>
              <a:tblGrid>
                <a:gridCol w="609600">
                  <a:extLst>
                    <a:ext uri="{9D8B030D-6E8A-4147-A177-3AD203B41FA5}">
                      <a16:colId xmlns:a16="http://schemas.microsoft.com/office/drawing/2014/main" xmlns="" val="3376786394"/>
                    </a:ext>
                  </a:extLst>
                </a:gridCol>
                <a:gridCol w="762000">
                  <a:extLst>
                    <a:ext uri="{9D8B030D-6E8A-4147-A177-3AD203B41FA5}">
                      <a16:colId xmlns:a16="http://schemas.microsoft.com/office/drawing/2014/main" xmlns="" val="58453878"/>
                    </a:ext>
                  </a:extLst>
                </a:gridCol>
                <a:gridCol w="4114800">
                  <a:extLst>
                    <a:ext uri="{9D8B030D-6E8A-4147-A177-3AD203B41FA5}">
                      <a16:colId xmlns:a16="http://schemas.microsoft.com/office/drawing/2014/main" xmlns="" val="521991065"/>
                    </a:ext>
                  </a:extLst>
                </a:gridCol>
                <a:gridCol w="609600">
                  <a:extLst>
                    <a:ext uri="{9D8B030D-6E8A-4147-A177-3AD203B41FA5}">
                      <a16:colId xmlns:a16="http://schemas.microsoft.com/office/drawing/2014/main" xmlns="" val="1019674621"/>
                    </a:ext>
                  </a:extLst>
                </a:gridCol>
              </a:tblGrid>
              <a:tr h="9906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x</a:t>
                      </a:r>
                      <a:r>
                        <a:rPr kumimoji="1" lang="en-US" altLang="zh-CN" sz="2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1   7/2    0    5/2    -2   -1/2</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0    3/2    1   3/2     -1   -1/2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466115930"/>
                  </a:ext>
                </a:extLst>
              </a:tr>
              <a:tr h="5334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0  -1/2    0   -1/2   -2    -1/2</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556100784"/>
                  </a:ext>
                </a:extLst>
              </a:tr>
            </a:tbl>
          </a:graphicData>
        </a:graphic>
      </p:graphicFrame>
      <p:sp>
        <p:nvSpPr>
          <p:cNvPr id="727086" name="AutoShape 46"/>
          <p:cNvSpPr>
            <a:spLocks noChangeArrowheads="1"/>
          </p:cNvSpPr>
          <p:nvPr/>
        </p:nvSpPr>
        <p:spPr bwMode="auto">
          <a:xfrm>
            <a:off x="7086600" y="1066800"/>
            <a:ext cx="2057400" cy="1676400"/>
          </a:xfrm>
          <a:prstGeom prst="wedgeRoundRectCallout">
            <a:avLst>
              <a:gd name="adj1" fmla="val -72532"/>
              <a:gd name="adj2" fmla="val 116287"/>
              <a:gd name="adj3" fmla="val 16667"/>
            </a:avLst>
          </a:prstGeom>
          <a:solidFill>
            <a:srgbClr val="AFF0F7"/>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sz="2400"/>
              <a:t>最优解</a:t>
            </a:r>
          </a:p>
          <a:p>
            <a:pPr algn="ctr"/>
            <a:r>
              <a:rPr lang="en-US" altLang="zh-CN" sz="2400"/>
              <a:t>X*=</a:t>
            </a:r>
            <a:r>
              <a:rPr lang="zh-CN" altLang="en-US" sz="2400"/>
              <a:t>（</a:t>
            </a:r>
            <a:r>
              <a:rPr lang="en-US" altLang="zh-CN" sz="2400"/>
              <a:t>7</a:t>
            </a:r>
            <a:r>
              <a:rPr lang="zh-CN" altLang="en-US" sz="2400"/>
              <a:t>，</a:t>
            </a:r>
            <a:r>
              <a:rPr lang="en-US" altLang="zh-CN" sz="2400"/>
              <a:t>0</a:t>
            </a:r>
            <a:r>
              <a:rPr lang="zh-CN" altLang="en-US" sz="2400"/>
              <a:t>，</a:t>
            </a:r>
            <a:r>
              <a:rPr lang="en-US" altLang="zh-CN" sz="2400"/>
              <a:t>4</a:t>
            </a:r>
            <a:r>
              <a:rPr lang="zh-CN" altLang="en-US" sz="2400"/>
              <a:t>，</a:t>
            </a:r>
            <a:r>
              <a:rPr lang="en-US" altLang="zh-CN" sz="2400"/>
              <a:t>0</a:t>
            </a:r>
            <a:r>
              <a:rPr lang="zh-CN" altLang="en-US" sz="2400"/>
              <a:t>）</a:t>
            </a:r>
            <a:r>
              <a:rPr lang="en-US" altLang="zh-CN" sz="2400" baseline="30000"/>
              <a:t>T</a:t>
            </a:r>
          </a:p>
          <a:p>
            <a:pPr algn="ctr"/>
            <a:r>
              <a:rPr lang="en-US" altLang="zh-CN" sz="2400"/>
              <a:t>Z*=-7</a:t>
            </a:r>
          </a:p>
        </p:txBody>
      </p:sp>
    </p:spTree>
    <p:extLst>
      <p:ext uri="{BB962C8B-B14F-4D97-AF65-F5344CB8AC3E}">
        <p14:creationId xmlns:p14="http://schemas.microsoft.com/office/powerpoint/2010/main" xmlns="" val="8566829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27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6" grpId="0" animBg="1"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5B9624A-F38A-4E93-A1D4-84B03DC52B5A}" type="slidenum">
              <a:rPr lang="en-US" altLang="zh-CN" sz="1200" smtClean="0">
                <a:latin typeface="Arial Black" panose="020B0A04020102020204" pitchFamily="34" charset="0"/>
              </a:rPr>
              <a:pPr>
                <a:spcBef>
                  <a:spcPct val="0"/>
                </a:spcBef>
                <a:buClrTx/>
                <a:buSzTx/>
                <a:buFontTx/>
                <a:buNone/>
              </a:pPr>
              <a:t>66</a:t>
            </a:fld>
            <a:endParaRPr lang="en-US" altLang="zh-CN" sz="1200" smtClean="0">
              <a:latin typeface="Arial Black" panose="020B0A04020102020204" pitchFamily="34" charset="0"/>
            </a:endParaRPr>
          </a:p>
        </p:txBody>
      </p:sp>
      <p:sp>
        <p:nvSpPr>
          <p:cNvPr id="61443" name="Rectangle 3"/>
          <p:cNvSpPr>
            <a:spLocks noGrp="1" noChangeArrowheads="1"/>
          </p:cNvSpPr>
          <p:nvPr>
            <p:ph type="body" idx="1"/>
          </p:nvPr>
        </p:nvSpPr>
        <p:spPr>
          <a:xfrm>
            <a:off x="1908175" y="2565400"/>
            <a:ext cx="5113338" cy="1800225"/>
          </a:xfrm>
        </p:spPr>
        <p:txBody>
          <a:bodyPr/>
          <a:lstStyle/>
          <a:p>
            <a:pPr marL="533400" indent="-533400" algn="ctr" eaLnBrk="1" hangingPunct="1">
              <a:buFont typeface="Wingdings" panose="05000000000000000000" pitchFamily="2" charset="2"/>
              <a:buNone/>
            </a:pPr>
            <a:r>
              <a:rPr lang="zh-CN" altLang="en-US" sz="8000" smtClean="0">
                <a:cs typeface="Times New Roman" panose="02020603050405020304" pitchFamily="18" charset="0"/>
              </a:rPr>
              <a:t>谢谢大家</a:t>
            </a:r>
            <a:endParaRPr lang="zh-CN" altLang="en-US" sz="8000" smtClean="0"/>
          </a:p>
        </p:txBody>
      </p:sp>
      <p:sp>
        <p:nvSpPr>
          <p:cNvPr id="61444" name="Line 4"/>
          <p:cNvSpPr>
            <a:spLocks noChangeShapeType="1"/>
          </p:cNvSpPr>
          <p:nvPr/>
        </p:nvSpPr>
        <p:spPr bwMode="auto">
          <a:xfrm>
            <a:off x="12192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45" name="Line 5"/>
          <p:cNvSpPr>
            <a:spLocks noChangeShapeType="1"/>
          </p:cNvSpPr>
          <p:nvPr/>
        </p:nvSpPr>
        <p:spPr bwMode="auto">
          <a:xfrm>
            <a:off x="14478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46" name="Line 6"/>
          <p:cNvSpPr>
            <a:spLocks noChangeShapeType="1"/>
          </p:cNvSpPr>
          <p:nvPr/>
        </p:nvSpPr>
        <p:spPr bwMode="auto">
          <a:xfrm>
            <a:off x="4953000" y="38100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47" name="Line 7"/>
          <p:cNvSpPr>
            <a:spLocks noChangeShapeType="1"/>
          </p:cNvSpPr>
          <p:nvPr/>
        </p:nvSpPr>
        <p:spPr bwMode="auto">
          <a:xfrm>
            <a:off x="6172200" y="33528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48" name="Line 8"/>
          <p:cNvSpPr>
            <a:spLocks noChangeShapeType="1"/>
          </p:cNvSpPr>
          <p:nvPr/>
        </p:nvSpPr>
        <p:spPr bwMode="auto">
          <a:xfrm>
            <a:off x="2971800" y="50292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49" name="Line 9"/>
          <p:cNvSpPr>
            <a:spLocks noChangeShapeType="1"/>
          </p:cNvSpPr>
          <p:nvPr/>
        </p:nvSpPr>
        <p:spPr bwMode="auto">
          <a:xfrm>
            <a:off x="5257800" y="6096000"/>
            <a:ext cx="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2072</TotalTime>
  <Words>3387</Words>
  <Application>Microsoft Office PowerPoint</Application>
  <PresentationFormat>全屏显示(4:3)</PresentationFormat>
  <Paragraphs>608</Paragraphs>
  <Slides>66</Slides>
  <Notes>2</Notes>
  <HiddenSlides>0</HiddenSlides>
  <MMClips>0</MMClips>
  <ScaleCrop>false</ScaleCrop>
  <HeadingPairs>
    <vt:vector size="6" baseType="variant">
      <vt:variant>
        <vt:lpstr>主题</vt:lpstr>
      </vt:variant>
      <vt:variant>
        <vt:i4>1</vt:i4>
      </vt:variant>
      <vt:variant>
        <vt:lpstr>嵌入 OLE 服务器</vt:lpstr>
      </vt:variant>
      <vt:variant>
        <vt:i4>5</vt:i4>
      </vt:variant>
      <vt:variant>
        <vt:lpstr>幻灯片标题</vt:lpstr>
      </vt:variant>
      <vt:variant>
        <vt:i4>66</vt:i4>
      </vt:variant>
    </vt:vector>
  </HeadingPairs>
  <TitlesOfParts>
    <vt:vector size="72" baseType="lpstr">
      <vt:lpstr>Pixel</vt:lpstr>
      <vt:lpstr>Equation</vt:lpstr>
      <vt:lpstr>Microsoft Equation 3.0</vt:lpstr>
      <vt:lpstr>文档</vt:lpstr>
      <vt:lpstr>Document</vt:lpstr>
      <vt:lpstr>公式</vt:lpstr>
      <vt:lpstr>运筹学</vt:lpstr>
      <vt:lpstr>本章内容</vt:lpstr>
      <vt:lpstr>本章内容要点</vt:lpstr>
      <vt:lpstr>2.1 线性规划的对偶问题</vt:lpstr>
      <vt:lpstr>2.1 线性规划的对偶问题</vt:lpstr>
      <vt:lpstr>2.1 线性规划的对偶问题</vt:lpstr>
      <vt:lpstr>2.1 线性规划的对偶问题</vt:lpstr>
      <vt:lpstr>幻灯片 8</vt:lpstr>
      <vt:lpstr>设生产A、B产品数分别为x1、x2，则数学模型为</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4.3    对偶模型的基本性质</vt:lpstr>
      <vt:lpstr>幻灯片 32</vt:lpstr>
      <vt:lpstr>幻灯片 33</vt:lpstr>
      <vt:lpstr>幻灯片 34</vt:lpstr>
      <vt:lpstr>幻灯片 35</vt:lpstr>
      <vt:lpstr>幻灯片 36</vt:lpstr>
      <vt:lpstr>幻灯片 37</vt:lpstr>
      <vt:lpstr>原问题与对偶问题的解和目标函数值之间的关系</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jhx</dc:creator>
  <cp:lastModifiedBy>XuWei</cp:lastModifiedBy>
  <cp:revision>421</cp:revision>
  <cp:lastPrinted>1601-01-01T00:00:00Z</cp:lastPrinted>
  <dcterms:created xsi:type="dcterms:W3CDTF">1601-01-01T00:00:00Z</dcterms:created>
  <dcterms:modified xsi:type="dcterms:W3CDTF">2022-03-20T11:17:19Z</dcterms:modified>
</cp:coreProperties>
</file>