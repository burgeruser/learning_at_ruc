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5"/>
  </p:handoutMasterIdLst>
  <p:sldIdLst>
    <p:sldId id="268" r:id="rId3"/>
    <p:sldId id="500" r:id="rId4"/>
    <p:sldId id="501" r:id="rId6"/>
    <p:sldId id="502" r:id="rId7"/>
    <p:sldId id="503" r:id="rId8"/>
    <p:sldId id="504" r:id="rId9"/>
    <p:sldId id="505" r:id="rId10"/>
    <p:sldId id="581" r:id="rId11"/>
    <p:sldId id="610" r:id="rId12"/>
    <p:sldId id="611" r:id="rId13"/>
    <p:sldId id="612" r:id="rId14"/>
    <p:sldId id="613" r:id="rId15"/>
    <p:sldId id="614" r:id="rId16"/>
    <p:sldId id="615" r:id="rId17"/>
    <p:sldId id="616" r:id="rId18"/>
    <p:sldId id="617" r:id="rId19"/>
    <p:sldId id="618" r:id="rId20"/>
    <p:sldId id="619" r:id="rId21"/>
    <p:sldId id="506" r:id="rId22"/>
    <p:sldId id="507" r:id="rId23"/>
    <p:sldId id="508" r:id="rId24"/>
    <p:sldId id="509" r:id="rId25"/>
    <p:sldId id="510" r:id="rId26"/>
    <p:sldId id="511" r:id="rId27"/>
    <p:sldId id="512" r:id="rId28"/>
    <p:sldId id="513" r:id="rId29"/>
    <p:sldId id="514" r:id="rId30"/>
    <p:sldId id="515" r:id="rId31"/>
    <p:sldId id="621" r:id="rId32"/>
    <p:sldId id="620" r:id="rId33"/>
    <p:sldId id="320" r:id="rId34"/>
  </p:sldIdLst>
  <p:sldSz cx="9144000" cy="6858000" type="screen4x3"/>
  <p:notesSz cx="6858000" cy="9144000"/>
  <p:custDataLst>
    <p:tags r:id="rId39"/>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33CC33"/>
    <a:srgbClr val="FF99FF"/>
    <a:srgbClr val="66FFCC"/>
    <a:srgbClr val="CCFFFF"/>
    <a:srgbClr val="333399"/>
    <a:srgbClr val="CCE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525"/>
  </p:normalViewPr>
  <p:slideViewPr>
    <p:cSldViewPr showGuides="1">
      <p:cViewPr varScale="1">
        <p:scale>
          <a:sx n="63" d="100"/>
          <a:sy n="63" d="100"/>
        </p:scale>
        <p:origin x="-1512" y="-96"/>
      </p:cViewPr>
      <p:guideLst>
        <p:guide orient="horz" pos="2160"/>
        <p:guide pos="2880"/>
      </p:guideLst>
    </p:cSldViewPr>
  </p:slideViewPr>
  <p:outlineViewPr>
    <p:cViewPr>
      <p:scale>
        <a:sx n="50" d="100"/>
        <a:sy n="50"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latinLnBrk="1" hangingPunct="1">
              <a:defRPr kumimoji="1" sz="12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latinLnBrk="1" hangingPunct="1">
              <a:defRPr kumimoji="1" sz="1200">
                <a:latin typeface="Times New Roman" panose="02020603050405020304" pitchFamily="18" charset="0"/>
              </a:defRPr>
            </a:lvl1pPr>
          </a:lstStyle>
          <a:p>
            <a:pPr marL="0" marR="0" lvl="0" indent="0" algn="r"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844"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latinLnBrk="1" hangingPunct="1">
              <a:defRPr kumimoji="1" sz="12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latinLnBrk="1" hangingPunct="1">
              <a:buNone/>
            </a:pP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p:nvPr/>
        </p:nvSpPr>
        <p:spPr>
          <a:xfrm>
            <a:off x="3886200" y="0"/>
            <a:ext cx="2971800" cy="457200"/>
          </a:xfrm>
          <a:prstGeom prst="rect">
            <a:avLst/>
          </a:prstGeom>
          <a:noFill/>
          <a:ln w="12700">
            <a:noFill/>
          </a:ln>
        </p:spPr>
        <p:txBody>
          <a:bodyPr wrap="none" anchor="ctr" anchorCtr="0"/>
          <a:p>
            <a:pPr lvl="0" eaLnBrk="1" hangingPunct="1"/>
            <a:endParaRPr lang="zh-CN" altLang="en-US" dirty="0"/>
          </a:p>
        </p:txBody>
      </p:sp>
      <p:sp>
        <p:nvSpPr>
          <p:cNvPr id="36867" name="Rectangle 3"/>
          <p:cNvSpPr>
            <a:spLocks noTextEdit="1"/>
          </p:cNvSpPr>
          <p:nvPr>
            <p:ph type="sldImg"/>
          </p:nvPr>
        </p:nvSpPr>
        <p:spPr>
          <a:xfrm>
            <a:off x="1150938" y="692150"/>
            <a:ext cx="4556125" cy="3416300"/>
          </a:xfrm>
          <a:ln/>
        </p:spPr>
      </p:sp>
      <p:sp>
        <p:nvSpPr>
          <p:cNvPr id="36868" name="Rectangle 4"/>
          <p:cNvSpPr/>
          <p:nvPr>
            <p:ph type="body" idx="1"/>
          </p:nvPr>
        </p:nvSpPr>
        <p:spPr>
          <a:xfrm>
            <a:off x="914400" y="3276600"/>
            <a:ext cx="5029200" cy="5181600"/>
          </a:xfrm>
          <a:ln/>
        </p:spPr>
        <p:txBody>
          <a:bodyPr wrap="square" lIns="90488" tIns="44450" rIns="90488" bIns="44450" anchor="t" anchorCtr="0"/>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p:nvPr/>
        </p:nvSpPr>
        <p:spPr>
          <a:xfrm>
            <a:off x="3886200" y="0"/>
            <a:ext cx="2971800" cy="457200"/>
          </a:xfrm>
          <a:prstGeom prst="rect">
            <a:avLst/>
          </a:prstGeom>
          <a:noFill/>
          <a:ln w="12700">
            <a:noFill/>
          </a:ln>
        </p:spPr>
        <p:txBody>
          <a:bodyPr wrap="none" anchor="ctr" anchorCtr="0"/>
          <a:p>
            <a:pPr lvl="0" eaLnBrk="1" hangingPunct="1"/>
            <a:endParaRPr lang="zh-CN" altLang="en-US" dirty="0"/>
          </a:p>
        </p:txBody>
      </p:sp>
      <p:sp>
        <p:nvSpPr>
          <p:cNvPr id="37891" name="Rectangle 3"/>
          <p:cNvSpPr>
            <a:spLocks noTextEdit="1"/>
          </p:cNvSpPr>
          <p:nvPr>
            <p:ph type="sldImg"/>
          </p:nvPr>
        </p:nvSpPr>
        <p:spPr>
          <a:xfrm>
            <a:off x="1150938" y="692150"/>
            <a:ext cx="4556125" cy="3416300"/>
          </a:xfrm>
          <a:ln/>
        </p:spPr>
      </p:sp>
      <p:sp>
        <p:nvSpPr>
          <p:cNvPr id="37892" name="Rectangle 4"/>
          <p:cNvSpPr/>
          <p:nvPr>
            <p:ph type="body" idx="1"/>
          </p:nvPr>
        </p:nvSpPr>
        <p:spPr>
          <a:xfrm>
            <a:off x="914400" y="3276600"/>
            <a:ext cx="5029200" cy="5181600"/>
          </a:xfrm>
          <a:ln/>
        </p:spPr>
        <p:txBody>
          <a:bodyPr wrap="square" lIns="90488" tIns="44450" rIns="90488" bIns="44450" anchor="t" anchorCtr="0"/>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p:nvPr/>
        </p:nvSpPr>
        <p:spPr>
          <a:xfrm>
            <a:off x="3886200" y="0"/>
            <a:ext cx="2971800" cy="457200"/>
          </a:xfrm>
          <a:prstGeom prst="rect">
            <a:avLst/>
          </a:prstGeom>
          <a:noFill/>
          <a:ln w="12700">
            <a:noFill/>
          </a:ln>
        </p:spPr>
        <p:txBody>
          <a:bodyPr wrap="none" anchor="ctr" anchorCtr="0"/>
          <a:p>
            <a:pPr lvl="0" eaLnBrk="1" hangingPunct="1"/>
            <a:endParaRPr lang="zh-CN" altLang="en-US" dirty="0"/>
          </a:p>
        </p:txBody>
      </p:sp>
      <p:sp>
        <p:nvSpPr>
          <p:cNvPr id="38915" name="Rectangle 3"/>
          <p:cNvSpPr>
            <a:spLocks noTextEdit="1"/>
          </p:cNvSpPr>
          <p:nvPr>
            <p:ph type="sldImg"/>
          </p:nvPr>
        </p:nvSpPr>
        <p:spPr>
          <a:xfrm>
            <a:off x="1150938" y="692150"/>
            <a:ext cx="4556125" cy="3416300"/>
          </a:xfrm>
          <a:ln/>
        </p:spPr>
      </p:sp>
      <p:sp>
        <p:nvSpPr>
          <p:cNvPr id="38916" name="Rectangle 4"/>
          <p:cNvSpPr/>
          <p:nvPr>
            <p:ph type="body" idx="1"/>
          </p:nvPr>
        </p:nvSpPr>
        <p:spPr>
          <a:xfrm>
            <a:off x="914400" y="3276600"/>
            <a:ext cx="5029200" cy="5181600"/>
          </a:xfrm>
          <a:ln/>
        </p:spPr>
        <p:txBody>
          <a:bodyPr wrap="square" lIns="90488" tIns="44450" rIns="90488" bIns="44450" anchor="t" anchorCtr="0"/>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4098" name="Group 2"/>
          <p:cNvGrpSpPr/>
          <p:nvPr/>
        </p:nvGrpSpPr>
        <p:grpSpPr>
          <a:xfrm>
            <a:off x="0" y="0"/>
            <a:ext cx="9144000" cy="6858000"/>
            <a:chOff x="0" y="0"/>
            <a:chExt cx="5760" cy="4320"/>
          </a:xfrm>
        </p:grpSpPr>
        <p:sp>
          <p:nvSpPr>
            <p:cNvPr id="19"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4"/>
            <p:cNvSpPr>
              <a:spLocks noChangeArrowheads="1"/>
            </p:cNvSpPr>
            <p:nvPr/>
          </p:nvSpPr>
          <p:spPr bwMode="hidden">
            <a:xfrm>
              <a:off x="1081" y="1065"/>
              <a:ext cx="4679" cy="1596"/>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4107" name="Group 5"/>
            <p:cNvGrpSpPr/>
            <p:nvPr/>
          </p:nvGrpSpPr>
          <p:grpSpPr>
            <a:xfrm>
              <a:off x="0" y="672"/>
              <a:ext cx="1806" cy="1989"/>
              <a:chOff x="0" y="672"/>
              <a:chExt cx="1806" cy="1989"/>
            </a:xfrm>
          </p:grpSpPr>
          <p:sp>
            <p:nvSpPr>
              <p:cNvPr id="22" name="Rectangle 6"/>
              <p:cNvSpPr>
                <a:spLocks noChangeArrowheads="1"/>
              </p:cNvSpPr>
              <p:nvPr/>
            </p:nvSpPr>
            <p:spPr bwMode="auto">
              <a:xfrm>
                <a:off x="361" y="2257"/>
                <a:ext cx="363" cy="404"/>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7"/>
              <p:cNvSpPr>
                <a:spLocks noChangeArrowheads="1"/>
              </p:cNvSpPr>
              <p:nvPr/>
            </p:nvSpPr>
            <p:spPr bwMode="auto">
              <a:xfrm>
                <a:off x="1081" y="1065"/>
                <a:ext cx="362" cy="405"/>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8"/>
              <p:cNvSpPr>
                <a:spLocks noChangeArrowheads="1"/>
              </p:cNvSpPr>
              <p:nvPr/>
            </p:nvSpPr>
            <p:spPr bwMode="auto">
              <a:xfrm>
                <a:off x="1437" y="672"/>
                <a:ext cx="369" cy="400"/>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9"/>
              <p:cNvSpPr>
                <a:spLocks noChangeArrowheads="1"/>
              </p:cNvSpPr>
              <p:nvPr/>
            </p:nvSpPr>
            <p:spPr bwMode="auto">
              <a:xfrm>
                <a:off x="719" y="2257"/>
                <a:ext cx="368" cy="404"/>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0"/>
              <p:cNvSpPr>
                <a:spLocks noChangeArrowheads="1"/>
              </p:cNvSpPr>
              <p:nvPr/>
            </p:nvSpPr>
            <p:spPr bwMode="auto">
              <a:xfrm>
                <a:off x="1437" y="1065"/>
                <a:ext cx="369" cy="405"/>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1"/>
              <p:cNvSpPr>
                <a:spLocks noChangeArrowheads="1"/>
              </p:cNvSpPr>
              <p:nvPr/>
            </p:nvSpPr>
            <p:spPr bwMode="auto">
              <a:xfrm>
                <a:off x="719" y="1464"/>
                <a:ext cx="368" cy="399"/>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2"/>
              <p:cNvSpPr>
                <a:spLocks noChangeArrowheads="1"/>
              </p:cNvSpPr>
              <p:nvPr/>
            </p:nvSpPr>
            <p:spPr bwMode="auto">
              <a:xfrm>
                <a:off x="0" y="1464"/>
                <a:ext cx="367" cy="399"/>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3"/>
              <p:cNvSpPr>
                <a:spLocks noChangeArrowheads="1"/>
              </p:cNvSpPr>
              <p:nvPr/>
            </p:nvSpPr>
            <p:spPr bwMode="auto">
              <a:xfrm>
                <a:off x="1081" y="1464"/>
                <a:ext cx="362" cy="399"/>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4"/>
              <p:cNvSpPr>
                <a:spLocks noChangeArrowheads="1"/>
              </p:cNvSpPr>
              <p:nvPr/>
            </p:nvSpPr>
            <p:spPr bwMode="auto">
              <a:xfrm>
                <a:off x="361" y="1857"/>
                <a:ext cx="363" cy="406"/>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15"/>
              <p:cNvSpPr>
                <a:spLocks noChangeArrowheads="1"/>
              </p:cNvSpPr>
              <p:nvPr/>
            </p:nvSpPr>
            <p:spPr bwMode="auto">
              <a:xfrm>
                <a:off x="719" y="1857"/>
                <a:ext cx="368" cy="406"/>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pic>
        <p:nvPicPr>
          <p:cNvPr id="4099" name="Picture 21" descr="Renmin Logo"/>
          <p:cNvPicPr>
            <a:picLocks noChangeAspect="1"/>
          </p:cNvPicPr>
          <p:nvPr userDrawn="1"/>
        </p:nvPicPr>
        <p:blipFill>
          <a:blip r:embed="rId2"/>
          <a:stretch>
            <a:fillRect/>
          </a:stretch>
        </p:blipFill>
        <p:spPr>
          <a:xfrm>
            <a:off x="7523163" y="80963"/>
            <a:ext cx="1512887" cy="1403350"/>
          </a:xfrm>
          <a:prstGeom prst="rect">
            <a:avLst/>
          </a:prstGeom>
          <a:noFill/>
          <a:ln w="9525">
            <a:noFill/>
          </a:ln>
        </p:spPr>
      </p:pic>
      <p:sp>
        <p:nvSpPr>
          <p:cNvPr id="21915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21915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3"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8" name="Rectangle 4"/>
          <p:cNvSpPr>
            <a:spLocks noGrp="1" noChangeArrowheads="1"/>
          </p:cNvSpPr>
          <p:nvPr>
            <p:ph type="dt" sz="half" idx="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1811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811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Arial" panose="020B0604020202020204" pitchFamily="34" charset="0"/>
            </a:endParaRPr>
          </a:p>
        </p:txBody>
      </p:sp>
      <p:grpSp>
        <p:nvGrpSpPr>
          <p:cNvPr id="3076" name="Group 4"/>
          <p:cNvGrpSpPr/>
          <p:nvPr/>
        </p:nvGrpSpPr>
        <p:grpSpPr>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7"/>
            <p:cNvSpPr>
              <a:spLocks noChangeArrowheads="1"/>
            </p:cNvSpPr>
            <p:nvPr/>
          </p:nvSpPr>
          <p:spPr bwMode="auto">
            <a:xfrm>
              <a:off x="258" y="85"/>
              <a:ext cx="87" cy="89"/>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8"/>
            <p:cNvSpPr>
              <a:spLocks noChangeArrowheads="1"/>
            </p:cNvSpPr>
            <p:nvPr/>
          </p:nvSpPr>
          <p:spPr bwMode="auto">
            <a:xfrm>
              <a:off x="345" y="0"/>
              <a:ext cx="88" cy="87"/>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7" name="Rectangle 9"/>
            <p:cNvSpPr>
              <a:spLocks noChangeArrowheads="1"/>
            </p:cNvSpPr>
            <p:nvPr/>
          </p:nvSpPr>
          <p:spPr bwMode="auto">
            <a:xfrm>
              <a:off x="345" y="85"/>
              <a:ext cx="88" cy="89"/>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8" name="Rectangle 10"/>
            <p:cNvSpPr>
              <a:spLocks noChangeArrowheads="1"/>
            </p:cNvSpPr>
            <p:nvPr/>
          </p:nvSpPr>
          <p:spPr bwMode="auto">
            <a:xfrm>
              <a:off x="173" y="173"/>
              <a:ext cx="86" cy="87"/>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9" name="Rectangle 11"/>
            <p:cNvSpPr>
              <a:spLocks noChangeArrowheads="1"/>
            </p:cNvSpPr>
            <p:nvPr/>
          </p:nvSpPr>
          <p:spPr bwMode="auto">
            <a:xfrm>
              <a:off x="83" y="86"/>
              <a:ext cx="89" cy="87"/>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0" name="Rectangle 12"/>
            <p:cNvSpPr>
              <a:spLocks noChangeArrowheads="1"/>
            </p:cNvSpPr>
            <p:nvPr/>
          </p:nvSpPr>
          <p:spPr bwMode="auto">
            <a:xfrm>
              <a:off x="258" y="171"/>
              <a:ext cx="87" cy="87"/>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1" name="Rectangle 13"/>
            <p:cNvSpPr>
              <a:spLocks noChangeArrowheads="1"/>
            </p:cNvSpPr>
            <p:nvPr/>
          </p:nvSpPr>
          <p:spPr bwMode="auto">
            <a:xfrm>
              <a:off x="173" y="258"/>
              <a:ext cx="86" cy="86"/>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3077"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8"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1812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2009-09-11</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0" name="Picture 17" descr="Renmin Logo"/>
          <p:cNvPicPr>
            <a:picLocks noChangeAspect="1"/>
          </p:cNvPicPr>
          <p:nvPr userDrawn="1"/>
        </p:nvPicPr>
        <p:blipFill>
          <a:blip r:embed="rId13"/>
          <a:stretch>
            <a:fillRect/>
          </a:stretch>
        </p:blipFill>
        <p:spPr>
          <a:xfrm>
            <a:off x="7451725" y="115888"/>
            <a:ext cx="1546225" cy="14747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18"/>
          <p:cNvSpPr txBox="1">
            <a:spLocks noGrp="1"/>
          </p:cNvSpPr>
          <p:nvPr>
            <p:ph type="sldNum" sz="quarter" idx="4"/>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6147" name="Rectangle 2"/>
          <p:cNvSpPr>
            <a:spLocks noGrp="1"/>
          </p:cNvSpPr>
          <p:nvPr>
            <p:ph type="ctrTitle"/>
          </p:nvPr>
        </p:nvSpPr>
        <p:spPr>
          <a:xfrm>
            <a:off x="3348038" y="1989138"/>
            <a:ext cx="4800600" cy="1455737"/>
          </a:xfrm>
          <a:ln/>
        </p:spPr>
        <p:txBody>
          <a:bodyPr vert="horz" wrap="square" lIns="91440" tIns="45720" rIns="91440" bIns="45720" anchor="ctr" anchorCtr="0"/>
          <a:p>
            <a:pPr eaLnBrk="1" hangingPunct="1">
              <a:buClrTx/>
              <a:buSzTx/>
              <a:buFontTx/>
            </a:pPr>
            <a:r>
              <a:rPr lang="zh-CN" altLang="en-US" sz="6000" dirty="0">
                <a:solidFill>
                  <a:srgbClr val="FFFFFF"/>
                </a:solidFill>
                <a:latin typeface="+mj-lt"/>
                <a:ea typeface="+mj-ea"/>
                <a:cs typeface="+mj-cs"/>
              </a:rPr>
              <a:t>运筹学</a:t>
            </a:r>
            <a:endParaRPr lang="zh-CN" altLang="en-US" sz="6000" dirty="0">
              <a:solidFill>
                <a:srgbClr val="FFFFFF"/>
              </a:solidFill>
              <a:latin typeface="+mj-lt"/>
              <a:ea typeface="+mj-ea"/>
              <a:cs typeface="+mj-cs"/>
            </a:endParaRPr>
          </a:p>
        </p:txBody>
      </p:sp>
      <p:sp>
        <p:nvSpPr>
          <p:cNvPr id="6148" name="Rectangle 3"/>
          <p:cNvSpPr>
            <a:spLocks noGrp="1"/>
          </p:cNvSpPr>
          <p:nvPr>
            <p:ph type="subTitle" idx="1"/>
          </p:nvPr>
        </p:nvSpPr>
        <p:spPr>
          <a:xfrm>
            <a:off x="3635375" y="4652963"/>
            <a:ext cx="4464050" cy="1512887"/>
          </a:xfrm>
          <a:ln/>
        </p:spPr>
        <p:txBody>
          <a:bodyPr vert="horz" wrap="square" lIns="91440" tIns="45720" rIns="91440" bIns="45720" anchor="t" anchorCtr="0"/>
          <a:p>
            <a:pPr eaLnBrk="1" hangingPunct="1">
              <a:buSzPct val="75000"/>
            </a:pPr>
            <a:r>
              <a:rPr lang="zh-CN" altLang="en-US" b="1" dirty="0">
                <a:latin typeface="宋体" panose="02010600030101010101" pitchFamily="2" charset="-122"/>
                <a:ea typeface="+mn-ea"/>
                <a:cs typeface="+mn-cs"/>
              </a:rPr>
              <a:t>许 伟</a:t>
            </a:r>
            <a:r>
              <a:rPr lang="zh-CN" altLang="en-US" dirty="0">
                <a:latin typeface="宋体" panose="02010600030101010101" pitchFamily="2" charset="-122"/>
                <a:ea typeface="+mn-ea"/>
                <a:cs typeface="+mn-cs"/>
              </a:rPr>
              <a:t> </a:t>
            </a:r>
            <a:r>
              <a:rPr lang="zh-CN" altLang="en-US" sz="2800" dirty="0">
                <a:latin typeface="宋体" panose="02010600030101010101" pitchFamily="2" charset="-122"/>
                <a:ea typeface="+mn-ea"/>
                <a:cs typeface="+mn-cs"/>
              </a:rPr>
              <a:t>教授</a:t>
            </a:r>
            <a:r>
              <a:rPr lang="en-US" altLang="zh-CN" sz="2800" dirty="0">
                <a:latin typeface="宋体" panose="02010600030101010101" pitchFamily="2" charset="-122"/>
                <a:ea typeface="+mn-ea"/>
                <a:cs typeface="+mn-cs"/>
              </a:rPr>
              <a:t>/</a:t>
            </a:r>
            <a:r>
              <a:rPr lang="zh-CN" altLang="en-US" sz="2800" dirty="0">
                <a:latin typeface="宋体" panose="02010600030101010101" pitchFamily="2" charset="-122"/>
                <a:ea typeface="+mn-ea"/>
                <a:cs typeface="+mn-cs"/>
              </a:rPr>
              <a:t>博导</a:t>
            </a:r>
            <a:endParaRPr lang="zh-CN" altLang="en-US" sz="2800" dirty="0">
              <a:latin typeface="宋体" panose="02010600030101010101" pitchFamily="2" charset="-122"/>
              <a:ea typeface="+mn-ea"/>
              <a:cs typeface="+mn-cs"/>
            </a:endParaRPr>
          </a:p>
          <a:p>
            <a:pPr eaLnBrk="1" hangingPunct="1">
              <a:buSzPct val="75000"/>
            </a:pPr>
            <a:r>
              <a:rPr lang="zh-CN" altLang="en-US" sz="2800" dirty="0">
                <a:latin typeface="宋体" panose="02010600030101010101" pitchFamily="2" charset="-122"/>
                <a:ea typeface="+mn-ea"/>
                <a:cs typeface="+mn-cs"/>
              </a:rPr>
              <a:t>中国人民大学信息学院</a:t>
            </a:r>
            <a:endParaRPr lang="zh-CN" altLang="en-US" sz="2800" dirty="0">
              <a:latin typeface="宋体" panose="02010600030101010101" pitchFamily="2" charset="-122"/>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571500" y="709613"/>
            <a:ext cx="6448425" cy="933450"/>
          </a:xfrm>
          <a:ln/>
        </p:spPr>
        <p:txBody>
          <a:bodyPr vert="horz" wrap="square" lIns="91440" tIns="45720" rIns="91440" bIns="45720" anchor="t" anchorCtr="0"/>
          <a:p>
            <a:r>
              <a:rPr lang="zh-CN" altLang="en-US" sz="4800" dirty="0">
                <a:solidFill>
                  <a:srgbClr val="0D04BE"/>
                </a:solidFill>
                <a:ea typeface="楷体_GB2312" pitchFamily="49" charset="-122"/>
              </a:rPr>
              <a:t>运筹学中的启发式算法</a:t>
            </a:r>
            <a:endParaRPr lang="zh-CN" altLang="en-US" sz="4800" dirty="0">
              <a:solidFill>
                <a:srgbClr val="0D04BE"/>
              </a:solidFill>
              <a:ea typeface="楷体_GB2312" pitchFamily="49" charset="-122"/>
            </a:endParaRPr>
          </a:p>
        </p:txBody>
      </p:sp>
      <p:sp>
        <p:nvSpPr>
          <p:cNvPr id="7171" name="Rectangle 3"/>
          <p:cNvSpPr>
            <a:spLocks noGrp="1"/>
          </p:cNvSpPr>
          <p:nvPr>
            <p:ph idx="1"/>
          </p:nvPr>
        </p:nvSpPr>
        <p:spPr>
          <a:xfrm>
            <a:off x="714375" y="1785938"/>
            <a:ext cx="7848600" cy="4572000"/>
          </a:xfrm>
          <a:ln/>
        </p:spPr>
        <p:txBody>
          <a:bodyPr vert="horz" wrap="square" lIns="91440" tIns="45720" rIns="91440" bIns="45720" anchor="t" anchorCtr="0"/>
          <a:p>
            <a:pPr>
              <a:lnSpc>
                <a:spcPct val="150000"/>
              </a:lnSpc>
              <a:buNone/>
            </a:pPr>
            <a:r>
              <a:rPr lang="en-US" altLang="zh-CN" sz="2800" b="1" dirty="0">
                <a:solidFill>
                  <a:srgbClr val="000000"/>
                </a:solidFill>
                <a:latin typeface="楷体_GB2312" pitchFamily="49" charset="-122"/>
                <a:ea typeface="楷体_GB2312" pitchFamily="49" charset="-122"/>
              </a:rPr>
              <a:t>14.1 </a:t>
            </a:r>
            <a:r>
              <a:rPr lang="zh-CN" altLang="en-US" sz="2800" b="1" dirty="0">
                <a:solidFill>
                  <a:srgbClr val="000000"/>
                </a:solidFill>
                <a:latin typeface="楷体_GB2312" pitchFamily="49" charset="-122"/>
                <a:ea typeface="楷体_GB2312" pitchFamily="49" charset="-122"/>
              </a:rPr>
              <a:t>启发式算法的概念</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14.2 </a:t>
            </a:r>
            <a:r>
              <a:rPr lang="zh-CN" altLang="en-US" sz="2800" b="1" dirty="0">
                <a:solidFill>
                  <a:srgbClr val="000000"/>
                </a:solidFill>
                <a:latin typeface="楷体_GB2312" pitchFamily="49" charset="-122"/>
                <a:ea typeface="楷体_GB2312" pitchFamily="49" charset="-122"/>
              </a:rPr>
              <a:t>应用问题举例</a:t>
            </a:r>
            <a:endParaRPr lang="zh-CN" altLang="en-US" sz="2800" b="1" dirty="0">
              <a:solidFill>
                <a:srgbClr val="000000"/>
              </a:solidFill>
              <a:latin typeface="楷体_GB2312" pitchFamily="49" charset="-122"/>
              <a:ea typeface="楷体_GB2312"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14.1 </a:t>
            </a:r>
            <a:r>
              <a:rPr lang="zh-CN" altLang="en-US" sz="3200" dirty="0">
                <a:solidFill>
                  <a:srgbClr val="0D04BE"/>
                </a:solidFill>
                <a:latin typeface="楷体_GB2312" pitchFamily="49" charset="-122"/>
                <a:ea typeface="楷体_GB2312" pitchFamily="49" charset="-122"/>
              </a:rPr>
              <a:t>启发式算法的概念</a:t>
            </a:r>
            <a:endParaRPr lang="zh-CN" altLang="en-US" sz="3200" dirty="0">
              <a:solidFill>
                <a:srgbClr val="0D04BE"/>
              </a:solidFill>
              <a:latin typeface="楷体_GB2312" pitchFamily="49" charset="-122"/>
              <a:ea typeface="楷体_GB2312" pitchFamily="49" charset="-122"/>
            </a:endParaRPr>
          </a:p>
        </p:txBody>
      </p:sp>
      <p:sp>
        <p:nvSpPr>
          <p:cNvPr id="8195" name="Rectangle 5"/>
          <p:cNvSpPr/>
          <p:nvPr/>
        </p:nvSpPr>
        <p:spPr>
          <a:xfrm>
            <a:off x="395288" y="1700213"/>
            <a:ext cx="8261350" cy="3140075"/>
          </a:xfrm>
          <a:prstGeom prst="rect">
            <a:avLst/>
          </a:prstGeom>
          <a:noFill/>
          <a:ln w="9525">
            <a:noFill/>
          </a:ln>
        </p:spPr>
        <p:txBody>
          <a:bodyPr>
            <a:spAutoFit/>
          </a:bodyPr>
          <a:p>
            <a:r>
              <a:rPr lang="zh-CN" altLang="en-US" b="1" dirty="0">
                <a:latin typeface="Arial" panose="020B0604020202020204" pitchFamily="34" charset="0"/>
              </a:rPr>
              <a:t>        良性结构的问题：问题的结构比较清晰，所含各元素之间的关系明确，边界清楚，容易为人们所认识，能够比较方便地通过建模和使用一定的算法求得解决。</a:t>
            </a:r>
            <a:endParaRPr lang="zh-CN" altLang="en-US" b="1" dirty="0">
              <a:latin typeface="Arial" panose="020B0604020202020204" pitchFamily="34" charset="0"/>
            </a:endParaRPr>
          </a:p>
          <a:p>
            <a:r>
              <a:rPr lang="zh-CN" altLang="en-US" b="1" dirty="0">
                <a:latin typeface="Arial" panose="020B0604020202020204" pitchFamily="34" charset="0"/>
              </a:rPr>
              <a:t>        概括地说，良性结构问题具有以下特征：</a:t>
            </a:r>
            <a:endParaRPr lang="zh-CN" altLang="en-US" b="1" dirty="0">
              <a:latin typeface="Arial" panose="020B0604020202020204" pitchFamily="34" charset="0"/>
            </a:endParaRPr>
          </a:p>
          <a:p>
            <a:r>
              <a:rPr lang="en-US" altLang="zh-CN" b="1" dirty="0">
                <a:latin typeface="Arial" panose="020B0604020202020204" pitchFamily="34" charset="0"/>
              </a:rPr>
              <a:t>        (1) </a:t>
            </a:r>
            <a:r>
              <a:rPr lang="zh-CN" altLang="en-US" b="1" dirty="0">
                <a:latin typeface="Arial" panose="020B0604020202020204" pitchFamily="34" charset="0"/>
              </a:rPr>
              <a:t>能建立起反映该问题性质的一种“可接受”模型，与问题有关的主要信息可纳入模型之中。</a:t>
            </a:r>
            <a:endParaRPr lang="zh-CN" altLang="en-US" b="1" dirty="0">
              <a:latin typeface="Arial" panose="020B0604020202020204" pitchFamily="34" charset="0"/>
            </a:endParaRPr>
          </a:p>
          <a:p>
            <a:r>
              <a:rPr lang="en-US" altLang="zh-CN" b="1" dirty="0">
                <a:latin typeface="Arial" panose="020B0604020202020204" pitchFamily="34" charset="0"/>
              </a:rPr>
              <a:t>        (2) </a:t>
            </a:r>
            <a:r>
              <a:rPr lang="zh-CN" altLang="en-US" b="1" dirty="0">
                <a:latin typeface="Arial" panose="020B0604020202020204" pitchFamily="34" charset="0"/>
              </a:rPr>
              <a:t>模型所需要的数据能够得到。</a:t>
            </a:r>
            <a:endParaRPr lang="zh-CN" altLang="en-US" b="1" dirty="0">
              <a:latin typeface="Arial" panose="020B0604020202020204" pitchFamily="34" charset="0"/>
            </a:endParaRPr>
          </a:p>
          <a:p>
            <a:r>
              <a:rPr lang="en-US" altLang="zh-CN" b="1" dirty="0">
                <a:latin typeface="Arial" panose="020B0604020202020204" pitchFamily="34" charset="0"/>
              </a:rPr>
              <a:t>        (3) </a:t>
            </a:r>
            <a:r>
              <a:rPr lang="zh-CN" altLang="en-US" b="1" dirty="0">
                <a:latin typeface="Arial" panose="020B0604020202020204" pitchFamily="34" charset="0"/>
              </a:rPr>
              <a:t>有判定解的可行性和最优性</a:t>
            </a:r>
            <a:r>
              <a:rPr lang="en-US" altLang="zh-CN" b="1" dirty="0">
                <a:latin typeface="Arial" panose="020B0604020202020204" pitchFamily="34" charset="0"/>
              </a:rPr>
              <a:t>(</a:t>
            </a:r>
            <a:r>
              <a:rPr lang="zh-CN" altLang="en-US" b="1" dirty="0">
                <a:latin typeface="Arial" panose="020B0604020202020204" pitchFamily="34" charset="0"/>
              </a:rPr>
              <a:t>或满意性</a:t>
            </a:r>
            <a:r>
              <a:rPr lang="en-US" altLang="zh-CN" b="1" dirty="0">
                <a:latin typeface="Arial" panose="020B0604020202020204" pitchFamily="34" charset="0"/>
              </a:rPr>
              <a:t>)</a:t>
            </a:r>
            <a:r>
              <a:rPr lang="zh-CN" altLang="en-US" b="1" dirty="0">
                <a:latin typeface="Arial" panose="020B0604020202020204" pitchFamily="34" charset="0"/>
              </a:rPr>
              <a:t>的明确准则。</a:t>
            </a:r>
            <a:endParaRPr lang="zh-CN" altLang="en-US" b="1" dirty="0">
              <a:latin typeface="Arial" panose="020B0604020202020204" pitchFamily="34" charset="0"/>
            </a:endParaRPr>
          </a:p>
          <a:p>
            <a:r>
              <a:rPr lang="en-US" altLang="zh-CN" b="1" dirty="0">
                <a:latin typeface="Arial" panose="020B0604020202020204" pitchFamily="34" charset="0"/>
              </a:rPr>
              <a:t>        (4) </a:t>
            </a:r>
            <a:r>
              <a:rPr lang="zh-CN" altLang="en-US" b="1" dirty="0">
                <a:latin typeface="Arial" panose="020B0604020202020204" pitchFamily="34" charset="0"/>
              </a:rPr>
              <a:t>模型可解，能拟定出求解模型的程序性步骤，而且得出的解能反映解决问题的可行方案。</a:t>
            </a:r>
            <a:endParaRPr lang="zh-CN" altLang="en-US" b="1" dirty="0">
              <a:latin typeface="Arial" panose="020B0604020202020204" pitchFamily="34" charset="0"/>
            </a:endParaRPr>
          </a:p>
          <a:p>
            <a:r>
              <a:rPr lang="en-US" altLang="zh-CN" b="1" dirty="0">
                <a:latin typeface="Arial" panose="020B0604020202020204" pitchFamily="34" charset="0"/>
              </a:rPr>
              <a:t>        (5) </a:t>
            </a:r>
            <a:r>
              <a:rPr lang="zh-CN" altLang="en-US" b="1" dirty="0">
                <a:latin typeface="Arial" panose="020B0604020202020204" pitchFamily="34" charset="0"/>
              </a:rPr>
              <a:t>求解工作所需的计算量不过大，所需费用不过多。</a:t>
            </a:r>
            <a:endParaRPr lang="zh-CN" altLang="en-US" b="1"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14.1 </a:t>
            </a:r>
            <a:r>
              <a:rPr lang="zh-CN" altLang="en-US" sz="3200" dirty="0">
                <a:solidFill>
                  <a:srgbClr val="0D04BE"/>
                </a:solidFill>
                <a:latin typeface="楷体_GB2312" pitchFamily="49" charset="-122"/>
                <a:ea typeface="楷体_GB2312" pitchFamily="49" charset="-122"/>
              </a:rPr>
              <a:t>启发式算法的概念</a:t>
            </a:r>
            <a:endParaRPr lang="zh-CN" altLang="en-US" sz="3200" dirty="0">
              <a:solidFill>
                <a:srgbClr val="0D04BE"/>
              </a:solidFill>
              <a:latin typeface="楷体_GB2312" pitchFamily="49" charset="-122"/>
              <a:ea typeface="楷体_GB2312" pitchFamily="49" charset="-122"/>
            </a:endParaRPr>
          </a:p>
        </p:txBody>
      </p:sp>
      <p:sp>
        <p:nvSpPr>
          <p:cNvPr id="9219" name="Rectangle 4"/>
          <p:cNvSpPr/>
          <p:nvPr/>
        </p:nvSpPr>
        <p:spPr>
          <a:xfrm>
            <a:off x="468313" y="1989138"/>
            <a:ext cx="8101012" cy="2032000"/>
          </a:xfrm>
          <a:prstGeom prst="rect">
            <a:avLst/>
          </a:prstGeom>
          <a:noFill/>
          <a:ln w="9525">
            <a:noFill/>
          </a:ln>
        </p:spPr>
        <p:txBody>
          <a:bodyPr>
            <a:spAutoFit/>
          </a:bodyPr>
          <a:p>
            <a:r>
              <a:rPr lang="zh-CN" altLang="en-US" b="1" dirty="0">
                <a:latin typeface="Arial" panose="020B0604020202020204" pitchFamily="34" charset="0"/>
              </a:rPr>
              <a:t>        在解决非良性结构的问题时，保持问题的本来面目，建立基本符合问题实际情况的非标准模型。</a:t>
            </a:r>
            <a:endParaRPr lang="en-US" altLang="zh-CN" b="1" dirty="0">
              <a:latin typeface="Arial" panose="020B0604020202020204" pitchFamily="34" charset="0"/>
            </a:endParaRPr>
          </a:p>
          <a:p>
            <a:r>
              <a:rPr lang="zh-CN" altLang="en-US" b="1" dirty="0">
                <a:latin typeface="Arial" panose="020B0604020202020204" pitchFamily="34" charset="0"/>
              </a:rPr>
              <a:t>        由于模型涉及因素多，结构复杂，而与传统的标准模型相去甚远，难以套用已有的标准算法，为得到可用的近似解，分析人员必须运用自己的感知和洞察力，从与其有关而较基本的模型及算法中寻求其中的联系，从中得到启发，去发现和构想可用于解决该问题的思路和途径，人们称这种方法为启发式方法，用这种方法建立的算法为</a:t>
            </a:r>
            <a:r>
              <a:rPr lang="zh-CN" altLang="en-US" b="1" dirty="0">
                <a:solidFill>
                  <a:srgbClr val="FF3300"/>
                </a:solidFill>
                <a:latin typeface="Arial" panose="020B0604020202020204" pitchFamily="34" charset="0"/>
              </a:rPr>
              <a:t>启发式算法</a:t>
            </a:r>
            <a:r>
              <a:rPr lang="zh-CN" altLang="en-US" b="1" dirty="0">
                <a:latin typeface="Arial" panose="020B0604020202020204" pitchFamily="34" charset="0"/>
              </a:rPr>
              <a:t>。</a:t>
            </a:r>
            <a:endParaRPr lang="zh-CN" altLang="en-US" b="1"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14.1 </a:t>
            </a:r>
            <a:r>
              <a:rPr lang="zh-CN" altLang="en-US" sz="3200" dirty="0">
                <a:solidFill>
                  <a:srgbClr val="0D04BE"/>
                </a:solidFill>
                <a:latin typeface="楷体_GB2312" pitchFamily="49" charset="-122"/>
                <a:ea typeface="楷体_GB2312" pitchFamily="49" charset="-122"/>
              </a:rPr>
              <a:t>启发式算法的概念</a:t>
            </a:r>
            <a:endParaRPr lang="zh-CN" altLang="en-US" sz="3200" dirty="0">
              <a:solidFill>
                <a:srgbClr val="0D04BE"/>
              </a:solidFill>
              <a:latin typeface="楷体_GB2312" pitchFamily="49" charset="-122"/>
              <a:ea typeface="楷体_GB2312" pitchFamily="49" charset="-122"/>
            </a:endParaRPr>
          </a:p>
        </p:txBody>
      </p:sp>
      <p:sp>
        <p:nvSpPr>
          <p:cNvPr id="4" name="Rectangle 4"/>
          <p:cNvSpPr/>
          <p:nvPr/>
        </p:nvSpPr>
        <p:spPr>
          <a:xfrm>
            <a:off x="611188" y="1773238"/>
            <a:ext cx="7993062" cy="3444875"/>
          </a:xfrm>
          <a:prstGeom prst="rect">
            <a:avLst/>
          </a:prstGeom>
          <a:noFill/>
          <a:ln w="9525">
            <a:noFill/>
          </a:ln>
        </p:spPr>
        <p:txBody>
          <a:bodyPr>
            <a:spAutoFit/>
          </a:bodyPr>
          <a:p>
            <a:pPr marL="457200" indent="-457200">
              <a:buNone/>
            </a:pPr>
            <a:r>
              <a:rPr lang="zh-CN" altLang="en-US" sz="2000" b="1" dirty="0">
                <a:latin typeface="Times New Roman" panose="02020603050405020304" pitchFamily="18" charset="0"/>
              </a:rPr>
              <a:t>启发式方法有下述优点：</a:t>
            </a:r>
            <a:endParaRPr lang="zh-CN" altLang="en-US" sz="2000" b="1" dirty="0">
              <a:latin typeface="Times New Roman" panose="02020603050405020304" pitchFamily="18" charset="0"/>
            </a:endParaRPr>
          </a:p>
          <a:p>
            <a:pPr marL="457200" indent="-457200">
              <a:buNone/>
            </a:pPr>
            <a:endParaRPr lang="zh-CN" altLang="en-US" sz="2000" b="1" dirty="0">
              <a:latin typeface="Times New Roman" panose="02020603050405020304" pitchFamily="18" charset="0"/>
            </a:endParaRPr>
          </a:p>
          <a:p>
            <a:pPr marL="457200" indent="-457200">
              <a:buAutoNum type="arabicParenBoth"/>
            </a:pPr>
            <a:r>
              <a:rPr lang="zh-CN" altLang="en-US" sz="2000" b="1" dirty="0">
                <a:latin typeface="Times New Roman" panose="02020603050405020304" pitchFamily="18" charset="0"/>
              </a:rPr>
              <a:t>计算步骤简单，易于实施。</a:t>
            </a:r>
            <a:endParaRPr lang="zh-CN" altLang="en-US" sz="2000" b="1" dirty="0">
              <a:latin typeface="Times New Roman" panose="02020603050405020304" pitchFamily="18" charset="0"/>
            </a:endParaRPr>
          </a:p>
          <a:p>
            <a:pPr marL="457200" indent="-457200">
              <a:buNone/>
            </a:pPr>
            <a:endParaRPr lang="zh-CN" altLang="en-US" sz="2000" b="1" dirty="0">
              <a:latin typeface="Times New Roman" panose="02020603050405020304" pitchFamily="18" charset="0"/>
            </a:endParaRPr>
          </a:p>
          <a:p>
            <a:pPr marL="457200" indent="-457200">
              <a:buNone/>
            </a:pPr>
            <a:r>
              <a:rPr lang="en-US" altLang="zh-CN" sz="2000" b="1" dirty="0">
                <a:latin typeface="Times New Roman" panose="02020603050405020304" pitchFamily="18" charset="0"/>
              </a:rPr>
              <a:t>(2) </a:t>
            </a:r>
            <a:r>
              <a:rPr lang="zh-CN" altLang="en-US" sz="2000" b="1" dirty="0">
                <a:latin typeface="Times New Roman" panose="02020603050405020304" pitchFamily="18" charset="0"/>
              </a:rPr>
              <a:t>常不需要高深和复杂的理论知识，因而可由未经高级训练的人员实现。</a:t>
            </a:r>
            <a:endParaRPr lang="zh-CN" altLang="en-US" sz="2000" b="1" dirty="0">
              <a:latin typeface="Times New Roman" panose="02020603050405020304" pitchFamily="18" charset="0"/>
            </a:endParaRPr>
          </a:p>
          <a:p>
            <a:pPr marL="457200" indent="-457200">
              <a:buNone/>
            </a:pPr>
            <a:endParaRPr lang="zh-CN" altLang="en-US" sz="2000" b="1" dirty="0">
              <a:latin typeface="Times New Roman" panose="02020603050405020304" pitchFamily="18" charset="0"/>
            </a:endParaRPr>
          </a:p>
          <a:p>
            <a:pPr marL="457200" indent="-457200">
              <a:buNone/>
            </a:pPr>
            <a:r>
              <a:rPr lang="en-US" altLang="zh-CN" sz="2000" b="1" dirty="0">
                <a:latin typeface="Times New Roman" panose="02020603050405020304" pitchFamily="18" charset="0"/>
              </a:rPr>
              <a:t>(3) </a:t>
            </a:r>
            <a:r>
              <a:rPr lang="zh-CN" altLang="en-US" sz="2000" b="1" dirty="0">
                <a:latin typeface="Times New Roman" panose="02020603050405020304" pitchFamily="18" charset="0"/>
              </a:rPr>
              <a:t>与应用优化方法相比，常可以减少大量的计算工作量，从而显著节约开支和节省时间。</a:t>
            </a:r>
            <a:endParaRPr lang="zh-CN" altLang="en-US" sz="2000" b="1" dirty="0">
              <a:latin typeface="Times New Roman" panose="02020603050405020304" pitchFamily="18" charset="0"/>
            </a:endParaRPr>
          </a:p>
          <a:p>
            <a:pPr marL="457200" indent="-457200">
              <a:buNone/>
            </a:pPr>
            <a:endParaRPr lang="zh-CN" altLang="en-US" sz="2000" b="1" dirty="0">
              <a:latin typeface="Times New Roman" panose="02020603050405020304" pitchFamily="18" charset="0"/>
            </a:endParaRPr>
          </a:p>
          <a:p>
            <a:pPr marL="457200" indent="-457200">
              <a:buNone/>
            </a:pPr>
            <a:r>
              <a:rPr lang="en-US" altLang="zh-CN" sz="2000" b="1" dirty="0">
                <a:latin typeface="Times New Roman" panose="02020603050405020304" pitchFamily="18" charset="0"/>
              </a:rPr>
              <a:t>(4) </a:t>
            </a:r>
            <a:r>
              <a:rPr lang="zh-CN" altLang="en-US" sz="2000" b="1" dirty="0">
                <a:latin typeface="Times New Roman" panose="02020603050405020304" pitchFamily="18" charset="0"/>
              </a:rPr>
              <a:t>易于将定量分析与定性分析相结合。</a:t>
            </a:r>
            <a:endParaRPr lang="zh-CN" altLang="en-US" sz="20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charRg st="13" end="26"/>
                                            </p:txEl>
                                          </p:spTgt>
                                        </p:tgtEl>
                                        <p:attrNameLst>
                                          <p:attrName>style.visibility</p:attrName>
                                        </p:attrNameLst>
                                      </p:cBhvr>
                                      <p:to>
                                        <p:strVal val="visible"/>
                                      </p:to>
                                    </p:set>
                                    <p:animEffect transition="in" filter="blinds(horizontal)">
                                      <p:cBhvr>
                                        <p:cTn id="7" dur="500"/>
                                        <p:tgtEl>
                                          <p:spTgt spid="4">
                                            <p:txEl>
                                              <p:charRg st="13"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charRg st="27" end="63"/>
                                            </p:txEl>
                                          </p:spTgt>
                                        </p:tgtEl>
                                        <p:attrNameLst>
                                          <p:attrName>style.visibility</p:attrName>
                                        </p:attrNameLst>
                                      </p:cBhvr>
                                      <p:to>
                                        <p:strVal val="visible"/>
                                      </p:to>
                                    </p:set>
                                    <p:animEffect transition="in" filter="blinds(horizontal)">
                                      <p:cBhvr>
                                        <p:cTn id="12" dur="500"/>
                                        <p:tgtEl>
                                          <p:spTgt spid="4">
                                            <p:txEl>
                                              <p:charRg st="27" end="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charRg st="64" end="107"/>
                                            </p:txEl>
                                          </p:spTgt>
                                        </p:tgtEl>
                                        <p:attrNameLst>
                                          <p:attrName>style.visibility</p:attrName>
                                        </p:attrNameLst>
                                      </p:cBhvr>
                                      <p:to>
                                        <p:strVal val="visible"/>
                                      </p:to>
                                    </p:set>
                                    <p:animEffect transition="in" filter="blinds(horizontal)">
                                      <p:cBhvr>
                                        <p:cTn id="17" dur="500"/>
                                        <p:tgtEl>
                                          <p:spTgt spid="4">
                                            <p:txEl>
                                              <p:charRg st="64" end="10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charRg st="108" end="129"/>
                                            </p:txEl>
                                          </p:spTgt>
                                        </p:tgtEl>
                                        <p:attrNameLst>
                                          <p:attrName>style.visibility</p:attrName>
                                        </p:attrNameLst>
                                      </p:cBhvr>
                                      <p:to>
                                        <p:strVal val="visible"/>
                                      </p:to>
                                    </p:set>
                                    <p:animEffect transition="in" filter="blinds(horizontal)">
                                      <p:cBhvr>
                                        <p:cTn id="22" dur="500"/>
                                        <p:tgtEl>
                                          <p:spTgt spid="4">
                                            <p:txEl>
                                              <p:charRg st="108"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14.1 </a:t>
            </a:r>
            <a:r>
              <a:rPr lang="zh-CN" altLang="en-US" sz="3200" dirty="0">
                <a:solidFill>
                  <a:srgbClr val="0D04BE"/>
                </a:solidFill>
                <a:latin typeface="楷体_GB2312" pitchFamily="49" charset="-122"/>
                <a:ea typeface="楷体_GB2312" pitchFamily="49" charset="-122"/>
              </a:rPr>
              <a:t>启发式算法的概念</a:t>
            </a:r>
            <a:endParaRPr lang="zh-CN" altLang="en-US" sz="3200" dirty="0">
              <a:solidFill>
                <a:srgbClr val="0D04BE"/>
              </a:solidFill>
              <a:latin typeface="楷体_GB2312" pitchFamily="49" charset="-122"/>
              <a:ea typeface="楷体_GB2312" pitchFamily="49" charset="-122"/>
            </a:endParaRPr>
          </a:p>
        </p:txBody>
      </p:sp>
      <p:pic>
        <p:nvPicPr>
          <p:cNvPr id="11267" name="Picture 3"/>
          <p:cNvPicPr>
            <a:picLocks noChangeAspect="1"/>
          </p:cNvPicPr>
          <p:nvPr/>
        </p:nvPicPr>
        <p:blipFill>
          <a:blip r:embed="rId1"/>
          <a:stretch>
            <a:fillRect/>
          </a:stretch>
        </p:blipFill>
        <p:spPr>
          <a:xfrm>
            <a:off x="0" y="5661025"/>
            <a:ext cx="9144000" cy="1196975"/>
          </a:xfrm>
          <a:prstGeom prst="rect">
            <a:avLst/>
          </a:prstGeom>
          <a:noFill/>
          <a:ln w="9525">
            <a:noFill/>
          </a:ln>
        </p:spPr>
      </p:pic>
      <p:pic>
        <p:nvPicPr>
          <p:cNvPr id="11268" name="Picture 2"/>
          <p:cNvPicPr>
            <a:picLocks noChangeAspect="1"/>
          </p:cNvPicPr>
          <p:nvPr/>
        </p:nvPicPr>
        <p:blipFill>
          <a:blip r:embed="rId2"/>
          <a:stretch>
            <a:fillRect/>
          </a:stretch>
        </p:blipFill>
        <p:spPr>
          <a:xfrm>
            <a:off x="0" y="1412875"/>
            <a:ext cx="9144000" cy="4319588"/>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14.1 </a:t>
            </a:r>
            <a:r>
              <a:rPr lang="zh-CN" altLang="en-US" sz="3200" dirty="0">
                <a:solidFill>
                  <a:srgbClr val="0D04BE"/>
                </a:solidFill>
                <a:latin typeface="楷体_GB2312" pitchFamily="49" charset="-122"/>
                <a:ea typeface="楷体_GB2312" pitchFamily="49" charset="-122"/>
              </a:rPr>
              <a:t>启发式算法的概念</a:t>
            </a:r>
            <a:endParaRPr lang="zh-CN" altLang="en-US" sz="3200" dirty="0">
              <a:solidFill>
                <a:srgbClr val="0D04BE"/>
              </a:solidFill>
              <a:latin typeface="楷体_GB2312" pitchFamily="49" charset="-122"/>
              <a:ea typeface="楷体_GB2312" pitchFamily="49" charset="-122"/>
            </a:endParaRPr>
          </a:p>
        </p:txBody>
      </p:sp>
      <p:pic>
        <p:nvPicPr>
          <p:cNvPr id="12291" name="Picture 2"/>
          <p:cNvPicPr>
            <a:picLocks noChangeAspect="1"/>
          </p:cNvPicPr>
          <p:nvPr/>
        </p:nvPicPr>
        <p:blipFill>
          <a:blip r:embed="rId1"/>
          <a:stretch>
            <a:fillRect/>
          </a:stretch>
        </p:blipFill>
        <p:spPr>
          <a:xfrm>
            <a:off x="0" y="1773238"/>
            <a:ext cx="9144000" cy="4176712"/>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5"/>
          <p:cNvSpPr txBox="1"/>
          <p:nvPr/>
        </p:nvSpPr>
        <p:spPr>
          <a:xfrm>
            <a:off x="838200" y="762000"/>
            <a:ext cx="7391400" cy="579438"/>
          </a:xfrm>
          <a:prstGeom prst="rect">
            <a:avLst/>
          </a:prstGeom>
          <a:noFill/>
          <a:ln w="9525">
            <a:noFill/>
          </a:ln>
        </p:spPr>
        <p:txBody>
          <a:bodyPr>
            <a:spAutoFit/>
          </a:bodyPr>
          <a:p>
            <a:pPr eaLnBrk="1" hangingPunct="1">
              <a:spcBef>
                <a:spcPct val="50000"/>
              </a:spcBef>
            </a:pPr>
            <a:r>
              <a:rPr lang="zh-CN" altLang="en-US" sz="3200" b="1" dirty="0">
                <a:latin typeface="Arial" panose="020B0604020202020204" pitchFamily="34" charset="0"/>
              </a:rPr>
              <a:t>现代优化算法：上世纪</a:t>
            </a:r>
            <a:r>
              <a:rPr lang="en-US" altLang="zh-CN" sz="3200" b="1" dirty="0">
                <a:latin typeface="Arial" panose="020B0604020202020204" pitchFamily="34" charset="0"/>
              </a:rPr>
              <a:t>80</a:t>
            </a:r>
            <a:r>
              <a:rPr lang="zh-CN" altLang="en-US" sz="3200" b="1" dirty="0">
                <a:latin typeface="Arial" panose="020B0604020202020204" pitchFamily="34" charset="0"/>
              </a:rPr>
              <a:t>年代初兴起</a:t>
            </a:r>
            <a:endParaRPr lang="zh-CN" altLang="en-US" sz="3200" b="1" dirty="0">
              <a:latin typeface="Arial" panose="020B0604020202020204" pitchFamily="34" charset="0"/>
            </a:endParaRPr>
          </a:p>
        </p:txBody>
      </p:sp>
      <p:sp>
        <p:nvSpPr>
          <p:cNvPr id="73741" name="Text Box 13"/>
          <p:cNvSpPr txBox="1"/>
          <p:nvPr/>
        </p:nvSpPr>
        <p:spPr>
          <a:xfrm>
            <a:off x="1143000" y="1828800"/>
            <a:ext cx="7391400" cy="4278313"/>
          </a:xfrm>
          <a:prstGeom prst="rect">
            <a:avLst/>
          </a:prstGeom>
          <a:noFill/>
          <a:ln w="9525">
            <a:noFill/>
          </a:ln>
        </p:spPr>
        <p:txBody>
          <a:bodyPr>
            <a:spAutoFit/>
          </a:bodyPr>
          <a:p>
            <a:pPr eaLnBrk="1" hangingPunct="1">
              <a:spcBef>
                <a:spcPct val="50000"/>
              </a:spcBef>
              <a:buChar char="•"/>
            </a:pPr>
            <a:r>
              <a:rPr lang="zh-CN" altLang="en-US" sz="3200" dirty="0">
                <a:latin typeface="Arial" panose="020B0604020202020204" pitchFamily="34" charset="0"/>
              </a:rPr>
              <a:t>遗传算法（</a:t>
            </a:r>
            <a:r>
              <a:rPr lang="en-US" altLang="zh-CN" sz="3200" dirty="0">
                <a:latin typeface="Arial" panose="020B0604020202020204" pitchFamily="34" charset="0"/>
              </a:rPr>
              <a:t>genetic algorithms</a:t>
            </a:r>
            <a:r>
              <a:rPr lang="zh-CN" altLang="en-US" sz="3200" dirty="0">
                <a:latin typeface="Arial" panose="020B0604020202020204" pitchFamily="34" charset="0"/>
              </a:rPr>
              <a:t>）</a:t>
            </a:r>
            <a:endParaRPr lang="zh-CN" altLang="en-US" sz="3200" dirty="0">
              <a:latin typeface="Arial" panose="020B0604020202020204" pitchFamily="34" charset="0"/>
            </a:endParaRPr>
          </a:p>
          <a:p>
            <a:pPr eaLnBrk="1" hangingPunct="1">
              <a:spcBef>
                <a:spcPct val="50000"/>
              </a:spcBef>
              <a:buChar char="•"/>
            </a:pPr>
            <a:r>
              <a:rPr lang="zh-CN" altLang="en-US" sz="3200" dirty="0">
                <a:latin typeface="Arial" panose="020B0604020202020204" pitchFamily="34" charset="0"/>
              </a:rPr>
              <a:t>禁忌搜索（</a:t>
            </a:r>
            <a:r>
              <a:rPr lang="en-US" altLang="zh-CN" sz="3200" dirty="0">
                <a:latin typeface="Arial" panose="020B0604020202020204" pitchFamily="34" charset="0"/>
              </a:rPr>
              <a:t>tabu search</a:t>
            </a:r>
            <a:r>
              <a:rPr lang="zh-CN" altLang="en-US" sz="3200" dirty="0">
                <a:latin typeface="Arial" panose="020B0604020202020204" pitchFamily="34" charset="0"/>
              </a:rPr>
              <a:t>）</a:t>
            </a:r>
            <a:endParaRPr lang="zh-CN" altLang="en-US" sz="3200" dirty="0">
              <a:latin typeface="Arial" panose="020B0604020202020204" pitchFamily="34" charset="0"/>
            </a:endParaRPr>
          </a:p>
          <a:p>
            <a:pPr eaLnBrk="1" hangingPunct="1">
              <a:spcBef>
                <a:spcPct val="50000"/>
              </a:spcBef>
              <a:buChar char="•"/>
            </a:pPr>
            <a:r>
              <a:rPr lang="zh-CN" altLang="en-US" sz="3200" dirty="0">
                <a:latin typeface="Arial" panose="020B0604020202020204" pitchFamily="34" charset="0"/>
              </a:rPr>
              <a:t>模拟退火（</a:t>
            </a:r>
            <a:r>
              <a:rPr lang="en-US" altLang="zh-CN" sz="3200" dirty="0">
                <a:latin typeface="Arial" panose="020B0604020202020204" pitchFamily="34" charset="0"/>
              </a:rPr>
              <a:t>simulated</a:t>
            </a:r>
            <a:r>
              <a:rPr lang="zh-CN" altLang="en-US" sz="3200" dirty="0">
                <a:latin typeface="Arial" panose="020B0604020202020204" pitchFamily="34" charset="0"/>
              </a:rPr>
              <a:t> </a:t>
            </a:r>
            <a:r>
              <a:rPr lang="en-US" altLang="zh-CN" sz="3200" dirty="0">
                <a:latin typeface="Arial" panose="020B0604020202020204" pitchFamily="34" charset="0"/>
              </a:rPr>
              <a:t>annealing</a:t>
            </a:r>
            <a:r>
              <a:rPr lang="zh-CN" altLang="en-US" sz="3200" dirty="0">
                <a:latin typeface="Arial" panose="020B0604020202020204" pitchFamily="34" charset="0"/>
              </a:rPr>
              <a:t>）</a:t>
            </a:r>
            <a:endParaRPr lang="zh-CN" altLang="en-US" sz="3200" dirty="0">
              <a:latin typeface="Arial" panose="020B0604020202020204" pitchFamily="34" charset="0"/>
            </a:endParaRPr>
          </a:p>
          <a:p>
            <a:pPr eaLnBrk="1" hangingPunct="1">
              <a:spcBef>
                <a:spcPct val="50000"/>
              </a:spcBef>
              <a:buChar char="•"/>
            </a:pPr>
            <a:r>
              <a:rPr lang="zh-CN" altLang="en-US" sz="3200" dirty="0">
                <a:latin typeface="Arial" panose="020B0604020202020204" pitchFamily="34" charset="0"/>
              </a:rPr>
              <a:t>神经网络（</a:t>
            </a:r>
            <a:r>
              <a:rPr lang="en-US" altLang="zh-CN" sz="3200" dirty="0">
                <a:latin typeface="Arial" panose="020B0604020202020204" pitchFamily="34" charset="0"/>
              </a:rPr>
              <a:t>neural networks</a:t>
            </a:r>
            <a:r>
              <a:rPr lang="zh-CN" altLang="en-US" sz="3200" dirty="0">
                <a:latin typeface="Arial" panose="020B0604020202020204" pitchFamily="34" charset="0"/>
              </a:rPr>
              <a:t>）</a:t>
            </a:r>
            <a:endParaRPr lang="zh-CN" altLang="en-US" sz="3200" dirty="0">
              <a:latin typeface="Arial" panose="020B0604020202020204" pitchFamily="34" charset="0"/>
            </a:endParaRPr>
          </a:p>
          <a:p>
            <a:pPr eaLnBrk="1" hangingPunct="1">
              <a:spcBef>
                <a:spcPct val="50000"/>
              </a:spcBef>
              <a:buChar char="•"/>
            </a:pPr>
            <a:r>
              <a:rPr lang="zh-CN" altLang="en-US" sz="3200" dirty="0">
                <a:latin typeface="Arial" panose="020B0604020202020204" pitchFamily="34" charset="0"/>
              </a:rPr>
              <a:t>蚁群算法（</a:t>
            </a:r>
            <a:r>
              <a:rPr lang="en-US" altLang="zh-CN" sz="3200" dirty="0">
                <a:latin typeface="Arial" panose="020B0604020202020204" pitchFamily="34" charset="0"/>
              </a:rPr>
              <a:t>ant algotithms</a:t>
            </a:r>
            <a:r>
              <a:rPr lang="zh-CN" altLang="en-US" sz="3200" dirty="0">
                <a:latin typeface="Arial" panose="020B0604020202020204" pitchFamily="34" charset="0"/>
              </a:rPr>
              <a:t>）</a:t>
            </a:r>
            <a:endParaRPr lang="zh-CN" altLang="en-US" sz="3200" dirty="0">
              <a:latin typeface="Arial" panose="020B0604020202020204" pitchFamily="34" charset="0"/>
            </a:endParaRPr>
          </a:p>
          <a:p>
            <a:pPr eaLnBrk="1" hangingPunct="1">
              <a:spcBef>
                <a:spcPct val="50000"/>
              </a:spcBef>
              <a:buChar char="•"/>
            </a:pPr>
            <a:r>
              <a:rPr lang="zh-CN" altLang="en-US" sz="3200" dirty="0">
                <a:latin typeface="Arial" panose="020B0604020202020204" pitchFamily="34" charset="0"/>
              </a:rPr>
              <a:t>其他方法</a:t>
            </a:r>
            <a:endParaRPr lang="zh-CN" altLang="en-US" sz="32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3741"/>
                                        </p:tgtEl>
                                        <p:attrNameLst>
                                          <p:attrName>style.visibility</p:attrName>
                                        </p:attrNameLst>
                                      </p:cBhvr>
                                      <p:to>
                                        <p:strVal val="visible"/>
                                      </p:to>
                                    </p:set>
                                    <p:animEffect transition="in" filter="wipe(up)">
                                      <p:cBhvr>
                                        <p:cTn id="7" dur="500"/>
                                        <p:tgtEl>
                                          <p:spTgt spid="73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762000" y="609600"/>
            <a:ext cx="3733800" cy="579438"/>
          </a:xfrm>
          <a:prstGeom prst="rect">
            <a:avLst/>
          </a:prstGeom>
          <a:noFill/>
          <a:ln w="9525">
            <a:noFill/>
          </a:ln>
        </p:spPr>
        <p:txBody>
          <a:bodyPr>
            <a:spAutoFit/>
          </a:bodyPr>
          <a:p>
            <a:pPr eaLnBrk="1" hangingPunct="1">
              <a:spcBef>
                <a:spcPct val="50000"/>
              </a:spcBef>
            </a:pPr>
            <a:r>
              <a:rPr lang="zh-CN" altLang="en-US" sz="3200" b="1" dirty="0">
                <a:solidFill>
                  <a:srgbClr val="FF0000"/>
                </a:solidFill>
                <a:latin typeface="Arial" panose="020B0604020202020204" pitchFamily="34" charset="0"/>
              </a:rPr>
              <a:t>遗传算法</a:t>
            </a:r>
            <a:endParaRPr lang="zh-CN" altLang="en-US" sz="3200" b="1" dirty="0">
              <a:solidFill>
                <a:srgbClr val="FF0000"/>
              </a:solidFill>
              <a:latin typeface="Arial" panose="020B0604020202020204" pitchFamily="34" charset="0"/>
            </a:endParaRPr>
          </a:p>
        </p:txBody>
      </p:sp>
      <p:sp>
        <p:nvSpPr>
          <p:cNvPr id="14339" name="Text Box 6"/>
          <p:cNvSpPr txBox="1"/>
          <p:nvPr/>
        </p:nvSpPr>
        <p:spPr>
          <a:xfrm>
            <a:off x="990600" y="1706563"/>
            <a:ext cx="4267200" cy="579437"/>
          </a:xfrm>
          <a:prstGeom prst="rect">
            <a:avLst/>
          </a:prstGeom>
          <a:noFill/>
          <a:ln w="9525">
            <a:noFill/>
          </a:ln>
        </p:spPr>
        <p:txBody>
          <a:bodyPr>
            <a:spAutoFit/>
          </a:bodyPr>
          <a:p>
            <a:pPr eaLnBrk="1" hangingPunct="1">
              <a:spcBef>
                <a:spcPct val="50000"/>
              </a:spcBef>
            </a:pPr>
            <a:r>
              <a:rPr lang="en-US" altLang="zh-CN" sz="3200" b="1" dirty="0">
                <a:latin typeface="Arial" panose="020B0604020202020204" pitchFamily="34" charset="0"/>
              </a:rPr>
              <a:t>1 </a:t>
            </a:r>
            <a:r>
              <a:rPr lang="zh-CN" altLang="en-US" sz="3200" b="1" dirty="0">
                <a:latin typeface="Arial" panose="020B0604020202020204" pitchFamily="34" charset="0"/>
              </a:rPr>
              <a:t>遗传算法简介</a:t>
            </a:r>
            <a:endParaRPr lang="zh-CN" altLang="en-US" sz="3200" b="1" dirty="0">
              <a:latin typeface="Arial" panose="020B0604020202020204" pitchFamily="34" charset="0"/>
            </a:endParaRPr>
          </a:p>
        </p:txBody>
      </p:sp>
      <p:sp>
        <p:nvSpPr>
          <p:cNvPr id="145415" name="Text Box 7"/>
          <p:cNvSpPr txBox="1"/>
          <p:nvPr/>
        </p:nvSpPr>
        <p:spPr>
          <a:xfrm>
            <a:off x="1143000" y="2833688"/>
            <a:ext cx="4495800" cy="519112"/>
          </a:xfrm>
          <a:prstGeom prst="rect">
            <a:avLst/>
          </a:prstGeom>
          <a:noFill/>
          <a:ln w="9525">
            <a:noFill/>
          </a:ln>
        </p:spPr>
        <p:txBody>
          <a:bodyPr>
            <a:spAutoFit/>
          </a:bodyPr>
          <a:p>
            <a:pPr eaLnBrk="1" hangingPunct="1">
              <a:spcBef>
                <a:spcPct val="50000"/>
              </a:spcBef>
            </a:pPr>
            <a:r>
              <a:rPr lang="en-US" altLang="zh-CN" sz="2800" b="1" dirty="0">
                <a:latin typeface="Arial" panose="020B0604020202020204" pitchFamily="34" charset="0"/>
              </a:rPr>
              <a:t>19</a:t>
            </a:r>
            <a:r>
              <a:rPr lang="zh-CN" altLang="en-US" sz="2800" b="1" dirty="0">
                <a:latin typeface="Arial" panose="020B0604020202020204" pitchFamily="34" charset="0"/>
              </a:rPr>
              <a:t>世纪</a:t>
            </a:r>
            <a:r>
              <a:rPr lang="en-US" altLang="zh-CN" sz="2800" b="1" dirty="0">
                <a:latin typeface="Arial" panose="020B0604020202020204" pitchFamily="34" charset="0"/>
              </a:rPr>
              <a:t>60</a:t>
            </a:r>
            <a:r>
              <a:rPr lang="zh-CN" altLang="en-US" sz="2800" b="1" dirty="0">
                <a:latin typeface="Arial" panose="020B0604020202020204" pitchFamily="34" charset="0"/>
              </a:rPr>
              <a:t>年代   </a:t>
            </a:r>
            <a:r>
              <a:rPr lang="en-US" altLang="zh-CN" sz="2800" b="1" dirty="0">
                <a:latin typeface="Arial" panose="020B0604020202020204" pitchFamily="34" charset="0"/>
              </a:rPr>
              <a:t>Holland</a:t>
            </a:r>
            <a:endParaRPr lang="en-US" altLang="zh-CN" sz="2800" b="1" dirty="0">
              <a:latin typeface="Arial" panose="020B0604020202020204" pitchFamily="34" charset="0"/>
            </a:endParaRPr>
          </a:p>
        </p:txBody>
      </p:sp>
      <p:sp>
        <p:nvSpPr>
          <p:cNvPr id="145416" name="Text Box 8"/>
          <p:cNvSpPr txBox="1"/>
          <p:nvPr/>
        </p:nvSpPr>
        <p:spPr>
          <a:xfrm>
            <a:off x="1143000" y="3824288"/>
            <a:ext cx="7543800" cy="519112"/>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一族通过模拟自然进化过程搜索最优解的方法</a:t>
            </a:r>
            <a:endParaRPr lang="zh-CN" altLang="en-US" sz="28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5415">
                                            <p:txEl>
                                              <p:charRg st="0" end="19"/>
                                            </p:txEl>
                                          </p:spTgt>
                                        </p:tgtEl>
                                        <p:attrNameLst>
                                          <p:attrName>style.visibility</p:attrName>
                                        </p:attrNameLst>
                                      </p:cBhvr>
                                      <p:to>
                                        <p:strVal val="visible"/>
                                      </p:to>
                                    </p:set>
                                    <p:animEffect transition="in" filter="wipe(left)">
                                      <p:cBhvr>
                                        <p:cTn id="7" dur="500"/>
                                        <p:tgtEl>
                                          <p:spTgt spid="145415">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5416"/>
                                        </p:tgtEl>
                                        <p:attrNameLst>
                                          <p:attrName>style.visibility</p:attrName>
                                        </p:attrNameLst>
                                      </p:cBhvr>
                                      <p:to>
                                        <p:strVal val="visible"/>
                                      </p:to>
                                    </p:set>
                                    <p:animEffect transition="in" filter="wipe(left)">
                                      <p:cBhvr>
                                        <p:cTn id="12" dur="500"/>
                                        <p:tgtEl>
                                          <p:spTgt spid="145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txBox="1"/>
          <p:nvPr/>
        </p:nvSpPr>
        <p:spPr>
          <a:xfrm>
            <a:off x="990600" y="1169988"/>
            <a:ext cx="7239000" cy="3935412"/>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遗传算法是一种概率搜索算法，它是利用某种编码技术作用于称为染色体的二进制数串，其基本思想是模拟由这些串组成的群体的进化过程。遗传算法通过有组织的然而是随机的信息交换来重新结合那些适应性好的串，在每一代中，利用上一代串结构中适应性好的位和段来生成一个新的串的群体；作为额外添加，偶尔也要在串结构中尝试用新的位和段来替代原来的部分。</a:t>
            </a:r>
            <a:endParaRPr lang="zh-CN" altLang="en-US" sz="2800" b="1"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4"/>
          <p:cNvSpPr txBox="1"/>
          <p:nvPr/>
        </p:nvSpPr>
        <p:spPr>
          <a:xfrm>
            <a:off x="914400" y="1562100"/>
            <a:ext cx="7467600" cy="2227263"/>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与自然界相似，遗传算法对求解问题的本身一无所知，它所需要的仅是对算法所产生的每个染色体进行评价，并基于适应值来选择染色体，是适应性好的染色体比适应性差的染色体有更多的繁殖机会。</a:t>
            </a:r>
            <a:endParaRPr lang="zh-CN" altLang="en-US" sz="2800" b="1" dirty="0">
              <a:latin typeface="Arial" panose="020B0604020202020204" pitchFamily="34" charset="0"/>
            </a:endParaRPr>
          </a:p>
        </p:txBody>
      </p:sp>
      <p:sp>
        <p:nvSpPr>
          <p:cNvPr id="16387" name="Text Box 5"/>
          <p:cNvSpPr txBox="1"/>
          <p:nvPr/>
        </p:nvSpPr>
        <p:spPr>
          <a:xfrm>
            <a:off x="914400" y="3716338"/>
            <a:ext cx="7315200" cy="2227262"/>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遗传算法利用简单的编码技术和繁殖机制来表现复杂的现象，从而解决非常困难的问题。特别是它不受搜索空间的限制性假设的约束，不必要求诸如连续性、导数存在、单峰等假设，以及其固有的并行性。</a:t>
            </a:r>
            <a:endParaRPr lang="zh-CN" altLang="en-US" sz="2800" b="1"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2854" name="Group 102"/>
          <p:cNvGraphicFramePr>
            <a:graphicFrameLocks noGrp="1"/>
          </p:cNvGraphicFramePr>
          <p:nvPr/>
        </p:nvGraphicFramePr>
        <p:xfrm>
          <a:off x="914400" y="1333500"/>
          <a:ext cx="6934200" cy="4916488"/>
        </p:xfrm>
        <a:graphic>
          <a:graphicData uri="http://schemas.openxmlformats.org/drawingml/2006/table">
            <a:tbl>
              <a:tblPr/>
              <a:tblGrid>
                <a:gridCol w="2743200"/>
                <a:gridCol w="4191000"/>
              </a:tblGrid>
              <a:tr h="457164">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生物遗传概念</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遗传算法中的作用</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023">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适者生存</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在算法停止时，最优目标值的解有最大的可能被留住</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406367">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个体</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(individual)</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解</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504784">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染色体</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(chromosome)</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解的编码（字符串、向量等）</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52065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基因</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(gene)</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解中每一分量的特征（如分量值）</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406367">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适应性</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(fitness)</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适应函数值</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701023">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群体</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(population)</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选定的一组解（其中解的个数为群体的规模）</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406367">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种群</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(reproduction)</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根据适应函数选取的一组解</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406367">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交配</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(crossover)</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通过交配函数产生一组新解的过程</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a:noFill/>
                    </a:lnB>
                    <a:lnTlToBr>
                      <a:noFill/>
                    </a:lnTlToBr>
                    <a:lnBlToTr>
                      <a:noFill/>
                    </a:lnBlToTr>
                    <a:noFill/>
                  </a:tcPr>
                </a:tc>
              </a:tr>
              <a:tr h="406367">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变异</a:t>
                      </a: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(mutation)</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编码的某一个分量发生变化的过程</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434" name="Text Box 103"/>
          <p:cNvSpPr txBox="1"/>
          <p:nvPr/>
        </p:nvSpPr>
        <p:spPr>
          <a:xfrm>
            <a:off x="1295400" y="381000"/>
            <a:ext cx="6553200" cy="519113"/>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生物遗传概念在遗传算法中的对应关系</a:t>
            </a:r>
            <a:endParaRPr lang="zh-CN" altLang="en-US" sz="2800" b="1"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4"/>
          <p:cNvSpPr txBox="1"/>
          <p:nvPr/>
        </p:nvSpPr>
        <p:spPr>
          <a:xfrm>
            <a:off x="609600" y="457200"/>
            <a:ext cx="3657600" cy="519113"/>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遗传算法的优点：</a:t>
            </a:r>
            <a:endParaRPr lang="zh-CN" altLang="en-US" sz="2800" b="1" dirty="0">
              <a:latin typeface="Arial" panose="020B0604020202020204" pitchFamily="34" charset="0"/>
            </a:endParaRPr>
          </a:p>
        </p:txBody>
      </p:sp>
      <p:sp>
        <p:nvSpPr>
          <p:cNvPr id="18435" name="Text Box 5"/>
          <p:cNvSpPr txBox="1"/>
          <p:nvPr/>
        </p:nvSpPr>
        <p:spPr>
          <a:xfrm>
            <a:off x="914400" y="1066800"/>
            <a:ext cx="7391400" cy="2647950"/>
          </a:xfrm>
          <a:prstGeom prst="rect">
            <a:avLst/>
          </a:prstGeom>
          <a:noFill/>
          <a:ln w="9525">
            <a:noFill/>
          </a:ln>
        </p:spPr>
        <p:txBody>
          <a:bodyPr>
            <a:spAutoFit/>
          </a:bodyPr>
          <a:p>
            <a:pPr eaLnBrk="1" hangingPunct="1">
              <a:spcBef>
                <a:spcPct val="50000"/>
              </a:spcBef>
              <a:buChar char="•"/>
            </a:pPr>
            <a:r>
              <a:rPr lang="zh-CN" altLang="en-US" sz="2400" b="1" dirty="0">
                <a:latin typeface="Arial" panose="020B0604020202020204" pitchFamily="34" charset="0"/>
              </a:rPr>
              <a:t>适合数值求解那些带有多参数、多变量、多目标和在多区域但连通性较差的</a:t>
            </a:r>
            <a:r>
              <a:rPr lang="en-US" altLang="zh-CN" sz="2400" b="1" dirty="0">
                <a:latin typeface="Arial" panose="020B0604020202020204" pitchFamily="34" charset="0"/>
              </a:rPr>
              <a:t>NP-hard</a:t>
            </a:r>
            <a:r>
              <a:rPr lang="zh-CN" altLang="en-US" sz="2400" b="1" dirty="0">
                <a:latin typeface="Arial" panose="020B0604020202020204" pitchFamily="34" charset="0"/>
              </a:rPr>
              <a:t>优化问题，是一个有普适性的方法</a:t>
            </a:r>
            <a:endParaRPr lang="zh-CN" altLang="en-US" sz="2400" b="1" dirty="0">
              <a:latin typeface="Arial" panose="020B0604020202020204" pitchFamily="34" charset="0"/>
            </a:endParaRPr>
          </a:p>
          <a:p>
            <a:pPr eaLnBrk="1" hangingPunct="1">
              <a:spcBef>
                <a:spcPct val="50000"/>
              </a:spcBef>
              <a:buChar char="•"/>
            </a:pPr>
            <a:r>
              <a:rPr lang="zh-CN" altLang="en-US" sz="2400" b="1" dirty="0">
                <a:latin typeface="Arial" panose="020B0604020202020204" pitchFamily="34" charset="0"/>
              </a:rPr>
              <a:t>在求解很多组合优化问题时，不需要有很强的技巧和对问题有非常深入的了解</a:t>
            </a:r>
            <a:endParaRPr lang="zh-CN" altLang="en-US" sz="2400" b="1" dirty="0">
              <a:latin typeface="Arial" panose="020B0604020202020204" pitchFamily="34" charset="0"/>
            </a:endParaRPr>
          </a:p>
          <a:p>
            <a:pPr eaLnBrk="1" hangingPunct="1">
              <a:spcBef>
                <a:spcPct val="50000"/>
              </a:spcBef>
              <a:buChar char="•"/>
            </a:pPr>
            <a:r>
              <a:rPr lang="zh-CN" altLang="en-US" sz="2400" b="1" dirty="0">
                <a:latin typeface="Arial" panose="020B0604020202020204" pitchFamily="34" charset="0"/>
              </a:rPr>
              <a:t>同其他启发式算法有较好的兼容性</a:t>
            </a:r>
            <a:endParaRPr lang="zh-CN" altLang="en-US" sz="2400" b="1" dirty="0">
              <a:latin typeface="Arial" panose="020B0604020202020204" pitchFamily="34" charset="0"/>
            </a:endParaRPr>
          </a:p>
        </p:txBody>
      </p:sp>
      <p:sp>
        <p:nvSpPr>
          <p:cNvPr id="18436" name="Text Box 6"/>
          <p:cNvSpPr txBox="1"/>
          <p:nvPr/>
        </p:nvSpPr>
        <p:spPr>
          <a:xfrm>
            <a:off x="609600" y="4129088"/>
            <a:ext cx="3657600" cy="519112"/>
          </a:xfrm>
          <a:prstGeom prst="rect">
            <a:avLst/>
          </a:prstGeom>
          <a:noFill/>
          <a:ln w="9525">
            <a:noFill/>
          </a:ln>
        </p:spPr>
        <p:txBody>
          <a:bodyPr>
            <a:spAutoFit/>
          </a:bodyPr>
          <a:p>
            <a:pPr eaLnBrk="1" hangingPunct="1">
              <a:spcBef>
                <a:spcPct val="50000"/>
              </a:spcBef>
            </a:pPr>
            <a:r>
              <a:rPr lang="zh-CN" altLang="en-US" sz="2800" b="1" dirty="0">
                <a:latin typeface="Arial" panose="020B0604020202020204" pitchFamily="34" charset="0"/>
              </a:rPr>
              <a:t>遗传算法的缺点：</a:t>
            </a:r>
            <a:endParaRPr lang="zh-CN" altLang="en-US" sz="2800" b="1" dirty="0">
              <a:latin typeface="Arial" panose="020B0604020202020204" pitchFamily="34" charset="0"/>
            </a:endParaRPr>
          </a:p>
        </p:txBody>
      </p:sp>
      <p:sp>
        <p:nvSpPr>
          <p:cNvPr id="18437" name="Text Box 7"/>
          <p:cNvSpPr txBox="1"/>
          <p:nvPr/>
        </p:nvSpPr>
        <p:spPr>
          <a:xfrm>
            <a:off x="838200" y="4772025"/>
            <a:ext cx="7391400" cy="1552575"/>
          </a:xfrm>
          <a:prstGeom prst="rect">
            <a:avLst/>
          </a:prstGeom>
          <a:noFill/>
          <a:ln w="9525">
            <a:noFill/>
          </a:ln>
        </p:spPr>
        <p:txBody>
          <a:bodyPr>
            <a:spAutoFit/>
          </a:bodyPr>
          <a:p>
            <a:pPr eaLnBrk="1" hangingPunct="1">
              <a:spcBef>
                <a:spcPct val="50000"/>
              </a:spcBef>
              <a:buChar char="•"/>
            </a:pPr>
            <a:r>
              <a:rPr lang="zh-CN" altLang="en-US" sz="2400" b="1" dirty="0">
                <a:latin typeface="Arial" panose="020B0604020202020204" pitchFamily="34" charset="0"/>
              </a:rPr>
              <a:t>编码不规范及编码存在表示的不准确性</a:t>
            </a:r>
            <a:endParaRPr lang="zh-CN" altLang="en-US" sz="2400" b="1" dirty="0">
              <a:latin typeface="Arial" panose="020B0604020202020204" pitchFamily="34" charset="0"/>
            </a:endParaRPr>
          </a:p>
          <a:p>
            <a:pPr eaLnBrk="1" hangingPunct="1">
              <a:spcBef>
                <a:spcPct val="50000"/>
              </a:spcBef>
              <a:buChar char="•"/>
            </a:pPr>
            <a:r>
              <a:rPr lang="zh-CN" altLang="en-US" sz="2400" b="1" dirty="0">
                <a:latin typeface="Arial" panose="020B0604020202020204" pitchFamily="34" charset="0"/>
              </a:rPr>
              <a:t>单一的遗传算法编码不能全面表示优化问题的约束</a:t>
            </a:r>
            <a:endParaRPr lang="zh-CN" altLang="en-US" sz="2400" b="1" dirty="0">
              <a:latin typeface="Arial" panose="020B0604020202020204" pitchFamily="34" charset="0"/>
            </a:endParaRPr>
          </a:p>
          <a:p>
            <a:pPr eaLnBrk="1" hangingPunct="1">
              <a:spcBef>
                <a:spcPct val="50000"/>
              </a:spcBef>
              <a:buChar char="•"/>
            </a:pPr>
            <a:r>
              <a:rPr lang="zh-CN" altLang="en-US" sz="2400" b="1" dirty="0">
                <a:latin typeface="Arial" panose="020B0604020202020204" pitchFamily="34" charset="0"/>
              </a:rPr>
              <a:t>是否能保证收敛到最优解？</a:t>
            </a:r>
            <a:endParaRPr lang="zh-CN" altLang="en-US" sz="2400" b="1"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6"/>
          <p:cNvSpPr txBox="1"/>
          <p:nvPr/>
        </p:nvSpPr>
        <p:spPr>
          <a:xfrm>
            <a:off x="762000" y="1676400"/>
            <a:ext cx="7620000" cy="946150"/>
          </a:xfrm>
          <a:prstGeom prst="rect">
            <a:avLst/>
          </a:prstGeom>
          <a:noFill/>
          <a:ln w="9525">
            <a:noFill/>
          </a:ln>
        </p:spPr>
        <p:txBody>
          <a:bodyPr>
            <a:spAutoFit/>
          </a:bodyPr>
          <a:p>
            <a:pPr eaLnBrk="1" hangingPunct="1">
              <a:spcBef>
                <a:spcPct val="50000"/>
              </a:spcBef>
            </a:pPr>
            <a:r>
              <a:rPr lang="en-US" altLang="zh-CN" sz="2800" b="1" dirty="0">
                <a:latin typeface="Arial" panose="020B0604020202020204" pitchFamily="34" charset="0"/>
              </a:rPr>
              <a:t>1</a:t>
            </a:r>
            <a:r>
              <a:rPr lang="zh-CN" altLang="en-US" sz="2800" b="1" dirty="0">
                <a:latin typeface="Arial" panose="020B0604020202020204" pitchFamily="34" charset="0"/>
              </a:rPr>
              <a:t>）编码：将解空间的解数据表示成遗传空间的基因型串结构数据；</a:t>
            </a:r>
            <a:endParaRPr lang="zh-CN" altLang="en-US" sz="2800" b="1" dirty="0">
              <a:latin typeface="Arial" panose="020B0604020202020204" pitchFamily="34" charset="0"/>
            </a:endParaRPr>
          </a:p>
        </p:txBody>
      </p:sp>
      <p:sp>
        <p:nvSpPr>
          <p:cNvPr id="19459" name="Text Box 7"/>
          <p:cNvSpPr txBox="1"/>
          <p:nvPr/>
        </p:nvSpPr>
        <p:spPr>
          <a:xfrm>
            <a:off x="609600" y="762000"/>
            <a:ext cx="3810000" cy="579438"/>
          </a:xfrm>
          <a:prstGeom prst="rect">
            <a:avLst/>
          </a:prstGeom>
          <a:noFill/>
          <a:ln w="9525">
            <a:noFill/>
          </a:ln>
        </p:spPr>
        <p:txBody>
          <a:bodyPr>
            <a:spAutoFit/>
          </a:bodyPr>
          <a:p>
            <a:pPr eaLnBrk="1" hangingPunct="1">
              <a:spcBef>
                <a:spcPct val="50000"/>
              </a:spcBef>
            </a:pPr>
            <a:r>
              <a:rPr lang="en-US" altLang="zh-CN" sz="3200" b="1" dirty="0">
                <a:latin typeface="Arial" panose="020B0604020202020204" pitchFamily="34" charset="0"/>
              </a:rPr>
              <a:t>2 </a:t>
            </a:r>
            <a:r>
              <a:rPr lang="zh-CN" altLang="en-US" sz="3200" b="1" dirty="0">
                <a:latin typeface="Arial" panose="020B0604020202020204" pitchFamily="34" charset="0"/>
              </a:rPr>
              <a:t>遗传算法流程</a:t>
            </a:r>
            <a:endParaRPr lang="zh-CN" altLang="en-US" sz="3200" b="1" dirty="0">
              <a:latin typeface="Arial" panose="020B0604020202020204" pitchFamily="34" charset="0"/>
            </a:endParaRPr>
          </a:p>
        </p:txBody>
      </p:sp>
      <p:sp>
        <p:nvSpPr>
          <p:cNvPr id="19460" name="Text Box 8"/>
          <p:cNvSpPr txBox="1"/>
          <p:nvPr/>
        </p:nvSpPr>
        <p:spPr>
          <a:xfrm>
            <a:off x="1143000" y="3048000"/>
            <a:ext cx="6781800" cy="1798638"/>
          </a:xfrm>
          <a:prstGeom prst="rect">
            <a:avLst/>
          </a:prstGeom>
          <a:noFill/>
          <a:ln w="9525">
            <a:noFill/>
          </a:ln>
        </p:spPr>
        <p:txBody>
          <a:bodyPr>
            <a:spAutoFit/>
          </a:bodyPr>
          <a:p>
            <a:pPr eaLnBrk="1" hangingPunct="1">
              <a:spcBef>
                <a:spcPct val="50000"/>
              </a:spcBef>
              <a:buChar char="•"/>
            </a:pPr>
            <a:r>
              <a:rPr lang="en-US" altLang="zh-CN" sz="3200" b="1" dirty="0">
                <a:latin typeface="Arial" panose="020B0604020202020204" pitchFamily="34" charset="0"/>
              </a:rPr>
              <a:t>0</a:t>
            </a:r>
            <a:r>
              <a:rPr lang="zh-CN" altLang="en-US" sz="3200" b="1" dirty="0">
                <a:latin typeface="Arial" panose="020B0604020202020204" pitchFamily="34" charset="0"/>
              </a:rPr>
              <a:t>，</a:t>
            </a:r>
            <a:r>
              <a:rPr lang="en-US" altLang="zh-CN" sz="3200" b="1" dirty="0">
                <a:latin typeface="Arial" panose="020B0604020202020204" pitchFamily="34" charset="0"/>
              </a:rPr>
              <a:t>1</a:t>
            </a:r>
            <a:r>
              <a:rPr lang="zh-CN" altLang="en-US" sz="3200" b="1" dirty="0">
                <a:latin typeface="Arial" panose="020B0604020202020204" pitchFamily="34" charset="0"/>
              </a:rPr>
              <a:t>二进制编码：</a:t>
            </a:r>
            <a:r>
              <a:rPr lang="en-US" altLang="zh-CN" sz="3200" b="1" dirty="0">
                <a:latin typeface="Arial" panose="020B0604020202020204" pitchFamily="34" charset="0"/>
              </a:rPr>
              <a:t>0-1</a:t>
            </a:r>
            <a:r>
              <a:rPr lang="zh-CN" altLang="en-US" sz="3200" b="1" dirty="0">
                <a:latin typeface="Arial" panose="020B0604020202020204" pitchFamily="34" charset="0"/>
              </a:rPr>
              <a:t>背包问题</a:t>
            </a:r>
            <a:endParaRPr lang="zh-CN" altLang="en-US" sz="3200" b="1" dirty="0">
              <a:latin typeface="Arial" panose="020B0604020202020204" pitchFamily="34" charset="0"/>
            </a:endParaRPr>
          </a:p>
          <a:p>
            <a:pPr eaLnBrk="1" hangingPunct="1">
              <a:spcBef>
                <a:spcPct val="50000"/>
              </a:spcBef>
              <a:buChar char="•"/>
            </a:pPr>
            <a:r>
              <a:rPr lang="zh-CN" altLang="en-US" sz="3200" b="1" dirty="0">
                <a:latin typeface="Arial" panose="020B0604020202020204" pitchFamily="34" charset="0"/>
              </a:rPr>
              <a:t>非常规编码（非</a:t>
            </a:r>
            <a:r>
              <a:rPr lang="en-US" altLang="zh-CN" sz="3200" b="1" dirty="0">
                <a:latin typeface="Arial" panose="020B0604020202020204" pitchFamily="34" charset="0"/>
              </a:rPr>
              <a:t>0-1</a:t>
            </a:r>
            <a:r>
              <a:rPr lang="zh-CN" altLang="en-US" sz="3200" b="1" dirty="0">
                <a:latin typeface="Arial" panose="020B0604020202020204" pitchFamily="34" charset="0"/>
              </a:rPr>
              <a:t>编码）：</a:t>
            </a:r>
            <a:r>
              <a:rPr lang="en-US" altLang="zh-CN" sz="3200" b="1" dirty="0">
                <a:latin typeface="Arial" panose="020B0604020202020204" pitchFamily="34" charset="0"/>
              </a:rPr>
              <a:t>TSP</a:t>
            </a:r>
            <a:r>
              <a:rPr lang="zh-CN" altLang="en-US" sz="3200" b="1" dirty="0">
                <a:latin typeface="Arial" panose="020B0604020202020204" pitchFamily="34" charset="0"/>
              </a:rPr>
              <a:t>，约束机器排序问题</a:t>
            </a:r>
            <a:endParaRPr lang="zh-CN" altLang="en-US" sz="3200" b="1"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2"/>
          <p:cNvSpPr txBox="1"/>
          <p:nvPr/>
        </p:nvSpPr>
        <p:spPr>
          <a:xfrm>
            <a:off x="457200" y="609600"/>
            <a:ext cx="8305800" cy="946150"/>
          </a:xfrm>
          <a:prstGeom prst="rect">
            <a:avLst/>
          </a:prstGeom>
          <a:noFill/>
          <a:ln w="9525">
            <a:noFill/>
          </a:ln>
        </p:spPr>
        <p:txBody>
          <a:bodyPr>
            <a:spAutoFit/>
          </a:bodyPr>
          <a:p>
            <a:pPr eaLnBrk="1" hangingPunct="1">
              <a:spcBef>
                <a:spcPct val="50000"/>
              </a:spcBef>
            </a:pPr>
            <a:r>
              <a:rPr lang="en-US" altLang="zh-CN" sz="2800" b="1" dirty="0">
                <a:latin typeface="Arial" panose="020B0604020202020204" pitchFamily="34" charset="0"/>
              </a:rPr>
              <a:t>2</a:t>
            </a:r>
            <a:r>
              <a:rPr lang="zh-CN" altLang="en-US" sz="2800" b="1" dirty="0">
                <a:latin typeface="Arial" panose="020B0604020202020204" pitchFamily="34" charset="0"/>
              </a:rPr>
              <a:t>）初始化：设置进化代数计数器 </a:t>
            </a:r>
            <a:r>
              <a:rPr lang="en-US" altLang="zh-CN" sz="2800" b="1" dirty="0">
                <a:latin typeface="Arial" panose="020B0604020202020204" pitchFamily="34" charset="0"/>
              </a:rPr>
              <a:t>t=0</a:t>
            </a:r>
            <a:r>
              <a:rPr lang="zh-CN" altLang="en-US" sz="2800" b="1" dirty="0">
                <a:latin typeface="Arial" panose="020B0604020202020204" pitchFamily="34" charset="0"/>
              </a:rPr>
              <a:t>，设置最大进化代数</a:t>
            </a:r>
            <a:r>
              <a:rPr lang="en-US" altLang="zh-CN" sz="2800" b="1" dirty="0">
                <a:latin typeface="Arial" panose="020B0604020202020204" pitchFamily="34" charset="0"/>
              </a:rPr>
              <a:t>T</a:t>
            </a:r>
            <a:r>
              <a:rPr lang="zh-CN" altLang="en-US" sz="2800" b="1" dirty="0">
                <a:latin typeface="Arial" panose="020B0604020202020204" pitchFamily="34" charset="0"/>
              </a:rPr>
              <a:t>，随机生成</a:t>
            </a:r>
            <a:r>
              <a:rPr lang="en-US" altLang="zh-CN" sz="2800" b="1" dirty="0">
                <a:latin typeface="Arial" panose="020B0604020202020204" pitchFamily="34" charset="0"/>
              </a:rPr>
              <a:t>M</a:t>
            </a:r>
            <a:r>
              <a:rPr lang="zh-CN" altLang="en-US" sz="2800" b="1" dirty="0">
                <a:latin typeface="Arial" panose="020B0604020202020204" pitchFamily="34" charset="0"/>
              </a:rPr>
              <a:t>个个体作为初始种群</a:t>
            </a:r>
            <a:r>
              <a:rPr lang="en-US" altLang="zh-CN" sz="2800" b="1" dirty="0">
                <a:latin typeface="Arial" panose="020B0604020202020204" pitchFamily="34" charset="0"/>
              </a:rPr>
              <a:t>P(0)</a:t>
            </a:r>
            <a:endParaRPr lang="en-US" altLang="zh-CN" sz="2800" b="1" dirty="0">
              <a:latin typeface="Arial" panose="020B0604020202020204" pitchFamily="34" charset="0"/>
            </a:endParaRPr>
          </a:p>
        </p:txBody>
      </p:sp>
      <p:sp>
        <p:nvSpPr>
          <p:cNvPr id="20483" name="Text Box 3"/>
          <p:cNvSpPr txBox="1"/>
          <p:nvPr/>
        </p:nvSpPr>
        <p:spPr>
          <a:xfrm>
            <a:off x="2971800" y="1798638"/>
            <a:ext cx="2743200" cy="2774950"/>
          </a:xfrm>
          <a:prstGeom prst="rect">
            <a:avLst/>
          </a:prstGeom>
          <a:noFill/>
          <a:ln w="9525">
            <a:noFill/>
          </a:ln>
        </p:spPr>
        <p:txBody>
          <a:bodyPr>
            <a:spAutoFit/>
          </a:bodyPr>
          <a:p>
            <a:pPr eaLnBrk="1" hangingPunct="1">
              <a:spcBef>
                <a:spcPct val="50000"/>
              </a:spcBef>
            </a:pPr>
            <a:r>
              <a:rPr lang="en-US" altLang="zh-CN" sz="3200" b="1" dirty="0">
                <a:latin typeface="Arial" panose="020B0604020202020204" pitchFamily="34" charset="0"/>
              </a:rPr>
              <a:t>5 2 1 4 3 5</a:t>
            </a:r>
            <a:endParaRPr lang="en-US" altLang="zh-CN" sz="3200" b="1" dirty="0">
              <a:latin typeface="Arial" panose="020B0604020202020204" pitchFamily="34" charset="0"/>
            </a:endParaRPr>
          </a:p>
          <a:p>
            <a:pPr eaLnBrk="1" hangingPunct="1">
              <a:spcBef>
                <a:spcPct val="50000"/>
              </a:spcBef>
            </a:pPr>
            <a:r>
              <a:rPr lang="en-US" altLang="zh-CN" sz="3200" b="1" dirty="0">
                <a:latin typeface="Arial" panose="020B0604020202020204" pitchFamily="34" charset="0"/>
              </a:rPr>
              <a:t>2 4 3 1 5 2</a:t>
            </a:r>
            <a:endParaRPr lang="en-US" altLang="zh-CN" sz="3200" b="1" dirty="0">
              <a:latin typeface="Arial" panose="020B0604020202020204" pitchFamily="34" charset="0"/>
            </a:endParaRPr>
          </a:p>
          <a:p>
            <a:pPr eaLnBrk="1" hangingPunct="1">
              <a:spcBef>
                <a:spcPct val="50000"/>
              </a:spcBef>
            </a:pPr>
            <a:r>
              <a:rPr lang="en-US" altLang="zh-CN" sz="3200" b="1" dirty="0">
                <a:latin typeface="Arial" panose="020B0604020202020204" pitchFamily="34" charset="0"/>
              </a:rPr>
              <a:t>3 4 2 1 5 3</a:t>
            </a:r>
            <a:endParaRPr lang="en-US" altLang="zh-CN" sz="3200" b="1" dirty="0">
              <a:latin typeface="Arial" panose="020B0604020202020204" pitchFamily="34" charset="0"/>
            </a:endParaRPr>
          </a:p>
          <a:p>
            <a:pPr eaLnBrk="1" hangingPunct="1">
              <a:spcBef>
                <a:spcPct val="50000"/>
              </a:spcBef>
            </a:pPr>
            <a:r>
              <a:rPr lang="en-US" altLang="zh-CN" sz="3200" b="1" dirty="0">
                <a:latin typeface="Arial" panose="020B0604020202020204" pitchFamily="34" charset="0"/>
              </a:rPr>
              <a:t>1 4 5 2 3 1</a:t>
            </a:r>
            <a:endParaRPr lang="en-US" altLang="zh-CN" sz="3200" b="1" dirty="0">
              <a:latin typeface="Arial" panose="020B0604020202020204" pitchFamily="34" charset="0"/>
            </a:endParaRPr>
          </a:p>
        </p:txBody>
      </p:sp>
      <p:sp>
        <p:nvSpPr>
          <p:cNvPr id="20484" name="Text Box 4"/>
          <p:cNvSpPr txBox="1"/>
          <p:nvPr/>
        </p:nvSpPr>
        <p:spPr>
          <a:xfrm>
            <a:off x="990600" y="1752600"/>
            <a:ext cx="1676400" cy="579438"/>
          </a:xfrm>
          <a:prstGeom prst="rect">
            <a:avLst/>
          </a:prstGeom>
          <a:noFill/>
          <a:ln w="9525">
            <a:noFill/>
          </a:ln>
        </p:spPr>
        <p:txBody>
          <a:bodyPr>
            <a:spAutoFit/>
          </a:bodyPr>
          <a:p>
            <a:pPr eaLnBrk="1" hangingPunct="1">
              <a:spcBef>
                <a:spcPct val="50000"/>
              </a:spcBef>
            </a:pPr>
            <a:r>
              <a:rPr lang="zh-CN" altLang="en-US" sz="3200" b="1" dirty="0">
                <a:latin typeface="Arial" panose="020B0604020202020204" pitchFamily="34" charset="0"/>
              </a:rPr>
              <a:t>例如：</a:t>
            </a:r>
            <a:endParaRPr lang="zh-CN" altLang="en-US" sz="3200" b="1" dirty="0">
              <a:latin typeface="Arial" panose="020B0604020202020204" pitchFamily="34" charset="0"/>
            </a:endParaRPr>
          </a:p>
        </p:txBody>
      </p:sp>
      <p:sp>
        <p:nvSpPr>
          <p:cNvPr id="20485" name="Text Box 7"/>
          <p:cNvSpPr txBox="1"/>
          <p:nvPr/>
        </p:nvSpPr>
        <p:spPr>
          <a:xfrm>
            <a:off x="914400" y="5105400"/>
            <a:ext cx="6400800" cy="1311275"/>
          </a:xfrm>
          <a:prstGeom prst="rect">
            <a:avLst/>
          </a:prstGeom>
          <a:noFill/>
          <a:ln w="9525">
            <a:noFill/>
          </a:ln>
        </p:spPr>
        <p:txBody>
          <a:bodyPr>
            <a:spAutoFit/>
          </a:bodyPr>
          <a:p>
            <a:pPr eaLnBrk="1" hangingPunct="1">
              <a:spcBef>
                <a:spcPct val="50000"/>
              </a:spcBef>
              <a:buChar char="•"/>
            </a:pPr>
            <a:r>
              <a:rPr lang="zh-CN" altLang="en-US" sz="3200" b="1" dirty="0">
                <a:latin typeface="Arial" panose="020B0604020202020204" pitchFamily="34" charset="0"/>
              </a:rPr>
              <a:t>群体的规模</a:t>
            </a:r>
            <a:endParaRPr lang="zh-CN" altLang="en-US" sz="3200" b="1" dirty="0">
              <a:latin typeface="Arial" panose="020B0604020202020204" pitchFamily="34" charset="0"/>
            </a:endParaRPr>
          </a:p>
          <a:p>
            <a:pPr eaLnBrk="1" hangingPunct="1">
              <a:spcBef>
                <a:spcPct val="50000"/>
              </a:spcBef>
              <a:buChar char="•"/>
            </a:pPr>
            <a:r>
              <a:rPr lang="zh-CN" altLang="en-US" sz="3200" b="1" dirty="0">
                <a:latin typeface="Arial" panose="020B0604020202020204" pitchFamily="34" charset="0"/>
              </a:rPr>
              <a:t>初始群体的选择</a:t>
            </a:r>
            <a:endParaRPr lang="zh-CN" altLang="en-US" sz="3200" b="1"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8" name="Text Box 2"/>
          <p:cNvSpPr txBox="1"/>
          <p:nvPr/>
        </p:nvSpPr>
        <p:spPr>
          <a:xfrm>
            <a:off x="533400" y="609600"/>
            <a:ext cx="8077200" cy="946150"/>
          </a:xfrm>
          <a:prstGeom prst="rect">
            <a:avLst/>
          </a:prstGeom>
          <a:noFill/>
          <a:ln w="9525">
            <a:noFill/>
          </a:ln>
        </p:spPr>
        <p:txBody>
          <a:bodyPr>
            <a:spAutoFit/>
          </a:bodyPr>
          <a:p>
            <a:pPr eaLnBrk="1" hangingPunct="1">
              <a:spcBef>
                <a:spcPct val="50000"/>
              </a:spcBef>
            </a:pPr>
            <a:r>
              <a:rPr lang="en-US" altLang="zh-CN" sz="2800" b="1" dirty="0">
                <a:latin typeface="Arial" panose="020B0604020202020204" pitchFamily="34" charset="0"/>
              </a:rPr>
              <a:t>3</a:t>
            </a:r>
            <a:r>
              <a:rPr lang="zh-CN" altLang="en-US" sz="2800" b="1" dirty="0">
                <a:latin typeface="Arial" panose="020B0604020202020204" pitchFamily="34" charset="0"/>
              </a:rPr>
              <a:t>）个体评价（适应函数）：计算种群</a:t>
            </a:r>
            <a:r>
              <a:rPr lang="en-US" altLang="zh-CN" sz="2800" b="1" dirty="0">
                <a:latin typeface="Arial" panose="020B0604020202020204" pitchFamily="34" charset="0"/>
              </a:rPr>
              <a:t>P(t)</a:t>
            </a:r>
            <a:r>
              <a:rPr lang="zh-CN" altLang="en-US" sz="2800" b="1" dirty="0">
                <a:latin typeface="Arial" panose="020B0604020202020204" pitchFamily="34" charset="0"/>
              </a:rPr>
              <a:t>中各个个体的适应度</a:t>
            </a:r>
            <a:endParaRPr lang="zh-CN" altLang="en-US" sz="2800" b="1" dirty="0">
              <a:latin typeface="Arial" panose="020B0604020202020204" pitchFamily="34" charset="0"/>
            </a:endParaRPr>
          </a:p>
        </p:txBody>
      </p:sp>
      <p:sp>
        <p:nvSpPr>
          <p:cNvPr id="1029" name="Text Box 3"/>
          <p:cNvSpPr txBox="1"/>
          <p:nvPr/>
        </p:nvSpPr>
        <p:spPr>
          <a:xfrm>
            <a:off x="914400" y="2514600"/>
            <a:ext cx="6248400" cy="519113"/>
          </a:xfrm>
          <a:prstGeom prst="rect">
            <a:avLst/>
          </a:prstGeom>
          <a:noFill/>
          <a:ln w="9525">
            <a:noFill/>
          </a:ln>
        </p:spPr>
        <p:txBody>
          <a:bodyPr>
            <a:spAutoFit/>
          </a:bodyPr>
          <a:p>
            <a:pPr eaLnBrk="1" hangingPunct="1">
              <a:spcBef>
                <a:spcPct val="50000"/>
              </a:spcBef>
              <a:buChar char="•"/>
            </a:pPr>
            <a:r>
              <a:rPr lang="zh-CN" altLang="en-US" sz="2800" b="1" dirty="0">
                <a:latin typeface="Arial" panose="020B0604020202020204" pitchFamily="34" charset="0"/>
              </a:rPr>
              <a:t>非线性加速适应函数</a:t>
            </a:r>
            <a:endParaRPr lang="zh-CN" altLang="en-US" sz="2800" b="1" dirty="0">
              <a:latin typeface="Arial" panose="020B0604020202020204" pitchFamily="34" charset="0"/>
            </a:endParaRPr>
          </a:p>
        </p:txBody>
      </p:sp>
      <p:graphicFrame>
        <p:nvGraphicFramePr>
          <p:cNvPr id="1026" name="Object 4"/>
          <p:cNvGraphicFramePr>
            <a:graphicFrameLocks noChangeAspect="1"/>
          </p:cNvGraphicFramePr>
          <p:nvPr/>
        </p:nvGraphicFramePr>
        <p:xfrm>
          <a:off x="2743200" y="5410200"/>
          <a:ext cx="3074988" cy="423863"/>
        </p:xfrm>
        <a:graphic>
          <a:graphicData uri="http://schemas.openxmlformats.org/presentationml/2006/ole">
            <mc:AlternateContent xmlns:mc="http://schemas.openxmlformats.org/markup-compatibility/2006">
              <mc:Choice xmlns:v="urn:schemas-microsoft-com:vml" Requires="v">
                <p:oleObj spid="_x0000_s3077" name="" r:id="rId1" imgW="1473200" imgH="203200" progId="Equation.DSMT4">
                  <p:embed/>
                </p:oleObj>
              </mc:Choice>
              <mc:Fallback>
                <p:oleObj name="" r:id="rId1" imgW="1473200" imgH="203200" progId="Equation.DSMT4">
                  <p:embed/>
                  <p:pic>
                    <p:nvPicPr>
                      <p:cNvPr id="0" name="图片 3076"/>
                      <p:cNvPicPr/>
                      <p:nvPr/>
                    </p:nvPicPr>
                    <p:blipFill>
                      <a:blip r:embed="rId2"/>
                      <a:stretch>
                        <a:fillRect/>
                      </a:stretch>
                    </p:blipFill>
                    <p:spPr>
                      <a:xfrm>
                        <a:off x="2743200" y="5410200"/>
                        <a:ext cx="3074988" cy="423863"/>
                      </a:xfrm>
                      <a:prstGeom prst="rect">
                        <a:avLst/>
                      </a:prstGeom>
                      <a:noFill/>
                      <a:ln w="38100">
                        <a:noFill/>
                        <a:miter/>
                      </a:ln>
                    </p:spPr>
                  </p:pic>
                </p:oleObj>
              </mc:Fallback>
            </mc:AlternateContent>
          </a:graphicData>
        </a:graphic>
      </p:graphicFrame>
      <p:graphicFrame>
        <p:nvGraphicFramePr>
          <p:cNvPr id="1027" name="Object 5"/>
          <p:cNvGraphicFramePr>
            <a:graphicFrameLocks noChangeAspect="1"/>
          </p:cNvGraphicFramePr>
          <p:nvPr/>
        </p:nvGraphicFramePr>
        <p:xfrm>
          <a:off x="1600200" y="3200400"/>
          <a:ext cx="5246688" cy="1430338"/>
        </p:xfrm>
        <a:graphic>
          <a:graphicData uri="http://schemas.openxmlformats.org/presentationml/2006/ole">
            <mc:AlternateContent xmlns:mc="http://schemas.openxmlformats.org/markup-compatibility/2006">
              <mc:Choice xmlns:v="urn:schemas-microsoft-com:vml" Requires="v">
                <p:oleObj spid="_x0000_s3076" name="" r:id="rId3" imgW="2514600" imgH="685800" progId="Equation.DSMT4">
                  <p:embed/>
                </p:oleObj>
              </mc:Choice>
              <mc:Fallback>
                <p:oleObj name="" r:id="rId3" imgW="2514600" imgH="685800" progId="Equation.DSMT4">
                  <p:embed/>
                  <p:pic>
                    <p:nvPicPr>
                      <p:cNvPr id="0" name="图片 3075"/>
                      <p:cNvPicPr/>
                      <p:nvPr/>
                    </p:nvPicPr>
                    <p:blipFill>
                      <a:blip r:embed="rId4"/>
                      <a:stretch>
                        <a:fillRect/>
                      </a:stretch>
                    </p:blipFill>
                    <p:spPr>
                      <a:xfrm>
                        <a:off x="1600200" y="3200400"/>
                        <a:ext cx="5246688" cy="1430338"/>
                      </a:xfrm>
                      <a:prstGeom prst="rect">
                        <a:avLst/>
                      </a:prstGeom>
                      <a:noFill/>
                      <a:ln w="38100">
                        <a:noFill/>
                        <a:miter/>
                      </a:ln>
                    </p:spPr>
                  </p:pic>
                </p:oleObj>
              </mc:Fallback>
            </mc:AlternateContent>
          </a:graphicData>
        </a:graphic>
      </p:graphicFrame>
      <p:sp>
        <p:nvSpPr>
          <p:cNvPr id="1030" name="Text Box 6"/>
          <p:cNvSpPr txBox="1"/>
          <p:nvPr/>
        </p:nvSpPr>
        <p:spPr>
          <a:xfrm>
            <a:off x="914400" y="1828800"/>
            <a:ext cx="6248400" cy="519113"/>
          </a:xfrm>
          <a:prstGeom prst="rect">
            <a:avLst/>
          </a:prstGeom>
          <a:noFill/>
          <a:ln w="9525">
            <a:noFill/>
          </a:ln>
        </p:spPr>
        <p:txBody>
          <a:bodyPr>
            <a:spAutoFit/>
          </a:bodyPr>
          <a:p>
            <a:pPr eaLnBrk="1" hangingPunct="1">
              <a:spcBef>
                <a:spcPct val="50000"/>
              </a:spcBef>
              <a:buChar char="•"/>
            </a:pPr>
            <a:r>
              <a:rPr lang="zh-CN" altLang="en-US" sz="2800" b="1" dirty="0">
                <a:latin typeface="Arial" panose="020B0604020202020204" pitchFamily="34" charset="0"/>
              </a:rPr>
              <a:t>简单适应函数：目标函数</a:t>
            </a:r>
            <a:endParaRPr lang="zh-CN" altLang="en-US" sz="2800" b="1" dirty="0">
              <a:latin typeface="Arial" panose="020B0604020202020204" pitchFamily="34" charset="0"/>
            </a:endParaRPr>
          </a:p>
        </p:txBody>
      </p:sp>
      <p:sp>
        <p:nvSpPr>
          <p:cNvPr id="1031" name="Text Box 7"/>
          <p:cNvSpPr txBox="1"/>
          <p:nvPr/>
        </p:nvSpPr>
        <p:spPr>
          <a:xfrm>
            <a:off x="914400" y="4724400"/>
            <a:ext cx="6248400" cy="519113"/>
          </a:xfrm>
          <a:prstGeom prst="rect">
            <a:avLst/>
          </a:prstGeom>
          <a:noFill/>
          <a:ln w="9525">
            <a:noFill/>
          </a:ln>
        </p:spPr>
        <p:txBody>
          <a:bodyPr>
            <a:spAutoFit/>
          </a:bodyPr>
          <a:p>
            <a:pPr eaLnBrk="1" hangingPunct="1">
              <a:spcBef>
                <a:spcPct val="50000"/>
              </a:spcBef>
              <a:buChar char="•"/>
            </a:pPr>
            <a:r>
              <a:rPr lang="zh-CN" altLang="en-US" sz="2800" b="1" dirty="0">
                <a:latin typeface="Arial" panose="020B0604020202020204" pitchFamily="34" charset="0"/>
              </a:rPr>
              <a:t>线性加速适应函数</a:t>
            </a:r>
            <a:endParaRPr lang="zh-CN" altLang="en-US" sz="2800" b="1" dirty="0">
              <a:latin typeface="Arial" panose="020B0604020202020204" pitchFamily="34" charset="0"/>
            </a:endParaRPr>
          </a:p>
        </p:txBody>
      </p:sp>
      <p:sp>
        <p:nvSpPr>
          <p:cNvPr id="1032" name="Text Box 8"/>
          <p:cNvSpPr txBox="1"/>
          <p:nvPr/>
        </p:nvSpPr>
        <p:spPr>
          <a:xfrm>
            <a:off x="914400" y="5821363"/>
            <a:ext cx="6248400" cy="519112"/>
          </a:xfrm>
          <a:prstGeom prst="rect">
            <a:avLst/>
          </a:prstGeom>
          <a:noFill/>
          <a:ln w="9525">
            <a:noFill/>
          </a:ln>
        </p:spPr>
        <p:txBody>
          <a:bodyPr>
            <a:spAutoFit/>
          </a:bodyPr>
          <a:p>
            <a:pPr eaLnBrk="1" hangingPunct="1">
              <a:spcBef>
                <a:spcPct val="50000"/>
              </a:spcBef>
              <a:buChar char="•"/>
            </a:pPr>
            <a:r>
              <a:rPr lang="zh-CN" altLang="en-US" sz="2800" b="1" dirty="0">
                <a:latin typeface="Arial" panose="020B0604020202020204" pitchFamily="34" charset="0"/>
              </a:rPr>
              <a:t>排序适应函数</a:t>
            </a:r>
            <a:endParaRPr lang="zh-CN" altLang="en-US" sz="2800" b="1"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Text Box 2"/>
          <p:cNvSpPr txBox="1"/>
          <p:nvPr/>
        </p:nvSpPr>
        <p:spPr>
          <a:xfrm>
            <a:off x="457200" y="685800"/>
            <a:ext cx="8305800" cy="1800225"/>
          </a:xfrm>
          <a:prstGeom prst="rect">
            <a:avLst/>
          </a:prstGeom>
          <a:noFill/>
          <a:ln w="9525">
            <a:noFill/>
          </a:ln>
        </p:spPr>
        <p:txBody>
          <a:bodyPr>
            <a:spAutoFit/>
          </a:bodyPr>
          <a:p>
            <a:pPr eaLnBrk="1" hangingPunct="1">
              <a:spcBef>
                <a:spcPct val="50000"/>
              </a:spcBef>
            </a:pPr>
            <a:r>
              <a:rPr lang="en-US" altLang="zh-CN" sz="2800" b="1" dirty="0">
                <a:latin typeface="Arial" panose="020B0604020202020204" pitchFamily="34" charset="0"/>
              </a:rPr>
              <a:t>4</a:t>
            </a:r>
            <a:r>
              <a:rPr lang="zh-CN" altLang="en-US" sz="2800" b="1" dirty="0">
                <a:latin typeface="Arial" panose="020B0604020202020204" pitchFamily="34" charset="0"/>
              </a:rPr>
              <a:t>）选择运算：将选择算子作用于群体。选择的目的是把优化的个体直接遗传到下一代或通过配对交叉产生新的个体再遗传到下一代。选择操作是建立在群体中个体的适应度评估基础上的。</a:t>
            </a:r>
            <a:endParaRPr lang="zh-CN" altLang="en-US" sz="2800" b="1" dirty="0">
              <a:latin typeface="Arial" panose="020B0604020202020204" pitchFamily="34" charset="0"/>
            </a:endParaRPr>
          </a:p>
        </p:txBody>
      </p:sp>
      <p:sp>
        <p:nvSpPr>
          <p:cNvPr id="2052" name="Text Box 4"/>
          <p:cNvSpPr txBox="1"/>
          <p:nvPr/>
        </p:nvSpPr>
        <p:spPr>
          <a:xfrm>
            <a:off x="1143000" y="2895600"/>
            <a:ext cx="6248400" cy="1311275"/>
          </a:xfrm>
          <a:prstGeom prst="rect">
            <a:avLst/>
          </a:prstGeom>
          <a:noFill/>
          <a:ln w="9525">
            <a:noFill/>
          </a:ln>
        </p:spPr>
        <p:txBody>
          <a:bodyPr>
            <a:spAutoFit/>
          </a:bodyPr>
          <a:p>
            <a:pPr eaLnBrk="1" hangingPunct="1">
              <a:spcBef>
                <a:spcPct val="50000"/>
              </a:spcBef>
            </a:pPr>
            <a:r>
              <a:rPr lang="zh-CN" altLang="en-US" sz="3200" b="1" dirty="0">
                <a:latin typeface="Arial" panose="020B0604020202020204" pitchFamily="34" charset="0"/>
              </a:rPr>
              <a:t>经典的选择算子：轮盘赌</a:t>
            </a:r>
            <a:endParaRPr lang="zh-CN" altLang="en-US" sz="3200" b="1" dirty="0">
              <a:latin typeface="Arial" panose="020B0604020202020204" pitchFamily="34" charset="0"/>
            </a:endParaRPr>
          </a:p>
          <a:p>
            <a:pPr eaLnBrk="1" hangingPunct="1">
              <a:spcBef>
                <a:spcPct val="50000"/>
              </a:spcBef>
            </a:pPr>
            <a:r>
              <a:rPr lang="zh-CN" altLang="en-US" sz="3200" b="1" dirty="0">
                <a:latin typeface="Arial" panose="020B0604020202020204" pitchFamily="34" charset="0"/>
              </a:rPr>
              <a:t>被选中的概率为：</a:t>
            </a:r>
            <a:endParaRPr lang="zh-CN" altLang="en-US" sz="3200" b="1" dirty="0">
              <a:latin typeface="Arial" panose="020B0604020202020204" pitchFamily="34" charset="0"/>
            </a:endParaRPr>
          </a:p>
        </p:txBody>
      </p:sp>
      <p:graphicFrame>
        <p:nvGraphicFramePr>
          <p:cNvPr id="2050" name="Object 5"/>
          <p:cNvGraphicFramePr>
            <a:graphicFrameLocks noChangeAspect="1"/>
          </p:cNvGraphicFramePr>
          <p:nvPr/>
        </p:nvGraphicFramePr>
        <p:xfrm>
          <a:off x="4648200" y="3429000"/>
          <a:ext cx="1219200" cy="927100"/>
        </p:xfrm>
        <a:graphic>
          <a:graphicData uri="http://schemas.openxmlformats.org/presentationml/2006/ole">
            <mc:AlternateContent xmlns:mc="http://schemas.openxmlformats.org/markup-compatibility/2006">
              <mc:Choice xmlns:v="urn:schemas-microsoft-com:vml" Requires="v">
                <p:oleObj spid="_x0000_s3078" name="" r:id="rId1" imgW="584200" imgH="444500" progId="Equation.DSMT4">
                  <p:embed/>
                </p:oleObj>
              </mc:Choice>
              <mc:Fallback>
                <p:oleObj name="" r:id="rId1" imgW="584200" imgH="444500" progId="Equation.DSMT4">
                  <p:embed/>
                  <p:pic>
                    <p:nvPicPr>
                      <p:cNvPr id="0" name="图片 3077"/>
                      <p:cNvPicPr/>
                      <p:nvPr/>
                    </p:nvPicPr>
                    <p:blipFill>
                      <a:blip r:embed="rId2"/>
                      <a:stretch>
                        <a:fillRect/>
                      </a:stretch>
                    </p:blipFill>
                    <p:spPr>
                      <a:xfrm>
                        <a:off x="4648200" y="3429000"/>
                        <a:ext cx="1219200" cy="927100"/>
                      </a:xfrm>
                      <a:prstGeom prst="rect">
                        <a:avLst/>
                      </a:prstGeom>
                      <a:noFill/>
                      <a:ln w="38100">
                        <a:noFill/>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3"/>
          <p:cNvSpPr txBox="1"/>
          <p:nvPr/>
        </p:nvSpPr>
        <p:spPr>
          <a:xfrm>
            <a:off x="609600" y="762000"/>
            <a:ext cx="8001000" cy="1800225"/>
          </a:xfrm>
          <a:prstGeom prst="rect">
            <a:avLst/>
          </a:prstGeom>
          <a:noFill/>
          <a:ln w="9525">
            <a:noFill/>
          </a:ln>
        </p:spPr>
        <p:txBody>
          <a:bodyPr>
            <a:spAutoFit/>
          </a:bodyPr>
          <a:p>
            <a:pPr eaLnBrk="1" hangingPunct="1">
              <a:spcBef>
                <a:spcPct val="50000"/>
              </a:spcBef>
            </a:pPr>
            <a:r>
              <a:rPr lang="en-US" altLang="zh-CN" sz="2800" b="1" dirty="0">
                <a:latin typeface="Arial" panose="020B0604020202020204" pitchFamily="34" charset="0"/>
              </a:rPr>
              <a:t>5</a:t>
            </a:r>
            <a:r>
              <a:rPr lang="zh-CN" altLang="en-US" sz="2800" b="1" dirty="0">
                <a:latin typeface="Arial" panose="020B0604020202020204" pitchFamily="34" charset="0"/>
              </a:rPr>
              <a:t>）交叉运算：将交叉算子作用于群体。所谓交叉是指把两个父代个体的部分结构加以替换重组而生成新个体的操作。遗传算法中起核心作用的就是交叉算子</a:t>
            </a:r>
            <a:endParaRPr lang="zh-CN" altLang="en-US" sz="2800" b="1" dirty="0">
              <a:latin typeface="Arial" panose="020B0604020202020204" pitchFamily="34" charset="0"/>
            </a:endParaRPr>
          </a:p>
        </p:txBody>
      </p:sp>
      <p:sp>
        <p:nvSpPr>
          <p:cNvPr id="21507" name="Text Box 9"/>
          <p:cNvSpPr txBox="1"/>
          <p:nvPr/>
        </p:nvSpPr>
        <p:spPr>
          <a:xfrm>
            <a:off x="1447800" y="3048000"/>
            <a:ext cx="4191000" cy="2043113"/>
          </a:xfrm>
          <a:prstGeom prst="rect">
            <a:avLst/>
          </a:prstGeom>
          <a:noFill/>
          <a:ln w="9525">
            <a:noFill/>
          </a:ln>
        </p:spPr>
        <p:txBody>
          <a:bodyPr>
            <a:spAutoFit/>
          </a:bodyPr>
          <a:p>
            <a:pPr eaLnBrk="1" hangingPunct="1">
              <a:spcBef>
                <a:spcPct val="50000"/>
              </a:spcBef>
              <a:buChar char="•"/>
            </a:pPr>
            <a:r>
              <a:rPr lang="zh-CN" altLang="en-US" sz="3200" b="1" dirty="0">
                <a:latin typeface="Arial" panose="020B0604020202020204" pitchFamily="34" charset="0"/>
              </a:rPr>
              <a:t>双亲遗传法</a:t>
            </a:r>
            <a:endParaRPr lang="zh-CN" altLang="en-US" sz="3200" b="1" dirty="0">
              <a:latin typeface="Arial" panose="020B0604020202020204" pitchFamily="34" charset="0"/>
            </a:endParaRPr>
          </a:p>
          <a:p>
            <a:pPr eaLnBrk="1" hangingPunct="1">
              <a:spcBef>
                <a:spcPct val="50000"/>
              </a:spcBef>
              <a:buChar char="•"/>
            </a:pPr>
            <a:r>
              <a:rPr lang="zh-CN" altLang="en-US" sz="3200" b="1" dirty="0">
                <a:latin typeface="Arial" panose="020B0604020202020204" pitchFamily="34" charset="0"/>
              </a:rPr>
              <a:t>单亲遗传法</a:t>
            </a:r>
            <a:endParaRPr lang="zh-CN" altLang="en-US" sz="3200" b="1" dirty="0">
              <a:latin typeface="Arial" panose="020B0604020202020204" pitchFamily="34" charset="0"/>
            </a:endParaRPr>
          </a:p>
          <a:p>
            <a:pPr eaLnBrk="1" hangingPunct="1">
              <a:spcBef>
                <a:spcPct val="50000"/>
              </a:spcBef>
              <a:buChar char="•"/>
            </a:pPr>
            <a:r>
              <a:rPr lang="zh-CN" altLang="en-US" sz="3200" b="1" dirty="0">
                <a:latin typeface="Arial" panose="020B0604020202020204" pitchFamily="34" charset="0"/>
              </a:rPr>
              <a:t>非常规码的交配方式</a:t>
            </a:r>
            <a:endParaRPr lang="zh-CN" altLang="en-US" sz="3200" b="1" dirty="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应用问题举例</a:t>
            </a:r>
            <a:endParaRPr lang="zh-CN" altLang="en-US" sz="3200" dirty="0">
              <a:solidFill>
                <a:srgbClr val="0D04BE"/>
              </a:solidFill>
              <a:latin typeface="楷体_GB2312" pitchFamily="49" charset="-122"/>
              <a:ea typeface="楷体_GB2312" pitchFamily="49" charset="-122"/>
            </a:endParaRPr>
          </a:p>
        </p:txBody>
      </p:sp>
      <p:sp>
        <p:nvSpPr>
          <p:cNvPr id="4" name="Rectangle 1031"/>
          <p:cNvSpPr txBox="1">
            <a:spLocks noChangeArrowheads="1"/>
          </p:cNvSpPr>
          <p:nvPr/>
        </p:nvSpPr>
        <p:spPr bwMode="auto">
          <a:xfrm>
            <a:off x="714375" y="1643063"/>
            <a:ext cx="7673975" cy="4071938"/>
          </a:xfrm>
          <a:prstGeom prst="rect">
            <a:avLst/>
          </a:prstGeom>
          <a:noFill/>
          <a:ln w="9525">
            <a:noFill/>
            <a:miter lim="800000"/>
          </a:ln>
        </p:spPr>
        <p:txBody>
          <a:bodyPr/>
          <a:lstStyle/>
          <a:p>
            <a:pPr marR="0" defTabSz="914400">
              <a:lnSpc>
                <a:spcPct val="150000"/>
              </a:lnSpc>
              <a:buClrTx/>
              <a:buSzTx/>
              <a:buFontTx/>
              <a:buNone/>
              <a:defRPr/>
            </a:pPr>
            <a:r>
              <a:rPr kumimoji="0" lang="en-US" altLang="zh-CN" sz="3200" kern="0" cap="none" spc="0" normalizeH="0" baseline="0" noProof="0" dirty="0">
                <a:solidFill>
                  <a:srgbClr val="0D04BE"/>
                </a:solidFill>
                <a:latin typeface="楷体_GB2312" pitchFamily="49" charset="-122"/>
                <a:ea typeface="楷体_GB2312" pitchFamily="49" charset="-122"/>
                <a:cs typeface="+mj-cs"/>
              </a:rPr>
              <a:t>1</a:t>
            </a:r>
            <a:r>
              <a:rPr kumimoji="0" lang="zh-CN" altLang="en-US" sz="3200" kern="0" cap="none" spc="0" normalizeH="0" baseline="0" noProof="0" dirty="0">
                <a:solidFill>
                  <a:srgbClr val="0D04BE"/>
                </a:solidFill>
                <a:latin typeface="楷体_GB2312" pitchFamily="49" charset="-122"/>
                <a:ea typeface="楷体_GB2312" pitchFamily="49" charset="-122"/>
                <a:cs typeface="+mj-cs"/>
              </a:rPr>
              <a:t>、旅行商问题</a:t>
            </a:r>
            <a:endParaRPr kumimoji="0" lang="en-US" altLang="zh-CN" sz="3200" kern="0" cap="none" spc="0" normalizeH="0" baseline="0" noProof="0" dirty="0">
              <a:solidFill>
                <a:srgbClr val="0D04BE"/>
              </a:solidFill>
              <a:latin typeface="楷体_GB2312" pitchFamily="49" charset="-122"/>
              <a:ea typeface="楷体_GB2312" pitchFamily="49" charset="-122"/>
              <a:cs typeface="+mj-cs"/>
            </a:endParaRPr>
          </a:p>
          <a:p>
            <a:pPr marR="0" defTabSz="914400">
              <a:lnSpc>
                <a:spcPct val="150000"/>
              </a:lnSpc>
              <a:buClrTx/>
              <a:buSzTx/>
              <a:buFontTx/>
              <a:buNone/>
              <a:defRPr/>
            </a:pPr>
            <a:r>
              <a:rPr kumimoji="0" lang="en-US" altLang="zh-CN" sz="3200" kern="0" cap="none" spc="0" normalizeH="0" baseline="0" noProof="0" dirty="0">
                <a:solidFill>
                  <a:srgbClr val="0D04BE"/>
                </a:solidFill>
                <a:latin typeface="楷体_GB2312" pitchFamily="49" charset="-122"/>
                <a:ea typeface="楷体_GB2312" pitchFamily="49" charset="-122"/>
                <a:cs typeface="+mj-cs"/>
              </a:rPr>
              <a:t>2</a:t>
            </a:r>
            <a:r>
              <a:rPr kumimoji="0" lang="zh-CN" altLang="en-US" sz="3200" kern="0" cap="none" spc="0" normalizeH="0" baseline="0" noProof="0" dirty="0">
                <a:solidFill>
                  <a:srgbClr val="0D04BE"/>
                </a:solidFill>
                <a:latin typeface="楷体_GB2312" pitchFamily="49" charset="-122"/>
                <a:ea typeface="楷体_GB2312" pitchFamily="49" charset="-122"/>
                <a:cs typeface="+mj-cs"/>
              </a:rPr>
              <a:t>、多个工件在设备上加工的排序问题</a:t>
            </a:r>
            <a:endParaRPr kumimoji="0" lang="en-US" altLang="zh-CN" sz="3200" kern="0" cap="none" spc="0" normalizeH="0" baseline="0" noProof="0" dirty="0">
              <a:solidFill>
                <a:srgbClr val="0D04BE"/>
              </a:solidFill>
              <a:latin typeface="楷体_GB2312" pitchFamily="49" charset="-122"/>
              <a:ea typeface="楷体_GB2312" pitchFamily="49" charset="-122"/>
              <a:cs typeface="+mj-cs"/>
            </a:endParaRPr>
          </a:p>
          <a:p>
            <a:pPr marR="0" defTabSz="914400">
              <a:lnSpc>
                <a:spcPct val="150000"/>
              </a:lnSpc>
              <a:buClrTx/>
              <a:buSzTx/>
              <a:buFontTx/>
              <a:buNone/>
              <a:defRPr/>
            </a:pPr>
            <a:r>
              <a:rPr kumimoji="0" lang="en-US" altLang="zh-CN" sz="3200" kern="0" cap="none" spc="0" normalizeH="0" baseline="0" noProof="0" dirty="0">
                <a:solidFill>
                  <a:srgbClr val="0D04BE"/>
                </a:solidFill>
                <a:latin typeface="楷体_GB2312" pitchFamily="49" charset="-122"/>
                <a:ea typeface="楷体_GB2312" pitchFamily="49" charset="-122"/>
                <a:cs typeface="+mj-cs"/>
              </a:rPr>
              <a:t>3</a:t>
            </a:r>
            <a:r>
              <a:rPr kumimoji="0" lang="zh-CN" altLang="en-US" sz="3200" kern="0" cap="none" spc="0" normalizeH="0" baseline="0" noProof="0" dirty="0">
                <a:solidFill>
                  <a:srgbClr val="0D04BE"/>
                </a:solidFill>
                <a:latin typeface="楷体_GB2312" pitchFamily="49" charset="-122"/>
                <a:ea typeface="楷体_GB2312" pitchFamily="49" charset="-122"/>
                <a:cs typeface="+mj-cs"/>
              </a:rPr>
              <a:t>、车辆调度问题</a:t>
            </a:r>
            <a:endParaRPr kumimoji="0" lang="en-US" altLang="zh-CN" sz="3200" kern="0" cap="none" spc="0" normalizeH="0" baseline="0" noProof="0" dirty="0">
              <a:solidFill>
                <a:srgbClr val="0D04BE"/>
              </a:solidFill>
              <a:latin typeface="楷体_GB2312" pitchFamily="49" charset="-122"/>
              <a:ea typeface="楷体_GB2312" pitchFamily="49" charset="-122"/>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3555" name="Picture 3"/>
          <p:cNvPicPr>
            <a:picLocks noChangeAspect="1"/>
          </p:cNvPicPr>
          <p:nvPr/>
        </p:nvPicPr>
        <p:blipFill>
          <a:blip r:embed="rId1"/>
          <a:stretch>
            <a:fillRect/>
          </a:stretch>
        </p:blipFill>
        <p:spPr>
          <a:xfrm>
            <a:off x="0" y="1700213"/>
            <a:ext cx="9144000" cy="2592387"/>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4579" name="Picture 2"/>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5603" name="Picture 2"/>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6627" name="Picture 2"/>
          <p:cNvPicPr>
            <a:picLocks noChangeAspect="1"/>
          </p:cNvPicPr>
          <p:nvPr/>
        </p:nvPicPr>
        <p:blipFill>
          <a:blip r:embed="rId1"/>
          <a:stretch>
            <a:fillRect/>
          </a:stretch>
        </p:blipFill>
        <p:spPr>
          <a:xfrm>
            <a:off x="0" y="1196975"/>
            <a:ext cx="9144000" cy="566102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7651" name="Picture 2"/>
          <p:cNvPicPr>
            <a:picLocks noChangeAspect="1"/>
          </p:cNvPicPr>
          <p:nvPr/>
        </p:nvPicPr>
        <p:blipFill>
          <a:blip r:embed="rId1"/>
          <a:stretch>
            <a:fillRect/>
          </a:stretch>
        </p:blipFill>
        <p:spPr>
          <a:xfrm>
            <a:off x="0" y="1628775"/>
            <a:ext cx="9144000" cy="4608513"/>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8675" name="Picture 2"/>
          <p:cNvPicPr>
            <a:picLocks noChangeAspect="1"/>
          </p:cNvPicPr>
          <p:nvPr/>
        </p:nvPicPr>
        <p:blipFill>
          <a:blip r:embed="rId1"/>
          <a:stretch>
            <a:fillRect/>
          </a:stretch>
        </p:blipFill>
        <p:spPr>
          <a:xfrm>
            <a:off x="0" y="1196975"/>
            <a:ext cx="9144000" cy="566102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29699" name="Picture 2"/>
          <p:cNvPicPr>
            <a:picLocks noChangeAspect="1"/>
          </p:cNvPicPr>
          <p:nvPr/>
        </p:nvPicPr>
        <p:blipFill>
          <a:blip r:embed="rId1"/>
          <a:stretch>
            <a:fillRect/>
          </a:stretch>
        </p:blipFill>
        <p:spPr>
          <a:xfrm>
            <a:off x="0" y="1700213"/>
            <a:ext cx="9144000" cy="4465637"/>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30723" name="Picture 2"/>
          <p:cNvPicPr>
            <a:picLocks noChangeAspect="1"/>
          </p:cNvPicPr>
          <p:nvPr/>
        </p:nvPicPr>
        <p:blipFill>
          <a:blip r:embed="rId1"/>
          <a:stretch>
            <a:fillRect/>
          </a:stretch>
        </p:blipFill>
        <p:spPr>
          <a:xfrm>
            <a:off x="0" y="0"/>
            <a:ext cx="9144000" cy="4005263"/>
          </a:xfrm>
          <a:prstGeom prst="rect">
            <a:avLst/>
          </a:prstGeom>
          <a:noFill/>
          <a:ln w="9525">
            <a:noFill/>
          </a:ln>
        </p:spPr>
      </p:pic>
      <p:pic>
        <p:nvPicPr>
          <p:cNvPr id="30724" name="Picture 4"/>
          <p:cNvPicPr>
            <a:picLocks noChangeAspect="1"/>
          </p:cNvPicPr>
          <p:nvPr/>
        </p:nvPicPr>
        <p:blipFill>
          <a:blip r:embed="rId2"/>
          <a:stretch>
            <a:fillRect/>
          </a:stretch>
        </p:blipFill>
        <p:spPr>
          <a:xfrm>
            <a:off x="220663" y="3789363"/>
            <a:ext cx="8785225" cy="266382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1031"/>
          <p:cNvSpPr>
            <a:spLocks noGrp="1"/>
          </p:cNvSpPr>
          <p:nvPr>
            <p:ph type="title"/>
          </p:nvPr>
        </p:nvSpPr>
        <p:spPr>
          <a:xfrm>
            <a:off x="285750" y="617538"/>
            <a:ext cx="6265863" cy="596900"/>
          </a:xfrm>
          <a:ln/>
        </p:spPr>
        <p:txBody>
          <a:bodyPr vert="horz" wrap="square" lIns="91440" tIns="45720" rIns="91440" bIns="45720" anchor="t" anchorCtr="0"/>
          <a:p>
            <a:r>
              <a:rPr lang="en-US" altLang="zh-CN" sz="3200" dirty="0">
                <a:solidFill>
                  <a:srgbClr val="0D04BE"/>
                </a:solidFill>
                <a:latin typeface="楷体_GB2312" pitchFamily="49" charset="-122"/>
                <a:ea typeface="楷体_GB2312" pitchFamily="49" charset="-122"/>
              </a:rPr>
              <a:t>14.2 </a:t>
            </a:r>
            <a:r>
              <a:rPr lang="zh-CN" altLang="en-US" sz="3200" dirty="0">
                <a:solidFill>
                  <a:srgbClr val="0D04BE"/>
                </a:solidFill>
                <a:latin typeface="楷体_GB2312" pitchFamily="49" charset="-122"/>
                <a:ea typeface="楷体_GB2312" pitchFamily="49" charset="-122"/>
              </a:rPr>
              <a:t>旅行商问题</a:t>
            </a:r>
            <a:endParaRPr lang="zh-CN" altLang="en-US" sz="3200" dirty="0">
              <a:solidFill>
                <a:srgbClr val="0D04BE"/>
              </a:solidFill>
              <a:latin typeface="楷体_GB2312" pitchFamily="49" charset="-122"/>
              <a:ea typeface="楷体_GB2312" pitchFamily="49" charset="-122"/>
            </a:endParaRPr>
          </a:p>
        </p:txBody>
      </p:sp>
      <p:pic>
        <p:nvPicPr>
          <p:cNvPr id="31747" name="Picture 2"/>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571500" y="709613"/>
            <a:ext cx="6448425" cy="933450"/>
          </a:xfrm>
          <a:ln/>
        </p:spPr>
        <p:txBody>
          <a:bodyPr vert="horz" wrap="square" lIns="91440" tIns="45720" rIns="91440" bIns="45720" anchor="t" anchorCtr="0"/>
          <a:p>
            <a:r>
              <a:rPr lang="zh-CN" altLang="en-US" sz="4800" dirty="0">
                <a:solidFill>
                  <a:srgbClr val="0D04BE"/>
                </a:solidFill>
                <a:ea typeface="楷体_GB2312" pitchFamily="49" charset="-122"/>
              </a:rPr>
              <a:t>课程复习内容</a:t>
            </a:r>
            <a:endParaRPr lang="zh-CN" altLang="en-US" sz="4800" dirty="0">
              <a:solidFill>
                <a:srgbClr val="0D04BE"/>
              </a:solidFill>
              <a:ea typeface="楷体_GB2312" pitchFamily="49" charset="-122"/>
            </a:endParaRPr>
          </a:p>
        </p:txBody>
      </p:sp>
      <p:sp>
        <p:nvSpPr>
          <p:cNvPr id="32771" name="Rectangle 3"/>
          <p:cNvSpPr>
            <a:spLocks noGrp="1"/>
          </p:cNvSpPr>
          <p:nvPr>
            <p:ph idx="1"/>
          </p:nvPr>
        </p:nvSpPr>
        <p:spPr>
          <a:xfrm>
            <a:off x="714375" y="1643063"/>
            <a:ext cx="7848600" cy="5072062"/>
          </a:xfrm>
          <a:ln/>
        </p:spPr>
        <p:txBody>
          <a:bodyPr vert="horz" wrap="square" lIns="91440" tIns="45720" rIns="91440" bIns="45720" anchor="t" anchorCtr="0"/>
          <a:p>
            <a:pPr>
              <a:lnSpc>
                <a:spcPct val="150000"/>
              </a:lnSpc>
              <a:buNone/>
            </a:pP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、线性规划（对偶问题、运输问题）</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、整数规划</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、目标规划</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4</a:t>
            </a:r>
            <a:r>
              <a:rPr lang="zh-CN" altLang="en-US" sz="2800" b="1" dirty="0">
                <a:solidFill>
                  <a:srgbClr val="000000"/>
                </a:solidFill>
                <a:latin typeface="楷体_GB2312" pitchFamily="49" charset="-122"/>
                <a:ea typeface="楷体_GB2312" pitchFamily="49" charset="-122"/>
              </a:rPr>
              <a:t>、非线性规划</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5</a:t>
            </a:r>
            <a:r>
              <a:rPr lang="zh-CN" altLang="en-US" sz="2800" b="1" dirty="0">
                <a:solidFill>
                  <a:srgbClr val="000000"/>
                </a:solidFill>
                <a:latin typeface="楷体_GB2312" pitchFamily="49" charset="-122"/>
                <a:ea typeface="楷体_GB2312" pitchFamily="49" charset="-122"/>
              </a:rPr>
              <a:t>、动态规则</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6</a:t>
            </a:r>
            <a:r>
              <a:rPr lang="zh-CN" altLang="en-US" sz="2800" b="1" dirty="0">
                <a:solidFill>
                  <a:srgbClr val="000000"/>
                </a:solidFill>
                <a:latin typeface="楷体_GB2312" pitchFamily="49" charset="-122"/>
                <a:ea typeface="楷体_GB2312" pitchFamily="49" charset="-122"/>
              </a:rPr>
              <a:t>、图与网络分析（网络计划评审技术）</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7</a:t>
            </a:r>
            <a:r>
              <a:rPr lang="zh-CN" altLang="en-US" sz="2800" b="1" dirty="0">
                <a:solidFill>
                  <a:srgbClr val="000000"/>
                </a:solidFill>
                <a:latin typeface="楷体_GB2312" pitchFamily="49" charset="-122"/>
                <a:ea typeface="楷体_GB2312" pitchFamily="49" charset="-122"/>
              </a:rPr>
              <a:t>、启发式算法</a:t>
            </a:r>
            <a:endParaRPr lang="zh-CN" altLang="en-US" sz="2800" b="1" dirty="0">
              <a:solidFill>
                <a:srgbClr val="000000"/>
              </a:solidFill>
              <a:latin typeface="楷体_GB2312" pitchFamily="49" charset="-122"/>
              <a:ea typeface="楷体_GB2312"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571500" y="709613"/>
            <a:ext cx="6448425" cy="933450"/>
          </a:xfrm>
          <a:ln/>
        </p:spPr>
        <p:txBody>
          <a:bodyPr vert="horz" wrap="square" lIns="91440" tIns="45720" rIns="91440" bIns="45720" anchor="t" anchorCtr="0"/>
          <a:p>
            <a:r>
              <a:rPr lang="zh-CN" altLang="en-US" sz="4800" dirty="0">
                <a:solidFill>
                  <a:srgbClr val="0D04BE"/>
                </a:solidFill>
                <a:ea typeface="楷体_GB2312" pitchFamily="49" charset="-122"/>
              </a:rPr>
              <a:t>开卷考试体型</a:t>
            </a:r>
            <a:endParaRPr lang="zh-CN" altLang="en-US" sz="4800" dirty="0">
              <a:solidFill>
                <a:srgbClr val="0D04BE"/>
              </a:solidFill>
              <a:ea typeface="楷体_GB2312" pitchFamily="49" charset="-122"/>
            </a:endParaRPr>
          </a:p>
        </p:txBody>
      </p:sp>
      <p:sp>
        <p:nvSpPr>
          <p:cNvPr id="33795" name="Rectangle 3"/>
          <p:cNvSpPr>
            <a:spLocks noGrp="1"/>
          </p:cNvSpPr>
          <p:nvPr>
            <p:ph idx="1"/>
          </p:nvPr>
        </p:nvSpPr>
        <p:spPr>
          <a:xfrm>
            <a:off x="714375" y="1643063"/>
            <a:ext cx="7848600" cy="4572000"/>
          </a:xfrm>
          <a:ln/>
        </p:spPr>
        <p:txBody>
          <a:bodyPr vert="horz" wrap="square" lIns="91440" tIns="45720" rIns="91440" bIns="45720" anchor="t" anchorCtr="0"/>
          <a:p>
            <a:pPr>
              <a:lnSpc>
                <a:spcPct val="150000"/>
              </a:lnSpc>
              <a:buNone/>
            </a:pP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、证明题（</a:t>
            </a:r>
            <a:r>
              <a:rPr lang="en-US" altLang="zh-CN" sz="2800" b="1" dirty="0">
                <a:solidFill>
                  <a:srgbClr val="000000"/>
                </a:solidFill>
                <a:latin typeface="楷体_GB2312" pitchFamily="49" charset="-122"/>
                <a:ea typeface="楷体_GB2312" pitchFamily="49" charset="-122"/>
              </a:rPr>
              <a:t>20</a:t>
            </a:r>
            <a:r>
              <a:rPr lang="zh-CN" altLang="en-US" sz="2800" b="1" dirty="0">
                <a:solidFill>
                  <a:srgbClr val="000000"/>
                </a:solidFill>
                <a:latin typeface="楷体_GB2312" pitchFamily="49" charset="-122"/>
                <a:ea typeface="楷体_GB2312" pitchFamily="49" charset="-122"/>
              </a:rPr>
              <a:t>分）</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、论述题（</a:t>
            </a:r>
            <a:r>
              <a:rPr lang="en-US" altLang="zh-CN" sz="2800" b="1" dirty="0">
                <a:solidFill>
                  <a:srgbClr val="000000"/>
                </a:solidFill>
                <a:latin typeface="楷体_GB2312" pitchFamily="49" charset="-122"/>
                <a:ea typeface="楷体_GB2312" pitchFamily="49" charset="-122"/>
              </a:rPr>
              <a:t>40</a:t>
            </a:r>
            <a:r>
              <a:rPr lang="zh-CN" altLang="en-US" sz="2800" b="1" dirty="0">
                <a:solidFill>
                  <a:srgbClr val="000000"/>
                </a:solidFill>
                <a:latin typeface="楷体_GB2312" pitchFamily="49" charset="-122"/>
                <a:ea typeface="楷体_GB2312" pitchFamily="49" charset="-122"/>
              </a:rPr>
              <a:t>分）</a:t>
            </a:r>
            <a:endParaRPr lang="en-US" altLang="zh-CN" sz="2800" b="1" dirty="0">
              <a:solidFill>
                <a:srgbClr val="000000"/>
              </a:solidFill>
              <a:latin typeface="楷体_GB2312" pitchFamily="49" charset="-122"/>
              <a:ea typeface="楷体_GB2312" pitchFamily="49" charset="-122"/>
            </a:endParaRPr>
          </a:p>
          <a:p>
            <a:pPr>
              <a:lnSpc>
                <a:spcPct val="150000"/>
              </a:lnSpc>
              <a:buNone/>
            </a:pP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、应用题（</a:t>
            </a:r>
            <a:r>
              <a:rPr lang="en-US" altLang="zh-CN" sz="2800" b="1" dirty="0">
                <a:solidFill>
                  <a:srgbClr val="000000"/>
                </a:solidFill>
                <a:latin typeface="楷体_GB2312" pitchFamily="49" charset="-122"/>
                <a:ea typeface="楷体_GB2312" pitchFamily="49" charset="-122"/>
              </a:rPr>
              <a:t>40</a:t>
            </a:r>
            <a:r>
              <a:rPr lang="zh-CN" altLang="en-US" sz="2800" b="1" dirty="0">
                <a:solidFill>
                  <a:srgbClr val="000000"/>
                </a:solidFill>
                <a:latin typeface="楷体_GB2312" pitchFamily="49" charset="-122"/>
                <a:ea typeface="楷体_GB2312" pitchFamily="49" charset="-122"/>
              </a:rPr>
              <a:t>分）</a:t>
            </a:r>
            <a:endParaRPr lang="zh-CN" altLang="en-US" sz="2800" b="1" dirty="0">
              <a:solidFill>
                <a:srgbClr val="000000"/>
              </a:solidFill>
              <a:latin typeface="楷体_GB2312" pitchFamily="49" charset="-122"/>
              <a:ea typeface="楷体_GB2312"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4"/>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34819" name="Rectangle 3"/>
          <p:cNvSpPr>
            <a:spLocks noGrp="1"/>
          </p:cNvSpPr>
          <p:nvPr>
            <p:ph idx="1"/>
          </p:nvPr>
        </p:nvSpPr>
        <p:spPr>
          <a:xfrm>
            <a:off x="1908175" y="2565400"/>
            <a:ext cx="5113338" cy="1800225"/>
          </a:xfrm>
          <a:ln/>
        </p:spPr>
        <p:txBody>
          <a:bodyPr vert="horz" wrap="square" lIns="91440" tIns="45720" rIns="91440" bIns="45720" anchor="t" anchorCtr="0"/>
          <a:p>
            <a:pPr marL="533400" indent="-533400" algn="ctr" eaLnBrk="1" hangingPunct="1">
              <a:buNone/>
            </a:pPr>
            <a:r>
              <a:rPr lang="zh-CN" altLang="en-US" sz="8000" dirty="0">
                <a:cs typeface="Times New Roman" panose="02020603050405020304" pitchFamily="18" charset="0"/>
              </a:rPr>
              <a:t>谢谢大家</a:t>
            </a:r>
            <a:endParaRPr lang="zh-CN" altLang="en-US" sz="8000" dirty="0"/>
          </a:p>
        </p:txBody>
      </p:sp>
      <p:sp>
        <p:nvSpPr>
          <p:cNvPr id="34820" name="Line 4"/>
          <p:cNvSpPr/>
          <p:nvPr/>
        </p:nvSpPr>
        <p:spPr>
          <a:xfrm>
            <a:off x="1219200" y="3352800"/>
            <a:ext cx="0" cy="0"/>
          </a:xfrm>
          <a:prstGeom prst="line">
            <a:avLst/>
          </a:prstGeom>
          <a:ln w="9525" cap="flat" cmpd="sng">
            <a:solidFill>
              <a:schemeClr val="tx1"/>
            </a:solidFill>
            <a:prstDash val="solid"/>
            <a:headEnd type="none" w="med" len="med"/>
            <a:tailEnd type="none" w="med" len="med"/>
          </a:ln>
        </p:spPr>
      </p:sp>
      <p:sp>
        <p:nvSpPr>
          <p:cNvPr id="34821" name="Line 5"/>
          <p:cNvSpPr/>
          <p:nvPr/>
        </p:nvSpPr>
        <p:spPr>
          <a:xfrm>
            <a:off x="1447800" y="3352800"/>
            <a:ext cx="0" cy="0"/>
          </a:xfrm>
          <a:prstGeom prst="line">
            <a:avLst/>
          </a:prstGeom>
          <a:ln w="9525" cap="flat" cmpd="sng">
            <a:solidFill>
              <a:schemeClr val="tx1"/>
            </a:solidFill>
            <a:prstDash val="solid"/>
            <a:headEnd type="none" w="med" len="med"/>
            <a:tailEnd type="none" w="med" len="med"/>
          </a:ln>
        </p:spPr>
      </p:sp>
      <p:sp>
        <p:nvSpPr>
          <p:cNvPr id="34822" name="Line 6"/>
          <p:cNvSpPr/>
          <p:nvPr/>
        </p:nvSpPr>
        <p:spPr>
          <a:xfrm>
            <a:off x="4953000" y="3810000"/>
            <a:ext cx="0" cy="0"/>
          </a:xfrm>
          <a:prstGeom prst="line">
            <a:avLst/>
          </a:prstGeom>
          <a:ln w="9525" cap="flat" cmpd="sng">
            <a:solidFill>
              <a:schemeClr val="tx1"/>
            </a:solidFill>
            <a:prstDash val="solid"/>
            <a:headEnd type="none" w="med" len="med"/>
            <a:tailEnd type="none" w="med" len="med"/>
          </a:ln>
        </p:spPr>
      </p:sp>
      <p:sp>
        <p:nvSpPr>
          <p:cNvPr id="34823" name="Line 7"/>
          <p:cNvSpPr/>
          <p:nvPr/>
        </p:nvSpPr>
        <p:spPr>
          <a:xfrm>
            <a:off x="6172200" y="3352800"/>
            <a:ext cx="0" cy="0"/>
          </a:xfrm>
          <a:prstGeom prst="line">
            <a:avLst/>
          </a:prstGeom>
          <a:ln w="9525" cap="flat" cmpd="sng">
            <a:solidFill>
              <a:schemeClr val="tx1"/>
            </a:solidFill>
            <a:prstDash val="solid"/>
            <a:headEnd type="none" w="med" len="med"/>
            <a:tailEnd type="none" w="med" len="med"/>
          </a:ln>
        </p:spPr>
      </p:sp>
      <p:sp>
        <p:nvSpPr>
          <p:cNvPr id="34824" name="Line 8"/>
          <p:cNvSpPr/>
          <p:nvPr/>
        </p:nvSpPr>
        <p:spPr>
          <a:xfrm>
            <a:off x="2971800" y="5029200"/>
            <a:ext cx="0" cy="0"/>
          </a:xfrm>
          <a:prstGeom prst="line">
            <a:avLst/>
          </a:prstGeom>
          <a:ln w="9525" cap="flat" cmpd="sng">
            <a:solidFill>
              <a:schemeClr val="tx1"/>
            </a:solidFill>
            <a:prstDash val="solid"/>
            <a:headEnd type="none" w="med" len="med"/>
            <a:tailEnd type="none" w="med" len="med"/>
          </a:ln>
        </p:spPr>
      </p:sp>
      <p:sp>
        <p:nvSpPr>
          <p:cNvPr id="34825" name="Line 9"/>
          <p:cNvSpPr/>
          <p:nvPr/>
        </p:nvSpPr>
        <p:spPr>
          <a:xfrm>
            <a:off x="5257800" y="6096000"/>
            <a:ext cx="0" cy="0"/>
          </a:xfrm>
          <a:prstGeom prst="line">
            <a:avLst/>
          </a:prstGeom>
          <a:ln w="9525" cap="flat" cmpd="sng">
            <a:solidFill>
              <a:schemeClr val="tx1"/>
            </a:solidFill>
            <a:prstDash val="solid"/>
            <a:headEnd type="none" w="med" len="med"/>
            <a:tailEnd type="none" w="med" len="med"/>
          </a:ln>
        </p:spPr>
      </p:sp>
    </p:spTree>
  </p:cSld>
  <p:clrMapOvr>
    <a:masterClrMapping/>
  </p:clrMapOvr>
  <p:transition/>
</p:sld>
</file>

<file path=ppt/tags/tag1.xml><?xml version="1.0" encoding="utf-8"?>
<p:tagLst xmlns:p="http://schemas.openxmlformats.org/presentationml/2006/main">
  <p:tag name="KSO_WPP_MARK_KEY" val="fce008d5-e7d9-4b59-9332-b6797299ffcf"/>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2390</Words>
  <Application>WPS 演示</Application>
  <PresentationFormat>全屏显示(4:3)</PresentationFormat>
  <Paragraphs>204</Paragraphs>
  <Slides>31</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31</vt:i4>
      </vt:variant>
    </vt:vector>
  </HeadingPairs>
  <TitlesOfParts>
    <vt:vector size="44" baseType="lpstr">
      <vt:lpstr>Arial</vt:lpstr>
      <vt:lpstr>宋体</vt:lpstr>
      <vt:lpstr>Wingdings</vt:lpstr>
      <vt:lpstr>Times New Roman</vt:lpstr>
      <vt:lpstr>Arial Black</vt:lpstr>
      <vt:lpstr>楷体_GB2312</vt:lpstr>
      <vt:lpstr>新宋体</vt:lpstr>
      <vt:lpstr>微软雅黑</vt:lpstr>
      <vt:lpstr>Arial Unicode MS</vt:lpstr>
      <vt:lpstr>Pixel</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Albert Yang</cp:lastModifiedBy>
  <cp:revision>378</cp:revision>
  <dcterms:created xsi:type="dcterms:W3CDTF">2022-12-18T08:55:16Z</dcterms:created>
  <dcterms:modified xsi:type="dcterms:W3CDTF">2022-12-18T08:55:26Z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3DB32543F99C447CBAB85836EE8BC3FE</vt:lpwstr>
  </property>
  <property fmtid="{D5CDD505-2E9C-101B-9397-08002B2CF9AE}" pid="3" name="KSOProductBuildVer">
    <vt:lpwstr>2052-11.1.0.12980</vt:lpwstr>
  </property>
</Properties>
</file>