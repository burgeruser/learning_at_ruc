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03" r:id="rId3"/>
    <p:sldId id="281" r:id="rId4"/>
    <p:sldId id="282" r:id="rId5"/>
    <p:sldId id="330" r:id="rId6"/>
    <p:sldId id="284" r:id="rId7"/>
    <p:sldId id="331" r:id="rId8"/>
    <p:sldId id="283" r:id="rId9"/>
    <p:sldId id="332" r:id="rId10"/>
    <p:sldId id="333" r:id="rId11"/>
    <p:sldId id="285" r:id="rId12"/>
    <p:sldId id="286" r:id="rId13"/>
    <p:sldId id="287" r:id="rId14"/>
    <p:sldId id="288" r:id="rId15"/>
    <p:sldId id="334" r:id="rId16"/>
    <p:sldId id="335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339" r:id="rId26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8F8F8"/>
    <a:srgbClr val="6699FF"/>
    <a:srgbClr val="FF0000"/>
    <a:srgbClr val="006600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897"/>
    <p:restoredTop sz="92982"/>
  </p:normalViewPr>
  <p:slideViewPr>
    <p:cSldViewPr showGuides="1">
      <p:cViewPr varScale="1">
        <p:scale>
          <a:sx n="67" d="100"/>
          <a:sy n="67" d="100"/>
        </p:scale>
        <p:origin x="-13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image" Target="../media/image17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1" Type="http://schemas.openxmlformats.org/officeDocument/2006/relationships/image" Target="../media/image13.wmf"/><Relationship Id="rId10" Type="http://schemas.openxmlformats.org/officeDocument/2006/relationships/image" Target="../media/image19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1" Type="http://schemas.openxmlformats.org/officeDocument/2006/relationships/image" Target="../media/image32.wmf"/><Relationship Id="rId10" Type="http://schemas.openxmlformats.org/officeDocument/2006/relationships/image" Target="../media/image31.wmf"/><Relationship Id="rId1" Type="http://schemas.openxmlformats.org/officeDocument/2006/relationships/image" Target="../media/image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0" Type="http://schemas.openxmlformats.org/officeDocument/2006/relationships/image" Target="../media/image35.wmf"/><Relationship Id="rId1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52ACBD-7BE9-4909-A82F-F2235F35C77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8.bin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wmf"/><Relationship Id="rId17" Type="http://schemas.openxmlformats.org/officeDocument/2006/relationships/vmlDrawing" Target="../drawings/vmlDrawing4.vml"/><Relationship Id="rId16" Type="http://schemas.openxmlformats.org/officeDocument/2006/relationships/slideLayout" Target="../slideLayouts/slideLayout7.xml"/><Relationship Id="rId15" Type="http://schemas.openxmlformats.org/officeDocument/2006/relationships/oleObject" Target="../embeddings/oleObject23.bin"/><Relationship Id="rId14" Type="http://schemas.openxmlformats.org/officeDocument/2006/relationships/oleObject" Target="../embeddings/oleObject22.bin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5.bin"/><Relationship Id="rId24" Type="http://schemas.openxmlformats.org/officeDocument/2006/relationships/vmlDrawing" Target="../drawings/vmlDrawing5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3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19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18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36.bin"/><Relationship Id="rId21" Type="http://schemas.openxmlformats.org/officeDocument/2006/relationships/vmlDrawing" Target="../drawings/vmlDrawing6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0.wmf"/><Relationship Id="rId19" Type="http://schemas.openxmlformats.org/officeDocument/2006/relationships/image" Target="../media/image28.wmf"/><Relationship Id="rId18" Type="http://schemas.openxmlformats.org/officeDocument/2006/relationships/oleObject" Target="../embeddings/oleObject44.bin"/><Relationship Id="rId17" Type="http://schemas.openxmlformats.org/officeDocument/2006/relationships/image" Target="../media/image27.wmf"/><Relationship Id="rId16" Type="http://schemas.openxmlformats.org/officeDocument/2006/relationships/oleObject" Target="../embeddings/oleObject43.bin"/><Relationship Id="rId15" Type="http://schemas.openxmlformats.org/officeDocument/2006/relationships/image" Target="../media/image26.wmf"/><Relationship Id="rId14" Type="http://schemas.openxmlformats.org/officeDocument/2006/relationships/oleObject" Target="../embeddings/oleObject42.bin"/><Relationship Id="rId13" Type="http://schemas.openxmlformats.org/officeDocument/2006/relationships/image" Target="../media/image25.wmf"/><Relationship Id="rId12" Type="http://schemas.openxmlformats.org/officeDocument/2006/relationships/oleObject" Target="../embeddings/oleObject41.bin"/><Relationship Id="rId11" Type="http://schemas.openxmlformats.org/officeDocument/2006/relationships/image" Target="../media/image24.wmf"/><Relationship Id="rId10" Type="http://schemas.openxmlformats.org/officeDocument/2006/relationships/oleObject" Target="../embeddings/oleObject40.bin"/><Relationship Id="rId1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46.bin"/><Relationship Id="rId24" Type="http://schemas.openxmlformats.org/officeDocument/2006/relationships/vmlDrawing" Target="../drawings/vmlDrawing7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2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31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53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52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4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57.bin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5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33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5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36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6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44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74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wmf"/><Relationship Id="rId1" Type="http://schemas.openxmlformats.org/officeDocument/2006/relationships/oleObject" Target="../embeddings/oleObject78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7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5.wmf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8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5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8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oleObject" Target="../embeddings/oleObject99.bin"/><Relationship Id="rId7" Type="http://schemas.openxmlformats.org/officeDocument/2006/relationships/oleObject" Target="../embeddings/oleObject98.bin"/><Relationship Id="rId6" Type="http://schemas.openxmlformats.org/officeDocument/2006/relationships/oleObject" Target="../embeddings/oleObject97.bin"/><Relationship Id="rId5" Type="http://schemas.openxmlformats.org/officeDocument/2006/relationships/oleObject" Target="../embeddings/oleObject96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50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9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101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100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wmf"/><Relationship Id="rId1" Type="http://schemas.openxmlformats.org/officeDocument/2006/relationships/oleObject" Target="../embeddings/oleObject103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wmf"/><Relationship Id="rId1" Type="http://schemas.openxmlformats.org/officeDocument/2006/relationships/oleObject" Target="../embeddings/oleObject10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1026"/>
          <p:cNvSpPr txBox="1"/>
          <p:nvPr/>
        </p:nvSpPr>
        <p:spPr>
          <a:xfrm>
            <a:off x="228600" y="498475"/>
            <a:ext cx="8686800" cy="1025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5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图与网络分析</a:t>
            </a:r>
            <a:endParaRPr lang="zh-CN" altLang="en-US" sz="5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>
              <a:lnSpc>
                <a:spcPct val="3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(</a:t>
            </a: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Graph Theory and Network Analysis)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483" name="Line 1027"/>
          <p:cNvSpPr/>
          <p:nvPr/>
        </p:nvSpPr>
        <p:spPr>
          <a:xfrm>
            <a:off x="0" y="1676400"/>
            <a:ext cx="9144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Rectangle 1028"/>
          <p:cNvSpPr/>
          <p:nvPr/>
        </p:nvSpPr>
        <p:spPr>
          <a:xfrm>
            <a:off x="1935163" y="2057400"/>
            <a:ext cx="525621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图与网络的基本知识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20485" name="Rectangle 1029"/>
          <p:cNvSpPr/>
          <p:nvPr/>
        </p:nvSpPr>
        <p:spPr>
          <a:xfrm>
            <a:off x="2773363" y="3629025"/>
            <a:ext cx="300196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最短路问题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20486" name="Rectangle 1030"/>
          <p:cNvSpPr/>
          <p:nvPr/>
        </p:nvSpPr>
        <p:spPr>
          <a:xfrm>
            <a:off x="2239963" y="2840038"/>
            <a:ext cx="44132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 树及最小树问题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20487" name="Rectangle 1031"/>
          <p:cNvSpPr/>
          <p:nvPr/>
        </p:nvSpPr>
        <p:spPr>
          <a:xfrm>
            <a:off x="2751138" y="4419600"/>
            <a:ext cx="300196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最大流问题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20488" name="Rectangle 1032"/>
          <p:cNvSpPr/>
          <p:nvPr/>
        </p:nvSpPr>
        <p:spPr>
          <a:xfrm>
            <a:off x="1905000" y="5181600"/>
            <a:ext cx="5256213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最小费用最大流问题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8"/>
          <p:cNvSpPr/>
          <p:nvPr/>
        </p:nvSpPr>
        <p:spPr>
          <a:xfrm>
            <a:off x="0" y="228600"/>
            <a:ext cx="9144000" cy="5945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33400"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四、 最大流问题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533400" algn="just"/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533400" algn="just"/>
            <a:r>
              <a:rPr lang="zh-CN" altLang="en-US" sz="3200" b="1" dirty="0">
                <a:latin typeface="Times New Roman" panose="02020603050405020304" pitchFamily="18" charset="0"/>
              </a:rPr>
              <a:t>（一）、 基本概念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533400" algn="just"/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533400" algn="just"/>
            <a:r>
              <a:rPr lang="zh-CN" altLang="en-US" sz="2800" b="1" dirty="0">
                <a:latin typeface="Times New Roman" panose="02020603050405020304" pitchFamily="18" charset="0"/>
              </a:rPr>
              <a:t>1、设一个赋权有向图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D=（V, E）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</a:rPr>
              <a:t>中指定一个发点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和一个收点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其它的点叫做中间点。对于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中的每一个弧（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</a:rPr>
              <a:t>）∈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,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都有一个非负数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叫做弧的容量。我们把这样的图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叫做一个容量网络，简称网络，记做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indent="533400" algn="just"/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=（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V，E，C</a:t>
            </a:r>
            <a:r>
              <a:rPr lang="en-US" altLang="zh-CN" sz="2800" b="1" dirty="0">
                <a:latin typeface="Times New Roman" panose="02020603050405020304" pitchFamily="18" charset="0"/>
              </a:rPr>
              <a:t>）。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indent="533400"/>
            <a:r>
              <a:rPr lang="zh-CN" altLang="en-US" sz="2800" b="1" dirty="0">
                <a:latin typeface="Times New Roman" panose="02020603050405020304" pitchFamily="18" charset="0"/>
              </a:rPr>
              <a:t>网络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上的流，是指定义在弧集合</a:t>
            </a:r>
            <a:r>
              <a:rPr lang="en-US" altLang="zh-CN" sz="2800" b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上的一个函数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indent="533400"/>
            <a:endParaRPr lang="zh-CN" altLang="en-US" sz="2800" b="1" dirty="0">
              <a:latin typeface="Times New Roman" panose="02020603050405020304" pitchFamily="18" charset="0"/>
            </a:endParaRPr>
          </a:p>
          <a:p>
            <a:pPr indent="533400"/>
            <a:endParaRPr lang="zh-CN" altLang="en-US" sz="2800" b="1" dirty="0">
              <a:latin typeface="Times New Roman" panose="02020603050405020304" pitchFamily="18" charset="0"/>
            </a:endParaRPr>
          </a:p>
          <a:p>
            <a:pPr indent="533400"/>
            <a:r>
              <a:rPr lang="zh-CN" altLang="en-US" sz="2800" b="1" dirty="0">
                <a:latin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</a:rPr>
              <a:t>) 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叫做弧(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上的流量。</a:t>
            </a:r>
            <a:r>
              <a:rPr lang="zh-CN" altLang="en-US" sz="3200" b="1" dirty="0">
                <a:latin typeface="Times New Roman" panose="02020603050405020304" pitchFamily="18" charset="0"/>
              </a:rPr>
              <a:t>  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9"/>
          <p:cNvGraphicFramePr>
            <a:graphicFrameLocks noChangeAspect="1"/>
          </p:cNvGraphicFramePr>
          <p:nvPr/>
        </p:nvGraphicFramePr>
        <p:xfrm>
          <a:off x="2263775" y="5029200"/>
          <a:ext cx="25606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422400" imgH="241300" progId="Equation.3">
                  <p:embed/>
                </p:oleObj>
              </mc:Choice>
              <mc:Fallback>
                <p:oleObj name="" r:id="rId1" imgW="1422400" imgH="2413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3775" y="5029200"/>
                        <a:ext cx="2560638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3" name="Rectangle 2"/>
          <p:cNvSpPr/>
          <p:nvPr/>
        </p:nvSpPr>
        <p:spPr>
          <a:xfrm>
            <a:off x="762000" y="457200"/>
            <a:ext cx="8001000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2、称满足下列条件的流为可行流：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（1）容量条件：对于每一个弧（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3200" i="1" dirty="0">
                <a:latin typeface="Times New Roman" panose="02020603050405020304" pitchFamily="18" charset="0"/>
              </a:rPr>
              <a:t> ,v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）∈</a:t>
            </a:r>
            <a:r>
              <a:rPr lang="en-US" altLang="zh-CN" sz="3200" i="1" dirty="0">
                <a:latin typeface="Times New Roman" panose="02020603050405020304" pitchFamily="18" charset="0"/>
              </a:rPr>
              <a:t>E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	 有  0 </a:t>
            </a:r>
            <a:r>
              <a:rPr lang="en-US" altLang="zh-CN" sz="3200" dirty="0">
                <a:latin typeface="Symbol" panose="05050102010706020507" pitchFamily="18" charset="2"/>
              </a:rPr>
              <a:t>&lt;=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i="1" dirty="0">
                <a:latin typeface="Times New Roman" panose="02020603050405020304" pitchFamily="18" charset="0"/>
              </a:rPr>
              <a:t> &lt;=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。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（2）</a:t>
            </a:r>
            <a:r>
              <a:rPr lang="zh-CN" altLang="en-US" sz="3200" dirty="0">
                <a:latin typeface="Times New Roman" panose="02020603050405020304" pitchFamily="18" charset="0"/>
              </a:rPr>
              <a:t>平衡条件：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对于发点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有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对于收点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有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spcBef>
                <a:spcPct val="5000"/>
              </a:spcBef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对于中间点，有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3733800" y="2590800"/>
          <a:ext cx="3016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676400" imgH="381000" progId="Equation.3">
                  <p:embed/>
                </p:oleObj>
              </mc:Choice>
              <mc:Fallback>
                <p:oleObj name="" r:id="rId1" imgW="1676400" imgH="3810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800" y="2590800"/>
                        <a:ext cx="30162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3733800" y="3505200"/>
          <a:ext cx="31305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739900" imgH="381000" progId="Equation.3">
                  <p:embed/>
                </p:oleObj>
              </mc:Choice>
              <mc:Fallback>
                <p:oleObj name="" r:id="rId3" imgW="1739900" imgH="381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33800" y="3505200"/>
                        <a:ext cx="31305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3810000" y="4419600"/>
          <a:ext cx="28336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574800" imgH="381000" progId="Equation.3">
                  <p:embed/>
                </p:oleObj>
              </mc:Choice>
              <mc:Fallback>
                <p:oleObj name="" r:id="rId5" imgW="1574800" imgH="3810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0" y="4419600"/>
                        <a:ext cx="283368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6"/>
          <p:cNvSpPr/>
          <p:nvPr/>
        </p:nvSpPr>
        <p:spPr>
          <a:xfrm>
            <a:off x="609600" y="5029200"/>
            <a:ext cx="78486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可行流中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dirty="0">
                <a:latin typeface="Times New Roman" panose="02020603050405020304" pitchFamily="18" charset="0"/>
              </a:rPr>
              <a:t>＝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的弧叫做饱和弧，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dirty="0">
                <a:latin typeface="Times New Roman" panose="02020603050405020304" pitchFamily="18" charset="0"/>
              </a:rPr>
              <a:t>＜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zh-CN" altLang="en-US" sz="3200" dirty="0">
                <a:latin typeface="Times New Roman" panose="02020603050405020304" pitchFamily="18" charset="0"/>
              </a:rPr>
              <a:t>的弧叫做非饱和弧。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dirty="0">
                <a:latin typeface="Times New Roman" panose="02020603050405020304" pitchFamily="18" charset="0"/>
              </a:rPr>
              <a:t>＞0 </a:t>
            </a:r>
            <a:r>
              <a:rPr lang="zh-CN" altLang="en-US" sz="3200" dirty="0">
                <a:latin typeface="Times New Roman" panose="02020603050405020304" pitchFamily="18" charset="0"/>
              </a:rPr>
              <a:t>的弧为非零流弧，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3200" dirty="0">
                <a:latin typeface="Times New Roman" panose="02020603050405020304" pitchFamily="18" charset="0"/>
              </a:rPr>
              <a:t>＝0 </a:t>
            </a:r>
            <a:r>
              <a:rPr lang="zh-CN" altLang="en-US" sz="3200" dirty="0">
                <a:latin typeface="Times New Roman" panose="02020603050405020304" pitchFamily="18" charset="0"/>
              </a:rPr>
              <a:t>的弧叫做零流弧。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82" name="Group 48"/>
          <p:cNvGrpSpPr/>
          <p:nvPr/>
        </p:nvGrpSpPr>
        <p:grpSpPr>
          <a:xfrm>
            <a:off x="914400" y="685800"/>
            <a:ext cx="7239000" cy="3048000"/>
            <a:chOff x="528" y="1152"/>
            <a:chExt cx="4416" cy="1687"/>
          </a:xfrm>
        </p:grpSpPr>
        <p:sp>
          <p:nvSpPr>
            <p:cNvPr id="3085" name="Oval 3"/>
            <p:cNvSpPr/>
            <p:nvPr/>
          </p:nvSpPr>
          <p:spPr>
            <a:xfrm>
              <a:off x="1536" y="12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5" name="Object 4"/>
            <p:cNvGraphicFramePr>
              <a:graphicFrameLocks noChangeAspect="1"/>
            </p:cNvGraphicFramePr>
            <p:nvPr/>
          </p:nvGraphicFramePr>
          <p:xfrm>
            <a:off x="1584" y="1296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4" y="1296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6" name="Oval 5"/>
            <p:cNvSpPr/>
            <p:nvPr/>
          </p:nvSpPr>
          <p:spPr>
            <a:xfrm>
              <a:off x="528" y="1920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6" name="Object 6"/>
            <p:cNvGraphicFramePr>
              <a:graphicFrameLocks noChangeAspect="1"/>
            </p:cNvGraphicFramePr>
            <p:nvPr/>
          </p:nvGraphicFramePr>
          <p:xfrm>
            <a:off x="576" y="1920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920"/>
                          <a:ext cx="184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Oval 7"/>
            <p:cNvSpPr/>
            <p:nvPr/>
          </p:nvSpPr>
          <p:spPr>
            <a:xfrm>
              <a:off x="1536" y="24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7" name="Object 8"/>
            <p:cNvGraphicFramePr>
              <a:graphicFrameLocks noChangeAspect="1"/>
            </p:cNvGraphicFramePr>
            <p:nvPr/>
          </p:nvGraphicFramePr>
          <p:xfrm>
            <a:off x="1577" y="2489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77" y="2489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8" name="Oval 9"/>
            <p:cNvSpPr/>
            <p:nvPr/>
          </p:nvSpPr>
          <p:spPr>
            <a:xfrm>
              <a:off x="2544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8" name="Object 10"/>
            <p:cNvGraphicFramePr>
              <a:graphicFrameLocks noChangeAspect="1"/>
            </p:cNvGraphicFramePr>
            <p:nvPr/>
          </p:nvGraphicFramePr>
          <p:xfrm>
            <a:off x="2585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85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Oval 11"/>
            <p:cNvSpPr/>
            <p:nvPr/>
          </p:nvSpPr>
          <p:spPr>
            <a:xfrm>
              <a:off x="3504" y="1303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9" name="Object 12"/>
            <p:cNvGraphicFramePr>
              <a:graphicFrameLocks noChangeAspect="1"/>
            </p:cNvGraphicFramePr>
            <p:nvPr/>
          </p:nvGraphicFramePr>
          <p:xfrm>
            <a:off x="3545" y="1296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5100" imgH="228600" progId="Equation.3">
                    <p:embed/>
                  </p:oleObj>
                </mc:Choice>
                <mc:Fallback>
                  <p:oleObj name="" r:id="rId9" imgW="165100" imgH="228600" progId="Equation.3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5" y="1296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0" name="Oval 13"/>
            <p:cNvSpPr/>
            <p:nvPr/>
          </p:nvSpPr>
          <p:spPr>
            <a:xfrm>
              <a:off x="3504" y="2551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80" name="Object 14"/>
            <p:cNvGraphicFramePr>
              <a:graphicFrameLocks noChangeAspect="1"/>
            </p:cNvGraphicFramePr>
            <p:nvPr/>
          </p:nvGraphicFramePr>
          <p:xfrm>
            <a:off x="3545" y="2544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5" y="2544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1" name="Oval 15"/>
            <p:cNvSpPr/>
            <p:nvPr/>
          </p:nvSpPr>
          <p:spPr>
            <a:xfrm>
              <a:off x="4656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81" name="Object 16"/>
            <p:cNvGraphicFramePr>
              <a:graphicFrameLocks noChangeAspect="1"/>
            </p:cNvGraphicFramePr>
            <p:nvPr/>
          </p:nvGraphicFramePr>
          <p:xfrm>
            <a:off x="4697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3" imgW="165100" imgH="215900" progId="Equation.3">
                    <p:embed/>
                  </p:oleObj>
                </mc:Choice>
                <mc:Fallback>
                  <p:oleObj name="" r:id="rId13" imgW="165100" imgH="215900" progId="Equation.3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97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2" name="Line 24"/>
            <p:cNvSpPr/>
            <p:nvPr/>
          </p:nvSpPr>
          <p:spPr>
            <a:xfrm flipV="1">
              <a:off x="816" y="15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3" name="Line 25"/>
            <p:cNvSpPr/>
            <p:nvPr/>
          </p:nvSpPr>
          <p:spPr>
            <a:xfrm>
              <a:off x="816" y="206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4" name="Line 26"/>
            <p:cNvSpPr/>
            <p:nvPr/>
          </p:nvSpPr>
          <p:spPr>
            <a:xfrm>
              <a:off x="1680" y="1584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095" name="Line 27"/>
            <p:cNvSpPr/>
            <p:nvPr/>
          </p:nvSpPr>
          <p:spPr>
            <a:xfrm>
              <a:off x="1824" y="1440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6" name="Line 28"/>
            <p:cNvSpPr/>
            <p:nvPr/>
          </p:nvSpPr>
          <p:spPr>
            <a:xfrm>
              <a:off x="1824" y="2688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7" name="Line 29"/>
            <p:cNvSpPr/>
            <p:nvPr/>
          </p:nvSpPr>
          <p:spPr>
            <a:xfrm>
              <a:off x="1824" y="1488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8" name="Line 30"/>
            <p:cNvSpPr/>
            <p:nvPr/>
          </p:nvSpPr>
          <p:spPr>
            <a:xfrm flipV="1">
              <a:off x="1776" y="2208"/>
              <a:ext cx="76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99" name="Line 31"/>
            <p:cNvSpPr/>
            <p:nvPr/>
          </p:nvSpPr>
          <p:spPr>
            <a:xfrm>
              <a:off x="2832" y="2112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0" name="Line 32"/>
            <p:cNvSpPr/>
            <p:nvPr/>
          </p:nvSpPr>
          <p:spPr>
            <a:xfrm>
              <a:off x="3792" y="1488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1" name="Line 33"/>
            <p:cNvSpPr/>
            <p:nvPr/>
          </p:nvSpPr>
          <p:spPr>
            <a:xfrm flipV="1">
              <a:off x="3792" y="2256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2" name="Line 34"/>
            <p:cNvSpPr/>
            <p:nvPr/>
          </p:nvSpPr>
          <p:spPr>
            <a:xfrm flipV="1">
              <a:off x="2832" y="158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3" name="Line 35"/>
            <p:cNvSpPr/>
            <p:nvPr/>
          </p:nvSpPr>
          <p:spPr>
            <a:xfrm>
              <a:off x="2832" y="2208"/>
              <a:ext cx="72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4" name="Text Box 36"/>
            <p:cNvSpPr txBox="1"/>
            <p:nvPr/>
          </p:nvSpPr>
          <p:spPr>
            <a:xfrm>
              <a:off x="816" y="1536"/>
              <a:ext cx="525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 13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5" name="Text Box 37"/>
            <p:cNvSpPr txBox="1"/>
            <p:nvPr/>
          </p:nvSpPr>
          <p:spPr>
            <a:xfrm>
              <a:off x="914" y="229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6" name="Text Box 38"/>
            <p:cNvSpPr txBox="1"/>
            <p:nvPr/>
          </p:nvSpPr>
          <p:spPr>
            <a:xfrm>
              <a:off x="1248" y="1872"/>
              <a:ext cx="40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7" name="Text Box 39"/>
            <p:cNvSpPr txBox="1"/>
            <p:nvPr/>
          </p:nvSpPr>
          <p:spPr>
            <a:xfrm>
              <a:off x="2448" y="115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8" name="Text Box 40"/>
            <p:cNvSpPr txBox="1"/>
            <p:nvPr/>
          </p:nvSpPr>
          <p:spPr>
            <a:xfrm>
              <a:off x="2064" y="1488"/>
              <a:ext cx="37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9" name="Text Box 41"/>
            <p:cNvSpPr txBox="1"/>
            <p:nvPr/>
          </p:nvSpPr>
          <p:spPr>
            <a:xfrm>
              <a:off x="1872" y="211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0" name="Text Box 42"/>
            <p:cNvSpPr txBox="1"/>
            <p:nvPr/>
          </p:nvSpPr>
          <p:spPr>
            <a:xfrm>
              <a:off x="2832" y="158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1" name="Text Box 43"/>
            <p:cNvSpPr txBox="1"/>
            <p:nvPr/>
          </p:nvSpPr>
          <p:spPr>
            <a:xfrm>
              <a:off x="2448" y="240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(0)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2" name="Text Box 44"/>
            <p:cNvSpPr txBox="1"/>
            <p:nvPr/>
          </p:nvSpPr>
          <p:spPr>
            <a:xfrm>
              <a:off x="3504" y="1872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3" name="Text Box 45"/>
            <p:cNvSpPr txBox="1"/>
            <p:nvPr/>
          </p:nvSpPr>
          <p:spPr>
            <a:xfrm>
              <a:off x="3216" y="216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4" name="Text Box 46"/>
            <p:cNvSpPr txBox="1"/>
            <p:nvPr/>
          </p:nvSpPr>
          <p:spPr>
            <a:xfrm>
              <a:off x="4128" y="1440"/>
              <a:ext cx="408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15" name="Text Box 47"/>
            <p:cNvSpPr txBox="1"/>
            <p:nvPr/>
          </p:nvSpPr>
          <p:spPr>
            <a:xfrm>
              <a:off x="4224" y="2496"/>
              <a:ext cx="487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10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1"/>
          <p:cNvGrpSpPr/>
          <p:nvPr/>
        </p:nvGrpSpPr>
        <p:grpSpPr>
          <a:xfrm>
            <a:off x="685800" y="4184650"/>
            <a:ext cx="8458200" cy="539750"/>
            <a:chOff x="432" y="2592"/>
            <a:chExt cx="5328" cy="340"/>
          </a:xfrm>
        </p:grpSpPr>
        <p:sp>
          <p:nvSpPr>
            <p:cNvPr id="3084" name="Text Box 49"/>
            <p:cNvSpPr txBox="1"/>
            <p:nvPr/>
          </p:nvSpPr>
          <p:spPr>
            <a:xfrm>
              <a:off x="432" y="2605"/>
              <a:ext cx="53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  图中              为零流弧，其余为非饱和弧。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074" name="Object 50"/>
            <p:cNvGraphicFramePr>
              <a:graphicFrameLocks noChangeAspect="1"/>
            </p:cNvGraphicFramePr>
            <p:nvPr/>
          </p:nvGraphicFramePr>
          <p:xfrm>
            <a:off x="1104" y="2592"/>
            <a:ext cx="72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5" imgW="508000" imgH="228600" progId="Equation.3">
                    <p:embed/>
                  </p:oleObj>
                </mc:Choice>
                <mc:Fallback>
                  <p:oleObj name="" r:id="rId15" imgW="508000" imgH="228600" progId="Equation.3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04" y="2592"/>
                          <a:ext cx="720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9" name="Rectangle 46"/>
          <p:cNvSpPr/>
          <p:nvPr/>
        </p:nvSpPr>
        <p:spPr>
          <a:xfrm>
            <a:off x="457200" y="76200"/>
            <a:ext cx="8001000" cy="4965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just" defTabSz="914400" eaLnBrk="1" hangingPunct="1">
              <a:tabLst>
                <a:tab pos="3838575" algn="l"/>
              </a:tabLst>
            </a:pPr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266700" algn="just" defTabSz="914400">
              <a:tabLst>
                <a:tab pos="3838575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   3、容量网络</a:t>
            </a:r>
            <a:r>
              <a:rPr lang="en-US" altLang="zh-CN" sz="3200" dirty="0">
                <a:latin typeface="Times New Roman" panose="02020603050405020304" pitchFamily="18" charset="0"/>
              </a:rPr>
              <a:t>G，</a:t>
            </a:r>
            <a:r>
              <a:rPr lang="zh-CN" altLang="en-US" sz="3200" dirty="0">
                <a:latin typeface="Times New Roman" panose="02020603050405020304" pitchFamily="18" charset="0"/>
              </a:rPr>
              <a:t>若  为网络中从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到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t</a:t>
            </a:r>
            <a:r>
              <a:rPr lang="zh-CN" altLang="en-US" sz="3200" dirty="0">
                <a:latin typeface="Times New Roman" panose="02020603050405020304" pitchFamily="18" charset="0"/>
              </a:rPr>
              <a:t>的一条链，给   定向为从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到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</a:rPr>
              <a:t>， </a:t>
            </a:r>
            <a:r>
              <a:rPr lang="zh-CN" altLang="en-US" sz="3200" dirty="0">
                <a:latin typeface="Times New Roman" panose="02020603050405020304" pitchFamily="18" charset="0"/>
              </a:rPr>
              <a:t>上的弧凡与  方向相同的称为前向弧，凡与  方向相反的称为后向弧，其集合分别用    和    表示。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 defTabSz="914400">
              <a:tabLst>
                <a:tab pos="3838575" algn="l"/>
              </a:tabLst>
            </a:pP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是一个可行流，如果满足：	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 defTabSz="914400">
              <a:tabLst>
                <a:tab pos="3838575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          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 defTabSz="914400">
              <a:tabLst>
                <a:tab pos="3838575" algn="l"/>
              </a:tabLst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defTabSz="914400">
              <a:tabLst>
                <a:tab pos="3838575" algn="l"/>
              </a:tabLst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defTabSz="914400">
              <a:tabLst>
                <a:tab pos="3838575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则称    为从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到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的关于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zh-CN" altLang="en-US" sz="3200" dirty="0">
                <a:latin typeface="Times New Roman" panose="02020603050405020304" pitchFamily="18" charset="0"/>
              </a:rPr>
              <a:t>的一条增广链。  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8" name="Object 47"/>
          <p:cNvGraphicFramePr>
            <a:graphicFrameLocks noChangeAspect="1"/>
          </p:cNvGraphicFramePr>
          <p:nvPr/>
        </p:nvGraphicFramePr>
        <p:xfrm>
          <a:off x="4602163" y="762000"/>
          <a:ext cx="274637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2400" imgH="165100" progId="Equation.3">
                  <p:embed/>
                </p:oleObj>
              </mc:Choice>
              <mc:Fallback>
                <p:oleObj name="" r:id="rId1" imgW="152400" imgH="165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02163" y="762000"/>
                        <a:ext cx="274637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8"/>
          <p:cNvGraphicFramePr>
            <a:graphicFrameLocks noChangeAspect="1"/>
          </p:cNvGraphicFramePr>
          <p:nvPr/>
        </p:nvGraphicFramePr>
        <p:xfrm>
          <a:off x="2697163" y="1219200"/>
          <a:ext cx="274637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52400" imgH="165100" progId="Equation.3">
                  <p:embed/>
                </p:oleObj>
              </mc:Choice>
              <mc:Fallback>
                <p:oleObj name="" r:id="rId3" imgW="152400" imgH="165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97163" y="1219200"/>
                        <a:ext cx="274637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9"/>
          <p:cNvGraphicFramePr>
            <a:graphicFrameLocks noChangeAspect="1"/>
          </p:cNvGraphicFramePr>
          <p:nvPr/>
        </p:nvGraphicFramePr>
        <p:xfrm>
          <a:off x="5943600" y="1219200"/>
          <a:ext cx="27463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4" imgW="152400" imgH="165100" progId="Equation.3">
                  <p:embed/>
                </p:oleObj>
              </mc:Choice>
              <mc:Fallback>
                <p:oleObj name="" r:id="rId4" imgW="152400" imgH="165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43600" y="1219200"/>
                        <a:ext cx="274638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0"/>
          <p:cNvGraphicFramePr>
            <a:graphicFrameLocks noChangeAspect="1"/>
          </p:cNvGraphicFramePr>
          <p:nvPr/>
        </p:nvGraphicFramePr>
        <p:xfrm>
          <a:off x="8412163" y="1219200"/>
          <a:ext cx="274637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52400" imgH="165100" progId="Equation.3">
                  <p:embed/>
                </p:oleObj>
              </mc:Choice>
              <mc:Fallback>
                <p:oleObj name="" r:id="rId5" imgW="152400" imgH="165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12163" y="1219200"/>
                        <a:ext cx="274637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51"/>
          <p:cNvGraphicFramePr>
            <a:graphicFrameLocks noChangeAspect="1"/>
          </p:cNvGraphicFramePr>
          <p:nvPr/>
        </p:nvGraphicFramePr>
        <p:xfrm>
          <a:off x="5973763" y="1752600"/>
          <a:ext cx="274637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6" imgW="152400" imgH="165100" progId="Equation.3">
                  <p:embed/>
                </p:oleObj>
              </mc:Choice>
              <mc:Fallback>
                <p:oleObj name="" r:id="rId6" imgW="152400" imgH="1651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73763" y="1752600"/>
                        <a:ext cx="274637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52"/>
          <p:cNvGraphicFramePr>
            <a:graphicFrameLocks noChangeAspect="1"/>
          </p:cNvGraphicFramePr>
          <p:nvPr/>
        </p:nvGraphicFramePr>
        <p:xfrm>
          <a:off x="5402263" y="2133600"/>
          <a:ext cx="3889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215900" imgH="228600" progId="Equation.3">
                  <p:embed/>
                </p:oleObj>
              </mc:Choice>
              <mc:Fallback>
                <p:oleObj name="" r:id="rId7" imgW="2159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02263" y="2133600"/>
                        <a:ext cx="3889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53"/>
          <p:cNvGraphicFramePr>
            <a:graphicFrameLocks noChangeAspect="1"/>
          </p:cNvGraphicFramePr>
          <p:nvPr/>
        </p:nvGraphicFramePr>
        <p:xfrm>
          <a:off x="6242050" y="2133600"/>
          <a:ext cx="3873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215900" imgH="228600" progId="Equation.3">
                  <p:embed/>
                </p:oleObj>
              </mc:Choice>
              <mc:Fallback>
                <p:oleObj name="" r:id="rId9" imgW="2159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42050" y="2133600"/>
                        <a:ext cx="38735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54"/>
          <p:cNvGraphicFramePr>
            <a:graphicFrameLocks noChangeAspect="1"/>
          </p:cNvGraphicFramePr>
          <p:nvPr/>
        </p:nvGraphicFramePr>
        <p:xfrm>
          <a:off x="609600" y="3179763"/>
          <a:ext cx="358775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1993900" imgH="558800" progId="Equation.3">
                  <p:embed/>
                </p:oleObj>
              </mc:Choice>
              <mc:Fallback>
                <p:oleObj name="" r:id="rId11" imgW="1993900" imgH="558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" y="3179763"/>
                        <a:ext cx="3587750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55"/>
          <p:cNvGraphicFramePr>
            <a:graphicFrameLocks noChangeAspect="1"/>
          </p:cNvGraphicFramePr>
          <p:nvPr/>
        </p:nvGraphicFramePr>
        <p:xfrm>
          <a:off x="1752600" y="4572000"/>
          <a:ext cx="27463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3" imgW="152400" imgH="165100" progId="Equation.3">
                  <p:embed/>
                </p:oleObj>
              </mc:Choice>
              <mc:Fallback>
                <p:oleObj name="" r:id="rId13" imgW="152400" imgH="1651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4572000"/>
                        <a:ext cx="274638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57"/>
          <p:cNvSpPr/>
          <p:nvPr/>
        </p:nvSpPr>
        <p:spPr>
          <a:xfrm>
            <a:off x="304800" y="5181600"/>
            <a:ext cx="87630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推论</a:t>
            </a:r>
            <a:r>
              <a:rPr lang="zh-CN" altLang="en-US" sz="3200" dirty="0">
                <a:latin typeface="Times New Roman" panose="02020603050405020304" pitchFamily="18" charset="0"/>
              </a:rPr>
              <a:t>   可行流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zh-CN" altLang="en-US" sz="3200" dirty="0">
                <a:latin typeface="Times New Roman" panose="02020603050405020304" pitchFamily="18" charset="0"/>
              </a:rPr>
              <a:t>是最大流的充分必要条件是不存在从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到</a:t>
            </a:r>
            <a:r>
              <a:rPr lang="en-US" altLang="zh-CN" sz="3200" i="1" dirty="0">
                <a:latin typeface="Times New Roman" panose="02020603050405020304" pitchFamily="18" charset="0"/>
              </a:rPr>
              <a:t>v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的关于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zh-CN" altLang="en-US" sz="3200" dirty="0">
                <a:latin typeface="Times New Roman" panose="02020603050405020304" pitchFamily="18" charset="0"/>
              </a:rPr>
              <a:t>的一条可增广链。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4111" name="Group 60"/>
          <p:cNvGrpSpPr/>
          <p:nvPr/>
        </p:nvGrpSpPr>
        <p:grpSpPr>
          <a:xfrm>
            <a:off x="4343400" y="3179763"/>
            <a:ext cx="4645025" cy="477837"/>
            <a:chOff x="1968" y="3744"/>
            <a:chExt cx="2926" cy="301"/>
          </a:xfrm>
        </p:grpSpPr>
        <p:sp>
          <p:nvSpPr>
            <p:cNvPr id="4113" name="Text Box 58"/>
            <p:cNvSpPr txBox="1"/>
            <p:nvPr/>
          </p:nvSpPr>
          <p:spPr>
            <a:xfrm>
              <a:off x="1968" y="3757"/>
              <a:ext cx="29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即      中的每一条弧都是非饱和弧</a:t>
              </a:r>
              <a:endParaRPr lang="zh-CN" altLang="en-US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108" name="Object 59"/>
            <p:cNvGraphicFramePr>
              <a:graphicFrameLocks noChangeAspect="1"/>
            </p:cNvGraphicFramePr>
            <p:nvPr/>
          </p:nvGraphicFramePr>
          <p:xfrm>
            <a:off x="2256" y="3744"/>
            <a:ext cx="245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4" imgW="215900" imgH="228600" progId="Equation.3">
                    <p:embed/>
                  </p:oleObj>
                </mc:Choice>
                <mc:Fallback>
                  <p:oleObj name="" r:id="rId14" imgW="215900" imgH="2286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56" y="3744"/>
                          <a:ext cx="245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2" name="Text Box 62"/>
          <p:cNvSpPr txBox="1"/>
          <p:nvPr/>
        </p:nvSpPr>
        <p:spPr>
          <a:xfrm>
            <a:off x="4346575" y="3733800"/>
            <a:ext cx="4645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即      中的每一条弧都是非零流弧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107" name="Object 63"/>
          <p:cNvGraphicFramePr>
            <a:graphicFrameLocks noChangeAspect="1"/>
          </p:cNvGraphicFramePr>
          <p:nvPr/>
        </p:nvGraphicFramePr>
        <p:xfrm>
          <a:off x="4803775" y="3713163"/>
          <a:ext cx="3889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5" imgW="215900" imgH="228600" progId="Equation.3">
                  <p:embed/>
                </p:oleObj>
              </mc:Choice>
              <mc:Fallback>
                <p:oleObj name="" r:id="rId15" imgW="215900" imgH="228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3775" y="3713163"/>
                        <a:ext cx="388938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33" name="Group 2"/>
          <p:cNvGrpSpPr/>
          <p:nvPr/>
        </p:nvGrpSpPr>
        <p:grpSpPr>
          <a:xfrm>
            <a:off x="914400" y="457200"/>
            <a:ext cx="7239000" cy="3048000"/>
            <a:chOff x="528" y="1152"/>
            <a:chExt cx="4416" cy="1687"/>
          </a:xfrm>
        </p:grpSpPr>
        <p:sp>
          <p:nvSpPr>
            <p:cNvPr id="5137" name="Oval 3"/>
            <p:cNvSpPr/>
            <p:nvPr/>
          </p:nvSpPr>
          <p:spPr>
            <a:xfrm>
              <a:off x="1536" y="12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6" name="Object 4"/>
            <p:cNvGraphicFramePr>
              <a:graphicFrameLocks noChangeAspect="1"/>
            </p:cNvGraphicFramePr>
            <p:nvPr/>
          </p:nvGraphicFramePr>
          <p:xfrm>
            <a:off x="1584" y="1296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4" y="1296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8" name="Oval 5"/>
            <p:cNvSpPr/>
            <p:nvPr/>
          </p:nvSpPr>
          <p:spPr>
            <a:xfrm>
              <a:off x="528" y="1920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7" name="Object 6"/>
            <p:cNvGraphicFramePr>
              <a:graphicFrameLocks noChangeAspect="1"/>
            </p:cNvGraphicFramePr>
            <p:nvPr/>
          </p:nvGraphicFramePr>
          <p:xfrm>
            <a:off x="576" y="1920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920"/>
                          <a:ext cx="184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9" name="Oval 7"/>
            <p:cNvSpPr/>
            <p:nvPr/>
          </p:nvSpPr>
          <p:spPr>
            <a:xfrm>
              <a:off x="1536" y="24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8" name="Object 8"/>
            <p:cNvGraphicFramePr>
              <a:graphicFrameLocks noChangeAspect="1"/>
            </p:cNvGraphicFramePr>
            <p:nvPr/>
          </p:nvGraphicFramePr>
          <p:xfrm>
            <a:off x="1577" y="2489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77" y="2489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0" name="Oval 9"/>
            <p:cNvSpPr/>
            <p:nvPr/>
          </p:nvSpPr>
          <p:spPr>
            <a:xfrm>
              <a:off x="2544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9" name="Object 10"/>
            <p:cNvGraphicFramePr>
              <a:graphicFrameLocks noChangeAspect="1"/>
            </p:cNvGraphicFramePr>
            <p:nvPr/>
          </p:nvGraphicFramePr>
          <p:xfrm>
            <a:off x="2585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85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Oval 11"/>
            <p:cNvSpPr/>
            <p:nvPr/>
          </p:nvSpPr>
          <p:spPr>
            <a:xfrm>
              <a:off x="3504" y="1303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30" name="Object 12"/>
            <p:cNvGraphicFramePr>
              <a:graphicFrameLocks noChangeAspect="1"/>
            </p:cNvGraphicFramePr>
            <p:nvPr/>
          </p:nvGraphicFramePr>
          <p:xfrm>
            <a:off x="3545" y="1296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9" imgW="165100" imgH="228600" progId="Equation.3">
                    <p:embed/>
                  </p:oleObj>
                </mc:Choice>
                <mc:Fallback>
                  <p:oleObj name="" r:id="rId9" imgW="165100" imgH="2286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5" y="1296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2" name="Oval 13"/>
            <p:cNvSpPr/>
            <p:nvPr/>
          </p:nvSpPr>
          <p:spPr>
            <a:xfrm>
              <a:off x="3504" y="2551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31" name="Object 14"/>
            <p:cNvGraphicFramePr>
              <a:graphicFrameLocks noChangeAspect="1"/>
            </p:cNvGraphicFramePr>
            <p:nvPr/>
          </p:nvGraphicFramePr>
          <p:xfrm>
            <a:off x="3545" y="2544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5" y="2544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3" name="Oval 15"/>
            <p:cNvSpPr/>
            <p:nvPr/>
          </p:nvSpPr>
          <p:spPr>
            <a:xfrm>
              <a:off x="4656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32" name="Object 16"/>
            <p:cNvGraphicFramePr>
              <a:graphicFrameLocks noChangeAspect="1"/>
            </p:cNvGraphicFramePr>
            <p:nvPr/>
          </p:nvGraphicFramePr>
          <p:xfrm>
            <a:off x="4697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3" imgW="165100" imgH="215900" progId="Equation.3">
                    <p:embed/>
                  </p:oleObj>
                </mc:Choice>
                <mc:Fallback>
                  <p:oleObj name="" r:id="rId13" imgW="165100" imgH="2159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97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4" name="Line 17"/>
            <p:cNvSpPr/>
            <p:nvPr/>
          </p:nvSpPr>
          <p:spPr>
            <a:xfrm flipV="1">
              <a:off x="816" y="15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5" name="Line 18"/>
            <p:cNvSpPr/>
            <p:nvPr/>
          </p:nvSpPr>
          <p:spPr>
            <a:xfrm>
              <a:off x="816" y="206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6" name="Line 19"/>
            <p:cNvSpPr/>
            <p:nvPr/>
          </p:nvSpPr>
          <p:spPr>
            <a:xfrm>
              <a:off x="1680" y="1584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47" name="Line 20"/>
            <p:cNvSpPr/>
            <p:nvPr/>
          </p:nvSpPr>
          <p:spPr>
            <a:xfrm>
              <a:off x="1824" y="1440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8" name="Line 21"/>
            <p:cNvSpPr/>
            <p:nvPr/>
          </p:nvSpPr>
          <p:spPr>
            <a:xfrm>
              <a:off x="1824" y="2688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9" name="Line 22"/>
            <p:cNvSpPr/>
            <p:nvPr/>
          </p:nvSpPr>
          <p:spPr>
            <a:xfrm>
              <a:off x="1824" y="1488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0" name="Line 23"/>
            <p:cNvSpPr/>
            <p:nvPr/>
          </p:nvSpPr>
          <p:spPr>
            <a:xfrm flipV="1">
              <a:off x="1776" y="2208"/>
              <a:ext cx="76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1" name="Line 24"/>
            <p:cNvSpPr/>
            <p:nvPr/>
          </p:nvSpPr>
          <p:spPr>
            <a:xfrm>
              <a:off x="2832" y="2112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2" name="Line 25"/>
            <p:cNvSpPr/>
            <p:nvPr/>
          </p:nvSpPr>
          <p:spPr>
            <a:xfrm>
              <a:off x="3792" y="1488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3" name="Line 26"/>
            <p:cNvSpPr/>
            <p:nvPr/>
          </p:nvSpPr>
          <p:spPr>
            <a:xfrm flipV="1">
              <a:off x="3792" y="2256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4" name="Line 27"/>
            <p:cNvSpPr/>
            <p:nvPr/>
          </p:nvSpPr>
          <p:spPr>
            <a:xfrm flipV="1">
              <a:off x="2832" y="158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5" name="Line 28"/>
            <p:cNvSpPr/>
            <p:nvPr/>
          </p:nvSpPr>
          <p:spPr>
            <a:xfrm>
              <a:off x="2832" y="2208"/>
              <a:ext cx="72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6" name="Text Box 29"/>
            <p:cNvSpPr txBox="1"/>
            <p:nvPr/>
          </p:nvSpPr>
          <p:spPr>
            <a:xfrm>
              <a:off x="816" y="1536"/>
              <a:ext cx="525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 13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57" name="Text Box 30"/>
            <p:cNvSpPr txBox="1"/>
            <p:nvPr/>
          </p:nvSpPr>
          <p:spPr>
            <a:xfrm>
              <a:off x="914" y="229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58" name="Text Box 31"/>
            <p:cNvSpPr txBox="1"/>
            <p:nvPr/>
          </p:nvSpPr>
          <p:spPr>
            <a:xfrm>
              <a:off x="1248" y="1872"/>
              <a:ext cx="40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59" name="Text Box 32"/>
            <p:cNvSpPr txBox="1"/>
            <p:nvPr/>
          </p:nvSpPr>
          <p:spPr>
            <a:xfrm>
              <a:off x="2448" y="115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0" name="Text Box 33"/>
            <p:cNvSpPr txBox="1"/>
            <p:nvPr/>
          </p:nvSpPr>
          <p:spPr>
            <a:xfrm>
              <a:off x="2064" y="1488"/>
              <a:ext cx="37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1" name="Text Box 34"/>
            <p:cNvSpPr txBox="1"/>
            <p:nvPr/>
          </p:nvSpPr>
          <p:spPr>
            <a:xfrm>
              <a:off x="1872" y="211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2" name="Text Box 35"/>
            <p:cNvSpPr txBox="1"/>
            <p:nvPr/>
          </p:nvSpPr>
          <p:spPr>
            <a:xfrm>
              <a:off x="2832" y="158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3" name="Text Box 36"/>
            <p:cNvSpPr txBox="1"/>
            <p:nvPr/>
          </p:nvSpPr>
          <p:spPr>
            <a:xfrm>
              <a:off x="2448" y="240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(0)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4" name="Text Box 37"/>
            <p:cNvSpPr txBox="1"/>
            <p:nvPr/>
          </p:nvSpPr>
          <p:spPr>
            <a:xfrm>
              <a:off x="3504" y="1872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5" name="Text Box 38"/>
            <p:cNvSpPr txBox="1"/>
            <p:nvPr/>
          </p:nvSpPr>
          <p:spPr>
            <a:xfrm>
              <a:off x="3216" y="216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6" name="Text Box 39"/>
            <p:cNvSpPr txBox="1"/>
            <p:nvPr/>
          </p:nvSpPr>
          <p:spPr>
            <a:xfrm>
              <a:off x="4128" y="1440"/>
              <a:ext cx="408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7" name="Text Box 40"/>
            <p:cNvSpPr txBox="1"/>
            <p:nvPr/>
          </p:nvSpPr>
          <p:spPr>
            <a:xfrm>
              <a:off x="4224" y="2496"/>
              <a:ext cx="487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10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5033" name="Object 41"/>
          <p:cNvGraphicFramePr>
            <a:graphicFrameLocks noChangeAspect="1"/>
          </p:cNvGraphicFramePr>
          <p:nvPr/>
        </p:nvGraphicFramePr>
        <p:xfrm>
          <a:off x="228600" y="3810000"/>
          <a:ext cx="8686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5" imgW="3225800" imgH="228600" progId="Equation.3">
                  <p:embed/>
                </p:oleObj>
              </mc:Choice>
              <mc:Fallback>
                <p:oleObj name="" r:id="rId15" imgW="3225800" imgH="2286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8600" y="3810000"/>
                        <a:ext cx="8686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34" name="Object 42"/>
          <p:cNvGraphicFramePr>
            <a:graphicFrameLocks noChangeAspect="1"/>
          </p:cNvGraphicFramePr>
          <p:nvPr/>
        </p:nvGraphicFramePr>
        <p:xfrm>
          <a:off x="577850" y="4691063"/>
          <a:ext cx="50609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7" imgW="1879600" imgH="241300" progId="Equation.3">
                  <p:embed/>
                </p:oleObj>
              </mc:Choice>
              <mc:Fallback>
                <p:oleObj name="" r:id="rId17" imgW="1879600" imgH="2413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7850" y="4691063"/>
                        <a:ext cx="5060950" cy="642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35" name="Object 43"/>
          <p:cNvGraphicFramePr>
            <a:graphicFrameLocks noChangeAspect="1"/>
          </p:cNvGraphicFramePr>
          <p:nvPr/>
        </p:nvGraphicFramePr>
        <p:xfrm>
          <a:off x="5919788" y="4691063"/>
          <a:ext cx="246221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9" imgW="914400" imgH="241300" progId="Equation.3">
                  <p:embed/>
                </p:oleObj>
              </mc:Choice>
              <mc:Fallback>
                <p:oleObj name="" r:id="rId19" imgW="914400" imgH="2413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19788" y="4691063"/>
                        <a:ext cx="2462212" cy="642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6"/>
          <p:cNvGrpSpPr/>
          <p:nvPr/>
        </p:nvGrpSpPr>
        <p:grpSpPr>
          <a:xfrm>
            <a:off x="711200" y="5638800"/>
            <a:ext cx="2413000" cy="533400"/>
            <a:chOff x="240" y="3552"/>
            <a:chExt cx="1520" cy="336"/>
          </a:xfrm>
        </p:grpSpPr>
        <p:graphicFrame>
          <p:nvGraphicFramePr>
            <p:cNvPr id="5125" name="Object 44"/>
            <p:cNvGraphicFramePr>
              <a:graphicFrameLocks noChangeAspect="1"/>
            </p:cNvGraphicFramePr>
            <p:nvPr/>
          </p:nvGraphicFramePr>
          <p:xfrm>
            <a:off x="240" y="3600"/>
            <a:ext cx="26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21" imgW="152400" imgH="165100" progId="Equation.3">
                    <p:embed/>
                  </p:oleObj>
                </mc:Choice>
                <mc:Fallback>
                  <p:oleObj name="" r:id="rId21" imgW="152400" imgH="1651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40" y="3600"/>
                          <a:ext cx="26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6" name="Text Box 45"/>
            <p:cNvSpPr txBox="1"/>
            <p:nvPr/>
          </p:nvSpPr>
          <p:spPr>
            <a:xfrm>
              <a:off x="480" y="3552"/>
              <a:ext cx="12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是一个增广链</a:t>
              </a:r>
              <a:endParaRPr lang="zh-CN" altLang="en-US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5039" name="Text Box 47"/>
          <p:cNvSpPr txBox="1"/>
          <p:nvPr/>
        </p:nvSpPr>
        <p:spPr>
          <a:xfrm>
            <a:off x="3717925" y="5659438"/>
            <a:ext cx="4359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显然图中增广链不止一条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56" name="Group 103"/>
          <p:cNvGrpSpPr/>
          <p:nvPr/>
        </p:nvGrpSpPr>
        <p:grpSpPr>
          <a:xfrm>
            <a:off x="381000" y="412750"/>
            <a:ext cx="8077200" cy="3016250"/>
            <a:chOff x="240" y="260"/>
            <a:chExt cx="5088" cy="1900"/>
          </a:xfrm>
        </p:grpSpPr>
        <p:sp>
          <p:nvSpPr>
            <p:cNvPr id="6185" name="Rectangle 46"/>
            <p:cNvSpPr/>
            <p:nvPr/>
          </p:nvSpPr>
          <p:spPr>
            <a:xfrm>
              <a:off x="240" y="260"/>
              <a:ext cx="5088" cy="19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eaLnBrk="1" hangingPunct="1"/>
              <a:r>
                <a:rPr lang="zh-CN" altLang="en-US" sz="3200" dirty="0">
                  <a:latin typeface="Times New Roman" panose="02020603050405020304" pitchFamily="18" charset="0"/>
                </a:rPr>
                <a:t>     4、容量网络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G =（V，E，C），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i="1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为始点，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i="1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为终点。如果把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V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分成两个非空集合</a:t>
              </a:r>
              <a:endParaRPr lang="zh-CN" altLang="en-US" sz="32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zh-CN" altLang="en-US" sz="3200" dirty="0">
                  <a:latin typeface="Times New Roman" panose="02020603050405020304" pitchFamily="18" charset="0"/>
                </a:rPr>
                <a:t>        使                 ，则所有始点属于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S，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而终点属于   的弧的集合，称为由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S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决定的截集,记作       。截集         中所有弧的容量之和，称为这个截集的容量，记为             。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0" name="Object 45"/>
            <p:cNvGraphicFramePr>
              <a:graphicFrameLocks noChangeAspect="1"/>
            </p:cNvGraphicFramePr>
            <p:nvPr/>
          </p:nvGraphicFramePr>
          <p:xfrm>
            <a:off x="384" y="960"/>
            <a:ext cx="38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1" imgW="342900" imgH="228600" progId="Equation.3">
                    <p:embed/>
                  </p:oleObj>
                </mc:Choice>
                <mc:Fallback>
                  <p:oleObj name="" r:id="rId1" imgW="342900" imgH="2286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4" y="960"/>
                          <a:ext cx="389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44"/>
            <p:cNvGraphicFramePr>
              <a:graphicFrameLocks noChangeAspect="1"/>
            </p:cNvGraphicFramePr>
            <p:nvPr/>
          </p:nvGraphicFramePr>
          <p:xfrm>
            <a:off x="1200" y="932"/>
            <a:ext cx="110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3" imgW="977900" imgH="241300" progId="Equation.3">
                    <p:embed/>
                  </p:oleObj>
                </mc:Choice>
                <mc:Fallback>
                  <p:oleObj name="" r:id="rId3" imgW="977900" imgH="2413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0" y="932"/>
                          <a:ext cx="1108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" name="Object 43"/>
            <p:cNvGraphicFramePr>
              <a:graphicFrameLocks noChangeAspect="1"/>
            </p:cNvGraphicFramePr>
            <p:nvPr/>
          </p:nvGraphicFramePr>
          <p:xfrm>
            <a:off x="1109" y="1268"/>
            <a:ext cx="18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5" imgW="165100" imgH="203200" progId="Equation.3">
                    <p:embed/>
                  </p:oleObj>
                </mc:Choice>
                <mc:Fallback>
                  <p:oleObj name="" r:id="rId5" imgW="165100" imgH="2032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9" y="1268"/>
                          <a:ext cx="187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3" name="Object 42"/>
            <p:cNvGraphicFramePr>
              <a:graphicFrameLocks noChangeAspect="1"/>
            </p:cNvGraphicFramePr>
            <p:nvPr/>
          </p:nvGraphicFramePr>
          <p:xfrm>
            <a:off x="816" y="1580"/>
            <a:ext cx="533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7" imgW="469900" imgH="228600" progId="Equation.3">
                    <p:embed/>
                  </p:oleObj>
                </mc:Choice>
                <mc:Fallback>
                  <p:oleObj name="" r:id="rId7" imgW="469900" imgH="2286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16" y="1580"/>
                          <a:ext cx="533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41"/>
            <p:cNvGraphicFramePr>
              <a:graphicFrameLocks noChangeAspect="1"/>
            </p:cNvGraphicFramePr>
            <p:nvPr/>
          </p:nvGraphicFramePr>
          <p:xfrm>
            <a:off x="2155" y="1580"/>
            <a:ext cx="533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9" imgW="469900" imgH="228600" progId="Equation.3">
                    <p:embed/>
                  </p:oleObj>
                </mc:Choice>
                <mc:Fallback>
                  <p:oleObj name="" r:id="rId9" imgW="469900" imgH="2286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55" y="1580"/>
                          <a:ext cx="533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8"/>
            <p:cNvGraphicFramePr>
              <a:graphicFrameLocks noChangeAspect="1"/>
            </p:cNvGraphicFramePr>
            <p:nvPr/>
          </p:nvGraphicFramePr>
          <p:xfrm>
            <a:off x="3418" y="1872"/>
            <a:ext cx="66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0" imgW="584200" imgH="228600" progId="Equation.3">
                    <p:embed/>
                  </p:oleObj>
                </mc:Choice>
                <mc:Fallback>
                  <p:oleObj name="" r:id="rId10" imgW="584200" imgH="2286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18" y="1872"/>
                          <a:ext cx="662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7" name="Group 104"/>
          <p:cNvGrpSpPr/>
          <p:nvPr/>
        </p:nvGrpSpPr>
        <p:grpSpPr>
          <a:xfrm>
            <a:off x="4508500" y="3505200"/>
            <a:ext cx="3949700" cy="2827338"/>
            <a:chOff x="2840" y="2208"/>
            <a:chExt cx="2488" cy="1781"/>
          </a:xfrm>
        </p:grpSpPr>
        <p:sp>
          <p:nvSpPr>
            <p:cNvPr id="6158" name="Line 70"/>
            <p:cNvSpPr>
              <a:spLocks noChangeAspect="1"/>
            </p:cNvSpPr>
            <p:nvPr/>
          </p:nvSpPr>
          <p:spPr>
            <a:xfrm>
              <a:off x="3291" y="3145"/>
              <a:ext cx="433" cy="4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59" name="Line 71"/>
            <p:cNvSpPr>
              <a:spLocks noChangeAspect="1"/>
            </p:cNvSpPr>
            <p:nvPr/>
          </p:nvSpPr>
          <p:spPr>
            <a:xfrm flipV="1">
              <a:off x="3291" y="2583"/>
              <a:ext cx="433" cy="5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0" name="Line 72"/>
            <p:cNvSpPr>
              <a:spLocks noChangeAspect="1"/>
            </p:cNvSpPr>
            <p:nvPr/>
          </p:nvSpPr>
          <p:spPr>
            <a:xfrm>
              <a:off x="3724" y="2583"/>
              <a:ext cx="0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1" name="Line 73"/>
            <p:cNvSpPr>
              <a:spLocks noChangeAspect="1"/>
            </p:cNvSpPr>
            <p:nvPr/>
          </p:nvSpPr>
          <p:spPr>
            <a:xfrm>
              <a:off x="3724" y="2583"/>
              <a:ext cx="6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2" name="Line 74"/>
            <p:cNvSpPr>
              <a:spLocks noChangeAspect="1"/>
            </p:cNvSpPr>
            <p:nvPr/>
          </p:nvSpPr>
          <p:spPr>
            <a:xfrm>
              <a:off x="3724" y="3612"/>
              <a:ext cx="6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3" name="Line 75"/>
            <p:cNvSpPr>
              <a:spLocks noChangeAspect="1"/>
            </p:cNvSpPr>
            <p:nvPr/>
          </p:nvSpPr>
          <p:spPr>
            <a:xfrm>
              <a:off x="4372" y="2583"/>
              <a:ext cx="0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4" name="Line 76"/>
            <p:cNvSpPr>
              <a:spLocks noChangeAspect="1"/>
            </p:cNvSpPr>
            <p:nvPr/>
          </p:nvSpPr>
          <p:spPr>
            <a:xfrm flipV="1">
              <a:off x="3724" y="2583"/>
              <a:ext cx="648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5" name="Line 77"/>
            <p:cNvSpPr>
              <a:spLocks noChangeAspect="1"/>
            </p:cNvSpPr>
            <p:nvPr/>
          </p:nvSpPr>
          <p:spPr>
            <a:xfrm flipV="1">
              <a:off x="4387" y="3102"/>
              <a:ext cx="388" cy="50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6" name="Line 78"/>
            <p:cNvSpPr>
              <a:spLocks noChangeAspect="1"/>
            </p:cNvSpPr>
            <p:nvPr/>
          </p:nvSpPr>
          <p:spPr>
            <a:xfrm>
              <a:off x="4372" y="2583"/>
              <a:ext cx="410" cy="52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167" name="Text Box 79"/>
            <p:cNvSpPr txBox="1">
              <a:spLocks noChangeAspect="1"/>
            </p:cNvSpPr>
            <p:nvPr/>
          </p:nvSpPr>
          <p:spPr>
            <a:xfrm>
              <a:off x="2976" y="3031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8" name="Text Box 80"/>
            <p:cNvSpPr txBox="1">
              <a:spLocks noChangeAspect="1"/>
            </p:cNvSpPr>
            <p:nvPr/>
          </p:nvSpPr>
          <p:spPr>
            <a:xfrm>
              <a:off x="3516" y="2407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9" name="Text Box 81"/>
            <p:cNvSpPr txBox="1">
              <a:spLocks noChangeAspect="1"/>
            </p:cNvSpPr>
            <p:nvPr/>
          </p:nvSpPr>
          <p:spPr>
            <a:xfrm>
              <a:off x="3456" y="3607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0" name="Text Box 82"/>
            <p:cNvSpPr txBox="1">
              <a:spLocks noChangeAspect="1"/>
            </p:cNvSpPr>
            <p:nvPr/>
          </p:nvSpPr>
          <p:spPr>
            <a:xfrm>
              <a:off x="4201" y="3596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1" name="Text Box 83"/>
            <p:cNvSpPr txBox="1">
              <a:spLocks noChangeAspect="1"/>
            </p:cNvSpPr>
            <p:nvPr/>
          </p:nvSpPr>
          <p:spPr>
            <a:xfrm>
              <a:off x="4183" y="2407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2" name="Text Box 84"/>
            <p:cNvSpPr txBox="1">
              <a:spLocks noChangeAspect="1"/>
            </p:cNvSpPr>
            <p:nvPr/>
          </p:nvSpPr>
          <p:spPr>
            <a:xfrm>
              <a:off x="4655" y="3031"/>
              <a:ext cx="433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3" name="Text Box 85"/>
            <p:cNvSpPr txBox="1">
              <a:spLocks noChangeAspect="1"/>
            </p:cNvSpPr>
            <p:nvPr/>
          </p:nvSpPr>
          <p:spPr>
            <a:xfrm>
              <a:off x="3264" y="3319"/>
              <a:ext cx="324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4" name="Text Box 86"/>
            <p:cNvSpPr txBox="1">
              <a:spLocks noChangeAspect="1"/>
            </p:cNvSpPr>
            <p:nvPr/>
          </p:nvSpPr>
          <p:spPr>
            <a:xfrm>
              <a:off x="3312" y="2791"/>
              <a:ext cx="325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5" name="Text Box 87"/>
            <p:cNvSpPr txBox="1">
              <a:spLocks noChangeAspect="1"/>
            </p:cNvSpPr>
            <p:nvPr/>
          </p:nvSpPr>
          <p:spPr>
            <a:xfrm>
              <a:off x="3507" y="2985"/>
              <a:ext cx="325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6" name="Text Box 88"/>
            <p:cNvSpPr txBox="1">
              <a:spLocks noChangeAspect="1"/>
            </p:cNvSpPr>
            <p:nvPr/>
          </p:nvSpPr>
          <p:spPr>
            <a:xfrm>
              <a:off x="3850" y="2448"/>
              <a:ext cx="324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7" name="Text Box 89"/>
            <p:cNvSpPr txBox="1">
              <a:spLocks noChangeAspect="1"/>
            </p:cNvSpPr>
            <p:nvPr/>
          </p:nvSpPr>
          <p:spPr>
            <a:xfrm>
              <a:off x="3850" y="2983"/>
              <a:ext cx="324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8" name="Text Box 90"/>
            <p:cNvSpPr txBox="1">
              <a:spLocks noChangeAspect="1"/>
            </p:cNvSpPr>
            <p:nvPr/>
          </p:nvSpPr>
          <p:spPr>
            <a:xfrm>
              <a:off x="3840" y="3504"/>
              <a:ext cx="324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9" name="Text Box 91"/>
            <p:cNvSpPr txBox="1">
              <a:spLocks noChangeAspect="1"/>
            </p:cNvSpPr>
            <p:nvPr/>
          </p:nvSpPr>
          <p:spPr>
            <a:xfrm>
              <a:off x="4156" y="2985"/>
              <a:ext cx="325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0" name="Text Box 92"/>
            <p:cNvSpPr txBox="1">
              <a:spLocks noChangeAspect="1"/>
            </p:cNvSpPr>
            <p:nvPr/>
          </p:nvSpPr>
          <p:spPr>
            <a:xfrm>
              <a:off x="4490" y="2743"/>
              <a:ext cx="324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1" name="Text Box 93"/>
            <p:cNvSpPr txBox="1">
              <a:spLocks noChangeAspect="1"/>
            </p:cNvSpPr>
            <p:nvPr/>
          </p:nvSpPr>
          <p:spPr>
            <a:xfrm>
              <a:off x="4464" y="3367"/>
              <a:ext cx="324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8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2" name="Freeform 95"/>
            <p:cNvSpPr>
              <a:spLocks noChangeAspect="1"/>
            </p:cNvSpPr>
            <p:nvPr/>
          </p:nvSpPr>
          <p:spPr>
            <a:xfrm>
              <a:off x="2840" y="2864"/>
              <a:ext cx="1082" cy="1125"/>
            </a:xfrm>
            <a:custGeom>
              <a:avLst/>
              <a:gdLst>
                <a:gd name="txL" fmla="*/ 0 w 1800"/>
                <a:gd name="txT" fmla="*/ 0 h 1872"/>
                <a:gd name="txR" fmla="*/ 1800 w 1800"/>
                <a:gd name="txB" fmla="*/ 1872 h 1872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</a:cxnLst>
              <a:rect l="txL" t="txT" r="txR" b="txB"/>
              <a:pathLst>
                <a:path w="1800" h="1872">
                  <a:moveTo>
                    <a:pt x="540" y="0"/>
                  </a:moveTo>
                  <a:lnTo>
                    <a:pt x="1440" y="624"/>
                  </a:lnTo>
                  <a:lnTo>
                    <a:pt x="1800" y="1404"/>
                  </a:lnTo>
                  <a:lnTo>
                    <a:pt x="1620" y="1716"/>
                  </a:lnTo>
                  <a:lnTo>
                    <a:pt x="1080" y="1872"/>
                  </a:lnTo>
                  <a:lnTo>
                    <a:pt x="0" y="624"/>
                  </a:lnTo>
                  <a:lnTo>
                    <a:pt x="0" y="156"/>
                  </a:lnTo>
                  <a:lnTo>
                    <a:pt x="54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83" name="Text Box 96"/>
            <p:cNvSpPr txBox="1">
              <a:spLocks noChangeAspect="1"/>
            </p:cNvSpPr>
            <p:nvPr/>
          </p:nvSpPr>
          <p:spPr>
            <a:xfrm>
              <a:off x="3110" y="3426"/>
              <a:ext cx="325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4" name="Freeform 97"/>
            <p:cNvSpPr>
              <a:spLocks noChangeAspect="1"/>
            </p:cNvSpPr>
            <p:nvPr/>
          </p:nvSpPr>
          <p:spPr>
            <a:xfrm>
              <a:off x="3381" y="2208"/>
              <a:ext cx="1947" cy="1687"/>
            </a:xfrm>
            <a:custGeom>
              <a:avLst/>
              <a:gdLst>
                <a:gd name="txL" fmla="*/ 0 w 3240"/>
                <a:gd name="txT" fmla="*/ 0 h 2808"/>
                <a:gd name="txR" fmla="*/ 3240 w 3240"/>
                <a:gd name="txB" fmla="*/ 2808 h 2808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</a:cxnLst>
              <a:rect l="txL" t="txT" r="txR" b="txB"/>
              <a:pathLst>
                <a:path w="3240" h="2808">
                  <a:moveTo>
                    <a:pt x="0" y="468"/>
                  </a:moveTo>
                  <a:lnTo>
                    <a:pt x="1620" y="2808"/>
                  </a:lnTo>
                  <a:lnTo>
                    <a:pt x="3240" y="2184"/>
                  </a:lnTo>
                  <a:lnTo>
                    <a:pt x="3240" y="624"/>
                  </a:lnTo>
                  <a:lnTo>
                    <a:pt x="2880" y="0"/>
                  </a:lnTo>
                  <a:lnTo>
                    <a:pt x="540" y="0"/>
                  </a:lnTo>
                  <a:lnTo>
                    <a:pt x="0" y="468"/>
                  </a:lnTo>
                  <a:close/>
                </a:path>
              </a:pathLst>
            </a:custGeom>
            <a:noFill/>
            <a:ln w="19050" cap="rnd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146" name="Object 101"/>
          <p:cNvGraphicFramePr>
            <a:graphicFrameLocks noChangeAspect="1"/>
          </p:cNvGraphicFramePr>
          <p:nvPr/>
        </p:nvGraphicFramePr>
        <p:xfrm>
          <a:off x="446088" y="3984625"/>
          <a:ext cx="14160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2" imgW="787400" imgH="228600" progId="Equation.3">
                  <p:embed/>
                </p:oleObj>
              </mc:Choice>
              <mc:Fallback>
                <p:oleObj name="" r:id="rId12" imgW="787400" imgH="2286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6088" y="3984625"/>
                        <a:ext cx="141605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00"/>
          <p:cNvGraphicFramePr>
            <a:graphicFrameLocks noChangeAspect="1"/>
          </p:cNvGraphicFramePr>
          <p:nvPr/>
        </p:nvGraphicFramePr>
        <p:xfrm>
          <a:off x="1947863" y="3984625"/>
          <a:ext cx="21018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4" imgW="1168400" imgH="241300" progId="Equation.3">
                  <p:embed/>
                </p:oleObj>
              </mc:Choice>
              <mc:Fallback>
                <p:oleObj name="" r:id="rId14" imgW="1168400" imgH="2413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47863" y="3984625"/>
                        <a:ext cx="210185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99"/>
          <p:cNvGraphicFramePr>
            <a:graphicFrameLocks noChangeAspect="1"/>
          </p:cNvGraphicFramePr>
          <p:nvPr/>
        </p:nvGraphicFramePr>
        <p:xfrm>
          <a:off x="282575" y="4594225"/>
          <a:ext cx="40227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6" imgW="2235200" imgH="241300" progId="Equation.3">
                  <p:embed/>
                </p:oleObj>
              </mc:Choice>
              <mc:Fallback>
                <p:oleObj name="" r:id="rId16" imgW="2235200" imgH="2413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2575" y="4594225"/>
                        <a:ext cx="402272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98"/>
          <p:cNvGraphicFramePr>
            <a:graphicFrameLocks noChangeAspect="1"/>
          </p:cNvGraphicFramePr>
          <p:nvPr/>
        </p:nvGraphicFramePr>
        <p:xfrm>
          <a:off x="206375" y="5181600"/>
          <a:ext cx="4364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8" imgW="2425700" imgH="254000" progId="Equation.3">
                  <p:embed/>
                </p:oleObj>
              </mc:Choice>
              <mc:Fallback>
                <p:oleObj name="" r:id="rId18" imgW="2425700" imgH="2540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6375" y="5181600"/>
                        <a:ext cx="436403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81" name="Group 2"/>
          <p:cNvGrpSpPr/>
          <p:nvPr/>
        </p:nvGrpSpPr>
        <p:grpSpPr>
          <a:xfrm>
            <a:off x="914400" y="457200"/>
            <a:ext cx="7239000" cy="3048000"/>
            <a:chOff x="528" y="1152"/>
            <a:chExt cx="4416" cy="1687"/>
          </a:xfrm>
        </p:grpSpPr>
        <p:sp>
          <p:nvSpPr>
            <p:cNvPr id="7187" name="Oval 3"/>
            <p:cNvSpPr/>
            <p:nvPr/>
          </p:nvSpPr>
          <p:spPr>
            <a:xfrm>
              <a:off x="1536" y="12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4" name="Object 4"/>
            <p:cNvGraphicFramePr>
              <a:graphicFrameLocks noChangeAspect="1"/>
            </p:cNvGraphicFramePr>
            <p:nvPr/>
          </p:nvGraphicFramePr>
          <p:xfrm>
            <a:off x="1584" y="1296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4" y="1296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8" name="Oval 5"/>
            <p:cNvSpPr/>
            <p:nvPr/>
          </p:nvSpPr>
          <p:spPr>
            <a:xfrm>
              <a:off x="528" y="1920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5" name="Object 6"/>
            <p:cNvGraphicFramePr>
              <a:graphicFrameLocks noChangeAspect="1"/>
            </p:cNvGraphicFramePr>
            <p:nvPr/>
          </p:nvGraphicFramePr>
          <p:xfrm>
            <a:off x="576" y="1920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920"/>
                          <a:ext cx="184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9" name="Oval 7"/>
            <p:cNvSpPr/>
            <p:nvPr/>
          </p:nvSpPr>
          <p:spPr>
            <a:xfrm>
              <a:off x="1536" y="24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6" name="Object 8"/>
            <p:cNvGraphicFramePr>
              <a:graphicFrameLocks noChangeAspect="1"/>
            </p:cNvGraphicFramePr>
            <p:nvPr/>
          </p:nvGraphicFramePr>
          <p:xfrm>
            <a:off x="1577" y="2489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77" y="2489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Oval 9"/>
            <p:cNvSpPr/>
            <p:nvPr/>
          </p:nvSpPr>
          <p:spPr>
            <a:xfrm>
              <a:off x="2544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7" name="Object 10"/>
            <p:cNvGraphicFramePr>
              <a:graphicFrameLocks noChangeAspect="1"/>
            </p:cNvGraphicFramePr>
            <p:nvPr/>
          </p:nvGraphicFramePr>
          <p:xfrm>
            <a:off x="2585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85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1" name="Oval 11"/>
            <p:cNvSpPr/>
            <p:nvPr/>
          </p:nvSpPr>
          <p:spPr>
            <a:xfrm>
              <a:off x="3504" y="1303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8" name="Object 12"/>
            <p:cNvGraphicFramePr>
              <a:graphicFrameLocks noChangeAspect="1"/>
            </p:cNvGraphicFramePr>
            <p:nvPr/>
          </p:nvGraphicFramePr>
          <p:xfrm>
            <a:off x="3545" y="1296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9" imgW="165100" imgH="228600" progId="Equation.3">
                    <p:embed/>
                  </p:oleObj>
                </mc:Choice>
                <mc:Fallback>
                  <p:oleObj name="" r:id="rId9" imgW="165100" imgH="2286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5" y="1296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Oval 13"/>
            <p:cNvSpPr/>
            <p:nvPr/>
          </p:nvSpPr>
          <p:spPr>
            <a:xfrm>
              <a:off x="3504" y="2551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9" name="Object 14"/>
            <p:cNvGraphicFramePr>
              <a:graphicFrameLocks noChangeAspect="1"/>
            </p:cNvGraphicFramePr>
            <p:nvPr/>
          </p:nvGraphicFramePr>
          <p:xfrm>
            <a:off x="3545" y="2544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5" y="2544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3" name="Oval 15"/>
            <p:cNvSpPr/>
            <p:nvPr/>
          </p:nvSpPr>
          <p:spPr>
            <a:xfrm>
              <a:off x="4656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80" name="Object 16"/>
            <p:cNvGraphicFramePr>
              <a:graphicFrameLocks noChangeAspect="1"/>
            </p:cNvGraphicFramePr>
            <p:nvPr/>
          </p:nvGraphicFramePr>
          <p:xfrm>
            <a:off x="4697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13" imgW="165100" imgH="215900" progId="Equation.3">
                    <p:embed/>
                  </p:oleObj>
                </mc:Choice>
                <mc:Fallback>
                  <p:oleObj name="" r:id="rId13" imgW="165100" imgH="2159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97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4" name="Line 17"/>
            <p:cNvSpPr/>
            <p:nvPr/>
          </p:nvSpPr>
          <p:spPr>
            <a:xfrm flipV="1">
              <a:off x="816" y="15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5" name="Line 18"/>
            <p:cNvSpPr/>
            <p:nvPr/>
          </p:nvSpPr>
          <p:spPr>
            <a:xfrm>
              <a:off x="816" y="206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6" name="Line 19"/>
            <p:cNvSpPr/>
            <p:nvPr/>
          </p:nvSpPr>
          <p:spPr>
            <a:xfrm>
              <a:off x="1680" y="1584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197" name="Line 20"/>
            <p:cNvSpPr/>
            <p:nvPr/>
          </p:nvSpPr>
          <p:spPr>
            <a:xfrm>
              <a:off x="1824" y="1440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8" name="Line 21"/>
            <p:cNvSpPr/>
            <p:nvPr/>
          </p:nvSpPr>
          <p:spPr>
            <a:xfrm>
              <a:off x="1824" y="2688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9" name="Line 22"/>
            <p:cNvSpPr/>
            <p:nvPr/>
          </p:nvSpPr>
          <p:spPr>
            <a:xfrm>
              <a:off x="1824" y="1488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0" name="Line 23"/>
            <p:cNvSpPr/>
            <p:nvPr/>
          </p:nvSpPr>
          <p:spPr>
            <a:xfrm flipV="1">
              <a:off x="1776" y="2208"/>
              <a:ext cx="76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1" name="Line 24"/>
            <p:cNvSpPr/>
            <p:nvPr/>
          </p:nvSpPr>
          <p:spPr>
            <a:xfrm>
              <a:off x="2832" y="2112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2" name="Line 25"/>
            <p:cNvSpPr/>
            <p:nvPr/>
          </p:nvSpPr>
          <p:spPr>
            <a:xfrm>
              <a:off x="3792" y="1488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3" name="Line 26"/>
            <p:cNvSpPr/>
            <p:nvPr/>
          </p:nvSpPr>
          <p:spPr>
            <a:xfrm flipV="1">
              <a:off x="3792" y="2256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4" name="Line 27"/>
            <p:cNvSpPr/>
            <p:nvPr/>
          </p:nvSpPr>
          <p:spPr>
            <a:xfrm flipV="1">
              <a:off x="2832" y="158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5" name="Line 28"/>
            <p:cNvSpPr/>
            <p:nvPr/>
          </p:nvSpPr>
          <p:spPr>
            <a:xfrm>
              <a:off x="2832" y="2208"/>
              <a:ext cx="72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6" name="Text Box 29"/>
            <p:cNvSpPr txBox="1"/>
            <p:nvPr/>
          </p:nvSpPr>
          <p:spPr>
            <a:xfrm>
              <a:off x="816" y="1536"/>
              <a:ext cx="525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 13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07" name="Text Box 30"/>
            <p:cNvSpPr txBox="1"/>
            <p:nvPr/>
          </p:nvSpPr>
          <p:spPr>
            <a:xfrm>
              <a:off x="914" y="229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08" name="Text Box 31"/>
            <p:cNvSpPr txBox="1"/>
            <p:nvPr/>
          </p:nvSpPr>
          <p:spPr>
            <a:xfrm>
              <a:off x="1248" y="1872"/>
              <a:ext cx="40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09" name="Text Box 32"/>
            <p:cNvSpPr txBox="1"/>
            <p:nvPr/>
          </p:nvSpPr>
          <p:spPr>
            <a:xfrm>
              <a:off x="2448" y="115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0" name="Text Box 33"/>
            <p:cNvSpPr txBox="1"/>
            <p:nvPr/>
          </p:nvSpPr>
          <p:spPr>
            <a:xfrm>
              <a:off x="2064" y="1488"/>
              <a:ext cx="37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1" name="Text Box 34"/>
            <p:cNvSpPr txBox="1"/>
            <p:nvPr/>
          </p:nvSpPr>
          <p:spPr>
            <a:xfrm>
              <a:off x="1872" y="211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2" name="Text Box 35"/>
            <p:cNvSpPr txBox="1"/>
            <p:nvPr/>
          </p:nvSpPr>
          <p:spPr>
            <a:xfrm>
              <a:off x="2832" y="158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3" name="Text Box 36"/>
            <p:cNvSpPr txBox="1"/>
            <p:nvPr/>
          </p:nvSpPr>
          <p:spPr>
            <a:xfrm>
              <a:off x="2448" y="240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(0)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4" name="Text Box 37"/>
            <p:cNvSpPr txBox="1"/>
            <p:nvPr/>
          </p:nvSpPr>
          <p:spPr>
            <a:xfrm>
              <a:off x="3504" y="1872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5" name="Text Box 38"/>
            <p:cNvSpPr txBox="1"/>
            <p:nvPr/>
          </p:nvSpPr>
          <p:spPr>
            <a:xfrm>
              <a:off x="3216" y="216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6" name="Text Box 39"/>
            <p:cNvSpPr txBox="1"/>
            <p:nvPr/>
          </p:nvSpPr>
          <p:spPr>
            <a:xfrm>
              <a:off x="4128" y="1440"/>
              <a:ext cx="408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217" name="Text Box 40"/>
            <p:cNvSpPr txBox="1"/>
            <p:nvPr/>
          </p:nvSpPr>
          <p:spPr>
            <a:xfrm>
              <a:off x="4224" y="2496"/>
              <a:ext cx="487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10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6059" name="Object 43"/>
          <p:cNvGraphicFramePr>
            <a:graphicFrameLocks noChangeAspect="1"/>
          </p:cNvGraphicFramePr>
          <p:nvPr/>
        </p:nvGraphicFramePr>
        <p:xfrm>
          <a:off x="1219200" y="4984750"/>
          <a:ext cx="45323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5" imgW="2070100" imgH="228600" progId="Equation.3">
                  <p:embed/>
                </p:oleObj>
              </mc:Choice>
              <mc:Fallback>
                <p:oleObj name="" r:id="rId15" imgW="2070100" imgH="228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9200" y="4984750"/>
                        <a:ext cx="4532313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6"/>
          <p:cNvGrpSpPr/>
          <p:nvPr/>
        </p:nvGrpSpPr>
        <p:grpSpPr>
          <a:xfrm>
            <a:off x="441325" y="4191000"/>
            <a:ext cx="7197725" cy="550863"/>
            <a:chOff x="278" y="2640"/>
            <a:chExt cx="4534" cy="347"/>
          </a:xfrm>
        </p:grpSpPr>
        <p:sp>
          <p:nvSpPr>
            <p:cNvPr id="7185" name="Text Box 41"/>
            <p:cNvSpPr txBox="1"/>
            <p:nvPr/>
          </p:nvSpPr>
          <p:spPr>
            <a:xfrm>
              <a:off x="278" y="2640"/>
              <a:ext cx="19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                         ，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7172" name="Object 42"/>
            <p:cNvGraphicFramePr>
              <a:graphicFrameLocks noChangeAspect="1"/>
            </p:cNvGraphicFramePr>
            <p:nvPr/>
          </p:nvGraphicFramePr>
          <p:xfrm>
            <a:off x="624" y="2660"/>
            <a:ext cx="129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7" imgW="939800" imgH="228600" progId="Equation.3">
                    <p:embed/>
                  </p:oleObj>
                </mc:Choice>
                <mc:Fallback>
                  <p:oleObj name="" r:id="rId17" imgW="939800" imgH="2286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4" y="2660"/>
                          <a:ext cx="1296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6" name="Text Box 44"/>
            <p:cNvSpPr txBox="1"/>
            <p:nvPr/>
          </p:nvSpPr>
          <p:spPr>
            <a:xfrm>
              <a:off x="3792" y="2660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则截集为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7173" name="Object 45"/>
            <p:cNvGraphicFramePr>
              <a:graphicFrameLocks noChangeAspect="1"/>
            </p:cNvGraphicFramePr>
            <p:nvPr/>
          </p:nvGraphicFramePr>
          <p:xfrm>
            <a:off x="2118" y="2660"/>
            <a:ext cx="159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9" imgW="1155700" imgH="228600" progId="Equation.3">
                    <p:embed/>
                  </p:oleObj>
                </mc:Choice>
                <mc:Fallback>
                  <p:oleObj name="" r:id="rId19" imgW="1155700" imgH="2286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18" y="2660"/>
                          <a:ext cx="1594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63" name="Object 47"/>
          <p:cNvGraphicFramePr>
            <a:graphicFrameLocks noChangeAspect="1"/>
          </p:cNvGraphicFramePr>
          <p:nvPr/>
        </p:nvGraphicFramePr>
        <p:xfrm>
          <a:off x="1206500" y="5867400"/>
          <a:ext cx="62753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21" imgW="2374900" imgH="228600" progId="Equation.3">
                  <p:embed/>
                </p:oleObj>
              </mc:Choice>
              <mc:Fallback>
                <p:oleObj name="" r:id="rId21" imgW="2374900" imgH="2286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06500" y="5867400"/>
                        <a:ext cx="62753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64" name="Freeform 48"/>
          <p:cNvSpPr/>
          <p:nvPr/>
        </p:nvSpPr>
        <p:spPr>
          <a:xfrm>
            <a:off x="762000" y="838200"/>
            <a:ext cx="6400800" cy="1752600"/>
          </a:xfrm>
          <a:custGeom>
            <a:avLst/>
            <a:gdLst>
              <a:gd name="txL" fmla="*/ 0 w 5080"/>
              <a:gd name="txT" fmla="*/ 0 h 1312"/>
              <a:gd name="txR" fmla="*/ 5080 w 5080"/>
              <a:gd name="txB" fmla="*/ 1312 h 1312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5080" h="1312">
                <a:moveTo>
                  <a:pt x="5080" y="0"/>
                </a:moveTo>
                <a:cubicBezTo>
                  <a:pt x="4760" y="188"/>
                  <a:pt x="4440" y="376"/>
                  <a:pt x="3688" y="576"/>
                </a:cubicBezTo>
                <a:cubicBezTo>
                  <a:pt x="2936" y="776"/>
                  <a:pt x="1136" y="1088"/>
                  <a:pt x="568" y="1200"/>
                </a:cubicBezTo>
                <a:cubicBezTo>
                  <a:pt x="0" y="1312"/>
                  <a:pt x="140" y="1280"/>
                  <a:pt x="280" y="12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6104" name="Text Box 88"/>
          <p:cNvSpPr txBox="1"/>
          <p:nvPr/>
        </p:nvSpPr>
        <p:spPr>
          <a:xfrm>
            <a:off x="6156325" y="5019675"/>
            <a:ext cx="16160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容量为24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6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64" grpId="0" animBg="1"/>
      <p:bldP spid="86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204" name="Group 2"/>
          <p:cNvGrpSpPr/>
          <p:nvPr/>
        </p:nvGrpSpPr>
        <p:grpSpPr>
          <a:xfrm>
            <a:off x="914400" y="457200"/>
            <a:ext cx="7239000" cy="3048000"/>
            <a:chOff x="528" y="1152"/>
            <a:chExt cx="4416" cy="1687"/>
          </a:xfrm>
        </p:grpSpPr>
        <p:sp>
          <p:nvSpPr>
            <p:cNvPr id="8211" name="Oval 3"/>
            <p:cNvSpPr/>
            <p:nvPr/>
          </p:nvSpPr>
          <p:spPr>
            <a:xfrm>
              <a:off x="1536" y="12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7" name="Object 4"/>
            <p:cNvGraphicFramePr>
              <a:graphicFrameLocks noChangeAspect="1"/>
            </p:cNvGraphicFramePr>
            <p:nvPr/>
          </p:nvGraphicFramePr>
          <p:xfrm>
            <a:off x="1584" y="1296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84" y="1296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Oval 5"/>
            <p:cNvSpPr/>
            <p:nvPr/>
          </p:nvSpPr>
          <p:spPr>
            <a:xfrm>
              <a:off x="528" y="1920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8" name="Object 6"/>
            <p:cNvGraphicFramePr>
              <a:graphicFrameLocks noChangeAspect="1"/>
            </p:cNvGraphicFramePr>
            <p:nvPr/>
          </p:nvGraphicFramePr>
          <p:xfrm>
            <a:off x="576" y="1920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920"/>
                          <a:ext cx="184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Oval 7"/>
            <p:cNvSpPr/>
            <p:nvPr/>
          </p:nvSpPr>
          <p:spPr>
            <a:xfrm>
              <a:off x="1536" y="2496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9" name="Object 8"/>
            <p:cNvGraphicFramePr>
              <a:graphicFrameLocks noChangeAspect="1"/>
            </p:cNvGraphicFramePr>
            <p:nvPr/>
          </p:nvGraphicFramePr>
          <p:xfrm>
            <a:off x="1577" y="2489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77" y="2489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Oval 9"/>
            <p:cNvSpPr/>
            <p:nvPr/>
          </p:nvSpPr>
          <p:spPr>
            <a:xfrm>
              <a:off x="2544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0" name="Object 10"/>
            <p:cNvGraphicFramePr>
              <a:graphicFrameLocks noChangeAspect="1"/>
            </p:cNvGraphicFramePr>
            <p:nvPr/>
          </p:nvGraphicFramePr>
          <p:xfrm>
            <a:off x="2585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85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5" name="Oval 11"/>
            <p:cNvSpPr/>
            <p:nvPr/>
          </p:nvSpPr>
          <p:spPr>
            <a:xfrm>
              <a:off x="3504" y="1303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1" name="Object 12"/>
            <p:cNvGraphicFramePr>
              <a:graphicFrameLocks noChangeAspect="1"/>
            </p:cNvGraphicFramePr>
            <p:nvPr/>
          </p:nvGraphicFramePr>
          <p:xfrm>
            <a:off x="3545" y="1296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9" imgW="165100" imgH="228600" progId="Equation.3">
                    <p:embed/>
                  </p:oleObj>
                </mc:Choice>
                <mc:Fallback>
                  <p:oleObj name="" r:id="rId9" imgW="165100" imgH="2286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5" y="1296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Oval 13"/>
            <p:cNvSpPr/>
            <p:nvPr/>
          </p:nvSpPr>
          <p:spPr>
            <a:xfrm>
              <a:off x="3504" y="2551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2" name="Object 14"/>
            <p:cNvGraphicFramePr>
              <a:graphicFrameLocks noChangeAspect="1"/>
            </p:cNvGraphicFramePr>
            <p:nvPr/>
          </p:nvGraphicFramePr>
          <p:xfrm>
            <a:off x="3545" y="2544"/>
            <a:ext cx="19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5" y="2544"/>
                          <a:ext cx="199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7" name="Oval 15"/>
            <p:cNvSpPr/>
            <p:nvPr/>
          </p:nvSpPr>
          <p:spPr>
            <a:xfrm>
              <a:off x="4656" y="196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3" name="Object 16"/>
            <p:cNvGraphicFramePr>
              <a:graphicFrameLocks noChangeAspect="1"/>
            </p:cNvGraphicFramePr>
            <p:nvPr/>
          </p:nvGraphicFramePr>
          <p:xfrm>
            <a:off x="4697" y="1968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3" imgW="165100" imgH="215900" progId="Equation.3">
                    <p:embed/>
                  </p:oleObj>
                </mc:Choice>
                <mc:Fallback>
                  <p:oleObj name="" r:id="rId13" imgW="165100" imgH="2159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97" y="1968"/>
                          <a:ext cx="199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8" name="Line 17"/>
            <p:cNvSpPr/>
            <p:nvPr/>
          </p:nvSpPr>
          <p:spPr>
            <a:xfrm flipV="1">
              <a:off x="816" y="15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9" name="Line 18"/>
            <p:cNvSpPr/>
            <p:nvPr/>
          </p:nvSpPr>
          <p:spPr>
            <a:xfrm>
              <a:off x="816" y="206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0" name="Line 19"/>
            <p:cNvSpPr/>
            <p:nvPr/>
          </p:nvSpPr>
          <p:spPr>
            <a:xfrm>
              <a:off x="1680" y="1584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8221" name="Line 20"/>
            <p:cNvSpPr/>
            <p:nvPr/>
          </p:nvSpPr>
          <p:spPr>
            <a:xfrm>
              <a:off x="1824" y="1440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2" name="Line 21"/>
            <p:cNvSpPr/>
            <p:nvPr/>
          </p:nvSpPr>
          <p:spPr>
            <a:xfrm>
              <a:off x="1824" y="2688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3" name="Line 22"/>
            <p:cNvSpPr/>
            <p:nvPr/>
          </p:nvSpPr>
          <p:spPr>
            <a:xfrm>
              <a:off x="1824" y="1488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4" name="Line 23"/>
            <p:cNvSpPr/>
            <p:nvPr/>
          </p:nvSpPr>
          <p:spPr>
            <a:xfrm flipV="1">
              <a:off x="1776" y="2208"/>
              <a:ext cx="76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5" name="Line 24"/>
            <p:cNvSpPr/>
            <p:nvPr/>
          </p:nvSpPr>
          <p:spPr>
            <a:xfrm>
              <a:off x="2832" y="2112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6" name="Line 25"/>
            <p:cNvSpPr/>
            <p:nvPr/>
          </p:nvSpPr>
          <p:spPr>
            <a:xfrm>
              <a:off x="3792" y="1488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7" name="Line 26"/>
            <p:cNvSpPr/>
            <p:nvPr/>
          </p:nvSpPr>
          <p:spPr>
            <a:xfrm flipV="1">
              <a:off x="3792" y="2256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8" name="Line 27"/>
            <p:cNvSpPr/>
            <p:nvPr/>
          </p:nvSpPr>
          <p:spPr>
            <a:xfrm flipV="1">
              <a:off x="2832" y="1584"/>
              <a:ext cx="72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9" name="Line 28"/>
            <p:cNvSpPr/>
            <p:nvPr/>
          </p:nvSpPr>
          <p:spPr>
            <a:xfrm>
              <a:off x="2832" y="2208"/>
              <a:ext cx="72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30" name="Text Box 29"/>
            <p:cNvSpPr txBox="1"/>
            <p:nvPr/>
          </p:nvSpPr>
          <p:spPr>
            <a:xfrm>
              <a:off x="816" y="1536"/>
              <a:ext cx="525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 13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1" name="Text Box 30"/>
            <p:cNvSpPr txBox="1"/>
            <p:nvPr/>
          </p:nvSpPr>
          <p:spPr>
            <a:xfrm>
              <a:off x="914" y="229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2" name="Text Box 31"/>
            <p:cNvSpPr txBox="1"/>
            <p:nvPr/>
          </p:nvSpPr>
          <p:spPr>
            <a:xfrm>
              <a:off x="1248" y="1872"/>
              <a:ext cx="40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3" name="Text Box 32"/>
            <p:cNvSpPr txBox="1"/>
            <p:nvPr/>
          </p:nvSpPr>
          <p:spPr>
            <a:xfrm>
              <a:off x="2448" y="115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4" name="Text Box 33"/>
            <p:cNvSpPr txBox="1"/>
            <p:nvPr/>
          </p:nvSpPr>
          <p:spPr>
            <a:xfrm>
              <a:off x="2064" y="1488"/>
              <a:ext cx="37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5" name="Text Box 34"/>
            <p:cNvSpPr txBox="1"/>
            <p:nvPr/>
          </p:nvSpPr>
          <p:spPr>
            <a:xfrm>
              <a:off x="1872" y="2112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6" name="Text Box 35"/>
            <p:cNvSpPr txBox="1"/>
            <p:nvPr/>
          </p:nvSpPr>
          <p:spPr>
            <a:xfrm>
              <a:off x="2832" y="1584"/>
              <a:ext cx="409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7" name="Text Box 36"/>
            <p:cNvSpPr txBox="1"/>
            <p:nvPr/>
          </p:nvSpPr>
          <p:spPr>
            <a:xfrm>
              <a:off x="2448" y="240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(0)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8" name="Text Box 37"/>
            <p:cNvSpPr txBox="1"/>
            <p:nvPr/>
          </p:nvSpPr>
          <p:spPr>
            <a:xfrm>
              <a:off x="3504" y="1872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39" name="Text Box 38"/>
            <p:cNvSpPr txBox="1"/>
            <p:nvPr/>
          </p:nvSpPr>
          <p:spPr>
            <a:xfrm>
              <a:off x="3216" y="2160"/>
              <a:ext cx="409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40" name="Text Box 39"/>
            <p:cNvSpPr txBox="1"/>
            <p:nvPr/>
          </p:nvSpPr>
          <p:spPr>
            <a:xfrm>
              <a:off x="4128" y="1440"/>
              <a:ext cx="408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41" name="Text Box 40"/>
            <p:cNvSpPr txBox="1"/>
            <p:nvPr/>
          </p:nvSpPr>
          <p:spPr>
            <a:xfrm>
              <a:off x="4224" y="2496"/>
              <a:ext cx="487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10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081" name="Freeform 41"/>
          <p:cNvSpPr/>
          <p:nvPr/>
        </p:nvSpPr>
        <p:spPr>
          <a:xfrm>
            <a:off x="762000" y="381000"/>
            <a:ext cx="2971800" cy="2387600"/>
          </a:xfrm>
          <a:custGeom>
            <a:avLst/>
            <a:gdLst>
              <a:gd name="txL" fmla="*/ 0 w 1968"/>
              <a:gd name="txT" fmla="*/ 0 h 1456"/>
              <a:gd name="txR" fmla="*/ 1968 w 1968"/>
              <a:gd name="txB" fmla="*/ 1456 h 14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968" h="1456">
                <a:moveTo>
                  <a:pt x="1968" y="0"/>
                </a:moveTo>
                <a:cubicBezTo>
                  <a:pt x="1924" y="272"/>
                  <a:pt x="1880" y="544"/>
                  <a:pt x="1632" y="768"/>
                </a:cubicBezTo>
                <a:cubicBezTo>
                  <a:pt x="1384" y="992"/>
                  <a:pt x="752" y="1232"/>
                  <a:pt x="480" y="1344"/>
                </a:cubicBezTo>
                <a:cubicBezTo>
                  <a:pt x="208" y="1456"/>
                  <a:pt x="80" y="1424"/>
                  <a:pt x="0" y="144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48"/>
          <p:cNvGrpSpPr/>
          <p:nvPr/>
        </p:nvGrpSpPr>
        <p:grpSpPr>
          <a:xfrm>
            <a:off x="441325" y="4191000"/>
            <a:ext cx="3063875" cy="519113"/>
            <a:chOff x="278" y="2640"/>
            <a:chExt cx="1930" cy="327"/>
          </a:xfrm>
        </p:grpSpPr>
        <p:sp>
          <p:nvSpPr>
            <p:cNvPr id="8210" name="Text Box 43"/>
            <p:cNvSpPr txBox="1"/>
            <p:nvPr/>
          </p:nvSpPr>
          <p:spPr>
            <a:xfrm>
              <a:off x="278" y="2640"/>
              <a:ext cx="19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                       ，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8196" name="Object 44"/>
            <p:cNvGraphicFramePr>
              <a:graphicFrameLocks noChangeAspect="1"/>
            </p:cNvGraphicFramePr>
            <p:nvPr/>
          </p:nvGraphicFramePr>
          <p:xfrm>
            <a:off x="746" y="2668"/>
            <a:ext cx="105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15" imgW="761365" imgH="215900" progId="Equation.3">
                    <p:embed/>
                  </p:oleObj>
                </mc:Choice>
                <mc:Fallback>
                  <p:oleObj name="" r:id="rId15" imgW="761365" imgH="2159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46" y="2668"/>
                          <a:ext cx="1051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9"/>
          <p:cNvGrpSpPr/>
          <p:nvPr/>
        </p:nvGrpSpPr>
        <p:grpSpPr>
          <a:xfrm>
            <a:off x="3168650" y="4222750"/>
            <a:ext cx="4470400" cy="519113"/>
            <a:chOff x="1996" y="2660"/>
            <a:chExt cx="2816" cy="327"/>
          </a:xfrm>
        </p:grpSpPr>
        <p:sp>
          <p:nvSpPr>
            <p:cNvPr id="8209" name="Text Box 45"/>
            <p:cNvSpPr txBox="1"/>
            <p:nvPr/>
          </p:nvSpPr>
          <p:spPr>
            <a:xfrm>
              <a:off x="3792" y="2660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则截集为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8195" name="Object 46"/>
            <p:cNvGraphicFramePr>
              <a:graphicFrameLocks noChangeAspect="1"/>
            </p:cNvGraphicFramePr>
            <p:nvPr/>
          </p:nvGraphicFramePr>
          <p:xfrm>
            <a:off x="1996" y="2660"/>
            <a:ext cx="1839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7" imgW="1333500" imgH="228600" progId="Equation.3">
                    <p:embed/>
                  </p:oleObj>
                </mc:Choice>
                <mc:Fallback>
                  <p:oleObj name="" r:id="rId17" imgW="1333500" imgH="2286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96" y="2660"/>
                          <a:ext cx="1839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087" name="Object 47"/>
          <p:cNvGraphicFramePr>
            <a:graphicFrameLocks noChangeAspect="1"/>
          </p:cNvGraphicFramePr>
          <p:nvPr/>
        </p:nvGraphicFramePr>
        <p:xfrm>
          <a:off x="2057400" y="4984750"/>
          <a:ext cx="45323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9" imgW="2070100" imgH="228600" progId="Equation.3">
                  <p:embed/>
                </p:oleObj>
              </mc:Choice>
              <mc:Fallback>
                <p:oleObj name="" r:id="rId19" imgW="2070100" imgH="2286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57400" y="4984750"/>
                        <a:ext cx="4532313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90" name="Text Box 50"/>
          <p:cNvSpPr txBox="1"/>
          <p:nvPr/>
        </p:nvSpPr>
        <p:spPr>
          <a:xfrm>
            <a:off x="3657600" y="5791200"/>
            <a:ext cx="16160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容量为20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7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7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81" grpId="0" animBg="1"/>
      <p:bldP spid="870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26" name="Group 34"/>
          <p:cNvGrpSpPr/>
          <p:nvPr/>
        </p:nvGrpSpPr>
        <p:grpSpPr>
          <a:xfrm>
            <a:off x="533400" y="228600"/>
            <a:ext cx="8229600" cy="6303963"/>
            <a:chOff x="336" y="192"/>
            <a:chExt cx="5184" cy="3971"/>
          </a:xfrm>
        </p:grpSpPr>
        <p:sp>
          <p:nvSpPr>
            <p:cNvPr id="9227" name="Rectangle 25"/>
            <p:cNvSpPr/>
            <p:nvPr/>
          </p:nvSpPr>
          <p:spPr>
            <a:xfrm>
              <a:off x="336" y="192"/>
              <a:ext cx="5184" cy="39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266700" algn="just" defTabSz="914400" eaLnBrk="1" hangingPunct="1">
                <a:tabLst>
                  <a:tab pos="495300" algn="l"/>
                </a:tabLst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（二）、 求最大流的标号法</a:t>
              </a:r>
              <a:endParaRPr lang="zh-CN" altLang="en-US" sz="3200" dirty="0">
                <a:latin typeface="Times New Roman" panose="02020603050405020304" pitchFamily="18" charset="0"/>
              </a:endParaRPr>
            </a:p>
            <a:p>
              <a:pPr indent="266700" algn="just" defTabSz="914400"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标号过程：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indent="266700" defTabSz="914400"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1．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给发点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标号（0，+∞）。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indent="266700" algn="just" defTabSz="914400">
                <a:lnSpc>
                  <a:spcPct val="110000"/>
                </a:lnSpc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2．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取一个已标号的点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对于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一切未标号的邻接点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按下列规则处理：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indent="266700" defTabSz="914400"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（1）如果边                  ，且              ，那么给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标号                ，其中：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indent="266700" algn="just" defTabSz="914400">
                <a:lnSpc>
                  <a:spcPct val="120000"/>
                </a:lnSpc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（2）如果边                ，且              ，那么给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标号                ，其中：                  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indent="266700" algn="just" defTabSz="914400">
                <a:lnSpc>
                  <a:spcPct val="120000"/>
                </a:lnSpc>
                <a:tabLst>
                  <a:tab pos="49530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3．重复步骤2，直到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被标号或标号过程无法进行下去，则标号结束。若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被标号，则存在一条增广链，转调整过程；若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未被标号，而标号过程无法进行下去，这时的可行流就是最大流。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18" name="Object 26"/>
            <p:cNvGraphicFramePr>
              <a:graphicFrameLocks noChangeAspect="1"/>
            </p:cNvGraphicFramePr>
            <p:nvPr/>
          </p:nvGraphicFramePr>
          <p:xfrm>
            <a:off x="1872" y="1616"/>
            <a:ext cx="9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" imgW="736600" imgH="241300" progId="Equation.3">
                    <p:embed/>
                  </p:oleObj>
                </mc:Choice>
                <mc:Fallback>
                  <p:oleObj name="" r:id="rId1" imgW="736600" imgH="2413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72" y="1616"/>
                          <a:ext cx="92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" name="Object 27"/>
            <p:cNvGraphicFramePr>
              <a:graphicFrameLocks noChangeAspect="1"/>
            </p:cNvGraphicFramePr>
            <p:nvPr/>
          </p:nvGraphicFramePr>
          <p:xfrm>
            <a:off x="3328" y="1632"/>
            <a:ext cx="6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3" imgW="482600" imgH="241300" progId="Equation.3">
                    <p:embed/>
                  </p:oleObj>
                </mc:Choice>
                <mc:Fallback>
                  <p:oleObj name="" r:id="rId3" imgW="482600" imgH="2413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28" y="1632"/>
                          <a:ext cx="60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" name="Object 28"/>
            <p:cNvGraphicFramePr>
              <a:graphicFrameLocks noChangeAspect="1"/>
            </p:cNvGraphicFramePr>
            <p:nvPr/>
          </p:nvGraphicFramePr>
          <p:xfrm>
            <a:off x="688" y="1872"/>
            <a:ext cx="75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5" imgW="596900" imgH="241300" progId="Equation.3">
                    <p:embed/>
                  </p:oleObj>
                </mc:Choice>
                <mc:Fallback>
                  <p:oleObj name="" r:id="rId5" imgW="596900" imgH="2413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88" y="1872"/>
                          <a:ext cx="752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" name="Object 29"/>
            <p:cNvGraphicFramePr>
              <a:graphicFrameLocks noChangeAspect="1"/>
            </p:cNvGraphicFramePr>
            <p:nvPr/>
          </p:nvGraphicFramePr>
          <p:xfrm>
            <a:off x="2400" y="1904"/>
            <a:ext cx="14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7" imgW="1117600" imgH="241300" progId="Equation.3">
                    <p:embed/>
                  </p:oleObj>
                </mc:Choice>
                <mc:Fallback>
                  <p:oleObj name="" r:id="rId7" imgW="1117600" imgH="2413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00" y="1904"/>
                          <a:ext cx="140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30"/>
            <p:cNvGraphicFramePr>
              <a:graphicFrameLocks noChangeAspect="1"/>
            </p:cNvGraphicFramePr>
            <p:nvPr/>
          </p:nvGraphicFramePr>
          <p:xfrm>
            <a:off x="1872" y="2192"/>
            <a:ext cx="9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9" imgW="736600" imgH="241300" progId="Equation.3">
                    <p:embed/>
                  </p:oleObj>
                </mc:Choice>
                <mc:Fallback>
                  <p:oleObj name="" r:id="rId9" imgW="736600" imgH="2413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72" y="2192"/>
                          <a:ext cx="92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3" name="Object 31"/>
            <p:cNvGraphicFramePr>
              <a:graphicFrameLocks noChangeAspect="1"/>
            </p:cNvGraphicFramePr>
            <p:nvPr/>
          </p:nvGraphicFramePr>
          <p:xfrm>
            <a:off x="3352" y="2192"/>
            <a:ext cx="6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1" imgW="495300" imgH="241300" progId="Equation.3">
                    <p:embed/>
                  </p:oleObj>
                </mc:Choice>
                <mc:Fallback>
                  <p:oleObj name="" r:id="rId11" imgW="495300" imgH="2413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52" y="2192"/>
                          <a:ext cx="623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32"/>
            <p:cNvGraphicFramePr>
              <a:graphicFrameLocks noChangeAspect="1"/>
            </p:cNvGraphicFramePr>
            <p:nvPr/>
          </p:nvGraphicFramePr>
          <p:xfrm>
            <a:off x="1093" y="2496"/>
            <a:ext cx="75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3" imgW="596900" imgH="241300" progId="Equation.3">
                    <p:embed/>
                  </p:oleObj>
                </mc:Choice>
                <mc:Fallback>
                  <p:oleObj name="" r:id="rId13" imgW="596900" imgH="2413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93" y="2496"/>
                          <a:ext cx="752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33"/>
            <p:cNvGraphicFramePr>
              <a:graphicFrameLocks noChangeAspect="1"/>
            </p:cNvGraphicFramePr>
            <p:nvPr/>
          </p:nvGraphicFramePr>
          <p:xfrm>
            <a:off x="1973" y="2528"/>
            <a:ext cx="180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5" imgW="1435100" imgH="241300" progId="Equation.3">
                    <p:embed/>
                  </p:oleObj>
                </mc:Choice>
                <mc:Fallback>
                  <p:oleObj name="" r:id="rId15" imgW="1435100" imgH="2413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73" y="2528"/>
                          <a:ext cx="180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6" name="Rectangle 25"/>
          <p:cNvSpPr/>
          <p:nvPr/>
        </p:nvSpPr>
        <p:spPr>
          <a:xfrm>
            <a:off x="609600" y="381000"/>
            <a:ext cx="8229600" cy="5259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just" eaLnBrk="1" hangingPunct="1"/>
            <a:r>
              <a:rPr lang="zh-CN" altLang="en-US" sz="3200" dirty="0">
                <a:latin typeface="Times New Roman" panose="02020603050405020304" pitchFamily="18" charset="0"/>
              </a:rPr>
              <a:t>调整过程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/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>
              <a:lnSpc>
                <a:spcPct val="17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1．令 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/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/>
            <a:endParaRPr lang="zh-CN" altLang="en-US" sz="3200" dirty="0">
              <a:latin typeface="Times New Roman" panose="02020603050405020304" pitchFamily="18" charset="0"/>
            </a:endParaRPr>
          </a:p>
          <a:p>
            <a:pPr indent="266700" algn="just">
              <a:lnSpc>
                <a:spcPct val="11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2．去掉所有标号，回到第一步，对可行流重新标号。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2" name="Object 26"/>
          <p:cNvGraphicFramePr>
            <a:graphicFrameLocks noChangeAspect="1"/>
          </p:cNvGraphicFramePr>
          <p:nvPr/>
        </p:nvGraphicFramePr>
        <p:xfrm>
          <a:off x="1601788" y="914400"/>
          <a:ext cx="42656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33600" imgH="279400" progId="Equation.3">
                  <p:embed/>
                </p:oleObj>
              </mc:Choice>
              <mc:Fallback>
                <p:oleObj name="" r:id="rId1" imgW="2133600" imgH="279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1788" y="914400"/>
                        <a:ext cx="4265612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27"/>
          <p:cNvGraphicFramePr>
            <a:graphicFrameLocks noChangeAspect="1"/>
          </p:cNvGraphicFramePr>
          <p:nvPr/>
        </p:nvGraphicFramePr>
        <p:xfrm>
          <a:off x="1600200" y="1371600"/>
          <a:ext cx="36814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841500" imgH="279400" progId="Equation.3">
                  <p:embed/>
                </p:oleObj>
              </mc:Choice>
              <mc:Fallback>
                <p:oleObj name="" r:id="rId3" imgW="1841500" imgH="279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1371600"/>
                        <a:ext cx="3681413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28"/>
          <p:cNvGraphicFramePr>
            <a:graphicFrameLocks noChangeAspect="1"/>
          </p:cNvGraphicFramePr>
          <p:nvPr/>
        </p:nvGraphicFramePr>
        <p:xfrm>
          <a:off x="1600200" y="1930400"/>
          <a:ext cx="2081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040765" imgH="215900" progId="Equation.3">
                  <p:embed/>
                </p:oleObj>
              </mc:Choice>
              <mc:Fallback>
                <p:oleObj name="" r:id="rId5" imgW="1040765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200" y="1930400"/>
                        <a:ext cx="20812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29"/>
          <p:cNvGraphicFramePr>
            <a:graphicFrameLocks noChangeAspect="1"/>
          </p:cNvGraphicFramePr>
          <p:nvPr/>
        </p:nvGraphicFramePr>
        <p:xfrm>
          <a:off x="1752600" y="2667000"/>
          <a:ext cx="38846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1943100" imgH="838200" progId="Equation.3">
                  <p:embed/>
                </p:oleObj>
              </mc:Choice>
              <mc:Fallback>
                <p:oleObj name="" r:id="rId7" imgW="1943100" imgH="838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2600" y="2667000"/>
                        <a:ext cx="3884613" cy="167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7" name="Group 16"/>
          <p:cNvGrpSpPr/>
          <p:nvPr/>
        </p:nvGrpSpPr>
        <p:grpSpPr>
          <a:xfrm>
            <a:off x="152400" y="228600"/>
            <a:ext cx="8534400" cy="457200"/>
            <a:chOff x="96" y="144"/>
            <a:chExt cx="5376" cy="288"/>
          </a:xfrm>
        </p:grpSpPr>
        <p:sp>
          <p:nvSpPr>
            <p:cNvPr id="11342" name="Rectangle 15"/>
            <p:cNvSpPr/>
            <p:nvPr/>
          </p:nvSpPr>
          <p:spPr>
            <a:xfrm>
              <a:off x="96" y="144"/>
              <a:ext cx="53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         求下图所示网络中的最大流，弧旁数为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66" name="Object 0"/>
            <p:cNvGraphicFramePr>
              <a:graphicFrameLocks noChangeAspect="1"/>
            </p:cNvGraphicFramePr>
            <p:nvPr/>
          </p:nvGraphicFramePr>
          <p:xfrm>
            <a:off x="4128" y="144"/>
            <a:ext cx="68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596900" imgH="241300" progId="Equation.3">
                    <p:embed/>
                  </p:oleObj>
                </mc:Choice>
                <mc:Fallback>
                  <p:oleObj name="" r:id="rId1" imgW="596900" imgH="2413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28" y="144"/>
                          <a:ext cx="689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68" name="Group 56"/>
          <p:cNvGrpSpPr/>
          <p:nvPr/>
        </p:nvGrpSpPr>
        <p:grpSpPr>
          <a:xfrm>
            <a:off x="1524000" y="815975"/>
            <a:ext cx="5229225" cy="2155825"/>
            <a:chOff x="1152" y="444"/>
            <a:chExt cx="3294" cy="1358"/>
          </a:xfrm>
        </p:grpSpPr>
        <p:sp>
          <p:nvSpPr>
            <p:cNvPr id="11309" name="Line 18"/>
            <p:cNvSpPr>
              <a:spLocks noChangeAspect="1"/>
            </p:cNvSpPr>
            <p:nvPr/>
          </p:nvSpPr>
          <p:spPr>
            <a:xfrm flipV="1">
              <a:off x="1719" y="918"/>
              <a:ext cx="105" cy="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10" name="Line 20"/>
            <p:cNvSpPr>
              <a:spLocks noChangeAspect="1"/>
            </p:cNvSpPr>
            <p:nvPr/>
          </p:nvSpPr>
          <p:spPr>
            <a:xfrm rot="4482761" flipH="1">
              <a:off x="2739" y="1033"/>
              <a:ext cx="115" cy="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11" name="Line 22"/>
            <p:cNvSpPr>
              <a:spLocks noChangeAspect="1"/>
            </p:cNvSpPr>
            <p:nvPr/>
          </p:nvSpPr>
          <p:spPr>
            <a:xfrm flipH="1">
              <a:off x="3466" y="1105"/>
              <a:ext cx="692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2" name="Line 24"/>
            <p:cNvSpPr>
              <a:spLocks noChangeAspect="1"/>
            </p:cNvSpPr>
            <p:nvPr/>
          </p:nvSpPr>
          <p:spPr>
            <a:xfrm>
              <a:off x="2199" y="705"/>
              <a:ext cx="12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3" name="Text Box 25"/>
            <p:cNvSpPr txBox="1">
              <a:spLocks noChangeAspect="1"/>
            </p:cNvSpPr>
            <p:nvPr/>
          </p:nvSpPr>
          <p:spPr>
            <a:xfrm>
              <a:off x="2611" y="804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14" name="Line 27"/>
            <p:cNvSpPr>
              <a:spLocks noChangeAspect="1"/>
            </p:cNvSpPr>
            <p:nvPr/>
          </p:nvSpPr>
          <p:spPr>
            <a:xfrm>
              <a:off x="2199" y="705"/>
              <a:ext cx="0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5" name="Line 28"/>
            <p:cNvSpPr>
              <a:spLocks noChangeAspect="1"/>
            </p:cNvSpPr>
            <p:nvPr/>
          </p:nvSpPr>
          <p:spPr>
            <a:xfrm>
              <a:off x="2199" y="1504"/>
              <a:ext cx="12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6" name="Line 29"/>
            <p:cNvSpPr>
              <a:spLocks noChangeAspect="1"/>
            </p:cNvSpPr>
            <p:nvPr/>
          </p:nvSpPr>
          <p:spPr>
            <a:xfrm flipV="1">
              <a:off x="3466" y="705"/>
              <a:ext cx="0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7" name="Line 30"/>
            <p:cNvSpPr>
              <a:spLocks noChangeAspect="1"/>
            </p:cNvSpPr>
            <p:nvPr/>
          </p:nvSpPr>
          <p:spPr>
            <a:xfrm flipV="1">
              <a:off x="1392" y="705"/>
              <a:ext cx="807" cy="5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8" name="Line 31"/>
            <p:cNvSpPr>
              <a:spLocks noChangeAspect="1"/>
            </p:cNvSpPr>
            <p:nvPr/>
          </p:nvSpPr>
          <p:spPr>
            <a:xfrm>
              <a:off x="1392" y="1205"/>
              <a:ext cx="807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9" name="Line 32"/>
            <p:cNvSpPr>
              <a:spLocks noChangeAspect="1"/>
            </p:cNvSpPr>
            <p:nvPr/>
          </p:nvSpPr>
          <p:spPr>
            <a:xfrm>
              <a:off x="3466" y="705"/>
              <a:ext cx="692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20" name="Line 33"/>
            <p:cNvSpPr>
              <a:spLocks noChangeAspect="1"/>
            </p:cNvSpPr>
            <p:nvPr/>
          </p:nvSpPr>
          <p:spPr>
            <a:xfrm>
              <a:off x="2199" y="705"/>
              <a:ext cx="1267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21" name="Line 34"/>
            <p:cNvSpPr>
              <a:spLocks noChangeAspect="1"/>
            </p:cNvSpPr>
            <p:nvPr/>
          </p:nvSpPr>
          <p:spPr>
            <a:xfrm>
              <a:off x="2429" y="705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2" name="Line 35"/>
            <p:cNvSpPr>
              <a:spLocks noChangeAspect="1"/>
            </p:cNvSpPr>
            <p:nvPr/>
          </p:nvSpPr>
          <p:spPr>
            <a:xfrm>
              <a:off x="2545" y="150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3" name="Line 36"/>
            <p:cNvSpPr>
              <a:spLocks noChangeAspect="1"/>
            </p:cNvSpPr>
            <p:nvPr/>
          </p:nvSpPr>
          <p:spPr>
            <a:xfrm>
              <a:off x="2199" y="1007"/>
              <a:ext cx="0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4" name="Line 37"/>
            <p:cNvSpPr>
              <a:spLocks noChangeAspect="1"/>
            </p:cNvSpPr>
            <p:nvPr/>
          </p:nvSpPr>
          <p:spPr>
            <a:xfrm flipV="1">
              <a:off x="3466" y="1007"/>
              <a:ext cx="0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5" name="Line 38"/>
            <p:cNvSpPr>
              <a:spLocks noChangeAspect="1"/>
            </p:cNvSpPr>
            <p:nvPr/>
          </p:nvSpPr>
          <p:spPr>
            <a:xfrm>
              <a:off x="1623" y="1285"/>
              <a:ext cx="230" cy="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6" name="Line 39"/>
            <p:cNvSpPr>
              <a:spLocks noChangeAspect="1"/>
            </p:cNvSpPr>
            <p:nvPr/>
          </p:nvSpPr>
          <p:spPr>
            <a:xfrm flipV="1">
              <a:off x="3659" y="1197"/>
              <a:ext cx="34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7" name="Line 40"/>
            <p:cNvSpPr>
              <a:spLocks noChangeAspect="1"/>
            </p:cNvSpPr>
            <p:nvPr/>
          </p:nvSpPr>
          <p:spPr>
            <a:xfrm>
              <a:off x="3697" y="832"/>
              <a:ext cx="34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328" name="Text Box 41"/>
            <p:cNvSpPr txBox="1">
              <a:spLocks noChangeAspect="1"/>
            </p:cNvSpPr>
            <p:nvPr/>
          </p:nvSpPr>
          <p:spPr>
            <a:xfrm>
              <a:off x="2055" y="444"/>
              <a:ext cx="345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29" name="Text Box 42"/>
            <p:cNvSpPr txBox="1">
              <a:spLocks noChangeAspect="1"/>
            </p:cNvSpPr>
            <p:nvPr/>
          </p:nvSpPr>
          <p:spPr>
            <a:xfrm>
              <a:off x="2064" y="1451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0" name="Text Box 43"/>
            <p:cNvSpPr txBox="1">
              <a:spLocks noChangeAspect="1"/>
            </p:cNvSpPr>
            <p:nvPr/>
          </p:nvSpPr>
          <p:spPr>
            <a:xfrm>
              <a:off x="3284" y="45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1" name="Text Box 44"/>
            <p:cNvSpPr txBox="1">
              <a:spLocks noChangeAspect="1"/>
            </p:cNvSpPr>
            <p:nvPr/>
          </p:nvSpPr>
          <p:spPr>
            <a:xfrm>
              <a:off x="3322" y="1447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2" name="Text Box 45"/>
            <p:cNvSpPr txBox="1">
              <a:spLocks noChangeAspect="1"/>
            </p:cNvSpPr>
            <p:nvPr/>
          </p:nvSpPr>
          <p:spPr>
            <a:xfrm>
              <a:off x="1152" y="1053"/>
              <a:ext cx="346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3" name="Text Box 46"/>
            <p:cNvSpPr txBox="1">
              <a:spLocks noChangeAspect="1"/>
            </p:cNvSpPr>
            <p:nvPr/>
          </p:nvSpPr>
          <p:spPr>
            <a:xfrm>
              <a:off x="4100" y="953"/>
              <a:ext cx="346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4" name="Text Box 48"/>
            <p:cNvSpPr txBox="1">
              <a:spLocks noChangeAspect="1"/>
            </p:cNvSpPr>
            <p:nvPr/>
          </p:nvSpPr>
          <p:spPr>
            <a:xfrm>
              <a:off x="1468" y="720"/>
              <a:ext cx="644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(3 , 3)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5" name="Text Box 49"/>
            <p:cNvSpPr txBox="1">
              <a:spLocks noChangeAspect="1"/>
            </p:cNvSpPr>
            <p:nvPr/>
          </p:nvSpPr>
          <p:spPr>
            <a:xfrm>
              <a:off x="1478" y="1381"/>
              <a:ext cx="53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(5 , 1)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6" name="Text Box 50"/>
            <p:cNvSpPr txBox="1">
              <a:spLocks noChangeAspect="1"/>
            </p:cNvSpPr>
            <p:nvPr/>
          </p:nvSpPr>
          <p:spPr>
            <a:xfrm>
              <a:off x="2170" y="1028"/>
              <a:ext cx="66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(1 , 1)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7" name="Text Box 51"/>
            <p:cNvSpPr txBox="1">
              <a:spLocks noChangeAspect="1"/>
            </p:cNvSpPr>
            <p:nvPr/>
          </p:nvSpPr>
          <p:spPr>
            <a:xfrm>
              <a:off x="2736" y="480"/>
              <a:ext cx="509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(4 ,3)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8" name="Text Box 52"/>
            <p:cNvSpPr txBox="1">
              <a:spLocks noChangeAspect="1"/>
            </p:cNvSpPr>
            <p:nvPr/>
          </p:nvSpPr>
          <p:spPr>
            <a:xfrm>
              <a:off x="2660" y="1502"/>
              <a:ext cx="73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(2 , 2)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39" name="Text Box 53"/>
            <p:cNvSpPr txBox="1">
              <a:spLocks noChangeAspect="1"/>
            </p:cNvSpPr>
            <p:nvPr/>
          </p:nvSpPr>
          <p:spPr>
            <a:xfrm>
              <a:off x="3072" y="948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(3 ,0)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40" name="Text Box 54"/>
            <p:cNvSpPr txBox="1">
              <a:spLocks noChangeAspect="1"/>
            </p:cNvSpPr>
            <p:nvPr/>
          </p:nvSpPr>
          <p:spPr>
            <a:xfrm>
              <a:off x="3735" y="708"/>
              <a:ext cx="53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41" name="Text Box 55"/>
            <p:cNvSpPr txBox="1">
              <a:spLocks noChangeAspect="1"/>
            </p:cNvSpPr>
            <p:nvPr/>
          </p:nvSpPr>
          <p:spPr>
            <a:xfrm>
              <a:off x="3753" y="1248"/>
              <a:ext cx="663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9" name="Group 112"/>
          <p:cNvGrpSpPr/>
          <p:nvPr/>
        </p:nvGrpSpPr>
        <p:grpSpPr>
          <a:xfrm>
            <a:off x="762000" y="3181350"/>
            <a:ext cx="6858000" cy="2533650"/>
            <a:chOff x="192" y="2112"/>
            <a:chExt cx="4320" cy="1596"/>
          </a:xfrm>
        </p:grpSpPr>
        <p:sp>
          <p:nvSpPr>
            <p:cNvPr id="11270" name="Line 60"/>
            <p:cNvSpPr>
              <a:spLocks noChangeAspect="1"/>
            </p:cNvSpPr>
            <p:nvPr/>
          </p:nvSpPr>
          <p:spPr>
            <a:xfrm flipV="1">
              <a:off x="1248" y="2754"/>
              <a:ext cx="96" cy="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71" name="Line 62"/>
            <p:cNvSpPr>
              <a:spLocks noChangeAspect="1"/>
            </p:cNvSpPr>
            <p:nvPr/>
          </p:nvSpPr>
          <p:spPr>
            <a:xfrm rot="4482761" flipH="1">
              <a:off x="2192" y="2813"/>
              <a:ext cx="115" cy="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72" name="Line 64"/>
            <p:cNvSpPr>
              <a:spLocks noChangeAspect="1"/>
            </p:cNvSpPr>
            <p:nvPr/>
          </p:nvSpPr>
          <p:spPr>
            <a:xfrm flipH="1">
              <a:off x="2997" y="2933"/>
              <a:ext cx="692" cy="400"/>
            </a:xfrm>
            <a:prstGeom prst="line">
              <a:avLst/>
            </a:prstGeom>
            <a:ln w="38100" cap="flat" cmpd="dbl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3" name="Line 66"/>
            <p:cNvSpPr>
              <a:spLocks noChangeAspect="1"/>
            </p:cNvSpPr>
            <p:nvPr/>
          </p:nvSpPr>
          <p:spPr>
            <a:xfrm>
              <a:off x="1729" y="2533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4" name="Text Box 67"/>
            <p:cNvSpPr txBox="1">
              <a:spLocks noChangeAspect="1"/>
            </p:cNvSpPr>
            <p:nvPr/>
          </p:nvSpPr>
          <p:spPr>
            <a:xfrm>
              <a:off x="2227" y="2688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75" name="Line 69"/>
            <p:cNvSpPr>
              <a:spLocks noChangeAspect="1"/>
            </p:cNvSpPr>
            <p:nvPr/>
          </p:nvSpPr>
          <p:spPr>
            <a:xfrm>
              <a:off x="1729" y="2533"/>
              <a:ext cx="0" cy="800"/>
            </a:xfrm>
            <a:prstGeom prst="line">
              <a:avLst/>
            </a:prstGeom>
            <a:ln w="38100" cap="flat" cmpd="dbl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6" name="Line 70"/>
            <p:cNvSpPr>
              <a:spLocks noChangeAspect="1"/>
            </p:cNvSpPr>
            <p:nvPr/>
          </p:nvSpPr>
          <p:spPr>
            <a:xfrm>
              <a:off x="1729" y="3333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7" name="Line 71"/>
            <p:cNvSpPr>
              <a:spLocks noChangeAspect="1"/>
            </p:cNvSpPr>
            <p:nvPr/>
          </p:nvSpPr>
          <p:spPr>
            <a:xfrm flipV="1">
              <a:off x="2997" y="2533"/>
              <a:ext cx="0" cy="8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8" name="Line 72"/>
            <p:cNvSpPr>
              <a:spLocks noChangeAspect="1"/>
            </p:cNvSpPr>
            <p:nvPr/>
          </p:nvSpPr>
          <p:spPr>
            <a:xfrm flipV="1">
              <a:off x="922" y="2533"/>
              <a:ext cx="807" cy="5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9" name="Line 73"/>
            <p:cNvSpPr>
              <a:spLocks noChangeAspect="1"/>
            </p:cNvSpPr>
            <p:nvPr/>
          </p:nvSpPr>
          <p:spPr>
            <a:xfrm>
              <a:off x="922" y="3033"/>
              <a:ext cx="807" cy="300"/>
            </a:xfrm>
            <a:prstGeom prst="line">
              <a:avLst/>
            </a:prstGeom>
            <a:ln w="38100" cap="flat" cmpd="dbl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Line 74"/>
            <p:cNvSpPr>
              <a:spLocks noChangeAspect="1"/>
            </p:cNvSpPr>
            <p:nvPr/>
          </p:nvSpPr>
          <p:spPr>
            <a:xfrm>
              <a:off x="2997" y="2533"/>
              <a:ext cx="692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1" name="Line 75"/>
            <p:cNvSpPr>
              <a:spLocks noChangeAspect="1"/>
            </p:cNvSpPr>
            <p:nvPr/>
          </p:nvSpPr>
          <p:spPr>
            <a:xfrm>
              <a:off x="1729" y="2533"/>
              <a:ext cx="1268" cy="800"/>
            </a:xfrm>
            <a:prstGeom prst="line">
              <a:avLst/>
            </a:prstGeom>
            <a:ln w="38100" cap="flat" cmpd="dbl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2" name="Line 76"/>
            <p:cNvSpPr>
              <a:spLocks noChangeAspect="1"/>
            </p:cNvSpPr>
            <p:nvPr/>
          </p:nvSpPr>
          <p:spPr>
            <a:xfrm>
              <a:off x="1960" y="2533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3" name="Line 77"/>
            <p:cNvSpPr>
              <a:spLocks noChangeAspect="1"/>
            </p:cNvSpPr>
            <p:nvPr/>
          </p:nvSpPr>
          <p:spPr>
            <a:xfrm>
              <a:off x="2075" y="3333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4" name="Line 78"/>
            <p:cNvSpPr>
              <a:spLocks noChangeAspect="1"/>
            </p:cNvSpPr>
            <p:nvPr/>
          </p:nvSpPr>
          <p:spPr>
            <a:xfrm>
              <a:off x="1729" y="2835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5" name="Line 79"/>
            <p:cNvSpPr>
              <a:spLocks noChangeAspect="1"/>
            </p:cNvSpPr>
            <p:nvPr/>
          </p:nvSpPr>
          <p:spPr>
            <a:xfrm flipV="1">
              <a:off x="2997" y="2835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6" name="Line 80"/>
            <p:cNvSpPr>
              <a:spLocks noChangeAspect="1"/>
            </p:cNvSpPr>
            <p:nvPr/>
          </p:nvSpPr>
          <p:spPr>
            <a:xfrm>
              <a:off x="1248" y="3148"/>
              <a:ext cx="144" cy="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7" name="Line 81"/>
            <p:cNvSpPr>
              <a:spLocks noChangeAspect="1"/>
            </p:cNvSpPr>
            <p:nvPr/>
          </p:nvSpPr>
          <p:spPr>
            <a:xfrm flipV="1">
              <a:off x="3189" y="3020"/>
              <a:ext cx="34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8" name="Line 82"/>
            <p:cNvSpPr>
              <a:spLocks noChangeAspect="1"/>
            </p:cNvSpPr>
            <p:nvPr/>
          </p:nvSpPr>
          <p:spPr>
            <a:xfrm>
              <a:off x="3228" y="2666"/>
              <a:ext cx="34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9" name="Text Box 83"/>
            <p:cNvSpPr txBox="1">
              <a:spLocks noChangeAspect="1"/>
            </p:cNvSpPr>
            <p:nvPr/>
          </p:nvSpPr>
          <p:spPr>
            <a:xfrm>
              <a:off x="1585" y="2272"/>
              <a:ext cx="346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84"/>
            <p:cNvSpPr txBox="1">
              <a:spLocks noChangeAspect="1"/>
            </p:cNvSpPr>
            <p:nvPr/>
          </p:nvSpPr>
          <p:spPr>
            <a:xfrm>
              <a:off x="1595" y="3279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Text Box 85"/>
            <p:cNvSpPr txBox="1">
              <a:spLocks noChangeAspect="1"/>
            </p:cNvSpPr>
            <p:nvPr/>
          </p:nvSpPr>
          <p:spPr>
            <a:xfrm>
              <a:off x="2871" y="2322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2" name="Text Box 86"/>
            <p:cNvSpPr txBox="1">
              <a:spLocks noChangeAspect="1"/>
            </p:cNvSpPr>
            <p:nvPr/>
          </p:nvSpPr>
          <p:spPr>
            <a:xfrm>
              <a:off x="2853" y="3275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Text Box 87"/>
            <p:cNvSpPr txBox="1">
              <a:spLocks noChangeAspect="1"/>
            </p:cNvSpPr>
            <p:nvPr/>
          </p:nvSpPr>
          <p:spPr>
            <a:xfrm>
              <a:off x="682" y="2881"/>
              <a:ext cx="346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4" name="Text Box 88"/>
            <p:cNvSpPr txBox="1">
              <a:spLocks noChangeAspect="1"/>
            </p:cNvSpPr>
            <p:nvPr/>
          </p:nvSpPr>
          <p:spPr>
            <a:xfrm>
              <a:off x="3631" y="2781"/>
              <a:ext cx="346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Text Box 90"/>
            <p:cNvSpPr txBox="1">
              <a:spLocks noChangeAspect="1"/>
            </p:cNvSpPr>
            <p:nvPr/>
          </p:nvSpPr>
          <p:spPr>
            <a:xfrm>
              <a:off x="940" y="2544"/>
              <a:ext cx="644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(3 , 3)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6" name="Text Box 91"/>
            <p:cNvSpPr txBox="1">
              <a:spLocks noChangeAspect="1"/>
            </p:cNvSpPr>
            <p:nvPr/>
          </p:nvSpPr>
          <p:spPr>
            <a:xfrm>
              <a:off x="902" y="3120"/>
              <a:ext cx="53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(5 , 1)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7" name="Text Box 92"/>
            <p:cNvSpPr txBox="1">
              <a:spLocks noChangeAspect="1"/>
            </p:cNvSpPr>
            <p:nvPr/>
          </p:nvSpPr>
          <p:spPr>
            <a:xfrm>
              <a:off x="1689" y="2856"/>
              <a:ext cx="66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(1 , 1)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8" name="Text Box 93"/>
            <p:cNvSpPr txBox="1">
              <a:spLocks noChangeAspect="1"/>
            </p:cNvSpPr>
            <p:nvPr/>
          </p:nvSpPr>
          <p:spPr>
            <a:xfrm>
              <a:off x="2094" y="2260"/>
              <a:ext cx="509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(4 ,3)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9" name="Text Box 94"/>
            <p:cNvSpPr txBox="1">
              <a:spLocks noChangeAspect="1"/>
            </p:cNvSpPr>
            <p:nvPr/>
          </p:nvSpPr>
          <p:spPr>
            <a:xfrm>
              <a:off x="2190" y="3331"/>
              <a:ext cx="73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(2 , 2)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0" name="Text Box 95"/>
            <p:cNvSpPr txBox="1">
              <a:spLocks noChangeAspect="1"/>
            </p:cNvSpPr>
            <p:nvPr/>
          </p:nvSpPr>
          <p:spPr>
            <a:xfrm>
              <a:off x="2611" y="2820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(3 ,0)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1" name="Text Box 96"/>
            <p:cNvSpPr txBox="1">
              <a:spLocks noChangeAspect="1"/>
            </p:cNvSpPr>
            <p:nvPr/>
          </p:nvSpPr>
          <p:spPr>
            <a:xfrm>
              <a:off x="3302" y="2532"/>
              <a:ext cx="53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2" name="Text Box 97"/>
            <p:cNvSpPr txBox="1">
              <a:spLocks noChangeAspect="1"/>
            </p:cNvSpPr>
            <p:nvPr/>
          </p:nvSpPr>
          <p:spPr>
            <a:xfrm>
              <a:off x="3180" y="3102"/>
              <a:ext cx="66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(2 ,1)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3" name="Text Box 106"/>
            <p:cNvSpPr txBox="1">
              <a:spLocks noChangeAspect="1"/>
            </p:cNvSpPr>
            <p:nvPr/>
          </p:nvSpPr>
          <p:spPr>
            <a:xfrm>
              <a:off x="192" y="2798"/>
              <a:ext cx="999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（0，+∞）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4" name="Text Box 107"/>
            <p:cNvSpPr txBox="1">
              <a:spLocks noChangeAspect="1"/>
            </p:cNvSpPr>
            <p:nvPr/>
          </p:nvSpPr>
          <p:spPr>
            <a:xfrm>
              <a:off x="1353" y="2112"/>
              <a:ext cx="80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（-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1）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5" name="Text Box 108"/>
            <p:cNvSpPr txBox="1">
              <a:spLocks noChangeAspect="1"/>
            </p:cNvSpPr>
            <p:nvPr/>
          </p:nvSpPr>
          <p:spPr>
            <a:xfrm>
              <a:off x="1286" y="3396"/>
              <a:ext cx="92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（+ 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s 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4）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6" name="Text Box 109"/>
            <p:cNvSpPr txBox="1">
              <a:spLocks noChangeAspect="1"/>
            </p:cNvSpPr>
            <p:nvPr/>
          </p:nvSpPr>
          <p:spPr>
            <a:xfrm>
              <a:off x="2641" y="3408"/>
              <a:ext cx="91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（-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 ，1）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7" name="Text Box 110"/>
            <p:cNvSpPr txBox="1">
              <a:spLocks noChangeAspect="1"/>
            </p:cNvSpPr>
            <p:nvPr/>
          </p:nvSpPr>
          <p:spPr>
            <a:xfrm>
              <a:off x="2565" y="2160"/>
              <a:ext cx="84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（+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，1）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8" name="Text Box 111"/>
            <p:cNvSpPr txBox="1">
              <a:spLocks noChangeAspect="1"/>
            </p:cNvSpPr>
            <p:nvPr/>
          </p:nvSpPr>
          <p:spPr>
            <a:xfrm>
              <a:off x="3705" y="2676"/>
              <a:ext cx="80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(+ 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，1)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91" name="Group 2"/>
          <p:cNvGrpSpPr/>
          <p:nvPr/>
        </p:nvGrpSpPr>
        <p:grpSpPr>
          <a:xfrm>
            <a:off x="1524000" y="587375"/>
            <a:ext cx="5229225" cy="2155825"/>
            <a:chOff x="1152" y="444"/>
            <a:chExt cx="3294" cy="1358"/>
          </a:xfrm>
        </p:grpSpPr>
        <p:sp>
          <p:nvSpPr>
            <p:cNvPr id="12332" name="Line 3"/>
            <p:cNvSpPr>
              <a:spLocks noChangeAspect="1"/>
            </p:cNvSpPr>
            <p:nvPr/>
          </p:nvSpPr>
          <p:spPr>
            <a:xfrm flipV="1">
              <a:off x="1719" y="918"/>
              <a:ext cx="105" cy="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33" name="Line 4"/>
            <p:cNvSpPr>
              <a:spLocks noChangeAspect="1"/>
            </p:cNvSpPr>
            <p:nvPr/>
          </p:nvSpPr>
          <p:spPr>
            <a:xfrm rot="4482761" flipH="1">
              <a:off x="2739" y="1033"/>
              <a:ext cx="115" cy="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34" name="Line 5"/>
            <p:cNvSpPr>
              <a:spLocks noChangeAspect="1"/>
            </p:cNvSpPr>
            <p:nvPr/>
          </p:nvSpPr>
          <p:spPr>
            <a:xfrm flipH="1">
              <a:off x="3466" y="1105"/>
              <a:ext cx="692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5" name="Line 6"/>
            <p:cNvSpPr>
              <a:spLocks noChangeAspect="1"/>
            </p:cNvSpPr>
            <p:nvPr/>
          </p:nvSpPr>
          <p:spPr>
            <a:xfrm>
              <a:off x="2199" y="705"/>
              <a:ext cx="12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6" name="Text Box 7"/>
            <p:cNvSpPr txBox="1">
              <a:spLocks noChangeAspect="1"/>
            </p:cNvSpPr>
            <p:nvPr/>
          </p:nvSpPr>
          <p:spPr>
            <a:xfrm>
              <a:off x="2611" y="804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(1 ,0)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7" name="Line 8"/>
            <p:cNvSpPr>
              <a:spLocks noChangeAspect="1"/>
            </p:cNvSpPr>
            <p:nvPr/>
          </p:nvSpPr>
          <p:spPr>
            <a:xfrm>
              <a:off x="2199" y="705"/>
              <a:ext cx="0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8" name="Line 9"/>
            <p:cNvSpPr>
              <a:spLocks noChangeAspect="1"/>
            </p:cNvSpPr>
            <p:nvPr/>
          </p:nvSpPr>
          <p:spPr>
            <a:xfrm>
              <a:off x="2199" y="1504"/>
              <a:ext cx="12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9" name="Line 10"/>
            <p:cNvSpPr>
              <a:spLocks noChangeAspect="1"/>
            </p:cNvSpPr>
            <p:nvPr/>
          </p:nvSpPr>
          <p:spPr>
            <a:xfrm flipV="1">
              <a:off x="3466" y="705"/>
              <a:ext cx="0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0" name="Line 11"/>
            <p:cNvSpPr>
              <a:spLocks noChangeAspect="1"/>
            </p:cNvSpPr>
            <p:nvPr/>
          </p:nvSpPr>
          <p:spPr>
            <a:xfrm flipV="1">
              <a:off x="1392" y="705"/>
              <a:ext cx="807" cy="5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1" name="Line 12"/>
            <p:cNvSpPr>
              <a:spLocks noChangeAspect="1"/>
            </p:cNvSpPr>
            <p:nvPr/>
          </p:nvSpPr>
          <p:spPr>
            <a:xfrm>
              <a:off x="1392" y="1205"/>
              <a:ext cx="807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2" name="Line 13"/>
            <p:cNvSpPr>
              <a:spLocks noChangeAspect="1"/>
            </p:cNvSpPr>
            <p:nvPr/>
          </p:nvSpPr>
          <p:spPr>
            <a:xfrm>
              <a:off x="3466" y="705"/>
              <a:ext cx="692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3" name="Line 14"/>
            <p:cNvSpPr>
              <a:spLocks noChangeAspect="1"/>
            </p:cNvSpPr>
            <p:nvPr/>
          </p:nvSpPr>
          <p:spPr>
            <a:xfrm>
              <a:off x="2199" y="705"/>
              <a:ext cx="1267" cy="7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4" name="Line 15"/>
            <p:cNvSpPr>
              <a:spLocks noChangeAspect="1"/>
            </p:cNvSpPr>
            <p:nvPr/>
          </p:nvSpPr>
          <p:spPr>
            <a:xfrm>
              <a:off x="2429" y="705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45" name="Line 16"/>
            <p:cNvSpPr>
              <a:spLocks noChangeAspect="1"/>
            </p:cNvSpPr>
            <p:nvPr/>
          </p:nvSpPr>
          <p:spPr>
            <a:xfrm>
              <a:off x="2545" y="150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46" name="Line 17"/>
            <p:cNvSpPr>
              <a:spLocks noChangeAspect="1"/>
            </p:cNvSpPr>
            <p:nvPr/>
          </p:nvSpPr>
          <p:spPr>
            <a:xfrm>
              <a:off x="2199" y="1007"/>
              <a:ext cx="0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47" name="Line 18"/>
            <p:cNvSpPr>
              <a:spLocks noChangeAspect="1"/>
            </p:cNvSpPr>
            <p:nvPr/>
          </p:nvSpPr>
          <p:spPr>
            <a:xfrm flipV="1">
              <a:off x="3466" y="1007"/>
              <a:ext cx="0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48" name="Line 19"/>
            <p:cNvSpPr>
              <a:spLocks noChangeAspect="1"/>
            </p:cNvSpPr>
            <p:nvPr/>
          </p:nvSpPr>
          <p:spPr>
            <a:xfrm>
              <a:off x="1623" y="1285"/>
              <a:ext cx="230" cy="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49" name="Line 20"/>
            <p:cNvSpPr>
              <a:spLocks noChangeAspect="1"/>
            </p:cNvSpPr>
            <p:nvPr/>
          </p:nvSpPr>
          <p:spPr>
            <a:xfrm flipV="1">
              <a:off x="3659" y="1197"/>
              <a:ext cx="34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50" name="Line 21"/>
            <p:cNvSpPr>
              <a:spLocks noChangeAspect="1"/>
            </p:cNvSpPr>
            <p:nvPr/>
          </p:nvSpPr>
          <p:spPr>
            <a:xfrm>
              <a:off x="3697" y="832"/>
              <a:ext cx="34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351" name="Text Box 22"/>
            <p:cNvSpPr txBox="1">
              <a:spLocks noChangeAspect="1"/>
            </p:cNvSpPr>
            <p:nvPr/>
          </p:nvSpPr>
          <p:spPr>
            <a:xfrm>
              <a:off x="2055" y="444"/>
              <a:ext cx="345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2" name="Text Box 23"/>
            <p:cNvSpPr txBox="1">
              <a:spLocks noChangeAspect="1"/>
            </p:cNvSpPr>
            <p:nvPr/>
          </p:nvSpPr>
          <p:spPr>
            <a:xfrm>
              <a:off x="2064" y="1451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3" name="Text Box 24"/>
            <p:cNvSpPr txBox="1">
              <a:spLocks noChangeAspect="1"/>
            </p:cNvSpPr>
            <p:nvPr/>
          </p:nvSpPr>
          <p:spPr>
            <a:xfrm>
              <a:off x="3284" y="45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4" name="Text Box 25"/>
            <p:cNvSpPr txBox="1">
              <a:spLocks noChangeAspect="1"/>
            </p:cNvSpPr>
            <p:nvPr/>
          </p:nvSpPr>
          <p:spPr>
            <a:xfrm>
              <a:off x="3322" y="1447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5" name="Text Box 26"/>
            <p:cNvSpPr txBox="1">
              <a:spLocks noChangeAspect="1"/>
            </p:cNvSpPr>
            <p:nvPr/>
          </p:nvSpPr>
          <p:spPr>
            <a:xfrm>
              <a:off x="1152" y="1053"/>
              <a:ext cx="346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6" name="Text Box 27"/>
            <p:cNvSpPr txBox="1">
              <a:spLocks noChangeAspect="1"/>
            </p:cNvSpPr>
            <p:nvPr/>
          </p:nvSpPr>
          <p:spPr>
            <a:xfrm>
              <a:off x="4100" y="953"/>
              <a:ext cx="346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7" name="Text Box 28"/>
            <p:cNvSpPr txBox="1">
              <a:spLocks noChangeAspect="1"/>
            </p:cNvSpPr>
            <p:nvPr/>
          </p:nvSpPr>
          <p:spPr>
            <a:xfrm>
              <a:off x="1468" y="720"/>
              <a:ext cx="644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(3 , 3)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8" name="Text Box 29"/>
            <p:cNvSpPr txBox="1">
              <a:spLocks noChangeAspect="1"/>
            </p:cNvSpPr>
            <p:nvPr/>
          </p:nvSpPr>
          <p:spPr>
            <a:xfrm>
              <a:off x="1478" y="1381"/>
              <a:ext cx="53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(5 , 2)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59" name="Text Box 30"/>
            <p:cNvSpPr txBox="1">
              <a:spLocks noChangeAspect="1"/>
            </p:cNvSpPr>
            <p:nvPr/>
          </p:nvSpPr>
          <p:spPr>
            <a:xfrm>
              <a:off x="2170" y="1028"/>
              <a:ext cx="66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(1 , 0)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60" name="Text Box 31"/>
            <p:cNvSpPr txBox="1">
              <a:spLocks noChangeAspect="1"/>
            </p:cNvSpPr>
            <p:nvPr/>
          </p:nvSpPr>
          <p:spPr>
            <a:xfrm>
              <a:off x="2736" y="480"/>
              <a:ext cx="509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(4 ,3)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61" name="Text Box 32"/>
            <p:cNvSpPr txBox="1">
              <a:spLocks noChangeAspect="1"/>
            </p:cNvSpPr>
            <p:nvPr/>
          </p:nvSpPr>
          <p:spPr>
            <a:xfrm>
              <a:off x="2660" y="1502"/>
              <a:ext cx="73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(2 , 2)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62" name="Text Box 33"/>
            <p:cNvSpPr txBox="1">
              <a:spLocks noChangeAspect="1"/>
            </p:cNvSpPr>
            <p:nvPr/>
          </p:nvSpPr>
          <p:spPr>
            <a:xfrm>
              <a:off x="3072" y="948"/>
              <a:ext cx="5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(3 ,0)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63" name="Text Box 34"/>
            <p:cNvSpPr txBox="1">
              <a:spLocks noChangeAspect="1"/>
            </p:cNvSpPr>
            <p:nvPr/>
          </p:nvSpPr>
          <p:spPr>
            <a:xfrm>
              <a:off x="3735" y="708"/>
              <a:ext cx="53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(5 ,3)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64" name="Text Box 35"/>
            <p:cNvSpPr txBox="1">
              <a:spLocks noChangeAspect="1"/>
            </p:cNvSpPr>
            <p:nvPr/>
          </p:nvSpPr>
          <p:spPr>
            <a:xfrm>
              <a:off x="3753" y="1248"/>
              <a:ext cx="663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b="1" dirty="0">
                  <a:latin typeface="Times New Roman" panose="02020603050405020304" pitchFamily="18" charset="0"/>
                </a:rPr>
                <a:t>(2 ,2)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292" name="Group 74"/>
          <p:cNvGrpSpPr/>
          <p:nvPr/>
        </p:nvGrpSpPr>
        <p:grpSpPr>
          <a:xfrm>
            <a:off x="792163" y="2819400"/>
            <a:ext cx="5989637" cy="2271713"/>
            <a:chOff x="499" y="1920"/>
            <a:chExt cx="3773" cy="1431"/>
          </a:xfrm>
        </p:grpSpPr>
        <p:grpSp>
          <p:nvGrpSpPr>
            <p:cNvPr id="12296" name="Group 36"/>
            <p:cNvGrpSpPr/>
            <p:nvPr/>
          </p:nvGrpSpPr>
          <p:grpSpPr>
            <a:xfrm>
              <a:off x="978" y="1920"/>
              <a:ext cx="3294" cy="1358"/>
              <a:chOff x="1152" y="444"/>
              <a:chExt cx="3294" cy="1358"/>
            </a:xfrm>
          </p:grpSpPr>
          <p:sp>
            <p:nvSpPr>
              <p:cNvPr id="12299" name="Line 37"/>
              <p:cNvSpPr>
                <a:spLocks noChangeAspect="1"/>
              </p:cNvSpPr>
              <p:nvPr/>
            </p:nvSpPr>
            <p:spPr>
              <a:xfrm flipV="1">
                <a:off x="1719" y="918"/>
                <a:ext cx="105" cy="9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00" name="Line 38"/>
              <p:cNvSpPr>
                <a:spLocks noChangeAspect="1"/>
              </p:cNvSpPr>
              <p:nvPr/>
            </p:nvSpPr>
            <p:spPr>
              <a:xfrm rot="4482761" flipH="1">
                <a:off x="2739" y="1033"/>
                <a:ext cx="115" cy="1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01" name="Line 39"/>
              <p:cNvSpPr>
                <a:spLocks noChangeAspect="1"/>
              </p:cNvSpPr>
              <p:nvPr/>
            </p:nvSpPr>
            <p:spPr>
              <a:xfrm flipH="1">
                <a:off x="3466" y="1105"/>
                <a:ext cx="692" cy="3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2" name="Line 40"/>
              <p:cNvSpPr>
                <a:spLocks noChangeAspect="1"/>
              </p:cNvSpPr>
              <p:nvPr/>
            </p:nvSpPr>
            <p:spPr>
              <a:xfrm>
                <a:off x="2199" y="705"/>
                <a:ext cx="126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3" name="Text Box 41"/>
              <p:cNvSpPr txBox="1">
                <a:spLocks noChangeAspect="1"/>
              </p:cNvSpPr>
              <p:nvPr/>
            </p:nvSpPr>
            <p:spPr>
              <a:xfrm>
                <a:off x="2611" y="804"/>
                <a:ext cx="50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(1 ,0)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4" name="Line 42"/>
              <p:cNvSpPr>
                <a:spLocks noChangeAspect="1"/>
              </p:cNvSpPr>
              <p:nvPr/>
            </p:nvSpPr>
            <p:spPr>
              <a:xfrm>
                <a:off x="2199" y="705"/>
                <a:ext cx="0" cy="7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5" name="Line 43"/>
              <p:cNvSpPr>
                <a:spLocks noChangeAspect="1"/>
              </p:cNvSpPr>
              <p:nvPr/>
            </p:nvSpPr>
            <p:spPr>
              <a:xfrm>
                <a:off x="2199" y="1504"/>
                <a:ext cx="126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6" name="Line 44"/>
              <p:cNvSpPr>
                <a:spLocks noChangeAspect="1"/>
              </p:cNvSpPr>
              <p:nvPr/>
            </p:nvSpPr>
            <p:spPr>
              <a:xfrm flipV="1">
                <a:off x="3466" y="705"/>
                <a:ext cx="0" cy="7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7" name="Line 45"/>
              <p:cNvSpPr>
                <a:spLocks noChangeAspect="1"/>
              </p:cNvSpPr>
              <p:nvPr/>
            </p:nvSpPr>
            <p:spPr>
              <a:xfrm flipV="1">
                <a:off x="1392" y="705"/>
                <a:ext cx="807" cy="5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8" name="Line 46"/>
              <p:cNvSpPr>
                <a:spLocks noChangeAspect="1"/>
              </p:cNvSpPr>
              <p:nvPr/>
            </p:nvSpPr>
            <p:spPr>
              <a:xfrm>
                <a:off x="1392" y="1205"/>
                <a:ext cx="807" cy="2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09" name="Line 47"/>
              <p:cNvSpPr>
                <a:spLocks noChangeAspect="1"/>
              </p:cNvSpPr>
              <p:nvPr/>
            </p:nvSpPr>
            <p:spPr>
              <a:xfrm>
                <a:off x="3466" y="705"/>
                <a:ext cx="692" cy="4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10" name="Line 48"/>
              <p:cNvSpPr>
                <a:spLocks noChangeAspect="1"/>
              </p:cNvSpPr>
              <p:nvPr/>
            </p:nvSpPr>
            <p:spPr>
              <a:xfrm>
                <a:off x="2199" y="705"/>
                <a:ext cx="1267" cy="7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11" name="Line 49"/>
              <p:cNvSpPr>
                <a:spLocks noChangeAspect="1"/>
              </p:cNvSpPr>
              <p:nvPr/>
            </p:nvSpPr>
            <p:spPr>
              <a:xfrm>
                <a:off x="2429" y="705"/>
                <a:ext cx="34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2" name="Line 50"/>
              <p:cNvSpPr>
                <a:spLocks noChangeAspect="1"/>
              </p:cNvSpPr>
              <p:nvPr/>
            </p:nvSpPr>
            <p:spPr>
              <a:xfrm>
                <a:off x="2545" y="1504"/>
                <a:ext cx="23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3" name="Line 51"/>
              <p:cNvSpPr>
                <a:spLocks noChangeAspect="1"/>
              </p:cNvSpPr>
              <p:nvPr/>
            </p:nvSpPr>
            <p:spPr>
              <a:xfrm>
                <a:off x="2199" y="1007"/>
                <a:ext cx="0" cy="1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4" name="Line 52"/>
              <p:cNvSpPr>
                <a:spLocks noChangeAspect="1"/>
              </p:cNvSpPr>
              <p:nvPr/>
            </p:nvSpPr>
            <p:spPr>
              <a:xfrm flipV="1">
                <a:off x="3466" y="1007"/>
                <a:ext cx="0" cy="1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5" name="Line 53"/>
              <p:cNvSpPr>
                <a:spLocks noChangeAspect="1"/>
              </p:cNvSpPr>
              <p:nvPr/>
            </p:nvSpPr>
            <p:spPr>
              <a:xfrm>
                <a:off x="1623" y="1285"/>
                <a:ext cx="230" cy="1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6" name="Line 54"/>
              <p:cNvSpPr>
                <a:spLocks noChangeAspect="1"/>
              </p:cNvSpPr>
              <p:nvPr/>
            </p:nvSpPr>
            <p:spPr>
              <a:xfrm flipV="1">
                <a:off x="3659" y="1197"/>
                <a:ext cx="345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7" name="Line 55"/>
              <p:cNvSpPr>
                <a:spLocks noChangeAspect="1"/>
              </p:cNvSpPr>
              <p:nvPr/>
            </p:nvSpPr>
            <p:spPr>
              <a:xfrm>
                <a:off x="3697" y="832"/>
                <a:ext cx="346" cy="2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318" name="Text Box 56"/>
              <p:cNvSpPr txBox="1">
                <a:spLocks noChangeAspect="1"/>
              </p:cNvSpPr>
              <p:nvPr/>
            </p:nvSpPr>
            <p:spPr>
              <a:xfrm>
                <a:off x="2055" y="444"/>
                <a:ext cx="345" cy="3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9" name="Text Box 57"/>
              <p:cNvSpPr txBox="1">
                <a:spLocks noChangeAspect="1"/>
              </p:cNvSpPr>
              <p:nvPr/>
            </p:nvSpPr>
            <p:spPr>
              <a:xfrm>
                <a:off x="2064" y="1451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0" name="Text Box 58"/>
              <p:cNvSpPr txBox="1">
                <a:spLocks noChangeAspect="1"/>
              </p:cNvSpPr>
              <p:nvPr/>
            </p:nvSpPr>
            <p:spPr>
              <a:xfrm>
                <a:off x="3284" y="453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1" name="Text Box 59"/>
              <p:cNvSpPr txBox="1">
                <a:spLocks noChangeAspect="1"/>
              </p:cNvSpPr>
              <p:nvPr/>
            </p:nvSpPr>
            <p:spPr>
              <a:xfrm>
                <a:off x="3322" y="1447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2" name="Text Box 60"/>
              <p:cNvSpPr txBox="1">
                <a:spLocks noChangeAspect="1"/>
              </p:cNvSpPr>
              <p:nvPr/>
            </p:nvSpPr>
            <p:spPr>
              <a:xfrm>
                <a:off x="1152" y="1053"/>
                <a:ext cx="346" cy="3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i="1" baseline="-25000" dirty="0">
                    <a:latin typeface="Times New Roman" panose="02020603050405020304" pitchFamily="18" charset="0"/>
                  </a:rPr>
                  <a:t>s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3" name="Text Box 61"/>
              <p:cNvSpPr txBox="1">
                <a:spLocks noChangeAspect="1"/>
              </p:cNvSpPr>
              <p:nvPr/>
            </p:nvSpPr>
            <p:spPr>
              <a:xfrm>
                <a:off x="4100" y="953"/>
                <a:ext cx="346" cy="3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t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4" name="Text Box 62"/>
              <p:cNvSpPr txBox="1">
                <a:spLocks noChangeAspect="1"/>
              </p:cNvSpPr>
              <p:nvPr/>
            </p:nvSpPr>
            <p:spPr>
              <a:xfrm>
                <a:off x="1468" y="720"/>
                <a:ext cx="644" cy="4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(3 , 3)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5" name="Text Box 63"/>
              <p:cNvSpPr txBox="1">
                <a:spLocks noChangeAspect="1"/>
              </p:cNvSpPr>
              <p:nvPr/>
            </p:nvSpPr>
            <p:spPr>
              <a:xfrm>
                <a:off x="1478" y="1381"/>
                <a:ext cx="538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(5 , 2)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6" name="Text Box 64"/>
              <p:cNvSpPr txBox="1">
                <a:spLocks noChangeAspect="1"/>
              </p:cNvSpPr>
              <p:nvPr/>
            </p:nvSpPr>
            <p:spPr>
              <a:xfrm>
                <a:off x="2170" y="1028"/>
                <a:ext cx="662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(1 , 0)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7" name="Text Box 65"/>
              <p:cNvSpPr txBox="1">
                <a:spLocks noChangeAspect="1"/>
              </p:cNvSpPr>
              <p:nvPr/>
            </p:nvSpPr>
            <p:spPr>
              <a:xfrm>
                <a:off x="2736" y="480"/>
                <a:ext cx="509" cy="4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(4 ,3)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8" name="Text Box 66"/>
              <p:cNvSpPr txBox="1">
                <a:spLocks noChangeAspect="1"/>
              </p:cNvSpPr>
              <p:nvPr/>
            </p:nvSpPr>
            <p:spPr>
              <a:xfrm>
                <a:off x="2660" y="1502"/>
                <a:ext cx="730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(2 , 2)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9" name="Text Box 67"/>
              <p:cNvSpPr txBox="1">
                <a:spLocks noChangeAspect="1"/>
              </p:cNvSpPr>
              <p:nvPr/>
            </p:nvSpPr>
            <p:spPr>
              <a:xfrm>
                <a:off x="3072" y="948"/>
                <a:ext cx="50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(3 ,0)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30" name="Text Box 68"/>
              <p:cNvSpPr txBox="1">
                <a:spLocks noChangeAspect="1"/>
              </p:cNvSpPr>
              <p:nvPr/>
            </p:nvSpPr>
            <p:spPr>
              <a:xfrm>
                <a:off x="3735" y="708"/>
                <a:ext cx="537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(5 ,3)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31" name="Text Box 69"/>
              <p:cNvSpPr txBox="1">
                <a:spLocks noChangeAspect="1"/>
              </p:cNvSpPr>
              <p:nvPr/>
            </p:nvSpPr>
            <p:spPr>
              <a:xfrm>
                <a:off x="3753" y="1248"/>
                <a:ext cx="663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(2 ,2)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297" name="Rectangle 70"/>
            <p:cNvSpPr/>
            <p:nvPr/>
          </p:nvSpPr>
          <p:spPr>
            <a:xfrm>
              <a:off x="499" y="2409"/>
              <a:ext cx="85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1800" b="1" dirty="0">
                  <a:latin typeface="Times New Roman" panose="02020603050405020304" pitchFamily="18" charset="0"/>
                </a:rPr>
                <a:t>（0，+∞）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298" name="Rectangle 71"/>
            <p:cNvSpPr/>
            <p:nvPr/>
          </p:nvSpPr>
          <p:spPr>
            <a:xfrm>
              <a:off x="1584" y="3120"/>
              <a:ext cx="79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1800" b="1" dirty="0">
                  <a:latin typeface="Times New Roman" panose="02020603050405020304" pitchFamily="18" charset="0"/>
                </a:rPr>
                <a:t>（+ 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i="1" baseline="-25000" dirty="0">
                  <a:latin typeface="Times New Roman" panose="02020603050405020304" pitchFamily="18" charset="0"/>
                </a:rPr>
                <a:t>s 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3）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79"/>
          <p:cNvGrpSpPr/>
          <p:nvPr/>
        </p:nvGrpSpPr>
        <p:grpSpPr>
          <a:xfrm>
            <a:off x="1243013" y="5334000"/>
            <a:ext cx="4776787" cy="488950"/>
            <a:chOff x="783" y="3360"/>
            <a:chExt cx="3009" cy="308"/>
          </a:xfrm>
        </p:grpSpPr>
        <p:graphicFrame>
          <p:nvGraphicFramePr>
            <p:cNvPr id="12290" name="Object 75"/>
            <p:cNvGraphicFramePr>
              <a:graphicFrameLocks noChangeAspect="1"/>
            </p:cNvGraphicFramePr>
            <p:nvPr/>
          </p:nvGraphicFramePr>
          <p:xfrm>
            <a:off x="1733" y="3368"/>
            <a:ext cx="205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549400" imgH="228600" progId="Equation.3">
                    <p:embed/>
                  </p:oleObj>
                </mc:Choice>
                <mc:Fallback>
                  <p:oleObj name="" r:id="rId1" imgW="1549400" imgH="228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33" y="3368"/>
                          <a:ext cx="2059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5" name="Text Box 77"/>
            <p:cNvSpPr txBox="1"/>
            <p:nvPr/>
          </p:nvSpPr>
          <p:spPr>
            <a:xfrm>
              <a:off x="783" y="3360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最小截集</a:t>
              </a:r>
              <a:endParaRPr lang="zh-CN" altLang="en-US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6944" name="Freeform 80"/>
          <p:cNvSpPr/>
          <p:nvPr/>
        </p:nvSpPr>
        <p:spPr>
          <a:xfrm>
            <a:off x="1600200" y="3581400"/>
            <a:ext cx="2362200" cy="1524000"/>
          </a:xfrm>
          <a:custGeom>
            <a:avLst/>
            <a:gdLst>
              <a:gd name="txL" fmla="*/ 0 w 1488"/>
              <a:gd name="txT" fmla="*/ 0 h 960"/>
              <a:gd name="txR" fmla="*/ 1488 w 1488"/>
              <a:gd name="txB" fmla="*/ 960 h 960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488" h="960">
                <a:moveTo>
                  <a:pt x="0" y="0"/>
                </a:moveTo>
                <a:cubicBezTo>
                  <a:pt x="252" y="68"/>
                  <a:pt x="504" y="136"/>
                  <a:pt x="720" y="240"/>
                </a:cubicBezTo>
                <a:cubicBezTo>
                  <a:pt x="936" y="344"/>
                  <a:pt x="1168" y="504"/>
                  <a:pt x="1296" y="624"/>
                </a:cubicBezTo>
                <a:cubicBezTo>
                  <a:pt x="1424" y="744"/>
                  <a:pt x="1448" y="904"/>
                  <a:pt x="1488" y="96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321" name="Group 41"/>
          <p:cNvGrpSpPr/>
          <p:nvPr/>
        </p:nvGrpSpPr>
        <p:grpSpPr>
          <a:xfrm>
            <a:off x="914400" y="533400"/>
            <a:ext cx="7239000" cy="3048000"/>
            <a:chOff x="576" y="336"/>
            <a:chExt cx="4560" cy="1920"/>
          </a:xfrm>
        </p:grpSpPr>
        <p:sp>
          <p:nvSpPr>
            <p:cNvPr id="13322" name="Oval 3"/>
            <p:cNvSpPr/>
            <p:nvPr/>
          </p:nvSpPr>
          <p:spPr>
            <a:xfrm>
              <a:off x="1617" y="500"/>
              <a:ext cx="297" cy="32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4" name="Object 4"/>
            <p:cNvGraphicFramePr>
              <a:graphicFrameLocks noChangeAspect="1"/>
            </p:cNvGraphicFramePr>
            <p:nvPr/>
          </p:nvGraphicFramePr>
          <p:xfrm>
            <a:off x="1666" y="500"/>
            <a:ext cx="20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66" y="500"/>
                          <a:ext cx="20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3" name="Oval 5"/>
            <p:cNvSpPr/>
            <p:nvPr/>
          </p:nvSpPr>
          <p:spPr>
            <a:xfrm>
              <a:off x="576" y="1210"/>
              <a:ext cx="297" cy="32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5" name="Object 6"/>
            <p:cNvGraphicFramePr>
              <a:graphicFrameLocks noChangeAspect="1"/>
            </p:cNvGraphicFramePr>
            <p:nvPr/>
          </p:nvGraphicFramePr>
          <p:xfrm>
            <a:off x="626" y="1210"/>
            <a:ext cx="19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6" y="1210"/>
                          <a:ext cx="190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Oval 7"/>
            <p:cNvSpPr/>
            <p:nvPr/>
          </p:nvSpPr>
          <p:spPr>
            <a:xfrm>
              <a:off x="1617" y="1866"/>
              <a:ext cx="297" cy="327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6" name="Object 8"/>
            <p:cNvGraphicFramePr>
              <a:graphicFrameLocks noChangeAspect="1"/>
            </p:cNvGraphicFramePr>
            <p:nvPr/>
          </p:nvGraphicFramePr>
          <p:xfrm>
            <a:off x="1659" y="1858"/>
            <a:ext cx="20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59" y="1858"/>
                          <a:ext cx="206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5" name="Oval 9"/>
            <p:cNvSpPr/>
            <p:nvPr/>
          </p:nvSpPr>
          <p:spPr>
            <a:xfrm>
              <a:off x="2658" y="1265"/>
              <a:ext cx="297" cy="327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7" name="Object 10"/>
            <p:cNvGraphicFramePr>
              <a:graphicFrameLocks noChangeAspect="1"/>
            </p:cNvGraphicFramePr>
            <p:nvPr/>
          </p:nvGraphicFramePr>
          <p:xfrm>
            <a:off x="2700" y="1265"/>
            <a:ext cx="20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00" y="1265"/>
                          <a:ext cx="20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Oval 11"/>
            <p:cNvSpPr/>
            <p:nvPr/>
          </p:nvSpPr>
          <p:spPr>
            <a:xfrm>
              <a:off x="3649" y="508"/>
              <a:ext cx="297" cy="32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8" name="Object 12"/>
            <p:cNvGraphicFramePr>
              <a:graphicFrameLocks noChangeAspect="1"/>
            </p:cNvGraphicFramePr>
            <p:nvPr/>
          </p:nvGraphicFramePr>
          <p:xfrm>
            <a:off x="3691" y="500"/>
            <a:ext cx="20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9" imgW="165100" imgH="228600" progId="Equation.3">
                    <p:embed/>
                  </p:oleObj>
                </mc:Choice>
                <mc:Fallback>
                  <p:oleObj name="" r:id="rId9" imgW="165100" imgH="2286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91" y="500"/>
                          <a:ext cx="206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Oval 13"/>
            <p:cNvSpPr/>
            <p:nvPr/>
          </p:nvSpPr>
          <p:spPr>
            <a:xfrm>
              <a:off x="3649" y="1928"/>
              <a:ext cx="297" cy="328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9" name="Object 14"/>
            <p:cNvGraphicFramePr>
              <a:graphicFrameLocks noChangeAspect="1"/>
            </p:cNvGraphicFramePr>
            <p:nvPr/>
          </p:nvGraphicFramePr>
          <p:xfrm>
            <a:off x="3691" y="1920"/>
            <a:ext cx="20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91" y="1920"/>
                          <a:ext cx="206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Oval 15"/>
            <p:cNvSpPr/>
            <p:nvPr/>
          </p:nvSpPr>
          <p:spPr>
            <a:xfrm>
              <a:off x="4839" y="1265"/>
              <a:ext cx="297" cy="327"/>
            </a:xfrm>
            <a:prstGeom prst="ellipse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20" name="Object 16"/>
            <p:cNvGraphicFramePr>
              <a:graphicFrameLocks noChangeAspect="1"/>
            </p:cNvGraphicFramePr>
            <p:nvPr/>
          </p:nvGraphicFramePr>
          <p:xfrm>
            <a:off x="4881" y="1265"/>
            <a:ext cx="20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3" imgW="165100" imgH="215900" progId="Equation.3">
                    <p:embed/>
                  </p:oleObj>
                </mc:Choice>
                <mc:Fallback>
                  <p:oleObj name="" r:id="rId13" imgW="165100" imgH="2159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81" y="1265"/>
                          <a:ext cx="20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17"/>
            <p:cNvSpPr/>
            <p:nvPr/>
          </p:nvSpPr>
          <p:spPr>
            <a:xfrm flipV="1">
              <a:off x="873" y="773"/>
              <a:ext cx="744" cy="6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0" name="Line 18"/>
            <p:cNvSpPr/>
            <p:nvPr/>
          </p:nvSpPr>
          <p:spPr>
            <a:xfrm>
              <a:off x="873" y="1374"/>
              <a:ext cx="744" cy="5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1" name="Line 19"/>
            <p:cNvSpPr/>
            <p:nvPr/>
          </p:nvSpPr>
          <p:spPr>
            <a:xfrm>
              <a:off x="1766" y="828"/>
              <a:ext cx="0" cy="10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3332" name="Line 20"/>
            <p:cNvSpPr/>
            <p:nvPr/>
          </p:nvSpPr>
          <p:spPr>
            <a:xfrm>
              <a:off x="1914" y="664"/>
              <a:ext cx="17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3" name="Line 21"/>
            <p:cNvSpPr/>
            <p:nvPr/>
          </p:nvSpPr>
          <p:spPr>
            <a:xfrm>
              <a:off x="1914" y="2084"/>
              <a:ext cx="17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4" name="Line 22"/>
            <p:cNvSpPr/>
            <p:nvPr/>
          </p:nvSpPr>
          <p:spPr>
            <a:xfrm>
              <a:off x="1914" y="718"/>
              <a:ext cx="793" cy="6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5" name="Line 23"/>
            <p:cNvSpPr/>
            <p:nvPr/>
          </p:nvSpPr>
          <p:spPr>
            <a:xfrm flipV="1">
              <a:off x="1865" y="1538"/>
              <a:ext cx="793" cy="3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6" name="Line 24"/>
            <p:cNvSpPr/>
            <p:nvPr/>
          </p:nvSpPr>
          <p:spPr>
            <a:xfrm>
              <a:off x="2955" y="1429"/>
              <a:ext cx="18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7" name="Line 25"/>
            <p:cNvSpPr/>
            <p:nvPr/>
          </p:nvSpPr>
          <p:spPr>
            <a:xfrm>
              <a:off x="3946" y="718"/>
              <a:ext cx="942" cy="6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8" name="Line 26"/>
            <p:cNvSpPr/>
            <p:nvPr/>
          </p:nvSpPr>
          <p:spPr>
            <a:xfrm flipV="1">
              <a:off x="3946" y="1592"/>
              <a:ext cx="942" cy="4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9" name="Line 27"/>
            <p:cNvSpPr/>
            <p:nvPr/>
          </p:nvSpPr>
          <p:spPr>
            <a:xfrm flipV="1">
              <a:off x="2955" y="828"/>
              <a:ext cx="744" cy="5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40" name="Line 28"/>
            <p:cNvSpPr/>
            <p:nvPr/>
          </p:nvSpPr>
          <p:spPr>
            <a:xfrm>
              <a:off x="2955" y="1538"/>
              <a:ext cx="744" cy="4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41" name="Text Box 29"/>
            <p:cNvSpPr txBox="1"/>
            <p:nvPr/>
          </p:nvSpPr>
          <p:spPr>
            <a:xfrm>
              <a:off x="873" y="773"/>
              <a:ext cx="5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 13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2" name="Text Box 30"/>
            <p:cNvSpPr txBox="1"/>
            <p:nvPr/>
          </p:nvSpPr>
          <p:spPr>
            <a:xfrm>
              <a:off x="975" y="1636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3" name="Text Box 31"/>
            <p:cNvSpPr txBox="1"/>
            <p:nvPr/>
          </p:nvSpPr>
          <p:spPr>
            <a:xfrm>
              <a:off x="1319" y="1155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4" name="Text Box 32"/>
            <p:cNvSpPr txBox="1"/>
            <p:nvPr/>
          </p:nvSpPr>
          <p:spPr>
            <a:xfrm>
              <a:off x="2559" y="336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5" name="Text Box 33"/>
            <p:cNvSpPr txBox="1"/>
            <p:nvPr/>
          </p:nvSpPr>
          <p:spPr>
            <a:xfrm>
              <a:off x="2162" y="718"/>
              <a:ext cx="3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6(3)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6" name="Text Box 34"/>
            <p:cNvSpPr txBox="1"/>
            <p:nvPr/>
          </p:nvSpPr>
          <p:spPr>
            <a:xfrm>
              <a:off x="1964" y="1429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7" name="Text Box 35"/>
            <p:cNvSpPr txBox="1"/>
            <p:nvPr/>
          </p:nvSpPr>
          <p:spPr>
            <a:xfrm>
              <a:off x="2955" y="828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8" name="Text Box 36"/>
            <p:cNvSpPr txBox="1"/>
            <p:nvPr/>
          </p:nvSpPr>
          <p:spPr>
            <a:xfrm>
              <a:off x="2559" y="1756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5 (0)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49" name="Text Box 37"/>
            <p:cNvSpPr txBox="1"/>
            <p:nvPr/>
          </p:nvSpPr>
          <p:spPr>
            <a:xfrm>
              <a:off x="3649" y="1155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(2)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50" name="Text Box 38"/>
            <p:cNvSpPr txBox="1"/>
            <p:nvPr/>
          </p:nvSpPr>
          <p:spPr>
            <a:xfrm>
              <a:off x="3352" y="1483"/>
              <a:ext cx="42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4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51" name="Text Box 39"/>
            <p:cNvSpPr txBox="1"/>
            <p:nvPr/>
          </p:nvSpPr>
          <p:spPr>
            <a:xfrm>
              <a:off x="4293" y="664"/>
              <a:ext cx="4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9 (5)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52" name="Text Box 40"/>
            <p:cNvSpPr txBox="1"/>
            <p:nvPr/>
          </p:nvSpPr>
          <p:spPr>
            <a:xfrm>
              <a:off x="4393" y="1866"/>
              <a:ext cx="50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latin typeface="Times New Roman" panose="02020603050405020304" pitchFamily="18" charset="0"/>
                </a:rPr>
                <a:t>10 (1)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5" name="Oval 3"/>
          <p:cNvSpPr/>
          <p:nvPr/>
        </p:nvSpPr>
        <p:spPr>
          <a:xfrm>
            <a:off x="2643188" y="1555750"/>
            <a:ext cx="471487" cy="5207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2720975" y="1555750"/>
          <a:ext cx="327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65100" imgH="215900" progId="Equation.3">
                  <p:embed/>
                </p:oleObj>
              </mc:Choice>
              <mc:Fallback>
                <p:oleObj name="" r:id="rId1" imgW="165100" imgH="215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20975" y="1555750"/>
                        <a:ext cx="3270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Oval 5"/>
          <p:cNvSpPr/>
          <p:nvPr/>
        </p:nvSpPr>
        <p:spPr>
          <a:xfrm>
            <a:off x="990600" y="2682875"/>
            <a:ext cx="471488" cy="5207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1069975" y="2682875"/>
          <a:ext cx="3016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9975" y="2682875"/>
                        <a:ext cx="3016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Oval 7"/>
          <p:cNvSpPr/>
          <p:nvPr/>
        </p:nvSpPr>
        <p:spPr>
          <a:xfrm>
            <a:off x="2643188" y="3724275"/>
            <a:ext cx="471487" cy="51911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0" name="Object 8"/>
          <p:cNvGraphicFramePr>
            <a:graphicFrameLocks noChangeAspect="1"/>
          </p:cNvGraphicFramePr>
          <p:nvPr/>
        </p:nvGraphicFramePr>
        <p:xfrm>
          <a:off x="2709863" y="3711575"/>
          <a:ext cx="3270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165100" imgH="228600" progId="Equation.3">
                  <p:embed/>
                </p:oleObj>
              </mc:Choice>
              <mc:Fallback>
                <p:oleObj name="" r:id="rId5" imgW="1651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9863" y="3711575"/>
                        <a:ext cx="327025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Oval 9"/>
          <p:cNvSpPr/>
          <p:nvPr/>
        </p:nvSpPr>
        <p:spPr>
          <a:xfrm>
            <a:off x="4295775" y="2770188"/>
            <a:ext cx="471488" cy="51911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1" name="Object 10"/>
          <p:cNvGraphicFramePr>
            <a:graphicFrameLocks noChangeAspect="1"/>
          </p:cNvGraphicFramePr>
          <p:nvPr/>
        </p:nvGraphicFramePr>
        <p:xfrm>
          <a:off x="4362450" y="2770188"/>
          <a:ext cx="327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165100" imgH="215900" progId="Equation.3">
                  <p:embed/>
                </p:oleObj>
              </mc:Choice>
              <mc:Fallback>
                <p:oleObj name="" r:id="rId7" imgW="165100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2450" y="2770188"/>
                        <a:ext cx="3270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Oval 11"/>
          <p:cNvSpPr/>
          <p:nvPr/>
        </p:nvSpPr>
        <p:spPr>
          <a:xfrm>
            <a:off x="5868988" y="1568450"/>
            <a:ext cx="471487" cy="5207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2" name="Object 12"/>
          <p:cNvGraphicFramePr>
            <a:graphicFrameLocks noChangeAspect="1"/>
          </p:cNvGraphicFramePr>
          <p:nvPr/>
        </p:nvGraphicFramePr>
        <p:xfrm>
          <a:off x="5935663" y="1555750"/>
          <a:ext cx="3270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9" imgW="165100" imgH="228600" progId="Equation.3">
                  <p:embed/>
                </p:oleObj>
              </mc:Choice>
              <mc:Fallback>
                <p:oleObj name="" r:id="rId9" imgW="165100" imgH="228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35663" y="1555750"/>
                        <a:ext cx="327025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Oval 13"/>
          <p:cNvSpPr/>
          <p:nvPr/>
        </p:nvSpPr>
        <p:spPr>
          <a:xfrm>
            <a:off x="5868988" y="3822700"/>
            <a:ext cx="471487" cy="5207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3" name="Object 14"/>
          <p:cNvGraphicFramePr>
            <a:graphicFrameLocks noChangeAspect="1"/>
          </p:cNvGraphicFramePr>
          <p:nvPr/>
        </p:nvGraphicFramePr>
        <p:xfrm>
          <a:off x="5935663" y="3810000"/>
          <a:ext cx="3270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1" imgW="165100" imgH="228600" progId="Equation.3">
                  <p:embed/>
                </p:oleObj>
              </mc:Choice>
              <mc:Fallback>
                <p:oleObj name="" r:id="rId11" imgW="165100" imgH="228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35663" y="3810000"/>
                        <a:ext cx="327025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Oval 15"/>
          <p:cNvSpPr/>
          <p:nvPr/>
        </p:nvSpPr>
        <p:spPr>
          <a:xfrm>
            <a:off x="7758113" y="2770188"/>
            <a:ext cx="471487" cy="51911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4" name="Object 16"/>
          <p:cNvGraphicFramePr>
            <a:graphicFrameLocks noChangeAspect="1"/>
          </p:cNvGraphicFramePr>
          <p:nvPr/>
        </p:nvGraphicFramePr>
        <p:xfrm>
          <a:off x="7824788" y="2770188"/>
          <a:ext cx="3254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3" imgW="165100" imgH="215900" progId="Equation.3">
                  <p:embed/>
                </p:oleObj>
              </mc:Choice>
              <mc:Fallback>
                <p:oleObj name="" r:id="rId13" imgW="165100" imgH="2159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24788" y="2770188"/>
                        <a:ext cx="325437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Line 17"/>
          <p:cNvSpPr/>
          <p:nvPr/>
        </p:nvSpPr>
        <p:spPr>
          <a:xfrm flipV="1">
            <a:off x="1462088" y="1989138"/>
            <a:ext cx="1181100" cy="9540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3" name="Line 18"/>
          <p:cNvSpPr/>
          <p:nvPr/>
        </p:nvSpPr>
        <p:spPr>
          <a:xfrm>
            <a:off x="1462088" y="2943225"/>
            <a:ext cx="1181100" cy="866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4" name="Line 19"/>
          <p:cNvSpPr/>
          <p:nvPr/>
        </p:nvSpPr>
        <p:spPr>
          <a:xfrm>
            <a:off x="2879725" y="2076450"/>
            <a:ext cx="0" cy="1647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4355" name="Line 20"/>
          <p:cNvSpPr/>
          <p:nvPr/>
        </p:nvSpPr>
        <p:spPr>
          <a:xfrm>
            <a:off x="3114675" y="1816100"/>
            <a:ext cx="27543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6" name="Line 21"/>
          <p:cNvSpPr/>
          <p:nvPr/>
        </p:nvSpPr>
        <p:spPr>
          <a:xfrm>
            <a:off x="3114675" y="4070350"/>
            <a:ext cx="27543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7" name="Line 22"/>
          <p:cNvSpPr/>
          <p:nvPr/>
        </p:nvSpPr>
        <p:spPr>
          <a:xfrm>
            <a:off x="3114675" y="1901825"/>
            <a:ext cx="1258888" cy="9540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8" name="Line 23"/>
          <p:cNvSpPr/>
          <p:nvPr/>
        </p:nvSpPr>
        <p:spPr>
          <a:xfrm flipV="1">
            <a:off x="3036888" y="3203575"/>
            <a:ext cx="1258887" cy="606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59" name="Line 24"/>
          <p:cNvSpPr/>
          <p:nvPr/>
        </p:nvSpPr>
        <p:spPr>
          <a:xfrm>
            <a:off x="4767263" y="3030538"/>
            <a:ext cx="2990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60" name="Line 25"/>
          <p:cNvSpPr/>
          <p:nvPr/>
        </p:nvSpPr>
        <p:spPr>
          <a:xfrm>
            <a:off x="6340475" y="1901825"/>
            <a:ext cx="1495425" cy="9540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61" name="Line 26"/>
          <p:cNvSpPr/>
          <p:nvPr/>
        </p:nvSpPr>
        <p:spPr>
          <a:xfrm flipV="1">
            <a:off x="6340475" y="3289300"/>
            <a:ext cx="1495425" cy="781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62" name="Line 27"/>
          <p:cNvSpPr/>
          <p:nvPr/>
        </p:nvSpPr>
        <p:spPr>
          <a:xfrm flipV="1">
            <a:off x="4767263" y="2076450"/>
            <a:ext cx="1181100" cy="866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63" name="Line 28"/>
          <p:cNvSpPr/>
          <p:nvPr/>
        </p:nvSpPr>
        <p:spPr>
          <a:xfrm>
            <a:off x="4767263" y="3203575"/>
            <a:ext cx="1181100" cy="693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64" name="Text Box 29"/>
          <p:cNvSpPr txBox="1"/>
          <p:nvPr/>
        </p:nvSpPr>
        <p:spPr>
          <a:xfrm>
            <a:off x="1295400" y="1989138"/>
            <a:ext cx="9874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 13 (11)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65" name="Text Box 30"/>
          <p:cNvSpPr txBox="1"/>
          <p:nvPr/>
        </p:nvSpPr>
        <p:spPr>
          <a:xfrm>
            <a:off x="1524000" y="3359150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9 (9)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66" name="Text Box 31"/>
          <p:cNvSpPr txBox="1"/>
          <p:nvPr/>
        </p:nvSpPr>
        <p:spPr>
          <a:xfrm>
            <a:off x="2170113" y="2595563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4 (0)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67" name="Text Box 32"/>
          <p:cNvSpPr txBox="1"/>
          <p:nvPr/>
        </p:nvSpPr>
        <p:spPr>
          <a:xfrm>
            <a:off x="4206875" y="1431925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5 (5)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68" name="Text Box 33"/>
          <p:cNvSpPr txBox="1"/>
          <p:nvPr/>
        </p:nvSpPr>
        <p:spPr>
          <a:xfrm>
            <a:off x="3508375" y="1901825"/>
            <a:ext cx="6064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6(6)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69" name="Text Box 34"/>
          <p:cNvSpPr txBox="1"/>
          <p:nvPr/>
        </p:nvSpPr>
        <p:spPr>
          <a:xfrm>
            <a:off x="3194050" y="3030538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5 (5)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0" name="Text Box 35"/>
          <p:cNvSpPr txBox="1"/>
          <p:nvPr/>
        </p:nvSpPr>
        <p:spPr>
          <a:xfrm>
            <a:off x="4767263" y="2076450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5 (4)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1" name="Text Box 36"/>
          <p:cNvSpPr txBox="1"/>
          <p:nvPr/>
        </p:nvSpPr>
        <p:spPr>
          <a:xfrm>
            <a:off x="4138613" y="3641725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5 (4)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2" name="Text Box 37"/>
          <p:cNvSpPr txBox="1"/>
          <p:nvPr/>
        </p:nvSpPr>
        <p:spPr>
          <a:xfrm>
            <a:off x="5868988" y="2595563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4 (4)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3" name="Text Box 38"/>
          <p:cNvSpPr txBox="1"/>
          <p:nvPr/>
        </p:nvSpPr>
        <p:spPr>
          <a:xfrm>
            <a:off x="5257800" y="3200400"/>
            <a:ext cx="669925" cy="395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4 (3)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4" name="Text Box 39"/>
          <p:cNvSpPr txBox="1"/>
          <p:nvPr/>
        </p:nvSpPr>
        <p:spPr>
          <a:xfrm>
            <a:off x="6891338" y="1889125"/>
            <a:ext cx="669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9 (9)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5" name="Text Box 40"/>
          <p:cNvSpPr txBox="1"/>
          <p:nvPr/>
        </p:nvSpPr>
        <p:spPr>
          <a:xfrm>
            <a:off x="6934200" y="3657600"/>
            <a:ext cx="796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</a:rPr>
              <a:t>10 (7)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376" name="Freeform 41"/>
          <p:cNvSpPr/>
          <p:nvPr/>
        </p:nvSpPr>
        <p:spPr>
          <a:xfrm>
            <a:off x="685800" y="990600"/>
            <a:ext cx="2971800" cy="2514600"/>
          </a:xfrm>
          <a:custGeom>
            <a:avLst/>
            <a:gdLst>
              <a:gd name="txL" fmla="*/ 0 w 1920"/>
              <a:gd name="txT" fmla="*/ 0 h 1680"/>
              <a:gd name="txR" fmla="*/ 1920 w 1920"/>
              <a:gd name="txB" fmla="*/ 1680 h 168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920" h="1680">
                <a:moveTo>
                  <a:pt x="1920" y="0"/>
                </a:moveTo>
                <a:cubicBezTo>
                  <a:pt x="1860" y="428"/>
                  <a:pt x="1800" y="856"/>
                  <a:pt x="1632" y="1104"/>
                </a:cubicBezTo>
                <a:cubicBezTo>
                  <a:pt x="1464" y="1352"/>
                  <a:pt x="1184" y="1392"/>
                  <a:pt x="912" y="1488"/>
                </a:cubicBezTo>
                <a:cubicBezTo>
                  <a:pt x="640" y="1584"/>
                  <a:pt x="152" y="1648"/>
                  <a:pt x="0" y="168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77" name="Text Box 42"/>
          <p:cNvSpPr txBox="1"/>
          <p:nvPr/>
        </p:nvSpPr>
        <p:spPr>
          <a:xfrm>
            <a:off x="914400" y="1143000"/>
            <a:ext cx="1082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截集1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78" name="Text Box 43"/>
          <p:cNvSpPr txBox="1"/>
          <p:nvPr/>
        </p:nvSpPr>
        <p:spPr>
          <a:xfrm>
            <a:off x="5181600" y="4495800"/>
            <a:ext cx="1082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截集2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79" name="Text Box 44"/>
          <p:cNvSpPr txBox="1"/>
          <p:nvPr/>
        </p:nvSpPr>
        <p:spPr>
          <a:xfrm>
            <a:off x="2209800" y="541020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最小截量为：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9+6+5=20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68" name="Group 1052"/>
          <p:cNvGrpSpPr/>
          <p:nvPr/>
        </p:nvGrpSpPr>
        <p:grpSpPr>
          <a:xfrm>
            <a:off x="363538" y="152400"/>
            <a:ext cx="8323262" cy="6324600"/>
            <a:chOff x="229" y="96"/>
            <a:chExt cx="5243" cy="3984"/>
          </a:xfrm>
        </p:grpSpPr>
        <p:sp>
          <p:nvSpPr>
            <p:cNvPr id="15369" name="Rectangle 1026"/>
            <p:cNvSpPr/>
            <p:nvPr/>
          </p:nvSpPr>
          <p:spPr>
            <a:xfrm>
              <a:off x="1104" y="96"/>
              <a:ext cx="37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eaLnBrk="1" hangingPunct="1"/>
              <a:r>
                <a:rPr lang="zh-CN" altLang="en-US" sz="3200" b="1" dirty="0">
                  <a:latin typeface="Times New Roman" panose="02020603050405020304" pitchFamily="18" charset="0"/>
                </a:rPr>
                <a:t>第五节  最小费用最大流问题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5370" name="Rectangle 1036"/>
            <p:cNvSpPr/>
            <p:nvPr/>
          </p:nvSpPr>
          <p:spPr>
            <a:xfrm>
              <a:off x="384" y="432"/>
              <a:ext cx="5088" cy="1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eaLnBrk="1" hangingPunct="1"/>
              <a:r>
                <a:rPr lang="zh-CN" altLang="en-US" sz="3200" b="1" dirty="0">
                  <a:latin typeface="Times New Roman" panose="02020603050405020304" pitchFamily="18" charset="0"/>
                </a:rPr>
                <a:t>定义8.17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 已知网络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G =（V，E，C，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），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是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G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上的一个可行流， 为一条从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到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的增广链，                                  </a:t>
              </a:r>
              <a:endParaRPr lang="en-US" altLang="zh-CN" sz="32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                          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称为链的费用。</a:t>
              </a:r>
              <a:endParaRPr lang="zh-CN" altLang="en-US" sz="3200" dirty="0">
                <a:latin typeface="Times New Roman" panose="02020603050405020304" pitchFamily="18" charset="0"/>
              </a:endParaRPr>
            </a:p>
            <a:p>
              <a:pPr algn="just"/>
              <a:r>
                <a:rPr lang="zh-CN" altLang="en-US" sz="3200" dirty="0">
                  <a:latin typeface="Times New Roman" panose="02020603050405020304" pitchFamily="18" charset="0"/>
                </a:rPr>
                <a:t>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2" name="Object 1037"/>
            <p:cNvGraphicFramePr>
              <a:graphicFrameLocks noChangeAspect="1"/>
            </p:cNvGraphicFramePr>
            <p:nvPr/>
          </p:nvGraphicFramePr>
          <p:xfrm>
            <a:off x="2592" y="864"/>
            <a:ext cx="19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" imgW="152400" imgH="165100" progId="Equation.3">
                    <p:embed/>
                  </p:oleObj>
                </mc:Choice>
                <mc:Fallback>
                  <p:oleObj name="" r:id="rId1" imgW="152400" imgH="1651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92" y="864"/>
                          <a:ext cx="192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3" name="Object 1038"/>
            <p:cNvGraphicFramePr>
              <a:graphicFrameLocks noChangeAspect="1"/>
            </p:cNvGraphicFramePr>
            <p:nvPr/>
          </p:nvGraphicFramePr>
          <p:xfrm>
            <a:off x="491" y="1080"/>
            <a:ext cx="1759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3" imgW="1397000" imgH="368300" progId="Equation.3">
                    <p:embed/>
                  </p:oleObj>
                </mc:Choice>
                <mc:Fallback>
                  <p:oleObj name="" r:id="rId3" imgW="1397000" imgH="3683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1" y="1080"/>
                          <a:ext cx="1759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1" name="Rectangle 1046"/>
            <p:cNvSpPr/>
            <p:nvPr/>
          </p:nvSpPr>
          <p:spPr>
            <a:xfrm>
              <a:off x="240" y="1505"/>
              <a:ext cx="5232" cy="25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Times New Roman" panose="02020603050405020304" pitchFamily="18" charset="0"/>
                </a:rPr>
                <a:t>若   </a:t>
              </a:r>
              <a:r>
                <a:rPr lang="zh-CN" altLang="en-US" sz="3200" baseline="30000" dirty="0">
                  <a:latin typeface="Times New Roman" panose="02020603050405020304" pitchFamily="18" charset="0"/>
                </a:rPr>
                <a:t>*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 是从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到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25000" dirty="0">
                  <a:latin typeface="Times New Roman" panose="02020603050405020304" pitchFamily="18" charset="0"/>
                </a:rPr>
                <a:t>t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的增广链中费用最小的增广链，则称   </a:t>
              </a:r>
              <a:r>
                <a:rPr lang="zh-CN" altLang="en-US" sz="3200" baseline="30000" dirty="0">
                  <a:latin typeface="Times New Roman" panose="02020603050405020304" pitchFamily="18" charset="0"/>
                </a:rPr>
                <a:t>*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 是最小费用增广链。</a:t>
              </a:r>
              <a:endParaRPr lang="zh-CN" altLang="en-US" sz="3200" dirty="0">
                <a:latin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结论：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如果可行流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在流量为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的所有可行流中的费用最小，并且   </a:t>
              </a:r>
              <a:r>
                <a:rPr lang="zh-CN" altLang="en-US" sz="3200" baseline="30000" dirty="0">
                  <a:latin typeface="Times New Roman" panose="02020603050405020304" pitchFamily="18" charset="0"/>
                </a:rPr>
                <a:t>*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是关于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的所有增广链中的费用最小的增广链，那么沿增广链        </a:t>
              </a:r>
              <a:endParaRPr lang="zh-CN" altLang="en-US" sz="3200" dirty="0">
                <a:latin typeface="Times New Roman" panose="02020603050405020304" pitchFamily="18" charset="0"/>
              </a:endParaRPr>
            </a:p>
            <a:p>
              <a:r>
                <a:rPr lang="zh-CN" altLang="en-US" sz="3200" baseline="30000" dirty="0">
                  <a:latin typeface="Times New Roman" panose="02020603050405020304" pitchFamily="18" charset="0"/>
                </a:rPr>
                <a:t>  *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调整可行流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得到的新可行流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3200" i="1" baseline="30000" dirty="0">
                  <a:latin typeface="Times New Roman" panose="02020603050405020304" pitchFamily="18" charset="0"/>
                </a:rPr>
                <a:t>*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也是流量为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3200" i="1" baseline="30000" dirty="0">
                  <a:latin typeface="Times New Roman" panose="02020603050405020304" pitchFamily="18" charset="0"/>
                </a:rPr>
                <a:t>*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的所有可行流中的最小费用流。当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3200" baseline="30000" dirty="0">
                  <a:latin typeface="Times New Roman" panose="02020603050405020304" pitchFamily="18" charset="0"/>
                </a:rPr>
                <a:t>*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是最大流时，就是最小费用最大流。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4" name="Object 1047"/>
            <p:cNvGraphicFramePr>
              <a:graphicFrameLocks noChangeAspect="1"/>
            </p:cNvGraphicFramePr>
            <p:nvPr/>
          </p:nvGraphicFramePr>
          <p:xfrm>
            <a:off x="565" y="1601"/>
            <a:ext cx="20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5" imgW="152400" imgH="165100" progId="Equation.3">
                    <p:embed/>
                  </p:oleObj>
                </mc:Choice>
                <mc:Fallback>
                  <p:oleObj name="" r:id="rId5" imgW="152400" imgH="1651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65" y="1601"/>
                          <a:ext cx="20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Object 1048"/>
            <p:cNvGraphicFramePr>
              <a:graphicFrameLocks noChangeAspect="1"/>
            </p:cNvGraphicFramePr>
            <p:nvPr/>
          </p:nvGraphicFramePr>
          <p:xfrm>
            <a:off x="1093" y="1921"/>
            <a:ext cx="20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6" imgW="152400" imgH="165100" progId="Equation.3">
                    <p:embed/>
                  </p:oleObj>
                </mc:Choice>
                <mc:Fallback>
                  <p:oleObj name="" r:id="rId6" imgW="152400" imgH="1651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93" y="1921"/>
                          <a:ext cx="20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1049"/>
            <p:cNvGraphicFramePr>
              <a:graphicFrameLocks noChangeAspect="1"/>
            </p:cNvGraphicFramePr>
            <p:nvPr/>
          </p:nvGraphicFramePr>
          <p:xfrm>
            <a:off x="2832" y="2592"/>
            <a:ext cx="20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7" imgW="152400" imgH="165100" progId="Equation.3">
                    <p:embed/>
                  </p:oleObj>
                </mc:Choice>
                <mc:Fallback>
                  <p:oleObj name="" r:id="rId7" imgW="152400" imgH="1651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32" y="2592"/>
                          <a:ext cx="20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1050"/>
            <p:cNvGraphicFramePr>
              <a:graphicFrameLocks noChangeAspect="1"/>
            </p:cNvGraphicFramePr>
            <p:nvPr/>
          </p:nvGraphicFramePr>
          <p:xfrm>
            <a:off x="229" y="3216"/>
            <a:ext cx="20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8" imgW="152400" imgH="165100" progId="Equation.3">
                    <p:embed/>
                  </p:oleObj>
                </mc:Choice>
                <mc:Fallback>
                  <p:oleObj name="" r:id="rId8" imgW="152400" imgH="1651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9" y="3216"/>
                          <a:ext cx="20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389" name="Group 35"/>
          <p:cNvGrpSpPr/>
          <p:nvPr/>
        </p:nvGrpSpPr>
        <p:grpSpPr>
          <a:xfrm>
            <a:off x="609600" y="304800"/>
            <a:ext cx="8229600" cy="6070600"/>
            <a:chOff x="384" y="288"/>
            <a:chExt cx="5184" cy="3824"/>
          </a:xfrm>
        </p:grpSpPr>
        <p:sp>
          <p:nvSpPr>
            <p:cNvPr id="16390" name="Rectangle 31"/>
            <p:cNvSpPr/>
            <p:nvPr/>
          </p:nvSpPr>
          <p:spPr>
            <a:xfrm>
              <a:off x="384" y="288"/>
              <a:ext cx="5184" cy="382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 eaLnBrk="1" hangingPunct="1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寻找关于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的最小费用增广链：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defTabSz="914400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      构造一个关于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的赋权有向图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L(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，其顶点是原网络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的顶点，而将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中的每一条弧 (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, 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变成两个相反方向的弧（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）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和(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)，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并且定义图中弧的权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ij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为：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just" defTabSz="914400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1.当                    ，令   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just" defTabSz="914400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just" defTabSz="914400">
                <a:tabLst>
                  <a:tab pos="527050" algn="l"/>
                </a:tabLst>
              </a:pP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defTabSz="914400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2.当（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）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为原来网络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中（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）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的反向弧，令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defTabSz="914400">
                <a:tabLst>
                  <a:tab pos="527050" algn="l"/>
                </a:tabLst>
              </a:pP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defTabSz="914400">
                <a:tabLst>
                  <a:tab pos="527050" algn="l"/>
                </a:tabLst>
              </a:pP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defTabSz="914400">
                <a:tabLst>
                  <a:tab pos="527050" algn="l"/>
                </a:tabLst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   在网络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中寻找关于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的最小费用增广链等价于在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L(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中寻求从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到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的最短路。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86" name="Object 32"/>
            <p:cNvGraphicFramePr>
              <a:graphicFrameLocks noChangeAspect="1"/>
            </p:cNvGraphicFramePr>
            <p:nvPr/>
          </p:nvGraphicFramePr>
          <p:xfrm>
            <a:off x="2640" y="1680"/>
            <a:ext cx="1935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" imgW="1536065" imgH="533400" progId="Equation.3">
                    <p:embed/>
                  </p:oleObj>
                </mc:Choice>
                <mc:Fallback>
                  <p:oleObj name="" r:id="rId1" imgW="1536065" imgH="5334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40" y="1680"/>
                          <a:ext cx="1935" cy="6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" name="Object 33"/>
            <p:cNvGraphicFramePr>
              <a:graphicFrameLocks noChangeAspect="1"/>
            </p:cNvGraphicFramePr>
            <p:nvPr/>
          </p:nvGraphicFramePr>
          <p:xfrm>
            <a:off x="1488" y="2784"/>
            <a:ext cx="1903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" imgW="1511300" imgH="533400" progId="Equation.3">
                    <p:embed/>
                  </p:oleObj>
                </mc:Choice>
                <mc:Fallback>
                  <p:oleObj name="" r:id="rId3" imgW="1511300" imgH="5334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88" y="2784"/>
                          <a:ext cx="1903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" name="Object 34"/>
            <p:cNvGraphicFramePr>
              <a:graphicFrameLocks noChangeAspect="1"/>
            </p:cNvGraphicFramePr>
            <p:nvPr/>
          </p:nvGraphicFramePr>
          <p:xfrm>
            <a:off x="912" y="1712"/>
            <a:ext cx="94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5" imgW="748665" imgH="241300" progId="Equation.3">
                    <p:embed/>
                  </p:oleObj>
                </mc:Choice>
                <mc:Fallback>
                  <p:oleObj name="" r:id="rId5" imgW="748665" imgH="2413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12" y="1712"/>
                          <a:ext cx="943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26"/>
          <p:cNvSpPr/>
          <p:nvPr/>
        </p:nvSpPr>
        <p:spPr>
          <a:xfrm>
            <a:off x="381000" y="457200"/>
            <a:ext cx="8382000" cy="3935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步骤：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</a:rPr>
              <a:t>（1）取零流为初始可行流 ，</a:t>
            </a:r>
            <a:r>
              <a:rPr lang="en-US" altLang="zh-CN" sz="2800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</a:rPr>
              <a:t>(0) ={0}。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800" dirty="0">
                <a:latin typeface="Times New Roman" panose="02020603050405020304" pitchFamily="18" charset="0"/>
              </a:rPr>
              <a:t>（2）</a:t>
            </a:r>
            <a:r>
              <a:rPr lang="zh-CN" altLang="en-US" sz="2800" dirty="0">
                <a:latin typeface="Times New Roman" panose="02020603050405020304" pitchFamily="18" charset="0"/>
              </a:rPr>
              <a:t>一般地，如果在第</a:t>
            </a:r>
            <a:r>
              <a:rPr lang="en-US" altLang="zh-CN" sz="2800" dirty="0">
                <a:latin typeface="Times New Roman" panose="02020603050405020304" pitchFamily="18" charset="0"/>
              </a:rPr>
              <a:t>k-1</a:t>
            </a:r>
            <a:r>
              <a:rPr lang="zh-CN" altLang="en-US" sz="2800" dirty="0">
                <a:latin typeface="Times New Roman" panose="02020603050405020304" pitchFamily="18" charset="0"/>
              </a:rPr>
              <a:t>步得到最小费用流 </a:t>
            </a:r>
            <a:r>
              <a:rPr lang="en-US" altLang="zh-CN" sz="2800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-1)</a:t>
            </a:r>
            <a:r>
              <a:rPr lang="zh-CN" altLang="en-US" sz="2800" dirty="0">
                <a:latin typeface="Times New Roman" panose="02020603050405020304" pitchFamily="18" charset="0"/>
              </a:rPr>
              <a:t>，则构造图 </a:t>
            </a:r>
            <a:r>
              <a:rPr lang="en-US" altLang="zh-CN" sz="2800" dirty="0">
                <a:latin typeface="Times New Roman" panose="02020603050405020304" pitchFamily="18" charset="0"/>
              </a:rPr>
              <a:t>L( </a:t>
            </a:r>
            <a:r>
              <a:rPr lang="en-US" altLang="zh-CN" sz="2800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-1)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)。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800" dirty="0">
                <a:latin typeface="Times New Roman" panose="02020603050405020304" pitchFamily="18" charset="0"/>
              </a:rPr>
              <a:t>（3）</a:t>
            </a:r>
            <a:r>
              <a:rPr lang="zh-CN" altLang="en-US" sz="2800" dirty="0">
                <a:latin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</a:rPr>
              <a:t>L( </a:t>
            </a:r>
            <a:r>
              <a:rPr lang="en-US" altLang="zh-CN" sz="2800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-1)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中，寻求从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</a:rPr>
              <a:t>到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</a:rPr>
              <a:t>的最短路。若不存在最短路，则</a:t>
            </a:r>
            <a:r>
              <a:rPr lang="en-US" altLang="zh-CN" sz="2800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-1)</a:t>
            </a:r>
            <a:r>
              <a:rPr lang="zh-CN" altLang="en-US" sz="2800" dirty="0">
                <a:latin typeface="Times New Roman" panose="02020603050405020304" pitchFamily="18" charset="0"/>
              </a:rPr>
              <a:t>就是最小费用最大流；否则转(4)。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latin typeface="Times New Roman" panose="02020603050405020304" pitchFamily="18" charset="0"/>
              </a:rPr>
              <a:t>（4）如果存在最短路，则在可行流</a:t>
            </a:r>
            <a:r>
              <a:rPr lang="en-US" altLang="zh-CN" sz="2800" i="1" dirty="0">
                <a:latin typeface="Times New Roman" panose="02020603050405020304" pitchFamily="18" charset="0"/>
              </a:rPr>
              <a:t>f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－1)</a:t>
            </a:r>
            <a:r>
              <a:rPr lang="zh-CN" altLang="en-US" sz="2800" dirty="0">
                <a:latin typeface="Times New Roman" panose="02020603050405020304" pitchFamily="18" charset="0"/>
              </a:rPr>
              <a:t>的图中得到与此最短路相对应的增广链，在增广链上，对</a:t>
            </a:r>
            <a:r>
              <a:rPr lang="en-US" altLang="zh-CN" sz="2800" i="1" dirty="0">
                <a:latin typeface="Times New Roman" panose="02020603050405020304" pitchFamily="18" charset="0"/>
              </a:rPr>
              <a:t>f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－1)</a:t>
            </a:r>
            <a:r>
              <a:rPr lang="zh-CN" altLang="en-US" sz="2800" dirty="0">
                <a:latin typeface="Times New Roman" panose="02020603050405020304" pitchFamily="18" charset="0"/>
              </a:rPr>
              <a:t>进行调整，调整量为：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10" name="Object 28"/>
          <p:cNvGraphicFramePr>
            <a:graphicFrameLocks noChangeAspect="1"/>
          </p:cNvGraphicFramePr>
          <p:nvPr/>
        </p:nvGraphicFramePr>
        <p:xfrm>
          <a:off x="2362200" y="4495800"/>
          <a:ext cx="50022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501900" imgH="431800" progId="Equation.3">
                  <p:embed/>
                </p:oleObj>
              </mc:Choice>
              <mc:Fallback>
                <p:oleObj name="" r:id="rId1" imgW="2501900" imgH="431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4495800"/>
                        <a:ext cx="5002213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9"/>
          <p:cNvGraphicFramePr>
            <a:graphicFrameLocks noChangeAspect="1"/>
          </p:cNvGraphicFramePr>
          <p:nvPr/>
        </p:nvGraphicFramePr>
        <p:xfrm>
          <a:off x="1905000" y="609600"/>
          <a:ext cx="43164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2159000" imgH="838200" progId="Equation.3">
                  <p:embed/>
                </p:oleObj>
              </mc:Choice>
              <mc:Fallback>
                <p:oleObj name="" r:id="rId1" imgW="2159000" imgH="838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609600"/>
                        <a:ext cx="4316413" cy="167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13"/>
          <p:cNvSpPr/>
          <p:nvPr/>
        </p:nvSpPr>
        <p:spPr>
          <a:xfrm>
            <a:off x="914400" y="5334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令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36" name="Rectangle 14"/>
          <p:cNvSpPr/>
          <p:nvPr/>
        </p:nvSpPr>
        <p:spPr>
          <a:xfrm>
            <a:off x="609600" y="2514600"/>
            <a:ext cx="82772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得到新可行流</a:t>
            </a:r>
            <a:r>
              <a:rPr lang="en-US" altLang="zh-CN" sz="2800" i="1" dirty="0">
                <a:latin typeface="Times New Roman" panose="02020603050405020304" pitchFamily="18" charset="0"/>
              </a:rPr>
              <a:t>f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 。对</a:t>
            </a:r>
            <a:r>
              <a:rPr lang="en-US" altLang="zh-CN" sz="2800" i="1" dirty="0">
                <a:latin typeface="Times New Roman" panose="02020603050405020304" pitchFamily="18" charset="0"/>
              </a:rPr>
              <a:t>f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重复上面步骤，返回（2）。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15"/>
          <p:cNvSpPr/>
          <p:nvPr/>
        </p:nvSpPr>
        <p:spPr>
          <a:xfrm>
            <a:off x="228600" y="32766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例8.11  </a:t>
            </a:r>
            <a:r>
              <a:rPr lang="zh-CN" altLang="en-US" sz="2800" dirty="0">
                <a:latin typeface="Times New Roman" panose="02020603050405020304" pitchFamily="18" charset="0"/>
              </a:rPr>
              <a:t>求网络的最小费用最大流，弧旁权是（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800" i="1" dirty="0">
                <a:latin typeface="Times New Roman" panose="02020603050405020304" pitchFamily="18" charset="0"/>
              </a:rPr>
              <a:t> , c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</a:rPr>
              <a:t>） 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8438" name="Group 51"/>
          <p:cNvGrpSpPr/>
          <p:nvPr/>
        </p:nvGrpSpPr>
        <p:grpSpPr>
          <a:xfrm>
            <a:off x="2270125" y="3808413"/>
            <a:ext cx="4422775" cy="2636837"/>
            <a:chOff x="1430" y="2399"/>
            <a:chExt cx="2786" cy="1661"/>
          </a:xfrm>
        </p:grpSpPr>
        <p:sp>
          <p:nvSpPr>
            <p:cNvPr id="18439" name="Line 18"/>
            <p:cNvSpPr>
              <a:spLocks noChangeAspect="1"/>
            </p:cNvSpPr>
            <p:nvPr/>
          </p:nvSpPr>
          <p:spPr>
            <a:xfrm>
              <a:off x="2482" y="2687"/>
              <a:ext cx="3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0" name="Line 20"/>
            <p:cNvSpPr>
              <a:spLocks noChangeAspect="1"/>
            </p:cNvSpPr>
            <p:nvPr/>
          </p:nvSpPr>
          <p:spPr>
            <a:xfrm>
              <a:off x="1992" y="3742"/>
              <a:ext cx="2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1" name="Line 21"/>
            <p:cNvSpPr>
              <a:spLocks noChangeAspect="1"/>
            </p:cNvSpPr>
            <p:nvPr/>
          </p:nvSpPr>
          <p:spPr>
            <a:xfrm>
              <a:off x="3094" y="3742"/>
              <a:ext cx="2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2" name="Line 22"/>
            <p:cNvSpPr>
              <a:spLocks noChangeAspect="1"/>
            </p:cNvSpPr>
            <p:nvPr/>
          </p:nvSpPr>
          <p:spPr>
            <a:xfrm flipV="1">
              <a:off x="1778" y="3062"/>
              <a:ext cx="245" cy="4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3" name="Line 24"/>
            <p:cNvSpPr>
              <a:spLocks noChangeAspect="1"/>
            </p:cNvSpPr>
            <p:nvPr/>
          </p:nvSpPr>
          <p:spPr>
            <a:xfrm flipH="1" flipV="1">
              <a:off x="2472" y="3215"/>
              <a:ext cx="83" cy="1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4" name="Line 26"/>
            <p:cNvSpPr>
              <a:spLocks noChangeAspect="1"/>
            </p:cNvSpPr>
            <p:nvPr/>
          </p:nvSpPr>
          <p:spPr>
            <a:xfrm flipV="1">
              <a:off x="3012" y="2928"/>
              <a:ext cx="84" cy="2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8445" name="Text Box 28"/>
            <p:cNvSpPr txBox="1">
              <a:spLocks noChangeAspect="1"/>
            </p:cNvSpPr>
            <p:nvPr/>
          </p:nvSpPr>
          <p:spPr>
            <a:xfrm>
              <a:off x="2892" y="3221"/>
              <a:ext cx="612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(3 ,2)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Line 32"/>
            <p:cNvSpPr>
              <a:spLocks noChangeAspect="1"/>
            </p:cNvSpPr>
            <p:nvPr/>
          </p:nvSpPr>
          <p:spPr>
            <a:xfrm>
              <a:off x="1625" y="3747"/>
              <a:ext cx="220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47" name="Line 33"/>
            <p:cNvSpPr>
              <a:spLocks noChangeAspect="1"/>
            </p:cNvSpPr>
            <p:nvPr/>
          </p:nvSpPr>
          <p:spPr>
            <a:xfrm>
              <a:off x="2237" y="2687"/>
              <a:ext cx="97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48" name="Line 34"/>
            <p:cNvSpPr>
              <a:spLocks noChangeAspect="1"/>
            </p:cNvSpPr>
            <p:nvPr/>
          </p:nvSpPr>
          <p:spPr>
            <a:xfrm>
              <a:off x="3216" y="2687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49" name="Line 35"/>
            <p:cNvSpPr>
              <a:spLocks noChangeAspect="1"/>
            </p:cNvSpPr>
            <p:nvPr/>
          </p:nvSpPr>
          <p:spPr>
            <a:xfrm flipH="1">
              <a:off x="1625" y="2687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50" name="Line 36"/>
            <p:cNvSpPr>
              <a:spLocks noChangeAspect="1"/>
            </p:cNvSpPr>
            <p:nvPr/>
          </p:nvSpPr>
          <p:spPr>
            <a:xfrm>
              <a:off x="2237" y="2687"/>
              <a:ext cx="490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51" name="Line 37"/>
            <p:cNvSpPr>
              <a:spLocks noChangeAspect="1"/>
            </p:cNvSpPr>
            <p:nvPr/>
          </p:nvSpPr>
          <p:spPr>
            <a:xfrm flipV="1">
              <a:off x="2727" y="2687"/>
              <a:ext cx="489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52" name="Text Box 38"/>
            <p:cNvSpPr txBox="1">
              <a:spLocks noChangeAspect="1"/>
            </p:cNvSpPr>
            <p:nvPr/>
          </p:nvSpPr>
          <p:spPr>
            <a:xfrm>
              <a:off x="1430" y="3617"/>
              <a:ext cx="49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3" name="Text Box 39"/>
            <p:cNvSpPr txBox="1">
              <a:spLocks noChangeAspect="1"/>
            </p:cNvSpPr>
            <p:nvPr/>
          </p:nvSpPr>
          <p:spPr>
            <a:xfrm>
              <a:off x="2631" y="3696"/>
              <a:ext cx="48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4" name="Text Box 40"/>
            <p:cNvSpPr txBox="1">
              <a:spLocks noChangeAspect="1"/>
            </p:cNvSpPr>
            <p:nvPr/>
          </p:nvSpPr>
          <p:spPr>
            <a:xfrm>
              <a:off x="2044" y="2399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5" name="Text Box 41"/>
            <p:cNvSpPr txBox="1">
              <a:spLocks noChangeAspect="1"/>
            </p:cNvSpPr>
            <p:nvPr/>
          </p:nvSpPr>
          <p:spPr>
            <a:xfrm>
              <a:off x="3849" y="3641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6" name="Text Box 42"/>
            <p:cNvSpPr txBox="1">
              <a:spLocks noChangeAspect="1"/>
            </p:cNvSpPr>
            <p:nvPr/>
          </p:nvSpPr>
          <p:spPr>
            <a:xfrm>
              <a:off x="3084" y="2409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7" name="Text Box 43"/>
            <p:cNvSpPr txBox="1">
              <a:spLocks noChangeAspect="1"/>
            </p:cNvSpPr>
            <p:nvPr/>
          </p:nvSpPr>
          <p:spPr>
            <a:xfrm>
              <a:off x="1860" y="3742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(1 ,4)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8" name="Text Box 44"/>
            <p:cNvSpPr txBox="1">
              <a:spLocks noChangeAspect="1"/>
            </p:cNvSpPr>
            <p:nvPr/>
          </p:nvSpPr>
          <p:spPr>
            <a:xfrm>
              <a:off x="3084" y="371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(6 ,7)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9" name="Text Box 45"/>
            <p:cNvSpPr txBox="1">
              <a:spLocks noChangeAspect="1"/>
            </p:cNvSpPr>
            <p:nvPr/>
          </p:nvSpPr>
          <p:spPr>
            <a:xfrm>
              <a:off x="1548" y="2899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(4 ,8)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0" name="Text Box 46"/>
            <p:cNvSpPr txBox="1">
              <a:spLocks noChangeAspect="1"/>
            </p:cNvSpPr>
            <p:nvPr/>
          </p:nvSpPr>
          <p:spPr>
            <a:xfrm>
              <a:off x="2503" y="2418"/>
              <a:ext cx="85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(1 ,6)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1" name="Text Box 47"/>
            <p:cNvSpPr txBox="1">
              <a:spLocks noChangeAspect="1"/>
            </p:cNvSpPr>
            <p:nvPr/>
          </p:nvSpPr>
          <p:spPr>
            <a:xfrm>
              <a:off x="3420" y="295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(2 ,5)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2" name="Text Box 48"/>
            <p:cNvSpPr txBox="1">
              <a:spLocks noChangeAspect="1"/>
            </p:cNvSpPr>
            <p:nvPr/>
          </p:nvSpPr>
          <p:spPr>
            <a:xfrm>
              <a:off x="2115" y="3289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(2 ,3)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3" name="Line 50"/>
            <p:cNvSpPr/>
            <p:nvPr/>
          </p:nvSpPr>
          <p:spPr>
            <a:xfrm>
              <a:off x="3552" y="3264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6" name="Group 185"/>
          <p:cNvGrpSpPr/>
          <p:nvPr/>
        </p:nvGrpSpPr>
        <p:grpSpPr>
          <a:xfrm>
            <a:off x="4648200" y="457200"/>
            <a:ext cx="4173538" cy="2897188"/>
            <a:chOff x="2928" y="288"/>
            <a:chExt cx="2629" cy="1825"/>
          </a:xfrm>
        </p:grpSpPr>
        <p:sp>
          <p:nvSpPr>
            <p:cNvPr id="21598" name="Line 32"/>
            <p:cNvSpPr>
              <a:spLocks noChangeAspect="1"/>
            </p:cNvSpPr>
            <p:nvPr/>
          </p:nvSpPr>
          <p:spPr>
            <a:xfrm>
              <a:off x="3926" y="558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99" name="Line 34"/>
            <p:cNvSpPr>
              <a:spLocks noChangeAspect="1"/>
            </p:cNvSpPr>
            <p:nvPr/>
          </p:nvSpPr>
          <p:spPr>
            <a:xfrm>
              <a:off x="3465" y="1556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600" name="Line 35"/>
            <p:cNvSpPr>
              <a:spLocks noChangeAspect="1"/>
            </p:cNvSpPr>
            <p:nvPr/>
          </p:nvSpPr>
          <p:spPr>
            <a:xfrm>
              <a:off x="4501" y="1556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601" name="Line 36"/>
            <p:cNvSpPr>
              <a:spLocks noChangeAspect="1"/>
            </p:cNvSpPr>
            <p:nvPr/>
          </p:nvSpPr>
          <p:spPr>
            <a:xfrm flipV="1">
              <a:off x="3264" y="894"/>
              <a:ext cx="230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602" name="Text Box 42"/>
            <p:cNvSpPr txBox="1">
              <a:spLocks noChangeAspect="1"/>
            </p:cNvSpPr>
            <p:nvPr/>
          </p:nvSpPr>
          <p:spPr>
            <a:xfrm>
              <a:off x="4348" y="998"/>
              <a:ext cx="24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03" name="Line 46"/>
            <p:cNvSpPr>
              <a:spLocks noChangeAspect="1"/>
            </p:cNvSpPr>
            <p:nvPr/>
          </p:nvSpPr>
          <p:spPr>
            <a:xfrm>
              <a:off x="3120" y="1556"/>
              <a:ext cx="1037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604" name="Line 47"/>
            <p:cNvSpPr>
              <a:spLocks noChangeAspect="1"/>
            </p:cNvSpPr>
            <p:nvPr/>
          </p:nvSpPr>
          <p:spPr>
            <a:xfrm>
              <a:off x="3696" y="559"/>
              <a:ext cx="920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605" name="Line 48"/>
            <p:cNvSpPr>
              <a:spLocks noChangeAspect="1"/>
            </p:cNvSpPr>
            <p:nvPr/>
          </p:nvSpPr>
          <p:spPr>
            <a:xfrm>
              <a:off x="4616" y="559"/>
              <a:ext cx="576" cy="99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6" name="Line 49"/>
            <p:cNvSpPr>
              <a:spLocks noChangeAspect="1"/>
            </p:cNvSpPr>
            <p:nvPr/>
          </p:nvSpPr>
          <p:spPr>
            <a:xfrm flipH="1">
              <a:off x="3120" y="559"/>
              <a:ext cx="576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607" name="Line 50"/>
            <p:cNvSpPr>
              <a:spLocks noChangeAspect="1"/>
            </p:cNvSpPr>
            <p:nvPr/>
          </p:nvSpPr>
          <p:spPr>
            <a:xfrm>
              <a:off x="3696" y="559"/>
              <a:ext cx="460" cy="99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8" name="Line 51"/>
            <p:cNvSpPr>
              <a:spLocks noChangeAspect="1"/>
            </p:cNvSpPr>
            <p:nvPr/>
          </p:nvSpPr>
          <p:spPr>
            <a:xfrm flipV="1">
              <a:off x="4156" y="559"/>
              <a:ext cx="460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609" name="Text Box 52"/>
            <p:cNvSpPr txBox="1">
              <a:spLocks noChangeAspect="1"/>
            </p:cNvSpPr>
            <p:nvPr/>
          </p:nvSpPr>
          <p:spPr>
            <a:xfrm>
              <a:off x="2928" y="1433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0" name="Text Box 53"/>
            <p:cNvSpPr txBox="1">
              <a:spLocks noChangeAspect="1"/>
            </p:cNvSpPr>
            <p:nvPr/>
          </p:nvSpPr>
          <p:spPr>
            <a:xfrm>
              <a:off x="4012" y="1570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1" name="Text Box 54"/>
            <p:cNvSpPr txBox="1">
              <a:spLocks noChangeAspect="1"/>
            </p:cNvSpPr>
            <p:nvPr/>
          </p:nvSpPr>
          <p:spPr>
            <a:xfrm>
              <a:off x="3513" y="288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2" name="Text Box 55"/>
            <p:cNvSpPr txBox="1">
              <a:spLocks noChangeAspect="1"/>
            </p:cNvSpPr>
            <p:nvPr/>
          </p:nvSpPr>
          <p:spPr>
            <a:xfrm>
              <a:off x="5212" y="1456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3" name="Text Box 56"/>
            <p:cNvSpPr txBox="1">
              <a:spLocks noChangeAspect="1"/>
            </p:cNvSpPr>
            <p:nvPr/>
          </p:nvSpPr>
          <p:spPr>
            <a:xfrm>
              <a:off x="4492" y="298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4" name="Text Box 57"/>
            <p:cNvSpPr txBox="1">
              <a:spLocks noChangeAspect="1"/>
            </p:cNvSpPr>
            <p:nvPr/>
          </p:nvSpPr>
          <p:spPr>
            <a:xfrm>
              <a:off x="3534" y="1526"/>
              <a:ext cx="57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5" name="Text Box 58"/>
            <p:cNvSpPr txBox="1">
              <a:spLocks noChangeAspect="1"/>
            </p:cNvSpPr>
            <p:nvPr/>
          </p:nvSpPr>
          <p:spPr>
            <a:xfrm>
              <a:off x="4444" y="1570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6" name="Text Box 59"/>
            <p:cNvSpPr txBox="1">
              <a:spLocks noChangeAspect="1"/>
            </p:cNvSpPr>
            <p:nvPr/>
          </p:nvSpPr>
          <p:spPr>
            <a:xfrm>
              <a:off x="3245" y="758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7" name="Text Box 60"/>
            <p:cNvSpPr txBox="1">
              <a:spLocks noChangeAspect="1"/>
            </p:cNvSpPr>
            <p:nvPr/>
          </p:nvSpPr>
          <p:spPr>
            <a:xfrm>
              <a:off x="4032" y="315"/>
              <a:ext cx="22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8" name="Text Box 61"/>
            <p:cNvSpPr txBox="1">
              <a:spLocks noChangeAspect="1"/>
            </p:cNvSpPr>
            <p:nvPr/>
          </p:nvSpPr>
          <p:spPr>
            <a:xfrm>
              <a:off x="4809" y="810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19" name="Text Box 62"/>
            <p:cNvSpPr txBox="1">
              <a:spLocks noChangeAspect="1"/>
            </p:cNvSpPr>
            <p:nvPr/>
          </p:nvSpPr>
          <p:spPr>
            <a:xfrm>
              <a:off x="3726" y="950"/>
              <a:ext cx="57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20" name="Text Box 65"/>
            <p:cNvSpPr txBox="1">
              <a:spLocks noChangeAspect="1"/>
            </p:cNvSpPr>
            <p:nvPr/>
          </p:nvSpPr>
          <p:spPr>
            <a:xfrm>
              <a:off x="3869" y="1814"/>
              <a:ext cx="80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(1)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 L(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(0)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621" name="Line 66"/>
            <p:cNvSpPr/>
            <p:nvPr/>
          </p:nvSpPr>
          <p:spPr>
            <a:xfrm>
              <a:off x="4733" y="770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622" name="Line 67"/>
            <p:cNvSpPr/>
            <p:nvPr/>
          </p:nvSpPr>
          <p:spPr>
            <a:xfrm flipV="1">
              <a:off x="4349" y="938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623" name="Line 68"/>
            <p:cNvSpPr/>
            <p:nvPr/>
          </p:nvSpPr>
          <p:spPr>
            <a:xfrm flipH="1" flipV="1">
              <a:off x="3965" y="1154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624" name="Line 70"/>
            <p:cNvSpPr/>
            <p:nvPr/>
          </p:nvSpPr>
          <p:spPr>
            <a:xfrm>
              <a:off x="4157" y="155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oval" w="med" len="med"/>
            </a:ln>
          </p:spPr>
        </p:sp>
      </p:grpSp>
      <p:grpSp>
        <p:nvGrpSpPr>
          <p:cNvPr id="21507" name="Group 98"/>
          <p:cNvGrpSpPr/>
          <p:nvPr/>
        </p:nvGrpSpPr>
        <p:grpSpPr>
          <a:xfrm>
            <a:off x="304800" y="228600"/>
            <a:ext cx="4422775" cy="2667000"/>
            <a:chOff x="192" y="144"/>
            <a:chExt cx="2786" cy="1680"/>
          </a:xfrm>
        </p:grpSpPr>
        <p:sp>
          <p:nvSpPr>
            <p:cNvPr id="21573" name="Line 3"/>
            <p:cNvSpPr>
              <a:spLocks noChangeAspect="1"/>
            </p:cNvSpPr>
            <p:nvPr/>
          </p:nvSpPr>
          <p:spPr>
            <a:xfrm>
              <a:off x="1253" y="432"/>
              <a:ext cx="367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74" name="Line 4"/>
            <p:cNvSpPr>
              <a:spLocks noChangeAspect="1"/>
            </p:cNvSpPr>
            <p:nvPr/>
          </p:nvSpPr>
          <p:spPr>
            <a:xfrm>
              <a:off x="763" y="1487"/>
              <a:ext cx="24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75" name="Line 5"/>
            <p:cNvSpPr>
              <a:spLocks noChangeAspect="1"/>
            </p:cNvSpPr>
            <p:nvPr/>
          </p:nvSpPr>
          <p:spPr>
            <a:xfrm>
              <a:off x="1865" y="1487"/>
              <a:ext cx="24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76" name="Line 6"/>
            <p:cNvSpPr>
              <a:spLocks noChangeAspect="1"/>
            </p:cNvSpPr>
            <p:nvPr/>
          </p:nvSpPr>
          <p:spPr>
            <a:xfrm flipV="1">
              <a:off x="549" y="783"/>
              <a:ext cx="245" cy="4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77" name="Line 8"/>
            <p:cNvSpPr>
              <a:spLocks noChangeAspect="1"/>
            </p:cNvSpPr>
            <p:nvPr/>
          </p:nvSpPr>
          <p:spPr>
            <a:xfrm flipV="1">
              <a:off x="1783" y="661"/>
              <a:ext cx="84" cy="2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78" name="Text Box 9"/>
            <p:cNvSpPr txBox="1">
              <a:spLocks noChangeAspect="1"/>
            </p:cNvSpPr>
            <p:nvPr/>
          </p:nvSpPr>
          <p:spPr>
            <a:xfrm>
              <a:off x="1654" y="966"/>
              <a:ext cx="612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(3 ,2)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79" name="Line 10"/>
            <p:cNvSpPr>
              <a:spLocks noChangeAspect="1"/>
            </p:cNvSpPr>
            <p:nvPr/>
          </p:nvSpPr>
          <p:spPr>
            <a:xfrm>
              <a:off x="387" y="1492"/>
              <a:ext cx="220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0" name="Line 11"/>
            <p:cNvSpPr>
              <a:spLocks noChangeAspect="1"/>
            </p:cNvSpPr>
            <p:nvPr/>
          </p:nvSpPr>
          <p:spPr>
            <a:xfrm>
              <a:off x="1008" y="432"/>
              <a:ext cx="97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1" name="Line 12"/>
            <p:cNvSpPr>
              <a:spLocks noChangeAspect="1"/>
            </p:cNvSpPr>
            <p:nvPr/>
          </p:nvSpPr>
          <p:spPr>
            <a:xfrm>
              <a:off x="1978" y="432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2" name="Line 13"/>
            <p:cNvSpPr>
              <a:spLocks noChangeAspect="1"/>
            </p:cNvSpPr>
            <p:nvPr/>
          </p:nvSpPr>
          <p:spPr>
            <a:xfrm flipH="1">
              <a:off x="387" y="432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3" name="Line 14"/>
            <p:cNvSpPr>
              <a:spLocks noChangeAspect="1"/>
            </p:cNvSpPr>
            <p:nvPr/>
          </p:nvSpPr>
          <p:spPr>
            <a:xfrm>
              <a:off x="999" y="432"/>
              <a:ext cx="490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4" name="Line 15"/>
            <p:cNvSpPr>
              <a:spLocks noChangeAspect="1"/>
            </p:cNvSpPr>
            <p:nvPr/>
          </p:nvSpPr>
          <p:spPr>
            <a:xfrm flipV="1">
              <a:off x="1489" y="432"/>
              <a:ext cx="489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1585" name="Text Box 16"/>
            <p:cNvSpPr txBox="1">
              <a:spLocks noChangeAspect="1"/>
            </p:cNvSpPr>
            <p:nvPr/>
          </p:nvSpPr>
          <p:spPr>
            <a:xfrm>
              <a:off x="192" y="1362"/>
              <a:ext cx="49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86" name="Text Box 17"/>
            <p:cNvSpPr txBox="1">
              <a:spLocks noChangeAspect="1"/>
            </p:cNvSpPr>
            <p:nvPr/>
          </p:nvSpPr>
          <p:spPr>
            <a:xfrm>
              <a:off x="1393" y="1441"/>
              <a:ext cx="48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87" name="Text Box 18"/>
            <p:cNvSpPr txBox="1">
              <a:spLocks noChangeAspect="1"/>
            </p:cNvSpPr>
            <p:nvPr/>
          </p:nvSpPr>
          <p:spPr>
            <a:xfrm>
              <a:off x="806" y="14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88" name="Text Box 19"/>
            <p:cNvSpPr txBox="1">
              <a:spLocks noChangeAspect="1"/>
            </p:cNvSpPr>
            <p:nvPr/>
          </p:nvSpPr>
          <p:spPr>
            <a:xfrm>
              <a:off x="2611" y="1386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89" name="Text Box 20"/>
            <p:cNvSpPr txBox="1">
              <a:spLocks noChangeAspect="1"/>
            </p:cNvSpPr>
            <p:nvPr/>
          </p:nvSpPr>
          <p:spPr>
            <a:xfrm>
              <a:off x="1846" y="15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0" name="Text Box 21"/>
            <p:cNvSpPr txBox="1">
              <a:spLocks noChangeAspect="1"/>
            </p:cNvSpPr>
            <p:nvPr/>
          </p:nvSpPr>
          <p:spPr>
            <a:xfrm>
              <a:off x="622" y="1487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(1 ,4)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1" name="Text Box 22"/>
            <p:cNvSpPr txBox="1">
              <a:spLocks noChangeAspect="1"/>
            </p:cNvSpPr>
            <p:nvPr/>
          </p:nvSpPr>
          <p:spPr>
            <a:xfrm>
              <a:off x="1846" y="1506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(6 ,7)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2" name="Text Box 23"/>
            <p:cNvSpPr txBox="1">
              <a:spLocks noChangeAspect="1"/>
            </p:cNvSpPr>
            <p:nvPr/>
          </p:nvSpPr>
          <p:spPr>
            <a:xfrm>
              <a:off x="310" y="64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(4 ,8)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3" name="Text Box 24"/>
            <p:cNvSpPr txBox="1">
              <a:spLocks noChangeAspect="1"/>
            </p:cNvSpPr>
            <p:nvPr/>
          </p:nvSpPr>
          <p:spPr>
            <a:xfrm>
              <a:off x="1265" y="163"/>
              <a:ext cx="85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(1 ,6)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4" name="Text Box 25"/>
            <p:cNvSpPr txBox="1">
              <a:spLocks noChangeAspect="1"/>
            </p:cNvSpPr>
            <p:nvPr/>
          </p:nvSpPr>
          <p:spPr>
            <a:xfrm>
              <a:off x="2182" y="699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(2 ,5)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5" name="Text Box 26"/>
            <p:cNvSpPr txBox="1">
              <a:spLocks noChangeAspect="1"/>
            </p:cNvSpPr>
            <p:nvPr/>
          </p:nvSpPr>
          <p:spPr>
            <a:xfrm>
              <a:off x="877" y="103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(2 ,3)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96" name="Line 27"/>
            <p:cNvSpPr/>
            <p:nvPr/>
          </p:nvSpPr>
          <p:spPr>
            <a:xfrm>
              <a:off x="2323" y="1021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97" name="Line 97"/>
            <p:cNvSpPr>
              <a:spLocks noChangeAspect="1"/>
            </p:cNvSpPr>
            <p:nvPr/>
          </p:nvSpPr>
          <p:spPr>
            <a:xfrm flipH="1" flipV="1">
              <a:off x="1200" y="876"/>
              <a:ext cx="83" cy="1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21508" name="Group 184"/>
          <p:cNvGrpSpPr/>
          <p:nvPr/>
        </p:nvGrpSpPr>
        <p:grpSpPr>
          <a:xfrm>
            <a:off x="258763" y="3124200"/>
            <a:ext cx="4329112" cy="2914650"/>
            <a:chOff x="163" y="1968"/>
            <a:chExt cx="2727" cy="1836"/>
          </a:xfrm>
        </p:grpSpPr>
        <p:sp>
          <p:nvSpPr>
            <p:cNvPr id="21546" name="Line 102"/>
            <p:cNvSpPr>
              <a:spLocks noChangeAspect="1"/>
            </p:cNvSpPr>
            <p:nvPr/>
          </p:nvSpPr>
          <p:spPr>
            <a:xfrm>
              <a:off x="1162" y="2248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47" name="Line 104"/>
            <p:cNvSpPr>
              <a:spLocks noChangeAspect="1"/>
            </p:cNvSpPr>
            <p:nvPr/>
          </p:nvSpPr>
          <p:spPr>
            <a:xfrm>
              <a:off x="701" y="3247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48" name="Line 105"/>
            <p:cNvSpPr>
              <a:spLocks noChangeAspect="1"/>
            </p:cNvSpPr>
            <p:nvPr/>
          </p:nvSpPr>
          <p:spPr>
            <a:xfrm>
              <a:off x="1738" y="3247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49" name="Line 106"/>
            <p:cNvSpPr>
              <a:spLocks noChangeAspect="1"/>
            </p:cNvSpPr>
            <p:nvPr/>
          </p:nvSpPr>
          <p:spPr>
            <a:xfrm flipV="1">
              <a:off x="499" y="2584"/>
              <a:ext cx="230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50" name="Line 107"/>
            <p:cNvSpPr>
              <a:spLocks noChangeAspect="1"/>
            </p:cNvSpPr>
            <p:nvPr/>
          </p:nvSpPr>
          <p:spPr>
            <a:xfrm>
              <a:off x="2064" y="2647"/>
              <a:ext cx="154" cy="2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51" name="Line 108"/>
            <p:cNvSpPr>
              <a:spLocks noChangeAspect="1"/>
            </p:cNvSpPr>
            <p:nvPr/>
          </p:nvSpPr>
          <p:spPr>
            <a:xfrm flipH="1" flipV="1">
              <a:off x="1152" y="2745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52" name="Line 110"/>
            <p:cNvSpPr>
              <a:spLocks noChangeAspect="1"/>
            </p:cNvSpPr>
            <p:nvPr/>
          </p:nvSpPr>
          <p:spPr>
            <a:xfrm flipV="1">
              <a:off x="1507" y="2723"/>
              <a:ext cx="116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1553" name="Text Box 112"/>
            <p:cNvSpPr txBox="1">
              <a:spLocks noChangeAspect="1"/>
            </p:cNvSpPr>
            <p:nvPr/>
          </p:nvSpPr>
          <p:spPr>
            <a:xfrm>
              <a:off x="1584" y="2751"/>
              <a:ext cx="19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54" name="Line 116"/>
            <p:cNvSpPr>
              <a:spLocks noChangeAspect="1"/>
            </p:cNvSpPr>
            <p:nvPr/>
          </p:nvSpPr>
          <p:spPr>
            <a:xfrm>
              <a:off x="355" y="3247"/>
              <a:ext cx="207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55" name="Line 117"/>
            <p:cNvSpPr>
              <a:spLocks noChangeAspect="1"/>
            </p:cNvSpPr>
            <p:nvPr/>
          </p:nvSpPr>
          <p:spPr>
            <a:xfrm>
              <a:off x="931" y="2249"/>
              <a:ext cx="92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56" name="Line 118"/>
            <p:cNvSpPr>
              <a:spLocks noChangeAspect="1"/>
            </p:cNvSpPr>
            <p:nvPr/>
          </p:nvSpPr>
          <p:spPr>
            <a:xfrm>
              <a:off x="1853" y="2249"/>
              <a:ext cx="576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57" name="Line 119"/>
            <p:cNvSpPr>
              <a:spLocks noChangeAspect="1"/>
            </p:cNvSpPr>
            <p:nvPr/>
          </p:nvSpPr>
          <p:spPr>
            <a:xfrm flipH="1">
              <a:off x="355" y="2249"/>
              <a:ext cx="576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58" name="Line 120"/>
            <p:cNvSpPr>
              <a:spLocks noChangeAspect="1"/>
            </p:cNvSpPr>
            <p:nvPr/>
          </p:nvSpPr>
          <p:spPr>
            <a:xfrm>
              <a:off x="931" y="2249"/>
              <a:ext cx="461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59" name="Line 121"/>
            <p:cNvSpPr>
              <a:spLocks noChangeAspect="1"/>
            </p:cNvSpPr>
            <p:nvPr/>
          </p:nvSpPr>
          <p:spPr>
            <a:xfrm flipV="1">
              <a:off x="1392" y="2249"/>
              <a:ext cx="461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60" name="Text Box 122"/>
            <p:cNvSpPr txBox="1">
              <a:spLocks noChangeAspect="1"/>
            </p:cNvSpPr>
            <p:nvPr/>
          </p:nvSpPr>
          <p:spPr>
            <a:xfrm>
              <a:off x="163" y="3124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1" name="Text Box 123"/>
            <p:cNvSpPr txBox="1">
              <a:spLocks noChangeAspect="1"/>
            </p:cNvSpPr>
            <p:nvPr/>
          </p:nvSpPr>
          <p:spPr>
            <a:xfrm>
              <a:off x="1248" y="326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2" name="Text Box 124"/>
            <p:cNvSpPr txBox="1">
              <a:spLocks noChangeAspect="1"/>
            </p:cNvSpPr>
            <p:nvPr/>
          </p:nvSpPr>
          <p:spPr>
            <a:xfrm>
              <a:off x="749" y="1978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3" name="Text Box 125"/>
            <p:cNvSpPr txBox="1">
              <a:spLocks noChangeAspect="1"/>
            </p:cNvSpPr>
            <p:nvPr/>
          </p:nvSpPr>
          <p:spPr>
            <a:xfrm>
              <a:off x="2448" y="314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4" name="Text Box 126"/>
            <p:cNvSpPr txBox="1">
              <a:spLocks noChangeAspect="1"/>
            </p:cNvSpPr>
            <p:nvPr/>
          </p:nvSpPr>
          <p:spPr>
            <a:xfrm>
              <a:off x="1728" y="1988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5" name="Text Box 127"/>
            <p:cNvSpPr txBox="1">
              <a:spLocks noChangeAspect="1"/>
            </p:cNvSpPr>
            <p:nvPr/>
          </p:nvSpPr>
          <p:spPr>
            <a:xfrm>
              <a:off x="576" y="3241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6" name="Text Box 128"/>
            <p:cNvSpPr txBox="1">
              <a:spLocks noChangeAspect="1"/>
            </p:cNvSpPr>
            <p:nvPr/>
          </p:nvSpPr>
          <p:spPr>
            <a:xfrm>
              <a:off x="1680" y="3260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7" name="Text Box 129"/>
            <p:cNvSpPr txBox="1">
              <a:spLocks noChangeAspect="1"/>
            </p:cNvSpPr>
            <p:nvPr/>
          </p:nvSpPr>
          <p:spPr>
            <a:xfrm>
              <a:off x="480" y="2532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8" name="Text Box 130"/>
            <p:cNvSpPr txBox="1">
              <a:spLocks noChangeAspect="1"/>
            </p:cNvSpPr>
            <p:nvPr/>
          </p:nvSpPr>
          <p:spPr>
            <a:xfrm>
              <a:off x="1315" y="1968"/>
              <a:ext cx="17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69" name="Text Box 131"/>
            <p:cNvSpPr txBox="1">
              <a:spLocks noChangeAspect="1"/>
            </p:cNvSpPr>
            <p:nvPr/>
          </p:nvSpPr>
          <p:spPr>
            <a:xfrm>
              <a:off x="2045" y="2500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70" name="Text Box 132"/>
            <p:cNvSpPr txBox="1">
              <a:spLocks noChangeAspect="1"/>
            </p:cNvSpPr>
            <p:nvPr/>
          </p:nvSpPr>
          <p:spPr>
            <a:xfrm>
              <a:off x="960" y="2736"/>
              <a:ext cx="24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71" name="Text Box 133"/>
            <p:cNvSpPr txBox="1">
              <a:spLocks noChangeAspect="1"/>
            </p:cNvSpPr>
            <p:nvPr/>
          </p:nvSpPr>
          <p:spPr>
            <a:xfrm>
              <a:off x="988" y="3504"/>
              <a:ext cx="12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(2) 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( 1)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72" name="Text Box 134"/>
            <p:cNvSpPr txBox="1">
              <a:spLocks noChangeAspect="1"/>
            </p:cNvSpPr>
            <p:nvPr/>
          </p:nvSpPr>
          <p:spPr>
            <a:xfrm>
              <a:off x="2083" y="2016"/>
              <a:ext cx="807" cy="49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=3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18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(1)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)=3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09" name="Group 188"/>
          <p:cNvGrpSpPr/>
          <p:nvPr/>
        </p:nvGrpSpPr>
        <p:grpSpPr>
          <a:xfrm>
            <a:off x="4525963" y="3429000"/>
            <a:ext cx="4251325" cy="2967038"/>
            <a:chOff x="2851" y="2160"/>
            <a:chExt cx="2678" cy="1869"/>
          </a:xfrm>
        </p:grpSpPr>
        <p:sp>
          <p:nvSpPr>
            <p:cNvPr id="21510" name="Text Box 136"/>
            <p:cNvSpPr txBox="1">
              <a:spLocks noChangeAspect="1"/>
            </p:cNvSpPr>
            <p:nvPr/>
          </p:nvSpPr>
          <p:spPr>
            <a:xfrm>
              <a:off x="3341" y="3038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1" name="Line 138"/>
            <p:cNvSpPr>
              <a:spLocks noChangeAspect="1"/>
            </p:cNvSpPr>
            <p:nvPr/>
          </p:nvSpPr>
          <p:spPr>
            <a:xfrm>
              <a:off x="3955" y="2429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2" name="Line 140"/>
            <p:cNvSpPr>
              <a:spLocks noChangeAspect="1"/>
            </p:cNvSpPr>
            <p:nvPr/>
          </p:nvSpPr>
          <p:spPr>
            <a:xfrm>
              <a:off x="3494" y="3439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3" name="Line 141"/>
            <p:cNvSpPr>
              <a:spLocks noChangeAspect="1"/>
            </p:cNvSpPr>
            <p:nvPr/>
          </p:nvSpPr>
          <p:spPr>
            <a:xfrm>
              <a:off x="4531" y="3439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4" name="Freeform 143"/>
            <p:cNvSpPr>
              <a:spLocks noChangeAspect="1"/>
            </p:cNvSpPr>
            <p:nvPr/>
          </p:nvSpPr>
          <p:spPr>
            <a:xfrm>
              <a:off x="3715" y="2460"/>
              <a:ext cx="921" cy="100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440" h="156">
                  <a:moveTo>
                    <a:pt x="0" y="0"/>
                  </a:moveTo>
                  <a:cubicBezTo>
                    <a:pt x="240" y="78"/>
                    <a:pt x="480" y="156"/>
                    <a:pt x="720" y="156"/>
                  </a:cubicBezTo>
                  <a:cubicBezTo>
                    <a:pt x="960" y="156"/>
                    <a:pt x="1200" y="78"/>
                    <a:pt x="14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15" name="Line 145"/>
            <p:cNvSpPr>
              <a:spLocks noChangeAspect="1"/>
            </p:cNvSpPr>
            <p:nvPr/>
          </p:nvSpPr>
          <p:spPr>
            <a:xfrm>
              <a:off x="4800" y="2840"/>
              <a:ext cx="153" cy="2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6" name="Line 146"/>
            <p:cNvSpPr>
              <a:spLocks noChangeAspect="1"/>
            </p:cNvSpPr>
            <p:nvPr/>
          </p:nvSpPr>
          <p:spPr>
            <a:xfrm>
              <a:off x="4579" y="2456"/>
              <a:ext cx="576" cy="9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17" name="Line 148"/>
            <p:cNvSpPr>
              <a:spLocks noChangeAspect="1"/>
            </p:cNvSpPr>
            <p:nvPr/>
          </p:nvSpPr>
          <p:spPr>
            <a:xfrm flipV="1">
              <a:off x="4253" y="2915"/>
              <a:ext cx="115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8" name="Line 150"/>
            <p:cNvSpPr>
              <a:spLocks noChangeAspect="1"/>
            </p:cNvSpPr>
            <p:nvPr/>
          </p:nvSpPr>
          <p:spPr>
            <a:xfrm flipV="1">
              <a:off x="3235" y="2777"/>
              <a:ext cx="230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19" name="Line 152"/>
            <p:cNvSpPr>
              <a:spLocks noChangeAspect="1"/>
            </p:cNvSpPr>
            <p:nvPr/>
          </p:nvSpPr>
          <p:spPr>
            <a:xfrm flipV="1">
              <a:off x="4128" y="2440"/>
              <a:ext cx="460" cy="9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0" name="Freeform 153"/>
            <p:cNvSpPr>
              <a:spLocks noChangeAspect="1"/>
            </p:cNvSpPr>
            <p:nvPr/>
          </p:nvSpPr>
          <p:spPr>
            <a:xfrm rot="10736136">
              <a:off x="3082" y="3259"/>
              <a:ext cx="1036" cy="200"/>
            </a:xfrm>
            <a:custGeom>
              <a:avLst/>
              <a:gdLst>
                <a:gd name="txL" fmla="*/ 0 w 1620"/>
                <a:gd name="txT" fmla="*/ 0 h 156"/>
                <a:gd name="txR" fmla="*/ 1620 w 162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22421"/>
                </a:cxn>
                <a:cxn ang="0">
                  <a:pos x="1" y="0"/>
                </a:cxn>
              </a:cxnLst>
              <a:rect l="txL" t="txT" r="txR" b="txB"/>
              <a:pathLst>
                <a:path w="1620" h="156">
                  <a:moveTo>
                    <a:pt x="0" y="0"/>
                  </a:moveTo>
                  <a:cubicBezTo>
                    <a:pt x="315" y="78"/>
                    <a:pt x="630" y="156"/>
                    <a:pt x="900" y="156"/>
                  </a:cubicBezTo>
                  <a:cubicBezTo>
                    <a:pt x="1170" y="156"/>
                    <a:pt x="1395" y="78"/>
                    <a:pt x="162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21" name="Line 155"/>
            <p:cNvSpPr>
              <a:spLocks noChangeAspect="1"/>
            </p:cNvSpPr>
            <p:nvPr/>
          </p:nvSpPr>
          <p:spPr>
            <a:xfrm>
              <a:off x="3091" y="3439"/>
              <a:ext cx="1085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2" name="Line 156"/>
            <p:cNvSpPr>
              <a:spLocks noChangeAspect="1"/>
            </p:cNvSpPr>
            <p:nvPr/>
          </p:nvSpPr>
          <p:spPr>
            <a:xfrm>
              <a:off x="3667" y="2440"/>
              <a:ext cx="9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3" name="Text Box 157"/>
            <p:cNvSpPr txBox="1">
              <a:spLocks noChangeAspect="1"/>
            </p:cNvSpPr>
            <p:nvPr/>
          </p:nvSpPr>
          <p:spPr>
            <a:xfrm>
              <a:off x="3705" y="3754"/>
              <a:ext cx="759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(3) 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L(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(1)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4" name="Text Box 159"/>
            <p:cNvSpPr txBox="1">
              <a:spLocks noChangeAspect="1"/>
            </p:cNvSpPr>
            <p:nvPr/>
          </p:nvSpPr>
          <p:spPr>
            <a:xfrm>
              <a:off x="3485" y="2855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5" name="Freeform 160"/>
            <p:cNvSpPr>
              <a:spLocks noChangeAspect="1"/>
            </p:cNvSpPr>
            <p:nvPr/>
          </p:nvSpPr>
          <p:spPr>
            <a:xfrm>
              <a:off x="4579" y="2360"/>
              <a:ext cx="576" cy="1098"/>
            </a:xfrm>
            <a:custGeom>
              <a:avLst/>
              <a:gdLst>
                <a:gd name="txL" fmla="*/ 0 w 900"/>
                <a:gd name="txT" fmla="*/ 0 h 1664"/>
                <a:gd name="txR" fmla="*/ 900 w 900"/>
                <a:gd name="txB" fmla="*/ 1664 h 1664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900" h="1664">
                  <a:moveTo>
                    <a:pt x="0" y="104"/>
                  </a:moveTo>
                  <a:cubicBezTo>
                    <a:pt x="285" y="52"/>
                    <a:pt x="570" y="0"/>
                    <a:pt x="720" y="260"/>
                  </a:cubicBezTo>
                  <a:cubicBezTo>
                    <a:pt x="870" y="520"/>
                    <a:pt x="885" y="1092"/>
                    <a:pt x="900" y="166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26" name="Text Box 163"/>
            <p:cNvSpPr txBox="1">
              <a:spLocks noChangeAspect="1"/>
            </p:cNvSpPr>
            <p:nvPr/>
          </p:nvSpPr>
          <p:spPr>
            <a:xfrm>
              <a:off x="4368" y="2880"/>
              <a:ext cx="14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7" name="Line 164"/>
            <p:cNvSpPr>
              <a:spLocks noChangeAspect="1"/>
            </p:cNvSpPr>
            <p:nvPr/>
          </p:nvSpPr>
          <p:spPr>
            <a:xfrm flipH="1">
              <a:off x="3091" y="2440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8" name="Text Box 166"/>
            <p:cNvSpPr txBox="1">
              <a:spLocks noChangeAspect="1"/>
            </p:cNvSpPr>
            <p:nvPr/>
          </p:nvSpPr>
          <p:spPr>
            <a:xfrm>
              <a:off x="2851" y="3316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9" name="Text Box 167"/>
            <p:cNvSpPr txBox="1">
              <a:spLocks noChangeAspect="1"/>
            </p:cNvSpPr>
            <p:nvPr/>
          </p:nvSpPr>
          <p:spPr>
            <a:xfrm>
              <a:off x="3984" y="3452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0" name="Text Box 168"/>
            <p:cNvSpPr txBox="1">
              <a:spLocks noChangeAspect="1"/>
            </p:cNvSpPr>
            <p:nvPr/>
          </p:nvSpPr>
          <p:spPr>
            <a:xfrm>
              <a:off x="3485" y="2170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1" name="Text Box 169"/>
            <p:cNvSpPr txBox="1">
              <a:spLocks noChangeAspect="1"/>
            </p:cNvSpPr>
            <p:nvPr/>
          </p:nvSpPr>
          <p:spPr>
            <a:xfrm>
              <a:off x="5183" y="333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2" name="Text Box 170"/>
            <p:cNvSpPr txBox="1">
              <a:spLocks noChangeAspect="1"/>
            </p:cNvSpPr>
            <p:nvPr/>
          </p:nvSpPr>
          <p:spPr>
            <a:xfrm>
              <a:off x="4464" y="2179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3" name="Text Box 171"/>
            <p:cNvSpPr txBox="1">
              <a:spLocks noChangeAspect="1"/>
            </p:cNvSpPr>
            <p:nvPr/>
          </p:nvSpPr>
          <p:spPr>
            <a:xfrm>
              <a:off x="3312" y="3433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4" name="Text Box 172"/>
            <p:cNvSpPr txBox="1">
              <a:spLocks noChangeAspect="1"/>
            </p:cNvSpPr>
            <p:nvPr/>
          </p:nvSpPr>
          <p:spPr>
            <a:xfrm>
              <a:off x="4416" y="3452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5" name="Text Box 173"/>
            <p:cNvSpPr txBox="1">
              <a:spLocks noChangeAspect="1"/>
            </p:cNvSpPr>
            <p:nvPr/>
          </p:nvSpPr>
          <p:spPr>
            <a:xfrm>
              <a:off x="3178" y="2676"/>
              <a:ext cx="23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6" name="Text Box 174"/>
            <p:cNvSpPr txBox="1">
              <a:spLocks noChangeAspect="1"/>
            </p:cNvSpPr>
            <p:nvPr/>
          </p:nvSpPr>
          <p:spPr>
            <a:xfrm>
              <a:off x="3859" y="2160"/>
              <a:ext cx="80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7" name="Text Box 175"/>
            <p:cNvSpPr txBox="1">
              <a:spLocks noChangeAspect="1"/>
            </p:cNvSpPr>
            <p:nvPr/>
          </p:nvSpPr>
          <p:spPr>
            <a:xfrm>
              <a:off x="4780" y="2692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8" name="Line 176"/>
            <p:cNvSpPr>
              <a:spLocks noChangeAspect="1"/>
            </p:cNvSpPr>
            <p:nvPr/>
          </p:nvSpPr>
          <p:spPr>
            <a:xfrm flipH="1">
              <a:off x="3504" y="3270"/>
              <a:ext cx="11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39" name="Line 177"/>
            <p:cNvSpPr>
              <a:spLocks noChangeAspect="1"/>
            </p:cNvSpPr>
            <p:nvPr/>
          </p:nvSpPr>
          <p:spPr>
            <a:xfrm flipH="1">
              <a:off x="4003" y="2559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40" name="Line 178"/>
            <p:cNvSpPr>
              <a:spLocks noChangeAspect="1"/>
            </p:cNvSpPr>
            <p:nvPr/>
          </p:nvSpPr>
          <p:spPr>
            <a:xfrm flipV="1">
              <a:off x="5126" y="2759"/>
              <a:ext cx="0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41" name="Text Box 179"/>
            <p:cNvSpPr txBox="1">
              <a:spLocks noChangeAspect="1"/>
            </p:cNvSpPr>
            <p:nvPr/>
          </p:nvSpPr>
          <p:spPr>
            <a:xfrm>
              <a:off x="3888" y="2531"/>
              <a:ext cx="46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42" name="Text Box 180"/>
            <p:cNvSpPr txBox="1">
              <a:spLocks noChangeAspect="1"/>
            </p:cNvSpPr>
            <p:nvPr/>
          </p:nvSpPr>
          <p:spPr>
            <a:xfrm>
              <a:off x="4684" y="2469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－2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543" name="Line 182"/>
            <p:cNvSpPr>
              <a:spLocks noChangeAspect="1"/>
            </p:cNvSpPr>
            <p:nvPr/>
          </p:nvSpPr>
          <p:spPr>
            <a:xfrm>
              <a:off x="3840" y="2855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44" name="Line 186"/>
            <p:cNvSpPr/>
            <p:nvPr/>
          </p:nvSpPr>
          <p:spPr>
            <a:xfrm>
              <a:off x="3648" y="2448"/>
              <a:ext cx="48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5" name="Line 187"/>
            <p:cNvSpPr/>
            <p:nvPr/>
          </p:nvSpPr>
          <p:spPr>
            <a:xfrm>
              <a:off x="4128" y="3456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530" name="Group 39"/>
          <p:cNvGrpSpPr/>
          <p:nvPr/>
        </p:nvGrpSpPr>
        <p:grpSpPr>
          <a:xfrm>
            <a:off x="4495800" y="304800"/>
            <a:ext cx="4313238" cy="2949575"/>
            <a:chOff x="115" y="554"/>
            <a:chExt cx="2717" cy="1858"/>
          </a:xfrm>
        </p:grpSpPr>
        <p:sp>
          <p:nvSpPr>
            <p:cNvPr id="22621" name="Line 5"/>
            <p:cNvSpPr>
              <a:spLocks noChangeAspect="1"/>
            </p:cNvSpPr>
            <p:nvPr/>
          </p:nvSpPr>
          <p:spPr>
            <a:xfrm>
              <a:off x="1163" y="825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2" name="Line 7"/>
            <p:cNvSpPr>
              <a:spLocks noChangeAspect="1"/>
            </p:cNvSpPr>
            <p:nvPr/>
          </p:nvSpPr>
          <p:spPr>
            <a:xfrm>
              <a:off x="702" y="182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3" name="Line 8"/>
            <p:cNvSpPr>
              <a:spLocks noChangeAspect="1"/>
            </p:cNvSpPr>
            <p:nvPr/>
          </p:nvSpPr>
          <p:spPr>
            <a:xfrm>
              <a:off x="1740" y="182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4" name="Line 9"/>
            <p:cNvSpPr>
              <a:spLocks noChangeAspect="1"/>
            </p:cNvSpPr>
            <p:nvPr/>
          </p:nvSpPr>
          <p:spPr>
            <a:xfrm flipV="1">
              <a:off x="500" y="1161"/>
              <a:ext cx="231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5" name="Line 10"/>
            <p:cNvSpPr>
              <a:spLocks noChangeAspect="1"/>
            </p:cNvSpPr>
            <p:nvPr/>
          </p:nvSpPr>
          <p:spPr>
            <a:xfrm>
              <a:off x="2066" y="1224"/>
              <a:ext cx="154" cy="2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6" name="Line 11"/>
            <p:cNvSpPr>
              <a:spLocks noChangeAspect="1"/>
            </p:cNvSpPr>
            <p:nvPr/>
          </p:nvSpPr>
          <p:spPr>
            <a:xfrm flipH="1" flipV="1">
              <a:off x="1153" y="1322"/>
              <a:ext cx="11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7" name="Line 13"/>
            <p:cNvSpPr>
              <a:spLocks noChangeAspect="1"/>
            </p:cNvSpPr>
            <p:nvPr/>
          </p:nvSpPr>
          <p:spPr>
            <a:xfrm flipV="1">
              <a:off x="1508" y="1299"/>
              <a:ext cx="116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628" name="Text Box 15"/>
            <p:cNvSpPr txBox="1">
              <a:spLocks noChangeAspect="1"/>
            </p:cNvSpPr>
            <p:nvPr/>
          </p:nvSpPr>
          <p:spPr>
            <a:xfrm>
              <a:off x="1633" y="1328"/>
              <a:ext cx="19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29" name="Line 19"/>
            <p:cNvSpPr>
              <a:spLocks noChangeAspect="1"/>
            </p:cNvSpPr>
            <p:nvPr/>
          </p:nvSpPr>
          <p:spPr>
            <a:xfrm>
              <a:off x="356" y="1824"/>
              <a:ext cx="20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0" name="Line 20"/>
            <p:cNvSpPr>
              <a:spLocks noChangeAspect="1"/>
            </p:cNvSpPr>
            <p:nvPr/>
          </p:nvSpPr>
          <p:spPr>
            <a:xfrm>
              <a:off x="932" y="825"/>
              <a:ext cx="9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1" name="Line 21"/>
            <p:cNvSpPr>
              <a:spLocks noChangeAspect="1"/>
            </p:cNvSpPr>
            <p:nvPr/>
          </p:nvSpPr>
          <p:spPr>
            <a:xfrm>
              <a:off x="1855" y="825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2" name="Line 22"/>
            <p:cNvSpPr>
              <a:spLocks noChangeAspect="1"/>
            </p:cNvSpPr>
            <p:nvPr/>
          </p:nvSpPr>
          <p:spPr>
            <a:xfrm flipH="1">
              <a:off x="356" y="825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3" name="Line 23"/>
            <p:cNvSpPr>
              <a:spLocks noChangeAspect="1"/>
            </p:cNvSpPr>
            <p:nvPr/>
          </p:nvSpPr>
          <p:spPr>
            <a:xfrm>
              <a:off x="932" y="825"/>
              <a:ext cx="462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4" name="Line 24"/>
            <p:cNvSpPr>
              <a:spLocks noChangeAspect="1"/>
            </p:cNvSpPr>
            <p:nvPr/>
          </p:nvSpPr>
          <p:spPr>
            <a:xfrm flipV="1">
              <a:off x="1394" y="825"/>
              <a:ext cx="461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35" name="Text Box 25"/>
            <p:cNvSpPr txBox="1">
              <a:spLocks noChangeAspect="1"/>
            </p:cNvSpPr>
            <p:nvPr/>
          </p:nvSpPr>
          <p:spPr>
            <a:xfrm>
              <a:off x="115" y="1701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36" name="Text Box 26"/>
            <p:cNvSpPr txBox="1">
              <a:spLocks noChangeAspect="1"/>
            </p:cNvSpPr>
            <p:nvPr/>
          </p:nvSpPr>
          <p:spPr>
            <a:xfrm>
              <a:off x="1249" y="1837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37" name="Text Box 27"/>
            <p:cNvSpPr txBox="1">
              <a:spLocks noChangeAspect="1"/>
            </p:cNvSpPr>
            <p:nvPr/>
          </p:nvSpPr>
          <p:spPr>
            <a:xfrm>
              <a:off x="749" y="55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38" name="Text Box 28"/>
            <p:cNvSpPr txBox="1">
              <a:spLocks noChangeAspect="1"/>
            </p:cNvSpPr>
            <p:nvPr/>
          </p:nvSpPr>
          <p:spPr>
            <a:xfrm>
              <a:off x="2450" y="172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39" name="Text Box 29"/>
            <p:cNvSpPr txBox="1">
              <a:spLocks noChangeAspect="1"/>
            </p:cNvSpPr>
            <p:nvPr/>
          </p:nvSpPr>
          <p:spPr>
            <a:xfrm>
              <a:off x="1729" y="564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0" name="Text Box 30"/>
            <p:cNvSpPr txBox="1">
              <a:spLocks noChangeAspect="1"/>
            </p:cNvSpPr>
            <p:nvPr/>
          </p:nvSpPr>
          <p:spPr>
            <a:xfrm>
              <a:off x="576" y="1818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1" name="Text Box 31"/>
            <p:cNvSpPr txBox="1">
              <a:spLocks noChangeAspect="1"/>
            </p:cNvSpPr>
            <p:nvPr/>
          </p:nvSpPr>
          <p:spPr>
            <a:xfrm>
              <a:off x="1681" y="1838"/>
              <a:ext cx="577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2" name="Text Box 32"/>
            <p:cNvSpPr txBox="1">
              <a:spLocks noChangeAspect="1"/>
            </p:cNvSpPr>
            <p:nvPr/>
          </p:nvSpPr>
          <p:spPr>
            <a:xfrm>
              <a:off x="490" y="1093"/>
              <a:ext cx="2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3" name="Text Box 33"/>
            <p:cNvSpPr txBox="1">
              <a:spLocks noChangeAspect="1"/>
            </p:cNvSpPr>
            <p:nvPr/>
          </p:nvSpPr>
          <p:spPr>
            <a:xfrm>
              <a:off x="1220" y="612"/>
              <a:ext cx="2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4" name="Text Box 34"/>
            <p:cNvSpPr txBox="1">
              <a:spLocks noChangeAspect="1"/>
            </p:cNvSpPr>
            <p:nvPr/>
          </p:nvSpPr>
          <p:spPr>
            <a:xfrm>
              <a:off x="2047" y="1076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5" name="Text Box 35"/>
            <p:cNvSpPr txBox="1">
              <a:spLocks noChangeAspect="1"/>
            </p:cNvSpPr>
            <p:nvPr/>
          </p:nvSpPr>
          <p:spPr>
            <a:xfrm>
              <a:off x="817" y="1392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6" name="Text Box 36"/>
            <p:cNvSpPr txBox="1">
              <a:spLocks noChangeAspect="1"/>
            </p:cNvSpPr>
            <p:nvPr/>
          </p:nvSpPr>
          <p:spPr>
            <a:xfrm>
              <a:off x="961" y="2112"/>
              <a:ext cx="12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 (4</a:t>
              </a:r>
              <a:r>
                <a:rPr lang="zh-CN" altLang="en-US" sz="1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) 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( 2)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647" name="Text Box 37"/>
            <p:cNvSpPr txBox="1">
              <a:spLocks noChangeAspect="1"/>
            </p:cNvSpPr>
            <p:nvPr/>
          </p:nvSpPr>
          <p:spPr>
            <a:xfrm>
              <a:off x="2044" y="576"/>
              <a:ext cx="788" cy="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=1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18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(2)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)=4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1" name="Group 40"/>
          <p:cNvGrpSpPr/>
          <p:nvPr/>
        </p:nvGrpSpPr>
        <p:grpSpPr>
          <a:xfrm>
            <a:off x="304800" y="228600"/>
            <a:ext cx="4422775" cy="2667000"/>
            <a:chOff x="192" y="144"/>
            <a:chExt cx="2786" cy="1680"/>
          </a:xfrm>
        </p:grpSpPr>
        <p:sp>
          <p:nvSpPr>
            <p:cNvPr id="22596" name="Line 41"/>
            <p:cNvSpPr>
              <a:spLocks noChangeAspect="1"/>
            </p:cNvSpPr>
            <p:nvPr/>
          </p:nvSpPr>
          <p:spPr>
            <a:xfrm>
              <a:off x="1253" y="432"/>
              <a:ext cx="367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597" name="Line 42"/>
            <p:cNvSpPr>
              <a:spLocks noChangeAspect="1"/>
            </p:cNvSpPr>
            <p:nvPr/>
          </p:nvSpPr>
          <p:spPr>
            <a:xfrm>
              <a:off x="763" y="1487"/>
              <a:ext cx="24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598" name="Line 43"/>
            <p:cNvSpPr>
              <a:spLocks noChangeAspect="1"/>
            </p:cNvSpPr>
            <p:nvPr/>
          </p:nvSpPr>
          <p:spPr>
            <a:xfrm>
              <a:off x="1865" y="1487"/>
              <a:ext cx="24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599" name="Line 44"/>
            <p:cNvSpPr>
              <a:spLocks noChangeAspect="1"/>
            </p:cNvSpPr>
            <p:nvPr/>
          </p:nvSpPr>
          <p:spPr>
            <a:xfrm flipV="1">
              <a:off x="549" y="783"/>
              <a:ext cx="245" cy="4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600" name="Line 45"/>
            <p:cNvSpPr>
              <a:spLocks noChangeAspect="1"/>
            </p:cNvSpPr>
            <p:nvPr/>
          </p:nvSpPr>
          <p:spPr>
            <a:xfrm flipV="1">
              <a:off x="1783" y="661"/>
              <a:ext cx="84" cy="2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601" name="Text Box 46"/>
            <p:cNvSpPr txBox="1">
              <a:spLocks noChangeAspect="1"/>
            </p:cNvSpPr>
            <p:nvPr/>
          </p:nvSpPr>
          <p:spPr>
            <a:xfrm>
              <a:off x="1654" y="966"/>
              <a:ext cx="612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(3 ,2)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02" name="Line 47"/>
            <p:cNvSpPr>
              <a:spLocks noChangeAspect="1"/>
            </p:cNvSpPr>
            <p:nvPr/>
          </p:nvSpPr>
          <p:spPr>
            <a:xfrm>
              <a:off x="387" y="1492"/>
              <a:ext cx="220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3" name="Line 48"/>
            <p:cNvSpPr>
              <a:spLocks noChangeAspect="1"/>
            </p:cNvSpPr>
            <p:nvPr/>
          </p:nvSpPr>
          <p:spPr>
            <a:xfrm>
              <a:off x="1008" y="432"/>
              <a:ext cx="97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4" name="Line 49"/>
            <p:cNvSpPr>
              <a:spLocks noChangeAspect="1"/>
            </p:cNvSpPr>
            <p:nvPr/>
          </p:nvSpPr>
          <p:spPr>
            <a:xfrm>
              <a:off x="1978" y="432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5" name="Line 50"/>
            <p:cNvSpPr>
              <a:spLocks noChangeAspect="1"/>
            </p:cNvSpPr>
            <p:nvPr/>
          </p:nvSpPr>
          <p:spPr>
            <a:xfrm flipH="1">
              <a:off x="387" y="432"/>
              <a:ext cx="612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6" name="Line 51"/>
            <p:cNvSpPr>
              <a:spLocks noChangeAspect="1"/>
            </p:cNvSpPr>
            <p:nvPr/>
          </p:nvSpPr>
          <p:spPr>
            <a:xfrm>
              <a:off x="999" y="432"/>
              <a:ext cx="490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7" name="Line 52"/>
            <p:cNvSpPr>
              <a:spLocks noChangeAspect="1"/>
            </p:cNvSpPr>
            <p:nvPr/>
          </p:nvSpPr>
          <p:spPr>
            <a:xfrm flipV="1">
              <a:off x="1489" y="432"/>
              <a:ext cx="489" cy="10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none" w="lg" len="lg"/>
            </a:ln>
          </p:spPr>
        </p:sp>
        <p:sp>
          <p:nvSpPr>
            <p:cNvPr id="22608" name="Text Box 53"/>
            <p:cNvSpPr txBox="1">
              <a:spLocks noChangeAspect="1"/>
            </p:cNvSpPr>
            <p:nvPr/>
          </p:nvSpPr>
          <p:spPr>
            <a:xfrm>
              <a:off x="192" y="1362"/>
              <a:ext cx="49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09" name="Text Box 54"/>
            <p:cNvSpPr txBox="1">
              <a:spLocks noChangeAspect="1"/>
            </p:cNvSpPr>
            <p:nvPr/>
          </p:nvSpPr>
          <p:spPr>
            <a:xfrm>
              <a:off x="1393" y="1441"/>
              <a:ext cx="48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0" name="Text Box 55"/>
            <p:cNvSpPr txBox="1">
              <a:spLocks noChangeAspect="1"/>
            </p:cNvSpPr>
            <p:nvPr/>
          </p:nvSpPr>
          <p:spPr>
            <a:xfrm>
              <a:off x="806" y="14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1" name="Text Box 56"/>
            <p:cNvSpPr txBox="1">
              <a:spLocks noChangeAspect="1"/>
            </p:cNvSpPr>
            <p:nvPr/>
          </p:nvSpPr>
          <p:spPr>
            <a:xfrm>
              <a:off x="2611" y="1386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2" name="Text Box 57"/>
            <p:cNvSpPr txBox="1">
              <a:spLocks noChangeAspect="1"/>
            </p:cNvSpPr>
            <p:nvPr/>
          </p:nvSpPr>
          <p:spPr>
            <a:xfrm>
              <a:off x="1846" y="15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3" name="Text Box 58"/>
            <p:cNvSpPr txBox="1">
              <a:spLocks noChangeAspect="1"/>
            </p:cNvSpPr>
            <p:nvPr/>
          </p:nvSpPr>
          <p:spPr>
            <a:xfrm>
              <a:off x="622" y="1487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(1 ,4)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4" name="Text Box 59"/>
            <p:cNvSpPr txBox="1">
              <a:spLocks noChangeAspect="1"/>
            </p:cNvSpPr>
            <p:nvPr/>
          </p:nvSpPr>
          <p:spPr>
            <a:xfrm>
              <a:off x="1846" y="1506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(6 ,7)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5" name="Text Box 60"/>
            <p:cNvSpPr txBox="1">
              <a:spLocks noChangeAspect="1"/>
            </p:cNvSpPr>
            <p:nvPr/>
          </p:nvSpPr>
          <p:spPr>
            <a:xfrm>
              <a:off x="310" y="64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(4 ,8)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6" name="Text Box 61"/>
            <p:cNvSpPr txBox="1">
              <a:spLocks noChangeAspect="1"/>
            </p:cNvSpPr>
            <p:nvPr/>
          </p:nvSpPr>
          <p:spPr>
            <a:xfrm>
              <a:off x="1265" y="163"/>
              <a:ext cx="85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(1 ,6)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7" name="Text Box 62"/>
            <p:cNvSpPr txBox="1">
              <a:spLocks noChangeAspect="1"/>
            </p:cNvSpPr>
            <p:nvPr/>
          </p:nvSpPr>
          <p:spPr>
            <a:xfrm>
              <a:off x="2182" y="699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(2 ,5)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8" name="Text Box 63"/>
            <p:cNvSpPr txBox="1">
              <a:spLocks noChangeAspect="1"/>
            </p:cNvSpPr>
            <p:nvPr/>
          </p:nvSpPr>
          <p:spPr>
            <a:xfrm>
              <a:off x="877" y="1034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</a:rPr>
                <a:t>(2 ,3)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619" name="Line 64"/>
            <p:cNvSpPr/>
            <p:nvPr/>
          </p:nvSpPr>
          <p:spPr>
            <a:xfrm>
              <a:off x="2323" y="1021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22620" name="Line 65"/>
            <p:cNvSpPr>
              <a:spLocks noChangeAspect="1"/>
            </p:cNvSpPr>
            <p:nvPr/>
          </p:nvSpPr>
          <p:spPr>
            <a:xfrm flipH="1" flipV="1">
              <a:off x="1200" y="876"/>
              <a:ext cx="83" cy="1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22532" name="Group 117"/>
          <p:cNvGrpSpPr/>
          <p:nvPr/>
        </p:nvGrpSpPr>
        <p:grpSpPr>
          <a:xfrm>
            <a:off x="304800" y="3581400"/>
            <a:ext cx="4249738" cy="3033713"/>
            <a:chOff x="595" y="2256"/>
            <a:chExt cx="2677" cy="1911"/>
          </a:xfrm>
        </p:grpSpPr>
        <p:sp>
          <p:nvSpPr>
            <p:cNvPr id="22561" name="Line 74"/>
            <p:cNvSpPr>
              <a:spLocks noChangeAspect="1"/>
            </p:cNvSpPr>
            <p:nvPr/>
          </p:nvSpPr>
          <p:spPr>
            <a:xfrm>
              <a:off x="2551" y="2941"/>
              <a:ext cx="154" cy="2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2" name="Line 75"/>
            <p:cNvSpPr>
              <a:spLocks noChangeAspect="1"/>
            </p:cNvSpPr>
            <p:nvPr/>
          </p:nvSpPr>
          <p:spPr>
            <a:xfrm>
              <a:off x="1649" y="2542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3" name="Line 76"/>
            <p:cNvSpPr>
              <a:spLocks noChangeAspect="1"/>
            </p:cNvSpPr>
            <p:nvPr/>
          </p:nvSpPr>
          <p:spPr>
            <a:xfrm>
              <a:off x="2225" y="3540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4" name="Line 77"/>
            <p:cNvSpPr>
              <a:spLocks noChangeAspect="1"/>
            </p:cNvSpPr>
            <p:nvPr/>
          </p:nvSpPr>
          <p:spPr>
            <a:xfrm flipV="1">
              <a:off x="987" y="2878"/>
              <a:ext cx="230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5" name="Line 78"/>
            <p:cNvSpPr>
              <a:spLocks noChangeAspect="1"/>
            </p:cNvSpPr>
            <p:nvPr/>
          </p:nvSpPr>
          <p:spPr>
            <a:xfrm flipV="1">
              <a:off x="1995" y="3016"/>
              <a:ext cx="115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6" name="Line 79"/>
            <p:cNvSpPr>
              <a:spLocks noChangeAspect="1"/>
            </p:cNvSpPr>
            <p:nvPr/>
          </p:nvSpPr>
          <p:spPr>
            <a:xfrm flipH="1">
              <a:off x="1208" y="3540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67" name="Text Box 82"/>
            <p:cNvSpPr txBox="1">
              <a:spLocks noChangeAspect="1"/>
            </p:cNvSpPr>
            <p:nvPr/>
          </p:nvSpPr>
          <p:spPr>
            <a:xfrm>
              <a:off x="1794" y="3868"/>
              <a:ext cx="8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(5)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L(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(2)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8" name="Text Box 83"/>
            <p:cNvSpPr txBox="1">
              <a:spLocks noChangeAspect="1"/>
            </p:cNvSpPr>
            <p:nvPr/>
          </p:nvSpPr>
          <p:spPr>
            <a:xfrm>
              <a:off x="2208" y="3031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－3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9" name="Line 86"/>
            <p:cNvSpPr>
              <a:spLocks noChangeAspect="1"/>
            </p:cNvSpPr>
            <p:nvPr/>
          </p:nvSpPr>
          <p:spPr>
            <a:xfrm>
              <a:off x="835" y="3534"/>
              <a:ext cx="207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0" name="Line 87"/>
            <p:cNvSpPr>
              <a:spLocks noChangeAspect="1"/>
            </p:cNvSpPr>
            <p:nvPr/>
          </p:nvSpPr>
          <p:spPr>
            <a:xfrm>
              <a:off x="1411" y="2537"/>
              <a:ext cx="920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1" name="Line 88"/>
            <p:cNvSpPr>
              <a:spLocks noChangeAspect="1"/>
            </p:cNvSpPr>
            <p:nvPr/>
          </p:nvSpPr>
          <p:spPr>
            <a:xfrm>
              <a:off x="2331" y="2537"/>
              <a:ext cx="576" cy="99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2" name="Line 89"/>
            <p:cNvSpPr>
              <a:spLocks noChangeAspect="1"/>
            </p:cNvSpPr>
            <p:nvPr/>
          </p:nvSpPr>
          <p:spPr>
            <a:xfrm flipH="1">
              <a:off x="835" y="2537"/>
              <a:ext cx="576" cy="99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3" name="Line 90"/>
            <p:cNvSpPr>
              <a:spLocks noChangeAspect="1"/>
            </p:cNvSpPr>
            <p:nvPr/>
          </p:nvSpPr>
          <p:spPr>
            <a:xfrm>
              <a:off x="1411" y="2537"/>
              <a:ext cx="460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4" name="Line 91"/>
            <p:cNvSpPr>
              <a:spLocks noChangeAspect="1"/>
            </p:cNvSpPr>
            <p:nvPr/>
          </p:nvSpPr>
          <p:spPr>
            <a:xfrm flipV="1">
              <a:off x="1871" y="2537"/>
              <a:ext cx="460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5" name="Text Box 92"/>
            <p:cNvSpPr txBox="1">
              <a:spLocks noChangeAspect="1"/>
            </p:cNvSpPr>
            <p:nvPr/>
          </p:nvSpPr>
          <p:spPr>
            <a:xfrm>
              <a:off x="595" y="3411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6" name="Text Box 93"/>
            <p:cNvSpPr txBox="1">
              <a:spLocks noChangeAspect="1"/>
            </p:cNvSpPr>
            <p:nvPr/>
          </p:nvSpPr>
          <p:spPr>
            <a:xfrm>
              <a:off x="1727" y="3548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7" name="Text Box 94"/>
            <p:cNvSpPr txBox="1">
              <a:spLocks noChangeAspect="1"/>
            </p:cNvSpPr>
            <p:nvPr/>
          </p:nvSpPr>
          <p:spPr>
            <a:xfrm>
              <a:off x="1228" y="2266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8" name="Text Box 95"/>
            <p:cNvSpPr txBox="1">
              <a:spLocks noChangeAspect="1"/>
            </p:cNvSpPr>
            <p:nvPr/>
          </p:nvSpPr>
          <p:spPr>
            <a:xfrm>
              <a:off x="2927" y="3434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9" name="Text Box 96"/>
            <p:cNvSpPr txBox="1">
              <a:spLocks noChangeAspect="1"/>
            </p:cNvSpPr>
            <p:nvPr/>
          </p:nvSpPr>
          <p:spPr>
            <a:xfrm>
              <a:off x="2207" y="2276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0" name="Text Box 97"/>
            <p:cNvSpPr txBox="1">
              <a:spLocks noChangeAspect="1"/>
            </p:cNvSpPr>
            <p:nvPr/>
          </p:nvSpPr>
          <p:spPr>
            <a:xfrm>
              <a:off x="1056" y="3528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1" name="Text Box 98"/>
            <p:cNvSpPr txBox="1">
              <a:spLocks noChangeAspect="1"/>
            </p:cNvSpPr>
            <p:nvPr/>
          </p:nvSpPr>
          <p:spPr>
            <a:xfrm>
              <a:off x="921" y="2736"/>
              <a:ext cx="279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2" name="Text Box 99"/>
            <p:cNvSpPr txBox="1">
              <a:spLocks noChangeAspect="1"/>
            </p:cNvSpPr>
            <p:nvPr/>
          </p:nvSpPr>
          <p:spPr>
            <a:xfrm>
              <a:off x="1795" y="2256"/>
              <a:ext cx="22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3" name="Text Box 100"/>
            <p:cNvSpPr txBox="1">
              <a:spLocks noChangeAspect="1"/>
            </p:cNvSpPr>
            <p:nvPr/>
          </p:nvSpPr>
          <p:spPr>
            <a:xfrm>
              <a:off x="2524" y="2787"/>
              <a:ext cx="57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4" name="Text Box 101"/>
            <p:cNvSpPr txBox="1">
              <a:spLocks noChangeAspect="1"/>
            </p:cNvSpPr>
            <p:nvPr/>
          </p:nvSpPr>
          <p:spPr>
            <a:xfrm>
              <a:off x="1296" y="3102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85" name="Line 103"/>
            <p:cNvSpPr>
              <a:spLocks noChangeAspect="1"/>
            </p:cNvSpPr>
            <p:nvPr/>
          </p:nvSpPr>
          <p:spPr>
            <a:xfrm>
              <a:off x="1593" y="2952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86" name="Freeform 107"/>
            <p:cNvSpPr>
              <a:spLocks noChangeAspect="1"/>
            </p:cNvSpPr>
            <p:nvPr/>
          </p:nvSpPr>
          <p:spPr>
            <a:xfrm>
              <a:off x="1401" y="2555"/>
              <a:ext cx="921" cy="200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22421"/>
                </a:cxn>
                <a:cxn ang="0">
                  <a:pos x="1" y="0"/>
                </a:cxn>
              </a:cxnLst>
              <a:rect l="txL" t="txT" r="txR" b="txB"/>
              <a:pathLst>
                <a:path w="1440" h="156">
                  <a:moveTo>
                    <a:pt x="0" y="0"/>
                  </a:moveTo>
                  <a:cubicBezTo>
                    <a:pt x="240" y="78"/>
                    <a:pt x="480" y="156"/>
                    <a:pt x="720" y="156"/>
                  </a:cubicBezTo>
                  <a:cubicBezTo>
                    <a:pt x="960" y="156"/>
                    <a:pt x="1200" y="78"/>
                    <a:pt x="14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87" name="Line 108"/>
            <p:cNvSpPr>
              <a:spLocks noChangeAspect="1"/>
            </p:cNvSpPr>
            <p:nvPr/>
          </p:nvSpPr>
          <p:spPr>
            <a:xfrm flipH="1">
              <a:off x="1746" y="2738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88" name="Freeform 109"/>
            <p:cNvSpPr>
              <a:spLocks noChangeAspect="1"/>
            </p:cNvSpPr>
            <p:nvPr/>
          </p:nvSpPr>
          <p:spPr>
            <a:xfrm>
              <a:off x="1862" y="2555"/>
              <a:ext cx="460" cy="998"/>
            </a:xfrm>
            <a:custGeom>
              <a:avLst/>
              <a:gdLst>
                <a:gd name="txL" fmla="*/ 0 w 720"/>
                <a:gd name="txT" fmla="*/ 0 h 1560"/>
                <a:gd name="txR" fmla="*/ 720 w 720"/>
                <a:gd name="txB" fmla="*/ 1560 h 1560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720" h="1560">
                  <a:moveTo>
                    <a:pt x="720" y="0"/>
                  </a:moveTo>
                  <a:cubicBezTo>
                    <a:pt x="690" y="338"/>
                    <a:pt x="660" y="676"/>
                    <a:pt x="540" y="936"/>
                  </a:cubicBezTo>
                  <a:cubicBezTo>
                    <a:pt x="420" y="1196"/>
                    <a:pt x="210" y="1378"/>
                    <a:pt x="0" y="156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89" name="Line 110"/>
            <p:cNvSpPr>
              <a:spLocks noChangeAspect="1"/>
            </p:cNvSpPr>
            <p:nvPr/>
          </p:nvSpPr>
          <p:spPr>
            <a:xfrm flipH="1">
              <a:off x="2140" y="3073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90" name="Freeform 111"/>
            <p:cNvSpPr>
              <a:spLocks noChangeAspect="1"/>
            </p:cNvSpPr>
            <p:nvPr/>
          </p:nvSpPr>
          <p:spPr>
            <a:xfrm>
              <a:off x="2322" y="2555"/>
              <a:ext cx="595" cy="998"/>
            </a:xfrm>
            <a:custGeom>
              <a:avLst/>
              <a:gdLst>
                <a:gd name="txL" fmla="*/ 0 w 930"/>
                <a:gd name="txT" fmla="*/ 0 h 1560"/>
                <a:gd name="txR" fmla="*/ 930 w 930"/>
                <a:gd name="txB" fmla="*/ 1560 h 1560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930" h="1560">
                  <a:moveTo>
                    <a:pt x="0" y="0"/>
                  </a:moveTo>
                  <a:cubicBezTo>
                    <a:pt x="285" y="13"/>
                    <a:pt x="570" y="26"/>
                    <a:pt x="720" y="156"/>
                  </a:cubicBezTo>
                  <a:cubicBezTo>
                    <a:pt x="870" y="286"/>
                    <a:pt x="870" y="546"/>
                    <a:pt x="900" y="780"/>
                  </a:cubicBezTo>
                  <a:cubicBezTo>
                    <a:pt x="930" y="1014"/>
                    <a:pt x="915" y="1287"/>
                    <a:pt x="900" y="156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91" name="Line 112"/>
            <p:cNvSpPr>
              <a:spLocks noChangeAspect="1"/>
            </p:cNvSpPr>
            <p:nvPr/>
          </p:nvSpPr>
          <p:spPr>
            <a:xfrm flipV="1">
              <a:off x="2898" y="285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92" name="Text Box 113"/>
            <p:cNvSpPr txBox="1">
              <a:spLocks noChangeAspect="1"/>
            </p:cNvSpPr>
            <p:nvPr/>
          </p:nvSpPr>
          <p:spPr>
            <a:xfrm>
              <a:off x="2447" y="2555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－2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93" name="Text Box 114"/>
            <p:cNvSpPr txBox="1">
              <a:spLocks noChangeAspect="1"/>
            </p:cNvSpPr>
            <p:nvPr/>
          </p:nvSpPr>
          <p:spPr>
            <a:xfrm>
              <a:off x="1823" y="3008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94" name="Text Box 115"/>
            <p:cNvSpPr txBox="1">
              <a:spLocks noChangeAspect="1"/>
            </p:cNvSpPr>
            <p:nvPr/>
          </p:nvSpPr>
          <p:spPr>
            <a:xfrm>
              <a:off x="1631" y="2725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95" name="Text Box 116"/>
            <p:cNvSpPr txBox="1">
              <a:spLocks noChangeAspect="1"/>
            </p:cNvSpPr>
            <p:nvPr/>
          </p:nvSpPr>
          <p:spPr>
            <a:xfrm>
              <a:off x="2236" y="3553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3" name="Group 154"/>
          <p:cNvGrpSpPr/>
          <p:nvPr/>
        </p:nvGrpSpPr>
        <p:grpSpPr>
          <a:xfrm>
            <a:off x="4525963" y="3398838"/>
            <a:ext cx="4251325" cy="3097212"/>
            <a:chOff x="2851" y="2141"/>
            <a:chExt cx="2678" cy="1951"/>
          </a:xfrm>
        </p:grpSpPr>
        <p:sp>
          <p:nvSpPr>
            <p:cNvPr id="22534" name="Line 121"/>
            <p:cNvSpPr>
              <a:spLocks noChangeAspect="1"/>
            </p:cNvSpPr>
            <p:nvPr/>
          </p:nvSpPr>
          <p:spPr>
            <a:xfrm>
              <a:off x="3897" y="2455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35" name="Line 123"/>
            <p:cNvSpPr>
              <a:spLocks noChangeAspect="1"/>
            </p:cNvSpPr>
            <p:nvPr/>
          </p:nvSpPr>
          <p:spPr>
            <a:xfrm>
              <a:off x="3437" y="345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36" name="Line 124"/>
            <p:cNvSpPr>
              <a:spLocks noChangeAspect="1"/>
            </p:cNvSpPr>
            <p:nvPr/>
          </p:nvSpPr>
          <p:spPr>
            <a:xfrm>
              <a:off x="4473" y="345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37" name="Line 125"/>
            <p:cNvSpPr>
              <a:spLocks noChangeAspect="1"/>
            </p:cNvSpPr>
            <p:nvPr/>
          </p:nvSpPr>
          <p:spPr>
            <a:xfrm flipV="1">
              <a:off x="3235" y="2791"/>
              <a:ext cx="230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38" name="Line 126"/>
            <p:cNvSpPr>
              <a:spLocks noChangeAspect="1"/>
            </p:cNvSpPr>
            <p:nvPr/>
          </p:nvSpPr>
          <p:spPr>
            <a:xfrm>
              <a:off x="4799" y="2854"/>
              <a:ext cx="154" cy="2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39" name="Line 127"/>
            <p:cNvSpPr>
              <a:spLocks noChangeAspect="1"/>
            </p:cNvSpPr>
            <p:nvPr/>
          </p:nvSpPr>
          <p:spPr>
            <a:xfrm flipH="1" flipV="1">
              <a:off x="3888" y="2952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40" name="Line 129"/>
            <p:cNvSpPr>
              <a:spLocks noChangeAspect="1"/>
            </p:cNvSpPr>
            <p:nvPr/>
          </p:nvSpPr>
          <p:spPr>
            <a:xfrm flipV="1">
              <a:off x="4243" y="2930"/>
              <a:ext cx="115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41" name="Text Box 131"/>
            <p:cNvSpPr txBox="1">
              <a:spLocks noChangeAspect="1"/>
            </p:cNvSpPr>
            <p:nvPr/>
          </p:nvSpPr>
          <p:spPr>
            <a:xfrm>
              <a:off x="4224" y="295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42" name="Line 135"/>
            <p:cNvSpPr>
              <a:spLocks noChangeAspect="1"/>
            </p:cNvSpPr>
            <p:nvPr/>
          </p:nvSpPr>
          <p:spPr>
            <a:xfrm>
              <a:off x="3091" y="3454"/>
              <a:ext cx="207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3" name="Line 136"/>
            <p:cNvSpPr>
              <a:spLocks noChangeAspect="1"/>
            </p:cNvSpPr>
            <p:nvPr/>
          </p:nvSpPr>
          <p:spPr>
            <a:xfrm>
              <a:off x="3667" y="2456"/>
              <a:ext cx="9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4" name="Line 137"/>
            <p:cNvSpPr>
              <a:spLocks noChangeAspect="1"/>
            </p:cNvSpPr>
            <p:nvPr/>
          </p:nvSpPr>
          <p:spPr>
            <a:xfrm>
              <a:off x="4588" y="2456"/>
              <a:ext cx="576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5" name="Line 138"/>
            <p:cNvSpPr>
              <a:spLocks noChangeAspect="1"/>
            </p:cNvSpPr>
            <p:nvPr/>
          </p:nvSpPr>
          <p:spPr>
            <a:xfrm flipH="1">
              <a:off x="3091" y="2456"/>
              <a:ext cx="576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6" name="Line 139"/>
            <p:cNvSpPr>
              <a:spLocks noChangeAspect="1"/>
            </p:cNvSpPr>
            <p:nvPr/>
          </p:nvSpPr>
          <p:spPr>
            <a:xfrm>
              <a:off x="3667" y="2456"/>
              <a:ext cx="461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7" name="Line 140"/>
            <p:cNvSpPr>
              <a:spLocks noChangeAspect="1"/>
            </p:cNvSpPr>
            <p:nvPr/>
          </p:nvSpPr>
          <p:spPr>
            <a:xfrm flipV="1">
              <a:off x="4128" y="2456"/>
              <a:ext cx="460" cy="9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48" name="Text Box 141"/>
            <p:cNvSpPr txBox="1">
              <a:spLocks noChangeAspect="1"/>
            </p:cNvSpPr>
            <p:nvPr/>
          </p:nvSpPr>
          <p:spPr>
            <a:xfrm>
              <a:off x="2851" y="3331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49" name="Text Box 142"/>
            <p:cNvSpPr txBox="1">
              <a:spLocks noChangeAspect="1"/>
            </p:cNvSpPr>
            <p:nvPr/>
          </p:nvSpPr>
          <p:spPr>
            <a:xfrm>
              <a:off x="3984" y="3467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0" name="Text Box 143"/>
            <p:cNvSpPr txBox="1">
              <a:spLocks noChangeAspect="1"/>
            </p:cNvSpPr>
            <p:nvPr/>
          </p:nvSpPr>
          <p:spPr>
            <a:xfrm>
              <a:off x="3485" y="2185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1" name="Text Box 144"/>
            <p:cNvSpPr txBox="1">
              <a:spLocks noChangeAspect="1"/>
            </p:cNvSpPr>
            <p:nvPr/>
          </p:nvSpPr>
          <p:spPr>
            <a:xfrm>
              <a:off x="5183" y="335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2" name="Text Box 145"/>
            <p:cNvSpPr txBox="1">
              <a:spLocks noChangeAspect="1"/>
            </p:cNvSpPr>
            <p:nvPr/>
          </p:nvSpPr>
          <p:spPr>
            <a:xfrm>
              <a:off x="4464" y="2195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3" name="Text Box 146"/>
            <p:cNvSpPr txBox="1">
              <a:spLocks noChangeAspect="1"/>
            </p:cNvSpPr>
            <p:nvPr/>
          </p:nvSpPr>
          <p:spPr>
            <a:xfrm>
              <a:off x="3312" y="344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4" name="Text Box 147"/>
            <p:cNvSpPr txBox="1">
              <a:spLocks noChangeAspect="1"/>
            </p:cNvSpPr>
            <p:nvPr/>
          </p:nvSpPr>
          <p:spPr>
            <a:xfrm>
              <a:off x="4560" y="3467"/>
              <a:ext cx="28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5" name="Text Box 148"/>
            <p:cNvSpPr txBox="1">
              <a:spLocks noChangeAspect="1"/>
            </p:cNvSpPr>
            <p:nvPr/>
          </p:nvSpPr>
          <p:spPr>
            <a:xfrm>
              <a:off x="3178" y="2724"/>
              <a:ext cx="18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6" name="Text Box 149"/>
            <p:cNvSpPr txBox="1">
              <a:spLocks noChangeAspect="1"/>
            </p:cNvSpPr>
            <p:nvPr/>
          </p:nvSpPr>
          <p:spPr>
            <a:xfrm>
              <a:off x="4003" y="2199"/>
              <a:ext cx="317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7" name="Text Box 150"/>
            <p:cNvSpPr txBox="1">
              <a:spLocks noChangeAspect="1"/>
            </p:cNvSpPr>
            <p:nvPr/>
          </p:nvSpPr>
          <p:spPr>
            <a:xfrm>
              <a:off x="4972" y="2917"/>
              <a:ext cx="26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5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8" name="Text Box 151"/>
            <p:cNvSpPr txBox="1">
              <a:spLocks noChangeAspect="1"/>
            </p:cNvSpPr>
            <p:nvPr/>
          </p:nvSpPr>
          <p:spPr>
            <a:xfrm>
              <a:off x="3696" y="2928"/>
              <a:ext cx="24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9" name="Text Box 152"/>
            <p:cNvSpPr txBox="1">
              <a:spLocks noChangeAspect="1"/>
            </p:cNvSpPr>
            <p:nvPr/>
          </p:nvSpPr>
          <p:spPr>
            <a:xfrm>
              <a:off x="3792" y="3792"/>
              <a:ext cx="7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 (6</a:t>
              </a:r>
              <a:r>
                <a:rPr lang="zh-CN" altLang="en-US" sz="1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) 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( 3)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0" name="Text Box 153"/>
            <p:cNvSpPr txBox="1">
              <a:spLocks noChangeAspect="1"/>
            </p:cNvSpPr>
            <p:nvPr/>
          </p:nvSpPr>
          <p:spPr>
            <a:xfrm>
              <a:off x="4733" y="2141"/>
              <a:ext cx="787" cy="49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3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=1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18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(3)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)=5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3554" name="Group 197"/>
          <p:cNvGrpSpPr/>
          <p:nvPr/>
        </p:nvGrpSpPr>
        <p:grpSpPr>
          <a:xfrm>
            <a:off x="228600" y="228600"/>
            <a:ext cx="4237038" cy="2967038"/>
            <a:chOff x="307" y="211"/>
            <a:chExt cx="2669" cy="1869"/>
          </a:xfrm>
        </p:grpSpPr>
        <p:sp>
          <p:nvSpPr>
            <p:cNvPr id="23652" name="Text Box 32"/>
            <p:cNvSpPr txBox="1">
              <a:spLocks noChangeAspect="1"/>
            </p:cNvSpPr>
            <p:nvPr/>
          </p:nvSpPr>
          <p:spPr>
            <a:xfrm>
              <a:off x="1152" y="1781"/>
              <a:ext cx="82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(7)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L(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(3)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3" name="Line 34"/>
            <p:cNvSpPr>
              <a:spLocks noChangeAspect="1"/>
            </p:cNvSpPr>
            <p:nvPr/>
          </p:nvSpPr>
          <p:spPr>
            <a:xfrm flipH="1">
              <a:off x="1863" y="1056"/>
              <a:ext cx="73" cy="1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54" name="Line 36"/>
            <p:cNvSpPr>
              <a:spLocks noChangeAspect="1"/>
            </p:cNvSpPr>
            <p:nvPr/>
          </p:nvSpPr>
          <p:spPr>
            <a:xfrm flipH="1">
              <a:off x="911" y="1479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55" name="Line 38"/>
            <p:cNvSpPr>
              <a:spLocks noChangeAspect="1"/>
            </p:cNvSpPr>
            <p:nvPr/>
          </p:nvSpPr>
          <p:spPr>
            <a:xfrm flipH="1">
              <a:off x="1450" y="686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56" name="Line 43"/>
            <p:cNvSpPr>
              <a:spLocks noChangeAspect="1"/>
            </p:cNvSpPr>
            <p:nvPr/>
          </p:nvSpPr>
          <p:spPr>
            <a:xfrm>
              <a:off x="538" y="1481"/>
              <a:ext cx="207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57" name="Line 44"/>
            <p:cNvSpPr>
              <a:spLocks noChangeAspect="1"/>
            </p:cNvSpPr>
            <p:nvPr/>
          </p:nvSpPr>
          <p:spPr>
            <a:xfrm>
              <a:off x="1114" y="482"/>
              <a:ext cx="9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58" name="Line 45"/>
            <p:cNvSpPr>
              <a:spLocks noChangeAspect="1"/>
            </p:cNvSpPr>
            <p:nvPr/>
          </p:nvSpPr>
          <p:spPr>
            <a:xfrm>
              <a:off x="2035" y="482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59" name="Line 46"/>
            <p:cNvSpPr>
              <a:spLocks noChangeAspect="1"/>
            </p:cNvSpPr>
            <p:nvPr/>
          </p:nvSpPr>
          <p:spPr>
            <a:xfrm flipH="1">
              <a:off x="538" y="482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60" name="Line 47"/>
            <p:cNvSpPr>
              <a:spLocks noChangeAspect="1"/>
            </p:cNvSpPr>
            <p:nvPr/>
          </p:nvSpPr>
          <p:spPr>
            <a:xfrm>
              <a:off x="1114" y="482"/>
              <a:ext cx="461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61" name="Line 48"/>
            <p:cNvSpPr>
              <a:spLocks noChangeAspect="1"/>
            </p:cNvSpPr>
            <p:nvPr/>
          </p:nvSpPr>
          <p:spPr>
            <a:xfrm flipV="1">
              <a:off x="1575" y="482"/>
              <a:ext cx="46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62" name="Text Box 49"/>
            <p:cNvSpPr txBox="1">
              <a:spLocks noChangeAspect="1"/>
            </p:cNvSpPr>
            <p:nvPr/>
          </p:nvSpPr>
          <p:spPr>
            <a:xfrm>
              <a:off x="307" y="1358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63" name="Text Box 50"/>
            <p:cNvSpPr txBox="1">
              <a:spLocks noChangeAspect="1"/>
            </p:cNvSpPr>
            <p:nvPr/>
          </p:nvSpPr>
          <p:spPr>
            <a:xfrm>
              <a:off x="1431" y="1494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64" name="Text Box 51"/>
            <p:cNvSpPr txBox="1">
              <a:spLocks noChangeAspect="1"/>
            </p:cNvSpPr>
            <p:nvPr/>
          </p:nvSpPr>
          <p:spPr>
            <a:xfrm>
              <a:off x="932" y="211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65" name="Text Box 52"/>
            <p:cNvSpPr txBox="1">
              <a:spLocks noChangeAspect="1"/>
            </p:cNvSpPr>
            <p:nvPr/>
          </p:nvSpPr>
          <p:spPr>
            <a:xfrm>
              <a:off x="2630" y="138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66" name="Text Box 53"/>
            <p:cNvSpPr txBox="1">
              <a:spLocks noChangeAspect="1"/>
            </p:cNvSpPr>
            <p:nvPr/>
          </p:nvSpPr>
          <p:spPr>
            <a:xfrm>
              <a:off x="1911" y="221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67" name="Freeform 54"/>
            <p:cNvSpPr>
              <a:spLocks noChangeAspect="1"/>
            </p:cNvSpPr>
            <p:nvPr/>
          </p:nvSpPr>
          <p:spPr>
            <a:xfrm>
              <a:off x="1565" y="491"/>
              <a:ext cx="461" cy="999"/>
            </a:xfrm>
            <a:custGeom>
              <a:avLst/>
              <a:gdLst>
                <a:gd name="txL" fmla="*/ 0 w 720"/>
                <a:gd name="txT" fmla="*/ 0 h 1560"/>
                <a:gd name="txR" fmla="*/ 720 w 720"/>
                <a:gd name="txB" fmla="*/ 1560 h 1560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720" h="1560">
                  <a:moveTo>
                    <a:pt x="720" y="0"/>
                  </a:moveTo>
                  <a:cubicBezTo>
                    <a:pt x="690" y="338"/>
                    <a:pt x="660" y="676"/>
                    <a:pt x="540" y="936"/>
                  </a:cubicBezTo>
                  <a:cubicBezTo>
                    <a:pt x="420" y="1196"/>
                    <a:pt x="210" y="1378"/>
                    <a:pt x="0" y="156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68" name="Line 57"/>
            <p:cNvSpPr>
              <a:spLocks noChangeAspect="1"/>
            </p:cNvSpPr>
            <p:nvPr/>
          </p:nvSpPr>
          <p:spPr>
            <a:xfrm>
              <a:off x="1353" y="478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69" name="Line 58"/>
            <p:cNvSpPr>
              <a:spLocks noChangeAspect="1"/>
            </p:cNvSpPr>
            <p:nvPr/>
          </p:nvSpPr>
          <p:spPr>
            <a:xfrm flipV="1">
              <a:off x="1698" y="953"/>
              <a:ext cx="115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70" name="Freeform 59"/>
            <p:cNvSpPr>
              <a:spLocks noChangeAspect="1"/>
            </p:cNvSpPr>
            <p:nvPr/>
          </p:nvSpPr>
          <p:spPr>
            <a:xfrm>
              <a:off x="1105" y="492"/>
              <a:ext cx="921" cy="199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20280"/>
                </a:cxn>
                <a:cxn ang="0">
                  <a:pos x="1" y="0"/>
                </a:cxn>
              </a:cxnLst>
              <a:rect l="txL" t="txT" r="txR" b="txB"/>
              <a:pathLst>
                <a:path w="1440" h="156">
                  <a:moveTo>
                    <a:pt x="0" y="0"/>
                  </a:moveTo>
                  <a:cubicBezTo>
                    <a:pt x="240" y="78"/>
                    <a:pt x="480" y="156"/>
                    <a:pt x="720" y="156"/>
                  </a:cubicBezTo>
                  <a:cubicBezTo>
                    <a:pt x="960" y="156"/>
                    <a:pt x="1200" y="78"/>
                    <a:pt x="14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71" name="Line 61"/>
            <p:cNvSpPr>
              <a:spLocks noChangeAspect="1"/>
            </p:cNvSpPr>
            <p:nvPr/>
          </p:nvSpPr>
          <p:spPr>
            <a:xfrm>
              <a:off x="1929" y="1477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72" name="Line 62"/>
            <p:cNvSpPr>
              <a:spLocks noChangeAspect="1"/>
            </p:cNvSpPr>
            <p:nvPr/>
          </p:nvSpPr>
          <p:spPr>
            <a:xfrm flipV="1">
              <a:off x="691" y="814"/>
              <a:ext cx="230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73" name="Text Box 63"/>
            <p:cNvSpPr txBox="1">
              <a:spLocks noChangeAspect="1"/>
            </p:cNvSpPr>
            <p:nvPr/>
          </p:nvSpPr>
          <p:spPr>
            <a:xfrm>
              <a:off x="1920" y="96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－3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4" name="Text Box 64"/>
            <p:cNvSpPr txBox="1">
              <a:spLocks noChangeAspect="1"/>
            </p:cNvSpPr>
            <p:nvPr/>
          </p:nvSpPr>
          <p:spPr>
            <a:xfrm>
              <a:off x="759" y="1466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5" name="Text Box 65"/>
            <p:cNvSpPr txBox="1">
              <a:spLocks noChangeAspect="1"/>
            </p:cNvSpPr>
            <p:nvPr/>
          </p:nvSpPr>
          <p:spPr>
            <a:xfrm>
              <a:off x="672" y="70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6" name="Text Box 66"/>
            <p:cNvSpPr txBox="1">
              <a:spLocks noChangeAspect="1"/>
            </p:cNvSpPr>
            <p:nvPr/>
          </p:nvSpPr>
          <p:spPr>
            <a:xfrm>
              <a:off x="1450" y="228"/>
              <a:ext cx="27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7" name="Text Box 67"/>
            <p:cNvSpPr txBox="1">
              <a:spLocks noChangeAspect="1"/>
            </p:cNvSpPr>
            <p:nvPr/>
          </p:nvSpPr>
          <p:spPr>
            <a:xfrm>
              <a:off x="2227" y="724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-2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8" name="Text Box 68"/>
            <p:cNvSpPr txBox="1">
              <a:spLocks noChangeAspect="1"/>
            </p:cNvSpPr>
            <p:nvPr/>
          </p:nvSpPr>
          <p:spPr>
            <a:xfrm>
              <a:off x="999" y="1039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79" name="Line 70"/>
            <p:cNvSpPr>
              <a:spLocks noChangeAspect="1"/>
            </p:cNvSpPr>
            <p:nvPr/>
          </p:nvSpPr>
          <p:spPr>
            <a:xfrm>
              <a:off x="1297" y="889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80" name="Text Box 71"/>
            <p:cNvSpPr txBox="1">
              <a:spLocks noChangeAspect="1"/>
            </p:cNvSpPr>
            <p:nvPr/>
          </p:nvSpPr>
          <p:spPr>
            <a:xfrm>
              <a:off x="1527" y="945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81" name="Text Box 72"/>
            <p:cNvSpPr txBox="1">
              <a:spLocks noChangeAspect="1"/>
            </p:cNvSpPr>
            <p:nvPr/>
          </p:nvSpPr>
          <p:spPr>
            <a:xfrm>
              <a:off x="1335" y="640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82" name="Text Box 73"/>
            <p:cNvSpPr txBox="1">
              <a:spLocks noChangeAspect="1"/>
            </p:cNvSpPr>
            <p:nvPr/>
          </p:nvSpPr>
          <p:spPr>
            <a:xfrm>
              <a:off x="1930" y="1479"/>
              <a:ext cx="4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83" name="Line 74"/>
            <p:cNvSpPr>
              <a:spLocks noChangeAspect="1"/>
            </p:cNvSpPr>
            <p:nvPr/>
          </p:nvSpPr>
          <p:spPr>
            <a:xfrm flipV="1">
              <a:off x="567" y="501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84" name="Line 75"/>
            <p:cNvSpPr>
              <a:spLocks noChangeAspect="1"/>
            </p:cNvSpPr>
            <p:nvPr/>
          </p:nvSpPr>
          <p:spPr>
            <a:xfrm>
              <a:off x="1076" y="492"/>
              <a:ext cx="460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85" name="Line 76"/>
            <p:cNvSpPr>
              <a:spLocks noChangeAspect="1"/>
            </p:cNvSpPr>
            <p:nvPr/>
          </p:nvSpPr>
          <p:spPr>
            <a:xfrm>
              <a:off x="1584" y="1519"/>
              <a:ext cx="103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555" name="Group 198"/>
          <p:cNvGrpSpPr/>
          <p:nvPr/>
        </p:nvGrpSpPr>
        <p:grpSpPr>
          <a:xfrm>
            <a:off x="4495800" y="361950"/>
            <a:ext cx="4268788" cy="3067050"/>
            <a:chOff x="2851" y="480"/>
            <a:chExt cx="2689" cy="1932"/>
          </a:xfrm>
        </p:grpSpPr>
        <p:sp>
          <p:nvSpPr>
            <p:cNvPr id="23625" name="Line 80"/>
            <p:cNvSpPr>
              <a:spLocks noChangeAspect="1"/>
            </p:cNvSpPr>
            <p:nvPr/>
          </p:nvSpPr>
          <p:spPr>
            <a:xfrm>
              <a:off x="3899" y="825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26" name="Line 82"/>
            <p:cNvSpPr>
              <a:spLocks noChangeAspect="1"/>
            </p:cNvSpPr>
            <p:nvPr/>
          </p:nvSpPr>
          <p:spPr>
            <a:xfrm>
              <a:off x="3438" y="182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27" name="Line 83"/>
            <p:cNvSpPr>
              <a:spLocks noChangeAspect="1"/>
            </p:cNvSpPr>
            <p:nvPr/>
          </p:nvSpPr>
          <p:spPr>
            <a:xfrm>
              <a:off x="4476" y="1824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28" name="Line 84"/>
            <p:cNvSpPr>
              <a:spLocks noChangeAspect="1"/>
            </p:cNvSpPr>
            <p:nvPr/>
          </p:nvSpPr>
          <p:spPr>
            <a:xfrm flipV="1">
              <a:off x="3236" y="1161"/>
              <a:ext cx="231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29" name="Line 85"/>
            <p:cNvSpPr>
              <a:spLocks noChangeAspect="1"/>
            </p:cNvSpPr>
            <p:nvPr/>
          </p:nvSpPr>
          <p:spPr>
            <a:xfrm>
              <a:off x="4802" y="1224"/>
              <a:ext cx="154" cy="2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30" name="Line 86"/>
            <p:cNvSpPr>
              <a:spLocks noChangeAspect="1"/>
            </p:cNvSpPr>
            <p:nvPr/>
          </p:nvSpPr>
          <p:spPr>
            <a:xfrm flipH="1" flipV="1">
              <a:off x="3889" y="1322"/>
              <a:ext cx="116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31" name="Line 88"/>
            <p:cNvSpPr>
              <a:spLocks noChangeAspect="1"/>
            </p:cNvSpPr>
            <p:nvPr/>
          </p:nvSpPr>
          <p:spPr>
            <a:xfrm flipV="1">
              <a:off x="4244" y="1299"/>
              <a:ext cx="116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32" name="Text Box 90"/>
            <p:cNvSpPr txBox="1">
              <a:spLocks noChangeAspect="1"/>
            </p:cNvSpPr>
            <p:nvPr/>
          </p:nvSpPr>
          <p:spPr>
            <a:xfrm>
              <a:off x="4225" y="1328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33" name="Line 94"/>
            <p:cNvSpPr>
              <a:spLocks noChangeAspect="1"/>
            </p:cNvSpPr>
            <p:nvPr/>
          </p:nvSpPr>
          <p:spPr>
            <a:xfrm>
              <a:off x="3092" y="1824"/>
              <a:ext cx="20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4" name="Line 95"/>
            <p:cNvSpPr>
              <a:spLocks noChangeAspect="1"/>
            </p:cNvSpPr>
            <p:nvPr/>
          </p:nvSpPr>
          <p:spPr>
            <a:xfrm>
              <a:off x="3668" y="825"/>
              <a:ext cx="9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5" name="Line 96"/>
            <p:cNvSpPr>
              <a:spLocks noChangeAspect="1"/>
            </p:cNvSpPr>
            <p:nvPr/>
          </p:nvSpPr>
          <p:spPr>
            <a:xfrm>
              <a:off x="4591" y="825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6" name="Line 97"/>
            <p:cNvSpPr>
              <a:spLocks noChangeAspect="1"/>
            </p:cNvSpPr>
            <p:nvPr/>
          </p:nvSpPr>
          <p:spPr>
            <a:xfrm flipH="1">
              <a:off x="3092" y="825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7" name="Line 98"/>
            <p:cNvSpPr>
              <a:spLocks noChangeAspect="1"/>
            </p:cNvSpPr>
            <p:nvPr/>
          </p:nvSpPr>
          <p:spPr>
            <a:xfrm>
              <a:off x="3668" y="825"/>
              <a:ext cx="462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8" name="Line 99"/>
            <p:cNvSpPr>
              <a:spLocks noChangeAspect="1"/>
            </p:cNvSpPr>
            <p:nvPr/>
          </p:nvSpPr>
          <p:spPr>
            <a:xfrm flipV="1">
              <a:off x="4130" y="825"/>
              <a:ext cx="461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39" name="Text Box 100"/>
            <p:cNvSpPr txBox="1">
              <a:spLocks noChangeAspect="1"/>
            </p:cNvSpPr>
            <p:nvPr/>
          </p:nvSpPr>
          <p:spPr>
            <a:xfrm>
              <a:off x="2851" y="1701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0" name="Text Box 101"/>
            <p:cNvSpPr txBox="1">
              <a:spLocks noChangeAspect="1"/>
            </p:cNvSpPr>
            <p:nvPr/>
          </p:nvSpPr>
          <p:spPr>
            <a:xfrm>
              <a:off x="3985" y="1837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1" name="Text Box 102"/>
            <p:cNvSpPr txBox="1">
              <a:spLocks noChangeAspect="1"/>
            </p:cNvSpPr>
            <p:nvPr/>
          </p:nvSpPr>
          <p:spPr>
            <a:xfrm>
              <a:off x="3485" y="55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2" name="Text Box 103"/>
            <p:cNvSpPr txBox="1">
              <a:spLocks noChangeAspect="1"/>
            </p:cNvSpPr>
            <p:nvPr/>
          </p:nvSpPr>
          <p:spPr>
            <a:xfrm>
              <a:off x="5186" y="172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3" name="Text Box 104"/>
            <p:cNvSpPr txBox="1">
              <a:spLocks noChangeAspect="1"/>
            </p:cNvSpPr>
            <p:nvPr/>
          </p:nvSpPr>
          <p:spPr>
            <a:xfrm>
              <a:off x="4465" y="564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4" name="Text Box 105"/>
            <p:cNvSpPr txBox="1">
              <a:spLocks noChangeAspect="1"/>
            </p:cNvSpPr>
            <p:nvPr/>
          </p:nvSpPr>
          <p:spPr>
            <a:xfrm>
              <a:off x="3312" y="1818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5" name="Text Box 106"/>
            <p:cNvSpPr txBox="1">
              <a:spLocks noChangeAspect="1"/>
            </p:cNvSpPr>
            <p:nvPr/>
          </p:nvSpPr>
          <p:spPr>
            <a:xfrm>
              <a:off x="4417" y="1838"/>
              <a:ext cx="577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6" name="Text Box 107"/>
            <p:cNvSpPr txBox="1">
              <a:spLocks noChangeAspect="1"/>
            </p:cNvSpPr>
            <p:nvPr/>
          </p:nvSpPr>
          <p:spPr>
            <a:xfrm>
              <a:off x="3216" y="1025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7" name="Text Box 108"/>
            <p:cNvSpPr txBox="1">
              <a:spLocks noChangeAspect="1"/>
            </p:cNvSpPr>
            <p:nvPr/>
          </p:nvSpPr>
          <p:spPr>
            <a:xfrm>
              <a:off x="4052" y="612"/>
              <a:ext cx="2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8" name="Text Box 109"/>
            <p:cNvSpPr txBox="1">
              <a:spLocks noChangeAspect="1"/>
            </p:cNvSpPr>
            <p:nvPr/>
          </p:nvSpPr>
          <p:spPr>
            <a:xfrm>
              <a:off x="4783" y="1076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5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49" name="Text Box 110"/>
            <p:cNvSpPr txBox="1">
              <a:spLocks noChangeAspect="1"/>
            </p:cNvSpPr>
            <p:nvPr/>
          </p:nvSpPr>
          <p:spPr>
            <a:xfrm>
              <a:off x="3553" y="1392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0" name="Text Box 111"/>
            <p:cNvSpPr txBox="1">
              <a:spLocks noChangeAspect="1"/>
            </p:cNvSpPr>
            <p:nvPr/>
          </p:nvSpPr>
          <p:spPr>
            <a:xfrm>
              <a:off x="3697" y="2112"/>
              <a:ext cx="126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 (8</a:t>
              </a:r>
              <a:r>
                <a:rPr lang="zh-CN" altLang="en-US" sz="1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) 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( 4)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1" name="Text Box 112"/>
            <p:cNvSpPr txBox="1">
              <a:spLocks noChangeAspect="1"/>
            </p:cNvSpPr>
            <p:nvPr/>
          </p:nvSpPr>
          <p:spPr>
            <a:xfrm>
              <a:off x="4752" y="480"/>
              <a:ext cx="788" cy="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4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=3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18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(4)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)=8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6" name="Group 210"/>
          <p:cNvGrpSpPr/>
          <p:nvPr/>
        </p:nvGrpSpPr>
        <p:grpSpPr>
          <a:xfrm>
            <a:off x="4449763" y="3581400"/>
            <a:ext cx="4191000" cy="2914650"/>
            <a:chOff x="2803" y="2400"/>
            <a:chExt cx="2640" cy="1836"/>
          </a:xfrm>
        </p:grpSpPr>
        <p:sp>
          <p:nvSpPr>
            <p:cNvPr id="23598" name="Line 163"/>
            <p:cNvSpPr>
              <a:spLocks noChangeAspect="1"/>
            </p:cNvSpPr>
            <p:nvPr/>
          </p:nvSpPr>
          <p:spPr>
            <a:xfrm>
              <a:off x="3801" y="2695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99" name="Line 165"/>
            <p:cNvSpPr>
              <a:spLocks noChangeAspect="1"/>
            </p:cNvSpPr>
            <p:nvPr/>
          </p:nvSpPr>
          <p:spPr>
            <a:xfrm>
              <a:off x="3340" y="3693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0" name="Line 166"/>
            <p:cNvSpPr>
              <a:spLocks noChangeAspect="1"/>
            </p:cNvSpPr>
            <p:nvPr/>
          </p:nvSpPr>
          <p:spPr>
            <a:xfrm>
              <a:off x="4376" y="3693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1" name="Line 167"/>
            <p:cNvSpPr>
              <a:spLocks noChangeAspect="1"/>
            </p:cNvSpPr>
            <p:nvPr/>
          </p:nvSpPr>
          <p:spPr>
            <a:xfrm flipV="1">
              <a:off x="3139" y="3031"/>
              <a:ext cx="230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2" name="Line 168"/>
            <p:cNvSpPr>
              <a:spLocks noChangeAspect="1"/>
            </p:cNvSpPr>
            <p:nvPr/>
          </p:nvSpPr>
          <p:spPr>
            <a:xfrm>
              <a:off x="4703" y="3094"/>
              <a:ext cx="153" cy="2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3" name="Line 169"/>
            <p:cNvSpPr>
              <a:spLocks noChangeAspect="1"/>
            </p:cNvSpPr>
            <p:nvPr/>
          </p:nvSpPr>
          <p:spPr>
            <a:xfrm flipH="1" flipV="1">
              <a:off x="3791" y="3192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4" name="Line 171"/>
            <p:cNvSpPr>
              <a:spLocks noChangeAspect="1"/>
            </p:cNvSpPr>
            <p:nvPr/>
          </p:nvSpPr>
          <p:spPr>
            <a:xfrm flipV="1">
              <a:off x="4146" y="3169"/>
              <a:ext cx="115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605" name="Text Box 173"/>
            <p:cNvSpPr txBox="1">
              <a:spLocks noChangeAspect="1"/>
            </p:cNvSpPr>
            <p:nvPr/>
          </p:nvSpPr>
          <p:spPr>
            <a:xfrm>
              <a:off x="4320" y="3168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06" name="Line 177"/>
            <p:cNvSpPr>
              <a:spLocks noChangeAspect="1"/>
            </p:cNvSpPr>
            <p:nvPr/>
          </p:nvSpPr>
          <p:spPr>
            <a:xfrm>
              <a:off x="2995" y="3692"/>
              <a:ext cx="207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07" name="Line 178"/>
            <p:cNvSpPr>
              <a:spLocks noChangeAspect="1"/>
            </p:cNvSpPr>
            <p:nvPr/>
          </p:nvSpPr>
          <p:spPr>
            <a:xfrm>
              <a:off x="3571" y="2695"/>
              <a:ext cx="92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08" name="Line 179"/>
            <p:cNvSpPr>
              <a:spLocks noChangeAspect="1"/>
            </p:cNvSpPr>
            <p:nvPr/>
          </p:nvSpPr>
          <p:spPr>
            <a:xfrm>
              <a:off x="4491" y="2695"/>
              <a:ext cx="576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09" name="Line 180"/>
            <p:cNvSpPr>
              <a:spLocks noChangeAspect="1"/>
            </p:cNvSpPr>
            <p:nvPr/>
          </p:nvSpPr>
          <p:spPr>
            <a:xfrm flipH="1">
              <a:off x="2995" y="2695"/>
              <a:ext cx="576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10" name="Line 181"/>
            <p:cNvSpPr>
              <a:spLocks noChangeAspect="1"/>
            </p:cNvSpPr>
            <p:nvPr/>
          </p:nvSpPr>
          <p:spPr>
            <a:xfrm>
              <a:off x="3571" y="2695"/>
              <a:ext cx="460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11" name="Line 182"/>
            <p:cNvSpPr>
              <a:spLocks noChangeAspect="1"/>
            </p:cNvSpPr>
            <p:nvPr/>
          </p:nvSpPr>
          <p:spPr>
            <a:xfrm flipV="1">
              <a:off x="4031" y="2695"/>
              <a:ext cx="460" cy="9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12" name="Text Box 183"/>
            <p:cNvSpPr txBox="1">
              <a:spLocks noChangeAspect="1"/>
            </p:cNvSpPr>
            <p:nvPr/>
          </p:nvSpPr>
          <p:spPr>
            <a:xfrm>
              <a:off x="2803" y="3570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3" name="Text Box 184"/>
            <p:cNvSpPr txBox="1">
              <a:spLocks noChangeAspect="1"/>
            </p:cNvSpPr>
            <p:nvPr/>
          </p:nvSpPr>
          <p:spPr>
            <a:xfrm>
              <a:off x="3887" y="3706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4" name="Text Box 185"/>
            <p:cNvSpPr txBox="1">
              <a:spLocks noChangeAspect="1"/>
            </p:cNvSpPr>
            <p:nvPr/>
          </p:nvSpPr>
          <p:spPr>
            <a:xfrm>
              <a:off x="3388" y="2425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5" name="Text Box 186"/>
            <p:cNvSpPr txBox="1">
              <a:spLocks noChangeAspect="1"/>
            </p:cNvSpPr>
            <p:nvPr/>
          </p:nvSpPr>
          <p:spPr>
            <a:xfrm>
              <a:off x="5087" y="3593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187"/>
            <p:cNvSpPr txBox="1">
              <a:spLocks noChangeAspect="1"/>
            </p:cNvSpPr>
            <p:nvPr/>
          </p:nvSpPr>
          <p:spPr>
            <a:xfrm>
              <a:off x="4367" y="2435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7" name="Text Box 188"/>
            <p:cNvSpPr txBox="1">
              <a:spLocks noChangeAspect="1"/>
            </p:cNvSpPr>
            <p:nvPr/>
          </p:nvSpPr>
          <p:spPr>
            <a:xfrm>
              <a:off x="3216" y="3687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8" name="Text Box 189"/>
            <p:cNvSpPr txBox="1">
              <a:spLocks noChangeAspect="1"/>
            </p:cNvSpPr>
            <p:nvPr/>
          </p:nvSpPr>
          <p:spPr>
            <a:xfrm>
              <a:off x="4319" y="3706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19" name="Text Box 190"/>
            <p:cNvSpPr txBox="1">
              <a:spLocks noChangeAspect="1"/>
            </p:cNvSpPr>
            <p:nvPr/>
          </p:nvSpPr>
          <p:spPr>
            <a:xfrm>
              <a:off x="3168" y="2895"/>
              <a:ext cx="57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5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0" name="Text Box 191"/>
            <p:cNvSpPr txBox="1">
              <a:spLocks noChangeAspect="1"/>
            </p:cNvSpPr>
            <p:nvPr/>
          </p:nvSpPr>
          <p:spPr>
            <a:xfrm>
              <a:off x="3763" y="2415"/>
              <a:ext cx="80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5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1" name="Text Box 192"/>
            <p:cNvSpPr txBox="1">
              <a:spLocks noChangeAspect="1"/>
            </p:cNvSpPr>
            <p:nvPr/>
          </p:nvSpPr>
          <p:spPr>
            <a:xfrm>
              <a:off x="4684" y="2946"/>
              <a:ext cx="57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5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2" name="Text Box 193"/>
            <p:cNvSpPr txBox="1">
              <a:spLocks noChangeAspect="1"/>
            </p:cNvSpPr>
            <p:nvPr/>
          </p:nvSpPr>
          <p:spPr>
            <a:xfrm>
              <a:off x="3456" y="3261"/>
              <a:ext cx="57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0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3" name="Text Box 195"/>
            <p:cNvSpPr txBox="1">
              <a:spLocks noChangeAspect="1"/>
            </p:cNvSpPr>
            <p:nvPr/>
          </p:nvSpPr>
          <p:spPr>
            <a:xfrm>
              <a:off x="4656" y="2400"/>
              <a:ext cx="787" cy="49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5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=1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1800" dirty="0">
                  <a:latin typeface="Times New Roman" panose="02020603050405020304" pitchFamily="18" charset="0"/>
                </a:rPr>
                <a:t>W(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(5)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)=9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624" name="Text Box 196"/>
            <p:cNvSpPr txBox="1">
              <a:spLocks noChangeAspect="1"/>
            </p:cNvSpPr>
            <p:nvPr/>
          </p:nvSpPr>
          <p:spPr>
            <a:xfrm>
              <a:off x="3744" y="3936"/>
              <a:ext cx="83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(10</a:t>
              </a:r>
              <a:r>
                <a:rPr lang="zh-CN" altLang="en-US" sz="18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)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( 5)</a:t>
              </a:r>
              <a:endParaRPr lang="en-US" altLang="zh-CN" sz="1800" dirty="0">
                <a:latin typeface="Times New Roman" panose="02020603050405020304" pitchFamily="18" charset="0"/>
              </a:endParaRPr>
            </a:p>
            <a:p>
              <a:pPr algn="just"/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57" name="Line 199"/>
          <p:cNvSpPr/>
          <p:nvPr/>
        </p:nvSpPr>
        <p:spPr>
          <a:xfrm flipH="1" flipV="1">
            <a:off x="3276600" y="1219200"/>
            <a:ext cx="228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3558" name="Group 209"/>
          <p:cNvGrpSpPr/>
          <p:nvPr/>
        </p:nvGrpSpPr>
        <p:grpSpPr>
          <a:xfrm>
            <a:off x="152400" y="3505200"/>
            <a:ext cx="4178300" cy="3016250"/>
            <a:chOff x="355" y="2208"/>
            <a:chExt cx="2632" cy="1900"/>
          </a:xfrm>
        </p:grpSpPr>
        <p:sp>
          <p:nvSpPr>
            <p:cNvPr id="23559" name="Text Box 115"/>
            <p:cNvSpPr txBox="1">
              <a:spLocks noChangeAspect="1"/>
            </p:cNvSpPr>
            <p:nvPr/>
          </p:nvSpPr>
          <p:spPr>
            <a:xfrm>
              <a:off x="768" y="3493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0" name="Line 117"/>
            <p:cNvSpPr>
              <a:spLocks noChangeAspect="1"/>
            </p:cNvSpPr>
            <p:nvPr/>
          </p:nvSpPr>
          <p:spPr>
            <a:xfrm flipH="1">
              <a:off x="1873" y="2973"/>
              <a:ext cx="115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1" name="Line 119"/>
            <p:cNvSpPr>
              <a:spLocks noChangeAspect="1"/>
            </p:cNvSpPr>
            <p:nvPr/>
          </p:nvSpPr>
          <p:spPr>
            <a:xfrm flipV="1">
              <a:off x="1718" y="2923"/>
              <a:ext cx="115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2" name="Line 121"/>
            <p:cNvSpPr>
              <a:spLocks noChangeAspect="1"/>
            </p:cNvSpPr>
            <p:nvPr/>
          </p:nvSpPr>
          <p:spPr>
            <a:xfrm>
              <a:off x="1958" y="3495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3" name="Line 123"/>
            <p:cNvSpPr>
              <a:spLocks noChangeAspect="1"/>
            </p:cNvSpPr>
            <p:nvPr/>
          </p:nvSpPr>
          <p:spPr>
            <a:xfrm flipH="1">
              <a:off x="1460" y="2683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4" name="Text Box 125"/>
            <p:cNvSpPr txBox="1">
              <a:spLocks noChangeAspect="1"/>
            </p:cNvSpPr>
            <p:nvPr/>
          </p:nvSpPr>
          <p:spPr>
            <a:xfrm>
              <a:off x="2238" y="2736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-2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Text Box 126"/>
            <p:cNvSpPr txBox="1">
              <a:spLocks noChangeAspect="1"/>
            </p:cNvSpPr>
            <p:nvPr/>
          </p:nvSpPr>
          <p:spPr>
            <a:xfrm>
              <a:off x="1537" y="2957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Text Box 127"/>
            <p:cNvSpPr txBox="1">
              <a:spLocks noChangeAspect="1"/>
            </p:cNvSpPr>
            <p:nvPr/>
          </p:nvSpPr>
          <p:spPr>
            <a:xfrm>
              <a:off x="1345" y="2677"/>
              <a:ext cx="46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Line 129"/>
            <p:cNvSpPr>
              <a:spLocks noChangeAspect="1"/>
            </p:cNvSpPr>
            <p:nvPr/>
          </p:nvSpPr>
          <p:spPr>
            <a:xfrm>
              <a:off x="1363" y="2490"/>
              <a:ext cx="34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68" name="Line 135"/>
            <p:cNvSpPr>
              <a:spLocks noChangeAspect="1"/>
            </p:cNvSpPr>
            <p:nvPr/>
          </p:nvSpPr>
          <p:spPr>
            <a:xfrm>
              <a:off x="547" y="3497"/>
              <a:ext cx="108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69" name="Line 136"/>
            <p:cNvSpPr>
              <a:spLocks noChangeAspect="1"/>
            </p:cNvSpPr>
            <p:nvPr/>
          </p:nvSpPr>
          <p:spPr>
            <a:xfrm>
              <a:off x="1123" y="2498"/>
              <a:ext cx="923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70" name="Line 137"/>
            <p:cNvSpPr>
              <a:spLocks noChangeAspect="1"/>
            </p:cNvSpPr>
            <p:nvPr/>
          </p:nvSpPr>
          <p:spPr>
            <a:xfrm>
              <a:off x="2046" y="2498"/>
              <a:ext cx="576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71" name="Line 138"/>
            <p:cNvSpPr>
              <a:spLocks noChangeAspect="1"/>
            </p:cNvSpPr>
            <p:nvPr/>
          </p:nvSpPr>
          <p:spPr>
            <a:xfrm flipH="1">
              <a:off x="547" y="2498"/>
              <a:ext cx="575" cy="9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72" name="Line 139"/>
            <p:cNvSpPr>
              <a:spLocks noChangeAspect="1"/>
            </p:cNvSpPr>
            <p:nvPr/>
          </p:nvSpPr>
          <p:spPr>
            <a:xfrm>
              <a:off x="1123" y="2498"/>
              <a:ext cx="462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73" name="Line 140"/>
            <p:cNvSpPr>
              <a:spLocks noChangeAspect="1"/>
            </p:cNvSpPr>
            <p:nvPr/>
          </p:nvSpPr>
          <p:spPr>
            <a:xfrm flipV="1">
              <a:off x="1585" y="2498"/>
              <a:ext cx="461" cy="9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74" name="Text Box 141"/>
            <p:cNvSpPr txBox="1">
              <a:spLocks noChangeAspect="1"/>
            </p:cNvSpPr>
            <p:nvPr/>
          </p:nvSpPr>
          <p:spPr>
            <a:xfrm>
              <a:off x="355" y="3374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5" name="Text Box 142"/>
            <p:cNvSpPr txBox="1">
              <a:spLocks noChangeAspect="1"/>
            </p:cNvSpPr>
            <p:nvPr/>
          </p:nvSpPr>
          <p:spPr>
            <a:xfrm>
              <a:off x="1441" y="351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6" name="Text Box 143"/>
            <p:cNvSpPr txBox="1">
              <a:spLocks noChangeAspect="1"/>
            </p:cNvSpPr>
            <p:nvPr/>
          </p:nvSpPr>
          <p:spPr>
            <a:xfrm>
              <a:off x="941" y="222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7" name="Text Box 144"/>
            <p:cNvSpPr txBox="1">
              <a:spLocks noChangeAspect="1"/>
            </p:cNvSpPr>
            <p:nvPr/>
          </p:nvSpPr>
          <p:spPr>
            <a:xfrm>
              <a:off x="2641" y="339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8" name="Text Box 145"/>
            <p:cNvSpPr txBox="1">
              <a:spLocks noChangeAspect="1"/>
            </p:cNvSpPr>
            <p:nvPr/>
          </p:nvSpPr>
          <p:spPr>
            <a:xfrm>
              <a:off x="1921" y="2237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9" name="Freeform 146"/>
            <p:cNvSpPr>
              <a:spLocks noChangeAspect="1"/>
            </p:cNvSpPr>
            <p:nvPr/>
          </p:nvSpPr>
          <p:spPr>
            <a:xfrm>
              <a:off x="1575" y="2507"/>
              <a:ext cx="461" cy="999"/>
            </a:xfrm>
            <a:custGeom>
              <a:avLst/>
              <a:gdLst>
                <a:gd name="txL" fmla="*/ 0 w 720"/>
                <a:gd name="txT" fmla="*/ 0 h 1560"/>
                <a:gd name="txR" fmla="*/ 720 w 720"/>
                <a:gd name="txB" fmla="*/ 1560 h 1560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720" h="1560">
                  <a:moveTo>
                    <a:pt x="720" y="0"/>
                  </a:moveTo>
                  <a:cubicBezTo>
                    <a:pt x="690" y="338"/>
                    <a:pt x="660" y="676"/>
                    <a:pt x="540" y="936"/>
                  </a:cubicBezTo>
                  <a:cubicBezTo>
                    <a:pt x="420" y="1196"/>
                    <a:pt x="210" y="1378"/>
                    <a:pt x="0" y="1560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80" name="Text Box 147"/>
            <p:cNvSpPr txBox="1">
              <a:spLocks noChangeAspect="1"/>
            </p:cNvSpPr>
            <p:nvPr/>
          </p:nvSpPr>
          <p:spPr>
            <a:xfrm>
              <a:off x="1919" y="2984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－3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1" name="Text Box 148"/>
            <p:cNvSpPr txBox="1">
              <a:spLocks noChangeAspect="1"/>
            </p:cNvSpPr>
            <p:nvPr/>
          </p:nvSpPr>
          <p:spPr>
            <a:xfrm>
              <a:off x="720" y="268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2" name="Line 151"/>
            <p:cNvSpPr>
              <a:spLocks noChangeAspect="1"/>
            </p:cNvSpPr>
            <p:nvPr/>
          </p:nvSpPr>
          <p:spPr>
            <a:xfrm flipH="1">
              <a:off x="911" y="3495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83" name="Freeform 152"/>
            <p:cNvSpPr>
              <a:spLocks noChangeAspect="1"/>
            </p:cNvSpPr>
            <p:nvPr/>
          </p:nvSpPr>
          <p:spPr>
            <a:xfrm>
              <a:off x="1104" y="2508"/>
              <a:ext cx="923" cy="200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22421"/>
                </a:cxn>
                <a:cxn ang="0">
                  <a:pos x="1" y="0"/>
                </a:cxn>
              </a:cxnLst>
              <a:rect l="txL" t="txT" r="txR" b="txB"/>
              <a:pathLst>
                <a:path w="1440" h="156">
                  <a:moveTo>
                    <a:pt x="0" y="0"/>
                  </a:moveTo>
                  <a:cubicBezTo>
                    <a:pt x="240" y="78"/>
                    <a:pt x="480" y="156"/>
                    <a:pt x="720" y="156"/>
                  </a:cubicBezTo>
                  <a:cubicBezTo>
                    <a:pt x="960" y="156"/>
                    <a:pt x="1200" y="78"/>
                    <a:pt x="14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84" name="Line 153"/>
            <p:cNvSpPr>
              <a:spLocks noChangeAspect="1"/>
            </p:cNvSpPr>
            <p:nvPr/>
          </p:nvSpPr>
          <p:spPr>
            <a:xfrm flipV="1">
              <a:off x="690" y="2831"/>
              <a:ext cx="231" cy="3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85" name="Text Box 154"/>
            <p:cNvSpPr txBox="1">
              <a:spLocks noChangeAspect="1"/>
            </p:cNvSpPr>
            <p:nvPr/>
          </p:nvSpPr>
          <p:spPr>
            <a:xfrm>
              <a:off x="1306" y="2208"/>
              <a:ext cx="80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6" name="Text Box 155"/>
            <p:cNvSpPr txBox="1">
              <a:spLocks noChangeAspect="1"/>
            </p:cNvSpPr>
            <p:nvPr/>
          </p:nvSpPr>
          <p:spPr>
            <a:xfrm>
              <a:off x="1200" y="3055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7" name="Text Box 156"/>
            <p:cNvSpPr txBox="1">
              <a:spLocks noChangeAspect="1"/>
            </p:cNvSpPr>
            <p:nvPr/>
          </p:nvSpPr>
          <p:spPr>
            <a:xfrm>
              <a:off x="1931" y="3495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8" name="Line 157"/>
            <p:cNvSpPr>
              <a:spLocks noChangeAspect="1"/>
            </p:cNvSpPr>
            <p:nvPr/>
          </p:nvSpPr>
          <p:spPr>
            <a:xfrm flipH="1" flipV="1">
              <a:off x="1335" y="2909"/>
              <a:ext cx="115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589" name="Text Box 158"/>
            <p:cNvSpPr txBox="1">
              <a:spLocks noChangeAspect="1"/>
            </p:cNvSpPr>
            <p:nvPr/>
          </p:nvSpPr>
          <p:spPr>
            <a:xfrm>
              <a:off x="1152" y="3808"/>
              <a:ext cx="846" cy="3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(9)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( 4)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0" name="Line 200"/>
            <p:cNvSpPr/>
            <p:nvPr/>
          </p:nvSpPr>
          <p:spPr>
            <a:xfrm flipH="1" flipV="1">
              <a:off x="2304" y="2964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1" name="Line 201"/>
            <p:cNvSpPr/>
            <p:nvPr/>
          </p:nvSpPr>
          <p:spPr>
            <a:xfrm>
              <a:off x="1632" y="3504"/>
              <a:ext cx="1008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2" name="Freeform 202"/>
            <p:cNvSpPr/>
            <p:nvPr/>
          </p:nvSpPr>
          <p:spPr>
            <a:xfrm>
              <a:off x="576" y="2496"/>
              <a:ext cx="528" cy="1008"/>
            </a:xfrm>
            <a:custGeom>
              <a:avLst/>
              <a:gdLst>
                <a:gd name="txL" fmla="*/ 0 w 528"/>
                <a:gd name="txT" fmla="*/ 0 h 1008"/>
                <a:gd name="txR" fmla="*/ 528 w 528"/>
                <a:gd name="txB" fmla="*/ 1008 h 1008"/>
              </a:gdLst>
              <a:ahLst/>
              <a:cxnLst>
                <a:cxn ang="0">
                  <a:pos x="528" y="0"/>
                </a:cxn>
                <a:cxn ang="0">
                  <a:pos x="432" y="624"/>
                </a:cxn>
                <a:cxn ang="0">
                  <a:pos x="0" y="1008"/>
                </a:cxn>
              </a:cxnLst>
              <a:rect l="txL" t="txT" r="txR" b="txB"/>
              <a:pathLst>
                <a:path w="528" h="1008">
                  <a:moveTo>
                    <a:pt x="528" y="0"/>
                  </a:moveTo>
                  <a:cubicBezTo>
                    <a:pt x="524" y="228"/>
                    <a:pt x="520" y="456"/>
                    <a:pt x="432" y="624"/>
                  </a:cubicBezTo>
                  <a:cubicBezTo>
                    <a:pt x="344" y="792"/>
                    <a:pt x="72" y="944"/>
                    <a:pt x="0" y="100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3" name="Line 203"/>
            <p:cNvSpPr/>
            <p:nvPr/>
          </p:nvSpPr>
          <p:spPr>
            <a:xfrm flipH="1">
              <a:off x="768" y="318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4" name="Text Box 204"/>
            <p:cNvSpPr txBox="1">
              <a:spLocks noChangeAspect="1"/>
            </p:cNvSpPr>
            <p:nvPr/>
          </p:nvSpPr>
          <p:spPr>
            <a:xfrm>
              <a:off x="912" y="3108"/>
              <a:ext cx="24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-4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5" name="Freeform 205"/>
            <p:cNvSpPr/>
            <p:nvPr/>
          </p:nvSpPr>
          <p:spPr>
            <a:xfrm>
              <a:off x="1584" y="3504"/>
              <a:ext cx="1008" cy="240"/>
            </a:xfrm>
            <a:custGeom>
              <a:avLst/>
              <a:gdLst>
                <a:gd name="txL" fmla="*/ 0 w 1008"/>
                <a:gd name="txT" fmla="*/ 0 h 240"/>
                <a:gd name="txR" fmla="*/ 1008 w 1008"/>
                <a:gd name="txB" fmla="*/ 240 h 240"/>
              </a:gdLst>
              <a:ahLst/>
              <a:cxnLst>
                <a:cxn ang="0">
                  <a:pos x="1008" y="0"/>
                </a:cxn>
                <a:cxn ang="0">
                  <a:pos x="432" y="240"/>
                </a:cxn>
                <a:cxn ang="0">
                  <a:pos x="0" y="0"/>
                </a:cxn>
              </a:cxnLst>
              <a:rect l="txL" t="txT" r="txR" b="txB"/>
              <a:pathLst>
                <a:path w="1008" h="240">
                  <a:moveTo>
                    <a:pt x="1008" y="0"/>
                  </a:moveTo>
                  <a:cubicBezTo>
                    <a:pt x="804" y="120"/>
                    <a:pt x="600" y="240"/>
                    <a:pt x="432" y="240"/>
                  </a:cubicBezTo>
                  <a:cubicBezTo>
                    <a:pt x="264" y="240"/>
                    <a:pt x="132" y="12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Line 206"/>
            <p:cNvSpPr/>
            <p:nvPr/>
          </p:nvSpPr>
          <p:spPr>
            <a:xfrm flipH="1">
              <a:off x="2208" y="3612"/>
              <a:ext cx="192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7" name="Text Box 208"/>
            <p:cNvSpPr txBox="1">
              <a:spLocks noChangeAspect="1"/>
            </p:cNvSpPr>
            <p:nvPr/>
          </p:nvSpPr>
          <p:spPr>
            <a:xfrm>
              <a:off x="2035" y="3732"/>
              <a:ext cx="26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-6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578" name="Group 56"/>
          <p:cNvGrpSpPr/>
          <p:nvPr/>
        </p:nvGrpSpPr>
        <p:grpSpPr>
          <a:xfrm>
            <a:off x="990600" y="381000"/>
            <a:ext cx="4224338" cy="3030538"/>
            <a:chOff x="643" y="1009"/>
            <a:chExt cx="2661" cy="1909"/>
          </a:xfrm>
        </p:grpSpPr>
        <p:sp>
          <p:nvSpPr>
            <p:cNvPr id="24579" name="Line 3"/>
            <p:cNvSpPr>
              <a:spLocks noChangeAspect="1"/>
            </p:cNvSpPr>
            <p:nvPr/>
          </p:nvSpPr>
          <p:spPr>
            <a:xfrm flipV="1">
              <a:off x="2054" y="1695"/>
              <a:ext cx="115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80" name="Text Box 5"/>
            <p:cNvSpPr txBox="1">
              <a:spLocks noChangeAspect="1"/>
            </p:cNvSpPr>
            <p:nvPr/>
          </p:nvSpPr>
          <p:spPr>
            <a:xfrm>
              <a:off x="1872" y="1674"/>
              <a:ext cx="46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3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1" name="Line 9"/>
            <p:cNvSpPr>
              <a:spLocks noChangeAspect="1"/>
            </p:cNvSpPr>
            <p:nvPr/>
          </p:nvSpPr>
          <p:spPr>
            <a:xfrm>
              <a:off x="1717" y="1303"/>
              <a:ext cx="34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82" name="Line 11"/>
            <p:cNvSpPr>
              <a:spLocks noChangeAspect="1"/>
            </p:cNvSpPr>
            <p:nvPr/>
          </p:nvSpPr>
          <p:spPr>
            <a:xfrm>
              <a:off x="2275" y="2293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83" name="Line 13"/>
            <p:cNvSpPr>
              <a:spLocks noChangeAspect="1"/>
            </p:cNvSpPr>
            <p:nvPr/>
          </p:nvSpPr>
          <p:spPr>
            <a:xfrm flipH="1" flipV="1">
              <a:off x="1613" y="1620"/>
              <a:ext cx="115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84" name="Line 15"/>
            <p:cNvSpPr>
              <a:spLocks noChangeAspect="1"/>
            </p:cNvSpPr>
            <p:nvPr/>
          </p:nvSpPr>
          <p:spPr>
            <a:xfrm flipH="1">
              <a:off x="1767" y="1490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85" name="Text Box 17"/>
            <p:cNvSpPr txBox="1">
              <a:spLocks noChangeAspect="1"/>
            </p:cNvSpPr>
            <p:nvPr/>
          </p:nvSpPr>
          <p:spPr>
            <a:xfrm>
              <a:off x="1084" y="2295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6" name="Text Box 18"/>
            <p:cNvSpPr txBox="1">
              <a:spLocks noChangeAspect="1"/>
            </p:cNvSpPr>
            <p:nvPr/>
          </p:nvSpPr>
          <p:spPr>
            <a:xfrm>
              <a:off x="2555" y="1538"/>
              <a:ext cx="57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7" name="Text Box 19"/>
            <p:cNvSpPr txBox="1">
              <a:spLocks noChangeAspect="1"/>
            </p:cNvSpPr>
            <p:nvPr/>
          </p:nvSpPr>
          <p:spPr>
            <a:xfrm>
              <a:off x="1661" y="1453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Text Box 20"/>
            <p:cNvSpPr txBox="1">
              <a:spLocks noChangeAspect="1"/>
            </p:cNvSpPr>
            <p:nvPr/>
          </p:nvSpPr>
          <p:spPr>
            <a:xfrm>
              <a:off x="1007" y="1490"/>
              <a:ext cx="57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4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9" name="Text Box 22"/>
            <p:cNvSpPr txBox="1">
              <a:spLocks noChangeAspect="1"/>
            </p:cNvSpPr>
            <p:nvPr/>
          </p:nvSpPr>
          <p:spPr>
            <a:xfrm>
              <a:off x="1392" y="2618"/>
              <a:ext cx="82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(11)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L(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1800" baseline="30000" dirty="0">
                  <a:latin typeface="Times New Roman" panose="02020603050405020304" pitchFamily="18" charset="0"/>
                </a:rPr>
                <a:t>( 5)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Line 25"/>
            <p:cNvSpPr>
              <a:spLocks noChangeAspect="1"/>
            </p:cNvSpPr>
            <p:nvPr/>
          </p:nvSpPr>
          <p:spPr>
            <a:xfrm flipH="1">
              <a:off x="1227" y="2297"/>
              <a:ext cx="23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91" name="Freeform 26"/>
            <p:cNvSpPr>
              <a:spLocks noChangeAspect="1"/>
            </p:cNvSpPr>
            <p:nvPr/>
          </p:nvSpPr>
          <p:spPr>
            <a:xfrm>
              <a:off x="1420" y="1309"/>
              <a:ext cx="923" cy="200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" y="22421"/>
                </a:cxn>
                <a:cxn ang="0">
                  <a:pos x="1" y="0"/>
                </a:cxn>
              </a:cxnLst>
              <a:rect l="txL" t="txT" r="txR" b="txB"/>
              <a:pathLst>
                <a:path w="1440" h="156">
                  <a:moveTo>
                    <a:pt x="0" y="0"/>
                  </a:moveTo>
                  <a:cubicBezTo>
                    <a:pt x="240" y="78"/>
                    <a:pt x="480" y="156"/>
                    <a:pt x="720" y="156"/>
                  </a:cubicBezTo>
                  <a:cubicBezTo>
                    <a:pt x="960" y="156"/>
                    <a:pt x="1200" y="78"/>
                    <a:pt x="14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Line 27"/>
            <p:cNvSpPr>
              <a:spLocks noChangeAspect="1"/>
            </p:cNvSpPr>
            <p:nvPr/>
          </p:nvSpPr>
          <p:spPr>
            <a:xfrm flipV="1">
              <a:off x="1006" y="1632"/>
              <a:ext cx="231" cy="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93" name="Text Box 28"/>
            <p:cNvSpPr txBox="1">
              <a:spLocks noChangeAspect="1"/>
            </p:cNvSpPr>
            <p:nvPr/>
          </p:nvSpPr>
          <p:spPr>
            <a:xfrm>
              <a:off x="1622" y="1009"/>
              <a:ext cx="807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4" name="Text Box 29"/>
            <p:cNvSpPr txBox="1">
              <a:spLocks noChangeAspect="1"/>
            </p:cNvSpPr>
            <p:nvPr/>
          </p:nvSpPr>
          <p:spPr>
            <a:xfrm>
              <a:off x="1507" y="1824"/>
              <a:ext cx="22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2 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Text Box 30"/>
            <p:cNvSpPr txBox="1">
              <a:spLocks noChangeAspect="1"/>
            </p:cNvSpPr>
            <p:nvPr/>
          </p:nvSpPr>
          <p:spPr>
            <a:xfrm>
              <a:off x="2247" y="2297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6" name="Freeform 31"/>
            <p:cNvSpPr>
              <a:spLocks noChangeAspect="1"/>
            </p:cNvSpPr>
            <p:nvPr/>
          </p:nvSpPr>
          <p:spPr>
            <a:xfrm>
              <a:off x="854" y="1319"/>
              <a:ext cx="576" cy="999"/>
            </a:xfrm>
            <a:custGeom>
              <a:avLst/>
              <a:gdLst>
                <a:gd name="txL" fmla="*/ 0 w 900"/>
                <a:gd name="txT" fmla="*/ 0 h 1560"/>
                <a:gd name="txR" fmla="*/ 900 w 900"/>
                <a:gd name="txB" fmla="*/ 1560 h 1560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900" h="1560">
                  <a:moveTo>
                    <a:pt x="900" y="0"/>
                  </a:moveTo>
                  <a:cubicBezTo>
                    <a:pt x="885" y="260"/>
                    <a:pt x="870" y="520"/>
                    <a:pt x="720" y="780"/>
                  </a:cubicBezTo>
                  <a:cubicBezTo>
                    <a:pt x="570" y="1040"/>
                    <a:pt x="285" y="1300"/>
                    <a:pt x="0" y="156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7" name="Text Box 32"/>
            <p:cNvSpPr txBox="1">
              <a:spLocks noChangeAspect="1"/>
            </p:cNvSpPr>
            <p:nvPr/>
          </p:nvSpPr>
          <p:spPr>
            <a:xfrm>
              <a:off x="1075" y="1939"/>
              <a:ext cx="36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－4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Line 33"/>
            <p:cNvSpPr>
              <a:spLocks noChangeAspect="1"/>
            </p:cNvSpPr>
            <p:nvPr/>
          </p:nvSpPr>
          <p:spPr>
            <a:xfrm flipH="1">
              <a:off x="1190" y="1818"/>
              <a:ext cx="115" cy="2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599" name="Line 40"/>
            <p:cNvSpPr>
              <a:spLocks noChangeAspect="1"/>
            </p:cNvSpPr>
            <p:nvPr/>
          </p:nvSpPr>
          <p:spPr>
            <a:xfrm>
              <a:off x="864" y="2299"/>
              <a:ext cx="20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0" name="Line 41"/>
            <p:cNvSpPr>
              <a:spLocks noChangeAspect="1"/>
            </p:cNvSpPr>
            <p:nvPr/>
          </p:nvSpPr>
          <p:spPr>
            <a:xfrm>
              <a:off x="1440" y="1299"/>
              <a:ext cx="9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1" name="Line 42"/>
            <p:cNvSpPr>
              <a:spLocks noChangeAspect="1"/>
            </p:cNvSpPr>
            <p:nvPr/>
          </p:nvSpPr>
          <p:spPr>
            <a:xfrm>
              <a:off x="2363" y="1299"/>
              <a:ext cx="576" cy="10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2" name="Line 43"/>
            <p:cNvSpPr>
              <a:spLocks noChangeAspect="1"/>
            </p:cNvSpPr>
            <p:nvPr/>
          </p:nvSpPr>
          <p:spPr>
            <a:xfrm flipH="1">
              <a:off x="864" y="1299"/>
              <a:ext cx="576" cy="10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3" name="Line 44"/>
            <p:cNvSpPr>
              <a:spLocks noChangeAspect="1"/>
            </p:cNvSpPr>
            <p:nvPr/>
          </p:nvSpPr>
          <p:spPr>
            <a:xfrm>
              <a:off x="1440" y="1299"/>
              <a:ext cx="462" cy="10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4" name="Line 45"/>
            <p:cNvSpPr>
              <a:spLocks noChangeAspect="1"/>
            </p:cNvSpPr>
            <p:nvPr/>
          </p:nvSpPr>
          <p:spPr>
            <a:xfrm flipV="1">
              <a:off x="1902" y="1299"/>
              <a:ext cx="461" cy="10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5" name="Text Box 46"/>
            <p:cNvSpPr txBox="1">
              <a:spLocks noChangeAspect="1"/>
            </p:cNvSpPr>
            <p:nvPr/>
          </p:nvSpPr>
          <p:spPr>
            <a:xfrm>
              <a:off x="643" y="2176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6" name="Text Box 47"/>
            <p:cNvSpPr txBox="1">
              <a:spLocks noChangeAspect="1"/>
            </p:cNvSpPr>
            <p:nvPr/>
          </p:nvSpPr>
          <p:spPr>
            <a:xfrm>
              <a:off x="1757" y="2312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7" name="Text Box 48"/>
            <p:cNvSpPr txBox="1">
              <a:spLocks noChangeAspect="1"/>
            </p:cNvSpPr>
            <p:nvPr/>
          </p:nvSpPr>
          <p:spPr>
            <a:xfrm>
              <a:off x="1257" y="1028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8" name="Text Box 49"/>
            <p:cNvSpPr txBox="1">
              <a:spLocks noChangeAspect="1"/>
            </p:cNvSpPr>
            <p:nvPr/>
          </p:nvSpPr>
          <p:spPr>
            <a:xfrm>
              <a:off x="2958" y="219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9" name="Text Box 50"/>
            <p:cNvSpPr txBox="1">
              <a:spLocks noChangeAspect="1"/>
            </p:cNvSpPr>
            <p:nvPr/>
          </p:nvSpPr>
          <p:spPr>
            <a:xfrm>
              <a:off x="2237" y="1038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18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0" name="Freeform 52"/>
            <p:cNvSpPr>
              <a:spLocks noChangeAspect="1"/>
            </p:cNvSpPr>
            <p:nvPr/>
          </p:nvSpPr>
          <p:spPr>
            <a:xfrm>
              <a:off x="1892" y="2118"/>
              <a:ext cx="1037" cy="200"/>
            </a:xfrm>
            <a:custGeom>
              <a:avLst/>
              <a:gdLst>
                <a:gd name="txL" fmla="*/ 0 w 1620"/>
                <a:gd name="txT" fmla="*/ 0 h 312"/>
                <a:gd name="txR" fmla="*/ 1620 w 1620"/>
                <a:gd name="txB" fmla="*/ 312 h 312"/>
              </a:gdLst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txL" t="txT" r="txR" b="txB"/>
              <a:pathLst>
                <a:path w="1620" h="312">
                  <a:moveTo>
                    <a:pt x="0" y="312"/>
                  </a:moveTo>
                  <a:cubicBezTo>
                    <a:pt x="225" y="156"/>
                    <a:pt x="450" y="0"/>
                    <a:pt x="720" y="0"/>
                  </a:cubicBezTo>
                  <a:cubicBezTo>
                    <a:pt x="990" y="0"/>
                    <a:pt x="1305" y="156"/>
                    <a:pt x="1620" y="31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1" name="Line 53"/>
            <p:cNvSpPr>
              <a:spLocks noChangeAspect="1"/>
            </p:cNvSpPr>
            <p:nvPr/>
          </p:nvSpPr>
          <p:spPr>
            <a:xfrm flipH="1">
              <a:off x="2236" y="2120"/>
              <a:ext cx="23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612" name="Text Box 54"/>
            <p:cNvSpPr txBox="1">
              <a:spLocks noChangeAspect="1"/>
            </p:cNvSpPr>
            <p:nvPr/>
          </p:nvSpPr>
          <p:spPr>
            <a:xfrm>
              <a:off x="2218" y="1922"/>
              <a:ext cx="69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800" dirty="0">
                  <a:latin typeface="Times New Roman" panose="02020603050405020304" pitchFamily="18" charset="0"/>
                </a:rPr>
                <a:t>－6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3" name="Line 55"/>
            <p:cNvSpPr/>
            <p:nvPr/>
          </p:nvSpPr>
          <p:spPr>
            <a:xfrm flipH="1" flipV="1">
              <a:off x="2640" y="1776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Font typeface="Wingdings" panose="05000000000000000000" pitchFamily="2" charset="2"/>
              <a:buNone/>
            </a:pPr>
            <a:r>
              <a:rPr lang="zh-CN" altLang="en-US" sz="8000" b="1" dirty="0">
                <a:cs typeface="Times New Roman" panose="02020603050405020304" pitchFamily="18" charset="0"/>
              </a:rPr>
              <a:t>谢谢大家</a:t>
            </a:r>
            <a:endParaRPr lang="zh-CN" altLang="en-US" sz="8000" b="1" dirty="0"/>
          </a:p>
        </p:txBody>
      </p:sp>
      <p:sp>
        <p:nvSpPr>
          <p:cNvPr id="25604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PP_MARK_KEY" val="f626b428-2ff0-46b2-b6de-599d347040d7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3545</Words>
  <Application>WPS 演示</Application>
  <PresentationFormat>全屏显示(4:3)</PresentationFormat>
  <Paragraphs>867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104</vt:i4>
      </vt:variant>
      <vt:variant>
        <vt:lpstr>幻灯片标题</vt:lpstr>
      </vt:variant>
      <vt:variant>
        <vt:i4>24</vt:i4>
      </vt:variant>
    </vt:vector>
  </HeadingPairs>
  <TitlesOfParts>
    <vt:vector size="140" baseType="lpstr">
      <vt:lpstr>Arial</vt:lpstr>
      <vt:lpstr>宋体</vt:lpstr>
      <vt:lpstr>Wingdings</vt:lpstr>
      <vt:lpstr>Times New Roman</vt:lpstr>
      <vt:lpstr>Calibri</vt:lpstr>
      <vt:lpstr>黑体</vt:lpstr>
      <vt:lpstr>Symbol</vt:lpstr>
      <vt:lpstr>楷体_GB2312</vt:lpstr>
      <vt:lpstr>新宋体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Albert Yang</cp:lastModifiedBy>
  <cp:revision>109</cp:revision>
  <dcterms:created xsi:type="dcterms:W3CDTF">2022-12-18T08:54:37Z</dcterms:created>
  <dcterms:modified xsi:type="dcterms:W3CDTF">2022-12-18T08:54:46Z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E5681F80221B43A3BA588C958E94E12E</vt:lpwstr>
  </property>
  <property fmtid="{D5CDD505-2E9C-101B-9397-08002B2CF9AE}" pid="3" name="KSOProductBuildVer">
    <vt:lpwstr>2052-11.1.0.12980</vt:lpwstr>
  </property>
</Properties>
</file>